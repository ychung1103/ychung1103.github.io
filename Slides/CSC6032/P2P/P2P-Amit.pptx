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4666" y="1535112"/>
            <a:ext cx="5814695" cy="1410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50" b="0" i="0">
                <a:solidFill>
                  <a:srgbClr val="36348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33135" y="3894782"/>
            <a:ext cx="5877729" cy="1512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50" b="0" i="0">
                <a:solidFill>
                  <a:srgbClr val="36348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71812" cy="10537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50" b="0" i="0">
                <a:solidFill>
                  <a:srgbClr val="36348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257051" y="2001122"/>
            <a:ext cx="3603625" cy="3603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222055" y="2001122"/>
            <a:ext cx="3601720" cy="3603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50" b="0" i="0">
                <a:solidFill>
                  <a:srgbClr val="36348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134320" cy="105370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9085" y="1187648"/>
            <a:ext cx="2187773" cy="41969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06957" y="283467"/>
            <a:ext cx="7501605" cy="14691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50" b="0" i="0">
                <a:solidFill>
                  <a:srgbClr val="36348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86544" y="1981100"/>
            <a:ext cx="7451090" cy="3862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onjava.com/pub/a/webservices/2002/03/12/jxta.html" TargetMode="External"/><Relationship Id="rId13" Type="http://schemas.openxmlformats.org/officeDocument/2006/relationships/hyperlink" Target="http://www.sce.carIeton.ca/netmanage/papers/WhiteJuIy2001.ppt" TargetMode="External"/><Relationship Id="rId3" Type="http://schemas.openxmlformats.org/officeDocument/2006/relationships/image" Target="../media/image66.jpg"/><Relationship Id="rId7" Type="http://schemas.openxmlformats.org/officeDocument/2006/relationships/hyperlink" Target="http://www.&#322;avaworld.com/javaworld/jw-10-2001/jw-1019-jxta.html" TargetMode="External"/><Relationship Id="rId12" Type="http://schemas.openxmlformats.org/officeDocument/2006/relationships/hyperlink" Target="http://www.openp2p.com/pub/a/p2p/2001/06/06/1" TargetMode="External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download.jxta.orq/servlets/DomainHome" TargetMode="External"/><Relationship Id="rId11" Type="http://schemas.openxmlformats.org/officeDocument/2006/relationships/hyperlink" Target="http://www.openp2p.com/pub/a/p2p/2001/04/25/i" TargetMode="External"/><Relationship Id="rId5" Type="http://schemas.openxmlformats.org/officeDocument/2006/relationships/hyperlink" Target="http://spec.lxta.orq/v1.0/docbook/JXTAProtoco&#236;s.html" TargetMode="External"/><Relationship Id="rId10" Type="http://schemas.openxmlformats.org/officeDocument/2006/relationships/hyperlink" Target="http://www.openp2p.com/pub/a/p2p/2001/06/05/i" TargetMode="External"/><Relationship Id="rId4" Type="http://schemas.openxmlformats.org/officeDocument/2006/relationships/hyperlink" Target="http://spec.&#207;xta.org/prolecUwww/docs/DomainFA&#199;%2Chtml" TargetMode="External"/><Relationship Id="rId9" Type="http://schemas.openxmlformats.org/officeDocument/2006/relationships/hyperlink" Target="http://www.openp2p.com/pub/a/p2p/2001/06/11/liponq.html" TargetMode="Externa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679" y="2437804"/>
            <a:ext cx="3295054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4604">
              <a:lnSpc>
                <a:spcPts val="5475"/>
              </a:lnSpc>
              <a:spcBef>
                <a:spcPts val="135"/>
              </a:spcBef>
              <a:tabLst>
                <a:tab pos="1934210" algn="l"/>
              </a:tabLst>
            </a:pPr>
            <a:r>
              <a:rPr sz="4650" spc="-440" dirty="0">
                <a:solidFill>
                  <a:srgbClr val="383685"/>
                </a:solidFill>
                <a:latin typeface="Arial"/>
                <a:cs typeface="Arial"/>
              </a:rPr>
              <a:t>Peer</a:t>
            </a:r>
            <a:r>
              <a:rPr sz="4650" dirty="0">
                <a:solidFill>
                  <a:srgbClr val="383685"/>
                </a:solidFill>
                <a:latin typeface="Arial"/>
                <a:cs typeface="Arial"/>
              </a:rPr>
              <a:t>	</a:t>
            </a:r>
            <a:r>
              <a:rPr sz="4650" spc="-395" dirty="0">
                <a:solidFill>
                  <a:srgbClr val="363679"/>
                </a:solidFill>
                <a:latin typeface="Arial"/>
                <a:cs typeface="Arial"/>
              </a:rPr>
              <a:t>Peer</a:t>
            </a:r>
            <a:r>
              <a:rPr sz="4650" spc="220" dirty="0">
                <a:solidFill>
                  <a:srgbClr val="363679"/>
                </a:solidFill>
                <a:latin typeface="Arial"/>
                <a:cs typeface="Arial"/>
              </a:rPr>
              <a:t> </a:t>
            </a:r>
            <a:r>
              <a:rPr sz="4650" spc="-204" dirty="0">
                <a:solidFill>
                  <a:srgbClr val="34318A"/>
                </a:solidFill>
                <a:latin typeface="Arial"/>
                <a:cs typeface="Arial"/>
              </a:rPr>
              <a:t>Computing</a:t>
            </a:r>
            <a:endParaRPr sz="4650">
              <a:latin typeface="Arial"/>
              <a:cs typeface="Arial"/>
            </a:endParaRPr>
          </a:p>
          <a:p>
            <a:pPr marL="12700">
              <a:lnSpc>
                <a:spcPts val="5355"/>
              </a:lnSpc>
            </a:pPr>
            <a:r>
              <a:rPr sz="4550" spc="-10" dirty="0">
                <a:solidFill>
                  <a:srgbClr val="343489"/>
                </a:solidFill>
                <a:latin typeface="Arial"/>
                <a:cs typeface="Arial"/>
              </a:rPr>
              <a:t>and</a:t>
            </a:r>
            <a:r>
              <a:rPr sz="4550" spc="-280" dirty="0">
                <a:solidFill>
                  <a:srgbClr val="343489"/>
                </a:solidFill>
                <a:latin typeface="Arial"/>
                <a:cs typeface="Arial"/>
              </a:rPr>
              <a:t> </a:t>
            </a:r>
            <a:r>
              <a:rPr sz="4550" spc="-530" dirty="0">
                <a:solidFill>
                  <a:srgbClr val="383689"/>
                </a:solidFill>
                <a:latin typeface="Arial"/>
                <a:cs typeface="Arial"/>
              </a:rPr>
              <a:t>JXTA</a:t>
            </a:r>
            <a:endParaRPr sz="4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61603" y="3808440"/>
            <a:ext cx="2193925" cy="179133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065" marR="5080" algn="ctr">
              <a:lnSpc>
                <a:spcPct val="118200"/>
              </a:lnSpc>
              <a:spcBef>
                <a:spcPts val="65"/>
              </a:spcBef>
            </a:pPr>
            <a:r>
              <a:rPr sz="3350" spc="-30" dirty="0">
                <a:latin typeface="Arial"/>
                <a:cs typeface="Arial"/>
              </a:rPr>
              <a:t>Amit</a:t>
            </a:r>
            <a:r>
              <a:rPr sz="3350" spc="-150" dirty="0">
                <a:latin typeface="Arial"/>
                <a:cs typeface="Arial"/>
              </a:rPr>
              <a:t> </a:t>
            </a:r>
            <a:r>
              <a:rPr sz="3350" spc="-195" dirty="0">
                <a:latin typeface="Arial"/>
                <a:cs typeface="Arial"/>
              </a:rPr>
              <a:t>Minhas </a:t>
            </a:r>
            <a:r>
              <a:rPr sz="3250" spc="-55" dirty="0">
                <a:latin typeface="Arial"/>
                <a:cs typeface="Arial"/>
              </a:rPr>
              <a:t>Kris</a:t>
            </a:r>
            <a:r>
              <a:rPr sz="3250" spc="-150" dirty="0">
                <a:latin typeface="Arial"/>
                <a:cs typeface="Arial"/>
              </a:rPr>
              <a:t> </a:t>
            </a:r>
            <a:r>
              <a:rPr sz="3250" spc="-20" dirty="0">
                <a:latin typeface="Arial"/>
                <a:cs typeface="Arial"/>
              </a:rPr>
              <a:t>Read </a:t>
            </a:r>
            <a:r>
              <a:rPr sz="3200" spc="-95" dirty="0">
                <a:latin typeface="Arial"/>
                <a:cs typeface="Arial"/>
              </a:rPr>
              <a:t>Ryan </a:t>
            </a:r>
            <a:r>
              <a:rPr sz="3200" spc="-20" dirty="0">
                <a:latin typeface="Arial"/>
                <a:cs typeface="Arial"/>
              </a:rPr>
              <a:t>Peters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62883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3199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25"/>
              </a:spcBef>
            </a:pPr>
            <a:r>
              <a:rPr sz="5050" spc="-180" dirty="0">
                <a:solidFill>
                  <a:srgbClr val="383475"/>
                </a:solidFill>
              </a:rPr>
              <a:t>Presentation</a:t>
            </a:r>
            <a:r>
              <a:rPr sz="5050" spc="40" dirty="0">
                <a:solidFill>
                  <a:srgbClr val="383475"/>
                </a:solidFill>
              </a:rPr>
              <a:t> </a:t>
            </a:r>
            <a:r>
              <a:rPr sz="5050" spc="-215" dirty="0">
                <a:solidFill>
                  <a:srgbClr val="3F3B90"/>
                </a:solidFill>
              </a:rPr>
              <a:t>Overview</a:t>
            </a:r>
            <a:endParaRPr sz="5050"/>
          </a:p>
        </p:txBody>
      </p:sp>
      <p:sp>
        <p:nvSpPr>
          <p:cNvPr id="4" name="object 4"/>
          <p:cNvSpPr txBox="1"/>
          <p:nvPr/>
        </p:nvSpPr>
        <p:spPr>
          <a:xfrm>
            <a:off x="1263477" y="1930986"/>
            <a:ext cx="6537959" cy="368935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4550" spc="-45" dirty="0">
                <a:latin typeface="Calibri"/>
                <a:cs typeface="Calibri"/>
              </a:rPr>
              <a:t>•What</a:t>
            </a:r>
            <a:r>
              <a:rPr sz="4550" spc="-110" dirty="0">
                <a:latin typeface="Calibri"/>
                <a:cs typeface="Calibri"/>
              </a:rPr>
              <a:t> </a:t>
            </a:r>
            <a:r>
              <a:rPr sz="4550" dirty="0">
                <a:latin typeface="Calibri"/>
                <a:cs typeface="Calibri"/>
              </a:rPr>
              <a:t>is</a:t>
            </a:r>
            <a:r>
              <a:rPr sz="4550" spc="-195" dirty="0">
                <a:latin typeface="Calibri"/>
                <a:cs typeface="Calibri"/>
              </a:rPr>
              <a:t> </a:t>
            </a:r>
            <a:r>
              <a:rPr sz="4550" spc="-100" dirty="0">
                <a:latin typeface="Calibri"/>
                <a:cs typeface="Calibri"/>
              </a:rPr>
              <a:t>Peer</a:t>
            </a:r>
            <a:r>
              <a:rPr sz="4550" spc="45" dirty="0">
                <a:latin typeface="Calibri"/>
                <a:cs typeface="Calibri"/>
              </a:rPr>
              <a:t> </a:t>
            </a:r>
            <a:r>
              <a:rPr sz="4550" spc="-120" dirty="0">
                <a:latin typeface="Calibri"/>
                <a:cs typeface="Calibri"/>
              </a:rPr>
              <a:t>to</a:t>
            </a:r>
            <a:r>
              <a:rPr sz="4550" spc="-140" dirty="0">
                <a:latin typeface="Calibri"/>
                <a:cs typeface="Calibri"/>
              </a:rPr>
              <a:t> </a:t>
            </a:r>
            <a:r>
              <a:rPr sz="4550" spc="-105" dirty="0">
                <a:latin typeface="Calibri"/>
                <a:cs typeface="Calibri"/>
              </a:rPr>
              <a:t>Peer</a:t>
            </a:r>
            <a:r>
              <a:rPr sz="4550" spc="-85" dirty="0">
                <a:latin typeface="Calibri"/>
                <a:cs typeface="Calibri"/>
              </a:rPr>
              <a:t> </a:t>
            </a:r>
            <a:r>
              <a:rPr sz="4550" spc="-10" dirty="0">
                <a:latin typeface="Calibri"/>
                <a:cs typeface="Calibri"/>
              </a:rPr>
              <a:t>(P2P)?</a:t>
            </a:r>
            <a:endParaRPr sz="4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4500" spc="-20" dirty="0">
                <a:latin typeface="Calibri"/>
                <a:cs typeface="Calibri"/>
              </a:rPr>
              <a:t>•What</a:t>
            </a:r>
            <a:r>
              <a:rPr sz="4500" spc="40" dirty="0">
                <a:latin typeface="Calibri"/>
                <a:cs typeface="Calibri"/>
              </a:rPr>
              <a:t> </a:t>
            </a:r>
            <a:r>
              <a:rPr sz="4500" dirty="0">
                <a:latin typeface="Calibri"/>
                <a:cs typeface="Calibri"/>
              </a:rPr>
              <a:t>is</a:t>
            </a:r>
            <a:r>
              <a:rPr sz="4500" spc="-35" dirty="0">
                <a:latin typeface="Calibri"/>
                <a:cs typeface="Calibri"/>
              </a:rPr>
              <a:t> </a:t>
            </a:r>
            <a:r>
              <a:rPr sz="4500" spc="-10" dirty="0">
                <a:latin typeface="Calibri"/>
                <a:cs typeface="Calibri"/>
              </a:rPr>
              <a:t>JXTA?</a:t>
            </a:r>
            <a:endParaRPr sz="4500">
              <a:latin typeface="Calibri"/>
              <a:cs typeface="Calibri"/>
            </a:endParaRPr>
          </a:p>
          <a:p>
            <a:pPr marL="13335">
              <a:lnSpc>
                <a:spcPct val="100000"/>
              </a:lnSpc>
              <a:spcBef>
                <a:spcPts val="415"/>
              </a:spcBef>
            </a:pPr>
            <a:r>
              <a:rPr sz="4450" spc="60" dirty="0">
                <a:latin typeface="Calibri"/>
                <a:cs typeface="Calibri"/>
              </a:rPr>
              <a:t>•JXTA</a:t>
            </a:r>
            <a:r>
              <a:rPr sz="4450" spc="254" dirty="0">
                <a:latin typeface="Calibri"/>
                <a:cs typeface="Calibri"/>
              </a:rPr>
              <a:t> </a:t>
            </a:r>
            <a:r>
              <a:rPr sz="4450" spc="-10" dirty="0">
                <a:latin typeface="Calibri"/>
                <a:cs typeface="Calibri"/>
              </a:rPr>
              <a:t>Example</a:t>
            </a:r>
            <a:endParaRPr sz="4450">
              <a:latin typeface="Calibri"/>
              <a:cs typeface="Calibri"/>
            </a:endParaRPr>
          </a:p>
          <a:p>
            <a:pPr marL="15875">
              <a:lnSpc>
                <a:spcPct val="100000"/>
              </a:lnSpc>
              <a:spcBef>
                <a:spcPts val="625"/>
              </a:spcBef>
            </a:pPr>
            <a:r>
              <a:rPr sz="4250" spc="175" dirty="0">
                <a:latin typeface="Calibri"/>
                <a:cs typeface="Calibri"/>
              </a:rPr>
              <a:t>•JXTA</a:t>
            </a:r>
            <a:r>
              <a:rPr sz="4250" spc="350" dirty="0">
                <a:latin typeface="Calibri"/>
                <a:cs typeface="Calibri"/>
              </a:rPr>
              <a:t> </a:t>
            </a:r>
            <a:r>
              <a:rPr sz="4250" spc="-100" dirty="0">
                <a:latin typeface="Calibri"/>
                <a:cs typeface="Calibri"/>
              </a:rPr>
              <a:t>Wrap-</a:t>
            </a:r>
            <a:r>
              <a:rPr sz="4250" spc="-25" dirty="0">
                <a:latin typeface="Calibri"/>
                <a:cs typeface="Calibri"/>
              </a:rPr>
              <a:t>Up</a:t>
            </a:r>
            <a:endParaRPr sz="4250">
              <a:latin typeface="Calibri"/>
              <a:cs typeface="Calibri"/>
            </a:endParaRPr>
          </a:p>
          <a:p>
            <a:pPr marL="339090" indent="-326390">
              <a:lnSpc>
                <a:spcPct val="100000"/>
              </a:lnSpc>
              <a:spcBef>
                <a:spcPts val="330"/>
              </a:spcBef>
              <a:buClr>
                <a:srgbClr val="6E6DFF"/>
              </a:buClr>
              <a:buChar char="•"/>
              <a:tabLst>
                <a:tab pos="339090" algn="l"/>
              </a:tabLst>
            </a:pPr>
            <a:r>
              <a:rPr sz="4550" spc="-160" dirty="0">
                <a:latin typeface="Calibri"/>
                <a:cs typeface="Calibri"/>
              </a:rPr>
              <a:t>Presentation</a:t>
            </a:r>
            <a:r>
              <a:rPr sz="4550" spc="245" dirty="0">
                <a:latin typeface="Calibri"/>
                <a:cs typeface="Calibri"/>
              </a:rPr>
              <a:t> </a:t>
            </a:r>
            <a:r>
              <a:rPr sz="4550" spc="-10" dirty="0">
                <a:latin typeface="Calibri"/>
                <a:cs typeface="Calibri"/>
              </a:rPr>
              <a:t>Summary</a:t>
            </a:r>
            <a:endParaRPr sz="4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62883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17452" y="940792"/>
            <a:ext cx="6066790" cy="799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50" dirty="0">
                <a:solidFill>
                  <a:srgbClr val="383493"/>
                </a:solidFill>
              </a:rPr>
              <a:t>A</a:t>
            </a:r>
            <a:r>
              <a:rPr sz="5050" spc="-235" dirty="0">
                <a:solidFill>
                  <a:srgbClr val="383493"/>
                </a:solidFill>
              </a:rPr>
              <a:t> </a:t>
            </a:r>
            <a:r>
              <a:rPr sz="5050" spc="-40" dirty="0">
                <a:solidFill>
                  <a:srgbClr val="343393"/>
                </a:solidFill>
              </a:rPr>
              <a:t>Basic</a:t>
            </a:r>
            <a:r>
              <a:rPr sz="5050" spc="-105" dirty="0">
                <a:solidFill>
                  <a:srgbClr val="343393"/>
                </a:solidFill>
              </a:rPr>
              <a:t> </a:t>
            </a:r>
            <a:r>
              <a:rPr sz="5050" spc="-175" dirty="0">
                <a:solidFill>
                  <a:srgbClr val="363489"/>
                </a:solidFill>
              </a:rPr>
              <a:t>Definition</a:t>
            </a:r>
            <a:r>
              <a:rPr sz="5050" spc="140" dirty="0">
                <a:solidFill>
                  <a:srgbClr val="363489"/>
                </a:solidFill>
              </a:rPr>
              <a:t> </a:t>
            </a:r>
            <a:r>
              <a:rPr sz="5050" dirty="0">
                <a:solidFill>
                  <a:srgbClr val="36347E"/>
                </a:solidFill>
              </a:rPr>
              <a:t>of</a:t>
            </a:r>
            <a:r>
              <a:rPr sz="5050" spc="-220" dirty="0">
                <a:solidFill>
                  <a:srgbClr val="36347E"/>
                </a:solidFill>
              </a:rPr>
              <a:t> </a:t>
            </a:r>
            <a:r>
              <a:rPr sz="5050" spc="-85" dirty="0">
                <a:solidFill>
                  <a:srgbClr val="3A3680"/>
                </a:solidFill>
              </a:rPr>
              <a:t>P2P</a:t>
            </a:r>
            <a:endParaRPr sz="5050"/>
          </a:p>
        </p:txBody>
      </p:sp>
      <p:sp>
        <p:nvSpPr>
          <p:cNvPr id="4" name="object 4"/>
          <p:cNvSpPr txBox="1"/>
          <p:nvPr/>
        </p:nvSpPr>
        <p:spPr>
          <a:xfrm>
            <a:off x="1262145" y="1980604"/>
            <a:ext cx="7334250" cy="505266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41630" marR="5080" indent="-307975">
              <a:lnSpc>
                <a:spcPct val="85600"/>
              </a:lnSpc>
              <a:spcBef>
                <a:spcPts val="750"/>
              </a:spcBef>
              <a:buClr>
                <a:srgbClr val="2D31BF"/>
              </a:buClr>
              <a:buChar char="•"/>
              <a:tabLst>
                <a:tab pos="343535" algn="l"/>
              </a:tabLst>
            </a:pPr>
            <a:r>
              <a:rPr sz="3700" dirty="0">
                <a:latin typeface="Arial"/>
                <a:cs typeface="Arial"/>
              </a:rPr>
              <a:t>The exchange of data (documents, 	</a:t>
            </a:r>
            <a:r>
              <a:rPr sz="3650" dirty="0">
                <a:latin typeface="Arial"/>
                <a:cs typeface="Arial"/>
              </a:rPr>
              <a:t>MP3s, voice) between two “peers” that 	</a:t>
            </a:r>
            <a:r>
              <a:rPr sz="3750" dirty="0">
                <a:latin typeface="Arial"/>
                <a:cs typeface="Arial"/>
              </a:rPr>
              <a:t>can act as both the client and the 	</a:t>
            </a:r>
            <a:r>
              <a:rPr sz="3850" dirty="0">
                <a:latin typeface="Arial"/>
                <a:cs typeface="Arial"/>
              </a:rPr>
              <a:t>server.</a:t>
            </a:r>
          </a:p>
          <a:p>
            <a:pPr marL="345440" indent="-332740">
              <a:lnSpc>
                <a:spcPts val="4190"/>
              </a:lnSpc>
              <a:buClr>
                <a:srgbClr val="3631D3"/>
              </a:buClr>
              <a:buChar char="•"/>
              <a:tabLst>
                <a:tab pos="345440" algn="l"/>
              </a:tabLst>
            </a:pPr>
            <a:r>
              <a:rPr sz="3900" dirty="0">
                <a:latin typeface="Calibri"/>
                <a:cs typeface="Calibri"/>
              </a:rPr>
              <a:t>A basic example:</a:t>
            </a:r>
          </a:p>
          <a:p>
            <a:pPr marL="349885">
              <a:lnSpc>
                <a:spcPts val="4255"/>
              </a:lnSpc>
            </a:pPr>
            <a:r>
              <a:rPr sz="3900" dirty="0">
                <a:latin typeface="Calibri"/>
                <a:cs typeface="Calibri"/>
              </a:rPr>
              <a:t>The typical telephone call.</a:t>
            </a:r>
          </a:p>
          <a:p>
            <a:pPr marL="751205" marR="299085" indent="-281940">
              <a:lnSpc>
                <a:spcPts val="3379"/>
              </a:lnSpc>
              <a:spcBef>
                <a:spcPts val="630"/>
              </a:spcBef>
            </a:pPr>
            <a:r>
              <a:rPr sz="2900" dirty="0">
                <a:solidFill>
                  <a:srgbClr val="B8110F"/>
                </a:solidFill>
                <a:latin typeface="Arial"/>
                <a:cs typeface="Arial"/>
              </a:rPr>
              <a:t>Both </a:t>
            </a:r>
            <a:r>
              <a:rPr sz="2900" dirty="0">
                <a:solidFill>
                  <a:srgbClr val="932F31"/>
                </a:solidFill>
                <a:latin typeface="Arial"/>
                <a:cs typeface="Arial"/>
              </a:rPr>
              <a:t>“peers” </a:t>
            </a:r>
            <a:r>
              <a:rPr sz="2900" dirty="0">
                <a:solidFill>
                  <a:srgbClr val="BA2116"/>
                </a:solidFill>
                <a:latin typeface="Arial"/>
                <a:cs typeface="Arial"/>
              </a:rPr>
              <a:t>act </a:t>
            </a:r>
            <a:r>
              <a:rPr sz="2900" dirty="0">
                <a:solidFill>
                  <a:srgbClr val="BC1F23"/>
                </a:solidFill>
                <a:latin typeface="Arial"/>
                <a:cs typeface="Arial"/>
              </a:rPr>
              <a:t>as </a:t>
            </a:r>
            <a:r>
              <a:rPr sz="2900" dirty="0">
                <a:solidFill>
                  <a:srgbClr val="8E2A26"/>
                </a:solidFill>
                <a:latin typeface="Arial"/>
                <a:cs typeface="Arial"/>
              </a:rPr>
              <a:t>producers </a:t>
            </a:r>
            <a:r>
              <a:rPr sz="2900" dirty="0">
                <a:solidFill>
                  <a:srgbClr val="902831"/>
                </a:solidFill>
                <a:latin typeface="Arial"/>
                <a:cs typeface="Arial"/>
              </a:rPr>
              <a:t>(by </a:t>
            </a:r>
            <a:r>
              <a:rPr sz="2900" dirty="0">
                <a:solidFill>
                  <a:srgbClr val="B61F18"/>
                </a:solidFill>
                <a:latin typeface="Arial"/>
                <a:cs typeface="Arial"/>
              </a:rPr>
              <a:t>talking) </a:t>
            </a:r>
            <a:r>
              <a:rPr sz="2900" dirty="0">
                <a:solidFill>
                  <a:srgbClr val="CF181F"/>
                </a:solidFill>
                <a:latin typeface="Arial"/>
                <a:cs typeface="Arial"/>
              </a:rPr>
              <a:t>and </a:t>
            </a:r>
            <a:r>
              <a:rPr sz="2900" dirty="0">
                <a:solidFill>
                  <a:srgbClr val="C31523"/>
                </a:solidFill>
                <a:latin typeface="Arial"/>
                <a:cs typeface="Arial"/>
              </a:rPr>
              <a:t>as </a:t>
            </a:r>
            <a:r>
              <a:rPr sz="2900" dirty="0">
                <a:solidFill>
                  <a:srgbClr val="B50F1F"/>
                </a:solidFill>
                <a:latin typeface="Arial"/>
                <a:cs typeface="Arial"/>
              </a:rPr>
              <a:t>consumers </a:t>
            </a:r>
            <a:r>
              <a:rPr sz="2900" dirty="0">
                <a:solidFill>
                  <a:srgbClr val="A52831"/>
                </a:solidFill>
                <a:latin typeface="Arial"/>
                <a:cs typeface="Arial"/>
              </a:rPr>
              <a:t>(by </a:t>
            </a:r>
            <a:r>
              <a:rPr sz="2900" dirty="0">
                <a:solidFill>
                  <a:srgbClr val="B5211F"/>
                </a:solidFill>
                <a:latin typeface="Arial"/>
                <a:cs typeface="Arial"/>
              </a:rPr>
              <a:t>listening).</a:t>
            </a:r>
            <a:endParaRPr sz="2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89672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4079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35"/>
              </a:spcBef>
            </a:pPr>
            <a:r>
              <a:rPr sz="4650" spc="-590" dirty="0">
                <a:solidFill>
                  <a:srgbClr val="3B3680"/>
                </a:solidFill>
                <a:latin typeface="Arial"/>
                <a:cs typeface="Arial"/>
              </a:rPr>
              <a:t>P2P</a:t>
            </a:r>
            <a:r>
              <a:rPr sz="4650" spc="254" dirty="0">
                <a:solidFill>
                  <a:srgbClr val="3B3680"/>
                </a:solidFill>
                <a:latin typeface="Arial"/>
                <a:cs typeface="Arial"/>
              </a:rPr>
              <a:t> </a:t>
            </a:r>
            <a:r>
              <a:rPr sz="4650" spc="-265" dirty="0">
                <a:solidFill>
                  <a:srgbClr val="383685"/>
                </a:solidFill>
                <a:latin typeface="Arial"/>
                <a:cs typeface="Arial"/>
              </a:rPr>
              <a:t>and</a:t>
            </a:r>
            <a:r>
              <a:rPr sz="4650" spc="90" dirty="0">
                <a:solidFill>
                  <a:srgbClr val="383685"/>
                </a:solidFill>
                <a:latin typeface="Arial"/>
                <a:cs typeface="Arial"/>
              </a:rPr>
              <a:t> </a:t>
            </a:r>
            <a:r>
              <a:rPr sz="4650" spc="-35" dirty="0">
                <a:solidFill>
                  <a:srgbClr val="34318E"/>
                </a:solidFill>
                <a:latin typeface="Arial"/>
                <a:cs typeface="Arial"/>
              </a:rPr>
              <a:t>the</a:t>
            </a:r>
            <a:r>
              <a:rPr sz="4650" spc="-150" dirty="0">
                <a:solidFill>
                  <a:srgbClr val="34318E"/>
                </a:solidFill>
                <a:latin typeface="Arial"/>
                <a:cs typeface="Arial"/>
              </a:rPr>
              <a:t> </a:t>
            </a:r>
            <a:r>
              <a:rPr sz="4650" spc="-10" dirty="0">
                <a:solidFill>
                  <a:srgbClr val="383699"/>
                </a:solidFill>
                <a:latin typeface="Arial"/>
                <a:cs typeface="Arial"/>
              </a:rPr>
              <a:t>Internet</a:t>
            </a:r>
            <a:endParaRPr sz="4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8929" y="1961256"/>
            <a:ext cx="7541895" cy="412686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17500" marR="5080" indent="-305435">
              <a:lnSpc>
                <a:spcPct val="80300"/>
              </a:lnSpc>
              <a:spcBef>
                <a:spcPts val="855"/>
              </a:spcBef>
              <a:buClr>
                <a:srgbClr val="423DCF"/>
              </a:buClr>
              <a:buChar char="•"/>
              <a:tabLst>
                <a:tab pos="334010" algn="l"/>
              </a:tabLst>
            </a:pPr>
            <a:r>
              <a:rPr sz="3100" spc="-60" dirty="0">
                <a:latin typeface="Arial"/>
                <a:cs typeface="Arial"/>
              </a:rPr>
              <a:t>Initially,</a:t>
            </a:r>
            <a:r>
              <a:rPr sz="3100" spc="-160" dirty="0">
                <a:latin typeface="Arial"/>
                <a:cs typeface="Arial"/>
              </a:rPr>
              <a:t> </a:t>
            </a:r>
            <a:r>
              <a:rPr sz="3100" spc="-90" dirty="0">
                <a:latin typeface="Arial"/>
                <a:cs typeface="Arial"/>
              </a:rPr>
              <a:t>the</a:t>
            </a:r>
            <a:r>
              <a:rPr sz="3100" spc="-125" dirty="0">
                <a:latin typeface="Arial"/>
                <a:cs typeface="Arial"/>
              </a:rPr>
              <a:t> </a:t>
            </a:r>
            <a:r>
              <a:rPr sz="3100" spc="-80" dirty="0">
                <a:latin typeface="Arial"/>
                <a:cs typeface="Arial"/>
              </a:rPr>
              <a:t>internet</a:t>
            </a:r>
            <a:r>
              <a:rPr sz="3100" spc="-135" dirty="0">
                <a:latin typeface="Arial"/>
                <a:cs typeface="Arial"/>
              </a:rPr>
              <a:t> </a:t>
            </a:r>
            <a:r>
              <a:rPr sz="3100" spc="-280" dirty="0">
                <a:latin typeface="Arial"/>
                <a:cs typeface="Arial"/>
              </a:rPr>
              <a:t>was</a:t>
            </a:r>
            <a:r>
              <a:rPr sz="3100" spc="-10" dirty="0">
                <a:latin typeface="Arial"/>
                <a:cs typeface="Arial"/>
              </a:rPr>
              <a:t> </a:t>
            </a:r>
            <a:r>
              <a:rPr sz="3100" spc="-160" dirty="0">
                <a:latin typeface="Arial"/>
                <a:cs typeface="Arial"/>
              </a:rPr>
              <a:t>created</a:t>
            </a:r>
            <a:r>
              <a:rPr sz="3100" spc="-35" dirty="0">
                <a:latin typeface="Arial"/>
                <a:cs typeface="Arial"/>
              </a:rPr>
              <a:t> </a:t>
            </a:r>
            <a:r>
              <a:rPr sz="3100" spc="-50" dirty="0">
                <a:latin typeface="Arial"/>
                <a:cs typeface="Arial"/>
              </a:rPr>
              <a:t>for</a:t>
            </a:r>
            <a:r>
              <a:rPr sz="3100" spc="-85" dirty="0">
                <a:latin typeface="Arial"/>
                <a:cs typeface="Arial"/>
              </a:rPr>
              <a:t> </a:t>
            </a:r>
            <a:r>
              <a:rPr sz="3100" spc="-25" dirty="0">
                <a:latin typeface="Arial"/>
                <a:cs typeface="Arial"/>
              </a:rPr>
              <a:t>the 	</a:t>
            </a:r>
            <a:r>
              <a:rPr sz="3050" spc="-145" dirty="0">
                <a:latin typeface="Arial"/>
                <a:cs typeface="Arial"/>
              </a:rPr>
              <a:t>sharing</a:t>
            </a:r>
            <a:r>
              <a:rPr sz="3050" spc="-80" dirty="0">
                <a:latin typeface="Arial"/>
                <a:cs typeface="Arial"/>
              </a:rPr>
              <a:t> </a:t>
            </a:r>
            <a:r>
              <a:rPr sz="3050" dirty="0">
                <a:latin typeface="Arial"/>
                <a:cs typeface="Arial"/>
              </a:rPr>
              <a:t>of</a:t>
            </a:r>
            <a:r>
              <a:rPr sz="3050" spc="-210" dirty="0">
                <a:latin typeface="Arial"/>
                <a:cs typeface="Arial"/>
              </a:rPr>
              <a:t> </a:t>
            </a:r>
            <a:r>
              <a:rPr sz="3050" spc="-100" dirty="0">
                <a:latin typeface="Arial"/>
                <a:cs typeface="Arial"/>
              </a:rPr>
              <a:t>information</a:t>
            </a:r>
            <a:r>
              <a:rPr sz="3050" spc="40" dirty="0">
                <a:latin typeface="Arial"/>
                <a:cs typeface="Arial"/>
              </a:rPr>
              <a:t> </a:t>
            </a:r>
            <a:r>
              <a:rPr sz="3050" spc="-165" dirty="0">
                <a:latin typeface="Arial"/>
                <a:cs typeface="Arial"/>
              </a:rPr>
              <a:t>and</a:t>
            </a:r>
            <a:r>
              <a:rPr sz="3050" spc="-45" dirty="0">
                <a:latin typeface="Arial"/>
                <a:cs typeface="Arial"/>
              </a:rPr>
              <a:t> </a:t>
            </a:r>
            <a:r>
              <a:rPr sz="3050" spc="-185" dirty="0">
                <a:latin typeface="Arial"/>
                <a:cs typeface="Arial"/>
              </a:rPr>
              <a:t>resources</a:t>
            </a:r>
            <a:r>
              <a:rPr sz="3050" spc="55" dirty="0">
                <a:latin typeface="Arial"/>
                <a:cs typeface="Arial"/>
              </a:rPr>
              <a:t> </a:t>
            </a:r>
            <a:r>
              <a:rPr sz="3050" spc="-130" dirty="0">
                <a:latin typeface="Arial"/>
                <a:cs typeface="Arial"/>
              </a:rPr>
              <a:t>between 	</a:t>
            </a:r>
            <a:r>
              <a:rPr sz="3250" spc="-305" dirty="0">
                <a:latin typeface="Arial"/>
                <a:cs typeface="Arial"/>
              </a:rPr>
              <a:t>peers.</a:t>
            </a:r>
            <a:endParaRPr sz="3250">
              <a:latin typeface="Arial"/>
              <a:cs typeface="Arial"/>
            </a:endParaRPr>
          </a:p>
          <a:p>
            <a:pPr marL="327660" marR="127000" indent="-315595">
              <a:lnSpc>
                <a:spcPct val="80300"/>
              </a:lnSpc>
              <a:spcBef>
                <a:spcPts val="715"/>
              </a:spcBef>
              <a:buClr>
                <a:srgbClr val="5456ED"/>
              </a:buClr>
              <a:buChar char="•"/>
              <a:tabLst>
                <a:tab pos="329565" algn="l"/>
              </a:tabLst>
            </a:pPr>
            <a:r>
              <a:rPr sz="3050" spc="-190" dirty="0">
                <a:latin typeface="Arial"/>
                <a:cs typeface="Arial"/>
              </a:rPr>
              <a:t>The</a:t>
            </a:r>
            <a:r>
              <a:rPr sz="3050" spc="-30" dirty="0">
                <a:latin typeface="Arial"/>
                <a:cs typeface="Arial"/>
              </a:rPr>
              <a:t> </a:t>
            </a:r>
            <a:r>
              <a:rPr sz="3050" spc="-145" dirty="0">
                <a:latin typeface="Arial"/>
                <a:cs typeface="Arial"/>
              </a:rPr>
              <a:t>paradigm</a:t>
            </a:r>
            <a:r>
              <a:rPr sz="3050" spc="-70" dirty="0">
                <a:latin typeface="Arial"/>
                <a:cs typeface="Arial"/>
              </a:rPr>
              <a:t> </a:t>
            </a:r>
            <a:r>
              <a:rPr sz="3050" spc="-90" dirty="0">
                <a:latin typeface="Arial"/>
                <a:cs typeface="Arial"/>
              </a:rPr>
              <a:t>shifted</a:t>
            </a:r>
            <a:r>
              <a:rPr sz="3050" spc="-15" dirty="0">
                <a:latin typeface="Arial"/>
                <a:cs typeface="Arial"/>
              </a:rPr>
              <a:t> </a:t>
            </a:r>
            <a:r>
              <a:rPr sz="3050" dirty="0">
                <a:latin typeface="Arial"/>
                <a:cs typeface="Arial"/>
              </a:rPr>
              <a:t>to</a:t>
            </a:r>
            <a:r>
              <a:rPr sz="3050" spc="-120" dirty="0">
                <a:latin typeface="Arial"/>
                <a:cs typeface="Arial"/>
              </a:rPr>
              <a:t> </a:t>
            </a:r>
            <a:r>
              <a:rPr sz="3050" spc="-360" dirty="0">
                <a:latin typeface="Arial"/>
                <a:cs typeface="Arial"/>
              </a:rPr>
              <a:t>a</a:t>
            </a:r>
            <a:r>
              <a:rPr sz="3050" spc="110" dirty="0">
                <a:latin typeface="Arial"/>
                <a:cs typeface="Arial"/>
              </a:rPr>
              <a:t> </a:t>
            </a:r>
            <a:r>
              <a:rPr sz="3050" spc="-85" dirty="0">
                <a:latin typeface="Arial"/>
                <a:cs typeface="Arial"/>
              </a:rPr>
              <a:t>client</a:t>
            </a:r>
            <a:r>
              <a:rPr sz="3050" spc="-35" dirty="0">
                <a:latin typeface="Arial"/>
                <a:cs typeface="Arial"/>
              </a:rPr>
              <a:t> </a:t>
            </a:r>
            <a:r>
              <a:rPr sz="3050" dirty="0">
                <a:latin typeface="Arial"/>
                <a:cs typeface="Arial"/>
              </a:rPr>
              <a:t>/</a:t>
            </a:r>
            <a:r>
              <a:rPr sz="3050" spc="135" dirty="0">
                <a:latin typeface="Arial"/>
                <a:cs typeface="Arial"/>
              </a:rPr>
              <a:t> </a:t>
            </a:r>
            <a:r>
              <a:rPr sz="3050" spc="-10" dirty="0">
                <a:latin typeface="Arial"/>
                <a:cs typeface="Arial"/>
              </a:rPr>
              <a:t>server 	</a:t>
            </a:r>
            <a:r>
              <a:rPr sz="3100" spc="-140" dirty="0">
                <a:latin typeface="Arial"/>
                <a:cs typeface="Arial"/>
              </a:rPr>
              <a:t>architecture</a:t>
            </a:r>
            <a:r>
              <a:rPr sz="3100" spc="-80" dirty="0">
                <a:latin typeface="Arial"/>
                <a:cs typeface="Arial"/>
              </a:rPr>
              <a:t> </a:t>
            </a:r>
            <a:r>
              <a:rPr sz="3100" spc="-200" dirty="0">
                <a:latin typeface="Arial"/>
                <a:cs typeface="Arial"/>
              </a:rPr>
              <a:t>where</a:t>
            </a:r>
            <a:r>
              <a:rPr sz="3100" spc="-15" dirty="0">
                <a:latin typeface="Arial"/>
                <a:cs typeface="Arial"/>
              </a:rPr>
              <a:t> </a:t>
            </a:r>
            <a:r>
              <a:rPr sz="3100" spc="-95" dirty="0">
                <a:latin typeface="Arial"/>
                <a:cs typeface="Arial"/>
              </a:rPr>
              <a:t>there</a:t>
            </a:r>
            <a:r>
              <a:rPr sz="3100" spc="-120" dirty="0">
                <a:latin typeface="Arial"/>
                <a:cs typeface="Arial"/>
              </a:rPr>
              <a:t> </a:t>
            </a:r>
            <a:r>
              <a:rPr sz="3100" spc="-315" dirty="0">
                <a:latin typeface="Arial"/>
                <a:cs typeface="Arial"/>
              </a:rPr>
              <a:t>was</a:t>
            </a:r>
            <a:r>
              <a:rPr sz="3100" spc="45" dirty="0">
                <a:latin typeface="Arial"/>
                <a:cs typeface="Arial"/>
              </a:rPr>
              <a:t> </a:t>
            </a:r>
            <a:r>
              <a:rPr sz="3100" spc="-295" dirty="0">
                <a:latin typeface="Arial"/>
                <a:cs typeface="Arial"/>
              </a:rPr>
              <a:t>a</a:t>
            </a:r>
            <a:r>
              <a:rPr sz="3100" spc="80" dirty="0">
                <a:latin typeface="Arial"/>
                <a:cs typeface="Arial"/>
              </a:rPr>
              <a:t> </a:t>
            </a:r>
            <a:r>
              <a:rPr sz="3100" spc="-125" dirty="0">
                <a:latin typeface="Arial"/>
                <a:cs typeface="Arial"/>
              </a:rPr>
              <a:t>state</a:t>
            </a:r>
            <a:r>
              <a:rPr sz="3100" spc="-65" dirty="0">
                <a:latin typeface="Arial"/>
                <a:cs typeface="Arial"/>
              </a:rPr>
              <a:t> </a:t>
            </a:r>
            <a:r>
              <a:rPr sz="3100" spc="-30" dirty="0">
                <a:latin typeface="Arial"/>
                <a:cs typeface="Arial"/>
              </a:rPr>
              <a:t>of</a:t>
            </a:r>
            <a:r>
              <a:rPr sz="3100" spc="-130" dirty="0">
                <a:latin typeface="Arial"/>
                <a:cs typeface="Arial"/>
              </a:rPr>
              <a:t> </a:t>
            </a:r>
            <a:r>
              <a:rPr sz="3100" spc="-100" dirty="0">
                <a:latin typeface="Arial"/>
                <a:cs typeface="Arial"/>
              </a:rPr>
              <a:t>over-	</a:t>
            </a:r>
            <a:r>
              <a:rPr sz="3200" spc="-160" dirty="0">
                <a:latin typeface="Arial"/>
                <a:cs typeface="Arial"/>
              </a:rPr>
              <a:t>consumption.</a:t>
            </a:r>
            <a:endParaRPr sz="3200">
              <a:latin typeface="Arial"/>
              <a:cs typeface="Arial"/>
            </a:endParaRPr>
          </a:p>
          <a:p>
            <a:pPr marL="325755" marR="610235" indent="-312420">
              <a:lnSpc>
                <a:spcPts val="3020"/>
              </a:lnSpc>
              <a:spcBef>
                <a:spcPts val="670"/>
              </a:spcBef>
              <a:buClr>
                <a:srgbClr val="3434C8"/>
              </a:buClr>
              <a:buChar char="•"/>
              <a:tabLst>
                <a:tab pos="330835" algn="l"/>
              </a:tabLst>
            </a:pPr>
            <a:r>
              <a:rPr sz="2900" spc="-75" dirty="0">
                <a:latin typeface="Arial"/>
                <a:cs typeface="Arial"/>
              </a:rPr>
              <a:t>One</a:t>
            </a:r>
            <a:r>
              <a:rPr sz="2900" spc="-35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of</a:t>
            </a:r>
            <a:r>
              <a:rPr sz="2900" spc="-25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the</a:t>
            </a:r>
            <a:r>
              <a:rPr sz="2900" spc="-45" dirty="0">
                <a:latin typeface="Arial"/>
                <a:cs typeface="Arial"/>
              </a:rPr>
              <a:t> </a:t>
            </a:r>
            <a:r>
              <a:rPr sz="2900" spc="-80" dirty="0">
                <a:latin typeface="Arial"/>
                <a:cs typeface="Arial"/>
              </a:rPr>
              <a:t>goals</a:t>
            </a:r>
            <a:r>
              <a:rPr sz="2900" spc="30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of </a:t>
            </a:r>
            <a:r>
              <a:rPr sz="2900" spc="-335" dirty="0">
                <a:latin typeface="Arial"/>
                <a:cs typeface="Arial"/>
              </a:rPr>
              <a:t>P2P</a:t>
            </a:r>
            <a:r>
              <a:rPr sz="2900" spc="100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is</a:t>
            </a:r>
            <a:r>
              <a:rPr sz="2900" spc="-5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to</a:t>
            </a:r>
            <a:r>
              <a:rPr sz="2900" spc="-40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return</a:t>
            </a:r>
            <a:r>
              <a:rPr sz="2900" spc="110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to</a:t>
            </a:r>
            <a:r>
              <a:rPr sz="2900" spc="-35" dirty="0">
                <a:latin typeface="Arial"/>
                <a:cs typeface="Arial"/>
              </a:rPr>
              <a:t> </a:t>
            </a:r>
            <a:r>
              <a:rPr sz="2900" spc="-25" dirty="0">
                <a:latin typeface="Arial"/>
                <a:cs typeface="Arial"/>
              </a:rPr>
              <a:t>the 	</a:t>
            </a:r>
            <a:r>
              <a:rPr sz="2900" spc="-40" dirty="0">
                <a:latin typeface="Arial"/>
                <a:cs typeface="Arial"/>
              </a:rPr>
              <a:t>original</a:t>
            </a:r>
            <a:r>
              <a:rPr sz="2900" spc="15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intent</a:t>
            </a:r>
            <a:r>
              <a:rPr sz="2900" spc="30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of</a:t>
            </a:r>
            <a:r>
              <a:rPr sz="2900" spc="-40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the</a:t>
            </a:r>
            <a:r>
              <a:rPr sz="2900" spc="-75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internet,</a:t>
            </a:r>
            <a:r>
              <a:rPr sz="2900" spc="10" dirty="0">
                <a:latin typeface="Arial"/>
                <a:cs typeface="Arial"/>
              </a:rPr>
              <a:t> </a:t>
            </a:r>
            <a:r>
              <a:rPr sz="2900" spc="-30" dirty="0">
                <a:latin typeface="Arial"/>
                <a:cs typeface="Arial"/>
              </a:rPr>
              <a:t>creating</a:t>
            </a:r>
            <a:r>
              <a:rPr sz="2900" spc="40" dirty="0">
                <a:latin typeface="Arial"/>
                <a:cs typeface="Arial"/>
              </a:rPr>
              <a:t> </a:t>
            </a:r>
            <a:r>
              <a:rPr sz="2900" spc="-25" dirty="0">
                <a:latin typeface="Arial"/>
                <a:cs typeface="Arial"/>
              </a:rPr>
              <a:t>an 	</a:t>
            </a:r>
            <a:r>
              <a:rPr sz="2900" spc="-45" dirty="0">
                <a:latin typeface="Arial"/>
                <a:cs typeface="Arial"/>
              </a:rPr>
              <a:t>equilibrium</a:t>
            </a:r>
            <a:r>
              <a:rPr sz="2900" spc="60" dirty="0">
                <a:latin typeface="Arial"/>
                <a:cs typeface="Arial"/>
              </a:rPr>
              <a:t> </a:t>
            </a:r>
            <a:r>
              <a:rPr sz="2900" spc="-65" dirty="0">
                <a:latin typeface="Arial"/>
                <a:cs typeface="Arial"/>
              </a:rPr>
              <a:t>between</a:t>
            </a:r>
            <a:r>
              <a:rPr sz="2900" spc="-35" dirty="0">
                <a:latin typeface="Arial"/>
                <a:cs typeface="Arial"/>
              </a:rPr>
              <a:t> </a:t>
            </a:r>
            <a:r>
              <a:rPr sz="2900" spc="-55" dirty="0">
                <a:latin typeface="Arial"/>
                <a:cs typeface="Arial"/>
              </a:rPr>
              <a:t>production</a:t>
            </a:r>
            <a:r>
              <a:rPr sz="2900" spc="15" dirty="0">
                <a:latin typeface="Arial"/>
                <a:cs typeface="Arial"/>
              </a:rPr>
              <a:t> </a:t>
            </a:r>
            <a:r>
              <a:rPr sz="2900" spc="-25" dirty="0">
                <a:latin typeface="Arial"/>
                <a:cs typeface="Arial"/>
              </a:rPr>
              <a:t>and 	</a:t>
            </a:r>
            <a:r>
              <a:rPr sz="2900" spc="-20" dirty="0">
                <a:latin typeface="Arial"/>
                <a:cs typeface="Arial"/>
              </a:rPr>
              <a:t>consumption.</a:t>
            </a:r>
            <a:endParaRPr sz="2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80741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0280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35"/>
              </a:spcBef>
            </a:pPr>
            <a:r>
              <a:rPr sz="4600" spc="-490" dirty="0">
                <a:solidFill>
                  <a:srgbClr val="383699"/>
                </a:solidFill>
                <a:latin typeface="Arial"/>
                <a:cs typeface="Arial"/>
              </a:rPr>
              <a:t>A</a:t>
            </a:r>
            <a:r>
              <a:rPr sz="4600" spc="30" dirty="0">
                <a:solidFill>
                  <a:srgbClr val="383699"/>
                </a:solidFill>
                <a:latin typeface="Arial"/>
                <a:cs typeface="Arial"/>
              </a:rPr>
              <a:t> </a:t>
            </a:r>
            <a:r>
              <a:rPr sz="4600" spc="-315" dirty="0">
                <a:solidFill>
                  <a:srgbClr val="3B3191"/>
                </a:solidFill>
                <a:latin typeface="Arial"/>
                <a:cs typeface="Arial"/>
              </a:rPr>
              <a:t>Concise</a:t>
            </a:r>
            <a:r>
              <a:rPr sz="4600" spc="335" dirty="0">
                <a:solidFill>
                  <a:srgbClr val="3B3191"/>
                </a:solidFill>
                <a:latin typeface="Arial"/>
                <a:cs typeface="Arial"/>
              </a:rPr>
              <a:t> </a:t>
            </a:r>
            <a:r>
              <a:rPr sz="4600" spc="-525" dirty="0">
                <a:solidFill>
                  <a:srgbClr val="2F2F95"/>
                </a:solidFill>
                <a:latin typeface="Arial"/>
                <a:cs typeface="Arial"/>
              </a:rPr>
              <a:t>P2P</a:t>
            </a:r>
            <a:r>
              <a:rPr sz="4600" spc="190" dirty="0">
                <a:solidFill>
                  <a:srgbClr val="2F2F95"/>
                </a:solidFill>
                <a:latin typeface="Arial"/>
                <a:cs typeface="Arial"/>
              </a:rPr>
              <a:t> </a:t>
            </a:r>
            <a:r>
              <a:rPr sz="4600" spc="-80" dirty="0">
                <a:solidFill>
                  <a:srgbClr val="383493"/>
                </a:solidFill>
                <a:latin typeface="Arial"/>
                <a:cs typeface="Arial"/>
              </a:rPr>
              <a:t>Definition</a:t>
            </a:r>
            <a:endParaRPr sz="4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3331" y="1961256"/>
            <a:ext cx="6035040" cy="4166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3270"/>
              </a:lnSpc>
              <a:spcBef>
                <a:spcPts val="125"/>
              </a:spcBef>
            </a:pPr>
            <a:r>
              <a:rPr sz="3100" dirty="0">
                <a:latin typeface="Arial"/>
                <a:cs typeface="Arial"/>
              </a:rPr>
              <a:t>Characteristics</a:t>
            </a:r>
            <a:r>
              <a:rPr sz="3100" spc="-70" dirty="0">
                <a:latin typeface="Arial"/>
                <a:cs typeface="Arial"/>
              </a:rPr>
              <a:t> </a:t>
            </a:r>
            <a:r>
              <a:rPr sz="3100" spc="75" dirty="0">
                <a:latin typeface="Arial"/>
                <a:cs typeface="Arial"/>
              </a:rPr>
              <a:t>of</a:t>
            </a:r>
            <a:r>
              <a:rPr sz="3100" spc="150" dirty="0">
                <a:latin typeface="Arial"/>
                <a:cs typeface="Arial"/>
              </a:rPr>
              <a:t> </a:t>
            </a:r>
            <a:r>
              <a:rPr sz="3100" spc="-135" dirty="0">
                <a:latin typeface="Arial"/>
                <a:cs typeface="Arial"/>
              </a:rPr>
              <a:t>P2P</a:t>
            </a:r>
            <a:r>
              <a:rPr sz="3100" spc="180" dirty="0">
                <a:latin typeface="Arial"/>
                <a:cs typeface="Arial"/>
              </a:rPr>
              <a:t> </a:t>
            </a:r>
            <a:r>
              <a:rPr sz="3100" dirty="0">
                <a:latin typeface="Arial"/>
                <a:cs typeface="Arial"/>
              </a:rPr>
              <a:t>include</a:t>
            </a:r>
            <a:r>
              <a:rPr sz="3100" spc="145" dirty="0">
                <a:latin typeface="Arial"/>
                <a:cs typeface="Arial"/>
              </a:rPr>
              <a:t> </a:t>
            </a:r>
            <a:r>
              <a:rPr sz="3100" spc="55" dirty="0">
                <a:latin typeface="Arial"/>
                <a:cs typeface="Arial"/>
              </a:rPr>
              <a:t>the</a:t>
            </a:r>
            <a:endParaRPr sz="3100">
              <a:latin typeface="Arial"/>
              <a:cs typeface="Arial"/>
            </a:endParaRPr>
          </a:p>
          <a:p>
            <a:pPr marL="358775">
              <a:lnSpc>
                <a:spcPts val="3510"/>
              </a:lnSpc>
            </a:pPr>
            <a:r>
              <a:rPr sz="3300" spc="-10" dirty="0">
                <a:latin typeface="Arial"/>
                <a:cs typeface="Arial"/>
              </a:rPr>
              <a:t>following:</a:t>
            </a:r>
            <a:endParaRPr sz="3300">
              <a:latin typeface="Arial"/>
              <a:cs typeface="Arial"/>
            </a:endParaRPr>
          </a:p>
          <a:p>
            <a:pPr marL="361950" indent="-321945">
              <a:lnSpc>
                <a:spcPct val="100000"/>
              </a:lnSpc>
              <a:spcBef>
                <a:spcPts val="229"/>
              </a:spcBef>
              <a:buClr>
                <a:srgbClr val="6967FF"/>
              </a:buClr>
              <a:buChar char="•"/>
              <a:tabLst>
                <a:tab pos="361950" algn="l"/>
              </a:tabLst>
            </a:pPr>
            <a:r>
              <a:rPr sz="2800" spc="-10" dirty="0">
                <a:latin typeface="Arial"/>
                <a:cs typeface="Arial"/>
              </a:rPr>
              <a:t>Action</a:t>
            </a:r>
            <a:endParaRPr sz="2800">
              <a:latin typeface="Arial"/>
              <a:cs typeface="Arial"/>
            </a:endParaRPr>
          </a:p>
          <a:p>
            <a:pPr marL="360045" indent="-320675">
              <a:lnSpc>
                <a:spcPct val="100000"/>
              </a:lnSpc>
              <a:spcBef>
                <a:spcPts val="280"/>
              </a:spcBef>
              <a:buClr>
                <a:srgbClr val="3B3FC6"/>
              </a:buClr>
              <a:buChar char="•"/>
              <a:tabLst>
                <a:tab pos="360045" algn="l"/>
              </a:tabLst>
            </a:pPr>
            <a:r>
              <a:rPr sz="2850" spc="-25" dirty="0">
                <a:latin typeface="Arial"/>
                <a:cs typeface="Arial"/>
              </a:rPr>
              <a:t>Mutual</a:t>
            </a:r>
            <a:r>
              <a:rPr sz="2850" spc="-110" dirty="0">
                <a:latin typeface="Arial"/>
                <a:cs typeface="Arial"/>
              </a:rPr>
              <a:t> </a:t>
            </a:r>
            <a:r>
              <a:rPr sz="2850" spc="-10" dirty="0">
                <a:latin typeface="Arial"/>
                <a:cs typeface="Arial"/>
              </a:rPr>
              <a:t>Exchange</a:t>
            </a:r>
            <a:endParaRPr sz="2850">
              <a:latin typeface="Arial"/>
              <a:cs typeface="Arial"/>
            </a:endParaRPr>
          </a:p>
          <a:p>
            <a:pPr marL="343535" indent="-304165">
              <a:lnSpc>
                <a:spcPct val="100000"/>
              </a:lnSpc>
              <a:spcBef>
                <a:spcPts val="259"/>
              </a:spcBef>
              <a:buClr>
                <a:srgbClr val="5B60F6"/>
              </a:buClr>
              <a:buChar char="•"/>
              <a:tabLst>
                <a:tab pos="343535" algn="l"/>
              </a:tabLst>
            </a:pPr>
            <a:r>
              <a:rPr sz="2900" spc="-10" dirty="0">
                <a:latin typeface="Arial"/>
                <a:cs typeface="Arial"/>
              </a:rPr>
              <a:t>Information</a:t>
            </a:r>
            <a:endParaRPr sz="2900">
              <a:latin typeface="Arial"/>
              <a:cs typeface="Arial"/>
            </a:endParaRPr>
          </a:p>
          <a:p>
            <a:pPr marL="352425" indent="-313055">
              <a:lnSpc>
                <a:spcPct val="100000"/>
              </a:lnSpc>
              <a:spcBef>
                <a:spcPts val="295"/>
              </a:spcBef>
              <a:buClr>
                <a:srgbClr val="5954E8"/>
              </a:buClr>
              <a:buChar char="•"/>
              <a:tabLst>
                <a:tab pos="352425" algn="l"/>
              </a:tabLst>
            </a:pPr>
            <a:r>
              <a:rPr sz="2850" spc="-10" dirty="0">
                <a:latin typeface="Arial"/>
                <a:cs typeface="Arial"/>
              </a:rPr>
              <a:t>Services</a:t>
            </a:r>
            <a:endParaRPr sz="2850">
              <a:latin typeface="Arial"/>
              <a:cs typeface="Arial"/>
            </a:endParaRPr>
          </a:p>
          <a:p>
            <a:pPr marL="360680" indent="-320675">
              <a:lnSpc>
                <a:spcPct val="100000"/>
              </a:lnSpc>
              <a:spcBef>
                <a:spcPts val="285"/>
              </a:spcBef>
              <a:buClr>
                <a:srgbClr val="5456E9"/>
              </a:buClr>
              <a:buChar char="•"/>
              <a:tabLst>
                <a:tab pos="360680" algn="l"/>
              </a:tabLst>
            </a:pPr>
            <a:r>
              <a:rPr sz="2800" spc="-10" dirty="0">
                <a:latin typeface="Arial"/>
                <a:cs typeface="Arial"/>
              </a:rPr>
              <a:t>Directivity</a:t>
            </a:r>
            <a:endParaRPr sz="2800">
              <a:latin typeface="Arial"/>
              <a:cs typeface="Arial"/>
            </a:endParaRPr>
          </a:p>
          <a:p>
            <a:pPr marL="359410" indent="-320040">
              <a:lnSpc>
                <a:spcPct val="100000"/>
              </a:lnSpc>
              <a:spcBef>
                <a:spcPts val="280"/>
              </a:spcBef>
              <a:buClr>
                <a:srgbClr val="6262F6"/>
              </a:buClr>
              <a:buChar char="•"/>
              <a:tabLst>
                <a:tab pos="359410" algn="l"/>
                <a:tab pos="2103120" algn="l"/>
              </a:tabLst>
            </a:pPr>
            <a:r>
              <a:rPr sz="2850" spc="-10" dirty="0">
                <a:latin typeface="Arial"/>
                <a:cs typeface="Arial"/>
              </a:rPr>
              <a:t>Producer</a:t>
            </a:r>
            <a:r>
              <a:rPr sz="2850" dirty="0">
                <a:latin typeface="Arial"/>
                <a:cs typeface="Arial"/>
              </a:rPr>
              <a:t>	</a:t>
            </a:r>
            <a:r>
              <a:rPr sz="2850" spc="-100" dirty="0">
                <a:latin typeface="Arial"/>
                <a:cs typeface="Arial"/>
              </a:rPr>
              <a:t>Consumer</a:t>
            </a:r>
            <a:r>
              <a:rPr sz="2850" spc="110" dirty="0">
                <a:latin typeface="Arial"/>
                <a:cs typeface="Arial"/>
              </a:rPr>
              <a:t> </a:t>
            </a:r>
            <a:r>
              <a:rPr sz="2850" spc="-10" dirty="0">
                <a:latin typeface="Arial"/>
                <a:cs typeface="Arial"/>
              </a:rPr>
              <a:t>relationship</a:t>
            </a:r>
            <a:endParaRPr sz="2850">
              <a:latin typeface="Arial"/>
              <a:cs typeface="Arial"/>
            </a:endParaRPr>
          </a:p>
          <a:p>
            <a:pPr marL="357505" indent="-318135">
              <a:lnSpc>
                <a:spcPct val="100000"/>
              </a:lnSpc>
              <a:spcBef>
                <a:spcPts val="225"/>
              </a:spcBef>
              <a:buClr>
                <a:srgbClr val="4444DA"/>
              </a:buClr>
              <a:buChar char="•"/>
              <a:tabLst>
                <a:tab pos="357505" algn="l"/>
              </a:tabLst>
            </a:pPr>
            <a:r>
              <a:rPr sz="2900" spc="-10" dirty="0">
                <a:latin typeface="Arial"/>
                <a:cs typeface="Arial"/>
              </a:rPr>
              <a:t>Result</a:t>
            </a:r>
            <a:endParaRPr sz="2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4079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35"/>
              </a:spcBef>
            </a:pPr>
            <a:r>
              <a:rPr sz="4650" spc="-420" dirty="0">
                <a:solidFill>
                  <a:srgbClr val="38387E"/>
                </a:solidFill>
                <a:latin typeface="Arial"/>
                <a:cs typeface="Arial"/>
              </a:rPr>
              <a:t>Peer</a:t>
            </a:r>
            <a:r>
              <a:rPr sz="4650" spc="380" dirty="0">
                <a:solidFill>
                  <a:srgbClr val="38387E"/>
                </a:solidFill>
                <a:latin typeface="Arial"/>
                <a:cs typeface="Arial"/>
              </a:rPr>
              <a:t> </a:t>
            </a:r>
            <a:r>
              <a:rPr sz="4650" dirty="0">
                <a:solidFill>
                  <a:srgbClr val="36318A"/>
                </a:solidFill>
                <a:latin typeface="Arial"/>
                <a:cs typeface="Arial"/>
              </a:rPr>
              <a:t>to</a:t>
            </a:r>
            <a:r>
              <a:rPr sz="4650" spc="55" dirty="0">
                <a:solidFill>
                  <a:srgbClr val="36318A"/>
                </a:solidFill>
                <a:latin typeface="Arial"/>
                <a:cs typeface="Arial"/>
              </a:rPr>
              <a:t> </a:t>
            </a:r>
            <a:r>
              <a:rPr sz="4650" spc="-395" dirty="0">
                <a:solidFill>
                  <a:srgbClr val="383485"/>
                </a:solidFill>
                <a:latin typeface="Arial"/>
                <a:cs typeface="Arial"/>
              </a:rPr>
              <a:t>Peer</a:t>
            </a:r>
            <a:r>
              <a:rPr sz="4650" spc="270" dirty="0">
                <a:solidFill>
                  <a:srgbClr val="383485"/>
                </a:solidFill>
                <a:latin typeface="Arial"/>
                <a:cs typeface="Arial"/>
              </a:rPr>
              <a:t> </a:t>
            </a:r>
            <a:r>
              <a:rPr sz="4650" spc="-295" dirty="0">
                <a:solidFill>
                  <a:srgbClr val="343497"/>
                </a:solidFill>
                <a:latin typeface="Arial"/>
                <a:cs typeface="Arial"/>
              </a:rPr>
              <a:t>Comparison</a:t>
            </a:r>
            <a:endParaRPr sz="46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pc="60" dirty="0"/>
              <a:t>Centralized</a:t>
            </a:r>
            <a:r>
              <a:rPr spc="220" dirty="0"/>
              <a:t> </a:t>
            </a:r>
            <a:r>
              <a:rPr spc="55" dirty="0"/>
              <a:t>System</a:t>
            </a:r>
          </a:p>
          <a:p>
            <a:pPr marL="351155" marR="5080" indent="-313690">
              <a:lnSpc>
                <a:spcPct val="87900"/>
              </a:lnSpc>
              <a:spcBef>
                <a:spcPts val="800"/>
              </a:spcBef>
              <a:buChar char="•"/>
              <a:tabLst>
                <a:tab pos="351155" algn="l"/>
                <a:tab pos="352425" algn="l"/>
              </a:tabLst>
            </a:pPr>
            <a:r>
              <a:rPr sz="2550" dirty="0">
                <a:solidFill>
                  <a:srgbClr val="625DEF"/>
                </a:solidFill>
              </a:rPr>
              <a:t>	</a:t>
            </a:r>
            <a:r>
              <a:rPr sz="2550" spc="-100" dirty="0"/>
              <a:t>More</a:t>
            </a:r>
            <a:r>
              <a:rPr sz="2550" spc="-90" dirty="0"/>
              <a:t> </a:t>
            </a:r>
            <a:r>
              <a:rPr sz="2550" spc="-120" dirty="0"/>
              <a:t>users</a:t>
            </a:r>
            <a:r>
              <a:rPr sz="2550" spc="-55" dirty="0"/>
              <a:t> </a:t>
            </a:r>
            <a:r>
              <a:rPr sz="2550" spc="-120" dirty="0"/>
              <a:t>means</a:t>
            </a:r>
            <a:r>
              <a:rPr sz="2550" spc="-30" dirty="0"/>
              <a:t> </a:t>
            </a:r>
            <a:r>
              <a:rPr sz="2550" spc="-100" dirty="0"/>
              <a:t>more </a:t>
            </a:r>
            <a:r>
              <a:rPr sz="2800" spc="-80" dirty="0">
                <a:latin typeface="Calibri"/>
                <a:cs typeface="Calibri"/>
              </a:rPr>
              <a:t>server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25" dirty="0">
                <a:latin typeface="Calibri"/>
                <a:cs typeface="Calibri"/>
              </a:rPr>
              <a:t>power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650" spc="-55" dirty="0">
                <a:latin typeface="Calibri"/>
                <a:cs typeface="Calibri"/>
              </a:rPr>
              <a:t>bandwidth</a:t>
            </a:r>
            <a:r>
              <a:rPr sz="2650" spc="165" dirty="0">
                <a:latin typeface="Calibri"/>
                <a:cs typeface="Calibri"/>
              </a:rPr>
              <a:t> </a:t>
            </a:r>
            <a:r>
              <a:rPr sz="2650" dirty="0">
                <a:latin typeface="Calibri"/>
                <a:cs typeface="Calibri"/>
              </a:rPr>
              <a:t>is</a:t>
            </a:r>
            <a:r>
              <a:rPr sz="2650" spc="-10" dirty="0">
                <a:latin typeface="Calibri"/>
                <a:cs typeface="Calibri"/>
              </a:rPr>
              <a:t> required.</a:t>
            </a:r>
            <a:endParaRPr sz="2650">
              <a:latin typeface="Calibri"/>
              <a:cs typeface="Calibri"/>
            </a:endParaRPr>
          </a:p>
          <a:p>
            <a:pPr marL="347345" marR="416559" indent="-311150">
              <a:lnSpc>
                <a:spcPct val="87400"/>
              </a:lnSpc>
              <a:spcBef>
                <a:spcPts val="580"/>
              </a:spcBef>
              <a:buClr>
                <a:srgbClr val="595BF9"/>
              </a:buClr>
              <a:buChar char="•"/>
              <a:tabLst>
                <a:tab pos="353695" algn="l"/>
              </a:tabLst>
            </a:pPr>
            <a:r>
              <a:rPr sz="2750" spc="-220" dirty="0"/>
              <a:t>Exist</a:t>
            </a:r>
            <a:r>
              <a:rPr sz="2750" spc="30" dirty="0"/>
              <a:t> </a:t>
            </a:r>
            <a:r>
              <a:rPr sz="2750" spc="-135" dirty="0"/>
              <a:t>only</a:t>
            </a:r>
            <a:r>
              <a:rPr sz="2750" spc="-30" dirty="0"/>
              <a:t> where 	</a:t>
            </a:r>
            <a:r>
              <a:rPr sz="2750" spc="-280" dirty="0"/>
              <a:t>someone</a:t>
            </a:r>
            <a:r>
              <a:rPr sz="2750" spc="75" dirty="0"/>
              <a:t> </a:t>
            </a:r>
            <a:r>
              <a:rPr sz="2750" spc="-90" dirty="0"/>
              <a:t>is</a:t>
            </a:r>
            <a:r>
              <a:rPr sz="2750" spc="-105" dirty="0"/>
              <a:t> </a:t>
            </a:r>
            <a:r>
              <a:rPr sz="2750" spc="-130" dirty="0"/>
              <a:t>willing</a:t>
            </a:r>
            <a:r>
              <a:rPr sz="2750" spc="-10" dirty="0"/>
              <a:t> </a:t>
            </a:r>
            <a:r>
              <a:rPr sz="2750" spc="-25" dirty="0"/>
              <a:t>to 	</a:t>
            </a:r>
            <a:r>
              <a:rPr sz="2750" spc="-165" dirty="0"/>
              <a:t>invest</a:t>
            </a:r>
            <a:r>
              <a:rPr sz="2750" spc="-20" dirty="0"/>
              <a:t> </a:t>
            </a:r>
            <a:r>
              <a:rPr sz="2750" spc="-145" dirty="0"/>
              <a:t>resources.</a:t>
            </a:r>
            <a:endParaRPr sz="2750"/>
          </a:p>
          <a:p>
            <a:pPr marL="353695" marR="257175" indent="-315595">
              <a:lnSpc>
                <a:spcPts val="2850"/>
              </a:lnSpc>
              <a:spcBef>
                <a:spcPts val="650"/>
              </a:spcBef>
              <a:buClr>
                <a:srgbClr val="6666EB"/>
              </a:buClr>
              <a:buChar char="•"/>
              <a:tabLst>
                <a:tab pos="353695" algn="l"/>
              </a:tabLst>
            </a:pPr>
            <a:r>
              <a:rPr spc="-100" dirty="0"/>
              <a:t>One</a:t>
            </a:r>
            <a:r>
              <a:rPr spc="-75" dirty="0"/>
              <a:t> </a:t>
            </a:r>
            <a:r>
              <a:rPr spc="-50" dirty="0"/>
              <a:t>location stores </a:t>
            </a:r>
            <a:r>
              <a:rPr spc="-35" dirty="0"/>
              <a:t>all </a:t>
            </a:r>
            <a:r>
              <a:rPr dirty="0"/>
              <a:t>the</a:t>
            </a:r>
            <a:r>
              <a:rPr spc="-25" dirty="0"/>
              <a:t> </a:t>
            </a:r>
            <a:r>
              <a:rPr spc="-10" dirty="0"/>
              <a:t>data.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/>
              <a:t>P2P</a:t>
            </a:r>
            <a:r>
              <a:rPr spc="-100" dirty="0"/>
              <a:t> </a:t>
            </a:r>
            <a:r>
              <a:rPr spc="55" dirty="0"/>
              <a:t>System</a:t>
            </a:r>
          </a:p>
          <a:p>
            <a:pPr marL="349885" marR="5080" indent="-321310">
              <a:lnSpc>
                <a:spcPct val="87900"/>
              </a:lnSpc>
              <a:spcBef>
                <a:spcPts val="800"/>
              </a:spcBef>
              <a:buChar char="•"/>
              <a:tabLst>
                <a:tab pos="349885" algn="l"/>
                <a:tab pos="351790" algn="l"/>
              </a:tabLst>
            </a:pPr>
            <a:r>
              <a:rPr sz="3825" baseline="4357" dirty="0">
                <a:solidFill>
                  <a:srgbClr val="4D49D8"/>
                </a:solidFill>
              </a:rPr>
              <a:t>	</a:t>
            </a:r>
            <a:r>
              <a:rPr sz="2550" spc="-130" dirty="0"/>
              <a:t>More</a:t>
            </a:r>
            <a:r>
              <a:rPr sz="2550" spc="-60" dirty="0"/>
              <a:t> </a:t>
            </a:r>
            <a:r>
              <a:rPr sz="2550" spc="-105" dirty="0"/>
              <a:t>users</a:t>
            </a:r>
            <a:r>
              <a:rPr sz="2550" dirty="0"/>
              <a:t> </a:t>
            </a:r>
            <a:r>
              <a:rPr sz="2550" spc="-145" dirty="0"/>
              <a:t>means</a:t>
            </a:r>
            <a:r>
              <a:rPr sz="2550" spc="-15" dirty="0"/>
              <a:t> </a:t>
            </a:r>
            <a:r>
              <a:rPr sz="2550" spc="-85" dirty="0"/>
              <a:t>more </a:t>
            </a:r>
            <a:r>
              <a:rPr sz="2800" spc="-100" dirty="0">
                <a:latin typeface="Calibri"/>
                <a:cs typeface="Calibri"/>
              </a:rPr>
              <a:t>resources</a:t>
            </a:r>
            <a:r>
              <a:rPr sz="2800" spc="-25" dirty="0">
                <a:latin typeface="Calibri"/>
                <a:cs typeface="Calibri"/>
              </a:rPr>
              <a:t> are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able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</a:t>
            </a:r>
            <a:r>
              <a:rPr sz="2650" dirty="0">
                <a:latin typeface="Calibri"/>
                <a:cs typeface="Calibri"/>
              </a:rPr>
              <a:t>share</a:t>
            </a:r>
            <a:r>
              <a:rPr sz="2650" spc="-15" dirty="0">
                <a:latin typeface="Calibri"/>
                <a:cs typeface="Calibri"/>
              </a:rPr>
              <a:t> </a:t>
            </a:r>
            <a:r>
              <a:rPr sz="2650" dirty="0">
                <a:latin typeface="Calibri"/>
                <a:cs typeface="Calibri"/>
              </a:rPr>
              <a:t>the</a:t>
            </a:r>
            <a:r>
              <a:rPr sz="2650" spc="-114" dirty="0">
                <a:latin typeface="Calibri"/>
                <a:cs typeface="Calibri"/>
              </a:rPr>
              <a:t> </a:t>
            </a:r>
            <a:r>
              <a:rPr sz="2650" spc="-10" dirty="0">
                <a:latin typeface="Calibri"/>
                <a:cs typeface="Calibri"/>
              </a:rPr>
              <a:t>load.</a:t>
            </a:r>
            <a:endParaRPr sz="2650">
              <a:latin typeface="Calibri"/>
              <a:cs typeface="Calibri"/>
            </a:endParaRPr>
          </a:p>
          <a:p>
            <a:pPr marL="347980" marR="351155" indent="-321310">
              <a:lnSpc>
                <a:spcPct val="87400"/>
              </a:lnSpc>
              <a:spcBef>
                <a:spcPts val="580"/>
              </a:spcBef>
              <a:buClr>
                <a:srgbClr val="4D44DF"/>
              </a:buClr>
              <a:buChar char="•"/>
              <a:tabLst>
                <a:tab pos="353060" algn="l"/>
              </a:tabLst>
            </a:pPr>
            <a:r>
              <a:rPr sz="2750" spc="-360" dirty="0"/>
              <a:t>Can</a:t>
            </a:r>
            <a:r>
              <a:rPr sz="2750" spc="70" dirty="0"/>
              <a:t> </a:t>
            </a:r>
            <a:r>
              <a:rPr sz="2750" spc="-135" dirty="0"/>
              <a:t>exist</a:t>
            </a:r>
            <a:r>
              <a:rPr sz="2750" spc="-5" dirty="0"/>
              <a:t> </a:t>
            </a:r>
            <a:r>
              <a:rPr sz="2750" spc="-130" dirty="0"/>
              <a:t>without</a:t>
            </a:r>
            <a:r>
              <a:rPr sz="2750" spc="-60" dirty="0"/>
              <a:t> </a:t>
            </a:r>
            <a:r>
              <a:rPr sz="2750" spc="-280" dirty="0"/>
              <a:t>any 	</a:t>
            </a:r>
            <a:r>
              <a:rPr sz="2750" spc="-229" dirty="0"/>
              <a:t>person</a:t>
            </a:r>
            <a:r>
              <a:rPr sz="2750" spc="40" dirty="0"/>
              <a:t> </a:t>
            </a:r>
            <a:r>
              <a:rPr sz="2750" spc="-90" dirty="0"/>
              <a:t>or</a:t>
            </a:r>
            <a:r>
              <a:rPr sz="2750" spc="-55" dirty="0"/>
              <a:t> </a:t>
            </a:r>
            <a:r>
              <a:rPr sz="2750" spc="-285" dirty="0"/>
              <a:t>company 	</a:t>
            </a:r>
            <a:r>
              <a:rPr sz="2750" spc="-175" dirty="0"/>
              <a:t>supporting</a:t>
            </a:r>
            <a:r>
              <a:rPr sz="2750" spc="25" dirty="0"/>
              <a:t> </a:t>
            </a:r>
            <a:r>
              <a:rPr sz="2750" spc="-10" dirty="0"/>
              <a:t>them.</a:t>
            </a:r>
            <a:endParaRPr sz="2750"/>
          </a:p>
          <a:p>
            <a:pPr marL="351790" marR="116205" indent="-323215">
              <a:lnSpc>
                <a:spcPts val="2850"/>
              </a:lnSpc>
              <a:spcBef>
                <a:spcPts val="650"/>
              </a:spcBef>
              <a:buClr>
                <a:srgbClr val="575DED"/>
              </a:buClr>
              <a:buChar char="•"/>
              <a:tabLst>
                <a:tab pos="355600" algn="l"/>
              </a:tabLst>
            </a:pPr>
            <a:r>
              <a:rPr sz="2500" spc="-50" dirty="0"/>
              <a:t>Data</a:t>
            </a:r>
            <a:r>
              <a:rPr sz="2500" spc="-114" dirty="0"/>
              <a:t> </a:t>
            </a:r>
            <a:r>
              <a:rPr sz="2500" spc="-10" dirty="0"/>
              <a:t>must</a:t>
            </a:r>
            <a:r>
              <a:rPr sz="2500" spc="-100" dirty="0"/>
              <a:t> </a:t>
            </a:r>
            <a:r>
              <a:rPr sz="2500" spc="-20" dirty="0"/>
              <a:t>be</a:t>
            </a:r>
            <a:r>
              <a:rPr sz="2500" spc="-155" dirty="0"/>
              <a:t> </a:t>
            </a:r>
            <a:r>
              <a:rPr sz="2500" spc="-10" dirty="0"/>
              <a:t>retrieved 	</a:t>
            </a:r>
            <a:r>
              <a:rPr sz="2500" dirty="0"/>
              <a:t>from</a:t>
            </a:r>
            <a:r>
              <a:rPr sz="2500" spc="-80" dirty="0"/>
              <a:t> </a:t>
            </a:r>
            <a:r>
              <a:rPr sz="2500" spc="-25" dirty="0"/>
              <a:t>multiple</a:t>
            </a:r>
            <a:r>
              <a:rPr sz="2500" spc="5" dirty="0"/>
              <a:t> </a:t>
            </a:r>
            <a:r>
              <a:rPr sz="2500" spc="-80" dirty="0"/>
              <a:t>locations.</a:t>
            </a:r>
            <a:endParaRPr sz="2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98601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0280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35"/>
              </a:spcBef>
            </a:pPr>
            <a:r>
              <a:rPr sz="4600" spc="-555" dirty="0">
                <a:solidFill>
                  <a:srgbClr val="383680"/>
                </a:solidFill>
                <a:latin typeface="Arial"/>
                <a:cs typeface="Arial"/>
              </a:rPr>
              <a:t>P2P</a:t>
            </a:r>
            <a:r>
              <a:rPr sz="4600" spc="225" dirty="0">
                <a:solidFill>
                  <a:srgbClr val="383680"/>
                </a:solidFill>
                <a:latin typeface="Arial"/>
                <a:cs typeface="Arial"/>
              </a:rPr>
              <a:t> </a:t>
            </a:r>
            <a:r>
              <a:rPr sz="4600" spc="-10" dirty="0">
                <a:solidFill>
                  <a:srgbClr val="3B3493"/>
                </a:solidFill>
                <a:latin typeface="Arial"/>
                <a:cs typeface="Arial"/>
              </a:rPr>
              <a:t>vs.</a:t>
            </a:r>
            <a:r>
              <a:rPr sz="4600" spc="-310" dirty="0">
                <a:solidFill>
                  <a:srgbClr val="3B3493"/>
                </a:solidFill>
                <a:latin typeface="Arial"/>
                <a:cs typeface="Arial"/>
              </a:rPr>
              <a:t> </a:t>
            </a:r>
            <a:r>
              <a:rPr sz="4600" spc="-80" dirty="0">
                <a:solidFill>
                  <a:srgbClr val="382F93"/>
                </a:solidFill>
                <a:latin typeface="Arial"/>
                <a:cs typeface="Arial"/>
              </a:rPr>
              <a:t>Distributed</a:t>
            </a:r>
            <a:r>
              <a:rPr sz="4600" spc="-185" dirty="0">
                <a:solidFill>
                  <a:srgbClr val="382F93"/>
                </a:solidFill>
                <a:latin typeface="Arial"/>
                <a:cs typeface="Arial"/>
              </a:rPr>
              <a:t> </a:t>
            </a:r>
            <a:r>
              <a:rPr sz="4600" spc="-150" dirty="0">
                <a:solidFill>
                  <a:srgbClr val="342F8C"/>
                </a:solidFill>
                <a:latin typeface="Arial"/>
                <a:cs typeface="Arial"/>
              </a:rPr>
              <a:t>Computing</a:t>
            </a:r>
            <a:endParaRPr sz="4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4244" y="1981100"/>
            <a:ext cx="7485380" cy="38982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11150" indent="-309245" algn="ctr">
              <a:lnSpc>
                <a:spcPts val="3715"/>
              </a:lnSpc>
              <a:spcBef>
                <a:spcPts val="120"/>
              </a:spcBef>
              <a:buClr>
                <a:srgbClr val="2D2DD4"/>
              </a:buClr>
              <a:buChar char="•"/>
              <a:tabLst>
                <a:tab pos="311150" algn="l"/>
              </a:tabLst>
            </a:pPr>
            <a:r>
              <a:rPr sz="3300" spc="-40" dirty="0">
                <a:latin typeface="Arial"/>
                <a:cs typeface="Arial"/>
              </a:rPr>
              <a:t>Distributed</a:t>
            </a:r>
            <a:r>
              <a:rPr sz="3300" spc="15" dirty="0">
                <a:latin typeface="Arial"/>
                <a:cs typeface="Arial"/>
              </a:rPr>
              <a:t> </a:t>
            </a:r>
            <a:r>
              <a:rPr sz="3300" spc="-70" dirty="0">
                <a:latin typeface="Arial"/>
                <a:cs typeface="Arial"/>
              </a:rPr>
              <a:t>Computing</a:t>
            </a:r>
            <a:r>
              <a:rPr sz="3300" spc="-40" dirty="0">
                <a:latin typeface="Arial"/>
                <a:cs typeface="Arial"/>
              </a:rPr>
              <a:t> </a:t>
            </a:r>
            <a:r>
              <a:rPr sz="3300" spc="-100" dirty="0">
                <a:latin typeface="Arial"/>
                <a:cs typeface="Arial"/>
              </a:rPr>
              <a:t>means</a:t>
            </a:r>
            <a:r>
              <a:rPr sz="3300" spc="-130" dirty="0">
                <a:latin typeface="Arial"/>
                <a:cs typeface="Arial"/>
              </a:rPr>
              <a:t> </a:t>
            </a:r>
            <a:r>
              <a:rPr sz="3300" spc="-90" dirty="0">
                <a:latin typeface="Arial"/>
                <a:cs typeface="Arial"/>
              </a:rPr>
              <a:t>resources</a:t>
            </a:r>
            <a:endParaRPr sz="3300">
              <a:latin typeface="Arial"/>
              <a:cs typeface="Arial"/>
            </a:endParaRPr>
          </a:p>
          <a:p>
            <a:pPr marR="1978660" algn="ctr">
              <a:lnSpc>
                <a:spcPts val="3775"/>
              </a:lnSpc>
            </a:pPr>
            <a:r>
              <a:rPr sz="3350" spc="-10" dirty="0">
                <a:latin typeface="Arial"/>
                <a:cs typeface="Arial"/>
              </a:rPr>
              <a:t>are</a:t>
            </a:r>
            <a:r>
              <a:rPr sz="3350" spc="-204" dirty="0">
                <a:latin typeface="Arial"/>
                <a:cs typeface="Arial"/>
              </a:rPr>
              <a:t> </a:t>
            </a:r>
            <a:r>
              <a:rPr sz="3350" spc="-125" dirty="0">
                <a:latin typeface="Arial"/>
                <a:cs typeface="Arial"/>
              </a:rPr>
              <a:t>shared</a:t>
            </a:r>
            <a:r>
              <a:rPr sz="3350" spc="-105" dirty="0">
                <a:latin typeface="Arial"/>
                <a:cs typeface="Arial"/>
              </a:rPr>
              <a:t> </a:t>
            </a:r>
            <a:r>
              <a:rPr sz="3350" spc="-75" dirty="0">
                <a:latin typeface="Arial"/>
                <a:cs typeface="Arial"/>
              </a:rPr>
              <a:t>between</a:t>
            </a:r>
            <a:r>
              <a:rPr sz="3350" spc="-60" dirty="0">
                <a:latin typeface="Arial"/>
                <a:cs typeface="Arial"/>
              </a:rPr>
              <a:t> </a:t>
            </a:r>
            <a:r>
              <a:rPr sz="3350" spc="-10" dirty="0">
                <a:latin typeface="Arial"/>
                <a:cs typeface="Arial"/>
              </a:rPr>
              <a:t>nodes.</a:t>
            </a:r>
            <a:endParaRPr sz="3350">
              <a:latin typeface="Arial"/>
              <a:cs typeface="Arial"/>
            </a:endParaRPr>
          </a:p>
          <a:p>
            <a:pPr marL="306070" marR="1933575" indent="-306070" algn="ctr">
              <a:lnSpc>
                <a:spcPts val="3670"/>
              </a:lnSpc>
              <a:spcBef>
                <a:spcPts val="210"/>
              </a:spcBef>
              <a:buClr>
                <a:srgbClr val="3331CA"/>
              </a:buClr>
              <a:buChar char="•"/>
              <a:tabLst>
                <a:tab pos="306070" algn="l"/>
              </a:tabLst>
            </a:pPr>
            <a:r>
              <a:rPr sz="3300" spc="-85" dirty="0">
                <a:latin typeface="Arial"/>
                <a:cs typeface="Arial"/>
              </a:rPr>
              <a:t>True</a:t>
            </a:r>
            <a:r>
              <a:rPr sz="3300" spc="-145" dirty="0">
                <a:latin typeface="Arial"/>
                <a:cs typeface="Arial"/>
              </a:rPr>
              <a:t> </a:t>
            </a:r>
            <a:r>
              <a:rPr sz="3300" spc="-360" dirty="0">
                <a:latin typeface="Arial"/>
                <a:cs typeface="Arial"/>
              </a:rPr>
              <a:t>P2P</a:t>
            </a:r>
            <a:r>
              <a:rPr sz="3300" spc="130" dirty="0">
                <a:latin typeface="Arial"/>
                <a:cs typeface="Arial"/>
              </a:rPr>
              <a:t> </a:t>
            </a:r>
            <a:r>
              <a:rPr sz="3300" spc="-110" dirty="0">
                <a:latin typeface="Arial"/>
                <a:cs typeface="Arial"/>
              </a:rPr>
              <a:t>means</a:t>
            </a:r>
            <a:r>
              <a:rPr sz="3300" spc="-40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that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there</a:t>
            </a:r>
            <a:r>
              <a:rPr sz="3300" spc="45" dirty="0">
                <a:latin typeface="Arial"/>
                <a:cs typeface="Arial"/>
              </a:rPr>
              <a:t> </a:t>
            </a:r>
            <a:r>
              <a:rPr sz="3300" spc="-25" dirty="0">
                <a:latin typeface="Arial"/>
                <a:cs typeface="Arial"/>
              </a:rPr>
              <a:t>is</a:t>
            </a:r>
            <a:endParaRPr sz="3300">
              <a:latin typeface="Arial"/>
              <a:cs typeface="Arial"/>
            </a:endParaRPr>
          </a:p>
          <a:p>
            <a:pPr marR="57150" algn="ctr">
              <a:lnSpc>
                <a:spcPts val="3715"/>
              </a:lnSpc>
            </a:pPr>
            <a:r>
              <a:rPr sz="3400" spc="-130" dirty="0">
                <a:latin typeface="Arial"/>
                <a:cs typeface="Arial"/>
              </a:rPr>
              <a:t>communication</a:t>
            </a:r>
            <a:r>
              <a:rPr sz="3400" spc="185" dirty="0">
                <a:latin typeface="Arial"/>
                <a:cs typeface="Arial"/>
              </a:rPr>
              <a:t> </a:t>
            </a:r>
            <a:r>
              <a:rPr sz="3400" spc="-114" dirty="0">
                <a:latin typeface="Arial"/>
                <a:cs typeface="Arial"/>
              </a:rPr>
              <a:t>between</a:t>
            </a:r>
            <a:r>
              <a:rPr sz="3400" spc="-30" dirty="0">
                <a:latin typeface="Arial"/>
                <a:cs typeface="Arial"/>
              </a:rPr>
              <a:t> </a:t>
            </a:r>
            <a:r>
              <a:rPr sz="3400" spc="-105" dirty="0">
                <a:latin typeface="Arial"/>
                <a:cs typeface="Arial"/>
              </a:rPr>
              <a:t>these</a:t>
            </a:r>
            <a:r>
              <a:rPr sz="3400" spc="-110" dirty="0">
                <a:latin typeface="Arial"/>
                <a:cs typeface="Arial"/>
              </a:rPr>
              <a:t> </a:t>
            </a:r>
            <a:r>
              <a:rPr sz="3400" spc="-10" dirty="0">
                <a:latin typeface="Arial"/>
                <a:cs typeface="Arial"/>
              </a:rPr>
              <a:t>nodes.</a:t>
            </a:r>
            <a:endParaRPr sz="3400">
              <a:latin typeface="Arial"/>
              <a:cs typeface="Arial"/>
            </a:endParaRPr>
          </a:p>
          <a:p>
            <a:pPr marL="321310" marR="260985" indent="-309245">
              <a:lnSpc>
                <a:spcPct val="79100"/>
              </a:lnSpc>
              <a:spcBef>
                <a:spcPts val="844"/>
              </a:spcBef>
              <a:buClr>
                <a:srgbClr val="2D31CA"/>
              </a:buClr>
              <a:buChar char="•"/>
              <a:tabLst>
                <a:tab pos="322580" algn="l"/>
              </a:tabLst>
            </a:pPr>
            <a:r>
              <a:rPr sz="3650" spc="-580" dirty="0">
                <a:latin typeface="Arial"/>
                <a:cs typeface="Arial"/>
              </a:rPr>
              <a:t>P2P</a:t>
            </a:r>
            <a:r>
              <a:rPr sz="3650" spc="95" dirty="0">
                <a:latin typeface="Arial"/>
                <a:cs typeface="Arial"/>
              </a:rPr>
              <a:t> </a:t>
            </a:r>
            <a:r>
              <a:rPr sz="3650" spc="-260" dirty="0">
                <a:latin typeface="Arial"/>
                <a:cs typeface="Arial"/>
              </a:rPr>
              <a:t>implies</a:t>
            </a:r>
            <a:r>
              <a:rPr sz="3650" spc="5" dirty="0">
                <a:latin typeface="Arial"/>
                <a:cs typeface="Arial"/>
              </a:rPr>
              <a:t> </a:t>
            </a:r>
            <a:r>
              <a:rPr sz="3650" spc="-450" dirty="0">
                <a:latin typeface="Arial"/>
                <a:cs typeface="Arial"/>
              </a:rPr>
              <a:t>a</a:t>
            </a:r>
            <a:r>
              <a:rPr sz="3650" spc="-90" dirty="0">
                <a:latin typeface="Arial"/>
                <a:cs typeface="Arial"/>
              </a:rPr>
              <a:t> “peer“</a:t>
            </a:r>
            <a:r>
              <a:rPr sz="3650" spc="-165" dirty="0">
                <a:latin typeface="Arial"/>
                <a:cs typeface="Arial"/>
              </a:rPr>
              <a:t> </a:t>
            </a:r>
            <a:r>
              <a:rPr sz="3650" spc="-200" dirty="0">
                <a:latin typeface="Arial"/>
                <a:cs typeface="Arial"/>
              </a:rPr>
              <a:t>relationship</a:t>
            </a:r>
            <a:r>
              <a:rPr sz="3650" spc="254" dirty="0">
                <a:latin typeface="Arial"/>
                <a:cs typeface="Arial"/>
              </a:rPr>
              <a:t> </a:t>
            </a:r>
            <a:r>
              <a:rPr sz="3650" spc="-185" dirty="0">
                <a:latin typeface="Arial"/>
                <a:cs typeface="Arial"/>
              </a:rPr>
              <a:t>while 	</a:t>
            </a:r>
            <a:r>
              <a:rPr sz="3650" spc="-190" dirty="0">
                <a:latin typeface="Arial"/>
                <a:cs typeface="Arial"/>
              </a:rPr>
              <a:t>Distributed</a:t>
            </a:r>
            <a:r>
              <a:rPr sz="3650" spc="145" dirty="0">
                <a:latin typeface="Arial"/>
                <a:cs typeface="Arial"/>
              </a:rPr>
              <a:t> </a:t>
            </a:r>
            <a:r>
              <a:rPr sz="3650" spc="-300" dirty="0">
                <a:latin typeface="Arial"/>
                <a:cs typeface="Arial"/>
              </a:rPr>
              <a:t>Computing</a:t>
            </a:r>
            <a:r>
              <a:rPr sz="3650" spc="75" dirty="0">
                <a:latin typeface="Arial"/>
                <a:cs typeface="Arial"/>
              </a:rPr>
              <a:t> </a:t>
            </a:r>
            <a:r>
              <a:rPr sz="3650" spc="-265" dirty="0">
                <a:latin typeface="Arial"/>
                <a:cs typeface="Arial"/>
              </a:rPr>
              <a:t>relationships 	</a:t>
            </a:r>
            <a:r>
              <a:rPr sz="3650" spc="-370" dirty="0">
                <a:latin typeface="Arial"/>
                <a:cs typeface="Arial"/>
              </a:rPr>
              <a:t>may</a:t>
            </a:r>
            <a:r>
              <a:rPr sz="3650" spc="145" dirty="0">
                <a:latin typeface="Arial"/>
                <a:cs typeface="Arial"/>
              </a:rPr>
              <a:t> </a:t>
            </a:r>
            <a:r>
              <a:rPr sz="3650" spc="-330" dirty="0">
                <a:latin typeface="Arial"/>
                <a:cs typeface="Arial"/>
              </a:rPr>
              <a:t>be</a:t>
            </a:r>
            <a:r>
              <a:rPr sz="3650" dirty="0">
                <a:latin typeface="Arial"/>
                <a:cs typeface="Arial"/>
              </a:rPr>
              <a:t> </a:t>
            </a:r>
            <a:r>
              <a:rPr sz="3650" spc="-305" dirty="0">
                <a:latin typeface="Arial"/>
                <a:cs typeface="Arial"/>
              </a:rPr>
              <a:t>unbalanced.</a:t>
            </a:r>
            <a:endParaRPr sz="3650">
              <a:latin typeface="Arial"/>
              <a:cs typeface="Arial"/>
            </a:endParaRPr>
          </a:p>
          <a:p>
            <a:pPr marL="324485" indent="-309880">
              <a:lnSpc>
                <a:spcPct val="100000"/>
              </a:lnSpc>
              <a:spcBef>
                <a:spcPts val="190"/>
              </a:spcBef>
              <a:buClr>
                <a:srgbClr val="2F31D1"/>
              </a:buClr>
              <a:buChar char="•"/>
              <a:tabLst>
                <a:tab pos="324485" algn="l"/>
              </a:tabLst>
            </a:pPr>
            <a:r>
              <a:rPr sz="3300" spc="-40" dirty="0">
                <a:latin typeface="Arial"/>
                <a:cs typeface="Arial"/>
              </a:rPr>
              <a:t>Distributed</a:t>
            </a:r>
            <a:r>
              <a:rPr sz="3300" spc="10" dirty="0">
                <a:latin typeface="Arial"/>
                <a:cs typeface="Arial"/>
              </a:rPr>
              <a:t> </a:t>
            </a:r>
            <a:r>
              <a:rPr sz="3300" spc="-75" dirty="0">
                <a:latin typeface="Arial"/>
                <a:cs typeface="Arial"/>
              </a:rPr>
              <a:t>Computing</a:t>
            </a:r>
            <a:r>
              <a:rPr sz="3300" spc="-85" dirty="0">
                <a:latin typeface="Arial"/>
                <a:cs typeface="Arial"/>
              </a:rPr>
              <a:t> </a:t>
            </a:r>
            <a:r>
              <a:rPr sz="3300" spc="-40" dirty="0">
                <a:latin typeface="Arial"/>
                <a:cs typeface="Arial"/>
              </a:rPr>
              <a:t>can</a:t>
            </a:r>
            <a:r>
              <a:rPr sz="3300" spc="-135" dirty="0">
                <a:latin typeface="Arial"/>
                <a:cs typeface="Arial"/>
              </a:rPr>
              <a:t> </a:t>
            </a:r>
            <a:r>
              <a:rPr sz="3300" spc="-75" dirty="0">
                <a:latin typeface="Arial"/>
                <a:cs typeface="Arial"/>
              </a:rPr>
              <a:t>also</a:t>
            </a:r>
            <a:r>
              <a:rPr sz="3300" spc="-105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be</a:t>
            </a:r>
            <a:r>
              <a:rPr sz="3300" spc="-200" dirty="0">
                <a:latin typeface="Arial"/>
                <a:cs typeface="Arial"/>
              </a:rPr>
              <a:t> </a:t>
            </a:r>
            <a:r>
              <a:rPr sz="3300" spc="-440" dirty="0">
                <a:latin typeface="Arial"/>
                <a:cs typeface="Arial"/>
              </a:rPr>
              <a:t>P2P.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98601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7877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35"/>
              </a:spcBef>
            </a:pPr>
            <a:r>
              <a:rPr sz="4700" spc="-360" dirty="0">
                <a:solidFill>
                  <a:srgbClr val="383485"/>
                </a:solidFill>
                <a:latin typeface="Arial"/>
                <a:cs typeface="Arial"/>
              </a:rPr>
              <a:t>Types</a:t>
            </a:r>
            <a:r>
              <a:rPr sz="4700" spc="35" dirty="0">
                <a:solidFill>
                  <a:srgbClr val="383485"/>
                </a:solidFill>
                <a:latin typeface="Arial"/>
                <a:cs typeface="Arial"/>
              </a:rPr>
              <a:t> </a:t>
            </a:r>
            <a:r>
              <a:rPr sz="4700" dirty="0">
                <a:solidFill>
                  <a:srgbClr val="36338C"/>
                </a:solidFill>
                <a:latin typeface="Arial"/>
                <a:cs typeface="Arial"/>
              </a:rPr>
              <a:t>of</a:t>
            </a:r>
            <a:r>
              <a:rPr sz="4700" spc="5" dirty="0">
                <a:solidFill>
                  <a:srgbClr val="36338C"/>
                </a:solidFill>
                <a:latin typeface="Arial"/>
                <a:cs typeface="Arial"/>
              </a:rPr>
              <a:t> </a:t>
            </a:r>
            <a:r>
              <a:rPr sz="4700" spc="-600" dirty="0">
                <a:solidFill>
                  <a:srgbClr val="3D368E"/>
                </a:solidFill>
                <a:latin typeface="Arial"/>
                <a:cs typeface="Arial"/>
              </a:rPr>
              <a:t>P2P</a:t>
            </a:r>
            <a:r>
              <a:rPr sz="4700" spc="105" dirty="0">
                <a:solidFill>
                  <a:srgbClr val="3D368E"/>
                </a:solidFill>
                <a:latin typeface="Arial"/>
                <a:cs typeface="Arial"/>
              </a:rPr>
              <a:t> </a:t>
            </a:r>
            <a:r>
              <a:rPr sz="4700" spc="-270" dirty="0">
                <a:solidFill>
                  <a:srgbClr val="363389"/>
                </a:solidFill>
                <a:latin typeface="Arial"/>
                <a:cs typeface="Arial"/>
              </a:rPr>
              <a:t>Communication</a:t>
            </a:r>
            <a:endParaRPr sz="4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6216" y="1943864"/>
            <a:ext cx="6883400" cy="394970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16230" indent="-303530">
              <a:lnSpc>
                <a:spcPct val="100000"/>
              </a:lnSpc>
              <a:spcBef>
                <a:spcPts val="800"/>
              </a:spcBef>
              <a:buClr>
                <a:srgbClr val="2D31C1"/>
              </a:buClr>
              <a:buChar char="•"/>
              <a:tabLst>
                <a:tab pos="316230" algn="l"/>
              </a:tabLst>
            </a:pPr>
            <a:r>
              <a:rPr sz="3300" spc="-95" dirty="0">
                <a:latin typeface="Arial"/>
                <a:cs typeface="Arial"/>
              </a:rPr>
              <a:t>Centralized</a:t>
            </a:r>
            <a:r>
              <a:rPr sz="3300" spc="-85" dirty="0">
                <a:latin typeface="Arial"/>
                <a:cs typeface="Arial"/>
              </a:rPr>
              <a:t> </a:t>
            </a:r>
            <a:r>
              <a:rPr sz="3300" spc="-95" dirty="0">
                <a:latin typeface="Arial"/>
                <a:cs typeface="Arial"/>
              </a:rPr>
              <a:t>(Wannabe</a:t>
            </a:r>
            <a:r>
              <a:rPr sz="3300" spc="-85" dirty="0">
                <a:latin typeface="Arial"/>
                <a:cs typeface="Arial"/>
              </a:rPr>
              <a:t> </a:t>
            </a:r>
            <a:r>
              <a:rPr sz="3300" spc="-300" dirty="0">
                <a:latin typeface="Arial"/>
                <a:cs typeface="Arial"/>
              </a:rPr>
              <a:t>P2P)</a:t>
            </a:r>
            <a:endParaRPr sz="3300">
              <a:latin typeface="Arial"/>
              <a:cs typeface="Arial"/>
            </a:endParaRPr>
          </a:p>
          <a:p>
            <a:pPr marL="325120" indent="-311785">
              <a:lnSpc>
                <a:spcPct val="100000"/>
              </a:lnSpc>
              <a:spcBef>
                <a:spcPts val="695"/>
              </a:spcBef>
              <a:buClr>
                <a:srgbClr val="3434CD"/>
              </a:buClr>
              <a:buChar char="•"/>
              <a:tabLst>
                <a:tab pos="325120" algn="l"/>
              </a:tabLst>
            </a:pPr>
            <a:r>
              <a:rPr sz="3250" spc="-10" dirty="0">
                <a:latin typeface="Arial"/>
                <a:cs typeface="Arial"/>
              </a:rPr>
              <a:t>Brokered</a:t>
            </a:r>
            <a:endParaRPr sz="3250">
              <a:latin typeface="Arial"/>
              <a:cs typeface="Arial"/>
            </a:endParaRPr>
          </a:p>
          <a:p>
            <a:pPr marL="322580" indent="-309880">
              <a:lnSpc>
                <a:spcPct val="100000"/>
              </a:lnSpc>
              <a:spcBef>
                <a:spcPts val="640"/>
              </a:spcBef>
              <a:buClr>
                <a:srgbClr val="3131C6"/>
              </a:buClr>
              <a:buChar char="•"/>
              <a:tabLst>
                <a:tab pos="322580" algn="l"/>
              </a:tabLst>
            </a:pPr>
            <a:r>
              <a:rPr sz="3350" spc="-130" dirty="0">
                <a:latin typeface="Arial"/>
                <a:cs typeface="Arial"/>
              </a:rPr>
              <a:t>Decentralized</a:t>
            </a:r>
            <a:r>
              <a:rPr sz="3350" spc="140" dirty="0">
                <a:latin typeface="Arial"/>
                <a:cs typeface="Arial"/>
              </a:rPr>
              <a:t> </a:t>
            </a:r>
            <a:r>
              <a:rPr sz="3350" spc="-90" dirty="0">
                <a:latin typeface="Arial"/>
                <a:cs typeface="Arial"/>
              </a:rPr>
              <a:t>(Pure</a:t>
            </a:r>
            <a:r>
              <a:rPr sz="3350" spc="-145" dirty="0">
                <a:latin typeface="Arial"/>
                <a:cs typeface="Arial"/>
              </a:rPr>
              <a:t> </a:t>
            </a:r>
            <a:r>
              <a:rPr sz="3350" spc="-325" dirty="0">
                <a:latin typeface="Arial"/>
                <a:cs typeface="Arial"/>
              </a:rPr>
              <a:t>P2P)</a:t>
            </a:r>
            <a:endParaRPr sz="3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85"/>
              </a:spcBef>
            </a:pPr>
            <a:endParaRPr sz="3350">
              <a:latin typeface="Arial"/>
              <a:cs typeface="Arial"/>
            </a:endParaRPr>
          </a:p>
          <a:p>
            <a:pPr marL="320040" marR="5080" indent="-1905">
              <a:lnSpc>
                <a:spcPct val="87800"/>
              </a:lnSpc>
              <a:spcBef>
                <a:spcPts val="5"/>
              </a:spcBef>
            </a:pPr>
            <a:r>
              <a:rPr sz="3750" spc="-370" dirty="0">
                <a:solidFill>
                  <a:srgbClr val="C31A1F"/>
                </a:solidFill>
                <a:latin typeface="Arial"/>
                <a:cs typeface="Arial"/>
              </a:rPr>
              <a:t>The</a:t>
            </a:r>
            <a:r>
              <a:rPr sz="3750" spc="-30" dirty="0">
                <a:solidFill>
                  <a:srgbClr val="C31A1F"/>
                </a:solidFill>
                <a:latin typeface="Arial"/>
                <a:cs typeface="Arial"/>
              </a:rPr>
              <a:t> </a:t>
            </a:r>
            <a:r>
              <a:rPr sz="3750" spc="-275" dirty="0">
                <a:solidFill>
                  <a:srgbClr val="C11C1A"/>
                </a:solidFill>
                <a:latin typeface="Arial"/>
                <a:cs typeface="Arial"/>
              </a:rPr>
              <a:t>individual</a:t>
            </a:r>
            <a:r>
              <a:rPr sz="3750" spc="330" dirty="0">
                <a:solidFill>
                  <a:srgbClr val="C11C1A"/>
                </a:solidFill>
                <a:latin typeface="Arial"/>
                <a:cs typeface="Arial"/>
              </a:rPr>
              <a:t> </a:t>
            </a:r>
            <a:r>
              <a:rPr sz="3750" spc="-260" dirty="0">
                <a:solidFill>
                  <a:srgbClr val="D11518"/>
                </a:solidFill>
                <a:latin typeface="Arial"/>
                <a:cs typeface="Arial"/>
              </a:rPr>
              <a:t>participants</a:t>
            </a:r>
            <a:r>
              <a:rPr sz="3750" spc="180" dirty="0">
                <a:solidFill>
                  <a:srgbClr val="D11518"/>
                </a:solidFill>
                <a:latin typeface="Arial"/>
                <a:cs typeface="Arial"/>
              </a:rPr>
              <a:t> </a:t>
            </a:r>
            <a:r>
              <a:rPr sz="3750" spc="-375" dirty="0">
                <a:solidFill>
                  <a:srgbClr val="C11308"/>
                </a:solidFill>
                <a:latin typeface="Arial"/>
                <a:cs typeface="Arial"/>
              </a:rPr>
              <a:t>always </a:t>
            </a:r>
            <a:r>
              <a:rPr sz="3600" spc="-150" dirty="0">
                <a:solidFill>
                  <a:srgbClr val="C6161D"/>
                </a:solidFill>
                <a:latin typeface="Arial"/>
                <a:cs typeface="Arial"/>
              </a:rPr>
              <a:t>contribute</a:t>
            </a:r>
            <a:r>
              <a:rPr sz="3600" spc="55" dirty="0">
                <a:solidFill>
                  <a:srgbClr val="C6161D"/>
                </a:solidFill>
                <a:latin typeface="Arial"/>
                <a:cs typeface="Arial"/>
              </a:rPr>
              <a:t> </a:t>
            </a:r>
            <a:r>
              <a:rPr sz="3600" spc="-265" dirty="0">
                <a:solidFill>
                  <a:srgbClr val="C81A16"/>
                </a:solidFill>
                <a:latin typeface="Arial"/>
                <a:cs typeface="Arial"/>
              </a:rPr>
              <a:t>something</a:t>
            </a:r>
            <a:r>
              <a:rPr sz="3600" spc="190" dirty="0">
                <a:solidFill>
                  <a:srgbClr val="C81A16"/>
                </a:solidFill>
                <a:latin typeface="Arial"/>
                <a:cs typeface="Arial"/>
              </a:rPr>
              <a:t> </a:t>
            </a:r>
            <a:r>
              <a:rPr sz="3600" spc="-35" dirty="0">
                <a:solidFill>
                  <a:srgbClr val="CC1818"/>
                </a:solidFill>
                <a:latin typeface="Arial"/>
                <a:cs typeface="Arial"/>
              </a:rPr>
              <a:t>of</a:t>
            </a:r>
            <a:r>
              <a:rPr sz="3600" spc="-114" dirty="0">
                <a:solidFill>
                  <a:srgbClr val="CC1818"/>
                </a:solidFill>
                <a:latin typeface="Arial"/>
                <a:cs typeface="Arial"/>
              </a:rPr>
              <a:t> </a:t>
            </a:r>
            <a:r>
              <a:rPr sz="3600" spc="-265" dirty="0">
                <a:solidFill>
                  <a:srgbClr val="DA1A21"/>
                </a:solidFill>
                <a:latin typeface="Arial"/>
                <a:cs typeface="Arial"/>
              </a:rPr>
              <a:t>value</a:t>
            </a:r>
            <a:r>
              <a:rPr sz="3600" spc="15" dirty="0">
                <a:solidFill>
                  <a:srgbClr val="DA1A21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BC181A"/>
                </a:solidFill>
                <a:latin typeface="Arial"/>
                <a:cs typeface="Arial"/>
              </a:rPr>
              <a:t>to</a:t>
            </a:r>
            <a:r>
              <a:rPr sz="3600" spc="-110" dirty="0">
                <a:solidFill>
                  <a:srgbClr val="BC181A"/>
                </a:solidFill>
                <a:latin typeface="Arial"/>
                <a:cs typeface="Arial"/>
              </a:rPr>
              <a:t> </a:t>
            </a:r>
            <a:r>
              <a:rPr sz="3600" spc="-80" dirty="0">
                <a:solidFill>
                  <a:srgbClr val="E60C0A"/>
                </a:solidFill>
                <a:latin typeface="Arial"/>
                <a:cs typeface="Arial"/>
              </a:rPr>
              <a:t>the </a:t>
            </a:r>
            <a:r>
              <a:rPr sz="3700" spc="-135" dirty="0">
                <a:solidFill>
                  <a:srgbClr val="B3231F"/>
                </a:solidFill>
                <a:latin typeface="Arial"/>
                <a:cs typeface="Arial"/>
              </a:rPr>
              <a:t>network.</a:t>
            </a:r>
            <a:endParaRPr sz="3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98601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21615" y="971798"/>
            <a:ext cx="4417695" cy="7626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800" spc="-60" dirty="0">
                <a:solidFill>
                  <a:srgbClr val="383474"/>
                </a:solidFill>
              </a:rPr>
              <a:t>Familiar</a:t>
            </a:r>
            <a:r>
              <a:rPr sz="4800" spc="35" dirty="0">
                <a:solidFill>
                  <a:srgbClr val="383474"/>
                </a:solidFill>
              </a:rPr>
              <a:t> </a:t>
            </a:r>
            <a:r>
              <a:rPr sz="4800" spc="-10" dirty="0">
                <a:solidFill>
                  <a:srgbClr val="332F82"/>
                </a:solidFill>
              </a:rPr>
              <a:t>Examples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1260227" y="1981100"/>
            <a:ext cx="7545705" cy="3892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46710" indent="-334010">
              <a:lnSpc>
                <a:spcPct val="100000"/>
              </a:lnSpc>
              <a:spcBef>
                <a:spcPts val="120"/>
              </a:spcBef>
              <a:buClr>
                <a:srgbClr val="6767FD"/>
              </a:buClr>
              <a:buChar char="•"/>
              <a:tabLst>
                <a:tab pos="346710" algn="l"/>
              </a:tabLst>
            </a:pPr>
            <a:r>
              <a:rPr sz="3300" spc="-145" dirty="0">
                <a:latin typeface="Calibri"/>
                <a:cs typeface="Calibri"/>
              </a:rPr>
              <a:t>Gnutella</a:t>
            </a:r>
            <a:r>
              <a:rPr sz="3300" spc="-45" dirty="0">
                <a:latin typeface="Calibri"/>
                <a:cs typeface="Calibri"/>
              </a:rPr>
              <a:t> </a:t>
            </a:r>
            <a:r>
              <a:rPr sz="3300" spc="-125" dirty="0">
                <a:latin typeface="Calibri"/>
                <a:cs typeface="Calibri"/>
              </a:rPr>
              <a:t>(Decentralized</a:t>
            </a:r>
            <a:r>
              <a:rPr sz="3300" spc="-60" dirty="0">
                <a:latin typeface="Calibri"/>
                <a:cs typeface="Calibri"/>
              </a:rPr>
              <a:t> </a:t>
            </a:r>
            <a:r>
              <a:rPr sz="3300" spc="-135" dirty="0">
                <a:latin typeface="Calibri"/>
                <a:cs typeface="Calibri"/>
              </a:rPr>
              <a:t>Peer</a:t>
            </a:r>
            <a:r>
              <a:rPr sz="3300" dirty="0">
                <a:latin typeface="Calibri"/>
                <a:cs typeface="Calibri"/>
              </a:rPr>
              <a:t> </a:t>
            </a:r>
            <a:r>
              <a:rPr sz="3300" spc="-140" dirty="0">
                <a:latin typeface="Calibri"/>
                <a:cs typeface="Calibri"/>
              </a:rPr>
              <a:t>to</a:t>
            </a:r>
            <a:r>
              <a:rPr sz="3300" spc="-50" dirty="0">
                <a:latin typeface="Calibri"/>
                <a:cs typeface="Calibri"/>
              </a:rPr>
              <a:t> </a:t>
            </a:r>
            <a:r>
              <a:rPr sz="3300" spc="-10" dirty="0">
                <a:latin typeface="Calibri"/>
                <a:cs typeface="Calibri"/>
              </a:rPr>
              <a:t>Peer)</a:t>
            </a:r>
            <a:endParaRPr sz="3300">
              <a:latin typeface="Calibri"/>
              <a:cs typeface="Calibri"/>
            </a:endParaRPr>
          </a:p>
          <a:p>
            <a:pPr marL="755650" marR="332105" lvl="1" indent="-276225">
              <a:lnSpc>
                <a:spcPts val="2880"/>
              </a:lnSpc>
              <a:spcBef>
                <a:spcPts val="550"/>
              </a:spcBef>
              <a:buChar char="•"/>
              <a:tabLst>
                <a:tab pos="755650" algn="l"/>
                <a:tab pos="756920" algn="l"/>
              </a:tabLst>
            </a:pPr>
            <a:r>
              <a:rPr sz="2750" dirty="0">
                <a:solidFill>
                  <a:srgbClr val="F70805"/>
                </a:solidFill>
                <a:latin typeface="Arial"/>
                <a:cs typeface="Arial"/>
              </a:rPr>
              <a:t>	</a:t>
            </a:r>
            <a:r>
              <a:rPr sz="2750" spc="-215" dirty="0">
                <a:latin typeface="Arial"/>
                <a:cs typeface="Arial"/>
              </a:rPr>
              <a:t>All</a:t>
            </a:r>
            <a:r>
              <a:rPr sz="2750" spc="20" dirty="0">
                <a:latin typeface="Arial"/>
                <a:cs typeface="Arial"/>
              </a:rPr>
              <a:t> </a:t>
            </a:r>
            <a:r>
              <a:rPr sz="2750" spc="-235" dirty="0">
                <a:latin typeface="Arial"/>
                <a:cs typeface="Arial"/>
              </a:rPr>
              <a:t>peers</a:t>
            </a:r>
            <a:r>
              <a:rPr sz="2750" spc="80" dirty="0">
                <a:latin typeface="Arial"/>
                <a:cs typeface="Arial"/>
              </a:rPr>
              <a:t> </a:t>
            </a:r>
            <a:r>
              <a:rPr sz="2750" spc="-220" dirty="0">
                <a:latin typeface="Arial"/>
                <a:cs typeface="Arial"/>
              </a:rPr>
              <a:t>are</a:t>
            </a:r>
            <a:r>
              <a:rPr sz="2750" spc="-30" dirty="0">
                <a:latin typeface="Arial"/>
                <a:cs typeface="Arial"/>
              </a:rPr>
              <a:t> </a:t>
            </a:r>
            <a:r>
              <a:rPr sz="2750" spc="-195" dirty="0">
                <a:latin typeface="Arial"/>
                <a:cs typeface="Arial"/>
              </a:rPr>
              <a:t>interchangeable</a:t>
            </a:r>
            <a:r>
              <a:rPr sz="2750" dirty="0">
                <a:latin typeface="Arial"/>
                <a:cs typeface="Arial"/>
              </a:rPr>
              <a:t> </a:t>
            </a:r>
            <a:r>
              <a:rPr sz="2750" spc="-114" dirty="0">
                <a:latin typeface="Arial"/>
                <a:cs typeface="Arial"/>
              </a:rPr>
              <a:t>(act</a:t>
            </a:r>
            <a:r>
              <a:rPr sz="2750" spc="10" dirty="0">
                <a:latin typeface="Arial"/>
                <a:cs typeface="Arial"/>
              </a:rPr>
              <a:t> </a:t>
            </a:r>
            <a:r>
              <a:rPr sz="2750" spc="-280" dirty="0">
                <a:latin typeface="Arial"/>
                <a:cs typeface="Arial"/>
              </a:rPr>
              <a:t>as</a:t>
            </a:r>
            <a:r>
              <a:rPr sz="2750" spc="-30" dirty="0">
                <a:latin typeface="Arial"/>
                <a:cs typeface="Arial"/>
              </a:rPr>
              <a:t> </a:t>
            </a:r>
            <a:r>
              <a:rPr sz="2750" spc="-155" dirty="0">
                <a:latin typeface="Arial"/>
                <a:cs typeface="Arial"/>
              </a:rPr>
              <a:t>clients</a:t>
            </a:r>
            <a:r>
              <a:rPr sz="2750" spc="75" dirty="0">
                <a:latin typeface="Arial"/>
                <a:cs typeface="Arial"/>
              </a:rPr>
              <a:t> </a:t>
            </a:r>
            <a:r>
              <a:rPr sz="2750" spc="-160" dirty="0">
                <a:latin typeface="Arial"/>
                <a:cs typeface="Arial"/>
              </a:rPr>
              <a:t>and </a:t>
            </a:r>
            <a:r>
              <a:rPr sz="2750" spc="-90" dirty="0">
                <a:latin typeface="Arial"/>
                <a:cs typeface="Arial"/>
              </a:rPr>
              <a:t>servers).</a:t>
            </a:r>
            <a:endParaRPr sz="2750">
              <a:latin typeface="Arial"/>
              <a:cs typeface="Arial"/>
            </a:endParaRPr>
          </a:p>
          <a:p>
            <a:pPr marL="749300" lvl="1" indent="-269240">
              <a:lnSpc>
                <a:spcPct val="100000"/>
              </a:lnSpc>
              <a:spcBef>
                <a:spcPts val="209"/>
              </a:spcBef>
              <a:buClr>
                <a:srgbClr val="F20800"/>
              </a:buClr>
              <a:buChar char="•"/>
              <a:tabLst>
                <a:tab pos="749300" algn="l"/>
              </a:tabLst>
            </a:pPr>
            <a:r>
              <a:rPr sz="2700" spc="-265" dirty="0">
                <a:latin typeface="Arial"/>
                <a:cs typeface="Arial"/>
              </a:rPr>
              <a:t>Search</a:t>
            </a:r>
            <a:r>
              <a:rPr sz="2700" spc="120" dirty="0">
                <a:latin typeface="Arial"/>
                <a:cs typeface="Arial"/>
              </a:rPr>
              <a:t> </a:t>
            </a:r>
            <a:r>
              <a:rPr sz="2700" spc="-180" dirty="0">
                <a:latin typeface="Arial"/>
                <a:cs typeface="Arial"/>
              </a:rPr>
              <a:t>propagates</a:t>
            </a:r>
            <a:r>
              <a:rPr sz="2700" spc="65" dirty="0">
                <a:latin typeface="Arial"/>
                <a:cs typeface="Arial"/>
              </a:rPr>
              <a:t> </a:t>
            </a:r>
            <a:r>
              <a:rPr sz="2700" spc="-130" dirty="0">
                <a:latin typeface="Arial"/>
                <a:cs typeface="Arial"/>
              </a:rPr>
              <a:t>through</a:t>
            </a:r>
            <a:r>
              <a:rPr sz="2700" spc="30" dirty="0">
                <a:latin typeface="Arial"/>
                <a:cs typeface="Arial"/>
              </a:rPr>
              <a:t> </a:t>
            </a:r>
            <a:r>
              <a:rPr sz="2700" spc="-25" dirty="0">
                <a:latin typeface="Arial"/>
                <a:cs typeface="Arial"/>
              </a:rPr>
              <a:t>network.</a:t>
            </a:r>
            <a:endParaRPr sz="2700">
              <a:latin typeface="Arial"/>
              <a:cs typeface="Arial"/>
            </a:endParaRPr>
          </a:p>
          <a:p>
            <a:pPr marL="352425" indent="-321310">
              <a:lnSpc>
                <a:spcPct val="100000"/>
              </a:lnSpc>
              <a:spcBef>
                <a:spcPts val="345"/>
              </a:spcBef>
              <a:buClr>
                <a:srgbClr val="595BFB"/>
              </a:buClr>
              <a:buChar char="•"/>
              <a:tabLst>
                <a:tab pos="352425" algn="l"/>
              </a:tabLst>
            </a:pPr>
            <a:r>
              <a:rPr sz="3050" spc="-160" dirty="0">
                <a:latin typeface="Arial"/>
                <a:cs typeface="Arial"/>
              </a:rPr>
              <a:t>Napster</a:t>
            </a:r>
            <a:r>
              <a:rPr sz="3050" spc="65" dirty="0">
                <a:latin typeface="Arial"/>
                <a:cs typeface="Arial"/>
              </a:rPr>
              <a:t> </a:t>
            </a:r>
            <a:r>
              <a:rPr sz="3050" spc="-155" dirty="0">
                <a:latin typeface="Arial"/>
                <a:cs typeface="Arial"/>
              </a:rPr>
              <a:t>(Brokered</a:t>
            </a:r>
            <a:r>
              <a:rPr sz="3050" spc="40" dirty="0">
                <a:latin typeface="Arial"/>
                <a:cs typeface="Arial"/>
              </a:rPr>
              <a:t> </a:t>
            </a:r>
            <a:r>
              <a:rPr sz="3050" spc="-295" dirty="0">
                <a:latin typeface="Arial"/>
                <a:cs typeface="Arial"/>
              </a:rPr>
              <a:t>Peer</a:t>
            </a:r>
            <a:r>
              <a:rPr sz="3050" spc="80" dirty="0">
                <a:latin typeface="Arial"/>
                <a:cs typeface="Arial"/>
              </a:rPr>
              <a:t> </a:t>
            </a:r>
            <a:r>
              <a:rPr sz="3050" dirty="0">
                <a:latin typeface="Arial"/>
                <a:cs typeface="Arial"/>
              </a:rPr>
              <a:t>to</a:t>
            </a:r>
            <a:r>
              <a:rPr sz="3050" spc="-114" dirty="0">
                <a:latin typeface="Arial"/>
                <a:cs typeface="Arial"/>
              </a:rPr>
              <a:t> </a:t>
            </a:r>
            <a:r>
              <a:rPr sz="3050" spc="-265" dirty="0">
                <a:latin typeface="Arial"/>
                <a:cs typeface="Arial"/>
              </a:rPr>
              <a:t>Peer)</a:t>
            </a:r>
            <a:endParaRPr sz="3050">
              <a:latin typeface="Arial"/>
              <a:cs typeface="Arial"/>
            </a:endParaRPr>
          </a:p>
          <a:p>
            <a:pPr marL="748665" marR="61594" lvl="1" indent="-283845">
              <a:lnSpc>
                <a:spcPts val="2880"/>
              </a:lnSpc>
              <a:spcBef>
                <a:spcPts val="635"/>
              </a:spcBef>
              <a:buClr>
                <a:srgbClr val="F60A03"/>
              </a:buClr>
              <a:buChar char="•"/>
              <a:tabLst>
                <a:tab pos="748665" algn="l"/>
              </a:tabLst>
            </a:pPr>
            <a:r>
              <a:rPr sz="2800" spc="-95" dirty="0">
                <a:latin typeface="Calibri"/>
                <a:cs typeface="Calibri"/>
              </a:rPr>
              <a:t>Query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spc="-100" dirty="0">
                <a:latin typeface="Calibri"/>
                <a:cs typeface="Calibri"/>
              </a:rPr>
              <a:t>made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95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95" dirty="0">
                <a:latin typeface="Calibri"/>
                <a:cs typeface="Calibri"/>
              </a:rPr>
              <a:t>central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10" dirty="0">
                <a:latin typeface="Calibri"/>
                <a:cs typeface="Calibri"/>
              </a:rPr>
              <a:t>server,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30" dirty="0">
                <a:latin typeface="Calibri"/>
                <a:cs typeface="Calibri"/>
              </a:rPr>
              <a:t>which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10" dirty="0">
                <a:latin typeface="Calibri"/>
                <a:cs typeface="Calibri"/>
              </a:rPr>
              <a:t>returns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spc="-20" dirty="0">
                <a:latin typeface="Calibri"/>
                <a:cs typeface="Calibri"/>
              </a:rPr>
              <a:t>list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of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spc="-75" dirty="0">
                <a:latin typeface="Calibri"/>
                <a:cs typeface="Calibri"/>
              </a:rPr>
              <a:t>peers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20" dirty="0">
                <a:latin typeface="Calibri"/>
                <a:cs typeface="Calibri"/>
              </a:rPr>
              <a:t>who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80" dirty="0">
                <a:latin typeface="Calibri"/>
                <a:cs typeface="Calibri"/>
              </a:rPr>
              <a:t>posses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85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90" dirty="0">
                <a:latin typeface="Calibri"/>
                <a:cs typeface="Calibri"/>
              </a:rPr>
              <a:t>desired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25" dirty="0">
                <a:latin typeface="Calibri"/>
                <a:cs typeface="Calibri"/>
              </a:rPr>
              <a:t>mp3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file.</a:t>
            </a:r>
            <a:endParaRPr sz="2800">
              <a:latin typeface="Calibri"/>
              <a:cs typeface="Calibri"/>
            </a:endParaRPr>
          </a:p>
          <a:p>
            <a:pPr marL="755650" lvl="1" indent="-290195">
              <a:lnSpc>
                <a:spcPts val="3115"/>
              </a:lnSpc>
              <a:spcBef>
                <a:spcPts val="125"/>
              </a:spcBef>
              <a:buClr>
                <a:srgbClr val="F60507"/>
              </a:buClr>
              <a:buChar char="•"/>
              <a:tabLst>
                <a:tab pos="755650" algn="l"/>
              </a:tabLst>
            </a:pPr>
            <a:r>
              <a:rPr sz="2750" dirty="0">
                <a:latin typeface="Calibri"/>
                <a:cs typeface="Calibri"/>
              </a:rPr>
              <a:t>The</a:t>
            </a:r>
            <a:r>
              <a:rPr sz="2750" spc="-95" dirty="0">
                <a:latin typeface="Calibri"/>
                <a:cs typeface="Calibri"/>
              </a:rPr>
              <a:t> </a:t>
            </a:r>
            <a:r>
              <a:rPr sz="2750" spc="-70" dirty="0">
                <a:latin typeface="Calibri"/>
                <a:cs typeface="Calibri"/>
              </a:rPr>
              <a:t>host</a:t>
            </a:r>
            <a:r>
              <a:rPr sz="2750" spc="-85" dirty="0">
                <a:latin typeface="Calibri"/>
                <a:cs typeface="Calibri"/>
              </a:rPr>
              <a:t> </a:t>
            </a:r>
            <a:r>
              <a:rPr sz="2750" spc="-80" dirty="0">
                <a:latin typeface="Calibri"/>
                <a:cs typeface="Calibri"/>
              </a:rPr>
              <a:t>then</a:t>
            </a:r>
            <a:r>
              <a:rPr sz="2750" spc="-75" dirty="0">
                <a:latin typeface="Calibri"/>
                <a:cs typeface="Calibri"/>
              </a:rPr>
              <a:t> </a:t>
            </a:r>
            <a:r>
              <a:rPr sz="2750" spc="-45" dirty="0">
                <a:latin typeface="Calibri"/>
                <a:cs typeface="Calibri"/>
              </a:rPr>
              <a:t>selects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</a:t>
            </a:r>
            <a:r>
              <a:rPr sz="2750" spc="-114" dirty="0">
                <a:latin typeface="Calibri"/>
                <a:cs typeface="Calibri"/>
              </a:rPr>
              <a:t> </a:t>
            </a:r>
            <a:r>
              <a:rPr sz="2750" spc="-55" dirty="0">
                <a:latin typeface="Calibri"/>
                <a:cs typeface="Calibri"/>
              </a:rPr>
              <a:t>peer</a:t>
            </a:r>
            <a:r>
              <a:rPr sz="2750" spc="-5" dirty="0">
                <a:latin typeface="Calibri"/>
                <a:cs typeface="Calibri"/>
              </a:rPr>
              <a:t> </a:t>
            </a:r>
            <a:r>
              <a:rPr sz="2750" spc="-30" dirty="0">
                <a:latin typeface="Calibri"/>
                <a:cs typeface="Calibri"/>
              </a:rPr>
              <a:t>and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-45" dirty="0">
                <a:latin typeface="Calibri"/>
                <a:cs typeface="Calibri"/>
              </a:rPr>
              <a:t>direcf/ytransfers</a:t>
            </a:r>
            <a:endParaRPr sz="2750">
              <a:latin typeface="Calibri"/>
              <a:cs typeface="Calibri"/>
            </a:endParaRPr>
          </a:p>
          <a:p>
            <a:pPr marL="751840">
              <a:lnSpc>
                <a:spcPts val="3055"/>
              </a:lnSpc>
            </a:pPr>
            <a:r>
              <a:rPr sz="2700" spc="-10" dirty="0">
                <a:latin typeface="Calibri"/>
                <a:cs typeface="Calibri"/>
              </a:rPr>
              <a:t>the</a:t>
            </a:r>
            <a:r>
              <a:rPr sz="2700" spc="-140" dirty="0">
                <a:latin typeface="Calibri"/>
                <a:cs typeface="Calibri"/>
              </a:rPr>
              <a:t> </a:t>
            </a:r>
            <a:r>
              <a:rPr sz="2700" spc="-50" dirty="0">
                <a:latin typeface="Calibri"/>
                <a:cs typeface="Calibri"/>
              </a:rPr>
              <a:t>desired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mp3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file.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98601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0280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135"/>
              </a:spcBef>
            </a:pPr>
            <a:r>
              <a:rPr sz="4600" spc="-335" dirty="0">
                <a:solidFill>
                  <a:srgbClr val="3A318C"/>
                </a:solidFill>
                <a:latin typeface="Arial"/>
                <a:cs typeface="Arial"/>
              </a:rPr>
              <a:t>2</a:t>
            </a:r>
            <a:r>
              <a:rPr sz="4600" spc="15" dirty="0">
                <a:solidFill>
                  <a:srgbClr val="3A318C"/>
                </a:solidFill>
                <a:latin typeface="Arial"/>
                <a:cs typeface="Arial"/>
              </a:rPr>
              <a:t> </a:t>
            </a:r>
            <a:r>
              <a:rPr sz="4600" spc="-170" dirty="0">
                <a:solidFill>
                  <a:srgbClr val="343680"/>
                </a:solidFill>
                <a:latin typeface="Arial"/>
                <a:cs typeface="Arial"/>
              </a:rPr>
              <a:t>Categories</a:t>
            </a:r>
            <a:r>
              <a:rPr sz="4600" spc="-30" dirty="0">
                <a:solidFill>
                  <a:srgbClr val="343680"/>
                </a:solidFill>
                <a:latin typeface="Arial"/>
                <a:cs typeface="Arial"/>
              </a:rPr>
              <a:t> </a:t>
            </a:r>
            <a:r>
              <a:rPr sz="4600" dirty="0">
                <a:solidFill>
                  <a:srgbClr val="342F85"/>
                </a:solidFill>
                <a:latin typeface="Arial"/>
                <a:cs typeface="Arial"/>
              </a:rPr>
              <a:t>of</a:t>
            </a:r>
            <a:r>
              <a:rPr sz="4600" spc="-10" dirty="0">
                <a:solidFill>
                  <a:srgbClr val="342F85"/>
                </a:solidFill>
                <a:latin typeface="Arial"/>
                <a:cs typeface="Arial"/>
              </a:rPr>
              <a:t> </a:t>
            </a:r>
            <a:r>
              <a:rPr sz="4600" spc="-555" dirty="0">
                <a:solidFill>
                  <a:srgbClr val="3F388A"/>
                </a:solidFill>
                <a:latin typeface="Arial"/>
                <a:cs typeface="Arial"/>
              </a:rPr>
              <a:t>P2P</a:t>
            </a:r>
            <a:r>
              <a:rPr sz="4600" spc="204" dirty="0">
                <a:solidFill>
                  <a:srgbClr val="3F388A"/>
                </a:solidFill>
                <a:latin typeface="Arial"/>
                <a:cs typeface="Arial"/>
              </a:rPr>
              <a:t> </a:t>
            </a:r>
            <a:r>
              <a:rPr sz="4600" spc="-25" dirty="0">
                <a:solidFill>
                  <a:srgbClr val="3F388A"/>
                </a:solidFill>
                <a:latin typeface="Arial"/>
                <a:cs typeface="Arial"/>
              </a:rPr>
              <a:t>(1)</a:t>
            </a:r>
            <a:endParaRPr sz="4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9918" y="1935956"/>
            <a:ext cx="7146925" cy="396494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357505" marR="960755" indent="-345440">
              <a:lnSpc>
                <a:spcPct val="77600"/>
              </a:lnSpc>
              <a:spcBef>
                <a:spcPts val="1105"/>
              </a:spcBef>
              <a:buAutoNum type="arabicParenR"/>
              <a:tabLst>
                <a:tab pos="357505" algn="l"/>
                <a:tab pos="565785" algn="l"/>
              </a:tabLst>
            </a:pPr>
            <a:r>
              <a:rPr sz="3700" dirty="0">
                <a:latin typeface="Calibri"/>
                <a:cs typeface="Calibri"/>
              </a:rPr>
              <a:t>	P2P</a:t>
            </a:r>
            <a:r>
              <a:rPr sz="3700" spc="620" dirty="0">
                <a:latin typeface="Calibri"/>
                <a:cs typeface="Calibri"/>
              </a:rPr>
              <a:t> </a:t>
            </a:r>
            <a:r>
              <a:rPr sz="3700" spc="114" dirty="0">
                <a:latin typeface="Calibri"/>
                <a:cs typeface="Calibri"/>
              </a:rPr>
              <a:t>Resource</a:t>
            </a:r>
            <a:r>
              <a:rPr sz="3700" spc="100" dirty="0">
                <a:latin typeface="Calibri"/>
                <a:cs typeface="Calibri"/>
              </a:rPr>
              <a:t> </a:t>
            </a:r>
            <a:r>
              <a:rPr sz="3700" spc="95" dirty="0">
                <a:latin typeface="Calibri"/>
                <a:cs typeface="Calibri"/>
              </a:rPr>
              <a:t>Products</a:t>
            </a:r>
            <a:r>
              <a:rPr sz="3700" spc="160" dirty="0">
                <a:latin typeface="Calibri"/>
                <a:cs typeface="Calibri"/>
              </a:rPr>
              <a:t> </a:t>
            </a:r>
            <a:r>
              <a:rPr sz="3700" spc="100" dirty="0">
                <a:latin typeface="Calibri"/>
                <a:cs typeface="Calibri"/>
              </a:rPr>
              <a:t>and </a:t>
            </a:r>
            <a:r>
              <a:rPr sz="3700" spc="120" dirty="0">
                <a:latin typeface="Calibri"/>
                <a:cs typeface="Calibri"/>
              </a:rPr>
              <a:t>Services</a:t>
            </a:r>
            <a:endParaRPr sz="3700">
              <a:latin typeface="Calibri"/>
              <a:cs typeface="Calibri"/>
            </a:endParaRPr>
          </a:p>
          <a:p>
            <a:pPr marL="754380" marR="52069" lvl="1" indent="-266700">
              <a:lnSpc>
                <a:spcPts val="3020"/>
              </a:lnSpc>
              <a:spcBef>
                <a:spcPts val="605"/>
              </a:spcBef>
              <a:buClr>
                <a:srgbClr val="FF110F"/>
              </a:buClr>
              <a:buChar char="•"/>
              <a:tabLst>
                <a:tab pos="754380" algn="l"/>
              </a:tabLst>
            </a:pPr>
            <a:r>
              <a:rPr sz="2950" spc="-150" dirty="0">
                <a:latin typeface="Arial"/>
                <a:cs typeface="Arial"/>
              </a:rPr>
              <a:t>Represents</a:t>
            </a:r>
            <a:r>
              <a:rPr sz="2950" spc="65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the</a:t>
            </a:r>
            <a:r>
              <a:rPr sz="2950" spc="-140" dirty="0">
                <a:latin typeface="Arial"/>
                <a:cs typeface="Arial"/>
              </a:rPr>
              <a:t> </a:t>
            </a:r>
            <a:r>
              <a:rPr sz="2950" spc="-135" dirty="0">
                <a:latin typeface="Arial"/>
                <a:cs typeface="Arial"/>
              </a:rPr>
              <a:t>resources</a:t>
            </a:r>
            <a:r>
              <a:rPr sz="2950" spc="-20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that</a:t>
            </a:r>
            <a:r>
              <a:rPr sz="2950" spc="-145" dirty="0">
                <a:latin typeface="Arial"/>
                <a:cs typeface="Arial"/>
              </a:rPr>
              <a:t> </a:t>
            </a:r>
            <a:r>
              <a:rPr sz="2950" spc="-120" dirty="0">
                <a:latin typeface="Arial"/>
                <a:cs typeface="Arial"/>
              </a:rPr>
              <a:t>each</a:t>
            </a:r>
            <a:r>
              <a:rPr sz="2950" spc="5" dirty="0">
                <a:latin typeface="Arial"/>
                <a:cs typeface="Arial"/>
              </a:rPr>
              <a:t> </a:t>
            </a:r>
            <a:r>
              <a:rPr sz="2950" spc="-60" dirty="0">
                <a:latin typeface="Arial"/>
                <a:cs typeface="Arial"/>
              </a:rPr>
              <a:t>peer </a:t>
            </a:r>
            <a:r>
              <a:rPr sz="2950" spc="-70" dirty="0">
                <a:latin typeface="Arial"/>
                <a:cs typeface="Arial"/>
              </a:rPr>
              <a:t>owns</a:t>
            </a:r>
            <a:r>
              <a:rPr sz="2950" spc="-114" dirty="0">
                <a:latin typeface="Arial"/>
                <a:cs typeface="Arial"/>
              </a:rPr>
              <a:t> </a:t>
            </a:r>
            <a:r>
              <a:rPr sz="2950" spc="-70" dirty="0">
                <a:latin typeface="Arial"/>
                <a:cs typeface="Arial"/>
              </a:rPr>
              <a:t>and</a:t>
            </a:r>
            <a:r>
              <a:rPr sz="2950" spc="-135" dirty="0">
                <a:latin typeface="Arial"/>
                <a:cs typeface="Arial"/>
              </a:rPr>
              <a:t> </a:t>
            </a:r>
            <a:r>
              <a:rPr sz="2950" spc="-10" dirty="0">
                <a:latin typeface="Arial"/>
                <a:cs typeface="Arial"/>
              </a:rPr>
              <a:t>controls.</a:t>
            </a:r>
            <a:endParaRPr sz="2950">
              <a:latin typeface="Arial"/>
              <a:cs typeface="Arial"/>
            </a:endParaRPr>
          </a:p>
          <a:p>
            <a:pPr marL="749935" marR="5080" lvl="1" indent="-263525">
              <a:lnSpc>
                <a:spcPct val="82400"/>
              </a:lnSpc>
              <a:spcBef>
                <a:spcPts val="605"/>
              </a:spcBef>
              <a:buChar char="•"/>
              <a:tabLst>
                <a:tab pos="749935" algn="l"/>
                <a:tab pos="751840" algn="l"/>
              </a:tabLst>
            </a:pPr>
            <a:r>
              <a:rPr sz="3150" dirty="0">
                <a:solidFill>
                  <a:srgbClr val="F60C0F"/>
                </a:solidFill>
                <a:latin typeface="Arial"/>
                <a:cs typeface="Arial"/>
              </a:rPr>
              <a:t>	</a:t>
            </a:r>
            <a:r>
              <a:rPr sz="3150" spc="-320" dirty="0">
                <a:latin typeface="Arial"/>
                <a:cs typeface="Arial"/>
              </a:rPr>
              <a:t>Resources</a:t>
            </a:r>
            <a:r>
              <a:rPr sz="3150" spc="190" dirty="0">
                <a:latin typeface="Arial"/>
                <a:cs typeface="Arial"/>
              </a:rPr>
              <a:t> </a:t>
            </a:r>
            <a:r>
              <a:rPr sz="3150" spc="-200" dirty="0">
                <a:latin typeface="Arial"/>
                <a:cs typeface="Arial"/>
              </a:rPr>
              <a:t>include</a:t>
            </a:r>
            <a:r>
              <a:rPr sz="3150" spc="120" dirty="0">
                <a:latin typeface="Arial"/>
                <a:cs typeface="Arial"/>
              </a:rPr>
              <a:t> </a:t>
            </a:r>
            <a:r>
              <a:rPr sz="3150" spc="-225" dirty="0">
                <a:latin typeface="Arial"/>
                <a:cs typeface="Arial"/>
              </a:rPr>
              <a:t>raw</a:t>
            </a:r>
            <a:r>
              <a:rPr sz="3150" spc="50" dirty="0">
                <a:latin typeface="Arial"/>
                <a:cs typeface="Arial"/>
              </a:rPr>
              <a:t> </a:t>
            </a:r>
            <a:r>
              <a:rPr sz="3150" spc="-265" dirty="0">
                <a:latin typeface="Arial"/>
                <a:cs typeface="Arial"/>
              </a:rPr>
              <a:t>resources</a:t>
            </a:r>
            <a:r>
              <a:rPr sz="3150" spc="295" dirty="0">
                <a:latin typeface="Arial"/>
                <a:cs typeface="Arial"/>
              </a:rPr>
              <a:t> </a:t>
            </a:r>
            <a:r>
              <a:rPr sz="3150" spc="-305" dirty="0">
                <a:latin typeface="Arial"/>
                <a:cs typeface="Arial"/>
              </a:rPr>
              <a:t>such</a:t>
            </a:r>
            <a:r>
              <a:rPr sz="3150" spc="80" dirty="0">
                <a:latin typeface="Arial"/>
                <a:cs typeface="Arial"/>
              </a:rPr>
              <a:t> </a:t>
            </a:r>
            <a:r>
              <a:rPr sz="3150" spc="-345" dirty="0">
                <a:latin typeface="Arial"/>
                <a:cs typeface="Arial"/>
              </a:rPr>
              <a:t>as </a:t>
            </a:r>
            <a:r>
              <a:rPr sz="3050" spc="-90" dirty="0">
                <a:latin typeface="Arial"/>
                <a:cs typeface="Arial"/>
              </a:rPr>
              <a:t>network</a:t>
            </a:r>
            <a:r>
              <a:rPr sz="3050" spc="-65" dirty="0">
                <a:latin typeface="Arial"/>
                <a:cs typeface="Arial"/>
              </a:rPr>
              <a:t> </a:t>
            </a:r>
            <a:r>
              <a:rPr sz="3050" spc="-110" dirty="0">
                <a:latin typeface="Arial"/>
                <a:cs typeface="Arial"/>
              </a:rPr>
              <a:t>bandwidth,</a:t>
            </a:r>
            <a:r>
              <a:rPr sz="3050" dirty="0">
                <a:latin typeface="Arial"/>
                <a:cs typeface="Arial"/>
              </a:rPr>
              <a:t> </a:t>
            </a:r>
            <a:r>
              <a:rPr sz="3050" spc="-110" dirty="0">
                <a:latin typeface="Arial"/>
                <a:cs typeface="Arial"/>
              </a:rPr>
              <a:t>disk</a:t>
            </a:r>
            <a:r>
              <a:rPr sz="3050" spc="-40" dirty="0">
                <a:latin typeface="Arial"/>
                <a:cs typeface="Arial"/>
              </a:rPr>
              <a:t> </a:t>
            </a:r>
            <a:r>
              <a:rPr sz="3050" spc="-285" dirty="0">
                <a:latin typeface="Arial"/>
                <a:cs typeface="Arial"/>
              </a:rPr>
              <a:t>space</a:t>
            </a:r>
            <a:r>
              <a:rPr sz="3050" spc="75" dirty="0">
                <a:latin typeface="Arial"/>
                <a:cs typeface="Arial"/>
              </a:rPr>
              <a:t> </a:t>
            </a:r>
            <a:r>
              <a:rPr sz="3050" spc="-25" dirty="0">
                <a:latin typeface="Arial"/>
                <a:cs typeface="Arial"/>
              </a:rPr>
              <a:t>and </a:t>
            </a:r>
            <a:r>
              <a:rPr sz="3050" spc="-175" dirty="0">
                <a:latin typeface="Arial"/>
                <a:cs typeface="Arial"/>
              </a:rPr>
              <a:t>processing</a:t>
            </a:r>
            <a:r>
              <a:rPr sz="3050" spc="-20" dirty="0">
                <a:latin typeface="Arial"/>
                <a:cs typeface="Arial"/>
              </a:rPr>
              <a:t> </a:t>
            </a:r>
            <a:r>
              <a:rPr sz="3050" spc="-55" dirty="0">
                <a:latin typeface="Arial"/>
                <a:cs typeface="Arial"/>
              </a:rPr>
              <a:t>power.</a:t>
            </a:r>
            <a:endParaRPr sz="3050">
              <a:latin typeface="Arial"/>
              <a:cs typeface="Arial"/>
            </a:endParaRPr>
          </a:p>
          <a:p>
            <a:pPr marL="746760" marR="562610" lvl="1" indent="-259079">
              <a:lnSpc>
                <a:spcPts val="3020"/>
              </a:lnSpc>
              <a:spcBef>
                <a:spcPts val="700"/>
              </a:spcBef>
              <a:buClr>
                <a:srgbClr val="FB0805"/>
              </a:buClr>
              <a:buChar char="•"/>
              <a:tabLst>
                <a:tab pos="755015" algn="l"/>
              </a:tabLst>
            </a:pPr>
            <a:r>
              <a:rPr sz="2900" spc="-100" dirty="0">
                <a:latin typeface="Arial"/>
                <a:cs typeface="Arial"/>
              </a:rPr>
              <a:t>Centers</a:t>
            </a:r>
            <a:r>
              <a:rPr sz="2900" spc="-55" dirty="0">
                <a:latin typeface="Arial"/>
                <a:cs typeface="Arial"/>
              </a:rPr>
              <a:t> </a:t>
            </a:r>
            <a:r>
              <a:rPr sz="2900" spc="-40" dirty="0">
                <a:latin typeface="Arial"/>
                <a:cs typeface="Arial"/>
              </a:rPr>
              <a:t>around</a:t>
            </a:r>
            <a:r>
              <a:rPr sz="2900" spc="15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the</a:t>
            </a:r>
            <a:r>
              <a:rPr sz="2900" spc="-110" dirty="0">
                <a:latin typeface="Arial"/>
                <a:cs typeface="Arial"/>
              </a:rPr>
              <a:t> </a:t>
            </a:r>
            <a:r>
              <a:rPr sz="2900" spc="-30" dirty="0">
                <a:latin typeface="Arial"/>
                <a:cs typeface="Arial"/>
              </a:rPr>
              <a:t>information</a:t>
            </a:r>
            <a:r>
              <a:rPr sz="2900" spc="90" dirty="0">
                <a:latin typeface="Arial"/>
                <a:cs typeface="Arial"/>
              </a:rPr>
              <a:t> </a:t>
            </a:r>
            <a:r>
              <a:rPr sz="2900" spc="-25" dirty="0">
                <a:latin typeface="Arial"/>
                <a:cs typeface="Arial"/>
              </a:rPr>
              <a:t>and 	</a:t>
            </a:r>
            <a:r>
              <a:rPr sz="2900" spc="-105" dirty="0">
                <a:latin typeface="Arial"/>
                <a:cs typeface="Arial"/>
              </a:rPr>
              <a:t>services</a:t>
            </a:r>
            <a:r>
              <a:rPr sz="2900" spc="10" dirty="0">
                <a:latin typeface="Arial"/>
                <a:cs typeface="Arial"/>
              </a:rPr>
              <a:t> </a:t>
            </a:r>
            <a:r>
              <a:rPr sz="2900" spc="-80" dirty="0">
                <a:latin typeface="Arial"/>
                <a:cs typeface="Arial"/>
              </a:rPr>
              <a:t>section</a:t>
            </a:r>
            <a:r>
              <a:rPr sz="2900" spc="85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of</a:t>
            </a:r>
            <a:r>
              <a:rPr sz="2900" spc="-65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the</a:t>
            </a:r>
            <a:r>
              <a:rPr sz="2900" spc="-15" dirty="0">
                <a:latin typeface="Arial"/>
                <a:cs typeface="Arial"/>
              </a:rPr>
              <a:t> </a:t>
            </a:r>
            <a:r>
              <a:rPr sz="2900" spc="-335" dirty="0">
                <a:latin typeface="Arial"/>
                <a:cs typeface="Arial"/>
              </a:rPr>
              <a:t>P2P</a:t>
            </a:r>
            <a:r>
              <a:rPr sz="2900" spc="130" dirty="0">
                <a:latin typeface="Arial"/>
                <a:cs typeface="Arial"/>
              </a:rPr>
              <a:t> </a:t>
            </a:r>
            <a:r>
              <a:rPr sz="2900" spc="-10" dirty="0">
                <a:latin typeface="Arial"/>
                <a:cs typeface="Arial"/>
              </a:rPr>
              <a:t>definition.</a:t>
            </a:r>
            <a:endParaRPr sz="2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134320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4079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135"/>
              </a:spcBef>
            </a:pPr>
            <a:r>
              <a:rPr sz="4650" spc="-365" dirty="0">
                <a:solidFill>
                  <a:srgbClr val="3B3191"/>
                </a:solidFill>
                <a:latin typeface="Arial"/>
                <a:cs typeface="Arial"/>
              </a:rPr>
              <a:t>2</a:t>
            </a:r>
            <a:r>
              <a:rPr sz="4650" spc="45" dirty="0">
                <a:solidFill>
                  <a:srgbClr val="3B3191"/>
                </a:solidFill>
                <a:latin typeface="Arial"/>
                <a:cs typeface="Arial"/>
              </a:rPr>
              <a:t> </a:t>
            </a:r>
            <a:r>
              <a:rPr sz="4650" spc="-195" dirty="0">
                <a:solidFill>
                  <a:srgbClr val="343680"/>
                </a:solidFill>
                <a:latin typeface="Arial"/>
                <a:cs typeface="Arial"/>
              </a:rPr>
              <a:t>Categories</a:t>
            </a:r>
            <a:r>
              <a:rPr sz="4650" spc="-100" dirty="0">
                <a:solidFill>
                  <a:srgbClr val="343680"/>
                </a:solidFill>
                <a:latin typeface="Arial"/>
                <a:cs typeface="Arial"/>
              </a:rPr>
              <a:t> </a:t>
            </a:r>
            <a:r>
              <a:rPr sz="4650" dirty="0">
                <a:solidFill>
                  <a:srgbClr val="332F80"/>
                </a:solidFill>
                <a:latin typeface="Arial"/>
                <a:cs typeface="Arial"/>
              </a:rPr>
              <a:t>of</a:t>
            </a:r>
            <a:r>
              <a:rPr sz="4650" spc="-35" dirty="0">
                <a:solidFill>
                  <a:srgbClr val="332F80"/>
                </a:solidFill>
                <a:latin typeface="Arial"/>
                <a:cs typeface="Arial"/>
              </a:rPr>
              <a:t> </a:t>
            </a:r>
            <a:r>
              <a:rPr sz="4650" spc="-590" dirty="0">
                <a:solidFill>
                  <a:srgbClr val="3B3687"/>
                </a:solidFill>
                <a:latin typeface="Arial"/>
                <a:cs typeface="Arial"/>
              </a:rPr>
              <a:t>P2P</a:t>
            </a:r>
            <a:r>
              <a:rPr sz="4650" spc="210" dirty="0">
                <a:solidFill>
                  <a:srgbClr val="3B3687"/>
                </a:solidFill>
                <a:latin typeface="Arial"/>
                <a:cs typeface="Arial"/>
              </a:rPr>
              <a:t> </a:t>
            </a:r>
            <a:r>
              <a:rPr sz="4650" spc="-25" dirty="0">
                <a:solidFill>
                  <a:srgbClr val="383483"/>
                </a:solidFill>
                <a:latin typeface="Arial"/>
                <a:cs typeface="Arial"/>
              </a:rPr>
              <a:t>(2)</a:t>
            </a:r>
            <a:endParaRPr sz="465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4796" y="1980604"/>
            <a:ext cx="7527925" cy="33801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4230"/>
              </a:lnSpc>
              <a:spcBef>
                <a:spcPts val="110"/>
              </a:spcBef>
            </a:pPr>
            <a:r>
              <a:rPr sz="3700" dirty="0">
                <a:latin typeface="Calibri"/>
                <a:cs typeface="Calibri"/>
              </a:rPr>
              <a:t>2)</a:t>
            </a:r>
            <a:r>
              <a:rPr sz="3700" spc="49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P2P</a:t>
            </a:r>
            <a:r>
              <a:rPr sz="3700" spc="660" dirty="0">
                <a:latin typeface="Calibri"/>
                <a:cs typeface="Calibri"/>
              </a:rPr>
              <a:t> </a:t>
            </a:r>
            <a:r>
              <a:rPr sz="3700" spc="70" dirty="0">
                <a:latin typeface="Calibri"/>
                <a:cs typeface="Calibri"/>
              </a:rPr>
              <a:t>Collaboration</a:t>
            </a:r>
            <a:r>
              <a:rPr sz="3700" spc="254" dirty="0">
                <a:latin typeface="Calibri"/>
                <a:cs typeface="Calibri"/>
              </a:rPr>
              <a:t> </a:t>
            </a:r>
            <a:r>
              <a:rPr sz="3700" spc="95" dirty="0">
                <a:latin typeface="Calibri"/>
                <a:cs typeface="Calibri"/>
              </a:rPr>
              <a:t>Products</a:t>
            </a:r>
            <a:r>
              <a:rPr sz="3700" spc="145" dirty="0">
                <a:latin typeface="Calibri"/>
                <a:cs typeface="Calibri"/>
              </a:rPr>
              <a:t> </a:t>
            </a:r>
            <a:r>
              <a:rPr sz="3700" spc="100" dirty="0">
                <a:latin typeface="Calibri"/>
                <a:cs typeface="Calibri"/>
              </a:rPr>
              <a:t>and</a:t>
            </a:r>
            <a:endParaRPr sz="3700" dirty="0">
              <a:latin typeface="Calibri"/>
              <a:cs typeface="Calibri"/>
            </a:endParaRPr>
          </a:p>
          <a:p>
            <a:pPr marL="353060">
              <a:lnSpc>
                <a:spcPts val="4050"/>
              </a:lnSpc>
            </a:pPr>
            <a:r>
              <a:rPr sz="3550" spc="170" dirty="0">
                <a:latin typeface="Calibri"/>
                <a:cs typeface="Calibri"/>
              </a:rPr>
              <a:t>Services</a:t>
            </a:r>
            <a:endParaRPr sz="3550" dirty="0">
              <a:latin typeface="Calibri"/>
              <a:cs typeface="Calibri"/>
            </a:endParaRPr>
          </a:p>
          <a:p>
            <a:pPr marL="744220" marR="5080" indent="-262890">
              <a:lnSpc>
                <a:spcPts val="3379"/>
              </a:lnSpc>
              <a:spcBef>
                <a:spcPts val="665"/>
              </a:spcBef>
              <a:buChar char="•"/>
              <a:tabLst>
                <a:tab pos="744220" algn="l"/>
                <a:tab pos="753110" algn="l"/>
              </a:tabLst>
            </a:pPr>
            <a:r>
              <a:rPr sz="3150" dirty="0">
                <a:solidFill>
                  <a:srgbClr val="F60E0C"/>
                </a:solidFill>
                <a:latin typeface="Arial"/>
                <a:cs typeface="Arial"/>
              </a:rPr>
              <a:t>	</a:t>
            </a:r>
            <a:r>
              <a:rPr sz="3150" spc="-484" dirty="0">
                <a:latin typeface="Arial"/>
                <a:cs typeface="Arial"/>
              </a:rPr>
              <a:t>A</a:t>
            </a:r>
            <a:r>
              <a:rPr sz="3150" spc="-10" dirty="0">
                <a:latin typeface="Arial"/>
                <a:cs typeface="Arial"/>
              </a:rPr>
              <a:t> </a:t>
            </a:r>
            <a:r>
              <a:rPr sz="3150" spc="-210" dirty="0">
                <a:latin typeface="Arial"/>
                <a:cs typeface="Arial"/>
              </a:rPr>
              <a:t>goal</a:t>
            </a:r>
            <a:r>
              <a:rPr sz="3150" spc="-10" dirty="0">
                <a:latin typeface="Arial"/>
                <a:cs typeface="Arial"/>
              </a:rPr>
              <a:t> of</a:t>
            </a:r>
            <a:r>
              <a:rPr sz="3150" spc="-210" dirty="0">
                <a:latin typeface="Arial"/>
                <a:cs typeface="Arial"/>
              </a:rPr>
              <a:t> </a:t>
            </a:r>
            <a:r>
              <a:rPr sz="3150" spc="-480" dirty="0">
                <a:latin typeface="Arial"/>
                <a:cs typeface="Arial"/>
              </a:rPr>
              <a:t>P2P</a:t>
            </a:r>
            <a:r>
              <a:rPr sz="3150" spc="20" dirty="0">
                <a:latin typeface="Arial"/>
                <a:cs typeface="Arial"/>
              </a:rPr>
              <a:t> </a:t>
            </a:r>
            <a:r>
              <a:rPr sz="3150" spc="-120" dirty="0">
                <a:latin typeface="Arial"/>
                <a:cs typeface="Arial"/>
              </a:rPr>
              <a:t>is</a:t>
            </a:r>
            <a:r>
              <a:rPr sz="3150" spc="-105" dirty="0">
                <a:latin typeface="Arial"/>
                <a:cs typeface="Arial"/>
              </a:rPr>
              <a:t> </a:t>
            </a:r>
            <a:r>
              <a:rPr sz="3150" dirty="0">
                <a:latin typeface="Arial"/>
                <a:cs typeface="Arial"/>
              </a:rPr>
              <a:t>to</a:t>
            </a:r>
            <a:r>
              <a:rPr sz="3150" spc="-215" dirty="0">
                <a:latin typeface="Arial"/>
                <a:cs typeface="Arial"/>
              </a:rPr>
              <a:t> </a:t>
            </a:r>
            <a:r>
              <a:rPr sz="3150" spc="-165" dirty="0">
                <a:latin typeface="Arial"/>
                <a:cs typeface="Arial"/>
              </a:rPr>
              <a:t>allow</a:t>
            </a:r>
            <a:r>
              <a:rPr sz="3150" spc="-5" dirty="0">
                <a:latin typeface="Arial"/>
                <a:cs typeface="Arial"/>
              </a:rPr>
              <a:t> </a:t>
            </a:r>
            <a:r>
              <a:rPr sz="3150" spc="-95" dirty="0">
                <a:latin typeface="Arial"/>
                <a:cs typeface="Arial"/>
              </a:rPr>
              <a:t>for</a:t>
            </a:r>
            <a:r>
              <a:rPr sz="3150" spc="-110" dirty="0">
                <a:latin typeface="Arial"/>
                <a:cs typeface="Arial"/>
              </a:rPr>
              <a:t> </a:t>
            </a:r>
            <a:r>
              <a:rPr sz="3150" spc="-204" dirty="0">
                <a:latin typeface="Arial"/>
                <a:cs typeface="Arial"/>
              </a:rPr>
              <a:t>communication between</a:t>
            </a:r>
            <a:r>
              <a:rPr sz="3150" spc="155" dirty="0">
                <a:latin typeface="Arial"/>
                <a:cs typeface="Arial"/>
              </a:rPr>
              <a:t> </a:t>
            </a:r>
            <a:r>
              <a:rPr sz="3150" spc="-254" dirty="0">
                <a:latin typeface="Arial"/>
                <a:cs typeface="Arial"/>
              </a:rPr>
              <a:t>peers</a:t>
            </a:r>
            <a:r>
              <a:rPr sz="3150" spc="35" dirty="0">
                <a:latin typeface="Arial"/>
                <a:cs typeface="Arial"/>
              </a:rPr>
              <a:t> </a:t>
            </a:r>
            <a:r>
              <a:rPr sz="3150" dirty="0">
                <a:latin typeface="Arial"/>
                <a:cs typeface="Arial"/>
              </a:rPr>
              <a:t>to</a:t>
            </a:r>
            <a:r>
              <a:rPr sz="3150" spc="-135" dirty="0">
                <a:latin typeface="Arial"/>
                <a:cs typeface="Arial"/>
              </a:rPr>
              <a:t> </a:t>
            </a:r>
            <a:r>
              <a:rPr sz="3150" spc="-260" dirty="0">
                <a:latin typeface="Arial"/>
                <a:cs typeface="Arial"/>
              </a:rPr>
              <a:t>accomplish</a:t>
            </a:r>
            <a:r>
              <a:rPr sz="3150" spc="185" dirty="0">
                <a:latin typeface="Arial"/>
                <a:cs typeface="Arial"/>
              </a:rPr>
              <a:t> </a:t>
            </a:r>
            <a:r>
              <a:rPr sz="3150" spc="-280" dirty="0">
                <a:latin typeface="Arial"/>
                <a:cs typeface="Arial"/>
              </a:rPr>
              <a:t>business</a:t>
            </a:r>
            <a:r>
              <a:rPr sz="3150" spc="195" dirty="0">
                <a:latin typeface="Arial"/>
                <a:cs typeface="Arial"/>
              </a:rPr>
              <a:t> </a:t>
            </a:r>
            <a:r>
              <a:rPr sz="3150" spc="-25" dirty="0">
                <a:latin typeface="Arial"/>
                <a:cs typeface="Arial"/>
              </a:rPr>
              <a:t>or </a:t>
            </a:r>
            <a:r>
              <a:rPr sz="3150" spc="-220" dirty="0">
                <a:latin typeface="Arial"/>
                <a:cs typeface="Arial"/>
              </a:rPr>
              <a:t>personal</a:t>
            </a:r>
            <a:r>
              <a:rPr sz="3150" spc="40" dirty="0">
                <a:latin typeface="Arial"/>
                <a:cs typeface="Arial"/>
              </a:rPr>
              <a:t> </a:t>
            </a:r>
            <a:r>
              <a:rPr sz="3150" spc="-55" dirty="0">
                <a:latin typeface="Arial"/>
                <a:cs typeface="Arial"/>
              </a:rPr>
              <a:t>goals.</a:t>
            </a:r>
            <a:endParaRPr sz="3150" dirty="0">
              <a:latin typeface="Arial"/>
              <a:cs typeface="Arial"/>
            </a:endParaRPr>
          </a:p>
          <a:p>
            <a:pPr marL="742315" indent="-259715">
              <a:lnSpc>
                <a:spcPts val="3435"/>
              </a:lnSpc>
              <a:spcBef>
                <a:spcPts val="320"/>
              </a:spcBef>
              <a:buClr>
                <a:srgbClr val="F20800"/>
              </a:buClr>
              <a:buChar char="•"/>
              <a:tabLst>
                <a:tab pos="742315" algn="l"/>
              </a:tabLst>
            </a:pPr>
            <a:r>
              <a:rPr sz="3000" spc="-160" dirty="0">
                <a:latin typeface="Arial"/>
                <a:cs typeface="Arial"/>
              </a:rPr>
              <a:t>Centers</a:t>
            </a:r>
            <a:r>
              <a:rPr sz="3000" spc="-50" dirty="0">
                <a:latin typeface="Arial"/>
                <a:cs typeface="Arial"/>
              </a:rPr>
              <a:t> </a:t>
            </a:r>
            <a:r>
              <a:rPr sz="3000" spc="-110" dirty="0">
                <a:latin typeface="Arial"/>
                <a:cs typeface="Arial"/>
              </a:rPr>
              <a:t>more</a:t>
            </a:r>
            <a:r>
              <a:rPr sz="3000" spc="-10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on</a:t>
            </a:r>
            <a:r>
              <a:rPr sz="3000" spc="-2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the</a:t>
            </a:r>
            <a:r>
              <a:rPr sz="3000" spc="-180" dirty="0">
                <a:latin typeface="Arial"/>
                <a:cs typeface="Arial"/>
              </a:rPr>
              <a:t> </a:t>
            </a:r>
            <a:r>
              <a:rPr sz="3000" spc="-55" dirty="0">
                <a:latin typeface="Arial"/>
                <a:cs typeface="Arial"/>
              </a:rPr>
              <a:t>mutual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65" dirty="0">
                <a:latin typeface="Arial"/>
                <a:cs typeface="Arial"/>
              </a:rPr>
              <a:t>exchange</a:t>
            </a:r>
            <a:endParaRPr sz="3000" dirty="0">
              <a:latin typeface="Arial"/>
              <a:cs typeface="Arial"/>
            </a:endParaRPr>
          </a:p>
          <a:p>
            <a:pPr marL="749935">
              <a:lnSpc>
                <a:spcPts val="3554"/>
              </a:lnSpc>
            </a:pPr>
            <a:r>
              <a:rPr sz="3100" spc="-175" dirty="0">
                <a:latin typeface="Arial"/>
                <a:cs typeface="Arial"/>
              </a:rPr>
              <a:t>section</a:t>
            </a:r>
            <a:r>
              <a:rPr sz="3100" spc="-45" dirty="0">
                <a:latin typeface="Arial"/>
                <a:cs typeface="Arial"/>
              </a:rPr>
              <a:t> </a:t>
            </a:r>
            <a:r>
              <a:rPr sz="3100" dirty="0">
                <a:latin typeface="Arial"/>
                <a:cs typeface="Arial"/>
              </a:rPr>
              <a:t>of</a:t>
            </a:r>
            <a:r>
              <a:rPr sz="3100" spc="-215" dirty="0">
                <a:latin typeface="Arial"/>
                <a:cs typeface="Arial"/>
              </a:rPr>
              <a:t> </a:t>
            </a:r>
            <a:r>
              <a:rPr sz="3100" spc="-105" dirty="0">
                <a:latin typeface="Arial"/>
                <a:cs typeface="Arial"/>
              </a:rPr>
              <a:t>the</a:t>
            </a:r>
            <a:r>
              <a:rPr sz="3100" spc="-110" dirty="0">
                <a:latin typeface="Arial"/>
                <a:cs typeface="Arial"/>
              </a:rPr>
              <a:t> </a:t>
            </a:r>
            <a:r>
              <a:rPr sz="3100" spc="-100" dirty="0">
                <a:latin typeface="Arial"/>
                <a:cs typeface="Arial"/>
              </a:rPr>
              <a:t>definition</a:t>
            </a:r>
            <a:r>
              <a:rPr sz="3100" spc="-45" dirty="0">
                <a:latin typeface="Arial"/>
                <a:cs typeface="Arial"/>
              </a:rPr>
              <a:t> </a:t>
            </a:r>
            <a:r>
              <a:rPr sz="3100" dirty="0">
                <a:latin typeface="Arial"/>
                <a:cs typeface="Arial"/>
              </a:rPr>
              <a:t>of</a:t>
            </a:r>
            <a:r>
              <a:rPr sz="3100" spc="-135" dirty="0">
                <a:latin typeface="Arial"/>
                <a:cs typeface="Arial"/>
              </a:rPr>
              <a:t> </a:t>
            </a:r>
            <a:r>
              <a:rPr sz="3100" spc="-515" dirty="0">
                <a:latin typeface="Arial"/>
                <a:cs typeface="Arial"/>
              </a:rPr>
              <a:t>P2P.</a:t>
            </a:r>
            <a:endParaRPr sz="31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62883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19001" y="320674"/>
            <a:ext cx="5650230" cy="140970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 marR="5080" indent="6985">
              <a:lnSpc>
                <a:spcPts val="5270"/>
              </a:lnSpc>
              <a:spcBef>
                <a:spcPts val="555"/>
              </a:spcBef>
            </a:pPr>
            <a:r>
              <a:rPr sz="4650" spc="-355" dirty="0">
                <a:solidFill>
                  <a:srgbClr val="3A3489"/>
                </a:solidFill>
                <a:latin typeface="Arial"/>
                <a:cs typeface="Arial"/>
              </a:rPr>
              <a:t>Resource</a:t>
            </a:r>
            <a:r>
              <a:rPr sz="4650" spc="459" dirty="0">
                <a:solidFill>
                  <a:srgbClr val="3A3489"/>
                </a:solidFill>
                <a:latin typeface="Arial"/>
                <a:cs typeface="Arial"/>
              </a:rPr>
              <a:t> </a:t>
            </a:r>
            <a:r>
              <a:rPr sz="4650" spc="-254" dirty="0">
                <a:solidFill>
                  <a:srgbClr val="363389"/>
                </a:solidFill>
                <a:latin typeface="Arial"/>
                <a:cs typeface="Arial"/>
              </a:rPr>
              <a:t>Products</a:t>
            </a:r>
            <a:r>
              <a:rPr sz="4650" spc="385" dirty="0">
                <a:solidFill>
                  <a:srgbClr val="363389"/>
                </a:solidFill>
                <a:latin typeface="Arial"/>
                <a:cs typeface="Arial"/>
              </a:rPr>
              <a:t> </a:t>
            </a:r>
            <a:r>
              <a:rPr sz="4650" spc="-135" dirty="0">
                <a:solidFill>
                  <a:srgbClr val="383493"/>
                </a:solidFill>
                <a:latin typeface="Arial"/>
                <a:cs typeface="Arial"/>
              </a:rPr>
              <a:t>and </a:t>
            </a:r>
            <a:r>
              <a:rPr sz="4650" spc="-290" dirty="0">
                <a:solidFill>
                  <a:srgbClr val="3A3493"/>
                </a:solidFill>
                <a:latin typeface="Arial"/>
                <a:cs typeface="Arial"/>
              </a:rPr>
              <a:t>Services</a:t>
            </a:r>
            <a:r>
              <a:rPr sz="4650" spc="295" dirty="0">
                <a:solidFill>
                  <a:srgbClr val="3A3493"/>
                </a:solidFill>
                <a:latin typeface="Arial"/>
                <a:cs typeface="Arial"/>
              </a:rPr>
              <a:t> </a:t>
            </a:r>
            <a:r>
              <a:rPr sz="4650" spc="-25" dirty="0">
                <a:solidFill>
                  <a:srgbClr val="383682"/>
                </a:solidFill>
                <a:latin typeface="Arial"/>
                <a:cs typeface="Arial"/>
              </a:rPr>
              <a:t>(1)</a:t>
            </a:r>
            <a:endParaRPr sz="4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8929" y="1954087"/>
            <a:ext cx="7521575" cy="369697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530"/>
              </a:spcBef>
              <a:buClr>
                <a:srgbClr val="6767FD"/>
              </a:buClr>
              <a:buChar char="•"/>
              <a:tabLst>
                <a:tab pos="332105" algn="l"/>
              </a:tabLst>
            </a:pPr>
            <a:r>
              <a:rPr sz="3100" spc="-200" dirty="0">
                <a:latin typeface="Arial"/>
                <a:cs typeface="Arial"/>
              </a:rPr>
              <a:t>Example:</a:t>
            </a:r>
            <a:r>
              <a:rPr sz="3100" spc="25" dirty="0">
                <a:latin typeface="Arial"/>
                <a:cs typeface="Arial"/>
              </a:rPr>
              <a:t> </a:t>
            </a:r>
            <a:r>
              <a:rPr sz="3100" spc="-200" dirty="0">
                <a:latin typeface="Arial"/>
                <a:cs typeface="Arial"/>
              </a:rPr>
              <a:t>File</a:t>
            </a:r>
            <a:r>
              <a:rPr sz="3100" spc="-15" dirty="0">
                <a:latin typeface="Arial"/>
                <a:cs typeface="Arial"/>
              </a:rPr>
              <a:t> </a:t>
            </a:r>
            <a:r>
              <a:rPr sz="3100" spc="-204" dirty="0">
                <a:latin typeface="Arial"/>
                <a:cs typeface="Arial"/>
              </a:rPr>
              <a:t>Sharing</a:t>
            </a:r>
            <a:r>
              <a:rPr sz="3100" spc="-5" dirty="0">
                <a:latin typeface="Arial"/>
                <a:cs typeface="Arial"/>
              </a:rPr>
              <a:t> </a:t>
            </a:r>
            <a:r>
              <a:rPr sz="3100" spc="-45" dirty="0">
                <a:latin typeface="Arial"/>
                <a:cs typeface="Arial"/>
              </a:rPr>
              <a:t>(Freenet)</a:t>
            </a:r>
            <a:endParaRPr sz="3100">
              <a:latin typeface="Arial"/>
              <a:cs typeface="Arial"/>
            </a:endParaRPr>
          </a:p>
          <a:p>
            <a:pPr marL="735965" marR="444500" lvl="1" indent="-273685">
              <a:lnSpc>
                <a:spcPts val="2880"/>
              </a:lnSpc>
              <a:spcBef>
                <a:spcPts val="630"/>
              </a:spcBef>
              <a:buClr>
                <a:srgbClr val="FF1C1C"/>
              </a:buClr>
              <a:buChar char="•"/>
              <a:tabLst>
                <a:tab pos="735965" algn="l"/>
              </a:tabLst>
            </a:pPr>
            <a:r>
              <a:rPr sz="2550" spc="100" dirty="0">
                <a:latin typeface="Arial"/>
                <a:cs typeface="Arial"/>
              </a:rPr>
              <a:t>What</a:t>
            </a:r>
            <a:r>
              <a:rPr sz="2550" spc="-85" dirty="0">
                <a:latin typeface="Arial"/>
                <a:cs typeface="Arial"/>
              </a:rPr>
              <a:t> </a:t>
            </a:r>
            <a:r>
              <a:rPr sz="2550" spc="60" dirty="0">
                <a:latin typeface="Arial"/>
                <a:cs typeface="Arial"/>
              </a:rPr>
              <a:t>is</a:t>
            </a:r>
            <a:r>
              <a:rPr sz="2550" spc="-85" dirty="0">
                <a:latin typeface="Arial"/>
                <a:cs typeface="Arial"/>
              </a:rPr>
              <a:t> </a:t>
            </a:r>
            <a:r>
              <a:rPr sz="2550" dirty="0">
                <a:latin typeface="Arial"/>
                <a:cs typeface="Arial"/>
              </a:rPr>
              <a:t>it:</a:t>
            </a:r>
            <a:r>
              <a:rPr sz="2550" spc="400" dirty="0">
                <a:latin typeface="Arial"/>
                <a:cs typeface="Arial"/>
              </a:rPr>
              <a:t> </a:t>
            </a:r>
            <a:r>
              <a:rPr sz="2550" spc="-95" dirty="0">
                <a:latin typeface="Arial"/>
                <a:cs typeface="Arial"/>
              </a:rPr>
              <a:t>Simply</a:t>
            </a:r>
            <a:r>
              <a:rPr sz="2550" spc="125" dirty="0">
                <a:latin typeface="Arial"/>
                <a:cs typeface="Arial"/>
              </a:rPr>
              <a:t> </a:t>
            </a:r>
            <a:r>
              <a:rPr sz="2550" spc="-85" dirty="0">
                <a:latin typeface="Arial"/>
                <a:cs typeface="Arial"/>
              </a:rPr>
              <a:t>an</a:t>
            </a:r>
            <a:r>
              <a:rPr sz="2550" spc="-60" dirty="0">
                <a:latin typeface="Arial"/>
                <a:cs typeface="Arial"/>
              </a:rPr>
              <a:t> </a:t>
            </a:r>
            <a:r>
              <a:rPr sz="2550" spc="-95" dirty="0">
                <a:latin typeface="Arial"/>
                <a:cs typeface="Arial"/>
              </a:rPr>
              <a:t>area</a:t>
            </a:r>
            <a:r>
              <a:rPr sz="2550" spc="90" dirty="0">
                <a:latin typeface="Arial"/>
                <a:cs typeface="Arial"/>
              </a:rPr>
              <a:t> </a:t>
            </a:r>
            <a:r>
              <a:rPr sz="2550" dirty="0">
                <a:latin typeface="Arial"/>
                <a:cs typeface="Arial"/>
              </a:rPr>
              <a:t>to</a:t>
            </a:r>
            <a:r>
              <a:rPr sz="2550" spc="-10" dirty="0">
                <a:latin typeface="Arial"/>
                <a:cs typeface="Arial"/>
              </a:rPr>
              <a:t> </a:t>
            </a:r>
            <a:r>
              <a:rPr sz="2550" spc="-70" dirty="0">
                <a:latin typeface="Arial"/>
                <a:cs typeface="Arial"/>
              </a:rPr>
              <a:t>store</a:t>
            </a:r>
            <a:r>
              <a:rPr sz="2550" spc="10" dirty="0">
                <a:latin typeface="Arial"/>
                <a:cs typeface="Arial"/>
              </a:rPr>
              <a:t> </a:t>
            </a:r>
            <a:r>
              <a:rPr sz="2550" spc="-105" dirty="0">
                <a:latin typeface="Arial"/>
                <a:cs typeface="Arial"/>
              </a:rPr>
              <a:t>documents </a:t>
            </a:r>
            <a:r>
              <a:rPr sz="2550" spc="-50" dirty="0">
                <a:latin typeface="Arial"/>
                <a:cs typeface="Arial"/>
              </a:rPr>
              <a:t>and</a:t>
            </a:r>
            <a:r>
              <a:rPr sz="2550" spc="-90" dirty="0">
                <a:latin typeface="Arial"/>
                <a:cs typeface="Arial"/>
              </a:rPr>
              <a:t> </a:t>
            </a:r>
            <a:r>
              <a:rPr sz="2550" spc="-60" dirty="0">
                <a:latin typeface="Arial"/>
                <a:cs typeface="Arial"/>
              </a:rPr>
              <a:t>allow</a:t>
            </a:r>
            <a:r>
              <a:rPr sz="2550" spc="-5" dirty="0">
                <a:latin typeface="Arial"/>
                <a:cs typeface="Arial"/>
              </a:rPr>
              <a:t> </a:t>
            </a:r>
            <a:r>
              <a:rPr sz="2550" spc="-60" dirty="0">
                <a:latin typeface="Arial"/>
                <a:cs typeface="Arial"/>
              </a:rPr>
              <a:t>others </a:t>
            </a:r>
            <a:r>
              <a:rPr sz="2550" dirty="0">
                <a:latin typeface="Arial"/>
                <a:cs typeface="Arial"/>
              </a:rPr>
              <a:t>to</a:t>
            </a:r>
            <a:r>
              <a:rPr sz="2550" spc="-180" dirty="0">
                <a:latin typeface="Arial"/>
                <a:cs typeface="Arial"/>
              </a:rPr>
              <a:t> </a:t>
            </a:r>
            <a:r>
              <a:rPr sz="2550" spc="-50" dirty="0">
                <a:latin typeface="Arial"/>
                <a:cs typeface="Arial"/>
              </a:rPr>
              <a:t>retrieve</a:t>
            </a:r>
            <a:r>
              <a:rPr sz="2550" spc="-85" dirty="0">
                <a:latin typeface="Arial"/>
                <a:cs typeface="Arial"/>
              </a:rPr>
              <a:t> </a:t>
            </a:r>
            <a:r>
              <a:rPr sz="2550" spc="-10" dirty="0">
                <a:latin typeface="Arial"/>
                <a:cs typeface="Arial"/>
              </a:rPr>
              <a:t>them.</a:t>
            </a:r>
            <a:endParaRPr sz="2550">
              <a:latin typeface="Arial"/>
              <a:cs typeface="Arial"/>
            </a:endParaRPr>
          </a:p>
          <a:p>
            <a:pPr marL="725805" marR="269240" lvl="1" indent="-280670">
              <a:lnSpc>
                <a:spcPts val="2880"/>
              </a:lnSpc>
              <a:spcBef>
                <a:spcPts val="565"/>
              </a:spcBef>
              <a:buClr>
                <a:srgbClr val="F20803"/>
              </a:buClr>
              <a:buChar char="•"/>
              <a:tabLst>
                <a:tab pos="729615" algn="l"/>
              </a:tabLst>
            </a:pPr>
            <a:r>
              <a:rPr sz="2850" dirty="0">
                <a:latin typeface="Calibri"/>
                <a:cs typeface="Calibri"/>
              </a:rPr>
              <a:t>Benefit:</a:t>
            </a:r>
            <a:r>
              <a:rPr sz="2850" spc="90" dirty="0">
                <a:latin typeface="Calibri"/>
                <a:cs typeface="Calibri"/>
              </a:rPr>
              <a:t> </a:t>
            </a:r>
            <a:r>
              <a:rPr sz="2850" spc="-125" dirty="0">
                <a:latin typeface="Calibri"/>
                <a:cs typeface="Calibri"/>
              </a:rPr>
              <a:t>Allows</a:t>
            </a:r>
            <a:r>
              <a:rPr sz="2850" spc="95" dirty="0">
                <a:latin typeface="Calibri"/>
                <a:cs typeface="Calibri"/>
              </a:rPr>
              <a:t> </a:t>
            </a:r>
            <a:r>
              <a:rPr sz="2850" spc="-220" dirty="0">
                <a:latin typeface="Calibri"/>
                <a:cs typeface="Calibri"/>
              </a:rPr>
              <a:t>two</a:t>
            </a:r>
            <a:r>
              <a:rPr sz="2850" spc="55" dirty="0">
                <a:latin typeface="Calibri"/>
                <a:cs typeface="Calibri"/>
              </a:rPr>
              <a:t> </a:t>
            </a:r>
            <a:r>
              <a:rPr sz="2850" spc="-50" dirty="0">
                <a:latin typeface="Calibri"/>
                <a:cs typeface="Calibri"/>
              </a:rPr>
              <a:t>or</a:t>
            </a:r>
            <a:r>
              <a:rPr sz="2850" spc="-15" dirty="0">
                <a:latin typeface="Calibri"/>
                <a:cs typeface="Calibri"/>
              </a:rPr>
              <a:t> </a:t>
            </a:r>
            <a:r>
              <a:rPr sz="2850" spc="-165" dirty="0">
                <a:latin typeface="Calibri"/>
                <a:cs typeface="Calibri"/>
              </a:rPr>
              <a:t>more</a:t>
            </a:r>
            <a:r>
              <a:rPr sz="2850" spc="75" dirty="0">
                <a:latin typeface="Calibri"/>
                <a:cs typeface="Calibri"/>
              </a:rPr>
              <a:t> </a:t>
            </a:r>
            <a:r>
              <a:rPr sz="2850" spc="-150" dirty="0">
                <a:latin typeface="Calibri"/>
                <a:cs typeface="Calibri"/>
              </a:rPr>
              <a:t>people</a:t>
            </a:r>
            <a:r>
              <a:rPr sz="2850" spc="85" dirty="0">
                <a:latin typeface="Calibri"/>
                <a:cs typeface="Calibri"/>
              </a:rPr>
              <a:t> </a:t>
            </a:r>
            <a:r>
              <a:rPr sz="2850" spc="-60" dirty="0">
                <a:latin typeface="Calibri"/>
                <a:cs typeface="Calibri"/>
              </a:rPr>
              <a:t>to</a:t>
            </a:r>
            <a:r>
              <a:rPr sz="2850" spc="20" dirty="0">
                <a:latin typeface="Calibri"/>
                <a:cs typeface="Calibri"/>
              </a:rPr>
              <a:t> </a:t>
            </a:r>
            <a:r>
              <a:rPr sz="2850" spc="-10" dirty="0">
                <a:latin typeface="Calibri"/>
                <a:cs typeface="Calibri"/>
              </a:rPr>
              <a:t>share 	</a:t>
            </a:r>
            <a:r>
              <a:rPr sz="2850" spc="-125" dirty="0">
                <a:latin typeface="Calibri"/>
                <a:cs typeface="Calibri"/>
              </a:rPr>
              <a:t>products</a:t>
            </a:r>
            <a:r>
              <a:rPr sz="2850" spc="-35" dirty="0">
                <a:latin typeface="Calibri"/>
                <a:cs typeface="Calibri"/>
              </a:rPr>
              <a:t> </a:t>
            </a:r>
            <a:r>
              <a:rPr sz="2850" spc="-275" dirty="0">
                <a:latin typeface="Calibri"/>
                <a:cs typeface="Calibri"/>
              </a:rPr>
              <a:t>/</a:t>
            </a:r>
            <a:r>
              <a:rPr sz="2850" spc="110" dirty="0">
                <a:latin typeface="Calibri"/>
                <a:cs typeface="Calibri"/>
              </a:rPr>
              <a:t> </a:t>
            </a:r>
            <a:r>
              <a:rPr sz="2850" spc="-80" dirty="0">
                <a:latin typeface="Calibri"/>
                <a:cs typeface="Calibri"/>
              </a:rPr>
              <a:t>services</a:t>
            </a:r>
            <a:r>
              <a:rPr sz="2850" spc="-10" dirty="0">
                <a:latin typeface="Calibri"/>
                <a:cs typeface="Calibri"/>
              </a:rPr>
              <a:t> </a:t>
            </a:r>
            <a:r>
              <a:rPr sz="2850" spc="-170" dirty="0">
                <a:latin typeface="Calibri"/>
                <a:cs typeface="Calibri"/>
              </a:rPr>
              <a:t>without</a:t>
            </a:r>
            <a:r>
              <a:rPr sz="2850" spc="15" dirty="0">
                <a:latin typeface="Calibri"/>
                <a:cs typeface="Calibri"/>
              </a:rPr>
              <a:t> </a:t>
            </a:r>
            <a:r>
              <a:rPr sz="2850" spc="-90" dirty="0">
                <a:latin typeface="Calibri"/>
                <a:cs typeface="Calibri"/>
              </a:rPr>
              <a:t>the</a:t>
            </a:r>
            <a:r>
              <a:rPr sz="2850" spc="-65" dirty="0">
                <a:latin typeface="Calibri"/>
                <a:cs typeface="Calibri"/>
              </a:rPr>
              <a:t> </a:t>
            </a:r>
            <a:r>
              <a:rPr sz="2850" spc="-165" dirty="0">
                <a:latin typeface="Calibri"/>
                <a:cs typeface="Calibri"/>
              </a:rPr>
              <a:t>burden</a:t>
            </a:r>
            <a:r>
              <a:rPr sz="2850" spc="75" dirty="0">
                <a:latin typeface="Calibri"/>
                <a:cs typeface="Calibri"/>
              </a:rPr>
              <a:t> </a:t>
            </a:r>
            <a:r>
              <a:rPr sz="2850" spc="-95" dirty="0">
                <a:latin typeface="Calibri"/>
                <a:cs typeface="Calibri"/>
              </a:rPr>
              <a:t>of</a:t>
            </a:r>
            <a:r>
              <a:rPr sz="2850" spc="-70" dirty="0">
                <a:latin typeface="Calibri"/>
                <a:cs typeface="Calibri"/>
              </a:rPr>
              <a:t> </a:t>
            </a:r>
            <a:r>
              <a:rPr sz="2850" spc="-114" dirty="0">
                <a:latin typeface="Calibri"/>
                <a:cs typeface="Calibri"/>
              </a:rPr>
              <a:t>having 	</a:t>
            </a:r>
            <a:r>
              <a:rPr sz="2850" spc="-100" dirty="0">
                <a:latin typeface="Calibri"/>
                <a:cs typeface="Calibri"/>
              </a:rPr>
              <a:t>filters</a:t>
            </a:r>
            <a:r>
              <a:rPr sz="2850" spc="-60" dirty="0">
                <a:latin typeface="Calibri"/>
                <a:cs typeface="Calibri"/>
              </a:rPr>
              <a:t> </a:t>
            </a:r>
            <a:r>
              <a:rPr sz="2850" spc="-105" dirty="0">
                <a:latin typeface="Calibri"/>
                <a:cs typeface="Calibri"/>
              </a:rPr>
              <a:t>and</a:t>
            </a:r>
            <a:r>
              <a:rPr sz="2850" spc="-60" dirty="0">
                <a:latin typeface="Calibri"/>
                <a:cs typeface="Calibri"/>
              </a:rPr>
              <a:t> </a:t>
            </a:r>
            <a:r>
              <a:rPr sz="2850" spc="-145" dirty="0">
                <a:latin typeface="Calibri"/>
                <a:cs typeface="Calibri"/>
              </a:rPr>
              <a:t>media</a:t>
            </a:r>
            <a:r>
              <a:rPr sz="2850" spc="-15" dirty="0">
                <a:latin typeface="Calibri"/>
                <a:cs typeface="Calibri"/>
              </a:rPr>
              <a:t> </a:t>
            </a:r>
            <a:r>
              <a:rPr sz="2850" spc="-135" dirty="0">
                <a:latin typeface="Calibri"/>
                <a:cs typeface="Calibri"/>
              </a:rPr>
              <a:t>control</a:t>
            </a:r>
            <a:r>
              <a:rPr sz="2850" spc="30" dirty="0">
                <a:latin typeface="Calibri"/>
                <a:cs typeface="Calibri"/>
              </a:rPr>
              <a:t> </a:t>
            </a:r>
            <a:r>
              <a:rPr sz="2850" spc="-114" dirty="0">
                <a:latin typeface="Calibri"/>
                <a:cs typeface="Calibri"/>
              </a:rPr>
              <a:t>over</a:t>
            </a:r>
            <a:r>
              <a:rPr sz="2850" spc="-30" dirty="0">
                <a:latin typeface="Calibri"/>
                <a:cs typeface="Calibri"/>
              </a:rPr>
              <a:t> </a:t>
            </a:r>
            <a:r>
              <a:rPr sz="2850" spc="-95" dirty="0">
                <a:latin typeface="Calibri"/>
                <a:cs typeface="Calibri"/>
              </a:rPr>
              <a:t>information.</a:t>
            </a:r>
            <a:endParaRPr sz="2850">
              <a:latin typeface="Calibri"/>
              <a:cs typeface="Calibri"/>
            </a:endParaRPr>
          </a:p>
          <a:p>
            <a:pPr marL="732155" marR="5080" lvl="1" indent="-269875" algn="just">
              <a:lnSpc>
                <a:spcPts val="2880"/>
              </a:lnSpc>
              <a:spcBef>
                <a:spcPts val="570"/>
              </a:spcBef>
              <a:buClr>
                <a:srgbClr val="F40A00"/>
              </a:buClr>
              <a:buChar char="•"/>
              <a:tabLst>
                <a:tab pos="733425" algn="l"/>
              </a:tabLst>
            </a:pPr>
            <a:r>
              <a:rPr sz="2550" spc="75" dirty="0">
                <a:latin typeface="Arial"/>
                <a:cs typeface="Arial"/>
              </a:rPr>
              <a:t>Drawback:</a:t>
            </a:r>
            <a:r>
              <a:rPr sz="2550" spc="-35" dirty="0">
                <a:latin typeface="Arial"/>
                <a:cs typeface="Arial"/>
              </a:rPr>
              <a:t> </a:t>
            </a:r>
            <a:r>
              <a:rPr sz="2550" spc="-125" dirty="0">
                <a:latin typeface="Arial"/>
                <a:cs typeface="Arial"/>
              </a:rPr>
              <a:t>Files</a:t>
            </a:r>
            <a:r>
              <a:rPr sz="2550" spc="-50" dirty="0">
                <a:latin typeface="Arial"/>
                <a:cs typeface="Arial"/>
              </a:rPr>
              <a:t> </a:t>
            </a:r>
            <a:r>
              <a:rPr sz="2550" dirty="0">
                <a:latin typeface="Arial"/>
                <a:cs typeface="Arial"/>
              </a:rPr>
              <a:t>that</a:t>
            </a:r>
            <a:r>
              <a:rPr sz="2550" spc="-50" dirty="0">
                <a:latin typeface="Arial"/>
                <a:cs typeface="Arial"/>
              </a:rPr>
              <a:t> are</a:t>
            </a:r>
            <a:r>
              <a:rPr sz="2550" spc="-65" dirty="0">
                <a:latin typeface="Arial"/>
                <a:cs typeface="Arial"/>
              </a:rPr>
              <a:t> </a:t>
            </a:r>
            <a:r>
              <a:rPr sz="2550" dirty="0">
                <a:latin typeface="Arial"/>
                <a:cs typeface="Arial"/>
              </a:rPr>
              <a:t>not</a:t>
            </a:r>
            <a:r>
              <a:rPr sz="2550" spc="-70" dirty="0">
                <a:latin typeface="Arial"/>
                <a:cs typeface="Arial"/>
              </a:rPr>
              <a:t> </a:t>
            </a:r>
            <a:r>
              <a:rPr sz="2550" spc="-65" dirty="0">
                <a:latin typeface="Arial"/>
                <a:cs typeface="Arial"/>
              </a:rPr>
              <a:t>popular</a:t>
            </a:r>
            <a:r>
              <a:rPr sz="2550" spc="50" dirty="0">
                <a:latin typeface="Arial"/>
                <a:cs typeface="Arial"/>
              </a:rPr>
              <a:t> </a:t>
            </a:r>
            <a:r>
              <a:rPr sz="2550" spc="-90" dirty="0">
                <a:latin typeface="Arial"/>
                <a:cs typeface="Arial"/>
              </a:rPr>
              <a:t>and</a:t>
            </a:r>
            <a:r>
              <a:rPr sz="2550" spc="-75" dirty="0">
                <a:latin typeface="Arial"/>
                <a:cs typeface="Arial"/>
              </a:rPr>
              <a:t> </a:t>
            </a:r>
            <a:r>
              <a:rPr sz="2550" spc="-50" dirty="0">
                <a:latin typeface="Arial"/>
                <a:cs typeface="Arial"/>
              </a:rPr>
              <a:t>are</a:t>
            </a:r>
            <a:r>
              <a:rPr sz="2550" spc="-65" dirty="0">
                <a:latin typeface="Arial"/>
                <a:cs typeface="Arial"/>
              </a:rPr>
              <a:t> </a:t>
            </a:r>
            <a:r>
              <a:rPr sz="2550" spc="-25" dirty="0">
                <a:latin typeface="Arial"/>
                <a:cs typeface="Arial"/>
              </a:rPr>
              <a:t>not 	</a:t>
            </a:r>
            <a:r>
              <a:rPr sz="2550" spc="-70" dirty="0">
                <a:latin typeface="Arial"/>
                <a:cs typeface="Arial"/>
              </a:rPr>
              <a:t>replicated</a:t>
            </a:r>
            <a:r>
              <a:rPr sz="2550" spc="-110" dirty="0">
                <a:latin typeface="Arial"/>
                <a:cs typeface="Arial"/>
              </a:rPr>
              <a:t> </a:t>
            </a:r>
            <a:r>
              <a:rPr sz="2550" spc="-10" dirty="0">
                <a:latin typeface="Arial"/>
                <a:cs typeface="Arial"/>
              </a:rPr>
              <a:t>often</a:t>
            </a:r>
            <a:r>
              <a:rPr sz="2550" spc="-170" dirty="0">
                <a:latin typeface="Arial"/>
                <a:cs typeface="Arial"/>
              </a:rPr>
              <a:t> </a:t>
            </a:r>
            <a:r>
              <a:rPr sz="2550" spc="-40" dirty="0">
                <a:latin typeface="Arial"/>
                <a:cs typeface="Arial"/>
              </a:rPr>
              <a:t>through</a:t>
            </a:r>
            <a:r>
              <a:rPr sz="2550" spc="-135" dirty="0">
                <a:latin typeface="Arial"/>
                <a:cs typeface="Arial"/>
              </a:rPr>
              <a:t> </a:t>
            </a:r>
            <a:r>
              <a:rPr sz="2550" dirty="0">
                <a:latin typeface="Arial"/>
                <a:cs typeface="Arial"/>
              </a:rPr>
              <a:t>the</a:t>
            </a:r>
            <a:r>
              <a:rPr sz="2550" spc="-180" dirty="0">
                <a:latin typeface="Arial"/>
                <a:cs typeface="Arial"/>
              </a:rPr>
              <a:t> </a:t>
            </a:r>
            <a:r>
              <a:rPr sz="2550" spc="-55" dirty="0">
                <a:latin typeface="Arial"/>
                <a:cs typeface="Arial"/>
              </a:rPr>
              <a:t>community</a:t>
            </a:r>
            <a:r>
              <a:rPr sz="2550" spc="15" dirty="0">
                <a:latin typeface="Arial"/>
                <a:cs typeface="Arial"/>
              </a:rPr>
              <a:t> </a:t>
            </a:r>
            <a:r>
              <a:rPr sz="2550" dirty="0">
                <a:latin typeface="Arial"/>
                <a:cs typeface="Arial"/>
              </a:rPr>
              <a:t>will</a:t>
            </a:r>
            <a:r>
              <a:rPr sz="2550" spc="-185" dirty="0">
                <a:latin typeface="Arial"/>
                <a:cs typeface="Arial"/>
              </a:rPr>
              <a:t> </a:t>
            </a:r>
            <a:r>
              <a:rPr sz="2550" spc="-40" dirty="0">
                <a:latin typeface="Arial"/>
                <a:cs typeface="Arial"/>
              </a:rPr>
              <a:t>cease 	</a:t>
            </a:r>
            <a:r>
              <a:rPr sz="2550" dirty="0">
                <a:latin typeface="Arial"/>
                <a:cs typeface="Arial"/>
              </a:rPr>
              <a:t>to</a:t>
            </a:r>
            <a:r>
              <a:rPr sz="2550" spc="-155" dirty="0">
                <a:latin typeface="Arial"/>
                <a:cs typeface="Arial"/>
              </a:rPr>
              <a:t> </a:t>
            </a:r>
            <a:r>
              <a:rPr sz="2550" spc="-50" dirty="0">
                <a:latin typeface="Arial"/>
                <a:cs typeface="Arial"/>
              </a:rPr>
              <a:t>exist</a:t>
            </a:r>
            <a:r>
              <a:rPr sz="2550" spc="-65" dirty="0">
                <a:latin typeface="Arial"/>
                <a:cs typeface="Arial"/>
              </a:rPr>
              <a:t> </a:t>
            </a:r>
            <a:r>
              <a:rPr sz="2550" dirty="0">
                <a:latin typeface="Arial"/>
                <a:cs typeface="Arial"/>
              </a:rPr>
              <a:t>on</a:t>
            </a:r>
            <a:r>
              <a:rPr sz="2550" spc="-85" dirty="0">
                <a:latin typeface="Arial"/>
                <a:cs typeface="Arial"/>
              </a:rPr>
              <a:t> </a:t>
            </a:r>
            <a:r>
              <a:rPr sz="2550" dirty="0">
                <a:latin typeface="Arial"/>
                <a:cs typeface="Arial"/>
              </a:rPr>
              <a:t>the</a:t>
            </a:r>
            <a:r>
              <a:rPr sz="2550" spc="-80" dirty="0">
                <a:latin typeface="Arial"/>
                <a:cs typeface="Arial"/>
              </a:rPr>
              <a:t> </a:t>
            </a:r>
            <a:r>
              <a:rPr sz="2550" spc="-10" dirty="0">
                <a:latin typeface="Arial"/>
                <a:cs typeface="Arial"/>
              </a:rPr>
              <a:t>network.</a:t>
            </a:r>
            <a:endParaRPr sz="2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116460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19100" y="441721"/>
            <a:ext cx="601345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180" dirty="0">
                <a:solidFill>
                  <a:srgbClr val="343482"/>
                </a:solidFill>
                <a:latin typeface="Arial"/>
                <a:cs typeface="Arial"/>
              </a:rPr>
              <a:t>Collaboration</a:t>
            </a:r>
            <a:r>
              <a:rPr sz="4300" spc="310" dirty="0">
                <a:solidFill>
                  <a:srgbClr val="343482"/>
                </a:solidFill>
                <a:latin typeface="Arial"/>
                <a:cs typeface="Arial"/>
              </a:rPr>
              <a:t> </a:t>
            </a:r>
            <a:r>
              <a:rPr sz="4300" spc="-280" dirty="0">
                <a:solidFill>
                  <a:srgbClr val="383680"/>
                </a:solidFill>
                <a:latin typeface="Arial"/>
                <a:cs typeface="Arial"/>
              </a:rPr>
              <a:t>Products</a:t>
            </a:r>
            <a:r>
              <a:rPr sz="4300" spc="150" dirty="0">
                <a:solidFill>
                  <a:srgbClr val="383680"/>
                </a:solidFill>
                <a:latin typeface="Arial"/>
                <a:cs typeface="Arial"/>
              </a:rPr>
              <a:t> </a:t>
            </a:r>
            <a:r>
              <a:rPr sz="4300" spc="-295" dirty="0">
                <a:solidFill>
                  <a:srgbClr val="3F388A"/>
                </a:solidFill>
                <a:latin typeface="Arial"/>
                <a:cs typeface="Arial"/>
              </a:rPr>
              <a:t>and</a:t>
            </a:r>
            <a:endParaRPr sz="4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2424" y="1073745"/>
            <a:ext cx="7552055" cy="494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spc="-135" dirty="0">
                <a:solidFill>
                  <a:srgbClr val="332F7C"/>
                </a:solidFill>
                <a:latin typeface="Arial"/>
                <a:cs typeface="Arial"/>
              </a:rPr>
              <a:t>Services</a:t>
            </a:r>
            <a:r>
              <a:rPr sz="4100" spc="-105" dirty="0">
                <a:solidFill>
                  <a:srgbClr val="332F7C"/>
                </a:solidFill>
                <a:latin typeface="Arial"/>
                <a:cs typeface="Arial"/>
              </a:rPr>
              <a:t> </a:t>
            </a:r>
            <a:r>
              <a:rPr sz="4100" spc="-25" dirty="0">
                <a:solidFill>
                  <a:srgbClr val="34337E"/>
                </a:solidFill>
                <a:latin typeface="Arial"/>
                <a:cs typeface="Arial"/>
              </a:rPr>
              <a:t>(1)</a:t>
            </a:r>
            <a:endParaRPr sz="4100">
              <a:latin typeface="Arial"/>
              <a:cs typeface="Arial"/>
            </a:endParaRPr>
          </a:p>
          <a:p>
            <a:pPr marL="386080" indent="-334010" algn="just">
              <a:lnSpc>
                <a:spcPct val="100000"/>
              </a:lnSpc>
              <a:spcBef>
                <a:spcPts val="2395"/>
              </a:spcBef>
              <a:buClr>
                <a:srgbClr val="6669FF"/>
              </a:buClr>
              <a:buChar char="•"/>
              <a:tabLst>
                <a:tab pos="386080" algn="l"/>
              </a:tabLst>
            </a:pPr>
            <a:r>
              <a:rPr sz="3150" dirty="0">
                <a:latin typeface="Calibri"/>
                <a:cs typeface="Calibri"/>
              </a:rPr>
              <a:t>Basic</a:t>
            </a:r>
            <a:r>
              <a:rPr sz="3150" spc="-105" dirty="0">
                <a:latin typeface="Calibri"/>
                <a:cs typeface="Calibri"/>
              </a:rPr>
              <a:t> </a:t>
            </a:r>
            <a:r>
              <a:rPr sz="3150" spc="-100" dirty="0">
                <a:latin typeface="Calibri"/>
                <a:cs typeface="Calibri"/>
              </a:rPr>
              <a:t>Collaboration</a:t>
            </a:r>
            <a:r>
              <a:rPr sz="3150" spc="190" dirty="0">
                <a:latin typeface="Calibri"/>
                <a:cs typeface="Calibri"/>
              </a:rPr>
              <a:t> </a:t>
            </a:r>
            <a:r>
              <a:rPr sz="3150" spc="-35" dirty="0">
                <a:latin typeface="Calibri"/>
                <a:cs typeface="Calibri"/>
              </a:rPr>
              <a:t>Services</a:t>
            </a:r>
            <a:r>
              <a:rPr sz="3150" spc="-50" dirty="0">
                <a:latin typeface="Calibri"/>
                <a:cs typeface="Calibri"/>
              </a:rPr>
              <a:t> </a:t>
            </a:r>
            <a:r>
              <a:rPr sz="3150" spc="-10" dirty="0">
                <a:latin typeface="Calibri"/>
                <a:cs typeface="Calibri"/>
              </a:rPr>
              <a:t>(Groove)</a:t>
            </a:r>
            <a:endParaRPr sz="3150">
              <a:latin typeface="Calibri"/>
              <a:cs typeface="Calibri"/>
            </a:endParaRPr>
          </a:p>
          <a:p>
            <a:pPr marL="784860" marR="5080" lvl="1" indent="-281305" algn="just">
              <a:lnSpc>
                <a:spcPct val="89000"/>
              </a:lnSpc>
              <a:spcBef>
                <a:spcPts val="575"/>
              </a:spcBef>
              <a:buClr>
                <a:srgbClr val="FF1C1C"/>
              </a:buClr>
              <a:buChar char="•"/>
              <a:tabLst>
                <a:tab pos="788670" algn="l"/>
              </a:tabLst>
            </a:pPr>
            <a:r>
              <a:rPr sz="2700" spc="114" dirty="0">
                <a:latin typeface="Calibri"/>
                <a:cs typeface="Calibri"/>
              </a:rPr>
              <a:t>What</a:t>
            </a:r>
            <a:r>
              <a:rPr sz="2700" spc="-105" dirty="0">
                <a:latin typeface="Calibri"/>
                <a:cs typeface="Calibri"/>
              </a:rPr>
              <a:t> </a:t>
            </a:r>
            <a:r>
              <a:rPr sz="2700" spc="60" dirty="0">
                <a:latin typeface="Calibri"/>
                <a:cs typeface="Calibri"/>
              </a:rPr>
              <a:t>is</a:t>
            </a:r>
            <a:r>
              <a:rPr sz="2700" spc="80" dirty="0">
                <a:latin typeface="Calibri"/>
                <a:cs typeface="Calibri"/>
              </a:rPr>
              <a:t> </a:t>
            </a:r>
            <a:r>
              <a:rPr sz="2700" spc="55" dirty="0">
                <a:latin typeface="Calibri"/>
                <a:cs typeface="Calibri"/>
              </a:rPr>
              <a:t>it:</a:t>
            </a:r>
            <a:r>
              <a:rPr sz="2700" spc="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spc="-60" dirty="0">
                <a:latin typeface="Calibri"/>
                <a:cs typeface="Calibri"/>
              </a:rPr>
              <a:t>collaborative</a:t>
            </a:r>
            <a:r>
              <a:rPr sz="2700" spc="180" dirty="0">
                <a:latin typeface="Calibri"/>
                <a:cs typeface="Calibri"/>
              </a:rPr>
              <a:t> </a:t>
            </a:r>
            <a:r>
              <a:rPr sz="2700" spc="-50" dirty="0">
                <a:latin typeface="Calibri"/>
                <a:cs typeface="Calibri"/>
              </a:rPr>
              <a:t>workspace</a:t>
            </a:r>
            <a:r>
              <a:rPr sz="2700" spc="150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that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allows 	</a:t>
            </a:r>
            <a:r>
              <a:rPr sz="2700" dirty="0">
                <a:latin typeface="Calibri"/>
                <a:cs typeface="Calibri"/>
              </a:rPr>
              <a:t>an</a:t>
            </a:r>
            <a:r>
              <a:rPr sz="2700" spc="-105" dirty="0">
                <a:latin typeface="Calibri"/>
                <a:cs typeface="Calibri"/>
              </a:rPr>
              <a:t> </a:t>
            </a:r>
            <a:r>
              <a:rPr sz="2700" spc="-55" dirty="0">
                <a:latin typeface="Calibri"/>
                <a:cs typeface="Calibri"/>
              </a:rPr>
              <a:t>individual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100" dirty="0">
                <a:latin typeface="Calibri"/>
                <a:cs typeface="Calibri"/>
              </a:rPr>
              <a:t> </a:t>
            </a:r>
            <a:r>
              <a:rPr sz="2700" spc="-40" dirty="0">
                <a:latin typeface="Calibri"/>
                <a:cs typeface="Calibri"/>
              </a:rPr>
              <a:t>create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P2P</a:t>
            </a:r>
            <a:r>
              <a:rPr sz="2700" spc="-1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space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spc="-45" dirty="0">
                <a:latin typeface="Calibri"/>
                <a:cs typeface="Calibri"/>
              </a:rPr>
              <a:t>allow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spc="-45" dirty="0">
                <a:latin typeface="Calibri"/>
                <a:cs typeface="Calibri"/>
              </a:rPr>
              <a:t>others 	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palicipate.</a:t>
            </a:r>
            <a:endParaRPr sz="2700">
              <a:latin typeface="Calibri"/>
              <a:cs typeface="Calibri"/>
            </a:endParaRPr>
          </a:p>
          <a:p>
            <a:pPr marL="783590" marR="56515" lvl="1" indent="-280035">
              <a:lnSpc>
                <a:spcPct val="89500"/>
              </a:lnSpc>
              <a:spcBef>
                <a:spcPts val="509"/>
              </a:spcBef>
              <a:buClr>
                <a:srgbClr val="F00700"/>
              </a:buClr>
              <a:buChar char="•"/>
              <a:tabLst>
                <a:tab pos="789305" algn="l"/>
              </a:tabLst>
            </a:pPr>
            <a:r>
              <a:rPr sz="2700" spc="90" dirty="0">
                <a:latin typeface="Calibri"/>
                <a:cs typeface="Calibri"/>
              </a:rPr>
              <a:t>Benefit:</a:t>
            </a:r>
            <a:r>
              <a:rPr sz="2700" spc="45" dirty="0">
                <a:latin typeface="Calibri"/>
                <a:cs typeface="Calibri"/>
              </a:rPr>
              <a:t> </a:t>
            </a:r>
            <a:r>
              <a:rPr sz="2700" spc="-60" dirty="0">
                <a:latin typeface="Calibri"/>
                <a:cs typeface="Calibri"/>
              </a:rPr>
              <a:t>Allows</a:t>
            </a:r>
            <a:r>
              <a:rPr sz="2700" dirty="0">
                <a:latin typeface="Calibri"/>
                <a:cs typeface="Calibri"/>
              </a:rPr>
              <a:t> users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45" dirty="0">
                <a:latin typeface="Calibri"/>
                <a:cs typeface="Calibri"/>
              </a:rPr>
              <a:t>create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spc="-50" dirty="0">
                <a:latin typeface="Calibri"/>
                <a:cs typeface="Calibri"/>
              </a:rPr>
              <a:t>instant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direct 	</a:t>
            </a:r>
            <a:r>
              <a:rPr sz="2700" spc="-50" dirty="0">
                <a:latin typeface="Calibri"/>
                <a:cs typeface="Calibri"/>
              </a:rPr>
              <a:t>online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spc="-70" dirty="0">
                <a:latin typeface="Calibri"/>
                <a:cs typeface="Calibri"/>
              </a:rPr>
              <a:t>connections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50" dirty="0">
                <a:latin typeface="Calibri"/>
                <a:cs typeface="Calibri"/>
              </a:rPr>
              <a:t>with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50" dirty="0">
                <a:latin typeface="Calibri"/>
                <a:cs typeface="Calibri"/>
              </a:rPr>
              <a:t>others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13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share</a:t>
            </a:r>
            <a:r>
              <a:rPr sz="2700" spc="-10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and 	</a:t>
            </a:r>
            <a:r>
              <a:rPr sz="2700" spc="-20" dirty="0">
                <a:latin typeface="Calibri"/>
                <a:cs typeface="Calibri"/>
              </a:rPr>
              <a:t>collaborate.</a:t>
            </a:r>
            <a:endParaRPr sz="2700">
              <a:latin typeface="Calibri"/>
              <a:cs typeface="Calibri"/>
            </a:endParaRPr>
          </a:p>
          <a:p>
            <a:pPr marL="788035" marR="225425" lvl="1" indent="-269240" algn="just">
              <a:lnSpc>
                <a:spcPct val="94800"/>
              </a:lnSpc>
              <a:spcBef>
                <a:spcPts val="515"/>
              </a:spcBef>
              <a:buClr>
                <a:srgbClr val="F61303"/>
              </a:buClr>
              <a:buChar char="•"/>
              <a:tabLst>
                <a:tab pos="791845" algn="l"/>
              </a:tabLst>
            </a:pPr>
            <a:r>
              <a:rPr sz="2550" spc="75" dirty="0">
                <a:latin typeface="Arial"/>
                <a:cs typeface="Arial"/>
              </a:rPr>
              <a:t>Drawback:</a:t>
            </a:r>
            <a:r>
              <a:rPr sz="2550" spc="-60" dirty="0">
                <a:latin typeface="Arial"/>
                <a:cs typeface="Arial"/>
              </a:rPr>
              <a:t> </a:t>
            </a:r>
            <a:r>
              <a:rPr sz="2550" dirty="0">
                <a:latin typeface="Arial"/>
                <a:cs typeface="Arial"/>
              </a:rPr>
              <a:t>It</a:t>
            </a:r>
            <a:r>
              <a:rPr sz="2550" spc="140" dirty="0">
                <a:latin typeface="Arial"/>
                <a:cs typeface="Arial"/>
              </a:rPr>
              <a:t> </a:t>
            </a:r>
            <a:r>
              <a:rPr sz="2550" dirty="0">
                <a:latin typeface="Arial"/>
                <a:cs typeface="Arial"/>
              </a:rPr>
              <a:t>is</a:t>
            </a:r>
            <a:r>
              <a:rPr sz="2550" spc="-114" dirty="0">
                <a:latin typeface="Arial"/>
                <a:cs typeface="Arial"/>
              </a:rPr>
              <a:t> </a:t>
            </a:r>
            <a:r>
              <a:rPr sz="2550" dirty="0">
                <a:latin typeface="Arial"/>
                <a:cs typeface="Arial"/>
              </a:rPr>
              <a:t>a</a:t>
            </a:r>
            <a:r>
              <a:rPr sz="2550" spc="-15" dirty="0">
                <a:latin typeface="Arial"/>
                <a:cs typeface="Arial"/>
              </a:rPr>
              <a:t> </a:t>
            </a:r>
            <a:r>
              <a:rPr sz="2550" spc="-55" dirty="0">
                <a:latin typeface="Arial"/>
                <a:cs typeface="Arial"/>
              </a:rPr>
              <a:t>very</a:t>
            </a:r>
            <a:r>
              <a:rPr sz="2550" spc="-30" dirty="0">
                <a:latin typeface="Arial"/>
                <a:cs typeface="Arial"/>
              </a:rPr>
              <a:t> </a:t>
            </a:r>
            <a:r>
              <a:rPr sz="2550" spc="-75" dirty="0">
                <a:latin typeface="Arial"/>
                <a:cs typeface="Arial"/>
              </a:rPr>
              <a:t>ambitious</a:t>
            </a:r>
            <a:r>
              <a:rPr sz="2550" spc="20" dirty="0">
                <a:latin typeface="Arial"/>
                <a:cs typeface="Arial"/>
              </a:rPr>
              <a:t> </a:t>
            </a:r>
            <a:r>
              <a:rPr sz="2550" spc="-30" dirty="0">
                <a:latin typeface="Arial"/>
                <a:cs typeface="Arial"/>
              </a:rPr>
              <a:t>project</a:t>
            </a:r>
            <a:r>
              <a:rPr sz="2550" spc="10" dirty="0">
                <a:latin typeface="Arial"/>
                <a:cs typeface="Arial"/>
              </a:rPr>
              <a:t> </a:t>
            </a:r>
            <a:r>
              <a:rPr sz="2550" dirty="0">
                <a:latin typeface="Arial"/>
                <a:cs typeface="Arial"/>
              </a:rPr>
              <a:t>that</a:t>
            </a:r>
            <a:r>
              <a:rPr sz="2550" spc="-90" dirty="0">
                <a:latin typeface="Arial"/>
                <a:cs typeface="Arial"/>
              </a:rPr>
              <a:t> </a:t>
            </a:r>
            <a:r>
              <a:rPr sz="2550" spc="-25" dirty="0">
                <a:latin typeface="Arial"/>
                <a:cs typeface="Arial"/>
              </a:rPr>
              <a:t>is 	</a:t>
            </a:r>
            <a:r>
              <a:rPr sz="2550" dirty="0">
                <a:latin typeface="Arial"/>
                <a:cs typeface="Arial"/>
              </a:rPr>
              <a:t>not</a:t>
            </a:r>
            <a:r>
              <a:rPr sz="2550" spc="-180" dirty="0">
                <a:latin typeface="Arial"/>
                <a:cs typeface="Arial"/>
              </a:rPr>
              <a:t> </a:t>
            </a:r>
            <a:r>
              <a:rPr sz="2550" spc="-80" dirty="0">
                <a:latin typeface="Arial"/>
                <a:cs typeface="Arial"/>
              </a:rPr>
              <a:t>complete.</a:t>
            </a:r>
            <a:r>
              <a:rPr sz="2550" spc="-70" dirty="0">
                <a:latin typeface="Arial"/>
                <a:cs typeface="Arial"/>
              </a:rPr>
              <a:t> </a:t>
            </a:r>
            <a:r>
              <a:rPr sz="2550" spc="-80" dirty="0">
                <a:latin typeface="Arial"/>
                <a:cs typeface="Arial"/>
              </a:rPr>
              <a:t>There</a:t>
            </a:r>
            <a:r>
              <a:rPr sz="2550" spc="-105" dirty="0">
                <a:latin typeface="Arial"/>
                <a:cs typeface="Arial"/>
              </a:rPr>
              <a:t> </a:t>
            </a:r>
            <a:r>
              <a:rPr sz="2550" dirty="0">
                <a:latin typeface="Arial"/>
                <a:cs typeface="Arial"/>
              </a:rPr>
              <a:t>is</a:t>
            </a:r>
            <a:r>
              <a:rPr sz="2550" spc="-80" dirty="0">
                <a:latin typeface="Arial"/>
                <a:cs typeface="Arial"/>
              </a:rPr>
              <a:t> </a:t>
            </a:r>
            <a:r>
              <a:rPr sz="2550" spc="-300" dirty="0">
                <a:latin typeface="Arial"/>
                <a:cs typeface="Arial"/>
              </a:rPr>
              <a:t>a</a:t>
            </a:r>
            <a:r>
              <a:rPr sz="2550" spc="120" dirty="0">
                <a:latin typeface="Arial"/>
                <a:cs typeface="Arial"/>
              </a:rPr>
              <a:t> </a:t>
            </a:r>
            <a:r>
              <a:rPr sz="2550" spc="-105" dirty="0">
                <a:latin typeface="Arial"/>
                <a:cs typeface="Arial"/>
              </a:rPr>
              <a:t>range</a:t>
            </a:r>
            <a:r>
              <a:rPr sz="2550" spc="-75" dirty="0">
                <a:latin typeface="Arial"/>
                <a:cs typeface="Arial"/>
              </a:rPr>
              <a:t> </a:t>
            </a:r>
            <a:r>
              <a:rPr sz="2550" dirty="0">
                <a:latin typeface="Arial"/>
                <a:cs typeface="Arial"/>
              </a:rPr>
              <a:t>of</a:t>
            </a:r>
            <a:r>
              <a:rPr sz="2550" spc="-80" dirty="0">
                <a:latin typeface="Arial"/>
                <a:cs typeface="Arial"/>
              </a:rPr>
              <a:t> </a:t>
            </a:r>
            <a:r>
              <a:rPr sz="2550" spc="-60" dirty="0">
                <a:latin typeface="Arial"/>
                <a:cs typeface="Arial"/>
              </a:rPr>
              <a:t>possibility</a:t>
            </a:r>
            <a:r>
              <a:rPr sz="2550" spc="120" dirty="0">
                <a:latin typeface="Arial"/>
                <a:cs typeface="Arial"/>
              </a:rPr>
              <a:t> </a:t>
            </a:r>
            <a:r>
              <a:rPr sz="2550" spc="-20" dirty="0">
                <a:latin typeface="Arial"/>
                <a:cs typeface="Arial"/>
              </a:rPr>
              <a:t>that 	</a:t>
            </a:r>
            <a:r>
              <a:rPr sz="2550" spc="-120" dirty="0">
                <a:latin typeface="Arial"/>
                <a:cs typeface="Arial"/>
              </a:rPr>
              <a:t>has</a:t>
            </a:r>
            <a:r>
              <a:rPr sz="2550" spc="-60" dirty="0">
                <a:latin typeface="Arial"/>
                <a:cs typeface="Arial"/>
              </a:rPr>
              <a:t> </a:t>
            </a:r>
            <a:r>
              <a:rPr sz="2550" dirty="0">
                <a:latin typeface="Arial"/>
                <a:cs typeface="Arial"/>
              </a:rPr>
              <a:t>not</a:t>
            </a:r>
            <a:r>
              <a:rPr sz="2550" spc="-150" dirty="0">
                <a:latin typeface="Arial"/>
                <a:cs typeface="Arial"/>
              </a:rPr>
              <a:t> </a:t>
            </a:r>
            <a:r>
              <a:rPr sz="2550" spc="-110" dirty="0">
                <a:latin typeface="Arial"/>
                <a:cs typeface="Arial"/>
              </a:rPr>
              <a:t>been</a:t>
            </a:r>
            <a:r>
              <a:rPr sz="2550" spc="-65" dirty="0">
                <a:latin typeface="Arial"/>
                <a:cs typeface="Arial"/>
              </a:rPr>
              <a:t> </a:t>
            </a:r>
            <a:r>
              <a:rPr sz="2550" spc="-80" dirty="0">
                <a:latin typeface="Arial"/>
                <a:cs typeface="Arial"/>
              </a:rPr>
              <a:t>explored</a:t>
            </a:r>
            <a:r>
              <a:rPr sz="2550" spc="-40" dirty="0">
                <a:latin typeface="Arial"/>
                <a:cs typeface="Arial"/>
              </a:rPr>
              <a:t> </a:t>
            </a:r>
            <a:r>
              <a:rPr sz="2550" dirty="0">
                <a:latin typeface="Arial"/>
                <a:cs typeface="Arial"/>
              </a:rPr>
              <a:t>yet</a:t>
            </a:r>
            <a:r>
              <a:rPr sz="2550" spc="-105" dirty="0">
                <a:latin typeface="Arial"/>
                <a:cs typeface="Arial"/>
              </a:rPr>
              <a:t> </a:t>
            </a:r>
            <a:r>
              <a:rPr sz="2550" dirty="0">
                <a:latin typeface="Arial"/>
                <a:cs typeface="Arial"/>
              </a:rPr>
              <a:t>by</a:t>
            </a:r>
            <a:r>
              <a:rPr sz="2550" spc="-110" dirty="0">
                <a:latin typeface="Arial"/>
                <a:cs typeface="Arial"/>
              </a:rPr>
              <a:t> </a:t>
            </a:r>
            <a:r>
              <a:rPr sz="2550" spc="-35" dirty="0">
                <a:latin typeface="Arial"/>
                <a:cs typeface="Arial"/>
              </a:rPr>
              <a:t>developers.</a:t>
            </a:r>
            <a:endParaRPr sz="2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80741" cy="105370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66741" y="1169789"/>
            <a:ext cx="491132" cy="43755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214834" y="990401"/>
            <a:ext cx="5705475" cy="739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792980" algn="l"/>
              </a:tabLst>
            </a:pPr>
            <a:r>
              <a:rPr sz="4650" spc="-229" dirty="0">
                <a:solidFill>
                  <a:srgbClr val="383487"/>
                </a:solidFill>
                <a:latin typeface="Arial"/>
                <a:cs typeface="Arial"/>
              </a:rPr>
              <a:t>The</a:t>
            </a:r>
            <a:r>
              <a:rPr sz="4650" spc="-85" dirty="0">
                <a:solidFill>
                  <a:srgbClr val="383487"/>
                </a:solidFill>
                <a:latin typeface="Arial"/>
                <a:cs typeface="Arial"/>
              </a:rPr>
              <a:t> </a:t>
            </a:r>
            <a:r>
              <a:rPr sz="4650" spc="-10" dirty="0">
                <a:solidFill>
                  <a:srgbClr val="2F319E"/>
                </a:solidFill>
                <a:latin typeface="Arial"/>
                <a:cs typeface="Arial"/>
              </a:rPr>
              <a:t>Importance</a:t>
            </a:r>
            <a:r>
              <a:rPr sz="4650" dirty="0">
                <a:solidFill>
                  <a:srgbClr val="2F319E"/>
                </a:solidFill>
                <a:latin typeface="Arial"/>
                <a:cs typeface="Arial"/>
              </a:rPr>
              <a:t>	</a:t>
            </a:r>
            <a:r>
              <a:rPr sz="4650" spc="-620" dirty="0">
                <a:solidFill>
                  <a:srgbClr val="383490"/>
                </a:solidFill>
                <a:latin typeface="Arial"/>
                <a:cs typeface="Arial"/>
              </a:rPr>
              <a:t>P2P</a:t>
            </a:r>
            <a:endParaRPr sz="4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3915" y="2024012"/>
            <a:ext cx="7360920" cy="396240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23850" marR="5080" indent="-309245">
              <a:lnSpc>
                <a:spcPts val="3829"/>
              </a:lnSpc>
              <a:spcBef>
                <a:spcPts val="405"/>
              </a:spcBef>
              <a:buClr>
                <a:srgbClr val="3433CD"/>
              </a:buClr>
              <a:buChar char="•"/>
              <a:tabLst>
                <a:tab pos="325120" algn="l"/>
              </a:tabLst>
            </a:pPr>
            <a:r>
              <a:rPr sz="3350" spc="-385" dirty="0">
                <a:latin typeface="Arial"/>
                <a:cs typeface="Arial"/>
              </a:rPr>
              <a:t>P2P</a:t>
            </a:r>
            <a:r>
              <a:rPr sz="3350" spc="114" dirty="0">
                <a:latin typeface="Arial"/>
                <a:cs typeface="Arial"/>
              </a:rPr>
              <a:t> </a:t>
            </a:r>
            <a:r>
              <a:rPr sz="3350" spc="-114" dirty="0">
                <a:latin typeface="Arial"/>
                <a:cs typeface="Arial"/>
              </a:rPr>
              <a:t>oPers</a:t>
            </a:r>
            <a:r>
              <a:rPr sz="3350" spc="-120" dirty="0">
                <a:latin typeface="Arial"/>
                <a:cs typeface="Arial"/>
              </a:rPr>
              <a:t> </a:t>
            </a:r>
            <a:r>
              <a:rPr sz="3350" dirty="0">
                <a:latin typeface="Arial"/>
                <a:cs typeface="Arial"/>
              </a:rPr>
              <a:t>the</a:t>
            </a:r>
            <a:r>
              <a:rPr sz="3350" spc="-229" dirty="0">
                <a:latin typeface="Arial"/>
                <a:cs typeface="Arial"/>
              </a:rPr>
              <a:t> </a:t>
            </a:r>
            <a:r>
              <a:rPr sz="3350" spc="-45" dirty="0">
                <a:latin typeface="Arial"/>
                <a:cs typeface="Arial"/>
              </a:rPr>
              <a:t>information</a:t>
            </a:r>
            <a:r>
              <a:rPr sz="3350" spc="75" dirty="0">
                <a:latin typeface="Arial"/>
                <a:cs typeface="Arial"/>
              </a:rPr>
              <a:t> </a:t>
            </a:r>
            <a:r>
              <a:rPr sz="3350" spc="-65" dirty="0">
                <a:latin typeface="Arial"/>
                <a:cs typeface="Arial"/>
              </a:rPr>
              <a:t>and</a:t>
            </a:r>
            <a:r>
              <a:rPr sz="3350" spc="-110" dirty="0">
                <a:latin typeface="Arial"/>
                <a:cs typeface="Arial"/>
              </a:rPr>
              <a:t> </a:t>
            </a:r>
            <a:r>
              <a:rPr sz="3350" spc="-114" dirty="0">
                <a:latin typeface="Arial"/>
                <a:cs typeface="Arial"/>
              </a:rPr>
              <a:t>services 	</a:t>
            </a:r>
            <a:r>
              <a:rPr sz="3350" dirty="0">
                <a:latin typeface="Arial"/>
                <a:cs typeface="Arial"/>
              </a:rPr>
              <a:t>that</a:t>
            </a:r>
            <a:r>
              <a:rPr sz="3350" spc="-55" dirty="0">
                <a:latin typeface="Arial"/>
                <a:cs typeface="Arial"/>
              </a:rPr>
              <a:t> </a:t>
            </a:r>
            <a:r>
              <a:rPr sz="3350" spc="-35" dirty="0">
                <a:latin typeface="Arial"/>
                <a:cs typeface="Arial"/>
              </a:rPr>
              <a:t>are</a:t>
            </a:r>
            <a:r>
              <a:rPr sz="3350" spc="-55" dirty="0">
                <a:latin typeface="Arial"/>
                <a:cs typeface="Arial"/>
              </a:rPr>
              <a:t> </a:t>
            </a:r>
            <a:r>
              <a:rPr sz="3350" spc="-75" dirty="0">
                <a:latin typeface="Arial"/>
                <a:cs typeface="Arial"/>
              </a:rPr>
              <a:t>most</a:t>
            </a:r>
            <a:r>
              <a:rPr sz="3350" spc="-114" dirty="0">
                <a:latin typeface="Arial"/>
                <a:cs typeface="Arial"/>
              </a:rPr>
              <a:t> </a:t>
            </a:r>
            <a:r>
              <a:rPr sz="3350" dirty="0">
                <a:latin typeface="Arial"/>
                <a:cs typeface="Arial"/>
              </a:rPr>
              <a:t>Important</a:t>
            </a:r>
            <a:r>
              <a:rPr sz="3350" spc="155" dirty="0">
                <a:latin typeface="Arial"/>
                <a:cs typeface="Arial"/>
              </a:rPr>
              <a:t> </a:t>
            </a:r>
            <a:r>
              <a:rPr sz="3350" dirty="0">
                <a:latin typeface="Arial"/>
                <a:cs typeface="Arial"/>
              </a:rPr>
              <a:t>to</a:t>
            </a:r>
            <a:r>
              <a:rPr sz="3350" spc="-65" dirty="0">
                <a:latin typeface="Arial"/>
                <a:cs typeface="Arial"/>
              </a:rPr>
              <a:t> </a:t>
            </a:r>
            <a:r>
              <a:rPr sz="3350" dirty="0">
                <a:latin typeface="Arial"/>
                <a:cs typeface="Arial"/>
              </a:rPr>
              <a:t>the</a:t>
            </a:r>
            <a:r>
              <a:rPr sz="3350" spc="-60" dirty="0">
                <a:latin typeface="Arial"/>
                <a:cs typeface="Arial"/>
              </a:rPr>
              <a:t> </a:t>
            </a:r>
            <a:r>
              <a:rPr sz="3350" spc="-10" dirty="0">
                <a:latin typeface="Arial"/>
                <a:cs typeface="Arial"/>
              </a:rPr>
              <a:t>user.</a:t>
            </a:r>
            <a:endParaRPr sz="3350">
              <a:latin typeface="Arial"/>
              <a:cs typeface="Arial"/>
            </a:endParaRPr>
          </a:p>
          <a:p>
            <a:pPr marL="322580" indent="-309880">
              <a:lnSpc>
                <a:spcPct val="100000"/>
              </a:lnSpc>
              <a:spcBef>
                <a:spcPts val="190"/>
              </a:spcBef>
              <a:buClr>
                <a:srgbClr val="3434CF"/>
              </a:buClr>
              <a:buChar char="•"/>
              <a:tabLst>
                <a:tab pos="322580" algn="l"/>
              </a:tabLst>
            </a:pPr>
            <a:r>
              <a:rPr sz="3650" spc="-580" dirty="0">
                <a:latin typeface="Arial"/>
                <a:cs typeface="Arial"/>
              </a:rPr>
              <a:t>P2P</a:t>
            </a:r>
            <a:r>
              <a:rPr sz="3650" spc="95" dirty="0">
                <a:latin typeface="Arial"/>
                <a:cs typeface="Arial"/>
              </a:rPr>
              <a:t> </a:t>
            </a:r>
            <a:r>
              <a:rPr sz="3650" spc="-229" dirty="0">
                <a:latin typeface="Arial"/>
                <a:cs typeface="Arial"/>
              </a:rPr>
              <a:t>incurs</a:t>
            </a:r>
            <a:r>
              <a:rPr sz="3650" spc="40" dirty="0">
                <a:latin typeface="Arial"/>
                <a:cs typeface="Arial"/>
              </a:rPr>
              <a:t> </a:t>
            </a:r>
            <a:r>
              <a:rPr sz="3650" spc="-450" dirty="0">
                <a:latin typeface="Arial"/>
                <a:cs typeface="Arial"/>
              </a:rPr>
              <a:t>a</a:t>
            </a:r>
            <a:r>
              <a:rPr sz="3650" spc="100" dirty="0">
                <a:latin typeface="Arial"/>
                <a:cs typeface="Arial"/>
              </a:rPr>
              <a:t> </a:t>
            </a:r>
            <a:r>
              <a:rPr sz="3650" spc="-260" dirty="0">
                <a:latin typeface="Arial"/>
                <a:cs typeface="Arial"/>
              </a:rPr>
              <a:t>minimal</a:t>
            </a:r>
            <a:r>
              <a:rPr sz="3650" spc="105" dirty="0">
                <a:latin typeface="Arial"/>
                <a:cs typeface="Arial"/>
              </a:rPr>
              <a:t> </a:t>
            </a:r>
            <a:r>
              <a:rPr sz="3650" spc="-25" dirty="0">
                <a:latin typeface="Arial"/>
                <a:cs typeface="Arial"/>
              </a:rPr>
              <a:t>cost.</a:t>
            </a:r>
            <a:endParaRPr sz="3650">
              <a:latin typeface="Arial"/>
              <a:cs typeface="Arial"/>
            </a:endParaRPr>
          </a:p>
          <a:p>
            <a:pPr marL="323215" indent="-309880">
              <a:lnSpc>
                <a:spcPct val="100000"/>
              </a:lnSpc>
              <a:spcBef>
                <a:spcPts val="310"/>
              </a:spcBef>
              <a:buClr>
                <a:srgbClr val="3336C4"/>
              </a:buClr>
              <a:buChar char="•"/>
              <a:tabLst>
                <a:tab pos="323215" algn="l"/>
              </a:tabLst>
            </a:pPr>
            <a:r>
              <a:rPr sz="3600" spc="-550" dirty="0">
                <a:latin typeface="Arial"/>
                <a:cs typeface="Arial"/>
              </a:rPr>
              <a:t>P2P</a:t>
            </a:r>
            <a:r>
              <a:rPr sz="3600" spc="175" dirty="0">
                <a:latin typeface="Arial"/>
                <a:cs typeface="Arial"/>
              </a:rPr>
              <a:t> </a:t>
            </a:r>
            <a:r>
              <a:rPr sz="3600" spc="-360" dirty="0">
                <a:latin typeface="Arial"/>
                <a:cs typeface="Arial"/>
              </a:rPr>
              <a:t>saves</a:t>
            </a:r>
            <a:r>
              <a:rPr sz="3600" spc="65" dirty="0">
                <a:latin typeface="Arial"/>
                <a:cs typeface="Arial"/>
              </a:rPr>
              <a:t> </a:t>
            </a:r>
            <a:r>
              <a:rPr sz="3600" spc="-10" dirty="0">
                <a:latin typeface="Arial"/>
                <a:cs typeface="Arial"/>
              </a:rPr>
              <a:t>time.</a:t>
            </a:r>
            <a:endParaRPr sz="3600">
              <a:latin typeface="Arial"/>
              <a:cs typeface="Arial"/>
            </a:endParaRPr>
          </a:p>
          <a:p>
            <a:pPr marL="321945" indent="-309245">
              <a:lnSpc>
                <a:spcPct val="100000"/>
              </a:lnSpc>
              <a:spcBef>
                <a:spcPts val="185"/>
              </a:spcBef>
              <a:buClr>
                <a:srgbClr val="3431CC"/>
              </a:buClr>
              <a:buChar char="•"/>
              <a:tabLst>
                <a:tab pos="321945" algn="l"/>
              </a:tabLst>
            </a:pPr>
            <a:r>
              <a:rPr sz="3700" spc="-610" dirty="0">
                <a:latin typeface="Arial"/>
                <a:cs typeface="Arial"/>
              </a:rPr>
              <a:t>P2P</a:t>
            </a:r>
            <a:r>
              <a:rPr sz="3700" spc="140" dirty="0">
                <a:latin typeface="Arial"/>
                <a:cs typeface="Arial"/>
              </a:rPr>
              <a:t> </a:t>
            </a:r>
            <a:r>
              <a:rPr sz="3700" spc="-315" dirty="0">
                <a:latin typeface="Arial"/>
                <a:cs typeface="Arial"/>
              </a:rPr>
              <a:t>gives</a:t>
            </a:r>
            <a:r>
              <a:rPr sz="3700" spc="10" dirty="0">
                <a:latin typeface="Arial"/>
                <a:cs typeface="Arial"/>
              </a:rPr>
              <a:t> </a:t>
            </a:r>
            <a:r>
              <a:rPr sz="3700" spc="-185" dirty="0">
                <a:latin typeface="Arial"/>
                <a:cs typeface="Arial"/>
              </a:rPr>
              <a:t>the</a:t>
            </a:r>
            <a:r>
              <a:rPr sz="3700" spc="-15" dirty="0">
                <a:latin typeface="Arial"/>
                <a:cs typeface="Arial"/>
              </a:rPr>
              <a:t> </a:t>
            </a:r>
            <a:r>
              <a:rPr sz="3700" spc="-345" dirty="0">
                <a:latin typeface="Arial"/>
                <a:cs typeface="Arial"/>
              </a:rPr>
              <a:t>user</a:t>
            </a:r>
            <a:r>
              <a:rPr sz="3700" spc="90" dirty="0">
                <a:latin typeface="Arial"/>
                <a:cs typeface="Arial"/>
              </a:rPr>
              <a:t> </a:t>
            </a:r>
            <a:r>
              <a:rPr sz="3700" spc="-100" dirty="0">
                <a:latin typeface="Arial"/>
                <a:cs typeface="Arial"/>
              </a:rPr>
              <a:t>control.</a:t>
            </a:r>
            <a:endParaRPr sz="3700">
              <a:latin typeface="Arial"/>
              <a:cs typeface="Arial"/>
            </a:endParaRPr>
          </a:p>
          <a:p>
            <a:pPr marL="321945" indent="-309245">
              <a:lnSpc>
                <a:spcPct val="100000"/>
              </a:lnSpc>
              <a:spcBef>
                <a:spcPts val="165"/>
              </a:spcBef>
              <a:buClr>
                <a:srgbClr val="2A2ACD"/>
              </a:buClr>
              <a:buChar char="•"/>
              <a:tabLst>
                <a:tab pos="321945" algn="l"/>
              </a:tabLst>
            </a:pPr>
            <a:r>
              <a:rPr sz="3700" spc="-610" dirty="0">
                <a:latin typeface="Arial"/>
                <a:cs typeface="Arial"/>
              </a:rPr>
              <a:t>P2P</a:t>
            </a:r>
            <a:r>
              <a:rPr sz="3700" spc="85" dirty="0">
                <a:latin typeface="Arial"/>
                <a:cs typeface="Arial"/>
              </a:rPr>
              <a:t> </a:t>
            </a:r>
            <a:r>
              <a:rPr sz="3700" spc="-254" dirty="0">
                <a:latin typeface="Arial"/>
                <a:cs typeface="Arial"/>
              </a:rPr>
              <a:t>is</a:t>
            </a:r>
            <a:r>
              <a:rPr sz="3700" spc="-75" dirty="0">
                <a:latin typeface="Arial"/>
                <a:cs typeface="Arial"/>
              </a:rPr>
              <a:t> </a:t>
            </a:r>
            <a:r>
              <a:rPr sz="3700" spc="-160" dirty="0">
                <a:latin typeface="Arial"/>
                <a:cs typeface="Arial"/>
              </a:rPr>
              <a:t>collaborative.</a:t>
            </a:r>
            <a:endParaRPr sz="3700">
              <a:latin typeface="Arial"/>
              <a:cs typeface="Arial"/>
            </a:endParaRPr>
          </a:p>
          <a:p>
            <a:pPr marL="322580" indent="-309880">
              <a:lnSpc>
                <a:spcPct val="100000"/>
              </a:lnSpc>
              <a:spcBef>
                <a:spcPts val="215"/>
              </a:spcBef>
              <a:buClr>
                <a:srgbClr val="2D2FC1"/>
              </a:buClr>
              <a:buChar char="•"/>
              <a:tabLst>
                <a:tab pos="322580" algn="l"/>
              </a:tabLst>
            </a:pPr>
            <a:r>
              <a:rPr sz="3650" spc="-580" dirty="0">
                <a:latin typeface="Arial"/>
                <a:cs typeface="Arial"/>
              </a:rPr>
              <a:t>P2P</a:t>
            </a:r>
            <a:r>
              <a:rPr sz="3650" spc="120" dirty="0">
                <a:latin typeface="Arial"/>
                <a:cs typeface="Arial"/>
              </a:rPr>
              <a:t> </a:t>
            </a:r>
            <a:r>
              <a:rPr sz="3650" spc="-360" dirty="0">
                <a:latin typeface="Arial"/>
                <a:cs typeface="Arial"/>
              </a:rPr>
              <a:t>can</a:t>
            </a:r>
            <a:r>
              <a:rPr sz="3650" spc="105" dirty="0">
                <a:latin typeface="Arial"/>
                <a:cs typeface="Arial"/>
              </a:rPr>
              <a:t> </a:t>
            </a:r>
            <a:r>
              <a:rPr sz="3650" spc="-330" dirty="0">
                <a:latin typeface="Arial"/>
                <a:cs typeface="Arial"/>
              </a:rPr>
              <a:t>be</a:t>
            </a:r>
            <a:r>
              <a:rPr sz="3650" spc="-30" dirty="0">
                <a:latin typeface="Arial"/>
                <a:cs typeface="Arial"/>
              </a:rPr>
              <a:t> </a:t>
            </a:r>
            <a:r>
              <a:rPr sz="3650" spc="-335" dirty="0">
                <a:latin typeface="Arial"/>
                <a:cs typeface="Arial"/>
              </a:rPr>
              <a:t>anonymous.</a:t>
            </a:r>
            <a:endParaRPr sz="3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107531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28768" y="339278"/>
            <a:ext cx="6091555" cy="717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50" spc="-520" dirty="0">
                <a:solidFill>
                  <a:srgbClr val="383487"/>
                </a:solidFill>
                <a:latin typeface="Arial"/>
                <a:cs typeface="Arial"/>
              </a:rPr>
              <a:t>P2P</a:t>
            </a:r>
            <a:r>
              <a:rPr sz="4550" spc="195" dirty="0">
                <a:solidFill>
                  <a:srgbClr val="383487"/>
                </a:solidFill>
                <a:latin typeface="Arial"/>
                <a:cs typeface="Arial"/>
              </a:rPr>
              <a:t> </a:t>
            </a:r>
            <a:r>
              <a:rPr sz="4550" spc="-30" dirty="0">
                <a:solidFill>
                  <a:srgbClr val="363195"/>
                </a:solidFill>
                <a:latin typeface="Arial"/>
                <a:cs typeface="Arial"/>
              </a:rPr>
              <a:t>Will</a:t>
            </a:r>
            <a:r>
              <a:rPr sz="4550" spc="-165" dirty="0">
                <a:solidFill>
                  <a:srgbClr val="363195"/>
                </a:solidFill>
                <a:latin typeface="Arial"/>
                <a:cs typeface="Arial"/>
              </a:rPr>
              <a:t> </a:t>
            </a:r>
            <a:r>
              <a:rPr sz="4550" dirty="0">
                <a:solidFill>
                  <a:srgbClr val="2D318E"/>
                </a:solidFill>
                <a:latin typeface="Arial"/>
                <a:cs typeface="Arial"/>
              </a:rPr>
              <a:t>Not</a:t>
            </a:r>
            <a:r>
              <a:rPr sz="4550" spc="-40" dirty="0">
                <a:solidFill>
                  <a:srgbClr val="2D318E"/>
                </a:solidFill>
                <a:latin typeface="Arial"/>
                <a:cs typeface="Arial"/>
              </a:rPr>
              <a:t> </a:t>
            </a:r>
            <a:r>
              <a:rPr sz="4550" spc="-254" dirty="0">
                <a:solidFill>
                  <a:srgbClr val="36368C"/>
                </a:solidFill>
                <a:latin typeface="Arial"/>
                <a:cs typeface="Arial"/>
              </a:rPr>
              <a:t>Solve</a:t>
            </a:r>
            <a:r>
              <a:rPr sz="4550" spc="40" dirty="0">
                <a:solidFill>
                  <a:srgbClr val="36368C"/>
                </a:solidFill>
                <a:latin typeface="Arial"/>
                <a:cs typeface="Arial"/>
              </a:rPr>
              <a:t> </a:t>
            </a:r>
            <a:r>
              <a:rPr sz="4550" spc="-125" dirty="0">
                <a:solidFill>
                  <a:srgbClr val="38388A"/>
                </a:solidFill>
                <a:latin typeface="Arial"/>
                <a:cs typeface="Arial"/>
              </a:rPr>
              <a:t>World</a:t>
            </a:r>
            <a:endParaRPr sz="4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7466" y="659337"/>
            <a:ext cx="4904105" cy="4842510"/>
          </a:xfrm>
          <a:prstGeom prst="rect">
            <a:avLst/>
          </a:prstGeom>
        </p:spPr>
        <p:txBody>
          <a:bodyPr vert="horz" wrap="square" lIns="0" tIns="3740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45"/>
              </a:spcBef>
            </a:pPr>
            <a:r>
              <a:rPr sz="4450" spc="-10" dirty="0">
                <a:solidFill>
                  <a:srgbClr val="343683"/>
                </a:solidFill>
                <a:latin typeface="Arial"/>
                <a:cs typeface="Arial"/>
              </a:rPr>
              <a:t>Hunger</a:t>
            </a:r>
            <a:endParaRPr sz="4450">
              <a:latin typeface="Arial"/>
              <a:cs typeface="Arial"/>
            </a:endParaRPr>
          </a:p>
          <a:p>
            <a:pPr marL="378460" indent="-309245">
              <a:lnSpc>
                <a:spcPct val="100000"/>
              </a:lnSpc>
              <a:spcBef>
                <a:spcPts val="2330"/>
              </a:spcBef>
              <a:buClr>
                <a:srgbClr val="2D2FBC"/>
              </a:buClr>
              <a:buChar char="•"/>
              <a:tabLst>
                <a:tab pos="378460" algn="l"/>
              </a:tabLst>
            </a:pPr>
            <a:r>
              <a:rPr sz="3600" spc="-110" dirty="0">
                <a:latin typeface="Arial"/>
                <a:cs typeface="Arial"/>
              </a:rPr>
              <a:t>Unpredictability</a:t>
            </a:r>
            <a:endParaRPr sz="3600">
              <a:latin typeface="Arial"/>
              <a:cs typeface="Arial"/>
            </a:endParaRPr>
          </a:p>
          <a:p>
            <a:pPr marL="361315" indent="-292735">
              <a:lnSpc>
                <a:spcPct val="100000"/>
              </a:lnSpc>
              <a:spcBef>
                <a:spcPts val="185"/>
              </a:spcBef>
              <a:buClr>
                <a:srgbClr val="3834C8"/>
              </a:buClr>
              <a:buChar char="•"/>
              <a:tabLst>
                <a:tab pos="361315" algn="l"/>
              </a:tabLst>
            </a:pPr>
            <a:r>
              <a:rPr sz="3700" spc="-30" dirty="0">
                <a:latin typeface="Arial"/>
                <a:cs typeface="Arial"/>
              </a:rPr>
              <a:t>Integrity</a:t>
            </a:r>
            <a:endParaRPr sz="3700">
              <a:latin typeface="Arial"/>
              <a:cs typeface="Arial"/>
            </a:endParaRPr>
          </a:p>
          <a:p>
            <a:pPr marL="387985" indent="-319405">
              <a:lnSpc>
                <a:spcPct val="100000"/>
              </a:lnSpc>
              <a:spcBef>
                <a:spcPts val="130"/>
              </a:spcBef>
              <a:buClr>
                <a:srgbClr val="3A36CA"/>
              </a:buClr>
              <a:buChar char="•"/>
              <a:tabLst>
                <a:tab pos="387985" algn="l"/>
              </a:tabLst>
            </a:pPr>
            <a:r>
              <a:rPr sz="3700" spc="-175" dirty="0">
                <a:latin typeface="Arial"/>
                <a:cs typeface="Arial"/>
              </a:rPr>
              <a:t>Availability</a:t>
            </a:r>
            <a:endParaRPr sz="3700">
              <a:latin typeface="Arial"/>
              <a:cs typeface="Arial"/>
            </a:endParaRPr>
          </a:p>
          <a:p>
            <a:pPr marL="377825" indent="-309245">
              <a:lnSpc>
                <a:spcPct val="100000"/>
              </a:lnSpc>
              <a:spcBef>
                <a:spcPts val="235"/>
              </a:spcBef>
              <a:buClr>
                <a:srgbClr val="3433CF"/>
              </a:buClr>
              <a:buChar char="•"/>
              <a:tabLst>
                <a:tab pos="377825" algn="l"/>
              </a:tabLst>
            </a:pPr>
            <a:r>
              <a:rPr sz="3700" spc="-450" dirty="0">
                <a:latin typeface="Arial"/>
                <a:cs typeface="Arial"/>
              </a:rPr>
              <a:t>Peer</a:t>
            </a:r>
            <a:r>
              <a:rPr sz="3700" spc="200" dirty="0">
                <a:latin typeface="Arial"/>
                <a:cs typeface="Arial"/>
              </a:rPr>
              <a:t> </a:t>
            </a:r>
            <a:r>
              <a:rPr sz="3700" spc="-355" dirty="0">
                <a:latin typeface="Arial"/>
                <a:cs typeface="Arial"/>
              </a:rPr>
              <a:t>and</a:t>
            </a:r>
            <a:r>
              <a:rPr sz="3700" spc="45" dirty="0">
                <a:latin typeface="Arial"/>
                <a:cs typeface="Arial"/>
              </a:rPr>
              <a:t> </a:t>
            </a:r>
            <a:r>
              <a:rPr sz="3700" spc="-305" dirty="0">
                <a:latin typeface="Arial"/>
                <a:cs typeface="Arial"/>
              </a:rPr>
              <a:t>Content</a:t>
            </a:r>
            <a:r>
              <a:rPr sz="3700" spc="100" dirty="0">
                <a:latin typeface="Arial"/>
                <a:cs typeface="Arial"/>
              </a:rPr>
              <a:t> </a:t>
            </a:r>
            <a:r>
              <a:rPr sz="3700" spc="-290" dirty="0">
                <a:latin typeface="Arial"/>
                <a:cs typeface="Arial"/>
              </a:rPr>
              <a:t>Control</a:t>
            </a:r>
            <a:endParaRPr sz="3700">
              <a:latin typeface="Arial"/>
              <a:cs typeface="Arial"/>
            </a:endParaRPr>
          </a:p>
          <a:p>
            <a:pPr marL="379095" indent="-309880">
              <a:lnSpc>
                <a:spcPct val="100000"/>
              </a:lnSpc>
              <a:spcBef>
                <a:spcPts val="229"/>
              </a:spcBef>
              <a:buClr>
                <a:srgbClr val="2A2ACF"/>
              </a:buClr>
              <a:buChar char="•"/>
              <a:tabLst>
                <a:tab pos="379095" algn="l"/>
              </a:tabLst>
            </a:pPr>
            <a:r>
              <a:rPr sz="3600" spc="-300" dirty="0">
                <a:latin typeface="Arial"/>
                <a:cs typeface="Arial"/>
              </a:rPr>
              <a:t>Discovery</a:t>
            </a:r>
            <a:r>
              <a:rPr sz="3600" spc="395" dirty="0">
                <a:latin typeface="Arial"/>
                <a:cs typeface="Arial"/>
              </a:rPr>
              <a:t> </a:t>
            </a:r>
            <a:r>
              <a:rPr sz="3600" spc="-335" dirty="0">
                <a:latin typeface="Arial"/>
                <a:cs typeface="Arial"/>
              </a:rPr>
              <a:t>Problems</a:t>
            </a:r>
            <a:endParaRPr sz="3600">
              <a:latin typeface="Arial"/>
              <a:cs typeface="Arial"/>
            </a:endParaRPr>
          </a:p>
          <a:p>
            <a:pPr marL="383540" indent="-314960">
              <a:lnSpc>
                <a:spcPct val="100000"/>
              </a:lnSpc>
              <a:spcBef>
                <a:spcPts val="170"/>
              </a:spcBef>
              <a:buClr>
                <a:srgbClr val="2A26C6"/>
              </a:buClr>
              <a:buChar char="•"/>
              <a:tabLst>
                <a:tab pos="383540" algn="l"/>
              </a:tabLst>
            </a:pPr>
            <a:r>
              <a:rPr sz="3750" spc="-335" dirty="0">
                <a:latin typeface="Arial"/>
                <a:cs typeface="Arial"/>
              </a:rPr>
              <a:t>Security</a:t>
            </a:r>
            <a:endParaRPr sz="3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62883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484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30"/>
              </a:spcBef>
            </a:pPr>
            <a:r>
              <a:rPr sz="4800" spc="-20" dirty="0">
                <a:solidFill>
                  <a:srgbClr val="34318C"/>
                </a:solidFill>
              </a:rPr>
              <a:t>What</a:t>
            </a:r>
            <a:r>
              <a:rPr sz="4800" spc="125" dirty="0">
                <a:solidFill>
                  <a:srgbClr val="34318C"/>
                </a:solidFill>
              </a:rPr>
              <a:t> </a:t>
            </a:r>
            <a:r>
              <a:rPr sz="4800" dirty="0">
                <a:solidFill>
                  <a:srgbClr val="383689"/>
                </a:solidFill>
              </a:rPr>
              <a:t>is</a:t>
            </a:r>
            <a:r>
              <a:rPr sz="4800" spc="15" dirty="0">
                <a:solidFill>
                  <a:srgbClr val="383689"/>
                </a:solidFill>
              </a:rPr>
              <a:t> </a:t>
            </a:r>
            <a:r>
              <a:rPr sz="4800" spc="-10" dirty="0">
                <a:solidFill>
                  <a:srgbClr val="383482"/>
                </a:solidFill>
              </a:rPr>
              <a:t>JXTA?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1264481" y="1980604"/>
            <a:ext cx="7303770" cy="354965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42900" marR="580390" indent="-330835">
              <a:lnSpc>
                <a:spcPts val="3829"/>
              </a:lnSpc>
              <a:spcBef>
                <a:spcPts val="745"/>
              </a:spcBef>
              <a:buChar char="•"/>
              <a:tabLst>
                <a:tab pos="342900" algn="l"/>
                <a:tab pos="347345" algn="l"/>
              </a:tabLst>
            </a:pPr>
            <a:r>
              <a:rPr sz="3700" dirty="0">
                <a:solidFill>
                  <a:srgbClr val="3136C4"/>
                </a:solidFill>
                <a:latin typeface="Calibri"/>
                <a:cs typeface="Calibri"/>
              </a:rPr>
              <a:t>	</a:t>
            </a:r>
            <a:r>
              <a:rPr sz="3700" dirty="0">
                <a:latin typeface="Calibri"/>
                <a:cs typeface="Calibri"/>
              </a:rPr>
              <a:t>The</a:t>
            </a:r>
            <a:r>
              <a:rPr sz="3700" spc="-90" dirty="0">
                <a:latin typeface="Calibri"/>
                <a:cs typeface="Calibri"/>
              </a:rPr>
              <a:t> </a:t>
            </a:r>
            <a:r>
              <a:rPr sz="3700" spc="-10" dirty="0">
                <a:latin typeface="Calibri"/>
                <a:cs typeface="Calibri"/>
              </a:rPr>
              <a:t>JXTA</a:t>
            </a:r>
            <a:r>
              <a:rPr sz="3700" spc="-85" dirty="0">
                <a:latin typeface="Calibri"/>
                <a:cs typeface="Calibri"/>
              </a:rPr>
              <a:t> </a:t>
            </a:r>
            <a:r>
              <a:rPr sz="3700" spc="-155" dirty="0">
                <a:latin typeface="Calibri"/>
                <a:cs typeface="Calibri"/>
              </a:rPr>
              <a:t>platform</a:t>
            </a:r>
            <a:r>
              <a:rPr sz="3700" spc="40" dirty="0">
                <a:latin typeface="Calibri"/>
                <a:cs typeface="Calibri"/>
              </a:rPr>
              <a:t> </a:t>
            </a:r>
            <a:r>
              <a:rPr sz="3700" spc="-105" dirty="0">
                <a:latin typeface="Calibri"/>
                <a:cs typeface="Calibri"/>
              </a:rPr>
              <a:t>standardizes</a:t>
            </a:r>
            <a:r>
              <a:rPr sz="3700" spc="5" dirty="0">
                <a:latin typeface="Calibri"/>
                <a:cs typeface="Calibri"/>
              </a:rPr>
              <a:t> </a:t>
            </a:r>
            <a:r>
              <a:rPr sz="3700" spc="-114" dirty="0">
                <a:latin typeface="Calibri"/>
                <a:cs typeface="Calibri"/>
              </a:rPr>
              <a:t>the </a:t>
            </a:r>
            <a:r>
              <a:rPr sz="3700" spc="-140" dirty="0">
                <a:latin typeface="Calibri"/>
                <a:cs typeface="Calibri"/>
              </a:rPr>
              <a:t>manner</a:t>
            </a:r>
            <a:r>
              <a:rPr sz="3700" spc="-1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in</a:t>
            </a:r>
            <a:r>
              <a:rPr sz="3700" spc="-140" dirty="0">
                <a:latin typeface="Calibri"/>
                <a:cs typeface="Calibri"/>
              </a:rPr>
              <a:t> </a:t>
            </a:r>
            <a:r>
              <a:rPr sz="3700" spc="-114" dirty="0">
                <a:latin typeface="Calibri"/>
                <a:cs typeface="Calibri"/>
              </a:rPr>
              <a:t>which</a:t>
            </a:r>
            <a:r>
              <a:rPr sz="3700" spc="-70" dirty="0">
                <a:latin typeface="Calibri"/>
                <a:cs typeface="Calibri"/>
              </a:rPr>
              <a:t> </a:t>
            </a:r>
            <a:r>
              <a:rPr sz="3700" spc="-10" dirty="0">
                <a:latin typeface="Calibri"/>
                <a:cs typeface="Calibri"/>
              </a:rPr>
              <a:t>peers:</a:t>
            </a:r>
            <a:endParaRPr sz="3700">
              <a:latin typeface="Calibri"/>
              <a:cs typeface="Calibri"/>
            </a:endParaRPr>
          </a:p>
          <a:p>
            <a:pPr marL="749935" lvl="1" indent="-267335">
              <a:lnSpc>
                <a:spcPct val="100000"/>
              </a:lnSpc>
              <a:spcBef>
                <a:spcPts val="300"/>
              </a:spcBef>
              <a:buClr>
                <a:srgbClr val="F90F0A"/>
              </a:buClr>
              <a:buChar char="•"/>
              <a:tabLst>
                <a:tab pos="749935" algn="l"/>
              </a:tabLst>
            </a:pPr>
            <a:r>
              <a:rPr sz="3050" spc="-190" dirty="0">
                <a:latin typeface="Arial"/>
                <a:cs typeface="Arial"/>
              </a:rPr>
              <a:t>Discover</a:t>
            </a:r>
            <a:r>
              <a:rPr sz="3050" spc="35" dirty="0">
                <a:latin typeface="Arial"/>
                <a:cs typeface="Arial"/>
              </a:rPr>
              <a:t> </a:t>
            </a:r>
            <a:r>
              <a:rPr sz="3050" spc="-215" dirty="0">
                <a:latin typeface="Arial"/>
                <a:cs typeface="Arial"/>
              </a:rPr>
              <a:t>each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-10" dirty="0">
                <a:latin typeface="Arial"/>
                <a:cs typeface="Arial"/>
              </a:rPr>
              <a:t>other</a:t>
            </a:r>
            <a:endParaRPr sz="3050">
              <a:latin typeface="Arial"/>
              <a:cs typeface="Arial"/>
            </a:endParaRPr>
          </a:p>
          <a:p>
            <a:pPr marL="753745" lvl="1" indent="-271780">
              <a:lnSpc>
                <a:spcPct val="100000"/>
              </a:lnSpc>
              <a:spcBef>
                <a:spcPts val="284"/>
              </a:spcBef>
              <a:buClr>
                <a:srgbClr val="FB0803"/>
              </a:buClr>
              <a:buChar char="•"/>
              <a:tabLst>
                <a:tab pos="753745" algn="l"/>
              </a:tabLst>
            </a:pPr>
            <a:r>
              <a:rPr sz="3150" spc="-215" dirty="0">
                <a:latin typeface="Arial"/>
                <a:cs typeface="Arial"/>
              </a:rPr>
              <a:t>Advertise</a:t>
            </a:r>
            <a:r>
              <a:rPr sz="3150" spc="35" dirty="0">
                <a:latin typeface="Arial"/>
                <a:cs typeface="Arial"/>
              </a:rPr>
              <a:t> </a:t>
            </a:r>
            <a:r>
              <a:rPr sz="3150" spc="-160" dirty="0">
                <a:latin typeface="Arial"/>
                <a:cs typeface="Arial"/>
              </a:rPr>
              <a:t>network</a:t>
            </a:r>
            <a:r>
              <a:rPr sz="3150" spc="-25" dirty="0">
                <a:latin typeface="Arial"/>
                <a:cs typeface="Arial"/>
              </a:rPr>
              <a:t> </a:t>
            </a:r>
            <a:r>
              <a:rPr sz="3150" spc="-275" dirty="0">
                <a:latin typeface="Arial"/>
                <a:cs typeface="Arial"/>
              </a:rPr>
              <a:t>resources</a:t>
            </a:r>
            <a:endParaRPr sz="3150">
              <a:latin typeface="Arial"/>
              <a:cs typeface="Arial"/>
            </a:endParaRPr>
          </a:p>
          <a:p>
            <a:pPr marL="741680" lvl="1" indent="-259715">
              <a:lnSpc>
                <a:spcPct val="100000"/>
              </a:lnSpc>
              <a:spcBef>
                <a:spcPts val="310"/>
              </a:spcBef>
              <a:buClr>
                <a:srgbClr val="FF160F"/>
              </a:buClr>
              <a:buChar char="•"/>
              <a:tabLst>
                <a:tab pos="741680" algn="l"/>
              </a:tabLst>
            </a:pPr>
            <a:r>
              <a:rPr sz="3100" spc="-215" dirty="0">
                <a:latin typeface="Arial"/>
                <a:cs typeface="Arial"/>
              </a:rPr>
              <a:t>Communicate</a:t>
            </a:r>
            <a:r>
              <a:rPr sz="3100" spc="95" dirty="0">
                <a:latin typeface="Arial"/>
                <a:cs typeface="Arial"/>
              </a:rPr>
              <a:t> </a:t>
            </a:r>
            <a:r>
              <a:rPr sz="3100" spc="-70" dirty="0">
                <a:latin typeface="Arial"/>
                <a:cs typeface="Arial"/>
              </a:rPr>
              <a:t>with</a:t>
            </a:r>
            <a:r>
              <a:rPr sz="3100" spc="-114" dirty="0">
                <a:latin typeface="Arial"/>
                <a:cs typeface="Arial"/>
              </a:rPr>
              <a:t> </a:t>
            </a:r>
            <a:r>
              <a:rPr sz="3100" spc="-290" dirty="0">
                <a:latin typeface="Arial"/>
                <a:cs typeface="Arial"/>
              </a:rPr>
              <a:t>each</a:t>
            </a:r>
            <a:r>
              <a:rPr sz="3100" spc="75" dirty="0">
                <a:latin typeface="Arial"/>
                <a:cs typeface="Arial"/>
              </a:rPr>
              <a:t> </a:t>
            </a:r>
            <a:r>
              <a:rPr sz="3100" spc="-10" dirty="0">
                <a:latin typeface="Arial"/>
                <a:cs typeface="Arial"/>
              </a:rPr>
              <a:t>other</a:t>
            </a:r>
            <a:endParaRPr sz="3100">
              <a:latin typeface="Arial"/>
              <a:cs typeface="Arial"/>
            </a:endParaRPr>
          </a:p>
          <a:p>
            <a:pPr marL="742950" lvl="1" indent="-260350">
              <a:lnSpc>
                <a:spcPts val="3440"/>
              </a:lnSpc>
              <a:spcBef>
                <a:spcPts val="390"/>
              </a:spcBef>
              <a:buClr>
                <a:srgbClr val="E20000"/>
              </a:buClr>
              <a:buChar char="•"/>
              <a:tabLst>
                <a:tab pos="742950" algn="l"/>
              </a:tabLst>
            </a:pPr>
            <a:r>
              <a:rPr sz="3000" spc="-140" dirty="0">
                <a:latin typeface="Arial"/>
                <a:cs typeface="Arial"/>
              </a:rPr>
              <a:t>Cooperate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with</a:t>
            </a:r>
            <a:r>
              <a:rPr sz="3000" spc="-165" dirty="0">
                <a:latin typeface="Arial"/>
                <a:cs typeface="Arial"/>
              </a:rPr>
              <a:t> </a:t>
            </a:r>
            <a:r>
              <a:rPr sz="3000" spc="-155" dirty="0">
                <a:latin typeface="Arial"/>
                <a:cs typeface="Arial"/>
              </a:rPr>
              <a:t>each</a:t>
            </a:r>
            <a:r>
              <a:rPr sz="3000" spc="-50" dirty="0">
                <a:latin typeface="Arial"/>
                <a:cs typeface="Arial"/>
              </a:rPr>
              <a:t> </a:t>
            </a:r>
            <a:r>
              <a:rPr sz="3000" spc="-25" dirty="0">
                <a:latin typeface="Arial"/>
                <a:cs typeface="Arial"/>
              </a:rPr>
              <a:t>other </a:t>
            </a:r>
            <a:r>
              <a:rPr sz="3000" dirty="0">
                <a:latin typeface="Arial"/>
                <a:cs typeface="Arial"/>
              </a:rPr>
              <a:t>to</a:t>
            </a:r>
            <a:r>
              <a:rPr sz="3000" spc="-160" dirty="0">
                <a:latin typeface="Arial"/>
                <a:cs typeface="Arial"/>
              </a:rPr>
              <a:t> </a:t>
            </a:r>
            <a:r>
              <a:rPr sz="3000" spc="-25" dirty="0">
                <a:latin typeface="Arial"/>
                <a:cs typeface="Arial"/>
              </a:rPr>
              <a:t>form</a:t>
            </a:r>
            <a:r>
              <a:rPr sz="3000" spc="-100" dirty="0">
                <a:latin typeface="Arial"/>
                <a:cs typeface="Arial"/>
              </a:rPr>
              <a:t> </a:t>
            </a:r>
            <a:r>
              <a:rPr sz="3000" spc="-155" dirty="0">
                <a:latin typeface="Arial"/>
                <a:cs typeface="Arial"/>
              </a:rPr>
              <a:t>secure</a:t>
            </a:r>
            <a:endParaRPr sz="3000">
              <a:latin typeface="Arial"/>
              <a:cs typeface="Arial"/>
            </a:endParaRPr>
          </a:p>
          <a:p>
            <a:pPr marL="744855">
              <a:lnSpc>
                <a:spcPts val="3560"/>
              </a:lnSpc>
            </a:pPr>
            <a:r>
              <a:rPr sz="3100" spc="-155" dirty="0">
                <a:latin typeface="Arial"/>
                <a:cs typeface="Arial"/>
              </a:rPr>
              <a:t>peer</a:t>
            </a:r>
            <a:r>
              <a:rPr sz="3100" spc="-60" dirty="0">
                <a:latin typeface="Arial"/>
                <a:cs typeface="Arial"/>
              </a:rPr>
              <a:t> </a:t>
            </a:r>
            <a:r>
              <a:rPr sz="3100" spc="-40" dirty="0">
                <a:latin typeface="Arial"/>
                <a:cs typeface="Arial"/>
              </a:rPr>
              <a:t>groups</a:t>
            </a:r>
            <a:endParaRPr sz="3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62883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484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30"/>
              </a:spcBef>
            </a:pPr>
            <a:r>
              <a:rPr sz="4800" spc="-20" dirty="0">
                <a:solidFill>
                  <a:srgbClr val="34318C"/>
                </a:solidFill>
              </a:rPr>
              <a:t>What</a:t>
            </a:r>
            <a:r>
              <a:rPr sz="4800" spc="125" dirty="0">
                <a:solidFill>
                  <a:srgbClr val="34318C"/>
                </a:solidFill>
              </a:rPr>
              <a:t> </a:t>
            </a:r>
            <a:r>
              <a:rPr sz="4800" dirty="0">
                <a:solidFill>
                  <a:srgbClr val="383689"/>
                </a:solidFill>
              </a:rPr>
              <a:t>is</a:t>
            </a:r>
            <a:r>
              <a:rPr sz="4800" spc="15" dirty="0">
                <a:solidFill>
                  <a:srgbClr val="383689"/>
                </a:solidFill>
              </a:rPr>
              <a:t> </a:t>
            </a:r>
            <a:r>
              <a:rPr sz="4800" spc="-10" dirty="0">
                <a:solidFill>
                  <a:srgbClr val="383482"/>
                </a:solidFill>
              </a:rPr>
              <a:t>JXTA?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1264481" y="1980604"/>
            <a:ext cx="7303770" cy="354965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42900" marR="580390" indent="-330835">
              <a:lnSpc>
                <a:spcPts val="3829"/>
              </a:lnSpc>
              <a:spcBef>
                <a:spcPts val="745"/>
              </a:spcBef>
              <a:buChar char="•"/>
              <a:tabLst>
                <a:tab pos="342900" algn="l"/>
                <a:tab pos="347345" algn="l"/>
              </a:tabLst>
            </a:pPr>
            <a:r>
              <a:rPr sz="3700" dirty="0">
                <a:solidFill>
                  <a:srgbClr val="3136C4"/>
                </a:solidFill>
                <a:latin typeface="Calibri"/>
                <a:cs typeface="Calibri"/>
              </a:rPr>
              <a:t>	</a:t>
            </a:r>
            <a:r>
              <a:rPr sz="3700" dirty="0">
                <a:latin typeface="Calibri"/>
                <a:cs typeface="Calibri"/>
              </a:rPr>
              <a:t>The</a:t>
            </a:r>
            <a:r>
              <a:rPr sz="3700" spc="-90" dirty="0">
                <a:latin typeface="Calibri"/>
                <a:cs typeface="Calibri"/>
              </a:rPr>
              <a:t> </a:t>
            </a:r>
            <a:r>
              <a:rPr sz="3700" spc="-10" dirty="0">
                <a:latin typeface="Calibri"/>
                <a:cs typeface="Calibri"/>
              </a:rPr>
              <a:t>JXTA</a:t>
            </a:r>
            <a:r>
              <a:rPr sz="3700" spc="-85" dirty="0">
                <a:latin typeface="Calibri"/>
                <a:cs typeface="Calibri"/>
              </a:rPr>
              <a:t> </a:t>
            </a:r>
            <a:r>
              <a:rPr sz="3700" spc="-155" dirty="0">
                <a:latin typeface="Calibri"/>
                <a:cs typeface="Calibri"/>
              </a:rPr>
              <a:t>platform</a:t>
            </a:r>
            <a:r>
              <a:rPr sz="3700" spc="40" dirty="0">
                <a:latin typeface="Calibri"/>
                <a:cs typeface="Calibri"/>
              </a:rPr>
              <a:t> </a:t>
            </a:r>
            <a:r>
              <a:rPr sz="3700" spc="-105" dirty="0">
                <a:latin typeface="Calibri"/>
                <a:cs typeface="Calibri"/>
              </a:rPr>
              <a:t>standardizes</a:t>
            </a:r>
            <a:r>
              <a:rPr sz="3700" spc="5" dirty="0">
                <a:latin typeface="Calibri"/>
                <a:cs typeface="Calibri"/>
              </a:rPr>
              <a:t> </a:t>
            </a:r>
            <a:r>
              <a:rPr sz="3700" spc="-114" dirty="0">
                <a:latin typeface="Calibri"/>
                <a:cs typeface="Calibri"/>
              </a:rPr>
              <a:t>the </a:t>
            </a:r>
            <a:r>
              <a:rPr sz="3700" spc="-140" dirty="0">
                <a:latin typeface="Calibri"/>
                <a:cs typeface="Calibri"/>
              </a:rPr>
              <a:t>manner</a:t>
            </a:r>
            <a:r>
              <a:rPr sz="3700" spc="-1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in</a:t>
            </a:r>
            <a:r>
              <a:rPr sz="3700" spc="-140" dirty="0">
                <a:latin typeface="Calibri"/>
                <a:cs typeface="Calibri"/>
              </a:rPr>
              <a:t> </a:t>
            </a:r>
            <a:r>
              <a:rPr sz="3700" spc="-114" dirty="0">
                <a:latin typeface="Calibri"/>
                <a:cs typeface="Calibri"/>
              </a:rPr>
              <a:t>which</a:t>
            </a:r>
            <a:r>
              <a:rPr sz="3700" spc="-70" dirty="0">
                <a:latin typeface="Calibri"/>
                <a:cs typeface="Calibri"/>
              </a:rPr>
              <a:t> </a:t>
            </a:r>
            <a:r>
              <a:rPr sz="3700" spc="-10" dirty="0">
                <a:latin typeface="Calibri"/>
                <a:cs typeface="Calibri"/>
              </a:rPr>
              <a:t>peers:</a:t>
            </a:r>
            <a:endParaRPr sz="3700">
              <a:latin typeface="Calibri"/>
              <a:cs typeface="Calibri"/>
            </a:endParaRPr>
          </a:p>
          <a:p>
            <a:pPr marL="749935" lvl="1" indent="-267335">
              <a:lnSpc>
                <a:spcPct val="100000"/>
              </a:lnSpc>
              <a:spcBef>
                <a:spcPts val="300"/>
              </a:spcBef>
              <a:buClr>
                <a:srgbClr val="F90F0A"/>
              </a:buClr>
              <a:buChar char="•"/>
              <a:tabLst>
                <a:tab pos="749935" algn="l"/>
              </a:tabLst>
            </a:pPr>
            <a:r>
              <a:rPr sz="3050" spc="-190" dirty="0">
                <a:latin typeface="Arial"/>
                <a:cs typeface="Arial"/>
              </a:rPr>
              <a:t>Discover</a:t>
            </a:r>
            <a:r>
              <a:rPr sz="3050" spc="35" dirty="0">
                <a:latin typeface="Arial"/>
                <a:cs typeface="Arial"/>
              </a:rPr>
              <a:t> </a:t>
            </a:r>
            <a:r>
              <a:rPr sz="3050" spc="-215" dirty="0">
                <a:latin typeface="Arial"/>
                <a:cs typeface="Arial"/>
              </a:rPr>
              <a:t>each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-10" dirty="0">
                <a:latin typeface="Arial"/>
                <a:cs typeface="Arial"/>
              </a:rPr>
              <a:t>other</a:t>
            </a:r>
            <a:endParaRPr sz="3050">
              <a:latin typeface="Arial"/>
              <a:cs typeface="Arial"/>
            </a:endParaRPr>
          </a:p>
          <a:p>
            <a:pPr marL="753745" lvl="1" indent="-271780">
              <a:lnSpc>
                <a:spcPct val="100000"/>
              </a:lnSpc>
              <a:spcBef>
                <a:spcPts val="284"/>
              </a:spcBef>
              <a:buClr>
                <a:srgbClr val="FB0803"/>
              </a:buClr>
              <a:buChar char="•"/>
              <a:tabLst>
                <a:tab pos="753745" algn="l"/>
              </a:tabLst>
            </a:pPr>
            <a:r>
              <a:rPr sz="3150" spc="-215" dirty="0">
                <a:latin typeface="Arial"/>
                <a:cs typeface="Arial"/>
              </a:rPr>
              <a:t>Advertise</a:t>
            </a:r>
            <a:r>
              <a:rPr sz="3150" spc="35" dirty="0">
                <a:latin typeface="Arial"/>
                <a:cs typeface="Arial"/>
              </a:rPr>
              <a:t> </a:t>
            </a:r>
            <a:r>
              <a:rPr sz="3150" spc="-160" dirty="0">
                <a:latin typeface="Arial"/>
                <a:cs typeface="Arial"/>
              </a:rPr>
              <a:t>network</a:t>
            </a:r>
            <a:r>
              <a:rPr sz="3150" spc="-25" dirty="0">
                <a:latin typeface="Arial"/>
                <a:cs typeface="Arial"/>
              </a:rPr>
              <a:t> </a:t>
            </a:r>
            <a:r>
              <a:rPr sz="3150" spc="-275" dirty="0">
                <a:latin typeface="Arial"/>
                <a:cs typeface="Arial"/>
              </a:rPr>
              <a:t>resources</a:t>
            </a:r>
            <a:endParaRPr sz="3150">
              <a:latin typeface="Arial"/>
              <a:cs typeface="Arial"/>
            </a:endParaRPr>
          </a:p>
          <a:p>
            <a:pPr marL="741680" lvl="1" indent="-259715">
              <a:lnSpc>
                <a:spcPct val="100000"/>
              </a:lnSpc>
              <a:spcBef>
                <a:spcPts val="310"/>
              </a:spcBef>
              <a:buClr>
                <a:srgbClr val="FF160F"/>
              </a:buClr>
              <a:buChar char="•"/>
              <a:tabLst>
                <a:tab pos="741680" algn="l"/>
              </a:tabLst>
            </a:pPr>
            <a:r>
              <a:rPr sz="3100" spc="-215" dirty="0">
                <a:latin typeface="Arial"/>
                <a:cs typeface="Arial"/>
              </a:rPr>
              <a:t>Communicate</a:t>
            </a:r>
            <a:r>
              <a:rPr sz="3100" spc="95" dirty="0">
                <a:latin typeface="Arial"/>
                <a:cs typeface="Arial"/>
              </a:rPr>
              <a:t> </a:t>
            </a:r>
            <a:r>
              <a:rPr sz="3100" spc="-70" dirty="0">
                <a:latin typeface="Arial"/>
                <a:cs typeface="Arial"/>
              </a:rPr>
              <a:t>with</a:t>
            </a:r>
            <a:r>
              <a:rPr sz="3100" spc="-114" dirty="0">
                <a:latin typeface="Arial"/>
                <a:cs typeface="Arial"/>
              </a:rPr>
              <a:t> </a:t>
            </a:r>
            <a:r>
              <a:rPr sz="3100" spc="-290" dirty="0">
                <a:latin typeface="Arial"/>
                <a:cs typeface="Arial"/>
              </a:rPr>
              <a:t>each</a:t>
            </a:r>
            <a:r>
              <a:rPr sz="3100" spc="75" dirty="0">
                <a:latin typeface="Arial"/>
                <a:cs typeface="Arial"/>
              </a:rPr>
              <a:t> </a:t>
            </a:r>
            <a:r>
              <a:rPr sz="3100" spc="-10" dirty="0">
                <a:latin typeface="Arial"/>
                <a:cs typeface="Arial"/>
              </a:rPr>
              <a:t>other</a:t>
            </a:r>
            <a:endParaRPr sz="3100">
              <a:latin typeface="Arial"/>
              <a:cs typeface="Arial"/>
            </a:endParaRPr>
          </a:p>
          <a:p>
            <a:pPr marL="742950" lvl="1" indent="-260350">
              <a:lnSpc>
                <a:spcPts val="3440"/>
              </a:lnSpc>
              <a:spcBef>
                <a:spcPts val="390"/>
              </a:spcBef>
              <a:buClr>
                <a:srgbClr val="E20000"/>
              </a:buClr>
              <a:buChar char="•"/>
              <a:tabLst>
                <a:tab pos="742950" algn="l"/>
              </a:tabLst>
            </a:pPr>
            <a:r>
              <a:rPr sz="3000" spc="-140" dirty="0">
                <a:latin typeface="Arial"/>
                <a:cs typeface="Arial"/>
              </a:rPr>
              <a:t>Cooperate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with</a:t>
            </a:r>
            <a:r>
              <a:rPr sz="3000" spc="-165" dirty="0">
                <a:latin typeface="Arial"/>
                <a:cs typeface="Arial"/>
              </a:rPr>
              <a:t> </a:t>
            </a:r>
            <a:r>
              <a:rPr sz="3000" spc="-155" dirty="0">
                <a:latin typeface="Arial"/>
                <a:cs typeface="Arial"/>
              </a:rPr>
              <a:t>each</a:t>
            </a:r>
            <a:r>
              <a:rPr sz="3000" spc="-50" dirty="0">
                <a:latin typeface="Arial"/>
                <a:cs typeface="Arial"/>
              </a:rPr>
              <a:t> </a:t>
            </a:r>
            <a:r>
              <a:rPr sz="3000" spc="-25" dirty="0">
                <a:latin typeface="Arial"/>
                <a:cs typeface="Arial"/>
              </a:rPr>
              <a:t>other </a:t>
            </a:r>
            <a:r>
              <a:rPr sz="3000" dirty="0">
                <a:latin typeface="Arial"/>
                <a:cs typeface="Arial"/>
              </a:rPr>
              <a:t>to</a:t>
            </a:r>
            <a:r>
              <a:rPr sz="3000" spc="-160" dirty="0">
                <a:latin typeface="Arial"/>
                <a:cs typeface="Arial"/>
              </a:rPr>
              <a:t> </a:t>
            </a:r>
            <a:r>
              <a:rPr sz="3000" spc="-25" dirty="0">
                <a:latin typeface="Arial"/>
                <a:cs typeface="Arial"/>
              </a:rPr>
              <a:t>form</a:t>
            </a:r>
            <a:r>
              <a:rPr sz="3000" spc="-100" dirty="0">
                <a:latin typeface="Arial"/>
                <a:cs typeface="Arial"/>
              </a:rPr>
              <a:t> </a:t>
            </a:r>
            <a:r>
              <a:rPr sz="3000" spc="-155" dirty="0">
                <a:latin typeface="Arial"/>
                <a:cs typeface="Arial"/>
              </a:rPr>
              <a:t>secure</a:t>
            </a:r>
            <a:endParaRPr sz="3000">
              <a:latin typeface="Arial"/>
              <a:cs typeface="Arial"/>
            </a:endParaRPr>
          </a:p>
          <a:p>
            <a:pPr marL="744855">
              <a:lnSpc>
                <a:spcPts val="3560"/>
              </a:lnSpc>
            </a:pPr>
            <a:r>
              <a:rPr sz="3100" spc="-155" dirty="0">
                <a:latin typeface="Arial"/>
                <a:cs typeface="Arial"/>
              </a:rPr>
              <a:t>peer</a:t>
            </a:r>
            <a:r>
              <a:rPr sz="3100" spc="-60" dirty="0">
                <a:latin typeface="Arial"/>
                <a:cs typeface="Arial"/>
              </a:rPr>
              <a:t> </a:t>
            </a:r>
            <a:r>
              <a:rPr sz="3100" spc="-40" dirty="0">
                <a:latin typeface="Arial"/>
                <a:cs typeface="Arial"/>
              </a:rPr>
              <a:t>groups</a:t>
            </a:r>
            <a:endParaRPr sz="3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62883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484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30"/>
              </a:spcBef>
            </a:pPr>
            <a:r>
              <a:rPr sz="4800" spc="-20" dirty="0">
                <a:solidFill>
                  <a:srgbClr val="34318C"/>
                </a:solidFill>
              </a:rPr>
              <a:t>What</a:t>
            </a:r>
            <a:r>
              <a:rPr sz="4800" spc="125" dirty="0">
                <a:solidFill>
                  <a:srgbClr val="34318C"/>
                </a:solidFill>
              </a:rPr>
              <a:t> </a:t>
            </a:r>
            <a:r>
              <a:rPr sz="4800" dirty="0">
                <a:solidFill>
                  <a:srgbClr val="383689"/>
                </a:solidFill>
              </a:rPr>
              <a:t>is</a:t>
            </a:r>
            <a:r>
              <a:rPr sz="4800" spc="15" dirty="0">
                <a:solidFill>
                  <a:srgbClr val="383689"/>
                </a:solidFill>
              </a:rPr>
              <a:t> </a:t>
            </a:r>
            <a:r>
              <a:rPr sz="4800" spc="-10" dirty="0">
                <a:solidFill>
                  <a:srgbClr val="383482"/>
                </a:solidFill>
              </a:rPr>
              <a:t>JXTA?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1264481" y="1980604"/>
            <a:ext cx="7303770" cy="354965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42900" marR="580390" indent="-330835">
              <a:lnSpc>
                <a:spcPts val="3829"/>
              </a:lnSpc>
              <a:spcBef>
                <a:spcPts val="745"/>
              </a:spcBef>
              <a:buChar char="•"/>
              <a:tabLst>
                <a:tab pos="342900" algn="l"/>
                <a:tab pos="347345" algn="l"/>
              </a:tabLst>
            </a:pPr>
            <a:r>
              <a:rPr sz="3700" dirty="0">
                <a:solidFill>
                  <a:srgbClr val="3136C4"/>
                </a:solidFill>
                <a:latin typeface="Calibri"/>
                <a:cs typeface="Calibri"/>
              </a:rPr>
              <a:t>	</a:t>
            </a:r>
            <a:r>
              <a:rPr sz="3700" dirty="0">
                <a:latin typeface="Calibri"/>
                <a:cs typeface="Calibri"/>
              </a:rPr>
              <a:t>The</a:t>
            </a:r>
            <a:r>
              <a:rPr sz="3700" spc="-90" dirty="0">
                <a:latin typeface="Calibri"/>
                <a:cs typeface="Calibri"/>
              </a:rPr>
              <a:t> </a:t>
            </a:r>
            <a:r>
              <a:rPr sz="3700" spc="-10" dirty="0">
                <a:latin typeface="Calibri"/>
                <a:cs typeface="Calibri"/>
              </a:rPr>
              <a:t>JXTA</a:t>
            </a:r>
            <a:r>
              <a:rPr sz="3700" spc="-85" dirty="0">
                <a:latin typeface="Calibri"/>
                <a:cs typeface="Calibri"/>
              </a:rPr>
              <a:t> </a:t>
            </a:r>
            <a:r>
              <a:rPr sz="3700" spc="-155" dirty="0">
                <a:latin typeface="Calibri"/>
                <a:cs typeface="Calibri"/>
              </a:rPr>
              <a:t>platform</a:t>
            </a:r>
            <a:r>
              <a:rPr sz="3700" spc="40" dirty="0">
                <a:latin typeface="Calibri"/>
                <a:cs typeface="Calibri"/>
              </a:rPr>
              <a:t> </a:t>
            </a:r>
            <a:r>
              <a:rPr sz="3700" spc="-105" dirty="0">
                <a:latin typeface="Calibri"/>
                <a:cs typeface="Calibri"/>
              </a:rPr>
              <a:t>standardizes</a:t>
            </a:r>
            <a:r>
              <a:rPr sz="3700" spc="5" dirty="0">
                <a:latin typeface="Calibri"/>
                <a:cs typeface="Calibri"/>
              </a:rPr>
              <a:t> </a:t>
            </a:r>
            <a:r>
              <a:rPr sz="3700" spc="-114" dirty="0">
                <a:latin typeface="Calibri"/>
                <a:cs typeface="Calibri"/>
              </a:rPr>
              <a:t>the </a:t>
            </a:r>
            <a:r>
              <a:rPr sz="3700" spc="-140" dirty="0">
                <a:latin typeface="Calibri"/>
                <a:cs typeface="Calibri"/>
              </a:rPr>
              <a:t>manner</a:t>
            </a:r>
            <a:r>
              <a:rPr sz="3700" spc="-1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in</a:t>
            </a:r>
            <a:r>
              <a:rPr sz="3700" spc="-140" dirty="0">
                <a:latin typeface="Calibri"/>
                <a:cs typeface="Calibri"/>
              </a:rPr>
              <a:t> </a:t>
            </a:r>
            <a:r>
              <a:rPr sz="3700" spc="-114" dirty="0">
                <a:latin typeface="Calibri"/>
                <a:cs typeface="Calibri"/>
              </a:rPr>
              <a:t>which</a:t>
            </a:r>
            <a:r>
              <a:rPr sz="3700" spc="-70" dirty="0">
                <a:latin typeface="Calibri"/>
                <a:cs typeface="Calibri"/>
              </a:rPr>
              <a:t> </a:t>
            </a:r>
            <a:r>
              <a:rPr sz="3700" spc="-10" dirty="0">
                <a:latin typeface="Calibri"/>
                <a:cs typeface="Calibri"/>
              </a:rPr>
              <a:t>peers:</a:t>
            </a:r>
            <a:endParaRPr sz="3700">
              <a:latin typeface="Calibri"/>
              <a:cs typeface="Calibri"/>
            </a:endParaRPr>
          </a:p>
          <a:p>
            <a:pPr marL="749935" lvl="1" indent="-267335">
              <a:lnSpc>
                <a:spcPct val="100000"/>
              </a:lnSpc>
              <a:spcBef>
                <a:spcPts val="300"/>
              </a:spcBef>
              <a:buClr>
                <a:srgbClr val="F90F0A"/>
              </a:buClr>
              <a:buChar char="•"/>
              <a:tabLst>
                <a:tab pos="749935" algn="l"/>
              </a:tabLst>
            </a:pPr>
            <a:r>
              <a:rPr sz="3050" spc="-190" dirty="0">
                <a:latin typeface="Arial"/>
                <a:cs typeface="Arial"/>
              </a:rPr>
              <a:t>Discover</a:t>
            </a:r>
            <a:r>
              <a:rPr sz="3050" spc="35" dirty="0">
                <a:latin typeface="Arial"/>
                <a:cs typeface="Arial"/>
              </a:rPr>
              <a:t> </a:t>
            </a:r>
            <a:r>
              <a:rPr sz="3050" spc="-215" dirty="0">
                <a:latin typeface="Arial"/>
                <a:cs typeface="Arial"/>
              </a:rPr>
              <a:t>each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-10" dirty="0">
                <a:latin typeface="Arial"/>
                <a:cs typeface="Arial"/>
              </a:rPr>
              <a:t>other</a:t>
            </a:r>
            <a:endParaRPr sz="3050">
              <a:latin typeface="Arial"/>
              <a:cs typeface="Arial"/>
            </a:endParaRPr>
          </a:p>
          <a:p>
            <a:pPr marL="753745" lvl="1" indent="-271780">
              <a:lnSpc>
                <a:spcPct val="100000"/>
              </a:lnSpc>
              <a:spcBef>
                <a:spcPts val="284"/>
              </a:spcBef>
              <a:buClr>
                <a:srgbClr val="FB0803"/>
              </a:buClr>
              <a:buChar char="•"/>
              <a:tabLst>
                <a:tab pos="753745" algn="l"/>
              </a:tabLst>
            </a:pPr>
            <a:r>
              <a:rPr sz="3150" spc="-215" dirty="0">
                <a:latin typeface="Arial"/>
                <a:cs typeface="Arial"/>
              </a:rPr>
              <a:t>Advertise</a:t>
            </a:r>
            <a:r>
              <a:rPr sz="3150" spc="35" dirty="0">
                <a:latin typeface="Arial"/>
                <a:cs typeface="Arial"/>
              </a:rPr>
              <a:t> </a:t>
            </a:r>
            <a:r>
              <a:rPr sz="3150" spc="-160" dirty="0">
                <a:latin typeface="Arial"/>
                <a:cs typeface="Arial"/>
              </a:rPr>
              <a:t>network</a:t>
            </a:r>
            <a:r>
              <a:rPr sz="3150" spc="-25" dirty="0">
                <a:latin typeface="Arial"/>
                <a:cs typeface="Arial"/>
              </a:rPr>
              <a:t> </a:t>
            </a:r>
            <a:r>
              <a:rPr sz="3150" spc="-275" dirty="0">
                <a:latin typeface="Arial"/>
                <a:cs typeface="Arial"/>
              </a:rPr>
              <a:t>resources</a:t>
            </a:r>
            <a:endParaRPr sz="3150">
              <a:latin typeface="Arial"/>
              <a:cs typeface="Arial"/>
            </a:endParaRPr>
          </a:p>
          <a:p>
            <a:pPr marL="741680" lvl="1" indent="-259715">
              <a:lnSpc>
                <a:spcPct val="100000"/>
              </a:lnSpc>
              <a:spcBef>
                <a:spcPts val="310"/>
              </a:spcBef>
              <a:buClr>
                <a:srgbClr val="FF160F"/>
              </a:buClr>
              <a:buChar char="•"/>
              <a:tabLst>
                <a:tab pos="741680" algn="l"/>
              </a:tabLst>
            </a:pPr>
            <a:r>
              <a:rPr sz="3100" spc="-215" dirty="0">
                <a:latin typeface="Arial"/>
                <a:cs typeface="Arial"/>
              </a:rPr>
              <a:t>Communicate</a:t>
            </a:r>
            <a:r>
              <a:rPr sz="3100" spc="95" dirty="0">
                <a:latin typeface="Arial"/>
                <a:cs typeface="Arial"/>
              </a:rPr>
              <a:t> </a:t>
            </a:r>
            <a:r>
              <a:rPr sz="3100" spc="-70" dirty="0">
                <a:latin typeface="Arial"/>
                <a:cs typeface="Arial"/>
              </a:rPr>
              <a:t>with</a:t>
            </a:r>
            <a:r>
              <a:rPr sz="3100" spc="-114" dirty="0">
                <a:latin typeface="Arial"/>
                <a:cs typeface="Arial"/>
              </a:rPr>
              <a:t> </a:t>
            </a:r>
            <a:r>
              <a:rPr sz="3100" spc="-290" dirty="0">
                <a:latin typeface="Arial"/>
                <a:cs typeface="Arial"/>
              </a:rPr>
              <a:t>each</a:t>
            </a:r>
            <a:r>
              <a:rPr sz="3100" spc="75" dirty="0">
                <a:latin typeface="Arial"/>
                <a:cs typeface="Arial"/>
              </a:rPr>
              <a:t> </a:t>
            </a:r>
            <a:r>
              <a:rPr sz="3100" spc="-10" dirty="0">
                <a:latin typeface="Arial"/>
                <a:cs typeface="Arial"/>
              </a:rPr>
              <a:t>other</a:t>
            </a:r>
            <a:endParaRPr sz="3100">
              <a:latin typeface="Arial"/>
              <a:cs typeface="Arial"/>
            </a:endParaRPr>
          </a:p>
          <a:p>
            <a:pPr marL="742950" lvl="1" indent="-260350">
              <a:lnSpc>
                <a:spcPts val="3440"/>
              </a:lnSpc>
              <a:spcBef>
                <a:spcPts val="390"/>
              </a:spcBef>
              <a:buClr>
                <a:srgbClr val="E20000"/>
              </a:buClr>
              <a:buChar char="•"/>
              <a:tabLst>
                <a:tab pos="742950" algn="l"/>
              </a:tabLst>
            </a:pPr>
            <a:r>
              <a:rPr sz="3000" spc="-140" dirty="0">
                <a:latin typeface="Arial"/>
                <a:cs typeface="Arial"/>
              </a:rPr>
              <a:t>Cooperate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with</a:t>
            </a:r>
            <a:r>
              <a:rPr sz="3000" spc="-165" dirty="0">
                <a:latin typeface="Arial"/>
                <a:cs typeface="Arial"/>
              </a:rPr>
              <a:t> </a:t>
            </a:r>
            <a:r>
              <a:rPr sz="3000" spc="-155" dirty="0">
                <a:latin typeface="Arial"/>
                <a:cs typeface="Arial"/>
              </a:rPr>
              <a:t>each</a:t>
            </a:r>
            <a:r>
              <a:rPr sz="3000" spc="-50" dirty="0">
                <a:latin typeface="Arial"/>
                <a:cs typeface="Arial"/>
              </a:rPr>
              <a:t> </a:t>
            </a:r>
            <a:r>
              <a:rPr sz="3000" spc="-25" dirty="0">
                <a:latin typeface="Arial"/>
                <a:cs typeface="Arial"/>
              </a:rPr>
              <a:t>other </a:t>
            </a:r>
            <a:r>
              <a:rPr sz="3000" dirty="0">
                <a:latin typeface="Arial"/>
                <a:cs typeface="Arial"/>
              </a:rPr>
              <a:t>to</a:t>
            </a:r>
            <a:r>
              <a:rPr sz="3000" spc="-160" dirty="0">
                <a:latin typeface="Arial"/>
                <a:cs typeface="Arial"/>
              </a:rPr>
              <a:t> </a:t>
            </a:r>
            <a:r>
              <a:rPr sz="3000" spc="-25" dirty="0">
                <a:latin typeface="Arial"/>
                <a:cs typeface="Arial"/>
              </a:rPr>
              <a:t>form</a:t>
            </a:r>
            <a:r>
              <a:rPr sz="3000" spc="-100" dirty="0">
                <a:latin typeface="Arial"/>
                <a:cs typeface="Arial"/>
              </a:rPr>
              <a:t> </a:t>
            </a:r>
            <a:r>
              <a:rPr sz="3000" spc="-155" dirty="0">
                <a:latin typeface="Arial"/>
                <a:cs typeface="Arial"/>
              </a:rPr>
              <a:t>secure</a:t>
            </a:r>
            <a:endParaRPr sz="3000">
              <a:latin typeface="Arial"/>
              <a:cs typeface="Arial"/>
            </a:endParaRPr>
          </a:p>
          <a:p>
            <a:pPr marL="744855">
              <a:lnSpc>
                <a:spcPts val="3560"/>
              </a:lnSpc>
            </a:pPr>
            <a:r>
              <a:rPr sz="3100" spc="-155" dirty="0">
                <a:latin typeface="Arial"/>
                <a:cs typeface="Arial"/>
              </a:rPr>
              <a:t>peer</a:t>
            </a:r>
            <a:r>
              <a:rPr sz="3100" spc="-60" dirty="0">
                <a:latin typeface="Arial"/>
                <a:cs typeface="Arial"/>
              </a:rPr>
              <a:t> </a:t>
            </a:r>
            <a:r>
              <a:rPr sz="3100" spc="-40" dirty="0">
                <a:latin typeface="Arial"/>
                <a:cs typeface="Arial"/>
              </a:rPr>
              <a:t>groups</a:t>
            </a:r>
            <a:endParaRPr sz="3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62883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4079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35"/>
              </a:spcBef>
            </a:pPr>
            <a:r>
              <a:rPr sz="4650" spc="-114" dirty="0">
                <a:solidFill>
                  <a:srgbClr val="363493"/>
                </a:solidFill>
                <a:latin typeface="Arial"/>
                <a:cs typeface="Arial"/>
              </a:rPr>
              <a:t>What</a:t>
            </a:r>
            <a:r>
              <a:rPr sz="4650" spc="20" dirty="0">
                <a:solidFill>
                  <a:srgbClr val="363493"/>
                </a:solidFill>
                <a:latin typeface="Arial"/>
                <a:cs typeface="Arial"/>
              </a:rPr>
              <a:t> </a:t>
            </a:r>
            <a:r>
              <a:rPr sz="4650" spc="-305" dirty="0">
                <a:solidFill>
                  <a:srgbClr val="34348E"/>
                </a:solidFill>
                <a:latin typeface="Arial"/>
                <a:cs typeface="Arial"/>
              </a:rPr>
              <a:t>does</a:t>
            </a:r>
            <a:r>
              <a:rPr sz="4650" spc="-20" dirty="0">
                <a:solidFill>
                  <a:srgbClr val="34348E"/>
                </a:solidFill>
                <a:latin typeface="Arial"/>
                <a:cs typeface="Arial"/>
              </a:rPr>
              <a:t> </a:t>
            </a:r>
            <a:r>
              <a:rPr sz="4650" spc="-545" dirty="0">
                <a:solidFill>
                  <a:srgbClr val="363189"/>
                </a:solidFill>
                <a:latin typeface="Arial"/>
                <a:cs typeface="Arial"/>
              </a:rPr>
              <a:t>JXTA</a:t>
            </a:r>
            <a:r>
              <a:rPr sz="4650" spc="225" dirty="0">
                <a:solidFill>
                  <a:srgbClr val="363189"/>
                </a:solidFill>
                <a:latin typeface="Arial"/>
                <a:cs typeface="Arial"/>
              </a:rPr>
              <a:t> </a:t>
            </a:r>
            <a:r>
              <a:rPr sz="4650" spc="-360" dirty="0">
                <a:solidFill>
                  <a:srgbClr val="3F3A89"/>
                </a:solidFill>
                <a:latin typeface="Arial"/>
                <a:cs typeface="Arial"/>
              </a:rPr>
              <a:t>mean?</a:t>
            </a:r>
            <a:endParaRPr sz="4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9587" y="2018307"/>
            <a:ext cx="7505700" cy="321818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342265" marR="325755" indent="-330200">
              <a:lnSpc>
                <a:spcPts val="3340"/>
              </a:lnSpc>
              <a:spcBef>
                <a:spcPts val="455"/>
              </a:spcBef>
              <a:buClr>
                <a:srgbClr val="6466FF"/>
              </a:buClr>
              <a:buChar char="•"/>
              <a:tabLst>
                <a:tab pos="342265" algn="l"/>
              </a:tabLst>
            </a:pPr>
            <a:r>
              <a:rPr sz="3000" dirty="0">
                <a:latin typeface="Arial"/>
                <a:cs typeface="Arial"/>
              </a:rPr>
              <a:t>Pronounced</a:t>
            </a:r>
            <a:r>
              <a:rPr sz="3000" spc="385" dirty="0">
                <a:latin typeface="Arial"/>
                <a:cs typeface="Arial"/>
              </a:rPr>
              <a:t> </a:t>
            </a:r>
            <a:r>
              <a:rPr sz="3000" spc="85" dirty="0">
                <a:latin typeface="Arial"/>
                <a:cs typeface="Arial"/>
              </a:rPr>
              <a:t>“Juxtapose”</a:t>
            </a:r>
            <a:r>
              <a:rPr sz="3000" spc="325" dirty="0">
                <a:latin typeface="Arial"/>
                <a:cs typeface="Arial"/>
              </a:rPr>
              <a:t> </a:t>
            </a:r>
            <a:r>
              <a:rPr sz="3000" spc="75" dirty="0">
                <a:latin typeface="Arial"/>
                <a:cs typeface="Arial"/>
              </a:rPr>
              <a:t>or </a:t>
            </a:r>
            <a:r>
              <a:rPr sz="3000" spc="140" dirty="0">
                <a:latin typeface="Arial"/>
                <a:cs typeface="Arial"/>
              </a:rPr>
              <a:t>“Juxta”</a:t>
            </a:r>
            <a:r>
              <a:rPr sz="3000" spc="160" dirty="0">
                <a:latin typeface="Arial"/>
                <a:cs typeface="Arial"/>
              </a:rPr>
              <a:t> </a:t>
            </a:r>
            <a:r>
              <a:rPr sz="3000" spc="30" dirty="0">
                <a:latin typeface="Arial"/>
                <a:cs typeface="Arial"/>
              </a:rPr>
              <a:t>for </a:t>
            </a:r>
            <a:r>
              <a:rPr sz="3000" spc="60" dirty="0">
                <a:latin typeface="Arial"/>
                <a:cs typeface="Arial"/>
              </a:rPr>
              <a:t>short</a:t>
            </a:r>
            <a:r>
              <a:rPr sz="3000" spc="385" dirty="0">
                <a:latin typeface="Arial"/>
                <a:cs typeface="Arial"/>
              </a:rPr>
              <a:t> </a:t>
            </a:r>
            <a:r>
              <a:rPr sz="3000" spc="120" dirty="0">
                <a:latin typeface="Arial"/>
                <a:cs typeface="Arial"/>
              </a:rPr>
              <a:t>(not</a:t>
            </a:r>
            <a:r>
              <a:rPr sz="3000" spc="32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an</a:t>
            </a:r>
            <a:r>
              <a:rPr sz="3000" spc="265" dirty="0">
                <a:latin typeface="Arial"/>
                <a:cs typeface="Arial"/>
              </a:rPr>
              <a:t> </a:t>
            </a:r>
            <a:r>
              <a:rPr sz="3000" spc="60" dirty="0">
                <a:latin typeface="Arial"/>
                <a:cs typeface="Arial"/>
              </a:rPr>
              <a:t>acronym).</a:t>
            </a:r>
            <a:endParaRPr sz="3000">
              <a:latin typeface="Arial"/>
              <a:cs typeface="Arial"/>
            </a:endParaRPr>
          </a:p>
          <a:p>
            <a:pPr marL="339090" marR="10160" indent="-327025">
              <a:lnSpc>
                <a:spcPct val="93300"/>
              </a:lnSpc>
              <a:spcBef>
                <a:spcPts val="615"/>
              </a:spcBef>
              <a:buChar char="•"/>
              <a:tabLst>
                <a:tab pos="339090" algn="l"/>
                <a:tab pos="342900" algn="l"/>
              </a:tabLst>
            </a:pPr>
            <a:r>
              <a:rPr sz="3000" dirty="0">
                <a:solidFill>
                  <a:srgbClr val="4442D8"/>
                </a:solidFill>
                <a:latin typeface="Arial"/>
                <a:cs typeface="Arial"/>
              </a:rPr>
              <a:t>	</a:t>
            </a:r>
            <a:r>
              <a:rPr sz="3000" dirty="0">
                <a:latin typeface="Arial"/>
                <a:cs typeface="Arial"/>
              </a:rPr>
              <a:t>Peer</a:t>
            </a:r>
            <a:r>
              <a:rPr sz="3000" spc="300" dirty="0">
                <a:latin typeface="Arial"/>
                <a:cs typeface="Arial"/>
              </a:rPr>
              <a:t> </a:t>
            </a:r>
            <a:r>
              <a:rPr sz="3000" spc="70" dirty="0">
                <a:latin typeface="Arial"/>
                <a:cs typeface="Arial"/>
              </a:rPr>
              <a:t>to</a:t>
            </a:r>
            <a:r>
              <a:rPr sz="3000" spc="24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peer</a:t>
            </a:r>
            <a:r>
              <a:rPr sz="3000" spc="295" dirty="0">
                <a:latin typeface="Arial"/>
                <a:cs typeface="Arial"/>
              </a:rPr>
              <a:t> </a:t>
            </a:r>
            <a:r>
              <a:rPr sz="3000" spc="55" dirty="0">
                <a:latin typeface="Arial"/>
                <a:cs typeface="Arial"/>
              </a:rPr>
              <a:t>computing</a:t>
            </a:r>
            <a:r>
              <a:rPr sz="3000" spc="45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is</a:t>
            </a:r>
            <a:r>
              <a:rPr sz="3000" spc="50" dirty="0">
                <a:latin typeface="Arial"/>
                <a:cs typeface="Arial"/>
              </a:rPr>
              <a:t> </a:t>
            </a:r>
            <a:r>
              <a:rPr sz="3000" spc="110" dirty="0">
                <a:latin typeface="Arial"/>
                <a:cs typeface="Arial"/>
              </a:rPr>
              <a:t>“juxtaposed” to</a:t>
            </a:r>
            <a:r>
              <a:rPr sz="3000" spc="310" dirty="0">
                <a:latin typeface="Arial"/>
                <a:cs typeface="Arial"/>
              </a:rPr>
              <a:t> </a:t>
            </a:r>
            <a:r>
              <a:rPr sz="3000" spc="90" dirty="0">
                <a:latin typeface="Arial"/>
                <a:cs typeface="Arial"/>
              </a:rPr>
              <a:t>the</a:t>
            </a:r>
            <a:r>
              <a:rPr sz="3000" spc="335" dirty="0">
                <a:latin typeface="Arial"/>
                <a:cs typeface="Arial"/>
              </a:rPr>
              <a:t> </a:t>
            </a:r>
            <a:r>
              <a:rPr sz="3000" spc="75" dirty="0">
                <a:latin typeface="Arial"/>
                <a:cs typeface="Arial"/>
              </a:rPr>
              <a:t>traditional</a:t>
            </a:r>
            <a:r>
              <a:rPr sz="3000" spc="54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and</a:t>
            </a:r>
            <a:r>
              <a:rPr sz="3000" spc="49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hierarchical</a:t>
            </a:r>
            <a:r>
              <a:rPr sz="3000" spc="570" dirty="0">
                <a:latin typeface="Arial"/>
                <a:cs typeface="Arial"/>
              </a:rPr>
              <a:t> </a:t>
            </a:r>
            <a:r>
              <a:rPr sz="3000" spc="45" dirty="0">
                <a:latin typeface="Arial"/>
                <a:cs typeface="Arial"/>
              </a:rPr>
              <a:t>client-</a:t>
            </a:r>
            <a:r>
              <a:rPr sz="3000" dirty="0">
                <a:latin typeface="Arial"/>
                <a:cs typeface="Arial"/>
              </a:rPr>
              <a:t>server</a:t>
            </a:r>
            <a:r>
              <a:rPr sz="3000" spc="64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model.</a:t>
            </a:r>
            <a:endParaRPr sz="3000">
              <a:latin typeface="Arial"/>
              <a:cs typeface="Arial"/>
            </a:endParaRPr>
          </a:p>
          <a:p>
            <a:pPr marL="341630" marR="5080" indent="-329565">
              <a:lnSpc>
                <a:spcPts val="3379"/>
              </a:lnSpc>
              <a:spcBef>
                <a:spcPts val="740"/>
              </a:spcBef>
              <a:buChar char="•"/>
              <a:tabLst>
                <a:tab pos="341630" algn="l"/>
                <a:tab pos="342900" algn="l"/>
              </a:tabLst>
            </a:pPr>
            <a:r>
              <a:rPr sz="2950" dirty="0">
                <a:solidFill>
                  <a:srgbClr val="3F41D1"/>
                </a:solidFill>
                <a:latin typeface="Arial"/>
                <a:cs typeface="Arial"/>
              </a:rPr>
              <a:t>	</a:t>
            </a:r>
            <a:r>
              <a:rPr sz="2950" spc="-70" dirty="0">
                <a:latin typeface="Arial"/>
                <a:cs typeface="Arial"/>
              </a:rPr>
              <a:t>P2P</a:t>
            </a:r>
            <a:r>
              <a:rPr sz="2950" spc="215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is</a:t>
            </a:r>
            <a:r>
              <a:rPr sz="2950" spc="229" dirty="0">
                <a:latin typeface="Arial"/>
                <a:cs typeface="Arial"/>
              </a:rPr>
              <a:t> </a:t>
            </a:r>
            <a:r>
              <a:rPr sz="2950" spc="80" dirty="0">
                <a:latin typeface="Arial"/>
                <a:cs typeface="Arial"/>
              </a:rPr>
              <a:t>about</a:t>
            </a:r>
            <a:r>
              <a:rPr sz="2950" spc="305" dirty="0">
                <a:latin typeface="Arial"/>
                <a:cs typeface="Arial"/>
              </a:rPr>
              <a:t> </a:t>
            </a:r>
            <a:r>
              <a:rPr sz="2950" spc="120" dirty="0">
                <a:latin typeface="Arial"/>
                <a:cs typeface="Arial"/>
              </a:rPr>
              <a:t>putting</a:t>
            </a:r>
            <a:r>
              <a:rPr sz="2950" spc="445" dirty="0">
                <a:latin typeface="Arial"/>
                <a:cs typeface="Arial"/>
              </a:rPr>
              <a:t> </a:t>
            </a:r>
            <a:r>
              <a:rPr sz="2950" spc="90" dirty="0">
                <a:latin typeface="Arial"/>
                <a:cs typeface="Arial"/>
              </a:rPr>
              <a:t>things</a:t>
            </a:r>
            <a:r>
              <a:rPr sz="2950" spc="345" dirty="0">
                <a:latin typeface="Arial"/>
                <a:cs typeface="Arial"/>
              </a:rPr>
              <a:t> </a:t>
            </a:r>
            <a:r>
              <a:rPr sz="2950" spc="90" dirty="0">
                <a:latin typeface="Arial"/>
                <a:cs typeface="Arial"/>
              </a:rPr>
              <a:t>next</a:t>
            </a:r>
            <a:r>
              <a:rPr sz="2950" spc="295" dirty="0">
                <a:latin typeface="Arial"/>
                <a:cs typeface="Arial"/>
              </a:rPr>
              <a:t> </a:t>
            </a:r>
            <a:r>
              <a:rPr sz="2950" spc="120" dirty="0">
                <a:latin typeface="Arial"/>
                <a:cs typeface="Arial"/>
              </a:rPr>
              <a:t>to</a:t>
            </a:r>
            <a:r>
              <a:rPr sz="2950" spc="215" dirty="0">
                <a:latin typeface="Arial"/>
                <a:cs typeface="Arial"/>
              </a:rPr>
              <a:t> </a:t>
            </a:r>
            <a:r>
              <a:rPr sz="2950" spc="-20" dirty="0">
                <a:latin typeface="Arial"/>
                <a:cs typeface="Arial"/>
              </a:rPr>
              <a:t>each </a:t>
            </a:r>
            <a:r>
              <a:rPr sz="2950" spc="-10" dirty="0">
                <a:latin typeface="Arial"/>
                <a:cs typeface="Arial"/>
              </a:rPr>
              <a:t>other.</a:t>
            </a:r>
            <a:endParaRPr sz="2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62883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4079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4650" dirty="0">
                <a:solidFill>
                  <a:srgbClr val="343490"/>
                </a:solidFill>
              </a:rPr>
              <a:t>Who</a:t>
            </a:r>
            <a:r>
              <a:rPr sz="4650" spc="105" dirty="0">
                <a:solidFill>
                  <a:srgbClr val="343490"/>
                </a:solidFill>
              </a:rPr>
              <a:t> </a:t>
            </a:r>
            <a:r>
              <a:rPr sz="4650" spc="95" dirty="0">
                <a:solidFill>
                  <a:srgbClr val="3D3685"/>
                </a:solidFill>
              </a:rPr>
              <a:t>is</a:t>
            </a:r>
            <a:r>
              <a:rPr sz="4650" spc="-50" dirty="0">
                <a:solidFill>
                  <a:srgbClr val="3D3685"/>
                </a:solidFill>
              </a:rPr>
              <a:t> </a:t>
            </a:r>
            <a:r>
              <a:rPr sz="4650" dirty="0">
                <a:solidFill>
                  <a:srgbClr val="3D367C"/>
                </a:solidFill>
              </a:rPr>
              <a:t>responsible</a:t>
            </a:r>
            <a:r>
              <a:rPr sz="4650" spc="380" dirty="0">
                <a:solidFill>
                  <a:srgbClr val="3D367C"/>
                </a:solidFill>
              </a:rPr>
              <a:t> </a:t>
            </a:r>
            <a:r>
              <a:rPr sz="4650" dirty="0">
                <a:solidFill>
                  <a:srgbClr val="383387"/>
                </a:solidFill>
              </a:rPr>
              <a:t>for</a:t>
            </a:r>
            <a:r>
              <a:rPr sz="4650" spc="114" dirty="0">
                <a:solidFill>
                  <a:srgbClr val="383387"/>
                </a:solidFill>
              </a:rPr>
              <a:t> </a:t>
            </a:r>
            <a:r>
              <a:rPr sz="4650" spc="-10" dirty="0">
                <a:solidFill>
                  <a:srgbClr val="343482"/>
                </a:solidFill>
              </a:rPr>
              <a:t>JXTA?</a:t>
            </a:r>
            <a:endParaRPr sz="4650"/>
          </a:p>
        </p:txBody>
      </p:sp>
      <p:sp>
        <p:nvSpPr>
          <p:cNvPr id="4" name="object 4"/>
          <p:cNvSpPr txBox="1"/>
          <p:nvPr/>
        </p:nvSpPr>
        <p:spPr>
          <a:xfrm>
            <a:off x="1260811" y="1987301"/>
            <a:ext cx="7430134" cy="32505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62585" indent="-349885">
              <a:lnSpc>
                <a:spcPts val="3670"/>
              </a:lnSpc>
              <a:spcBef>
                <a:spcPts val="120"/>
              </a:spcBef>
              <a:buClr>
                <a:srgbClr val="6262FB"/>
              </a:buClr>
              <a:buChar char="•"/>
              <a:tabLst>
                <a:tab pos="362585" algn="l"/>
              </a:tabLst>
            </a:pPr>
            <a:r>
              <a:rPr sz="3250" spc="55" dirty="0">
                <a:latin typeface="Calibri"/>
                <a:cs typeface="Calibri"/>
              </a:rPr>
              <a:t>JXTA</a:t>
            </a:r>
            <a:r>
              <a:rPr sz="3250" spc="48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started</a:t>
            </a:r>
            <a:r>
              <a:rPr sz="3250" spc="4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as</a:t>
            </a:r>
            <a:r>
              <a:rPr sz="3250" spc="56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</a:t>
            </a:r>
            <a:r>
              <a:rPr sz="3250" spc="505" dirty="0">
                <a:latin typeface="Calibri"/>
                <a:cs typeface="Calibri"/>
              </a:rPr>
              <a:t> </a:t>
            </a:r>
            <a:r>
              <a:rPr sz="3250" spc="110" dirty="0">
                <a:latin typeface="Calibri"/>
                <a:cs typeface="Calibri"/>
              </a:rPr>
              <a:t>Sun</a:t>
            </a:r>
            <a:r>
              <a:rPr sz="3250" spc="434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Microsystems</a:t>
            </a:r>
            <a:endParaRPr sz="3250">
              <a:latin typeface="Calibri"/>
              <a:cs typeface="Calibri"/>
            </a:endParaRPr>
          </a:p>
          <a:p>
            <a:pPr marL="356870">
              <a:lnSpc>
                <a:spcPts val="3550"/>
              </a:lnSpc>
            </a:pPr>
            <a:r>
              <a:rPr sz="3150" spc="95" dirty="0">
                <a:latin typeface="Calibri"/>
                <a:cs typeface="Calibri"/>
              </a:rPr>
              <a:t>Research</a:t>
            </a:r>
            <a:r>
              <a:rPr sz="3150" spc="530" dirty="0">
                <a:latin typeface="Calibri"/>
                <a:cs typeface="Calibri"/>
              </a:rPr>
              <a:t> </a:t>
            </a:r>
            <a:r>
              <a:rPr sz="3150" spc="60" dirty="0">
                <a:latin typeface="Calibri"/>
                <a:cs typeface="Calibri"/>
              </a:rPr>
              <a:t>Project</a:t>
            </a:r>
            <a:r>
              <a:rPr sz="3150" spc="480" dirty="0">
                <a:latin typeface="Calibri"/>
                <a:cs typeface="Calibri"/>
              </a:rPr>
              <a:t> </a:t>
            </a:r>
            <a:r>
              <a:rPr sz="3150" spc="65" dirty="0">
                <a:latin typeface="Calibri"/>
                <a:cs typeface="Calibri"/>
              </a:rPr>
              <a:t>in</a:t>
            </a:r>
            <a:r>
              <a:rPr sz="3150" spc="320" dirty="0">
                <a:latin typeface="Calibri"/>
                <a:cs typeface="Calibri"/>
              </a:rPr>
              <a:t> </a:t>
            </a:r>
            <a:r>
              <a:rPr sz="3150" dirty="0">
                <a:latin typeface="Calibri"/>
                <a:cs typeface="Calibri"/>
              </a:rPr>
              <a:t>April</a:t>
            </a:r>
            <a:r>
              <a:rPr sz="3150" spc="490" dirty="0">
                <a:latin typeface="Calibri"/>
                <a:cs typeface="Calibri"/>
              </a:rPr>
              <a:t> </a:t>
            </a:r>
            <a:r>
              <a:rPr sz="3150" spc="110" dirty="0">
                <a:latin typeface="Calibri"/>
                <a:cs typeface="Calibri"/>
              </a:rPr>
              <a:t>2001.</a:t>
            </a:r>
            <a:endParaRPr sz="3150">
              <a:latin typeface="Calibri"/>
              <a:cs typeface="Calibri"/>
            </a:endParaRPr>
          </a:p>
          <a:p>
            <a:pPr marL="342900" indent="-329565">
              <a:lnSpc>
                <a:spcPts val="3500"/>
              </a:lnSpc>
              <a:spcBef>
                <a:spcPts val="265"/>
              </a:spcBef>
              <a:buClr>
                <a:srgbClr val="4442D8"/>
              </a:buClr>
              <a:buChar char="•"/>
              <a:tabLst>
                <a:tab pos="342900" algn="l"/>
              </a:tabLst>
            </a:pPr>
            <a:r>
              <a:rPr sz="3150" dirty="0">
                <a:latin typeface="Calibri"/>
                <a:cs typeface="Calibri"/>
              </a:rPr>
              <a:t>3XTA</a:t>
            </a:r>
            <a:r>
              <a:rPr sz="3150" spc="490" dirty="0">
                <a:latin typeface="Calibri"/>
                <a:cs typeface="Calibri"/>
              </a:rPr>
              <a:t> </a:t>
            </a:r>
            <a:r>
              <a:rPr sz="3150" spc="80" dirty="0">
                <a:latin typeface="Calibri"/>
                <a:cs typeface="Calibri"/>
              </a:rPr>
              <a:t>was</a:t>
            </a:r>
            <a:r>
              <a:rPr sz="3150" spc="385" dirty="0">
                <a:latin typeface="Calibri"/>
                <a:cs typeface="Calibri"/>
              </a:rPr>
              <a:t> </a:t>
            </a:r>
            <a:r>
              <a:rPr sz="3150" spc="70" dirty="0">
                <a:latin typeface="Calibri"/>
                <a:cs typeface="Calibri"/>
              </a:rPr>
              <a:t>spearheaded</a:t>
            </a:r>
            <a:r>
              <a:rPr sz="3150" spc="710" dirty="0">
                <a:latin typeface="Calibri"/>
                <a:cs typeface="Calibri"/>
              </a:rPr>
              <a:t> </a:t>
            </a:r>
            <a:r>
              <a:rPr sz="3150" spc="105" dirty="0">
                <a:latin typeface="Calibri"/>
                <a:cs typeface="Calibri"/>
              </a:rPr>
              <a:t>by</a:t>
            </a:r>
            <a:r>
              <a:rPr sz="3150" spc="425" dirty="0">
                <a:latin typeface="Calibri"/>
                <a:cs typeface="Calibri"/>
              </a:rPr>
              <a:t> </a:t>
            </a:r>
            <a:r>
              <a:rPr sz="3150" dirty="0">
                <a:latin typeface="Calibri"/>
                <a:cs typeface="Calibri"/>
              </a:rPr>
              <a:t>Bill</a:t>
            </a:r>
            <a:r>
              <a:rPr sz="3150" spc="459" dirty="0">
                <a:latin typeface="Calibri"/>
                <a:cs typeface="Calibri"/>
              </a:rPr>
              <a:t> </a:t>
            </a:r>
            <a:r>
              <a:rPr sz="3150" spc="55" dirty="0">
                <a:latin typeface="Calibri"/>
                <a:cs typeface="Calibri"/>
              </a:rPr>
              <a:t>Joy,</a:t>
            </a:r>
            <a:r>
              <a:rPr sz="3150" spc="430" dirty="0">
                <a:latin typeface="Calibri"/>
                <a:cs typeface="Calibri"/>
              </a:rPr>
              <a:t> </a:t>
            </a:r>
            <a:r>
              <a:rPr sz="3150" spc="35" dirty="0">
                <a:latin typeface="Calibri"/>
                <a:cs typeface="Calibri"/>
              </a:rPr>
              <a:t>chief</a:t>
            </a:r>
            <a:endParaRPr sz="3150">
              <a:latin typeface="Calibri"/>
              <a:cs typeface="Calibri"/>
            </a:endParaRPr>
          </a:p>
          <a:p>
            <a:pPr marL="356235">
              <a:lnSpc>
                <a:spcPts val="3685"/>
              </a:lnSpc>
            </a:pPr>
            <a:r>
              <a:rPr sz="3300" dirty="0">
                <a:latin typeface="Calibri"/>
                <a:cs typeface="Calibri"/>
              </a:rPr>
              <a:t>scientist</a:t>
            </a:r>
            <a:r>
              <a:rPr sz="3300" spc="505" dirty="0">
                <a:latin typeface="Calibri"/>
                <a:cs typeface="Calibri"/>
              </a:rPr>
              <a:t> </a:t>
            </a:r>
            <a:r>
              <a:rPr sz="3300" spc="60" dirty="0">
                <a:latin typeface="Calibri"/>
                <a:cs typeface="Calibri"/>
              </a:rPr>
              <a:t>at</a:t>
            </a:r>
            <a:r>
              <a:rPr sz="3300" spc="440" dirty="0">
                <a:latin typeface="Calibri"/>
                <a:cs typeface="Calibri"/>
              </a:rPr>
              <a:t> </a:t>
            </a:r>
            <a:r>
              <a:rPr sz="3300" spc="60" dirty="0">
                <a:latin typeface="Calibri"/>
                <a:cs typeface="Calibri"/>
              </a:rPr>
              <a:t>Sun.</a:t>
            </a:r>
            <a:endParaRPr sz="3300">
              <a:latin typeface="Calibri"/>
              <a:cs typeface="Calibri"/>
            </a:endParaRPr>
          </a:p>
          <a:p>
            <a:pPr marL="346075" marR="620395" indent="-314325">
              <a:lnSpc>
                <a:spcPct val="94300"/>
              </a:lnSpc>
              <a:spcBef>
                <a:spcPts val="680"/>
              </a:spcBef>
              <a:buClr>
                <a:srgbClr val="2F2DCD"/>
              </a:buClr>
              <a:buChar char="•"/>
              <a:tabLst>
                <a:tab pos="361315" algn="l"/>
              </a:tabLst>
            </a:pPr>
            <a:r>
              <a:rPr sz="2900" dirty="0">
                <a:latin typeface="Arial"/>
                <a:cs typeface="Arial"/>
              </a:rPr>
              <a:t>3XTA.org</a:t>
            </a:r>
            <a:r>
              <a:rPr sz="2900" spc="405" dirty="0">
                <a:latin typeface="Arial"/>
                <a:cs typeface="Arial"/>
              </a:rPr>
              <a:t> </a:t>
            </a:r>
            <a:r>
              <a:rPr sz="2900" spc="80" dirty="0">
                <a:latin typeface="Arial"/>
                <a:cs typeface="Arial"/>
              </a:rPr>
              <a:t>(Project</a:t>
            </a:r>
            <a:r>
              <a:rPr sz="2900" spc="220" dirty="0">
                <a:latin typeface="Arial"/>
                <a:cs typeface="Arial"/>
              </a:rPr>
              <a:t> </a:t>
            </a:r>
            <a:r>
              <a:rPr sz="2900" spc="-10" dirty="0">
                <a:latin typeface="Arial"/>
                <a:cs typeface="Arial"/>
              </a:rPr>
              <a:t>JXTA)</a:t>
            </a:r>
            <a:r>
              <a:rPr sz="2900" spc="315" dirty="0">
                <a:latin typeface="Arial"/>
                <a:cs typeface="Arial"/>
              </a:rPr>
              <a:t> </a:t>
            </a:r>
            <a:r>
              <a:rPr sz="2900" spc="100" dirty="0">
                <a:latin typeface="Arial"/>
                <a:cs typeface="Arial"/>
              </a:rPr>
              <a:t>extends</a:t>
            </a:r>
            <a:r>
              <a:rPr sz="2900" spc="210" dirty="0">
                <a:latin typeface="Arial"/>
                <a:cs typeface="Arial"/>
              </a:rPr>
              <a:t> </a:t>
            </a:r>
            <a:r>
              <a:rPr sz="2900" spc="90" dirty="0">
                <a:latin typeface="Arial"/>
                <a:cs typeface="Arial"/>
              </a:rPr>
              <a:t>the 	</a:t>
            </a:r>
            <a:r>
              <a:rPr sz="2950" dirty="0">
                <a:latin typeface="Arial"/>
                <a:cs typeface="Arial"/>
              </a:rPr>
              <a:t>research</a:t>
            </a:r>
            <a:r>
              <a:rPr sz="2950" spc="580" dirty="0">
                <a:latin typeface="Arial"/>
                <a:cs typeface="Arial"/>
              </a:rPr>
              <a:t> </a:t>
            </a:r>
            <a:r>
              <a:rPr sz="2950" spc="95" dirty="0">
                <a:latin typeface="Arial"/>
                <a:cs typeface="Arial"/>
              </a:rPr>
              <a:t>project</a:t>
            </a:r>
            <a:r>
              <a:rPr sz="2950" spc="495" dirty="0">
                <a:latin typeface="Arial"/>
                <a:cs typeface="Arial"/>
              </a:rPr>
              <a:t> </a:t>
            </a:r>
            <a:r>
              <a:rPr sz="2950" spc="60" dirty="0">
                <a:latin typeface="Arial"/>
                <a:cs typeface="Arial"/>
              </a:rPr>
              <a:t>under</a:t>
            </a:r>
            <a:r>
              <a:rPr sz="2950" spc="434" dirty="0">
                <a:latin typeface="Arial"/>
                <a:cs typeface="Arial"/>
              </a:rPr>
              <a:t> </a:t>
            </a:r>
            <a:r>
              <a:rPr sz="2950" spc="114" dirty="0">
                <a:latin typeface="Arial"/>
                <a:cs typeface="Arial"/>
              </a:rPr>
              <a:t>the</a:t>
            </a:r>
            <a:r>
              <a:rPr sz="2950" spc="340" dirty="0">
                <a:latin typeface="Arial"/>
                <a:cs typeface="Arial"/>
              </a:rPr>
              <a:t> </a:t>
            </a:r>
            <a:r>
              <a:rPr sz="2950" spc="-10" dirty="0">
                <a:latin typeface="Arial"/>
                <a:cs typeface="Arial"/>
              </a:rPr>
              <a:t>Apache 	</a:t>
            </a:r>
            <a:r>
              <a:rPr sz="3000" spc="50" dirty="0">
                <a:latin typeface="Arial"/>
                <a:cs typeface="Arial"/>
              </a:rPr>
              <a:t>software</a:t>
            </a:r>
            <a:r>
              <a:rPr sz="3000" spc="46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license</a:t>
            </a:r>
            <a:r>
              <a:rPr sz="3000" spc="52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(open</a:t>
            </a:r>
            <a:r>
              <a:rPr sz="3000" spc="390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source).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62883" cy="1053703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651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140"/>
              </a:spcBef>
            </a:pPr>
            <a:r>
              <a:rPr sz="4550" spc="-150" dirty="0">
                <a:solidFill>
                  <a:srgbClr val="3B3495"/>
                </a:solidFill>
                <a:latin typeface="Arial"/>
                <a:cs typeface="Arial"/>
              </a:rPr>
              <a:t>Why </a:t>
            </a:r>
            <a:r>
              <a:rPr sz="4550" spc="-509" dirty="0">
                <a:solidFill>
                  <a:srgbClr val="3B3897"/>
                </a:solidFill>
                <a:latin typeface="Arial"/>
                <a:cs typeface="Arial"/>
              </a:rPr>
              <a:t>JXTA?</a:t>
            </a:r>
            <a:endParaRPr sz="45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4133" y="4576465"/>
            <a:ext cx="776882" cy="34379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61979" y="1992262"/>
            <a:ext cx="7393940" cy="45637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0040" marR="402590" indent="-320040" algn="ctr">
              <a:lnSpc>
                <a:spcPts val="3195"/>
              </a:lnSpc>
              <a:spcBef>
                <a:spcPts val="130"/>
              </a:spcBef>
              <a:buClr>
                <a:srgbClr val="4848DA"/>
              </a:buClr>
              <a:buChar char="•"/>
              <a:tabLst>
                <a:tab pos="320040" algn="l"/>
              </a:tabLst>
            </a:pPr>
            <a:r>
              <a:rPr sz="2850" spc="-295" dirty="0">
                <a:latin typeface="Arial"/>
                <a:cs typeface="Arial"/>
              </a:rPr>
              <a:t>P2P</a:t>
            </a:r>
            <a:r>
              <a:rPr sz="2850" spc="100" dirty="0">
                <a:latin typeface="Arial"/>
                <a:cs typeface="Arial"/>
              </a:rPr>
              <a:t> </a:t>
            </a:r>
            <a:r>
              <a:rPr sz="2850" spc="-65" dirty="0">
                <a:latin typeface="Arial"/>
                <a:cs typeface="Arial"/>
              </a:rPr>
              <a:t>Applications </a:t>
            </a:r>
            <a:r>
              <a:rPr sz="2850" dirty="0">
                <a:latin typeface="Arial"/>
                <a:cs typeface="Arial"/>
              </a:rPr>
              <a:t>are</a:t>
            </a:r>
            <a:r>
              <a:rPr sz="2850" spc="-135" dirty="0">
                <a:latin typeface="Arial"/>
                <a:cs typeface="Arial"/>
              </a:rPr>
              <a:t> </a:t>
            </a:r>
            <a:r>
              <a:rPr sz="2850" spc="-45" dirty="0">
                <a:latin typeface="Arial"/>
                <a:cs typeface="Arial"/>
              </a:rPr>
              <a:t>breaking</a:t>
            </a:r>
            <a:r>
              <a:rPr sz="2850" spc="90" dirty="0">
                <a:latin typeface="Arial"/>
                <a:cs typeface="Arial"/>
              </a:rPr>
              <a:t> </a:t>
            </a:r>
            <a:r>
              <a:rPr sz="2850" dirty="0">
                <a:latin typeface="Arial"/>
                <a:cs typeface="Arial"/>
              </a:rPr>
              <a:t>new </a:t>
            </a:r>
            <a:r>
              <a:rPr sz="2850" spc="-10" dirty="0">
                <a:latin typeface="Arial"/>
                <a:cs typeface="Arial"/>
              </a:rPr>
              <a:t>ground</a:t>
            </a:r>
            <a:endParaRPr sz="2850">
              <a:latin typeface="Arial"/>
              <a:cs typeface="Arial"/>
            </a:endParaRPr>
          </a:p>
          <a:p>
            <a:pPr marR="1738630" algn="ctr">
              <a:lnSpc>
                <a:spcPts val="3254"/>
              </a:lnSpc>
            </a:pPr>
            <a:r>
              <a:rPr sz="2900" spc="-125" dirty="0">
                <a:latin typeface="Arial"/>
                <a:cs typeface="Arial"/>
              </a:rPr>
              <a:t>Sun</a:t>
            </a:r>
            <a:r>
              <a:rPr sz="2900" spc="-70" dirty="0">
                <a:latin typeface="Arial"/>
                <a:cs typeface="Arial"/>
              </a:rPr>
              <a:t> </a:t>
            </a:r>
            <a:r>
              <a:rPr sz="2900" spc="-85" dirty="0">
                <a:latin typeface="Arial"/>
                <a:cs typeface="Arial"/>
              </a:rPr>
              <a:t>expects</a:t>
            </a:r>
            <a:r>
              <a:rPr sz="2900" spc="25" dirty="0">
                <a:latin typeface="Arial"/>
                <a:cs typeface="Arial"/>
              </a:rPr>
              <a:t> </a:t>
            </a:r>
            <a:r>
              <a:rPr sz="2900" spc="-10" dirty="0">
                <a:latin typeface="Arial"/>
                <a:cs typeface="Arial"/>
              </a:rPr>
              <a:t>more</a:t>
            </a:r>
            <a:r>
              <a:rPr sz="2900" spc="-45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in</a:t>
            </a:r>
            <a:r>
              <a:rPr sz="2900" spc="-130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the</a:t>
            </a:r>
            <a:r>
              <a:rPr sz="2900" spc="-85" dirty="0">
                <a:latin typeface="Arial"/>
                <a:cs typeface="Arial"/>
              </a:rPr>
              <a:t> </a:t>
            </a:r>
            <a:r>
              <a:rPr sz="2900" spc="-10" dirty="0">
                <a:latin typeface="Arial"/>
                <a:cs typeface="Arial"/>
              </a:rPr>
              <a:t>future.</a:t>
            </a:r>
            <a:endParaRPr sz="2900">
              <a:latin typeface="Arial"/>
              <a:cs typeface="Arial"/>
            </a:endParaRPr>
          </a:p>
          <a:p>
            <a:pPr marL="330200" indent="-313690" algn="ctr">
              <a:lnSpc>
                <a:spcPts val="3345"/>
              </a:lnSpc>
              <a:spcBef>
                <a:spcPts val="10"/>
              </a:spcBef>
              <a:buClr>
                <a:srgbClr val="6264F9"/>
              </a:buClr>
              <a:buChar char="•"/>
              <a:tabLst>
                <a:tab pos="330200" algn="l"/>
              </a:tabLst>
            </a:pPr>
            <a:r>
              <a:rPr sz="3100" spc="-150" dirty="0">
                <a:latin typeface="Arial"/>
                <a:cs typeface="Arial"/>
              </a:rPr>
              <a:t>Current</a:t>
            </a:r>
            <a:r>
              <a:rPr sz="3100" spc="-45" dirty="0">
                <a:latin typeface="Arial"/>
                <a:cs typeface="Arial"/>
              </a:rPr>
              <a:t> </a:t>
            </a:r>
            <a:r>
              <a:rPr sz="3100" spc="-455" dirty="0">
                <a:latin typeface="Arial"/>
                <a:cs typeface="Arial"/>
              </a:rPr>
              <a:t>P2P</a:t>
            </a:r>
            <a:r>
              <a:rPr sz="3100" spc="40" dirty="0">
                <a:latin typeface="Arial"/>
                <a:cs typeface="Arial"/>
              </a:rPr>
              <a:t> </a:t>
            </a:r>
            <a:r>
              <a:rPr sz="3100" spc="-195" dirty="0">
                <a:latin typeface="Arial"/>
                <a:cs typeface="Arial"/>
              </a:rPr>
              <a:t>programs</a:t>
            </a:r>
            <a:r>
              <a:rPr sz="3100" spc="125" dirty="0">
                <a:latin typeface="Arial"/>
                <a:cs typeface="Arial"/>
              </a:rPr>
              <a:t> </a:t>
            </a:r>
            <a:r>
              <a:rPr sz="3100" spc="-160" dirty="0">
                <a:latin typeface="Arial"/>
                <a:cs typeface="Arial"/>
              </a:rPr>
              <a:t>usually</a:t>
            </a:r>
            <a:r>
              <a:rPr sz="3100" spc="45" dirty="0">
                <a:latin typeface="Arial"/>
                <a:cs typeface="Arial"/>
              </a:rPr>
              <a:t> </a:t>
            </a:r>
            <a:r>
              <a:rPr sz="3100" spc="-254" dirty="0">
                <a:latin typeface="Arial"/>
                <a:cs typeface="Arial"/>
              </a:rPr>
              <a:t>address</a:t>
            </a:r>
            <a:r>
              <a:rPr sz="3100" spc="55" dirty="0">
                <a:latin typeface="Arial"/>
                <a:cs typeface="Arial"/>
              </a:rPr>
              <a:t> </a:t>
            </a:r>
            <a:r>
              <a:rPr sz="3100" spc="-145" dirty="0">
                <a:latin typeface="Arial"/>
                <a:cs typeface="Arial"/>
              </a:rPr>
              <a:t>only</a:t>
            </a:r>
            <a:r>
              <a:rPr sz="3100" spc="-35" dirty="0">
                <a:latin typeface="Arial"/>
                <a:cs typeface="Arial"/>
              </a:rPr>
              <a:t> </a:t>
            </a:r>
            <a:r>
              <a:rPr sz="3100" spc="-345" dirty="0">
                <a:latin typeface="Arial"/>
                <a:cs typeface="Arial"/>
              </a:rPr>
              <a:t>a</a:t>
            </a:r>
            <a:endParaRPr sz="3100">
              <a:latin typeface="Arial"/>
              <a:cs typeface="Arial"/>
            </a:endParaRPr>
          </a:p>
          <a:p>
            <a:pPr marR="4328160" algn="ctr">
              <a:lnSpc>
                <a:spcPts val="3379"/>
              </a:lnSpc>
            </a:pPr>
            <a:r>
              <a:rPr sz="3150" spc="-190" dirty="0">
                <a:latin typeface="Arial"/>
                <a:cs typeface="Arial"/>
              </a:rPr>
              <a:t>single</a:t>
            </a:r>
            <a:r>
              <a:rPr sz="3150" spc="-35" dirty="0">
                <a:latin typeface="Arial"/>
                <a:cs typeface="Arial"/>
              </a:rPr>
              <a:t> </a:t>
            </a:r>
            <a:r>
              <a:rPr sz="3150" spc="-50" dirty="0">
                <a:latin typeface="Arial"/>
                <a:cs typeface="Arial"/>
              </a:rPr>
              <a:t>function.</a:t>
            </a:r>
            <a:endParaRPr sz="3150">
              <a:latin typeface="Arial"/>
              <a:cs typeface="Arial"/>
            </a:endParaRPr>
          </a:p>
          <a:p>
            <a:pPr marL="318770" indent="-313055" algn="ctr">
              <a:lnSpc>
                <a:spcPts val="3425"/>
              </a:lnSpc>
              <a:buClr>
                <a:srgbClr val="4F4BDB"/>
              </a:buClr>
              <a:buChar char="•"/>
              <a:tabLst>
                <a:tab pos="318770" algn="l"/>
              </a:tabLst>
            </a:pPr>
            <a:r>
              <a:rPr sz="3150" spc="-180" dirty="0">
                <a:latin typeface="Arial"/>
                <a:cs typeface="Arial"/>
              </a:rPr>
              <a:t>Current</a:t>
            </a:r>
            <a:r>
              <a:rPr sz="3150" spc="-40" dirty="0">
                <a:latin typeface="Arial"/>
                <a:cs typeface="Arial"/>
              </a:rPr>
              <a:t> </a:t>
            </a:r>
            <a:r>
              <a:rPr sz="3150" spc="-480" dirty="0">
                <a:latin typeface="Arial"/>
                <a:cs typeface="Arial"/>
              </a:rPr>
              <a:t>P2P</a:t>
            </a:r>
            <a:r>
              <a:rPr sz="3150" spc="15" dirty="0">
                <a:latin typeface="Arial"/>
                <a:cs typeface="Arial"/>
              </a:rPr>
              <a:t> </a:t>
            </a:r>
            <a:r>
              <a:rPr sz="3150" spc="-220" dirty="0">
                <a:latin typeface="Arial"/>
                <a:cs typeface="Arial"/>
              </a:rPr>
              <a:t>programs</a:t>
            </a:r>
            <a:r>
              <a:rPr sz="3150" spc="5" dirty="0">
                <a:latin typeface="Arial"/>
                <a:cs typeface="Arial"/>
              </a:rPr>
              <a:t> </a:t>
            </a:r>
            <a:r>
              <a:rPr sz="3150" spc="-140" dirty="0">
                <a:latin typeface="Arial"/>
                <a:cs typeface="Arial"/>
              </a:rPr>
              <a:t>typically</a:t>
            </a:r>
            <a:r>
              <a:rPr sz="3150" spc="-60" dirty="0">
                <a:latin typeface="Arial"/>
                <a:cs typeface="Arial"/>
              </a:rPr>
              <a:t> </a:t>
            </a:r>
            <a:r>
              <a:rPr sz="3150" spc="-120" dirty="0">
                <a:latin typeface="Arial"/>
                <a:cs typeface="Arial"/>
              </a:rPr>
              <a:t>run</a:t>
            </a:r>
            <a:r>
              <a:rPr sz="3150" spc="-60" dirty="0">
                <a:latin typeface="Arial"/>
                <a:cs typeface="Arial"/>
              </a:rPr>
              <a:t> </a:t>
            </a:r>
            <a:r>
              <a:rPr sz="3150" spc="-250" dirty="0">
                <a:latin typeface="Arial"/>
                <a:cs typeface="Arial"/>
              </a:rPr>
              <a:t>on</a:t>
            </a:r>
            <a:r>
              <a:rPr sz="3150" spc="25" dirty="0">
                <a:latin typeface="Arial"/>
                <a:cs typeface="Arial"/>
              </a:rPr>
              <a:t> </a:t>
            </a:r>
            <a:r>
              <a:rPr sz="3150" spc="-155" dirty="0">
                <a:latin typeface="Arial"/>
                <a:cs typeface="Arial"/>
              </a:rPr>
              <a:t>only</a:t>
            </a:r>
            <a:r>
              <a:rPr sz="3150" spc="-35" dirty="0">
                <a:latin typeface="Arial"/>
                <a:cs typeface="Arial"/>
              </a:rPr>
              <a:t> </a:t>
            </a:r>
            <a:r>
              <a:rPr sz="3150" spc="-455" dirty="0">
                <a:latin typeface="Arial"/>
                <a:cs typeface="Arial"/>
              </a:rPr>
              <a:t>a</a:t>
            </a:r>
            <a:endParaRPr sz="3150">
              <a:latin typeface="Arial"/>
              <a:cs typeface="Arial"/>
            </a:endParaRPr>
          </a:p>
          <a:p>
            <a:pPr marL="24130" algn="ctr">
              <a:lnSpc>
                <a:spcPts val="3329"/>
              </a:lnSpc>
            </a:pPr>
            <a:r>
              <a:rPr sz="3050" spc="-145" dirty="0">
                <a:latin typeface="Arial"/>
                <a:cs typeface="Arial"/>
              </a:rPr>
              <a:t>single</a:t>
            </a:r>
            <a:r>
              <a:rPr sz="3050" spc="-75" dirty="0">
                <a:latin typeface="Arial"/>
                <a:cs typeface="Arial"/>
              </a:rPr>
              <a:t> </a:t>
            </a:r>
            <a:r>
              <a:rPr sz="3050" spc="-85" dirty="0">
                <a:latin typeface="Arial"/>
                <a:cs typeface="Arial"/>
              </a:rPr>
              <a:t>platform</a:t>
            </a:r>
            <a:r>
              <a:rPr sz="3050" spc="-60" dirty="0">
                <a:latin typeface="Arial"/>
                <a:cs typeface="Arial"/>
              </a:rPr>
              <a:t> </a:t>
            </a:r>
            <a:r>
              <a:rPr sz="3050" spc="-105" dirty="0">
                <a:latin typeface="Arial"/>
                <a:cs typeface="Arial"/>
              </a:rPr>
              <a:t>(negating</a:t>
            </a:r>
            <a:r>
              <a:rPr sz="3050" spc="50" dirty="0">
                <a:latin typeface="Arial"/>
                <a:cs typeface="Arial"/>
              </a:rPr>
              <a:t> </a:t>
            </a:r>
            <a:r>
              <a:rPr sz="3050" spc="-45" dirty="0">
                <a:latin typeface="Arial"/>
                <a:cs typeface="Arial"/>
              </a:rPr>
              <a:t>the</a:t>
            </a:r>
            <a:r>
              <a:rPr sz="3050" spc="-160" dirty="0">
                <a:latin typeface="Arial"/>
                <a:cs typeface="Arial"/>
              </a:rPr>
              <a:t> </a:t>
            </a:r>
            <a:r>
              <a:rPr sz="3050" spc="-185" dirty="0">
                <a:latin typeface="Arial"/>
                <a:cs typeface="Arial"/>
              </a:rPr>
              <a:t>usefulness</a:t>
            </a:r>
            <a:r>
              <a:rPr sz="3050" spc="-20" dirty="0">
                <a:latin typeface="Arial"/>
                <a:cs typeface="Arial"/>
              </a:rPr>
              <a:t> </a:t>
            </a:r>
            <a:r>
              <a:rPr sz="3050" spc="-25" dirty="0">
                <a:latin typeface="Arial"/>
                <a:cs typeface="Arial"/>
              </a:rPr>
              <a:t>of</a:t>
            </a:r>
            <a:endParaRPr sz="3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3050">
              <a:latin typeface="Arial"/>
              <a:cs typeface="Arial"/>
            </a:endParaRPr>
          </a:p>
          <a:p>
            <a:pPr marL="340995" marR="222250" indent="-328930">
              <a:lnSpc>
                <a:spcPct val="81700"/>
              </a:lnSpc>
              <a:buChar char="•"/>
              <a:tabLst>
                <a:tab pos="340995" algn="l"/>
                <a:tab pos="346075" algn="l"/>
              </a:tabLst>
            </a:pPr>
            <a:r>
              <a:rPr sz="3150" dirty="0">
                <a:solidFill>
                  <a:srgbClr val="6064F2"/>
                </a:solidFill>
                <a:latin typeface="Calibri"/>
                <a:cs typeface="Calibri"/>
              </a:rPr>
              <a:t>	</a:t>
            </a:r>
            <a:r>
              <a:rPr sz="3150" spc="-160" dirty="0">
                <a:latin typeface="Calibri"/>
                <a:cs typeface="Calibri"/>
              </a:rPr>
              <a:t>Most</a:t>
            </a:r>
            <a:r>
              <a:rPr sz="3150" spc="-20" dirty="0">
                <a:latin typeface="Calibri"/>
                <a:cs typeface="Calibri"/>
              </a:rPr>
              <a:t> </a:t>
            </a:r>
            <a:r>
              <a:rPr sz="3150" dirty="0">
                <a:latin typeface="Calibri"/>
                <a:cs typeface="Calibri"/>
              </a:rPr>
              <a:t>P2P</a:t>
            </a:r>
            <a:r>
              <a:rPr sz="3150" spc="-175" dirty="0">
                <a:latin typeface="Calibri"/>
                <a:cs typeface="Calibri"/>
              </a:rPr>
              <a:t> </a:t>
            </a:r>
            <a:r>
              <a:rPr sz="3150" spc="-85" dirty="0">
                <a:latin typeface="Calibri"/>
                <a:cs typeface="Calibri"/>
              </a:rPr>
              <a:t>applications</a:t>
            </a:r>
            <a:r>
              <a:rPr sz="3150" spc="75" dirty="0">
                <a:latin typeface="Calibri"/>
                <a:cs typeface="Calibri"/>
              </a:rPr>
              <a:t> </a:t>
            </a:r>
            <a:r>
              <a:rPr sz="3150" dirty="0">
                <a:latin typeface="Calibri"/>
                <a:cs typeface="Calibri"/>
              </a:rPr>
              <a:t>are</a:t>
            </a:r>
            <a:r>
              <a:rPr sz="3150" spc="-105" dirty="0">
                <a:latin typeface="Calibri"/>
                <a:cs typeface="Calibri"/>
              </a:rPr>
              <a:t> </a:t>
            </a:r>
            <a:r>
              <a:rPr sz="3150" spc="-55" dirty="0">
                <a:latin typeface="Calibri"/>
                <a:cs typeface="Calibri"/>
              </a:rPr>
              <a:t>unable</a:t>
            </a:r>
            <a:r>
              <a:rPr sz="3150" spc="-5" dirty="0">
                <a:latin typeface="Calibri"/>
                <a:cs typeface="Calibri"/>
              </a:rPr>
              <a:t> </a:t>
            </a:r>
            <a:r>
              <a:rPr sz="3150" spc="-10" dirty="0">
                <a:latin typeface="Calibri"/>
                <a:cs typeface="Calibri"/>
              </a:rPr>
              <a:t>to</a:t>
            </a:r>
            <a:r>
              <a:rPr sz="3150" spc="-105" dirty="0">
                <a:latin typeface="Calibri"/>
                <a:cs typeface="Calibri"/>
              </a:rPr>
              <a:t> </a:t>
            </a:r>
            <a:r>
              <a:rPr sz="3150" spc="-60" dirty="0">
                <a:latin typeface="Calibri"/>
                <a:cs typeface="Calibri"/>
              </a:rPr>
              <a:t>directly </a:t>
            </a:r>
            <a:r>
              <a:rPr sz="3100" dirty="0">
                <a:latin typeface="Calibri"/>
                <a:cs typeface="Calibri"/>
              </a:rPr>
              <a:t>share</a:t>
            </a:r>
            <a:r>
              <a:rPr sz="3100" spc="-40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data</a:t>
            </a:r>
            <a:r>
              <a:rPr sz="3100" spc="-35" dirty="0">
                <a:latin typeface="Calibri"/>
                <a:cs typeface="Calibri"/>
              </a:rPr>
              <a:t> </a:t>
            </a:r>
            <a:r>
              <a:rPr sz="3100" spc="-45" dirty="0">
                <a:latin typeface="Calibri"/>
                <a:cs typeface="Calibri"/>
              </a:rPr>
              <a:t>with</a:t>
            </a:r>
            <a:r>
              <a:rPr sz="3100" spc="-60" dirty="0">
                <a:latin typeface="Calibri"/>
                <a:cs typeface="Calibri"/>
              </a:rPr>
              <a:t> </a:t>
            </a:r>
            <a:r>
              <a:rPr sz="3100" spc="-45" dirty="0">
                <a:latin typeface="Calibri"/>
                <a:cs typeface="Calibri"/>
              </a:rPr>
              <a:t>similar</a:t>
            </a:r>
            <a:r>
              <a:rPr sz="3100" spc="20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(not</a:t>
            </a:r>
            <a:r>
              <a:rPr sz="3100" spc="-70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identical) </a:t>
            </a:r>
            <a:r>
              <a:rPr sz="3250" spc="-125" dirty="0">
                <a:latin typeface="Calibri"/>
                <a:cs typeface="Calibri"/>
              </a:rPr>
              <a:t>applications</a:t>
            </a:r>
            <a:r>
              <a:rPr sz="3250" spc="85" dirty="0">
                <a:latin typeface="Calibri"/>
                <a:cs typeface="Calibri"/>
              </a:rPr>
              <a:t> </a:t>
            </a:r>
            <a:r>
              <a:rPr sz="3250" spc="-40" dirty="0">
                <a:latin typeface="Calibri"/>
                <a:cs typeface="Calibri"/>
              </a:rPr>
              <a:t>(Kazaa/Gnutella, </a:t>
            </a:r>
            <a:r>
              <a:rPr sz="2850" spc="70" dirty="0">
                <a:latin typeface="Calibri"/>
                <a:cs typeface="Calibri"/>
              </a:rPr>
              <a:t>IC@AIM/MSIM).</a:t>
            </a:r>
            <a:endParaRPr sz="2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80741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4596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125"/>
              </a:spcBef>
            </a:pPr>
            <a:r>
              <a:rPr sz="5200" spc="-385" dirty="0">
                <a:solidFill>
                  <a:srgbClr val="36368E"/>
                </a:solidFill>
              </a:rPr>
              <a:t>What</a:t>
            </a:r>
            <a:r>
              <a:rPr sz="5200" spc="105" dirty="0">
                <a:solidFill>
                  <a:srgbClr val="36368E"/>
                </a:solidFill>
              </a:rPr>
              <a:t> </a:t>
            </a:r>
            <a:r>
              <a:rPr sz="5200" dirty="0">
                <a:solidFill>
                  <a:srgbClr val="383689"/>
                </a:solidFill>
              </a:rPr>
              <a:t>is</a:t>
            </a:r>
            <a:r>
              <a:rPr sz="5200" spc="-55" dirty="0">
                <a:solidFill>
                  <a:srgbClr val="383689"/>
                </a:solidFill>
              </a:rPr>
              <a:t> </a:t>
            </a:r>
            <a:r>
              <a:rPr sz="5200" spc="-75" dirty="0">
                <a:solidFill>
                  <a:srgbClr val="3F3F8E"/>
                </a:solidFill>
              </a:rPr>
              <a:t>JXTA</a:t>
            </a:r>
            <a:r>
              <a:rPr sz="5200" spc="125" dirty="0">
                <a:solidFill>
                  <a:srgbClr val="3F3F8E"/>
                </a:solidFill>
              </a:rPr>
              <a:t> </a:t>
            </a:r>
            <a:r>
              <a:rPr sz="5200" spc="-325" dirty="0">
                <a:solidFill>
                  <a:srgbClr val="363683"/>
                </a:solidFill>
              </a:rPr>
              <a:t>for?</a:t>
            </a:r>
            <a:endParaRPr sz="5200"/>
          </a:p>
        </p:txBody>
      </p:sp>
      <p:sp>
        <p:nvSpPr>
          <p:cNvPr id="4" name="object 4"/>
          <p:cNvSpPr txBox="1"/>
          <p:nvPr/>
        </p:nvSpPr>
        <p:spPr>
          <a:xfrm>
            <a:off x="1265066" y="1986805"/>
            <a:ext cx="7355840" cy="322389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38455" marR="462280" indent="-326390">
              <a:lnSpc>
                <a:spcPts val="3829"/>
              </a:lnSpc>
              <a:spcBef>
                <a:spcPts val="695"/>
              </a:spcBef>
              <a:buChar char="•"/>
              <a:tabLst>
                <a:tab pos="338455" algn="l"/>
                <a:tab pos="347980" algn="l"/>
              </a:tabLst>
            </a:pPr>
            <a:r>
              <a:rPr sz="3650" dirty="0">
                <a:solidFill>
                  <a:srgbClr val="2F36C6"/>
                </a:solidFill>
                <a:latin typeface="Calibri"/>
                <a:cs typeface="Calibri"/>
              </a:rPr>
              <a:t>	</a:t>
            </a:r>
            <a:r>
              <a:rPr sz="3650" dirty="0">
                <a:latin typeface="Calibri"/>
                <a:cs typeface="Calibri"/>
              </a:rPr>
              <a:t>JXTA</a:t>
            </a:r>
            <a:r>
              <a:rPr sz="3650" spc="-90" dirty="0">
                <a:latin typeface="Calibri"/>
                <a:cs typeface="Calibri"/>
              </a:rPr>
              <a:t> </a:t>
            </a:r>
            <a:r>
              <a:rPr sz="3650" spc="-65" dirty="0">
                <a:latin typeface="Calibri"/>
                <a:cs typeface="Calibri"/>
              </a:rPr>
              <a:t>creates</a:t>
            </a:r>
            <a:r>
              <a:rPr sz="3650" spc="-25" dirty="0">
                <a:latin typeface="Calibri"/>
                <a:cs typeface="Calibri"/>
              </a:rPr>
              <a:t> </a:t>
            </a:r>
            <a:r>
              <a:rPr sz="3650" spc="70" dirty="0">
                <a:latin typeface="Calibri"/>
                <a:cs typeface="Calibri"/>
              </a:rPr>
              <a:t>a</a:t>
            </a:r>
            <a:r>
              <a:rPr sz="3650" spc="-180" dirty="0">
                <a:latin typeface="Calibri"/>
                <a:cs typeface="Calibri"/>
              </a:rPr>
              <a:t> </a:t>
            </a:r>
            <a:r>
              <a:rPr sz="3650" spc="-145" dirty="0">
                <a:latin typeface="Calibri"/>
                <a:cs typeface="Calibri"/>
              </a:rPr>
              <a:t>common</a:t>
            </a:r>
            <a:r>
              <a:rPr sz="3650" spc="20" dirty="0">
                <a:latin typeface="Calibri"/>
                <a:cs typeface="Calibri"/>
              </a:rPr>
              <a:t> </a:t>
            </a:r>
            <a:r>
              <a:rPr sz="3650" spc="-120" dirty="0">
                <a:latin typeface="Calibri"/>
                <a:cs typeface="Calibri"/>
              </a:rPr>
              <a:t>platform</a:t>
            </a:r>
            <a:r>
              <a:rPr sz="3650" spc="125" dirty="0">
                <a:latin typeface="Calibri"/>
                <a:cs typeface="Calibri"/>
              </a:rPr>
              <a:t> </a:t>
            </a:r>
            <a:r>
              <a:rPr sz="3650" spc="-90" dirty="0">
                <a:latin typeface="Calibri"/>
                <a:cs typeface="Calibri"/>
              </a:rPr>
              <a:t>for </a:t>
            </a:r>
            <a:r>
              <a:rPr sz="3650" dirty="0">
                <a:latin typeface="Calibri"/>
                <a:cs typeface="Calibri"/>
              </a:rPr>
              <a:t>P2P</a:t>
            </a:r>
            <a:r>
              <a:rPr sz="3650" spc="-185" dirty="0">
                <a:latin typeface="Calibri"/>
                <a:cs typeface="Calibri"/>
              </a:rPr>
              <a:t> </a:t>
            </a:r>
            <a:r>
              <a:rPr sz="3650" spc="-65" dirty="0">
                <a:latin typeface="Calibri"/>
                <a:cs typeface="Calibri"/>
              </a:rPr>
              <a:t>Applications.</a:t>
            </a:r>
            <a:endParaRPr sz="3650">
              <a:latin typeface="Calibri"/>
              <a:cs typeface="Calibri"/>
            </a:endParaRPr>
          </a:p>
          <a:p>
            <a:pPr marL="338455" marR="236220" indent="-305435">
              <a:lnSpc>
                <a:spcPts val="3870"/>
              </a:lnSpc>
              <a:spcBef>
                <a:spcPts val="780"/>
              </a:spcBef>
              <a:buClr>
                <a:srgbClr val="3634CF"/>
              </a:buClr>
              <a:buChar char="•"/>
              <a:tabLst>
                <a:tab pos="344170" algn="l"/>
              </a:tabLst>
            </a:pPr>
            <a:r>
              <a:rPr sz="3400" spc="-400" dirty="0">
                <a:latin typeface="Arial"/>
                <a:cs typeface="Arial"/>
              </a:rPr>
              <a:t>JXTA</a:t>
            </a:r>
            <a:r>
              <a:rPr sz="3400" spc="160" dirty="0">
                <a:latin typeface="Arial"/>
                <a:cs typeface="Arial"/>
              </a:rPr>
              <a:t> </a:t>
            </a:r>
            <a:r>
              <a:rPr sz="3400" spc="-195" dirty="0">
                <a:latin typeface="Arial"/>
                <a:cs typeface="Arial"/>
              </a:rPr>
              <a:t>makes</a:t>
            </a:r>
            <a:r>
              <a:rPr sz="3400" spc="-40" dirty="0">
                <a:latin typeface="Arial"/>
                <a:cs typeface="Arial"/>
              </a:rPr>
              <a:t> </a:t>
            </a:r>
            <a:r>
              <a:rPr sz="3400" spc="-125" dirty="0">
                <a:latin typeface="Arial"/>
                <a:cs typeface="Arial"/>
              </a:rPr>
              <a:t>development</a:t>
            </a:r>
            <a:r>
              <a:rPr sz="3400" spc="100" dirty="0">
                <a:latin typeface="Arial"/>
                <a:cs typeface="Arial"/>
              </a:rPr>
              <a:t> </a:t>
            </a:r>
            <a:r>
              <a:rPr sz="3400" spc="-105" dirty="0">
                <a:latin typeface="Arial"/>
                <a:cs typeface="Arial"/>
              </a:rPr>
              <a:t>simple,</a:t>
            </a:r>
            <a:r>
              <a:rPr sz="3400" dirty="0">
                <a:latin typeface="Arial"/>
                <a:cs typeface="Arial"/>
              </a:rPr>
              <a:t> </a:t>
            </a:r>
            <a:r>
              <a:rPr sz="3400" spc="-20" dirty="0">
                <a:latin typeface="Arial"/>
                <a:cs typeface="Arial"/>
              </a:rPr>
              <a:t>fast 	</a:t>
            </a:r>
            <a:r>
              <a:rPr sz="3400" spc="-90" dirty="0">
                <a:latin typeface="Arial"/>
                <a:cs typeface="Arial"/>
              </a:rPr>
              <a:t>and</a:t>
            </a:r>
            <a:r>
              <a:rPr sz="3400" spc="-55" dirty="0">
                <a:latin typeface="Arial"/>
                <a:cs typeface="Arial"/>
              </a:rPr>
              <a:t> </a:t>
            </a:r>
            <a:r>
              <a:rPr sz="3400" spc="-190" dirty="0">
                <a:latin typeface="Arial"/>
                <a:cs typeface="Arial"/>
              </a:rPr>
              <a:t>easy</a:t>
            </a:r>
            <a:r>
              <a:rPr sz="3400" spc="-40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(in</a:t>
            </a:r>
            <a:r>
              <a:rPr sz="3400" spc="-30" dirty="0">
                <a:latin typeface="Arial"/>
                <a:cs typeface="Arial"/>
              </a:rPr>
              <a:t> </a:t>
            </a:r>
            <a:r>
              <a:rPr sz="3400" spc="-10" dirty="0">
                <a:latin typeface="Arial"/>
                <a:cs typeface="Arial"/>
              </a:rPr>
              <a:t>theory).</a:t>
            </a:r>
            <a:endParaRPr sz="3400">
              <a:latin typeface="Arial"/>
              <a:cs typeface="Arial"/>
            </a:endParaRPr>
          </a:p>
          <a:p>
            <a:pPr marL="348615" indent="-335915">
              <a:lnSpc>
                <a:spcPts val="4045"/>
              </a:lnSpc>
              <a:spcBef>
                <a:spcPts val="195"/>
              </a:spcBef>
              <a:buClr>
                <a:srgbClr val="3333C6"/>
              </a:buClr>
              <a:buChar char="•"/>
              <a:tabLst>
                <a:tab pos="348615" algn="l"/>
              </a:tabLst>
            </a:pPr>
            <a:r>
              <a:rPr sz="3600" dirty="0">
                <a:latin typeface="Calibri"/>
                <a:cs typeface="Calibri"/>
              </a:rPr>
              <a:t>JXTA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spc="-50" dirty="0">
                <a:latin typeface="Calibri"/>
                <a:cs typeface="Calibri"/>
              </a:rPr>
              <a:t>allows</a:t>
            </a:r>
            <a:r>
              <a:rPr sz="3600" spc="-90" dirty="0">
                <a:latin typeface="Calibri"/>
                <a:cs typeface="Calibri"/>
              </a:rPr>
              <a:t> </a:t>
            </a:r>
            <a:r>
              <a:rPr sz="3600" spc="-85" dirty="0">
                <a:latin typeface="Calibri"/>
                <a:cs typeface="Calibri"/>
              </a:rPr>
              <a:t>developers</a:t>
            </a:r>
            <a:r>
              <a:rPr sz="3600" spc="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to</a:t>
            </a:r>
            <a:r>
              <a:rPr sz="3600" spc="-90" dirty="0">
                <a:latin typeface="Calibri"/>
                <a:cs typeface="Calibri"/>
              </a:rPr>
              <a:t> </a:t>
            </a:r>
            <a:r>
              <a:rPr sz="3600" spc="-40" dirty="0">
                <a:latin typeface="Calibri"/>
                <a:cs typeface="Calibri"/>
              </a:rPr>
              <a:t>focus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on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the</a:t>
            </a:r>
            <a:endParaRPr sz="3600">
              <a:latin typeface="Calibri"/>
              <a:cs typeface="Calibri"/>
            </a:endParaRPr>
          </a:p>
          <a:p>
            <a:pPr marL="339090">
              <a:lnSpc>
                <a:spcPts val="4165"/>
              </a:lnSpc>
            </a:pPr>
            <a:r>
              <a:rPr sz="3700" spc="-135" dirty="0">
                <a:latin typeface="Calibri"/>
                <a:cs typeface="Calibri"/>
              </a:rPr>
              <a:t>content</a:t>
            </a:r>
            <a:r>
              <a:rPr sz="3700" spc="-6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of</a:t>
            </a:r>
            <a:r>
              <a:rPr sz="3700" spc="-120" dirty="0">
                <a:latin typeface="Calibri"/>
                <a:cs typeface="Calibri"/>
              </a:rPr>
              <a:t> </a:t>
            </a:r>
            <a:r>
              <a:rPr sz="3700" spc="-105" dirty="0">
                <a:latin typeface="Calibri"/>
                <a:cs typeface="Calibri"/>
              </a:rPr>
              <a:t>their</a:t>
            </a:r>
            <a:r>
              <a:rPr sz="3700" spc="-70" dirty="0">
                <a:latin typeface="Calibri"/>
                <a:cs typeface="Calibri"/>
              </a:rPr>
              <a:t> </a:t>
            </a:r>
            <a:r>
              <a:rPr sz="3700" spc="-80" dirty="0">
                <a:latin typeface="Calibri"/>
                <a:cs typeface="Calibri"/>
              </a:rPr>
              <a:t>applications.</a:t>
            </a:r>
            <a:endParaRPr sz="3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5062" y="517921"/>
            <a:ext cx="62507" cy="8929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7554" y="991195"/>
            <a:ext cx="3080741" cy="1053703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553" rIns="0" bIns="0" rtlCol="0">
            <a:spAutoFit/>
          </a:bodyPr>
          <a:lstStyle/>
          <a:p>
            <a:pPr marL="35560">
              <a:lnSpc>
                <a:spcPts val="5320"/>
              </a:lnSpc>
              <a:spcBef>
                <a:spcPts val="135"/>
              </a:spcBef>
            </a:pPr>
            <a:r>
              <a:rPr sz="4600" spc="-85" dirty="0">
                <a:solidFill>
                  <a:srgbClr val="3B3193"/>
                </a:solidFill>
                <a:latin typeface="Arial"/>
                <a:cs typeface="Arial"/>
              </a:rPr>
              <a:t>What</a:t>
            </a:r>
            <a:r>
              <a:rPr sz="4600" spc="-175" dirty="0">
                <a:solidFill>
                  <a:srgbClr val="3B3193"/>
                </a:solidFill>
                <a:latin typeface="Arial"/>
                <a:cs typeface="Arial"/>
              </a:rPr>
              <a:t> </a:t>
            </a:r>
            <a:r>
              <a:rPr sz="4600" spc="-175" dirty="0">
                <a:solidFill>
                  <a:srgbClr val="383480"/>
                </a:solidFill>
                <a:latin typeface="Arial"/>
                <a:cs typeface="Arial"/>
              </a:rPr>
              <a:t>Programming</a:t>
            </a:r>
            <a:r>
              <a:rPr sz="4600" spc="60" dirty="0">
                <a:solidFill>
                  <a:srgbClr val="383480"/>
                </a:solidFill>
                <a:latin typeface="Arial"/>
                <a:cs typeface="Arial"/>
              </a:rPr>
              <a:t> </a:t>
            </a:r>
            <a:r>
              <a:rPr sz="4600" spc="-275" dirty="0">
                <a:solidFill>
                  <a:srgbClr val="3A3390"/>
                </a:solidFill>
                <a:latin typeface="Arial"/>
                <a:cs typeface="Arial"/>
              </a:rPr>
              <a:t>Language</a:t>
            </a:r>
            <a:endParaRPr sz="4600">
              <a:latin typeface="Arial"/>
              <a:cs typeface="Arial"/>
            </a:endParaRPr>
          </a:p>
          <a:p>
            <a:pPr marL="29845">
              <a:lnSpc>
                <a:spcPts val="5500"/>
              </a:lnSpc>
            </a:pPr>
            <a:r>
              <a:rPr sz="4750" spc="-320" dirty="0">
                <a:solidFill>
                  <a:srgbClr val="342F89"/>
                </a:solidFill>
                <a:latin typeface="Arial"/>
                <a:cs typeface="Arial"/>
              </a:rPr>
              <a:t>and</a:t>
            </a:r>
            <a:r>
              <a:rPr sz="4750" spc="245" dirty="0">
                <a:solidFill>
                  <a:srgbClr val="342F89"/>
                </a:solidFill>
                <a:latin typeface="Arial"/>
                <a:cs typeface="Arial"/>
              </a:rPr>
              <a:t> </a:t>
            </a:r>
            <a:r>
              <a:rPr sz="4750" spc="-330" dirty="0">
                <a:solidFill>
                  <a:srgbClr val="333185"/>
                </a:solidFill>
                <a:latin typeface="Arial"/>
                <a:cs typeface="Arial"/>
              </a:rPr>
              <a:t>Protocol?</a:t>
            </a:r>
            <a:endParaRPr sz="47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8929" y="2005905"/>
            <a:ext cx="7533005" cy="373824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25755" marR="727075" indent="-313690">
              <a:lnSpc>
                <a:spcPts val="3340"/>
              </a:lnSpc>
              <a:spcBef>
                <a:spcPts val="550"/>
              </a:spcBef>
              <a:buClr>
                <a:srgbClr val="6767FD"/>
              </a:buClr>
              <a:buChar char="•"/>
              <a:tabLst>
                <a:tab pos="338455" algn="l"/>
              </a:tabLst>
            </a:pPr>
            <a:r>
              <a:rPr sz="3100" spc="-459" dirty="0">
                <a:latin typeface="Arial"/>
                <a:cs typeface="Arial"/>
              </a:rPr>
              <a:t>JXTA</a:t>
            </a:r>
            <a:r>
              <a:rPr sz="3100" spc="180" dirty="0">
                <a:latin typeface="Arial"/>
                <a:cs typeface="Arial"/>
              </a:rPr>
              <a:t> </a:t>
            </a:r>
            <a:r>
              <a:rPr sz="3100" spc="-95" dirty="0">
                <a:latin typeface="Arial"/>
                <a:cs typeface="Arial"/>
              </a:rPr>
              <a:t>is</a:t>
            </a:r>
            <a:r>
              <a:rPr sz="3100" spc="-125" dirty="0">
                <a:latin typeface="Arial"/>
                <a:cs typeface="Arial"/>
              </a:rPr>
              <a:t> </a:t>
            </a:r>
            <a:r>
              <a:rPr sz="3100" spc="-175" dirty="0">
                <a:latin typeface="Arial"/>
                <a:cs typeface="Arial"/>
              </a:rPr>
              <a:t>independent</a:t>
            </a:r>
            <a:r>
              <a:rPr sz="3100" spc="-30" dirty="0">
                <a:latin typeface="Arial"/>
                <a:cs typeface="Arial"/>
              </a:rPr>
              <a:t> </a:t>
            </a:r>
            <a:r>
              <a:rPr sz="3100" dirty="0">
                <a:latin typeface="Arial"/>
                <a:cs typeface="Arial"/>
              </a:rPr>
              <a:t>of</a:t>
            </a:r>
            <a:r>
              <a:rPr sz="3100" spc="-100" dirty="0">
                <a:latin typeface="Arial"/>
                <a:cs typeface="Arial"/>
              </a:rPr>
              <a:t> </a:t>
            </a:r>
            <a:r>
              <a:rPr sz="3100" spc="-95" dirty="0">
                <a:latin typeface="Arial"/>
                <a:cs typeface="Arial"/>
              </a:rPr>
              <a:t>programming 	</a:t>
            </a:r>
            <a:r>
              <a:rPr sz="3100" spc="-210" dirty="0">
                <a:latin typeface="Arial"/>
                <a:cs typeface="Arial"/>
              </a:rPr>
              <a:t>languages.</a:t>
            </a:r>
            <a:r>
              <a:rPr sz="3100" spc="-10" dirty="0">
                <a:latin typeface="Arial"/>
                <a:cs typeface="Arial"/>
              </a:rPr>
              <a:t> </a:t>
            </a:r>
            <a:r>
              <a:rPr sz="3100" dirty="0">
                <a:latin typeface="Arial"/>
                <a:cs typeface="Arial"/>
              </a:rPr>
              <a:t>It</a:t>
            </a:r>
            <a:r>
              <a:rPr sz="3100" spc="345" dirty="0">
                <a:latin typeface="Arial"/>
                <a:cs typeface="Arial"/>
              </a:rPr>
              <a:t> </a:t>
            </a:r>
            <a:r>
              <a:rPr sz="3100" spc="-135" dirty="0">
                <a:latin typeface="Arial"/>
                <a:cs typeface="Arial"/>
              </a:rPr>
              <a:t>is</a:t>
            </a:r>
            <a:r>
              <a:rPr sz="3100" spc="-80" dirty="0">
                <a:latin typeface="Arial"/>
                <a:cs typeface="Arial"/>
              </a:rPr>
              <a:t> </a:t>
            </a:r>
            <a:r>
              <a:rPr sz="3100" spc="-380" dirty="0">
                <a:latin typeface="Arial"/>
                <a:cs typeface="Arial"/>
              </a:rPr>
              <a:t>a</a:t>
            </a:r>
            <a:r>
              <a:rPr sz="3100" spc="165" dirty="0">
                <a:latin typeface="Arial"/>
                <a:cs typeface="Arial"/>
              </a:rPr>
              <a:t> </a:t>
            </a:r>
            <a:r>
              <a:rPr sz="3100" spc="-155" dirty="0">
                <a:latin typeface="Arial"/>
                <a:cs typeface="Arial"/>
              </a:rPr>
              <a:t>framework,</a:t>
            </a:r>
            <a:r>
              <a:rPr sz="3100" spc="50" dirty="0">
                <a:latin typeface="Arial"/>
                <a:cs typeface="Arial"/>
              </a:rPr>
              <a:t> </a:t>
            </a:r>
            <a:r>
              <a:rPr sz="3100" spc="-60" dirty="0">
                <a:latin typeface="Arial"/>
                <a:cs typeface="Arial"/>
              </a:rPr>
              <a:t>not</a:t>
            </a:r>
            <a:r>
              <a:rPr sz="3100" spc="-110" dirty="0">
                <a:latin typeface="Arial"/>
                <a:cs typeface="Arial"/>
              </a:rPr>
              <a:t> </a:t>
            </a:r>
            <a:r>
              <a:rPr sz="3100" spc="-150" dirty="0">
                <a:latin typeface="Arial"/>
                <a:cs typeface="Arial"/>
              </a:rPr>
              <a:t>an</a:t>
            </a:r>
            <a:r>
              <a:rPr sz="3100" spc="-40" dirty="0">
                <a:latin typeface="Arial"/>
                <a:cs typeface="Arial"/>
              </a:rPr>
              <a:t> </a:t>
            </a:r>
            <a:r>
              <a:rPr sz="3100" spc="-155" dirty="0">
                <a:latin typeface="Arial"/>
                <a:cs typeface="Arial"/>
              </a:rPr>
              <a:t>API.</a:t>
            </a:r>
            <a:endParaRPr sz="3100">
              <a:latin typeface="Arial"/>
              <a:cs typeface="Arial"/>
            </a:endParaRPr>
          </a:p>
          <a:p>
            <a:pPr marL="325120" marR="5080" indent="-311150">
              <a:lnSpc>
                <a:spcPct val="98000"/>
              </a:lnSpc>
              <a:spcBef>
                <a:spcPts val="595"/>
              </a:spcBef>
              <a:buClr>
                <a:srgbClr val="443FDB"/>
              </a:buClr>
              <a:buChar char="•"/>
              <a:tabLst>
                <a:tab pos="335280" algn="l"/>
              </a:tabLst>
            </a:pPr>
            <a:r>
              <a:rPr sz="2850" spc="-300" dirty="0">
                <a:latin typeface="Arial"/>
                <a:cs typeface="Arial"/>
              </a:rPr>
              <a:t>JXTA</a:t>
            </a:r>
            <a:r>
              <a:rPr sz="2850" spc="95" dirty="0">
                <a:latin typeface="Arial"/>
                <a:cs typeface="Arial"/>
              </a:rPr>
              <a:t> </a:t>
            </a:r>
            <a:r>
              <a:rPr sz="2850" spc="-110" dirty="0">
                <a:latin typeface="Arial"/>
                <a:cs typeface="Arial"/>
              </a:rPr>
              <a:t>APIs</a:t>
            </a:r>
            <a:r>
              <a:rPr sz="2850" spc="-60" dirty="0">
                <a:latin typeface="Arial"/>
                <a:cs typeface="Arial"/>
              </a:rPr>
              <a:t> </a:t>
            </a:r>
            <a:r>
              <a:rPr sz="2850" dirty="0">
                <a:latin typeface="Arial"/>
                <a:cs typeface="Arial"/>
              </a:rPr>
              <a:t>are</a:t>
            </a:r>
            <a:r>
              <a:rPr sz="2850" spc="-5" dirty="0">
                <a:latin typeface="Arial"/>
                <a:cs typeface="Arial"/>
              </a:rPr>
              <a:t> </a:t>
            </a:r>
            <a:r>
              <a:rPr sz="2850" spc="-70" dirty="0">
                <a:latin typeface="Arial"/>
                <a:cs typeface="Arial"/>
              </a:rPr>
              <a:t>available</a:t>
            </a:r>
            <a:r>
              <a:rPr sz="2850" spc="175" dirty="0">
                <a:latin typeface="Arial"/>
                <a:cs typeface="Arial"/>
              </a:rPr>
              <a:t> </a:t>
            </a:r>
            <a:r>
              <a:rPr sz="2850" dirty="0">
                <a:latin typeface="Arial"/>
                <a:cs typeface="Arial"/>
              </a:rPr>
              <a:t>for</a:t>
            </a:r>
            <a:r>
              <a:rPr sz="2850" spc="-60" dirty="0">
                <a:latin typeface="Arial"/>
                <a:cs typeface="Arial"/>
              </a:rPr>
              <a:t> </a:t>
            </a:r>
            <a:r>
              <a:rPr sz="2850" spc="-175" dirty="0">
                <a:latin typeface="Arial"/>
                <a:cs typeface="Arial"/>
              </a:rPr>
              <a:t>C/C-</a:t>
            </a:r>
            <a:r>
              <a:rPr sz="2850" spc="-114" dirty="0">
                <a:latin typeface="Arial"/>
                <a:cs typeface="Arial"/>
              </a:rPr>
              <a:t>r-</a:t>
            </a:r>
            <a:r>
              <a:rPr sz="2850" spc="-110" dirty="0">
                <a:latin typeface="Arial"/>
                <a:cs typeface="Arial"/>
              </a:rPr>
              <a:t>I-</a:t>
            </a:r>
            <a:r>
              <a:rPr sz="2850" dirty="0">
                <a:latin typeface="Arial"/>
                <a:cs typeface="Arial"/>
              </a:rPr>
              <a:t>,</a:t>
            </a:r>
            <a:r>
              <a:rPr sz="2850" spc="70" dirty="0">
                <a:latin typeface="Arial"/>
                <a:cs typeface="Arial"/>
              </a:rPr>
              <a:t> </a:t>
            </a:r>
            <a:r>
              <a:rPr sz="2850" spc="-80" dirty="0">
                <a:latin typeface="Arial"/>
                <a:cs typeface="Arial"/>
              </a:rPr>
              <a:t>Java,</a:t>
            </a:r>
            <a:r>
              <a:rPr sz="2850" spc="35" dirty="0">
                <a:latin typeface="Arial"/>
                <a:cs typeface="Arial"/>
              </a:rPr>
              <a:t> </a:t>
            </a:r>
            <a:r>
              <a:rPr sz="2850" spc="-10" dirty="0">
                <a:latin typeface="Arial"/>
                <a:cs typeface="Arial"/>
              </a:rPr>
              <a:t>Perl, 	</a:t>
            </a:r>
            <a:r>
              <a:rPr sz="2900" spc="-45" dirty="0">
                <a:latin typeface="Arial"/>
                <a:cs typeface="Arial"/>
              </a:rPr>
              <a:t>Python,</a:t>
            </a:r>
            <a:r>
              <a:rPr sz="2900" spc="-135" dirty="0">
                <a:latin typeface="Arial"/>
                <a:cs typeface="Arial"/>
              </a:rPr>
              <a:t> </a:t>
            </a:r>
            <a:r>
              <a:rPr sz="2900" spc="-150" dirty="0">
                <a:latin typeface="Arial"/>
                <a:cs typeface="Arial"/>
              </a:rPr>
              <a:t>Ruby,</a:t>
            </a:r>
            <a:r>
              <a:rPr sz="2900" spc="-50" dirty="0">
                <a:latin typeface="Arial"/>
                <a:cs typeface="Arial"/>
              </a:rPr>
              <a:t> </a:t>
            </a:r>
            <a:r>
              <a:rPr sz="2900" spc="-65" dirty="0">
                <a:latin typeface="Arial"/>
                <a:cs typeface="Arial"/>
              </a:rPr>
              <a:t>Objective </a:t>
            </a:r>
            <a:r>
              <a:rPr sz="2900" spc="-160" dirty="0">
                <a:latin typeface="Arial"/>
                <a:cs typeface="Arial"/>
              </a:rPr>
              <a:t>C,</a:t>
            </a:r>
            <a:r>
              <a:rPr sz="2900" spc="-40" dirty="0">
                <a:latin typeface="Arial"/>
                <a:cs typeface="Arial"/>
              </a:rPr>
              <a:t> </a:t>
            </a:r>
            <a:r>
              <a:rPr sz="2900" spc="-70" dirty="0">
                <a:latin typeface="Arial"/>
                <a:cs typeface="Arial"/>
              </a:rPr>
              <a:t>Smalltalk</a:t>
            </a:r>
            <a:r>
              <a:rPr sz="2900" spc="-20" dirty="0">
                <a:latin typeface="Arial"/>
                <a:cs typeface="Arial"/>
              </a:rPr>
              <a:t> </a:t>
            </a:r>
            <a:r>
              <a:rPr sz="2900" spc="-25" dirty="0">
                <a:latin typeface="Arial"/>
                <a:cs typeface="Arial"/>
              </a:rPr>
              <a:t>and 	</a:t>
            </a:r>
            <a:r>
              <a:rPr sz="2800" spc="-10" dirty="0">
                <a:latin typeface="Arial"/>
                <a:cs typeface="Arial"/>
              </a:rPr>
              <a:t>more.</a:t>
            </a:r>
            <a:endParaRPr sz="2800">
              <a:latin typeface="Arial"/>
              <a:cs typeface="Arial"/>
            </a:endParaRPr>
          </a:p>
          <a:p>
            <a:pPr marL="324485" indent="-310515">
              <a:lnSpc>
                <a:spcPct val="100000"/>
              </a:lnSpc>
              <a:spcBef>
                <a:spcPts val="585"/>
              </a:spcBef>
              <a:buClr>
                <a:srgbClr val="4242D4"/>
              </a:buClr>
              <a:buChar char="•"/>
              <a:tabLst>
                <a:tab pos="324485" algn="l"/>
              </a:tabLst>
            </a:pPr>
            <a:r>
              <a:rPr sz="2900" spc="-345" dirty="0">
                <a:latin typeface="Arial"/>
                <a:cs typeface="Arial"/>
              </a:rPr>
              <a:t>JXTA</a:t>
            </a:r>
            <a:r>
              <a:rPr sz="2900" spc="145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is</a:t>
            </a:r>
            <a:r>
              <a:rPr sz="2900" spc="-50" dirty="0">
                <a:latin typeface="Arial"/>
                <a:cs typeface="Arial"/>
              </a:rPr>
              <a:t> </a:t>
            </a:r>
            <a:r>
              <a:rPr sz="2900" spc="-75" dirty="0">
                <a:latin typeface="Arial"/>
                <a:cs typeface="Arial"/>
              </a:rPr>
              <a:t>independent</a:t>
            </a:r>
            <a:r>
              <a:rPr sz="2900" spc="260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of</a:t>
            </a:r>
            <a:r>
              <a:rPr sz="2900" spc="25" dirty="0">
                <a:latin typeface="Arial"/>
                <a:cs typeface="Arial"/>
              </a:rPr>
              <a:t> </a:t>
            </a:r>
            <a:r>
              <a:rPr sz="2900" spc="110" dirty="0">
                <a:latin typeface="Arial"/>
                <a:cs typeface="Arial"/>
              </a:rPr>
              <a:t>transpol</a:t>
            </a:r>
            <a:r>
              <a:rPr sz="2900" spc="-70" dirty="0">
                <a:latin typeface="Arial"/>
                <a:cs typeface="Arial"/>
              </a:rPr>
              <a:t> </a:t>
            </a:r>
            <a:r>
              <a:rPr sz="2900" spc="-10" dirty="0">
                <a:latin typeface="Arial"/>
                <a:cs typeface="Arial"/>
              </a:rPr>
              <a:t>protocols.</a:t>
            </a:r>
            <a:endParaRPr sz="2900">
              <a:latin typeface="Arial"/>
              <a:cs typeface="Arial"/>
            </a:endParaRPr>
          </a:p>
          <a:p>
            <a:pPr marL="323850" marR="120650" indent="-310515">
              <a:lnSpc>
                <a:spcPts val="3340"/>
              </a:lnSpc>
              <a:spcBef>
                <a:spcPts val="790"/>
              </a:spcBef>
              <a:buClr>
                <a:srgbClr val="4242D1"/>
              </a:buClr>
              <a:buChar char="•"/>
              <a:tabLst>
                <a:tab pos="333375" algn="l"/>
              </a:tabLst>
            </a:pPr>
            <a:r>
              <a:rPr sz="2900" spc="-325" dirty="0">
                <a:latin typeface="Arial"/>
                <a:cs typeface="Arial"/>
              </a:rPr>
              <a:t>JXTA</a:t>
            </a:r>
            <a:r>
              <a:rPr sz="2900" spc="125" dirty="0">
                <a:latin typeface="Arial"/>
                <a:cs typeface="Arial"/>
              </a:rPr>
              <a:t> </a:t>
            </a:r>
            <a:r>
              <a:rPr sz="2900" spc="-70" dirty="0">
                <a:latin typeface="Arial"/>
                <a:cs typeface="Arial"/>
              </a:rPr>
              <a:t>can</a:t>
            </a:r>
            <a:r>
              <a:rPr sz="2900" spc="-130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be</a:t>
            </a:r>
            <a:r>
              <a:rPr sz="2900" spc="-75" dirty="0">
                <a:latin typeface="Arial"/>
                <a:cs typeface="Arial"/>
              </a:rPr>
              <a:t> </a:t>
            </a:r>
            <a:r>
              <a:rPr sz="2900" spc="-80" dirty="0">
                <a:latin typeface="Arial"/>
                <a:cs typeface="Arial"/>
              </a:rPr>
              <a:t>implemented</a:t>
            </a:r>
            <a:r>
              <a:rPr sz="2900" spc="240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on</a:t>
            </a:r>
            <a:r>
              <a:rPr sz="2900" spc="-50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top</a:t>
            </a:r>
            <a:r>
              <a:rPr sz="2900" spc="-25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of</a:t>
            </a:r>
            <a:r>
              <a:rPr sz="2900" spc="-90" dirty="0">
                <a:latin typeface="Arial"/>
                <a:cs typeface="Arial"/>
              </a:rPr>
              <a:t> </a:t>
            </a:r>
            <a:r>
              <a:rPr sz="2900" spc="-20" dirty="0">
                <a:latin typeface="Arial"/>
                <a:cs typeface="Arial"/>
              </a:rPr>
              <a:t>TCP/IP, 	</a:t>
            </a:r>
            <a:r>
              <a:rPr sz="2900" spc="-40" dirty="0">
                <a:latin typeface="Arial"/>
                <a:cs typeface="Arial"/>
              </a:rPr>
              <a:t>over</a:t>
            </a:r>
            <a:r>
              <a:rPr sz="2900" spc="-95" dirty="0">
                <a:latin typeface="Arial"/>
                <a:cs typeface="Arial"/>
              </a:rPr>
              <a:t> </a:t>
            </a:r>
            <a:r>
              <a:rPr sz="2900" spc="-325" dirty="0">
                <a:latin typeface="Arial"/>
                <a:cs typeface="Arial"/>
              </a:rPr>
              <a:t>HTTP,</a:t>
            </a:r>
            <a:r>
              <a:rPr sz="2900" spc="125" dirty="0">
                <a:latin typeface="Arial"/>
                <a:cs typeface="Arial"/>
              </a:rPr>
              <a:t> </a:t>
            </a:r>
            <a:r>
              <a:rPr sz="2900" spc="-55" dirty="0">
                <a:latin typeface="Arial"/>
                <a:cs typeface="Arial"/>
              </a:rPr>
              <a:t>using </a:t>
            </a:r>
            <a:r>
              <a:rPr sz="2900" spc="-35" dirty="0">
                <a:latin typeface="Arial"/>
                <a:cs typeface="Arial"/>
              </a:rPr>
              <a:t>Bluetooth,</a:t>
            </a:r>
            <a:r>
              <a:rPr sz="2900" spc="85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or</a:t>
            </a:r>
            <a:r>
              <a:rPr sz="2900" spc="-70" dirty="0">
                <a:latin typeface="Arial"/>
                <a:cs typeface="Arial"/>
              </a:rPr>
              <a:t> </a:t>
            </a:r>
            <a:r>
              <a:rPr sz="2900" spc="-35" dirty="0">
                <a:latin typeface="Arial"/>
                <a:cs typeface="Arial"/>
              </a:rPr>
              <a:t>anything </a:t>
            </a:r>
            <a:r>
              <a:rPr sz="2900" spc="-30" dirty="0">
                <a:latin typeface="Arial"/>
                <a:cs typeface="Arial"/>
              </a:rPr>
              <a:t>else!</a:t>
            </a:r>
            <a:endParaRPr sz="2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695" y="991195"/>
            <a:ext cx="3089672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4079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35"/>
              </a:spcBef>
            </a:pPr>
            <a:r>
              <a:rPr sz="4650" spc="-125" dirty="0">
                <a:solidFill>
                  <a:srgbClr val="33318E"/>
                </a:solidFill>
                <a:latin typeface="Arial"/>
                <a:cs typeface="Arial"/>
              </a:rPr>
              <a:t>What</a:t>
            </a:r>
            <a:r>
              <a:rPr sz="4650" spc="-65" dirty="0">
                <a:solidFill>
                  <a:srgbClr val="33318E"/>
                </a:solidFill>
                <a:latin typeface="Arial"/>
                <a:cs typeface="Arial"/>
              </a:rPr>
              <a:t> </a:t>
            </a:r>
            <a:r>
              <a:rPr sz="4650" spc="-50" dirty="0">
                <a:latin typeface="Arial"/>
                <a:cs typeface="Arial"/>
              </a:rPr>
              <a:t>is</a:t>
            </a:r>
            <a:r>
              <a:rPr sz="4650" spc="-270" dirty="0">
                <a:latin typeface="Arial"/>
                <a:cs typeface="Arial"/>
              </a:rPr>
              <a:t> </a:t>
            </a:r>
            <a:r>
              <a:rPr sz="4650" dirty="0">
                <a:solidFill>
                  <a:srgbClr val="383B9A"/>
                </a:solidFill>
                <a:latin typeface="Arial"/>
                <a:cs typeface="Arial"/>
              </a:rPr>
              <a:t>the</a:t>
            </a:r>
            <a:r>
              <a:rPr sz="4650" spc="-165" dirty="0">
                <a:solidFill>
                  <a:srgbClr val="383B9A"/>
                </a:solidFill>
                <a:latin typeface="Arial"/>
                <a:cs typeface="Arial"/>
              </a:rPr>
              <a:t> </a:t>
            </a:r>
            <a:r>
              <a:rPr sz="4650" spc="-70" dirty="0">
                <a:solidFill>
                  <a:srgbClr val="383397"/>
                </a:solidFill>
                <a:latin typeface="Arial"/>
                <a:cs typeface="Arial"/>
              </a:rPr>
              <a:t>state</a:t>
            </a:r>
            <a:r>
              <a:rPr sz="4650" spc="-195" dirty="0">
                <a:solidFill>
                  <a:srgbClr val="383397"/>
                </a:solidFill>
                <a:latin typeface="Arial"/>
                <a:cs typeface="Arial"/>
              </a:rPr>
              <a:t> </a:t>
            </a:r>
            <a:r>
              <a:rPr sz="4650" dirty="0">
                <a:solidFill>
                  <a:srgbClr val="3B3B89"/>
                </a:solidFill>
                <a:latin typeface="Arial"/>
                <a:cs typeface="Arial"/>
              </a:rPr>
              <a:t>of</a:t>
            </a:r>
            <a:r>
              <a:rPr sz="4650" spc="-240" dirty="0">
                <a:solidFill>
                  <a:srgbClr val="3B3B89"/>
                </a:solidFill>
                <a:latin typeface="Arial"/>
                <a:cs typeface="Arial"/>
              </a:rPr>
              <a:t> </a:t>
            </a:r>
            <a:r>
              <a:rPr sz="4650" spc="-575" dirty="0">
                <a:solidFill>
                  <a:srgbClr val="36348A"/>
                </a:solidFill>
                <a:latin typeface="Arial"/>
                <a:cs typeface="Arial"/>
              </a:rPr>
              <a:t>JXTA?</a:t>
            </a:r>
            <a:endParaRPr sz="4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1395" y="1948854"/>
            <a:ext cx="7517765" cy="38411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51155" indent="-338455">
              <a:lnSpc>
                <a:spcPts val="3379"/>
              </a:lnSpc>
              <a:spcBef>
                <a:spcPts val="120"/>
              </a:spcBef>
              <a:buClr>
                <a:srgbClr val="4B49DF"/>
              </a:buClr>
              <a:buChar char="•"/>
              <a:tabLst>
                <a:tab pos="351155" algn="l"/>
              </a:tabLst>
            </a:pPr>
            <a:r>
              <a:rPr sz="3200" spc="90" dirty="0">
                <a:latin typeface="Calibri"/>
                <a:cs typeface="Calibri"/>
              </a:rPr>
              <a:t>The</a:t>
            </a:r>
            <a:r>
              <a:rPr sz="3200" spc="355" dirty="0">
                <a:latin typeface="Calibri"/>
                <a:cs typeface="Calibri"/>
              </a:rPr>
              <a:t> </a:t>
            </a:r>
            <a:r>
              <a:rPr sz="3200" spc="80" dirty="0">
                <a:latin typeface="Calibri"/>
                <a:cs typeface="Calibri"/>
              </a:rPr>
              <a:t>API</a:t>
            </a:r>
            <a:r>
              <a:rPr sz="3200" spc="5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code</a:t>
            </a:r>
            <a:r>
              <a:rPr sz="3200" spc="500" dirty="0">
                <a:latin typeface="Calibri"/>
                <a:cs typeface="Calibri"/>
              </a:rPr>
              <a:t> </a:t>
            </a:r>
            <a:r>
              <a:rPr sz="3200" spc="50" dirty="0">
                <a:latin typeface="Calibri"/>
                <a:cs typeface="Calibri"/>
              </a:rPr>
              <a:t>that</a:t>
            </a:r>
            <a:r>
              <a:rPr sz="3200" spc="420" dirty="0">
                <a:latin typeface="Calibri"/>
                <a:cs typeface="Calibri"/>
              </a:rPr>
              <a:t> </a:t>
            </a:r>
            <a:r>
              <a:rPr sz="3200" spc="75" dirty="0">
                <a:latin typeface="Calibri"/>
                <a:cs typeface="Calibri"/>
              </a:rPr>
              <a:t>is</a:t>
            </a:r>
            <a:r>
              <a:rPr sz="3200" spc="3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available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440" dirty="0">
                <a:latin typeface="Calibri"/>
                <a:cs typeface="Calibri"/>
              </a:rPr>
              <a:t> </a:t>
            </a:r>
            <a:r>
              <a:rPr sz="3200" spc="60" dirty="0">
                <a:latin typeface="Calibri"/>
                <a:cs typeface="Calibri"/>
              </a:rPr>
              <a:t>early</a:t>
            </a:r>
            <a:endParaRPr sz="3200">
              <a:latin typeface="Calibri"/>
              <a:cs typeface="Calibri"/>
            </a:endParaRPr>
          </a:p>
          <a:p>
            <a:pPr marL="358775">
              <a:lnSpc>
                <a:spcPts val="3500"/>
              </a:lnSpc>
            </a:pPr>
            <a:r>
              <a:rPr sz="3300" dirty="0">
                <a:latin typeface="Calibri"/>
                <a:cs typeface="Calibri"/>
              </a:rPr>
              <a:t>release</a:t>
            </a:r>
            <a:r>
              <a:rPr sz="3300" spc="38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or</a:t>
            </a:r>
            <a:r>
              <a:rPr sz="3300" spc="20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prototype</a:t>
            </a:r>
            <a:r>
              <a:rPr sz="3300" spc="484" dirty="0">
                <a:latin typeface="Calibri"/>
                <a:cs typeface="Calibri"/>
              </a:rPr>
              <a:t> </a:t>
            </a:r>
            <a:r>
              <a:rPr sz="3300" spc="-10" dirty="0">
                <a:latin typeface="Calibri"/>
                <a:cs typeface="Calibri"/>
              </a:rPr>
              <a:t>quality.</a:t>
            </a:r>
            <a:endParaRPr sz="3300">
              <a:latin typeface="Calibri"/>
              <a:cs typeface="Calibri"/>
            </a:endParaRPr>
          </a:p>
          <a:p>
            <a:pPr marL="353695" marR="84455" indent="-323215">
              <a:lnSpc>
                <a:spcPts val="3020"/>
              </a:lnSpc>
              <a:spcBef>
                <a:spcPts val="650"/>
              </a:spcBef>
              <a:buClr>
                <a:srgbClr val="6764FD"/>
              </a:buClr>
              <a:buChar char="•"/>
              <a:tabLst>
                <a:tab pos="365760" algn="l"/>
              </a:tabLst>
            </a:pPr>
            <a:r>
              <a:rPr sz="2950" dirty="0">
                <a:latin typeface="Arial"/>
                <a:cs typeface="Arial"/>
              </a:rPr>
              <a:t>Code</a:t>
            </a:r>
            <a:r>
              <a:rPr sz="2950" spc="390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is</a:t>
            </a:r>
            <a:r>
              <a:rPr sz="2950" spc="195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changed</a:t>
            </a:r>
            <a:r>
              <a:rPr sz="2950" spc="545" dirty="0">
                <a:latin typeface="Arial"/>
                <a:cs typeface="Arial"/>
              </a:rPr>
              <a:t> </a:t>
            </a:r>
            <a:r>
              <a:rPr sz="2950" spc="90" dirty="0">
                <a:latin typeface="Arial"/>
                <a:cs typeface="Arial"/>
              </a:rPr>
              <a:t>(sometimes</a:t>
            </a:r>
            <a:r>
              <a:rPr sz="2950" spc="540" dirty="0">
                <a:latin typeface="Arial"/>
                <a:cs typeface="Arial"/>
              </a:rPr>
              <a:t> </a:t>
            </a:r>
            <a:r>
              <a:rPr sz="2950" spc="85" dirty="0">
                <a:latin typeface="Arial"/>
                <a:cs typeface="Arial"/>
              </a:rPr>
              <a:t>improved) 	</a:t>
            </a:r>
            <a:r>
              <a:rPr sz="2950" dirty="0">
                <a:latin typeface="Arial"/>
                <a:cs typeface="Arial"/>
              </a:rPr>
              <a:t>by</a:t>
            </a:r>
            <a:r>
              <a:rPr sz="2950" spc="360" dirty="0">
                <a:latin typeface="Arial"/>
                <a:cs typeface="Arial"/>
              </a:rPr>
              <a:t> </a:t>
            </a:r>
            <a:r>
              <a:rPr sz="2950" spc="125" dirty="0">
                <a:latin typeface="Arial"/>
                <a:cs typeface="Arial"/>
              </a:rPr>
              <a:t>jxta.org</a:t>
            </a:r>
            <a:r>
              <a:rPr sz="2950" spc="525" dirty="0">
                <a:latin typeface="Arial"/>
                <a:cs typeface="Arial"/>
              </a:rPr>
              <a:t> </a:t>
            </a:r>
            <a:r>
              <a:rPr sz="2950" spc="110" dirty="0">
                <a:latin typeface="Arial"/>
                <a:cs typeface="Arial"/>
              </a:rPr>
              <a:t>community</a:t>
            </a:r>
            <a:r>
              <a:rPr sz="2950" spc="610" dirty="0">
                <a:latin typeface="Arial"/>
                <a:cs typeface="Arial"/>
              </a:rPr>
              <a:t> </a:t>
            </a:r>
            <a:r>
              <a:rPr sz="2950" spc="65" dirty="0">
                <a:latin typeface="Arial"/>
                <a:cs typeface="Arial"/>
              </a:rPr>
              <a:t>members.</a:t>
            </a:r>
            <a:endParaRPr sz="2950">
              <a:latin typeface="Arial"/>
              <a:cs typeface="Arial"/>
            </a:endParaRPr>
          </a:p>
          <a:p>
            <a:pPr marL="346075" marR="5080" indent="-315595">
              <a:lnSpc>
                <a:spcPts val="3020"/>
              </a:lnSpc>
              <a:spcBef>
                <a:spcPts val="675"/>
              </a:spcBef>
              <a:buClr>
                <a:srgbClr val="4B4BE9"/>
              </a:buClr>
              <a:buChar char="•"/>
              <a:tabLst>
                <a:tab pos="358775" algn="l"/>
              </a:tabLst>
            </a:pPr>
            <a:r>
              <a:rPr sz="2950" dirty="0">
                <a:latin typeface="Arial"/>
                <a:cs typeface="Arial"/>
              </a:rPr>
              <a:t>It</a:t>
            </a:r>
            <a:r>
              <a:rPr sz="2950" spc="60" dirty="0">
                <a:latin typeface="Arial"/>
                <a:cs typeface="Arial"/>
              </a:rPr>
              <a:t>  </a:t>
            </a:r>
            <a:r>
              <a:rPr sz="2950" dirty="0">
                <a:latin typeface="Arial"/>
                <a:cs typeface="Arial"/>
              </a:rPr>
              <a:t>is</a:t>
            </a:r>
            <a:r>
              <a:rPr sz="2950" spc="345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considered</a:t>
            </a:r>
            <a:r>
              <a:rPr sz="2950" spc="590" dirty="0">
                <a:latin typeface="Arial"/>
                <a:cs typeface="Arial"/>
              </a:rPr>
              <a:t> </a:t>
            </a:r>
            <a:r>
              <a:rPr sz="2950" spc="120" dirty="0">
                <a:latin typeface="Arial"/>
                <a:cs typeface="Arial"/>
              </a:rPr>
              <a:t>to</a:t>
            </a:r>
            <a:r>
              <a:rPr sz="2950" spc="385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be</a:t>
            </a:r>
            <a:r>
              <a:rPr sz="2950" spc="405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usable</a:t>
            </a:r>
            <a:r>
              <a:rPr sz="2950" spc="555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code,</a:t>
            </a:r>
            <a:r>
              <a:rPr sz="2950" spc="535" dirty="0">
                <a:latin typeface="Arial"/>
                <a:cs typeface="Arial"/>
              </a:rPr>
              <a:t> </a:t>
            </a:r>
            <a:r>
              <a:rPr sz="2950" spc="75" dirty="0">
                <a:latin typeface="Arial"/>
                <a:cs typeface="Arial"/>
              </a:rPr>
              <a:t>with 	</a:t>
            </a:r>
            <a:r>
              <a:rPr sz="2950" dirty="0">
                <a:latin typeface="Arial"/>
                <a:cs typeface="Arial"/>
              </a:rPr>
              <a:t>a</a:t>
            </a:r>
            <a:r>
              <a:rPr sz="2950" spc="310" dirty="0">
                <a:latin typeface="Arial"/>
                <a:cs typeface="Arial"/>
              </a:rPr>
              <a:t> </a:t>
            </a:r>
            <a:r>
              <a:rPr sz="2950" spc="60" dirty="0">
                <a:latin typeface="Arial"/>
                <a:cs typeface="Arial"/>
              </a:rPr>
              <a:t>caution</a:t>
            </a:r>
            <a:r>
              <a:rPr sz="2950" spc="455" dirty="0">
                <a:latin typeface="Arial"/>
                <a:cs typeface="Arial"/>
              </a:rPr>
              <a:t> </a:t>
            </a:r>
            <a:r>
              <a:rPr sz="2950" spc="140" dirty="0">
                <a:latin typeface="Arial"/>
                <a:cs typeface="Arial"/>
              </a:rPr>
              <a:t>that</a:t>
            </a:r>
            <a:r>
              <a:rPr sz="2950" spc="300" dirty="0">
                <a:latin typeface="Arial"/>
                <a:cs typeface="Arial"/>
              </a:rPr>
              <a:t> </a:t>
            </a:r>
            <a:r>
              <a:rPr sz="2950" spc="90" dirty="0">
                <a:latin typeface="Arial"/>
                <a:cs typeface="Arial"/>
              </a:rPr>
              <a:t>it</a:t>
            </a:r>
            <a:r>
              <a:rPr sz="2950" spc="330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has</a:t>
            </a:r>
            <a:r>
              <a:rPr sz="2950" spc="355" dirty="0">
                <a:latin typeface="Arial"/>
                <a:cs typeface="Arial"/>
              </a:rPr>
              <a:t> </a:t>
            </a:r>
            <a:r>
              <a:rPr sz="2950" spc="90" dirty="0">
                <a:latin typeface="Arial"/>
                <a:cs typeface="Arial"/>
              </a:rPr>
              <a:t>not</a:t>
            </a:r>
            <a:r>
              <a:rPr sz="2950" spc="360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been</a:t>
            </a:r>
            <a:r>
              <a:rPr sz="2950" spc="300" dirty="0">
                <a:latin typeface="Arial"/>
                <a:cs typeface="Arial"/>
              </a:rPr>
              <a:t> </a:t>
            </a:r>
            <a:r>
              <a:rPr sz="2950" spc="95" dirty="0">
                <a:latin typeface="Arial"/>
                <a:cs typeface="Arial"/>
              </a:rPr>
              <a:t>through 	quality</a:t>
            </a:r>
            <a:r>
              <a:rPr sz="2950" spc="475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assurance</a:t>
            </a:r>
            <a:r>
              <a:rPr sz="2950" spc="580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processes</a:t>
            </a:r>
            <a:r>
              <a:rPr sz="2950" spc="635" dirty="0">
                <a:latin typeface="Arial"/>
                <a:cs typeface="Arial"/>
              </a:rPr>
              <a:t> </a:t>
            </a:r>
            <a:r>
              <a:rPr sz="2950" spc="110" dirty="0">
                <a:latin typeface="Arial"/>
                <a:cs typeface="Arial"/>
              </a:rPr>
              <a:t>(other</a:t>
            </a:r>
            <a:r>
              <a:rPr sz="2950" spc="505" dirty="0">
                <a:latin typeface="Arial"/>
                <a:cs typeface="Arial"/>
              </a:rPr>
              <a:t> </a:t>
            </a:r>
            <a:r>
              <a:rPr sz="2950" spc="75" dirty="0">
                <a:latin typeface="Arial"/>
                <a:cs typeface="Arial"/>
              </a:rPr>
              <a:t>than 	</a:t>
            </a:r>
            <a:r>
              <a:rPr sz="2950" dirty="0">
                <a:latin typeface="Arial"/>
                <a:cs typeface="Arial"/>
              </a:rPr>
              <a:t>peer</a:t>
            </a:r>
            <a:r>
              <a:rPr sz="2950" spc="509" dirty="0">
                <a:latin typeface="Arial"/>
                <a:cs typeface="Arial"/>
              </a:rPr>
              <a:t> </a:t>
            </a:r>
            <a:r>
              <a:rPr sz="2950" spc="85" dirty="0">
                <a:latin typeface="Arial"/>
                <a:cs typeface="Arial"/>
              </a:rPr>
              <a:t>review).</a:t>
            </a:r>
            <a:endParaRPr sz="2950">
              <a:latin typeface="Arial"/>
              <a:cs typeface="Arial"/>
            </a:endParaRPr>
          </a:p>
          <a:p>
            <a:pPr marL="362585" indent="-331470">
              <a:lnSpc>
                <a:spcPct val="100000"/>
              </a:lnSpc>
              <a:spcBef>
                <a:spcPts val="150"/>
              </a:spcBef>
              <a:buClr>
                <a:srgbClr val="6967FF"/>
              </a:buClr>
              <a:buChar char="•"/>
              <a:tabLst>
                <a:tab pos="362585" algn="l"/>
              </a:tabLst>
            </a:pPr>
            <a:r>
              <a:rPr sz="2950" dirty="0">
                <a:latin typeface="Arial"/>
                <a:cs typeface="Arial"/>
              </a:rPr>
              <a:t>None</a:t>
            </a:r>
            <a:r>
              <a:rPr sz="2950" spc="290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of</a:t>
            </a:r>
            <a:r>
              <a:rPr sz="2950" spc="185" dirty="0">
                <a:latin typeface="Arial"/>
                <a:cs typeface="Arial"/>
              </a:rPr>
              <a:t> </a:t>
            </a:r>
            <a:r>
              <a:rPr sz="2950" spc="-85" dirty="0">
                <a:latin typeface="Arial"/>
                <a:cs typeface="Arial"/>
              </a:rPr>
              <a:t>JXTA</a:t>
            </a:r>
            <a:r>
              <a:rPr sz="2950" spc="350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is</a:t>
            </a:r>
            <a:r>
              <a:rPr sz="2950" spc="235" dirty="0">
                <a:latin typeface="Arial"/>
                <a:cs typeface="Arial"/>
              </a:rPr>
              <a:t> </a:t>
            </a:r>
            <a:r>
              <a:rPr sz="2950" spc="65" dirty="0">
                <a:latin typeface="Arial"/>
                <a:cs typeface="Arial"/>
              </a:rPr>
              <a:t>supported</a:t>
            </a:r>
            <a:r>
              <a:rPr sz="2950" spc="445" dirty="0">
                <a:latin typeface="Arial"/>
                <a:cs typeface="Arial"/>
              </a:rPr>
              <a:t> </a:t>
            </a:r>
            <a:r>
              <a:rPr sz="2950" spc="75" dirty="0">
                <a:latin typeface="Arial"/>
                <a:cs typeface="Arial"/>
              </a:rPr>
              <a:t>by</a:t>
            </a:r>
            <a:r>
              <a:rPr sz="2950" spc="280" dirty="0">
                <a:latin typeface="Arial"/>
                <a:cs typeface="Arial"/>
              </a:rPr>
              <a:t> </a:t>
            </a:r>
            <a:r>
              <a:rPr sz="2950" spc="-20" dirty="0">
                <a:latin typeface="Arial"/>
                <a:cs typeface="Arial"/>
              </a:rPr>
              <a:t>Sun.</a:t>
            </a:r>
            <a:endParaRPr sz="2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7554" y="991195"/>
            <a:ext cx="7563484" cy="5411470"/>
            <a:chOff x="437554" y="991195"/>
            <a:chExt cx="7563484" cy="54114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5172" y="2071687"/>
              <a:ext cx="6625828" cy="43308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7554" y="991195"/>
              <a:ext cx="3062883" cy="1053703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4079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35"/>
              </a:spcBef>
            </a:pPr>
            <a:r>
              <a:rPr sz="4650" spc="-185" dirty="0">
                <a:solidFill>
                  <a:srgbClr val="383487"/>
                </a:solidFill>
                <a:latin typeface="Arial"/>
                <a:cs typeface="Arial"/>
              </a:rPr>
              <a:t>The</a:t>
            </a:r>
            <a:r>
              <a:rPr sz="4650" spc="-135" dirty="0">
                <a:solidFill>
                  <a:srgbClr val="383487"/>
                </a:solidFill>
                <a:latin typeface="Arial"/>
                <a:cs typeface="Arial"/>
              </a:rPr>
              <a:t> </a:t>
            </a:r>
            <a:r>
              <a:rPr sz="4650" spc="-545" dirty="0">
                <a:solidFill>
                  <a:srgbClr val="383387"/>
                </a:solidFill>
                <a:latin typeface="Arial"/>
                <a:cs typeface="Arial"/>
              </a:rPr>
              <a:t>JXTA</a:t>
            </a:r>
            <a:r>
              <a:rPr sz="4650" spc="220" dirty="0">
                <a:solidFill>
                  <a:srgbClr val="383387"/>
                </a:solidFill>
                <a:latin typeface="Arial"/>
                <a:cs typeface="Arial"/>
              </a:rPr>
              <a:t> </a:t>
            </a:r>
            <a:r>
              <a:rPr sz="4650" spc="-95" dirty="0">
                <a:solidFill>
                  <a:srgbClr val="383495"/>
                </a:solidFill>
                <a:latin typeface="Arial"/>
                <a:cs typeface="Arial"/>
              </a:rPr>
              <a:t>Nodel</a:t>
            </a:r>
            <a:r>
              <a:rPr sz="4650" spc="-170" dirty="0">
                <a:solidFill>
                  <a:srgbClr val="383495"/>
                </a:solidFill>
                <a:latin typeface="Arial"/>
                <a:cs typeface="Arial"/>
              </a:rPr>
              <a:t> </a:t>
            </a:r>
            <a:r>
              <a:rPr sz="4650" spc="-325" dirty="0">
                <a:solidFill>
                  <a:srgbClr val="383489"/>
                </a:solidFill>
                <a:latin typeface="Arial"/>
                <a:cs typeface="Arial"/>
              </a:rPr>
              <a:t>(IMAGE)</a:t>
            </a:r>
            <a:endParaRPr sz="4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695" y="991195"/>
            <a:ext cx="3089672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7877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35"/>
              </a:spcBef>
            </a:pPr>
            <a:r>
              <a:rPr sz="4700" spc="-275" dirty="0">
                <a:solidFill>
                  <a:srgbClr val="383389"/>
                </a:solidFill>
                <a:latin typeface="Arial"/>
                <a:cs typeface="Arial"/>
              </a:rPr>
              <a:t>The</a:t>
            </a:r>
            <a:r>
              <a:rPr sz="4700" spc="120" dirty="0">
                <a:solidFill>
                  <a:srgbClr val="383389"/>
                </a:solidFill>
                <a:latin typeface="Arial"/>
                <a:cs typeface="Arial"/>
              </a:rPr>
              <a:t> </a:t>
            </a:r>
            <a:r>
              <a:rPr sz="4700" spc="-610" dirty="0">
                <a:solidFill>
                  <a:srgbClr val="363489"/>
                </a:solidFill>
                <a:latin typeface="Arial"/>
                <a:cs typeface="Arial"/>
              </a:rPr>
              <a:t>JXTA</a:t>
            </a:r>
            <a:r>
              <a:rPr sz="4700" spc="310" dirty="0">
                <a:solidFill>
                  <a:srgbClr val="363489"/>
                </a:solidFill>
                <a:latin typeface="Arial"/>
                <a:cs typeface="Arial"/>
              </a:rPr>
              <a:t> </a:t>
            </a:r>
            <a:r>
              <a:rPr sz="4700" spc="-350" dirty="0">
                <a:solidFill>
                  <a:srgbClr val="3B3897"/>
                </a:solidFill>
                <a:latin typeface="Arial"/>
                <a:cs typeface="Arial"/>
              </a:rPr>
              <a:t>Model</a:t>
            </a:r>
            <a:endParaRPr sz="47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28930" indent="-316230">
              <a:lnSpc>
                <a:spcPct val="100000"/>
              </a:lnSpc>
              <a:spcBef>
                <a:spcPts val="120"/>
              </a:spcBef>
              <a:buClr>
                <a:srgbClr val="312FCF"/>
              </a:buClr>
              <a:buChar char="•"/>
              <a:tabLst>
                <a:tab pos="328930" algn="l"/>
              </a:tabLst>
            </a:pPr>
            <a:r>
              <a:rPr spc="-35" dirty="0"/>
              <a:t>Applications:</a:t>
            </a:r>
          </a:p>
          <a:p>
            <a:pPr marL="726440" marR="817244" lvl="1" indent="-266065">
              <a:lnSpc>
                <a:spcPts val="3020"/>
              </a:lnSpc>
              <a:spcBef>
                <a:spcPts val="720"/>
              </a:spcBef>
              <a:buClr>
                <a:srgbClr val="F90E0A"/>
              </a:buClr>
              <a:buChar char="•"/>
              <a:tabLst>
                <a:tab pos="727710" algn="l"/>
              </a:tabLst>
            </a:pPr>
            <a:r>
              <a:rPr sz="3050" spc="-145" dirty="0">
                <a:latin typeface="Arial"/>
                <a:cs typeface="Arial"/>
              </a:rPr>
              <a:t>What</a:t>
            </a:r>
            <a:r>
              <a:rPr sz="3050" spc="-65" dirty="0">
                <a:latin typeface="Arial"/>
                <a:cs typeface="Arial"/>
              </a:rPr>
              <a:t> </a:t>
            </a:r>
            <a:r>
              <a:rPr sz="3050" spc="-175" dirty="0">
                <a:latin typeface="Arial"/>
                <a:cs typeface="Arial"/>
              </a:rPr>
              <a:t>developers</a:t>
            </a:r>
            <a:r>
              <a:rPr sz="3050" spc="-40" dirty="0">
                <a:latin typeface="Arial"/>
                <a:cs typeface="Arial"/>
              </a:rPr>
              <a:t> </a:t>
            </a:r>
            <a:r>
              <a:rPr sz="3050" spc="-90" dirty="0">
                <a:latin typeface="Arial"/>
                <a:cs typeface="Arial"/>
              </a:rPr>
              <a:t>build</a:t>
            </a:r>
            <a:r>
              <a:rPr sz="3050" spc="-45" dirty="0">
                <a:latin typeface="Arial"/>
                <a:cs typeface="Arial"/>
              </a:rPr>
              <a:t> </a:t>
            </a:r>
            <a:r>
              <a:rPr sz="3050" spc="-140" dirty="0">
                <a:latin typeface="Arial"/>
                <a:cs typeface="Arial"/>
              </a:rPr>
              <a:t>using</a:t>
            </a:r>
            <a:r>
              <a:rPr sz="3050" dirty="0">
                <a:latin typeface="Arial"/>
                <a:cs typeface="Arial"/>
              </a:rPr>
              <a:t> </a:t>
            </a:r>
            <a:r>
              <a:rPr sz="3050" spc="-95" dirty="0">
                <a:latin typeface="Arial"/>
                <a:cs typeface="Arial"/>
              </a:rPr>
              <a:t>the</a:t>
            </a:r>
            <a:r>
              <a:rPr sz="3050" spc="-120" dirty="0">
                <a:latin typeface="Arial"/>
                <a:cs typeface="Arial"/>
              </a:rPr>
              <a:t> </a:t>
            </a:r>
            <a:r>
              <a:rPr sz="3050" spc="-440" dirty="0">
                <a:latin typeface="Arial"/>
                <a:cs typeface="Arial"/>
              </a:rPr>
              <a:t>JXTA 	</a:t>
            </a:r>
            <a:r>
              <a:rPr sz="3050" spc="-55" dirty="0">
                <a:latin typeface="Arial"/>
                <a:cs typeface="Arial"/>
              </a:rPr>
              <a:t>framework.</a:t>
            </a:r>
            <a:endParaRPr sz="3050">
              <a:latin typeface="Arial"/>
              <a:cs typeface="Arial"/>
            </a:endParaRPr>
          </a:p>
          <a:p>
            <a:pPr marL="711200" marR="5080" lvl="1" indent="-251460">
              <a:lnSpc>
                <a:spcPct val="80400"/>
              </a:lnSpc>
              <a:spcBef>
                <a:spcPts val="720"/>
              </a:spcBef>
              <a:buClr>
                <a:srgbClr val="F00A01"/>
              </a:buClr>
              <a:buChar char="•"/>
              <a:tabLst>
                <a:tab pos="725170" algn="l"/>
              </a:tabLst>
            </a:pPr>
            <a:r>
              <a:rPr sz="3100" spc="-145" dirty="0">
                <a:latin typeface="Arial"/>
                <a:cs typeface="Arial"/>
              </a:rPr>
              <a:t>Includes</a:t>
            </a:r>
            <a:r>
              <a:rPr sz="3100" spc="-75" dirty="0">
                <a:latin typeface="Arial"/>
                <a:cs typeface="Arial"/>
              </a:rPr>
              <a:t> </a:t>
            </a:r>
            <a:r>
              <a:rPr sz="3100" spc="-455" dirty="0">
                <a:latin typeface="Arial"/>
                <a:cs typeface="Arial"/>
              </a:rPr>
              <a:t>P2P</a:t>
            </a:r>
            <a:r>
              <a:rPr sz="3100" spc="110" dirty="0">
                <a:latin typeface="Arial"/>
                <a:cs typeface="Arial"/>
              </a:rPr>
              <a:t> </a:t>
            </a:r>
            <a:r>
              <a:rPr sz="3100" spc="-114" dirty="0">
                <a:latin typeface="Arial"/>
                <a:cs typeface="Arial"/>
              </a:rPr>
              <a:t>instant</a:t>
            </a:r>
            <a:r>
              <a:rPr sz="3100" spc="-15" dirty="0">
                <a:latin typeface="Arial"/>
                <a:cs typeface="Arial"/>
              </a:rPr>
              <a:t> </a:t>
            </a:r>
            <a:r>
              <a:rPr sz="3100" spc="-110" dirty="0">
                <a:latin typeface="Arial"/>
                <a:cs typeface="Arial"/>
              </a:rPr>
              <a:t>messaging, 	</a:t>
            </a:r>
            <a:r>
              <a:rPr sz="3150" spc="-155" dirty="0">
                <a:latin typeface="Arial"/>
                <a:cs typeface="Arial"/>
              </a:rPr>
              <a:t>entertainment</a:t>
            </a:r>
            <a:r>
              <a:rPr sz="3150" spc="150" dirty="0">
                <a:latin typeface="Arial"/>
                <a:cs typeface="Arial"/>
              </a:rPr>
              <a:t> </a:t>
            </a:r>
            <a:r>
              <a:rPr sz="3150" spc="-155" dirty="0">
                <a:latin typeface="Arial"/>
                <a:cs typeface="Arial"/>
              </a:rPr>
              <a:t>content</a:t>
            </a:r>
            <a:r>
              <a:rPr sz="3150" spc="5" dirty="0">
                <a:latin typeface="Arial"/>
                <a:cs typeface="Arial"/>
              </a:rPr>
              <a:t> </a:t>
            </a:r>
            <a:r>
              <a:rPr sz="3150" spc="-265" dirty="0">
                <a:latin typeface="Arial"/>
                <a:cs typeface="Arial"/>
              </a:rPr>
              <a:t>management</a:t>
            </a:r>
            <a:r>
              <a:rPr sz="3150" spc="85" dirty="0">
                <a:latin typeface="Arial"/>
                <a:cs typeface="Arial"/>
              </a:rPr>
              <a:t> </a:t>
            </a:r>
            <a:r>
              <a:rPr sz="3150" spc="-25" dirty="0">
                <a:latin typeface="Arial"/>
                <a:cs typeface="Arial"/>
              </a:rPr>
              <a:t>and 	</a:t>
            </a:r>
            <a:r>
              <a:rPr sz="3100" spc="-165" dirty="0">
                <a:latin typeface="Arial"/>
                <a:cs typeface="Arial"/>
              </a:rPr>
              <a:t>delivery,</a:t>
            </a:r>
            <a:r>
              <a:rPr sz="3100" spc="-55" dirty="0">
                <a:latin typeface="Arial"/>
                <a:cs typeface="Arial"/>
              </a:rPr>
              <a:t> </a:t>
            </a:r>
            <a:r>
              <a:rPr sz="3100" spc="-165" dirty="0">
                <a:latin typeface="Arial"/>
                <a:cs typeface="Arial"/>
              </a:rPr>
              <a:t>email</a:t>
            </a:r>
            <a:r>
              <a:rPr sz="3100" spc="-50" dirty="0">
                <a:latin typeface="Arial"/>
                <a:cs typeface="Arial"/>
              </a:rPr>
              <a:t> </a:t>
            </a:r>
            <a:r>
              <a:rPr sz="3100" spc="-200" dirty="0">
                <a:latin typeface="Arial"/>
                <a:cs typeface="Arial"/>
              </a:rPr>
              <a:t>systems,</a:t>
            </a:r>
            <a:r>
              <a:rPr sz="3100" spc="-15" dirty="0">
                <a:latin typeface="Arial"/>
                <a:cs typeface="Arial"/>
              </a:rPr>
              <a:t> </a:t>
            </a:r>
            <a:r>
              <a:rPr sz="3100" spc="-120" dirty="0">
                <a:latin typeface="Arial"/>
                <a:cs typeface="Arial"/>
              </a:rPr>
              <a:t>distributed</a:t>
            </a:r>
            <a:r>
              <a:rPr sz="3100" spc="60" dirty="0">
                <a:latin typeface="Arial"/>
                <a:cs typeface="Arial"/>
              </a:rPr>
              <a:t> </a:t>
            </a:r>
            <a:r>
              <a:rPr sz="3100" spc="-130" dirty="0">
                <a:latin typeface="Arial"/>
                <a:cs typeface="Arial"/>
              </a:rPr>
              <a:t>auction 	</a:t>
            </a:r>
            <a:r>
              <a:rPr sz="3200" spc="-275" dirty="0">
                <a:latin typeface="Arial"/>
                <a:cs typeface="Arial"/>
              </a:rPr>
              <a:t>systems,</a:t>
            </a:r>
            <a:r>
              <a:rPr sz="3200" spc="170" dirty="0">
                <a:latin typeface="Arial"/>
                <a:cs typeface="Arial"/>
              </a:rPr>
              <a:t> </a:t>
            </a:r>
            <a:r>
              <a:rPr sz="3200" spc="-270" dirty="0">
                <a:latin typeface="Arial"/>
                <a:cs typeface="Arial"/>
              </a:rPr>
              <a:t>and</a:t>
            </a:r>
            <a:r>
              <a:rPr sz="3200" spc="80" dirty="0">
                <a:latin typeface="Arial"/>
                <a:cs typeface="Arial"/>
              </a:rPr>
              <a:t> </a:t>
            </a:r>
            <a:r>
              <a:rPr sz="3200" spc="-280" dirty="0">
                <a:latin typeface="Arial"/>
                <a:cs typeface="Arial"/>
              </a:rPr>
              <a:t>more.</a:t>
            </a:r>
            <a:endParaRPr sz="3200">
              <a:latin typeface="Arial"/>
              <a:cs typeface="Arial"/>
            </a:endParaRPr>
          </a:p>
          <a:p>
            <a:pPr marL="722630" marR="1049020" lvl="1" indent="-261620">
              <a:lnSpc>
                <a:spcPts val="3020"/>
              </a:lnSpc>
              <a:spcBef>
                <a:spcPts val="600"/>
              </a:spcBef>
              <a:buClr>
                <a:srgbClr val="F90808"/>
              </a:buClr>
              <a:buChar char="•"/>
              <a:tabLst>
                <a:tab pos="726440" algn="l"/>
              </a:tabLst>
            </a:pPr>
            <a:r>
              <a:rPr sz="2950" spc="-65" dirty="0">
                <a:latin typeface="Arial"/>
                <a:cs typeface="Arial"/>
              </a:rPr>
              <a:t>The</a:t>
            </a:r>
            <a:r>
              <a:rPr sz="2950" spc="-155" dirty="0">
                <a:latin typeface="Arial"/>
                <a:cs typeface="Arial"/>
              </a:rPr>
              <a:t> </a:t>
            </a:r>
            <a:r>
              <a:rPr sz="2950" spc="-85" dirty="0">
                <a:latin typeface="Arial"/>
                <a:cs typeface="Arial"/>
              </a:rPr>
              <a:t>boundary</a:t>
            </a:r>
            <a:r>
              <a:rPr sz="2950" spc="-60" dirty="0">
                <a:latin typeface="Arial"/>
                <a:cs typeface="Arial"/>
              </a:rPr>
              <a:t> </a:t>
            </a:r>
            <a:r>
              <a:rPr sz="2950" spc="-70" dirty="0">
                <a:latin typeface="Arial"/>
                <a:cs typeface="Arial"/>
              </a:rPr>
              <a:t>between</a:t>
            </a:r>
            <a:r>
              <a:rPr sz="2950" spc="-55" dirty="0">
                <a:latin typeface="Arial"/>
                <a:cs typeface="Arial"/>
              </a:rPr>
              <a:t> </a:t>
            </a:r>
            <a:r>
              <a:rPr sz="2950" spc="-125" dirty="0">
                <a:latin typeface="Arial"/>
                <a:cs typeface="Arial"/>
              </a:rPr>
              <a:t>services</a:t>
            </a:r>
            <a:r>
              <a:rPr sz="2950" spc="-55" dirty="0">
                <a:latin typeface="Arial"/>
                <a:cs typeface="Arial"/>
              </a:rPr>
              <a:t> </a:t>
            </a:r>
            <a:r>
              <a:rPr sz="2950" spc="-80" dirty="0">
                <a:latin typeface="Arial"/>
                <a:cs typeface="Arial"/>
              </a:rPr>
              <a:t>and 	applications</a:t>
            </a:r>
            <a:r>
              <a:rPr sz="2950" spc="-15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is</a:t>
            </a:r>
            <a:r>
              <a:rPr sz="2950" spc="-155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not</a:t>
            </a:r>
            <a:r>
              <a:rPr sz="2950" spc="-120" dirty="0">
                <a:latin typeface="Arial"/>
                <a:cs typeface="Arial"/>
              </a:rPr>
              <a:t> </a:t>
            </a:r>
            <a:r>
              <a:rPr sz="2950" spc="-10" dirty="0">
                <a:latin typeface="Arial"/>
                <a:cs typeface="Arial"/>
              </a:rPr>
              <a:t>rigid.</a:t>
            </a:r>
            <a:endParaRPr sz="2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695" y="991195"/>
            <a:ext cx="3089672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7877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35"/>
              </a:spcBef>
            </a:pPr>
            <a:r>
              <a:rPr sz="4700" spc="-275" dirty="0">
                <a:solidFill>
                  <a:srgbClr val="383389"/>
                </a:solidFill>
                <a:latin typeface="Arial"/>
                <a:cs typeface="Arial"/>
              </a:rPr>
              <a:t>The</a:t>
            </a:r>
            <a:r>
              <a:rPr sz="4700" spc="120" dirty="0">
                <a:solidFill>
                  <a:srgbClr val="383389"/>
                </a:solidFill>
                <a:latin typeface="Arial"/>
                <a:cs typeface="Arial"/>
              </a:rPr>
              <a:t> </a:t>
            </a:r>
            <a:r>
              <a:rPr sz="4700" spc="-610" dirty="0">
                <a:solidFill>
                  <a:srgbClr val="363489"/>
                </a:solidFill>
                <a:latin typeface="Arial"/>
                <a:cs typeface="Arial"/>
              </a:rPr>
              <a:t>JXTA</a:t>
            </a:r>
            <a:r>
              <a:rPr sz="4700" spc="310" dirty="0">
                <a:solidFill>
                  <a:srgbClr val="363489"/>
                </a:solidFill>
                <a:latin typeface="Arial"/>
                <a:cs typeface="Arial"/>
              </a:rPr>
              <a:t> </a:t>
            </a:r>
            <a:r>
              <a:rPr sz="4700" spc="-350" dirty="0">
                <a:solidFill>
                  <a:srgbClr val="3B3897"/>
                </a:solidFill>
                <a:latin typeface="Arial"/>
                <a:cs typeface="Arial"/>
              </a:rPr>
              <a:t>Model</a:t>
            </a:r>
            <a:endParaRPr sz="47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28930" indent="-316230">
              <a:lnSpc>
                <a:spcPct val="100000"/>
              </a:lnSpc>
              <a:spcBef>
                <a:spcPts val="120"/>
              </a:spcBef>
              <a:buClr>
                <a:srgbClr val="312FCF"/>
              </a:buClr>
              <a:buChar char="•"/>
              <a:tabLst>
                <a:tab pos="328930" algn="l"/>
              </a:tabLst>
            </a:pPr>
            <a:r>
              <a:rPr spc="-35" dirty="0"/>
              <a:t>Applications:</a:t>
            </a:r>
          </a:p>
          <a:p>
            <a:pPr marL="726440" marR="817244" lvl="1" indent="-266065">
              <a:lnSpc>
                <a:spcPts val="3020"/>
              </a:lnSpc>
              <a:spcBef>
                <a:spcPts val="720"/>
              </a:spcBef>
              <a:buClr>
                <a:srgbClr val="F90E0A"/>
              </a:buClr>
              <a:buChar char="•"/>
              <a:tabLst>
                <a:tab pos="727710" algn="l"/>
              </a:tabLst>
            </a:pPr>
            <a:r>
              <a:rPr sz="3050" spc="-145" dirty="0">
                <a:latin typeface="Arial"/>
                <a:cs typeface="Arial"/>
              </a:rPr>
              <a:t>What</a:t>
            </a:r>
            <a:r>
              <a:rPr sz="3050" spc="-65" dirty="0">
                <a:latin typeface="Arial"/>
                <a:cs typeface="Arial"/>
              </a:rPr>
              <a:t> </a:t>
            </a:r>
            <a:r>
              <a:rPr sz="3050" spc="-175" dirty="0">
                <a:latin typeface="Arial"/>
                <a:cs typeface="Arial"/>
              </a:rPr>
              <a:t>developers</a:t>
            </a:r>
            <a:r>
              <a:rPr sz="3050" spc="-40" dirty="0">
                <a:latin typeface="Arial"/>
                <a:cs typeface="Arial"/>
              </a:rPr>
              <a:t> </a:t>
            </a:r>
            <a:r>
              <a:rPr sz="3050" spc="-90" dirty="0">
                <a:latin typeface="Arial"/>
                <a:cs typeface="Arial"/>
              </a:rPr>
              <a:t>build</a:t>
            </a:r>
            <a:r>
              <a:rPr sz="3050" spc="-45" dirty="0">
                <a:latin typeface="Arial"/>
                <a:cs typeface="Arial"/>
              </a:rPr>
              <a:t> </a:t>
            </a:r>
            <a:r>
              <a:rPr sz="3050" spc="-140" dirty="0">
                <a:latin typeface="Arial"/>
                <a:cs typeface="Arial"/>
              </a:rPr>
              <a:t>using</a:t>
            </a:r>
            <a:r>
              <a:rPr sz="3050" dirty="0">
                <a:latin typeface="Arial"/>
                <a:cs typeface="Arial"/>
              </a:rPr>
              <a:t> </a:t>
            </a:r>
            <a:r>
              <a:rPr sz="3050" spc="-95" dirty="0">
                <a:latin typeface="Arial"/>
                <a:cs typeface="Arial"/>
              </a:rPr>
              <a:t>the</a:t>
            </a:r>
            <a:r>
              <a:rPr sz="3050" spc="-120" dirty="0">
                <a:latin typeface="Arial"/>
                <a:cs typeface="Arial"/>
              </a:rPr>
              <a:t> </a:t>
            </a:r>
            <a:r>
              <a:rPr sz="3050" spc="-440" dirty="0">
                <a:latin typeface="Arial"/>
                <a:cs typeface="Arial"/>
              </a:rPr>
              <a:t>JXTA 	</a:t>
            </a:r>
            <a:r>
              <a:rPr sz="3050" spc="-55" dirty="0">
                <a:latin typeface="Arial"/>
                <a:cs typeface="Arial"/>
              </a:rPr>
              <a:t>framework.</a:t>
            </a:r>
            <a:endParaRPr sz="3050">
              <a:latin typeface="Arial"/>
              <a:cs typeface="Arial"/>
            </a:endParaRPr>
          </a:p>
          <a:p>
            <a:pPr marL="711200" marR="5080" lvl="1" indent="-251460">
              <a:lnSpc>
                <a:spcPct val="80400"/>
              </a:lnSpc>
              <a:spcBef>
                <a:spcPts val="720"/>
              </a:spcBef>
              <a:buClr>
                <a:srgbClr val="F00A01"/>
              </a:buClr>
              <a:buChar char="•"/>
              <a:tabLst>
                <a:tab pos="725170" algn="l"/>
              </a:tabLst>
            </a:pPr>
            <a:r>
              <a:rPr sz="3100" spc="-145" dirty="0">
                <a:latin typeface="Arial"/>
                <a:cs typeface="Arial"/>
              </a:rPr>
              <a:t>Includes</a:t>
            </a:r>
            <a:r>
              <a:rPr sz="3100" spc="-75" dirty="0">
                <a:latin typeface="Arial"/>
                <a:cs typeface="Arial"/>
              </a:rPr>
              <a:t> </a:t>
            </a:r>
            <a:r>
              <a:rPr sz="3100" spc="-455" dirty="0">
                <a:latin typeface="Arial"/>
                <a:cs typeface="Arial"/>
              </a:rPr>
              <a:t>P2P</a:t>
            </a:r>
            <a:r>
              <a:rPr sz="3100" spc="110" dirty="0">
                <a:latin typeface="Arial"/>
                <a:cs typeface="Arial"/>
              </a:rPr>
              <a:t> </a:t>
            </a:r>
            <a:r>
              <a:rPr sz="3100" spc="-114" dirty="0">
                <a:latin typeface="Arial"/>
                <a:cs typeface="Arial"/>
              </a:rPr>
              <a:t>instant</a:t>
            </a:r>
            <a:r>
              <a:rPr sz="3100" spc="-15" dirty="0">
                <a:latin typeface="Arial"/>
                <a:cs typeface="Arial"/>
              </a:rPr>
              <a:t> </a:t>
            </a:r>
            <a:r>
              <a:rPr sz="3100" spc="-110" dirty="0">
                <a:latin typeface="Arial"/>
                <a:cs typeface="Arial"/>
              </a:rPr>
              <a:t>messaging, 	</a:t>
            </a:r>
            <a:r>
              <a:rPr sz="3150" spc="-155" dirty="0">
                <a:latin typeface="Arial"/>
                <a:cs typeface="Arial"/>
              </a:rPr>
              <a:t>entertainment</a:t>
            </a:r>
            <a:r>
              <a:rPr sz="3150" spc="150" dirty="0">
                <a:latin typeface="Arial"/>
                <a:cs typeface="Arial"/>
              </a:rPr>
              <a:t> </a:t>
            </a:r>
            <a:r>
              <a:rPr sz="3150" spc="-155" dirty="0">
                <a:latin typeface="Arial"/>
                <a:cs typeface="Arial"/>
              </a:rPr>
              <a:t>content</a:t>
            </a:r>
            <a:r>
              <a:rPr sz="3150" spc="5" dirty="0">
                <a:latin typeface="Arial"/>
                <a:cs typeface="Arial"/>
              </a:rPr>
              <a:t> </a:t>
            </a:r>
            <a:r>
              <a:rPr sz="3150" spc="-265" dirty="0">
                <a:latin typeface="Arial"/>
                <a:cs typeface="Arial"/>
              </a:rPr>
              <a:t>management</a:t>
            </a:r>
            <a:r>
              <a:rPr sz="3150" spc="85" dirty="0">
                <a:latin typeface="Arial"/>
                <a:cs typeface="Arial"/>
              </a:rPr>
              <a:t> </a:t>
            </a:r>
            <a:r>
              <a:rPr sz="3150" spc="-25" dirty="0">
                <a:latin typeface="Arial"/>
                <a:cs typeface="Arial"/>
              </a:rPr>
              <a:t>and 	</a:t>
            </a:r>
            <a:r>
              <a:rPr sz="3100" spc="-165" dirty="0">
                <a:latin typeface="Arial"/>
                <a:cs typeface="Arial"/>
              </a:rPr>
              <a:t>delivery,</a:t>
            </a:r>
            <a:r>
              <a:rPr sz="3100" spc="-55" dirty="0">
                <a:latin typeface="Arial"/>
                <a:cs typeface="Arial"/>
              </a:rPr>
              <a:t> </a:t>
            </a:r>
            <a:r>
              <a:rPr sz="3100" spc="-165" dirty="0">
                <a:latin typeface="Arial"/>
                <a:cs typeface="Arial"/>
              </a:rPr>
              <a:t>email</a:t>
            </a:r>
            <a:r>
              <a:rPr sz="3100" spc="-50" dirty="0">
                <a:latin typeface="Arial"/>
                <a:cs typeface="Arial"/>
              </a:rPr>
              <a:t> </a:t>
            </a:r>
            <a:r>
              <a:rPr sz="3100" spc="-200" dirty="0">
                <a:latin typeface="Arial"/>
                <a:cs typeface="Arial"/>
              </a:rPr>
              <a:t>systems,</a:t>
            </a:r>
            <a:r>
              <a:rPr sz="3100" spc="-15" dirty="0">
                <a:latin typeface="Arial"/>
                <a:cs typeface="Arial"/>
              </a:rPr>
              <a:t> </a:t>
            </a:r>
            <a:r>
              <a:rPr sz="3100" spc="-120" dirty="0">
                <a:latin typeface="Arial"/>
                <a:cs typeface="Arial"/>
              </a:rPr>
              <a:t>distributed</a:t>
            </a:r>
            <a:r>
              <a:rPr sz="3100" spc="60" dirty="0">
                <a:latin typeface="Arial"/>
                <a:cs typeface="Arial"/>
              </a:rPr>
              <a:t> </a:t>
            </a:r>
            <a:r>
              <a:rPr sz="3100" spc="-130" dirty="0">
                <a:latin typeface="Arial"/>
                <a:cs typeface="Arial"/>
              </a:rPr>
              <a:t>auction 	</a:t>
            </a:r>
            <a:r>
              <a:rPr sz="3200" spc="-275" dirty="0">
                <a:latin typeface="Arial"/>
                <a:cs typeface="Arial"/>
              </a:rPr>
              <a:t>systems,</a:t>
            </a:r>
            <a:r>
              <a:rPr sz="3200" spc="170" dirty="0">
                <a:latin typeface="Arial"/>
                <a:cs typeface="Arial"/>
              </a:rPr>
              <a:t> </a:t>
            </a:r>
            <a:r>
              <a:rPr sz="3200" spc="-270" dirty="0">
                <a:latin typeface="Arial"/>
                <a:cs typeface="Arial"/>
              </a:rPr>
              <a:t>and</a:t>
            </a:r>
            <a:r>
              <a:rPr sz="3200" spc="80" dirty="0">
                <a:latin typeface="Arial"/>
                <a:cs typeface="Arial"/>
              </a:rPr>
              <a:t> </a:t>
            </a:r>
            <a:r>
              <a:rPr sz="3200" spc="-280" dirty="0">
                <a:latin typeface="Arial"/>
                <a:cs typeface="Arial"/>
              </a:rPr>
              <a:t>more.</a:t>
            </a:r>
            <a:endParaRPr sz="3200">
              <a:latin typeface="Arial"/>
              <a:cs typeface="Arial"/>
            </a:endParaRPr>
          </a:p>
          <a:p>
            <a:pPr marL="722630" marR="1049020" lvl="1" indent="-261620">
              <a:lnSpc>
                <a:spcPts val="3020"/>
              </a:lnSpc>
              <a:spcBef>
                <a:spcPts val="600"/>
              </a:spcBef>
              <a:buClr>
                <a:srgbClr val="F90808"/>
              </a:buClr>
              <a:buChar char="•"/>
              <a:tabLst>
                <a:tab pos="726440" algn="l"/>
              </a:tabLst>
            </a:pPr>
            <a:r>
              <a:rPr sz="2950" spc="-65" dirty="0">
                <a:latin typeface="Arial"/>
                <a:cs typeface="Arial"/>
              </a:rPr>
              <a:t>The</a:t>
            </a:r>
            <a:r>
              <a:rPr sz="2950" spc="-155" dirty="0">
                <a:latin typeface="Arial"/>
                <a:cs typeface="Arial"/>
              </a:rPr>
              <a:t> </a:t>
            </a:r>
            <a:r>
              <a:rPr sz="2950" spc="-85" dirty="0">
                <a:latin typeface="Arial"/>
                <a:cs typeface="Arial"/>
              </a:rPr>
              <a:t>boundary</a:t>
            </a:r>
            <a:r>
              <a:rPr sz="2950" spc="-60" dirty="0">
                <a:latin typeface="Arial"/>
                <a:cs typeface="Arial"/>
              </a:rPr>
              <a:t> </a:t>
            </a:r>
            <a:r>
              <a:rPr sz="2950" spc="-70" dirty="0">
                <a:latin typeface="Arial"/>
                <a:cs typeface="Arial"/>
              </a:rPr>
              <a:t>between</a:t>
            </a:r>
            <a:r>
              <a:rPr sz="2950" spc="-55" dirty="0">
                <a:latin typeface="Arial"/>
                <a:cs typeface="Arial"/>
              </a:rPr>
              <a:t> </a:t>
            </a:r>
            <a:r>
              <a:rPr sz="2950" spc="-125" dirty="0">
                <a:latin typeface="Arial"/>
                <a:cs typeface="Arial"/>
              </a:rPr>
              <a:t>services</a:t>
            </a:r>
            <a:r>
              <a:rPr sz="2950" spc="-55" dirty="0">
                <a:latin typeface="Arial"/>
                <a:cs typeface="Arial"/>
              </a:rPr>
              <a:t> </a:t>
            </a:r>
            <a:r>
              <a:rPr sz="2950" spc="-80" dirty="0">
                <a:latin typeface="Arial"/>
                <a:cs typeface="Arial"/>
              </a:rPr>
              <a:t>and 	applications</a:t>
            </a:r>
            <a:r>
              <a:rPr sz="2950" spc="-15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is</a:t>
            </a:r>
            <a:r>
              <a:rPr sz="2950" spc="-155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not</a:t>
            </a:r>
            <a:r>
              <a:rPr sz="2950" spc="-120" dirty="0">
                <a:latin typeface="Arial"/>
                <a:cs typeface="Arial"/>
              </a:rPr>
              <a:t> </a:t>
            </a:r>
            <a:r>
              <a:rPr sz="2950" spc="-10" dirty="0">
                <a:latin typeface="Arial"/>
                <a:cs typeface="Arial"/>
              </a:rPr>
              <a:t>rigid.</a:t>
            </a:r>
            <a:endParaRPr sz="2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695" y="991195"/>
            <a:ext cx="3089672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7877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35"/>
              </a:spcBef>
            </a:pPr>
            <a:r>
              <a:rPr sz="4700" spc="-275" dirty="0">
                <a:solidFill>
                  <a:srgbClr val="383389"/>
                </a:solidFill>
                <a:latin typeface="Arial"/>
                <a:cs typeface="Arial"/>
              </a:rPr>
              <a:t>The</a:t>
            </a:r>
            <a:r>
              <a:rPr sz="4700" spc="120" dirty="0">
                <a:solidFill>
                  <a:srgbClr val="383389"/>
                </a:solidFill>
                <a:latin typeface="Arial"/>
                <a:cs typeface="Arial"/>
              </a:rPr>
              <a:t> </a:t>
            </a:r>
            <a:r>
              <a:rPr sz="4700" spc="-610" dirty="0">
                <a:solidFill>
                  <a:srgbClr val="363489"/>
                </a:solidFill>
                <a:latin typeface="Arial"/>
                <a:cs typeface="Arial"/>
              </a:rPr>
              <a:t>JXTA</a:t>
            </a:r>
            <a:r>
              <a:rPr sz="4700" spc="310" dirty="0">
                <a:solidFill>
                  <a:srgbClr val="363489"/>
                </a:solidFill>
                <a:latin typeface="Arial"/>
                <a:cs typeface="Arial"/>
              </a:rPr>
              <a:t> </a:t>
            </a:r>
            <a:r>
              <a:rPr sz="4700" spc="-350" dirty="0">
                <a:solidFill>
                  <a:srgbClr val="3B3897"/>
                </a:solidFill>
                <a:latin typeface="Arial"/>
                <a:cs typeface="Arial"/>
              </a:rPr>
              <a:t>Model</a:t>
            </a:r>
            <a:endParaRPr sz="47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28930" indent="-316230">
              <a:lnSpc>
                <a:spcPct val="100000"/>
              </a:lnSpc>
              <a:spcBef>
                <a:spcPts val="120"/>
              </a:spcBef>
              <a:buClr>
                <a:srgbClr val="312FCF"/>
              </a:buClr>
              <a:buChar char="•"/>
              <a:tabLst>
                <a:tab pos="328930" algn="l"/>
              </a:tabLst>
            </a:pPr>
            <a:r>
              <a:rPr spc="-35" dirty="0"/>
              <a:t>Applications:</a:t>
            </a:r>
          </a:p>
          <a:p>
            <a:pPr marL="726440" marR="817244" lvl="1" indent="-266065">
              <a:lnSpc>
                <a:spcPts val="3020"/>
              </a:lnSpc>
              <a:spcBef>
                <a:spcPts val="720"/>
              </a:spcBef>
              <a:buClr>
                <a:srgbClr val="F90E0A"/>
              </a:buClr>
              <a:buChar char="•"/>
              <a:tabLst>
                <a:tab pos="727710" algn="l"/>
              </a:tabLst>
            </a:pPr>
            <a:r>
              <a:rPr sz="3050" spc="-145" dirty="0">
                <a:latin typeface="Arial"/>
                <a:cs typeface="Arial"/>
              </a:rPr>
              <a:t>What</a:t>
            </a:r>
            <a:r>
              <a:rPr sz="3050" spc="-65" dirty="0">
                <a:latin typeface="Arial"/>
                <a:cs typeface="Arial"/>
              </a:rPr>
              <a:t> </a:t>
            </a:r>
            <a:r>
              <a:rPr sz="3050" spc="-175" dirty="0">
                <a:latin typeface="Arial"/>
                <a:cs typeface="Arial"/>
              </a:rPr>
              <a:t>developers</a:t>
            </a:r>
            <a:r>
              <a:rPr sz="3050" spc="-40" dirty="0">
                <a:latin typeface="Arial"/>
                <a:cs typeface="Arial"/>
              </a:rPr>
              <a:t> </a:t>
            </a:r>
            <a:r>
              <a:rPr sz="3050" spc="-90" dirty="0">
                <a:latin typeface="Arial"/>
                <a:cs typeface="Arial"/>
              </a:rPr>
              <a:t>build</a:t>
            </a:r>
            <a:r>
              <a:rPr sz="3050" spc="-45" dirty="0">
                <a:latin typeface="Arial"/>
                <a:cs typeface="Arial"/>
              </a:rPr>
              <a:t> </a:t>
            </a:r>
            <a:r>
              <a:rPr sz="3050" spc="-140" dirty="0">
                <a:latin typeface="Arial"/>
                <a:cs typeface="Arial"/>
              </a:rPr>
              <a:t>using</a:t>
            </a:r>
            <a:r>
              <a:rPr sz="3050" dirty="0">
                <a:latin typeface="Arial"/>
                <a:cs typeface="Arial"/>
              </a:rPr>
              <a:t> </a:t>
            </a:r>
            <a:r>
              <a:rPr sz="3050" spc="-95" dirty="0">
                <a:latin typeface="Arial"/>
                <a:cs typeface="Arial"/>
              </a:rPr>
              <a:t>the</a:t>
            </a:r>
            <a:r>
              <a:rPr sz="3050" spc="-120" dirty="0">
                <a:latin typeface="Arial"/>
                <a:cs typeface="Arial"/>
              </a:rPr>
              <a:t> </a:t>
            </a:r>
            <a:r>
              <a:rPr sz="3050" spc="-440" dirty="0">
                <a:latin typeface="Arial"/>
                <a:cs typeface="Arial"/>
              </a:rPr>
              <a:t>JXTA 	</a:t>
            </a:r>
            <a:r>
              <a:rPr sz="3050" spc="-55" dirty="0">
                <a:latin typeface="Arial"/>
                <a:cs typeface="Arial"/>
              </a:rPr>
              <a:t>framework.</a:t>
            </a:r>
            <a:endParaRPr sz="3050">
              <a:latin typeface="Arial"/>
              <a:cs typeface="Arial"/>
            </a:endParaRPr>
          </a:p>
          <a:p>
            <a:pPr marL="711200" marR="5080" lvl="1" indent="-251460">
              <a:lnSpc>
                <a:spcPct val="80400"/>
              </a:lnSpc>
              <a:spcBef>
                <a:spcPts val="720"/>
              </a:spcBef>
              <a:buClr>
                <a:srgbClr val="F00A01"/>
              </a:buClr>
              <a:buChar char="•"/>
              <a:tabLst>
                <a:tab pos="725170" algn="l"/>
              </a:tabLst>
            </a:pPr>
            <a:r>
              <a:rPr sz="3100" spc="-145" dirty="0">
                <a:latin typeface="Arial"/>
                <a:cs typeface="Arial"/>
              </a:rPr>
              <a:t>Includes</a:t>
            </a:r>
            <a:r>
              <a:rPr sz="3100" spc="-75" dirty="0">
                <a:latin typeface="Arial"/>
                <a:cs typeface="Arial"/>
              </a:rPr>
              <a:t> </a:t>
            </a:r>
            <a:r>
              <a:rPr sz="3100" spc="-455" dirty="0">
                <a:latin typeface="Arial"/>
                <a:cs typeface="Arial"/>
              </a:rPr>
              <a:t>P2P</a:t>
            </a:r>
            <a:r>
              <a:rPr sz="3100" spc="110" dirty="0">
                <a:latin typeface="Arial"/>
                <a:cs typeface="Arial"/>
              </a:rPr>
              <a:t> </a:t>
            </a:r>
            <a:r>
              <a:rPr sz="3100" spc="-114" dirty="0">
                <a:latin typeface="Arial"/>
                <a:cs typeface="Arial"/>
              </a:rPr>
              <a:t>instant</a:t>
            </a:r>
            <a:r>
              <a:rPr sz="3100" spc="-15" dirty="0">
                <a:latin typeface="Arial"/>
                <a:cs typeface="Arial"/>
              </a:rPr>
              <a:t> </a:t>
            </a:r>
            <a:r>
              <a:rPr sz="3100" spc="-110" dirty="0">
                <a:latin typeface="Arial"/>
                <a:cs typeface="Arial"/>
              </a:rPr>
              <a:t>messaging, 	</a:t>
            </a:r>
            <a:r>
              <a:rPr sz="3150" spc="-155" dirty="0">
                <a:latin typeface="Arial"/>
                <a:cs typeface="Arial"/>
              </a:rPr>
              <a:t>entertainment</a:t>
            </a:r>
            <a:r>
              <a:rPr sz="3150" spc="150" dirty="0">
                <a:latin typeface="Arial"/>
                <a:cs typeface="Arial"/>
              </a:rPr>
              <a:t> </a:t>
            </a:r>
            <a:r>
              <a:rPr sz="3150" spc="-155" dirty="0">
                <a:latin typeface="Arial"/>
                <a:cs typeface="Arial"/>
              </a:rPr>
              <a:t>content</a:t>
            </a:r>
            <a:r>
              <a:rPr sz="3150" spc="5" dirty="0">
                <a:latin typeface="Arial"/>
                <a:cs typeface="Arial"/>
              </a:rPr>
              <a:t> </a:t>
            </a:r>
            <a:r>
              <a:rPr sz="3150" spc="-265" dirty="0">
                <a:latin typeface="Arial"/>
                <a:cs typeface="Arial"/>
              </a:rPr>
              <a:t>management</a:t>
            </a:r>
            <a:r>
              <a:rPr sz="3150" spc="85" dirty="0">
                <a:latin typeface="Arial"/>
                <a:cs typeface="Arial"/>
              </a:rPr>
              <a:t> </a:t>
            </a:r>
            <a:r>
              <a:rPr sz="3150" spc="-25" dirty="0">
                <a:latin typeface="Arial"/>
                <a:cs typeface="Arial"/>
              </a:rPr>
              <a:t>and 	</a:t>
            </a:r>
            <a:r>
              <a:rPr sz="3100" spc="-165" dirty="0">
                <a:latin typeface="Arial"/>
                <a:cs typeface="Arial"/>
              </a:rPr>
              <a:t>delivery,</a:t>
            </a:r>
            <a:r>
              <a:rPr sz="3100" spc="-55" dirty="0">
                <a:latin typeface="Arial"/>
                <a:cs typeface="Arial"/>
              </a:rPr>
              <a:t> </a:t>
            </a:r>
            <a:r>
              <a:rPr sz="3100" spc="-165" dirty="0">
                <a:latin typeface="Arial"/>
                <a:cs typeface="Arial"/>
              </a:rPr>
              <a:t>email</a:t>
            </a:r>
            <a:r>
              <a:rPr sz="3100" spc="-50" dirty="0">
                <a:latin typeface="Arial"/>
                <a:cs typeface="Arial"/>
              </a:rPr>
              <a:t> </a:t>
            </a:r>
            <a:r>
              <a:rPr sz="3100" spc="-200" dirty="0">
                <a:latin typeface="Arial"/>
                <a:cs typeface="Arial"/>
              </a:rPr>
              <a:t>systems,</a:t>
            </a:r>
            <a:r>
              <a:rPr sz="3100" spc="-15" dirty="0">
                <a:latin typeface="Arial"/>
                <a:cs typeface="Arial"/>
              </a:rPr>
              <a:t> </a:t>
            </a:r>
            <a:r>
              <a:rPr sz="3100" spc="-120" dirty="0">
                <a:latin typeface="Arial"/>
                <a:cs typeface="Arial"/>
              </a:rPr>
              <a:t>distributed</a:t>
            </a:r>
            <a:r>
              <a:rPr sz="3100" spc="60" dirty="0">
                <a:latin typeface="Arial"/>
                <a:cs typeface="Arial"/>
              </a:rPr>
              <a:t> </a:t>
            </a:r>
            <a:r>
              <a:rPr sz="3100" spc="-130" dirty="0">
                <a:latin typeface="Arial"/>
                <a:cs typeface="Arial"/>
              </a:rPr>
              <a:t>auction 	</a:t>
            </a:r>
            <a:r>
              <a:rPr sz="3200" spc="-275" dirty="0">
                <a:latin typeface="Arial"/>
                <a:cs typeface="Arial"/>
              </a:rPr>
              <a:t>systems,</a:t>
            </a:r>
            <a:r>
              <a:rPr sz="3200" spc="170" dirty="0">
                <a:latin typeface="Arial"/>
                <a:cs typeface="Arial"/>
              </a:rPr>
              <a:t> </a:t>
            </a:r>
            <a:r>
              <a:rPr sz="3200" spc="-270" dirty="0">
                <a:latin typeface="Arial"/>
                <a:cs typeface="Arial"/>
              </a:rPr>
              <a:t>and</a:t>
            </a:r>
            <a:r>
              <a:rPr sz="3200" spc="80" dirty="0">
                <a:latin typeface="Arial"/>
                <a:cs typeface="Arial"/>
              </a:rPr>
              <a:t> </a:t>
            </a:r>
            <a:r>
              <a:rPr sz="3200" spc="-280" dirty="0">
                <a:latin typeface="Arial"/>
                <a:cs typeface="Arial"/>
              </a:rPr>
              <a:t>more.</a:t>
            </a:r>
            <a:endParaRPr sz="3200">
              <a:latin typeface="Arial"/>
              <a:cs typeface="Arial"/>
            </a:endParaRPr>
          </a:p>
          <a:p>
            <a:pPr marL="722630" marR="1049020" lvl="1" indent="-261620">
              <a:lnSpc>
                <a:spcPts val="3020"/>
              </a:lnSpc>
              <a:spcBef>
                <a:spcPts val="600"/>
              </a:spcBef>
              <a:buClr>
                <a:srgbClr val="F90808"/>
              </a:buClr>
              <a:buChar char="•"/>
              <a:tabLst>
                <a:tab pos="726440" algn="l"/>
              </a:tabLst>
            </a:pPr>
            <a:r>
              <a:rPr sz="2950" spc="-65" dirty="0">
                <a:latin typeface="Arial"/>
                <a:cs typeface="Arial"/>
              </a:rPr>
              <a:t>The</a:t>
            </a:r>
            <a:r>
              <a:rPr sz="2950" spc="-155" dirty="0">
                <a:latin typeface="Arial"/>
                <a:cs typeface="Arial"/>
              </a:rPr>
              <a:t> </a:t>
            </a:r>
            <a:r>
              <a:rPr sz="2950" spc="-85" dirty="0">
                <a:latin typeface="Arial"/>
                <a:cs typeface="Arial"/>
              </a:rPr>
              <a:t>boundary</a:t>
            </a:r>
            <a:r>
              <a:rPr sz="2950" spc="-60" dirty="0">
                <a:latin typeface="Arial"/>
                <a:cs typeface="Arial"/>
              </a:rPr>
              <a:t> </a:t>
            </a:r>
            <a:r>
              <a:rPr sz="2950" spc="-70" dirty="0">
                <a:latin typeface="Arial"/>
                <a:cs typeface="Arial"/>
              </a:rPr>
              <a:t>between</a:t>
            </a:r>
            <a:r>
              <a:rPr sz="2950" spc="-55" dirty="0">
                <a:latin typeface="Arial"/>
                <a:cs typeface="Arial"/>
              </a:rPr>
              <a:t> </a:t>
            </a:r>
            <a:r>
              <a:rPr sz="2950" spc="-125" dirty="0">
                <a:latin typeface="Arial"/>
                <a:cs typeface="Arial"/>
              </a:rPr>
              <a:t>services</a:t>
            </a:r>
            <a:r>
              <a:rPr sz="2950" spc="-55" dirty="0">
                <a:latin typeface="Arial"/>
                <a:cs typeface="Arial"/>
              </a:rPr>
              <a:t> </a:t>
            </a:r>
            <a:r>
              <a:rPr sz="2950" spc="-80" dirty="0">
                <a:latin typeface="Arial"/>
                <a:cs typeface="Arial"/>
              </a:rPr>
              <a:t>and 	applications</a:t>
            </a:r>
            <a:r>
              <a:rPr sz="2950" spc="-15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is</a:t>
            </a:r>
            <a:r>
              <a:rPr sz="2950" spc="-155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not</a:t>
            </a:r>
            <a:r>
              <a:rPr sz="2950" spc="-120" dirty="0">
                <a:latin typeface="Arial"/>
                <a:cs typeface="Arial"/>
              </a:rPr>
              <a:t> </a:t>
            </a:r>
            <a:r>
              <a:rPr sz="2950" spc="-10" dirty="0">
                <a:latin typeface="Arial"/>
                <a:cs typeface="Arial"/>
              </a:rPr>
              <a:t>rigid.</a:t>
            </a:r>
            <a:endParaRPr sz="2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695" y="991195"/>
            <a:ext cx="3080741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7877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135"/>
              </a:spcBef>
            </a:pPr>
            <a:r>
              <a:rPr sz="4700" spc="-430" dirty="0">
                <a:solidFill>
                  <a:srgbClr val="383375"/>
                </a:solidFill>
                <a:latin typeface="Arial"/>
                <a:cs typeface="Arial"/>
              </a:rPr>
              <a:t>Peers</a:t>
            </a:r>
            <a:endParaRPr sz="4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8600" y="1955055"/>
            <a:ext cx="7371715" cy="3919854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28295" marR="717550" indent="-316230">
              <a:lnSpc>
                <a:spcPct val="80000"/>
              </a:lnSpc>
              <a:spcBef>
                <a:spcPts val="880"/>
              </a:spcBef>
              <a:buChar char="•"/>
              <a:tabLst>
                <a:tab pos="328295" algn="l"/>
                <a:tab pos="337185" algn="l"/>
              </a:tabLst>
            </a:pPr>
            <a:r>
              <a:rPr sz="3150" dirty="0">
                <a:solidFill>
                  <a:srgbClr val="4949DD"/>
                </a:solidFill>
                <a:latin typeface="Arial"/>
                <a:cs typeface="Arial"/>
              </a:rPr>
              <a:t>	</a:t>
            </a:r>
            <a:r>
              <a:rPr sz="3150" spc="-484" dirty="0">
                <a:latin typeface="Arial"/>
                <a:cs typeface="Arial"/>
              </a:rPr>
              <a:t>A</a:t>
            </a:r>
            <a:r>
              <a:rPr sz="3150" spc="10" dirty="0">
                <a:latin typeface="Arial"/>
                <a:cs typeface="Arial"/>
              </a:rPr>
              <a:t> </a:t>
            </a:r>
            <a:r>
              <a:rPr sz="3150" spc="-270" dirty="0">
                <a:latin typeface="Arial"/>
                <a:cs typeface="Arial"/>
              </a:rPr>
              <a:t>peer</a:t>
            </a:r>
            <a:r>
              <a:rPr sz="3150" spc="50" dirty="0">
                <a:latin typeface="Arial"/>
                <a:cs typeface="Arial"/>
              </a:rPr>
              <a:t> </a:t>
            </a:r>
            <a:r>
              <a:rPr sz="3150" spc="-185" dirty="0">
                <a:latin typeface="Arial"/>
                <a:cs typeface="Arial"/>
              </a:rPr>
              <a:t>is</a:t>
            </a:r>
            <a:r>
              <a:rPr sz="3150" spc="-35" dirty="0">
                <a:latin typeface="Arial"/>
                <a:cs typeface="Arial"/>
              </a:rPr>
              <a:t> </a:t>
            </a:r>
            <a:r>
              <a:rPr sz="3150" spc="-335" dirty="0">
                <a:latin typeface="Arial"/>
                <a:cs typeface="Arial"/>
              </a:rPr>
              <a:t>a</a:t>
            </a:r>
            <a:r>
              <a:rPr sz="3150" spc="100" dirty="0">
                <a:latin typeface="Arial"/>
                <a:cs typeface="Arial"/>
              </a:rPr>
              <a:t> </a:t>
            </a:r>
            <a:r>
              <a:rPr sz="3150" spc="-200" dirty="0">
                <a:latin typeface="Arial"/>
                <a:cs typeface="Arial"/>
              </a:rPr>
              <a:t>single</a:t>
            </a:r>
            <a:r>
              <a:rPr sz="3150" spc="-15" dirty="0">
                <a:latin typeface="Arial"/>
                <a:cs typeface="Arial"/>
              </a:rPr>
              <a:t> </a:t>
            </a:r>
            <a:r>
              <a:rPr sz="3150" spc="-145" dirty="0">
                <a:latin typeface="Arial"/>
                <a:cs typeface="Arial"/>
              </a:rPr>
              <a:t>participant</a:t>
            </a:r>
            <a:r>
              <a:rPr sz="3150" spc="110" dirty="0">
                <a:latin typeface="Arial"/>
                <a:cs typeface="Arial"/>
              </a:rPr>
              <a:t> </a:t>
            </a:r>
            <a:r>
              <a:rPr sz="3150" spc="-95" dirty="0">
                <a:latin typeface="Arial"/>
                <a:cs typeface="Arial"/>
              </a:rPr>
              <a:t>in</a:t>
            </a:r>
            <a:r>
              <a:rPr sz="3150" spc="-75" dirty="0">
                <a:latin typeface="Arial"/>
                <a:cs typeface="Arial"/>
              </a:rPr>
              <a:t> </a:t>
            </a:r>
            <a:r>
              <a:rPr sz="3150" spc="-135" dirty="0">
                <a:latin typeface="Arial"/>
                <a:cs typeface="Arial"/>
              </a:rPr>
              <a:t>the</a:t>
            </a:r>
            <a:r>
              <a:rPr sz="3150" spc="-80" dirty="0">
                <a:latin typeface="Arial"/>
                <a:cs typeface="Arial"/>
              </a:rPr>
              <a:t> </a:t>
            </a:r>
            <a:r>
              <a:rPr sz="3150" spc="-490" dirty="0">
                <a:latin typeface="Arial"/>
                <a:cs typeface="Arial"/>
              </a:rPr>
              <a:t>JXTA </a:t>
            </a:r>
            <a:r>
              <a:rPr sz="3150" spc="-60" dirty="0">
                <a:latin typeface="Arial"/>
                <a:cs typeface="Arial"/>
              </a:rPr>
              <a:t>network.</a:t>
            </a:r>
            <a:endParaRPr sz="3150">
              <a:latin typeface="Arial"/>
              <a:cs typeface="Arial"/>
            </a:endParaRPr>
          </a:p>
          <a:p>
            <a:pPr marL="333375" indent="-320675">
              <a:lnSpc>
                <a:spcPts val="3700"/>
              </a:lnSpc>
              <a:buClr>
                <a:srgbClr val="6764FF"/>
              </a:buClr>
              <a:buChar char="•"/>
              <a:tabLst>
                <a:tab pos="333375" algn="l"/>
              </a:tabLst>
            </a:pPr>
            <a:r>
              <a:rPr sz="3100" spc="-345" dirty="0">
                <a:latin typeface="Arial"/>
                <a:cs typeface="Arial"/>
              </a:rPr>
              <a:t>Peer</a:t>
            </a:r>
            <a:r>
              <a:rPr sz="3100" spc="125" dirty="0">
                <a:latin typeface="Arial"/>
                <a:cs typeface="Arial"/>
              </a:rPr>
              <a:t> </a:t>
            </a:r>
            <a:r>
              <a:rPr sz="3100" spc="-90" dirty="0">
                <a:latin typeface="Arial"/>
                <a:cs typeface="Arial"/>
              </a:rPr>
              <a:t>is</a:t>
            </a:r>
            <a:r>
              <a:rPr sz="3100" spc="-125" dirty="0">
                <a:latin typeface="Arial"/>
                <a:cs typeface="Arial"/>
              </a:rPr>
              <a:t> </a:t>
            </a:r>
            <a:r>
              <a:rPr sz="3100" spc="-140" dirty="0">
                <a:latin typeface="Arial"/>
                <a:cs typeface="Arial"/>
              </a:rPr>
              <a:t>referred</a:t>
            </a:r>
            <a:r>
              <a:rPr sz="3100" spc="-25" dirty="0">
                <a:latin typeface="Arial"/>
                <a:cs typeface="Arial"/>
              </a:rPr>
              <a:t> </a:t>
            </a:r>
            <a:r>
              <a:rPr sz="3100" dirty="0">
                <a:latin typeface="Arial"/>
                <a:cs typeface="Arial"/>
              </a:rPr>
              <a:t>to</a:t>
            </a:r>
            <a:r>
              <a:rPr sz="3100" spc="-100" dirty="0">
                <a:latin typeface="Arial"/>
                <a:cs typeface="Arial"/>
              </a:rPr>
              <a:t> </a:t>
            </a:r>
            <a:r>
              <a:rPr sz="3100" spc="-140" dirty="0">
                <a:latin typeface="Arial"/>
                <a:cs typeface="Arial"/>
              </a:rPr>
              <a:t>by</a:t>
            </a:r>
            <a:r>
              <a:rPr sz="3100" spc="-40" dirty="0">
                <a:latin typeface="Arial"/>
                <a:cs typeface="Arial"/>
              </a:rPr>
              <a:t> </a:t>
            </a:r>
            <a:r>
              <a:rPr sz="3100" spc="-165" dirty="0">
                <a:latin typeface="Arial"/>
                <a:cs typeface="Arial"/>
              </a:rPr>
              <a:t>an</a:t>
            </a:r>
            <a:r>
              <a:rPr sz="3100" spc="-35" dirty="0">
                <a:latin typeface="Arial"/>
                <a:cs typeface="Arial"/>
              </a:rPr>
              <a:t> </a:t>
            </a:r>
            <a:r>
              <a:rPr sz="3100" spc="-430" dirty="0">
                <a:latin typeface="Arial"/>
                <a:cs typeface="Arial"/>
              </a:rPr>
              <a:t>XML</a:t>
            </a:r>
            <a:r>
              <a:rPr sz="3100" spc="15" dirty="0">
                <a:latin typeface="Arial"/>
                <a:cs typeface="Arial"/>
              </a:rPr>
              <a:t> </a:t>
            </a:r>
            <a:r>
              <a:rPr sz="3100" spc="-120" dirty="0">
                <a:latin typeface="Arial"/>
                <a:cs typeface="Arial"/>
              </a:rPr>
              <a:t>advertisement.</a:t>
            </a:r>
            <a:endParaRPr sz="3100">
              <a:latin typeface="Arial"/>
              <a:cs typeface="Arial"/>
            </a:endParaRPr>
          </a:p>
          <a:p>
            <a:pPr marL="332740" indent="-320040">
              <a:lnSpc>
                <a:spcPts val="3704"/>
              </a:lnSpc>
              <a:buClr>
                <a:srgbClr val="3131C3"/>
              </a:buClr>
              <a:buChar char="•"/>
              <a:tabLst>
                <a:tab pos="332740" algn="l"/>
              </a:tabLst>
            </a:pPr>
            <a:r>
              <a:rPr sz="3100" spc="-345" dirty="0">
                <a:latin typeface="Arial"/>
                <a:cs typeface="Arial"/>
              </a:rPr>
              <a:t>Peer</a:t>
            </a:r>
            <a:r>
              <a:rPr sz="3100" spc="125" dirty="0">
                <a:latin typeface="Arial"/>
                <a:cs typeface="Arial"/>
              </a:rPr>
              <a:t> </a:t>
            </a:r>
            <a:r>
              <a:rPr sz="3100" spc="-160" dirty="0">
                <a:latin typeface="Arial"/>
                <a:cs typeface="Arial"/>
              </a:rPr>
              <a:t>is</a:t>
            </a:r>
            <a:r>
              <a:rPr sz="3100" spc="-55" dirty="0">
                <a:latin typeface="Arial"/>
                <a:cs typeface="Arial"/>
              </a:rPr>
              <a:t> </a:t>
            </a:r>
            <a:r>
              <a:rPr sz="3100" spc="-110" dirty="0">
                <a:latin typeface="Arial"/>
                <a:cs typeface="Arial"/>
              </a:rPr>
              <a:t>identified</a:t>
            </a:r>
            <a:r>
              <a:rPr sz="3100" spc="-105" dirty="0">
                <a:latin typeface="Arial"/>
                <a:cs typeface="Arial"/>
              </a:rPr>
              <a:t> </a:t>
            </a:r>
            <a:r>
              <a:rPr sz="3100" spc="-140" dirty="0">
                <a:latin typeface="Arial"/>
                <a:cs typeface="Arial"/>
              </a:rPr>
              <a:t>by</a:t>
            </a:r>
            <a:r>
              <a:rPr sz="3100" spc="-35" dirty="0">
                <a:latin typeface="Arial"/>
                <a:cs typeface="Arial"/>
              </a:rPr>
              <a:t> </a:t>
            </a:r>
            <a:r>
              <a:rPr sz="3100" spc="-295" dirty="0">
                <a:latin typeface="Arial"/>
                <a:cs typeface="Arial"/>
              </a:rPr>
              <a:t>a</a:t>
            </a:r>
            <a:r>
              <a:rPr sz="3100" spc="65" dirty="0">
                <a:latin typeface="Arial"/>
                <a:cs typeface="Arial"/>
              </a:rPr>
              <a:t> </a:t>
            </a:r>
            <a:r>
              <a:rPr sz="3100" spc="-170" dirty="0">
                <a:latin typeface="Arial"/>
                <a:cs typeface="Arial"/>
              </a:rPr>
              <a:t>unique</a:t>
            </a:r>
            <a:r>
              <a:rPr sz="3100" spc="75" dirty="0">
                <a:latin typeface="Arial"/>
                <a:cs typeface="Arial"/>
              </a:rPr>
              <a:t> </a:t>
            </a:r>
            <a:r>
              <a:rPr sz="3100" spc="-220" dirty="0">
                <a:latin typeface="Arial"/>
                <a:cs typeface="Arial"/>
              </a:rPr>
              <a:t>peer</a:t>
            </a:r>
            <a:r>
              <a:rPr sz="3100" dirty="0">
                <a:latin typeface="Arial"/>
                <a:cs typeface="Arial"/>
              </a:rPr>
              <a:t> </a:t>
            </a:r>
            <a:r>
              <a:rPr sz="3100" spc="-25" dirty="0">
                <a:latin typeface="Arial"/>
                <a:cs typeface="Arial"/>
              </a:rPr>
              <a:t>ID.</a:t>
            </a:r>
            <a:endParaRPr sz="3100">
              <a:latin typeface="Arial"/>
              <a:cs typeface="Arial"/>
            </a:endParaRPr>
          </a:p>
          <a:p>
            <a:pPr marL="332740" marR="897890" indent="-320040">
              <a:lnSpc>
                <a:spcPts val="3020"/>
              </a:lnSpc>
              <a:spcBef>
                <a:spcPts val="655"/>
              </a:spcBef>
              <a:buClr>
                <a:srgbClr val="5756F2"/>
              </a:buClr>
              <a:buChar char="•"/>
              <a:tabLst>
                <a:tab pos="334010" algn="l"/>
              </a:tabLst>
            </a:pPr>
            <a:r>
              <a:rPr sz="3050" spc="-320" dirty="0">
                <a:latin typeface="Arial"/>
                <a:cs typeface="Arial"/>
              </a:rPr>
              <a:t>Each</a:t>
            </a:r>
            <a:r>
              <a:rPr sz="3050" spc="110" dirty="0">
                <a:latin typeface="Arial"/>
                <a:cs typeface="Arial"/>
              </a:rPr>
              <a:t> </a:t>
            </a:r>
            <a:r>
              <a:rPr sz="3050" spc="-130" dirty="0">
                <a:latin typeface="Arial"/>
                <a:cs typeface="Arial"/>
              </a:rPr>
              <a:t>peer</a:t>
            </a:r>
            <a:r>
              <a:rPr sz="3050" spc="-85" dirty="0">
                <a:latin typeface="Arial"/>
                <a:cs typeface="Arial"/>
              </a:rPr>
              <a:t> </a:t>
            </a:r>
            <a:r>
              <a:rPr sz="3050" spc="-170" dirty="0">
                <a:latin typeface="Arial"/>
                <a:cs typeface="Arial"/>
              </a:rPr>
              <a:t>belongs</a:t>
            </a:r>
            <a:r>
              <a:rPr sz="3050" spc="-25" dirty="0">
                <a:latin typeface="Arial"/>
                <a:cs typeface="Arial"/>
              </a:rPr>
              <a:t> </a:t>
            </a:r>
            <a:r>
              <a:rPr sz="3050" dirty="0">
                <a:latin typeface="Arial"/>
                <a:cs typeface="Arial"/>
              </a:rPr>
              <a:t>to</a:t>
            </a:r>
            <a:r>
              <a:rPr sz="3050" spc="-95" dirty="0">
                <a:latin typeface="Arial"/>
                <a:cs typeface="Arial"/>
              </a:rPr>
              <a:t> </a:t>
            </a:r>
            <a:r>
              <a:rPr sz="3050" spc="-180" dirty="0">
                <a:latin typeface="Arial"/>
                <a:cs typeface="Arial"/>
              </a:rPr>
              <a:t>one</a:t>
            </a:r>
            <a:r>
              <a:rPr sz="3050" spc="-30" dirty="0">
                <a:latin typeface="Arial"/>
                <a:cs typeface="Arial"/>
              </a:rPr>
              <a:t> </a:t>
            </a:r>
            <a:r>
              <a:rPr sz="3050" dirty="0">
                <a:latin typeface="Arial"/>
                <a:cs typeface="Arial"/>
              </a:rPr>
              <a:t>or</a:t>
            </a:r>
            <a:r>
              <a:rPr sz="3050" spc="-35" dirty="0">
                <a:latin typeface="Arial"/>
                <a:cs typeface="Arial"/>
              </a:rPr>
              <a:t> </a:t>
            </a:r>
            <a:r>
              <a:rPr sz="3050" spc="-170" dirty="0">
                <a:latin typeface="Arial"/>
                <a:cs typeface="Arial"/>
              </a:rPr>
              <a:t>more</a:t>
            </a:r>
            <a:r>
              <a:rPr sz="3050" spc="-40" dirty="0">
                <a:latin typeface="Arial"/>
                <a:cs typeface="Arial"/>
              </a:rPr>
              <a:t> </a:t>
            </a:r>
            <a:r>
              <a:rPr sz="3050" spc="-130" dirty="0">
                <a:latin typeface="Arial"/>
                <a:cs typeface="Arial"/>
              </a:rPr>
              <a:t>peer 	</a:t>
            </a:r>
            <a:r>
              <a:rPr sz="3050" spc="-40" dirty="0">
                <a:latin typeface="Arial"/>
                <a:cs typeface="Arial"/>
              </a:rPr>
              <a:t>groups.</a:t>
            </a:r>
            <a:endParaRPr sz="3050">
              <a:latin typeface="Arial"/>
              <a:cs typeface="Arial"/>
            </a:endParaRPr>
          </a:p>
          <a:p>
            <a:pPr marL="335915" marR="326390" indent="-321945">
              <a:lnSpc>
                <a:spcPts val="3020"/>
              </a:lnSpc>
              <a:spcBef>
                <a:spcPts val="675"/>
              </a:spcBef>
              <a:buClr>
                <a:srgbClr val="5654ED"/>
              </a:buClr>
              <a:buChar char="•"/>
              <a:tabLst>
                <a:tab pos="339090" algn="l"/>
              </a:tabLst>
            </a:pPr>
            <a:r>
              <a:rPr sz="2850" spc="-285" dirty="0">
                <a:latin typeface="Arial"/>
                <a:cs typeface="Arial"/>
              </a:rPr>
              <a:t>A</a:t>
            </a:r>
            <a:r>
              <a:rPr sz="2850" spc="90" dirty="0">
                <a:latin typeface="Arial"/>
                <a:cs typeface="Arial"/>
              </a:rPr>
              <a:t> </a:t>
            </a:r>
            <a:r>
              <a:rPr sz="2850" spc="-30" dirty="0">
                <a:latin typeface="Arial"/>
                <a:cs typeface="Arial"/>
              </a:rPr>
              <a:t>peer</a:t>
            </a:r>
            <a:r>
              <a:rPr sz="2850" spc="-40" dirty="0">
                <a:latin typeface="Arial"/>
                <a:cs typeface="Arial"/>
              </a:rPr>
              <a:t> </a:t>
            </a:r>
            <a:r>
              <a:rPr sz="2850" spc="-25" dirty="0">
                <a:latin typeface="Arial"/>
                <a:cs typeface="Arial"/>
              </a:rPr>
              <a:t>can</a:t>
            </a:r>
            <a:r>
              <a:rPr sz="2850" spc="-10" dirty="0">
                <a:latin typeface="Arial"/>
                <a:cs typeface="Arial"/>
              </a:rPr>
              <a:t> </a:t>
            </a:r>
            <a:r>
              <a:rPr sz="2850" dirty="0">
                <a:latin typeface="Arial"/>
                <a:cs typeface="Arial"/>
              </a:rPr>
              <a:t>be</a:t>
            </a:r>
            <a:r>
              <a:rPr sz="2850" spc="-90" dirty="0">
                <a:latin typeface="Arial"/>
                <a:cs typeface="Arial"/>
              </a:rPr>
              <a:t> </a:t>
            </a:r>
            <a:r>
              <a:rPr sz="2850" dirty="0">
                <a:latin typeface="Arial"/>
                <a:cs typeface="Arial"/>
              </a:rPr>
              <a:t>a</a:t>
            </a:r>
            <a:r>
              <a:rPr sz="2850" spc="80" dirty="0">
                <a:latin typeface="Arial"/>
                <a:cs typeface="Arial"/>
              </a:rPr>
              <a:t> </a:t>
            </a:r>
            <a:r>
              <a:rPr sz="2850" spc="70" dirty="0">
                <a:latin typeface="Arial"/>
                <a:cs typeface="Arial"/>
              </a:rPr>
              <a:t>server,</a:t>
            </a:r>
            <a:r>
              <a:rPr sz="2850" spc="204" dirty="0">
                <a:latin typeface="Arial"/>
                <a:cs typeface="Arial"/>
              </a:rPr>
              <a:t> </a:t>
            </a:r>
            <a:r>
              <a:rPr sz="2850" dirty="0">
                <a:latin typeface="Arial"/>
                <a:cs typeface="Arial"/>
              </a:rPr>
              <a:t>PC,</a:t>
            </a:r>
            <a:r>
              <a:rPr sz="2850" spc="145" dirty="0">
                <a:latin typeface="Arial"/>
                <a:cs typeface="Arial"/>
              </a:rPr>
              <a:t> </a:t>
            </a:r>
            <a:r>
              <a:rPr sz="2850" dirty="0">
                <a:latin typeface="Arial"/>
                <a:cs typeface="Arial"/>
              </a:rPr>
              <a:t>PDA,</a:t>
            </a:r>
            <a:r>
              <a:rPr sz="2850" spc="225" dirty="0">
                <a:latin typeface="Arial"/>
                <a:cs typeface="Arial"/>
              </a:rPr>
              <a:t> </a:t>
            </a:r>
            <a:r>
              <a:rPr sz="2850" spc="60" dirty="0">
                <a:latin typeface="Arial"/>
                <a:cs typeface="Arial"/>
              </a:rPr>
              <a:t>some 	</a:t>
            </a:r>
            <a:r>
              <a:rPr sz="2950" spc="95" dirty="0">
                <a:latin typeface="Arial"/>
                <a:cs typeface="Arial"/>
              </a:rPr>
              <a:t>manufacturing</a:t>
            </a:r>
            <a:r>
              <a:rPr sz="2950" spc="-30" dirty="0">
                <a:latin typeface="Arial"/>
                <a:cs typeface="Arial"/>
              </a:rPr>
              <a:t>  </a:t>
            </a:r>
            <a:r>
              <a:rPr sz="2950" spc="90" dirty="0">
                <a:latin typeface="Arial"/>
                <a:cs typeface="Arial"/>
              </a:rPr>
              <a:t>or</a:t>
            </a:r>
            <a:r>
              <a:rPr sz="2950" spc="340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medical</a:t>
            </a:r>
            <a:r>
              <a:rPr sz="2950" spc="570" dirty="0">
                <a:latin typeface="Arial"/>
                <a:cs typeface="Arial"/>
              </a:rPr>
              <a:t> </a:t>
            </a:r>
            <a:r>
              <a:rPr sz="2950" spc="85" dirty="0">
                <a:latin typeface="Arial"/>
                <a:cs typeface="Arial"/>
              </a:rPr>
              <a:t>equipment, 	</a:t>
            </a:r>
            <a:r>
              <a:rPr sz="2950" dirty="0">
                <a:latin typeface="Arial"/>
                <a:cs typeface="Arial"/>
              </a:rPr>
              <a:t>even</a:t>
            </a:r>
            <a:r>
              <a:rPr sz="2950" spc="365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a</a:t>
            </a:r>
            <a:r>
              <a:rPr sz="2950" spc="375" dirty="0">
                <a:latin typeface="Arial"/>
                <a:cs typeface="Arial"/>
              </a:rPr>
              <a:t> </a:t>
            </a:r>
            <a:r>
              <a:rPr sz="2950" spc="55" dirty="0">
                <a:latin typeface="Arial"/>
                <a:cs typeface="Arial"/>
              </a:rPr>
              <a:t>cellular</a:t>
            </a:r>
            <a:r>
              <a:rPr sz="2950" spc="455" dirty="0">
                <a:latin typeface="Arial"/>
                <a:cs typeface="Arial"/>
              </a:rPr>
              <a:t> </a:t>
            </a:r>
            <a:r>
              <a:rPr sz="2950" spc="45" dirty="0">
                <a:latin typeface="Arial"/>
                <a:cs typeface="Arial"/>
              </a:rPr>
              <a:t>phone.</a:t>
            </a:r>
            <a:endParaRPr sz="2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62883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8639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30"/>
              </a:spcBef>
            </a:pPr>
            <a:r>
              <a:rPr sz="4850" spc="-515" dirty="0">
                <a:solidFill>
                  <a:srgbClr val="38387E"/>
                </a:solidFill>
                <a:latin typeface="Arial"/>
                <a:cs typeface="Arial"/>
              </a:rPr>
              <a:t>Peer</a:t>
            </a:r>
            <a:r>
              <a:rPr sz="4850" spc="229" dirty="0">
                <a:solidFill>
                  <a:srgbClr val="38387E"/>
                </a:solidFill>
                <a:latin typeface="Arial"/>
                <a:cs typeface="Arial"/>
              </a:rPr>
              <a:t> </a:t>
            </a:r>
            <a:r>
              <a:rPr sz="4850" spc="-409" dirty="0">
                <a:solidFill>
                  <a:srgbClr val="363A8A"/>
                </a:solidFill>
                <a:latin typeface="Arial"/>
                <a:cs typeface="Arial"/>
              </a:rPr>
              <a:t>Groups</a:t>
            </a:r>
            <a:endParaRPr sz="48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8929" y="2012106"/>
            <a:ext cx="7451725" cy="408114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29565" marR="459105" indent="-316865">
              <a:lnSpc>
                <a:spcPct val="89800"/>
              </a:lnSpc>
              <a:spcBef>
                <a:spcPts val="500"/>
              </a:spcBef>
              <a:buChar char="•"/>
              <a:tabLst>
                <a:tab pos="329565" algn="l"/>
                <a:tab pos="334010" algn="l"/>
              </a:tabLst>
            </a:pPr>
            <a:r>
              <a:rPr sz="3050" dirty="0">
                <a:solidFill>
                  <a:srgbClr val="6064FD"/>
                </a:solidFill>
                <a:latin typeface="Arial"/>
                <a:cs typeface="Arial"/>
              </a:rPr>
              <a:t>	</a:t>
            </a:r>
            <a:r>
              <a:rPr sz="3050" spc="-305" dirty="0">
                <a:latin typeface="Arial"/>
                <a:cs typeface="Arial"/>
              </a:rPr>
              <a:t>Peers</a:t>
            </a:r>
            <a:r>
              <a:rPr sz="3050" spc="85" dirty="0">
                <a:latin typeface="Arial"/>
                <a:cs typeface="Arial"/>
              </a:rPr>
              <a:t> </a:t>
            </a:r>
            <a:r>
              <a:rPr sz="3050" spc="-160" dirty="0">
                <a:latin typeface="Arial"/>
                <a:cs typeface="Arial"/>
              </a:rPr>
              <a:t>cooperate</a:t>
            </a:r>
            <a:r>
              <a:rPr sz="3050" spc="-55" dirty="0">
                <a:latin typeface="Arial"/>
                <a:cs typeface="Arial"/>
              </a:rPr>
              <a:t> </a:t>
            </a:r>
            <a:r>
              <a:rPr sz="3050" spc="-175" dirty="0">
                <a:latin typeface="Arial"/>
                <a:cs typeface="Arial"/>
              </a:rPr>
              <a:t>and</a:t>
            </a:r>
            <a:r>
              <a:rPr sz="3050" spc="-35" dirty="0">
                <a:latin typeface="Arial"/>
                <a:cs typeface="Arial"/>
              </a:rPr>
              <a:t> </a:t>
            </a:r>
            <a:r>
              <a:rPr sz="3050" spc="-95" dirty="0">
                <a:latin typeface="Arial"/>
                <a:cs typeface="Arial"/>
              </a:rPr>
              <a:t>function</a:t>
            </a:r>
            <a:r>
              <a:rPr sz="3050" spc="-35" dirty="0">
                <a:latin typeface="Arial"/>
                <a:cs typeface="Arial"/>
              </a:rPr>
              <a:t> </a:t>
            </a:r>
            <a:r>
              <a:rPr sz="3050" spc="-110" dirty="0">
                <a:latin typeface="Arial"/>
                <a:cs typeface="Arial"/>
              </a:rPr>
              <a:t>similarly</a:t>
            </a:r>
            <a:r>
              <a:rPr sz="3050" spc="65" dirty="0">
                <a:latin typeface="Arial"/>
                <a:cs typeface="Arial"/>
              </a:rPr>
              <a:t> </a:t>
            </a:r>
            <a:r>
              <a:rPr sz="3050" spc="-65" dirty="0">
                <a:latin typeface="Arial"/>
                <a:cs typeface="Arial"/>
              </a:rPr>
              <a:t>and </a:t>
            </a:r>
            <a:r>
              <a:rPr sz="3100" spc="-135" dirty="0">
                <a:latin typeface="Arial"/>
                <a:cs typeface="Arial"/>
              </a:rPr>
              <a:t>under</a:t>
            </a:r>
            <a:r>
              <a:rPr sz="3100" spc="-85" dirty="0">
                <a:latin typeface="Arial"/>
                <a:cs typeface="Arial"/>
              </a:rPr>
              <a:t> </a:t>
            </a:r>
            <a:r>
              <a:rPr sz="3100" spc="-380" dirty="0">
                <a:latin typeface="Arial"/>
                <a:cs typeface="Arial"/>
              </a:rPr>
              <a:t>a</a:t>
            </a:r>
            <a:r>
              <a:rPr sz="3100" spc="85" dirty="0">
                <a:latin typeface="Arial"/>
                <a:cs typeface="Arial"/>
              </a:rPr>
              <a:t> </a:t>
            </a:r>
            <a:r>
              <a:rPr sz="3100" spc="-114" dirty="0">
                <a:latin typeface="Arial"/>
                <a:cs typeface="Arial"/>
              </a:rPr>
              <a:t>unified</a:t>
            </a:r>
            <a:r>
              <a:rPr sz="3100" spc="-100" dirty="0">
                <a:latin typeface="Arial"/>
                <a:cs typeface="Arial"/>
              </a:rPr>
              <a:t> </a:t>
            </a:r>
            <a:r>
              <a:rPr sz="3100" spc="-165" dirty="0">
                <a:latin typeface="Arial"/>
                <a:cs typeface="Arial"/>
              </a:rPr>
              <a:t>set</a:t>
            </a:r>
            <a:r>
              <a:rPr sz="3100" spc="-50" dirty="0">
                <a:latin typeface="Arial"/>
                <a:cs typeface="Arial"/>
              </a:rPr>
              <a:t> </a:t>
            </a:r>
            <a:r>
              <a:rPr sz="3100" dirty="0">
                <a:latin typeface="Arial"/>
                <a:cs typeface="Arial"/>
              </a:rPr>
              <a:t>of</a:t>
            </a:r>
            <a:r>
              <a:rPr sz="3100" spc="-180" dirty="0">
                <a:latin typeface="Arial"/>
                <a:cs typeface="Arial"/>
              </a:rPr>
              <a:t> </a:t>
            </a:r>
            <a:r>
              <a:rPr sz="3100" spc="-155" dirty="0">
                <a:latin typeface="Arial"/>
                <a:cs typeface="Arial"/>
              </a:rPr>
              <a:t>capabilities</a:t>
            </a:r>
            <a:r>
              <a:rPr sz="3100" spc="40" dirty="0">
                <a:latin typeface="Arial"/>
                <a:cs typeface="Arial"/>
              </a:rPr>
              <a:t> </a:t>
            </a:r>
            <a:r>
              <a:rPr sz="3100" spc="-25" dirty="0">
                <a:latin typeface="Arial"/>
                <a:cs typeface="Arial"/>
              </a:rPr>
              <a:t>and </a:t>
            </a:r>
            <a:r>
              <a:rPr sz="3150" spc="-105" dirty="0">
                <a:latin typeface="Arial"/>
                <a:cs typeface="Arial"/>
              </a:rPr>
              <a:t>restrictions.</a:t>
            </a:r>
            <a:endParaRPr sz="3150">
              <a:latin typeface="Arial"/>
              <a:cs typeface="Arial"/>
            </a:endParaRPr>
          </a:p>
          <a:p>
            <a:pPr marL="331470" marR="306705" indent="-319405">
              <a:lnSpc>
                <a:spcPct val="91000"/>
              </a:lnSpc>
              <a:spcBef>
                <a:spcPts val="690"/>
              </a:spcBef>
              <a:buChar char="•"/>
              <a:tabLst>
                <a:tab pos="331470" algn="l"/>
                <a:tab pos="334010" algn="l"/>
              </a:tabLst>
            </a:pPr>
            <a:r>
              <a:rPr sz="3050" dirty="0">
                <a:solidFill>
                  <a:srgbClr val="5956E4"/>
                </a:solidFill>
                <a:latin typeface="Arial"/>
                <a:cs typeface="Arial"/>
              </a:rPr>
              <a:t>	</a:t>
            </a:r>
            <a:r>
              <a:rPr sz="3050" spc="-190" dirty="0">
                <a:latin typeface="Arial"/>
                <a:cs typeface="Arial"/>
              </a:rPr>
              <a:t>Membership</a:t>
            </a:r>
            <a:r>
              <a:rPr sz="3050" spc="75" dirty="0">
                <a:latin typeface="Arial"/>
                <a:cs typeface="Arial"/>
              </a:rPr>
              <a:t> </a:t>
            </a:r>
            <a:r>
              <a:rPr sz="3050" spc="-160" dirty="0">
                <a:latin typeface="Arial"/>
                <a:cs typeface="Arial"/>
              </a:rPr>
              <a:t>policies</a:t>
            </a:r>
            <a:r>
              <a:rPr sz="3050" spc="-55" dirty="0">
                <a:latin typeface="Arial"/>
                <a:cs typeface="Arial"/>
              </a:rPr>
              <a:t> </a:t>
            </a:r>
            <a:r>
              <a:rPr sz="3050" spc="-125" dirty="0">
                <a:latin typeface="Arial"/>
                <a:cs typeface="Arial"/>
              </a:rPr>
              <a:t>and</a:t>
            </a:r>
            <a:r>
              <a:rPr sz="3050" spc="-80" dirty="0">
                <a:latin typeface="Arial"/>
                <a:cs typeface="Arial"/>
              </a:rPr>
              <a:t> </a:t>
            </a:r>
            <a:r>
              <a:rPr sz="3050" spc="-160" dirty="0">
                <a:latin typeface="Arial"/>
                <a:cs typeface="Arial"/>
              </a:rPr>
              <a:t>methods</a:t>
            </a:r>
            <a:r>
              <a:rPr sz="3050" spc="-55" dirty="0">
                <a:latin typeface="Arial"/>
                <a:cs typeface="Arial"/>
              </a:rPr>
              <a:t> </a:t>
            </a:r>
            <a:r>
              <a:rPr sz="3050" spc="-25" dirty="0">
                <a:latin typeface="Arial"/>
                <a:cs typeface="Arial"/>
              </a:rPr>
              <a:t>of </a:t>
            </a:r>
            <a:r>
              <a:rPr sz="3100" spc="-140" dirty="0">
                <a:latin typeface="Arial"/>
                <a:cs typeface="Arial"/>
              </a:rPr>
              <a:t>authentication</a:t>
            </a:r>
            <a:r>
              <a:rPr sz="3100" spc="-80" dirty="0">
                <a:latin typeface="Arial"/>
                <a:cs typeface="Arial"/>
              </a:rPr>
              <a:t> </a:t>
            </a:r>
            <a:r>
              <a:rPr sz="3100" spc="-140" dirty="0">
                <a:latin typeface="Arial"/>
                <a:cs typeface="Arial"/>
              </a:rPr>
              <a:t>are</a:t>
            </a:r>
            <a:r>
              <a:rPr sz="3100" spc="-75" dirty="0">
                <a:latin typeface="Arial"/>
                <a:cs typeface="Arial"/>
              </a:rPr>
              <a:t> </a:t>
            </a:r>
            <a:r>
              <a:rPr sz="3100" spc="-65" dirty="0">
                <a:latin typeface="Arial"/>
                <a:cs typeface="Arial"/>
              </a:rPr>
              <a:t>not</a:t>
            </a:r>
            <a:r>
              <a:rPr sz="3100" spc="-100" dirty="0">
                <a:latin typeface="Arial"/>
                <a:cs typeface="Arial"/>
              </a:rPr>
              <a:t> </a:t>
            </a:r>
            <a:r>
              <a:rPr sz="3100" spc="-165" dirty="0">
                <a:latin typeface="Arial"/>
                <a:cs typeface="Arial"/>
              </a:rPr>
              <a:t>defined</a:t>
            </a:r>
            <a:r>
              <a:rPr sz="3100" dirty="0">
                <a:latin typeface="Arial"/>
                <a:cs typeface="Arial"/>
              </a:rPr>
              <a:t> in</a:t>
            </a:r>
            <a:r>
              <a:rPr sz="3100" spc="-130" dirty="0">
                <a:latin typeface="Arial"/>
                <a:cs typeface="Arial"/>
              </a:rPr>
              <a:t> </a:t>
            </a:r>
            <a:r>
              <a:rPr sz="3100" spc="-204" dirty="0">
                <a:latin typeface="Arial"/>
                <a:cs typeface="Arial"/>
              </a:rPr>
              <a:t>any</a:t>
            </a:r>
            <a:r>
              <a:rPr sz="3100" spc="-10" dirty="0">
                <a:latin typeface="Arial"/>
                <a:cs typeface="Arial"/>
              </a:rPr>
              <a:t> </a:t>
            </a:r>
            <a:r>
              <a:rPr sz="3100" spc="-120" dirty="0">
                <a:latin typeface="Arial"/>
                <a:cs typeface="Arial"/>
              </a:rPr>
              <a:t>single </a:t>
            </a:r>
            <a:r>
              <a:rPr sz="3050" spc="-135" dirty="0">
                <a:latin typeface="Arial"/>
                <a:cs typeface="Arial"/>
              </a:rPr>
              <a:t>fashion,</a:t>
            </a:r>
            <a:r>
              <a:rPr sz="3050" spc="-75" dirty="0">
                <a:latin typeface="Arial"/>
                <a:cs typeface="Arial"/>
              </a:rPr>
              <a:t> </a:t>
            </a:r>
            <a:r>
              <a:rPr sz="3050" dirty="0">
                <a:latin typeface="Arial"/>
                <a:cs typeface="Arial"/>
              </a:rPr>
              <a:t>but</a:t>
            </a:r>
            <a:r>
              <a:rPr sz="3050" spc="-140" dirty="0">
                <a:latin typeface="Arial"/>
                <a:cs typeface="Arial"/>
              </a:rPr>
              <a:t> </a:t>
            </a:r>
            <a:r>
              <a:rPr sz="3050" spc="-150" dirty="0">
                <a:latin typeface="Arial"/>
                <a:cs typeface="Arial"/>
              </a:rPr>
              <a:t>delegated</a:t>
            </a:r>
            <a:r>
              <a:rPr sz="3050" spc="-15" dirty="0">
                <a:latin typeface="Arial"/>
                <a:cs typeface="Arial"/>
              </a:rPr>
              <a:t> </a:t>
            </a:r>
            <a:r>
              <a:rPr sz="3050" dirty="0">
                <a:latin typeface="Arial"/>
                <a:cs typeface="Arial"/>
              </a:rPr>
              <a:t>to</a:t>
            </a:r>
            <a:r>
              <a:rPr sz="3050" spc="-190" dirty="0">
                <a:latin typeface="Arial"/>
                <a:cs typeface="Arial"/>
              </a:rPr>
              <a:t> </a:t>
            </a:r>
            <a:r>
              <a:rPr sz="3050" spc="-25" dirty="0">
                <a:latin typeface="Arial"/>
                <a:cs typeface="Arial"/>
              </a:rPr>
              <a:t>the</a:t>
            </a:r>
            <a:r>
              <a:rPr sz="3050" spc="-140" dirty="0">
                <a:latin typeface="Arial"/>
                <a:cs typeface="Arial"/>
              </a:rPr>
              <a:t> </a:t>
            </a:r>
            <a:r>
              <a:rPr sz="3050" spc="-120" dirty="0">
                <a:latin typeface="Arial"/>
                <a:cs typeface="Arial"/>
              </a:rPr>
              <a:t>group</a:t>
            </a:r>
            <a:r>
              <a:rPr sz="3050" spc="-90" dirty="0">
                <a:latin typeface="Arial"/>
                <a:cs typeface="Arial"/>
              </a:rPr>
              <a:t> </a:t>
            </a:r>
            <a:r>
              <a:rPr sz="3050" spc="-10" dirty="0">
                <a:latin typeface="Arial"/>
                <a:cs typeface="Arial"/>
              </a:rPr>
              <a:t>itself.</a:t>
            </a:r>
            <a:endParaRPr sz="3050">
              <a:latin typeface="Arial"/>
              <a:cs typeface="Arial"/>
            </a:endParaRPr>
          </a:p>
          <a:p>
            <a:pPr marL="330835" marR="5080" indent="-318770" algn="just">
              <a:lnSpc>
                <a:spcPct val="89500"/>
              </a:lnSpc>
              <a:spcBef>
                <a:spcPts val="725"/>
              </a:spcBef>
              <a:buChar char="•"/>
              <a:tabLst>
                <a:tab pos="330835" algn="l"/>
                <a:tab pos="340360" algn="l"/>
              </a:tabLst>
            </a:pPr>
            <a:r>
              <a:rPr sz="3100" dirty="0">
                <a:solidFill>
                  <a:srgbClr val="5B5DEB"/>
                </a:solidFill>
                <a:latin typeface="Arial"/>
                <a:cs typeface="Arial"/>
              </a:rPr>
              <a:t>	</a:t>
            </a:r>
            <a:r>
              <a:rPr sz="3100" spc="-310" dirty="0">
                <a:latin typeface="Arial"/>
                <a:cs typeface="Arial"/>
              </a:rPr>
              <a:t>When</a:t>
            </a:r>
            <a:r>
              <a:rPr sz="3100" spc="140" dirty="0">
                <a:latin typeface="Arial"/>
                <a:cs typeface="Arial"/>
              </a:rPr>
              <a:t> </a:t>
            </a:r>
            <a:r>
              <a:rPr sz="3100" spc="-380" dirty="0">
                <a:latin typeface="Arial"/>
                <a:cs typeface="Arial"/>
              </a:rPr>
              <a:t>a</a:t>
            </a:r>
            <a:r>
              <a:rPr sz="3100" spc="150" dirty="0">
                <a:latin typeface="Arial"/>
                <a:cs typeface="Arial"/>
              </a:rPr>
              <a:t> </a:t>
            </a:r>
            <a:r>
              <a:rPr sz="3100" spc="-235" dirty="0">
                <a:latin typeface="Arial"/>
                <a:cs typeface="Arial"/>
              </a:rPr>
              <a:t>peer</a:t>
            </a:r>
            <a:r>
              <a:rPr sz="3100" spc="215" dirty="0">
                <a:latin typeface="Arial"/>
                <a:cs typeface="Arial"/>
              </a:rPr>
              <a:t> </a:t>
            </a:r>
            <a:r>
              <a:rPr sz="3100" spc="-155" dirty="0">
                <a:latin typeface="Arial"/>
                <a:cs typeface="Arial"/>
              </a:rPr>
              <a:t>joins</a:t>
            </a:r>
            <a:r>
              <a:rPr sz="3100" spc="114" dirty="0">
                <a:latin typeface="Arial"/>
                <a:cs typeface="Arial"/>
              </a:rPr>
              <a:t> </a:t>
            </a:r>
            <a:r>
              <a:rPr sz="3100" spc="-380" dirty="0">
                <a:latin typeface="Arial"/>
                <a:cs typeface="Arial"/>
              </a:rPr>
              <a:t>a</a:t>
            </a:r>
            <a:r>
              <a:rPr sz="3100" spc="55" dirty="0">
                <a:latin typeface="Arial"/>
                <a:cs typeface="Arial"/>
              </a:rPr>
              <a:t> </a:t>
            </a:r>
            <a:r>
              <a:rPr sz="3100" spc="-459" dirty="0">
                <a:latin typeface="Arial"/>
                <a:cs typeface="Arial"/>
              </a:rPr>
              <a:t>JXTA</a:t>
            </a:r>
            <a:r>
              <a:rPr sz="3100" spc="215" dirty="0">
                <a:latin typeface="Arial"/>
                <a:cs typeface="Arial"/>
              </a:rPr>
              <a:t> </a:t>
            </a:r>
            <a:r>
              <a:rPr sz="3100" spc="-170" dirty="0">
                <a:latin typeface="Arial"/>
                <a:cs typeface="Arial"/>
              </a:rPr>
              <a:t>group,</a:t>
            </a:r>
            <a:r>
              <a:rPr sz="3100" spc="85" dirty="0">
                <a:latin typeface="Arial"/>
                <a:cs typeface="Arial"/>
              </a:rPr>
              <a:t> </a:t>
            </a:r>
            <a:r>
              <a:rPr sz="3100" spc="25" dirty="0">
                <a:latin typeface="Arial"/>
                <a:cs typeface="Arial"/>
              </a:rPr>
              <a:t>it</a:t>
            </a:r>
            <a:r>
              <a:rPr sz="3100" spc="-15" dirty="0">
                <a:latin typeface="Arial"/>
                <a:cs typeface="Arial"/>
              </a:rPr>
              <a:t> </a:t>
            </a:r>
            <a:r>
              <a:rPr sz="3100" spc="-254" dirty="0">
                <a:latin typeface="Arial"/>
                <a:cs typeface="Arial"/>
              </a:rPr>
              <a:t>can</a:t>
            </a:r>
            <a:r>
              <a:rPr sz="3100" spc="70" dirty="0">
                <a:latin typeface="Arial"/>
                <a:cs typeface="Arial"/>
              </a:rPr>
              <a:t> </a:t>
            </a:r>
            <a:r>
              <a:rPr sz="3100" spc="-190" dirty="0">
                <a:latin typeface="Arial"/>
                <a:cs typeface="Arial"/>
              </a:rPr>
              <a:t>query</a:t>
            </a:r>
            <a:r>
              <a:rPr sz="3100" spc="-105" dirty="0">
                <a:latin typeface="Arial"/>
                <a:cs typeface="Arial"/>
              </a:rPr>
              <a:t> </a:t>
            </a:r>
            <a:r>
              <a:rPr sz="3150" spc="-110" dirty="0">
                <a:latin typeface="Arial"/>
                <a:cs typeface="Arial"/>
              </a:rPr>
              <a:t>that</a:t>
            </a:r>
            <a:r>
              <a:rPr sz="3150" spc="45" dirty="0">
                <a:latin typeface="Arial"/>
                <a:cs typeface="Arial"/>
              </a:rPr>
              <a:t> </a:t>
            </a:r>
            <a:r>
              <a:rPr sz="3150" spc="-215" dirty="0">
                <a:latin typeface="Arial"/>
                <a:cs typeface="Arial"/>
              </a:rPr>
              <a:t>group</a:t>
            </a:r>
            <a:r>
              <a:rPr sz="3150" spc="150" dirty="0">
                <a:latin typeface="Arial"/>
                <a:cs typeface="Arial"/>
              </a:rPr>
              <a:t> </a:t>
            </a:r>
            <a:r>
              <a:rPr sz="3150" spc="-135" dirty="0">
                <a:latin typeface="Arial"/>
                <a:cs typeface="Arial"/>
              </a:rPr>
              <a:t>for</a:t>
            </a:r>
            <a:r>
              <a:rPr sz="3150" spc="100" dirty="0">
                <a:latin typeface="Arial"/>
                <a:cs typeface="Arial"/>
              </a:rPr>
              <a:t> </a:t>
            </a:r>
            <a:r>
              <a:rPr sz="3150" spc="-200" dirty="0">
                <a:latin typeface="Arial"/>
                <a:cs typeface="Arial"/>
              </a:rPr>
              <a:t>anything</a:t>
            </a:r>
            <a:r>
              <a:rPr sz="3150" spc="190" dirty="0">
                <a:latin typeface="Arial"/>
                <a:cs typeface="Arial"/>
              </a:rPr>
              <a:t> </a:t>
            </a:r>
            <a:r>
              <a:rPr sz="3150" spc="10" dirty="0">
                <a:latin typeface="Arial"/>
                <a:cs typeface="Arial"/>
              </a:rPr>
              <a:t>it</a:t>
            </a:r>
            <a:r>
              <a:rPr sz="3150" spc="-30" dirty="0">
                <a:latin typeface="Arial"/>
                <a:cs typeface="Arial"/>
              </a:rPr>
              <a:t> </a:t>
            </a:r>
            <a:r>
              <a:rPr sz="3150" spc="-300" dirty="0">
                <a:latin typeface="Arial"/>
                <a:cs typeface="Arial"/>
              </a:rPr>
              <a:t>may</a:t>
            </a:r>
            <a:r>
              <a:rPr sz="3150" spc="204" dirty="0">
                <a:latin typeface="Arial"/>
                <a:cs typeface="Arial"/>
              </a:rPr>
              <a:t> </a:t>
            </a:r>
            <a:r>
              <a:rPr sz="3150" spc="-170" dirty="0">
                <a:latin typeface="Arial"/>
                <a:cs typeface="Arial"/>
              </a:rPr>
              <a:t>want,</a:t>
            </a:r>
            <a:r>
              <a:rPr sz="3150" spc="95" dirty="0">
                <a:latin typeface="Arial"/>
                <a:cs typeface="Arial"/>
              </a:rPr>
              <a:t> </a:t>
            </a:r>
            <a:r>
              <a:rPr sz="3150" spc="-305" dirty="0">
                <a:latin typeface="Arial"/>
                <a:cs typeface="Arial"/>
              </a:rPr>
              <a:t>such</a:t>
            </a:r>
            <a:r>
              <a:rPr sz="3150" spc="80" dirty="0">
                <a:latin typeface="Arial"/>
                <a:cs typeface="Arial"/>
              </a:rPr>
              <a:t> </a:t>
            </a:r>
            <a:r>
              <a:rPr sz="3150" spc="-320" dirty="0">
                <a:latin typeface="Arial"/>
                <a:cs typeface="Arial"/>
              </a:rPr>
              <a:t>as</a:t>
            </a:r>
            <a:r>
              <a:rPr sz="3150" spc="-170" dirty="0">
                <a:latin typeface="Arial"/>
                <a:cs typeface="Arial"/>
              </a:rPr>
              <a:t> </a:t>
            </a:r>
            <a:r>
              <a:rPr sz="3100" spc="-380" dirty="0">
                <a:latin typeface="Arial"/>
                <a:cs typeface="Arial"/>
              </a:rPr>
              <a:t>a</a:t>
            </a:r>
            <a:r>
              <a:rPr sz="3100" spc="185" dirty="0">
                <a:latin typeface="Arial"/>
                <a:cs typeface="Arial"/>
              </a:rPr>
              <a:t> </a:t>
            </a:r>
            <a:r>
              <a:rPr sz="3100" spc="-215" dirty="0">
                <a:latin typeface="Arial"/>
                <a:cs typeface="Arial"/>
              </a:rPr>
              <a:t>service</a:t>
            </a:r>
            <a:r>
              <a:rPr sz="3100" spc="70" dirty="0">
                <a:latin typeface="Arial"/>
                <a:cs typeface="Arial"/>
              </a:rPr>
              <a:t> </a:t>
            </a:r>
            <a:r>
              <a:rPr sz="3100" spc="-155" dirty="0">
                <a:latin typeface="Arial"/>
                <a:cs typeface="Arial"/>
              </a:rPr>
              <a:t>or</a:t>
            </a:r>
            <a:r>
              <a:rPr sz="3100" spc="100" dirty="0">
                <a:latin typeface="Arial"/>
                <a:cs typeface="Arial"/>
              </a:rPr>
              <a:t> </a:t>
            </a:r>
            <a:r>
              <a:rPr sz="3100" spc="-185" dirty="0">
                <a:latin typeface="Arial"/>
                <a:cs typeface="Arial"/>
              </a:rPr>
              <a:t>another</a:t>
            </a:r>
            <a:r>
              <a:rPr sz="3100" spc="190" dirty="0">
                <a:latin typeface="Arial"/>
                <a:cs typeface="Arial"/>
              </a:rPr>
              <a:t> </a:t>
            </a:r>
            <a:r>
              <a:rPr sz="3100" spc="-260" dirty="0">
                <a:latin typeface="Arial"/>
                <a:cs typeface="Arial"/>
              </a:rPr>
              <a:t>peer.</a:t>
            </a:r>
            <a:endParaRPr sz="3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89672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7877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135"/>
              </a:spcBef>
            </a:pPr>
            <a:r>
              <a:rPr sz="4700" spc="-450" dirty="0">
                <a:solidFill>
                  <a:srgbClr val="36367E"/>
                </a:solidFill>
                <a:latin typeface="Arial"/>
                <a:cs typeface="Arial"/>
              </a:rPr>
              <a:t>Peer</a:t>
            </a:r>
            <a:r>
              <a:rPr sz="4700" spc="409" dirty="0">
                <a:solidFill>
                  <a:srgbClr val="36367E"/>
                </a:solidFill>
                <a:latin typeface="Arial"/>
                <a:cs typeface="Arial"/>
              </a:rPr>
              <a:t> </a:t>
            </a:r>
            <a:r>
              <a:rPr sz="4700" spc="-390" dirty="0">
                <a:solidFill>
                  <a:srgbClr val="3A3489"/>
                </a:solidFill>
                <a:latin typeface="Arial"/>
                <a:cs typeface="Arial"/>
              </a:rPr>
              <a:t>Pipes</a:t>
            </a:r>
            <a:endParaRPr sz="4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0811" y="1986061"/>
            <a:ext cx="7496175" cy="419671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343535" marR="271145" indent="-311785">
              <a:lnSpc>
                <a:spcPts val="3020"/>
              </a:lnSpc>
              <a:spcBef>
                <a:spcPts val="610"/>
              </a:spcBef>
              <a:buClr>
                <a:srgbClr val="4848DB"/>
              </a:buClr>
              <a:buChar char="•"/>
              <a:tabLst>
                <a:tab pos="349250" algn="l"/>
              </a:tabLst>
            </a:pPr>
            <a:r>
              <a:rPr sz="2900" spc="-100" dirty="0">
                <a:latin typeface="Arial"/>
                <a:cs typeface="Arial"/>
              </a:rPr>
              <a:t>Communication</a:t>
            </a:r>
            <a:r>
              <a:rPr sz="2900" spc="200" dirty="0">
                <a:latin typeface="Arial"/>
                <a:cs typeface="Arial"/>
              </a:rPr>
              <a:t> </a:t>
            </a:r>
            <a:r>
              <a:rPr sz="2900" spc="-95" dirty="0">
                <a:latin typeface="Arial"/>
                <a:cs typeface="Arial"/>
              </a:rPr>
              <a:t>channels</a:t>
            </a:r>
            <a:r>
              <a:rPr sz="2900" spc="10" dirty="0">
                <a:latin typeface="Arial"/>
                <a:cs typeface="Arial"/>
              </a:rPr>
              <a:t> </a:t>
            </a:r>
            <a:r>
              <a:rPr sz="2900" spc="-50" dirty="0">
                <a:latin typeface="Arial"/>
                <a:cs typeface="Arial"/>
              </a:rPr>
              <a:t>similar</a:t>
            </a:r>
            <a:r>
              <a:rPr sz="2900" spc="85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to</a:t>
            </a:r>
            <a:r>
              <a:rPr sz="2900" spc="-120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the</a:t>
            </a:r>
            <a:r>
              <a:rPr sz="2900" spc="-125" dirty="0">
                <a:latin typeface="Arial"/>
                <a:cs typeface="Arial"/>
              </a:rPr>
              <a:t> </a:t>
            </a:r>
            <a:r>
              <a:rPr sz="2900" spc="-20" dirty="0">
                <a:latin typeface="Arial"/>
                <a:cs typeface="Arial"/>
              </a:rPr>
              <a:t>Unix 	</a:t>
            </a:r>
            <a:r>
              <a:rPr sz="2900" spc="-130" dirty="0">
                <a:latin typeface="Arial"/>
                <a:cs typeface="Arial"/>
              </a:rPr>
              <a:t>command-</a:t>
            </a:r>
            <a:r>
              <a:rPr sz="2900" dirty="0">
                <a:latin typeface="Arial"/>
                <a:cs typeface="Arial"/>
              </a:rPr>
              <a:t>line</a:t>
            </a:r>
            <a:r>
              <a:rPr sz="2900" spc="105" dirty="0">
                <a:latin typeface="Arial"/>
                <a:cs typeface="Arial"/>
              </a:rPr>
              <a:t> </a:t>
            </a:r>
            <a:r>
              <a:rPr sz="2900" spc="-45" dirty="0">
                <a:latin typeface="Arial"/>
                <a:cs typeface="Arial"/>
              </a:rPr>
              <a:t>concept</a:t>
            </a:r>
            <a:r>
              <a:rPr sz="2900" dirty="0">
                <a:latin typeface="Arial"/>
                <a:cs typeface="Arial"/>
              </a:rPr>
              <a:t> of</a:t>
            </a:r>
            <a:r>
              <a:rPr sz="2900" spc="-80" dirty="0">
                <a:latin typeface="Arial"/>
                <a:cs typeface="Arial"/>
              </a:rPr>
              <a:t> </a:t>
            </a:r>
            <a:r>
              <a:rPr sz="2900" spc="-10" dirty="0">
                <a:latin typeface="Arial"/>
                <a:cs typeface="Arial"/>
              </a:rPr>
              <a:t>piping.</a:t>
            </a:r>
            <a:endParaRPr sz="2900">
              <a:latin typeface="Arial"/>
              <a:cs typeface="Arial"/>
            </a:endParaRPr>
          </a:p>
          <a:p>
            <a:pPr marL="354965" marR="216535" indent="-342900">
              <a:lnSpc>
                <a:spcPct val="77500"/>
              </a:lnSpc>
              <a:spcBef>
                <a:spcPts val="755"/>
              </a:spcBef>
              <a:buClr>
                <a:srgbClr val="6264F9"/>
              </a:buClr>
              <a:buChar char="•"/>
              <a:tabLst>
                <a:tab pos="354965" algn="l"/>
              </a:tabLst>
            </a:pPr>
            <a:r>
              <a:rPr sz="3250" dirty="0">
                <a:latin typeface="Calibri"/>
                <a:cs typeface="Calibri"/>
              </a:rPr>
              <a:t>Pipes</a:t>
            </a:r>
            <a:r>
              <a:rPr sz="3250" spc="53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provide</a:t>
            </a:r>
            <a:r>
              <a:rPr sz="3250" spc="6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43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primary</a:t>
            </a:r>
            <a:r>
              <a:rPr sz="3250" spc="7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channels</a:t>
            </a:r>
            <a:r>
              <a:rPr sz="3250" spc="700" dirty="0">
                <a:latin typeface="Calibri"/>
                <a:cs typeface="Calibri"/>
              </a:rPr>
              <a:t> </a:t>
            </a:r>
            <a:r>
              <a:rPr sz="3250" spc="-25" dirty="0">
                <a:latin typeface="Calibri"/>
                <a:cs typeface="Calibri"/>
              </a:rPr>
              <a:t>for </a:t>
            </a:r>
            <a:r>
              <a:rPr sz="3250" spc="-10" dirty="0">
                <a:latin typeface="Calibri"/>
                <a:cs typeface="Calibri"/>
              </a:rPr>
              <a:t>communication.</a:t>
            </a:r>
            <a:endParaRPr sz="3250">
              <a:latin typeface="Calibri"/>
              <a:cs typeface="Calibri"/>
            </a:endParaRPr>
          </a:p>
          <a:p>
            <a:pPr marL="340995" marR="5080" indent="-309880">
              <a:lnSpc>
                <a:spcPts val="2990"/>
              </a:lnSpc>
              <a:spcBef>
                <a:spcPts val="685"/>
              </a:spcBef>
              <a:buClr>
                <a:srgbClr val="342FC8"/>
              </a:buClr>
              <a:buChar char="•"/>
              <a:tabLst>
                <a:tab pos="357505" algn="l"/>
              </a:tabLst>
            </a:pPr>
            <a:r>
              <a:rPr sz="2900" spc="-60" dirty="0">
                <a:latin typeface="Arial"/>
                <a:cs typeface="Arial"/>
              </a:rPr>
              <a:t>Unidirectional</a:t>
            </a:r>
            <a:r>
              <a:rPr sz="2900" spc="-140" dirty="0">
                <a:latin typeface="Arial"/>
                <a:cs typeface="Arial"/>
              </a:rPr>
              <a:t> </a:t>
            </a:r>
            <a:r>
              <a:rPr sz="2900" spc="-25" dirty="0">
                <a:latin typeface="Arial"/>
                <a:cs typeface="Arial"/>
              </a:rPr>
              <a:t>(can</a:t>
            </a:r>
            <a:r>
              <a:rPr sz="2900" spc="-170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be</a:t>
            </a:r>
            <a:r>
              <a:rPr sz="2900" spc="-200" dirty="0">
                <a:latin typeface="Arial"/>
                <a:cs typeface="Arial"/>
              </a:rPr>
              <a:t> </a:t>
            </a:r>
            <a:r>
              <a:rPr sz="2900" spc="-75" dirty="0">
                <a:latin typeface="Arial"/>
                <a:cs typeface="Arial"/>
              </a:rPr>
              <a:t>coupled</a:t>
            </a:r>
            <a:r>
              <a:rPr sz="2900" spc="-40" dirty="0">
                <a:latin typeface="Arial"/>
                <a:cs typeface="Arial"/>
              </a:rPr>
              <a:t> </a:t>
            </a:r>
            <a:r>
              <a:rPr sz="2900" spc="-20" dirty="0">
                <a:latin typeface="Arial"/>
                <a:cs typeface="Arial"/>
              </a:rPr>
              <a:t>and</a:t>
            </a:r>
            <a:r>
              <a:rPr sz="2900" spc="-120" dirty="0">
                <a:latin typeface="Arial"/>
                <a:cs typeface="Arial"/>
              </a:rPr>
              <a:t> </a:t>
            </a:r>
            <a:r>
              <a:rPr sz="2900" spc="-55" dirty="0">
                <a:latin typeface="Arial"/>
                <a:cs typeface="Arial"/>
              </a:rPr>
              <a:t>uncoupled 	</a:t>
            </a:r>
            <a:r>
              <a:rPr sz="2900" spc="-65" dirty="0">
                <a:latin typeface="Arial"/>
                <a:cs typeface="Arial"/>
              </a:rPr>
              <a:t>between</a:t>
            </a:r>
            <a:r>
              <a:rPr sz="2900" spc="-50" dirty="0">
                <a:latin typeface="Arial"/>
                <a:cs typeface="Arial"/>
              </a:rPr>
              <a:t> </a:t>
            </a:r>
            <a:r>
              <a:rPr sz="2900" spc="-80" dirty="0">
                <a:latin typeface="Arial"/>
                <a:cs typeface="Arial"/>
              </a:rPr>
              <a:t>peers</a:t>
            </a:r>
            <a:r>
              <a:rPr sz="2900" spc="-120" dirty="0">
                <a:latin typeface="Arial"/>
                <a:cs typeface="Arial"/>
              </a:rPr>
              <a:t> </a:t>
            </a:r>
            <a:r>
              <a:rPr sz="2900" spc="-10" dirty="0">
                <a:latin typeface="Arial"/>
                <a:cs typeface="Arial"/>
              </a:rPr>
              <a:t>dynamically)</a:t>
            </a:r>
            <a:endParaRPr sz="2900">
              <a:latin typeface="Arial"/>
              <a:cs typeface="Arial"/>
            </a:endParaRPr>
          </a:p>
          <a:p>
            <a:pPr marL="356870" indent="-327660">
              <a:lnSpc>
                <a:spcPts val="3285"/>
              </a:lnSpc>
              <a:buClr>
                <a:srgbClr val="5D5BF4"/>
              </a:buClr>
              <a:buChar char="•"/>
              <a:tabLst>
                <a:tab pos="356870" algn="l"/>
              </a:tabLst>
            </a:pPr>
            <a:r>
              <a:rPr sz="3300" spc="-185" dirty="0">
                <a:latin typeface="Arial"/>
                <a:cs typeface="Arial"/>
              </a:rPr>
              <a:t>Pipes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in</a:t>
            </a:r>
            <a:r>
              <a:rPr sz="3300" spc="-75" dirty="0">
                <a:latin typeface="Arial"/>
                <a:cs typeface="Arial"/>
              </a:rPr>
              <a:t> </a:t>
            </a:r>
            <a:r>
              <a:rPr sz="3300" spc="-70" dirty="0">
                <a:latin typeface="Arial"/>
                <a:cs typeface="Arial"/>
              </a:rPr>
              <a:t>Project</a:t>
            </a:r>
            <a:r>
              <a:rPr sz="3300" spc="70" dirty="0">
                <a:latin typeface="Arial"/>
                <a:cs typeface="Arial"/>
              </a:rPr>
              <a:t> </a:t>
            </a:r>
            <a:r>
              <a:rPr sz="3300" spc="-430" dirty="0">
                <a:latin typeface="Arial"/>
                <a:cs typeface="Arial"/>
              </a:rPr>
              <a:t>JXTA</a:t>
            </a:r>
            <a:r>
              <a:rPr sz="3300" spc="204" dirty="0">
                <a:latin typeface="Arial"/>
                <a:cs typeface="Arial"/>
              </a:rPr>
              <a:t> </a:t>
            </a:r>
            <a:r>
              <a:rPr sz="3300" spc="-10" dirty="0">
                <a:latin typeface="Arial"/>
                <a:cs typeface="Arial"/>
              </a:rPr>
              <a:t>are</a:t>
            </a:r>
            <a:r>
              <a:rPr sz="3300" spc="-20" dirty="0">
                <a:latin typeface="Arial"/>
                <a:cs typeface="Arial"/>
              </a:rPr>
              <a:t> </a:t>
            </a:r>
            <a:r>
              <a:rPr sz="3300" spc="-10" dirty="0">
                <a:latin typeface="Arial"/>
                <a:cs typeface="Arial"/>
              </a:rPr>
              <a:t>indiscriminate</a:t>
            </a:r>
            <a:endParaRPr sz="3300">
              <a:latin typeface="Arial"/>
              <a:cs typeface="Arial"/>
            </a:endParaRPr>
          </a:p>
          <a:p>
            <a:pPr marL="357505">
              <a:lnSpc>
                <a:spcPts val="3025"/>
              </a:lnSpc>
            </a:pPr>
            <a:r>
              <a:rPr sz="3300" dirty="0">
                <a:latin typeface="Arial"/>
                <a:cs typeface="Arial"/>
              </a:rPr>
              <a:t>they</a:t>
            </a:r>
            <a:r>
              <a:rPr sz="3300" spc="-5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will</a:t>
            </a:r>
            <a:r>
              <a:rPr sz="3300" spc="-140" dirty="0">
                <a:latin typeface="Arial"/>
                <a:cs typeface="Arial"/>
              </a:rPr>
              <a:t> </a:t>
            </a:r>
            <a:r>
              <a:rPr sz="3300" spc="-40" dirty="0">
                <a:latin typeface="Arial"/>
                <a:cs typeface="Arial"/>
              </a:rPr>
              <a:t>support</a:t>
            </a:r>
            <a:r>
              <a:rPr sz="3300" spc="25" dirty="0">
                <a:latin typeface="Arial"/>
                <a:cs typeface="Arial"/>
              </a:rPr>
              <a:t> </a:t>
            </a:r>
            <a:r>
              <a:rPr sz="3300" spc="-10" dirty="0">
                <a:latin typeface="Arial"/>
                <a:cs typeface="Arial"/>
              </a:rPr>
              <a:t>binary</a:t>
            </a:r>
            <a:r>
              <a:rPr sz="3300" spc="-5" dirty="0">
                <a:latin typeface="Arial"/>
                <a:cs typeface="Arial"/>
              </a:rPr>
              <a:t> </a:t>
            </a:r>
            <a:r>
              <a:rPr sz="3300" spc="-70" dirty="0">
                <a:latin typeface="Arial"/>
                <a:cs typeface="Arial"/>
              </a:rPr>
              <a:t>code,</a:t>
            </a:r>
            <a:r>
              <a:rPr sz="3300" spc="-35" dirty="0">
                <a:latin typeface="Arial"/>
                <a:cs typeface="Arial"/>
              </a:rPr>
              <a:t> </a:t>
            </a:r>
            <a:r>
              <a:rPr sz="3300" spc="-20" dirty="0">
                <a:latin typeface="Arial"/>
                <a:cs typeface="Arial"/>
              </a:rPr>
              <a:t>data</a:t>
            </a:r>
            <a:endParaRPr sz="3300">
              <a:latin typeface="Arial"/>
              <a:cs typeface="Arial"/>
            </a:endParaRPr>
          </a:p>
          <a:p>
            <a:pPr marL="358140" marR="74930" indent="1905">
              <a:lnSpc>
                <a:spcPct val="76300"/>
              </a:lnSpc>
              <a:spcBef>
                <a:spcPts val="470"/>
              </a:spcBef>
            </a:pPr>
            <a:r>
              <a:rPr sz="3300" spc="-10" dirty="0">
                <a:latin typeface="Arial"/>
                <a:cs typeface="Arial"/>
              </a:rPr>
              <a:t>strings,</a:t>
            </a:r>
            <a:r>
              <a:rPr sz="3300" spc="-110" dirty="0">
                <a:latin typeface="Arial"/>
                <a:cs typeface="Arial"/>
              </a:rPr>
              <a:t> </a:t>
            </a:r>
            <a:r>
              <a:rPr sz="3300" spc="-145" dirty="0">
                <a:latin typeface="Arial"/>
                <a:cs typeface="Arial"/>
              </a:rPr>
              <a:t>Java</a:t>
            </a:r>
            <a:r>
              <a:rPr sz="3300" spc="-15" dirty="0">
                <a:latin typeface="Arial"/>
                <a:cs typeface="Arial"/>
              </a:rPr>
              <a:t> </a:t>
            </a:r>
            <a:r>
              <a:rPr sz="3300" spc="-90" dirty="0">
                <a:latin typeface="Arial"/>
                <a:cs typeface="Arial"/>
              </a:rPr>
              <a:t>technology-</a:t>
            </a:r>
            <a:r>
              <a:rPr sz="3300" spc="-50" dirty="0">
                <a:latin typeface="Arial"/>
                <a:cs typeface="Arial"/>
              </a:rPr>
              <a:t>based</a:t>
            </a:r>
            <a:r>
              <a:rPr sz="3300" spc="-180" dirty="0">
                <a:latin typeface="Arial"/>
                <a:cs typeface="Arial"/>
              </a:rPr>
              <a:t> </a:t>
            </a:r>
            <a:r>
              <a:rPr sz="3300" spc="-20" dirty="0">
                <a:latin typeface="Arial"/>
                <a:cs typeface="Arial"/>
              </a:rPr>
              <a:t>objects, </a:t>
            </a:r>
            <a:r>
              <a:rPr sz="3300" dirty="0">
                <a:latin typeface="Arial"/>
                <a:cs typeface="Arial"/>
              </a:rPr>
              <a:t>and/or</a:t>
            </a:r>
            <a:r>
              <a:rPr sz="3300" spc="70" dirty="0">
                <a:latin typeface="Arial"/>
                <a:cs typeface="Arial"/>
              </a:rPr>
              <a:t> </a:t>
            </a:r>
            <a:r>
              <a:rPr sz="3300" spc="-10" dirty="0">
                <a:latin typeface="Arial"/>
                <a:cs typeface="Arial"/>
              </a:rPr>
              <a:t>applets.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62883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4079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35"/>
              </a:spcBef>
            </a:pPr>
            <a:r>
              <a:rPr sz="4650" spc="-420" dirty="0">
                <a:solidFill>
                  <a:srgbClr val="363480"/>
                </a:solidFill>
                <a:latin typeface="Arial"/>
                <a:cs typeface="Arial"/>
              </a:rPr>
              <a:t>Peer</a:t>
            </a:r>
            <a:r>
              <a:rPr sz="4650" spc="409" dirty="0">
                <a:solidFill>
                  <a:srgbClr val="363480"/>
                </a:solidFill>
                <a:latin typeface="Arial"/>
                <a:cs typeface="Arial"/>
              </a:rPr>
              <a:t> </a:t>
            </a:r>
            <a:r>
              <a:rPr sz="4650" spc="-155" dirty="0">
                <a:solidFill>
                  <a:srgbClr val="3D3897"/>
                </a:solidFill>
                <a:latin typeface="Arial"/>
                <a:cs typeface="Arial"/>
              </a:rPr>
              <a:t>Monitoring</a:t>
            </a:r>
            <a:endParaRPr sz="4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2729" y="1966466"/>
            <a:ext cx="7445375" cy="3562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9090" indent="-326390">
              <a:lnSpc>
                <a:spcPts val="4285"/>
              </a:lnSpc>
              <a:spcBef>
                <a:spcPts val="105"/>
              </a:spcBef>
              <a:buClr>
                <a:srgbClr val="2F34C3"/>
              </a:buClr>
              <a:buChar char="•"/>
              <a:tabLst>
                <a:tab pos="339090" algn="l"/>
              </a:tabLst>
            </a:pPr>
            <a:r>
              <a:rPr sz="3850" spc="-180" dirty="0">
                <a:latin typeface="Calibri"/>
                <a:cs typeface="Calibri"/>
              </a:rPr>
              <a:t>Handles</a:t>
            </a:r>
            <a:r>
              <a:rPr sz="3850" spc="25" dirty="0">
                <a:latin typeface="Calibri"/>
                <a:cs typeface="Calibri"/>
              </a:rPr>
              <a:t> </a:t>
            </a:r>
            <a:r>
              <a:rPr sz="3850" spc="-210" dirty="0">
                <a:latin typeface="Calibri"/>
                <a:cs typeface="Calibri"/>
              </a:rPr>
              <a:t>authentication/authorization</a:t>
            </a:r>
            <a:r>
              <a:rPr sz="3850" spc="-5" dirty="0">
                <a:latin typeface="Calibri"/>
                <a:cs typeface="Calibri"/>
              </a:rPr>
              <a:t> </a:t>
            </a:r>
            <a:r>
              <a:rPr sz="3850" spc="-35" dirty="0">
                <a:latin typeface="Calibri"/>
                <a:cs typeface="Calibri"/>
              </a:rPr>
              <a:t>of</a:t>
            </a:r>
            <a:endParaRPr sz="3850">
              <a:latin typeface="Calibri"/>
              <a:cs typeface="Calibri"/>
            </a:endParaRPr>
          </a:p>
          <a:p>
            <a:pPr marL="344805">
              <a:lnSpc>
                <a:spcPts val="4105"/>
              </a:lnSpc>
            </a:pPr>
            <a:r>
              <a:rPr sz="3700" spc="-10" dirty="0">
                <a:latin typeface="Calibri"/>
                <a:cs typeface="Calibri"/>
              </a:rPr>
              <a:t>peers.</a:t>
            </a:r>
            <a:endParaRPr sz="3700">
              <a:latin typeface="Calibri"/>
              <a:cs typeface="Calibri"/>
            </a:endParaRPr>
          </a:p>
          <a:p>
            <a:pPr marL="330200" indent="-317500">
              <a:lnSpc>
                <a:spcPct val="100000"/>
              </a:lnSpc>
              <a:spcBef>
                <a:spcPts val="65"/>
              </a:spcBef>
              <a:buClr>
                <a:srgbClr val="3433CC"/>
              </a:buClr>
              <a:buChar char="•"/>
              <a:tabLst>
                <a:tab pos="330200" algn="l"/>
              </a:tabLst>
            </a:pPr>
            <a:r>
              <a:rPr sz="3800" spc="-140" dirty="0">
                <a:latin typeface="Calibri"/>
                <a:cs typeface="Calibri"/>
              </a:rPr>
              <a:t>Important</a:t>
            </a:r>
            <a:r>
              <a:rPr sz="3800" spc="-45" dirty="0">
                <a:latin typeface="Calibri"/>
                <a:cs typeface="Calibri"/>
              </a:rPr>
              <a:t> </a:t>
            </a:r>
            <a:r>
              <a:rPr sz="3800" spc="-155" dirty="0">
                <a:latin typeface="Calibri"/>
                <a:cs typeface="Calibri"/>
              </a:rPr>
              <a:t>for</a:t>
            </a:r>
            <a:r>
              <a:rPr sz="3800" spc="-60" dirty="0">
                <a:latin typeface="Calibri"/>
                <a:cs typeface="Calibri"/>
              </a:rPr>
              <a:t> </a:t>
            </a:r>
            <a:r>
              <a:rPr sz="3800" spc="-155" dirty="0">
                <a:latin typeface="Calibri"/>
                <a:cs typeface="Calibri"/>
              </a:rPr>
              <a:t>peer</a:t>
            </a:r>
            <a:r>
              <a:rPr sz="3800" spc="-35" dirty="0">
                <a:latin typeface="Calibri"/>
                <a:cs typeface="Calibri"/>
              </a:rPr>
              <a:t> </a:t>
            </a:r>
            <a:r>
              <a:rPr sz="3800" spc="-100" dirty="0">
                <a:latin typeface="Calibri"/>
                <a:cs typeface="Calibri"/>
              </a:rPr>
              <a:t>metering.</a:t>
            </a:r>
            <a:endParaRPr sz="3800">
              <a:latin typeface="Calibri"/>
              <a:cs typeface="Calibri"/>
            </a:endParaRPr>
          </a:p>
          <a:p>
            <a:pPr marL="748665" marR="229235" lvl="1" indent="-264795">
              <a:lnSpc>
                <a:spcPts val="3340"/>
              </a:lnSpc>
              <a:spcBef>
                <a:spcPts val="720"/>
              </a:spcBef>
              <a:buChar char="•"/>
              <a:tabLst>
                <a:tab pos="748665" algn="l"/>
                <a:tab pos="751205" algn="l"/>
              </a:tabLst>
            </a:pPr>
            <a:r>
              <a:rPr sz="3100" dirty="0">
                <a:solidFill>
                  <a:srgbClr val="F20703"/>
                </a:solidFill>
                <a:latin typeface="Arial"/>
                <a:cs typeface="Arial"/>
              </a:rPr>
              <a:t>	</a:t>
            </a:r>
            <a:r>
              <a:rPr sz="3100" spc="-325" dirty="0">
                <a:latin typeface="Arial"/>
                <a:cs typeface="Arial"/>
              </a:rPr>
              <a:t>Peers</a:t>
            </a:r>
            <a:r>
              <a:rPr sz="3100" spc="105" dirty="0">
                <a:latin typeface="Arial"/>
                <a:cs typeface="Arial"/>
              </a:rPr>
              <a:t> </a:t>
            </a:r>
            <a:r>
              <a:rPr sz="3100" spc="-275" dirty="0">
                <a:latin typeface="Arial"/>
                <a:cs typeface="Arial"/>
              </a:rPr>
              <a:t>may</a:t>
            </a:r>
            <a:r>
              <a:rPr sz="3100" spc="60" dirty="0">
                <a:latin typeface="Arial"/>
                <a:cs typeface="Arial"/>
              </a:rPr>
              <a:t> </a:t>
            </a:r>
            <a:r>
              <a:rPr sz="3100" spc="-165" dirty="0">
                <a:latin typeface="Arial"/>
                <a:cs typeface="Arial"/>
              </a:rPr>
              <a:t>want</a:t>
            </a:r>
            <a:r>
              <a:rPr sz="3100" spc="-50" dirty="0">
                <a:latin typeface="Arial"/>
                <a:cs typeface="Arial"/>
              </a:rPr>
              <a:t> </a:t>
            </a:r>
            <a:r>
              <a:rPr sz="3100" dirty="0">
                <a:latin typeface="Arial"/>
                <a:cs typeface="Arial"/>
              </a:rPr>
              <a:t>to</a:t>
            </a:r>
            <a:r>
              <a:rPr sz="3100" spc="-195" dirty="0">
                <a:latin typeface="Arial"/>
                <a:cs typeface="Arial"/>
              </a:rPr>
              <a:t> </a:t>
            </a:r>
            <a:r>
              <a:rPr sz="3100" spc="-40" dirty="0">
                <a:latin typeface="Arial"/>
                <a:cs typeface="Arial"/>
              </a:rPr>
              <a:t>limit </a:t>
            </a:r>
            <a:r>
              <a:rPr sz="3100" spc="-70" dirty="0">
                <a:latin typeface="Arial"/>
                <a:cs typeface="Arial"/>
              </a:rPr>
              <a:t>the</a:t>
            </a:r>
            <a:r>
              <a:rPr sz="3100" spc="-75" dirty="0">
                <a:latin typeface="Arial"/>
                <a:cs typeface="Arial"/>
              </a:rPr>
              <a:t> </a:t>
            </a:r>
            <a:r>
              <a:rPr sz="3100" spc="-130" dirty="0">
                <a:latin typeface="Arial"/>
                <a:cs typeface="Arial"/>
              </a:rPr>
              <a:t>availability</a:t>
            </a:r>
            <a:r>
              <a:rPr sz="3100" spc="95" dirty="0">
                <a:latin typeface="Arial"/>
                <a:cs typeface="Arial"/>
              </a:rPr>
              <a:t> </a:t>
            </a:r>
            <a:r>
              <a:rPr sz="3100" spc="-25" dirty="0">
                <a:latin typeface="Arial"/>
                <a:cs typeface="Arial"/>
              </a:rPr>
              <a:t>of </a:t>
            </a:r>
            <a:r>
              <a:rPr sz="3100" spc="-45" dirty="0">
                <a:latin typeface="Arial"/>
                <a:cs typeface="Arial"/>
              </a:rPr>
              <a:t>their</a:t>
            </a:r>
            <a:r>
              <a:rPr sz="3100" spc="-155" dirty="0">
                <a:latin typeface="Arial"/>
                <a:cs typeface="Arial"/>
              </a:rPr>
              <a:t> </a:t>
            </a:r>
            <a:r>
              <a:rPr sz="3100" spc="-105" dirty="0">
                <a:latin typeface="Arial"/>
                <a:cs typeface="Arial"/>
              </a:rPr>
              <a:t>services</a:t>
            </a:r>
            <a:endParaRPr sz="3100">
              <a:latin typeface="Arial"/>
              <a:cs typeface="Arial"/>
            </a:endParaRPr>
          </a:p>
          <a:p>
            <a:pPr marL="749935" marR="5080" lvl="1" indent="-266700">
              <a:lnSpc>
                <a:spcPts val="3410"/>
              </a:lnSpc>
              <a:spcBef>
                <a:spcPts val="645"/>
              </a:spcBef>
              <a:buClr>
                <a:srgbClr val="FF1513"/>
              </a:buClr>
              <a:buChar char="•"/>
              <a:tabLst>
                <a:tab pos="751205" algn="l"/>
              </a:tabLst>
            </a:pPr>
            <a:r>
              <a:rPr sz="3200" spc="-370" dirty="0">
                <a:latin typeface="Arial"/>
                <a:cs typeface="Arial"/>
              </a:rPr>
              <a:t>Peers</a:t>
            </a:r>
            <a:r>
              <a:rPr sz="3200" spc="100" dirty="0">
                <a:latin typeface="Arial"/>
                <a:cs typeface="Arial"/>
              </a:rPr>
              <a:t> </a:t>
            </a:r>
            <a:r>
              <a:rPr sz="3200" spc="-345" dirty="0">
                <a:latin typeface="Arial"/>
                <a:cs typeface="Arial"/>
              </a:rPr>
              <a:t>may</a:t>
            </a:r>
            <a:r>
              <a:rPr sz="3200" spc="120" dirty="0">
                <a:latin typeface="Arial"/>
                <a:cs typeface="Arial"/>
              </a:rPr>
              <a:t> </a:t>
            </a:r>
            <a:r>
              <a:rPr sz="3200" spc="-260" dirty="0">
                <a:latin typeface="Arial"/>
                <a:cs typeface="Arial"/>
              </a:rPr>
              <a:t>want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to</a:t>
            </a:r>
            <a:r>
              <a:rPr sz="3200" spc="-120" dirty="0">
                <a:latin typeface="Arial"/>
                <a:cs typeface="Arial"/>
              </a:rPr>
              <a:t> </a:t>
            </a:r>
            <a:r>
              <a:rPr sz="3200" spc="-190" dirty="0">
                <a:latin typeface="Arial"/>
                <a:cs typeface="Arial"/>
              </a:rPr>
              <a:t>track</a:t>
            </a:r>
            <a:r>
              <a:rPr sz="3200" spc="10" dirty="0">
                <a:latin typeface="Arial"/>
                <a:cs typeface="Arial"/>
              </a:rPr>
              <a:t> </a:t>
            </a:r>
            <a:r>
              <a:rPr sz="3200" spc="-160" dirty="0">
                <a:latin typeface="Arial"/>
                <a:cs typeface="Arial"/>
              </a:rPr>
              <a:t>the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spc="-320" dirty="0">
                <a:latin typeface="Arial"/>
                <a:cs typeface="Arial"/>
              </a:rPr>
              <a:t>usage</a:t>
            </a:r>
            <a:r>
              <a:rPr sz="3200" spc="95" dirty="0">
                <a:latin typeface="Arial"/>
                <a:cs typeface="Arial"/>
              </a:rPr>
              <a:t> </a:t>
            </a:r>
            <a:r>
              <a:rPr sz="3200" spc="-75" dirty="0">
                <a:latin typeface="Arial"/>
                <a:cs typeface="Arial"/>
              </a:rPr>
              <a:t>of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70" dirty="0">
                <a:latin typeface="Arial"/>
                <a:cs typeface="Arial"/>
              </a:rPr>
              <a:t>their 	</a:t>
            </a:r>
            <a:r>
              <a:rPr sz="3200" spc="-290" dirty="0">
                <a:latin typeface="Arial"/>
                <a:cs typeface="Arial"/>
              </a:rPr>
              <a:t>services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62883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7116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40"/>
              </a:spcBef>
            </a:pPr>
            <a:r>
              <a:rPr sz="4550" spc="-225" dirty="0">
                <a:solidFill>
                  <a:srgbClr val="383393"/>
                </a:solidFill>
                <a:latin typeface="Arial"/>
                <a:cs typeface="Arial"/>
              </a:rPr>
              <a:t>Services</a:t>
            </a:r>
            <a:endParaRPr sz="4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39329" y="2024012"/>
            <a:ext cx="7093584" cy="211518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71780" marR="5080" indent="-257810">
              <a:lnSpc>
                <a:spcPts val="3870"/>
              </a:lnSpc>
              <a:spcBef>
                <a:spcPts val="370"/>
              </a:spcBef>
              <a:buChar char="•"/>
              <a:tabLst>
                <a:tab pos="271780" algn="l"/>
                <a:tab pos="276860" algn="l"/>
              </a:tabLst>
            </a:pPr>
            <a:r>
              <a:rPr sz="3350" dirty="0">
                <a:solidFill>
                  <a:srgbClr val="4649EB"/>
                </a:solidFill>
                <a:latin typeface="Arial"/>
                <a:cs typeface="Arial"/>
              </a:rPr>
              <a:t>	</a:t>
            </a:r>
            <a:r>
              <a:rPr sz="3350" spc="-405" dirty="0">
                <a:latin typeface="Arial"/>
                <a:cs typeface="Arial"/>
              </a:rPr>
              <a:t>A</a:t>
            </a:r>
            <a:r>
              <a:rPr sz="3350" spc="130" dirty="0">
                <a:latin typeface="Arial"/>
                <a:cs typeface="Arial"/>
              </a:rPr>
              <a:t> </a:t>
            </a:r>
            <a:r>
              <a:rPr sz="3350" spc="-120" dirty="0">
                <a:latin typeface="Arial"/>
                <a:cs typeface="Arial"/>
              </a:rPr>
              <a:t>service</a:t>
            </a:r>
            <a:r>
              <a:rPr sz="3350" spc="-114" dirty="0">
                <a:latin typeface="Arial"/>
                <a:cs typeface="Arial"/>
              </a:rPr>
              <a:t> </a:t>
            </a:r>
            <a:r>
              <a:rPr sz="3350" dirty="0">
                <a:latin typeface="Arial"/>
                <a:cs typeface="Arial"/>
              </a:rPr>
              <a:t>is</a:t>
            </a:r>
            <a:r>
              <a:rPr sz="3350" spc="-229" dirty="0">
                <a:latin typeface="Arial"/>
                <a:cs typeface="Arial"/>
              </a:rPr>
              <a:t> </a:t>
            </a:r>
            <a:r>
              <a:rPr sz="3350" spc="-280" dirty="0">
                <a:latin typeface="Arial"/>
                <a:cs typeface="Arial"/>
              </a:rPr>
              <a:t>a</a:t>
            </a:r>
            <a:r>
              <a:rPr sz="3350" spc="50" dirty="0">
                <a:latin typeface="Arial"/>
                <a:cs typeface="Arial"/>
              </a:rPr>
              <a:t> </a:t>
            </a:r>
            <a:r>
              <a:rPr sz="3350" spc="-75" dirty="0">
                <a:latin typeface="Arial"/>
                <a:cs typeface="Arial"/>
              </a:rPr>
              <a:t>capability</a:t>
            </a:r>
            <a:r>
              <a:rPr sz="3350" spc="55" dirty="0">
                <a:latin typeface="Arial"/>
                <a:cs typeface="Arial"/>
              </a:rPr>
              <a:t> </a:t>
            </a:r>
            <a:r>
              <a:rPr sz="3350" spc="-45" dirty="0">
                <a:latin typeface="Arial"/>
                <a:cs typeface="Arial"/>
              </a:rPr>
              <a:t>running</a:t>
            </a:r>
            <a:r>
              <a:rPr sz="3350" spc="100" dirty="0">
                <a:latin typeface="Arial"/>
                <a:cs typeface="Arial"/>
              </a:rPr>
              <a:t> </a:t>
            </a:r>
            <a:r>
              <a:rPr sz="3350" spc="-85" dirty="0">
                <a:latin typeface="Arial"/>
                <a:cs typeface="Arial"/>
              </a:rPr>
              <a:t>inside </a:t>
            </a:r>
            <a:r>
              <a:rPr sz="3350" spc="-280" dirty="0">
                <a:latin typeface="Arial"/>
                <a:cs typeface="Arial"/>
              </a:rPr>
              <a:t>a</a:t>
            </a:r>
            <a:r>
              <a:rPr sz="3350" spc="40" dirty="0">
                <a:latin typeface="Arial"/>
                <a:cs typeface="Arial"/>
              </a:rPr>
              <a:t> </a:t>
            </a:r>
            <a:r>
              <a:rPr sz="3350" spc="-60" dirty="0">
                <a:latin typeface="Arial"/>
                <a:cs typeface="Arial"/>
              </a:rPr>
              <a:t>peer</a:t>
            </a:r>
            <a:r>
              <a:rPr sz="3350" spc="-5" dirty="0">
                <a:latin typeface="Arial"/>
                <a:cs typeface="Arial"/>
              </a:rPr>
              <a:t> </a:t>
            </a:r>
            <a:r>
              <a:rPr sz="3350" spc="-10" dirty="0">
                <a:latin typeface="Arial"/>
                <a:cs typeface="Arial"/>
              </a:rPr>
              <a:t>group.</a:t>
            </a:r>
            <a:endParaRPr sz="3350">
              <a:latin typeface="Arial"/>
              <a:cs typeface="Arial"/>
            </a:endParaRPr>
          </a:p>
          <a:p>
            <a:pPr marL="274320" marR="142240" indent="-262255">
              <a:lnSpc>
                <a:spcPts val="3870"/>
              </a:lnSpc>
              <a:spcBef>
                <a:spcPts val="735"/>
              </a:spcBef>
            </a:pPr>
            <a:r>
              <a:rPr sz="3700" spc="-20" dirty="0">
                <a:latin typeface="Arial"/>
                <a:cs typeface="Arial"/>
              </a:rPr>
              <a:t>•The</a:t>
            </a:r>
            <a:r>
              <a:rPr sz="3700" spc="-85" dirty="0">
                <a:latin typeface="Arial"/>
                <a:cs typeface="Arial"/>
              </a:rPr>
              <a:t> </a:t>
            </a:r>
            <a:r>
              <a:rPr sz="3700" spc="-325" dirty="0">
                <a:latin typeface="Arial"/>
                <a:cs typeface="Arial"/>
              </a:rPr>
              <a:t>service</a:t>
            </a:r>
            <a:r>
              <a:rPr sz="3700" spc="114" dirty="0">
                <a:latin typeface="Arial"/>
                <a:cs typeface="Arial"/>
              </a:rPr>
              <a:t> </a:t>
            </a:r>
            <a:r>
              <a:rPr sz="3700" spc="-400" dirty="0">
                <a:latin typeface="Arial"/>
                <a:cs typeface="Arial"/>
              </a:rPr>
              <a:t>may</a:t>
            </a:r>
            <a:r>
              <a:rPr sz="3700" spc="114" dirty="0">
                <a:latin typeface="Arial"/>
                <a:cs typeface="Arial"/>
              </a:rPr>
              <a:t> </a:t>
            </a:r>
            <a:r>
              <a:rPr sz="3700" spc="-355" dirty="0">
                <a:latin typeface="Arial"/>
                <a:cs typeface="Arial"/>
              </a:rPr>
              <a:t>be</a:t>
            </a:r>
            <a:r>
              <a:rPr sz="3700" spc="-25" dirty="0">
                <a:latin typeface="Arial"/>
                <a:cs typeface="Arial"/>
              </a:rPr>
              <a:t> </a:t>
            </a:r>
            <a:r>
              <a:rPr sz="3700" spc="-254" dirty="0">
                <a:latin typeface="Arial"/>
                <a:cs typeface="Arial"/>
              </a:rPr>
              <a:t>running</a:t>
            </a:r>
            <a:r>
              <a:rPr sz="3700" spc="150" dirty="0">
                <a:latin typeface="Arial"/>
                <a:cs typeface="Arial"/>
              </a:rPr>
              <a:t> </a:t>
            </a:r>
            <a:r>
              <a:rPr sz="3700" spc="-335" dirty="0">
                <a:latin typeface="Arial"/>
                <a:cs typeface="Arial"/>
              </a:rPr>
              <a:t>on</a:t>
            </a:r>
            <a:r>
              <a:rPr sz="3700" spc="-10" dirty="0">
                <a:latin typeface="Arial"/>
                <a:cs typeface="Arial"/>
              </a:rPr>
              <a:t> </a:t>
            </a:r>
            <a:r>
              <a:rPr sz="3700" spc="-25" dirty="0">
                <a:latin typeface="Arial"/>
                <a:cs typeface="Arial"/>
              </a:rPr>
              <a:t>all </a:t>
            </a:r>
            <a:r>
              <a:rPr sz="3700" spc="-300" dirty="0">
                <a:latin typeface="Arial"/>
                <a:cs typeface="Arial"/>
              </a:rPr>
              <a:t>peers,</a:t>
            </a:r>
            <a:r>
              <a:rPr sz="3700" spc="40" dirty="0">
                <a:latin typeface="Arial"/>
                <a:cs typeface="Arial"/>
              </a:rPr>
              <a:t> </a:t>
            </a:r>
            <a:r>
              <a:rPr sz="3700" spc="-265" dirty="0">
                <a:latin typeface="Arial"/>
                <a:cs typeface="Arial"/>
              </a:rPr>
              <a:t>or</a:t>
            </a:r>
            <a:r>
              <a:rPr sz="3700" spc="75" dirty="0">
                <a:latin typeface="Arial"/>
                <a:cs typeface="Arial"/>
              </a:rPr>
              <a:t> </a:t>
            </a:r>
            <a:r>
              <a:rPr sz="3700" spc="-160" dirty="0">
                <a:latin typeface="Arial"/>
                <a:cs typeface="Arial"/>
              </a:rPr>
              <a:t>just</a:t>
            </a:r>
            <a:r>
              <a:rPr sz="3700" spc="-35" dirty="0">
                <a:latin typeface="Arial"/>
                <a:cs typeface="Arial"/>
              </a:rPr>
              <a:t> </a:t>
            </a:r>
            <a:r>
              <a:rPr sz="3700" spc="-475" dirty="0">
                <a:latin typeface="Arial"/>
                <a:cs typeface="Arial"/>
              </a:rPr>
              <a:t>a</a:t>
            </a:r>
            <a:r>
              <a:rPr sz="3700" spc="155" dirty="0">
                <a:latin typeface="Arial"/>
                <a:cs typeface="Arial"/>
              </a:rPr>
              <a:t> </a:t>
            </a:r>
            <a:r>
              <a:rPr sz="3700" spc="-315" dirty="0">
                <a:latin typeface="Arial"/>
                <a:cs typeface="Arial"/>
              </a:rPr>
              <a:t>few</a:t>
            </a:r>
            <a:r>
              <a:rPr sz="3700" spc="150" dirty="0">
                <a:latin typeface="Arial"/>
                <a:cs typeface="Arial"/>
              </a:rPr>
              <a:t> </a:t>
            </a:r>
            <a:r>
              <a:rPr sz="3700" spc="-170" dirty="0">
                <a:latin typeface="Arial"/>
                <a:cs typeface="Arial"/>
              </a:rPr>
              <a:t>within</a:t>
            </a:r>
            <a:r>
              <a:rPr sz="3700" spc="35" dirty="0">
                <a:latin typeface="Arial"/>
                <a:cs typeface="Arial"/>
              </a:rPr>
              <a:t> </a:t>
            </a:r>
            <a:r>
              <a:rPr sz="3700" spc="-190" dirty="0">
                <a:latin typeface="Arial"/>
                <a:cs typeface="Arial"/>
              </a:rPr>
              <a:t>the</a:t>
            </a:r>
            <a:r>
              <a:rPr sz="3700" spc="-35" dirty="0">
                <a:latin typeface="Arial"/>
                <a:cs typeface="Arial"/>
              </a:rPr>
              <a:t> </a:t>
            </a:r>
            <a:r>
              <a:rPr sz="3700" spc="-280" dirty="0">
                <a:latin typeface="Arial"/>
                <a:cs typeface="Arial"/>
              </a:rPr>
              <a:t>group.</a:t>
            </a:r>
            <a:endParaRPr sz="3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7116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40"/>
              </a:spcBef>
            </a:pPr>
            <a:r>
              <a:rPr sz="4550" spc="-120" dirty="0">
                <a:solidFill>
                  <a:srgbClr val="3B389C"/>
                </a:solidFill>
                <a:latin typeface="Arial"/>
                <a:cs typeface="Arial"/>
              </a:rPr>
              <a:t>Advert</a:t>
            </a:r>
            <a:r>
              <a:rPr sz="4550" spc="-180" dirty="0">
                <a:solidFill>
                  <a:srgbClr val="3B389C"/>
                </a:solidFill>
                <a:latin typeface="Arial"/>
                <a:cs typeface="Arial"/>
              </a:rPr>
              <a:t> </a:t>
            </a:r>
            <a:r>
              <a:rPr sz="4550" spc="-155" dirty="0">
                <a:solidFill>
                  <a:srgbClr val="312B7C"/>
                </a:solidFill>
                <a:latin typeface="Arial"/>
                <a:cs typeface="Arial"/>
              </a:rPr>
              <a:t>sements</a:t>
            </a:r>
            <a:endParaRPr sz="4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3915" y="2024012"/>
            <a:ext cx="7354570" cy="365887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30835" marR="245745" indent="-316230">
              <a:lnSpc>
                <a:spcPts val="3829"/>
              </a:lnSpc>
              <a:spcBef>
                <a:spcPts val="405"/>
              </a:spcBef>
              <a:buClr>
                <a:srgbClr val="2F2FC6"/>
              </a:buClr>
              <a:buChar char="•"/>
              <a:tabLst>
                <a:tab pos="330835" algn="l"/>
              </a:tabLst>
            </a:pPr>
            <a:r>
              <a:rPr sz="3350" spc="-175" dirty="0">
                <a:latin typeface="Arial"/>
                <a:cs typeface="Arial"/>
              </a:rPr>
              <a:t>An</a:t>
            </a:r>
            <a:r>
              <a:rPr sz="3350" spc="-55" dirty="0">
                <a:latin typeface="Arial"/>
                <a:cs typeface="Arial"/>
              </a:rPr>
              <a:t> </a:t>
            </a:r>
            <a:r>
              <a:rPr sz="3350" spc="-90" dirty="0">
                <a:latin typeface="Arial"/>
                <a:cs typeface="Arial"/>
              </a:rPr>
              <a:t>advertisement</a:t>
            </a:r>
            <a:r>
              <a:rPr sz="3350" spc="130" dirty="0">
                <a:latin typeface="Arial"/>
                <a:cs typeface="Arial"/>
              </a:rPr>
              <a:t> </a:t>
            </a:r>
            <a:r>
              <a:rPr sz="3350" spc="-20" dirty="0">
                <a:latin typeface="Arial"/>
                <a:cs typeface="Arial"/>
              </a:rPr>
              <a:t>is</a:t>
            </a:r>
            <a:r>
              <a:rPr sz="3350" spc="-145" dirty="0">
                <a:latin typeface="Arial"/>
                <a:cs typeface="Arial"/>
              </a:rPr>
              <a:t> </a:t>
            </a:r>
            <a:r>
              <a:rPr sz="3350" spc="-280" dirty="0">
                <a:latin typeface="Arial"/>
                <a:cs typeface="Arial"/>
              </a:rPr>
              <a:t>a</a:t>
            </a:r>
            <a:r>
              <a:rPr sz="3350" spc="55" dirty="0">
                <a:latin typeface="Arial"/>
                <a:cs typeface="Arial"/>
              </a:rPr>
              <a:t> </a:t>
            </a:r>
            <a:r>
              <a:rPr sz="3350" spc="-75" dirty="0">
                <a:latin typeface="Arial"/>
                <a:cs typeface="Arial"/>
              </a:rPr>
              <a:t>description</a:t>
            </a:r>
            <a:r>
              <a:rPr sz="3350" spc="90" dirty="0">
                <a:latin typeface="Arial"/>
                <a:cs typeface="Arial"/>
              </a:rPr>
              <a:t> </a:t>
            </a:r>
            <a:r>
              <a:rPr sz="3350" dirty="0">
                <a:latin typeface="Arial"/>
                <a:cs typeface="Arial"/>
              </a:rPr>
              <a:t>of</a:t>
            </a:r>
            <a:r>
              <a:rPr sz="3350" spc="-75" dirty="0">
                <a:latin typeface="Arial"/>
                <a:cs typeface="Arial"/>
              </a:rPr>
              <a:t> </a:t>
            </a:r>
            <a:r>
              <a:rPr sz="3350" spc="-330" dirty="0">
                <a:latin typeface="Arial"/>
                <a:cs typeface="Arial"/>
              </a:rPr>
              <a:t>a </a:t>
            </a:r>
            <a:r>
              <a:rPr sz="3350" spc="-60" dirty="0">
                <a:latin typeface="Arial"/>
                <a:cs typeface="Arial"/>
              </a:rPr>
              <a:t>particular</a:t>
            </a:r>
            <a:r>
              <a:rPr sz="3350" spc="50" dirty="0">
                <a:latin typeface="Arial"/>
                <a:cs typeface="Arial"/>
              </a:rPr>
              <a:t> </a:t>
            </a:r>
            <a:r>
              <a:rPr sz="3350" spc="-30" dirty="0">
                <a:latin typeface="Arial"/>
                <a:cs typeface="Arial"/>
              </a:rPr>
              <a:t>pipe</a:t>
            </a:r>
            <a:r>
              <a:rPr sz="3350" spc="-135" dirty="0">
                <a:latin typeface="Arial"/>
                <a:cs typeface="Arial"/>
              </a:rPr>
              <a:t> </a:t>
            </a:r>
            <a:r>
              <a:rPr sz="3350" dirty="0">
                <a:latin typeface="Arial"/>
                <a:cs typeface="Arial"/>
              </a:rPr>
              <a:t>or</a:t>
            </a:r>
            <a:r>
              <a:rPr sz="3350" spc="-145" dirty="0">
                <a:latin typeface="Arial"/>
                <a:cs typeface="Arial"/>
              </a:rPr>
              <a:t> </a:t>
            </a:r>
            <a:r>
              <a:rPr sz="3350" spc="-10" dirty="0">
                <a:latin typeface="Arial"/>
                <a:cs typeface="Arial"/>
              </a:rPr>
              <a:t>service.</a:t>
            </a:r>
            <a:endParaRPr sz="3350">
              <a:latin typeface="Arial"/>
              <a:cs typeface="Arial"/>
            </a:endParaRPr>
          </a:p>
          <a:p>
            <a:pPr marL="320040" marR="5080" indent="-307975">
              <a:lnSpc>
                <a:spcPts val="3870"/>
              </a:lnSpc>
              <a:spcBef>
                <a:spcPts val="745"/>
              </a:spcBef>
              <a:buClr>
                <a:srgbClr val="3836D3"/>
              </a:buClr>
              <a:buChar char="•"/>
              <a:tabLst>
                <a:tab pos="328930" algn="l"/>
              </a:tabLst>
            </a:pPr>
            <a:r>
              <a:rPr sz="3700" spc="-415" dirty="0">
                <a:latin typeface="Arial"/>
                <a:cs typeface="Arial"/>
              </a:rPr>
              <a:t>Rendezvous</a:t>
            </a:r>
            <a:r>
              <a:rPr sz="3700" spc="290" dirty="0">
                <a:latin typeface="Arial"/>
                <a:cs typeface="Arial"/>
              </a:rPr>
              <a:t> </a:t>
            </a:r>
            <a:r>
              <a:rPr sz="3700" spc="-235" dirty="0">
                <a:latin typeface="Arial"/>
                <a:cs typeface="Arial"/>
              </a:rPr>
              <a:t>points</a:t>
            </a:r>
            <a:r>
              <a:rPr sz="3700" spc="95" dirty="0">
                <a:latin typeface="Arial"/>
                <a:cs typeface="Arial"/>
              </a:rPr>
              <a:t> </a:t>
            </a:r>
            <a:r>
              <a:rPr sz="3700" spc="-335" dirty="0">
                <a:latin typeface="Arial"/>
                <a:cs typeface="Arial"/>
              </a:rPr>
              <a:t>on</a:t>
            </a:r>
            <a:r>
              <a:rPr sz="3700" spc="65" dirty="0">
                <a:latin typeface="Arial"/>
                <a:cs typeface="Arial"/>
              </a:rPr>
              <a:t> </a:t>
            </a:r>
            <a:r>
              <a:rPr sz="3700" spc="-215" dirty="0">
                <a:latin typeface="Arial"/>
                <a:cs typeface="Arial"/>
              </a:rPr>
              <a:t>the</a:t>
            </a:r>
            <a:r>
              <a:rPr sz="3700" spc="-60" dirty="0">
                <a:latin typeface="Arial"/>
                <a:cs typeface="Arial"/>
              </a:rPr>
              <a:t> </a:t>
            </a:r>
            <a:r>
              <a:rPr sz="3700" spc="-260" dirty="0">
                <a:latin typeface="Arial"/>
                <a:cs typeface="Arial"/>
              </a:rPr>
              <a:t>network</a:t>
            </a:r>
            <a:r>
              <a:rPr sz="3700" spc="204" dirty="0">
                <a:latin typeface="Arial"/>
                <a:cs typeface="Arial"/>
              </a:rPr>
              <a:t> </a:t>
            </a:r>
            <a:r>
              <a:rPr sz="3700" spc="-320" dirty="0">
                <a:latin typeface="Arial"/>
                <a:cs typeface="Arial"/>
              </a:rPr>
              <a:t>are 	</a:t>
            </a:r>
            <a:r>
              <a:rPr sz="3700" spc="-390" dirty="0">
                <a:latin typeface="Arial"/>
                <a:cs typeface="Arial"/>
              </a:rPr>
              <a:t>used</a:t>
            </a:r>
            <a:r>
              <a:rPr sz="3700" spc="114" dirty="0">
                <a:latin typeface="Arial"/>
                <a:cs typeface="Arial"/>
              </a:rPr>
              <a:t> </a:t>
            </a:r>
            <a:r>
              <a:rPr sz="3700" spc="-295" dirty="0">
                <a:latin typeface="Arial"/>
                <a:cs typeface="Arial"/>
              </a:rPr>
              <a:t>by</a:t>
            </a:r>
            <a:r>
              <a:rPr sz="3700" spc="-75" dirty="0">
                <a:latin typeface="Arial"/>
                <a:cs typeface="Arial"/>
              </a:rPr>
              <a:t> </a:t>
            </a:r>
            <a:r>
              <a:rPr sz="3700" spc="-595" dirty="0">
                <a:latin typeface="Arial"/>
                <a:cs typeface="Arial"/>
              </a:rPr>
              <a:t>JXTA</a:t>
            </a:r>
            <a:r>
              <a:rPr sz="3700" spc="180" dirty="0">
                <a:latin typeface="Arial"/>
                <a:cs typeface="Arial"/>
              </a:rPr>
              <a:t> </a:t>
            </a:r>
            <a:r>
              <a:rPr sz="3700" spc="-95" dirty="0">
                <a:latin typeface="Arial"/>
                <a:cs typeface="Arial"/>
              </a:rPr>
              <a:t>to</a:t>
            </a:r>
            <a:r>
              <a:rPr sz="3700" spc="-125" dirty="0">
                <a:latin typeface="Arial"/>
                <a:cs typeface="Arial"/>
              </a:rPr>
              <a:t> </a:t>
            </a:r>
            <a:r>
              <a:rPr sz="3700" spc="-380" dirty="0">
                <a:latin typeface="Arial"/>
                <a:cs typeface="Arial"/>
              </a:rPr>
              <a:t>cache</a:t>
            </a:r>
            <a:r>
              <a:rPr sz="3700" spc="35" dirty="0">
                <a:latin typeface="Arial"/>
                <a:cs typeface="Arial"/>
              </a:rPr>
              <a:t> </a:t>
            </a:r>
            <a:r>
              <a:rPr sz="3700" spc="-245" dirty="0">
                <a:latin typeface="Arial"/>
                <a:cs typeface="Arial"/>
              </a:rPr>
              <a:t>advertisements.</a:t>
            </a:r>
            <a:endParaRPr sz="3700">
              <a:latin typeface="Arial"/>
              <a:cs typeface="Arial"/>
            </a:endParaRPr>
          </a:p>
          <a:p>
            <a:pPr marL="318135" marR="582930" indent="-303530">
              <a:lnSpc>
                <a:spcPts val="3829"/>
              </a:lnSpc>
              <a:spcBef>
                <a:spcPts val="765"/>
              </a:spcBef>
              <a:buClr>
                <a:srgbClr val="3B36CA"/>
              </a:buClr>
              <a:buChar char="•"/>
              <a:tabLst>
                <a:tab pos="326390" algn="l"/>
              </a:tabLst>
            </a:pPr>
            <a:r>
              <a:rPr sz="3300" spc="-350" dirty="0">
                <a:latin typeface="Arial"/>
                <a:cs typeface="Arial"/>
              </a:rPr>
              <a:t>JXTA</a:t>
            </a:r>
            <a:r>
              <a:rPr sz="3300" spc="120" dirty="0">
                <a:latin typeface="Arial"/>
                <a:cs typeface="Arial"/>
              </a:rPr>
              <a:t> </a:t>
            </a:r>
            <a:r>
              <a:rPr sz="3300" spc="-25" dirty="0">
                <a:latin typeface="Arial"/>
                <a:cs typeface="Arial"/>
              </a:rPr>
              <a:t>can </a:t>
            </a:r>
            <a:r>
              <a:rPr sz="3300" spc="-165" dirty="0">
                <a:latin typeface="Arial"/>
                <a:cs typeface="Arial"/>
              </a:rPr>
              <a:t>use</a:t>
            </a:r>
            <a:r>
              <a:rPr sz="3300" spc="-65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IP</a:t>
            </a:r>
            <a:r>
              <a:rPr sz="3300" spc="-75" dirty="0">
                <a:latin typeface="Arial"/>
                <a:cs typeface="Arial"/>
              </a:rPr>
              <a:t> </a:t>
            </a:r>
            <a:r>
              <a:rPr sz="3300" spc="-45" dirty="0">
                <a:latin typeface="Arial"/>
                <a:cs typeface="Arial"/>
              </a:rPr>
              <a:t>multicasting</a:t>
            </a:r>
            <a:r>
              <a:rPr sz="3300" spc="220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to</a:t>
            </a:r>
            <a:r>
              <a:rPr sz="3300" spc="-25" dirty="0">
                <a:latin typeface="Arial"/>
                <a:cs typeface="Arial"/>
              </a:rPr>
              <a:t> </a:t>
            </a:r>
            <a:r>
              <a:rPr sz="3300" spc="-20" dirty="0">
                <a:latin typeface="Arial"/>
                <a:cs typeface="Arial"/>
              </a:rPr>
              <a:t>find 	</a:t>
            </a:r>
            <a:r>
              <a:rPr sz="3400" spc="-20" dirty="0">
                <a:latin typeface="Arial"/>
                <a:cs typeface="Arial"/>
              </a:rPr>
              <a:t>other</a:t>
            </a:r>
            <a:r>
              <a:rPr sz="3400" spc="-114" dirty="0">
                <a:latin typeface="Arial"/>
                <a:cs typeface="Arial"/>
              </a:rPr>
              <a:t> </a:t>
            </a:r>
            <a:r>
              <a:rPr sz="3400" spc="-150" dirty="0">
                <a:latin typeface="Arial"/>
                <a:cs typeface="Arial"/>
              </a:rPr>
              <a:t>peers</a:t>
            </a:r>
            <a:r>
              <a:rPr sz="3400" spc="-85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on</a:t>
            </a:r>
            <a:r>
              <a:rPr sz="3400" spc="-95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the</a:t>
            </a:r>
            <a:r>
              <a:rPr sz="3400" spc="-100" dirty="0">
                <a:latin typeface="Arial"/>
                <a:cs typeface="Arial"/>
              </a:rPr>
              <a:t> </a:t>
            </a:r>
            <a:r>
              <a:rPr sz="3400" spc="-254" dirty="0">
                <a:latin typeface="Arial"/>
                <a:cs typeface="Arial"/>
              </a:rPr>
              <a:t>same</a:t>
            </a:r>
            <a:r>
              <a:rPr sz="3400" spc="15" dirty="0">
                <a:latin typeface="Arial"/>
                <a:cs typeface="Arial"/>
              </a:rPr>
              <a:t> </a:t>
            </a:r>
            <a:r>
              <a:rPr sz="3400" spc="-30" dirty="0">
                <a:latin typeface="Arial"/>
                <a:cs typeface="Arial"/>
              </a:rPr>
              <a:t>physical 	</a:t>
            </a:r>
            <a:r>
              <a:rPr sz="3300" spc="-10" dirty="0">
                <a:latin typeface="Arial"/>
                <a:cs typeface="Arial"/>
              </a:rPr>
              <a:t>subnet.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62883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2223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20"/>
              </a:spcBef>
            </a:pPr>
            <a:r>
              <a:rPr sz="5250" spc="-330" dirty="0">
                <a:solidFill>
                  <a:srgbClr val="332F97"/>
                </a:solidFill>
              </a:rPr>
              <a:t>Messages</a:t>
            </a:r>
            <a:endParaRPr sz="5250"/>
          </a:p>
        </p:txBody>
      </p:sp>
      <p:sp>
        <p:nvSpPr>
          <p:cNvPr id="4" name="object 4"/>
          <p:cNvSpPr txBox="1"/>
          <p:nvPr/>
        </p:nvSpPr>
        <p:spPr>
          <a:xfrm>
            <a:off x="1733358" y="1987301"/>
            <a:ext cx="7014209" cy="367157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284480" marR="332105" indent="-272415">
              <a:lnSpc>
                <a:spcPct val="87300"/>
              </a:lnSpc>
              <a:spcBef>
                <a:spcPts val="615"/>
              </a:spcBef>
              <a:buChar char="•"/>
              <a:tabLst>
                <a:tab pos="284480" algn="l"/>
                <a:tab pos="292735" algn="l"/>
              </a:tabLst>
            </a:pPr>
            <a:r>
              <a:rPr sz="3250" dirty="0">
                <a:solidFill>
                  <a:srgbClr val="807CFF"/>
                </a:solidFill>
                <a:latin typeface="Arial"/>
                <a:cs typeface="Arial"/>
              </a:rPr>
              <a:t>	</a:t>
            </a:r>
            <a:r>
              <a:rPr sz="3250" spc="-10" dirty="0">
                <a:latin typeface="Arial"/>
                <a:cs typeface="Arial"/>
              </a:rPr>
              <a:t>All</a:t>
            </a:r>
            <a:r>
              <a:rPr sz="3250" spc="5" dirty="0">
                <a:latin typeface="Arial"/>
                <a:cs typeface="Arial"/>
              </a:rPr>
              <a:t> </a:t>
            </a:r>
            <a:r>
              <a:rPr sz="3250" spc="-60" dirty="0">
                <a:latin typeface="Arial"/>
                <a:cs typeface="Arial"/>
              </a:rPr>
              <a:t>communication</a:t>
            </a:r>
            <a:r>
              <a:rPr sz="3250" spc="260" dirty="0">
                <a:latin typeface="Arial"/>
                <a:cs typeface="Arial"/>
              </a:rPr>
              <a:t> </a:t>
            </a:r>
            <a:r>
              <a:rPr sz="3250" dirty="0">
                <a:latin typeface="Arial"/>
                <a:cs typeface="Arial"/>
              </a:rPr>
              <a:t>in</a:t>
            </a:r>
            <a:r>
              <a:rPr sz="3250" spc="-65" dirty="0">
                <a:latin typeface="Arial"/>
                <a:cs typeface="Arial"/>
              </a:rPr>
              <a:t> </a:t>
            </a:r>
            <a:r>
              <a:rPr sz="3250" dirty="0">
                <a:latin typeface="Arial"/>
                <a:cs typeface="Arial"/>
              </a:rPr>
              <a:t>the</a:t>
            </a:r>
            <a:r>
              <a:rPr sz="3250" spc="-50" dirty="0">
                <a:latin typeface="Arial"/>
                <a:cs typeface="Arial"/>
              </a:rPr>
              <a:t> </a:t>
            </a:r>
            <a:r>
              <a:rPr sz="3250" spc="-405" dirty="0">
                <a:latin typeface="Arial"/>
                <a:cs typeface="Arial"/>
              </a:rPr>
              <a:t>JXTA </a:t>
            </a:r>
            <a:r>
              <a:rPr sz="3200" dirty="0">
                <a:latin typeface="Arial"/>
                <a:cs typeface="Arial"/>
              </a:rPr>
              <a:t>network</a:t>
            </a:r>
            <a:r>
              <a:rPr sz="3200" spc="6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is</a:t>
            </a:r>
            <a:r>
              <a:rPr sz="3200" spc="-75" dirty="0">
                <a:latin typeface="Arial"/>
                <a:cs typeface="Arial"/>
              </a:rPr>
              <a:t> </a:t>
            </a:r>
            <a:r>
              <a:rPr sz="3200" spc="-50" dirty="0">
                <a:latin typeface="Arial"/>
                <a:cs typeface="Arial"/>
              </a:rPr>
              <a:t>achieved</a:t>
            </a:r>
            <a:r>
              <a:rPr sz="3200" spc="1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by</a:t>
            </a:r>
            <a:r>
              <a:rPr sz="3200" spc="5" dirty="0">
                <a:latin typeface="Arial"/>
                <a:cs typeface="Arial"/>
              </a:rPr>
              <a:t> </a:t>
            </a:r>
            <a:r>
              <a:rPr sz="3200" spc="-40" dirty="0">
                <a:latin typeface="Arial"/>
                <a:cs typeface="Arial"/>
              </a:rPr>
              <a:t>sending</a:t>
            </a:r>
            <a:r>
              <a:rPr sz="3200" spc="16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and </a:t>
            </a:r>
            <a:r>
              <a:rPr sz="3200" spc="-10" dirty="0">
                <a:latin typeface="Arial"/>
                <a:cs typeface="Arial"/>
              </a:rPr>
              <a:t>receiving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messages.</a:t>
            </a:r>
            <a:endParaRPr sz="3200">
              <a:latin typeface="Arial"/>
              <a:cs typeface="Arial"/>
            </a:endParaRPr>
          </a:p>
          <a:p>
            <a:pPr marL="280670" marR="144145" indent="-268605">
              <a:lnSpc>
                <a:spcPct val="87400"/>
              </a:lnSpc>
              <a:spcBef>
                <a:spcPts val="645"/>
              </a:spcBef>
              <a:buClr>
                <a:srgbClr val="6B69FF"/>
              </a:buClr>
              <a:buChar char="•"/>
              <a:tabLst>
                <a:tab pos="283845" algn="l"/>
              </a:tabLst>
            </a:pPr>
            <a:r>
              <a:rPr sz="3250" spc="-385" dirty="0">
                <a:latin typeface="Arial"/>
                <a:cs typeface="Arial"/>
              </a:rPr>
              <a:t>JXTA</a:t>
            </a:r>
            <a:r>
              <a:rPr sz="3250" spc="160" dirty="0">
                <a:latin typeface="Arial"/>
                <a:cs typeface="Arial"/>
              </a:rPr>
              <a:t> </a:t>
            </a:r>
            <a:r>
              <a:rPr sz="3250" spc="-120" dirty="0">
                <a:latin typeface="Arial"/>
                <a:cs typeface="Arial"/>
              </a:rPr>
              <a:t>messages</a:t>
            </a:r>
            <a:r>
              <a:rPr sz="3250" spc="185" dirty="0">
                <a:latin typeface="Arial"/>
                <a:cs typeface="Arial"/>
              </a:rPr>
              <a:t> </a:t>
            </a:r>
            <a:r>
              <a:rPr sz="3250" spc="-55" dirty="0">
                <a:latin typeface="Arial"/>
                <a:cs typeface="Arial"/>
              </a:rPr>
              <a:t>adhere</a:t>
            </a:r>
            <a:r>
              <a:rPr sz="3250" spc="195" dirty="0">
                <a:latin typeface="Arial"/>
                <a:cs typeface="Arial"/>
              </a:rPr>
              <a:t> </a:t>
            </a:r>
            <a:r>
              <a:rPr sz="3250" dirty="0">
                <a:latin typeface="Arial"/>
                <a:cs typeface="Arial"/>
              </a:rPr>
              <a:t>to</a:t>
            </a:r>
            <a:r>
              <a:rPr sz="3250" spc="25" dirty="0">
                <a:latin typeface="Arial"/>
                <a:cs typeface="Arial"/>
              </a:rPr>
              <a:t> </a:t>
            </a:r>
            <a:r>
              <a:rPr sz="3250" spc="-310" dirty="0">
                <a:latin typeface="Arial"/>
                <a:cs typeface="Arial"/>
              </a:rPr>
              <a:t>a</a:t>
            </a:r>
            <a:r>
              <a:rPr sz="3250" spc="110" dirty="0">
                <a:latin typeface="Arial"/>
                <a:cs typeface="Arial"/>
              </a:rPr>
              <a:t> </a:t>
            </a:r>
            <a:r>
              <a:rPr sz="3250" spc="-55" dirty="0">
                <a:latin typeface="Arial"/>
                <a:cs typeface="Arial"/>
              </a:rPr>
              <a:t>standard 	</a:t>
            </a:r>
            <a:r>
              <a:rPr sz="3150" dirty="0">
                <a:latin typeface="Arial"/>
                <a:cs typeface="Arial"/>
              </a:rPr>
              <a:t>format,</a:t>
            </a:r>
            <a:r>
              <a:rPr sz="3150" spc="295" dirty="0">
                <a:latin typeface="Arial"/>
                <a:cs typeface="Arial"/>
              </a:rPr>
              <a:t> </a:t>
            </a:r>
            <a:r>
              <a:rPr sz="3150" dirty="0">
                <a:latin typeface="Arial"/>
                <a:cs typeface="Arial"/>
              </a:rPr>
              <a:t>which</a:t>
            </a:r>
            <a:r>
              <a:rPr sz="3150" spc="220" dirty="0">
                <a:latin typeface="Arial"/>
                <a:cs typeface="Arial"/>
              </a:rPr>
              <a:t> </a:t>
            </a:r>
            <a:r>
              <a:rPr sz="3150" dirty="0">
                <a:latin typeface="Arial"/>
                <a:cs typeface="Arial"/>
              </a:rPr>
              <a:t>is</a:t>
            </a:r>
            <a:r>
              <a:rPr sz="3150" spc="70" dirty="0">
                <a:latin typeface="Arial"/>
                <a:cs typeface="Arial"/>
              </a:rPr>
              <a:t> </a:t>
            </a:r>
            <a:r>
              <a:rPr sz="3150" dirty="0">
                <a:latin typeface="Arial"/>
                <a:cs typeface="Arial"/>
              </a:rPr>
              <a:t>key</a:t>
            </a:r>
            <a:r>
              <a:rPr sz="3150" spc="225" dirty="0">
                <a:latin typeface="Arial"/>
                <a:cs typeface="Arial"/>
              </a:rPr>
              <a:t> </a:t>
            </a:r>
            <a:r>
              <a:rPr sz="3150" spc="-25" dirty="0">
                <a:latin typeface="Arial"/>
                <a:cs typeface="Arial"/>
              </a:rPr>
              <a:t>to 	</a:t>
            </a:r>
            <a:r>
              <a:rPr sz="3250" spc="-10" dirty="0">
                <a:latin typeface="Arial"/>
                <a:cs typeface="Arial"/>
              </a:rPr>
              <a:t>interoperability.</a:t>
            </a:r>
            <a:endParaRPr sz="3250">
              <a:latin typeface="Arial"/>
              <a:cs typeface="Arial"/>
            </a:endParaRPr>
          </a:p>
          <a:p>
            <a:pPr marL="282575" indent="-269875">
              <a:lnSpc>
                <a:spcPts val="3645"/>
              </a:lnSpc>
              <a:spcBef>
                <a:spcPts val="195"/>
              </a:spcBef>
              <a:buClr>
                <a:srgbClr val="6969FF"/>
              </a:buClr>
              <a:buChar char="•"/>
              <a:tabLst>
                <a:tab pos="282575" algn="l"/>
              </a:tabLst>
            </a:pPr>
            <a:r>
              <a:rPr sz="3200" spc="-20" dirty="0">
                <a:latin typeface="Arial"/>
                <a:cs typeface="Arial"/>
              </a:rPr>
              <a:t>Standard</a:t>
            </a:r>
            <a:r>
              <a:rPr sz="3200" spc="45" dirty="0">
                <a:latin typeface="Arial"/>
                <a:cs typeface="Arial"/>
              </a:rPr>
              <a:t> </a:t>
            </a:r>
            <a:r>
              <a:rPr sz="3200" spc="-95" dirty="0">
                <a:latin typeface="Arial"/>
                <a:cs typeface="Arial"/>
              </a:rPr>
              <a:t>messages</a:t>
            </a:r>
            <a:r>
              <a:rPr sz="3200" spc="7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are</a:t>
            </a:r>
            <a:r>
              <a:rPr sz="3200" spc="-7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defined</a:t>
            </a:r>
            <a:r>
              <a:rPr sz="3200" spc="10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using</a:t>
            </a:r>
            <a:endParaRPr sz="3200">
              <a:latin typeface="Arial"/>
              <a:cs typeface="Arial"/>
            </a:endParaRPr>
          </a:p>
          <a:p>
            <a:pPr marL="290195">
              <a:lnSpc>
                <a:spcPts val="3465"/>
              </a:lnSpc>
            </a:pPr>
            <a:r>
              <a:rPr sz="3050" spc="-25" dirty="0">
                <a:latin typeface="Consolas"/>
                <a:cs typeface="Consolas"/>
              </a:rPr>
              <a:t>XML</a:t>
            </a:r>
            <a:endParaRPr sz="3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62883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6236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30"/>
              </a:spcBef>
            </a:pPr>
            <a:r>
              <a:rPr sz="4950" spc="75" dirty="0">
                <a:solidFill>
                  <a:srgbClr val="36389C"/>
                </a:solidFill>
              </a:rPr>
              <a:t>XNL</a:t>
            </a:r>
            <a:r>
              <a:rPr sz="4950" spc="275" dirty="0">
                <a:solidFill>
                  <a:srgbClr val="36389C"/>
                </a:solidFill>
              </a:rPr>
              <a:t> </a:t>
            </a:r>
            <a:r>
              <a:rPr sz="4950" spc="-170" dirty="0">
                <a:solidFill>
                  <a:srgbClr val="3B3482"/>
                </a:solidFill>
              </a:rPr>
              <a:t>format</a:t>
            </a:r>
            <a:endParaRPr sz="4950"/>
          </a:p>
        </p:txBody>
      </p:sp>
      <p:sp>
        <p:nvSpPr>
          <p:cNvPr id="4" name="object 4"/>
          <p:cNvSpPr txBox="1"/>
          <p:nvPr/>
        </p:nvSpPr>
        <p:spPr>
          <a:xfrm>
            <a:off x="1247329" y="1948202"/>
            <a:ext cx="7608570" cy="3694429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3650" dirty="0">
                <a:solidFill>
                  <a:srgbClr val="E92128"/>
                </a:solidFill>
                <a:latin typeface="Calibri"/>
                <a:cs typeface="Calibri"/>
              </a:rPr>
              <a:t>An</a:t>
            </a:r>
            <a:r>
              <a:rPr sz="3650" spc="-135" dirty="0">
                <a:solidFill>
                  <a:srgbClr val="E92128"/>
                </a:solidFill>
                <a:latin typeface="Calibri"/>
                <a:cs typeface="Calibri"/>
              </a:rPr>
              <a:t> </a:t>
            </a:r>
            <a:r>
              <a:rPr sz="3650" spc="-85" dirty="0">
                <a:solidFill>
                  <a:srgbClr val="C61A1A"/>
                </a:solidFill>
                <a:latin typeface="Calibri"/>
                <a:cs typeface="Calibri"/>
              </a:rPr>
              <a:t>example</a:t>
            </a:r>
            <a:r>
              <a:rPr sz="3650" spc="-35" dirty="0">
                <a:solidFill>
                  <a:srgbClr val="C61A1A"/>
                </a:solidFill>
                <a:latin typeface="Calibri"/>
                <a:cs typeface="Calibri"/>
              </a:rPr>
              <a:t> </a:t>
            </a:r>
            <a:r>
              <a:rPr sz="3650" dirty="0">
                <a:solidFill>
                  <a:srgbClr val="CC231D"/>
                </a:solidFill>
                <a:latin typeface="Calibri"/>
                <a:cs typeface="Calibri"/>
              </a:rPr>
              <a:t>of</a:t>
            </a:r>
            <a:r>
              <a:rPr sz="3650" spc="-114" dirty="0">
                <a:solidFill>
                  <a:srgbClr val="CC231D"/>
                </a:solidFill>
                <a:latin typeface="Calibri"/>
                <a:cs typeface="Calibri"/>
              </a:rPr>
              <a:t> </a:t>
            </a:r>
            <a:r>
              <a:rPr sz="3650" dirty="0">
                <a:solidFill>
                  <a:srgbClr val="C31F1A"/>
                </a:solidFill>
                <a:latin typeface="Calibri"/>
                <a:cs typeface="Calibri"/>
              </a:rPr>
              <a:t>an</a:t>
            </a:r>
            <a:r>
              <a:rPr sz="3650" spc="-85" dirty="0">
                <a:solidFill>
                  <a:srgbClr val="C31F1A"/>
                </a:solidFill>
                <a:latin typeface="Calibri"/>
                <a:cs typeface="Calibri"/>
              </a:rPr>
              <a:t> </a:t>
            </a:r>
            <a:r>
              <a:rPr sz="3650" spc="-130" dirty="0">
                <a:solidFill>
                  <a:srgbClr val="D81513"/>
                </a:solidFill>
                <a:latin typeface="Calibri"/>
                <a:cs typeface="Calibri"/>
              </a:rPr>
              <a:t>Advertisement</a:t>
            </a:r>
            <a:r>
              <a:rPr sz="3650" spc="155" dirty="0">
                <a:solidFill>
                  <a:srgbClr val="D81513"/>
                </a:solidFill>
                <a:latin typeface="Calibri"/>
                <a:cs typeface="Calibri"/>
              </a:rPr>
              <a:t> </a:t>
            </a:r>
            <a:r>
              <a:rPr sz="3650" dirty="0">
                <a:solidFill>
                  <a:srgbClr val="AF2121"/>
                </a:solidFill>
                <a:latin typeface="Calibri"/>
                <a:cs typeface="Calibri"/>
              </a:rPr>
              <a:t>in</a:t>
            </a:r>
            <a:r>
              <a:rPr sz="3650" spc="-65" dirty="0">
                <a:solidFill>
                  <a:srgbClr val="AF2121"/>
                </a:solidFill>
                <a:latin typeface="Calibri"/>
                <a:cs typeface="Calibri"/>
              </a:rPr>
              <a:t> </a:t>
            </a:r>
            <a:r>
              <a:rPr sz="3650" spc="-20" dirty="0">
                <a:solidFill>
                  <a:srgbClr val="EF131A"/>
                </a:solidFill>
                <a:latin typeface="Calibri"/>
                <a:cs typeface="Calibri"/>
              </a:rPr>
              <a:t>XML.</a:t>
            </a:r>
            <a:endParaRPr sz="3650">
              <a:latin typeface="Calibri"/>
              <a:cs typeface="Calibri"/>
            </a:endParaRPr>
          </a:p>
          <a:p>
            <a:pPr marL="494030">
              <a:lnSpc>
                <a:spcPct val="100000"/>
              </a:lnSpc>
              <a:spcBef>
                <a:spcPts val="165"/>
              </a:spcBef>
            </a:pPr>
            <a:r>
              <a:rPr sz="1950" dirty="0">
                <a:solidFill>
                  <a:srgbClr val="282828"/>
                </a:solidFill>
                <a:latin typeface="Calibri"/>
                <a:cs typeface="Calibri"/>
              </a:rPr>
              <a:t>&lt;?xmI</a:t>
            </a:r>
            <a:r>
              <a:rPr sz="1950" spc="21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950" spc="-10" dirty="0">
                <a:solidFill>
                  <a:srgbClr val="212121"/>
                </a:solidFill>
                <a:latin typeface="Calibri"/>
                <a:cs typeface="Calibri"/>
              </a:rPr>
              <a:t>version=”1.0"?&gt;</a:t>
            </a:r>
            <a:endParaRPr sz="1950">
              <a:latin typeface="Calibri"/>
              <a:cs typeface="Calibri"/>
            </a:endParaRPr>
          </a:p>
          <a:p>
            <a:pPr marL="565150">
              <a:lnSpc>
                <a:spcPct val="100000"/>
              </a:lnSpc>
              <a:spcBef>
                <a:spcPts val="200"/>
              </a:spcBef>
            </a:pPr>
            <a:r>
              <a:rPr sz="2050" spc="-10" dirty="0">
                <a:solidFill>
                  <a:srgbClr val="2B2B2B"/>
                </a:solidFill>
                <a:latin typeface="Calibri"/>
                <a:cs typeface="Calibri"/>
              </a:rPr>
              <a:t>&lt;!DOCTYPE</a:t>
            </a:r>
            <a:r>
              <a:rPr sz="205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solidFill>
                  <a:srgbClr val="212121"/>
                </a:solidFill>
                <a:latin typeface="Calibri"/>
                <a:cs typeface="Calibri"/>
              </a:rPr>
              <a:t>jxta:PipeAdvertisement&gt;</a:t>
            </a:r>
            <a:endParaRPr sz="2050">
              <a:latin typeface="Calibri"/>
              <a:cs typeface="Calibri"/>
            </a:endParaRPr>
          </a:p>
          <a:p>
            <a:pPr marL="494030">
              <a:lnSpc>
                <a:spcPct val="100000"/>
              </a:lnSpc>
              <a:spcBef>
                <a:spcPts val="190"/>
              </a:spcBef>
            </a:pPr>
            <a:r>
              <a:rPr sz="2000" spc="-10" dirty="0">
                <a:solidFill>
                  <a:srgbClr val="212121"/>
                </a:solidFill>
                <a:latin typeface="Calibri"/>
                <a:cs typeface="Calibri"/>
              </a:rPr>
              <a:t>&lt;jxta:PipeAdvertisement&gt;</a:t>
            </a:r>
            <a:endParaRPr sz="2000">
              <a:latin typeface="Calibri"/>
              <a:cs typeface="Calibri"/>
            </a:endParaRPr>
          </a:p>
          <a:p>
            <a:pPr marL="494665">
              <a:lnSpc>
                <a:spcPts val="2155"/>
              </a:lnSpc>
              <a:spcBef>
                <a:spcPts val="265"/>
              </a:spcBef>
            </a:pPr>
            <a:r>
              <a:rPr sz="1900" spc="80" dirty="0">
                <a:solidFill>
                  <a:srgbClr val="232323"/>
                </a:solidFill>
                <a:latin typeface="Calibri"/>
                <a:cs typeface="Calibri"/>
              </a:rPr>
              <a:t>&lt;id&gt;</a:t>
            </a:r>
            <a:endParaRPr sz="1900">
              <a:latin typeface="Calibri"/>
              <a:cs typeface="Calibri"/>
            </a:endParaRPr>
          </a:p>
          <a:p>
            <a:pPr marL="757555" marR="5080" indent="8890">
              <a:lnSpc>
                <a:spcPct val="89000"/>
              </a:lnSpc>
              <a:spcBef>
                <a:spcPts val="145"/>
              </a:spcBef>
            </a:pPr>
            <a:r>
              <a:rPr sz="2050" spc="-60" dirty="0">
                <a:solidFill>
                  <a:srgbClr val="212121"/>
                </a:solidFill>
                <a:latin typeface="Calibri"/>
                <a:cs typeface="Calibri"/>
              </a:rPr>
              <a:t>jxta://59616261646162614A787461503250333DA9279761254559B </a:t>
            </a:r>
            <a:r>
              <a:rPr sz="2000" spc="-10" dirty="0">
                <a:solidFill>
                  <a:srgbClr val="242424"/>
                </a:solidFill>
                <a:latin typeface="Calibri"/>
                <a:cs typeface="Calibri"/>
              </a:rPr>
              <a:t>209922 </a:t>
            </a:r>
            <a:r>
              <a:rPr sz="2050" spc="-55" dirty="0">
                <a:solidFill>
                  <a:srgbClr val="232323"/>
                </a:solidFill>
                <a:latin typeface="Calibri"/>
                <a:cs typeface="Calibri"/>
              </a:rPr>
              <a:t>BACA69E19000000000000000000000000000000000000000000000</a:t>
            </a:r>
            <a:endParaRPr sz="2050">
              <a:latin typeface="Calibri"/>
              <a:cs typeface="Calibri"/>
            </a:endParaRPr>
          </a:p>
          <a:p>
            <a:pPr marL="766445">
              <a:lnSpc>
                <a:spcPts val="2205"/>
              </a:lnSpc>
            </a:pPr>
            <a:r>
              <a:rPr sz="2350" spc="-290" dirty="0">
                <a:solidFill>
                  <a:srgbClr val="1F3646"/>
                </a:solidFill>
                <a:latin typeface="Calibri"/>
                <a:cs typeface="Calibri"/>
              </a:rPr>
              <a:t>oooooooo</a:t>
            </a:r>
            <a:r>
              <a:rPr sz="2350" spc="210" dirty="0">
                <a:solidFill>
                  <a:srgbClr val="1F3646"/>
                </a:solidFill>
                <a:latin typeface="Calibri"/>
                <a:cs typeface="Calibri"/>
              </a:rPr>
              <a:t> </a:t>
            </a:r>
            <a:r>
              <a:rPr sz="2350" spc="-290" dirty="0">
                <a:solidFill>
                  <a:srgbClr val="152A3F"/>
                </a:solidFill>
                <a:latin typeface="Calibri"/>
                <a:cs typeface="Calibri"/>
              </a:rPr>
              <a:t>oooooooo3o1</a:t>
            </a:r>
            <a:r>
              <a:rPr sz="2350" spc="535" dirty="0">
                <a:solidFill>
                  <a:srgbClr val="152A3F"/>
                </a:solidFill>
                <a:latin typeface="Calibri"/>
                <a:cs typeface="Calibri"/>
              </a:rPr>
              <a:t> </a:t>
            </a:r>
            <a:r>
              <a:rPr sz="2350" spc="-10" dirty="0">
                <a:solidFill>
                  <a:srgbClr val="262626"/>
                </a:solidFill>
                <a:latin typeface="Calibri"/>
                <a:cs typeface="Calibri"/>
              </a:rPr>
              <a:t>&lt;/id&gt;</a:t>
            </a:r>
            <a:endParaRPr sz="2350">
              <a:latin typeface="Calibri"/>
              <a:cs typeface="Calibri"/>
            </a:endParaRPr>
          </a:p>
          <a:p>
            <a:pPr marL="494030">
              <a:lnSpc>
                <a:spcPct val="100000"/>
              </a:lnSpc>
              <a:spcBef>
                <a:spcPts val="85"/>
              </a:spcBef>
            </a:pPr>
            <a:r>
              <a:rPr sz="2050" dirty="0">
                <a:solidFill>
                  <a:srgbClr val="232323"/>
                </a:solidFill>
                <a:latin typeface="Calibri"/>
                <a:cs typeface="Calibri"/>
              </a:rPr>
              <a:t>&lt;name&gt;</a:t>
            </a:r>
            <a:r>
              <a:rPr sz="2050" spc="1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050" spc="-65" dirty="0">
                <a:solidFill>
                  <a:srgbClr val="212121"/>
                </a:solidFill>
                <a:latin typeface="Calibri"/>
                <a:cs typeface="Calibri"/>
              </a:rPr>
              <a:t>JxtaTaIkUserName:raeI</a:t>
            </a:r>
            <a:r>
              <a:rPr sz="2050" spc="114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solidFill>
                  <a:srgbClr val="282828"/>
                </a:solidFill>
                <a:latin typeface="Calibri"/>
                <a:cs typeface="Calibri"/>
              </a:rPr>
              <a:t>&lt;/name&gt;</a:t>
            </a:r>
            <a:endParaRPr sz="2050">
              <a:latin typeface="Calibri"/>
              <a:cs typeface="Calibri"/>
            </a:endParaRPr>
          </a:p>
          <a:p>
            <a:pPr marL="493395">
              <a:lnSpc>
                <a:spcPct val="100000"/>
              </a:lnSpc>
              <a:spcBef>
                <a:spcPts val="90"/>
              </a:spcBef>
            </a:pPr>
            <a:r>
              <a:rPr sz="2100" spc="-30" dirty="0">
                <a:solidFill>
                  <a:srgbClr val="212121"/>
                </a:solidFill>
                <a:latin typeface="Calibri"/>
                <a:cs typeface="Calibri"/>
              </a:rPr>
              <a:t>&lt;/jxta:PipeAdvertisement&gt;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98601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6236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30"/>
              </a:spcBef>
            </a:pPr>
            <a:r>
              <a:rPr sz="4950" dirty="0">
                <a:solidFill>
                  <a:srgbClr val="36388E"/>
                </a:solidFill>
              </a:rPr>
              <a:t>JXTA</a:t>
            </a:r>
            <a:r>
              <a:rPr sz="4950" spc="30" dirty="0">
                <a:solidFill>
                  <a:srgbClr val="36388E"/>
                </a:solidFill>
              </a:rPr>
              <a:t> </a:t>
            </a:r>
            <a:r>
              <a:rPr sz="4950" spc="-155" dirty="0">
                <a:solidFill>
                  <a:srgbClr val="343490"/>
                </a:solidFill>
              </a:rPr>
              <a:t>Protocols</a:t>
            </a:r>
            <a:endParaRPr sz="4950"/>
          </a:p>
        </p:txBody>
      </p:sp>
      <p:sp>
        <p:nvSpPr>
          <p:cNvPr id="4" name="object 4"/>
          <p:cNvSpPr txBox="1"/>
          <p:nvPr/>
        </p:nvSpPr>
        <p:spPr>
          <a:xfrm>
            <a:off x="1278929" y="1967458"/>
            <a:ext cx="7556500" cy="414845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28295" indent="-315595">
              <a:lnSpc>
                <a:spcPts val="3265"/>
              </a:lnSpc>
              <a:spcBef>
                <a:spcPts val="125"/>
              </a:spcBef>
              <a:buClr>
                <a:srgbClr val="4B49DD"/>
              </a:buClr>
              <a:buChar char="•"/>
              <a:tabLst>
                <a:tab pos="328295" algn="l"/>
              </a:tabLst>
            </a:pPr>
            <a:r>
              <a:rPr sz="3050" spc="-210" dirty="0">
                <a:latin typeface="Arial"/>
                <a:cs typeface="Arial"/>
              </a:rPr>
              <a:t>The</a:t>
            </a:r>
            <a:r>
              <a:rPr sz="3050" dirty="0">
                <a:latin typeface="Arial"/>
                <a:cs typeface="Arial"/>
              </a:rPr>
              <a:t> </a:t>
            </a:r>
            <a:r>
              <a:rPr sz="3050" spc="-434" dirty="0">
                <a:latin typeface="Arial"/>
                <a:cs typeface="Arial"/>
              </a:rPr>
              <a:t>JXTA</a:t>
            </a:r>
            <a:r>
              <a:rPr sz="3050" spc="220" dirty="0">
                <a:latin typeface="Arial"/>
                <a:cs typeface="Arial"/>
              </a:rPr>
              <a:t> </a:t>
            </a:r>
            <a:r>
              <a:rPr sz="3050" spc="-85" dirty="0">
                <a:latin typeface="Arial"/>
                <a:cs typeface="Arial"/>
              </a:rPr>
              <a:t>platform</a:t>
            </a:r>
            <a:r>
              <a:rPr sz="3050" spc="-130" dirty="0">
                <a:latin typeface="Arial"/>
                <a:cs typeface="Arial"/>
              </a:rPr>
              <a:t> </a:t>
            </a:r>
            <a:r>
              <a:rPr sz="3050" spc="-90" dirty="0">
                <a:latin typeface="Arial"/>
                <a:cs typeface="Arial"/>
              </a:rPr>
              <a:t>is</a:t>
            </a:r>
            <a:r>
              <a:rPr sz="3050" spc="-120" dirty="0">
                <a:latin typeface="Arial"/>
                <a:cs typeface="Arial"/>
              </a:rPr>
              <a:t> </a:t>
            </a:r>
            <a:r>
              <a:rPr sz="3050" spc="-125" dirty="0">
                <a:latin typeface="Arial"/>
                <a:cs typeface="Arial"/>
              </a:rPr>
              <a:t>defined</a:t>
            </a:r>
            <a:r>
              <a:rPr sz="3050" spc="-35" dirty="0">
                <a:latin typeface="Arial"/>
                <a:cs typeface="Arial"/>
              </a:rPr>
              <a:t> </a:t>
            </a:r>
            <a:r>
              <a:rPr sz="3050" spc="-55" dirty="0">
                <a:latin typeface="Arial"/>
                <a:cs typeface="Arial"/>
              </a:rPr>
              <a:t>by</a:t>
            </a:r>
            <a:r>
              <a:rPr sz="3050" spc="-60" dirty="0">
                <a:latin typeface="Arial"/>
                <a:cs typeface="Arial"/>
              </a:rPr>
              <a:t> </a:t>
            </a:r>
            <a:r>
              <a:rPr sz="3050" spc="-25" dirty="0">
                <a:latin typeface="Arial"/>
                <a:cs typeface="Arial"/>
              </a:rPr>
              <a:t>six</a:t>
            </a:r>
            <a:endParaRPr sz="3050">
              <a:latin typeface="Arial"/>
              <a:cs typeface="Arial"/>
            </a:endParaRPr>
          </a:p>
          <a:p>
            <a:pPr marL="336550">
              <a:lnSpc>
                <a:spcPts val="3420"/>
              </a:lnSpc>
            </a:pPr>
            <a:r>
              <a:rPr sz="3200" spc="-200" dirty="0">
                <a:latin typeface="Arial"/>
                <a:cs typeface="Arial"/>
              </a:rPr>
              <a:t>networking</a:t>
            </a:r>
            <a:r>
              <a:rPr sz="3200" spc="55" dirty="0">
                <a:latin typeface="Arial"/>
                <a:cs typeface="Arial"/>
              </a:rPr>
              <a:t> </a:t>
            </a:r>
            <a:r>
              <a:rPr sz="3200" spc="-105" dirty="0">
                <a:latin typeface="Arial"/>
                <a:cs typeface="Arial"/>
              </a:rPr>
              <a:t>protocols.</a:t>
            </a:r>
            <a:endParaRPr sz="3200">
              <a:latin typeface="Arial"/>
              <a:cs typeface="Arial"/>
            </a:endParaRPr>
          </a:p>
          <a:p>
            <a:pPr marL="331470" marR="5080" indent="-319405">
              <a:lnSpc>
                <a:spcPts val="3020"/>
              </a:lnSpc>
              <a:spcBef>
                <a:spcPts val="660"/>
              </a:spcBef>
              <a:buChar char="•"/>
              <a:tabLst>
                <a:tab pos="331470" algn="l"/>
                <a:tab pos="336550" algn="l"/>
              </a:tabLst>
            </a:pPr>
            <a:r>
              <a:rPr sz="3100" dirty="0">
                <a:solidFill>
                  <a:srgbClr val="6967FF"/>
                </a:solidFill>
                <a:latin typeface="Arial"/>
                <a:cs typeface="Arial"/>
              </a:rPr>
              <a:t>	</a:t>
            </a:r>
            <a:r>
              <a:rPr sz="3100" spc="-145" dirty="0">
                <a:latin typeface="Arial"/>
                <a:cs typeface="Arial"/>
              </a:rPr>
              <a:t>All</a:t>
            </a:r>
            <a:r>
              <a:rPr sz="3100" spc="-75" dirty="0">
                <a:latin typeface="Arial"/>
                <a:cs typeface="Arial"/>
              </a:rPr>
              <a:t> </a:t>
            </a:r>
            <a:r>
              <a:rPr sz="3100" spc="-185" dirty="0">
                <a:latin typeface="Arial"/>
                <a:cs typeface="Arial"/>
              </a:rPr>
              <a:t>six</a:t>
            </a:r>
            <a:r>
              <a:rPr sz="3100" spc="-30" dirty="0">
                <a:latin typeface="Arial"/>
                <a:cs typeface="Arial"/>
              </a:rPr>
              <a:t> </a:t>
            </a:r>
            <a:r>
              <a:rPr sz="3100" spc="-160" dirty="0">
                <a:latin typeface="Arial"/>
                <a:cs typeface="Arial"/>
              </a:rPr>
              <a:t>protocols</a:t>
            </a:r>
            <a:r>
              <a:rPr sz="3100" spc="-55" dirty="0">
                <a:latin typeface="Arial"/>
                <a:cs typeface="Arial"/>
              </a:rPr>
              <a:t> </a:t>
            </a:r>
            <a:r>
              <a:rPr sz="3100" spc="-254" dirty="0">
                <a:latin typeface="Arial"/>
                <a:cs typeface="Arial"/>
              </a:rPr>
              <a:t>needs</a:t>
            </a:r>
            <a:r>
              <a:rPr sz="3100" spc="40" dirty="0">
                <a:latin typeface="Arial"/>
                <a:cs typeface="Arial"/>
              </a:rPr>
              <a:t> </a:t>
            </a:r>
            <a:r>
              <a:rPr sz="3100" spc="-80" dirty="0">
                <a:latin typeface="Arial"/>
                <a:cs typeface="Arial"/>
              </a:rPr>
              <a:t>not</a:t>
            </a:r>
            <a:r>
              <a:rPr sz="3100" spc="-114" dirty="0">
                <a:latin typeface="Arial"/>
                <a:cs typeface="Arial"/>
              </a:rPr>
              <a:t> </a:t>
            </a:r>
            <a:r>
              <a:rPr sz="3100" spc="-215" dirty="0">
                <a:latin typeface="Arial"/>
                <a:cs typeface="Arial"/>
              </a:rPr>
              <a:t>be</a:t>
            </a:r>
            <a:r>
              <a:rPr sz="3100" spc="-60" dirty="0">
                <a:latin typeface="Arial"/>
                <a:cs typeface="Arial"/>
              </a:rPr>
              <a:t> </a:t>
            </a:r>
            <a:r>
              <a:rPr sz="3100" spc="-165" dirty="0">
                <a:latin typeface="Arial"/>
                <a:cs typeface="Arial"/>
              </a:rPr>
              <a:t>implemented</a:t>
            </a:r>
            <a:r>
              <a:rPr sz="3100" spc="160" dirty="0">
                <a:latin typeface="Arial"/>
                <a:cs typeface="Arial"/>
              </a:rPr>
              <a:t> </a:t>
            </a:r>
            <a:r>
              <a:rPr sz="3100" spc="-40" dirty="0">
                <a:latin typeface="Arial"/>
                <a:cs typeface="Arial"/>
              </a:rPr>
              <a:t>by </a:t>
            </a:r>
            <a:r>
              <a:rPr sz="3100" spc="-160" dirty="0">
                <a:latin typeface="Arial"/>
                <a:cs typeface="Arial"/>
              </a:rPr>
              <a:t>every</a:t>
            </a:r>
            <a:r>
              <a:rPr sz="3100" spc="-55" dirty="0">
                <a:latin typeface="Arial"/>
                <a:cs typeface="Arial"/>
              </a:rPr>
              <a:t> </a:t>
            </a:r>
            <a:r>
              <a:rPr sz="3100" spc="-280" dirty="0">
                <a:latin typeface="Arial"/>
                <a:cs typeface="Arial"/>
              </a:rPr>
              <a:t>peer.</a:t>
            </a:r>
            <a:endParaRPr sz="3100">
              <a:latin typeface="Arial"/>
              <a:cs typeface="Arial"/>
            </a:endParaRPr>
          </a:p>
          <a:p>
            <a:pPr marL="729615" lvl="1" indent="-267970">
              <a:lnSpc>
                <a:spcPts val="3145"/>
              </a:lnSpc>
              <a:buClr>
                <a:srgbClr val="EB0305"/>
              </a:buClr>
              <a:buChar char="•"/>
              <a:tabLst>
                <a:tab pos="729615" algn="l"/>
              </a:tabLst>
            </a:pPr>
            <a:r>
              <a:rPr sz="2700" spc="-300" dirty="0">
                <a:latin typeface="Arial"/>
                <a:cs typeface="Arial"/>
              </a:rPr>
              <a:t>Peer</a:t>
            </a:r>
            <a:r>
              <a:rPr sz="2700" spc="110" dirty="0">
                <a:latin typeface="Arial"/>
                <a:cs typeface="Arial"/>
              </a:rPr>
              <a:t> </a:t>
            </a:r>
            <a:r>
              <a:rPr sz="2700" spc="-195" dirty="0">
                <a:latin typeface="Arial"/>
                <a:cs typeface="Arial"/>
              </a:rPr>
              <a:t>Discovery</a:t>
            </a:r>
            <a:r>
              <a:rPr sz="2700" spc="10" dirty="0">
                <a:latin typeface="Arial"/>
                <a:cs typeface="Arial"/>
              </a:rPr>
              <a:t> </a:t>
            </a:r>
            <a:r>
              <a:rPr sz="2700" spc="-175" dirty="0">
                <a:latin typeface="Arial"/>
                <a:cs typeface="Arial"/>
              </a:rPr>
              <a:t>Protocol</a:t>
            </a:r>
            <a:r>
              <a:rPr sz="2700" spc="110" dirty="0">
                <a:latin typeface="Arial"/>
                <a:cs typeface="Arial"/>
              </a:rPr>
              <a:t> </a:t>
            </a:r>
            <a:r>
              <a:rPr sz="2700" spc="-90" dirty="0">
                <a:latin typeface="Arial"/>
                <a:cs typeface="Arial"/>
              </a:rPr>
              <a:t>(PDP).</a:t>
            </a:r>
            <a:endParaRPr sz="2700">
              <a:latin typeface="Arial"/>
              <a:cs typeface="Arial"/>
            </a:endParaRPr>
          </a:p>
          <a:p>
            <a:pPr marL="728345" lvl="1" indent="-267335">
              <a:lnSpc>
                <a:spcPts val="3170"/>
              </a:lnSpc>
              <a:buClr>
                <a:srgbClr val="ED0100"/>
              </a:buClr>
              <a:buChar char="•"/>
              <a:tabLst>
                <a:tab pos="728345" algn="l"/>
              </a:tabLst>
            </a:pPr>
            <a:r>
              <a:rPr sz="2750" spc="-320" dirty="0">
                <a:latin typeface="Arial"/>
                <a:cs typeface="Arial"/>
              </a:rPr>
              <a:t>Peer</a:t>
            </a:r>
            <a:r>
              <a:rPr sz="2750" spc="105" dirty="0">
                <a:latin typeface="Arial"/>
                <a:cs typeface="Arial"/>
              </a:rPr>
              <a:t> </a:t>
            </a:r>
            <a:r>
              <a:rPr sz="2750" spc="-275" dirty="0">
                <a:latin typeface="Arial"/>
                <a:cs typeface="Arial"/>
              </a:rPr>
              <a:t>Resolver</a:t>
            </a:r>
            <a:r>
              <a:rPr sz="2750" spc="245" dirty="0">
                <a:latin typeface="Arial"/>
                <a:cs typeface="Arial"/>
              </a:rPr>
              <a:t> </a:t>
            </a:r>
            <a:r>
              <a:rPr sz="2750" spc="-210" dirty="0">
                <a:latin typeface="Arial"/>
                <a:cs typeface="Arial"/>
              </a:rPr>
              <a:t>Protocol</a:t>
            </a:r>
            <a:r>
              <a:rPr sz="2750" spc="110" dirty="0">
                <a:latin typeface="Arial"/>
                <a:cs typeface="Arial"/>
              </a:rPr>
              <a:t> </a:t>
            </a:r>
            <a:r>
              <a:rPr sz="2750" spc="-300" dirty="0">
                <a:latin typeface="Arial"/>
                <a:cs typeface="Arial"/>
              </a:rPr>
              <a:t>(PRP).</a:t>
            </a:r>
            <a:endParaRPr sz="2750">
              <a:latin typeface="Arial"/>
              <a:cs typeface="Arial"/>
            </a:endParaRPr>
          </a:p>
          <a:p>
            <a:pPr marL="728345" lvl="1" indent="-267335">
              <a:lnSpc>
                <a:spcPts val="3215"/>
              </a:lnSpc>
              <a:buClr>
                <a:srgbClr val="EB0303"/>
              </a:buClr>
              <a:buChar char="•"/>
              <a:tabLst>
                <a:tab pos="728345" algn="l"/>
              </a:tabLst>
            </a:pPr>
            <a:r>
              <a:rPr sz="2750" spc="-320" dirty="0">
                <a:latin typeface="Arial"/>
                <a:cs typeface="Arial"/>
              </a:rPr>
              <a:t>Peer</a:t>
            </a:r>
            <a:r>
              <a:rPr sz="2750" spc="5" dirty="0">
                <a:latin typeface="Arial"/>
                <a:cs typeface="Arial"/>
              </a:rPr>
              <a:t> </a:t>
            </a:r>
            <a:r>
              <a:rPr sz="2750" spc="-114" dirty="0">
                <a:latin typeface="Arial"/>
                <a:cs typeface="Arial"/>
              </a:rPr>
              <a:t>Information</a:t>
            </a:r>
            <a:r>
              <a:rPr sz="2750" spc="-35" dirty="0">
                <a:latin typeface="Arial"/>
                <a:cs typeface="Arial"/>
              </a:rPr>
              <a:t> </a:t>
            </a:r>
            <a:r>
              <a:rPr sz="2750" spc="-200" dirty="0">
                <a:latin typeface="Arial"/>
                <a:cs typeface="Arial"/>
              </a:rPr>
              <a:t>Protocol</a:t>
            </a:r>
            <a:r>
              <a:rPr sz="2750" spc="35" dirty="0">
                <a:latin typeface="Arial"/>
                <a:cs typeface="Arial"/>
              </a:rPr>
              <a:t> </a:t>
            </a:r>
            <a:r>
              <a:rPr sz="2750" spc="-30" dirty="0">
                <a:latin typeface="Arial"/>
                <a:cs typeface="Arial"/>
              </a:rPr>
              <a:t>(PIP).</a:t>
            </a:r>
            <a:endParaRPr sz="2750">
              <a:latin typeface="Arial"/>
              <a:cs typeface="Arial"/>
            </a:endParaRPr>
          </a:p>
          <a:p>
            <a:pPr marL="730250" lvl="1" indent="-268605">
              <a:lnSpc>
                <a:spcPts val="3130"/>
              </a:lnSpc>
              <a:buClr>
                <a:srgbClr val="F40703"/>
              </a:buClr>
              <a:buChar char="•"/>
              <a:tabLst>
                <a:tab pos="730250" algn="l"/>
              </a:tabLst>
            </a:pPr>
            <a:r>
              <a:rPr sz="2650" spc="-270" dirty="0">
                <a:latin typeface="Arial"/>
                <a:cs typeface="Arial"/>
              </a:rPr>
              <a:t>Peer</a:t>
            </a:r>
            <a:r>
              <a:rPr sz="2650" spc="85" dirty="0">
                <a:latin typeface="Arial"/>
                <a:cs typeface="Arial"/>
              </a:rPr>
              <a:t> </a:t>
            </a:r>
            <a:r>
              <a:rPr sz="2650" spc="-180" dirty="0">
                <a:latin typeface="Arial"/>
                <a:cs typeface="Arial"/>
              </a:rPr>
              <a:t>Membership</a:t>
            </a:r>
            <a:r>
              <a:rPr sz="2650" spc="130" dirty="0">
                <a:latin typeface="Arial"/>
                <a:cs typeface="Arial"/>
              </a:rPr>
              <a:t> </a:t>
            </a:r>
            <a:r>
              <a:rPr sz="2650" spc="-160" dirty="0">
                <a:latin typeface="Arial"/>
                <a:cs typeface="Arial"/>
              </a:rPr>
              <a:t>Protocol</a:t>
            </a:r>
            <a:r>
              <a:rPr sz="2650" spc="25" dirty="0">
                <a:latin typeface="Arial"/>
                <a:cs typeface="Arial"/>
              </a:rPr>
              <a:t> </a:t>
            </a:r>
            <a:r>
              <a:rPr sz="2650" spc="-70" dirty="0">
                <a:latin typeface="Arial"/>
                <a:cs typeface="Arial"/>
              </a:rPr>
              <a:t>(PMP).</a:t>
            </a:r>
            <a:endParaRPr sz="2650">
              <a:latin typeface="Arial"/>
              <a:cs typeface="Arial"/>
            </a:endParaRPr>
          </a:p>
          <a:p>
            <a:pPr marL="728980" lvl="1" indent="-267335">
              <a:lnSpc>
                <a:spcPts val="3145"/>
              </a:lnSpc>
              <a:buClr>
                <a:srgbClr val="ED0A00"/>
              </a:buClr>
              <a:buChar char="•"/>
              <a:tabLst>
                <a:tab pos="728980" algn="l"/>
              </a:tabLst>
            </a:pPr>
            <a:r>
              <a:rPr sz="2700" spc="-254" dirty="0">
                <a:latin typeface="Arial"/>
                <a:cs typeface="Arial"/>
              </a:rPr>
              <a:t>Pipe</a:t>
            </a:r>
            <a:r>
              <a:rPr sz="2700" spc="30" dirty="0">
                <a:latin typeface="Arial"/>
                <a:cs typeface="Arial"/>
              </a:rPr>
              <a:t> </a:t>
            </a:r>
            <a:r>
              <a:rPr sz="2700" spc="-165" dirty="0">
                <a:latin typeface="Arial"/>
                <a:cs typeface="Arial"/>
              </a:rPr>
              <a:t>Binding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spc="-185" dirty="0">
                <a:latin typeface="Arial"/>
                <a:cs typeface="Arial"/>
              </a:rPr>
              <a:t>Protocol</a:t>
            </a:r>
            <a:r>
              <a:rPr sz="2700" spc="90" dirty="0">
                <a:latin typeface="Arial"/>
                <a:cs typeface="Arial"/>
              </a:rPr>
              <a:t> </a:t>
            </a:r>
            <a:r>
              <a:rPr sz="2700" spc="-270" dirty="0">
                <a:latin typeface="Arial"/>
                <a:cs typeface="Arial"/>
              </a:rPr>
              <a:t>(PBP).</a:t>
            </a:r>
            <a:endParaRPr sz="2700">
              <a:latin typeface="Arial"/>
              <a:cs typeface="Arial"/>
            </a:endParaRPr>
          </a:p>
          <a:p>
            <a:pPr marL="728345" lvl="1" indent="-267335">
              <a:lnSpc>
                <a:spcPts val="3235"/>
              </a:lnSpc>
              <a:buClr>
                <a:srgbClr val="F00000"/>
              </a:buClr>
              <a:buChar char="•"/>
              <a:tabLst>
                <a:tab pos="728345" algn="l"/>
              </a:tabLst>
            </a:pPr>
            <a:r>
              <a:rPr sz="2750" spc="-320" dirty="0">
                <a:latin typeface="Arial"/>
                <a:cs typeface="Arial"/>
              </a:rPr>
              <a:t>Peer</a:t>
            </a:r>
            <a:r>
              <a:rPr sz="2750" spc="114" dirty="0">
                <a:latin typeface="Arial"/>
                <a:cs typeface="Arial"/>
              </a:rPr>
              <a:t> </a:t>
            </a:r>
            <a:r>
              <a:rPr sz="2750" spc="-204" dirty="0">
                <a:latin typeface="Arial"/>
                <a:cs typeface="Arial"/>
              </a:rPr>
              <a:t>Endpoint</a:t>
            </a:r>
            <a:r>
              <a:rPr sz="2750" spc="15" dirty="0">
                <a:latin typeface="Arial"/>
                <a:cs typeface="Arial"/>
              </a:rPr>
              <a:t> </a:t>
            </a:r>
            <a:r>
              <a:rPr sz="2750" spc="-200" dirty="0">
                <a:latin typeface="Arial"/>
                <a:cs typeface="Arial"/>
              </a:rPr>
              <a:t>Protocol</a:t>
            </a:r>
            <a:r>
              <a:rPr sz="2750" spc="90" dirty="0">
                <a:latin typeface="Arial"/>
                <a:cs typeface="Arial"/>
              </a:rPr>
              <a:t> </a:t>
            </a:r>
            <a:r>
              <a:rPr sz="2750" spc="-310" dirty="0">
                <a:latin typeface="Arial"/>
                <a:cs typeface="Arial"/>
              </a:rPr>
              <a:t>(PEP).</a:t>
            </a:r>
            <a:endParaRPr sz="2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62883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4079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35"/>
              </a:spcBef>
            </a:pPr>
            <a:r>
              <a:rPr sz="4650" spc="-545" dirty="0">
                <a:solidFill>
                  <a:srgbClr val="3A368C"/>
                </a:solidFill>
                <a:latin typeface="Arial"/>
                <a:cs typeface="Arial"/>
              </a:rPr>
              <a:t>JXTA</a:t>
            </a:r>
            <a:r>
              <a:rPr sz="4650" spc="335" dirty="0">
                <a:solidFill>
                  <a:srgbClr val="3A368C"/>
                </a:solidFill>
                <a:latin typeface="Arial"/>
                <a:cs typeface="Arial"/>
              </a:rPr>
              <a:t> </a:t>
            </a:r>
            <a:r>
              <a:rPr sz="4650" spc="-190" dirty="0">
                <a:solidFill>
                  <a:srgbClr val="38369A"/>
                </a:solidFill>
                <a:latin typeface="Arial"/>
                <a:cs typeface="Arial"/>
              </a:rPr>
              <a:t>Applications</a:t>
            </a:r>
            <a:endParaRPr sz="4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3313" y="1968202"/>
            <a:ext cx="7381875" cy="3227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9250" indent="-336550">
              <a:lnSpc>
                <a:spcPct val="100000"/>
              </a:lnSpc>
              <a:spcBef>
                <a:spcPts val="105"/>
              </a:spcBef>
              <a:buClr>
                <a:srgbClr val="3131C6"/>
              </a:buClr>
              <a:buChar char="•"/>
              <a:tabLst>
                <a:tab pos="349250" algn="l"/>
              </a:tabLst>
            </a:pPr>
            <a:r>
              <a:rPr sz="3800" spc="-170" dirty="0">
                <a:latin typeface="Calibri"/>
                <a:cs typeface="Calibri"/>
              </a:rPr>
              <a:t>Toys</a:t>
            </a:r>
            <a:r>
              <a:rPr sz="3800" spc="-50" dirty="0">
                <a:latin typeface="Calibri"/>
                <a:cs typeface="Calibri"/>
              </a:rPr>
              <a:t> </a:t>
            </a:r>
            <a:r>
              <a:rPr sz="3800" spc="-114" dirty="0">
                <a:latin typeface="Calibri"/>
                <a:cs typeface="Calibri"/>
              </a:rPr>
              <a:t>and</a:t>
            </a:r>
            <a:r>
              <a:rPr sz="3800" spc="-90" dirty="0">
                <a:latin typeface="Calibri"/>
                <a:cs typeface="Calibri"/>
              </a:rPr>
              <a:t> </a:t>
            </a:r>
            <a:r>
              <a:rPr sz="3800" spc="-175" dirty="0">
                <a:latin typeface="Calibri"/>
                <a:cs typeface="Calibri"/>
              </a:rPr>
              <a:t>Tutorials</a:t>
            </a:r>
            <a:r>
              <a:rPr sz="3800" spc="40" dirty="0">
                <a:latin typeface="Calibri"/>
                <a:cs typeface="Calibri"/>
              </a:rPr>
              <a:t> </a:t>
            </a:r>
            <a:r>
              <a:rPr sz="3800" spc="-110" dirty="0">
                <a:latin typeface="Calibri"/>
                <a:cs typeface="Calibri"/>
              </a:rPr>
              <a:t>are</a:t>
            </a:r>
            <a:r>
              <a:rPr sz="3800" spc="-105" dirty="0">
                <a:latin typeface="Calibri"/>
                <a:cs typeface="Calibri"/>
              </a:rPr>
              <a:t> </a:t>
            </a:r>
            <a:r>
              <a:rPr sz="3800" spc="-90" dirty="0">
                <a:latin typeface="Calibri"/>
                <a:cs typeface="Calibri"/>
              </a:rPr>
              <a:t>available.</a:t>
            </a:r>
            <a:endParaRPr sz="3800">
              <a:latin typeface="Calibri"/>
              <a:cs typeface="Calibri"/>
            </a:endParaRPr>
          </a:p>
          <a:p>
            <a:pPr marL="342900" marR="44450" indent="-309880">
              <a:lnSpc>
                <a:spcPts val="3829"/>
              </a:lnSpc>
              <a:spcBef>
                <a:spcPts val="785"/>
              </a:spcBef>
              <a:buClr>
                <a:srgbClr val="3434C8"/>
              </a:buClr>
              <a:buChar char="•"/>
              <a:tabLst>
                <a:tab pos="344805" algn="l"/>
              </a:tabLst>
            </a:pPr>
            <a:r>
              <a:rPr sz="3650" spc="-300" dirty="0">
                <a:latin typeface="Arial"/>
                <a:cs typeface="Arial"/>
              </a:rPr>
              <a:t>Development</a:t>
            </a:r>
            <a:r>
              <a:rPr sz="3650" spc="240" dirty="0">
                <a:latin typeface="Arial"/>
                <a:cs typeface="Arial"/>
              </a:rPr>
              <a:t> </a:t>
            </a:r>
            <a:r>
              <a:rPr sz="3650" spc="-20" dirty="0">
                <a:latin typeface="Arial"/>
                <a:cs typeface="Arial"/>
              </a:rPr>
              <a:t>of</a:t>
            </a:r>
            <a:r>
              <a:rPr sz="3650" dirty="0">
                <a:latin typeface="Arial"/>
                <a:cs typeface="Arial"/>
              </a:rPr>
              <a:t> </a:t>
            </a:r>
            <a:r>
              <a:rPr sz="3650" spc="-305" dirty="0">
                <a:latin typeface="Arial"/>
                <a:cs typeface="Arial"/>
              </a:rPr>
              <a:t>services</a:t>
            </a:r>
            <a:r>
              <a:rPr sz="3650" spc="55" dirty="0">
                <a:latin typeface="Arial"/>
                <a:cs typeface="Arial"/>
              </a:rPr>
              <a:t> </a:t>
            </a:r>
            <a:r>
              <a:rPr sz="3650" spc="-390" dirty="0">
                <a:latin typeface="Arial"/>
                <a:cs typeface="Arial"/>
              </a:rPr>
              <a:t>comes</a:t>
            </a:r>
            <a:r>
              <a:rPr sz="3650" spc="185" dirty="0">
                <a:latin typeface="Arial"/>
                <a:cs typeface="Arial"/>
              </a:rPr>
              <a:t> </a:t>
            </a:r>
            <a:r>
              <a:rPr sz="3650" spc="-10" dirty="0">
                <a:latin typeface="Arial"/>
                <a:cs typeface="Arial"/>
              </a:rPr>
              <a:t>first, 	</a:t>
            </a:r>
            <a:r>
              <a:rPr sz="3650" spc="-260" dirty="0">
                <a:latin typeface="Arial"/>
                <a:cs typeface="Arial"/>
              </a:rPr>
              <a:t>applications</a:t>
            </a:r>
            <a:r>
              <a:rPr sz="3650" spc="405" dirty="0">
                <a:latin typeface="Arial"/>
                <a:cs typeface="Arial"/>
              </a:rPr>
              <a:t> </a:t>
            </a:r>
            <a:r>
              <a:rPr sz="3650" spc="-110" dirty="0">
                <a:latin typeface="Arial"/>
                <a:cs typeface="Arial"/>
              </a:rPr>
              <a:t>will</a:t>
            </a:r>
            <a:r>
              <a:rPr sz="3650" spc="20" dirty="0">
                <a:latin typeface="Arial"/>
                <a:cs typeface="Arial"/>
              </a:rPr>
              <a:t> </a:t>
            </a:r>
            <a:r>
              <a:rPr sz="3650" spc="-375" dirty="0">
                <a:latin typeface="Arial"/>
                <a:cs typeface="Arial"/>
              </a:rPr>
              <a:t>become</a:t>
            </a:r>
            <a:r>
              <a:rPr sz="3650" spc="190" dirty="0">
                <a:latin typeface="Arial"/>
                <a:cs typeface="Arial"/>
              </a:rPr>
              <a:t> </a:t>
            </a:r>
            <a:r>
              <a:rPr sz="3650" spc="-355" dirty="0">
                <a:latin typeface="Arial"/>
                <a:cs typeface="Arial"/>
              </a:rPr>
              <a:t>common</a:t>
            </a:r>
            <a:r>
              <a:rPr sz="3650" spc="150" dirty="0">
                <a:latin typeface="Arial"/>
                <a:cs typeface="Arial"/>
              </a:rPr>
              <a:t> </a:t>
            </a:r>
            <a:r>
              <a:rPr sz="3650" spc="-275" dirty="0">
                <a:latin typeface="Arial"/>
                <a:cs typeface="Arial"/>
              </a:rPr>
              <a:t>later.</a:t>
            </a:r>
            <a:endParaRPr sz="3650">
              <a:latin typeface="Arial"/>
              <a:cs typeface="Arial"/>
            </a:endParaRPr>
          </a:p>
          <a:p>
            <a:pPr marL="351790" marR="5080" indent="-316230">
              <a:lnSpc>
                <a:spcPts val="3829"/>
              </a:lnSpc>
              <a:spcBef>
                <a:spcPts val="810"/>
              </a:spcBef>
              <a:buClr>
                <a:srgbClr val="3834CA"/>
              </a:buClr>
              <a:buChar char="•"/>
              <a:tabLst>
                <a:tab pos="351790" algn="l"/>
              </a:tabLst>
            </a:pPr>
            <a:r>
              <a:rPr sz="3300" dirty="0">
                <a:latin typeface="Arial"/>
                <a:cs typeface="Arial"/>
              </a:rPr>
              <a:t>At</a:t>
            </a:r>
            <a:r>
              <a:rPr sz="3300" spc="-120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a</a:t>
            </a:r>
            <a:r>
              <a:rPr sz="3300" spc="-100" dirty="0">
                <a:latin typeface="Arial"/>
                <a:cs typeface="Arial"/>
              </a:rPr>
              <a:t> </a:t>
            </a:r>
            <a:r>
              <a:rPr sz="3300" spc="-95" dirty="0">
                <a:latin typeface="Arial"/>
                <a:cs typeface="Arial"/>
              </a:rPr>
              <a:t>conference</a:t>
            </a:r>
            <a:r>
              <a:rPr sz="3300" spc="155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in</a:t>
            </a:r>
            <a:r>
              <a:rPr sz="3300" spc="-170" dirty="0">
                <a:latin typeface="Arial"/>
                <a:cs typeface="Arial"/>
              </a:rPr>
              <a:t> </a:t>
            </a:r>
            <a:r>
              <a:rPr sz="3300" spc="-145" dirty="0">
                <a:latin typeface="Arial"/>
                <a:cs typeface="Arial"/>
              </a:rPr>
              <a:t>December,</a:t>
            </a:r>
            <a:r>
              <a:rPr sz="3300" spc="55" dirty="0">
                <a:latin typeface="Arial"/>
                <a:cs typeface="Arial"/>
              </a:rPr>
              <a:t> </a:t>
            </a:r>
            <a:r>
              <a:rPr sz="3300" spc="-25" dirty="0">
                <a:latin typeface="Arial"/>
                <a:cs typeface="Arial"/>
              </a:rPr>
              <a:t>Sun </a:t>
            </a:r>
            <a:r>
              <a:rPr sz="3300" spc="-75" dirty="0">
                <a:latin typeface="Arial"/>
                <a:cs typeface="Arial"/>
              </a:rPr>
              <a:t>presenters</a:t>
            </a:r>
            <a:r>
              <a:rPr sz="3300" spc="25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had</a:t>
            </a:r>
            <a:r>
              <a:rPr sz="3300" spc="-105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no</a:t>
            </a:r>
            <a:r>
              <a:rPr sz="3300" spc="-155" dirty="0">
                <a:latin typeface="Arial"/>
                <a:cs typeface="Arial"/>
              </a:rPr>
              <a:t> </a:t>
            </a:r>
            <a:r>
              <a:rPr sz="3300" spc="-70" dirty="0">
                <a:latin typeface="Arial"/>
                <a:cs typeface="Arial"/>
              </a:rPr>
              <a:t>knowledge</a:t>
            </a:r>
            <a:r>
              <a:rPr sz="3300" spc="25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of</a:t>
            </a:r>
            <a:r>
              <a:rPr sz="3300" spc="-110" dirty="0">
                <a:latin typeface="Arial"/>
                <a:cs typeface="Arial"/>
              </a:rPr>
              <a:t> </a:t>
            </a:r>
            <a:r>
              <a:rPr sz="3300" spc="-25" dirty="0">
                <a:latin typeface="Arial"/>
                <a:cs typeface="Arial"/>
              </a:rPr>
              <a:t>any </a:t>
            </a:r>
            <a:r>
              <a:rPr sz="3300" spc="-80" dirty="0">
                <a:latin typeface="Arial"/>
                <a:cs typeface="Arial"/>
              </a:rPr>
              <a:t>real-</a:t>
            </a:r>
            <a:r>
              <a:rPr sz="3300" dirty="0">
                <a:latin typeface="Arial"/>
                <a:cs typeface="Arial"/>
              </a:rPr>
              <a:t>world</a:t>
            </a:r>
            <a:r>
              <a:rPr sz="3300" spc="35" dirty="0">
                <a:latin typeface="Arial"/>
                <a:cs typeface="Arial"/>
              </a:rPr>
              <a:t> </a:t>
            </a:r>
            <a:r>
              <a:rPr sz="3300" spc="-370" dirty="0">
                <a:latin typeface="Arial"/>
                <a:cs typeface="Arial"/>
              </a:rPr>
              <a:t>JXTA</a:t>
            </a:r>
            <a:r>
              <a:rPr sz="3300" spc="140" dirty="0">
                <a:latin typeface="Arial"/>
                <a:cs typeface="Arial"/>
              </a:rPr>
              <a:t> </a:t>
            </a:r>
            <a:r>
              <a:rPr sz="3300" spc="-70" dirty="0">
                <a:latin typeface="Arial"/>
                <a:cs typeface="Arial"/>
              </a:rPr>
              <a:t>applications</a:t>
            </a:r>
            <a:r>
              <a:rPr sz="3300" spc="155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in</a:t>
            </a:r>
            <a:r>
              <a:rPr sz="3300" spc="-150" dirty="0">
                <a:latin typeface="Arial"/>
                <a:cs typeface="Arial"/>
              </a:rPr>
              <a:t> </a:t>
            </a:r>
            <a:r>
              <a:rPr sz="3300" spc="-65" dirty="0">
                <a:latin typeface="Arial"/>
                <a:cs typeface="Arial"/>
              </a:rPr>
              <a:t>use</a:t>
            </a:r>
            <a:r>
              <a:rPr sz="3300" spc="-55" dirty="0">
                <a:latin typeface="Arial"/>
                <a:cs typeface="Arial"/>
              </a:rPr>
              <a:t> </a:t>
            </a:r>
            <a:r>
              <a:rPr sz="3300" spc="-20" dirty="0">
                <a:latin typeface="Arial"/>
                <a:cs typeface="Arial"/>
              </a:rPr>
              <a:t>yet.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62883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1558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20"/>
              </a:spcBef>
            </a:pPr>
            <a:r>
              <a:rPr sz="5300" spc="-105" dirty="0">
                <a:solidFill>
                  <a:srgbClr val="383687"/>
                </a:solidFill>
              </a:rPr>
              <a:t>JXTA</a:t>
            </a:r>
            <a:r>
              <a:rPr sz="5300" spc="-185" dirty="0">
                <a:solidFill>
                  <a:srgbClr val="383687"/>
                </a:solidFill>
              </a:rPr>
              <a:t> </a:t>
            </a:r>
            <a:r>
              <a:rPr sz="5300" spc="-375" dirty="0">
                <a:solidFill>
                  <a:srgbClr val="363682"/>
                </a:solidFill>
              </a:rPr>
              <a:t>Securi@</a:t>
            </a:r>
            <a:endParaRPr sz="5300"/>
          </a:p>
        </p:txBody>
      </p:sp>
      <p:sp>
        <p:nvSpPr>
          <p:cNvPr id="4" name="object 4"/>
          <p:cNvSpPr txBox="1"/>
          <p:nvPr/>
        </p:nvSpPr>
        <p:spPr>
          <a:xfrm>
            <a:off x="1280243" y="1986061"/>
            <a:ext cx="7492365" cy="38163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4485" indent="-311785">
              <a:lnSpc>
                <a:spcPts val="3445"/>
              </a:lnSpc>
              <a:spcBef>
                <a:spcPts val="130"/>
              </a:spcBef>
              <a:buClr>
                <a:srgbClr val="4848DA"/>
              </a:buClr>
              <a:buChar char="•"/>
              <a:tabLst>
                <a:tab pos="324485" algn="l"/>
              </a:tabLst>
            </a:pPr>
            <a:r>
              <a:rPr sz="2900" spc="-30" dirty="0">
                <a:latin typeface="Arial"/>
                <a:cs typeface="Arial"/>
              </a:rPr>
              <a:t>Credentials</a:t>
            </a:r>
            <a:endParaRPr sz="2900">
              <a:latin typeface="Arial"/>
              <a:cs typeface="Arial"/>
            </a:endParaRPr>
          </a:p>
          <a:p>
            <a:pPr marL="728345" marR="1114425" lvl="1" indent="-265430">
              <a:lnSpc>
                <a:spcPct val="79000"/>
              </a:lnSpc>
              <a:spcBef>
                <a:spcPts val="545"/>
              </a:spcBef>
              <a:buClr>
                <a:srgbClr val="F40A05"/>
              </a:buClr>
              <a:buChar char="•"/>
              <a:tabLst>
                <a:tab pos="735965" algn="l"/>
              </a:tabLst>
            </a:pPr>
            <a:r>
              <a:rPr sz="2300" dirty="0">
                <a:latin typeface="Arial"/>
                <a:cs typeface="Arial"/>
              </a:rPr>
              <a:t>Just</a:t>
            </a:r>
            <a:r>
              <a:rPr sz="2300" spc="-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like</a:t>
            </a:r>
            <a:r>
              <a:rPr sz="2300" spc="5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in</a:t>
            </a:r>
            <a:r>
              <a:rPr sz="2300" spc="15" dirty="0">
                <a:latin typeface="Arial"/>
                <a:cs typeface="Arial"/>
              </a:rPr>
              <a:t> </a:t>
            </a:r>
            <a:r>
              <a:rPr sz="2300" spc="-335" dirty="0">
                <a:latin typeface="Arial"/>
                <a:cs typeface="Arial"/>
              </a:rPr>
              <a:t>PGP,</a:t>
            </a:r>
            <a:r>
              <a:rPr sz="2300" spc="17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the</a:t>
            </a:r>
            <a:r>
              <a:rPr sz="2300" spc="-55" dirty="0">
                <a:latin typeface="Arial"/>
                <a:cs typeface="Arial"/>
              </a:rPr>
              <a:t> </a:t>
            </a:r>
            <a:r>
              <a:rPr sz="2300" spc="-260" dirty="0">
                <a:latin typeface="Arial"/>
                <a:cs typeface="Arial"/>
              </a:rPr>
              <a:t>JXTA</a:t>
            </a:r>
            <a:r>
              <a:rPr sz="2300" spc="1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network</a:t>
            </a:r>
            <a:r>
              <a:rPr sz="2300" spc="7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is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spc="-25" dirty="0">
                <a:latin typeface="Arial"/>
                <a:cs typeface="Arial"/>
              </a:rPr>
              <a:t>used</a:t>
            </a:r>
            <a:r>
              <a:rPr sz="2300" spc="70" dirty="0">
                <a:latin typeface="Arial"/>
                <a:cs typeface="Arial"/>
              </a:rPr>
              <a:t> </a:t>
            </a:r>
            <a:r>
              <a:rPr sz="2300" spc="-25" dirty="0">
                <a:latin typeface="Arial"/>
                <a:cs typeface="Arial"/>
              </a:rPr>
              <a:t>to 	</a:t>
            </a:r>
            <a:r>
              <a:rPr sz="2300" spc="-45" dirty="0">
                <a:latin typeface="Arial"/>
                <a:cs typeface="Arial"/>
              </a:rPr>
              <a:t>exchange</a:t>
            </a:r>
            <a:r>
              <a:rPr sz="2300" spc="55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public</a:t>
            </a:r>
            <a:r>
              <a:rPr sz="2300" spc="5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keys</a:t>
            </a:r>
            <a:r>
              <a:rPr sz="2300" spc="-40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among</a:t>
            </a:r>
            <a:r>
              <a:rPr sz="2300" spc="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its</a:t>
            </a:r>
            <a:r>
              <a:rPr sz="2300" spc="-55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members.</a:t>
            </a:r>
            <a:endParaRPr sz="2300">
              <a:latin typeface="Arial"/>
              <a:cs typeface="Arial"/>
            </a:endParaRPr>
          </a:p>
          <a:p>
            <a:pPr marL="733425" marR="174625" lvl="1" indent="-269875">
              <a:lnSpc>
                <a:spcPts val="2180"/>
              </a:lnSpc>
              <a:spcBef>
                <a:spcPts val="395"/>
              </a:spcBef>
              <a:buClr>
                <a:srgbClr val="F20C03"/>
              </a:buClr>
              <a:buChar char="•"/>
              <a:tabLst>
                <a:tab pos="737235" algn="l"/>
              </a:tabLst>
            </a:pPr>
            <a:r>
              <a:rPr sz="2150" dirty="0">
                <a:latin typeface="Arial"/>
                <a:cs typeface="Arial"/>
              </a:rPr>
              <a:t>Peer</a:t>
            </a:r>
            <a:r>
              <a:rPr sz="2150" spc="165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group</a:t>
            </a:r>
            <a:r>
              <a:rPr sz="2150" spc="345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policy</a:t>
            </a:r>
            <a:r>
              <a:rPr sz="2150" spc="320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may</a:t>
            </a:r>
            <a:r>
              <a:rPr sz="2150" spc="290" dirty="0">
                <a:latin typeface="Arial"/>
                <a:cs typeface="Arial"/>
              </a:rPr>
              <a:t> </a:t>
            </a:r>
            <a:r>
              <a:rPr sz="2150" spc="65" dirty="0">
                <a:latin typeface="Arial"/>
                <a:cs typeface="Arial"/>
              </a:rPr>
              <a:t>permit</a:t>
            </a:r>
            <a:r>
              <a:rPr sz="2150" spc="204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some</a:t>
            </a:r>
            <a:r>
              <a:rPr sz="2150" spc="254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members</a:t>
            </a:r>
            <a:r>
              <a:rPr sz="2150" spc="270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to</a:t>
            </a:r>
            <a:r>
              <a:rPr sz="2150" spc="254" dirty="0">
                <a:latin typeface="Arial"/>
                <a:cs typeface="Arial"/>
              </a:rPr>
              <a:t> </a:t>
            </a:r>
            <a:r>
              <a:rPr sz="2150" spc="-25" dirty="0">
                <a:latin typeface="Arial"/>
                <a:cs typeface="Arial"/>
              </a:rPr>
              <a:t>be 	</a:t>
            </a:r>
            <a:r>
              <a:rPr sz="2150" dirty="0">
                <a:latin typeface="Arial"/>
                <a:cs typeface="Arial"/>
              </a:rPr>
              <a:t>more</a:t>
            </a:r>
            <a:r>
              <a:rPr sz="2150" spc="325" dirty="0">
                <a:latin typeface="Arial"/>
                <a:cs typeface="Arial"/>
              </a:rPr>
              <a:t> </a:t>
            </a:r>
            <a:r>
              <a:rPr sz="2150" spc="50" dirty="0">
                <a:latin typeface="Arial"/>
                <a:cs typeface="Arial"/>
              </a:rPr>
              <a:t>trusted</a:t>
            </a:r>
            <a:r>
              <a:rPr sz="2150" spc="320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and</a:t>
            </a:r>
            <a:r>
              <a:rPr sz="2150" spc="300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thus</a:t>
            </a:r>
            <a:r>
              <a:rPr sz="2150" spc="355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more</a:t>
            </a:r>
            <a:r>
              <a:rPr sz="2150" spc="254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privileged</a:t>
            </a:r>
            <a:r>
              <a:rPr sz="2150" spc="385" dirty="0">
                <a:latin typeface="Arial"/>
                <a:cs typeface="Arial"/>
              </a:rPr>
              <a:t> </a:t>
            </a:r>
            <a:r>
              <a:rPr sz="2150" spc="55" dirty="0">
                <a:latin typeface="Arial"/>
                <a:cs typeface="Arial"/>
              </a:rPr>
              <a:t>than</a:t>
            </a:r>
            <a:r>
              <a:rPr sz="2150" spc="275" dirty="0">
                <a:latin typeface="Arial"/>
                <a:cs typeface="Arial"/>
              </a:rPr>
              <a:t> </a:t>
            </a:r>
            <a:r>
              <a:rPr sz="2150" spc="-10" dirty="0">
                <a:latin typeface="Arial"/>
                <a:cs typeface="Arial"/>
              </a:rPr>
              <a:t>others.</a:t>
            </a:r>
            <a:endParaRPr sz="2150">
              <a:latin typeface="Arial"/>
              <a:cs typeface="Arial"/>
            </a:endParaRPr>
          </a:p>
          <a:p>
            <a:pPr marL="733425" marR="5080" lvl="1" indent="-269875">
              <a:lnSpc>
                <a:spcPct val="83800"/>
              </a:lnSpc>
              <a:spcBef>
                <a:spcPts val="470"/>
              </a:spcBef>
              <a:buClr>
                <a:srgbClr val="FD0A0A"/>
              </a:buClr>
              <a:buChar char="•"/>
              <a:tabLst>
                <a:tab pos="736600" algn="l"/>
              </a:tabLst>
            </a:pPr>
            <a:r>
              <a:rPr sz="2150" dirty="0">
                <a:latin typeface="Arial"/>
                <a:cs typeface="Arial"/>
              </a:rPr>
              <a:t>Plug</a:t>
            </a:r>
            <a:r>
              <a:rPr sz="2150" spc="180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in</a:t>
            </a:r>
            <a:r>
              <a:rPr sz="2150" spc="110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modules</a:t>
            </a:r>
            <a:r>
              <a:rPr sz="2150" spc="260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allow</a:t>
            </a:r>
            <a:r>
              <a:rPr sz="2150" spc="175" dirty="0">
                <a:latin typeface="Arial"/>
                <a:cs typeface="Arial"/>
              </a:rPr>
              <a:t> </a:t>
            </a:r>
            <a:r>
              <a:rPr sz="2150" spc="-95" dirty="0">
                <a:latin typeface="Arial"/>
                <a:cs typeface="Arial"/>
              </a:rPr>
              <a:t>JXTA</a:t>
            </a:r>
            <a:r>
              <a:rPr sz="2150" spc="204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policies</a:t>
            </a:r>
            <a:r>
              <a:rPr sz="2150" spc="220" dirty="0">
                <a:latin typeface="Arial"/>
                <a:cs typeface="Arial"/>
              </a:rPr>
              <a:t> </a:t>
            </a:r>
            <a:r>
              <a:rPr sz="2150" spc="75" dirty="0">
                <a:latin typeface="Arial"/>
                <a:cs typeface="Arial"/>
              </a:rPr>
              <a:t>that</a:t>
            </a:r>
            <a:r>
              <a:rPr sz="2150" spc="145" dirty="0">
                <a:latin typeface="Arial"/>
                <a:cs typeface="Arial"/>
              </a:rPr>
              <a:t> </a:t>
            </a:r>
            <a:r>
              <a:rPr sz="2150" spc="-10" dirty="0">
                <a:latin typeface="Arial"/>
                <a:cs typeface="Arial"/>
              </a:rPr>
              <a:t>require 	</a:t>
            </a:r>
            <a:r>
              <a:rPr sz="2150" dirty="0">
                <a:latin typeface="Arial"/>
                <a:cs typeface="Arial"/>
              </a:rPr>
              <a:t>authorization</a:t>
            </a:r>
            <a:r>
              <a:rPr sz="2150" spc="75" dirty="0">
                <a:latin typeface="Arial"/>
                <a:cs typeface="Arial"/>
              </a:rPr>
              <a:t>  </a:t>
            </a:r>
            <a:r>
              <a:rPr sz="2150" dirty="0">
                <a:latin typeface="Arial"/>
                <a:cs typeface="Arial"/>
              </a:rPr>
              <a:t>using</a:t>
            </a:r>
            <a:r>
              <a:rPr sz="2150" spc="15" dirty="0">
                <a:latin typeface="Arial"/>
                <a:cs typeface="Arial"/>
              </a:rPr>
              <a:t>  </a:t>
            </a:r>
            <a:r>
              <a:rPr sz="2150" dirty="0">
                <a:latin typeface="Arial"/>
                <a:cs typeface="Arial"/>
              </a:rPr>
              <a:t>well-known</a:t>
            </a:r>
            <a:r>
              <a:rPr sz="2150" spc="-30" dirty="0">
                <a:latin typeface="Arial"/>
                <a:cs typeface="Arial"/>
              </a:rPr>
              <a:t>  </a:t>
            </a:r>
            <a:r>
              <a:rPr sz="2150" dirty="0">
                <a:latin typeface="Arial"/>
                <a:cs typeface="Arial"/>
              </a:rPr>
              <a:t>certificate</a:t>
            </a:r>
            <a:r>
              <a:rPr sz="2150" spc="-15" dirty="0">
                <a:latin typeface="Arial"/>
                <a:cs typeface="Arial"/>
              </a:rPr>
              <a:t>  </a:t>
            </a:r>
            <a:r>
              <a:rPr sz="2150" spc="-10" dirty="0">
                <a:latin typeface="Arial"/>
                <a:cs typeface="Arial"/>
              </a:rPr>
              <a:t>authorities 	</a:t>
            </a:r>
            <a:r>
              <a:rPr sz="2150" dirty="0">
                <a:latin typeface="Arial"/>
                <a:cs typeface="Arial"/>
              </a:rPr>
              <a:t>(exchange</a:t>
            </a:r>
            <a:r>
              <a:rPr sz="2150" spc="220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of</a:t>
            </a:r>
            <a:r>
              <a:rPr sz="2150" spc="190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X509v3</a:t>
            </a:r>
            <a:r>
              <a:rPr sz="2150" spc="305" dirty="0">
                <a:latin typeface="Arial"/>
                <a:cs typeface="Arial"/>
              </a:rPr>
              <a:t> </a:t>
            </a:r>
            <a:r>
              <a:rPr sz="2150" spc="-55" dirty="0">
                <a:latin typeface="Arial"/>
                <a:cs typeface="Arial"/>
              </a:rPr>
              <a:t>CA</a:t>
            </a:r>
            <a:r>
              <a:rPr sz="2150" spc="250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signed</a:t>
            </a:r>
            <a:r>
              <a:rPr sz="2150" spc="160" dirty="0">
                <a:latin typeface="Arial"/>
                <a:cs typeface="Arial"/>
              </a:rPr>
              <a:t> </a:t>
            </a:r>
            <a:r>
              <a:rPr sz="2150" spc="45" dirty="0">
                <a:latin typeface="Arial"/>
                <a:cs typeface="Arial"/>
              </a:rPr>
              <a:t>certificates).</a:t>
            </a:r>
            <a:endParaRPr sz="2150">
              <a:latin typeface="Arial"/>
              <a:cs typeface="Arial"/>
            </a:endParaRPr>
          </a:p>
          <a:p>
            <a:pPr marL="329565" marR="78105" indent="-316865">
              <a:lnSpc>
                <a:spcPts val="3020"/>
              </a:lnSpc>
              <a:spcBef>
                <a:spcPts val="705"/>
              </a:spcBef>
              <a:buChar char="•"/>
              <a:tabLst>
                <a:tab pos="329565" algn="l"/>
                <a:tab pos="331470" algn="l"/>
              </a:tabLst>
            </a:pPr>
            <a:r>
              <a:rPr sz="2800" dirty="0">
                <a:solidFill>
                  <a:srgbClr val="3F3FD3"/>
                </a:solidFill>
                <a:latin typeface="Arial"/>
                <a:cs typeface="Arial"/>
              </a:rPr>
              <a:t>	</a:t>
            </a:r>
            <a:r>
              <a:rPr sz="2800" spc="-30" dirty="0">
                <a:latin typeface="Arial"/>
                <a:cs typeface="Arial"/>
              </a:rPr>
              <a:t>For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high-</a:t>
            </a:r>
            <a:r>
              <a:rPr sz="2800" dirty="0">
                <a:latin typeface="Arial"/>
                <a:cs typeface="Arial"/>
              </a:rPr>
              <a:t>level </a:t>
            </a:r>
            <a:r>
              <a:rPr sz="2800" spc="-105" dirty="0">
                <a:latin typeface="Arial"/>
                <a:cs typeface="Arial"/>
              </a:rPr>
              <a:t>securit:y</a:t>
            </a:r>
            <a:r>
              <a:rPr sz="2800" spc="-10" dirty="0">
                <a:latin typeface="Arial"/>
                <a:cs typeface="Arial"/>
              </a:rPr>
              <a:t> requirements </a:t>
            </a:r>
            <a:r>
              <a:rPr sz="2800" dirty="0">
                <a:latin typeface="Arial"/>
                <a:cs typeface="Arial"/>
              </a:rPr>
              <a:t>like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end-</a:t>
            </a:r>
            <a:r>
              <a:rPr sz="2900" spc="-45" dirty="0">
                <a:latin typeface="Arial"/>
                <a:cs typeface="Arial"/>
              </a:rPr>
              <a:t>to-</a:t>
            </a:r>
            <a:r>
              <a:rPr sz="2900" dirty="0">
                <a:latin typeface="Arial"/>
                <a:cs typeface="Arial"/>
              </a:rPr>
              <a:t>end</a:t>
            </a:r>
            <a:r>
              <a:rPr sz="2900" spc="-100" dirty="0">
                <a:latin typeface="Arial"/>
                <a:cs typeface="Arial"/>
              </a:rPr>
              <a:t> </a:t>
            </a:r>
            <a:r>
              <a:rPr sz="2900" spc="-30" dirty="0">
                <a:latin typeface="Arial"/>
                <a:cs typeface="Arial"/>
              </a:rPr>
              <a:t>encryption,</a:t>
            </a:r>
            <a:r>
              <a:rPr sz="2900" spc="95" dirty="0">
                <a:latin typeface="Arial"/>
                <a:cs typeface="Arial"/>
              </a:rPr>
              <a:t> </a:t>
            </a:r>
            <a:r>
              <a:rPr sz="2900" spc="-275" dirty="0">
                <a:latin typeface="Arial"/>
                <a:cs typeface="Arial"/>
              </a:rPr>
              <a:t>a</a:t>
            </a:r>
            <a:r>
              <a:rPr sz="2900" spc="75" dirty="0">
                <a:latin typeface="Arial"/>
                <a:cs typeface="Arial"/>
              </a:rPr>
              <a:t> </a:t>
            </a:r>
            <a:r>
              <a:rPr sz="2900" spc="-55" dirty="0">
                <a:latin typeface="Arial"/>
                <a:cs typeface="Arial"/>
              </a:rPr>
              <a:t>security</a:t>
            </a:r>
            <a:r>
              <a:rPr sz="2900" spc="155" dirty="0">
                <a:latin typeface="Arial"/>
                <a:cs typeface="Arial"/>
              </a:rPr>
              <a:t> </a:t>
            </a:r>
            <a:r>
              <a:rPr sz="2900" spc="-10" dirty="0">
                <a:latin typeface="Arial"/>
                <a:cs typeface="Arial"/>
              </a:rPr>
              <a:t>framework </a:t>
            </a:r>
            <a:r>
              <a:rPr sz="2900" spc="-110" dirty="0">
                <a:latin typeface="Arial"/>
                <a:cs typeface="Arial"/>
              </a:rPr>
              <a:t>needs</a:t>
            </a:r>
            <a:r>
              <a:rPr sz="2900" spc="45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to</a:t>
            </a:r>
            <a:r>
              <a:rPr sz="2900" spc="-60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be</a:t>
            </a:r>
            <a:r>
              <a:rPr sz="2900" spc="-45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built</a:t>
            </a:r>
            <a:r>
              <a:rPr sz="2900" spc="20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on</a:t>
            </a:r>
            <a:r>
              <a:rPr sz="2900" spc="-30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top</a:t>
            </a:r>
            <a:r>
              <a:rPr sz="2900" spc="-75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of</a:t>
            </a:r>
            <a:r>
              <a:rPr sz="2900" spc="-80" dirty="0">
                <a:latin typeface="Arial"/>
                <a:cs typeface="Arial"/>
              </a:rPr>
              <a:t> </a:t>
            </a:r>
            <a:r>
              <a:rPr sz="2900" spc="-270" dirty="0">
                <a:latin typeface="Arial"/>
                <a:cs typeface="Arial"/>
              </a:rPr>
              <a:t>JXTA.</a:t>
            </a:r>
            <a:endParaRPr sz="2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695" y="991195"/>
            <a:ext cx="3080741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7116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40"/>
              </a:spcBef>
            </a:pPr>
            <a:r>
              <a:rPr sz="4550" spc="-505" dirty="0">
                <a:solidFill>
                  <a:srgbClr val="333682"/>
                </a:solidFill>
                <a:latin typeface="Arial"/>
                <a:cs typeface="Arial"/>
              </a:rPr>
              <a:t>JXTA</a:t>
            </a:r>
            <a:r>
              <a:rPr sz="4550" spc="190" dirty="0">
                <a:solidFill>
                  <a:srgbClr val="333682"/>
                </a:solidFill>
                <a:latin typeface="Arial"/>
                <a:cs typeface="Arial"/>
              </a:rPr>
              <a:t> </a:t>
            </a:r>
            <a:r>
              <a:rPr sz="4550" spc="-100" dirty="0">
                <a:solidFill>
                  <a:srgbClr val="36338E"/>
                </a:solidFill>
                <a:latin typeface="Arial"/>
                <a:cs typeface="Arial"/>
              </a:rPr>
              <a:t>Firewall</a:t>
            </a:r>
            <a:r>
              <a:rPr sz="4550" spc="-220" dirty="0">
                <a:solidFill>
                  <a:srgbClr val="36338E"/>
                </a:solidFill>
                <a:latin typeface="Arial"/>
                <a:cs typeface="Arial"/>
              </a:rPr>
              <a:t> </a:t>
            </a:r>
            <a:r>
              <a:rPr sz="4550" spc="-105" dirty="0">
                <a:solidFill>
                  <a:srgbClr val="3D3489"/>
                </a:solidFill>
                <a:latin typeface="Arial"/>
                <a:cs typeface="Arial"/>
              </a:rPr>
              <a:t>Routing</a:t>
            </a:r>
            <a:r>
              <a:rPr sz="4550" spc="70" dirty="0">
                <a:solidFill>
                  <a:srgbClr val="3D3489"/>
                </a:solidFill>
                <a:latin typeface="Arial"/>
                <a:cs typeface="Arial"/>
              </a:rPr>
              <a:t> </a:t>
            </a:r>
            <a:r>
              <a:rPr sz="4550" spc="-170" dirty="0">
                <a:solidFill>
                  <a:srgbClr val="3B3395"/>
                </a:solidFill>
                <a:latin typeface="Arial"/>
                <a:cs typeface="Arial"/>
              </a:rPr>
              <a:t>Services</a:t>
            </a:r>
            <a:endParaRPr sz="4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5650" y="1956295"/>
            <a:ext cx="7383145" cy="3825875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342900" marR="5080" indent="-311150">
              <a:lnSpc>
                <a:spcPct val="79500"/>
              </a:lnSpc>
              <a:spcBef>
                <a:spcPts val="975"/>
              </a:spcBef>
              <a:buChar char="•"/>
              <a:tabLst>
                <a:tab pos="342900" algn="l"/>
                <a:tab pos="353695" algn="l"/>
              </a:tabLst>
            </a:pPr>
            <a:r>
              <a:rPr sz="3500" dirty="0">
                <a:solidFill>
                  <a:srgbClr val="3331CF"/>
                </a:solidFill>
                <a:latin typeface="Arial"/>
                <a:cs typeface="Arial"/>
              </a:rPr>
              <a:t>	</a:t>
            </a:r>
            <a:r>
              <a:rPr sz="3500" spc="-305" dirty="0">
                <a:latin typeface="Arial"/>
                <a:cs typeface="Arial"/>
              </a:rPr>
              <a:t>When</a:t>
            </a:r>
            <a:r>
              <a:rPr sz="3500" spc="60" dirty="0">
                <a:latin typeface="Arial"/>
                <a:cs typeface="Arial"/>
              </a:rPr>
              <a:t> </a:t>
            </a:r>
            <a:r>
              <a:rPr sz="3500" spc="-355" dirty="0">
                <a:latin typeface="Arial"/>
                <a:cs typeface="Arial"/>
              </a:rPr>
              <a:t>a</a:t>
            </a:r>
            <a:r>
              <a:rPr sz="3500" spc="110" dirty="0">
                <a:latin typeface="Arial"/>
                <a:cs typeface="Arial"/>
              </a:rPr>
              <a:t> </a:t>
            </a:r>
            <a:r>
              <a:rPr sz="3500" spc="-140" dirty="0">
                <a:latin typeface="Arial"/>
                <a:cs typeface="Arial"/>
              </a:rPr>
              <a:t>peer</a:t>
            </a:r>
            <a:r>
              <a:rPr sz="3500" spc="-105" dirty="0">
                <a:latin typeface="Arial"/>
                <a:cs typeface="Arial"/>
              </a:rPr>
              <a:t> </a:t>
            </a:r>
            <a:r>
              <a:rPr sz="3500" spc="-114" dirty="0">
                <a:latin typeface="Arial"/>
                <a:cs typeface="Arial"/>
              </a:rPr>
              <a:t>joins</a:t>
            </a:r>
            <a:r>
              <a:rPr sz="3500" spc="-125" dirty="0">
                <a:latin typeface="Arial"/>
                <a:cs typeface="Arial"/>
              </a:rPr>
              <a:t> </a:t>
            </a:r>
            <a:r>
              <a:rPr sz="3500" spc="-20" dirty="0">
                <a:latin typeface="Arial"/>
                <a:cs typeface="Arial"/>
              </a:rPr>
              <a:t>the</a:t>
            </a:r>
            <a:r>
              <a:rPr sz="3500" spc="-225" dirty="0">
                <a:latin typeface="Arial"/>
                <a:cs typeface="Arial"/>
              </a:rPr>
              <a:t> </a:t>
            </a:r>
            <a:r>
              <a:rPr sz="3500" spc="-105" dirty="0">
                <a:latin typeface="Arial"/>
                <a:cs typeface="Arial"/>
              </a:rPr>
              <a:t>network</a:t>
            </a:r>
            <a:r>
              <a:rPr sz="3500" spc="-5" dirty="0">
                <a:latin typeface="Arial"/>
                <a:cs typeface="Arial"/>
              </a:rPr>
              <a:t> </a:t>
            </a:r>
            <a:r>
              <a:rPr sz="3500" spc="-20" dirty="0">
                <a:latin typeface="Arial"/>
                <a:cs typeface="Arial"/>
              </a:rPr>
              <a:t>from </a:t>
            </a:r>
            <a:r>
              <a:rPr sz="3650" spc="-280" dirty="0">
                <a:latin typeface="Arial"/>
                <a:cs typeface="Arial"/>
              </a:rPr>
              <a:t>behind</a:t>
            </a:r>
            <a:r>
              <a:rPr sz="3650" spc="65" dirty="0">
                <a:latin typeface="Arial"/>
                <a:cs typeface="Arial"/>
              </a:rPr>
              <a:t> </a:t>
            </a:r>
            <a:r>
              <a:rPr sz="3650" spc="-450" dirty="0">
                <a:latin typeface="Arial"/>
                <a:cs typeface="Arial"/>
              </a:rPr>
              <a:t>a</a:t>
            </a:r>
            <a:r>
              <a:rPr sz="3650" spc="165" dirty="0">
                <a:latin typeface="Arial"/>
                <a:cs typeface="Arial"/>
              </a:rPr>
              <a:t> </a:t>
            </a:r>
            <a:r>
              <a:rPr sz="3650" spc="-160" dirty="0">
                <a:latin typeface="Arial"/>
                <a:cs typeface="Arial"/>
              </a:rPr>
              <a:t>firewall,</a:t>
            </a:r>
            <a:r>
              <a:rPr sz="3650" spc="114" dirty="0">
                <a:latin typeface="Arial"/>
                <a:cs typeface="Arial"/>
              </a:rPr>
              <a:t> </a:t>
            </a:r>
            <a:r>
              <a:rPr sz="3650" dirty="0">
                <a:latin typeface="Arial"/>
                <a:cs typeface="Arial"/>
              </a:rPr>
              <a:t>it</a:t>
            </a:r>
            <a:r>
              <a:rPr sz="3650" spc="-80" dirty="0">
                <a:latin typeface="Arial"/>
                <a:cs typeface="Arial"/>
              </a:rPr>
              <a:t> </a:t>
            </a:r>
            <a:r>
              <a:rPr sz="3650" spc="-360" dirty="0">
                <a:latin typeface="Arial"/>
                <a:cs typeface="Arial"/>
              </a:rPr>
              <a:t>can</a:t>
            </a:r>
            <a:r>
              <a:rPr sz="3650" spc="125" dirty="0">
                <a:latin typeface="Arial"/>
                <a:cs typeface="Arial"/>
              </a:rPr>
              <a:t> </a:t>
            </a:r>
            <a:r>
              <a:rPr sz="3650" spc="-155" dirty="0">
                <a:latin typeface="Arial"/>
                <a:cs typeface="Arial"/>
              </a:rPr>
              <a:t>find</a:t>
            </a:r>
            <a:r>
              <a:rPr sz="3650" spc="-20" dirty="0">
                <a:latin typeface="Arial"/>
                <a:cs typeface="Arial"/>
              </a:rPr>
              <a:t> </a:t>
            </a:r>
            <a:r>
              <a:rPr sz="3650" spc="-85" dirty="0">
                <a:latin typeface="Arial"/>
                <a:cs typeface="Arial"/>
              </a:rPr>
              <a:t>another </a:t>
            </a:r>
            <a:r>
              <a:rPr sz="3600" spc="-290" dirty="0">
                <a:latin typeface="Arial"/>
                <a:cs typeface="Arial"/>
              </a:rPr>
              <a:t>peer</a:t>
            </a:r>
            <a:r>
              <a:rPr sz="3600" spc="70" dirty="0">
                <a:latin typeface="Arial"/>
                <a:cs typeface="Arial"/>
              </a:rPr>
              <a:t> </a:t>
            </a:r>
            <a:r>
              <a:rPr sz="3600" spc="-315" dirty="0">
                <a:latin typeface="Arial"/>
                <a:cs typeface="Arial"/>
              </a:rPr>
              <a:t>who</a:t>
            </a:r>
            <a:r>
              <a:rPr sz="3600" spc="70" dirty="0">
                <a:latin typeface="Arial"/>
                <a:cs typeface="Arial"/>
              </a:rPr>
              <a:t> </a:t>
            </a:r>
            <a:r>
              <a:rPr sz="3600" spc="-105" dirty="0">
                <a:latin typeface="Arial"/>
                <a:cs typeface="Arial"/>
              </a:rPr>
              <a:t>will</a:t>
            </a:r>
            <a:r>
              <a:rPr sz="3600" spc="-60" dirty="0">
                <a:latin typeface="Arial"/>
                <a:cs typeface="Arial"/>
              </a:rPr>
              <a:t> </a:t>
            </a:r>
            <a:r>
              <a:rPr sz="3600" spc="-170" dirty="0">
                <a:latin typeface="Arial"/>
                <a:cs typeface="Arial"/>
              </a:rPr>
              <a:t>perform</a:t>
            </a:r>
            <a:r>
              <a:rPr sz="3600" spc="114" dirty="0">
                <a:latin typeface="Arial"/>
                <a:cs typeface="Arial"/>
              </a:rPr>
              <a:t> </a:t>
            </a:r>
            <a:r>
              <a:rPr sz="3600" spc="-420" dirty="0">
                <a:latin typeface="Arial"/>
                <a:cs typeface="Arial"/>
              </a:rPr>
              <a:t>a</a:t>
            </a:r>
            <a:r>
              <a:rPr sz="3600" spc="120" dirty="0">
                <a:latin typeface="Arial"/>
                <a:cs typeface="Arial"/>
              </a:rPr>
              <a:t> </a:t>
            </a:r>
            <a:r>
              <a:rPr sz="3600" spc="-140" dirty="0">
                <a:latin typeface="Arial"/>
                <a:cs typeface="Arial"/>
              </a:rPr>
              <a:t>routing</a:t>
            </a:r>
            <a:r>
              <a:rPr sz="3600" spc="70" dirty="0">
                <a:latin typeface="Arial"/>
                <a:cs typeface="Arial"/>
              </a:rPr>
              <a:t> </a:t>
            </a:r>
            <a:r>
              <a:rPr sz="3600" spc="-280" dirty="0">
                <a:latin typeface="Arial"/>
                <a:cs typeface="Arial"/>
              </a:rPr>
              <a:t>service </a:t>
            </a:r>
            <a:r>
              <a:rPr sz="3650" dirty="0">
                <a:latin typeface="Arial"/>
                <a:cs typeface="Arial"/>
              </a:rPr>
              <a:t>to</a:t>
            </a:r>
            <a:r>
              <a:rPr sz="3650" spc="-245" dirty="0">
                <a:latin typeface="Arial"/>
                <a:cs typeface="Arial"/>
              </a:rPr>
              <a:t> </a:t>
            </a:r>
            <a:r>
              <a:rPr sz="3650" spc="-350" dirty="0">
                <a:latin typeface="Arial"/>
                <a:cs typeface="Arial"/>
              </a:rPr>
              <a:t>bypass</a:t>
            </a:r>
            <a:r>
              <a:rPr sz="3650" spc="100" dirty="0">
                <a:latin typeface="Arial"/>
                <a:cs typeface="Arial"/>
              </a:rPr>
              <a:t> </a:t>
            </a:r>
            <a:r>
              <a:rPr sz="3650" spc="-140" dirty="0">
                <a:latin typeface="Arial"/>
                <a:cs typeface="Arial"/>
              </a:rPr>
              <a:t>the</a:t>
            </a:r>
            <a:r>
              <a:rPr sz="3650" spc="-70" dirty="0">
                <a:latin typeface="Arial"/>
                <a:cs typeface="Arial"/>
              </a:rPr>
              <a:t> firewall.</a:t>
            </a:r>
            <a:endParaRPr sz="3650">
              <a:latin typeface="Arial"/>
              <a:cs typeface="Arial"/>
            </a:endParaRPr>
          </a:p>
          <a:p>
            <a:pPr marL="342265" indent="-329565">
              <a:lnSpc>
                <a:spcPts val="3765"/>
              </a:lnSpc>
              <a:buClr>
                <a:srgbClr val="3131CD"/>
              </a:buClr>
              <a:buChar char="•"/>
              <a:tabLst>
                <a:tab pos="342265" algn="l"/>
              </a:tabLst>
            </a:pPr>
            <a:r>
              <a:rPr sz="3600" spc="-95" dirty="0">
                <a:latin typeface="Calibri"/>
                <a:cs typeface="Calibri"/>
              </a:rPr>
              <a:t>Applications</a:t>
            </a:r>
            <a:r>
              <a:rPr sz="3600" spc="140" dirty="0">
                <a:latin typeface="Calibri"/>
                <a:cs typeface="Calibri"/>
              </a:rPr>
              <a:t> </a:t>
            </a:r>
            <a:r>
              <a:rPr sz="3600" spc="-55" dirty="0">
                <a:latin typeface="Calibri"/>
                <a:cs typeface="Calibri"/>
              </a:rPr>
              <a:t>will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45" dirty="0">
                <a:latin typeface="Calibri"/>
                <a:cs typeface="Calibri"/>
              </a:rPr>
              <a:t>not</a:t>
            </a:r>
            <a:r>
              <a:rPr sz="3600" spc="-11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be</a:t>
            </a:r>
            <a:r>
              <a:rPr sz="3600" spc="-100" dirty="0">
                <a:latin typeface="Calibri"/>
                <a:cs typeface="Calibri"/>
              </a:rPr>
              <a:t> </a:t>
            </a:r>
            <a:r>
              <a:rPr sz="3600" spc="-65" dirty="0">
                <a:latin typeface="Calibri"/>
                <a:cs typeface="Calibri"/>
              </a:rPr>
              <a:t>aware</a:t>
            </a:r>
            <a:r>
              <a:rPr sz="3600" spc="-11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of</a:t>
            </a:r>
            <a:r>
              <a:rPr sz="3600" spc="-90" dirty="0">
                <a:latin typeface="Calibri"/>
                <a:cs typeface="Calibri"/>
              </a:rPr>
              <a:t> </a:t>
            </a:r>
            <a:r>
              <a:rPr sz="3600" spc="-20" dirty="0">
                <a:latin typeface="Calibri"/>
                <a:cs typeface="Calibri"/>
              </a:rPr>
              <a:t>this</a:t>
            </a:r>
            <a:endParaRPr sz="3600">
              <a:latin typeface="Calibri"/>
              <a:cs typeface="Calibri"/>
            </a:endParaRPr>
          </a:p>
          <a:p>
            <a:pPr marL="350520">
              <a:lnSpc>
                <a:spcPts val="3935"/>
              </a:lnSpc>
            </a:pPr>
            <a:r>
              <a:rPr sz="3650" spc="-114" dirty="0">
                <a:latin typeface="Calibri"/>
                <a:cs typeface="Calibri"/>
              </a:rPr>
              <a:t>firewall</a:t>
            </a:r>
            <a:r>
              <a:rPr sz="3650" spc="5" dirty="0">
                <a:latin typeface="Calibri"/>
                <a:cs typeface="Calibri"/>
              </a:rPr>
              <a:t> </a:t>
            </a:r>
            <a:r>
              <a:rPr sz="3650" spc="-35" dirty="0">
                <a:latin typeface="Calibri"/>
                <a:cs typeface="Calibri"/>
              </a:rPr>
              <a:t>traversal.</a:t>
            </a:r>
            <a:endParaRPr sz="3650">
              <a:latin typeface="Calibri"/>
              <a:cs typeface="Calibri"/>
            </a:endParaRPr>
          </a:p>
          <a:p>
            <a:pPr marL="340360" marR="724535" indent="-307340">
              <a:lnSpc>
                <a:spcPts val="3450"/>
              </a:lnSpc>
              <a:spcBef>
                <a:spcPts val="730"/>
              </a:spcBef>
              <a:buClr>
                <a:srgbClr val="3334CD"/>
              </a:buClr>
              <a:buChar char="•"/>
              <a:tabLst>
                <a:tab pos="343535" algn="l"/>
              </a:tabLst>
            </a:pPr>
            <a:r>
              <a:rPr sz="3350" spc="-105" dirty="0">
                <a:latin typeface="Arial"/>
                <a:cs typeface="Arial"/>
              </a:rPr>
              <a:t>Firewalls</a:t>
            </a:r>
            <a:r>
              <a:rPr sz="3350" spc="-60" dirty="0">
                <a:latin typeface="Arial"/>
                <a:cs typeface="Arial"/>
              </a:rPr>
              <a:t> </a:t>
            </a:r>
            <a:r>
              <a:rPr sz="3350" spc="-70" dirty="0">
                <a:latin typeface="Arial"/>
                <a:cs typeface="Arial"/>
              </a:rPr>
              <a:t>were</a:t>
            </a:r>
            <a:r>
              <a:rPr sz="3350" spc="-85" dirty="0">
                <a:latin typeface="Arial"/>
                <a:cs typeface="Arial"/>
              </a:rPr>
              <a:t> </a:t>
            </a:r>
            <a:r>
              <a:rPr sz="3350" spc="-280" dirty="0">
                <a:latin typeface="Arial"/>
                <a:cs typeface="Arial"/>
              </a:rPr>
              <a:t>a</a:t>
            </a:r>
            <a:r>
              <a:rPr sz="3350" spc="50" dirty="0">
                <a:latin typeface="Arial"/>
                <a:cs typeface="Arial"/>
              </a:rPr>
              <a:t> </a:t>
            </a:r>
            <a:r>
              <a:rPr sz="3350" spc="-25" dirty="0">
                <a:latin typeface="Arial"/>
                <a:cs typeface="Arial"/>
              </a:rPr>
              <a:t>major</a:t>
            </a:r>
            <a:r>
              <a:rPr sz="3350" spc="10" dirty="0">
                <a:latin typeface="Arial"/>
                <a:cs typeface="Arial"/>
              </a:rPr>
              <a:t> </a:t>
            </a:r>
            <a:r>
              <a:rPr sz="3350" spc="-25" dirty="0">
                <a:latin typeface="Arial"/>
                <a:cs typeface="Arial"/>
              </a:rPr>
              <a:t>limitation</a:t>
            </a:r>
            <a:r>
              <a:rPr sz="3350" spc="-15" dirty="0">
                <a:latin typeface="Arial"/>
                <a:cs typeface="Arial"/>
              </a:rPr>
              <a:t> </a:t>
            </a:r>
            <a:r>
              <a:rPr sz="3350" spc="-25" dirty="0">
                <a:latin typeface="Arial"/>
                <a:cs typeface="Arial"/>
              </a:rPr>
              <a:t>of 	</a:t>
            </a:r>
            <a:r>
              <a:rPr sz="3350" spc="-45" dirty="0">
                <a:latin typeface="Arial"/>
                <a:cs typeface="Arial"/>
              </a:rPr>
              <a:t>early</a:t>
            </a:r>
            <a:r>
              <a:rPr sz="3350" spc="-135" dirty="0">
                <a:latin typeface="Arial"/>
                <a:cs typeface="Arial"/>
              </a:rPr>
              <a:t> </a:t>
            </a:r>
            <a:r>
              <a:rPr sz="3350" spc="-385" dirty="0">
                <a:latin typeface="Arial"/>
                <a:cs typeface="Arial"/>
              </a:rPr>
              <a:t>P2P</a:t>
            </a:r>
            <a:r>
              <a:rPr sz="3350" spc="130" dirty="0">
                <a:latin typeface="Arial"/>
                <a:cs typeface="Arial"/>
              </a:rPr>
              <a:t> </a:t>
            </a:r>
            <a:r>
              <a:rPr sz="3350" spc="-25" dirty="0">
                <a:latin typeface="Arial"/>
                <a:cs typeface="Arial"/>
              </a:rPr>
              <a:t>systems.</a:t>
            </a:r>
            <a:endParaRPr sz="3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62883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1558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20"/>
              </a:spcBef>
            </a:pPr>
            <a:r>
              <a:rPr sz="5300" spc="-70" dirty="0">
                <a:solidFill>
                  <a:srgbClr val="3A347C"/>
                </a:solidFill>
              </a:rPr>
              <a:t>The</a:t>
            </a:r>
            <a:r>
              <a:rPr sz="5300" spc="-220" dirty="0">
                <a:solidFill>
                  <a:srgbClr val="3A347C"/>
                </a:solidFill>
              </a:rPr>
              <a:t> </a:t>
            </a:r>
            <a:r>
              <a:rPr sz="5300" spc="-125" dirty="0">
                <a:solidFill>
                  <a:srgbClr val="363489"/>
                </a:solidFill>
              </a:rPr>
              <a:t>JXTA</a:t>
            </a:r>
            <a:r>
              <a:rPr sz="5300" spc="-175" dirty="0">
                <a:solidFill>
                  <a:srgbClr val="363489"/>
                </a:solidFill>
              </a:rPr>
              <a:t> </a:t>
            </a:r>
            <a:r>
              <a:rPr sz="5300" spc="-265" dirty="0">
                <a:solidFill>
                  <a:srgbClr val="313183"/>
                </a:solidFill>
              </a:rPr>
              <a:t>Shell</a:t>
            </a:r>
            <a:endParaRPr sz="5300"/>
          </a:p>
        </p:txBody>
      </p:sp>
      <p:sp>
        <p:nvSpPr>
          <p:cNvPr id="4" name="object 4"/>
          <p:cNvSpPr txBox="1"/>
          <p:nvPr/>
        </p:nvSpPr>
        <p:spPr>
          <a:xfrm>
            <a:off x="1259643" y="1930250"/>
            <a:ext cx="7516495" cy="3867150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348615" marR="5080" indent="-336550">
              <a:lnSpc>
                <a:spcPct val="75200"/>
              </a:lnSpc>
              <a:spcBef>
                <a:spcPts val="1115"/>
              </a:spcBef>
              <a:buChar char="•"/>
              <a:tabLst>
                <a:tab pos="348615" algn="l"/>
                <a:tab pos="352425" algn="l"/>
              </a:tabLst>
            </a:pPr>
            <a:r>
              <a:rPr sz="3350" dirty="0">
                <a:solidFill>
                  <a:srgbClr val="4949DB"/>
                </a:solidFill>
                <a:latin typeface="Calibri"/>
                <a:cs typeface="Calibri"/>
              </a:rPr>
              <a:t>	</a:t>
            </a:r>
            <a:r>
              <a:rPr sz="3350" spc="-55" dirty="0">
                <a:latin typeface="Calibri"/>
                <a:cs typeface="Calibri"/>
              </a:rPr>
              <a:t>The</a:t>
            </a:r>
            <a:r>
              <a:rPr sz="3350" spc="-45" dirty="0">
                <a:latin typeface="Calibri"/>
                <a:cs typeface="Calibri"/>
              </a:rPr>
              <a:t> </a:t>
            </a:r>
            <a:r>
              <a:rPr sz="3350" spc="-70" dirty="0">
                <a:latin typeface="Calibri"/>
                <a:cs typeface="Calibri"/>
              </a:rPr>
              <a:t>JXTA</a:t>
            </a:r>
            <a:r>
              <a:rPr sz="3350" spc="-25" dirty="0">
                <a:latin typeface="Calibri"/>
                <a:cs typeface="Calibri"/>
              </a:rPr>
              <a:t> </a:t>
            </a:r>
            <a:r>
              <a:rPr sz="3350" spc="-105" dirty="0">
                <a:latin typeface="Calibri"/>
                <a:cs typeface="Calibri"/>
              </a:rPr>
              <a:t>Shell</a:t>
            </a:r>
            <a:r>
              <a:rPr sz="3350" spc="-70" dirty="0">
                <a:latin typeface="Calibri"/>
                <a:cs typeface="Calibri"/>
              </a:rPr>
              <a:t> </a:t>
            </a:r>
            <a:r>
              <a:rPr sz="3350" dirty="0">
                <a:latin typeface="Calibri"/>
                <a:cs typeface="Calibri"/>
              </a:rPr>
              <a:t>is</a:t>
            </a:r>
            <a:r>
              <a:rPr sz="3350" spc="-175" dirty="0">
                <a:latin typeface="Calibri"/>
                <a:cs typeface="Calibri"/>
              </a:rPr>
              <a:t> </a:t>
            </a:r>
            <a:r>
              <a:rPr sz="3350" spc="-170" dirty="0">
                <a:latin typeface="Calibri"/>
                <a:cs typeface="Calibri"/>
              </a:rPr>
              <a:t>considered</a:t>
            </a:r>
            <a:r>
              <a:rPr sz="3350" spc="45" dirty="0">
                <a:latin typeface="Calibri"/>
                <a:cs typeface="Calibri"/>
              </a:rPr>
              <a:t> </a:t>
            </a:r>
            <a:r>
              <a:rPr sz="3350" dirty="0">
                <a:latin typeface="Calibri"/>
                <a:cs typeface="Calibri"/>
              </a:rPr>
              <a:t>a</a:t>
            </a:r>
            <a:r>
              <a:rPr sz="3350" spc="-140" dirty="0">
                <a:latin typeface="Calibri"/>
                <a:cs typeface="Calibri"/>
              </a:rPr>
              <a:t> </a:t>
            </a:r>
            <a:r>
              <a:rPr sz="3350" spc="-175" dirty="0">
                <a:latin typeface="Calibri"/>
                <a:cs typeface="Calibri"/>
              </a:rPr>
              <a:t>reference</a:t>
            </a:r>
            <a:r>
              <a:rPr sz="3350" spc="-5" dirty="0">
                <a:latin typeface="Calibri"/>
                <a:cs typeface="Calibri"/>
              </a:rPr>
              <a:t> </a:t>
            </a:r>
            <a:r>
              <a:rPr sz="3350" spc="-135" dirty="0">
                <a:latin typeface="Calibri"/>
                <a:cs typeface="Calibri"/>
              </a:rPr>
              <a:t>peer </a:t>
            </a:r>
            <a:r>
              <a:rPr sz="3350" spc="-30" dirty="0">
                <a:latin typeface="Calibri"/>
                <a:cs typeface="Calibri"/>
              </a:rPr>
              <a:t>service.</a:t>
            </a:r>
            <a:endParaRPr sz="3350">
              <a:latin typeface="Calibri"/>
              <a:cs typeface="Calibri"/>
            </a:endParaRPr>
          </a:p>
          <a:p>
            <a:pPr marL="346075" indent="-314960">
              <a:lnSpc>
                <a:spcPts val="3250"/>
              </a:lnSpc>
              <a:buClr>
                <a:srgbClr val="6967FF"/>
              </a:buClr>
              <a:buChar char="•"/>
              <a:tabLst>
                <a:tab pos="346075" algn="l"/>
              </a:tabLst>
            </a:pPr>
            <a:r>
              <a:rPr sz="3150" spc="-10" dirty="0">
                <a:latin typeface="Arial"/>
                <a:cs typeface="Arial"/>
              </a:rPr>
              <a:t>The</a:t>
            </a:r>
            <a:r>
              <a:rPr sz="3150" spc="-5" dirty="0">
                <a:latin typeface="Arial"/>
                <a:cs typeface="Arial"/>
              </a:rPr>
              <a:t> </a:t>
            </a:r>
            <a:r>
              <a:rPr sz="3150" spc="-335" dirty="0">
                <a:latin typeface="Arial"/>
                <a:cs typeface="Arial"/>
              </a:rPr>
              <a:t>JXTA</a:t>
            </a:r>
            <a:r>
              <a:rPr sz="3150" spc="170" dirty="0">
                <a:latin typeface="Arial"/>
                <a:cs typeface="Arial"/>
              </a:rPr>
              <a:t> </a:t>
            </a:r>
            <a:r>
              <a:rPr sz="3150" spc="-10" dirty="0">
                <a:latin typeface="Arial"/>
                <a:cs typeface="Arial"/>
              </a:rPr>
              <a:t>Shell</a:t>
            </a:r>
            <a:r>
              <a:rPr sz="3150" spc="85" dirty="0">
                <a:latin typeface="Arial"/>
                <a:cs typeface="Arial"/>
              </a:rPr>
              <a:t> </a:t>
            </a:r>
            <a:r>
              <a:rPr sz="3150" spc="-40" dirty="0">
                <a:latin typeface="Arial"/>
                <a:cs typeface="Arial"/>
              </a:rPr>
              <a:t>enables</a:t>
            </a:r>
            <a:r>
              <a:rPr sz="3150" spc="145" dirty="0">
                <a:latin typeface="Arial"/>
                <a:cs typeface="Arial"/>
              </a:rPr>
              <a:t> </a:t>
            </a:r>
            <a:r>
              <a:rPr sz="3150" dirty="0">
                <a:latin typeface="Arial"/>
                <a:cs typeface="Arial"/>
              </a:rPr>
              <a:t>users</a:t>
            </a:r>
            <a:r>
              <a:rPr sz="3150" spc="100" dirty="0">
                <a:latin typeface="Arial"/>
                <a:cs typeface="Arial"/>
              </a:rPr>
              <a:t> </a:t>
            </a:r>
            <a:r>
              <a:rPr sz="3150" dirty="0">
                <a:latin typeface="Arial"/>
                <a:cs typeface="Arial"/>
              </a:rPr>
              <a:t>to</a:t>
            </a:r>
            <a:r>
              <a:rPr sz="3150" spc="-40" dirty="0">
                <a:latin typeface="Arial"/>
                <a:cs typeface="Arial"/>
              </a:rPr>
              <a:t> </a:t>
            </a:r>
            <a:r>
              <a:rPr sz="3150" spc="-10" dirty="0">
                <a:latin typeface="Arial"/>
                <a:cs typeface="Arial"/>
              </a:rPr>
              <a:t>interact</a:t>
            </a:r>
            <a:endParaRPr sz="3150">
              <a:latin typeface="Arial"/>
              <a:cs typeface="Arial"/>
            </a:endParaRPr>
          </a:p>
          <a:p>
            <a:pPr marL="373380">
              <a:lnSpc>
                <a:spcPts val="3005"/>
              </a:lnSpc>
            </a:pPr>
            <a:r>
              <a:rPr sz="3200" dirty="0">
                <a:latin typeface="Arial"/>
                <a:cs typeface="Arial"/>
              </a:rPr>
              <a:t>with</a:t>
            </a:r>
            <a:r>
              <a:rPr sz="3200" spc="17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the</a:t>
            </a:r>
            <a:r>
              <a:rPr sz="3200" spc="110" dirty="0">
                <a:latin typeface="Arial"/>
                <a:cs typeface="Arial"/>
              </a:rPr>
              <a:t> </a:t>
            </a:r>
            <a:r>
              <a:rPr sz="3200" spc="-360" dirty="0">
                <a:latin typeface="Arial"/>
                <a:cs typeface="Arial"/>
              </a:rPr>
              <a:t>JXTA</a:t>
            </a:r>
            <a:r>
              <a:rPr sz="3200" spc="29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platform</a:t>
            </a:r>
            <a:r>
              <a:rPr sz="3200" spc="3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through</a:t>
            </a:r>
            <a:r>
              <a:rPr sz="3200" spc="345" dirty="0">
                <a:latin typeface="Arial"/>
                <a:cs typeface="Arial"/>
              </a:rPr>
              <a:t> </a:t>
            </a:r>
            <a:r>
              <a:rPr sz="3200" spc="-405" dirty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  <a:p>
            <a:pPr marL="357505">
              <a:lnSpc>
                <a:spcPts val="3429"/>
              </a:lnSpc>
            </a:pPr>
            <a:r>
              <a:rPr sz="3250" spc="-110" dirty="0">
                <a:latin typeface="Arial"/>
                <a:cs typeface="Arial"/>
              </a:rPr>
              <a:t>command-</a:t>
            </a:r>
            <a:r>
              <a:rPr sz="3250" dirty="0">
                <a:latin typeface="Arial"/>
                <a:cs typeface="Arial"/>
              </a:rPr>
              <a:t>line</a:t>
            </a:r>
            <a:r>
              <a:rPr sz="3250" spc="455" dirty="0">
                <a:latin typeface="Arial"/>
                <a:cs typeface="Arial"/>
              </a:rPr>
              <a:t> </a:t>
            </a:r>
            <a:r>
              <a:rPr sz="3250" spc="-10" dirty="0">
                <a:latin typeface="Arial"/>
                <a:cs typeface="Arial"/>
              </a:rPr>
              <a:t>interpreter.</a:t>
            </a:r>
            <a:endParaRPr sz="3250">
              <a:latin typeface="Arial"/>
              <a:cs typeface="Arial"/>
            </a:endParaRPr>
          </a:p>
          <a:p>
            <a:pPr marL="356235" marR="233045" indent="-325755">
              <a:lnSpc>
                <a:spcPct val="80000"/>
              </a:lnSpc>
              <a:spcBef>
                <a:spcPts val="720"/>
              </a:spcBef>
              <a:buChar char="•"/>
              <a:tabLst>
                <a:tab pos="356235" algn="l"/>
                <a:tab pos="359410" algn="l"/>
              </a:tabLst>
            </a:pPr>
            <a:r>
              <a:rPr sz="3150" dirty="0">
                <a:solidFill>
                  <a:srgbClr val="3438CF"/>
                </a:solidFill>
                <a:latin typeface="Arial"/>
                <a:cs typeface="Arial"/>
              </a:rPr>
              <a:t>	</a:t>
            </a:r>
            <a:r>
              <a:rPr sz="3150" spc="-25" dirty="0">
                <a:latin typeface="Arial"/>
                <a:cs typeface="Arial"/>
              </a:rPr>
              <a:t>Debugging</a:t>
            </a:r>
            <a:r>
              <a:rPr sz="3150" spc="95" dirty="0">
                <a:latin typeface="Arial"/>
                <a:cs typeface="Arial"/>
              </a:rPr>
              <a:t> </a:t>
            </a:r>
            <a:r>
              <a:rPr sz="3150" dirty="0">
                <a:latin typeface="Arial"/>
                <a:cs typeface="Arial"/>
              </a:rPr>
              <a:t>and</a:t>
            </a:r>
            <a:r>
              <a:rPr sz="3150" spc="-80" dirty="0">
                <a:latin typeface="Arial"/>
                <a:cs typeface="Arial"/>
              </a:rPr>
              <a:t> </a:t>
            </a:r>
            <a:r>
              <a:rPr sz="3150" spc="-10" dirty="0">
                <a:latin typeface="Arial"/>
                <a:cs typeface="Arial"/>
              </a:rPr>
              <a:t>Development</a:t>
            </a:r>
            <a:r>
              <a:rPr sz="3150" spc="275" dirty="0">
                <a:latin typeface="Arial"/>
                <a:cs typeface="Arial"/>
              </a:rPr>
              <a:t> </a:t>
            </a:r>
            <a:r>
              <a:rPr sz="3150" dirty="0">
                <a:latin typeface="Arial"/>
                <a:cs typeface="Arial"/>
              </a:rPr>
              <a:t>would</a:t>
            </a:r>
            <a:r>
              <a:rPr sz="3150" spc="-25" dirty="0">
                <a:latin typeface="Arial"/>
                <a:cs typeface="Arial"/>
              </a:rPr>
              <a:t> be </a:t>
            </a:r>
            <a:r>
              <a:rPr sz="3150" dirty="0">
                <a:latin typeface="Arial"/>
                <a:cs typeface="Arial"/>
              </a:rPr>
              <a:t>much</a:t>
            </a:r>
            <a:r>
              <a:rPr sz="3150" spc="305" dirty="0">
                <a:latin typeface="Arial"/>
                <a:cs typeface="Arial"/>
              </a:rPr>
              <a:t> </a:t>
            </a:r>
            <a:r>
              <a:rPr sz="3150" dirty="0">
                <a:latin typeface="Arial"/>
                <a:cs typeface="Arial"/>
              </a:rPr>
              <a:t>more</a:t>
            </a:r>
            <a:r>
              <a:rPr sz="3150" spc="280" dirty="0">
                <a:latin typeface="Arial"/>
                <a:cs typeface="Arial"/>
              </a:rPr>
              <a:t> </a:t>
            </a:r>
            <a:r>
              <a:rPr sz="3150" dirty="0">
                <a:latin typeface="Arial"/>
                <a:cs typeface="Arial"/>
              </a:rPr>
              <a:t>difficult</a:t>
            </a:r>
            <a:r>
              <a:rPr sz="3150" spc="475" dirty="0">
                <a:latin typeface="Arial"/>
                <a:cs typeface="Arial"/>
              </a:rPr>
              <a:t> </a:t>
            </a:r>
            <a:r>
              <a:rPr sz="3150" dirty="0">
                <a:latin typeface="Arial"/>
                <a:cs typeface="Arial"/>
              </a:rPr>
              <a:t>without</a:t>
            </a:r>
            <a:r>
              <a:rPr sz="3150" spc="320" dirty="0">
                <a:latin typeface="Arial"/>
                <a:cs typeface="Arial"/>
              </a:rPr>
              <a:t> </a:t>
            </a:r>
            <a:r>
              <a:rPr sz="3150" dirty="0">
                <a:latin typeface="Arial"/>
                <a:cs typeface="Arial"/>
              </a:rPr>
              <a:t>this</a:t>
            </a:r>
            <a:r>
              <a:rPr sz="3150" spc="235" dirty="0">
                <a:latin typeface="Arial"/>
                <a:cs typeface="Arial"/>
              </a:rPr>
              <a:t> </a:t>
            </a:r>
            <a:r>
              <a:rPr sz="3150" spc="-10" dirty="0">
                <a:latin typeface="Arial"/>
                <a:cs typeface="Arial"/>
              </a:rPr>
              <a:t>tool.</a:t>
            </a:r>
            <a:endParaRPr sz="3150">
              <a:latin typeface="Arial"/>
              <a:cs typeface="Arial"/>
            </a:endParaRPr>
          </a:p>
          <a:p>
            <a:pPr marL="345440" indent="-314325">
              <a:lnSpc>
                <a:spcPts val="3270"/>
              </a:lnSpc>
              <a:buClr>
                <a:srgbClr val="6262F0"/>
              </a:buClr>
              <a:buChar char="•"/>
              <a:tabLst>
                <a:tab pos="345440" algn="l"/>
              </a:tabLst>
            </a:pPr>
            <a:r>
              <a:rPr sz="3200" spc="-45" dirty="0">
                <a:latin typeface="Arial"/>
                <a:cs typeface="Arial"/>
              </a:rPr>
              <a:t>The</a:t>
            </a:r>
            <a:r>
              <a:rPr sz="3200" spc="85" dirty="0">
                <a:latin typeface="Arial"/>
                <a:cs typeface="Arial"/>
              </a:rPr>
              <a:t> </a:t>
            </a:r>
            <a:r>
              <a:rPr sz="3200" spc="-360" dirty="0">
                <a:latin typeface="Arial"/>
                <a:cs typeface="Arial"/>
              </a:rPr>
              <a:t>JXTA</a:t>
            </a:r>
            <a:r>
              <a:rPr sz="3200" spc="240" dirty="0">
                <a:latin typeface="Arial"/>
                <a:cs typeface="Arial"/>
              </a:rPr>
              <a:t> </a:t>
            </a:r>
            <a:r>
              <a:rPr sz="3200" spc="-40" dirty="0">
                <a:latin typeface="Arial"/>
                <a:cs typeface="Arial"/>
              </a:rPr>
              <a:t>Shell</a:t>
            </a:r>
            <a:r>
              <a:rPr sz="3200" spc="17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is</a:t>
            </a:r>
            <a:r>
              <a:rPr sz="3200" spc="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not</a:t>
            </a:r>
            <a:r>
              <a:rPr sz="3200" spc="9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part</a:t>
            </a:r>
            <a:r>
              <a:rPr sz="3200" spc="1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of</a:t>
            </a:r>
            <a:r>
              <a:rPr sz="3200" spc="7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the</a:t>
            </a:r>
            <a:r>
              <a:rPr sz="3200" spc="30" dirty="0">
                <a:latin typeface="Arial"/>
                <a:cs typeface="Arial"/>
              </a:rPr>
              <a:t> </a:t>
            </a:r>
            <a:r>
              <a:rPr sz="3200" spc="-380" dirty="0">
                <a:latin typeface="Arial"/>
                <a:cs typeface="Arial"/>
              </a:rPr>
              <a:t>JXTA</a:t>
            </a:r>
            <a:endParaRPr sz="3200">
              <a:latin typeface="Arial"/>
              <a:cs typeface="Arial"/>
            </a:endParaRPr>
          </a:p>
          <a:p>
            <a:pPr marL="357505">
              <a:lnSpc>
                <a:spcPts val="3465"/>
              </a:lnSpc>
            </a:pPr>
            <a:r>
              <a:rPr sz="3250" spc="-10" dirty="0">
                <a:latin typeface="Arial"/>
                <a:cs typeface="Arial"/>
              </a:rPr>
              <a:t>core.</a:t>
            </a:r>
            <a:endParaRPr sz="3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0" y="2437804"/>
            <a:ext cx="3312914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68067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35"/>
              </a:spcBef>
            </a:pPr>
            <a:r>
              <a:rPr sz="4700" spc="-380" dirty="0">
                <a:solidFill>
                  <a:srgbClr val="363697"/>
                </a:solidFill>
                <a:latin typeface="Arial"/>
                <a:cs typeface="Arial"/>
              </a:rPr>
              <a:t>Demo</a:t>
            </a:r>
            <a:r>
              <a:rPr sz="4700" spc="70" dirty="0">
                <a:solidFill>
                  <a:srgbClr val="363697"/>
                </a:solidFill>
                <a:latin typeface="Arial"/>
                <a:cs typeface="Arial"/>
              </a:rPr>
              <a:t> </a:t>
            </a:r>
            <a:r>
              <a:rPr sz="4700" dirty="0">
                <a:solidFill>
                  <a:srgbClr val="343687"/>
                </a:solidFill>
                <a:latin typeface="Arial"/>
                <a:cs typeface="Arial"/>
              </a:rPr>
              <a:t>of</a:t>
            </a:r>
            <a:r>
              <a:rPr sz="4700" spc="-10" dirty="0">
                <a:solidFill>
                  <a:srgbClr val="343687"/>
                </a:solidFill>
                <a:latin typeface="Arial"/>
                <a:cs typeface="Arial"/>
              </a:rPr>
              <a:t> </a:t>
            </a:r>
            <a:r>
              <a:rPr sz="4700" spc="-20" dirty="0">
                <a:solidFill>
                  <a:srgbClr val="3B3891"/>
                </a:solidFill>
                <a:latin typeface="Arial"/>
                <a:cs typeface="Arial"/>
              </a:rPr>
              <a:t>the</a:t>
            </a:r>
            <a:r>
              <a:rPr sz="4700" spc="-90" dirty="0">
                <a:solidFill>
                  <a:srgbClr val="3B3891"/>
                </a:solidFill>
                <a:latin typeface="Arial"/>
                <a:cs typeface="Arial"/>
              </a:rPr>
              <a:t> </a:t>
            </a:r>
            <a:r>
              <a:rPr sz="4700" spc="-610" dirty="0">
                <a:solidFill>
                  <a:srgbClr val="383891"/>
                </a:solidFill>
                <a:latin typeface="Arial"/>
                <a:cs typeface="Arial"/>
              </a:rPr>
              <a:t>JXTA</a:t>
            </a:r>
            <a:r>
              <a:rPr sz="4700" spc="285" dirty="0">
                <a:solidFill>
                  <a:srgbClr val="383891"/>
                </a:solidFill>
                <a:latin typeface="Arial"/>
                <a:cs typeface="Arial"/>
              </a:rPr>
              <a:t> </a:t>
            </a:r>
            <a:r>
              <a:rPr sz="4700" spc="-310" dirty="0">
                <a:solidFill>
                  <a:srgbClr val="363685"/>
                </a:solidFill>
                <a:latin typeface="Arial"/>
                <a:cs typeface="Arial"/>
              </a:rPr>
              <a:t>Shell</a:t>
            </a:r>
            <a:endParaRPr sz="47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R="5080" algn="ctr">
              <a:lnSpc>
                <a:spcPct val="95300"/>
              </a:lnSpc>
              <a:spcBef>
                <a:spcPts val="305"/>
              </a:spcBef>
            </a:pPr>
            <a:r>
              <a:rPr sz="3350" spc="-200" dirty="0"/>
              <a:t>Please</a:t>
            </a:r>
            <a:r>
              <a:rPr sz="3350" spc="-35" dirty="0"/>
              <a:t> </a:t>
            </a:r>
            <a:r>
              <a:rPr sz="3350" spc="-30" dirty="0"/>
              <a:t>be</a:t>
            </a:r>
            <a:r>
              <a:rPr sz="3350" spc="-200" dirty="0"/>
              <a:t> </a:t>
            </a:r>
            <a:r>
              <a:rPr sz="3350" spc="-10" dirty="0"/>
              <a:t>patient</a:t>
            </a:r>
            <a:r>
              <a:rPr sz="3350" spc="-120" dirty="0"/>
              <a:t> </a:t>
            </a:r>
            <a:r>
              <a:rPr sz="3350" spc="-40" dirty="0"/>
              <a:t>while</a:t>
            </a:r>
            <a:r>
              <a:rPr sz="3350" spc="-100" dirty="0"/>
              <a:t> </a:t>
            </a:r>
            <a:r>
              <a:rPr sz="3350" dirty="0"/>
              <a:t>we</a:t>
            </a:r>
            <a:r>
              <a:rPr sz="3350" spc="-190" dirty="0"/>
              <a:t> </a:t>
            </a:r>
            <a:r>
              <a:rPr sz="3350" spc="-114" dirty="0"/>
              <a:t>show </a:t>
            </a:r>
            <a:r>
              <a:rPr sz="3350" spc="-25" dirty="0"/>
              <a:t>you</a:t>
            </a:r>
            <a:r>
              <a:rPr sz="3350" spc="-80" dirty="0"/>
              <a:t> </a:t>
            </a:r>
            <a:r>
              <a:rPr sz="3350" dirty="0"/>
              <a:t>the</a:t>
            </a:r>
            <a:r>
              <a:rPr sz="3350" spc="-180" dirty="0"/>
              <a:t> </a:t>
            </a:r>
            <a:r>
              <a:rPr sz="3350" spc="-110" dirty="0"/>
              <a:t>basic</a:t>
            </a:r>
            <a:r>
              <a:rPr sz="3350" spc="-10" dirty="0"/>
              <a:t> </a:t>
            </a:r>
            <a:r>
              <a:rPr sz="3350" spc="-75" dirty="0"/>
              <a:t>operation</a:t>
            </a:r>
            <a:r>
              <a:rPr sz="3350" spc="-10" dirty="0"/>
              <a:t> </a:t>
            </a:r>
            <a:r>
              <a:rPr sz="3350" dirty="0"/>
              <a:t>of</a:t>
            </a:r>
            <a:r>
              <a:rPr sz="3350" spc="-140" dirty="0"/>
              <a:t> </a:t>
            </a:r>
            <a:r>
              <a:rPr sz="3350" spc="-25" dirty="0"/>
              <a:t>the </a:t>
            </a:r>
            <a:r>
              <a:rPr sz="3350" spc="-375" dirty="0"/>
              <a:t>JXTA</a:t>
            </a:r>
            <a:r>
              <a:rPr sz="3350" spc="145" dirty="0"/>
              <a:t> </a:t>
            </a:r>
            <a:r>
              <a:rPr sz="3350" spc="-120" dirty="0"/>
              <a:t>Shell</a:t>
            </a:r>
            <a:r>
              <a:rPr sz="3350" spc="-30" dirty="0"/>
              <a:t> </a:t>
            </a:r>
            <a:r>
              <a:rPr sz="3350" dirty="0"/>
              <a:t>(time</a:t>
            </a:r>
            <a:r>
              <a:rPr sz="3350" spc="-5" dirty="0"/>
              <a:t> </a:t>
            </a:r>
            <a:r>
              <a:rPr sz="3350" spc="-10" dirty="0"/>
              <a:t>permibing).</a:t>
            </a:r>
            <a:endParaRPr sz="335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0" y="2437804"/>
            <a:ext cx="3303985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51309" y="1535112"/>
            <a:ext cx="6760845" cy="140970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25400" marR="5080" indent="-13335">
              <a:lnSpc>
                <a:spcPts val="5270"/>
              </a:lnSpc>
              <a:spcBef>
                <a:spcPts val="555"/>
              </a:spcBef>
            </a:pPr>
            <a:r>
              <a:rPr sz="4650" spc="-545" dirty="0">
                <a:solidFill>
                  <a:srgbClr val="3B348A"/>
                </a:solidFill>
                <a:latin typeface="Arial"/>
                <a:cs typeface="Arial"/>
              </a:rPr>
              <a:t>JXTA</a:t>
            </a:r>
            <a:r>
              <a:rPr sz="4650" spc="185" dirty="0">
                <a:solidFill>
                  <a:srgbClr val="3B348A"/>
                </a:solidFill>
                <a:latin typeface="Arial"/>
                <a:cs typeface="Arial"/>
              </a:rPr>
              <a:t> </a:t>
            </a:r>
            <a:r>
              <a:rPr sz="4650" spc="-375" dirty="0">
                <a:solidFill>
                  <a:srgbClr val="312A82"/>
                </a:solidFill>
                <a:latin typeface="Arial"/>
                <a:cs typeface="Arial"/>
              </a:rPr>
              <a:t>Java</a:t>
            </a:r>
            <a:r>
              <a:rPr sz="4650" spc="270" dirty="0">
                <a:solidFill>
                  <a:srgbClr val="312A82"/>
                </a:solidFill>
                <a:latin typeface="Arial"/>
                <a:cs typeface="Arial"/>
              </a:rPr>
              <a:t> </a:t>
            </a:r>
            <a:r>
              <a:rPr sz="4650" spc="-225" dirty="0">
                <a:solidFill>
                  <a:srgbClr val="3A34A0"/>
                </a:solidFill>
                <a:latin typeface="Arial"/>
                <a:cs typeface="Arial"/>
              </a:rPr>
              <a:t>API</a:t>
            </a:r>
            <a:r>
              <a:rPr sz="4650" spc="-65" dirty="0">
                <a:solidFill>
                  <a:srgbClr val="3A34A0"/>
                </a:solidFill>
                <a:latin typeface="Arial"/>
                <a:cs typeface="Arial"/>
              </a:rPr>
              <a:t> </a:t>
            </a:r>
            <a:r>
              <a:rPr sz="4650" spc="-160" dirty="0">
                <a:solidFill>
                  <a:srgbClr val="383491"/>
                </a:solidFill>
                <a:latin typeface="Arial"/>
                <a:cs typeface="Arial"/>
              </a:rPr>
              <a:t>Walkthrough </a:t>
            </a:r>
            <a:r>
              <a:rPr sz="4650" spc="-100" dirty="0">
                <a:solidFill>
                  <a:srgbClr val="363387"/>
                </a:solidFill>
                <a:latin typeface="Arial"/>
                <a:cs typeface="Arial"/>
              </a:rPr>
              <a:t>and</a:t>
            </a:r>
            <a:r>
              <a:rPr sz="4650" spc="-225" dirty="0">
                <a:solidFill>
                  <a:srgbClr val="363387"/>
                </a:solidFill>
                <a:latin typeface="Arial"/>
                <a:cs typeface="Arial"/>
              </a:rPr>
              <a:t> </a:t>
            </a:r>
            <a:r>
              <a:rPr sz="4650" spc="-145" dirty="0">
                <a:solidFill>
                  <a:srgbClr val="38389C"/>
                </a:solidFill>
                <a:latin typeface="Arial"/>
                <a:cs typeface="Arial"/>
              </a:rPr>
              <a:t>Application</a:t>
            </a:r>
            <a:r>
              <a:rPr sz="4650" spc="-155" dirty="0">
                <a:solidFill>
                  <a:srgbClr val="38389C"/>
                </a:solidFill>
                <a:latin typeface="Arial"/>
                <a:cs typeface="Arial"/>
              </a:rPr>
              <a:t> </a:t>
            </a:r>
            <a:r>
              <a:rPr sz="4650" spc="-340" dirty="0">
                <a:solidFill>
                  <a:srgbClr val="34318C"/>
                </a:solidFill>
                <a:latin typeface="Arial"/>
                <a:cs typeface="Arial"/>
              </a:rPr>
              <a:t>Demo</a:t>
            </a:r>
            <a:endParaRPr sz="4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62883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676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35"/>
              </a:spcBef>
            </a:pPr>
            <a:r>
              <a:rPr sz="4750" spc="-420" dirty="0">
                <a:solidFill>
                  <a:srgbClr val="312F90"/>
                </a:solidFill>
                <a:latin typeface="Arial"/>
                <a:cs typeface="Arial"/>
              </a:rPr>
              <a:t>Demo</a:t>
            </a:r>
            <a:r>
              <a:rPr sz="4750" spc="290" dirty="0">
                <a:solidFill>
                  <a:srgbClr val="312F90"/>
                </a:solidFill>
                <a:latin typeface="Arial"/>
                <a:cs typeface="Arial"/>
              </a:rPr>
              <a:t> </a:t>
            </a:r>
            <a:r>
              <a:rPr sz="4750" spc="-345" dirty="0">
                <a:solidFill>
                  <a:srgbClr val="343687"/>
                </a:solidFill>
                <a:latin typeface="Arial"/>
                <a:cs typeface="Arial"/>
              </a:rPr>
              <a:t>Trouble?</a:t>
            </a:r>
            <a:endParaRPr sz="47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0243" y="2030709"/>
            <a:ext cx="7379970" cy="405765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328930" marR="5080" indent="-316865">
              <a:lnSpc>
                <a:spcPct val="96900"/>
              </a:lnSpc>
              <a:spcBef>
                <a:spcPts val="235"/>
              </a:spcBef>
              <a:buChar char="•"/>
              <a:tabLst>
                <a:tab pos="328930" algn="l"/>
                <a:tab pos="334010" algn="l"/>
              </a:tabLst>
            </a:pPr>
            <a:r>
              <a:rPr sz="2900" dirty="0">
                <a:solidFill>
                  <a:srgbClr val="6264FD"/>
                </a:solidFill>
                <a:latin typeface="Arial"/>
                <a:cs typeface="Arial"/>
              </a:rPr>
              <a:t>	</a:t>
            </a:r>
            <a:r>
              <a:rPr sz="2900" spc="-60" dirty="0">
                <a:latin typeface="Arial"/>
                <a:cs typeface="Arial"/>
              </a:rPr>
              <a:t>Although</a:t>
            </a:r>
            <a:r>
              <a:rPr sz="2900" spc="25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the</a:t>
            </a:r>
            <a:r>
              <a:rPr sz="2900" spc="-165" dirty="0">
                <a:latin typeface="Arial"/>
                <a:cs typeface="Arial"/>
              </a:rPr>
              <a:t> </a:t>
            </a:r>
            <a:r>
              <a:rPr sz="2900" spc="-345" dirty="0">
                <a:latin typeface="Arial"/>
                <a:cs typeface="Arial"/>
              </a:rPr>
              <a:t>JXTA</a:t>
            </a:r>
            <a:r>
              <a:rPr sz="2900" spc="145" dirty="0">
                <a:latin typeface="Arial"/>
                <a:cs typeface="Arial"/>
              </a:rPr>
              <a:t> </a:t>
            </a:r>
            <a:r>
              <a:rPr sz="2900" spc="-35" dirty="0">
                <a:latin typeface="Arial"/>
                <a:cs typeface="Arial"/>
              </a:rPr>
              <a:t>framework</a:t>
            </a:r>
            <a:r>
              <a:rPr sz="2900" spc="160" dirty="0">
                <a:latin typeface="Arial"/>
                <a:cs typeface="Arial"/>
              </a:rPr>
              <a:t> </a:t>
            </a:r>
            <a:r>
              <a:rPr sz="2900" spc="-100" dirty="0">
                <a:latin typeface="Arial"/>
                <a:cs typeface="Arial"/>
              </a:rPr>
              <a:t>does</a:t>
            </a:r>
            <a:r>
              <a:rPr sz="2900" spc="-55" dirty="0">
                <a:latin typeface="Arial"/>
                <a:cs typeface="Arial"/>
              </a:rPr>
              <a:t> </a:t>
            </a:r>
            <a:r>
              <a:rPr sz="2900" spc="-25" dirty="0">
                <a:latin typeface="Arial"/>
                <a:cs typeface="Arial"/>
              </a:rPr>
              <a:t>not </a:t>
            </a:r>
            <a:r>
              <a:rPr sz="2850" spc="-60" dirty="0">
                <a:latin typeface="Arial"/>
                <a:cs typeface="Arial"/>
              </a:rPr>
              <a:t>depend</a:t>
            </a:r>
            <a:r>
              <a:rPr sz="2850" spc="180" dirty="0">
                <a:latin typeface="Arial"/>
                <a:cs typeface="Arial"/>
              </a:rPr>
              <a:t> </a:t>
            </a:r>
            <a:r>
              <a:rPr sz="2850" dirty="0">
                <a:latin typeface="Arial"/>
                <a:cs typeface="Arial"/>
              </a:rPr>
              <a:t>on</a:t>
            </a:r>
            <a:r>
              <a:rPr sz="2850" spc="-35" dirty="0">
                <a:latin typeface="Arial"/>
                <a:cs typeface="Arial"/>
              </a:rPr>
              <a:t> </a:t>
            </a:r>
            <a:r>
              <a:rPr sz="2850" dirty="0">
                <a:latin typeface="Arial"/>
                <a:cs typeface="Arial"/>
              </a:rPr>
              <a:t>the</a:t>
            </a:r>
            <a:r>
              <a:rPr sz="2850" spc="-90" dirty="0">
                <a:latin typeface="Arial"/>
                <a:cs typeface="Arial"/>
              </a:rPr>
              <a:t> </a:t>
            </a:r>
            <a:r>
              <a:rPr sz="2850" dirty="0">
                <a:latin typeface="Arial"/>
                <a:cs typeface="Arial"/>
              </a:rPr>
              <a:t>internet,</a:t>
            </a:r>
            <a:r>
              <a:rPr sz="2850" spc="25" dirty="0">
                <a:latin typeface="Arial"/>
                <a:cs typeface="Arial"/>
              </a:rPr>
              <a:t> </a:t>
            </a:r>
            <a:r>
              <a:rPr sz="2850" dirty="0">
                <a:latin typeface="Arial"/>
                <a:cs typeface="Arial"/>
              </a:rPr>
              <a:t>the</a:t>
            </a:r>
            <a:r>
              <a:rPr sz="2850" spc="-20" dirty="0">
                <a:latin typeface="Arial"/>
                <a:cs typeface="Arial"/>
              </a:rPr>
              <a:t> </a:t>
            </a:r>
            <a:r>
              <a:rPr sz="2850" dirty="0">
                <a:latin typeface="Arial"/>
                <a:cs typeface="Arial"/>
              </a:rPr>
              <a:t>current</a:t>
            </a:r>
            <a:r>
              <a:rPr sz="2850" spc="-15" dirty="0">
                <a:latin typeface="Arial"/>
                <a:cs typeface="Arial"/>
              </a:rPr>
              <a:t> </a:t>
            </a:r>
            <a:r>
              <a:rPr sz="2850" spc="-100" dirty="0">
                <a:latin typeface="Arial"/>
                <a:cs typeface="Arial"/>
              </a:rPr>
              <a:t>Java</a:t>
            </a:r>
            <a:r>
              <a:rPr sz="2850" spc="135" dirty="0">
                <a:latin typeface="Arial"/>
                <a:cs typeface="Arial"/>
              </a:rPr>
              <a:t> </a:t>
            </a:r>
            <a:r>
              <a:rPr sz="2850" spc="-25" dirty="0">
                <a:latin typeface="Arial"/>
                <a:cs typeface="Arial"/>
              </a:rPr>
              <a:t>API </a:t>
            </a:r>
            <a:r>
              <a:rPr sz="2900" spc="-45" dirty="0">
                <a:latin typeface="Arial"/>
                <a:cs typeface="Arial"/>
              </a:rPr>
              <a:t>implementation</a:t>
            </a:r>
            <a:r>
              <a:rPr sz="2900" spc="-110" dirty="0">
                <a:latin typeface="Arial"/>
                <a:cs typeface="Arial"/>
              </a:rPr>
              <a:t> does</a:t>
            </a:r>
            <a:r>
              <a:rPr sz="2900" spc="-90" dirty="0">
                <a:latin typeface="Arial"/>
                <a:cs typeface="Arial"/>
              </a:rPr>
              <a:t> </a:t>
            </a:r>
            <a:r>
              <a:rPr sz="2900" spc="-55" dirty="0">
                <a:latin typeface="Arial"/>
                <a:cs typeface="Arial"/>
              </a:rPr>
              <a:t>include</a:t>
            </a:r>
            <a:r>
              <a:rPr sz="2900" spc="-15" dirty="0">
                <a:latin typeface="Arial"/>
                <a:cs typeface="Arial"/>
              </a:rPr>
              <a:t> </a:t>
            </a:r>
            <a:r>
              <a:rPr sz="2900" spc="-95" dirty="0">
                <a:latin typeface="Arial"/>
                <a:cs typeface="Arial"/>
              </a:rPr>
              <a:t>hard-</a:t>
            </a:r>
            <a:r>
              <a:rPr sz="2900" spc="-10" dirty="0">
                <a:latin typeface="Arial"/>
                <a:cs typeface="Arial"/>
              </a:rPr>
              <a:t>coded </a:t>
            </a:r>
            <a:r>
              <a:rPr sz="2900" dirty="0">
                <a:latin typeface="Arial"/>
                <a:cs typeface="Arial"/>
              </a:rPr>
              <a:t>internet</a:t>
            </a:r>
            <a:r>
              <a:rPr sz="2900" spc="-100" dirty="0">
                <a:latin typeface="Arial"/>
                <a:cs typeface="Arial"/>
              </a:rPr>
              <a:t> </a:t>
            </a:r>
            <a:r>
              <a:rPr sz="2900" spc="-35" dirty="0">
                <a:latin typeface="Arial"/>
                <a:cs typeface="Arial"/>
              </a:rPr>
              <a:t>functionality</a:t>
            </a:r>
            <a:r>
              <a:rPr sz="2900" spc="90" dirty="0">
                <a:latin typeface="Arial"/>
                <a:cs typeface="Arial"/>
              </a:rPr>
              <a:t> </a:t>
            </a:r>
            <a:r>
              <a:rPr sz="2900" spc="-50" dirty="0">
                <a:latin typeface="Arial"/>
                <a:cs typeface="Arial"/>
              </a:rPr>
              <a:t>(such</a:t>
            </a:r>
            <a:r>
              <a:rPr sz="2900" spc="-40" dirty="0">
                <a:latin typeface="Arial"/>
                <a:cs typeface="Arial"/>
              </a:rPr>
              <a:t> </a:t>
            </a:r>
            <a:r>
              <a:rPr sz="2900" spc="-125" dirty="0">
                <a:latin typeface="Arial"/>
                <a:cs typeface="Arial"/>
              </a:rPr>
              <a:t>as</a:t>
            </a:r>
            <a:r>
              <a:rPr sz="2900" spc="-75" dirty="0">
                <a:latin typeface="Arial"/>
                <a:cs typeface="Arial"/>
              </a:rPr>
              <a:t> </a:t>
            </a:r>
            <a:r>
              <a:rPr sz="2900" spc="-10" dirty="0">
                <a:latin typeface="Arial"/>
                <a:cs typeface="Arial"/>
              </a:rPr>
              <a:t>centralized </a:t>
            </a:r>
            <a:r>
              <a:rPr sz="2900" spc="-160" dirty="0">
                <a:latin typeface="Arial"/>
                <a:cs typeface="Arial"/>
              </a:rPr>
              <a:t>Rendezvous</a:t>
            </a:r>
            <a:r>
              <a:rPr sz="2900" spc="70" dirty="0">
                <a:latin typeface="Arial"/>
                <a:cs typeface="Arial"/>
              </a:rPr>
              <a:t> </a:t>
            </a:r>
            <a:r>
              <a:rPr sz="2900" spc="-145" dirty="0">
                <a:latin typeface="Arial"/>
                <a:cs typeface="Arial"/>
              </a:rPr>
              <a:t>Peer</a:t>
            </a:r>
            <a:r>
              <a:rPr sz="2900" spc="-50" dirty="0">
                <a:latin typeface="Arial"/>
                <a:cs typeface="Arial"/>
              </a:rPr>
              <a:t> </a:t>
            </a:r>
            <a:r>
              <a:rPr sz="2900" spc="-10" dirty="0">
                <a:latin typeface="Arial"/>
                <a:cs typeface="Arial"/>
              </a:rPr>
              <a:t>lookups).</a:t>
            </a:r>
            <a:endParaRPr sz="2900">
              <a:latin typeface="Arial"/>
              <a:cs typeface="Arial"/>
            </a:endParaRPr>
          </a:p>
          <a:p>
            <a:pPr marL="339090" marR="652145" indent="-326390">
              <a:lnSpc>
                <a:spcPts val="3379"/>
              </a:lnSpc>
              <a:spcBef>
                <a:spcPts val="760"/>
              </a:spcBef>
              <a:buClr>
                <a:srgbClr val="5954E9"/>
              </a:buClr>
              <a:buChar char="•"/>
              <a:tabLst>
                <a:tab pos="339090" algn="l"/>
              </a:tabLst>
            </a:pPr>
            <a:r>
              <a:rPr sz="2850" spc="-260" dirty="0">
                <a:latin typeface="Arial"/>
                <a:cs typeface="Arial"/>
              </a:rPr>
              <a:t>We</a:t>
            </a:r>
            <a:r>
              <a:rPr sz="2850" spc="65" dirty="0">
                <a:latin typeface="Arial"/>
                <a:cs typeface="Arial"/>
              </a:rPr>
              <a:t> </a:t>
            </a:r>
            <a:r>
              <a:rPr sz="2850" spc="-25" dirty="0">
                <a:latin typeface="Arial"/>
                <a:cs typeface="Arial"/>
              </a:rPr>
              <a:t>can</a:t>
            </a:r>
            <a:r>
              <a:rPr sz="2850" spc="-175" dirty="0">
                <a:latin typeface="Arial"/>
                <a:cs typeface="Arial"/>
              </a:rPr>
              <a:t> </a:t>
            </a:r>
            <a:r>
              <a:rPr sz="2850" spc="-40" dirty="0">
                <a:latin typeface="Arial"/>
                <a:cs typeface="Arial"/>
              </a:rPr>
              <a:t>show</a:t>
            </a:r>
            <a:r>
              <a:rPr sz="2850" spc="-120" dirty="0">
                <a:latin typeface="Arial"/>
                <a:cs typeface="Arial"/>
              </a:rPr>
              <a:t> </a:t>
            </a:r>
            <a:r>
              <a:rPr sz="2850" dirty="0">
                <a:latin typeface="Arial"/>
                <a:cs typeface="Arial"/>
              </a:rPr>
              <a:t>you</a:t>
            </a:r>
            <a:r>
              <a:rPr sz="2850" spc="-125" dirty="0">
                <a:latin typeface="Arial"/>
                <a:cs typeface="Arial"/>
              </a:rPr>
              <a:t> </a:t>
            </a:r>
            <a:r>
              <a:rPr sz="2850" dirty="0">
                <a:latin typeface="Arial"/>
                <a:cs typeface="Arial"/>
              </a:rPr>
              <a:t>a</a:t>
            </a:r>
            <a:r>
              <a:rPr sz="2850" spc="-75" dirty="0">
                <a:latin typeface="Arial"/>
                <a:cs typeface="Arial"/>
              </a:rPr>
              <a:t> </a:t>
            </a:r>
            <a:r>
              <a:rPr sz="2850" spc="-50" dirty="0">
                <a:latin typeface="Arial"/>
                <a:cs typeface="Arial"/>
              </a:rPr>
              <a:t>simple</a:t>
            </a:r>
            <a:r>
              <a:rPr sz="2850" spc="-75" dirty="0">
                <a:latin typeface="Arial"/>
                <a:cs typeface="Arial"/>
              </a:rPr>
              <a:t> </a:t>
            </a:r>
            <a:r>
              <a:rPr sz="2850" spc="-30" dirty="0">
                <a:latin typeface="Arial"/>
                <a:cs typeface="Arial"/>
              </a:rPr>
              <a:t>demo</a:t>
            </a:r>
            <a:r>
              <a:rPr sz="2850" spc="-40" dirty="0">
                <a:latin typeface="Arial"/>
                <a:cs typeface="Arial"/>
              </a:rPr>
              <a:t> </a:t>
            </a:r>
            <a:r>
              <a:rPr sz="2850" spc="-25" dirty="0">
                <a:latin typeface="Arial"/>
                <a:cs typeface="Arial"/>
              </a:rPr>
              <a:t>using</a:t>
            </a:r>
            <a:r>
              <a:rPr sz="2850" spc="-60" dirty="0">
                <a:latin typeface="Arial"/>
                <a:cs typeface="Arial"/>
              </a:rPr>
              <a:t> </a:t>
            </a:r>
            <a:r>
              <a:rPr sz="2850" spc="-50" dirty="0">
                <a:latin typeface="Arial"/>
                <a:cs typeface="Arial"/>
              </a:rPr>
              <a:t>a </a:t>
            </a:r>
            <a:r>
              <a:rPr sz="2850" spc="-85" dirty="0">
                <a:latin typeface="Arial"/>
                <a:cs typeface="Arial"/>
              </a:rPr>
              <a:t>localized</a:t>
            </a:r>
            <a:r>
              <a:rPr sz="2850" spc="5" dirty="0">
                <a:latin typeface="Arial"/>
                <a:cs typeface="Arial"/>
              </a:rPr>
              <a:t> </a:t>
            </a:r>
            <a:r>
              <a:rPr sz="2850" dirty="0">
                <a:latin typeface="Arial"/>
                <a:cs typeface="Arial"/>
              </a:rPr>
              <a:t>IP</a:t>
            </a:r>
            <a:r>
              <a:rPr sz="2850" spc="-135" dirty="0">
                <a:latin typeface="Arial"/>
                <a:cs typeface="Arial"/>
              </a:rPr>
              <a:t> </a:t>
            </a:r>
            <a:r>
              <a:rPr sz="2850" spc="-70" dirty="0">
                <a:latin typeface="Arial"/>
                <a:cs typeface="Arial"/>
              </a:rPr>
              <a:t>address</a:t>
            </a:r>
            <a:r>
              <a:rPr sz="2850" spc="70" dirty="0">
                <a:latin typeface="Arial"/>
                <a:cs typeface="Arial"/>
              </a:rPr>
              <a:t> </a:t>
            </a:r>
            <a:r>
              <a:rPr sz="2850" dirty="0">
                <a:latin typeface="Arial"/>
                <a:cs typeface="Arial"/>
              </a:rPr>
              <a:t>(we</a:t>
            </a:r>
            <a:r>
              <a:rPr sz="2850" spc="-35" dirty="0">
                <a:latin typeface="Arial"/>
                <a:cs typeface="Arial"/>
              </a:rPr>
              <a:t> </a:t>
            </a:r>
            <a:r>
              <a:rPr sz="2850" spc="-10" dirty="0">
                <a:latin typeface="Arial"/>
                <a:cs typeface="Arial"/>
              </a:rPr>
              <a:t>think).</a:t>
            </a:r>
            <a:endParaRPr sz="2850">
              <a:latin typeface="Arial"/>
              <a:cs typeface="Arial"/>
            </a:endParaRPr>
          </a:p>
          <a:p>
            <a:pPr marL="338455" indent="-325755">
              <a:lnSpc>
                <a:spcPts val="3370"/>
              </a:lnSpc>
              <a:spcBef>
                <a:spcPts val="475"/>
              </a:spcBef>
              <a:buClr>
                <a:srgbClr val="6462FB"/>
              </a:buClr>
              <a:buChar char="•"/>
              <a:tabLst>
                <a:tab pos="338455" algn="l"/>
              </a:tabLst>
            </a:pPr>
            <a:r>
              <a:rPr sz="2850" spc="-260" dirty="0">
                <a:latin typeface="Arial"/>
                <a:cs typeface="Arial"/>
              </a:rPr>
              <a:t>We</a:t>
            </a:r>
            <a:r>
              <a:rPr sz="2850" spc="65" dirty="0">
                <a:latin typeface="Arial"/>
                <a:cs typeface="Arial"/>
              </a:rPr>
              <a:t> </a:t>
            </a:r>
            <a:r>
              <a:rPr sz="2850" spc="-50" dirty="0">
                <a:latin typeface="Arial"/>
                <a:cs typeface="Arial"/>
              </a:rPr>
              <a:t>have</a:t>
            </a:r>
            <a:r>
              <a:rPr sz="2850" spc="-150" dirty="0">
                <a:latin typeface="Arial"/>
                <a:cs typeface="Arial"/>
              </a:rPr>
              <a:t> </a:t>
            </a:r>
            <a:r>
              <a:rPr sz="2850" spc="-35" dirty="0">
                <a:latin typeface="Arial"/>
                <a:cs typeface="Arial"/>
              </a:rPr>
              <a:t>simplified</a:t>
            </a:r>
            <a:r>
              <a:rPr sz="2850" spc="30" dirty="0">
                <a:latin typeface="Arial"/>
                <a:cs typeface="Arial"/>
              </a:rPr>
              <a:t> </a:t>
            </a:r>
            <a:r>
              <a:rPr sz="2850" dirty="0">
                <a:latin typeface="Arial"/>
                <a:cs typeface="Arial"/>
              </a:rPr>
              <a:t>the</a:t>
            </a:r>
            <a:r>
              <a:rPr sz="2850" spc="-160" dirty="0">
                <a:latin typeface="Arial"/>
                <a:cs typeface="Arial"/>
              </a:rPr>
              <a:t> </a:t>
            </a:r>
            <a:r>
              <a:rPr sz="2850" spc="-35" dirty="0">
                <a:latin typeface="Arial"/>
                <a:cs typeface="Arial"/>
              </a:rPr>
              <a:t>code</a:t>
            </a:r>
            <a:r>
              <a:rPr sz="2850" spc="-45" dirty="0">
                <a:latin typeface="Arial"/>
                <a:cs typeface="Arial"/>
              </a:rPr>
              <a:t> </a:t>
            </a:r>
            <a:r>
              <a:rPr sz="2850" spc="-40" dirty="0">
                <a:latin typeface="Arial"/>
                <a:cs typeface="Arial"/>
              </a:rPr>
              <a:t>shown</a:t>
            </a:r>
            <a:r>
              <a:rPr sz="2850" spc="-20" dirty="0">
                <a:latin typeface="Arial"/>
                <a:cs typeface="Arial"/>
              </a:rPr>
              <a:t> </a:t>
            </a:r>
            <a:r>
              <a:rPr sz="2850" dirty="0">
                <a:latin typeface="Arial"/>
                <a:cs typeface="Arial"/>
              </a:rPr>
              <a:t>here</a:t>
            </a:r>
            <a:r>
              <a:rPr sz="2850" spc="-55" dirty="0">
                <a:latin typeface="Arial"/>
                <a:cs typeface="Arial"/>
              </a:rPr>
              <a:t> </a:t>
            </a:r>
            <a:r>
              <a:rPr sz="2850" spc="-25" dirty="0">
                <a:latin typeface="Arial"/>
                <a:cs typeface="Arial"/>
              </a:rPr>
              <a:t>so</a:t>
            </a:r>
            <a:endParaRPr sz="2850">
              <a:latin typeface="Arial"/>
              <a:cs typeface="Arial"/>
            </a:endParaRPr>
          </a:p>
          <a:p>
            <a:pPr marL="329565">
              <a:lnSpc>
                <a:spcPts val="3435"/>
              </a:lnSpc>
            </a:pPr>
            <a:r>
              <a:rPr sz="2900" dirty="0">
                <a:latin typeface="Arial"/>
                <a:cs typeface="Arial"/>
              </a:rPr>
              <a:t>that</a:t>
            </a:r>
            <a:r>
              <a:rPr sz="2900" spc="-30" dirty="0">
                <a:latin typeface="Arial"/>
                <a:cs typeface="Arial"/>
              </a:rPr>
              <a:t> </a:t>
            </a:r>
            <a:r>
              <a:rPr sz="2900" spc="-35" dirty="0">
                <a:latin typeface="Arial"/>
                <a:cs typeface="Arial"/>
              </a:rPr>
              <a:t>we</a:t>
            </a:r>
            <a:r>
              <a:rPr sz="2900" spc="-155" dirty="0">
                <a:latin typeface="Arial"/>
                <a:cs typeface="Arial"/>
              </a:rPr>
              <a:t> </a:t>
            </a:r>
            <a:r>
              <a:rPr sz="2900" spc="-55" dirty="0">
                <a:latin typeface="Arial"/>
                <a:cs typeface="Arial"/>
              </a:rPr>
              <a:t>can</a:t>
            </a:r>
            <a:r>
              <a:rPr sz="2900" spc="-80" dirty="0">
                <a:latin typeface="Arial"/>
                <a:cs typeface="Arial"/>
              </a:rPr>
              <a:t> </a:t>
            </a:r>
            <a:r>
              <a:rPr sz="2900" spc="-70" dirty="0">
                <a:latin typeface="Arial"/>
                <a:cs typeface="Arial"/>
              </a:rPr>
              <a:t>show</a:t>
            </a:r>
            <a:r>
              <a:rPr sz="2900" spc="20" dirty="0">
                <a:latin typeface="Arial"/>
                <a:cs typeface="Arial"/>
              </a:rPr>
              <a:t> </a:t>
            </a:r>
            <a:r>
              <a:rPr sz="2900" spc="-20" dirty="0">
                <a:latin typeface="Arial"/>
                <a:cs typeface="Arial"/>
              </a:rPr>
              <a:t>you</a:t>
            </a:r>
            <a:r>
              <a:rPr sz="2900" spc="-30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the</a:t>
            </a:r>
            <a:r>
              <a:rPr sz="2900" spc="-85" dirty="0">
                <a:latin typeface="Arial"/>
                <a:cs typeface="Arial"/>
              </a:rPr>
              <a:t> </a:t>
            </a:r>
            <a:r>
              <a:rPr sz="2900" spc="-70" dirty="0">
                <a:latin typeface="Arial"/>
                <a:cs typeface="Arial"/>
              </a:rPr>
              <a:t>obvious</a:t>
            </a:r>
            <a:r>
              <a:rPr sz="2900" spc="10" dirty="0">
                <a:latin typeface="Arial"/>
                <a:cs typeface="Arial"/>
              </a:rPr>
              <a:t> </a:t>
            </a:r>
            <a:r>
              <a:rPr sz="2900" spc="-10" dirty="0">
                <a:latin typeface="Arial"/>
                <a:cs typeface="Arial"/>
              </a:rPr>
              <a:t>syntax.</a:t>
            </a:r>
            <a:endParaRPr sz="2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62883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6236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30"/>
              </a:spcBef>
            </a:pPr>
            <a:r>
              <a:rPr sz="4950" spc="-515" dirty="0">
                <a:solidFill>
                  <a:srgbClr val="312F95"/>
                </a:solidFill>
                <a:latin typeface="Arial"/>
                <a:cs typeface="Arial"/>
              </a:rPr>
              <a:t>Many</a:t>
            </a:r>
            <a:r>
              <a:rPr sz="4950" spc="190" dirty="0">
                <a:solidFill>
                  <a:srgbClr val="312F95"/>
                </a:solidFill>
                <a:latin typeface="Arial"/>
                <a:cs typeface="Arial"/>
              </a:rPr>
              <a:t> </a:t>
            </a:r>
            <a:r>
              <a:rPr sz="4950" spc="-515" dirty="0">
                <a:solidFill>
                  <a:srgbClr val="38339A"/>
                </a:solidFill>
                <a:latin typeface="Arial"/>
                <a:cs typeface="Arial"/>
              </a:rPr>
              <a:t>Many</a:t>
            </a:r>
            <a:r>
              <a:rPr sz="4950" spc="100" dirty="0">
                <a:solidFill>
                  <a:srgbClr val="38339A"/>
                </a:solidFill>
                <a:latin typeface="Arial"/>
                <a:cs typeface="Arial"/>
              </a:rPr>
              <a:t> </a:t>
            </a:r>
            <a:r>
              <a:rPr sz="4950" spc="-540" dirty="0">
                <a:solidFill>
                  <a:srgbClr val="3A348E"/>
                </a:solidFill>
                <a:latin typeface="Arial"/>
                <a:cs typeface="Arial"/>
              </a:rPr>
              <a:t>Classes</a:t>
            </a:r>
            <a:endParaRPr sz="49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2729" y="1962000"/>
            <a:ext cx="6214110" cy="110045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37820" marR="5080" indent="-325755">
              <a:lnSpc>
                <a:spcPts val="3829"/>
              </a:lnSpc>
              <a:spcBef>
                <a:spcPts val="890"/>
              </a:spcBef>
              <a:buClr>
                <a:srgbClr val="2D2DBF"/>
              </a:buClr>
              <a:buChar char="•"/>
              <a:tabLst>
                <a:tab pos="353060" algn="l"/>
              </a:tabLst>
            </a:pPr>
            <a:r>
              <a:rPr sz="3850" spc="-140" dirty="0">
                <a:latin typeface="Calibri"/>
                <a:cs typeface="Calibri"/>
              </a:rPr>
              <a:t>Our</a:t>
            </a:r>
            <a:r>
              <a:rPr sz="3850" spc="-90" dirty="0">
                <a:latin typeface="Calibri"/>
                <a:cs typeface="Calibri"/>
              </a:rPr>
              <a:t> </a:t>
            </a:r>
            <a:r>
              <a:rPr sz="3850" spc="-140" dirty="0">
                <a:solidFill>
                  <a:srgbClr val="D10C16"/>
                </a:solidFill>
                <a:latin typeface="Calibri"/>
                <a:cs typeface="Calibri"/>
              </a:rPr>
              <a:t>very</a:t>
            </a:r>
            <a:r>
              <a:rPr sz="3850" spc="-45" dirty="0">
                <a:solidFill>
                  <a:srgbClr val="D10C16"/>
                </a:solidFill>
                <a:latin typeface="Calibri"/>
                <a:cs typeface="Calibri"/>
              </a:rPr>
              <a:t> </a:t>
            </a:r>
            <a:r>
              <a:rPr sz="3850" spc="-204" dirty="0">
                <a:solidFill>
                  <a:srgbClr val="AC2621"/>
                </a:solidFill>
                <a:latin typeface="Calibri"/>
                <a:cs typeface="Calibri"/>
              </a:rPr>
              <a:t>simple</a:t>
            </a:r>
            <a:r>
              <a:rPr sz="3850" spc="15" dirty="0">
                <a:solidFill>
                  <a:srgbClr val="AC2621"/>
                </a:solidFill>
                <a:latin typeface="Calibri"/>
                <a:cs typeface="Calibri"/>
              </a:rPr>
              <a:t> </a:t>
            </a:r>
            <a:r>
              <a:rPr sz="3850" spc="-300" dirty="0">
                <a:latin typeface="Calibri"/>
                <a:cs typeface="Calibri"/>
              </a:rPr>
              <a:t>demo</a:t>
            </a:r>
            <a:r>
              <a:rPr sz="3850" spc="85" dirty="0">
                <a:latin typeface="Calibri"/>
                <a:cs typeface="Calibri"/>
              </a:rPr>
              <a:t> </a:t>
            </a:r>
            <a:r>
              <a:rPr sz="3850" spc="-160" dirty="0">
                <a:latin typeface="Calibri"/>
                <a:cs typeface="Calibri"/>
              </a:rPr>
              <a:t>needs</a:t>
            </a:r>
            <a:r>
              <a:rPr sz="3850" spc="-10" dirty="0">
                <a:latin typeface="Calibri"/>
                <a:cs typeface="Calibri"/>
              </a:rPr>
              <a:t> </a:t>
            </a:r>
            <a:r>
              <a:rPr sz="3850" spc="-195" dirty="0">
                <a:latin typeface="Calibri"/>
                <a:cs typeface="Calibri"/>
              </a:rPr>
              <a:t>the 	</a:t>
            </a:r>
            <a:r>
              <a:rPr sz="3850" spc="-265" dirty="0">
                <a:latin typeface="Calibri"/>
                <a:cs typeface="Calibri"/>
              </a:rPr>
              <a:t>following</a:t>
            </a:r>
            <a:r>
              <a:rPr sz="3850" spc="495" dirty="0">
                <a:latin typeface="Calibri"/>
                <a:cs typeface="Calibri"/>
              </a:rPr>
              <a:t> </a:t>
            </a:r>
            <a:r>
              <a:rPr sz="3850" spc="-105" dirty="0">
                <a:latin typeface="Calibri"/>
                <a:cs typeface="Calibri"/>
              </a:rPr>
              <a:t>JXTA</a:t>
            </a:r>
            <a:r>
              <a:rPr sz="3850" spc="35" dirty="0">
                <a:latin typeface="Calibri"/>
                <a:cs typeface="Calibri"/>
              </a:rPr>
              <a:t> </a:t>
            </a:r>
            <a:r>
              <a:rPr sz="3850" spc="-10" dirty="0">
                <a:latin typeface="Calibri"/>
                <a:cs typeface="Calibri"/>
              </a:rPr>
              <a:t>classes:</a:t>
            </a:r>
            <a:endParaRPr sz="38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17476" y="3061344"/>
            <a:ext cx="3168015" cy="35972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45000"/>
              </a:lnSpc>
              <a:spcBef>
                <a:spcPts val="15"/>
              </a:spcBef>
            </a:pPr>
            <a:r>
              <a:rPr sz="1300" spc="-20" dirty="0">
                <a:latin typeface="Arial"/>
                <a:cs typeface="Arial"/>
              </a:rPr>
              <a:t>net.jxta.pIatform.Application </a:t>
            </a:r>
            <a:r>
              <a:rPr sz="1300" spc="-25" dirty="0">
                <a:latin typeface="Arial"/>
                <a:cs typeface="Arial"/>
              </a:rPr>
              <a:t>net.jxta.document.Advertisement </a:t>
            </a:r>
            <a:r>
              <a:rPr sz="1250" spc="-10" dirty="0">
                <a:latin typeface="Arial"/>
                <a:cs typeface="Arial"/>
              </a:rPr>
              <a:t>net.jxta.document.AdvertisementFactory </a:t>
            </a:r>
            <a:r>
              <a:rPr sz="1200" spc="-10" dirty="0">
                <a:latin typeface="Arial"/>
                <a:cs typeface="Arial"/>
              </a:rPr>
              <a:t>net.jxta.document.StructuredDocumentFactory </a:t>
            </a:r>
            <a:r>
              <a:rPr sz="1300" spc="-40" dirty="0">
                <a:latin typeface="Arial"/>
                <a:cs typeface="Arial"/>
              </a:rPr>
              <a:t>net.jxta.document.StructuredTextDocument </a:t>
            </a:r>
            <a:r>
              <a:rPr sz="1200" spc="-10" dirty="0">
                <a:latin typeface="Arial"/>
                <a:cs typeface="Arial"/>
              </a:rPr>
              <a:t>net.jxta.document.StructuredDocument </a:t>
            </a:r>
            <a:r>
              <a:rPr sz="1150" spc="-10" dirty="0">
                <a:latin typeface="Arial"/>
                <a:cs typeface="Arial"/>
              </a:rPr>
              <a:t>net.jxta.document.MimeMediaType </a:t>
            </a:r>
            <a:r>
              <a:rPr sz="1250" spc="-10" dirty="0">
                <a:latin typeface="Arial"/>
                <a:cs typeface="Arial"/>
              </a:rPr>
              <a:t>net.jxta.document.Element </a:t>
            </a:r>
            <a:r>
              <a:rPr sz="1300" spc="-35" dirty="0">
                <a:latin typeface="Arial"/>
                <a:cs typeface="Arial"/>
              </a:rPr>
              <a:t>net.jxta.document.StructuredDocumentUtils </a:t>
            </a:r>
            <a:r>
              <a:rPr sz="1250" spc="-10" dirty="0">
                <a:latin typeface="Arial"/>
                <a:cs typeface="Arial"/>
              </a:rPr>
              <a:t>net.jxta.endpoint.Message </a:t>
            </a:r>
            <a:r>
              <a:rPr sz="1150" spc="-10" dirty="0">
                <a:latin typeface="Arial"/>
                <a:cs typeface="Arial"/>
              </a:rPr>
              <a:t>net.jxta.pipe.PipeService</a:t>
            </a:r>
            <a:endParaRPr sz="1150">
              <a:latin typeface="Arial"/>
              <a:cs typeface="Arial"/>
            </a:endParaRPr>
          </a:p>
          <a:p>
            <a:pPr marL="12700" marR="1777364">
              <a:lnSpc>
                <a:spcPct val="139700"/>
              </a:lnSpc>
              <a:spcBef>
                <a:spcPts val="30"/>
              </a:spcBef>
            </a:pPr>
            <a:r>
              <a:rPr sz="1300" spc="-45" dirty="0">
                <a:latin typeface="Arial"/>
                <a:cs typeface="Arial"/>
              </a:rPr>
              <a:t>net.jxta.id.IDFactory </a:t>
            </a:r>
            <a:r>
              <a:rPr sz="1300" spc="-10" dirty="0">
                <a:latin typeface="Arial"/>
                <a:cs typeface="Arial"/>
              </a:rPr>
              <a:t>net.jxta.id.ID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01071" y="3055222"/>
            <a:ext cx="2976880" cy="360616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34800"/>
              </a:lnSpc>
              <a:spcBef>
                <a:spcPts val="80"/>
              </a:spcBef>
            </a:pPr>
            <a:r>
              <a:rPr sz="1400" spc="-50" dirty="0">
                <a:latin typeface="Arial"/>
                <a:cs typeface="Arial"/>
              </a:rPr>
              <a:t>net.jxta.pipe.InputPipe </a:t>
            </a:r>
            <a:r>
              <a:rPr sz="1350" spc="-55" dirty="0">
                <a:latin typeface="Arial"/>
                <a:cs typeface="Arial"/>
              </a:rPr>
              <a:t>net.jxta.peergroup.PeerGroup </a:t>
            </a:r>
            <a:r>
              <a:rPr sz="1300" spc="-30" dirty="0">
                <a:latin typeface="Arial"/>
                <a:cs typeface="Arial"/>
              </a:rPr>
              <a:t>net.jxta.peergroup.PeerGroupID </a:t>
            </a:r>
            <a:r>
              <a:rPr sz="1300" spc="-35" dirty="0">
                <a:latin typeface="Arial"/>
                <a:cs typeface="Arial"/>
              </a:rPr>
              <a:t>net.jxta.peergroup.PeerGroupFactory </a:t>
            </a:r>
            <a:r>
              <a:rPr sz="1400" spc="-85" dirty="0">
                <a:latin typeface="Arial"/>
                <a:cs typeface="Arial"/>
              </a:rPr>
              <a:t>net.jxta.protocol.PeerGroupAdvertisement </a:t>
            </a:r>
            <a:r>
              <a:rPr sz="1350" spc="-75" dirty="0">
                <a:latin typeface="Arial"/>
                <a:cs typeface="Arial"/>
              </a:rPr>
              <a:t>net.jxta.protocol.ModuleSpecAdvertisement </a:t>
            </a:r>
            <a:r>
              <a:rPr sz="1300" spc="-55" dirty="0">
                <a:latin typeface="Arial"/>
                <a:cs typeface="Arial"/>
              </a:rPr>
              <a:t>net.jxta.protocol.NoduleClassAdvertisement </a:t>
            </a:r>
            <a:r>
              <a:rPr sz="1300" spc="-30" dirty="0">
                <a:latin typeface="Arial"/>
                <a:cs typeface="Arial"/>
              </a:rPr>
              <a:t>net.jxta.protocol.PipeAdvertisement </a:t>
            </a:r>
            <a:r>
              <a:rPr sz="1400" spc="-85" dirty="0">
                <a:latin typeface="Arial"/>
                <a:cs typeface="Arial"/>
              </a:rPr>
              <a:t>net.jxta.discovery.DiscoveryService </a:t>
            </a:r>
            <a:r>
              <a:rPr sz="1350" spc="-70" dirty="0">
                <a:latin typeface="Arial"/>
                <a:cs typeface="Arial"/>
              </a:rPr>
              <a:t>net.jxta.exception.PeerGroupException </a:t>
            </a:r>
            <a:r>
              <a:rPr sz="1250" spc="-10" dirty="0">
                <a:latin typeface="Arial"/>
                <a:cs typeface="Arial"/>
              </a:rPr>
              <a:t>net.jxta.imps.peergraup.Platform </a:t>
            </a:r>
            <a:r>
              <a:rPr sz="1350" spc="-65" dirty="0">
                <a:latin typeface="Arial"/>
                <a:cs typeface="Arial"/>
              </a:rPr>
              <a:t>net.jxta.impI.peergroup.GenericPeerGroup </a:t>
            </a:r>
            <a:r>
              <a:rPr sz="1400" spc="-75" dirty="0">
                <a:latin typeface="Arial"/>
                <a:cs typeface="Arial"/>
              </a:rPr>
              <a:t>net.jxta.platform.ModuIeCIassID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62883" cy="1053703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2225">
              <a:lnSpc>
                <a:spcPts val="5410"/>
              </a:lnSpc>
              <a:spcBef>
                <a:spcPts val="130"/>
              </a:spcBef>
            </a:pPr>
            <a:r>
              <a:rPr sz="4800" spc="-320" dirty="0">
                <a:solidFill>
                  <a:srgbClr val="3A3390"/>
                </a:solidFill>
                <a:latin typeface="Arial"/>
                <a:cs typeface="Arial"/>
              </a:rPr>
              <a:t>Producer:</a:t>
            </a:r>
            <a:endParaRPr sz="4800">
              <a:latin typeface="Arial"/>
              <a:cs typeface="Arial"/>
            </a:endParaRPr>
          </a:p>
          <a:p>
            <a:pPr marL="19685">
              <a:lnSpc>
                <a:spcPts val="5710"/>
              </a:lnSpc>
            </a:pPr>
            <a:r>
              <a:rPr sz="5050" spc="-415" dirty="0">
                <a:solidFill>
                  <a:srgbClr val="363690"/>
                </a:solidFill>
                <a:latin typeface="Arial"/>
                <a:cs typeface="Arial"/>
              </a:rPr>
              <a:t>Creating</a:t>
            </a:r>
            <a:r>
              <a:rPr sz="5050" spc="305" dirty="0">
                <a:solidFill>
                  <a:srgbClr val="363690"/>
                </a:solidFill>
                <a:latin typeface="Arial"/>
                <a:cs typeface="Arial"/>
              </a:rPr>
              <a:t> </a:t>
            </a:r>
            <a:r>
              <a:rPr sz="5050" spc="-245" dirty="0">
                <a:solidFill>
                  <a:srgbClr val="343487"/>
                </a:solidFill>
                <a:latin typeface="Arial"/>
                <a:cs typeface="Arial"/>
              </a:rPr>
              <a:t>the</a:t>
            </a:r>
            <a:r>
              <a:rPr sz="5050" spc="-160" dirty="0">
                <a:solidFill>
                  <a:srgbClr val="343487"/>
                </a:solidFill>
                <a:latin typeface="Arial"/>
                <a:cs typeface="Arial"/>
              </a:rPr>
              <a:t> </a:t>
            </a:r>
            <a:r>
              <a:rPr sz="5050" spc="-405" dirty="0">
                <a:latin typeface="Arial"/>
                <a:cs typeface="Arial"/>
              </a:rPr>
              <a:t>Objects</a:t>
            </a:r>
            <a:endParaRPr sz="50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6945" y="2875358"/>
            <a:ext cx="116085" cy="11608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57213" y="3780184"/>
            <a:ext cx="159385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3.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6945" y="4518421"/>
            <a:ext cx="116085" cy="11608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60059" y="2013098"/>
            <a:ext cx="5963285" cy="2991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575"/>
              </a:lnSpc>
              <a:spcBef>
                <a:spcPts val="95"/>
              </a:spcBef>
              <a:tabLst>
                <a:tab pos="617855" algn="l"/>
              </a:tabLst>
            </a:pPr>
            <a:r>
              <a:rPr sz="2300" spc="-25" dirty="0">
                <a:solidFill>
                  <a:srgbClr val="3F3F3F"/>
                </a:solidFill>
                <a:latin typeface="Arial"/>
                <a:cs typeface="Arial"/>
              </a:rPr>
              <a:t>›.</a:t>
            </a:r>
            <a:r>
              <a:rPr sz="2300" dirty="0">
                <a:solidFill>
                  <a:srgbClr val="3F3F3F"/>
                </a:solidFill>
                <a:latin typeface="Arial"/>
                <a:cs typeface="Arial"/>
              </a:rPr>
              <a:t>	</a:t>
            </a:r>
            <a:r>
              <a:rPr sz="2300" spc="-210" dirty="0">
                <a:latin typeface="Arial"/>
                <a:cs typeface="Arial"/>
              </a:rPr>
              <a:t>Create</a:t>
            </a:r>
            <a:r>
              <a:rPr sz="2300" spc="75" dirty="0">
                <a:latin typeface="Arial"/>
                <a:cs typeface="Arial"/>
              </a:rPr>
              <a:t> </a:t>
            </a:r>
            <a:r>
              <a:rPr sz="2300" spc="-250" dirty="0">
                <a:latin typeface="Arial"/>
                <a:cs typeface="Arial"/>
              </a:rPr>
              <a:t>a</a:t>
            </a:r>
            <a:r>
              <a:rPr sz="2300" spc="-5" dirty="0">
                <a:latin typeface="Arial"/>
                <a:cs typeface="Arial"/>
              </a:rPr>
              <a:t> </a:t>
            </a:r>
            <a:r>
              <a:rPr sz="2300" spc="-270" dirty="0">
                <a:latin typeface="Arial"/>
                <a:cs typeface="Arial"/>
              </a:rPr>
              <a:t>Peer</a:t>
            </a:r>
            <a:r>
              <a:rPr sz="2300" spc="20" dirty="0">
                <a:latin typeface="Arial"/>
                <a:cs typeface="Arial"/>
              </a:rPr>
              <a:t> </a:t>
            </a:r>
            <a:r>
              <a:rPr sz="2300" spc="-45" dirty="0">
                <a:latin typeface="Arial"/>
                <a:cs typeface="Arial"/>
              </a:rPr>
              <a:t>Group.</a:t>
            </a:r>
            <a:endParaRPr sz="2300">
              <a:latin typeface="Arial"/>
              <a:cs typeface="Arial"/>
            </a:endParaRPr>
          </a:p>
          <a:p>
            <a:pPr marL="623570">
              <a:lnSpc>
                <a:spcPts val="2575"/>
              </a:lnSpc>
            </a:pPr>
            <a:r>
              <a:rPr sz="2300" spc="-150" dirty="0">
                <a:solidFill>
                  <a:srgbClr val="AC262B"/>
                </a:solidFill>
                <a:latin typeface="Arial"/>
                <a:cs typeface="Arial"/>
              </a:rPr>
              <a:t>group</a:t>
            </a:r>
            <a:r>
              <a:rPr sz="2300" spc="55" dirty="0">
                <a:solidFill>
                  <a:srgbClr val="AC262B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753836"/>
                </a:solidFill>
                <a:latin typeface="Arial"/>
                <a:cs typeface="Arial"/>
              </a:rPr>
              <a:t>=</a:t>
            </a:r>
            <a:r>
              <a:rPr sz="2300" spc="-50" dirty="0">
                <a:solidFill>
                  <a:srgbClr val="753836"/>
                </a:solidFill>
                <a:latin typeface="Arial"/>
                <a:cs typeface="Arial"/>
              </a:rPr>
              <a:t> </a:t>
            </a:r>
            <a:r>
              <a:rPr sz="2300" spc="-190" dirty="0">
                <a:solidFill>
                  <a:srgbClr val="7E333A"/>
                </a:solidFill>
                <a:latin typeface="Arial"/>
                <a:cs typeface="Arial"/>
              </a:rPr>
              <a:t>PeerGroupFactory.newNetPeerGroup();</a:t>
            </a:r>
            <a:endParaRPr sz="2300">
              <a:latin typeface="Arial"/>
              <a:cs typeface="Arial"/>
            </a:endParaRPr>
          </a:p>
          <a:p>
            <a:pPr marL="617855">
              <a:lnSpc>
                <a:spcPts val="2520"/>
              </a:lnSpc>
              <a:spcBef>
                <a:spcPts val="170"/>
              </a:spcBef>
            </a:pPr>
            <a:r>
              <a:rPr sz="2250" spc="-204" dirty="0">
                <a:latin typeface="Arial"/>
                <a:cs typeface="Arial"/>
              </a:rPr>
              <a:t>Get</a:t>
            </a:r>
            <a:r>
              <a:rPr sz="2250" spc="-35" dirty="0">
                <a:latin typeface="Arial"/>
                <a:cs typeface="Arial"/>
              </a:rPr>
              <a:t> </a:t>
            </a:r>
            <a:r>
              <a:rPr sz="2250" spc="-45" dirty="0">
                <a:latin typeface="Arial"/>
                <a:cs typeface="Arial"/>
              </a:rPr>
              <a:t>the</a:t>
            </a:r>
            <a:r>
              <a:rPr sz="2250" spc="-114" dirty="0">
                <a:latin typeface="Arial"/>
                <a:cs typeface="Arial"/>
              </a:rPr>
              <a:t> </a:t>
            </a:r>
            <a:r>
              <a:rPr sz="2250" spc="-155" dirty="0">
                <a:latin typeface="Arial"/>
                <a:cs typeface="Arial"/>
              </a:rPr>
              <a:t>Advertisement</a:t>
            </a:r>
            <a:r>
              <a:rPr sz="2250" spc="135" dirty="0">
                <a:latin typeface="Arial"/>
                <a:cs typeface="Arial"/>
              </a:rPr>
              <a:t> </a:t>
            </a:r>
            <a:r>
              <a:rPr sz="2250" spc="-65" dirty="0">
                <a:latin typeface="Arial"/>
                <a:cs typeface="Arial"/>
              </a:rPr>
              <a:t>for</a:t>
            </a:r>
            <a:r>
              <a:rPr sz="2250" spc="-40" dirty="0">
                <a:latin typeface="Arial"/>
                <a:cs typeface="Arial"/>
              </a:rPr>
              <a:t> </a:t>
            </a:r>
            <a:r>
              <a:rPr sz="2250" spc="-105" dirty="0">
                <a:latin typeface="Arial"/>
                <a:cs typeface="Arial"/>
              </a:rPr>
              <a:t>the</a:t>
            </a:r>
            <a:r>
              <a:rPr sz="2250" spc="-65" dirty="0">
                <a:latin typeface="Arial"/>
                <a:cs typeface="Arial"/>
              </a:rPr>
              <a:t> </a:t>
            </a:r>
            <a:r>
              <a:rPr sz="2250" spc="-10" dirty="0">
                <a:latin typeface="Arial"/>
                <a:cs typeface="Arial"/>
              </a:rPr>
              <a:t>Group.</a:t>
            </a:r>
            <a:endParaRPr sz="2250">
              <a:latin typeface="Arial"/>
              <a:cs typeface="Arial"/>
            </a:endParaRPr>
          </a:p>
          <a:p>
            <a:pPr marL="927100" marR="862330" indent="-313055">
              <a:lnSpc>
                <a:spcPts val="2390"/>
              </a:lnSpc>
              <a:spcBef>
                <a:spcPts val="210"/>
              </a:spcBef>
            </a:pPr>
            <a:r>
              <a:rPr sz="2300" spc="-160" dirty="0">
                <a:solidFill>
                  <a:srgbClr val="A8262A"/>
                </a:solidFill>
                <a:latin typeface="Arial"/>
                <a:cs typeface="Arial"/>
              </a:rPr>
              <a:t>groupAdvertisement</a:t>
            </a:r>
            <a:r>
              <a:rPr sz="2300" spc="150" dirty="0">
                <a:solidFill>
                  <a:srgbClr val="A8262A"/>
                </a:solidFill>
                <a:latin typeface="Arial"/>
                <a:cs typeface="Arial"/>
              </a:rPr>
              <a:t> </a:t>
            </a:r>
            <a:r>
              <a:rPr sz="2300" spc="-50" dirty="0">
                <a:solidFill>
                  <a:srgbClr val="80383D"/>
                </a:solidFill>
                <a:latin typeface="Arial"/>
                <a:cs typeface="Arial"/>
              </a:rPr>
              <a:t>= </a:t>
            </a:r>
            <a:r>
              <a:rPr sz="2300" spc="-155" dirty="0">
                <a:solidFill>
                  <a:srgbClr val="A5211D"/>
                </a:solidFill>
                <a:latin typeface="Arial"/>
                <a:cs typeface="Arial"/>
              </a:rPr>
              <a:t>group.getPeerGroupAdvertisement();</a:t>
            </a:r>
            <a:endParaRPr sz="2300">
              <a:latin typeface="Arial"/>
              <a:cs typeface="Arial"/>
            </a:endParaRPr>
          </a:p>
          <a:p>
            <a:pPr marL="619125">
              <a:lnSpc>
                <a:spcPts val="2455"/>
              </a:lnSpc>
              <a:spcBef>
                <a:spcPts val="305"/>
              </a:spcBef>
            </a:pPr>
            <a:r>
              <a:rPr sz="2100" spc="-85" dirty="0">
                <a:latin typeface="Arial"/>
                <a:cs typeface="Arial"/>
              </a:rPr>
              <a:t>Create</a:t>
            </a:r>
            <a:r>
              <a:rPr sz="2100" spc="-5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</a:t>
            </a:r>
            <a:r>
              <a:rPr sz="2100" spc="-90" dirty="0">
                <a:latin typeface="Arial"/>
                <a:cs typeface="Arial"/>
              </a:rPr>
              <a:t> </a:t>
            </a:r>
            <a:r>
              <a:rPr sz="2100" spc="-75" dirty="0">
                <a:latin typeface="Arial"/>
                <a:cs typeface="Arial"/>
              </a:rPr>
              <a:t>Discovery</a:t>
            </a:r>
            <a:r>
              <a:rPr sz="2100" spc="-50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Service.</a:t>
            </a:r>
            <a:endParaRPr sz="2100">
              <a:latin typeface="Arial"/>
              <a:cs typeface="Arial"/>
            </a:endParaRPr>
          </a:p>
          <a:p>
            <a:pPr marL="624205">
              <a:lnSpc>
                <a:spcPts val="2455"/>
              </a:lnSpc>
            </a:pPr>
            <a:r>
              <a:rPr sz="2100" spc="-55" dirty="0">
                <a:solidFill>
                  <a:srgbClr val="AC3134"/>
                </a:solidFill>
                <a:latin typeface="Arial"/>
                <a:cs typeface="Arial"/>
              </a:rPr>
              <a:t>disco</a:t>
            </a:r>
            <a:r>
              <a:rPr sz="2100" spc="60" dirty="0">
                <a:solidFill>
                  <a:srgbClr val="AC3134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83443D"/>
                </a:solidFill>
                <a:latin typeface="Arial"/>
                <a:cs typeface="Arial"/>
              </a:rPr>
              <a:t>=</a:t>
            </a:r>
            <a:r>
              <a:rPr sz="2100" spc="5" dirty="0">
                <a:solidFill>
                  <a:srgbClr val="83443D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B62A23"/>
                </a:solidFill>
                <a:latin typeface="Arial"/>
                <a:cs typeface="Arial"/>
              </a:rPr>
              <a:t>group.getDiscoveryService();</a:t>
            </a:r>
            <a:endParaRPr sz="2100">
              <a:latin typeface="Arial"/>
              <a:cs typeface="Arial"/>
            </a:endParaRPr>
          </a:p>
          <a:p>
            <a:pPr marL="610235">
              <a:lnSpc>
                <a:spcPts val="2475"/>
              </a:lnSpc>
              <a:spcBef>
                <a:spcPts val="365"/>
              </a:spcBef>
            </a:pPr>
            <a:r>
              <a:rPr sz="2100" spc="-75" dirty="0">
                <a:latin typeface="Arial"/>
                <a:cs typeface="Arial"/>
              </a:rPr>
              <a:t>Create</a:t>
            </a:r>
            <a:r>
              <a:rPr sz="2100" spc="-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</a:t>
            </a:r>
            <a:r>
              <a:rPr sz="2100" spc="-90" dirty="0">
                <a:latin typeface="Arial"/>
                <a:cs typeface="Arial"/>
              </a:rPr>
              <a:t> </a:t>
            </a:r>
            <a:r>
              <a:rPr sz="2100" spc="-100" dirty="0">
                <a:latin typeface="Arial"/>
                <a:cs typeface="Arial"/>
              </a:rPr>
              <a:t>Pipe</a:t>
            </a:r>
            <a:r>
              <a:rPr sz="2100" spc="-30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Service.</a:t>
            </a:r>
            <a:endParaRPr sz="2100">
              <a:latin typeface="Arial"/>
              <a:cs typeface="Arial"/>
            </a:endParaRPr>
          </a:p>
          <a:p>
            <a:pPr marL="615315">
              <a:lnSpc>
                <a:spcPts val="2475"/>
              </a:lnSpc>
            </a:pPr>
            <a:r>
              <a:rPr sz="2100" spc="-35" dirty="0">
                <a:solidFill>
                  <a:srgbClr val="A72D38"/>
                </a:solidFill>
                <a:latin typeface="Arial"/>
                <a:cs typeface="Arial"/>
              </a:rPr>
              <a:t>pipes</a:t>
            </a:r>
            <a:r>
              <a:rPr sz="2100" spc="65" dirty="0">
                <a:solidFill>
                  <a:srgbClr val="A72D38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893633"/>
                </a:solidFill>
                <a:latin typeface="Arial"/>
                <a:cs typeface="Arial"/>
              </a:rPr>
              <a:t>=</a:t>
            </a:r>
            <a:r>
              <a:rPr sz="2100" spc="5" dirty="0">
                <a:solidFill>
                  <a:srgbClr val="893633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AA2623"/>
                </a:solidFill>
                <a:latin typeface="Arial"/>
                <a:cs typeface="Arial"/>
              </a:rPr>
              <a:t>group.getPipeService();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62883" cy="1053703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765">
              <a:lnSpc>
                <a:spcPts val="5440"/>
              </a:lnSpc>
              <a:spcBef>
                <a:spcPts val="130"/>
              </a:spcBef>
            </a:pPr>
            <a:r>
              <a:rPr sz="4800" spc="-265" dirty="0">
                <a:solidFill>
                  <a:srgbClr val="363689"/>
                </a:solidFill>
                <a:latin typeface="Arial"/>
                <a:cs typeface="Arial"/>
              </a:rPr>
              <a:t>Building</a:t>
            </a:r>
            <a:r>
              <a:rPr sz="4800" spc="195" dirty="0">
                <a:solidFill>
                  <a:srgbClr val="363689"/>
                </a:solidFill>
                <a:latin typeface="Arial"/>
                <a:cs typeface="Arial"/>
              </a:rPr>
              <a:t> </a:t>
            </a:r>
            <a:r>
              <a:rPr sz="4800" spc="-100" dirty="0">
                <a:solidFill>
                  <a:srgbClr val="3B3689"/>
                </a:solidFill>
                <a:latin typeface="Arial"/>
                <a:cs typeface="Arial"/>
              </a:rPr>
              <a:t>our</a:t>
            </a:r>
            <a:r>
              <a:rPr sz="4800" spc="70" dirty="0">
                <a:solidFill>
                  <a:srgbClr val="3B3689"/>
                </a:solidFill>
                <a:latin typeface="Arial"/>
                <a:cs typeface="Arial"/>
              </a:rPr>
              <a:t> </a:t>
            </a:r>
            <a:r>
              <a:rPr sz="4800" spc="-484" dirty="0">
                <a:solidFill>
                  <a:srgbClr val="363895"/>
                </a:solidFill>
                <a:latin typeface="Arial"/>
                <a:cs typeface="Arial"/>
              </a:rPr>
              <a:t>Peer</a:t>
            </a:r>
            <a:r>
              <a:rPr sz="4800" spc="185" dirty="0">
                <a:solidFill>
                  <a:srgbClr val="363895"/>
                </a:solidFill>
                <a:latin typeface="Arial"/>
                <a:cs typeface="Arial"/>
              </a:rPr>
              <a:t> </a:t>
            </a:r>
            <a:r>
              <a:rPr sz="4800" spc="-365" dirty="0">
                <a:solidFill>
                  <a:srgbClr val="363195"/>
                </a:solidFill>
                <a:latin typeface="Arial"/>
                <a:cs typeface="Arial"/>
              </a:rPr>
              <a:t>Existence</a:t>
            </a:r>
            <a:endParaRPr sz="4800">
              <a:latin typeface="Arial"/>
              <a:cs typeface="Arial"/>
            </a:endParaRPr>
          </a:p>
          <a:p>
            <a:pPr marL="34290">
              <a:lnSpc>
                <a:spcPts val="5620"/>
              </a:lnSpc>
            </a:pPr>
            <a:r>
              <a:rPr sz="4950" spc="-385" dirty="0">
                <a:solidFill>
                  <a:srgbClr val="343189"/>
                </a:solidFill>
                <a:latin typeface="Arial"/>
                <a:cs typeface="Arial"/>
              </a:rPr>
              <a:t>Adve1isement</a:t>
            </a:r>
            <a:endParaRPr sz="4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5828" y="2013098"/>
            <a:ext cx="7134225" cy="678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575"/>
              </a:lnSpc>
              <a:spcBef>
                <a:spcPts val="95"/>
              </a:spcBef>
              <a:tabLst>
                <a:tab pos="633095" algn="l"/>
              </a:tabLst>
            </a:pPr>
            <a:r>
              <a:rPr sz="2300" spc="-25" dirty="0">
                <a:solidFill>
                  <a:srgbClr val="444444"/>
                </a:solidFill>
                <a:latin typeface="Calibri"/>
                <a:cs typeface="Calibri"/>
              </a:rPr>
              <a:t>›.</a:t>
            </a:r>
            <a:r>
              <a:rPr sz="2300" dirty="0">
                <a:solidFill>
                  <a:srgbClr val="444444"/>
                </a:solidFill>
                <a:latin typeface="Calibri"/>
                <a:cs typeface="Calibri"/>
              </a:rPr>
              <a:t>	</a:t>
            </a:r>
            <a:r>
              <a:rPr sz="2300" spc="-70" dirty="0">
                <a:latin typeface="Calibri"/>
                <a:cs typeface="Calibri"/>
              </a:rPr>
              <a:t>Create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</a:t>
            </a:r>
            <a:r>
              <a:rPr sz="2300" spc="-114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Advelisement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55" dirty="0">
                <a:latin typeface="Calibri"/>
                <a:cs typeface="Calibri"/>
              </a:rPr>
              <a:t>for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30" dirty="0">
                <a:latin typeface="Calibri"/>
                <a:cs typeface="Calibri"/>
              </a:rPr>
              <a:t>our </a:t>
            </a:r>
            <a:r>
              <a:rPr sz="2300" spc="-10" dirty="0">
                <a:latin typeface="Calibri"/>
                <a:cs typeface="Calibri"/>
              </a:rPr>
              <a:t>Service.</a:t>
            </a:r>
            <a:endParaRPr sz="2300">
              <a:latin typeface="Calibri"/>
              <a:cs typeface="Calibri"/>
            </a:endParaRPr>
          </a:p>
          <a:p>
            <a:pPr marL="625475">
              <a:lnSpc>
                <a:spcPts val="2575"/>
              </a:lnSpc>
              <a:tabLst>
                <a:tab pos="1784985" algn="l"/>
              </a:tabLst>
            </a:pPr>
            <a:r>
              <a:rPr sz="2300" spc="-45" dirty="0">
                <a:solidFill>
                  <a:srgbClr val="A12328"/>
                </a:solidFill>
                <a:latin typeface="Calibri"/>
                <a:cs typeface="Calibri"/>
              </a:rPr>
              <a:t>mcadv</a:t>
            </a:r>
            <a:r>
              <a:rPr sz="2300" spc="10" dirty="0">
                <a:solidFill>
                  <a:srgbClr val="A12328"/>
                </a:solidFill>
                <a:latin typeface="Calibri"/>
                <a:cs typeface="Calibri"/>
              </a:rPr>
              <a:t> </a:t>
            </a:r>
            <a:r>
              <a:rPr sz="2300" spc="-50" dirty="0">
                <a:solidFill>
                  <a:srgbClr val="803431"/>
                </a:solidFill>
                <a:latin typeface="Calibri"/>
                <a:cs typeface="Calibri"/>
              </a:rPr>
              <a:t>=</a:t>
            </a:r>
            <a:r>
              <a:rPr sz="2300" dirty="0">
                <a:solidFill>
                  <a:srgbClr val="803431"/>
                </a:solidFill>
                <a:latin typeface="Calibri"/>
                <a:cs typeface="Calibri"/>
              </a:rPr>
              <a:t>	</a:t>
            </a:r>
            <a:r>
              <a:rPr sz="2300" spc="-85" dirty="0">
                <a:solidFill>
                  <a:srgbClr val="ED6966"/>
                </a:solidFill>
                <a:latin typeface="Calibri"/>
                <a:cs typeface="Calibri"/>
              </a:rPr>
              <a:t>AdvertisementFactory.newAdvertisement(type);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6945" y="2875358"/>
            <a:ext cx="116085" cy="11608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55824" y="3476575"/>
            <a:ext cx="161290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spc="-25" dirty="0">
                <a:solidFill>
                  <a:srgbClr val="424242"/>
                </a:solidFill>
                <a:latin typeface="Calibri"/>
                <a:cs typeface="Calibri"/>
              </a:rPr>
              <a:t>3.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47737" y="4022278"/>
            <a:ext cx="118745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50" dirty="0">
                <a:solidFill>
                  <a:srgbClr val="3F3B64"/>
                </a:solidFill>
                <a:latin typeface="Calibri"/>
                <a:cs typeface="Calibri"/>
              </a:rPr>
              <a:t>‹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9949" y="2689026"/>
            <a:ext cx="6932295" cy="328866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611505" marR="1814830" indent="10795">
              <a:lnSpc>
                <a:spcPct val="97700"/>
              </a:lnSpc>
              <a:spcBef>
                <a:spcPts val="155"/>
              </a:spcBef>
            </a:pPr>
            <a:r>
              <a:rPr sz="2250" dirty="0">
                <a:latin typeface="Calibri"/>
                <a:cs typeface="Calibri"/>
              </a:rPr>
              <a:t>Set</a:t>
            </a:r>
            <a:r>
              <a:rPr sz="2250" spc="-75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the</a:t>
            </a:r>
            <a:r>
              <a:rPr sz="2250" spc="-45" dirty="0">
                <a:latin typeface="Calibri"/>
                <a:cs typeface="Calibri"/>
              </a:rPr>
              <a:t> </a:t>
            </a:r>
            <a:r>
              <a:rPr sz="2250" spc="-50" dirty="0">
                <a:latin typeface="Calibri"/>
                <a:cs typeface="Calibri"/>
              </a:rPr>
              <a:t>name</a:t>
            </a:r>
            <a:r>
              <a:rPr sz="2250" spc="-7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of</a:t>
            </a:r>
            <a:r>
              <a:rPr sz="2250" spc="-80" dirty="0">
                <a:latin typeface="Calibri"/>
                <a:cs typeface="Calibri"/>
              </a:rPr>
              <a:t> </a:t>
            </a:r>
            <a:r>
              <a:rPr sz="2250" spc="-20" dirty="0">
                <a:latin typeface="Calibri"/>
                <a:cs typeface="Calibri"/>
              </a:rPr>
              <a:t>the</a:t>
            </a:r>
            <a:r>
              <a:rPr sz="2250" spc="-45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advelisement. </a:t>
            </a:r>
            <a:r>
              <a:rPr sz="2250" spc="-55" dirty="0">
                <a:solidFill>
                  <a:srgbClr val="913133"/>
                </a:solidFill>
                <a:latin typeface="Calibri"/>
                <a:cs typeface="Calibri"/>
              </a:rPr>
              <a:t>mcadv.setName("JXTAMOD:JXTA-</a:t>
            </a:r>
            <a:r>
              <a:rPr sz="2250" spc="-10" dirty="0">
                <a:solidFill>
                  <a:srgbClr val="913133"/>
                </a:solidFill>
                <a:latin typeface="Calibri"/>
                <a:cs typeface="Calibri"/>
              </a:rPr>
              <a:t>EX1"); </a:t>
            </a:r>
            <a:r>
              <a:rPr sz="2250" dirty="0">
                <a:latin typeface="Calibri"/>
                <a:cs typeface="Calibri"/>
              </a:rPr>
              <a:t>Set</a:t>
            </a:r>
            <a:r>
              <a:rPr sz="2250" spc="-7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</a:t>
            </a:r>
            <a:r>
              <a:rPr sz="2250" spc="-10" dirty="0">
                <a:latin typeface="Calibri"/>
                <a:cs typeface="Calibri"/>
              </a:rPr>
              <a:t> </a:t>
            </a:r>
            <a:r>
              <a:rPr sz="2250" spc="-65" dirty="0">
                <a:latin typeface="Calibri"/>
                <a:cs typeface="Calibri"/>
              </a:rPr>
              <a:t>description</a:t>
            </a:r>
            <a:r>
              <a:rPr sz="2250" spc="114" dirty="0">
                <a:latin typeface="Calibri"/>
                <a:cs typeface="Calibri"/>
              </a:rPr>
              <a:t> </a:t>
            </a:r>
            <a:r>
              <a:rPr sz="2250" spc="-30" dirty="0">
                <a:latin typeface="Calibri"/>
                <a:cs typeface="Calibri"/>
              </a:rPr>
              <a:t>for</a:t>
            </a:r>
            <a:r>
              <a:rPr sz="2250" dirty="0">
                <a:latin typeface="Calibri"/>
                <a:cs typeface="Calibri"/>
              </a:rPr>
              <a:t> </a:t>
            </a:r>
            <a:r>
              <a:rPr sz="2250" spc="-20" dirty="0">
                <a:latin typeface="Calibri"/>
                <a:cs typeface="Calibri"/>
              </a:rPr>
              <a:t>the</a:t>
            </a:r>
            <a:r>
              <a:rPr sz="2250" spc="-55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advelisement.</a:t>
            </a:r>
            <a:endParaRPr sz="2250">
              <a:latin typeface="Calibri"/>
              <a:cs typeface="Calibri"/>
            </a:endParaRPr>
          </a:p>
          <a:p>
            <a:pPr marL="610870">
              <a:lnSpc>
                <a:spcPts val="2400"/>
              </a:lnSpc>
            </a:pPr>
            <a:r>
              <a:rPr sz="2300" spc="-85" dirty="0">
                <a:solidFill>
                  <a:srgbClr val="912D2D"/>
                </a:solidFill>
                <a:latin typeface="Calibri"/>
                <a:cs typeface="Calibri"/>
              </a:rPr>
              <a:t>mcadv.setDescriptiong‘Example</a:t>
            </a:r>
            <a:r>
              <a:rPr sz="2300" spc="90" dirty="0">
                <a:solidFill>
                  <a:srgbClr val="912D2D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A82A36"/>
                </a:solidFill>
                <a:latin typeface="Calibri"/>
                <a:cs typeface="Calibri"/>
              </a:rPr>
              <a:t>advertisement");</a:t>
            </a:r>
            <a:endParaRPr sz="2300">
              <a:latin typeface="Calibri"/>
              <a:cs typeface="Calibri"/>
            </a:endParaRPr>
          </a:p>
          <a:p>
            <a:pPr marL="610870" marR="1818639" indent="8255">
              <a:lnSpc>
                <a:spcPct val="87300"/>
              </a:lnSpc>
              <a:spcBef>
                <a:spcPts val="475"/>
              </a:spcBef>
            </a:pPr>
            <a:r>
              <a:rPr sz="2300" spc="-60" dirty="0">
                <a:latin typeface="Calibri"/>
                <a:cs typeface="Calibri"/>
              </a:rPr>
              <a:t>Give </a:t>
            </a:r>
            <a:r>
              <a:rPr sz="2300" spc="-50" dirty="0">
                <a:latin typeface="Calibri"/>
                <a:cs typeface="Calibri"/>
              </a:rPr>
              <a:t>the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90" dirty="0">
                <a:latin typeface="Calibri"/>
                <a:cs typeface="Calibri"/>
              </a:rPr>
              <a:t>advertisement</a:t>
            </a:r>
            <a:r>
              <a:rPr sz="2300" spc="80" dirty="0">
                <a:latin typeface="Calibri"/>
                <a:cs typeface="Calibri"/>
              </a:rPr>
              <a:t> </a:t>
            </a:r>
            <a:r>
              <a:rPr sz="2300" spc="75" dirty="0">
                <a:latin typeface="Calibri"/>
                <a:cs typeface="Calibri"/>
              </a:rPr>
              <a:t>a</a:t>
            </a:r>
            <a:r>
              <a:rPr sz="2300" spc="-130" dirty="0">
                <a:latin typeface="Calibri"/>
                <a:cs typeface="Calibri"/>
              </a:rPr>
              <a:t> </a:t>
            </a:r>
            <a:r>
              <a:rPr sz="2300" spc="-95" dirty="0">
                <a:latin typeface="Calibri"/>
                <a:cs typeface="Calibri"/>
              </a:rPr>
              <a:t>unique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55" dirty="0">
                <a:latin typeface="Calibri"/>
                <a:cs typeface="Calibri"/>
              </a:rPr>
              <a:t>ID. </a:t>
            </a:r>
            <a:r>
              <a:rPr sz="2300" dirty="0">
                <a:solidFill>
                  <a:srgbClr val="BF4649"/>
                </a:solidFill>
                <a:latin typeface="Calibri"/>
                <a:cs typeface="Calibri"/>
              </a:rPr>
              <a:t>mcID</a:t>
            </a:r>
            <a:r>
              <a:rPr sz="2300" spc="150" dirty="0">
                <a:solidFill>
                  <a:srgbClr val="BF4649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803636"/>
                </a:solidFill>
                <a:latin typeface="Calibri"/>
                <a:cs typeface="Calibri"/>
              </a:rPr>
              <a:t>=</a:t>
            </a:r>
            <a:r>
              <a:rPr sz="2300" spc="235" dirty="0">
                <a:solidFill>
                  <a:srgbClr val="803636"/>
                </a:solidFill>
                <a:latin typeface="Calibri"/>
                <a:cs typeface="Calibri"/>
              </a:rPr>
              <a:t> </a:t>
            </a:r>
            <a:r>
              <a:rPr sz="2300" spc="-60" dirty="0">
                <a:solidFill>
                  <a:srgbClr val="951813"/>
                </a:solidFill>
                <a:latin typeface="Calibri"/>
                <a:cs typeface="Calibri"/>
              </a:rPr>
              <a:t>IDFactory.newModuleCIassID(); </a:t>
            </a:r>
            <a:r>
              <a:rPr sz="2300" spc="-35" dirty="0">
                <a:solidFill>
                  <a:srgbClr val="8C2A2D"/>
                </a:solidFill>
                <a:latin typeface="Calibri"/>
                <a:cs typeface="Calibri"/>
              </a:rPr>
              <a:t>mcadv.setModuIeCIassID(mcID);</a:t>
            </a:r>
            <a:endParaRPr sz="2300">
              <a:latin typeface="Calibri"/>
              <a:cs typeface="Calibri"/>
            </a:endParaRPr>
          </a:p>
          <a:p>
            <a:pPr marL="611505" marR="5080" indent="-599440">
              <a:lnSpc>
                <a:spcPct val="94900"/>
              </a:lnSpc>
              <a:spcBef>
                <a:spcPts val="450"/>
              </a:spcBef>
              <a:tabLst>
                <a:tab pos="619125" algn="l"/>
              </a:tabLst>
            </a:pPr>
            <a:r>
              <a:rPr sz="2100" spc="-25" dirty="0">
                <a:solidFill>
                  <a:srgbClr val="464646"/>
                </a:solidFill>
                <a:latin typeface="Calibri"/>
                <a:cs typeface="Calibri"/>
              </a:rPr>
              <a:t>t.</a:t>
            </a:r>
            <a:r>
              <a:rPr sz="2100" dirty="0">
                <a:solidFill>
                  <a:srgbClr val="464646"/>
                </a:solidFill>
                <a:latin typeface="Calibri"/>
                <a:cs typeface="Calibri"/>
              </a:rPr>
              <a:t>		</a:t>
            </a:r>
            <a:r>
              <a:rPr sz="2100" dirty="0">
                <a:latin typeface="Calibri"/>
                <a:cs typeface="Calibri"/>
              </a:rPr>
              <a:t>Publish</a:t>
            </a:r>
            <a:r>
              <a:rPr sz="2100" spc="1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new</a:t>
            </a:r>
            <a:r>
              <a:rPr sz="2100" spc="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Advertisement</a:t>
            </a:r>
            <a:r>
              <a:rPr sz="2100" spc="20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</a:t>
            </a:r>
            <a:r>
              <a:rPr sz="2100" spc="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our</a:t>
            </a:r>
            <a:r>
              <a:rPr sz="2100" spc="11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Discovery</a:t>
            </a:r>
            <a:r>
              <a:rPr sz="2100" spc="24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Service. </a:t>
            </a:r>
            <a:r>
              <a:rPr sz="2100" dirty="0">
                <a:solidFill>
                  <a:srgbClr val="A83838"/>
                </a:solidFill>
                <a:latin typeface="Calibri"/>
                <a:cs typeface="Calibri"/>
              </a:rPr>
              <a:t>disco.publish(mcadv,</a:t>
            </a:r>
            <a:r>
              <a:rPr sz="2100" spc="250" dirty="0">
                <a:solidFill>
                  <a:srgbClr val="A83838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A5262D"/>
                </a:solidFill>
                <a:latin typeface="Calibri"/>
                <a:cs typeface="Calibri"/>
              </a:rPr>
              <a:t>DiscoveryService.ADV); </a:t>
            </a:r>
            <a:r>
              <a:rPr sz="2100" dirty="0">
                <a:solidFill>
                  <a:srgbClr val="A32B2D"/>
                </a:solidFill>
                <a:latin typeface="Calibri"/>
                <a:cs typeface="Calibri"/>
              </a:rPr>
              <a:t>disco.remotePubIish(mcadv,</a:t>
            </a:r>
            <a:r>
              <a:rPr sz="2100" spc="405" dirty="0">
                <a:solidFill>
                  <a:srgbClr val="A32B2D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B3282B"/>
                </a:solidFill>
                <a:latin typeface="Calibri"/>
                <a:cs typeface="Calibri"/>
              </a:rPr>
              <a:t>DiscoveryService.ADV);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98601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34290" marR="5080" indent="-1905">
              <a:lnSpc>
                <a:spcPts val="5270"/>
              </a:lnSpc>
              <a:spcBef>
                <a:spcPts val="765"/>
              </a:spcBef>
            </a:pPr>
            <a:r>
              <a:rPr sz="4850" spc="-285" dirty="0">
                <a:solidFill>
                  <a:srgbClr val="383495"/>
                </a:solidFill>
                <a:latin typeface="Arial"/>
                <a:cs typeface="Arial"/>
              </a:rPr>
              <a:t>Buiiding</a:t>
            </a:r>
            <a:r>
              <a:rPr sz="4850" spc="254" dirty="0">
                <a:solidFill>
                  <a:srgbClr val="383495"/>
                </a:solidFill>
                <a:latin typeface="Arial"/>
                <a:cs typeface="Arial"/>
              </a:rPr>
              <a:t> </a:t>
            </a:r>
            <a:r>
              <a:rPr sz="4850" spc="-260" dirty="0">
                <a:solidFill>
                  <a:srgbClr val="383491"/>
                </a:solidFill>
                <a:latin typeface="Arial"/>
                <a:cs typeface="Arial"/>
              </a:rPr>
              <a:t>our</a:t>
            </a:r>
            <a:r>
              <a:rPr sz="4850" spc="185" dirty="0">
                <a:solidFill>
                  <a:srgbClr val="383491"/>
                </a:solidFill>
                <a:latin typeface="Arial"/>
                <a:cs typeface="Arial"/>
              </a:rPr>
              <a:t> </a:t>
            </a:r>
            <a:r>
              <a:rPr sz="4850" spc="-385" dirty="0">
                <a:solidFill>
                  <a:srgbClr val="383D8E"/>
                </a:solidFill>
                <a:latin typeface="Arial"/>
                <a:cs typeface="Arial"/>
              </a:rPr>
              <a:t>Service </a:t>
            </a:r>
            <a:r>
              <a:rPr sz="4850" spc="-330" dirty="0">
                <a:solidFill>
                  <a:srgbClr val="363391"/>
                </a:solidFill>
                <a:latin typeface="Arial"/>
                <a:cs typeface="Arial"/>
              </a:rPr>
              <a:t>Advertisement</a:t>
            </a:r>
            <a:endParaRPr sz="48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7877" y="2128192"/>
            <a:ext cx="147320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spc="-25" dirty="0">
                <a:solidFill>
                  <a:srgbClr val="414141"/>
                </a:solidFill>
                <a:latin typeface="Calibri"/>
                <a:cs typeface="Calibri"/>
              </a:rPr>
              <a:t>1.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3853" y="2797919"/>
            <a:ext cx="152400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spc="-25" dirty="0">
                <a:solidFill>
                  <a:srgbClr val="444444"/>
                </a:solidFill>
                <a:latin typeface="Calibri"/>
                <a:cs typeface="Calibri"/>
              </a:rPr>
              <a:t>2.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5824" y="3476575"/>
            <a:ext cx="161290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spc="-25" dirty="0">
                <a:solidFill>
                  <a:srgbClr val="464646"/>
                </a:solidFill>
                <a:latin typeface="Calibri"/>
                <a:cs typeface="Calibri"/>
              </a:rPr>
              <a:t>3.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67717" y="2033438"/>
            <a:ext cx="6503034" cy="26663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3970" marR="5080" indent="-1905">
              <a:lnSpc>
                <a:spcPct val="101699"/>
              </a:lnSpc>
              <a:spcBef>
                <a:spcPts val="55"/>
              </a:spcBef>
            </a:pPr>
            <a:r>
              <a:rPr sz="2100" dirty="0">
                <a:latin typeface="Calibri"/>
                <a:cs typeface="Calibri"/>
              </a:rPr>
              <a:t>Create</a:t>
            </a:r>
            <a:r>
              <a:rPr sz="2100" spc="145" dirty="0">
                <a:latin typeface="Calibri"/>
                <a:cs typeface="Calibri"/>
              </a:rPr>
              <a:t> </a:t>
            </a:r>
            <a:r>
              <a:rPr sz="2100" spc="70" dirty="0">
                <a:latin typeface="Calibri"/>
                <a:cs typeface="Calibri"/>
              </a:rPr>
              <a:t>an</a:t>
            </a:r>
            <a:r>
              <a:rPr sz="2100" spc="60" dirty="0">
                <a:latin typeface="Calibri"/>
                <a:cs typeface="Calibri"/>
              </a:rPr>
              <a:t> Advelisement</a:t>
            </a:r>
            <a:r>
              <a:rPr sz="2100" spc="2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for</a:t>
            </a:r>
            <a:r>
              <a:rPr sz="2100" spc="1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1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Service</a:t>
            </a:r>
            <a:r>
              <a:rPr sz="2100" spc="190" dirty="0">
                <a:latin typeface="Calibri"/>
                <a:cs typeface="Calibri"/>
              </a:rPr>
              <a:t> </a:t>
            </a:r>
            <a:r>
              <a:rPr sz="2100" spc="60" dirty="0">
                <a:latin typeface="Calibri"/>
                <a:cs typeface="Calibri"/>
              </a:rPr>
              <a:t>(just</a:t>
            </a:r>
            <a:r>
              <a:rPr sz="2100" spc="1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like</a:t>
            </a:r>
            <a:r>
              <a:rPr sz="2100" spc="17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before). </a:t>
            </a:r>
            <a:r>
              <a:rPr sz="2100" dirty="0">
                <a:solidFill>
                  <a:srgbClr val="8C2D33"/>
                </a:solidFill>
                <a:latin typeface="Calibri"/>
                <a:cs typeface="Calibri"/>
              </a:rPr>
              <a:t>mdadv</a:t>
            </a:r>
            <a:r>
              <a:rPr sz="2100" spc="345" dirty="0">
                <a:solidFill>
                  <a:srgbClr val="8C2D33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BC6E72"/>
                </a:solidFill>
                <a:latin typeface="Calibri"/>
                <a:cs typeface="Calibri"/>
              </a:rPr>
              <a:t>=</a:t>
            </a:r>
            <a:r>
              <a:rPr sz="2100" spc="415" dirty="0">
                <a:solidFill>
                  <a:srgbClr val="BC6E72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9E2A2D"/>
                </a:solidFill>
                <a:latin typeface="Calibri"/>
                <a:cs typeface="Calibri"/>
              </a:rPr>
              <a:t>AdvertisementFactory.nevvAdvertisement(type); </a:t>
            </a:r>
            <a:r>
              <a:rPr sz="2250" dirty="0">
                <a:latin typeface="Calibri"/>
                <a:cs typeface="Calibri"/>
              </a:rPr>
              <a:t>Set</a:t>
            </a:r>
            <a:r>
              <a:rPr sz="2250" spc="-50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the</a:t>
            </a:r>
            <a:r>
              <a:rPr sz="2250" spc="-60" dirty="0">
                <a:latin typeface="Calibri"/>
                <a:cs typeface="Calibri"/>
              </a:rPr>
              <a:t> </a:t>
            </a:r>
            <a:r>
              <a:rPr sz="2250" spc="-25" dirty="0">
                <a:latin typeface="Calibri"/>
                <a:cs typeface="Calibri"/>
              </a:rPr>
              <a:t>name</a:t>
            </a:r>
            <a:r>
              <a:rPr sz="2250" spc="-3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of</a:t>
            </a:r>
            <a:r>
              <a:rPr sz="2250" spc="-95" dirty="0">
                <a:latin typeface="Calibri"/>
                <a:cs typeface="Calibri"/>
              </a:rPr>
              <a:t> </a:t>
            </a:r>
            <a:r>
              <a:rPr sz="2250" spc="-20" dirty="0">
                <a:latin typeface="Calibri"/>
                <a:cs typeface="Calibri"/>
              </a:rPr>
              <a:t>the</a:t>
            </a:r>
            <a:r>
              <a:rPr sz="2250" spc="-7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Advelisement</a:t>
            </a:r>
            <a:r>
              <a:rPr sz="2250" spc="8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(just</a:t>
            </a:r>
            <a:r>
              <a:rPr sz="2250" spc="-65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like</a:t>
            </a:r>
            <a:r>
              <a:rPr sz="2250" spc="-45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before).</a:t>
            </a:r>
            <a:endParaRPr sz="2250">
              <a:latin typeface="Calibri"/>
              <a:cs typeface="Calibri"/>
            </a:endParaRPr>
          </a:p>
          <a:p>
            <a:pPr marL="12700">
              <a:lnSpc>
                <a:spcPts val="2390"/>
              </a:lnSpc>
            </a:pPr>
            <a:r>
              <a:rPr sz="2250" spc="-45" dirty="0">
                <a:solidFill>
                  <a:srgbClr val="8A2F34"/>
                </a:solidFill>
                <a:latin typeface="Calibri"/>
                <a:cs typeface="Calibri"/>
              </a:rPr>
              <a:t>mdadv.setName("JXTASPEC:JXTA-</a:t>
            </a:r>
            <a:r>
              <a:rPr sz="2250" spc="-10" dirty="0">
                <a:solidFill>
                  <a:srgbClr val="8A2F34"/>
                </a:solidFill>
                <a:latin typeface="Calibri"/>
                <a:cs typeface="Calibri"/>
              </a:rPr>
              <a:t>EX1");</a:t>
            </a:r>
            <a:endParaRPr sz="2250">
              <a:latin typeface="Calibri"/>
              <a:cs typeface="Calibri"/>
            </a:endParaRPr>
          </a:p>
          <a:p>
            <a:pPr marL="12700" marR="382270" indent="1905">
              <a:lnSpc>
                <a:spcPts val="2390"/>
              </a:lnSpc>
              <a:spcBef>
                <a:spcPts val="555"/>
              </a:spcBef>
            </a:pPr>
            <a:r>
              <a:rPr sz="2250" dirty="0">
                <a:latin typeface="Calibri"/>
                <a:cs typeface="Calibri"/>
              </a:rPr>
              <a:t>Set</a:t>
            </a:r>
            <a:r>
              <a:rPr sz="2250" spc="-6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</a:t>
            </a:r>
            <a:r>
              <a:rPr sz="2250" spc="-55" dirty="0">
                <a:latin typeface="Calibri"/>
                <a:cs typeface="Calibri"/>
              </a:rPr>
              <a:t> </a:t>
            </a:r>
            <a:r>
              <a:rPr sz="2250" spc="-45" dirty="0">
                <a:latin typeface="Calibri"/>
                <a:cs typeface="Calibri"/>
              </a:rPr>
              <a:t>version</a:t>
            </a:r>
            <a:r>
              <a:rPr sz="2250" spc="35" dirty="0">
                <a:latin typeface="Calibri"/>
                <a:cs typeface="Calibri"/>
              </a:rPr>
              <a:t> </a:t>
            </a:r>
            <a:r>
              <a:rPr sz="2250" spc="-30" dirty="0">
                <a:latin typeface="Calibri"/>
                <a:cs typeface="Calibri"/>
              </a:rPr>
              <a:t>for </a:t>
            </a:r>
            <a:r>
              <a:rPr sz="2250" dirty="0">
                <a:latin typeface="Calibri"/>
                <a:cs typeface="Calibri"/>
              </a:rPr>
              <a:t>the</a:t>
            </a:r>
            <a:r>
              <a:rPr sz="2250" spc="-25" dirty="0">
                <a:latin typeface="Calibri"/>
                <a:cs typeface="Calibri"/>
              </a:rPr>
              <a:t> </a:t>
            </a:r>
            <a:r>
              <a:rPr sz="2250" spc="-80" dirty="0">
                <a:latin typeface="Calibri"/>
                <a:cs typeface="Calibri"/>
              </a:rPr>
              <a:t>Advertisement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(many</a:t>
            </a:r>
            <a:r>
              <a:rPr sz="2250" spc="-35" dirty="0">
                <a:latin typeface="Calibri"/>
                <a:cs typeface="Calibri"/>
              </a:rPr>
              <a:t> </a:t>
            </a:r>
            <a:r>
              <a:rPr sz="2250" spc="-45" dirty="0">
                <a:latin typeface="Calibri"/>
                <a:cs typeface="Calibri"/>
              </a:rPr>
              <a:t>properties). </a:t>
            </a:r>
            <a:r>
              <a:rPr sz="2250" spc="-65" dirty="0">
                <a:solidFill>
                  <a:srgbClr val="8E2A28"/>
                </a:solidFill>
                <a:latin typeface="Calibri"/>
                <a:cs typeface="Calibri"/>
              </a:rPr>
              <a:t>mdadv.setVersion</a:t>
            </a:r>
            <a:r>
              <a:rPr sz="2250" spc="185" dirty="0">
                <a:solidFill>
                  <a:srgbClr val="8E2A28"/>
                </a:solidFill>
                <a:latin typeface="Calibri"/>
                <a:cs typeface="Calibri"/>
              </a:rPr>
              <a:t> </a:t>
            </a:r>
            <a:r>
              <a:rPr sz="2250" spc="-65" dirty="0">
                <a:solidFill>
                  <a:srgbClr val="8E2A28"/>
                </a:solidFill>
                <a:latin typeface="Calibri"/>
                <a:cs typeface="Calibri"/>
              </a:rPr>
              <a:t>‘Version</a:t>
            </a:r>
            <a:r>
              <a:rPr sz="2250" spc="50" dirty="0">
                <a:solidFill>
                  <a:srgbClr val="8E2A28"/>
                </a:solidFill>
                <a:latin typeface="Calibri"/>
                <a:cs typeface="Calibri"/>
              </a:rPr>
              <a:t> </a:t>
            </a:r>
            <a:r>
              <a:rPr sz="2250" spc="-10" dirty="0">
                <a:solidFill>
                  <a:srgbClr val="B12823"/>
                </a:solidFill>
                <a:latin typeface="Calibri"/>
                <a:cs typeface="Calibri"/>
              </a:rPr>
              <a:t>1.0”);</a:t>
            </a:r>
            <a:endParaRPr sz="2250">
              <a:latin typeface="Calibri"/>
              <a:cs typeface="Calibri"/>
            </a:endParaRPr>
          </a:p>
          <a:p>
            <a:pPr marL="12700" marR="53975" indent="-635">
              <a:lnSpc>
                <a:spcPts val="2390"/>
              </a:lnSpc>
              <a:spcBef>
                <a:spcPts val="495"/>
              </a:spcBef>
            </a:pPr>
            <a:r>
              <a:rPr sz="2250" spc="-10" dirty="0">
                <a:latin typeface="Calibri"/>
                <a:cs typeface="Calibri"/>
              </a:rPr>
              <a:t>Give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spc="-30" dirty="0">
                <a:latin typeface="Calibri"/>
                <a:cs typeface="Calibri"/>
              </a:rPr>
              <a:t>the</a:t>
            </a:r>
            <a:r>
              <a:rPr sz="2250" dirty="0">
                <a:latin typeface="Calibri"/>
                <a:cs typeface="Calibri"/>
              </a:rPr>
              <a:t> </a:t>
            </a:r>
            <a:r>
              <a:rPr sz="2250" spc="-75" dirty="0">
                <a:latin typeface="Calibri"/>
                <a:cs typeface="Calibri"/>
              </a:rPr>
              <a:t>Advertisement</a:t>
            </a:r>
            <a:r>
              <a:rPr sz="2250" spc="3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</a:t>
            </a:r>
            <a:r>
              <a:rPr sz="2250" spc="-40" dirty="0">
                <a:latin typeface="Calibri"/>
                <a:cs typeface="Calibri"/>
              </a:rPr>
              <a:t> </a:t>
            </a:r>
            <a:r>
              <a:rPr sz="2250" spc="-70" dirty="0">
                <a:latin typeface="Calibri"/>
                <a:cs typeface="Calibri"/>
              </a:rPr>
              <a:t>unique</a:t>
            </a:r>
            <a:r>
              <a:rPr sz="2250" spc="-30" dirty="0">
                <a:latin typeface="Calibri"/>
                <a:cs typeface="Calibri"/>
              </a:rPr>
              <a:t> </a:t>
            </a:r>
            <a:r>
              <a:rPr sz="2250" spc="45" dirty="0">
                <a:latin typeface="Calibri"/>
                <a:cs typeface="Calibri"/>
              </a:rPr>
              <a:t>ID. </a:t>
            </a:r>
            <a:r>
              <a:rPr sz="2250" spc="-55" dirty="0">
                <a:solidFill>
                  <a:srgbClr val="903634"/>
                </a:solidFill>
                <a:latin typeface="Calibri"/>
                <a:cs typeface="Calibri"/>
              </a:rPr>
              <a:t>mdadv.setModuleSpecID(IDFactory.newModuleSpecID());</a:t>
            </a:r>
            <a:endParaRPr sz="2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62883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3655">
              <a:lnSpc>
                <a:spcPts val="5485"/>
              </a:lnSpc>
              <a:spcBef>
                <a:spcPts val="130"/>
              </a:spcBef>
            </a:pPr>
            <a:r>
              <a:rPr sz="4800" spc="-285" dirty="0">
                <a:solidFill>
                  <a:srgbClr val="332D91"/>
                </a:solidFill>
                <a:latin typeface="Arial"/>
                <a:cs typeface="Arial"/>
              </a:rPr>
              <a:t>Buiiding</a:t>
            </a:r>
            <a:r>
              <a:rPr sz="4800" spc="210" dirty="0">
                <a:solidFill>
                  <a:srgbClr val="332D91"/>
                </a:solidFill>
                <a:latin typeface="Arial"/>
                <a:cs typeface="Arial"/>
              </a:rPr>
              <a:t> </a:t>
            </a:r>
            <a:r>
              <a:rPr sz="4800" spc="-95" dirty="0">
                <a:solidFill>
                  <a:srgbClr val="342F8C"/>
                </a:solidFill>
                <a:latin typeface="Arial"/>
                <a:cs typeface="Arial"/>
              </a:rPr>
              <a:t>our</a:t>
            </a:r>
            <a:r>
              <a:rPr sz="4800" spc="10" dirty="0">
                <a:solidFill>
                  <a:srgbClr val="342F8C"/>
                </a:solidFill>
                <a:latin typeface="Arial"/>
                <a:cs typeface="Arial"/>
              </a:rPr>
              <a:t> </a:t>
            </a:r>
            <a:r>
              <a:rPr sz="4800" spc="-360" dirty="0">
                <a:solidFill>
                  <a:srgbClr val="383489"/>
                </a:solidFill>
                <a:latin typeface="Arial"/>
                <a:cs typeface="Arial"/>
              </a:rPr>
              <a:t>Service</a:t>
            </a:r>
            <a:endParaRPr sz="4800">
              <a:latin typeface="Arial"/>
              <a:cs typeface="Arial"/>
            </a:endParaRPr>
          </a:p>
          <a:p>
            <a:pPr marL="34290">
              <a:lnSpc>
                <a:spcPts val="5605"/>
              </a:lnSpc>
            </a:pPr>
            <a:r>
              <a:rPr sz="4900" spc="-345" dirty="0">
                <a:solidFill>
                  <a:srgbClr val="3B3497"/>
                </a:solidFill>
                <a:latin typeface="Arial"/>
                <a:cs typeface="Arial"/>
              </a:rPr>
              <a:t>Advertisement</a:t>
            </a:r>
            <a:r>
              <a:rPr sz="4900" spc="755" dirty="0">
                <a:solidFill>
                  <a:srgbClr val="3B3497"/>
                </a:solidFill>
                <a:latin typeface="Arial"/>
                <a:cs typeface="Arial"/>
              </a:rPr>
              <a:t> </a:t>
            </a:r>
            <a:r>
              <a:rPr sz="4900" spc="-25" dirty="0">
                <a:solidFill>
                  <a:srgbClr val="383689"/>
                </a:solidFill>
                <a:latin typeface="Arial"/>
                <a:cs typeface="Arial"/>
              </a:rPr>
              <a:t>(2)</a:t>
            </a:r>
            <a:endParaRPr sz="4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4022" y="2101403"/>
            <a:ext cx="151130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spc="-25" dirty="0">
                <a:solidFill>
                  <a:srgbClr val="484848"/>
                </a:solidFill>
                <a:latin typeface="Arial"/>
                <a:cs typeface="Arial"/>
              </a:rPr>
              <a:t>1.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8253" y="2979241"/>
            <a:ext cx="137160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105" dirty="0">
                <a:solidFill>
                  <a:srgbClr val="4B4B4B"/>
                </a:solidFill>
                <a:latin typeface="Arial"/>
                <a:cs typeface="Arial"/>
              </a:rPr>
              <a:t>2.</a:t>
            </a:r>
            <a:endParaRPr sz="13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6952" y="4961632"/>
            <a:ext cx="160020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25" dirty="0">
                <a:solidFill>
                  <a:srgbClr val="464646"/>
                </a:solidFill>
                <a:latin typeface="Arial"/>
                <a:cs typeface="Arial"/>
              </a:rPr>
              <a:t>3.</a:t>
            </a:r>
            <a:endParaRPr sz="13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39931" y="2008385"/>
            <a:ext cx="6729730" cy="37496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8100" marR="30480" indent="1905">
              <a:lnSpc>
                <a:spcPct val="86800"/>
              </a:lnSpc>
              <a:spcBef>
                <a:spcPts val="425"/>
              </a:spcBef>
            </a:pPr>
            <a:r>
              <a:rPr sz="2050" spc="-55" dirty="0">
                <a:latin typeface="Arial"/>
                <a:cs typeface="Arial"/>
              </a:rPr>
              <a:t>Create</a:t>
            </a:r>
            <a:r>
              <a:rPr sz="2050" spc="-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Pipe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40" dirty="0">
                <a:latin typeface="Arial"/>
                <a:cs typeface="Arial"/>
              </a:rPr>
              <a:t>Advertisement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for</a:t>
            </a:r>
            <a:r>
              <a:rPr sz="2050" spc="-5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the</a:t>
            </a:r>
            <a:r>
              <a:rPr sz="2050" spc="-120" dirty="0">
                <a:latin typeface="Arial"/>
                <a:cs typeface="Arial"/>
              </a:rPr>
              <a:t> </a:t>
            </a:r>
            <a:r>
              <a:rPr sz="2050" spc="-55" dirty="0">
                <a:latin typeface="Arial"/>
                <a:cs typeface="Arial"/>
              </a:rPr>
              <a:t>Service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Advertisement. </a:t>
            </a:r>
            <a:r>
              <a:rPr sz="2100" spc="-45" dirty="0">
                <a:latin typeface="Arial"/>
                <a:cs typeface="Arial"/>
              </a:rPr>
              <a:t>The</a:t>
            </a:r>
            <a:r>
              <a:rPr sz="2100" spc="-90" dirty="0">
                <a:latin typeface="Arial"/>
                <a:cs typeface="Arial"/>
              </a:rPr>
              <a:t> </a:t>
            </a:r>
            <a:r>
              <a:rPr sz="2100" spc="-70" dirty="0">
                <a:latin typeface="Arial"/>
                <a:cs typeface="Arial"/>
              </a:rPr>
              <a:t>steps</a:t>
            </a:r>
            <a:r>
              <a:rPr sz="2100" spc="-5" dirty="0">
                <a:latin typeface="Arial"/>
                <a:cs typeface="Arial"/>
              </a:rPr>
              <a:t> </a:t>
            </a:r>
            <a:r>
              <a:rPr sz="2100" spc="-40" dirty="0">
                <a:latin typeface="Arial"/>
                <a:cs typeface="Arial"/>
              </a:rPr>
              <a:t>are</a:t>
            </a:r>
            <a:r>
              <a:rPr sz="2100" spc="-10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the</a:t>
            </a:r>
            <a:r>
              <a:rPr sz="2100" spc="-75" dirty="0">
                <a:latin typeface="Arial"/>
                <a:cs typeface="Arial"/>
              </a:rPr>
              <a:t> </a:t>
            </a:r>
            <a:r>
              <a:rPr sz="2100" spc="-110" dirty="0">
                <a:latin typeface="Arial"/>
                <a:cs typeface="Arial"/>
              </a:rPr>
              <a:t>same</a:t>
            </a:r>
            <a:r>
              <a:rPr sz="2100" spc="-35" dirty="0">
                <a:latin typeface="Arial"/>
                <a:cs typeface="Arial"/>
              </a:rPr>
              <a:t> </a:t>
            </a:r>
            <a:r>
              <a:rPr sz="2100" spc="-90" dirty="0">
                <a:latin typeface="Arial"/>
                <a:cs typeface="Arial"/>
              </a:rPr>
              <a:t>as</a:t>
            </a:r>
            <a:r>
              <a:rPr sz="2100" spc="-6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the</a:t>
            </a:r>
            <a:r>
              <a:rPr sz="2100" spc="-80" dirty="0">
                <a:latin typeface="Arial"/>
                <a:cs typeface="Arial"/>
              </a:rPr>
              <a:t> </a:t>
            </a:r>
            <a:r>
              <a:rPr sz="2100" spc="-55" dirty="0">
                <a:latin typeface="Arial"/>
                <a:cs typeface="Arial"/>
              </a:rPr>
              <a:t>previous</a:t>
            </a:r>
            <a:r>
              <a:rPr sz="2100" spc="5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two</a:t>
            </a:r>
            <a:r>
              <a:rPr sz="2100" spc="10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advertisement </a:t>
            </a:r>
            <a:r>
              <a:rPr sz="2050" spc="-20" dirty="0">
                <a:latin typeface="Arial"/>
                <a:cs typeface="Arial"/>
              </a:rPr>
              <a:t>types</a:t>
            </a:r>
            <a:r>
              <a:rPr sz="2050" spc="-110" dirty="0">
                <a:latin typeface="Arial"/>
                <a:cs typeface="Arial"/>
              </a:rPr>
              <a:t> </a:t>
            </a:r>
            <a:r>
              <a:rPr sz="2050" spc="-10" dirty="0">
                <a:latin typeface="Arial"/>
                <a:cs typeface="Arial"/>
              </a:rPr>
              <a:t>shown.</a:t>
            </a:r>
            <a:endParaRPr sz="2050">
              <a:latin typeface="Arial"/>
              <a:cs typeface="Arial"/>
            </a:endParaRPr>
          </a:p>
          <a:p>
            <a:pPr marL="40640" marR="48260">
              <a:lnSpc>
                <a:spcPct val="88100"/>
              </a:lnSpc>
              <a:spcBef>
                <a:spcPts val="470"/>
              </a:spcBef>
            </a:pPr>
            <a:r>
              <a:rPr sz="2050" spc="-40" dirty="0">
                <a:latin typeface="Arial"/>
                <a:cs typeface="Arial"/>
              </a:rPr>
              <a:t>Store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the</a:t>
            </a:r>
            <a:r>
              <a:rPr sz="2050" spc="-11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Pipe</a:t>
            </a:r>
            <a:r>
              <a:rPr sz="2050" spc="15" dirty="0">
                <a:latin typeface="Arial"/>
                <a:cs typeface="Arial"/>
              </a:rPr>
              <a:t> </a:t>
            </a:r>
            <a:r>
              <a:rPr sz="2050" spc="-40" dirty="0">
                <a:latin typeface="Arial"/>
                <a:cs typeface="Arial"/>
              </a:rPr>
              <a:t>Advertisement</a:t>
            </a:r>
            <a:r>
              <a:rPr sz="2050" spc="5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the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Service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Advertisement. </a:t>
            </a:r>
            <a:r>
              <a:rPr sz="2050" spc="-10" dirty="0">
                <a:latin typeface="Arial"/>
                <a:cs typeface="Arial"/>
              </a:rPr>
              <a:t>First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we</a:t>
            </a:r>
            <a:r>
              <a:rPr sz="2050" spc="-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must</a:t>
            </a:r>
            <a:r>
              <a:rPr sz="2050" spc="-90" dirty="0">
                <a:latin typeface="Arial"/>
                <a:cs typeface="Arial"/>
              </a:rPr>
              <a:t> </a:t>
            </a:r>
            <a:r>
              <a:rPr sz="2050" spc="-10" dirty="0">
                <a:latin typeface="Arial"/>
                <a:cs typeface="Arial"/>
              </a:rPr>
              <a:t>store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the</a:t>
            </a:r>
            <a:r>
              <a:rPr sz="2050" spc="-13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Pipe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40" dirty="0">
                <a:latin typeface="Arial"/>
                <a:cs typeface="Arial"/>
              </a:rPr>
              <a:t>Advertisement</a:t>
            </a:r>
            <a:r>
              <a:rPr sz="2050" spc="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as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5" dirty="0">
                <a:latin typeface="Arial"/>
                <a:cs typeface="Arial"/>
              </a:rPr>
              <a:t> </a:t>
            </a:r>
            <a:r>
              <a:rPr sz="2050" spc="-25" dirty="0">
                <a:latin typeface="Arial"/>
                <a:cs typeface="Arial"/>
              </a:rPr>
              <a:t>XML </a:t>
            </a:r>
            <a:r>
              <a:rPr sz="2050" spc="-35" dirty="0">
                <a:latin typeface="Arial"/>
                <a:cs typeface="Arial"/>
              </a:rPr>
              <a:t>document,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then</a:t>
            </a:r>
            <a:r>
              <a:rPr sz="2050" spc="-5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add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that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spc="-25" dirty="0">
                <a:latin typeface="Arial"/>
                <a:cs typeface="Arial"/>
              </a:rPr>
              <a:t>document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to</a:t>
            </a:r>
            <a:r>
              <a:rPr sz="2050" spc="-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the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-10" dirty="0">
                <a:latin typeface="Arial"/>
                <a:cs typeface="Arial"/>
              </a:rPr>
              <a:t>Service Advertisement!</a:t>
            </a:r>
            <a:endParaRPr sz="2050">
              <a:latin typeface="Arial"/>
              <a:cs typeface="Arial"/>
            </a:endParaRPr>
          </a:p>
          <a:p>
            <a:pPr marL="44450">
              <a:lnSpc>
                <a:spcPts val="2025"/>
              </a:lnSpc>
            </a:pPr>
            <a:r>
              <a:rPr sz="2100" spc="-85" dirty="0">
                <a:solidFill>
                  <a:srgbClr val="992628"/>
                </a:solidFill>
                <a:latin typeface="Arial"/>
                <a:cs typeface="Arial"/>
              </a:rPr>
              <a:t>paramDoc</a:t>
            </a:r>
            <a:r>
              <a:rPr sz="2100" spc="215" dirty="0">
                <a:solidFill>
                  <a:srgbClr val="992628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7C3438"/>
                </a:solidFill>
                <a:latin typeface="Arial"/>
                <a:cs typeface="Arial"/>
              </a:rPr>
              <a:t>=</a:t>
            </a:r>
            <a:r>
              <a:rPr sz="2100" spc="-15" dirty="0">
                <a:solidFill>
                  <a:srgbClr val="7C3438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87382D"/>
                </a:solidFill>
                <a:latin typeface="Arial"/>
                <a:cs typeface="Arial"/>
              </a:rPr>
              <a:t>pipeadv.getDocument(</a:t>
            </a:r>
            <a:endParaRPr sz="2100">
              <a:latin typeface="Arial"/>
              <a:cs typeface="Arial"/>
            </a:endParaRPr>
          </a:p>
          <a:p>
            <a:pPr marL="44450" marR="866140" indent="303530">
              <a:lnSpc>
                <a:spcPts val="2110"/>
              </a:lnSpc>
              <a:spcBef>
                <a:spcPts val="234"/>
              </a:spcBef>
            </a:pPr>
            <a:r>
              <a:rPr sz="2050" spc="-10" dirty="0">
                <a:solidFill>
                  <a:srgbClr val="A52A34"/>
                </a:solidFill>
                <a:latin typeface="Arial"/>
                <a:cs typeface="Arial"/>
              </a:rPr>
              <a:t>new</a:t>
            </a:r>
            <a:r>
              <a:rPr sz="2050" spc="-45" dirty="0">
                <a:solidFill>
                  <a:srgbClr val="A52A34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C62828"/>
                </a:solidFill>
                <a:latin typeface="Arial"/>
                <a:cs typeface="Arial"/>
              </a:rPr>
              <a:t>MimeMediaType(”text/xml")</a:t>
            </a:r>
            <a:r>
              <a:rPr sz="3075" spc="-15" baseline="-9485" dirty="0">
                <a:solidFill>
                  <a:srgbClr val="C62828"/>
                </a:solidFill>
                <a:latin typeface="Arial"/>
                <a:cs typeface="Arial"/>
              </a:rPr>
              <a:t>)</a:t>
            </a:r>
            <a:r>
              <a:rPr sz="3075" i="1" spc="-15" baseline="-5420" dirty="0">
                <a:solidFill>
                  <a:srgbClr val="7E2D2F"/>
                </a:solidFill>
                <a:latin typeface="Arial"/>
                <a:cs typeface="Arial"/>
              </a:rPr>
              <a:t>f</a:t>
            </a:r>
            <a:r>
              <a:rPr sz="3075" i="1" spc="-15" baseline="5420" dirty="0">
                <a:solidFill>
                  <a:srgbClr val="7E2D2F"/>
                </a:solidFill>
                <a:latin typeface="Arial"/>
                <a:cs typeface="Arial"/>
              </a:rPr>
              <a:t>' </a:t>
            </a:r>
            <a:r>
              <a:rPr sz="2050" spc="-50" dirty="0">
                <a:solidFill>
                  <a:srgbClr val="832B2A"/>
                </a:solidFill>
                <a:latin typeface="Arial"/>
                <a:cs typeface="Arial"/>
              </a:rPr>
              <a:t>mdadv.setParam((StructuredDocument)</a:t>
            </a:r>
            <a:r>
              <a:rPr sz="2050" spc="155" dirty="0">
                <a:solidFill>
                  <a:srgbClr val="832B2A"/>
                </a:solidFill>
                <a:latin typeface="Arial"/>
                <a:cs typeface="Arial"/>
              </a:rPr>
              <a:t> </a:t>
            </a:r>
            <a:r>
              <a:rPr sz="2050" spc="-40" dirty="0">
                <a:solidFill>
                  <a:srgbClr val="873138"/>
                </a:solidFill>
                <a:latin typeface="Arial"/>
                <a:cs typeface="Arial"/>
              </a:rPr>
              <a:t>paramDoc);</a:t>
            </a:r>
            <a:endParaRPr sz="2050">
              <a:latin typeface="Arial"/>
              <a:cs typeface="Arial"/>
            </a:endParaRPr>
          </a:p>
          <a:p>
            <a:pPr marL="44450" marR="74295" indent="-3175">
              <a:lnSpc>
                <a:spcPts val="2140"/>
              </a:lnSpc>
              <a:spcBef>
                <a:spcPts val="500"/>
              </a:spcBef>
            </a:pPr>
            <a:r>
              <a:rPr sz="2100" spc="-80" dirty="0">
                <a:latin typeface="Arial"/>
                <a:cs typeface="Arial"/>
              </a:rPr>
              <a:t>Publish</a:t>
            </a:r>
            <a:r>
              <a:rPr sz="2100" spc="-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the</a:t>
            </a:r>
            <a:r>
              <a:rPr sz="2100" spc="-85" dirty="0">
                <a:latin typeface="Arial"/>
                <a:cs typeface="Arial"/>
              </a:rPr>
              <a:t> Service</a:t>
            </a:r>
            <a:r>
              <a:rPr sz="2100" spc="5" dirty="0">
                <a:latin typeface="Arial"/>
                <a:cs typeface="Arial"/>
              </a:rPr>
              <a:t> </a:t>
            </a:r>
            <a:r>
              <a:rPr sz="2100" spc="-70" dirty="0">
                <a:latin typeface="Arial"/>
                <a:cs typeface="Arial"/>
              </a:rPr>
              <a:t>Advertisement</a:t>
            </a:r>
            <a:r>
              <a:rPr sz="2100" spc="10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in</a:t>
            </a:r>
            <a:r>
              <a:rPr sz="2100" spc="-9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the</a:t>
            </a:r>
            <a:r>
              <a:rPr sz="2100" spc="-80" dirty="0">
                <a:latin typeface="Arial"/>
                <a:cs typeface="Arial"/>
              </a:rPr>
              <a:t> Discovery</a:t>
            </a:r>
            <a:r>
              <a:rPr sz="2100" spc="10" dirty="0">
                <a:latin typeface="Arial"/>
                <a:cs typeface="Arial"/>
              </a:rPr>
              <a:t> </a:t>
            </a:r>
            <a:r>
              <a:rPr sz="2100" spc="-90" dirty="0">
                <a:latin typeface="Arial"/>
                <a:cs typeface="Arial"/>
              </a:rPr>
              <a:t>Service. </a:t>
            </a:r>
            <a:r>
              <a:rPr sz="2050" spc="-50" dirty="0">
                <a:solidFill>
                  <a:srgbClr val="9E281F"/>
                </a:solidFill>
                <a:latin typeface="Arial"/>
                <a:cs typeface="Arial"/>
              </a:rPr>
              <a:t>disco.publish(mdadv,</a:t>
            </a:r>
            <a:r>
              <a:rPr sz="2050" spc="45" dirty="0">
                <a:solidFill>
                  <a:srgbClr val="9E281F"/>
                </a:solidFill>
                <a:latin typeface="Arial"/>
                <a:cs typeface="Arial"/>
              </a:rPr>
              <a:t> </a:t>
            </a:r>
            <a:r>
              <a:rPr sz="2050" spc="-25" dirty="0">
                <a:solidFill>
                  <a:srgbClr val="9C2123"/>
                </a:solidFill>
                <a:latin typeface="Arial"/>
                <a:cs typeface="Arial"/>
              </a:rPr>
              <a:t>DiscoveryService.ADV); </a:t>
            </a:r>
            <a:r>
              <a:rPr sz="2050" spc="-60" dirty="0">
                <a:solidFill>
                  <a:srgbClr val="8C2A1C"/>
                </a:solidFill>
                <a:latin typeface="Arial"/>
                <a:cs typeface="Arial"/>
              </a:rPr>
              <a:t>disco.remotePubIish(mdadv,</a:t>
            </a:r>
            <a:r>
              <a:rPr sz="2050" spc="110" dirty="0">
                <a:solidFill>
                  <a:srgbClr val="8C2A1C"/>
                </a:solidFill>
                <a:latin typeface="Arial"/>
                <a:cs typeface="Arial"/>
              </a:rPr>
              <a:t> </a:t>
            </a:r>
            <a:r>
              <a:rPr sz="2050" spc="-25" dirty="0">
                <a:solidFill>
                  <a:srgbClr val="A32D33"/>
                </a:solidFill>
                <a:latin typeface="Arial"/>
                <a:cs typeface="Arial"/>
              </a:rPr>
              <a:t>DiscoveryService.ADV);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62883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23891" y="953194"/>
            <a:ext cx="5186680" cy="784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667125" algn="l"/>
              </a:tabLst>
            </a:pPr>
            <a:r>
              <a:rPr sz="4950" dirty="0">
                <a:solidFill>
                  <a:srgbClr val="383487"/>
                </a:solidFill>
              </a:rPr>
              <a:t>The</a:t>
            </a:r>
            <a:r>
              <a:rPr sz="4950" spc="10" dirty="0">
                <a:solidFill>
                  <a:srgbClr val="383487"/>
                </a:solidFill>
              </a:rPr>
              <a:t> </a:t>
            </a:r>
            <a:r>
              <a:rPr sz="4950" spc="-45" dirty="0">
                <a:solidFill>
                  <a:srgbClr val="363390"/>
                </a:solidFill>
              </a:rPr>
              <a:t>Service</a:t>
            </a:r>
            <a:r>
              <a:rPr sz="4950" spc="15" dirty="0">
                <a:solidFill>
                  <a:srgbClr val="363390"/>
                </a:solidFill>
              </a:rPr>
              <a:t> </a:t>
            </a:r>
            <a:r>
              <a:rPr sz="4950" spc="-50" dirty="0"/>
              <a:t>i</a:t>
            </a:r>
            <a:r>
              <a:rPr sz="4950" dirty="0"/>
              <a:t>	</a:t>
            </a:r>
            <a:r>
              <a:rPr sz="4950" spc="-180" dirty="0">
                <a:solidFill>
                  <a:srgbClr val="3F339C"/>
                </a:solidFill>
              </a:rPr>
              <a:t>Action</a:t>
            </a:r>
            <a:endParaRPr sz="4950"/>
          </a:p>
        </p:txBody>
      </p:sp>
      <p:sp>
        <p:nvSpPr>
          <p:cNvPr id="4" name="object 4"/>
          <p:cNvSpPr txBox="1"/>
          <p:nvPr/>
        </p:nvSpPr>
        <p:spPr>
          <a:xfrm>
            <a:off x="1252361" y="2013098"/>
            <a:ext cx="7188834" cy="283527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631190" marR="330200" indent="-4445">
              <a:lnSpc>
                <a:spcPts val="2390"/>
              </a:lnSpc>
              <a:spcBef>
                <a:spcPts val="480"/>
              </a:spcBef>
            </a:pPr>
            <a:r>
              <a:rPr sz="2300" spc="-280" dirty="0">
                <a:latin typeface="Arial"/>
                <a:cs typeface="Arial"/>
              </a:rPr>
              <a:t>Now</a:t>
            </a:r>
            <a:r>
              <a:rPr sz="2300" spc="114" dirty="0">
                <a:latin typeface="Arial"/>
                <a:cs typeface="Arial"/>
              </a:rPr>
              <a:t> </a:t>
            </a:r>
            <a:r>
              <a:rPr sz="2300" spc="-75" dirty="0">
                <a:latin typeface="Arial"/>
                <a:cs typeface="Arial"/>
              </a:rPr>
              <a:t>that</a:t>
            </a:r>
            <a:r>
              <a:rPr sz="2300" spc="-85" dirty="0">
                <a:latin typeface="Arial"/>
                <a:cs typeface="Arial"/>
              </a:rPr>
              <a:t> </a:t>
            </a:r>
            <a:r>
              <a:rPr sz="2300" spc="-125" dirty="0">
                <a:latin typeface="Arial"/>
                <a:cs typeface="Arial"/>
              </a:rPr>
              <a:t>our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spc="-210" dirty="0">
                <a:latin typeface="Arial"/>
                <a:cs typeface="Arial"/>
              </a:rPr>
              <a:t>DiscoveryService</a:t>
            </a:r>
            <a:r>
              <a:rPr sz="2300" spc="50" dirty="0">
                <a:latin typeface="Arial"/>
                <a:cs typeface="Arial"/>
              </a:rPr>
              <a:t> </a:t>
            </a:r>
            <a:r>
              <a:rPr sz="2300" spc="-165" dirty="0">
                <a:latin typeface="Arial"/>
                <a:cs typeface="Arial"/>
              </a:rPr>
              <a:t>is</a:t>
            </a:r>
            <a:r>
              <a:rPr sz="2300" spc="-35" dirty="0">
                <a:latin typeface="Arial"/>
                <a:cs typeface="Arial"/>
              </a:rPr>
              <a:t> </a:t>
            </a:r>
            <a:r>
              <a:rPr sz="2300" spc="-65" dirty="0">
                <a:latin typeface="Arial"/>
                <a:cs typeface="Arial"/>
              </a:rPr>
              <a:t>advelising</a:t>
            </a:r>
            <a:r>
              <a:rPr sz="2300" spc="90" dirty="0">
                <a:latin typeface="Arial"/>
                <a:cs typeface="Arial"/>
              </a:rPr>
              <a:t> </a:t>
            </a:r>
            <a:r>
              <a:rPr sz="2300" spc="-320" dirty="0">
                <a:latin typeface="Arial"/>
                <a:cs typeface="Arial"/>
              </a:rPr>
              <a:t>a</a:t>
            </a:r>
            <a:r>
              <a:rPr sz="2300" spc="65" dirty="0">
                <a:latin typeface="Arial"/>
                <a:cs typeface="Arial"/>
              </a:rPr>
              <a:t> </a:t>
            </a:r>
            <a:r>
              <a:rPr sz="2300" spc="-215" dirty="0">
                <a:latin typeface="Arial"/>
                <a:cs typeface="Arial"/>
              </a:rPr>
              <a:t>Pipe,</a:t>
            </a:r>
            <a:r>
              <a:rPr sz="2300" spc="55" dirty="0">
                <a:latin typeface="Arial"/>
                <a:cs typeface="Arial"/>
              </a:rPr>
              <a:t> </a:t>
            </a:r>
            <a:r>
              <a:rPr sz="2300" spc="-25" dirty="0">
                <a:latin typeface="Arial"/>
                <a:cs typeface="Arial"/>
              </a:rPr>
              <a:t>we </a:t>
            </a:r>
            <a:r>
              <a:rPr sz="2300" spc="-190" dirty="0">
                <a:latin typeface="Arial"/>
                <a:cs typeface="Arial"/>
              </a:rPr>
              <a:t>should</a:t>
            </a:r>
            <a:r>
              <a:rPr sz="2300" spc="30" dirty="0">
                <a:latin typeface="Arial"/>
                <a:cs typeface="Arial"/>
              </a:rPr>
              <a:t> </a:t>
            </a:r>
            <a:r>
              <a:rPr sz="2300" spc="-120" dirty="0">
                <a:latin typeface="Arial"/>
                <a:cs typeface="Arial"/>
              </a:rPr>
              <a:t>listen</a:t>
            </a:r>
            <a:r>
              <a:rPr sz="2300" spc="-40" dirty="0">
                <a:latin typeface="Arial"/>
                <a:cs typeface="Arial"/>
              </a:rPr>
              <a:t> </a:t>
            </a:r>
            <a:r>
              <a:rPr sz="2300" spc="-65" dirty="0">
                <a:latin typeface="Arial"/>
                <a:cs typeface="Arial"/>
              </a:rPr>
              <a:t>for</a:t>
            </a:r>
            <a:r>
              <a:rPr sz="2300" spc="-75" dirty="0">
                <a:latin typeface="Arial"/>
                <a:cs typeface="Arial"/>
              </a:rPr>
              <a:t> </a:t>
            </a:r>
            <a:r>
              <a:rPr sz="2300" spc="-265" dirty="0">
                <a:latin typeface="Arial"/>
                <a:cs typeface="Arial"/>
              </a:rPr>
              <a:t>messages</a:t>
            </a:r>
            <a:r>
              <a:rPr sz="2300" spc="105" dirty="0">
                <a:latin typeface="Arial"/>
                <a:cs typeface="Arial"/>
              </a:rPr>
              <a:t> </a:t>
            </a:r>
            <a:r>
              <a:rPr sz="2300" spc="-190" dirty="0">
                <a:latin typeface="Arial"/>
                <a:cs typeface="Arial"/>
              </a:rPr>
              <a:t>on</a:t>
            </a:r>
            <a:r>
              <a:rPr sz="2300" spc="15" dirty="0">
                <a:latin typeface="Arial"/>
                <a:cs typeface="Arial"/>
              </a:rPr>
              <a:t> </a:t>
            </a:r>
            <a:r>
              <a:rPr sz="2300" spc="-85" dirty="0">
                <a:latin typeface="Arial"/>
                <a:cs typeface="Arial"/>
              </a:rPr>
              <a:t>that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Pipe.</a:t>
            </a:r>
            <a:endParaRPr sz="2300">
              <a:latin typeface="Arial"/>
              <a:cs typeface="Arial"/>
            </a:endParaRPr>
          </a:p>
          <a:p>
            <a:pPr marL="627380">
              <a:lnSpc>
                <a:spcPts val="2375"/>
              </a:lnSpc>
            </a:pPr>
            <a:r>
              <a:rPr sz="2300" spc="-285" dirty="0">
                <a:solidFill>
                  <a:srgbClr val="9A282D"/>
                </a:solidFill>
                <a:latin typeface="Arial"/>
                <a:cs typeface="Arial"/>
              </a:rPr>
              <a:t>Message</a:t>
            </a:r>
            <a:r>
              <a:rPr sz="2300" spc="90" dirty="0">
                <a:solidFill>
                  <a:srgbClr val="9A282D"/>
                </a:solidFill>
                <a:latin typeface="Arial"/>
                <a:cs typeface="Arial"/>
              </a:rPr>
              <a:t> </a:t>
            </a:r>
            <a:r>
              <a:rPr sz="2300" spc="-265" dirty="0">
                <a:solidFill>
                  <a:srgbClr val="7E282A"/>
                </a:solidFill>
                <a:latin typeface="Arial"/>
                <a:cs typeface="Arial"/>
              </a:rPr>
              <a:t>msg</a:t>
            </a:r>
            <a:r>
              <a:rPr sz="2300" spc="135" dirty="0">
                <a:solidFill>
                  <a:srgbClr val="7E282A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B17077"/>
                </a:solidFill>
                <a:latin typeface="Arial"/>
                <a:cs typeface="Arial"/>
              </a:rPr>
              <a:t>-</a:t>
            </a:r>
            <a:r>
              <a:rPr sz="2300" spc="-5" dirty="0">
                <a:solidFill>
                  <a:srgbClr val="B17077"/>
                </a:solidFill>
                <a:latin typeface="Arial"/>
                <a:cs typeface="Arial"/>
              </a:rPr>
              <a:t>  </a:t>
            </a:r>
            <a:r>
              <a:rPr sz="2300" spc="-130" dirty="0">
                <a:solidFill>
                  <a:srgbClr val="9E1C23"/>
                </a:solidFill>
                <a:latin typeface="Arial"/>
                <a:cs typeface="Arial"/>
              </a:rPr>
              <a:t>myPipe.waitForMessage();</a:t>
            </a:r>
            <a:endParaRPr sz="2300">
              <a:latin typeface="Arial"/>
              <a:cs typeface="Arial"/>
            </a:endParaRPr>
          </a:p>
          <a:p>
            <a:pPr marL="626745" marR="5080" indent="-607060">
              <a:lnSpc>
                <a:spcPts val="2390"/>
              </a:lnSpc>
              <a:spcBef>
                <a:spcPts val="509"/>
              </a:spcBef>
              <a:tabLst>
                <a:tab pos="624840" algn="l"/>
              </a:tabLst>
            </a:pPr>
            <a:r>
              <a:rPr sz="2300" spc="-25" dirty="0">
                <a:solidFill>
                  <a:srgbClr val="4D4D4D"/>
                </a:solidFill>
                <a:latin typeface="Arial"/>
                <a:cs typeface="Arial"/>
              </a:rPr>
              <a:t>›.</a:t>
            </a:r>
            <a:r>
              <a:rPr sz="2300" dirty="0">
                <a:solidFill>
                  <a:srgbClr val="4D4D4D"/>
                </a:solidFill>
                <a:latin typeface="Arial"/>
                <a:cs typeface="Arial"/>
              </a:rPr>
              <a:t>	</a:t>
            </a:r>
            <a:r>
              <a:rPr sz="2300" spc="-210" dirty="0">
                <a:latin typeface="Arial"/>
                <a:cs typeface="Arial"/>
              </a:rPr>
              <a:t>The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spc="-165" dirty="0">
                <a:latin typeface="Arial"/>
                <a:cs typeface="Arial"/>
              </a:rPr>
              <a:t>producer</a:t>
            </a:r>
            <a:r>
              <a:rPr sz="2300" spc="95" dirty="0">
                <a:latin typeface="Arial"/>
                <a:cs typeface="Arial"/>
              </a:rPr>
              <a:t> </a:t>
            </a:r>
            <a:r>
              <a:rPr sz="2300" spc="-210" dirty="0">
                <a:latin typeface="Arial"/>
                <a:cs typeface="Arial"/>
              </a:rPr>
              <a:t>and</a:t>
            </a:r>
            <a:r>
              <a:rPr sz="2300" dirty="0">
                <a:latin typeface="Arial"/>
                <a:cs typeface="Arial"/>
              </a:rPr>
              <a:t> </a:t>
            </a:r>
            <a:r>
              <a:rPr sz="2300" spc="-195" dirty="0">
                <a:latin typeface="Arial"/>
                <a:cs typeface="Arial"/>
              </a:rPr>
              <a:t>consumer</a:t>
            </a:r>
            <a:r>
              <a:rPr sz="2300" spc="100" dirty="0">
                <a:latin typeface="Arial"/>
                <a:cs typeface="Arial"/>
              </a:rPr>
              <a:t> </a:t>
            </a:r>
            <a:r>
              <a:rPr sz="2300" spc="-180" dirty="0">
                <a:latin typeface="Arial"/>
                <a:cs typeface="Arial"/>
              </a:rPr>
              <a:t>must</a:t>
            </a:r>
            <a:r>
              <a:rPr sz="2300" spc="60" dirty="0">
                <a:latin typeface="Arial"/>
                <a:cs typeface="Arial"/>
              </a:rPr>
              <a:t> </a:t>
            </a:r>
            <a:r>
              <a:rPr sz="2300" spc="-210" dirty="0">
                <a:latin typeface="Arial"/>
                <a:cs typeface="Arial"/>
              </a:rPr>
              <a:t>agree</a:t>
            </a:r>
            <a:r>
              <a:rPr sz="2300" spc="50" dirty="0">
                <a:latin typeface="Arial"/>
                <a:cs typeface="Arial"/>
              </a:rPr>
              <a:t> </a:t>
            </a:r>
            <a:r>
              <a:rPr sz="2300" spc="-190" dirty="0">
                <a:latin typeface="Arial"/>
                <a:cs typeface="Arial"/>
              </a:rPr>
              <a:t>on</a:t>
            </a:r>
            <a:r>
              <a:rPr sz="2300" spc="-70" dirty="0">
                <a:latin typeface="Arial"/>
                <a:cs typeface="Arial"/>
              </a:rPr>
              <a:t> </a:t>
            </a:r>
            <a:r>
              <a:rPr sz="2300" spc="-280" dirty="0">
                <a:latin typeface="Arial"/>
                <a:cs typeface="Arial"/>
              </a:rPr>
              <a:t>Tag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spc="-280" dirty="0">
                <a:latin typeface="Arial"/>
                <a:cs typeface="Arial"/>
              </a:rPr>
              <a:t>Names</a:t>
            </a:r>
            <a:r>
              <a:rPr sz="2300" spc="90" dirty="0">
                <a:latin typeface="Arial"/>
                <a:cs typeface="Arial"/>
              </a:rPr>
              <a:t> </a:t>
            </a:r>
            <a:r>
              <a:rPr sz="2300" spc="-50" dirty="0">
                <a:latin typeface="Arial"/>
                <a:cs typeface="Arial"/>
              </a:rPr>
              <a:t>for </a:t>
            </a:r>
            <a:r>
              <a:rPr sz="2300" spc="-75" dirty="0">
                <a:latin typeface="Arial"/>
                <a:cs typeface="Arial"/>
              </a:rPr>
              <a:t>their</a:t>
            </a:r>
            <a:r>
              <a:rPr sz="2300" spc="-70" dirty="0">
                <a:latin typeface="Arial"/>
                <a:cs typeface="Arial"/>
              </a:rPr>
              <a:t> </a:t>
            </a:r>
            <a:r>
              <a:rPr sz="2300" spc="-265" dirty="0">
                <a:latin typeface="Arial"/>
                <a:cs typeface="Arial"/>
              </a:rPr>
              <a:t>messages.</a:t>
            </a:r>
            <a:endParaRPr sz="2300">
              <a:latin typeface="Arial"/>
              <a:cs typeface="Arial"/>
            </a:endParaRPr>
          </a:p>
          <a:p>
            <a:pPr marL="626745">
              <a:lnSpc>
                <a:spcPts val="2375"/>
              </a:lnSpc>
            </a:pPr>
            <a:r>
              <a:rPr sz="2300" spc="-155" dirty="0">
                <a:solidFill>
                  <a:srgbClr val="9A2B23"/>
                </a:solidFill>
                <a:latin typeface="Arial"/>
                <a:cs typeface="Arial"/>
              </a:rPr>
              <a:t>String</a:t>
            </a:r>
            <a:r>
              <a:rPr sz="2300" spc="-5" dirty="0">
                <a:solidFill>
                  <a:srgbClr val="9A2B23"/>
                </a:solidFill>
                <a:latin typeface="Arial"/>
                <a:cs typeface="Arial"/>
              </a:rPr>
              <a:t> </a:t>
            </a:r>
            <a:r>
              <a:rPr sz="2300" spc="-220" dirty="0">
                <a:solidFill>
                  <a:srgbClr val="8E3136"/>
                </a:solidFill>
                <a:latin typeface="Arial"/>
                <a:cs typeface="Arial"/>
              </a:rPr>
              <a:t>myMessageString</a:t>
            </a:r>
            <a:r>
              <a:rPr sz="2300" spc="60" dirty="0">
                <a:solidFill>
                  <a:srgbClr val="8E3136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7C3133"/>
                </a:solidFill>
                <a:latin typeface="Arial"/>
                <a:cs typeface="Arial"/>
              </a:rPr>
              <a:t>=</a:t>
            </a:r>
            <a:r>
              <a:rPr sz="2300" spc="-60" dirty="0">
                <a:solidFill>
                  <a:srgbClr val="7C3133"/>
                </a:solidFill>
                <a:latin typeface="Arial"/>
                <a:cs typeface="Arial"/>
              </a:rPr>
              <a:t> </a:t>
            </a:r>
            <a:r>
              <a:rPr sz="2300" spc="-155" dirty="0">
                <a:solidFill>
                  <a:srgbClr val="972124"/>
                </a:solidFill>
                <a:latin typeface="Arial"/>
                <a:cs typeface="Arial"/>
              </a:rPr>
              <a:t>msg.getString</a:t>
            </a:r>
            <a:r>
              <a:rPr sz="2300" spc="335" dirty="0">
                <a:solidFill>
                  <a:srgbClr val="972124"/>
                </a:solidFill>
                <a:latin typeface="Arial"/>
                <a:cs typeface="Arial"/>
              </a:rPr>
              <a:t> </a:t>
            </a:r>
            <a:r>
              <a:rPr sz="2300" spc="-50" dirty="0">
                <a:solidFill>
                  <a:srgbClr val="972124"/>
                </a:solidFill>
                <a:latin typeface="Arial"/>
                <a:cs typeface="Arial"/>
              </a:rPr>
              <a:t>"DataTag");</a:t>
            </a: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150" spc="-30" dirty="0">
                <a:latin typeface="Calibri"/>
                <a:cs typeface="Calibri"/>
              </a:rPr>
              <a:t>That's</a:t>
            </a:r>
            <a:r>
              <a:rPr sz="3150" spc="-60" dirty="0">
                <a:latin typeface="Calibri"/>
                <a:cs typeface="Calibri"/>
              </a:rPr>
              <a:t> </a:t>
            </a:r>
            <a:r>
              <a:rPr sz="3150" spc="-25" dirty="0">
                <a:latin typeface="Calibri"/>
                <a:cs typeface="Calibri"/>
              </a:rPr>
              <a:t>all!</a:t>
            </a:r>
            <a:r>
              <a:rPr sz="3150" spc="-114" dirty="0">
                <a:latin typeface="Calibri"/>
                <a:cs typeface="Calibri"/>
              </a:rPr>
              <a:t> </a:t>
            </a:r>
            <a:r>
              <a:rPr sz="3150" spc="-80" dirty="0">
                <a:latin typeface="Calibri"/>
                <a:cs typeface="Calibri"/>
              </a:rPr>
              <a:t>Now</a:t>
            </a:r>
            <a:r>
              <a:rPr sz="3150" spc="-65" dirty="0">
                <a:latin typeface="Calibri"/>
                <a:cs typeface="Calibri"/>
              </a:rPr>
              <a:t> </a:t>
            </a:r>
            <a:r>
              <a:rPr sz="3150" spc="-20" dirty="0">
                <a:latin typeface="Calibri"/>
                <a:cs typeface="Calibri"/>
              </a:rPr>
              <a:t>for</a:t>
            </a:r>
            <a:r>
              <a:rPr sz="3150" spc="-105" dirty="0">
                <a:latin typeface="Calibri"/>
                <a:cs typeface="Calibri"/>
              </a:rPr>
              <a:t> </a:t>
            </a:r>
            <a:r>
              <a:rPr sz="3150" spc="-10" dirty="0">
                <a:latin typeface="Calibri"/>
                <a:cs typeface="Calibri"/>
              </a:rPr>
              <a:t>the</a:t>
            </a:r>
            <a:r>
              <a:rPr sz="3150" spc="-120" dirty="0">
                <a:latin typeface="Calibri"/>
                <a:cs typeface="Calibri"/>
              </a:rPr>
              <a:t> </a:t>
            </a:r>
            <a:r>
              <a:rPr sz="3150" spc="-90" dirty="0">
                <a:latin typeface="Calibri"/>
                <a:cs typeface="Calibri"/>
              </a:rPr>
              <a:t>consumer</a:t>
            </a:r>
            <a:r>
              <a:rPr sz="3150" spc="35" dirty="0">
                <a:latin typeface="Calibri"/>
                <a:cs typeface="Calibri"/>
              </a:rPr>
              <a:t> </a:t>
            </a:r>
            <a:r>
              <a:rPr sz="3150" spc="-10" dirty="0">
                <a:latin typeface="Calibri"/>
                <a:cs typeface="Calibri"/>
              </a:rPr>
              <a:t>code...</a:t>
            </a:r>
            <a:endParaRPr sz="3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107531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1590">
              <a:lnSpc>
                <a:spcPts val="5300"/>
              </a:lnSpc>
              <a:spcBef>
                <a:spcPts val="135"/>
              </a:spcBef>
            </a:pPr>
            <a:r>
              <a:rPr sz="4700" spc="-300" dirty="0">
                <a:solidFill>
                  <a:srgbClr val="383885"/>
                </a:solidFill>
                <a:latin typeface="Arial"/>
                <a:cs typeface="Arial"/>
              </a:rPr>
              <a:t>Consumer:</a:t>
            </a:r>
            <a:endParaRPr sz="4700">
              <a:latin typeface="Arial"/>
              <a:cs typeface="Arial"/>
            </a:endParaRPr>
          </a:p>
          <a:p>
            <a:pPr marL="19685">
              <a:lnSpc>
                <a:spcPts val="5720"/>
              </a:lnSpc>
            </a:pPr>
            <a:r>
              <a:rPr sz="5050" spc="-415" dirty="0">
                <a:solidFill>
                  <a:srgbClr val="312F82"/>
                </a:solidFill>
                <a:latin typeface="Arial"/>
                <a:cs typeface="Arial"/>
              </a:rPr>
              <a:t>Creating</a:t>
            </a:r>
            <a:r>
              <a:rPr sz="5050" spc="295" dirty="0">
                <a:solidFill>
                  <a:srgbClr val="312F82"/>
                </a:solidFill>
                <a:latin typeface="Arial"/>
                <a:cs typeface="Arial"/>
              </a:rPr>
              <a:t> </a:t>
            </a:r>
            <a:r>
              <a:rPr sz="5050" spc="-265" dirty="0">
                <a:solidFill>
                  <a:srgbClr val="383689"/>
                </a:solidFill>
                <a:latin typeface="Arial"/>
                <a:cs typeface="Arial"/>
              </a:rPr>
              <a:t>the</a:t>
            </a:r>
            <a:r>
              <a:rPr sz="5050" spc="-90" dirty="0">
                <a:solidFill>
                  <a:srgbClr val="383689"/>
                </a:solidFill>
                <a:latin typeface="Arial"/>
                <a:cs typeface="Arial"/>
              </a:rPr>
              <a:t> </a:t>
            </a:r>
            <a:r>
              <a:rPr sz="5050" spc="-405" dirty="0">
                <a:solidFill>
                  <a:srgbClr val="383489"/>
                </a:solidFill>
                <a:latin typeface="Arial"/>
                <a:cs typeface="Arial"/>
              </a:rPr>
              <a:t>Objects</a:t>
            </a:r>
            <a:endParaRPr sz="50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7731" y="1925353"/>
            <a:ext cx="7102475" cy="3570604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3200" spc="-65" dirty="0">
                <a:latin typeface="Calibri"/>
                <a:cs typeface="Calibri"/>
              </a:rPr>
              <a:t>Note:</a:t>
            </a:r>
            <a:r>
              <a:rPr sz="3200" spc="1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This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45" dirty="0">
                <a:latin typeface="Calibri"/>
                <a:cs typeface="Calibri"/>
              </a:rPr>
              <a:t>the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60" dirty="0">
                <a:latin typeface="Calibri"/>
                <a:cs typeface="Calibri"/>
              </a:rPr>
              <a:t>same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spc="-40" dirty="0">
                <a:latin typeface="Calibri"/>
                <a:cs typeface="Calibri"/>
              </a:rPr>
              <a:t>our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5" dirty="0">
                <a:latin typeface="Calibri"/>
                <a:cs typeface="Calibri"/>
              </a:rPr>
              <a:t>Producer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65" dirty="0">
                <a:latin typeface="Calibri"/>
                <a:cs typeface="Calibri"/>
              </a:rPr>
              <a:t>code!</a:t>
            </a:r>
            <a:endParaRPr sz="3200">
              <a:latin typeface="Calibri"/>
              <a:cs typeface="Calibri"/>
            </a:endParaRPr>
          </a:p>
          <a:p>
            <a:pPr marL="622935" indent="-581660">
              <a:lnSpc>
                <a:spcPts val="2440"/>
              </a:lnSpc>
              <a:spcBef>
                <a:spcPts val="350"/>
              </a:spcBef>
              <a:buClr>
                <a:srgbClr val="3838CD"/>
              </a:buClr>
              <a:buChar char="•"/>
              <a:tabLst>
                <a:tab pos="622935" algn="l"/>
              </a:tabLst>
            </a:pPr>
            <a:r>
              <a:rPr sz="2100" spc="-75" dirty="0">
                <a:latin typeface="Arial"/>
                <a:cs typeface="Arial"/>
              </a:rPr>
              <a:t>Create</a:t>
            </a:r>
            <a:r>
              <a:rPr sz="2100" spc="-3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</a:t>
            </a:r>
            <a:r>
              <a:rPr sz="2100" spc="-60" dirty="0">
                <a:latin typeface="Arial"/>
                <a:cs typeface="Arial"/>
              </a:rPr>
              <a:t> </a:t>
            </a:r>
            <a:r>
              <a:rPr sz="2100" spc="-140" dirty="0">
                <a:latin typeface="Arial"/>
                <a:cs typeface="Arial"/>
              </a:rPr>
              <a:t>Peer</a:t>
            </a:r>
            <a:r>
              <a:rPr sz="2100" spc="-5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Group.</a:t>
            </a:r>
            <a:endParaRPr sz="2100">
              <a:latin typeface="Arial"/>
              <a:cs typeface="Arial"/>
            </a:endParaRPr>
          </a:p>
          <a:p>
            <a:pPr marL="636270">
              <a:lnSpc>
                <a:spcPts val="2440"/>
              </a:lnSpc>
            </a:pPr>
            <a:r>
              <a:rPr sz="2100" spc="-25" dirty="0">
                <a:solidFill>
                  <a:srgbClr val="B82824"/>
                </a:solidFill>
                <a:latin typeface="Arial"/>
                <a:cs typeface="Arial"/>
              </a:rPr>
              <a:t>group</a:t>
            </a:r>
            <a:r>
              <a:rPr sz="2100" spc="15" dirty="0">
                <a:solidFill>
                  <a:srgbClr val="B82824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7B383D"/>
                </a:solidFill>
                <a:latin typeface="Arial"/>
                <a:cs typeface="Arial"/>
              </a:rPr>
              <a:t>=</a:t>
            </a:r>
            <a:r>
              <a:rPr sz="2100" spc="105" dirty="0">
                <a:solidFill>
                  <a:srgbClr val="7B383D"/>
                </a:solidFill>
                <a:latin typeface="Arial"/>
                <a:cs typeface="Arial"/>
              </a:rPr>
              <a:t> </a:t>
            </a:r>
            <a:r>
              <a:rPr sz="2100" spc="-70" dirty="0">
                <a:solidFill>
                  <a:srgbClr val="B51F26"/>
                </a:solidFill>
                <a:latin typeface="Arial"/>
                <a:cs typeface="Arial"/>
              </a:rPr>
              <a:t>PeerGroupFactory.newNetPeerGroup();</a:t>
            </a:r>
            <a:endParaRPr sz="2100">
              <a:latin typeface="Arial"/>
              <a:cs typeface="Arial"/>
            </a:endParaRPr>
          </a:p>
          <a:p>
            <a:pPr marL="628015" marR="2303145" indent="-601980">
              <a:lnSpc>
                <a:spcPts val="2430"/>
              </a:lnSpc>
              <a:spcBef>
                <a:spcPts val="520"/>
              </a:spcBef>
              <a:buChar char="•"/>
              <a:tabLst>
                <a:tab pos="628015" algn="l"/>
                <a:tab pos="631190" algn="l"/>
              </a:tabLst>
            </a:pPr>
            <a:r>
              <a:rPr sz="2450" dirty="0">
                <a:solidFill>
                  <a:srgbClr val="3633C4"/>
                </a:solidFill>
                <a:latin typeface="Calibri"/>
                <a:cs typeface="Calibri"/>
              </a:rPr>
              <a:t>	</a:t>
            </a:r>
            <a:r>
              <a:rPr sz="2450" spc="-175" dirty="0">
                <a:latin typeface="Calibri"/>
                <a:cs typeface="Calibri"/>
              </a:rPr>
              <a:t>Get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65" dirty="0">
                <a:latin typeface="Calibri"/>
                <a:cs typeface="Calibri"/>
              </a:rPr>
              <a:t>the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70" dirty="0">
                <a:latin typeface="Calibri"/>
                <a:cs typeface="Calibri"/>
              </a:rPr>
              <a:t>Advertisement</a:t>
            </a:r>
            <a:r>
              <a:rPr sz="2450" spc="165" dirty="0">
                <a:latin typeface="Calibri"/>
                <a:cs typeface="Calibri"/>
              </a:rPr>
              <a:t> </a:t>
            </a:r>
            <a:r>
              <a:rPr sz="2450" spc="-165" dirty="0">
                <a:latin typeface="Calibri"/>
                <a:cs typeface="Calibri"/>
              </a:rPr>
              <a:t>for</a:t>
            </a:r>
            <a:r>
              <a:rPr sz="2450" spc="65" dirty="0">
                <a:latin typeface="Calibri"/>
                <a:cs typeface="Calibri"/>
              </a:rPr>
              <a:t> </a:t>
            </a:r>
            <a:r>
              <a:rPr sz="2450" spc="-165" dirty="0">
                <a:latin typeface="Calibri"/>
                <a:cs typeface="Calibri"/>
              </a:rPr>
              <a:t>the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150" dirty="0">
                <a:latin typeface="Calibri"/>
                <a:cs typeface="Calibri"/>
              </a:rPr>
              <a:t>Group. </a:t>
            </a:r>
            <a:r>
              <a:rPr sz="2450" spc="-160" dirty="0">
                <a:solidFill>
                  <a:srgbClr val="A12128"/>
                </a:solidFill>
                <a:latin typeface="Calibri"/>
                <a:cs typeface="Calibri"/>
              </a:rPr>
              <a:t>groupAdvertisement</a:t>
            </a:r>
            <a:r>
              <a:rPr sz="2450" spc="30" dirty="0">
                <a:solidFill>
                  <a:srgbClr val="A12128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773134"/>
                </a:solidFill>
                <a:latin typeface="Calibri"/>
                <a:cs typeface="Calibri"/>
              </a:rPr>
              <a:t>=</a:t>
            </a:r>
            <a:endParaRPr sz="2450">
              <a:latin typeface="Calibri"/>
              <a:cs typeface="Calibri"/>
            </a:endParaRPr>
          </a:p>
          <a:p>
            <a:pPr marL="940435">
              <a:lnSpc>
                <a:spcPts val="2390"/>
              </a:lnSpc>
            </a:pPr>
            <a:r>
              <a:rPr sz="2450" spc="-120" dirty="0">
                <a:solidFill>
                  <a:srgbClr val="A11C1A"/>
                </a:solidFill>
                <a:latin typeface="Calibri"/>
                <a:cs typeface="Calibri"/>
              </a:rPr>
              <a:t>group.getPeerGroupAdvertisement();</a:t>
            </a:r>
            <a:endParaRPr sz="2450">
              <a:latin typeface="Calibri"/>
              <a:cs typeface="Calibri"/>
            </a:endParaRPr>
          </a:p>
          <a:p>
            <a:pPr marL="622300" indent="-581025">
              <a:lnSpc>
                <a:spcPts val="2485"/>
              </a:lnSpc>
              <a:spcBef>
                <a:spcPts val="244"/>
              </a:spcBef>
              <a:buClr>
                <a:srgbClr val="3434C6"/>
              </a:buClr>
              <a:buChar char="•"/>
              <a:tabLst>
                <a:tab pos="622300" algn="l"/>
              </a:tabLst>
            </a:pPr>
            <a:r>
              <a:rPr sz="2150" spc="-114" dirty="0">
                <a:latin typeface="Arial"/>
                <a:cs typeface="Arial"/>
              </a:rPr>
              <a:t>Create</a:t>
            </a:r>
            <a:r>
              <a:rPr sz="2150" spc="-35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a</a:t>
            </a:r>
            <a:r>
              <a:rPr sz="2150" spc="-75" dirty="0">
                <a:latin typeface="Arial"/>
                <a:cs typeface="Arial"/>
              </a:rPr>
              <a:t> </a:t>
            </a:r>
            <a:r>
              <a:rPr sz="2150" spc="-120" dirty="0">
                <a:latin typeface="Arial"/>
                <a:cs typeface="Arial"/>
              </a:rPr>
              <a:t>Discovery</a:t>
            </a:r>
            <a:r>
              <a:rPr sz="2150" spc="-30" dirty="0">
                <a:latin typeface="Arial"/>
                <a:cs typeface="Arial"/>
              </a:rPr>
              <a:t> </a:t>
            </a:r>
            <a:r>
              <a:rPr sz="2150" spc="-10" dirty="0">
                <a:latin typeface="Arial"/>
                <a:cs typeface="Arial"/>
              </a:rPr>
              <a:t>Service.</a:t>
            </a:r>
            <a:endParaRPr sz="2150">
              <a:latin typeface="Arial"/>
              <a:cs typeface="Arial"/>
            </a:endParaRPr>
          </a:p>
          <a:p>
            <a:pPr marL="627380">
              <a:lnSpc>
                <a:spcPts val="2485"/>
              </a:lnSpc>
            </a:pPr>
            <a:r>
              <a:rPr sz="2150" spc="-80" dirty="0">
                <a:solidFill>
                  <a:srgbClr val="AA2831"/>
                </a:solidFill>
                <a:latin typeface="Arial"/>
                <a:cs typeface="Arial"/>
              </a:rPr>
              <a:t>disco</a:t>
            </a:r>
            <a:r>
              <a:rPr sz="2150" spc="55" dirty="0">
                <a:solidFill>
                  <a:srgbClr val="AA283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82363D"/>
                </a:solidFill>
                <a:latin typeface="Arial"/>
                <a:cs typeface="Arial"/>
              </a:rPr>
              <a:t>=</a:t>
            </a:r>
            <a:r>
              <a:rPr sz="2150" spc="-25" dirty="0">
                <a:solidFill>
                  <a:srgbClr val="82363D"/>
                </a:solidFill>
                <a:latin typeface="Arial"/>
                <a:cs typeface="Arial"/>
              </a:rPr>
              <a:t> </a:t>
            </a:r>
            <a:r>
              <a:rPr sz="2150" spc="-45" dirty="0">
                <a:solidFill>
                  <a:srgbClr val="AE181A"/>
                </a:solidFill>
                <a:latin typeface="Arial"/>
                <a:cs typeface="Arial"/>
              </a:rPr>
              <a:t>group.getDiscoveryService();</a:t>
            </a:r>
            <a:endParaRPr sz="2150">
              <a:latin typeface="Arial"/>
              <a:cs typeface="Arial"/>
            </a:endParaRPr>
          </a:p>
          <a:p>
            <a:pPr marL="630555" indent="-590550">
              <a:lnSpc>
                <a:spcPts val="2575"/>
              </a:lnSpc>
              <a:spcBef>
                <a:spcPts val="150"/>
              </a:spcBef>
              <a:buClr>
                <a:srgbClr val="3F38C3"/>
              </a:buClr>
              <a:buChar char="•"/>
              <a:tabLst>
                <a:tab pos="630555" algn="l"/>
              </a:tabLst>
            </a:pPr>
            <a:r>
              <a:rPr sz="2300" spc="-210" dirty="0">
                <a:latin typeface="Arial"/>
                <a:cs typeface="Arial"/>
              </a:rPr>
              <a:t>Create</a:t>
            </a:r>
            <a:r>
              <a:rPr sz="2300" spc="75" dirty="0">
                <a:latin typeface="Arial"/>
                <a:cs typeface="Arial"/>
              </a:rPr>
              <a:t> </a:t>
            </a:r>
            <a:r>
              <a:rPr sz="2300" spc="-250" dirty="0">
                <a:latin typeface="Arial"/>
                <a:cs typeface="Arial"/>
              </a:rPr>
              <a:t>a</a:t>
            </a:r>
            <a:r>
              <a:rPr sz="2300" spc="-5" dirty="0">
                <a:latin typeface="Arial"/>
                <a:cs typeface="Arial"/>
              </a:rPr>
              <a:t> </a:t>
            </a:r>
            <a:r>
              <a:rPr sz="2300" spc="-260" dirty="0">
                <a:latin typeface="Arial"/>
                <a:cs typeface="Arial"/>
              </a:rPr>
              <a:t>Pipe</a:t>
            </a:r>
            <a:r>
              <a:rPr sz="2300" spc="95" dirty="0">
                <a:latin typeface="Arial"/>
                <a:cs typeface="Arial"/>
              </a:rPr>
              <a:t> </a:t>
            </a:r>
            <a:r>
              <a:rPr sz="2300" spc="-75" dirty="0">
                <a:latin typeface="Arial"/>
                <a:cs typeface="Arial"/>
              </a:rPr>
              <a:t>Service.</a:t>
            </a:r>
            <a:endParaRPr sz="2300">
              <a:latin typeface="Arial"/>
              <a:cs typeface="Arial"/>
            </a:endParaRPr>
          </a:p>
          <a:p>
            <a:pPr marL="626110">
              <a:lnSpc>
                <a:spcPts val="2575"/>
              </a:lnSpc>
            </a:pPr>
            <a:r>
              <a:rPr sz="2300" spc="-165" dirty="0">
                <a:solidFill>
                  <a:srgbClr val="AC2428"/>
                </a:solidFill>
                <a:latin typeface="Arial"/>
                <a:cs typeface="Arial"/>
              </a:rPr>
              <a:t>pipes</a:t>
            </a:r>
            <a:r>
              <a:rPr sz="2300" spc="25" dirty="0">
                <a:solidFill>
                  <a:srgbClr val="AC2428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853838"/>
                </a:solidFill>
                <a:latin typeface="Arial"/>
                <a:cs typeface="Arial"/>
              </a:rPr>
              <a:t>=</a:t>
            </a:r>
            <a:r>
              <a:rPr sz="2300" spc="25" dirty="0">
                <a:solidFill>
                  <a:srgbClr val="853838"/>
                </a:solidFill>
                <a:latin typeface="Arial"/>
                <a:cs typeface="Arial"/>
              </a:rPr>
              <a:t> </a:t>
            </a:r>
            <a:r>
              <a:rPr sz="2300" spc="-114" dirty="0">
                <a:solidFill>
                  <a:srgbClr val="A82A23"/>
                </a:solidFill>
                <a:latin typeface="Arial"/>
                <a:cs typeface="Arial"/>
              </a:rPr>
              <a:t>group.getPipeService();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27164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3495">
              <a:lnSpc>
                <a:spcPts val="5630"/>
              </a:lnSpc>
              <a:spcBef>
                <a:spcPts val="130"/>
              </a:spcBef>
            </a:pPr>
            <a:r>
              <a:rPr sz="4950" spc="-380" dirty="0">
                <a:solidFill>
                  <a:srgbClr val="363389"/>
                </a:solidFill>
                <a:latin typeface="Arial"/>
                <a:cs typeface="Arial"/>
              </a:rPr>
              <a:t>Looking</a:t>
            </a:r>
            <a:r>
              <a:rPr sz="4950" spc="225" dirty="0">
                <a:solidFill>
                  <a:srgbClr val="363389"/>
                </a:solidFill>
                <a:latin typeface="Arial"/>
                <a:cs typeface="Arial"/>
              </a:rPr>
              <a:t> </a:t>
            </a:r>
            <a:r>
              <a:rPr sz="4950" spc="-305" dirty="0">
                <a:solidFill>
                  <a:srgbClr val="36318A"/>
                </a:solidFill>
                <a:latin typeface="Arial"/>
                <a:cs typeface="Arial"/>
              </a:rPr>
              <a:t>up</a:t>
            </a:r>
            <a:r>
              <a:rPr sz="4950" spc="-35" dirty="0">
                <a:solidFill>
                  <a:srgbClr val="36318A"/>
                </a:solidFill>
                <a:latin typeface="Arial"/>
                <a:cs typeface="Arial"/>
              </a:rPr>
              <a:t> </a:t>
            </a:r>
            <a:r>
              <a:rPr sz="4950" spc="-525" dirty="0">
                <a:solidFill>
                  <a:srgbClr val="3A3685"/>
                </a:solidFill>
                <a:latin typeface="Arial"/>
                <a:cs typeface="Arial"/>
              </a:rPr>
              <a:t>a</a:t>
            </a:r>
            <a:r>
              <a:rPr sz="4950" spc="65" dirty="0">
                <a:solidFill>
                  <a:srgbClr val="3A3685"/>
                </a:solidFill>
                <a:latin typeface="Arial"/>
                <a:cs typeface="Arial"/>
              </a:rPr>
              <a:t> </a:t>
            </a:r>
            <a:r>
              <a:rPr sz="4950" spc="-440" dirty="0">
                <a:solidFill>
                  <a:srgbClr val="36368C"/>
                </a:solidFill>
                <a:latin typeface="Arial"/>
                <a:cs typeface="Arial"/>
              </a:rPr>
              <a:t>Service</a:t>
            </a:r>
            <a:endParaRPr sz="4950">
              <a:latin typeface="Arial"/>
              <a:cs typeface="Arial"/>
            </a:endParaRPr>
          </a:p>
          <a:p>
            <a:pPr marL="34290">
              <a:lnSpc>
                <a:spcPts val="5570"/>
              </a:lnSpc>
            </a:pPr>
            <a:r>
              <a:rPr sz="4900" spc="-355" dirty="0">
                <a:solidFill>
                  <a:srgbClr val="2F2B8C"/>
                </a:solidFill>
                <a:latin typeface="Arial"/>
                <a:cs typeface="Arial"/>
              </a:rPr>
              <a:t>Adve1isement</a:t>
            </a:r>
            <a:endParaRPr sz="4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1966" y="2013098"/>
            <a:ext cx="7376795" cy="3233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20">
              <a:lnSpc>
                <a:spcPts val="2600"/>
              </a:lnSpc>
              <a:spcBef>
                <a:spcPts val="95"/>
              </a:spcBef>
              <a:tabLst>
                <a:tab pos="625475" algn="l"/>
              </a:tabLst>
            </a:pPr>
            <a:r>
              <a:rPr sz="2300" spc="-50" dirty="0">
                <a:solidFill>
                  <a:srgbClr val="564F7E"/>
                </a:solidFill>
                <a:latin typeface="Arial"/>
                <a:cs typeface="Arial"/>
              </a:rPr>
              <a:t>›</a:t>
            </a:r>
            <a:r>
              <a:rPr sz="2300" dirty="0">
                <a:solidFill>
                  <a:srgbClr val="564F7E"/>
                </a:solidFill>
                <a:latin typeface="Arial"/>
                <a:cs typeface="Arial"/>
              </a:rPr>
              <a:t>	</a:t>
            </a:r>
            <a:r>
              <a:rPr sz="2300" spc="-155" dirty="0">
                <a:latin typeface="Arial"/>
                <a:cs typeface="Arial"/>
              </a:rPr>
              <a:t>First</a:t>
            </a:r>
            <a:r>
              <a:rPr sz="2300" spc="5" dirty="0">
                <a:latin typeface="Arial"/>
                <a:cs typeface="Arial"/>
              </a:rPr>
              <a:t> </a:t>
            </a:r>
            <a:r>
              <a:rPr sz="2300" spc="-215" dirty="0">
                <a:latin typeface="Arial"/>
                <a:cs typeface="Arial"/>
              </a:rPr>
              <a:t>check</a:t>
            </a:r>
            <a:r>
              <a:rPr sz="2300" spc="65" dirty="0">
                <a:latin typeface="Arial"/>
                <a:cs typeface="Arial"/>
              </a:rPr>
              <a:t> </a:t>
            </a:r>
            <a:r>
              <a:rPr sz="2300" spc="-114" dirty="0">
                <a:latin typeface="Arial"/>
                <a:cs typeface="Arial"/>
              </a:rPr>
              <a:t>the</a:t>
            </a:r>
            <a:r>
              <a:rPr sz="2300" spc="-50" dirty="0">
                <a:latin typeface="Arial"/>
                <a:cs typeface="Arial"/>
              </a:rPr>
              <a:t> </a:t>
            </a:r>
            <a:r>
              <a:rPr sz="2300" spc="-229" dirty="0">
                <a:latin typeface="Arial"/>
                <a:cs typeface="Arial"/>
              </a:rPr>
              <a:t>Local</a:t>
            </a:r>
            <a:r>
              <a:rPr sz="2300" spc="30" dirty="0">
                <a:latin typeface="Arial"/>
                <a:cs typeface="Arial"/>
              </a:rPr>
              <a:t> </a:t>
            </a:r>
            <a:r>
              <a:rPr sz="2300" spc="-254" dirty="0">
                <a:latin typeface="Arial"/>
                <a:cs typeface="Arial"/>
              </a:rPr>
              <a:t>Cache,</a:t>
            </a:r>
            <a:r>
              <a:rPr sz="2300" spc="55" dirty="0">
                <a:latin typeface="Arial"/>
                <a:cs typeface="Arial"/>
              </a:rPr>
              <a:t> </a:t>
            </a:r>
            <a:r>
              <a:rPr sz="2300" spc="-250" dirty="0">
                <a:latin typeface="Arial"/>
                <a:cs typeface="Arial"/>
              </a:rPr>
              <a:t>a</a:t>
            </a:r>
            <a:r>
              <a:rPr sz="2300" spc="25" dirty="0">
                <a:latin typeface="Arial"/>
                <a:cs typeface="Arial"/>
              </a:rPr>
              <a:t> </a:t>
            </a:r>
            <a:r>
              <a:rPr sz="2300" spc="-145" dirty="0">
                <a:latin typeface="Arial"/>
                <a:cs typeface="Arial"/>
              </a:rPr>
              <a:t>store</a:t>
            </a:r>
            <a:r>
              <a:rPr sz="2300" spc="30" dirty="0">
                <a:latin typeface="Arial"/>
                <a:cs typeface="Arial"/>
              </a:rPr>
              <a:t> </a:t>
            </a:r>
            <a:r>
              <a:rPr sz="2300" spc="-90" dirty="0">
                <a:latin typeface="Arial"/>
                <a:cs typeface="Arial"/>
              </a:rPr>
              <a:t>of</a:t>
            </a:r>
            <a:r>
              <a:rPr sz="2300" spc="-40" dirty="0">
                <a:latin typeface="Arial"/>
                <a:cs typeface="Arial"/>
              </a:rPr>
              <a:t> </a:t>
            </a:r>
            <a:r>
              <a:rPr sz="2300" spc="-160" dirty="0">
                <a:latin typeface="Arial"/>
                <a:cs typeface="Arial"/>
              </a:rPr>
              <a:t>previously</a:t>
            </a:r>
            <a:r>
              <a:rPr sz="2300" spc="130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found</a:t>
            </a:r>
            <a:endParaRPr sz="2300">
              <a:latin typeface="Arial"/>
              <a:cs typeface="Arial"/>
            </a:endParaRPr>
          </a:p>
          <a:p>
            <a:pPr marL="632460">
              <a:lnSpc>
                <a:spcPts val="2360"/>
              </a:lnSpc>
            </a:pPr>
            <a:r>
              <a:rPr sz="2250" spc="-150" dirty="0">
                <a:latin typeface="Arial"/>
                <a:cs typeface="Arial"/>
              </a:rPr>
              <a:t>Advertisements</a:t>
            </a:r>
            <a:r>
              <a:rPr sz="2250" spc="-120" dirty="0">
                <a:latin typeface="Arial"/>
                <a:cs typeface="Arial"/>
              </a:rPr>
              <a:t> kept</a:t>
            </a:r>
            <a:r>
              <a:rPr sz="2250" spc="45" dirty="0">
                <a:latin typeface="Arial"/>
                <a:cs typeface="Arial"/>
              </a:rPr>
              <a:t> </a:t>
            </a:r>
            <a:r>
              <a:rPr sz="2250" spc="-165" dirty="0">
                <a:latin typeface="Arial"/>
                <a:cs typeface="Arial"/>
              </a:rPr>
              <a:t>by</a:t>
            </a:r>
            <a:r>
              <a:rPr sz="2250" spc="35" dirty="0">
                <a:latin typeface="Arial"/>
                <a:cs typeface="Arial"/>
              </a:rPr>
              <a:t> </a:t>
            </a:r>
            <a:r>
              <a:rPr sz="2250" spc="-105" dirty="0">
                <a:latin typeface="Arial"/>
                <a:cs typeface="Arial"/>
              </a:rPr>
              <a:t>the</a:t>
            </a:r>
            <a:r>
              <a:rPr sz="2250" spc="-70" dirty="0">
                <a:latin typeface="Arial"/>
                <a:cs typeface="Arial"/>
              </a:rPr>
              <a:t> </a:t>
            </a:r>
            <a:r>
              <a:rPr sz="2250" spc="-335" dirty="0">
                <a:latin typeface="Arial"/>
                <a:cs typeface="Arial"/>
              </a:rPr>
              <a:t>JXTA</a:t>
            </a:r>
            <a:r>
              <a:rPr sz="2250" spc="35" dirty="0">
                <a:latin typeface="Arial"/>
                <a:cs typeface="Arial"/>
              </a:rPr>
              <a:t> </a:t>
            </a:r>
            <a:r>
              <a:rPr sz="2250" spc="-60" dirty="0">
                <a:latin typeface="Arial"/>
                <a:cs typeface="Arial"/>
              </a:rPr>
              <a:t>Framework.</a:t>
            </a:r>
            <a:endParaRPr sz="2250">
              <a:latin typeface="Arial"/>
              <a:cs typeface="Arial"/>
            </a:endParaRPr>
          </a:p>
          <a:p>
            <a:pPr marL="617855">
              <a:lnSpc>
                <a:spcPts val="2420"/>
              </a:lnSpc>
            </a:pPr>
            <a:r>
              <a:rPr sz="2300" spc="-190" dirty="0">
                <a:solidFill>
                  <a:srgbClr val="9E1C0F"/>
                </a:solidFill>
                <a:latin typeface="Arial"/>
                <a:cs typeface="Arial"/>
              </a:rPr>
              <a:t>Enumeration</a:t>
            </a:r>
            <a:r>
              <a:rPr sz="2300" spc="125" dirty="0">
                <a:solidFill>
                  <a:srgbClr val="9E1C0F"/>
                </a:solidFill>
                <a:latin typeface="Arial"/>
                <a:cs typeface="Arial"/>
              </a:rPr>
              <a:t> </a:t>
            </a:r>
            <a:r>
              <a:rPr sz="2300" spc="-195" dirty="0">
                <a:solidFill>
                  <a:srgbClr val="B52331"/>
                </a:solidFill>
                <a:latin typeface="Arial"/>
                <a:cs typeface="Arial"/>
              </a:rPr>
              <a:t>enum</a:t>
            </a:r>
            <a:r>
              <a:rPr sz="2300" spc="60" dirty="0">
                <a:solidFill>
                  <a:srgbClr val="B5233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7E3B44"/>
                </a:solidFill>
                <a:latin typeface="Arial"/>
                <a:cs typeface="Arial"/>
              </a:rPr>
              <a:t>=</a:t>
            </a:r>
            <a:r>
              <a:rPr sz="2300" spc="5" dirty="0">
                <a:solidFill>
                  <a:srgbClr val="7E3B44"/>
                </a:solidFill>
                <a:latin typeface="Arial"/>
                <a:cs typeface="Arial"/>
              </a:rPr>
              <a:t> </a:t>
            </a:r>
            <a:r>
              <a:rPr sz="2300" spc="-135" dirty="0">
                <a:solidFill>
                  <a:srgbClr val="AA2116"/>
                </a:solidFill>
                <a:latin typeface="Arial"/>
                <a:cs typeface="Arial"/>
              </a:rPr>
              <a:t>disco.getLocaIAdvertisements(</a:t>
            </a:r>
            <a:endParaRPr sz="2300">
              <a:latin typeface="Arial"/>
              <a:cs typeface="Arial"/>
            </a:endParaRPr>
          </a:p>
          <a:p>
            <a:pPr marL="931544">
              <a:lnSpc>
                <a:spcPts val="2540"/>
              </a:lnSpc>
            </a:pPr>
            <a:r>
              <a:rPr sz="2250" spc="-195" dirty="0">
                <a:solidFill>
                  <a:srgbClr val="A52B31"/>
                </a:solidFill>
                <a:latin typeface="Arial"/>
                <a:cs typeface="Arial"/>
              </a:rPr>
              <a:t>DiscoveryService.ADV,</a:t>
            </a:r>
            <a:r>
              <a:rPr sz="2250" spc="40" dirty="0">
                <a:solidFill>
                  <a:srgbClr val="A52B31"/>
                </a:solidFill>
                <a:latin typeface="Arial"/>
                <a:cs typeface="Arial"/>
              </a:rPr>
              <a:t> </a:t>
            </a:r>
            <a:r>
              <a:rPr sz="2250" spc="-145" dirty="0">
                <a:solidFill>
                  <a:srgbClr val="952F3B"/>
                </a:solidFill>
                <a:latin typeface="Arial"/>
                <a:cs typeface="Arial"/>
              </a:rPr>
              <a:t>"Name",</a:t>
            </a:r>
            <a:r>
              <a:rPr sz="2250" spc="45" dirty="0">
                <a:solidFill>
                  <a:srgbClr val="952F3B"/>
                </a:solidFill>
                <a:latin typeface="Arial"/>
                <a:cs typeface="Arial"/>
              </a:rPr>
              <a:t> </a:t>
            </a:r>
            <a:r>
              <a:rPr sz="2250" spc="-260" dirty="0">
                <a:solidFill>
                  <a:srgbClr val="902328"/>
                </a:solidFill>
                <a:latin typeface="Arial"/>
                <a:cs typeface="Arial"/>
              </a:rPr>
              <a:t>"JXTASPEC:3XTA-</a:t>
            </a:r>
            <a:r>
              <a:rPr sz="2250" spc="-10" dirty="0">
                <a:solidFill>
                  <a:srgbClr val="902328"/>
                </a:solidFill>
                <a:latin typeface="Arial"/>
                <a:cs typeface="Arial"/>
              </a:rPr>
              <a:t>EX1”);</a:t>
            </a:r>
            <a:endParaRPr sz="2250">
              <a:latin typeface="Arial"/>
              <a:cs typeface="Arial"/>
            </a:endParaRPr>
          </a:p>
          <a:p>
            <a:pPr marL="621665" marR="244475" indent="-605155">
              <a:lnSpc>
                <a:spcPct val="87400"/>
              </a:lnSpc>
              <a:spcBef>
                <a:spcPts val="520"/>
              </a:spcBef>
              <a:tabLst>
                <a:tab pos="627380" algn="l"/>
              </a:tabLst>
            </a:pPr>
            <a:r>
              <a:rPr sz="2250" spc="-675" dirty="0">
                <a:solidFill>
                  <a:srgbClr val="464646"/>
                </a:solidFill>
                <a:latin typeface="Arial"/>
                <a:cs typeface="Arial"/>
              </a:rPr>
              <a:t>2</a:t>
            </a:r>
            <a:r>
              <a:rPr sz="2250" dirty="0">
                <a:solidFill>
                  <a:srgbClr val="464646"/>
                </a:solidFill>
                <a:latin typeface="Arial"/>
                <a:cs typeface="Arial"/>
              </a:rPr>
              <a:t>		</a:t>
            </a:r>
            <a:r>
              <a:rPr sz="2250" spc="-245" dirty="0">
                <a:latin typeface="Arial"/>
                <a:cs typeface="Arial"/>
              </a:rPr>
              <a:t>Send</a:t>
            </a:r>
            <a:r>
              <a:rPr sz="2250" spc="25" dirty="0">
                <a:latin typeface="Arial"/>
                <a:cs typeface="Arial"/>
              </a:rPr>
              <a:t> </a:t>
            </a:r>
            <a:r>
              <a:rPr sz="2250" spc="-300" dirty="0">
                <a:latin typeface="Arial"/>
                <a:cs typeface="Arial"/>
              </a:rPr>
              <a:t>a</a:t>
            </a:r>
            <a:r>
              <a:rPr sz="2250" spc="105" dirty="0">
                <a:latin typeface="Arial"/>
                <a:cs typeface="Arial"/>
              </a:rPr>
              <a:t> </a:t>
            </a:r>
            <a:r>
              <a:rPr sz="2250" spc="-150" dirty="0">
                <a:latin typeface="Arial"/>
                <a:cs typeface="Arial"/>
              </a:rPr>
              <a:t>remote</a:t>
            </a:r>
            <a:r>
              <a:rPr sz="2250" spc="-5" dirty="0">
                <a:latin typeface="Arial"/>
                <a:cs typeface="Arial"/>
              </a:rPr>
              <a:t> </a:t>
            </a:r>
            <a:r>
              <a:rPr sz="2250" spc="-155" dirty="0">
                <a:latin typeface="Arial"/>
                <a:cs typeface="Arial"/>
              </a:rPr>
              <a:t>discovery</a:t>
            </a:r>
            <a:r>
              <a:rPr sz="2250" dirty="0">
                <a:latin typeface="Arial"/>
                <a:cs typeface="Arial"/>
              </a:rPr>
              <a:t> </a:t>
            </a:r>
            <a:r>
              <a:rPr sz="2250" spc="-150" dirty="0">
                <a:latin typeface="Arial"/>
                <a:cs typeface="Arial"/>
              </a:rPr>
              <a:t>request</a:t>
            </a:r>
            <a:r>
              <a:rPr sz="2250" spc="-10" dirty="0">
                <a:latin typeface="Arial"/>
                <a:cs typeface="Arial"/>
              </a:rPr>
              <a:t> </a:t>
            </a:r>
            <a:r>
              <a:rPr sz="2250" spc="-155" dirty="0">
                <a:latin typeface="Arial"/>
                <a:cs typeface="Arial"/>
              </a:rPr>
              <a:t>searching</a:t>
            </a:r>
            <a:r>
              <a:rPr sz="2250" spc="60" dirty="0">
                <a:latin typeface="Arial"/>
                <a:cs typeface="Arial"/>
              </a:rPr>
              <a:t> </a:t>
            </a:r>
            <a:r>
              <a:rPr sz="2250" spc="-65" dirty="0">
                <a:latin typeface="Arial"/>
                <a:cs typeface="Arial"/>
              </a:rPr>
              <a:t>for</a:t>
            </a:r>
            <a:r>
              <a:rPr sz="2250" spc="-15" dirty="0">
                <a:latin typeface="Arial"/>
                <a:cs typeface="Arial"/>
              </a:rPr>
              <a:t> </a:t>
            </a:r>
            <a:r>
              <a:rPr sz="2250" spc="-85" dirty="0">
                <a:latin typeface="Arial"/>
                <a:cs typeface="Arial"/>
              </a:rPr>
              <a:t>the</a:t>
            </a:r>
            <a:r>
              <a:rPr sz="2250" spc="-70" dirty="0">
                <a:latin typeface="Arial"/>
                <a:cs typeface="Arial"/>
              </a:rPr>
              <a:t> </a:t>
            </a:r>
            <a:r>
              <a:rPr sz="2250" spc="-100" dirty="0">
                <a:latin typeface="Arial"/>
                <a:cs typeface="Arial"/>
              </a:rPr>
              <a:t>service </a:t>
            </a:r>
            <a:r>
              <a:rPr sz="2300" spc="-140" dirty="0">
                <a:latin typeface="Arial"/>
                <a:cs typeface="Arial"/>
              </a:rPr>
              <a:t>advertisement.</a:t>
            </a:r>
            <a:r>
              <a:rPr sz="2300" spc="-90" dirty="0">
                <a:latin typeface="Arial"/>
                <a:cs typeface="Arial"/>
              </a:rPr>
              <a:t> </a:t>
            </a:r>
            <a:r>
              <a:rPr sz="2300" spc="-220" dirty="0">
                <a:latin typeface="Arial"/>
                <a:cs typeface="Arial"/>
              </a:rPr>
              <a:t>Results</a:t>
            </a:r>
            <a:r>
              <a:rPr sz="2300" spc="105" dirty="0">
                <a:latin typeface="Arial"/>
                <a:cs typeface="Arial"/>
              </a:rPr>
              <a:t> </a:t>
            </a:r>
            <a:r>
              <a:rPr sz="2300" spc="-200" dirty="0">
                <a:latin typeface="Arial"/>
                <a:cs typeface="Arial"/>
              </a:rPr>
              <a:t>end</a:t>
            </a:r>
            <a:r>
              <a:rPr sz="2300" spc="5" dirty="0">
                <a:latin typeface="Arial"/>
                <a:cs typeface="Arial"/>
              </a:rPr>
              <a:t> </a:t>
            </a:r>
            <a:r>
              <a:rPr sz="2300" spc="-150" dirty="0">
                <a:latin typeface="Arial"/>
                <a:cs typeface="Arial"/>
              </a:rPr>
              <a:t>up</a:t>
            </a:r>
            <a:r>
              <a:rPr sz="2300" spc="-80" dirty="0">
                <a:latin typeface="Arial"/>
                <a:cs typeface="Arial"/>
              </a:rPr>
              <a:t> </a:t>
            </a:r>
            <a:r>
              <a:rPr sz="2300" spc="-75" dirty="0">
                <a:latin typeface="Arial"/>
                <a:cs typeface="Arial"/>
              </a:rPr>
              <a:t>in</a:t>
            </a:r>
            <a:r>
              <a:rPr sz="2300" spc="-55" dirty="0">
                <a:latin typeface="Arial"/>
                <a:cs typeface="Arial"/>
              </a:rPr>
              <a:t> </a:t>
            </a:r>
            <a:r>
              <a:rPr sz="2300" spc="-114" dirty="0">
                <a:latin typeface="Arial"/>
                <a:cs typeface="Arial"/>
              </a:rPr>
              <a:t>the</a:t>
            </a:r>
            <a:r>
              <a:rPr sz="2300" spc="-35" dirty="0">
                <a:latin typeface="Arial"/>
                <a:cs typeface="Arial"/>
              </a:rPr>
              <a:t> </a:t>
            </a:r>
            <a:r>
              <a:rPr sz="2300" spc="-229" dirty="0">
                <a:latin typeface="Arial"/>
                <a:cs typeface="Arial"/>
              </a:rPr>
              <a:t>Local</a:t>
            </a:r>
            <a:r>
              <a:rPr sz="2300" spc="60" dirty="0">
                <a:latin typeface="Arial"/>
                <a:cs typeface="Arial"/>
              </a:rPr>
              <a:t> </a:t>
            </a:r>
            <a:r>
              <a:rPr sz="2300" spc="-60" dirty="0">
                <a:latin typeface="Arial"/>
                <a:cs typeface="Arial"/>
              </a:rPr>
              <a:t>Cache! </a:t>
            </a:r>
            <a:r>
              <a:rPr sz="2300" spc="-135" dirty="0">
                <a:solidFill>
                  <a:srgbClr val="91282D"/>
                </a:solidFill>
                <a:latin typeface="Arial"/>
                <a:cs typeface="Arial"/>
              </a:rPr>
              <a:t>disco.getRemoteAdvertisements(</a:t>
            </a:r>
            <a:endParaRPr sz="2300">
              <a:latin typeface="Arial"/>
              <a:cs typeface="Arial"/>
            </a:endParaRPr>
          </a:p>
          <a:p>
            <a:pPr marL="931544">
              <a:lnSpc>
                <a:spcPts val="2380"/>
              </a:lnSpc>
            </a:pPr>
            <a:r>
              <a:rPr sz="2250" spc="-195" dirty="0">
                <a:solidFill>
                  <a:srgbClr val="9A3131"/>
                </a:solidFill>
                <a:latin typeface="Arial"/>
                <a:cs typeface="Arial"/>
              </a:rPr>
              <a:t>DiscoveryService.ADV,</a:t>
            </a:r>
            <a:r>
              <a:rPr sz="2250" spc="60" dirty="0">
                <a:solidFill>
                  <a:srgbClr val="9A3131"/>
                </a:solidFill>
                <a:latin typeface="Arial"/>
                <a:cs typeface="Arial"/>
              </a:rPr>
              <a:t> </a:t>
            </a:r>
            <a:r>
              <a:rPr sz="2250" spc="-145" dirty="0">
                <a:solidFill>
                  <a:srgbClr val="8E2A2D"/>
                </a:solidFill>
                <a:latin typeface="Arial"/>
                <a:cs typeface="Arial"/>
              </a:rPr>
              <a:t>"Name",</a:t>
            </a:r>
            <a:r>
              <a:rPr sz="2250" spc="85" dirty="0">
                <a:solidFill>
                  <a:srgbClr val="8E2A2D"/>
                </a:solidFill>
                <a:latin typeface="Arial"/>
                <a:cs typeface="Arial"/>
              </a:rPr>
              <a:t> </a:t>
            </a:r>
            <a:r>
              <a:rPr sz="2250" spc="-254" dirty="0">
                <a:solidFill>
                  <a:srgbClr val="90282B"/>
                </a:solidFill>
                <a:latin typeface="Arial"/>
                <a:cs typeface="Arial"/>
              </a:rPr>
              <a:t>"JXTASPEC:JXTA-</a:t>
            </a:r>
            <a:r>
              <a:rPr sz="2250" spc="-114" dirty="0">
                <a:solidFill>
                  <a:srgbClr val="90282B"/>
                </a:solidFill>
                <a:latin typeface="Arial"/>
                <a:cs typeface="Arial"/>
              </a:rPr>
              <a:t>EX1",1);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ts val="2485"/>
              </a:lnSpc>
              <a:spcBef>
                <a:spcPts val="285"/>
              </a:spcBef>
              <a:tabLst>
                <a:tab pos="615315" algn="l"/>
              </a:tabLst>
            </a:pPr>
            <a:r>
              <a:rPr sz="2150" spc="-25" dirty="0">
                <a:solidFill>
                  <a:srgbClr val="3D3D3D"/>
                </a:solidFill>
                <a:latin typeface="Arial"/>
                <a:cs typeface="Arial"/>
              </a:rPr>
              <a:t>›.</a:t>
            </a:r>
            <a:r>
              <a:rPr sz="2150" dirty="0">
                <a:solidFill>
                  <a:srgbClr val="3D3D3D"/>
                </a:solidFill>
                <a:latin typeface="Arial"/>
                <a:cs typeface="Arial"/>
              </a:rPr>
              <a:t>	</a:t>
            </a:r>
            <a:r>
              <a:rPr sz="2150" dirty="0">
                <a:latin typeface="Arial"/>
                <a:cs typeface="Arial"/>
              </a:rPr>
              <a:t>If</a:t>
            </a:r>
            <a:r>
              <a:rPr sz="2150" spc="310" dirty="0">
                <a:latin typeface="Arial"/>
                <a:cs typeface="Arial"/>
              </a:rPr>
              <a:t> </a:t>
            </a:r>
            <a:r>
              <a:rPr sz="2150" spc="-80" dirty="0">
                <a:latin typeface="Arial"/>
                <a:cs typeface="Arial"/>
              </a:rPr>
              <a:t>we're</a:t>
            </a:r>
            <a:r>
              <a:rPr sz="2150" spc="-55" dirty="0">
                <a:latin typeface="Arial"/>
                <a:cs typeface="Arial"/>
              </a:rPr>
              <a:t> </a:t>
            </a:r>
            <a:r>
              <a:rPr sz="2150" spc="-60" dirty="0">
                <a:latin typeface="Arial"/>
                <a:cs typeface="Arial"/>
              </a:rPr>
              <a:t>lucky</a:t>
            </a:r>
            <a:r>
              <a:rPr sz="2150" spc="50" dirty="0">
                <a:latin typeface="Arial"/>
                <a:cs typeface="Arial"/>
              </a:rPr>
              <a:t> </a:t>
            </a:r>
            <a:r>
              <a:rPr sz="2150" spc="-80" dirty="0">
                <a:latin typeface="Arial"/>
                <a:cs typeface="Arial"/>
              </a:rPr>
              <a:t>we</a:t>
            </a:r>
            <a:r>
              <a:rPr sz="2150" spc="-70" dirty="0">
                <a:latin typeface="Arial"/>
                <a:cs typeface="Arial"/>
              </a:rPr>
              <a:t> </a:t>
            </a:r>
            <a:r>
              <a:rPr sz="2150" spc="-45" dirty="0">
                <a:latin typeface="Arial"/>
                <a:cs typeface="Arial"/>
              </a:rPr>
              <a:t>find</a:t>
            </a:r>
            <a:r>
              <a:rPr sz="2150" spc="-105" dirty="0">
                <a:latin typeface="Arial"/>
                <a:cs typeface="Arial"/>
              </a:rPr>
              <a:t> </a:t>
            </a:r>
            <a:r>
              <a:rPr sz="2150" spc="-20" dirty="0">
                <a:latin typeface="Arial"/>
                <a:cs typeface="Arial"/>
              </a:rPr>
              <a:t>the</a:t>
            </a:r>
            <a:r>
              <a:rPr sz="2150" spc="-125" dirty="0">
                <a:latin typeface="Arial"/>
                <a:cs typeface="Arial"/>
              </a:rPr>
              <a:t> Service</a:t>
            </a:r>
            <a:r>
              <a:rPr sz="2150" spc="-25" dirty="0">
                <a:latin typeface="Arial"/>
                <a:cs typeface="Arial"/>
              </a:rPr>
              <a:t> </a:t>
            </a:r>
            <a:r>
              <a:rPr sz="2150" spc="-10" dirty="0">
                <a:latin typeface="Arial"/>
                <a:cs typeface="Arial"/>
              </a:rPr>
              <a:t>Advelisement.</a:t>
            </a:r>
            <a:endParaRPr sz="2150">
              <a:latin typeface="Arial"/>
              <a:cs typeface="Arial"/>
            </a:endParaRPr>
          </a:p>
          <a:p>
            <a:pPr marL="629285">
              <a:lnSpc>
                <a:spcPts val="2485"/>
              </a:lnSpc>
            </a:pPr>
            <a:r>
              <a:rPr sz="2150" spc="-125" dirty="0">
                <a:solidFill>
                  <a:srgbClr val="FB7579"/>
                </a:solidFill>
                <a:latin typeface="Arial"/>
                <a:cs typeface="Arial"/>
              </a:rPr>
              <a:t>ModuleSpecAdvertisement</a:t>
            </a:r>
            <a:r>
              <a:rPr sz="2150" spc="15" dirty="0">
                <a:solidFill>
                  <a:srgbClr val="FB7579"/>
                </a:solidFill>
                <a:latin typeface="Arial"/>
                <a:cs typeface="Arial"/>
              </a:rPr>
              <a:t> </a:t>
            </a:r>
            <a:r>
              <a:rPr sz="2150" spc="-110" dirty="0">
                <a:solidFill>
                  <a:srgbClr val="8C2D3B"/>
                </a:solidFill>
                <a:latin typeface="Arial"/>
                <a:cs typeface="Arial"/>
              </a:rPr>
              <a:t>mdsadv</a:t>
            </a:r>
            <a:r>
              <a:rPr sz="2150" spc="145" dirty="0">
                <a:solidFill>
                  <a:srgbClr val="8C2D3B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743338"/>
                </a:solidFill>
                <a:latin typeface="Arial"/>
                <a:cs typeface="Arial"/>
              </a:rPr>
              <a:t>=</a:t>
            </a:r>
            <a:r>
              <a:rPr sz="2150" spc="40" dirty="0">
                <a:solidFill>
                  <a:srgbClr val="743338"/>
                </a:solidFill>
                <a:latin typeface="Arial"/>
                <a:cs typeface="Arial"/>
              </a:rPr>
              <a:t> </a:t>
            </a:r>
            <a:r>
              <a:rPr sz="2150" spc="-25" dirty="0">
                <a:solidFill>
                  <a:srgbClr val="952D2F"/>
                </a:solidFill>
                <a:latin typeface="Arial"/>
                <a:cs typeface="Arial"/>
              </a:rPr>
              <a:t>enum.nextEIement();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62883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7940">
              <a:lnSpc>
                <a:spcPts val="5495"/>
              </a:lnSpc>
              <a:spcBef>
                <a:spcPts val="130"/>
              </a:spcBef>
            </a:pPr>
            <a:r>
              <a:rPr sz="4850" spc="-325" dirty="0">
                <a:solidFill>
                  <a:srgbClr val="383485"/>
                </a:solidFill>
                <a:latin typeface="Arial"/>
                <a:cs typeface="Arial"/>
              </a:rPr>
              <a:t>Finding</a:t>
            </a:r>
            <a:r>
              <a:rPr sz="4850" spc="245" dirty="0">
                <a:solidFill>
                  <a:srgbClr val="383485"/>
                </a:solidFill>
                <a:latin typeface="Arial"/>
                <a:cs typeface="Arial"/>
              </a:rPr>
              <a:t> </a:t>
            </a:r>
            <a:r>
              <a:rPr sz="4850" spc="-120" dirty="0">
                <a:solidFill>
                  <a:srgbClr val="36317C"/>
                </a:solidFill>
                <a:latin typeface="Arial"/>
                <a:cs typeface="Arial"/>
              </a:rPr>
              <a:t>the</a:t>
            </a:r>
            <a:r>
              <a:rPr sz="4850" spc="-55" dirty="0">
                <a:solidFill>
                  <a:srgbClr val="36317C"/>
                </a:solidFill>
                <a:latin typeface="Arial"/>
                <a:cs typeface="Arial"/>
              </a:rPr>
              <a:t> </a:t>
            </a:r>
            <a:r>
              <a:rPr sz="4850" spc="-465" dirty="0">
                <a:solidFill>
                  <a:srgbClr val="363190"/>
                </a:solidFill>
                <a:latin typeface="Arial"/>
                <a:cs typeface="Arial"/>
              </a:rPr>
              <a:t>Pipe</a:t>
            </a:r>
            <a:endParaRPr sz="4850">
              <a:latin typeface="Arial"/>
              <a:cs typeface="Arial"/>
            </a:endParaRPr>
          </a:p>
          <a:p>
            <a:pPr marL="34925">
              <a:lnSpc>
                <a:spcPts val="5615"/>
              </a:lnSpc>
            </a:pPr>
            <a:r>
              <a:rPr sz="4950" spc="-360" dirty="0">
                <a:solidFill>
                  <a:srgbClr val="343190"/>
                </a:solidFill>
                <a:latin typeface="Arial"/>
                <a:cs typeface="Arial"/>
              </a:rPr>
              <a:t>Advertisement</a:t>
            </a:r>
            <a:endParaRPr sz="49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4022" y="2128192"/>
            <a:ext cx="151130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spc="-25" dirty="0">
                <a:solidFill>
                  <a:srgbClr val="424242"/>
                </a:solidFill>
                <a:latin typeface="Arial"/>
                <a:cs typeface="Arial"/>
              </a:rPr>
              <a:t>1.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8253" y="3711476"/>
            <a:ext cx="137160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105" dirty="0">
                <a:solidFill>
                  <a:srgbClr val="505050"/>
                </a:solidFill>
                <a:latin typeface="Arial"/>
                <a:cs typeface="Arial"/>
              </a:rPr>
              <a:t>2.</a:t>
            </a:r>
            <a:endParaRPr sz="13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54441" y="2021036"/>
            <a:ext cx="6833234" cy="377761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4765" marR="5080" indent="-12700">
              <a:lnSpc>
                <a:spcPct val="88400"/>
              </a:lnSpc>
              <a:spcBef>
                <a:spcPts val="400"/>
              </a:spcBef>
            </a:pPr>
            <a:r>
              <a:rPr sz="2200" spc="60" dirty="0">
                <a:latin typeface="Arial"/>
                <a:cs typeface="Arial"/>
              </a:rPr>
              <a:t>In</a:t>
            </a:r>
            <a:r>
              <a:rPr sz="2200" spc="-155" dirty="0">
                <a:latin typeface="Arial"/>
                <a:cs typeface="Arial"/>
              </a:rPr>
              <a:t> </a:t>
            </a:r>
            <a:r>
              <a:rPr sz="2200" spc="-285" dirty="0">
                <a:latin typeface="Arial"/>
                <a:cs typeface="Arial"/>
              </a:rPr>
              <a:t>a</a:t>
            </a:r>
            <a:r>
              <a:rPr sz="2200" spc="125" dirty="0">
                <a:latin typeface="Arial"/>
                <a:cs typeface="Arial"/>
              </a:rPr>
              <a:t> </a:t>
            </a:r>
            <a:r>
              <a:rPr sz="2200" spc="-130" dirty="0">
                <a:latin typeface="Arial"/>
                <a:cs typeface="Arial"/>
              </a:rPr>
              <a:t>reversal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spc="-85" dirty="0">
                <a:latin typeface="Arial"/>
                <a:cs typeface="Arial"/>
              </a:rPr>
              <a:t>our</a:t>
            </a:r>
            <a:r>
              <a:rPr sz="2200" spc="15" dirty="0">
                <a:latin typeface="Arial"/>
                <a:cs typeface="Arial"/>
              </a:rPr>
              <a:t> </a:t>
            </a:r>
            <a:r>
              <a:rPr sz="2200" spc="-125" dirty="0">
                <a:latin typeface="Arial"/>
                <a:cs typeface="Arial"/>
              </a:rPr>
              <a:t>producer's</a:t>
            </a:r>
            <a:r>
              <a:rPr sz="2200" spc="35" dirty="0">
                <a:latin typeface="Arial"/>
                <a:cs typeface="Arial"/>
              </a:rPr>
              <a:t> </a:t>
            </a:r>
            <a:r>
              <a:rPr sz="2200" spc="-140" dirty="0">
                <a:latin typeface="Arial"/>
                <a:cs typeface="Arial"/>
              </a:rPr>
              <a:t>behavior,</a:t>
            </a:r>
            <a:r>
              <a:rPr sz="2200" spc="100" dirty="0">
                <a:latin typeface="Arial"/>
                <a:cs typeface="Arial"/>
              </a:rPr>
              <a:t> </a:t>
            </a:r>
            <a:r>
              <a:rPr sz="2200" spc="-145" dirty="0">
                <a:latin typeface="Arial"/>
                <a:cs typeface="Arial"/>
              </a:rPr>
              <a:t>we</a:t>
            </a:r>
            <a:r>
              <a:rPr sz="2200" spc="-10" dirty="0">
                <a:latin typeface="Arial"/>
                <a:cs typeface="Arial"/>
              </a:rPr>
              <a:t> </a:t>
            </a:r>
            <a:r>
              <a:rPr sz="2200" spc="-130" dirty="0">
                <a:latin typeface="Arial"/>
                <a:cs typeface="Arial"/>
              </a:rPr>
              <a:t>must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extract</a:t>
            </a:r>
            <a:r>
              <a:rPr sz="2200" spc="30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the </a:t>
            </a:r>
            <a:r>
              <a:rPr sz="2300" spc="-260" dirty="0">
                <a:latin typeface="Arial"/>
                <a:cs typeface="Arial"/>
              </a:rPr>
              <a:t>Pipe</a:t>
            </a:r>
            <a:r>
              <a:rPr sz="2300" spc="100" dirty="0">
                <a:latin typeface="Arial"/>
                <a:cs typeface="Arial"/>
              </a:rPr>
              <a:t> </a:t>
            </a:r>
            <a:r>
              <a:rPr sz="2300" spc="-180" dirty="0">
                <a:latin typeface="Arial"/>
                <a:cs typeface="Arial"/>
              </a:rPr>
              <a:t>Advertisement</a:t>
            </a:r>
            <a:r>
              <a:rPr sz="2300" spc="150" dirty="0">
                <a:latin typeface="Arial"/>
                <a:cs typeface="Arial"/>
              </a:rPr>
              <a:t> </a:t>
            </a:r>
            <a:r>
              <a:rPr sz="2300" spc="-135" dirty="0">
                <a:latin typeface="Arial"/>
                <a:cs typeface="Arial"/>
              </a:rPr>
              <a:t>from</a:t>
            </a:r>
            <a:r>
              <a:rPr sz="2300" spc="-5" dirty="0">
                <a:latin typeface="Arial"/>
                <a:cs typeface="Arial"/>
              </a:rPr>
              <a:t> </a:t>
            </a:r>
            <a:r>
              <a:rPr sz="2300" spc="-120" dirty="0">
                <a:latin typeface="Arial"/>
                <a:cs typeface="Arial"/>
              </a:rPr>
              <a:t>the</a:t>
            </a:r>
            <a:r>
              <a:rPr sz="2300" spc="-40" dirty="0">
                <a:latin typeface="Arial"/>
                <a:cs typeface="Arial"/>
              </a:rPr>
              <a:t> </a:t>
            </a:r>
            <a:r>
              <a:rPr sz="2300" spc="-210" dirty="0">
                <a:latin typeface="Arial"/>
                <a:cs typeface="Arial"/>
              </a:rPr>
              <a:t>Service</a:t>
            </a:r>
            <a:r>
              <a:rPr sz="2300" spc="80" dirty="0">
                <a:latin typeface="Arial"/>
                <a:cs typeface="Arial"/>
              </a:rPr>
              <a:t> </a:t>
            </a:r>
            <a:r>
              <a:rPr sz="2300" spc="-70" dirty="0">
                <a:latin typeface="Arial"/>
                <a:cs typeface="Arial"/>
              </a:rPr>
              <a:t>Advertisement. </a:t>
            </a:r>
            <a:r>
              <a:rPr sz="2250" spc="-185" dirty="0">
                <a:solidFill>
                  <a:srgbClr val="972626"/>
                </a:solidFill>
                <a:latin typeface="Arial"/>
                <a:cs typeface="Arial"/>
              </a:rPr>
              <a:t>paramDoc</a:t>
            </a:r>
            <a:r>
              <a:rPr sz="2250" spc="190" dirty="0">
                <a:solidFill>
                  <a:srgbClr val="972626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BF7075"/>
                </a:solidFill>
                <a:latin typeface="Arial"/>
                <a:cs typeface="Arial"/>
              </a:rPr>
              <a:t>-</a:t>
            </a:r>
            <a:r>
              <a:rPr sz="2250" spc="405" dirty="0">
                <a:solidFill>
                  <a:srgbClr val="BF7075"/>
                </a:solidFill>
                <a:latin typeface="Arial"/>
                <a:cs typeface="Arial"/>
              </a:rPr>
              <a:t> </a:t>
            </a:r>
            <a:r>
              <a:rPr sz="2250" spc="-85" dirty="0">
                <a:solidFill>
                  <a:srgbClr val="973841"/>
                </a:solidFill>
                <a:latin typeface="Arial"/>
                <a:cs typeface="Arial"/>
              </a:rPr>
              <a:t>mdsadv.getParam();</a:t>
            </a:r>
            <a:endParaRPr sz="2250">
              <a:latin typeface="Arial"/>
              <a:cs typeface="Arial"/>
            </a:endParaRPr>
          </a:p>
          <a:p>
            <a:pPr marL="332105" marR="927735" indent="-307340">
              <a:lnSpc>
                <a:spcPts val="2390"/>
              </a:lnSpc>
              <a:spcBef>
                <a:spcPts val="30"/>
              </a:spcBef>
            </a:pPr>
            <a:r>
              <a:rPr sz="2250" spc="-170" dirty="0">
                <a:solidFill>
                  <a:srgbClr val="9C2F2B"/>
                </a:solidFill>
                <a:latin typeface="Arial"/>
                <a:cs typeface="Arial"/>
              </a:rPr>
              <a:t>Enumeration</a:t>
            </a:r>
            <a:r>
              <a:rPr sz="2250" spc="50" dirty="0">
                <a:solidFill>
                  <a:srgbClr val="9C2F2B"/>
                </a:solidFill>
                <a:latin typeface="Arial"/>
                <a:cs typeface="Arial"/>
              </a:rPr>
              <a:t> </a:t>
            </a:r>
            <a:r>
              <a:rPr sz="2250" spc="-150" dirty="0">
                <a:solidFill>
                  <a:srgbClr val="AC2A2A"/>
                </a:solidFill>
                <a:latin typeface="Arial"/>
                <a:cs typeface="Arial"/>
              </a:rPr>
              <a:t>elements</a:t>
            </a:r>
            <a:r>
              <a:rPr sz="2250" spc="80" dirty="0">
                <a:solidFill>
                  <a:srgbClr val="AC2A2A"/>
                </a:solidFill>
                <a:latin typeface="Arial"/>
                <a:cs typeface="Arial"/>
              </a:rPr>
              <a:t> </a:t>
            </a:r>
            <a:r>
              <a:rPr sz="2250" spc="-50" dirty="0">
                <a:solidFill>
                  <a:srgbClr val="75383D"/>
                </a:solidFill>
                <a:latin typeface="Arial"/>
                <a:cs typeface="Arial"/>
              </a:rPr>
              <a:t>= </a:t>
            </a:r>
            <a:r>
              <a:rPr sz="2250" spc="-125" dirty="0">
                <a:solidFill>
                  <a:srgbClr val="B31C21"/>
                </a:solidFill>
                <a:latin typeface="Arial"/>
                <a:cs typeface="Arial"/>
              </a:rPr>
              <a:t>paramDoc.getChildren("jxta:</a:t>
            </a:r>
            <a:r>
              <a:rPr sz="2250" spc="-125" dirty="0">
                <a:solidFill>
                  <a:srgbClr val="932F34"/>
                </a:solidFill>
                <a:latin typeface="Arial"/>
                <a:cs typeface="Arial"/>
              </a:rPr>
              <a:t>PipeAdvertisement");</a:t>
            </a:r>
            <a:endParaRPr sz="2250">
              <a:latin typeface="Arial"/>
              <a:cs typeface="Arial"/>
            </a:endParaRPr>
          </a:p>
          <a:p>
            <a:pPr marL="26034">
              <a:lnSpc>
                <a:spcPts val="2600"/>
              </a:lnSpc>
              <a:spcBef>
                <a:spcPts val="105"/>
              </a:spcBef>
            </a:pPr>
            <a:r>
              <a:rPr sz="2300" spc="-275" dirty="0">
                <a:latin typeface="Arial"/>
                <a:cs typeface="Arial"/>
              </a:rPr>
              <a:t>Because</a:t>
            </a:r>
            <a:r>
              <a:rPr sz="2300" spc="80" dirty="0">
                <a:latin typeface="Arial"/>
                <a:cs typeface="Arial"/>
              </a:rPr>
              <a:t> </a:t>
            </a:r>
            <a:r>
              <a:rPr sz="2300" spc="-130" dirty="0">
                <a:latin typeface="Arial"/>
                <a:cs typeface="Arial"/>
              </a:rPr>
              <a:t>there</a:t>
            </a:r>
            <a:r>
              <a:rPr sz="2300" spc="-30" dirty="0">
                <a:latin typeface="Arial"/>
                <a:cs typeface="Arial"/>
              </a:rPr>
              <a:t> </a:t>
            </a:r>
            <a:r>
              <a:rPr sz="2300" spc="-210" dirty="0">
                <a:latin typeface="Arial"/>
                <a:cs typeface="Arial"/>
              </a:rPr>
              <a:t>can</a:t>
            </a:r>
            <a:r>
              <a:rPr sz="2300" spc="-10" dirty="0">
                <a:latin typeface="Arial"/>
                <a:cs typeface="Arial"/>
              </a:rPr>
              <a:t> </a:t>
            </a:r>
            <a:r>
              <a:rPr sz="2300" spc="-225" dirty="0">
                <a:latin typeface="Arial"/>
                <a:cs typeface="Arial"/>
              </a:rPr>
              <a:t>be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spc="-125" dirty="0">
                <a:latin typeface="Arial"/>
                <a:cs typeface="Arial"/>
              </a:rPr>
              <a:t>multiple</a:t>
            </a:r>
            <a:r>
              <a:rPr sz="2300" spc="90" dirty="0">
                <a:latin typeface="Arial"/>
                <a:cs typeface="Arial"/>
              </a:rPr>
              <a:t> </a:t>
            </a:r>
            <a:r>
              <a:rPr sz="2300" spc="-175" dirty="0">
                <a:latin typeface="Arial"/>
                <a:cs typeface="Arial"/>
              </a:rPr>
              <a:t>parameters</a:t>
            </a:r>
            <a:r>
              <a:rPr sz="2300" spc="35" dirty="0">
                <a:latin typeface="Arial"/>
                <a:cs typeface="Arial"/>
              </a:rPr>
              <a:t> </a:t>
            </a:r>
            <a:r>
              <a:rPr sz="2300" spc="-90" dirty="0">
                <a:latin typeface="Arial"/>
                <a:cs typeface="Arial"/>
              </a:rPr>
              <a:t>(Advertisements)</a:t>
            </a:r>
            <a:endParaRPr sz="2300">
              <a:latin typeface="Arial"/>
              <a:cs typeface="Arial"/>
            </a:endParaRPr>
          </a:p>
          <a:p>
            <a:pPr marL="22860" marR="312420" indent="5715">
              <a:lnSpc>
                <a:spcPct val="89200"/>
              </a:lnSpc>
              <a:spcBef>
                <a:spcPts val="135"/>
              </a:spcBef>
            </a:pPr>
            <a:r>
              <a:rPr sz="2250" spc="-85" dirty="0">
                <a:latin typeface="Arial"/>
                <a:cs typeface="Arial"/>
              </a:rPr>
              <a:t>within</a:t>
            </a:r>
            <a:r>
              <a:rPr sz="2250" spc="-65" dirty="0">
                <a:latin typeface="Arial"/>
                <a:cs typeface="Arial"/>
              </a:rPr>
              <a:t> </a:t>
            </a:r>
            <a:r>
              <a:rPr sz="2250" spc="-225" dirty="0">
                <a:latin typeface="Arial"/>
                <a:cs typeface="Arial"/>
              </a:rPr>
              <a:t>a</a:t>
            </a:r>
            <a:r>
              <a:rPr sz="2250" dirty="0">
                <a:latin typeface="Arial"/>
                <a:cs typeface="Arial"/>
              </a:rPr>
              <a:t> </a:t>
            </a:r>
            <a:r>
              <a:rPr sz="2250" spc="-180" dirty="0">
                <a:latin typeface="Arial"/>
                <a:cs typeface="Arial"/>
              </a:rPr>
              <a:t>Service</a:t>
            </a:r>
            <a:r>
              <a:rPr sz="2250" spc="130" dirty="0">
                <a:latin typeface="Arial"/>
                <a:cs typeface="Arial"/>
              </a:rPr>
              <a:t> </a:t>
            </a:r>
            <a:r>
              <a:rPr sz="2250" spc="-140" dirty="0">
                <a:latin typeface="Arial"/>
                <a:cs typeface="Arial"/>
              </a:rPr>
              <a:t>Advertisement,</a:t>
            </a:r>
            <a:r>
              <a:rPr sz="2250" spc="-25" dirty="0">
                <a:latin typeface="Arial"/>
                <a:cs typeface="Arial"/>
              </a:rPr>
              <a:t> </a:t>
            </a:r>
            <a:r>
              <a:rPr sz="2250" spc="-210" dirty="0">
                <a:latin typeface="Arial"/>
                <a:cs typeface="Arial"/>
              </a:rPr>
              <a:t>we</a:t>
            </a:r>
            <a:r>
              <a:rPr sz="2250" spc="-35" dirty="0">
                <a:latin typeface="Arial"/>
                <a:cs typeface="Arial"/>
              </a:rPr>
              <a:t> </a:t>
            </a:r>
            <a:r>
              <a:rPr sz="2250" spc="-145" dirty="0">
                <a:latin typeface="Arial"/>
                <a:cs typeface="Arial"/>
              </a:rPr>
              <a:t>must</a:t>
            </a:r>
            <a:r>
              <a:rPr sz="2250" spc="50" dirty="0">
                <a:latin typeface="Arial"/>
                <a:cs typeface="Arial"/>
              </a:rPr>
              <a:t> </a:t>
            </a:r>
            <a:r>
              <a:rPr sz="2250" spc="-210" dirty="0">
                <a:latin typeface="Arial"/>
                <a:cs typeface="Arial"/>
              </a:rPr>
              <a:t>choose</a:t>
            </a:r>
            <a:r>
              <a:rPr sz="2250" spc="50" dirty="0">
                <a:latin typeface="Arial"/>
                <a:cs typeface="Arial"/>
              </a:rPr>
              <a:t> </a:t>
            </a:r>
            <a:r>
              <a:rPr sz="2250" spc="-20" dirty="0">
                <a:latin typeface="Arial"/>
                <a:cs typeface="Arial"/>
              </a:rPr>
              <a:t>one. </a:t>
            </a:r>
            <a:r>
              <a:rPr sz="2250" spc="-170" dirty="0">
                <a:solidFill>
                  <a:srgbClr val="9C2828"/>
                </a:solidFill>
                <a:latin typeface="Arial"/>
                <a:cs typeface="Arial"/>
              </a:rPr>
              <a:t>Enumeration</a:t>
            </a:r>
            <a:r>
              <a:rPr sz="2250" spc="85" dirty="0">
                <a:solidFill>
                  <a:srgbClr val="9C2828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972326"/>
                </a:solidFill>
                <a:latin typeface="Arial"/>
                <a:cs typeface="Arial"/>
              </a:rPr>
              <a:t>e</a:t>
            </a:r>
            <a:r>
              <a:rPr sz="2250" spc="-55" dirty="0">
                <a:solidFill>
                  <a:srgbClr val="972326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703B38"/>
                </a:solidFill>
                <a:latin typeface="Arial"/>
                <a:cs typeface="Arial"/>
              </a:rPr>
              <a:t>=</a:t>
            </a:r>
            <a:r>
              <a:rPr sz="2250" spc="-30" dirty="0">
                <a:solidFill>
                  <a:srgbClr val="703B38"/>
                </a:solidFill>
                <a:latin typeface="Arial"/>
                <a:cs typeface="Arial"/>
              </a:rPr>
              <a:t> </a:t>
            </a:r>
            <a:r>
              <a:rPr sz="2250" spc="-105" dirty="0">
                <a:solidFill>
                  <a:srgbClr val="97262D"/>
                </a:solidFill>
                <a:latin typeface="Arial"/>
                <a:cs typeface="Arial"/>
              </a:rPr>
              <a:t>(elements.nextEIement()).getChildren(); </a:t>
            </a:r>
            <a:r>
              <a:rPr sz="2250" spc="-180" dirty="0">
                <a:solidFill>
                  <a:srgbClr val="8A2F38"/>
                </a:solidFill>
                <a:latin typeface="Arial"/>
                <a:cs typeface="Arial"/>
              </a:rPr>
              <a:t>TextElement</a:t>
            </a:r>
            <a:r>
              <a:rPr sz="2250" spc="110" dirty="0">
                <a:solidFill>
                  <a:srgbClr val="8A2F38"/>
                </a:solidFill>
                <a:latin typeface="Arial"/>
                <a:cs typeface="Arial"/>
              </a:rPr>
              <a:t> </a:t>
            </a:r>
            <a:r>
              <a:rPr sz="2250" spc="-150" dirty="0">
                <a:solidFill>
                  <a:srgbClr val="A02624"/>
                </a:solidFill>
                <a:latin typeface="Arial"/>
                <a:cs typeface="Arial"/>
              </a:rPr>
              <a:t>elem</a:t>
            </a:r>
            <a:r>
              <a:rPr sz="2250" spc="60" dirty="0">
                <a:solidFill>
                  <a:srgbClr val="A02624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8C313A"/>
                </a:solidFill>
                <a:latin typeface="Arial"/>
                <a:cs typeface="Arial"/>
              </a:rPr>
              <a:t>=</a:t>
            </a:r>
            <a:r>
              <a:rPr sz="2250" spc="-100" dirty="0">
                <a:solidFill>
                  <a:srgbClr val="8C313A"/>
                </a:solidFill>
                <a:latin typeface="Arial"/>
                <a:cs typeface="Arial"/>
              </a:rPr>
              <a:t> </a:t>
            </a:r>
            <a:r>
              <a:rPr sz="2250" spc="-80" dirty="0">
                <a:solidFill>
                  <a:srgbClr val="972A26"/>
                </a:solidFill>
                <a:latin typeface="Arial"/>
                <a:cs typeface="Arial"/>
              </a:rPr>
              <a:t>elements.nextElement();</a:t>
            </a:r>
            <a:endParaRPr sz="2250">
              <a:latin typeface="Arial"/>
              <a:cs typeface="Arial"/>
            </a:endParaRPr>
          </a:p>
          <a:p>
            <a:pPr marL="28575" marR="3469004" indent="-3810">
              <a:lnSpc>
                <a:spcPts val="2390"/>
              </a:lnSpc>
              <a:spcBef>
                <a:spcPts val="25"/>
              </a:spcBef>
            </a:pPr>
            <a:r>
              <a:rPr sz="2250" spc="-114" dirty="0">
                <a:solidFill>
                  <a:srgbClr val="A12621"/>
                </a:solidFill>
                <a:latin typeface="Arial"/>
                <a:cs typeface="Arial"/>
              </a:rPr>
              <a:t>String</a:t>
            </a:r>
            <a:r>
              <a:rPr sz="2250" spc="-10" dirty="0">
                <a:solidFill>
                  <a:srgbClr val="A12621"/>
                </a:solidFill>
                <a:latin typeface="Arial"/>
                <a:cs typeface="Arial"/>
              </a:rPr>
              <a:t> </a:t>
            </a:r>
            <a:r>
              <a:rPr sz="2250" spc="-155" dirty="0">
                <a:solidFill>
                  <a:srgbClr val="8C312D"/>
                </a:solidFill>
                <a:latin typeface="Arial"/>
                <a:cs typeface="Arial"/>
              </a:rPr>
              <a:t>nm</a:t>
            </a:r>
            <a:r>
              <a:rPr sz="2250" spc="50" dirty="0">
                <a:solidFill>
                  <a:srgbClr val="8C312D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954F56"/>
                </a:solidFill>
                <a:latin typeface="Arial"/>
                <a:cs typeface="Arial"/>
              </a:rPr>
              <a:t>=</a:t>
            </a:r>
            <a:r>
              <a:rPr sz="2250" spc="-20" dirty="0">
                <a:solidFill>
                  <a:srgbClr val="954F56"/>
                </a:solidFill>
                <a:latin typeface="Arial"/>
                <a:cs typeface="Arial"/>
              </a:rPr>
              <a:t> </a:t>
            </a:r>
            <a:r>
              <a:rPr sz="2250" spc="-125" dirty="0">
                <a:solidFill>
                  <a:srgbClr val="A0282A"/>
                </a:solidFill>
                <a:latin typeface="Arial"/>
                <a:cs typeface="Arial"/>
              </a:rPr>
              <a:t>elem.getName(); </a:t>
            </a:r>
            <a:r>
              <a:rPr sz="2250" dirty="0">
                <a:solidFill>
                  <a:srgbClr val="952128"/>
                </a:solidFill>
                <a:latin typeface="Arial"/>
                <a:cs typeface="Arial"/>
              </a:rPr>
              <a:t>plD</a:t>
            </a:r>
            <a:r>
              <a:rPr sz="2250" spc="10" dirty="0">
                <a:solidFill>
                  <a:srgbClr val="952128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AE7575"/>
                </a:solidFill>
                <a:latin typeface="Arial"/>
                <a:cs typeface="Arial"/>
              </a:rPr>
              <a:t>-</a:t>
            </a:r>
            <a:r>
              <a:rPr sz="2250" spc="455" dirty="0">
                <a:solidFill>
                  <a:srgbClr val="AE7575"/>
                </a:solidFill>
                <a:latin typeface="Arial"/>
                <a:cs typeface="Arial"/>
              </a:rPr>
              <a:t> </a:t>
            </a:r>
            <a:r>
              <a:rPr sz="2250" spc="-100" dirty="0">
                <a:solidFill>
                  <a:srgbClr val="973633"/>
                </a:solidFill>
                <a:latin typeface="Arial"/>
                <a:cs typeface="Arial"/>
              </a:rPr>
              <a:t>elem.getTextVaIue();</a:t>
            </a:r>
            <a:endParaRPr sz="2250">
              <a:latin typeface="Arial"/>
              <a:cs typeface="Arial"/>
            </a:endParaRPr>
          </a:p>
          <a:p>
            <a:pPr marL="28575">
              <a:lnSpc>
                <a:spcPts val="2400"/>
              </a:lnSpc>
            </a:pPr>
            <a:r>
              <a:rPr sz="2250" spc="-225" dirty="0">
                <a:solidFill>
                  <a:srgbClr val="8E2828"/>
                </a:solidFill>
                <a:latin typeface="Arial"/>
                <a:cs typeface="Arial"/>
              </a:rPr>
              <a:t>pType</a:t>
            </a:r>
            <a:r>
              <a:rPr sz="2250" spc="105" dirty="0">
                <a:solidFill>
                  <a:srgbClr val="8E2828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793438"/>
                </a:solidFill>
                <a:latin typeface="Arial"/>
                <a:cs typeface="Arial"/>
              </a:rPr>
              <a:t>=</a:t>
            </a:r>
            <a:r>
              <a:rPr sz="2250" spc="45" dirty="0">
                <a:solidFill>
                  <a:srgbClr val="793438"/>
                </a:solidFill>
                <a:latin typeface="Arial"/>
                <a:cs typeface="Arial"/>
              </a:rPr>
              <a:t> </a:t>
            </a:r>
            <a:r>
              <a:rPr sz="2250" spc="-85" dirty="0">
                <a:solidFill>
                  <a:srgbClr val="912A2F"/>
                </a:solidFill>
                <a:latin typeface="Arial"/>
                <a:cs typeface="Arial"/>
              </a:rPr>
              <a:t>elem.getTextValue();</a:t>
            </a:r>
            <a:endParaRPr sz="2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98601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4079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135"/>
              </a:spcBef>
            </a:pPr>
            <a:r>
              <a:rPr sz="4650" spc="-290" dirty="0">
                <a:solidFill>
                  <a:srgbClr val="3A348E"/>
                </a:solidFill>
                <a:latin typeface="Arial"/>
                <a:cs typeface="Arial"/>
              </a:rPr>
              <a:t>Using</a:t>
            </a:r>
            <a:r>
              <a:rPr sz="4650" spc="220" dirty="0">
                <a:solidFill>
                  <a:srgbClr val="3A348E"/>
                </a:solidFill>
                <a:latin typeface="Arial"/>
                <a:cs typeface="Arial"/>
              </a:rPr>
              <a:t> </a:t>
            </a:r>
            <a:r>
              <a:rPr sz="4650" dirty="0">
                <a:solidFill>
                  <a:srgbClr val="343182"/>
                </a:solidFill>
                <a:latin typeface="Arial"/>
                <a:cs typeface="Arial"/>
              </a:rPr>
              <a:t>the</a:t>
            </a:r>
            <a:r>
              <a:rPr sz="4650" spc="5" dirty="0">
                <a:solidFill>
                  <a:srgbClr val="343182"/>
                </a:solidFill>
                <a:latin typeface="Arial"/>
                <a:cs typeface="Arial"/>
              </a:rPr>
              <a:t> </a:t>
            </a:r>
            <a:r>
              <a:rPr sz="4650" spc="-330" dirty="0">
                <a:solidFill>
                  <a:srgbClr val="383689"/>
                </a:solidFill>
                <a:latin typeface="Arial"/>
                <a:cs typeface="Arial"/>
              </a:rPr>
              <a:t>Pipe</a:t>
            </a:r>
            <a:r>
              <a:rPr sz="4650" spc="110" dirty="0">
                <a:solidFill>
                  <a:srgbClr val="383689"/>
                </a:solidFill>
                <a:latin typeface="Arial"/>
                <a:cs typeface="Arial"/>
              </a:rPr>
              <a:t> </a:t>
            </a:r>
            <a:r>
              <a:rPr sz="4650" spc="-180" dirty="0">
                <a:solidFill>
                  <a:srgbClr val="342D9E"/>
                </a:solidFill>
                <a:latin typeface="Arial"/>
                <a:cs typeface="Arial"/>
              </a:rPr>
              <a:t>Advertisement</a:t>
            </a:r>
            <a:endParaRPr sz="4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2246" y="2019299"/>
            <a:ext cx="7427595" cy="3284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6745">
              <a:lnSpc>
                <a:spcPts val="2570"/>
              </a:lnSpc>
              <a:spcBef>
                <a:spcPts val="95"/>
              </a:spcBef>
            </a:pPr>
            <a:r>
              <a:rPr sz="2250" spc="-45" dirty="0">
                <a:latin typeface="Calibri"/>
                <a:cs typeface="Calibri"/>
              </a:rPr>
              <a:t>Create</a:t>
            </a:r>
            <a:r>
              <a:rPr sz="2250" spc="-5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</a:t>
            </a:r>
            <a:r>
              <a:rPr sz="2250" spc="20" dirty="0">
                <a:latin typeface="Calibri"/>
                <a:cs typeface="Calibri"/>
              </a:rPr>
              <a:t> </a:t>
            </a:r>
            <a:r>
              <a:rPr sz="2250" spc="-40" dirty="0">
                <a:latin typeface="Calibri"/>
                <a:cs typeface="Calibri"/>
              </a:rPr>
              <a:t>new </a:t>
            </a:r>
            <a:r>
              <a:rPr sz="2250" spc="-25" dirty="0">
                <a:latin typeface="Calibri"/>
                <a:cs typeface="Calibri"/>
              </a:rPr>
              <a:t>Pipe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Advertisement.</a:t>
            </a:r>
            <a:endParaRPr sz="2250">
              <a:latin typeface="Calibri"/>
              <a:cs typeface="Calibri"/>
            </a:endParaRPr>
          </a:p>
          <a:p>
            <a:pPr marL="628650">
              <a:lnSpc>
                <a:spcPts val="2510"/>
              </a:lnSpc>
            </a:pPr>
            <a:r>
              <a:rPr sz="2200" spc="-20" dirty="0">
                <a:solidFill>
                  <a:srgbClr val="972D2A"/>
                </a:solidFill>
                <a:latin typeface="Calibri"/>
                <a:cs typeface="Calibri"/>
              </a:rPr>
              <a:t>pipeadv</a:t>
            </a:r>
            <a:r>
              <a:rPr sz="2200" spc="300" dirty="0">
                <a:solidFill>
                  <a:srgbClr val="972D2A"/>
                </a:solidFill>
                <a:latin typeface="Calibri"/>
                <a:cs typeface="Calibri"/>
              </a:rPr>
              <a:t> </a:t>
            </a:r>
            <a:r>
              <a:rPr sz="2200" spc="-50" dirty="0">
                <a:solidFill>
                  <a:srgbClr val="BA7577"/>
                </a:solidFill>
                <a:latin typeface="Calibri"/>
                <a:cs typeface="Calibri"/>
              </a:rPr>
              <a:t>=AdvertisementFactory.newAdvertisement</a:t>
            </a:r>
            <a:r>
              <a:rPr sz="2200" spc="65" dirty="0">
                <a:solidFill>
                  <a:srgbClr val="BA757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BA7577"/>
                </a:solidFill>
                <a:latin typeface="Calibri"/>
                <a:cs typeface="Calibri"/>
              </a:rPr>
              <a:t>type);</a:t>
            </a:r>
            <a:endParaRPr sz="2200">
              <a:latin typeface="Calibri"/>
              <a:cs typeface="Calibri"/>
            </a:endParaRPr>
          </a:p>
          <a:p>
            <a:pPr marL="626745" marR="5080" indent="-3810">
              <a:lnSpc>
                <a:spcPct val="88400"/>
              </a:lnSpc>
              <a:spcBef>
                <a:spcPts val="470"/>
              </a:spcBef>
            </a:pPr>
            <a:r>
              <a:rPr sz="2250" spc="-80" dirty="0">
                <a:latin typeface="Calibri"/>
                <a:cs typeface="Calibri"/>
              </a:rPr>
              <a:t>We</a:t>
            </a:r>
            <a:r>
              <a:rPr sz="2250" spc="-50" dirty="0">
                <a:latin typeface="Calibri"/>
                <a:cs typeface="Calibri"/>
              </a:rPr>
              <a:t> </a:t>
            </a:r>
            <a:r>
              <a:rPr sz="2250" spc="-60" dirty="0">
                <a:latin typeface="Calibri"/>
                <a:cs typeface="Calibri"/>
              </a:rPr>
              <a:t>want</a:t>
            </a:r>
            <a:r>
              <a:rPr sz="2250" spc="-70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our</a:t>
            </a:r>
            <a:r>
              <a:rPr sz="2250" spc="-85" dirty="0">
                <a:latin typeface="Calibri"/>
                <a:cs typeface="Calibri"/>
              </a:rPr>
              <a:t> </a:t>
            </a:r>
            <a:r>
              <a:rPr sz="2250" spc="-75" dirty="0">
                <a:latin typeface="Calibri"/>
                <a:cs typeface="Calibri"/>
              </a:rPr>
              <a:t>Advertisement</a:t>
            </a:r>
            <a:r>
              <a:rPr sz="2250" spc="55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to</a:t>
            </a:r>
            <a:r>
              <a:rPr sz="2250" spc="-10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use</a:t>
            </a:r>
            <a:r>
              <a:rPr sz="2250" spc="-3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the</a:t>
            </a:r>
            <a:r>
              <a:rPr sz="2250" spc="-80" dirty="0">
                <a:latin typeface="Calibri"/>
                <a:cs typeface="Calibri"/>
              </a:rPr>
              <a:t> </a:t>
            </a:r>
            <a:r>
              <a:rPr sz="2250" spc="-85" dirty="0">
                <a:latin typeface="Calibri"/>
                <a:cs typeface="Calibri"/>
              </a:rPr>
              <a:t>information</a:t>
            </a:r>
            <a:r>
              <a:rPr sz="2250" spc="80" dirty="0">
                <a:latin typeface="Calibri"/>
                <a:cs typeface="Calibri"/>
              </a:rPr>
              <a:t> </a:t>
            </a:r>
            <a:r>
              <a:rPr sz="2250" spc="-35" dirty="0">
                <a:latin typeface="Calibri"/>
                <a:cs typeface="Calibri"/>
              </a:rPr>
              <a:t>extracted </a:t>
            </a:r>
            <a:r>
              <a:rPr sz="2250" spc="-65" dirty="0">
                <a:latin typeface="Calibri"/>
                <a:cs typeface="Calibri"/>
              </a:rPr>
              <a:t>from</a:t>
            </a:r>
            <a:r>
              <a:rPr sz="2250" spc="-3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the</a:t>
            </a:r>
            <a:r>
              <a:rPr sz="2250" spc="-85" dirty="0">
                <a:latin typeface="Calibri"/>
                <a:cs typeface="Calibri"/>
              </a:rPr>
              <a:t> </a:t>
            </a:r>
            <a:r>
              <a:rPr sz="2250" spc="-20" dirty="0">
                <a:latin typeface="Calibri"/>
                <a:cs typeface="Calibri"/>
              </a:rPr>
              <a:t>Service</a:t>
            </a:r>
            <a:r>
              <a:rPr sz="2250" spc="-65" dirty="0">
                <a:latin typeface="Calibri"/>
                <a:cs typeface="Calibri"/>
              </a:rPr>
              <a:t> </a:t>
            </a:r>
            <a:r>
              <a:rPr sz="2250" spc="-75" dirty="0">
                <a:latin typeface="Calibri"/>
                <a:cs typeface="Calibri"/>
              </a:rPr>
              <a:t>Advertisement</a:t>
            </a:r>
            <a:r>
              <a:rPr sz="2250" spc="80" dirty="0">
                <a:latin typeface="Calibri"/>
                <a:cs typeface="Calibri"/>
              </a:rPr>
              <a:t> </a:t>
            </a:r>
            <a:r>
              <a:rPr sz="2250" spc="-30" dirty="0">
                <a:latin typeface="Calibri"/>
                <a:cs typeface="Calibri"/>
              </a:rPr>
              <a:t>we</a:t>
            </a:r>
            <a:r>
              <a:rPr sz="2250" spc="-100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found. </a:t>
            </a:r>
            <a:r>
              <a:rPr sz="2250" spc="-50" dirty="0">
                <a:solidFill>
                  <a:srgbClr val="952F2A"/>
                </a:solidFill>
                <a:latin typeface="Calibri"/>
                <a:cs typeface="Calibri"/>
              </a:rPr>
              <a:t>pipeadv.setPipeID(</a:t>
            </a:r>
            <a:r>
              <a:rPr sz="2250" spc="20" dirty="0">
                <a:solidFill>
                  <a:srgbClr val="952F2A"/>
                </a:solidFill>
                <a:latin typeface="Calibri"/>
                <a:cs typeface="Calibri"/>
              </a:rPr>
              <a:t> </a:t>
            </a:r>
            <a:r>
              <a:rPr sz="2250" spc="-55" dirty="0">
                <a:solidFill>
                  <a:srgbClr val="AA2F33"/>
                </a:solidFill>
                <a:latin typeface="Calibri"/>
                <a:cs typeface="Calibri"/>
              </a:rPr>
              <a:t>IDFactory.fromURL(new</a:t>
            </a:r>
            <a:r>
              <a:rPr sz="2250" spc="60" dirty="0">
                <a:solidFill>
                  <a:srgbClr val="AA2F33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A72F31"/>
                </a:solidFill>
                <a:latin typeface="Calibri"/>
                <a:cs typeface="Calibri"/>
              </a:rPr>
              <a:t>URL(pID)</a:t>
            </a:r>
            <a:r>
              <a:rPr sz="2250" spc="185" dirty="0">
                <a:solidFill>
                  <a:srgbClr val="A72F31"/>
                </a:solidFill>
                <a:latin typeface="Calibri"/>
                <a:cs typeface="Calibri"/>
              </a:rPr>
              <a:t> </a:t>
            </a:r>
            <a:r>
              <a:rPr sz="2250" spc="-25" dirty="0">
                <a:solidFill>
                  <a:srgbClr val="893A36"/>
                </a:solidFill>
                <a:latin typeface="Calibri"/>
                <a:cs typeface="Calibri"/>
              </a:rPr>
              <a:t>); </a:t>
            </a:r>
            <a:r>
              <a:rPr sz="2300" spc="-45" dirty="0">
                <a:solidFill>
                  <a:srgbClr val="953136"/>
                </a:solidFill>
                <a:latin typeface="Calibri"/>
                <a:cs typeface="Calibri"/>
              </a:rPr>
              <a:t>pipeadv.setType(pType);</a:t>
            </a:r>
            <a:endParaRPr sz="2300">
              <a:latin typeface="Calibri"/>
              <a:cs typeface="Calibri"/>
            </a:endParaRPr>
          </a:p>
          <a:p>
            <a:pPr marL="19050">
              <a:lnSpc>
                <a:spcPct val="100000"/>
              </a:lnSpc>
              <a:spcBef>
                <a:spcPts val="175"/>
              </a:spcBef>
              <a:tabLst>
                <a:tab pos="622935" algn="l"/>
              </a:tabLst>
            </a:pPr>
            <a:r>
              <a:rPr sz="2250" spc="-585" dirty="0">
                <a:solidFill>
                  <a:srgbClr val="4F4D75"/>
                </a:solidFill>
                <a:latin typeface="Calibri"/>
                <a:cs typeface="Calibri"/>
              </a:rPr>
              <a:t>3</a:t>
            </a:r>
            <a:r>
              <a:rPr sz="2250" dirty="0">
                <a:solidFill>
                  <a:srgbClr val="4F4D75"/>
                </a:solidFill>
                <a:latin typeface="Calibri"/>
                <a:cs typeface="Calibri"/>
              </a:rPr>
              <a:t>	</a:t>
            </a:r>
            <a:r>
              <a:rPr sz="2250" spc="-120" dirty="0">
                <a:latin typeface="Calibri"/>
                <a:cs typeface="Calibri"/>
              </a:rPr>
              <a:t>We</a:t>
            </a:r>
            <a:r>
              <a:rPr sz="2250" spc="-10" dirty="0">
                <a:latin typeface="Calibri"/>
                <a:cs typeface="Calibri"/>
              </a:rPr>
              <a:t> </a:t>
            </a:r>
            <a:r>
              <a:rPr sz="2250" spc="-65" dirty="0">
                <a:latin typeface="Calibri"/>
                <a:cs typeface="Calibri"/>
              </a:rPr>
              <a:t>now</a:t>
            </a:r>
            <a:r>
              <a:rPr sz="2250" spc="-5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have</a:t>
            </a:r>
            <a:r>
              <a:rPr sz="2250" spc="-3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</a:t>
            </a:r>
            <a:r>
              <a:rPr sz="2250" spc="-55" dirty="0">
                <a:latin typeface="Calibri"/>
                <a:cs typeface="Calibri"/>
              </a:rPr>
              <a:t> </a:t>
            </a:r>
            <a:r>
              <a:rPr sz="2250" spc="-75" dirty="0">
                <a:latin typeface="Calibri"/>
                <a:cs typeface="Calibri"/>
              </a:rPr>
              <a:t>PipeAdvertisement</a:t>
            </a:r>
            <a:r>
              <a:rPr sz="2250" spc="-55" dirty="0">
                <a:latin typeface="Calibri"/>
                <a:cs typeface="Calibri"/>
              </a:rPr>
              <a:t> </a:t>
            </a:r>
            <a:r>
              <a:rPr sz="2250" spc="-20" dirty="0">
                <a:latin typeface="Calibri"/>
                <a:cs typeface="Calibri"/>
              </a:rPr>
              <a:t>that</a:t>
            </a:r>
            <a:r>
              <a:rPr sz="2250" spc="25" dirty="0">
                <a:latin typeface="Calibri"/>
                <a:cs typeface="Calibri"/>
              </a:rPr>
              <a:t> </a:t>
            </a:r>
            <a:r>
              <a:rPr sz="2250" spc="-20" dirty="0">
                <a:latin typeface="Calibri"/>
                <a:cs typeface="Calibri"/>
              </a:rPr>
              <a:t>we</a:t>
            </a:r>
            <a:r>
              <a:rPr sz="2250" spc="-6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can</a:t>
            </a:r>
            <a:r>
              <a:rPr sz="2250" spc="15" dirty="0">
                <a:latin typeface="Calibri"/>
                <a:cs typeface="Calibri"/>
              </a:rPr>
              <a:t> </a:t>
            </a:r>
            <a:r>
              <a:rPr sz="2250" spc="-20" dirty="0">
                <a:latin typeface="Calibri"/>
                <a:cs typeface="Calibri"/>
              </a:rPr>
              <a:t>use!</a:t>
            </a:r>
            <a:endParaRPr sz="2250">
              <a:latin typeface="Calibri"/>
              <a:cs typeface="Calibri"/>
            </a:endParaRPr>
          </a:p>
          <a:p>
            <a:pPr marL="631825" marR="749300" indent="-619760">
              <a:lnSpc>
                <a:spcPts val="2390"/>
              </a:lnSpc>
              <a:spcBef>
                <a:spcPts val="520"/>
              </a:spcBef>
              <a:tabLst>
                <a:tab pos="625475" algn="l"/>
              </a:tabLst>
            </a:pPr>
            <a:r>
              <a:rPr sz="2100" spc="-25" dirty="0">
                <a:solidFill>
                  <a:srgbClr val="464646"/>
                </a:solidFill>
                <a:latin typeface="Arial"/>
                <a:cs typeface="Arial"/>
              </a:rPr>
              <a:t>‹.</a:t>
            </a:r>
            <a:r>
              <a:rPr sz="2100" dirty="0">
                <a:solidFill>
                  <a:srgbClr val="464646"/>
                </a:solidFill>
                <a:latin typeface="Arial"/>
                <a:cs typeface="Arial"/>
              </a:rPr>
              <a:t>	</a:t>
            </a:r>
            <a:r>
              <a:rPr sz="2100" spc="-45" dirty="0">
                <a:latin typeface="Arial"/>
                <a:cs typeface="Arial"/>
              </a:rPr>
              <a:t>The</a:t>
            </a:r>
            <a:r>
              <a:rPr sz="2100" spc="-10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next</a:t>
            </a:r>
            <a:r>
              <a:rPr sz="2100" spc="-125" dirty="0">
                <a:latin typeface="Arial"/>
                <a:cs typeface="Arial"/>
              </a:rPr>
              <a:t> </a:t>
            </a:r>
            <a:r>
              <a:rPr sz="2100" spc="-50" dirty="0">
                <a:latin typeface="Arial"/>
                <a:cs typeface="Arial"/>
              </a:rPr>
              <a:t>step</a:t>
            </a:r>
            <a:r>
              <a:rPr sz="2100" spc="-10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is</a:t>
            </a:r>
            <a:r>
              <a:rPr sz="2100" spc="-14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to</a:t>
            </a:r>
            <a:r>
              <a:rPr sz="2100" spc="-80" dirty="0">
                <a:latin typeface="Arial"/>
                <a:cs typeface="Arial"/>
              </a:rPr>
              <a:t> </a:t>
            </a:r>
            <a:r>
              <a:rPr sz="2100" spc="-40" dirty="0">
                <a:latin typeface="Arial"/>
                <a:cs typeface="Arial"/>
              </a:rPr>
              <a:t>construct</a:t>
            </a:r>
            <a:r>
              <a:rPr sz="2100" spc="-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an</a:t>
            </a:r>
            <a:r>
              <a:rPr sz="2100" spc="-114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Output</a:t>
            </a:r>
            <a:r>
              <a:rPr sz="2100" spc="-15" dirty="0">
                <a:latin typeface="Arial"/>
                <a:cs typeface="Arial"/>
              </a:rPr>
              <a:t> </a:t>
            </a:r>
            <a:r>
              <a:rPr sz="2100" spc="-100" dirty="0">
                <a:latin typeface="Arial"/>
                <a:cs typeface="Arial"/>
              </a:rPr>
              <a:t>Pipe</a:t>
            </a:r>
            <a:r>
              <a:rPr sz="2100" spc="-2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from</a:t>
            </a:r>
            <a:r>
              <a:rPr sz="2100" spc="-25" dirty="0">
                <a:latin typeface="Arial"/>
                <a:cs typeface="Arial"/>
              </a:rPr>
              <a:t> </a:t>
            </a:r>
            <a:r>
              <a:rPr sz="2100" spc="-20" dirty="0">
                <a:latin typeface="Arial"/>
                <a:cs typeface="Arial"/>
              </a:rPr>
              <a:t>this </a:t>
            </a:r>
            <a:r>
              <a:rPr sz="2100" spc="-10" dirty="0">
                <a:latin typeface="Arial"/>
                <a:cs typeface="Arial"/>
              </a:rPr>
              <a:t>Advertisement.</a:t>
            </a:r>
            <a:endParaRPr sz="2100">
              <a:latin typeface="Arial"/>
              <a:cs typeface="Arial"/>
            </a:endParaRPr>
          </a:p>
          <a:p>
            <a:pPr marL="631825">
              <a:lnSpc>
                <a:spcPts val="2335"/>
              </a:lnSpc>
            </a:pPr>
            <a:r>
              <a:rPr sz="2100" spc="-90" dirty="0">
                <a:solidFill>
                  <a:srgbClr val="83383A"/>
                </a:solidFill>
                <a:latin typeface="Arial"/>
                <a:cs typeface="Arial"/>
              </a:rPr>
              <a:t>myPipe</a:t>
            </a:r>
            <a:r>
              <a:rPr sz="2100" spc="170" dirty="0">
                <a:solidFill>
                  <a:srgbClr val="83383A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7E3D3B"/>
                </a:solidFill>
                <a:latin typeface="Arial"/>
                <a:cs typeface="Arial"/>
              </a:rPr>
              <a:t>=</a:t>
            </a:r>
            <a:r>
              <a:rPr sz="2100" spc="105" dirty="0">
                <a:solidFill>
                  <a:srgbClr val="7E3D3B"/>
                </a:solidFill>
                <a:latin typeface="Arial"/>
                <a:cs typeface="Arial"/>
              </a:rPr>
              <a:t> </a:t>
            </a:r>
            <a:r>
              <a:rPr sz="2100" spc="-75" dirty="0">
                <a:solidFill>
                  <a:srgbClr val="B11F1F"/>
                </a:solidFill>
                <a:latin typeface="Arial"/>
                <a:cs typeface="Arial"/>
              </a:rPr>
              <a:t>pipes.createOutputPipe(pipeadv,</a:t>
            </a:r>
            <a:r>
              <a:rPr sz="2100" spc="80" dirty="0">
                <a:solidFill>
                  <a:srgbClr val="B11F1F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BF2326"/>
                </a:solidFill>
                <a:latin typeface="Arial"/>
                <a:cs typeface="Arial"/>
              </a:rPr>
              <a:t>timeout);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62883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8543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35"/>
              </a:spcBef>
            </a:pPr>
            <a:r>
              <a:rPr sz="4650" spc="-275" dirty="0">
                <a:solidFill>
                  <a:srgbClr val="3B3491"/>
                </a:solidFill>
                <a:latin typeface="Arial"/>
                <a:cs typeface="Arial"/>
              </a:rPr>
              <a:t>Sending</a:t>
            </a:r>
            <a:r>
              <a:rPr sz="4650" spc="400" dirty="0">
                <a:solidFill>
                  <a:srgbClr val="3B3491"/>
                </a:solidFill>
                <a:latin typeface="Arial"/>
                <a:cs typeface="Arial"/>
              </a:rPr>
              <a:t> </a:t>
            </a:r>
            <a:r>
              <a:rPr sz="4650" spc="-440" dirty="0">
                <a:solidFill>
                  <a:srgbClr val="363190"/>
                </a:solidFill>
                <a:latin typeface="Arial"/>
                <a:cs typeface="Arial"/>
              </a:rPr>
              <a:t>a</a:t>
            </a:r>
            <a:r>
              <a:rPr sz="4650" spc="229" dirty="0">
                <a:solidFill>
                  <a:srgbClr val="363190"/>
                </a:solidFill>
                <a:latin typeface="Arial"/>
                <a:cs typeface="Arial"/>
              </a:rPr>
              <a:t> </a:t>
            </a:r>
            <a:r>
              <a:rPr sz="4650" spc="-395" dirty="0">
                <a:solidFill>
                  <a:srgbClr val="363190"/>
                </a:solidFill>
                <a:latin typeface="Arial"/>
                <a:cs typeface="Arial"/>
              </a:rPr>
              <a:t>Message</a:t>
            </a:r>
            <a:endParaRPr sz="4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4546" y="2021036"/>
            <a:ext cx="7574915" cy="40532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6110">
              <a:lnSpc>
                <a:spcPts val="2485"/>
              </a:lnSpc>
              <a:spcBef>
                <a:spcPts val="95"/>
              </a:spcBef>
            </a:pPr>
            <a:r>
              <a:rPr sz="2200" spc="-285" dirty="0">
                <a:latin typeface="Arial"/>
                <a:cs typeface="Arial"/>
              </a:rPr>
              <a:t>We</a:t>
            </a:r>
            <a:r>
              <a:rPr sz="2200" dirty="0">
                <a:latin typeface="Arial"/>
                <a:cs typeface="Arial"/>
              </a:rPr>
              <a:t> </a:t>
            </a:r>
            <a:r>
              <a:rPr sz="2200" spc="-165" dirty="0">
                <a:latin typeface="Arial"/>
                <a:cs typeface="Arial"/>
              </a:rPr>
              <a:t>can</a:t>
            </a:r>
            <a:r>
              <a:rPr sz="2200" spc="10" dirty="0">
                <a:latin typeface="Arial"/>
                <a:cs typeface="Arial"/>
              </a:rPr>
              <a:t> </a:t>
            </a:r>
            <a:r>
              <a:rPr sz="2200" spc="-125" dirty="0">
                <a:latin typeface="Arial"/>
                <a:cs typeface="Arial"/>
              </a:rPr>
              <a:t>create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150" dirty="0">
                <a:latin typeface="Arial"/>
                <a:cs typeface="Arial"/>
              </a:rPr>
              <a:t> </a:t>
            </a:r>
            <a:r>
              <a:rPr sz="2200" spc="-125" dirty="0">
                <a:latin typeface="Arial"/>
                <a:cs typeface="Arial"/>
              </a:rPr>
              <a:t>simple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spc="-225" dirty="0">
                <a:latin typeface="Arial"/>
                <a:cs typeface="Arial"/>
              </a:rPr>
              <a:t>Message</a:t>
            </a:r>
            <a:r>
              <a:rPr sz="2200" spc="70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object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to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spc="-175" dirty="0">
                <a:latin typeface="Arial"/>
                <a:cs typeface="Arial"/>
              </a:rPr>
              <a:t>send</a:t>
            </a:r>
            <a:r>
              <a:rPr sz="2200" spc="20" dirty="0">
                <a:latin typeface="Arial"/>
                <a:cs typeface="Arial"/>
              </a:rPr>
              <a:t> </a:t>
            </a:r>
            <a:r>
              <a:rPr sz="2200" spc="-105" dirty="0">
                <a:latin typeface="Arial"/>
                <a:cs typeface="Arial"/>
              </a:rPr>
              <a:t>over</a:t>
            </a:r>
            <a:r>
              <a:rPr sz="2200" dirty="0">
                <a:latin typeface="Arial"/>
                <a:cs typeface="Arial"/>
              </a:rPr>
              <a:t> </a:t>
            </a:r>
            <a:r>
              <a:rPr sz="2200" spc="-60" dirty="0">
                <a:latin typeface="Arial"/>
                <a:cs typeface="Arial"/>
              </a:rPr>
              <a:t>the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spc="-50" dirty="0">
                <a:latin typeface="Arial"/>
                <a:cs typeface="Arial"/>
              </a:rPr>
              <a:t>Pipe.</a:t>
            </a:r>
            <a:endParaRPr sz="2200">
              <a:latin typeface="Arial"/>
              <a:cs typeface="Arial"/>
            </a:endParaRPr>
          </a:p>
          <a:p>
            <a:pPr marL="622300">
              <a:lnSpc>
                <a:spcPts val="2445"/>
              </a:lnSpc>
            </a:pPr>
            <a:r>
              <a:rPr sz="2300" spc="-190" dirty="0">
                <a:latin typeface="Arial"/>
                <a:cs typeface="Arial"/>
              </a:rPr>
              <a:t>This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spc="-130" dirty="0">
                <a:latin typeface="Arial"/>
                <a:cs typeface="Arial"/>
              </a:rPr>
              <a:t>object</a:t>
            </a:r>
            <a:r>
              <a:rPr sz="2300" spc="-30" dirty="0">
                <a:latin typeface="Arial"/>
                <a:cs typeface="Arial"/>
              </a:rPr>
              <a:t> </a:t>
            </a:r>
            <a:r>
              <a:rPr sz="2300" spc="-165" dirty="0">
                <a:latin typeface="Arial"/>
                <a:cs typeface="Arial"/>
              </a:rPr>
              <a:t>is</a:t>
            </a:r>
            <a:r>
              <a:rPr sz="2300" spc="-30" dirty="0">
                <a:latin typeface="Arial"/>
                <a:cs typeface="Arial"/>
              </a:rPr>
              <a:t> </a:t>
            </a:r>
            <a:r>
              <a:rPr sz="2300" spc="-140" dirty="0">
                <a:latin typeface="Arial"/>
                <a:cs typeface="Arial"/>
              </a:rPr>
              <a:t>really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spc="-175" dirty="0">
                <a:latin typeface="Arial"/>
                <a:cs typeface="Arial"/>
              </a:rPr>
              <a:t>represented</a:t>
            </a:r>
            <a:r>
              <a:rPr sz="2300" spc="110" dirty="0">
                <a:latin typeface="Arial"/>
                <a:cs typeface="Arial"/>
              </a:rPr>
              <a:t> </a:t>
            </a:r>
            <a:r>
              <a:rPr sz="2300" spc="-50" dirty="0">
                <a:latin typeface="Arial"/>
                <a:cs typeface="Arial"/>
              </a:rPr>
              <a:t>in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spc="-350" dirty="0">
                <a:latin typeface="Arial"/>
                <a:cs typeface="Arial"/>
              </a:rPr>
              <a:t>XML</a:t>
            </a:r>
            <a:r>
              <a:rPr sz="2300" spc="-5" dirty="0">
                <a:latin typeface="Arial"/>
                <a:cs typeface="Arial"/>
              </a:rPr>
              <a:t> </a:t>
            </a:r>
            <a:r>
              <a:rPr sz="2300" spc="-229" dirty="0">
                <a:latin typeface="Arial"/>
                <a:cs typeface="Arial"/>
              </a:rPr>
              <a:t>when</a:t>
            </a:r>
            <a:r>
              <a:rPr sz="2300" spc="45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sent.</a:t>
            </a:r>
            <a:endParaRPr sz="2300">
              <a:latin typeface="Arial"/>
              <a:cs typeface="Arial"/>
            </a:endParaRPr>
          </a:p>
          <a:p>
            <a:pPr marL="625475">
              <a:lnSpc>
                <a:spcPts val="2540"/>
              </a:lnSpc>
            </a:pPr>
            <a:r>
              <a:rPr sz="2250" spc="-265" dirty="0">
                <a:solidFill>
                  <a:srgbClr val="9A2B2F"/>
                </a:solidFill>
                <a:latin typeface="Arial"/>
                <a:cs typeface="Arial"/>
              </a:rPr>
              <a:t>Message</a:t>
            </a:r>
            <a:r>
              <a:rPr sz="2250" spc="100" dirty="0">
                <a:solidFill>
                  <a:srgbClr val="9A2B2F"/>
                </a:solidFill>
                <a:latin typeface="Arial"/>
                <a:cs typeface="Arial"/>
              </a:rPr>
              <a:t> </a:t>
            </a:r>
            <a:r>
              <a:rPr sz="2250" spc="-170" dirty="0">
                <a:solidFill>
                  <a:srgbClr val="822831"/>
                </a:solidFill>
                <a:latin typeface="Arial"/>
                <a:cs typeface="Arial"/>
              </a:rPr>
              <a:t>msg</a:t>
            </a:r>
            <a:r>
              <a:rPr sz="2250" spc="155" dirty="0">
                <a:solidFill>
                  <a:srgbClr val="822831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AF7079"/>
                </a:solidFill>
                <a:latin typeface="Arial"/>
                <a:cs typeface="Arial"/>
              </a:rPr>
              <a:t>-  </a:t>
            </a:r>
            <a:r>
              <a:rPr sz="2250" spc="-180" dirty="0">
                <a:solidFill>
                  <a:srgbClr val="AC1D16"/>
                </a:solidFill>
                <a:latin typeface="Arial"/>
                <a:cs typeface="Arial"/>
              </a:rPr>
              <a:t>pipes.createMessage</a:t>
            </a:r>
            <a:r>
              <a:rPr sz="2250" spc="15" dirty="0">
                <a:solidFill>
                  <a:srgbClr val="AC1D16"/>
                </a:solidFill>
                <a:latin typeface="Arial"/>
                <a:cs typeface="Arial"/>
              </a:rPr>
              <a:t> </a:t>
            </a:r>
            <a:r>
              <a:rPr sz="2250" spc="-25" dirty="0">
                <a:solidFill>
                  <a:srgbClr val="AC1D16"/>
                </a:solidFill>
                <a:latin typeface="Arial"/>
                <a:cs typeface="Arial"/>
              </a:rPr>
              <a:t>);</a:t>
            </a:r>
            <a:endParaRPr sz="2250">
              <a:latin typeface="Arial"/>
              <a:cs typeface="Arial"/>
            </a:endParaRPr>
          </a:p>
          <a:p>
            <a:pPr marL="628015" marR="439420" indent="-3810">
              <a:lnSpc>
                <a:spcPts val="2390"/>
              </a:lnSpc>
              <a:spcBef>
                <a:spcPts val="520"/>
              </a:spcBef>
            </a:pPr>
            <a:r>
              <a:rPr sz="2300" spc="-260" dirty="0">
                <a:latin typeface="Arial"/>
                <a:cs typeface="Arial"/>
              </a:rPr>
              <a:t>Remember</a:t>
            </a:r>
            <a:r>
              <a:rPr sz="2300" spc="105" dirty="0">
                <a:latin typeface="Arial"/>
                <a:cs typeface="Arial"/>
              </a:rPr>
              <a:t> </a:t>
            </a:r>
            <a:r>
              <a:rPr sz="2300" spc="-55" dirty="0">
                <a:latin typeface="Arial"/>
                <a:cs typeface="Arial"/>
              </a:rPr>
              <a:t>that</a:t>
            </a:r>
            <a:r>
              <a:rPr sz="2300" spc="50" dirty="0">
                <a:latin typeface="Arial"/>
                <a:cs typeface="Arial"/>
              </a:rPr>
              <a:t> </a:t>
            </a:r>
            <a:r>
              <a:rPr sz="2300" spc="-160" dirty="0">
                <a:latin typeface="Arial"/>
                <a:cs typeface="Arial"/>
              </a:rPr>
              <a:t>our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spc="-280" dirty="0">
                <a:latin typeface="Arial"/>
                <a:cs typeface="Arial"/>
              </a:rPr>
              <a:t>Tag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spc="-280" dirty="0">
                <a:latin typeface="Arial"/>
                <a:cs typeface="Arial"/>
              </a:rPr>
              <a:t>Name</a:t>
            </a:r>
            <a:r>
              <a:rPr sz="2300" spc="65" dirty="0">
                <a:latin typeface="Arial"/>
                <a:cs typeface="Arial"/>
              </a:rPr>
              <a:t> </a:t>
            </a:r>
            <a:r>
              <a:rPr sz="2300" spc="-180" dirty="0">
                <a:latin typeface="Arial"/>
                <a:cs typeface="Arial"/>
              </a:rPr>
              <a:t>must</a:t>
            </a:r>
            <a:r>
              <a:rPr sz="2300" spc="65" dirty="0">
                <a:latin typeface="Arial"/>
                <a:cs typeface="Arial"/>
              </a:rPr>
              <a:t> </a:t>
            </a:r>
            <a:r>
              <a:rPr sz="2300" spc="-225" dirty="0">
                <a:latin typeface="Arial"/>
                <a:cs typeface="Arial"/>
              </a:rPr>
              <a:t>be</a:t>
            </a:r>
            <a:r>
              <a:rPr sz="2300" spc="-45" dirty="0">
                <a:latin typeface="Arial"/>
                <a:cs typeface="Arial"/>
              </a:rPr>
              <a:t> </a:t>
            </a:r>
            <a:r>
              <a:rPr sz="2300" spc="-105" dirty="0">
                <a:latin typeface="Arial"/>
                <a:cs typeface="Arial"/>
              </a:rPr>
              <a:t>the</a:t>
            </a:r>
            <a:r>
              <a:rPr sz="2300" spc="-40" dirty="0">
                <a:latin typeface="Arial"/>
                <a:cs typeface="Arial"/>
              </a:rPr>
              <a:t> </a:t>
            </a:r>
            <a:r>
              <a:rPr sz="2300" spc="-275" dirty="0">
                <a:latin typeface="Arial"/>
                <a:cs typeface="Arial"/>
              </a:rPr>
              <a:t>same</a:t>
            </a:r>
            <a:r>
              <a:rPr sz="2300" spc="25" dirty="0">
                <a:latin typeface="Arial"/>
                <a:cs typeface="Arial"/>
              </a:rPr>
              <a:t> </a:t>
            </a:r>
            <a:r>
              <a:rPr sz="2300" spc="-150" dirty="0">
                <a:latin typeface="Arial"/>
                <a:cs typeface="Arial"/>
              </a:rPr>
              <a:t>beWeen </a:t>
            </a:r>
            <a:r>
              <a:rPr sz="2300" spc="-165" dirty="0">
                <a:latin typeface="Arial"/>
                <a:cs typeface="Arial"/>
              </a:rPr>
              <a:t>producer</a:t>
            </a:r>
            <a:r>
              <a:rPr sz="2300" spc="5" dirty="0">
                <a:latin typeface="Arial"/>
                <a:cs typeface="Arial"/>
              </a:rPr>
              <a:t> </a:t>
            </a:r>
            <a:r>
              <a:rPr sz="2300" spc="-210" dirty="0">
                <a:latin typeface="Arial"/>
                <a:cs typeface="Arial"/>
              </a:rPr>
              <a:t>and</a:t>
            </a:r>
            <a:r>
              <a:rPr sz="2300" dirty="0">
                <a:latin typeface="Arial"/>
                <a:cs typeface="Arial"/>
              </a:rPr>
              <a:t> </a:t>
            </a:r>
            <a:r>
              <a:rPr sz="2300" spc="-195" dirty="0">
                <a:latin typeface="Arial"/>
                <a:cs typeface="Arial"/>
              </a:rPr>
              <a:t>consumer</a:t>
            </a:r>
            <a:r>
              <a:rPr sz="2300" spc="1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if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spc="-245" dirty="0">
                <a:latin typeface="Arial"/>
                <a:cs typeface="Arial"/>
              </a:rPr>
              <a:t>we</a:t>
            </a:r>
            <a:r>
              <a:rPr sz="2300" spc="-50" dirty="0">
                <a:latin typeface="Arial"/>
                <a:cs typeface="Arial"/>
              </a:rPr>
              <a:t> </a:t>
            </a:r>
            <a:r>
              <a:rPr sz="2300" spc="-160" dirty="0">
                <a:latin typeface="Arial"/>
                <a:cs typeface="Arial"/>
              </a:rPr>
              <a:t>are</a:t>
            </a:r>
            <a:r>
              <a:rPr sz="2300" dirty="0">
                <a:latin typeface="Arial"/>
                <a:cs typeface="Arial"/>
              </a:rPr>
              <a:t> </a:t>
            </a:r>
            <a:r>
              <a:rPr sz="2300" spc="-50" dirty="0">
                <a:latin typeface="Arial"/>
                <a:cs typeface="Arial"/>
              </a:rPr>
              <a:t>to</a:t>
            </a:r>
            <a:r>
              <a:rPr sz="2300" spc="-90" dirty="0">
                <a:latin typeface="Arial"/>
                <a:cs typeface="Arial"/>
              </a:rPr>
              <a:t> </a:t>
            </a:r>
            <a:r>
              <a:rPr sz="2300" spc="-245" dirty="0">
                <a:latin typeface="Arial"/>
                <a:cs typeface="Arial"/>
              </a:rPr>
              <a:t>use</a:t>
            </a:r>
            <a:r>
              <a:rPr sz="2300" spc="15" dirty="0">
                <a:latin typeface="Arial"/>
                <a:cs typeface="Arial"/>
              </a:rPr>
              <a:t> </a:t>
            </a:r>
            <a:r>
              <a:rPr sz="2300" spc="-25" dirty="0">
                <a:latin typeface="Arial"/>
                <a:cs typeface="Arial"/>
              </a:rPr>
              <a:t>it. </a:t>
            </a:r>
            <a:r>
              <a:rPr sz="2250" spc="-135" dirty="0">
                <a:solidFill>
                  <a:srgbClr val="932F3B"/>
                </a:solidFill>
                <a:latin typeface="Arial"/>
                <a:cs typeface="Arial"/>
              </a:rPr>
              <a:t>msg.setString(”DataTag”,</a:t>
            </a:r>
            <a:r>
              <a:rPr sz="2250" spc="-35" dirty="0">
                <a:solidFill>
                  <a:srgbClr val="932F3B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9E2824"/>
                </a:solidFill>
                <a:latin typeface="Arial"/>
                <a:cs typeface="Arial"/>
              </a:rPr>
              <a:t>data);</a:t>
            </a:r>
            <a:endParaRPr sz="2250">
              <a:latin typeface="Arial"/>
              <a:cs typeface="Arial"/>
            </a:endParaRPr>
          </a:p>
          <a:p>
            <a:pPr marL="629285" marR="3146425" indent="-3810">
              <a:lnSpc>
                <a:spcPts val="2390"/>
              </a:lnSpc>
              <a:spcBef>
                <a:spcPts val="495"/>
              </a:spcBef>
            </a:pPr>
            <a:r>
              <a:rPr sz="2100" spc="-125" dirty="0">
                <a:latin typeface="Arial"/>
                <a:cs typeface="Arial"/>
              </a:rPr>
              <a:t>Send</a:t>
            </a:r>
            <a:r>
              <a:rPr sz="2100" spc="-2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the</a:t>
            </a:r>
            <a:r>
              <a:rPr sz="2100" spc="-145" dirty="0">
                <a:latin typeface="Arial"/>
                <a:cs typeface="Arial"/>
              </a:rPr>
              <a:t> </a:t>
            </a:r>
            <a:r>
              <a:rPr sz="2100" spc="-120" dirty="0">
                <a:latin typeface="Arial"/>
                <a:cs typeface="Arial"/>
              </a:rPr>
              <a:t>message</a:t>
            </a:r>
            <a:r>
              <a:rPr sz="2100" spc="-30" dirty="0">
                <a:latin typeface="Arial"/>
                <a:cs typeface="Arial"/>
              </a:rPr>
              <a:t> </a:t>
            </a:r>
            <a:r>
              <a:rPr sz="2100" spc="-35" dirty="0">
                <a:latin typeface="Arial"/>
                <a:cs typeface="Arial"/>
              </a:rPr>
              <a:t>using</a:t>
            </a:r>
            <a:r>
              <a:rPr sz="2100" spc="-2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our</a:t>
            </a:r>
            <a:r>
              <a:rPr sz="2100" spc="15" dirty="0">
                <a:latin typeface="Arial"/>
                <a:cs typeface="Arial"/>
              </a:rPr>
              <a:t> </a:t>
            </a:r>
            <a:r>
              <a:rPr sz="2100" spc="-100" dirty="0">
                <a:latin typeface="Arial"/>
                <a:cs typeface="Arial"/>
              </a:rPr>
              <a:t>Pipe! </a:t>
            </a:r>
            <a:r>
              <a:rPr sz="2100" spc="-100" dirty="0">
                <a:solidFill>
                  <a:srgbClr val="8C2F33"/>
                </a:solidFill>
                <a:latin typeface="Arial"/>
                <a:cs typeface="Arial"/>
              </a:rPr>
              <a:t>myPipe.send</a:t>
            </a:r>
            <a:r>
              <a:rPr sz="2100" spc="10" dirty="0">
                <a:solidFill>
                  <a:srgbClr val="8C2F33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A12D2D"/>
                </a:solidFill>
                <a:latin typeface="Arial"/>
                <a:cs typeface="Arial"/>
              </a:rPr>
              <a:t>(msg);</a:t>
            </a: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2100">
              <a:latin typeface="Arial"/>
              <a:cs typeface="Arial"/>
            </a:endParaRPr>
          </a:p>
          <a:p>
            <a:pPr marL="12700">
              <a:lnSpc>
                <a:spcPts val="3920"/>
              </a:lnSpc>
            </a:pPr>
            <a:r>
              <a:rPr sz="3300" spc="-35" dirty="0">
                <a:latin typeface="Arial"/>
                <a:cs typeface="Arial"/>
              </a:rPr>
              <a:t>That's</a:t>
            </a:r>
            <a:r>
              <a:rPr sz="3300" spc="-90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all</a:t>
            </a:r>
            <a:r>
              <a:rPr sz="3300" spc="-80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there</a:t>
            </a:r>
            <a:r>
              <a:rPr sz="3300" spc="-65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is</a:t>
            </a:r>
            <a:r>
              <a:rPr sz="3300" spc="-140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in</a:t>
            </a:r>
            <a:r>
              <a:rPr sz="3300" spc="-140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our</a:t>
            </a:r>
            <a:r>
              <a:rPr sz="3300" spc="-25" dirty="0">
                <a:latin typeface="Arial"/>
                <a:cs typeface="Arial"/>
              </a:rPr>
              <a:t> </a:t>
            </a:r>
            <a:r>
              <a:rPr sz="3300" spc="-70" dirty="0">
                <a:latin typeface="Arial"/>
                <a:cs typeface="Arial"/>
              </a:rPr>
              <a:t>Demo,</a:t>
            </a:r>
            <a:r>
              <a:rPr sz="3300" spc="-5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but</a:t>
            </a:r>
            <a:r>
              <a:rPr sz="3300" spc="-60" dirty="0">
                <a:latin typeface="Arial"/>
                <a:cs typeface="Arial"/>
              </a:rPr>
              <a:t> </a:t>
            </a:r>
            <a:r>
              <a:rPr sz="3300" spc="-25" dirty="0">
                <a:latin typeface="Arial"/>
                <a:cs typeface="Arial"/>
              </a:rPr>
              <a:t>you</a:t>
            </a:r>
            <a:endParaRPr sz="3300">
              <a:latin typeface="Arial"/>
              <a:cs typeface="Arial"/>
            </a:endParaRPr>
          </a:p>
          <a:p>
            <a:pPr marL="621665">
              <a:lnSpc>
                <a:spcPts val="3860"/>
              </a:lnSpc>
            </a:pPr>
            <a:r>
              <a:rPr sz="3250" spc="-20" dirty="0">
                <a:latin typeface="Arial"/>
                <a:cs typeface="Arial"/>
              </a:rPr>
              <a:t>can</a:t>
            </a:r>
            <a:r>
              <a:rPr sz="3250" spc="-90" dirty="0">
                <a:latin typeface="Arial"/>
                <a:cs typeface="Arial"/>
              </a:rPr>
              <a:t> </a:t>
            </a:r>
            <a:r>
              <a:rPr sz="3250" dirty="0">
                <a:latin typeface="Arial"/>
                <a:cs typeface="Arial"/>
              </a:rPr>
              <a:t>do</a:t>
            </a:r>
            <a:r>
              <a:rPr sz="3250" spc="-140" dirty="0">
                <a:latin typeface="Arial"/>
                <a:cs typeface="Arial"/>
              </a:rPr>
              <a:t> </a:t>
            </a:r>
            <a:r>
              <a:rPr sz="3250" spc="-10" dirty="0">
                <a:latin typeface="Arial"/>
                <a:cs typeface="Arial"/>
              </a:rPr>
              <a:t>much</a:t>
            </a:r>
            <a:r>
              <a:rPr sz="3250" spc="-110" dirty="0">
                <a:latin typeface="Arial"/>
                <a:cs typeface="Arial"/>
              </a:rPr>
              <a:t> </a:t>
            </a:r>
            <a:r>
              <a:rPr sz="3250" dirty="0">
                <a:latin typeface="Arial"/>
                <a:cs typeface="Arial"/>
              </a:rPr>
              <a:t>more</a:t>
            </a:r>
            <a:r>
              <a:rPr sz="3250" spc="-135" dirty="0">
                <a:latin typeface="Arial"/>
                <a:cs typeface="Arial"/>
              </a:rPr>
              <a:t> </a:t>
            </a:r>
            <a:r>
              <a:rPr sz="3250" spc="-30" dirty="0">
                <a:latin typeface="Arial"/>
                <a:cs typeface="Arial"/>
              </a:rPr>
              <a:t>using</a:t>
            </a:r>
            <a:r>
              <a:rPr sz="3250" spc="-145" dirty="0">
                <a:latin typeface="Arial"/>
                <a:cs typeface="Arial"/>
              </a:rPr>
              <a:t> </a:t>
            </a:r>
            <a:r>
              <a:rPr sz="3250" spc="-265" dirty="0">
                <a:latin typeface="Arial"/>
                <a:cs typeface="Arial"/>
              </a:rPr>
              <a:t>JXTA!</a:t>
            </a:r>
            <a:endParaRPr sz="3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0" y="2437804"/>
            <a:ext cx="3321843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50279" y="2167632"/>
            <a:ext cx="3526790" cy="784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950" spc="-730" dirty="0">
                <a:solidFill>
                  <a:srgbClr val="313385"/>
                </a:solidFill>
                <a:latin typeface="Arial"/>
                <a:cs typeface="Arial"/>
              </a:rPr>
              <a:t>JXTA</a:t>
            </a:r>
            <a:r>
              <a:rPr sz="4950" spc="235" dirty="0">
                <a:solidFill>
                  <a:srgbClr val="313385"/>
                </a:solidFill>
                <a:latin typeface="Arial"/>
                <a:cs typeface="Arial"/>
              </a:rPr>
              <a:t> </a:t>
            </a:r>
            <a:r>
              <a:rPr sz="4950" spc="-440" dirty="0">
                <a:solidFill>
                  <a:srgbClr val="343191"/>
                </a:solidFill>
                <a:latin typeface="Arial"/>
                <a:cs typeface="Arial"/>
              </a:rPr>
              <a:t>Wrap-</a:t>
            </a:r>
            <a:r>
              <a:rPr sz="4950" spc="-540" dirty="0">
                <a:solidFill>
                  <a:srgbClr val="343191"/>
                </a:solidFill>
                <a:latin typeface="Arial"/>
                <a:cs typeface="Arial"/>
              </a:rPr>
              <a:t>Up</a:t>
            </a:r>
            <a:endParaRPr sz="4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80741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4079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35"/>
              </a:spcBef>
            </a:pPr>
            <a:r>
              <a:rPr sz="4650" spc="-545" dirty="0">
                <a:solidFill>
                  <a:srgbClr val="343680"/>
                </a:solidFill>
                <a:latin typeface="Arial"/>
                <a:cs typeface="Arial"/>
              </a:rPr>
              <a:t>JXTA</a:t>
            </a:r>
            <a:r>
              <a:rPr sz="4650" spc="225" dirty="0">
                <a:solidFill>
                  <a:srgbClr val="343680"/>
                </a:solidFill>
                <a:latin typeface="Arial"/>
                <a:cs typeface="Arial"/>
              </a:rPr>
              <a:t> </a:t>
            </a:r>
            <a:r>
              <a:rPr sz="4650" spc="-110" dirty="0">
                <a:solidFill>
                  <a:srgbClr val="36338C"/>
                </a:solidFill>
                <a:latin typeface="Arial"/>
                <a:cs typeface="Arial"/>
              </a:rPr>
              <a:t>and</a:t>
            </a:r>
            <a:r>
              <a:rPr sz="4650" spc="-215" dirty="0">
                <a:solidFill>
                  <a:srgbClr val="36338C"/>
                </a:solidFill>
                <a:latin typeface="Arial"/>
                <a:cs typeface="Arial"/>
              </a:rPr>
              <a:t> </a:t>
            </a:r>
            <a:r>
              <a:rPr sz="4650" spc="-105" dirty="0">
                <a:solidFill>
                  <a:srgbClr val="38348C"/>
                </a:solidFill>
                <a:latin typeface="Arial"/>
                <a:cs typeface="Arial"/>
              </a:rPr>
              <a:t>Other</a:t>
            </a:r>
            <a:r>
              <a:rPr sz="4650" spc="-180" dirty="0">
                <a:solidFill>
                  <a:srgbClr val="38348C"/>
                </a:solidFill>
                <a:latin typeface="Arial"/>
                <a:cs typeface="Arial"/>
              </a:rPr>
              <a:t> </a:t>
            </a:r>
            <a:r>
              <a:rPr sz="4650" spc="-290" dirty="0">
                <a:solidFill>
                  <a:srgbClr val="363389"/>
                </a:solidFill>
                <a:latin typeface="Arial"/>
                <a:cs typeface="Arial"/>
              </a:rPr>
              <a:t>Technologies</a:t>
            </a:r>
            <a:endParaRPr sz="4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3257" y="1917461"/>
            <a:ext cx="7374255" cy="3656329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18135" indent="-305435">
              <a:lnSpc>
                <a:spcPct val="100000"/>
              </a:lnSpc>
              <a:spcBef>
                <a:spcPts val="505"/>
              </a:spcBef>
              <a:buClr>
                <a:srgbClr val="3636C4"/>
              </a:buClr>
              <a:buChar char="•"/>
              <a:tabLst>
                <a:tab pos="318135" algn="l"/>
              </a:tabLst>
            </a:pPr>
            <a:r>
              <a:rPr sz="3800" spc="-655" dirty="0">
                <a:latin typeface="Arial"/>
                <a:cs typeface="Arial"/>
              </a:rPr>
              <a:t>JXTA</a:t>
            </a:r>
            <a:r>
              <a:rPr sz="3800" spc="90" dirty="0">
                <a:latin typeface="Arial"/>
                <a:cs typeface="Arial"/>
              </a:rPr>
              <a:t> </a:t>
            </a:r>
            <a:r>
              <a:rPr sz="3800" spc="-385" dirty="0">
                <a:latin typeface="Arial"/>
                <a:cs typeface="Arial"/>
              </a:rPr>
              <a:t>and</a:t>
            </a:r>
            <a:r>
              <a:rPr sz="3800" spc="25" dirty="0">
                <a:latin typeface="Arial"/>
                <a:cs typeface="Arial"/>
              </a:rPr>
              <a:t> </a:t>
            </a:r>
            <a:r>
              <a:rPr sz="3800" spc="-765" dirty="0">
                <a:latin typeface="Arial"/>
                <a:cs typeface="Arial"/>
              </a:rPr>
              <a:t>SOAP</a:t>
            </a:r>
            <a:endParaRPr sz="3800">
              <a:latin typeface="Arial"/>
              <a:cs typeface="Arial"/>
            </a:endParaRPr>
          </a:p>
          <a:p>
            <a:pPr marL="725805" marR="722630" lvl="1" indent="-259079">
              <a:lnSpc>
                <a:spcPts val="2880"/>
              </a:lnSpc>
              <a:spcBef>
                <a:spcPts val="560"/>
              </a:spcBef>
              <a:buClr>
                <a:srgbClr val="EF0500"/>
              </a:buClr>
              <a:buChar char="•"/>
              <a:tabLst>
                <a:tab pos="742315" algn="l"/>
              </a:tabLst>
            </a:pPr>
            <a:r>
              <a:rPr sz="2550" spc="-85" dirty="0">
                <a:latin typeface="Arial"/>
                <a:cs typeface="Arial"/>
              </a:rPr>
              <a:t>JXTA</a:t>
            </a:r>
            <a:r>
              <a:rPr sz="2550" spc="550" dirty="0">
                <a:latin typeface="Arial"/>
                <a:cs typeface="Arial"/>
              </a:rPr>
              <a:t> </a:t>
            </a:r>
            <a:r>
              <a:rPr sz="2550" dirty="0">
                <a:latin typeface="Arial"/>
                <a:cs typeface="Arial"/>
              </a:rPr>
              <a:t>provides</a:t>
            </a:r>
            <a:r>
              <a:rPr sz="2550" spc="535" dirty="0">
                <a:latin typeface="Arial"/>
                <a:cs typeface="Arial"/>
              </a:rPr>
              <a:t> </a:t>
            </a:r>
            <a:r>
              <a:rPr sz="2550" dirty="0">
                <a:latin typeface="Arial"/>
                <a:cs typeface="Arial"/>
              </a:rPr>
              <a:t>additional</a:t>
            </a:r>
            <a:r>
              <a:rPr sz="2550" spc="-15" dirty="0">
                <a:latin typeface="Arial"/>
                <a:cs typeface="Arial"/>
              </a:rPr>
              <a:t>  </a:t>
            </a:r>
            <a:r>
              <a:rPr sz="2550" dirty="0">
                <a:latin typeface="Arial"/>
                <a:cs typeface="Arial"/>
              </a:rPr>
              <a:t>protocols</a:t>
            </a:r>
            <a:r>
              <a:rPr sz="2550" spc="590" dirty="0">
                <a:latin typeface="Arial"/>
                <a:cs typeface="Arial"/>
              </a:rPr>
              <a:t> </a:t>
            </a:r>
            <a:r>
              <a:rPr sz="2550" spc="-25" dirty="0">
                <a:latin typeface="Arial"/>
                <a:cs typeface="Arial"/>
              </a:rPr>
              <a:t>and 	</a:t>
            </a:r>
            <a:r>
              <a:rPr sz="2550" dirty="0">
                <a:latin typeface="Arial"/>
                <a:cs typeface="Arial"/>
              </a:rPr>
              <a:t>services</a:t>
            </a:r>
            <a:r>
              <a:rPr sz="2550" spc="415" dirty="0">
                <a:latin typeface="Arial"/>
                <a:cs typeface="Arial"/>
              </a:rPr>
              <a:t> </a:t>
            </a:r>
            <a:r>
              <a:rPr sz="2550" spc="70" dirty="0">
                <a:latin typeface="Arial"/>
                <a:cs typeface="Arial"/>
              </a:rPr>
              <a:t>to</a:t>
            </a:r>
            <a:r>
              <a:rPr sz="2550" spc="254" dirty="0">
                <a:latin typeface="Arial"/>
                <a:cs typeface="Arial"/>
              </a:rPr>
              <a:t> </a:t>
            </a:r>
            <a:r>
              <a:rPr sz="2550" spc="70" dirty="0">
                <a:latin typeface="Arial"/>
                <a:cs typeface="Arial"/>
              </a:rPr>
              <a:t>implement</a:t>
            </a:r>
            <a:r>
              <a:rPr sz="2550" spc="470" dirty="0">
                <a:latin typeface="Arial"/>
                <a:cs typeface="Arial"/>
              </a:rPr>
              <a:t> </a:t>
            </a:r>
            <a:r>
              <a:rPr sz="2550" spc="-20" dirty="0">
                <a:latin typeface="Arial"/>
                <a:cs typeface="Arial"/>
              </a:rPr>
              <a:t>P2P.</a:t>
            </a:r>
            <a:endParaRPr sz="2550">
              <a:latin typeface="Arial"/>
              <a:cs typeface="Arial"/>
            </a:endParaRPr>
          </a:p>
          <a:p>
            <a:pPr marL="729615" lvl="1" indent="-271145">
              <a:lnSpc>
                <a:spcPct val="100000"/>
              </a:lnSpc>
              <a:spcBef>
                <a:spcPts val="370"/>
              </a:spcBef>
              <a:buClr>
                <a:srgbClr val="F20100"/>
              </a:buClr>
              <a:buChar char="•"/>
              <a:tabLst>
                <a:tab pos="729615" algn="l"/>
              </a:tabLst>
            </a:pPr>
            <a:r>
              <a:rPr sz="2500" spc="-320" dirty="0">
                <a:latin typeface="Arial"/>
                <a:cs typeface="Arial"/>
              </a:rPr>
              <a:t>SOAP</a:t>
            </a:r>
            <a:r>
              <a:rPr sz="2500" spc="145" dirty="0">
                <a:latin typeface="Arial"/>
                <a:cs typeface="Arial"/>
              </a:rPr>
              <a:t> </a:t>
            </a:r>
            <a:r>
              <a:rPr sz="2500" spc="-125" dirty="0">
                <a:latin typeface="Arial"/>
                <a:cs typeface="Arial"/>
              </a:rPr>
              <a:t>messages</a:t>
            </a:r>
            <a:r>
              <a:rPr sz="2500" spc="-50" dirty="0">
                <a:latin typeface="Arial"/>
                <a:cs typeface="Arial"/>
              </a:rPr>
              <a:t> </a:t>
            </a:r>
            <a:r>
              <a:rPr sz="2500" spc="-45" dirty="0">
                <a:latin typeface="Arial"/>
                <a:cs typeface="Arial"/>
              </a:rPr>
              <a:t>can</a:t>
            </a:r>
            <a:r>
              <a:rPr sz="2500" spc="-1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be</a:t>
            </a:r>
            <a:r>
              <a:rPr sz="2500" spc="-175" dirty="0">
                <a:latin typeface="Arial"/>
                <a:cs typeface="Arial"/>
              </a:rPr>
              <a:t> </a:t>
            </a:r>
            <a:r>
              <a:rPr sz="2500" spc="-45" dirty="0">
                <a:latin typeface="Arial"/>
                <a:cs typeface="Arial"/>
              </a:rPr>
              <a:t>sent</a:t>
            </a:r>
            <a:r>
              <a:rPr sz="2500" spc="-114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through</a:t>
            </a:r>
            <a:r>
              <a:rPr sz="2500" spc="-40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Pipes.</a:t>
            </a:r>
            <a:endParaRPr sz="2500">
              <a:latin typeface="Arial"/>
              <a:cs typeface="Arial"/>
            </a:endParaRPr>
          </a:p>
          <a:p>
            <a:pPr marL="319405" indent="-306070">
              <a:lnSpc>
                <a:spcPct val="100000"/>
              </a:lnSpc>
              <a:spcBef>
                <a:spcPts val="280"/>
              </a:spcBef>
              <a:buClr>
                <a:srgbClr val="4241DA"/>
              </a:buClr>
              <a:buChar char="•"/>
              <a:tabLst>
                <a:tab pos="319405" algn="l"/>
              </a:tabLst>
            </a:pPr>
            <a:r>
              <a:rPr sz="3650" spc="-565" dirty="0">
                <a:latin typeface="Arial"/>
                <a:cs typeface="Arial"/>
              </a:rPr>
              <a:t>JXTA</a:t>
            </a:r>
            <a:r>
              <a:rPr sz="3650" spc="120" dirty="0">
                <a:latin typeface="Arial"/>
                <a:cs typeface="Arial"/>
              </a:rPr>
              <a:t> </a:t>
            </a:r>
            <a:r>
              <a:rPr sz="3650" spc="-310" dirty="0">
                <a:latin typeface="Arial"/>
                <a:cs typeface="Arial"/>
              </a:rPr>
              <a:t>and</a:t>
            </a:r>
            <a:r>
              <a:rPr sz="3650" spc="25" dirty="0">
                <a:latin typeface="Arial"/>
                <a:cs typeface="Arial"/>
              </a:rPr>
              <a:t> </a:t>
            </a:r>
            <a:r>
              <a:rPr sz="3650" spc="-20" dirty="0">
                <a:latin typeface="Arial"/>
                <a:cs typeface="Arial"/>
              </a:rPr>
              <a:t>JINI</a:t>
            </a:r>
            <a:endParaRPr sz="3650">
              <a:latin typeface="Arial"/>
              <a:cs typeface="Arial"/>
            </a:endParaRPr>
          </a:p>
          <a:p>
            <a:pPr marL="723900" marR="5080" lvl="1" indent="-267335">
              <a:lnSpc>
                <a:spcPts val="2880"/>
              </a:lnSpc>
              <a:spcBef>
                <a:spcPts val="625"/>
              </a:spcBef>
              <a:buClr>
                <a:srgbClr val="EF0301"/>
              </a:buClr>
              <a:buChar char="•"/>
              <a:tabLst>
                <a:tab pos="730885" algn="l"/>
              </a:tabLst>
            </a:pPr>
            <a:r>
              <a:rPr sz="2750" dirty="0">
                <a:latin typeface="Arial"/>
                <a:cs typeface="Arial"/>
              </a:rPr>
              <a:t>JINI</a:t>
            </a:r>
            <a:r>
              <a:rPr sz="2750" spc="1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is</a:t>
            </a:r>
            <a:r>
              <a:rPr sz="2750" spc="8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for</a:t>
            </a:r>
            <a:r>
              <a:rPr sz="2750" spc="75" dirty="0">
                <a:latin typeface="Arial"/>
                <a:cs typeface="Arial"/>
              </a:rPr>
              <a:t> </a:t>
            </a:r>
            <a:r>
              <a:rPr sz="2750" spc="-25" dirty="0">
                <a:latin typeface="Arial"/>
                <a:cs typeface="Arial"/>
              </a:rPr>
              <a:t>connecting</a:t>
            </a:r>
            <a:r>
              <a:rPr sz="2750" spc="22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distributed</a:t>
            </a:r>
            <a:r>
              <a:rPr sz="2750" spc="320" dirty="0">
                <a:latin typeface="Arial"/>
                <a:cs typeface="Arial"/>
              </a:rPr>
              <a:t> </a:t>
            </a:r>
            <a:r>
              <a:rPr sz="2750" spc="-10" dirty="0">
                <a:latin typeface="Arial"/>
                <a:cs typeface="Arial"/>
              </a:rPr>
              <a:t>services 	</a:t>
            </a:r>
            <a:r>
              <a:rPr sz="2800" dirty="0">
                <a:latin typeface="Arial"/>
                <a:cs typeface="Arial"/>
              </a:rPr>
              <a:t>within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300" dirty="0">
                <a:latin typeface="Arial"/>
                <a:cs typeface="Arial"/>
              </a:rPr>
              <a:t>a</a:t>
            </a:r>
            <a:r>
              <a:rPr sz="2800" spc="35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3'ava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network</a:t>
            </a:r>
            <a:r>
              <a:rPr sz="2800" spc="85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using</a:t>
            </a:r>
            <a:r>
              <a:rPr sz="2800" spc="40" dirty="0">
                <a:latin typeface="Arial"/>
                <a:cs typeface="Arial"/>
              </a:rPr>
              <a:t> </a:t>
            </a:r>
            <a:r>
              <a:rPr sz="2800" spc="-300" dirty="0">
                <a:latin typeface="Arial"/>
                <a:cs typeface="Arial"/>
              </a:rPr>
              <a:t>a</a:t>
            </a:r>
            <a:r>
              <a:rPr sz="2800" spc="105" dirty="0">
                <a:latin typeface="Arial"/>
                <a:cs typeface="Arial"/>
              </a:rPr>
              <a:t> </a:t>
            </a:r>
            <a:r>
              <a:rPr sz="2800" i="1" spc="70" dirty="0">
                <a:latin typeface="Arial"/>
                <a:cs typeface="Arial"/>
              </a:rPr>
              <a:t>centralized 	</a:t>
            </a:r>
            <a:r>
              <a:rPr sz="2850" i="1" spc="95" dirty="0">
                <a:latin typeface="Arial"/>
                <a:cs typeface="Arial"/>
              </a:rPr>
              <a:t>broker.</a:t>
            </a:r>
            <a:endParaRPr sz="2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62883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3294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20"/>
              </a:spcBef>
            </a:pPr>
            <a:r>
              <a:rPr sz="5250" spc="-80" dirty="0">
                <a:solidFill>
                  <a:srgbClr val="363489"/>
                </a:solidFill>
              </a:rPr>
              <a:t>JXTA</a:t>
            </a:r>
            <a:r>
              <a:rPr sz="5250" spc="70" dirty="0">
                <a:solidFill>
                  <a:srgbClr val="363489"/>
                </a:solidFill>
              </a:rPr>
              <a:t> </a:t>
            </a:r>
            <a:r>
              <a:rPr sz="5250" spc="-430" dirty="0">
                <a:solidFill>
                  <a:srgbClr val="383375"/>
                </a:solidFill>
              </a:rPr>
              <a:t>/</a:t>
            </a:r>
            <a:r>
              <a:rPr sz="5250" spc="130" dirty="0">
                <a:solidFill>
                  <a:srgbClr val="383375"/>
                </a:solidFill>
              </a:rPr>
              <a:t> </a:t>
            </a:r>
            <a:r>
              <a:rPr sz="5250" spc="-290" dirty="0">
                <a:solidFill>
                  <a:srgbClr val="36348A"/>
                </a:solidFill>
              </a:rPr>
              <a:t>HAILSTORM</a:t>
            </a:r>
            <a:r>
              <a:rPr sz="5250" spc="480" dirty="0">
                <a:solidFill>
                  <a:srgbClr val="36348A"/>
                </a:solidFill>
              </a:rPr>
              <a:t> </a:t>
            </a:r>
            <a:r>
              <a:rPr sz="5250" spc="-30" dirty="0">
                <a:solidFill>
                  <a:srgbClr val="383389"/>
                </a:solidFill>
              </a:rPr>
              <a:t>(.NET)</a:t>
            </a:r>
            <a:endParaRPr sz="5250"/>
          </a:p>
        </p:txBody>
      </p:sp>
      <p:sp>
        <p:nvSpPr>
          <p:cNvPr id="4" name="object 4"/>
          <p:cNvSpPr txBox="1"/>
          <p:nvPr/>
        </p:nvSpPr>
        <p:spPr>
          <a:xfrm>
            <a:off x="1281559" y="2006400"/>
            <a:ext cx="7506334" cy="395224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25755" marR="401320" indent="-313690">
              <a:lnSpc>
                <a:spcPct val="87100"/>
              </a:lnSpc>
              <a:spcBef>
                <a:spcPts val="550"/>
              </a:spcBef>
              <a:buClr>
                <a:srgbClr val="5257E4"/>
              </a:buClr>
              <a:buChar char="•"/>
              <a:tabLst>
                <a:tab pos="331470" algn="l"/>
              </a:tabLst>
            </a:pPr>
            <a:r>
              <a:rPr sz="2700" spc="-165" dirty="0">
                <a:latin typeface="Arial"/>
                <a:cs typeface="Arial"/>
              </a:rPr>
              <a:t>Both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spc="-220" dirty="0">
                <a:latin typeface="Arial"/>
                <a:cs typeface="Arial"/>
              </a:rPr>
              <a:t>an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spc="-155" dirty="0">
                <a:latin typeface="Arial"/>
                <a:cs typeface="Arial"/>
              </a:rPr>
              <a:t>open,</a:t>
            </a:r>
            <a:r>
              <a:rPr sz="2700" spc="-30" dirty="0">
                <a:latin typeface="Arial"/>
                <a:cs typeface="Arial"/>
              </a:rPr>
              <a:t> </a:t>
            </a:r>
            <a:r>
              <a:rPr sz="2700" spc="-180" dirty="0">
                <a:latin typeface="Arial"/>
                <a:cs typeface="Arial"/>
              </a:rPr>
              <a:t>plaPorm</a:t>
            </a:r>
            <a:r>
              <a:rPr sz="2700" spc="65" dirty="0">
                <a:latin typeface="Arial"/>
                <a:cs typeface="Arial"/>
              </a:rPr>
              <a:t> </a:t>
            </a:r>
            <a:r>
              <a:rPr sz="2700" spc="-190" dirty="0">
                <a:latin typeface="Arial"/>
                <a:cs typeface="Arial"/>
              </a:rPr>
              <a:t>and</a:t>
            </a:r>
            <a:r>
              <a:rPr sz="2700" dirty="0">
                <a:latin typeface="Arial"/>
                <a:cs typeface="Arial"/>
              </a:rPr>
              <a:t> </a:t>
            </a:r>
            <a:r>
              <a:rPr sz="2700" spc="-190" dirty="0">
                <a:latin typeface="Arial"/>
                <a:cs typeface="Arial"/>
              </a:rPr>
              <a:t>language</a:t>
            </a:r>
            <a:r>
              <a:rPr sz="2700" spc="10" dirty="0">
                <a:latin typeface="Arial"/>
                <a:cs typeface="Arial"/>
              </a:rPr>
              <a:t> </a:t>
            </a:r>
            <a:r>
              <a:rPr sz="2700" spc="-170" dirty="0">
                <a:latin typeface="Arial"/>
                <a:cs typeface="Arial"/>
              </a:rPr>
              <a:t>independent 	</a:t>
            </a:r>
            <a:r>
              <a:rPr sz="2700" spc="-150" dirty="0">
                <a:latin typeface="Arial"/>
                <a:cs typeface="Arial"/>
              </a:rPr>
              <a:t>framework</a:t>
            </a:r>
            <a:r>
              <a:rPr sz="2700" spc="-40" dirty="0">
                <a:latin typeface="Arial"/>
                <a:cs typeface="Arial"/>
              </a:rPr>
              <a:t> </a:t>
            </a:r>
            <a:r>
              <a:rPr sz="2700" spc="-45" dirty="0">
                <a:latin typeface="Arial"/>
                <a:cs typeface="Arial"/>
              </a:rPr>
              <a:t>for</a:t>
            </a:r>
            <a:r>
              <a:rPr sz="2700" spc="-140" dirty="0">
                <a:latin typeface="Arial"/>
                <a:cs typeface="Arial"/>
              </a:rPr>
              <a:t> </a:t>
            </a:r>
            <a:r>
              <a:rPr sz="2700" spc="-190" dirty="0">
                <a:latin typeface="Arial"/>
                <a:cs typeface="Arial"/>
              </a:rPr>
              <a:t>peer</a:t>
            </a:r>
            <a:r>
              <a:rPr sz="2700" spc="5" dirty="0">
                <a:latin typeface="Arial"/>
                <a:cs typeface="Arial"/>
              </a:rPr>
              <a:t> </a:t>
            </a:r>
            <a:r>
              <a:rPr sz="2700" spc="-120" dirty="0">
                <a:latin typeface="Arial"/>
                <a:cs typeface="Arial"/>
              </a:rPr>
              <a:t>interaction</a:t>
            </a:r>
            <a:r>
              <a:rPr sz="2700" spc="25" dirty="0">
                <a:latin typeface="Arial"/>
                <a:cs typeface="Arial"/>
              </a:rPr>
              <a:t> </a:t>
            </a:r>
            <a:r>
              <a:rPr sz="2700" spc="-200" dirty="0">
                <a:latin typeface="Arial"/>
                <a:cs typeface="Arial"/>
              </a:rPr>
              <a:t>and</a:t>
            </a:r>
            <a:r>
              <a:rPr sz="2700" spc="10" dirty="0">
                <a:latin typeface="Arial"/>
                <a:cs typeface="Arial"/>
              </a:rPr>
              <a:t> </a:t>
            </a:r>
            <a:r>
              <a:rPr sz="2700" spc="-90" dirty="0">
                <a:latin typeface="Arial"/>
                <a:cs typeface="Arial"/>
              </a:rPr>
              <a:t>interoperable 	</a:t>
            </a:r>
            <a:r>
              <a:rPr sz="2800" spc="-275" dirty="0">
                <a:latin typeface="Arial"/>
                <a:cs typeface="Arial"/>
              </a:rPr>
              <a:t>services.</a:t>
            </a:r>
            <a:endParaRPr sz="2800">
              <a:latin typeface="Arial"/>
              <a:cs typeface="Arial"/>
            </a:endParaRPr>
          </a:p>
          <a:p>
            <a:pPr marL="328295" marR="529590" indent="-314960">
              <a:lnSpc>
                <a:spcPts val="2880"/>
              </a:lnSpc>
              <a:spcBef>
                <a:spcPts val="580"/>
              </a:spcBef>
              <a:buClr>
                <a:srgbClr val="595DED"/>
              </a:buClr>
              <a:buChar char="•"/>
              <a:tabLst>
                <a:tab pos="332740" algn="l"/>
              </a:tabLst>
            </a:pPr>
            <a:r>
              <a:rPr sz="2500" spc="-55" dirty="0">
                <a:latin typeface="Arial"/>
                <a:cs typeface="Arial"/>
              </a:rPr>
              <a:t>Microsoft</a:t>
            </a:r>
            <a:r>
              <a:rPr sz="2500" spc="60" dirty="0">
                <a:latin typeface="Arial"/>
                <a:cs typeface="Arial"/>
              </a:rPr>
              <a:t> </a:t>
            </a:r>
            <a:r>
              <a:rPr sz="2500" spc="-100" dirty="0">
                <a:latin typeface="Arial"/>
                <a:cs typeface="Arial"/>
              </a:rPr>
              <a:t>focuses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on</a:t>
            </a:r>
            <a:r>
              <a:rPr sz="2500" spc="-150" dirty="0">
                <a:latin typeface="Arial"/>
                <a:cs typeface="Arial"/>
              </a:rPr>
              <a:t> </a:t>
            </a:r>
            <a:r>
              <a:rPr sz="2500" spc="-25" dirty="0">
                <a:latin typeface="Arial"/>
                <a:cs typeface="Arial"/>
              </a:rPr>
              <a:t>integration</a:t>
            </a:r>
            <a:r>
              <a:rPr sz="2500" spc="2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with</a:t>
            </a:r>
            <a:r>
              <a:rPr sz="2500" spc="-7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its</a:t>
            </a:r>
            <a:r>
              <a:rPr sz="2500" spc="-95" dirty="0">
                <a:latin typeface="Arial"/>
                <a:cs typeface="Arial"/>
              </a:rPr>
              <a:t> </a:t>
            </a:r>
            <a:r>
              <a:rPr sz="2500" spc="-80" dirty="0">
                <a:latin typeface="Arial"/>
                <a:cs typeface="Arial"/>
              </a:rPr>
              <a:t>Windows 	</a:t>
            </a:r>
            <a:r>
              <a:rPr sz="2500" spc="-45" dirty="0">
                <a:latin typeface="Arial"/>
                <a:cs typeface="Arial"/>
              </a:rPr>
              <a:t>operating</a:t>
            </a:r>
            <a:r>
              <a:rPr sz="2500" spc="-60" dirty="0">
                <a:latin typeface="Arial"/>
                <a:cs typeface="Arial"/>
              </a:rPr>
              <a:t> </a:t>
            </a:r>
            <a:r>
              <a:rPr sz="2500" spc="-75" dirty="0">
                <a:latin typeface="Arial"/>
                <a:cs typeface="Arial"/>
              </a:rPr>
              <a:t>system</a:t>
            </a:r>
            <a:r>
              <a:rPr sz="2500" spc="-35" dirty="0">
                <a:latin typeface="Arial"/>
                <a:cs typeface="Arial"/>
              </a:rPr>
              <a:t> </a:t>
            </a:r>
            <a:r>
              <a:rPr sz="2500" spc="-45" dirty="0">
                <a:latin typeface="Arial"/>
                <a:cs typeface="Arial"/>
              </a:rPr>
              <a:t>and</a:t>
            </a:r>
            <a:r>
              <a:rPr sz="2500" spc="-130" dirty="0">
                <a:latin typeface="Arial"/>
                <a:cs typeface="Arial"/>
              </a:rPr>
              <a:t> </a:t>
            </a:r>
            <a:r>
              <a:rPr sz="2500" spc="-95" dirty="0">
                <a:latin typeface="Arial"/>
                <a:cs typeface="Arial"/>
              </a:rPr>
              <a:t>associated</a:t>
            </a:r>
            <a:r>
              <a:rPr sz="2500" spc="4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devices.</a:t>
            </a:r>
            <a:endParaRPr sz="2500">
              <a:latin typeface="Arial"/>
              <a:cs typeface="Arial"/>
            </a:endParaRPr>
          </a:p>
          <a:p>
            <a:pPr marL="326390" marR="5080" indent="-313055">
              <a:lnSpc>
                <a:spcPct val="94800"/>
              </a:lnSpc>
              <a:spcBef>
                <a:spcPts val="520"/>
              </a:spcBef>
              <a:buClr>
                <a:srgbClr val="4D46DA"/>
              </a:buClr>
              <a:buChar char="•"/>
              <a:tabLst>
                <a:tab pos="330200" algn="l"/>
              </a:tabLst>
            </a:pPr>
            <a:r>
              <a:rPr sz="2550" spc="-70" dirty="0">
                <a:latin typeface="Arial"/>
                <a:cs typeface="Arial"/>
              </a:rPr>
              <a:t>Hailstorm</a:t>
            </a:r>
            <a:r>
              <a:rPr sz="2550" spc="-110" dirty="0">
                <a:latin typeface="Arial"/>
                <a:cs typeface="Arial"/>
              </a:rPr>
              <a:t> </a:t>
            </a:r>
            <a:r>
              <a:rPr sz="2550" spc="-140" dirty="0">
                <a:latin typeface="Arial"/>
                <a:cs typeface="Arial"/>
              </a:rPr>
              <a:t>uses</a:t>
            </a:r>
            <a:r>
              <a:rPr sz="2550" spc="-40" dirty="0">
                <a:latin typeface="Arial"/>
                <a:cs typeface="Arial"/>
              </a:rPr>
              <a:t> </a:t>
            </a:r>
            <a:r>
              <a:rPr sz="2550" dirty="0">
                <a:latin typeface="Arial"/>
                <a:cs typeface="Arial"/>
              </a:rPr>
              <a:t>the</a:t>
            </a:r>
            <a:r>
              <a:rPr sz="2550" spc="-160" dirty="0">
                <a:latin typeface="Arial"/>
                <a:cs typeface="Arial"/>
              </a:rPr>
              <a:t> </a:t>
            </a:r>
            <a:r>
              <a:rPr sz="2550" spc="-95" dirty="0">
                <a:latin typeface="Arial"/>
                <a:cs typeface="Arial"/>
              </a:rPr>
              <a:t>Microsoh</a:t>
            </a:r>
            <a:r>
              <a:rPr sz="2550" spc="-80" dirty="0">
                <a:latin typeface="Arial"/>
                <a:cs typeface="Arial"/>
              </a:rPr>
              <a:t> </a:t>
            </a:r>
            <a:r>
              <a:rPr sz="2550" spc="-130" dirty="0">
                <a:latin typeface="Arial"/>
                <a:cs typeface="Arial"/>
              </a:rPr>
              <a:t>Passport</a:t>
            </a:r>
            <a:r>
              <a:rPr sz="2550" spc="35" dirty="0">
                <a:latin typeface="Arial"/>
                <a:cs typeface="Arial"/>
              </a:rPr>
              <a:t> </a:t>
            </a:r>
            <a:r>
              <a:rPr sz="2550" spc="-90" dirty="0">
                <a:latin typeface="Arial"/>
                <a:cs typeface="Arial"/>
              </a:rPr>
              <a:t>service.</a:t>
            </a:r>
            <a:r>
              <a:rPr sz="2550" spc="10" dirty="0">
                <a:latin typeface="Arial"/>
                <a:cs typeface="Arial"/>
              </a:rPr>
              <a:t> </a:t>
            </a:r>
            <a:r>
              <a:rPr sz="2550" spc="-25" dirty="0">
                <a:latin typeface="Arial"/>
                <a:cs typeface="Arial"/>
              </a:rPr>
              <a:t>(A 	</a:t>
            </a:r>
            <a:r>
              <a:rPr sz="2550" spc="-95" dirty="0">
                <a:latin typeface="Arial"/>
                <a:cs typeface="Arial"/>
              </a:rPr>
              <a:t>centralized</a:t>
            </a:r>
            <a:r>
              <a:rPr sz="2550" spc="45" dirty="0">
                <a:latin typeface="Arial"/>
                <a:cs typeface="Arial"/>
              </a:rPr>
              <a:t> </a:t>
            </a:r>
            <a:r>
              <a:rPr sz="2550" spc="-60" dirty="0">
                <a:latin typeface="Arial"/>
                <a:cs typeface="Arial"/>
              </a:rPr>
              <a:t>authentication</a:t>
            </a:r>
            <a:r>
              <a:rPr sz="2550" spc="-120" dirty="0">
                <a:latin typeface="Arial"/>
                <a:cs typeface="Arial"/>
              </a:rPr>
              <a:t> </a:t>
            </a:r>
            <a:r>
              <a:rPr sz="2550" spc="-95" dirty="0">
                <a:latin typeface="Arial"/>
                <a:cs typeface="Arial"/>
              </a:rPr>
              <a:t>and</a:t>
            </a:r>
            <a:r>
              <a:rPr sz="2550" spc="-60" dirty="0">
                <a:latin typeface="Arial"/>
                <a:cs typeface="Arial"/>
              </a:rPr>
              <a:t> </a:t>
            </a:r>
            <a:r>
              <a:rPr sz="2550" spc="-125" dirty="0">
                <a:latin typeface="Arial"/>
                <a:cs typeface="Arial"/>
              </a:rPr>
              <a:t>presence</a:t>
            </a:r>
            <a:r>
              <a:rPr sz="2550" spc="35" dirty="0">
                <a:latin typeface="Arial"/>
                <a:cs typeface="Arial"/>
              </a:rPr>
              <a:t> </a:t>
            </a:r>
            <a:r>
              <a:rPr sz="2550" spc="-100" dirty="0">
                <a:latin typeface="Arial"/>
                <a:cs typeface="Arial"/>
              </a:rPr>
              <a:t>management 	</a:t>
            </a:r>
            <a:r>
              <a:rPr sz="2550" spc="-10" dirty="0">
                <a:latin typeface="Arial"/>
                <a:cs typeface="Arial"/>
              </a:rPr>
              <a:t>system).</a:t>
            </a:r>
            <a:endParaRPr sz="2550">
              <a:latin typeface="Arial"/>
              <a:cs typeface="Arial"/>
            </a:endParaRPr>
          </a:p>
          <a:p>
            <a:pPr marL="325755" marR="755015" indent="-312420">
              <a:lnSpc>
                <a:spcPts val="2920"/>
              </a:lnSpc>
              <a:spcBef>
                <a:spcPts val="565"/>
              </a:spcBef>
              <a:buClr>
                <a:srgbClr val="4D52DF"/>
              </a:buClr>
              <a:buChar char="•"/>
              <a:tabLst>
                <a:tab pos="330200" algn="l"/>
              </a:tabLst>
            </a:pPr>
            <a:r>
              <a:rPr sz="2550" spc="-70" dirty="0">
                <a:latin typeface="Arial"/>
                <a:cs typeface="Arial"/>
              </a:rPr>
              <a:t>Hailstorm</a:t>
            </a:r>
            <a:r>
              <a:rPr sz="2550" spc="-110" dirty="0">
                <a:latin typeface="Arial"/>
                <a:cs typeface="Arial"/>
              </a:rPr>
              <a:t> </a:t>
            </a:r>
            <a:r>
              <a:rPr sz="2550" spc="-40" dirty="0">
                <a:latin typeface="Arial"/>
                <a:cs typeface="Arial"/>
              </a:rPr>
              <a:t>content</a:t>
            </a:r>
            <a:r>
              <a:rPr sz="2550" spc="-105" dirty="0">
                <a:latin typeface="Arial"/>
                <a:cs typeface="Arial"/>
              </a:rPr>
              <a:t> </a:t>
            </a:r>
            <a:r>
              <a:rPr sz="2550" dirty="0">
                <a:latin typeface="Arial"/>
                <a:cs typeface="Arial"/>
              </a:rPr>
              <a:t>is</a:t>
            </a:r>
            <a:r>
              <a:rPr sz="2550" spc="-180" dirty="0">
                <a:latin typeface="Arial"/>
                <a:cs typeface="Arial"/>
              </a:rPr>
              <a:t> </a:t>
            </a:r>
            <a:r>
              <a:rPr sz="2550" spc="-114" dirty="0">
                <a:latin typeface="Arial"/>
                <a:cs typeface="Arial"/>
              </a:rPr>
              <a:t>managed</a:t>
            </a:r>
            <a:r>
              <a:rPr sz="2550" spc="-5" dirty="0">
                <a:latin typeface="Arial"/>
                <a:cs typeface="Arial"/>
              </a:rPr>
              <a:t> </a:t>
            </a:r>
            <a:r>
              <a:rPr sz="2550" spc="-90" dirty="0">
                <a:latin typeface="Arial"/>
                <a:cs typeface="Arial"/>
              </a:rPr>
              <a:t>and</a:t>
            </a:r>
            <a:r>
              <a:rPr sz="2550" spc="-95" dirty="0">
                <a:latin typeface="Arial"/>
                <a:cs typeface="Arial"/>
              </a:rPr>
              <a:t> </a:t>
            </a:r>
            <a:r>
              <a:rPr sz="2550" spc="-10" dirty="0">
                <a:latin typeface="Arial"/>
                <a:cs typeface="Arial"/>
              </a:rPr>
              <a:t>defined 	</a:t>
            </a:r>
            <a:r>
              <a:rPr sz="2550" spc="-85" dirty="0">
                <a:latin typeface="Arial"/>
                <a:cs typeface="Arial"/>
              </a:rPr>
              <a:t>conceptually</a:t>
            </a:r>
            <a:r>
              <a:rPr sz="2550" spc="-40" dirty="0">
                <a:latin typeface="Arial"/>
                <a:cs typeface="Arial"/>
              </a:rPr>
              <a:t> </a:t>
            </a:r>
            <a:r>
              <a:rPr sz="2550" dirty="0">
                <a:latin typeface="Arial"/>
                <a:cs typeface="Arial"/>
              </a:rPr>
              <a:t>at</a:t>
            </a:r>
            <a:r>
              <a:rPr sz="2550" spc="-55" dirty="0">
                <a:latin typeface="Arial"/>
                <a:cs typeface="Arial"/>
              </a:rPr>
              <a:t> </a:t>
            </a:r>
            <a:r>
              <a:rPr sz="2550" spc="-300" dirty="0">
                <a:latin typeface="Arial"/>
                <a:cs typeface="Arial"/>
              </a:rPr>
              <a:t>a</a:t>
            </a:r>
            <a:r>
              <a:rPr sz="2550" spc="120" dirty="0">
                <a:latin typeface="Arial"/>
                <a:cs typeface="Arial"/>
              </a:rPr>
              <a:t> </a:t>
            </a:r>
            <a:r>
              <a:rPr sz="2550" spc="-95" dirty="0">
                <a:latin typeface="Arial"/>
                <a:cs typeface="Arial"/>
              </a:rPr>
              <a:t>centralized</a:t>
            </a:r>
            <a:r>
              <a:rPr sz="2550" spc="110" dirty="0">
                <a:latin typeface="Arial"/>
                <a:cs typeface="Arial"/>
              </a:rPr>
              <a:t> </a:t>
            </a:r>
            <a:r>
              <a:rPr sz="2550" spc="-120" dirty="0">
                <a:latin typeface="Arial"/>
                <a:cs typeface="Arial"/>
              </a:rPr>
              <a:t>source</a:t>
            </a:r>
            <a:r>
              <a:rPr sz="2550" spc="-30" dirty="0">
                <a:latin typeface="Arial"/>
                <a:cs typeface="Arial"/>
              </a:rPr>
              <a:t> </a:t>
            </a:r>
            <a:r>
              <a:rPr sz="2550" spc="-50" dirty="0">
                <a:latin typeface="Arial"/>
                <a:cs typeface="Arial"/>
              </a:rPr>
              <a:t>(Microsoft).</a:t>
            </a:r>
            <a:endParaRPr sz="2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7141" y="2000199"/>
            <a:ext cx="7565390" cy="37401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47980" indent="-320675">
              <a:lnSpc>
                <a:spcPct val="100000"/>
              </a:lnSpc>
              <a:spcBef>
                <a:spcPts val="130"/>
              </a:spcBef>
              <a:buClr>
                <a:srgbClr val="4249D8"/>
              </a:buClr>
              <a:buChar char="•"/>
              <a:tabLst>
                <a:tab pos="347980" algn="l"/>
              </a:tabLst>
            </a:pPr>
            <a:r>
              <a:rPr sz="2750" spc="-445" dirty="0">
                <a:latin typeface="Arial"/>
                <a:cs typeface="Arial"/>
              </a:rPr>
              <a:t>JXTA</a:t>
            </a:r>
            <a:r>
              <a:rPr sz="2750" spc="65" dirty="0">
                <a:latin typeface="Arial"/>
                <a:cs typeface="Arial"/>
              </a:rPr>
              <a:t> </a:t>
            </a:r>
            <a:r>
              <a:rPr sz="2750" spc="-165" dirty="0">
                <a:latin typeface="Arial"/>
                <a:cs typeface="Arial"/>
              </a:rPr>
              <a:t>is</a:t>
            </a:r>
            <a:r>
              <a:rPr sz="2750" spc="-65" dirty="0">
                <a:latin typeface="Arial"/>
                <a:cs typeface="Arial"/>
              </a:rPr>
              <a:t> </a:t>
            </a:r>
            <a:r>
              <a:rPr sz="2750" spc="-210" dirty="0">
                <a:latin typeface="Arial"/>
                <a:cs typeface="Arial"/>
              </a:rPr>
              <a:t>new,</a:t>
            </a:r>
            <a:r>
              <a:rPr sz="2750" spc="20" dirty="0">
                <a:latin typeface="Arial"/>
                <a:cs typeface="Arial"/>
              </a:rPr>
              <a:t> </a:t>
            </a:r>
            <a:r>
              <a:rPr sz="2750" spc="-160" dirty="0">
                <a:latin typeface="Arial"/>
                <a:cs typeface="Arial"/>
              </a:rPr>
              <a:t>rapidly</a:t>
            </a:r>
            <a:r>
              <a:rPr sz="2750" spc="-25" dirty="0">
                <a:latin typeface="Arial"/>
                <a:cs typeface="Arial"/>
              </a:rPr>
              <a:t> </a:t>
            </a:r>
            <a:r>
              <a:rPr sz="2750" spc="-200" dirty="0">
                <a:latin typeface="Arial"/>
                <a:cs typeface="Arial"/>
              </a:rPr>
              <a:t>changing</a:t>
            </a:r>
            <a:r>
              <a:rPr sz="2750" spc="130" dirty="0">
                <a:latin typeface="Arial"/>
                <a:cs typeface="Arial"/>
              </a:rPr>
              <a:t> </a:t>
            </a:r>
            <a:r>
              <a:rPr sz="2750" spc="-240" dirty="0">
                <a:latin typeface="Arial"/>
                <a:cs typeface="Arial"/>
              </a:rPr>
              <a:t>and</a:t>
            </a:r>
            <a:r>
              <a:rPr sz="2750" spc="-35" dirty="0">
                <a:latin typeface="Arial"/>
                <a:cs typeface="Arial"/>
              </a:rPr>
              <a:t> </a:t>
            </a:r>
            <a:r>
              <a:rPr sz="2750" spc="-145" dirty="0">
                <a:latin typeface="Arial"/>
                <a:cs typeface="Arial"/>
              </a:rPr>
              <a:t>undocumented.</a:t>
            </a:r>
            <a:endParaRPr sz="2750">
              <a:latin typeface="Arial"/>
              <a:cs typeface="Arial"/>
            </a:endParaRPr>
          </a:p>
          <a:p>
            <a:pPr marL="347980" indent="-320675">
              <a:lnSpc>
                <a:spcPct val="100000"/>
              </a:lnSpc>
              <a:spcBef>
                <a:spcPts val="145"/>
              </a:spcBef>
              <a:buClr>
                <a:srgbClr val="383BCC"/>
              </a:buClr>
              <a:buChar char="•"/>
              <a:tabLst>
                <a:tab pos="347980" algn="l"/>
              </a:tabLst>
            </a:pPr>
            <a:r>
              <a:rPr sz="2750" spc="-320" dirty="0">
                <a:latin typeface="Arial"/>
                <a:cs typeface="Arial"/>
              </a:rPr>
              <a:t>Peer</a:t>
            </a:r>
            <a:r>
              <a:rPr sz="2750" spc="125" dirty="0">
                <a:latin typeface="Arial"/>
                <a:cs typeface="Arial"/>
              </a:rPr>
              <a:t> </a:t>
            </a:r>
            <a:r>
              <a:rPr sz="2750" spc="-325" dirty="0">
                <a:latin typeface="Arial"/>
                <a:cs typeface="Arial"/>
              </a:rPr>
              <a:t>2</a:t>
            </a:r>
            <a:r>
              <a:rPr sz="2750" dirty="0">
                <a:latin typeface="Arial"/>
                <a:cs typeface="Arial"/>
              </a:rPr>
              <a:t> </a:t>
            </a:r>
            <a:r>
              <a:rPr sz="2750" spc="-335" dirty="0">
                <a:latin typeface="Arial"/>
                <a:cs typeface="Arial"/>
              </a:rPr>
              <a:t>Peer</a:t>
            </a:r>
            <a:r>
              <a:rPr sz="2750" spc="140" dirty="0">
                <a:latin typeface="Arial"/>
                <a:cs typeface="Arial"/>
              </a:rPr>
              <a:t> </a:t>
            </a:r>
            <a:r>
              <a:rPr sz="2750" spc="-190" dirty="0">
                <a:latin typeface="Arial"/>
                <a:cs typeface="Arial"/>
              </a:rPr>
              <a:t>is</a:t>
            </a:r>
            <a:r>
              <a:rPr sz="2750" dirty="0">
                <a:latin typeface="Arial"/>
                <a:cs typeface="Arial"/>
              </a:rPr>
              <a:t> </a:t>
            </a:r>
            <a:r>
              <a:rPr sz="2750" spc="-200" dirty="0">
                <a:latin typeface="Arial"/>
                <a:cs typeface="Arial"/>
              </a:rPr>
              <a:t>being</a:t>
            </a:r>
            <a:r>
              <a:rPr sz="2750" spc="95" dirty="0">
                <a:latin typeface="Arial"/>
                <a:cs typeface="Arial"/>
              </a:rPr>
              <a:t> </a:t>
            </a:r>
            <a:r>
              <a:rPr sz="2750" spc="-175" dirty="0">
                <a:latin typeface="Arial"/>
                <a:cs typeface="Arial"/>
              </a:rPr>
              <a:t>fueled</a:t>
            </a:r>
            <a:r>
              <a:rPr sz="2750" spc="55" dirty="0">
                <a:latin typeface="Arial"/>
                <a:cs typeface="Arial"/>
              </a:rPr>
              <a:t> </a:t>
            </a:r>
            <a:r>
              <a:rPr sz="2750" spc="-204" dirty="0">
                <a:latin typeface="Arial"/>
                <a:cs typeface="Arial"/>
              </a:rPr>
              <a:t>by</a:t>
            </a:r>
            <a:r>
              <a:rPr sz="2750" spc="40" dirty="0">
                <a:latin typeface="Arial"/>
                <a:cs typeface="Arial"/>
              </a:rPr>
              <a:t> </a:t>
            </a:r>
            <a:r>
              <a:rPr sz="2750" spc="-130" dirty="0">
                <a:latin typeface="Arial"/>
                <a:cs typeface="Arial"/>
              </a:rPr>
              <a:t>Napsterism.</a:t>
            </a:r>
            <a:endParaRPr sz="2750">
              <a:latin typeface="Arial"/>
              <a:cs typeface="Arial"/>
            </a:endParaRPr>
          </a:p>
          <a:p>
            <a:pPr marL="355600" marR="72390" indent="-327025">
              <a:lnSpc>
                <a:spcPts val="2880"/>
              </a:lnSpc>
              <a:spcBef>
                <a:spcPts val="630"/>
              </a:spcBef>
              <a:buChar char="•"/>
              <a:tabLst>
                <a:tab pos="355600" algn="l"/>
                <a:tab pos="363855" algn="l"/>
              </a:tabLst>
            </a:pPr>
            <a:r>
              <a:rPr sz="2550" dirty="0">
                <a:solidFill>
                  <a:srgbClr val="6060F9"/>
                </a:solidFill>
                <a:latin typeface="Arial"/>
                <a:cs typeface="Arial"/>
              </a:rPr>
              <a:t>	</a:t>
            </a:r>
            <a:r>
              <a:rPr sz="2550" spc="-130" dirty="0">
                <a:latin typeface="Arial"/>
                <a:cs typeface="Arial"/>
              </a:rPr>
              <a:t>Well-</a:t>
            </a:r>
            <a:r>
              <a:rPr sz="2550" spc="-80" dirty="0">
                <a:latin typeface="Arial"/>
                <a:cs typeface="Arial"/>
              </a:rPr>
              <a:t>defined</a:t>
            </a:r>
            <a:r>
              <a:rPr sz="2550" spc="70" dirty="0">
                <a:latin typeface="Arial"/>
                <a:cs typeface="Arial"/>
              </a:rPr>
              <a:t> </a:t>
            </a:r>
            <a:r>
              <a:rPr sz="2550" spc="-75" dirty="0">
                <a:latin typeface="Arial"/>
                <a:cs typeface="Arial"/>
              </a:rPr>
              <a:t>protocols</a:t>
            </a:r>
            <a:r>
              <a:rPr sz="2550" spc="-20" dirty="0">
                <a:latin typeface="Arial"/>
                <a:cs typeface="Arial"/>
              </a:rPr>
              <a:t> </a:t>
            </a:r>
            <a:r>
              <a:rPr sz="2550" spc="-110" dirty="0">
                <a:latin typeface="Arial"/>
                <a:cs typeface="Arial"/>
              </a:rPr>
              <a:t>can</a:t>
            </a:r>
            <a:r>
              <a:rPr sz="2550" spc="-60" dirty="0">
                <a:latin typeface="Arial"/>
                <a:cs typeface="Arial"/>
              </a:rPr>
              <a:t> </a:t>
            </a:r>
            <a:r>
              <a:rPr sz="2550" spc="-135" dirty="0">
                <a:latin typeface="Arial"/>
                <a:cs typeface="Arial"/>
              </a:rPr>
              <a:t>squash</a:t>
            </a:r>
            <a:r>
              <a:rPr sz="2550" spc="-50" dirty="0">
                <a:latin typeface="Arial"/>
                <a:cs typeface="Arial"/>
              </a:rPr>
              <a:t> </a:t>
            </a:r>
            <a:r>
              <a:rPr sz="2550" spc="-45" dirty="0">
                <a:latin typeface="Arial"/>
                <a:cs typeface="Arial"/>
              </a:rPr>
              <a:t>creativity</a:t>
            </a:r>
            <a:r>
              <a:rPr sz="2550" spc="35" dirty="0">
                <a:latin typeface="Arial"/>
                <a:cs typeface="Arial"/>
              </a:rPr>
              <a:t> </a:t>
            </a:r>
            <a:r>
              <a:rPr sz="2550" dirty="0">
                <a:latin typeface="Arial"/>
                <a:cs typeface="Arial"/>
              </a:rPr>
              <a:t>in</a:t>
            </a:r>
            <a:r>
              <a:rPr sz="2550" spc="-165" dirty="0">
                <a:latin typeface="Arial"/>
                <a:cs typeface="Arial"/>
              </a:rPr>
              <a:t> </a:t>
            </a:r>
            <a:r>
              <a:rPr sz="2550" dirty="0">
                <a:latin typeface="Arial"/>
                <a:cs typeface="Arial"/>
              </a:rPr>
              <a:t>a</a:t>
            </a:r>
            <a:r>
              <a:rPr sz="2550" spc="-125" dirty="0">
                <a:latin typeface="Arial"/>
                <a:cs typeface="Arial"/>
              </a:rPr>
              <a:t> </a:t>
            </a:r>
            <a:r>
              <a:rPr sz="2550" spc="-25" dirty="0">
                <a:latin typeface="Arial"/>
                <a:cs typeface="Arial"/>
              </a:rPr>
              <a:t>new </a:t>
            </a:r>
            <a:r>
              <a:rPr sz="2550" spc="-110" dirty="0">
                <a:latin typeface="Arial"/>
                <a:cs typeface="Arial"/>
              </a:rPr>
              <a:t>research</a:t>
            </a:r>
            <a:r>
              <a:rPr sz="2550" spc="-35" dirty="0">
                <a:latin typeface="Arial"/>
                <a:cs typeface="Arial"/>
              </a:rPr>
              <a:t> </a:t>
            </a:r>
            <a:r>
              <a:rPr sz="2550" spc="-20" dirty="0">
                <a:latin typeface="Arial"/>
                <a:cs typeface="Arial"/>
              </a:rPr>
              <a:t>area.</a:t>
            </a:r>
            <a:endParaRPr sz="2550">
              <a:latin typeface="Arial"/>
              <a:cs typeface="Arial"/>
            </a:endParaRPr>
          </a:p>
          <a:p>
            <a:pPr marL="351155" indent="-322580">
              <a:lnSpc>
                <a:spcPct val="100000"/>
              </a:lnSpc>
              <a:spcBef>
                <a:spcPts val="320"/>
              </a:spcBef>
              <a:buClr>
                <a:srgbClr val="6259EF"/>
              </a:buClr>
              <a:buChar char="•"/>
              <a:tabLst>
                <a:tab pos="351155" algn="l"/>
              </a:tabLst>
            </a:pPr>
            <a:r>
              <a:rPr sz="2550" spc="-145" dirty="0">
                <a:latin typeface="Arial"/>
                <a:cs typeface="Arial"/>
              </a:rPr>
              <a:t>Reliance</a:t>
            </a:r>
            <a:r>
              <a:rPr sz="2550" spc="-35" dirty="0">
                <a:latin typeface="Arial"/>
                <a:cs typeface="Arial"/>
              </a:rPr>
              <a:t> </a:t>
            </a:r>
            <a:r>
              <a:rPr sz="2550" dirty="0">
                <a:latin typeface="Arial"/>
                <a:cs typeface="Arial"/>
              </a:rPr>
              <a:t>on</a:t>
            </a:r>
            <a:r>
              <a:rPr sz="2550" spc="-180" dirty="0">
                <a:latin typeface="Arial"/>
                <a:cs typeface="Arial"/>
              </a:rPr>
              <a:t> </a:t>
            </a:r>
            <a:r>
              <a:rPr sz="2550" spc="-285" dirty="0">
                <a:latin typeface="Arial"/>
                <a:cs typeface="Arial"/>
              </a:rPr>
              <a:t>XML</a:t>
            </a:r>
            <a:r>
              <a:rPr sz="2550" spc="70" dirty="0">
                <a:latin typeface="Arial"/>
                <a:cs typeface="Arial"/>
              </a:rPr>
              <a:t> </a:t>
            </a:r>
            <a:r>
              <a:rPr sz="2550" spc="-85" dirty="0">
                <a:latin typeface="Arial"/>
                <a:cs typeface="Arial"/>
              </a:rPr>
              <a:t>forces</a:t>
            </a:r>
            <a:r>
              <a:rPr sz="2550" spc="-5" dirty="0">
                <a:latin typeface="Arial"/>
                <a:cs typeface="Arial"/>
              </a:rPr>
              <a:t> </a:t>
            </a:r>
            <a:r>
              <a:rPr sz="2550" dirty="0">
                <a:latin typeface="Arial"/>
                <a:cs typeface="Arial"/>
              </a:rPr>
              <a:t>the</a:t>
            </a:r>
            <a:r>
              <a:rPr sz="2550" spc="-80" dirty="0">
                <a:latin typeface="Arial"/>
                <a:cs typeface="Arial"/>
              </a:rPr>
              <a:t> </a:t>
            </a:r>
            <a:r>
              <a:rPr sz="2550" spc="-85" dirty="0">
                <a:latin typeface="Arial"/>
                <a:cs typeface="Arial"/>
              </a:rPr>
              <a:t>hand</a:t>
            </a:r>
            <a:r>
              <a:rPr sz="2550" spc="-10" dirty="0">
                <a:latin typeface="Arial"/>
                <a:cs typeface="Arial"/>
              </a:rPr>
              <a:t> </a:t>
            </a:r>
            <a:r>
              <a:rPr sz="2550" dirty="0">
                <a:latin typeface="Arial"/>
                <a:cs typeface="Arial"/>
              </a:rPr>
              <a:t>of</a:t>
            </a:r>
            <a:r>
              <a:rPr sz="2550" spc="-110" dirty="0">
                <a:latin typeface="Arial"/>
                <a:cs typeface="Arial"/>
              </a:rPr>
              <a:t> </a:t>
            </a:r>
            <a:r>
              <a:rPr sz="2550" spc="-35" dirty="0">
                <a:latin typeface="Arial"/>
                <a:cs typeface="Arial"/>
              </a:rPr>
              <a:t>developers.</a:t>
            </a:r>
            <a:endParaRPr sz="2550">
              <a:latin typeface="Arial"/>
              <a:cs typeface="Arial"/>
            </a:endParaRPr>
          </a:p>
          <a:p>
            <a:pPr marL="352425" marR="956310" indent="-340360">
              <a:lnSpc>
                <a:spcPts val="2880"/>
              </a:lnSpc>
              <a:spcBef>
                <a:spcPts val="630"/>
              </a:spcBef>
              <a:buChar char="•"/>
              <a:tabLst>
                <a:tab pos="352425" algn="l"/>
                <a:tab pos="357505" algn="l"/>
              </a:tabLst>
            </a:pPr>
            <a:r>
              <a:rPr sz="2800" dirty="0">
                <a:solidFill>
                  <a:srgbClr val="6460FB"/>
                </a:solidFill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JXTA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130" dirty="0">
                <a:latin typeface="Calibri"/>
                <a:cs typeface="Calibri"/>
              </a:rPr>
              <a:t> too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late,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5" dirty="0">
                <a:latin typeface="Calibri"/>
                <a:cs typeface="Calibri"/>
              </a:rPr>
              <a:t>there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60" dirty="0">
                <a:latin typeface="Calibri"/>
                <a:cs typeface="Calibri"/>
              </a:rPr>
              <a:t>are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80" dirty="0">
                <a:latin typeface="Calibri"/>
                <a:cs typeface="Calibri"/>
              </a:rPr>
              <a:t>already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10" dirty="0">
                <a:latin typeface="Calibri"/>
                <a:cs typeface="Calibri"/>
              </a:rPr>
              <a:t>popular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90" dirty="0">
                <a:latin typeface="Calibri"/>
                <a:cs typeface="Calibri"/>
              </a:rPr>
              <a:t>P2P </a:t>
            </a:r>
            <a:r>
              <a:rPr sz="2800" spc="-125" dirty="0">
                <a:latin typeface="Calibri"/>
                <a:cs typeface="Calibri"/>
              </a:rPr>
              <a:t>Applications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95" dirty="0">
                <a:latin typeface="Calibri"/>
                <a:cs typeface="Calibri"/>
              </a:rPr>
              <a:t>out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there.</a:t>
            </a:r>
            <a:endParaRPr sz="2800">
              <a:latin typeface="Calibri"/>
              <a:cs typeface="Calibri"/>
            </a:endParaRPr>
          </a:p>
          <a:p>
            <a:pPr marL="351155" indent="-314325">
              <a:lnSpc>
                <a:spcPts val="3035"/>
              </a:lnSpc>
              <a:spcBef>
                <a:spcPts val="175"/>
              </a:spcBef>
              <a:buClr>
                <a:srgbClr val="5D62F2"/>
              </a:buClr>
              <a:buChar char="•"/>
              <a:tabLst>
                <a:tab pos="351155" algn="l"/>
              </a:tabLst>
            </a:pPr>
            <a:r>
              <a:rPr sz="2700" spc="-254" dirty="0">
                <a:latin typeface="Arial"/>
                <a:cs typeface="Arial"/>
              </a:rPr>
              <a:t>Since</a:t>
            </a:r>
            <a:r>
              <a:rPr sz="2700" spc="15" dirty="0">
                <a:latin typeface="Arial"/>
                <a:cs typeface="Arial"/>
              </a:rPr>
              <a:t> </a:t>
            </a:r>
            <a:r>
              <a:rPr sz="2700" spc="-400" dirty="0">
                <a:latin typeface="Arial"/>
                <a:cs typeface="Arial"/>
              </a:rPr>
              <a:t>JXTA</a:t>
            </a:r>
            <a:r>
              <a:rPr sz="2700" spc="114" dirty="0">
                <a:latin typeface="Arial"/>
                <a:cs typeface="Arial"/>
              </a:rPr>
              <a:t> </a:t>
            </a:r>
            <a:r>
              <a:rPr sz="2700" spc="-185" dirty="0">
                <a:latin typeface="Arial"/>
                <a:cs typeface="Arial"/>
              </a:rPr>
              <a:t>is</a:t>
            </a:r>
            <a:r>
              <a:rPr sz="2700" spc="-30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in</a:t>
            </a:r>
            <a:r>
              <a:rPr sz="2700" spc="-180" dirty="0">
                <a:latin typeface="Arial"/>
                <a:cs typeface="Arial"/>
              </a:rPr>
              <a:t> </a:t>
            </a:r>
            <a:r>
              <a:rPr sz="2700" spc="-55" dirty="0">
                <a:latin typeface="Arial"/>
                <a:cs typeface="Arial"/>
              </a:rPr>
              <a:t>its</a:t>
            </a:r>
            <a:r>
              <a:rPr sz="2700" spc="-130" dirty="0">
                <a:latin typeface="Arial"/>
                <a:cs typeface="Arial"/>
              </a:rPr>
              <a:t> </a:t>
            </a:r>
            <a:r>
              <a:rPr sz="2700" spc="-165" dirty="0">
                <a:latin typeface="Arial"/>
                <a:cs typeface="Arial"/>
              </a:rPr>
              <a:t>infancy,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it</a:t>
            </a:r>
            <a:r>
              <a:rPr sz="2700" spc="-110" dirty="0">
                <a:latin typeface="Arial"/>
                <a:cs typeface="Arial"/>
              </a:rPr>
              <a:t> </a:t>
            </a:r>
            <a:r>
              <a:rPr sz="2700" spc="-100" dirty="0">
                <a:latin typeface="Arial"/>
                <a:cs typeface="Arial"/>
              </a:rPr>
              <a:t>is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65" dirty="0">
                <a:latin typeface="Arial"/>
                <a:cs typeface="Arial"/>
              </a:rPr>
              <a:t>still</a:t>
            </a:r>
            <a:r>
              <a:rPr sz="2700" spc="-35" dirty="0">
                <a:latin typeface="Arial"/>
                <a:cs typeface="Arial"/>
              </a:rPr>
              <a:t> </a:t>
            </a:r>
            <a:r>
              <a:rPr sz="2700" spc="-125" dirty="0">
                <a:latin typeface="Arial"/>
                <a:cs typeface="Arial"/>
              </a:rPr>
              <a:t>too</a:t>
            </a:r>
            <a:r>
              <a:rPr sz="2700" spc="-60" dirty="0">
                <a:latin typeface="Arial"/>
                <a:cs typeface="Arial"/>
              </a:rPr>
              <a:t> </a:t>
            </a:r>
            <a:r>
              <a:rPr sz="2700" spc="-135" dirty="0">
                <a:latin typeface="Arial"/>
                <a:cs typeface="Arial"/>
              </a:rPr>
              <a:t>early</a:t>
            </a:r>
            <a:r>
              <a:rPr sz="2700" spc="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to</a:t>
            </a:r>
            <a:r>
              <a:rPr sz="2700" spc="-55" dirty="0">
                <a:latin typeface="Arial"/>
                <a:cs typeface="Arial"/>
              </a:rPr>
              <a:t> </a:t>
            </a:r>
            <a:r>
              <a:rPr sz="2700" spc="-105" dirty="0">
                <a:latin typeface="Arial"/>
                <a:cs typeface="Arial"/>
              </a:rPr>
              <a:t>judge</a:t>
            </a:r>
            <a:endParaRPr sz="2700">
              <a:latin typeface="Arial"/>
              <a:cs typeface="Arial"/>
            </a:endParaRPr>
          </a:p>
          <a:p>
            <a:pPr marL="353060">
              <a:lnSpc>
                <a:spcPts val="3095"/>
              </a:lnSpc>
            </a:pPr>
            <a:r>
              <a:rPr sz="2750" spc="-120" dirty="0">
                <a:latin typeface="Arial"/>
                <a:cs typeface="Arial"/>
              </a:rPr>
              <a:t>the</a:t>
            </a:r>
            <a:r>
              <a:rPr sz="2750" spc="-35" dirty="0">
                <a:latin typeface="Arial"/>
                <a:cs typeface="Arial"/>
              </a:rPr>
              <a:t> </a:t>
            </a:r>
            <a:r>
              <a:rPr sz="2750" spc="-300" dirty="0">
                <a:latin typeface="Arial"/>
                <a:cs typeface="Arial"/>
              </a:rPr>
              <a:t>success</a:t>
            </a:r>
            <a:r>
              <a:rPr sz="2750" spc="170" dirty="0">
                <a:latin typeface="Arial"/>
                <a:cs typeface="Arial"/>
              </a:rPr>
              <a:t> </a:t>
            </a:r>
            <a:r>
              <a:rPr sz="2750" spc="-120" dirty="0">
                <a:latin typeface="Arial"/>
                <a:cs typeface="Arial"/>
              </a:rPr>
              <a:t>of</a:t>
            </a:r>
            <a:r>
              <a:rPr sz="2750" spc="-75" dirty="0">
                <a:latin typeface="Arial"/>
                <a:cs typeface="Arial"/>
              </a:rPr>
              <a:t> </a:t>
            </a:r>
            <a:r>
              <a:rPr sz="2750" spc="-375" dirty="0">
                <a:latin typeface="Arial"/>
                <a:cs typeface="Arial"/>
              </a:rPr>
              <a:t>JXTA.</a:t>
            </a:r>
            <a:endParaRPr sz="2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71812" cy="1053703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4079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35"/>
              </a:spcBef>
            </a:pPr>
            <a:r>
              <a:rPr sz="4650" spc="-130" dirty="0">
                <a:solidFill>
                  <a:srgbClr val="383489"/>
                </a:solidFill>
                <a:latin typeface="Arial"/>
                <a:cs typeface="Arial"/>
              </a:rPr>
              <a:t>The</a:t>
            </a:r>
            <a:r>
              <a:rPr sz="4650" spc="-195" dirty="0">
                <a:solidFill>
                  <a:srgbClr val="383489"/>
                </a:solidFill>
                <a:latin typeface="Arial"/>
                <a:cs typeface="Arial"/>
              </a:rPr>
              <a:t> </a:t>
            </a:r>
            <a:r>
              <a:rPr sz="4650" spc="-120" dirty="0">
                <a:latin typeface="Arial"/>
                <a:cs typeface="Arial"/>
              </a:rPr>
              <a:t>Future</a:t>
            </a:r>
            <a:r>
              <a:rPr sz="4650" spc="-65" dirty="0">
                <a:latin typeface="Arial"/>
                <a:cs typeface="Arial"/>
              </a:rPr>
              <a:t> </a:t>
            </a:r>
            <a:r>
              <a:rPr sz="4650" dirty="0">
                <a:latin typeface="Arial"/>
                <a:cs typeface="Arial"/>
              </a:rPr>
              <a:t>of</a:t>
            </a:r>
            <a:r>
              <a:rPr sz="4650" spc="-240" dirty="0">
                <a:latin typeface="Arial"/>
                <a:cs typeface="Arial"/>
              </a:rPr>
              <a:t> </a:t>
            </a:r>
            <a:r>
              <a:rPr sz="4650" spc="-565" dirty="0">
                <a:solidFill>
                  <a:srgbClr val="3B3895"/>
                </a:solidFill>
                <a:latin typeface="Arial"/>
                <a:cs typeface="Arial"/>
              </a:rPr>
              <a:t>JXTA</a:t>
            </a:r>
            <a:endParaRPr sz="4650">
              <a:latin typeface="Arial"/>
              <a:cs typeface="Arial"/>
            </a:endParaRPr>
          </a:p>
        </p:txBody>
      </p:sp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52054" y="4884539"/>
            <a:ext cx="44648" cy="892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83915" y="1966455"/>
            <a:ext cx="6608445" cy="3329304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19405" indent="-303530">
              <a:lnSpc>
                <a:spcPct val="100000"/>
              </a:lnSpc>
              <a:spcBef>
                <a:spcPts val="720"/>
              </a:spcBef>
              <a:buClr>
                <a:srgbClr val="2F2FC6"/>
              </a:buClr>
              <a:buChar char="•"/>
              <a:tabLst>
                <a:tab pos="319405" algn="l"/>
              </a:tabLst>
            </a:pPr>
            <a:r>
              <a:rPr sz="3200" spc="-280" dirty="0">
                <a:latin typeface="Arial"/>
                <a:cs typeface="Arial"/>
              </a:rPr>
              <a:t>JXTA</a:t>
            </a:r>
            <a:r>
              <a:rPr sz="3200" spc="1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in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254" dirty="0">
                <a:latin typeface="Arial"/>
                <a:cs typeface="Arial"/>
              </a:rPr>
              <a:t>J2SE</a:t>
            </a:r>
            <a:r>
              <a:rPr sz="3200" spc="125" dirty="0">
                <a:latin typeface="Arial"/>
                <a:cs typeface="Arial"/>
              </a:rPr>
              <a:t> </a:t>
            </a:r>
            <a:r>
              <a:rPr sz="3200" spc="-30" dirty="0">
                <a:latin typeface="Arial"/>
                <a:cs typeface="Arial"/>
              </a:rPr>
              <a:t>Micro</a:t>
            </a:r>
            <a:r>
              <a:rPr sz="3200" spc="12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Edition</a:t>
            </a:r>
            <a:endParaRPr sz="3200">
              <a:latin typeface="Arial"/>
              <a:cs typeface="Arial"/>
            </a:endParaRPr>
          </a:p>
          <a:p>
            <a:pPr marL="322580" marR="957580" indent="-307975">
              <a:lnSpc>
                <a:spcPts val="3800"/>
              </a:lnSpc>
              <a:spcBef>
                <a:spcPts val="960"/>
              </a:spcBef>
              <a:buClr>
                <a:srgbClr val="2F31C1"/>
              </a:buClr>
              <a:buChar char="•"/>
              <a:tabLst>
                <a:tab pos="330835" algn="l"/>
              </a:tabLst>
            </a:pPr>
            <a:r>
              <a:rPr sz="3350" spc="-55" dirty="0">
                <a:latin typeface="Arial"/>
                <a:cs typeface="Arial"/>
              </a:rPr>
              <a:t>Further</a:t>
            </a:r>
            <a:r>
              <a:rPr sz="3350" spc="30" dirty="0">
                <a:latin typeface="Arial"/>
                <a:cs typeface="Arial"/>
              </a:rPr>
              <a:t> </a:t>
            </a:r>
            <a:r>
              <a:rPr sz="3350" spc="-114" dirty="0">
                <a:latin typeface="Arial"/>
                <a:cs typeface="Arial"/>
              </a:rPr>
              <a:t>expansion</a:t>
            </a:r>
            <a:r>
              <a:rPr sz="3350" spc="25" dirty="0">
                <a:latin typeface="Arial"/>
                <a:cs typeface="Arial"/>
              </a:rPr>
              <a:t> </a:t>
            </a:r>
            <a:r>
              <a:rPr sz="3350" dirty="0">
                <a:latin typeface="Arial"/>
                <a:cs typeface="Arial"/>
              </a:rPr>
              <a:t>of</a:t>
            </a:r>
            <a:r>
              <a:rPr sz="3350" spc="-125" dirty="0">
                <a:latin typeface="Arial"/>
                <a:cs typeface="Arial"/>
              </a:rPr>
              <a:t> </a:t>
            </a:r>
            <a:r>
              <a:rPr sz="3350" dirty="0">
                <a:latin typeface="Arial"/>
                <a:cs typeface="Arial"/>
              </a:rPr>
              <a:t>the</a:t>
            </a:r>
            <a:r>
              <a:rPr sz="3350" spc="-229" dirty="0">
                <a:latin typeface="Arial"/>
                <a:cs typeface="Arial"/>
              </a:rPr>
              <a:t> </a:t>
            </a:r>
            <a:r>
              <a:rPr sz="3350" spc="-275" dirty="0">
                <a:latin typeface="Arial"/>
                <a:cs typeface="Arial"/>
              </a:rPr>
              <a:t>Java 	</a:t>
            </a:r>
            <a:r>
              <a:rPr sz="3350" spc="-10" dirty="0">
                <a:latin typeface="Arial"/>
                <a:cs typeface="Arial"/>
              </a:rPr>
              <a:t>implementation.</a:t>
            </a:r>
            <a:endParaRPr sz="3350">
              <a:latin typeface="Arial"/>
              <a:cs typeface="Arial"/>
            </a:endParaRPr>
          </a:p>
          <a:p>
            <a:pPr marL="304800" marR="5080" indent="-292735">
              <a:lnSpc>
                <a:spcPts val="3829"/>
              </a:lnSpc>
              <a:spcBef>
                <a:spcPts val="815"/>
              </a:spcBef>
              <a:buClr>
                <a:srgbClr val="3131C6"/>
              </a:buClr>
              <a:buChar char="•"/>
              <a:tabLst>
                <a:tab pos="321310" algn="l"/>
              </a:tabLst>
            </a:pPr>
            <a:r>
              <a:rPr sz="3700" spc="-210" dirty="0">
                <a:latin typeface="Arial"/>
                <a:cs typeface="Arial"/>
              </a:rPr>
              <a:t>Implementation</a:t>
            </a:r>
            <a:r>
              <a:rPr sz="3700" spc="-85" dirty="0">
                <a:latin typeface="Arial"/>
                <a:cs typeface="Arial"/>
              </a:rPr>
              <a:t> </a:t>
            </a:r>
            <a:r>
              <a:rPr sz="3700" spc="-170" dirty="0">
                <a:latin typeface="Arial"/>
                <a:cs typeface="Arial"/>
              </a:rPr>
              <a:t>in</a:t>
            </a:r>
            <a:r>
              <a:rPr sz="3700" spc="-5" dirty="0">
                <a:latin typeface="Arial"/>
                <a:cs typeface="Arial"/>
              </a:rPr>
              <a:t> </a:t>
            </a:r>
            <a:r>
              <a:rPr sz="3700" spc="-254" dirty="0">
                <a:latin typeface="Arial"/>
                <a:cs typeface="Arial"/>
              </a:rPr>
              <a:t>other</a:t>
            </a:r>
            <a:r>
              <a:rPr sz="3700" spc="254" dirty="0">
                <a:latin typeface="Arial"/>
                <a:cs typeface="Arial"/>
              </a:rPr>
              <a:t> </a:t>
            </a:r>
            <a:r>
              <a:rPr sz="3700" spc="-355" dirty="0">
                <a:latin typeface="Arial"/>
                <a:cs typeface="Arial"/>
              </a:rPr>
              <a:t>languages 	</a:t>
            </a:r>
            <a:r>
              <a:rPr sz="3700" spc="-130" dirty="0">
                <a:latin typeface="Arial"/>
                <a:cs typeface="Arial"/>
              </a:rPr>
              <a:t>(C/C++/C#,</a:t>
            </a:r>
            <a:r>
              <a:rPr sz="3700" spc="75" dirty="0">
                <a:latin typeface="Arial"/>
                <a:cs typeface="Arial"/>
              </a:rPr>
              <a:t> </a:t>
            </a:r>
            <a:r>
              <a:rPr sz="3700" spc="-310" dirty="0">
                <a:latin typeface="Arial"/>
                <a:cs typeface="Arial"/>
              </a:rPr>
              <a:t>Perl,</a:t>
            </a:r>
            <a:r>
              <a:rPr sz="3700" spc="55" dirty="0">
                <a:latin typeface="Arial"/>
                <a:cs typeface="Arial"/>
              </a:rPr>
              <a:t> </a:t>
            </a:r>
            <a:r>
              <a:rPr sz="3700" spc="-295" dirty="0">
                <a:latin typeface="Arial"/>
                <a:cs typeface="Arial"/>
              </a:rPr>
              <a:t>Python,</a:t>
            </a:r>
            <a:r>
              <a:rPr sz="3700" spc="90" dirty="0">
                <a:latin typeface="Arial"/>
                <a:cs typeface="Arial"/>
              </a:rPr>
              <a:t> </a:t>
            </a:r>
            <a:r>
              <a:rPr sz="3700" spc="-10" dirty="0">
                <a:latin typeface="Arial"/>
                <a:cs typeface="Arial"/>
              </a:rPr>
              <a:t>etc).</a:t>
            </a:r>
            <a:endParaRPr sz="3700">
              <a:latin typeface="Arial"/>
              <a:cs typeface="Arial"/>
            </a:endParaRPr>
          </a:p>
          <a:p>
            <a:pPr marL="308610" indent="-294005">
              <a:lnSpc>
                <a:spcPct val="100000"/>
              </a:lnSpc>
              <a:spcBef>
                <a:spcPts val="490"/>
              </a:spcBef>
              <a:buClr>
                <a:srgbClr val="312FC8"/>
              </a:buClr>
              <a:buChar char="•"/>
              <a:tabLst>
                <a:tab pos="308610" algn="l"/>
              </a:tabLst>
            </a:pPr>
            <a:r>
              <a:rPr sz="3350" dirty="0">
                <a:latin typeface="Arial"/>
                <a:cs typeface="Arial"/>
              </a:rPr>
              <a:t>Industry </a:t>
            </a:r>
            <a:r>
              <a:rPr sz="3350" spc="-70" dirty="0">
                <a:latin typeface="Arial"/>
                <a:cs typeface="Arial"/>
              </a:rPr>
              <a:t>acceptance</a:t>
            </a:r>
            <a:endParaRPr sz="3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7759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20"/>
              </a:spcBef>
            </a:pPr>
            <a:r>
              <a:rPr sz="5250" spc="-305" dirty="0">
                <a:solidFill>
                  <a:srgbClr val="383880"/>
                </a:solidFill>
              </a:rPr>
              <a:t>Presentation</a:t>
            </a:r>
            <a:r>
              <a:rPr sz="5250" spc="560" dirty="0">
                <a:solidFill>
                  <a:srgbClr val="383880"/>
                </a:solidFill>
              </a:rPr>
              <a:t> </a:t>
            </a:r>
            <a:r>
              <a:rPr sz="5250" spc="-335" dirty="0">
                <a:solidFill>
                  <a:srgbClr val="363189"/>
                </a:solidFill>
              </a:rPr>
              <a:t>Summary</a:t>
            </a:r>
            <a:endParaRPr sz="5250"/>
          </a:p>
        </p:txBody>
      </p:sp>
      <p:sp>
        <p:nvSpPr>
          <p:cNvPr id="3" name="object 3"/>
          <p:cNvSpPr txBox="1"/>
          <p:nvPr/>
        </p:nvSpPr>
        <p:spPr>
          <a:xfrm>
            <a:off x="1283915" y="1986805"/>
            <a:ext cx="7466965" cy="361315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17500" marR="40005" indent="-305435">
              <a:lnSpc>
                <a:spcPct val="87400"/>
              </a:lnSpc>
              <a:spcBef>
                <a:spcPts val="660"/>
              </a:spcBef>
              <a:buChar char="•"/>
              <a:tabLst>
                <a:tab pos="317500" algn="l"/>
                <a:tab pos="321310" algn="l"/>
              </a:tabLst>
            </a:pPr>
            <a:r>
              <a:rPr sz="3650" dirty="0">
                <a:solidFill>
                  <a:srgbClr val="3131C8"/>
                </a:solidFill>
                <a:latin typeface="Arial"/>
                <a:cs typeface="Arial"/>
              </a:rPr>
              <a:t>	</a:t>
            </a:r>
            <a:r>
              <a:rPr sz="3650" spc="-440" dirty="0">
                <a:latin typeface="Arial"/>
                <a:cs typeface="Arial"/>
              </a:rPr>
              <a:t>P2P:</a:t>
            </a:r>
            <a:r>
              <a:rPr sz="3650" spc="210" dirty="0">
                <a:latin typeface="Arial"/>
                <a:cs typeface="Arial"/>
              </a:rPr>
              <a:t> </a:t>
            </a:r>
            <a:r>
              <a:rPr sz="3650" spc="-315" dirty="0">
                <a:latin typeface="Arial"/>
                <a:cs typeface="Arial"/>
              </a:rPr>
              <a:t>Simply</a:t>
            </a:r>
            <a:r>
              <a:rPr sz="3650" spc="229" dirty="0">
                <a:latin typeface="Arial"/>
                <a:cs typeface="Arial"/>
              </a:rPr>
              <a:t> </a:t>
            </a:r>
            <a:r>
              <a:rPr sz="3650" spc="-190" dirty="0">
                <a:latin typeface="Arial"/>
                <a:cs typeface="Arial"/>
              </a:rPr>
              <a:t>the</a:t>
            </a:r>
            <a:r>
              <a:rPr sz="3650" spc="-70" dirty="0">
                <a:latin typeface="Arial"/>
                <a:cs typeface="Arial"/>
              </a:rPr>
              <a:t> </a:t>
            </a:r>
            <a:r>
              <a:rPr sz="3650" spc="-345" dirty="0">
                <a:latin typeface="Arial"/>
                <a:cs typeface="Arial"/>
              </a:rPr>
              <a:t>exchange</a:t>
            </a:r>
            <a:r>
              <a:rPr sz="3650" spc="295" dirty="0">
                <a:latin typeface="Arial"/>
                <a:cs typeface="Arial"/>
              </a:rPr>
              <a:t> </a:t>
            </a:r>
            <a:r>
              <a:rPr sz="3650" spc="-95" dirty="0">
                <a:latin typeface="Arial"/>
                <a:cs typeface="Arial"/>
              </a:rPr>
              <a:t>of</a:t>
            </a:r>
            <a:r>
              <a:rPr sz="3650" spc="-45" dirty="0">
                <a:latin typeface="Arial"/>
                <a:cs typeface="Arial"/>
              </a:rPr>
              <a:t> </a:t>
            </a:r>
            <a:r>
              <a:rPr sz="3650" spc="-295" dirty="0">
                <a:latin typeface="Arial"/>
                <a:cs typeface="Arial"/>
              </a:rPr>
              <a:t>data </a:t>
            </a:r>
            <a:r>
              <a:rPr sz="3650" spc="-300" dirty="0">
                <a:latin typeface="Arial"/>
                <a:cs typeface="Arial"/>
              </a:rPr>
              <a:t>between</a:t>
            </a:r>
            <a:r>
              <a:rPr sz="3650" spc="150" dirty="0">
                <a:latin typeface="Arial"/>
                <a:cs typeface="Arial"/>
              </a:rPr>
              <a:t> </a:t>
            </a:r>
            <a:r>
              <a:rPr sz="3650" spc="-130" dirty="0">
                <a:latin typeface="Arial"/>
                <a:cs typeface="Arial"/>
              </a:rPr>
              <a:t>two</a:t>
            </a:r>
            <a:r>
              <a:rPr sz="3650" spc="-20" dirty="0">
                <a:latin typeface="Arial"/>
                <a:cs typeface="Arial"/>
              </a:rPr>
              <a:t> </a:t>
            </a:r>
            <a:r>
              <a:rPr sz="3650" spc="-310" dirty="0">
                <a:latin typeface="Arial"/>
                <a:cs typeface="Arial"/>
              </a:rPr>
              <a:t>peers</a:t>
            </a:r>
            <a:r>
              <a:rPr sz="3650" spc="145" dirty="0">
                <a:latin typeface="Arial"/>
                <a:cs typeface="Arial"/>
              </a:rPr>
              <a:t> </a:t>
            </a:r>
            <a:r>
              <a:rPr sz="3650" spc="-320" dirty="0">
                <a:latin typeface="Arial"/>
                <a:cs typeface="Arial"/>
              </a:rPr>
              <a:t>who</a:t>
            </a:r>
            <a:r>
              <a:rPr sz="3650" spc="-25" dirty="0">
                <a:latin typeface="Arial"/>
                <a:cs typeface="Arial"/>
              </a:rPr>
              <a:t> </a:t>
            </a:r>
            <a:r>
              <a:rPr sz="3650" spc="-190" dirty="0">
                <a:latin typeface="Arial"/>
                <a:cs typeface="Arial"/>
              </a:rPr>
              <a:t>act</a:t>
            </a:r>
            <a:r>
              <a:rPr sz="3650" spc="20" dirty="0">
                <a:latin typeface="Arial"/>
                <a:cs typeface="Arial"/>
              </a:rPr>
              <a:t> </a:t>
            </a:r>
            <a:r>
              <a:rPr sz="3650" spc="-385" dirty="0">
                <a:latin typeface="Arial"/>
                <a:cs typeface="Arial"/>
              </a:rPr>
              <a:t>as</a:t>
            </a:r>
            <a:r>
              <a:rPr sz="3650" spc="-45" dirty="0">
                <a:latin typeface="Arial"/>
                <a:cs typeface="Arial"/>
              </a:rPr>
              <a:t> </a:t>
            </a:r>
            <a:r>
              <a:rPr sz="3650" spc="-10" dirty="0">
                <a:latin typeface="Arial"/>
                <a:cs typeface="Arial"/>
              </a:rPr>
              <a:t>client </a:t>
            </a:r>
            <a:r>
              <a:rPr sz="3650" spc="-310" dirty="0">
                <a:latin typeface="Arial"/>
                <a:cs typeface="Arial"/>
              </a:rPr>
              <a:t>and</a:t>
            </a:r>
            <a:r>
              <a:rPr sz="3650" spc="40" dirty="0">
                <a:latin typeface="Arial"/>
                <a:cs typeface="Arial"/>
              </a:rPr>
              <a:t> </a:t>
            </a:r>
            <a:r>
              <a:rPr sz="3650" spc="-385" dirty="0">
                <a:latin typeface="Arial"/>
                <a:cs typeface="Arial"/>
              </a:rPr>
              <a:t>as</a:t>
            </a:r>
            <a:r>
              <a:rPr sz="3650" spc="-15" dirty="0">
                <a:latin typeface="Arial"/>
                <a:cs typeface="Arial"/>
              </a:rPr>
              <a:t> </a:t>
            </a:r>
            <a:r>
              <a:rPr sz="3650" spc="-310" dirty="0">
                <a:latin typeface="Arial"/>
                <a:cs typeface="Arial"/>
              </a:rPr>
              <a:t>server,</a:t>
            </a:r>
            <a:r>
              <a:rPr sz="3650" spc="55" dirty="0">
                <a:latin typeface="Arial"/>
                <a:cs typeface="Arial"/>
              </a:rPr>
              <a:t> </a:t>
            </a:r>
            <a:r>
              <a:rPr sz="3650" spc="-100" dirty="0">
                <a:latin typeface="Arial"/>
                <a:cs typeface="Arial"/>
              </a:rPr>
              <a:t>but</a:t>
            </a:r>
            <a:r>
              <a:rPr sz="3650" spc="-155" dirty="0">
                <a:latin typeface="Arial"/>
                <a:cs typeface="Arial"/>
              </a:rPr>
              <a:t> </a:t>
            </a:r>
            <a:r>
              <a:rPr sz="3650" spc="-150" dirty="0">
                <a:latin typeface="Arial"/>
                <a:cs typeface="Arial"/>
              </a:rPr>
              <a:t>the</a:t>
            </a:r>
            <a:r>
              <a:rPr sz="3650" spc="-75" dirty="0">
                <a:latin typeface="Arial"/>
                <a:cs typeface="Arial"/>
              </a:rPr>
              <a:t> </a:t>
            </a:r>
            <a:r>
              <a:rPr sz="3650" spc="-160" dirty="0">
                <a:latin typeface="Arial"/>
                <a:cs typeface="Arial"/>
              </a:rPr>
              <a:t>definition</a:t>
            </a:r>
            <a:r>
              <a:rPr sz="3650" spc="95" dirty="0">
                <a:latin typeface="Arial"/>
                <a:cs typeface="Arial"/>
              </a:rPr>
              <a:t> </a:t>
            </a:r>
            <a:r>
              <a:rPr sz="3650" spc="-245" dirty="0">
                <a:latin typeface="Arial"/>
                <a:cs typeface="Arial"/>
              </a:rPr>
              <a:t>is</a:t>
            </a:r>
            <a:r>
              <a:rPr sz="3650" spc="-40" dirty="0">
                <a:latin typeface="Arial"/>
                <a:cs typeface="Arial"/>
              </a:rPr>
              <a:t> </a:t>
            </a:r>
            <a:r>
              <a:rPr sz="3650" spc="-350" dirty="0">
                <a:latin typeface="Arial"/>
                <a:cs typeface="Arial"/>
              </a:rPr>
              <a:t>open </a:t>
            </a:r>
            <a:r>
              <a:rPr sz="3700" spc="-75" dirty="0">
                <a:latin typeface="Arial"/>
                <a:cs typeface="Arial"/>
              </a:rPr>
              <a:t>to</a:t>
            </a:r>
            <a:r>
              <a:rPr sz="3700" spc="-110" dirty="0">
                <a:latin typeface="Arial"/>
                <a:cs typeface="Arial"/>
              </a:rPr>
              <a:t> </a:t>
            </a:r>
            <a:r>
              <a:rPr sz="3700" spc="-285" dirty="0">
                <a:latin typeface="Arial"/>
                <a:cs typeface="Arial"/>
              </a:rPr>
              <a:t>diPerent</a:t>
            </a:r>
            <a:r>
              <a:rPr sz="3700" spc="260" dirty="0">
                <a:latin typeface="Arial"/>
                <a:cs typeface="Arial"/>
              </a:rPr>
              <a:t> </a:t>
            </a:r>
            <a:r>
              <a:rPr sz="3700" spc="-190" dirty="0">
                <a:latin typeface="Arial"/>
                <a:cs typeface="Arial"/>
              </a:rPr>
              <a:t>interpretations </a:t>
            </a:r>
            <a:r>
              <a:rPr sz="3700" spc="-295" dirty="0">
                <a:latin typeface="Arial"/>
                <a:cs typeface="Arial"/>
              </a:rPr>
              <a:t>(De-</a:t>
            </a:r>
            <a:r>
              <a:rPr sz="3650" spc="-285" dirty="0">
                <a:latin typeface="Arial"/>
                <a:cs typeface="Arial"/>
              </a:rPr>
              <a:t>Centralized,</a:t>
            </a:r>
            <a:r>
              <a:rPr sz="3650" spc="475" dirty="0">
                <a:latin typeface="Arial"/>
                <a:cs typeface="Arial"/>
              </a:rPr>
              <a:t> </a:t>
            </a:r>
            <a:r>
              <a:rPr sz="3650" spc="-300" dirty="0">
                <a:latin typeface="Arial"/>
                <a:cs typeface="Arial"/>
              </a:rPr>
              <a:t>Brokered)</a:t>
            </a:r>
            <a:endParaRPr sz="3650">
              <a:latin typeface="Arial"/>
              <a:cs typeface="Arial"/>
            </a:endParaRPr>
          </a:p>
          <a:p>
            <a:pPr marL="318770" indent="-306070">
              <a:lnSpc>
                <a:spcPts val="4130"/>
              </a:lnSpc>
              <a:spcBef>
                <a:spcPts val="180"/>
              </a:spcBef>
              <a:buClr>
                <a:srgbClr val="3334CC"/>
              </a:buClr>
              <a:buChar char="•"/>
              <a:tabLst>
                <a:tab pos="318770" algn="l"/>
              </a:tabLst>
            </a:pPr>
            <a:r>
              <a:rPr sz="3700" spc="-470" dirty="0">
                <a:latin typeface="Arial"/>
                <a:cs typeface="Arial"/>
              </a:rPr>
              <a:t>JXTA:</a:t>
            </a:r>
            <a:r>
              <a:rPr sz="3700" spc="250" dirty="0">
                <a:latin typeface="Arial"/>
                <a:cs typeface="Arial"/>
              </a:rPr>
              <a:t> </a:t>
            </a:r>
            <a:r>
              <a:rPr sz="3700" spc="-570" dirty="0">
                <a:latin typeface="Arial"/>
                <a:cs typeface="Arial"/>
              </a:rPr>
              <a:t>A</a:t>
            </a:r>
            <a:r>
              <a:rPr sz="3700" spc="-10" dirty="0">
                <a:latin typeface="Arial"/>
                <a:cs typeface="Arial"/>
              </a:rPr>
              <a:t> </a:t>
            </a:r>
            <a:r>
              <a:rPr sz="3700" spc="-345" dirty="0">
                <a:latin typeface="Arial"/>
                <a:cs typeface="Arial"/>
              </a:rPr>
              <a:t>Standard</a:t>
            </a:r>
            <a:r>
              <a:rPr sz="3700" spc="310" dirty="0">
                <a:latin typeface="Arial"/>
                <a:cs typeface="Arial"/>
              </a:rPr>
              <a:t> </a:t>
            </a:r>
            <a:r>
              <a:rPr sz="3700" spc="-390" dirty="0">
                <a:latin typeface="Arial"/>
                <a:cs typeface="Arial"/>
              </a:rPr>
              <a:t>PlaPorm</a:t>
            </a:r>
            <a:r>
              <a:rPr sz="3700" spc="280" dirty="0">
                <a:latin typeface="Arial"/>
                <a:cs typeface="Arial"/>
              </a:rPr>
              <a:t> </a:t>
            </a:r>
            <a:r>
              <a:rPr sz="3700" spc="-335" dirty="0">
                <a:latin typeface="Arial"/>
                <a:cs typeface="Arial"/>
              </a:rPr>
              <a:t>on</a:t>
            </a:r>
            <a:r>
              <a:rPr sz="3700" spc="130" dirty="0">
                <a:latin typeface="Arial"/>
                <a:cs typeface="Arial"/>
              </a:rPr>
              <a:t> </a:t>
            </a:r>
            <a:r>
              <a:rPr sz="3700" spc="-330" dirty="0">
                <a:latin typeface="Arial"/>
                <a:cs typeface="Arial"/>
              </a:rPr>
              <a:t>which</a:t>
            </a:r>
            <a:r>
              <a:rPr sz="3700" spc="250" dirty="0">
                <a:latin typeface="Arial"/>
                <a:cs typeface="Arial"/>
              </a:rPr>
              <a:t> </a:t>
            </a:r>
            <a:r>
              <a:rPr sz="3700" spc="-409" dirty="0">
                <a:latin typeface="Arial"/>
                <a:cs typeface="Arial"/>
              </a:rPr>
              <a:t>we</a:t>
            </a:r>
            <a:endParaRPr sz="3700">
              <a:latin typeface="Arial"/>
              <a:cs typeface="Arial"/>
            </a:endParaRPr>
          </a:p>
          <a:p>
            <a:pPr marL="321945">
              <a:lnSpc>
                <a:spcPts val="4190"/>
              </a:lnSpc>
            </a:pPr>
            <a:r>
              <a:rPr sz="3750" spc="-390" dirty="0">
                <a:latin typeface="Arial"/>
                <a:cs typeface="Arial"/>
              </a:rPr>
              <a:t>can</a:t>
            </a:r>
            <a:r>
              <a:rPr sz="3750" spc="55" dirty="0">
                <a:latin typeface="Arial"/>
                <a:cs typeface="Arial"/>
              </a:rPr>
              <a:t> </a:t>
            </a:r>
            <a:r>
              <a:rPr sz="3750" spc="-365" dirty="0">
                <a:latin typeface="Arial"/>
                <a:cs typeface="Arial"/>
              </a:rPr>
              <a:t>develop</a:t>
            </a:r>
            <a:r>
              <a:rPr sz="3750" spc="240" dirty="0">
                <a:latin typeface="Arial"/>
                <a:cs typeface="Arial"/>
              </a:rPr>
              <a:t> </a:t>
            </a:r>
            <a:r>
              <a:rPr sz="3750" spc="-645" dirty="0">
                <a:latin typeface="Arial"/>
                <a:cs typeface="Arial"/>
              </a:rPr>
              <a:t>P2P</a:t>
            </a:r>
            <a:r>
              <a:rPr sz="3750" spc="60" dirty="0">
                <a:latin typeface="Arial"/>
                <a:cs typeface="Arial"/>
              </a:rPr>
              <a:t> </a:t>
            </a:r>
            <a:r>
              <a:rPr sz="3750" spc="-305" dirty="0">
                <a:latin typeface="Arial"/>
                <a:cs typeface="Arial"/>
              </a:rPr>
              <a:t>applications.</a:t>
            </a:r>
            <a:endParaRPr sz="3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071812" cy="1053703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8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330" dirty="0"/>
              <a:t>References</a:t>
            </a:r>
          </a:p>
        </p:txBody>
      </p:sp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6273" y="3652241"/>
            <a:ext cx="5375672" cy="18752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18486" y="1982340"/>
            <a:ext cx="7272655" cy="401574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88620" marR="55880" indent="-325755">
              <a:lnSpc>
                <a:spcPct val="77100"/>
              </a:lnSpc>
              <a:spcBef>
                <a:spcPts val="625"/>
              </a:spcBef>
              <a:buClr>
                <a:srgbClr val="493FD1"/>
              </a:buClr>
              <a:buChar char="•"/>
              <a:tabLst>
                <a:tab pos="388620" algn="l"/>
              </a:tabLst>
            </a:pPr>
            <a:r>
              <a:rPr sz="1900" spc="-160" dirty="0">
                <a:latin typeface="Arial"/>
                <a:cs typeface="Arial"/>
              </a:rPr>
              <a:t>Noore,</a:t>
            </a:r>
            <a:r>
              <a:rPr sz="1900" spc="120" dirty="0">
                <a:latin typeface="Arial"/>
                <a:cs typeface="Arial"/>
              </a:rPr>
              <a:t> </a:t>
            </a:r>
            <a:r>
              <a:rPr sz="1900" spc="-270" dirty="0">
                <a:latin typeface="Arial"/>
                <a:cs typeface="Arial"/>
              </a:rPr>
              <a:t>Dana</a:t>
            </a:r>
            <a:r>
              <a:rPr sz="1900" spc="114" dirty="0">
                <a:latin typeface="Arial"/>
                <a:cs typeface="Arial"/>
              </a:rPr>
              <a:t> </a:t>
            </a:r>
            <a:r>
              <a:rPr sz="1900" spc="-225" dirty="0">
                <a:latin typeface="Arial"/>
                <a:cs typeface="Arial"/>
              </a:rPr>
              <a:t>and</a:t>
            </a:r>
            <a:r>
              <a:rPr sz="1900" spc="40" dirty="0">
                <a:latin typeface="Arial"/>
                <a:cs typeface="Arial"/>
              </a:rPr>
              <a:t> </a:t>
            </a:r>
            <a:r>
              <a:rPr sz="1900" spc="-229" dirty="0">
                <a:latin typeface="Arial"/>
                <a:cs typeface="Arial"/>
              </a:rPr>
              <a:t>John</a:t>
            </a:r>
            <a:r>
              <a:rPr sz="1900" spc="-35" dirty="0">
                <a:latin typeface="Arial"/>
                <a:cs typeface="Arial"/>
              </a:rPr>
              <a:t> </a:t>
            </a:r>
            <a:r>
              <a:rPr sz="1900" spc="-220" dirty="0">
                <a:latin typeface="Arial"/>
                <a:cs typeface="Arial"/>
              </a:rPr>
              <a:t>Hebeler.</a:t>
            </a:r>
            <a:r>
              <a:rPr sz="1900" spc="15" dirty="0">
                <a:latin typeface="Arial"/>
                <a:cs typeface="Arial"/>
              </a:rPr>
              <a:t> </a:t>
            </a:r>
            <a:r>
              <a:rPr sz="1900" u="sng" spc="-2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“Peer</a:t>
            </a:r>
            <a:r>
              <a:rPr sz="1900" u="sng" spc="1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900" u="sng" spc="-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</a:t>
            </a:r>
            <a:r>
              <a:rPr sz="1900" u="sng" spc="-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900" u="sng" spc="-229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Peer.”</a:t>
            </a:r>
            <a:r>
              <a:rPr sz="1900" u="none" spc="-40" dirty="0">
                <a:latin typeface="Arial"/>
                <a:cs typeface="Arial"/>
              </a:rPr>
              <a:t> </a:t>
            </a:r>
            <a:r>
              <a:rPr sz="1900" u="none" spc="-215" dirty="0">
                <a:latin typeface="Arial"/>
                <a:cs typeface="Arial"/>
              </a:rPr>
              <a:t>Ed.</a:t>
            </a:r>
            <a:r>
              <a:rPr sz="1900" u="none" spc="110" dirty="0">
                <a:latin typeface="Arial"/>
                <a:cs typeface="Arial"/>
              </a:rPr>
              <a:t> </a:t>
            </a:r>
            <a:r>
              <a:rPr sz="1900" u="none" spc="-240" dirty="0">
                <a:latin typeface="Arial"/>
                <a:cs typeface="Arial"/>
              </a:rPr>
              <a:t>Andrew</a:t>
            </a:r>
            <a:r>
              <a:rPr sz="1900" u="none" spc="85" dirty="0">
                <a:latin typeface="Arial"/>
                <a:cs typeface="Arial"/>
              </a:rPr>
              <a:t> </a:t>
            </a:r>
            <a:r>
              <a:rPr sz="1900" u="none" spc="-185" dirty="0">
                <a:latin typeface="Arial"/>
                <a:cs typeface="Arial"/>
              </a:rPr>
              <a:t>Saff.NcGraw-</a:t>
            </a:r>
            <a:r>
              <a:rPr sz="1900" u="none" spc="-10" dirty="0">
                <a:latin typeface="Arial"/>
                <a:cs typeface="Arial"/>
              </a:rPr>
              <a:t>Hill. </a:t>
            </a:r>
            <a:r>
              <a:rPr sz="1900" u="none" spc="-195" dirty="0">
                <a:latin typeface="Arial"/>
                <a:cs typeface="Arial"/>
              </a:rPr>
              <a:t>Berkeley,</a:t>
            </a:r>
            <a:r>
              <a:rPr sz="1900" u="none" dirty="0">
                <a:latin typeface="Arial"/>
                <a:cs typeface="Arial"/>
              </a:rPr>
              <a:t> </a:t>
            </a:r>
            <a:r>
              <a:rPr sz="1900" u="none" spc="-155" dirty="0">
                <a:latin typeface="Arial"/>
                <a:cs typeface="Arial"/>
              </a:rPr>
              <a:t>California,</a:t>
            </a:r>
            <a:r>
              <a:rPr sz="1900" u="none" spc="140" dirty="0">
                <a:latin typeface="Arial"/>
                <a:cs typeface="Arial"/>
              </a:rPr>
              <a:t> </a:t>
            </a:r>
            <a:r>
              <a:rPr sz="1900" u="none" spc="-305" dirty="0">
                <a:latin typeface="Arial"/>
                <a:cs typeface="Arial"/>
              </a:rPr>
              <a:t>USA.</a:t>
            </a:r>
            <a:r>
              <a:rPr sz="1900" u="none" spc="120" dirty="0">
                <a:latin typeface="Arial"/>
                <a:cs typeface="Arial"/>
              </a:rPr>
              <a:t> </a:t>
            </a:r>
            <a:r>
              <a:rPr sz="1900" u="none" spc="-10" dirty="0">
                <a:latin typeface="Arial"/>
                <a:cs typeface="Arial"/>
              </a:rPr>
              <a:t>2002.</a:t>
            </a:r>
            <a:endParaRPr sz="1900">
              <a:latin typeface="Arial"/>
              <a:cs typeface="Arial"/>
            </a:endParaRPr>
          </a:p>
          <a:p>
            <a:pPr marL="391795" indent="-327660">
              <a:lnSpc>
                <a:spcPts val="2045"/>
              </a:lnSpc>
              <a:buClr>
                <a:srgbClr val="3636BA"/>
              </a:buClr>
              <a:buChar char="•"/>
              <a:tabLst>
                <a:tab pos="391795" algn="l"/>
              </a:tabLst>
            </a:pPr>
            <a:r>
              <a:rPr sz="1750" u="sng" spc="-50" dirty="0">
                <a:solidFill>
                  <a:srgbClr val="852F34"/>
                </a:solidFill>
                <a:uFill>
                  <a:solidFill>
                    <a:srgbClr val="804F54"/>
                  </a:solidFill>
                </a:uFill>
                <a:latin typeface="Arial"/>
                <a:cs typeface="Arial"/>
                <a:hlinkClick r:id="rId4"/>
              </a:rPr>
              <a:t>http://spec.Ïxta.org/prolecUwww/docs/DomainFAÇ,html</a:t>
            </a:r>
            <a:endParaRPr sz="1750">
              <a:latin typeface="Arial"/>
              <a:cs typeface="Arial"/>
            </a:endParaRPr>
          </a:p>
          <a:p>
            <a:pPr marL="391795" indent="-327660">
              <a:lnSpc>
                <a:spcPts val="2095"/>
              </a:lnSpc>
              <a:spcBef>
                <a:spcPts val="10"/>
              </a:spcBef>
              <a:buClr>
                <a:srgbClr val="4138C8"/>
              </a:buClr>
              <a:buChar char="•"/>
              <a:tabLst>
                <a:tab pos="391795" algn="l"/>
              </a:tabLst>
            </a:pPr>
            <a:r>
              <a:rPr sz="1750" u="sng" spc="-55" dirty="0">
                <a:solidFill>
                  <a:srgbClr val="7C362D"/>
                </a:solidFill>
                <a:uFill>
                  <a:solidFill>
                    <a:srgbClr val="774848"/>
                  </a:solidFill>
                </a:uFill>
                <a:latin typeface="Arial"/>
                <a:cs typeface="Arial"/>
                <a:hlinkClick r:id="rId5"/>
              </a:rPr>
              <a:t>http://spec.lxta.orq/v1.0/docbook/JXTAProtocoìs.html</a:t>
            </a:r>
            <a:endParaRPr sz="1750">
              <a:latin typeface="Arial"/>
              <a:cs typeface="Arial"/>
            </a:endParaRPr>
          </a:p>
          <a:p>
            <a:pPr marL="391160" indent="-327025">
              <a:lnSpc>
                <a:spcPts val="2130"/>
              </a:lnSpc>
              <a:buClr>
                <a:srgbClr val="3B2FC1"/>
              </a:buClr>
              <a:buChar char="•"/>
              <a:tabLst>
                <a:tab pos="391160" algn="l"/>
              </a:tabLst>
            </a:pPr>
            <a:r>
              <a:rPr sz="1800" u="sng" spc="-65" dirty="0">
                <a:solidFill>
                  <a:srgbClr val="803134"/>
                </a:solidFill>
                <a:uFill>
                  <a:solidFill>
                    <a:srgbClr val="744848"/>
                  </a:solidFill>
                </a:uFill>
                <a:latin typeface="Arial"/>
                <a:cs typeface="Arial"/>
                <a:hlinkClick r:id="rId6"/>
              </a:rPr>
              <a:t>http://download.jxta.orq/servlets/DomainHome</a:t>
            </a:r>
            <a:endParaRPr sz="1800">
              <a:latin typeface="Arial"/>
              <a:cs typeface="Arial"/>
            </a:endParaRPr>
          </a:p>
          <a:p>
            <a:pPr marL="391160" indent="-327025">
              <a:lnSpc>
                <a:spcPts val="2110"/>
              </a:lnSpc>
              <a:buClr>
                <a:srgbClr val="3431BC"/>
              </a:buClr>
              <a:buChar char="•"/>
              <a:tabLst>
                <a:tab pos="391160" algn="l"/>
              </a:tabLst>
            </a:pPr>
            <a:r>
              <a:rPr sz="1800" u="sng" spc="-80" dirty="0">
                <a:solidFill>
                  <a:srgbClr val="82282D"/>
                </a:solidFill>
                <a:uFill>
                  <a:solidFill>
                    <a:srgbClr val="6B3B3B"/>
                  </a:solidFill>
                </a:uFill>
                <a:latin typeface="Arial"/>
                <a:cs typeface="Arial"/>
                <a:hlinkClick r:id="rId7"/>
              </a:rPr>
              <a:t>http://www.łavaworld.com/javaworld/jw-10-2001/jw-</a:t>
            </a:r>
            <a:r>
              <a:rPr sz="1800" u="sng" spc="-85" dirty="0">
                <a:solidFill>
                  <a:srgbClr val="82282D"/>
                </a:solidFill>
                <a:uFill>
                  <a:solidFill>
                    <a:srgbClr val="6B3B3B"/>
                  </a:solidFill>
                </a:uFill>
                <a:latin typeface="Arial"/>
                <a:cs typeface="Arial"/>
                <a:hlinkClick r:id="rId7"/>
              </a:rPr>
              <a:t>1019-</a:t>
            </a:r>
            <a:r>
              <a:rPr sz="1800" u="sng" spc="-10" dirty="0">
                <a:solidFill>
                  <a:srgbClr val="82282D"/>
                </a:solidFill>
                <a:uFill>
                  <a:solidFill>
                    <a:srgbClr val="6B3B3B"/>
                  </a:solidFill>
                </a:uFill>
                <a:latin typeface="Arial"/>
                <a:cs typeface="Arial"/>
                <a:hlinkClick r:id="rId7"/>
              </a:rPr>
              <a:t>jxta.html</a:t>
            </a:r>
            <a:endParaRPr sz="1800">
              <a:latin typeface="Arial"/>
              <a:cs typeface="Arial"/>
            </a:endParaRPr>
          </a:p>
          <a:p>
            <a:pPr marL="391160" indent="-327025">
              <a:lnSpc>
                <a:spcPts val="2110"/>
              </a:lnSpc>
              <a:buClr>
                <a:srgbClr val="413FC6"/>
              </a:buClr>
              <a:buChar char="•"/>
              <a:tabLst>
                <a:tab pos="391160" algn="l"/>
                <a:tab pos="986155" algn="l"/>
                <a:tab pos="3855720" algn="l"/>
                <a:tab pos="4686300" algn="l"/>
              </a:tabLst>
            </a:pPr>
            <a:r>
              <a:rPr sz="1800" spc="-25" dirty="0">
                <a:solidFill>
                  <a:srgbClr val="793638"/>
                </a:solidFill>
                <a:latin typeface="Arial"/>
                <a:cs typeface="Arial"/>
              </a:rPr>
              <a:t>htt</a:t>
            </a:r>
            <a:r>
              <a:rPr sz="1800" dirty="0">
                <a:solidFill>
                  <a:srgbClr val="793638"/>
                </a:solidFill>
                <a:latin typeface="Arial"/>
                <a:cs typeface="Arial"/>
              </a:rPr>
              <a:t>	</a:t>
            </a:r>
            <a:r>
              <a:rPr sz="1800" spc="-145" dirty="0">
                <a:solidFill>
                  <a:srgbClr val="BF5759"/>
                </a:solidFill>
                <a:latin typeface="Arial"/>
                <a:cs typeface="Arial"/>
              </a:rPr>
              <a:t>www.on</a:t>
            </a:r>
            <a:r>
              <a:rPr sz="1800" spc="45" dirty="0">
                <a:solidFill>
                  <a:srgbClr val="BF57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22B2A"/>
                </a:solidFill>
                <a:latin typeface="Arial"/>
                <a:cs typeface="Arial"/>
              </a:rPr>
              <a:t>ava.com</a:t>
            </a:r>
            <a:r>
              <a:rPr sz="1800" dirty="0">
                <a:solidFill>
                  <a:srgbClr val="822B2A"/>
                </a:solidFill>
                <a:latin typeface="Arial"/>
                <a:cs typeface="Arial"/>
              </a:rPr>
              <a:t>	</a:t>
            </a:r>
            <a:r>
              <a:rPr sz="1800" spc="-20" dirty="0">
                <a:solidFill>
                  <a:srgbClr val="FD9595"/>
                </a:solidFill>
                <a:latin typeface="Arial"/>
                <a:cs typeface="Arial"/>
              </a:rPr>
              <a:t>2001</a:t>
            </a:r>
            <a:r>
              <a:rPr sz="1800" dirty="0">
                <a:solidFill>
                  <a:srgbClr val="FD9595"/>
                </a:solidFill>
                <a:latin typeface="Arial"/>
                <a:cs typeface="Arial"/>
              </a:rPr>
              <a:t>	</a:t>
            </a:r>
            <a:r>
              <a:rPr sz="1800" spc="-85" dirty="0">
                <a:solidFill>
                  <a:srgbClr val="A53138"/>
                </a:solidFill>
                <a:latin typeface="Arial"/>
                <a:cs typeface="Arial"/>
              </a:rPr>
              <a:t>25</a:t>
            </a:r>
            <a:r>
              <a:rPr sz="1800" spc="-20" dirty="0">
                <a:solidFill>
                  <a:srgbClr val="A53138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03434"/>
                </a:solidFill>
                <a:latin typeface="Arial"/>
                <a:cs typeface="Arial"/>
              </a:rPr>
              <a:t>ixta.html</a:t>
            </a:r>
            <a:endParaRPr sz="1800">
              <a:latin typeface="Arial"/>
              <a:cs typeface="Arial"/>
            </a:endParaRPr>
          </a:p>
          <a:p>
            <a:pPr marL="391160" indent="-327025">
              <a:lnSpc>
                <a:spcPts val="2110"/>
              </a:lnSpc>
              <a:buClr>
                <a:srgbClr val="3B33BC"/>
              </a:buClr>
              <a:buChar char="•"/>
              <a:tabLst>
                <a:tab pos="391160" algn="l"/>
              </a:tabLst>
            </a:pPr>
            <a:r>
              <a:rPr sz="1800" u="sng" spc="-60" dirty="0">
                <a:solidFill>
                  <a:srgbClr val="852F2F"/>
                </a:solidFill>
                <a:uFill>
                  <a:solidFill>
                    <a:srgbClr val="703B3B"/>
                  </a:solidFill>
                </a:uFill>
                <a:latin typeface="Arial"/>
                <a:cs typeface="Arial"/>
                <a:hlinkClick r:id="rId8"/>
              </a:rPr>
              <a:t>http://www.onjava.com/pub/a/webservices/2002/03/12/jxta.html</a:t>
            </a:r>
            <a:endParaRPr sz="1800">
              <a:latin typeface="Arial"/>
              <a:cs typeface="Arial"/>
            </a:endParaRPr>
          </a:p>
          <a:p>
            <a:pPr marL="391160" indent="-327025">
              <a:lnSpc>
                <a:spcPts val="2110"/>
              </a:lnSpc>
              <a:buClr>
                <a:srgbClr val="3D31BC"/>
              </a:buClr>
              <a:buChar char="•"/>
              <a:tabLst>
                <a:tab pos="391160" algn="l"/>
              </a:tabLst>
            </a:pPr>
            <a:r>
              <a:rPr sz="1800" u="sng" spc="-60" dirty="0">
                <a:solidFill>
                  <a:srgbClr val="8A3436"/>
                </a:solidFill>
                <a:uFill>
                  <a:solidFill>
                    <a:srgbClr val="703838"/>
                  </a:solidFill>
                </a:uFill>
                <a:latin typeface="Arial"/>
                <a:cs typeface="Arial"/>
              </a:rPr>
              <a:t>hEp://</a:t>
            </a:r>
            <a:r>
              <a:rPr sz="1800" u="sng" spc="-60" dirty="0">
                <a:solidFill>
                  <a:srgbClr val="8A3436"/>
                </a:solidFill>
                <a:uFill>
                  <a:solidFill>
                    <a:srgbClr val="703838"/>
                  </a:solidFill>
                </a:uFill>
                <a:latin typeface="Arial"/>
                <a:cs typeface="Arial"/>
                <a:hlinkClick r:id="rId9"/>
              </a:rPr>
              <a:t>www.openp2p.com/pub/a/p2p/2001/06/11/liponq.html</a:t>
            </a:r>
            <a:endParaRPr sz="1800">
              <a:latin typeface="Arial"/>
              <a:cs typeface="Arial"/>
            </a:endParaRPr>
          </a:p>
          <a:p>
            <a:pPr marL="391160" indent="-327025">
              <a:lnSpc>
                <a:spcPts val="2110"/>
              </a:lnSpc>
              <a:buClr>
                <a:srgbClr val="3B31C8"/>
              </a:buClr>
              <a:buChar char="•"/>
              <a:tabLst>
                <a:tab pos="391160" algn="l"/>
                <a:tab pos="5139690" algn="l"/>
              </a:tabLst>
            </a:pPr>
            <a:r>
              <a:rPr sz="1800" u="sng" spc="-40" dirty="0">
                <a:solidFill>
                  <a:srgbClr val="893331"/>
                </a:solidFill>
                <a:uFill>
                  <a:solidFill>
                    <a:srgbClr val="743838"/>
                  </a:solidFill>
                </a:uFill>
                <a:latin typeface="Arial"/>
                <a:cs typeface="Arial"/>
                <a:hlinkClick r:id="rId10"/>
              </a:rPr>
              <a:t>http://www.openp2p.com/pub/a/p2p/2001/06/05</a:t>
            </a:r>
            <a:r>
              <a:rPr sz="2700" u="sng" spc="-60" baseline="-6172" dirty="0">
                <a:solidFill>
                  <a:srgbClr val="893331"/>
                </a:solidFill>
                <a:uFill>
                  <a:solidFill>
                    <a:srgbClr val="743838"/>
                  </a:solidFill>
                </a:uFill>
                <a:latin typeface="Arial"/>
                <a:cs typeface="Arial"/>
                <a:hlinkClick r:id="rId10"/>
              </a:rPr>
              <a:t>/i</a:t>
            </a:r>
            <a:r>
              <a:rPr sz="2700" u="sng" baseline="-6172" dirty="0">
                <a:solidFill>
                  <a:srgbClr val="893331"/>
                </a:solidFill>
                <a:uFill>
                  <a:solidFill>
                    <a:srgbClr val="743838"/>
                  </a:solidFill>
                </a:uFill>
                <a:latin typeface="Arial"/>
                <a:cs typeface="Arial"/>
              </a:rPr>
              <a:t>	</a:t>
            </a:r>
            <a:r>
              <a:rPr sz="1800" u="sng" spc="-50" dirty="0">
                <a:solidFill>
                  <a:srgbClr val="893331"/>
                </a:solidFill>
                <a:uFill>
                  <a:solidFill>
                    <a:srgbClr val="743838"/>
                  </a:solidFill>
                </a:uFill>
                <a:latin typeface="Arial"/>
                <a:cs typeface="Arial"/>
              </a:rPr>
              <a:t>achat.html?paoe=</a:t>
            </a:r>
            <a:r>
              <a:rPr sz="1800" u="sng" spc="-50" dirty="0">
                <a:solidFill>
                  <a:srgbClr val="A1282F"/>
                </a:solidFill>
                <a:uFill>
                  <a:solidFill>
                    <a:srgbClr val="743838"/>
                  </a:solidFill>
                </a:u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 marL="391160" indent="-327025">
              <a:lnSpc>
                <a:spcPts val="2135"/>
              </a:lnSpc>
              <a:buClr>
                <a:srgbClr val="463FC8"/>
              </a:buClr>
              <a:buChar char="•"/>
              <a:tabLst>
                <a:tab pos="391160" algn="l"/>
                <a:tab pos="5139690" algn="l"/>
              </a:tabLst>
            </a:pPr>
            <a:r>
              <a:rPr sz="1800" u="sng" spc="-40" dirty="0">
                <a:solidFill>
                  <a:srgbClr val="8C3433"/>
                </a:solidFill>
                <a:uFill>
                  <a:solidFill>
                    <a:srgbClr val="773834"/>
                  </a:solidFill>
                </a:uFill>
                <a:latin typeface="Arial"/>
                <a:cs typeface="Arial"/>
                <a:hlinkClick r:id="rId11"/>
              </a:rPr>
              <a:t>http://www.openp2p.com/pub/a/p2p/2001/04/25</a:t>
            </a:r>
            <a:r>
              <a:rPr sz="2700" u="sng" spc="-60" baseline="-6172" dirty="0">
                <a:solidFill>
                  <a:srgbClr val="8C3433"/>
                </a:solidFill>
                <a:uFill>
                  <a:solidFill>
                    <a:srgbClr val="773834"/>
                  </a:solidFill>
                </a:uFill>
                <a:latin typeface="Arial"/>
                <a:cs typeface="Arial"/>
                <a:hlinkClick r:id="rId11"/>
              </a:rPr>
              <a:t>/i</a:t>
            </a:r>
            <a:r>
              <a:rPr sz="2700" u="sng" baseline="-6172" dirty="0">
                <a:solidFill>
                  <a:srgbClr val="8C3433"/>
                </a:solidFill>
                <a:uFill>
                  <a:solidFill>
                    <a:srgbClr val="773834"/>
                  </a:solidFill>
                </a:uFill>
                <a:latin typeface="Arial"/>
                <a:cs typeface="Arial"/>
              </a:rPr>
              <a:t>	</a:t>
            </a:r>
            <a:r>
              <a:rPr sz="1800" u="sng" dirty="0">
                <a:solidFill>
                  <a:srgbClr val="8C3433"/>
                </a:solidFill>
                <a:uFill>
                  <a:solidFill>
                    <a:srgbClr val="773834"/>
                  </a:solidFill>
                </a:uFill>
                <a:latin typeface="Arial"/>
                <a:cs typeface="Arial"/>
              </a:rPr>
              <a:t>a</a:t>
            </a:r>
            <a:r>
              <a:rPr sz="1800" u="sng" spc="185" dirty="0">
                <a:solidFill>
                  <a:srgbClr val="8C3433"/>
                </a:solidFill>
                <a:uFill>
                  <a:solidFill>
                    <a:srgbClr val="773834"/>
                  </a:solidFill>
                </a:uFill>
                <a:latin typeface="Arial"/>
                <a:cs typeface="Arial"/>
              </a:rPr>
              <a:t> </a:t>
            </a:r>
            <a:r>
              <a:rPr sz="1800" u="sng" spc="-30" dirty="0">
                <a:solidFill>
                  <a:srgbClr val="902D2A"/>
                </a:solidFill>
                <a:uFill>
                  <a:solidFill>
                    <a:srgbClr val="773834"/>
                  </a:solidFill>
                </a:uFill>
                <a:latin typeface="Arial"/>
                <a:cs typeface="Arial"/>
              </a:rPr>
              <a:t>position.html</a:t>
            </a:r>
            <a:endParaRPr sz="1800">
              <a:latin typeface="Arial"/>
              <a:cs typeface="Arial"/>
            </a:endParaRPr>
          </a:p>
          <a:p>
            <a:pPr marL="391795" indent="-327660">
              <a:lnSpc>
                <a:spcPts val="2080"/>
              </a:lnSpc>
              <a:buClr>
                <a:srgbClr val="3A2FB8"/>
              </a:buClr>
              <a:buChar char="•"/>
              <a:tabLst>
                <a:tab pos="391795" algn="l"/>
              </a:tabLst>
            </a:pPr>
            <a:r>
              <a:rPr sz="1750" u="sng" spc="-50" dirty="0">
                <a:solidFill>
                  <a:srgbClr val="7C342D"/>
                </a:solidFill>
                <a:uFill>
                  <a:solidFill>
                    <a:srgbClr val="743838"/>
                  </a:solidFill>
                </a:uFill>
                <a:latin typeface="Arial"/>
                <a:cs typeface="Arial"/>
                <a:hlinkClick r:id="rId12"/>
              </a:rPr>
              <a:t>http://www.openp2p.com/pub/a/p2p/2001/06/06</a:t>
            </a:r>
            <a:r>
              <a:rPr sz="2625" u="sng" spc="-75" baseline="-6349" dirty="0">
                <a:solidFill>
                  <a:srgbClr val="7C342D"/>
                </a:solidFill>
                <a:uFill>
                  <a:solidFill>
                    <a:srgbClr val="743838"/>
                  </a:solidFill>
                </a:uFill>
                <a:latin typeface="Arial"/>
                <a:cs typeface="Arial"/>
                <a:hlinkClick r:id="rId12"/>
              </a:rPr>
              <a:t>/1</a:t>
            </a:r>
            <a:r>
              <a:rPr sz="2625" u="sng" spc="719" baseline="-6349" dirty="0">
                <a:solidFill>
                  <a:srgbClr val="7C342D"/>
                </a:solidFill>
                <a:uFill>
                  <a:solidFill>
                    <a:srgbClr val="743838"/>
                  </a:solidFill>
                </a:uFill>
                <a:latin typeface="Arial"/>
                <a:cs typeface="Arial"/>
              </a:rPr>
              <a:t> </a:t>
            </a:r>
            <a:r>
              <a:rPr sz="1750" u="sng" spc="-25" dirty="0">
                <a:solidFill>
                  <a:srgbClr val="7C342D"/>
                </a:solidFill>
                <a:uFill>
                  <a:solidFill>
                    <a:srgbClr val="743838"/>
                  </a:solidFill>
                </a:uFill>
                <a:latin typeface="Arial"/>
                <a:cs typeface="Arial"/>
              </a:rPr>
              <a:t>asearch.html</a:t>
            </a:r>
            <a:endParaRPr sz="1750">
              <a:latin typeface="Arial"/>
              <a:cs typeface="Arial"/>
            </a:endParaRPr>
          </a:p>
          <a:p>
            <a:pPr marL="391160" indent="-327025">
              <a:lnSpc>
                <a:spcPts val="2065"/>
              </a:lnSpc>
              <a:buClr>
                <a:srgbClr val="3F34C1"/>
              </a:buClr>
              <a:buChar char="•"/>
              <a:tabLst>
                <a:tab pos="391160" algn="l"/>
              </a:tabLst>
            </a:pPr>
            <a:r>
              <a:rPr sz="1800" u="sng" spc="-60" dirty="0">
                <a:solidFill>
                  <a:srgbClr val="87342B"/>
                </a:solidFill>
                <a:uFill>
                  <a:solidFill>
                    <a:srgbClr val="773838"/>
                  </a:solidFill>
                </a:uFill>
                <a:latin typeface="Arial"/>
                <a:cs typeface="Arial"/>
              </a:rPr>
              <a:t>htto://instantp2p.lxta.org/servlets/ProjectHome</a:t>
            </a:r>
            <a:endParaRPr sz="1800">
              <a:latin typeface="Arial"/>
              <a:cs typeface="Arial"/>
            </a:endParaRPr>
          </a:p>
          <a:p>
            <a:pPr marL="390525" indent="-327025">
              <a:lnSpc>
                <a:spcPts val="2205"/>
              </a:lnSpc>
              <a:buClr>
                <a:srgbClr val="3B38C1"/>
              </a:buClr>
              <a:buChar char="•"/>
              <a:tabLst>
                <a:tab pos="390525" algn="l"/>
                <a:tab pos="1031875" algn="l"/>
                <a:tab pos="2299335" algn="l"/>
                <a:tab pos="4076700" algn="l"/>
                <a:tab pos="4925695" algn="l"/>
                <a:tab pos="5541010" algn="l"/>
              </a:tabLst>
            </a:pPr>
            <a:r>
              <a:rPr sz="1900" spc="-50" dirty="0">
                <a:solidFill>
                  <a:srgbClr val="82363B"/>
                </a:solidFill>
                <a:latin typeface="Arial"/>
                <a:cs typeface="Arial"/>
              </a:rPr>
              <a:t>h</a:t>
            </a:r>
            <a:r>
              <a:rPr sz="1900" dirty="0">
                <a:solidFill>
                  <a:srgbClr val="82363B"/>
                </a:solidFill>
                <a:latin typeface="Arial"/>
                <a:cs typeface="Arial"/>
              </a:rPr>
              <a:t>	</a:t>
            </a:r>
            <a:r>
              <a:rPr sz="1900" spc="-250" dirty="0">
                <a:solidFill>
                  <a:srgbClr val="972D33"/>
                </a:solidFill>
                <a:latin typeface="Arial"/>
                <a:cs typeface="Arial"/>
              </a:rPr>
              <a:t>ava</a:t>
            </a:r>
            <a:r>
              <a:rPr sz="1900" spc="80" dirty="0">
                <a:solidFill>
                  <a:srgbClr val="972D33"/>
                </a:solidFill>
                <a:latin typeface="Arial"/>
                <a:cs typeface="Arial"/>
              </a:rPr>
              <a:t> </a:t>
            </a:r>
            <a:r>
              <a:rPr sz="1900" spc="-235" dirty="0">
                <a:solidFill>
                  <a:srgbClr val="932A31"/>
                </a:solidFill>
                <a:latin typeface="Arial"/>
                <a:cs typeface="Arial"/>
              </a:rPr>
              <a:t>sun</a:t>
            </a:r>
            <a:r>
              <a:rPr sz="1900" spc="-10" dirty="0">
                <a:solidFill>
                  <a:srgbClr val="932A31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973F42"/>
                </a:solidFill>
                <a:latin typeface="Arial"/>
                <a:cs typeface="Arial"/>
              </a:rPr>
              <a:t>co</a:t>
            </a:r>
            <a:r>
              <a:rPr sz="1900" dirty="0">
                <a:solidFill>
                  <a:srgbClr val="973F42"/>
                </a:solidFill>
                <a:latin typeface="Arial"/>
                <a:cs typeface="Arial"/>
              </a:rPr>
              <a:t>	</a:t>
            </a:r>
            <a:r>
              <a:rPr sz="1900" spc="-175" dirty="0">
                <a:solidFill>
                  <a:srgbClr val="913F3B"/>
                </a:solidFill>
                <a:latin typeface="Arial"/>
                <a:cs typeface="Arial"/>
              </a:rPr>
              <a:t>eatu</a:t>
            </a:r>
            <a:r>
              <a:rPr sz="1900" spc="80" dirty="0">
                <a:solidFill>
                  <a:srgbClr val="913F3B"/>
                </a:solidFill>
                <a:latin typeface="Arial"/>
                <a:cs typeface="Arial"/>
              </a:rPr>
              <a:t> </a:t>
            </a:r>
            <a:r>
              <a:rPr sz="1900" spc="-240" dirty="0">
                <a:solidFill>
                  <a:srgbClr val="90363D"/>
                </a:solidFill>
                <a:latin typeface="Arial"/>
                <a:cs typeface="Arial"/>
              </a:rPr>
              <a:t>es</a:t>
            </a:r>
            <a:r>
              <a:rPr sz="1900" spc="114" dirty="0">
                <a:solidFill>
                  <a:srgbClr val="90363D"/>
                </a:solidFill>
                <a:latin typeface="Arial"/>
                <a:cs typeface="Arial"/>
              </a:rPr>
              <a:t> </a:t>
            </a:r>
            <a:r>
              <a:rPr sz="1900" spc="-190" dirty="0">
                <a:solidFill>
                  <a:srgbClr val="972831"/>
                </a:solidFill>
                <a:latin typeface="Arial"/>
                <a:cs typeface="Arial"/>
              </a:rPr>
              <a:t>2001</a:t>
            </a:r>
            <a:r>
              <a:rPr sz="1900" spc="-35" dirty="0">
                <a:solidFill>
                  <a:srgbClr val="972831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903138"/>
                </a:solidFill>
                <a:latin typeface="Arial"/>
                <a:cs typeface="Arial"/>
              </a:rPr>
              <a:t>02</a:t>
            </a:r>
            <a:r>
              <a:rPr sz="1900" dirty="0">
                <a:solidFill>
                  <a:srgbClr val="903138"/>
                </a:solidFill>
                <a:latin typeface="Arial"/>
                <a:cs typeface="Arial"/>
              </a:rPr>
              <a:t>	</a:t>
            </a:r>
            <a:r>
              <a:rPr sz="1900" dirty="0">
                <a:solidFill>
                  <a:srgbClr val="D45956"/>
                </a:solidFill>
                <a:latin typeface="Arial"/>
                <a:cs typeface="Arial"/>
              </a:rPr>
              <a:t>e</a:t>
            </a:r>
            <a:r>
              <a:rPr sz="1900" spc="140" dirty="0">
                <a:solidFill>
                  <a:srgbClr val="D45956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833634"/>
                </a:solidFill>
                <a:latin typeface="Arial"/>
                <a:cs typeface="Arial"/>
              </a:rPr>
              <a:t>ht</a:t>
            </a:r>
            <a:r>
              <a:rPr sz="1900" spc="-5" dirty="0">
                <a:solidFill>
                  <a:srgbClr val="833634"/>
                </a:solidFill>
                <a:latin typeface="Arial"/>
                <a:cs typeface="Arial"/>
              </a:rPr>
              <a:t>  </a:t>
            </a:r>
            <a:r>
              <a:rPr sz="1900" spc="-50" dirty="0">
                <a:solidFill>
                  <a:srgbClr val="753831"/>
                </a:solidFill>
                <a:latin typeface="Arial"/>
                <a:cs typeface="Arial"/>
              </a:rPr>
              <a:t>I</a:t>
            </a:r>
            <a:r>
              <a:rPr sz="1900" dirty="0">
                <a:solidFill>
                  <a:srgbClr val="753831"/>
                </a:solidFill>
                <a:latin typeface="Arial"/>
                <a:cs typeface="Arial"/>
              </a:rPr>
              <a:t>	</a:t>
            </a:r>
            <a:r>
              <a:rPr sz="1900" spc="-25" dirty="0">
                <a:solidFill>
                  <a:srgbClr val="993D46"/>
                </a:solidFill>
                <a:latin typeface="Arial"/>
                <a:cs typeface="Arial"/>
              </a:rPr>
              <a:t>on</a:t>
            </a:r>
            <a:r>
              <a:rPr sz="1900" dirty="0">
                <a:solidFill>
                  <a:srgbClr val="993D46"/>
                </a:solidFill>
                <a:latin typeface="Arial"/>
                <a:cs typeface="Arial"/>
              </a:rPr>
              <a:t>	</a:t>
            </a:r>
            <a:r>
              <a:rPr sz="1900" dirty="0">
                <a:solidFill>
                  <a:srgbClr val="97282F"/>
                </a:solidFill>
                <a:latin typeface="Arial"/>
                <a:cs typeface="Arial"/>
              </a:rPr>
              <a:t>e</a:t>
            </a:r>
            <a:r>
              <a:rPr sz="1900" spc="-135" dirty="0">
                <a:solidFill>
                  <a:srgbClr val="97282F"/>
                </a:solidFill>
                <a:latin typeface="Arial"/>
                <a:cs typeface="Arial"/>
              </a:rPr>
              <a:t> </a:t>
            </a:r>
            <a:r>
              <a:rPr sz="1900" spc="-85" dirty="0">
                <a:solidFill>
                  <a:srgbClr val="972A2A"/>
                </a:solidFill>
                <a:latin typeface="Arial"/>
                <a:cs typeface="Arial"/>
              </a:rPr>
              <a:t>ba</a:t>
            </a:r>
            <a:r>
              <a:rPr sz="1900" spc="120" dirty="0">
                <a:solidFill>
                  <a:srgbClr val="972A2A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7C363B"/>
                </a:solidFill>
                <a:latin typeface="Arial"/>
                <a:cs typeface="Arial"/>
              </a:rPr>
              <a:t>ner</a:t>
            </a:r>
            <a:endParaRPr sz="1900">
              <a:latin typeface="Arial"/>
              <a:cs typeface="Arial"/>
            </a:endParaRPr>
          </a:p>
          <a:p>
            <a:pPr marL="396875" indent="-332105">
              <a:lnSpc>
                <a:spcPct val="100000"/>
              </a:lnSpc>
              <a:spcBef>
                <a:spcPts val="80"/>
              </a:spcBef>
              <a:buClr>
                <a:srgbClr val="312FBD"/>
              </a:buClr>
              <a:buChar char="•"/>
              <a:tabLst>
                <a:tab pos="396875" algn="l"/>
              </a:tabLst>
            </a:pPr>
            <a:r>
              <a:rPr sz="1650" spc="-20" dirty="0">
                <a:solidFill>
                  <a:srgbClr val="3F3F3F"/>
                </a:solidFill>
                <a:latin typeface="Arial"/>
                <a:cs typeface="Arial"/>
                <a:hlinkClick r:id="rId13"/>
              </a:rPr>
              <a:t>www.sce.carIeton.ca/netmanage/papers/WhiteJuIy2001.ppt</a:t>
            </a:r>
            <a:endParaRPr sz="1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991195"/>
            <a:ext cx="3107531" cy="1053703"/>
          </a:xfrm>
          <a:prstGeom prst="rect">
            <a:avLst/>
          </a:prstGeom>
        </p:spPr>
      </p:pic>
      <p:sp>
        <p:nvSpPr>
          <p:cNvPr id="3" name="object 3" descr="$PPTXTitle"/>
          <p:cNvSpPr txBox="1"/>
          <p:nvPr/>
        </p:nvSpPr>
        <p:spPr>
          <a:xfrm>
            <a:off x="1214977" y="996602"/>
            <a:ext cx="5918835" cy="732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600" spc="-100" dirty="0">
                <a:solidFill>
                  <a:srgbClr val="3B3387"/>
                </a:solidFill>
                <a:latin typeface="Arial"/>
                <a:cs typeface="Arial"/>
              </a:rPr>
              <a:t>Thank</a:t>
            </a:r>
            <a:r>
              <a:rPr sz="4600" spc="60" dirty="0">
                <a:solidFill>
                  <a:srgbClr val="3B3387"/>
                </a:solidFill>
                <a:latin typeface="Arial"/>
                <a:cs typeface="Arial"/>
              </a:rPr>
              <a:t> </a:t>
            </a:r>
            <a:r>
              <a:rPr sz="4600" spc="-440" dirty="0">
                <a:solidFill>
                  <a:srgbClr val="34318E"/>
                </a:solidFill>
                <a:latin typeface="Arial"/>
                <a:cs typeface="Arial"/>
              </a:rPr>
              <a:t>You</a:t>
            </a:r>
            <a:r>
              <a:rPr sz="4600" spc="120" dirty="0">
                <a:solidFill>
                  <a:srgbClr val="34318E"/>
                </a:solidFill>
                <a:latin typeface="Arial"/>
                <a:cs typeface="Arial"/>
              </a:rPr>
              <a:t> </a:t>
            </a:r>
            <a:r>
              <a:rPr sz="4600" spc="-325" dirty="0">
                <a:solidFill>
                  <a:srgbClr val="3A3490"/>
                </a:solidFill>
                <a:latin typeface="Arial"/>
                <a:cs typeface="Arial"/>
              </a:rPr>
              <a:t>For</a:t>
            </a:r>
            <a:r>
              <a:rPr sz="4600" spc="190" dirty="0">
                <a:solidFill>
                  <a:srgbClr val="3A3490"/>
                </a:solidFill>
                <a:latin typeface="Arial"/>
                <a:cs typeface="Arial"/>
              </a:rPr>
              <a:t> </a:t>
            </a:r>
            <a:r>
              <a:rPr sz="4600" spc="-150" dirty="0">
                <a:solidFill>
                  <a:srgbClr val="2F2F8C"/>
                </a:solidFill>
                <a:latin typeface="Arial"/>
                <a:cs typeface="Arial"/>
              </a:rPr>
              <a:t>Listening</a:t>
            </a:r>
            <a:endParaRPr sz="4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74118" y="2313977"/>
            <a:ext cx="2742565" cy="27717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32000"/>
              </a:lnSpc>
              <a:spcBef>
                <a:spcPts val="90"/>
              </a:spcBef>
            </a:pPr>
            <a:r>
              <a:rPr sz="4550" spc="-145" dirty="0">
                <a:latin typeface="Calibri"/>
                <a:cs typeface="Calibri"/>
              </a:rPr>
              <a:t>Amit</a:t>
            </a:r>
            <a:r>
              <a:rPr sz="4550" spc="-105" dirty="0">
                <a:latin typeface="Calibri"/>
                <a:cs typeface="Calibri"/>
              </a:rPr>
              <a:t> </a:t>
            </a:r>
            <a:r>
              <a:rPr sz="4550" spc="-290" dirty="0">
                <a:latin typeface="Calibri"/>
                <a:cs typeface="Calibri"/>
              </a:rPr>
              <a:t>Minhas </a:t>
            </a:r>
            <a:r>
              <a:rPr sz="4550" dirty="0">
                <a:latin typeface="Calibri"/>
                <a:cs typeface="Calibri"/>
              </a:rPr>
              <a:t>Kris</a:t>
            </a:r>
            <a:r>
              <a:rPr sz="4550" spc="-145" dirty="0">
                <a:latin typeface="Calibri"/>
                <a:cs typeface="Calibri"/>
              </a:rPr>
              <a:t> </a:t>
            </a:r>
            <a:r>
              <a:rPr sz="4550" spc="-20" dirty="0">
                <a:latin typeface="Calibri"/>
                <a:cs typeface="Calibri"/>
              </a:rPr>
              <a:t>Read </a:t>
            </a:r>
            <a:r>
              <a:rPr sz="4550" spc="-35" dirty="0">
                <a:latin typeface="Calibri"/>
                <a:cs typeface="Calibri"/>
              </a:rPr>
              <a:t>Ryan</a:t>
            </a:r>
            <a:r>
              <a:rPr sz="4550" spc="-165" dirty="0">
                <a:latin typeface="Calibri"/>
                <a:cs typeface="Calibri"/>
              </a:rPr>
              <a:t> </a:t>
            </a:r>
            <a:r>
              <a:rPr sz="4550" spc="-45" dirty="0">
                <a:latin typeface="Calibri"/>
                <a:cs typeface="Calibri"/>
              </a:rPr>
              <a:t>Peters</a:t>
            </a:r>
            <a:endParaRPr sz="4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3737</Words>
  <Application>Microsoft Office PowerPoint</Application>
  <PresentationFormat>全屏显示(4:3)</PresentationFormat>
  <Paragraphs>397</Paragraphs>
  <Slides>63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67" baseType="lpstr">
      <vt:lpstr>Arial</vt:lpstr>
      <vt:lpstr>Calibri</vt:lpstr>
      <vt:lpstr>Consolas</vt:lpstr>
      <vt:lpstr>Office Theme</vt:lpstr>
      <vt:lpstr>Peer Peer Computing and JXTA</vt:lpstr>
      <vt:lpstr>Presentation Overview</vt:lpstr>
      <vt:lpstr>A Basic Definition of P2P</vt:lpstr>
      <vt:lpstr>P2P and the Internet</vt:lpstr>
      <vt:lpstr>A Concise P2P Definition</vt:lpstr>
      <vt:lpstr>Peer to Peer Comparison</vt:lpstr>
      <vt:lpstr>P2P vs. Distributed Computing</vt:lpstr>
      <vt:lpstr>Types of P2P Communication</vt:lpstr>
      <vt:lpstr>Familiar Examples</vt:lpstr>
      <vt:lpstr>2 Categories of P2P (1)</vt:lpstr>
      <vt:lpstr>2 Categories of P2P (2)</vt:lpstr>
      <vt:lpstr>Resource Products and Services (1)</vt:lpstr>
      <vt:lpstr>Collaboration Products and</vt:lpstr>
      <vt:lpstr>The Importance P2P</vt:lpstr>
      <vt:lpstr>P2P Will Not Solve World</vt:lpstr>
      <vt:lpstr>What is JXTA?</vt:lpstr>
      <vt:lpstr>What is JXTA?</vt:lpstr>
      <vt:lpstr>What is JXTA?</vt:lpstr>
      <vt:lpstr>What does JXTA mean?</vt:lpstr>
      <vt:lpstr>Who is responsible for JXTA?</vt:lpstr>
      <vt:lpstr>Why JXTA?</vt:lpstr>
      <vt:lpstr>What is JXTA for?</vt:lpstr>
      <vt:lpstr>What Programming Language and Protocol?</vt:lpstr>
      <vt:lpstr>What is the state of JXTA?</vt:lpstr>
      <vt:lpstr>The JXTA Nodel (IMAGE)</vt:lpstr>
      <vt:lpstr>The JXTA Model</vt:lpstr>
      <vt:lpstr>The JXTA Model</vt:lpstr>
      <vt:lpstr>The JXTA Model</vt:lpstr>
      <vt:lpstr>Peers</vt:lpstr>
      <vt:lpstr>Peer Groups</vt:lpstr>
      <vt:lpstr>Peer Pipes</vt:lpstr>
      <vt:lpstr>Peer Monitoring</vt:lpstr>
      <vt:lpstr>Services</vt:lpstr>
      <vt:lpstr>Advert sements</vt:lpstr>
      <vt:lpstr>Messages</vt:lpstr>
      <vt:lpstr>XNL format</vt:lpstr>
      <vt:lpstr>JXTA Protocols</vt:lpstr>
      <vt:lpstr>JXTA Applications</vt:lpstr>
      <vt:lpstr>JXTA Securi@</vt:lpstr>
      <vt:lpstr>JXTA Firewall Routing Services</vt:lpstr>
      <vt:lpstr>The JXTA Shell</vt:lpstr>
      <vt:lpstr>Demo of the JXTA Shell</vt:lpstr>
      <vt:lpstr>JXTA Java API Walkthrough and Application Demo</vt:lpstr>
      <vt:lpstr>Demo Trouble?</vt:lpstr>
      <vt:lpstr>Many Many Classes</vt:lpstr>
      <vt:lpstr>Producer: Creating the Objects</vt:lpstr>
      <vt:lpstr>Building our Peer Existence Adve1isement</vt:lpstr>
      <vt:lpstr>Buiiding our Service Advertisement</vt:lpstr>
      <vt:lpstr>Buiiding our Service Advertisement (2)</vt:lpstr>
      <vt:lpstr>The Service i Action</vt:lpstr>
      <vt:lpstr>Consumer: Creating the Objects</vt:lpstr>
      <vt:lpstr>Looking up a Service Adve1isement</vt:lpstr>
      <vt:lpstr>Finding the Pipe Advertisement</vt:lpstr>
      <vt:lpstr>Using the Pipe Advertisement</vt:lpstr>
      <vt:lpstr>Sending a Message</vt:lpstr>
      <vt:lpstr>JXTA Wrap-Up</vt:lpstr>
      <vt:lpstr>JXTA and Other Technologies</vt:lpstr>
      <vt:lpstr>JXTA / HAILSTORM (.NET)</vt:lpstr>
      <vt:lpstr>PowerPoint 演示文稿</vt:lpstr>
      <vt:lpstr>The Future of JXTA</vt:lpstr>
      <vt:lpstr>Presentation Summary</vt:lpstr>
      <vt:lpstr>References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Yeh-Ching Chung</cp:lastModifiedBy>
  <cp:revision>2</cp:revision>
  <dcterms:created xsi:type="dcterms:W3CDTF">2026-09-25T07:06:10Z</dcterms:created>
  <dcterms:modified xsi:type="dcterms:W3CDTF">2026-09-25T07:29:04Z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2026-09-25T00:00:00Z</vt:filetime>
  </property>
  <property fmtid="{D5CDD505-2E9C-101B-9397-08002B2CF9AE}" pid="4" name="Producer">
    <vt:lpwstr>jsPDF 1.3.2 2016-09-30T20:33:17.116Z:jameshall</vt:lpwstr>
  </property>
  <property fmtid="{D5CDD505-2E9C-101B-9397-08002B2CF9AE}" pid="5" name="LastSaved">
    <vt:filetime>2026-09-25T00:00:00Z</vt:filetime>
  </property>
</Properties>
</file>