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2F6462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2F6462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2F6462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4312"/>
            <a:ext cx="8851106" cy="61293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2F6462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164306"/>
            <a:ext cx="8815387" cy="58578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89" y="540195"/>
            <a:ext cx="7492821" cy="1098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2F6462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2517" y="1869776"/>
            <a:ext cx="7131684" cy="399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28427" y="6432469"/>
            <a:ext cx="1721485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7" Type="http://schemas.openxmlformats.org/officeDocument/2006/relationships/image" Target="../media/image40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4.png"/><Relationship Id="rId7" Type="http://schemas.openxmlformats.org/officeDocument/2006/relationships/image" Target="../media/image4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5.png"/><Relationship Id="rId9" Type="http://schemas.openxmlformats.org/officeDocument/2006/relationships/image" Target="../media/image49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9974" y="3828804"/>
            <a:ext cx="4023360" cy="12573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898525" algn="ctr">
              <a:lnSpc>
                <a:spcPct val="100000"/>
              </a:lnSpc>
              <a:spcBef>
                <a:spcPts val="605"/>
              </a:spcBef>
            </a:pPr>
            <a:r>
              <a:rPr sz="3700" spc="-325" dirty="0">
                <a:latin typeface="Arial"/>
                <a:cs typeface="Arial"/>
              </a:rPr>
              <a:t>By</a:t>
            </a:r>
            <a:r>
              <a:rPr sz="3700" spc="-40" dirty="0">
                <a:latin typeface="Arial"/>
                <a:cs typeface="Arial"/>
              </a:rPr>
              <a:t>  </a:t>
            </a:r>
            <a:r>
              <a:rPr sz="3700" spc="-275" dirty="0">
                <a:latin typeface="Arial"/>
                <a:cs typeface="Arial"/>
              </a:rPr>
              <a:t>Cathy</a:t>
            </a:r>
            <a:r>
              <a:rPr sz="3700" spc="155" dirty="0">
                <a:latin typeface="Arial"/>
                <a:cs typeface="Arial"/>
              </a:rPr>
              <a:t> </a:t>
            </a:r>
            <a:r>
              <a:rPr sz="3700" spc="-315" dirty="0">
                <a:latin typeface="Arial"/>
                <a:cs typeface="Arial"/>
              </a:rPr>
              <a:t>Chen</a:t>
            </a:r>
            <a:endParaRPr sz="3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550" spc="-204" dirty="0">
                <a:latin typeface="Arial"/>
                <a:cs typeface="Arial"/>
              </a:rPr>
              <a:t>CMSC</a:t>
            </a:r>
            <a:r>
              <a:rPr sz="3550" spc="-40" dirty="0">
                <a:latin typeface="Arial"/>
                <a:cs typeface="Arial"/>
              </a:rPr>
              <a:t> </a:t>
            </a:r>
            <a:r>
              <a:rPr sz="3550" spc="-110" dirty="0">
                <a:latin typeface="Arial"/>
                <a:cs typeface="Arial"/>
              </a:rPr>
              <a:t>621,</a:t>
            </a:r>
            <a:r>
              <a:rPr sz="3550" spc="-140" dirty="0">
                <a:latin typeface="Arial"/>
                <a:cs typeface="Arial"/>
              </a:rPr>
              <a:t> </a:t>
            </a:r>
            <a:r>
              <a:rPr sz="3550" spc="-80" dirty="0">
                <a:latin typeface="Arial"/>
                <a:cs typeface="Arial"/>
              </a:rPr>
              <a:t>Fall</a:t>
            </a:r>
            <a:r>
              <a:rPr sz="3550" spc="-140" dirty="0">
                <a:latin typeface="Arial"/>
                <a:cs typeface="Arial"/>
              </a:rPr>
              <a:t> </a:t>
            </a:r>
            <a:r>
              <a:rPr sz="3550" spc="-135" dirty="0">
                <a:latin typeface="Arial"/>
                <a:cs typeface="Arial"/>
              </a:rPr>
              <a:t>2007</a:t>
            </a:r>
            <a:endParaRPr sz="3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9F6084AA-10DF-9C3F-F053-4BB7E0826BD0}"/>
              </a:ext>
            </a:extLst>
          </p:cNvPr>
          <p:cNvGrpSpPr/>
          <p:nvPr/>
        </p:nvGrpSpPr>
        <p:grpSpPr>
          <a:xfrm>
            <a:off x="191988" y="217883"/>
            <a:ext cx="8769846" cy="6122194"/>
            <a:chOff x="191988" y="217883"/>
            <a:chExt cx="8769846" cy="6122194"/>
          </a:xfrm>
        </p:grpSpPr>
        <p:pic>
          <p:nvPicPr>
            <p:cNvPr id="2" name="object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596" y="5822156"/>
              <a:ext cx="8747522" cy="5179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15400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98662" y="1735931"/>
            <a:ext cx="7330936" cy="4481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3220" indent="-342900">
              <a:lnSpc>
                <a:spcPts val="2500"/>
              </a:lnSpc>
              <a:buClr>
                <a:srgbClr val="4025DF"/>
              </a:buClr>
              <a:buFont typeface="Wingdings" panose="05000000000000000000" pitchFamily="2" charset="2"/>
              <a:buChar char="l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P2P Network?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3220" indent="-342900">
              <a:lnSpc>
                <a:spcPts val="2500"/>
              </a:lnSpc>
              <a:buClr>
                <a:srgbClr val="4025DF"/>
              </a:buClr>
              <a:buFont typeface="Wingdings" panose="05000000000000000000" pitchFamily="2" charset="2"/>
              <a:buChar char="l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Overlay Network centralization</a:t>
            </a:r>
          </a:p>
          <a:p>
            <a:pPr marL="75692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Purely Decentralized Architectures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5692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Partially Centralized Architectures Hybrid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5692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Architectures</a:t>
            </a:r>
          </a:p>
          <a:p>
            <a:pPr marL="356870" indent="-342900">
              <a:lnSpc>
                <a:spcPts val="2500"/>
              </a:lnSpc>
              <a:buClr>
                <a:srgbClr val="3333FF"/>
              </a:buClr>
              <a:buFont typeface="Wingdings" panose="05000000000000000000" pitchFamily="2" charset="2"/>
              <a:buChar char="l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Structure</a:t>
            </a:r>
          </a:p>
          <a:p>
            <a:pPr marL="755650" marR="1898014" indent="-342900">
              <a:lnSpc>
                <a:spcPts val="2500"/>
              </a:lnSpc>
              <a:buClr>
                <a:srgbClr val="291C58"/>
              </a:buClr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Unstructured Structured</a:t>
            </a:r>
          </a:p>
          <a:p>
            <a:pPr marL="356235" indent="-342900">
              <a:lnSpc>
                <a:spcPts val="2500"/>
              </a:lnSpc>
              <a:buClr>
                <a:srgbClr val="3333FF"/>
              </a:buClr>
              <a:buFont typeface="Wingdings" panose="05000000000000000000" pitchFamily="2" charset="2"/>
              <a:buChar char="l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Unstructured Architectures</a:t>
            </a:r>
          </a:p>
          <a:p>
            <a:pPr marL="755014" marR="130937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Decentralized Purely Decentralized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55014" marR="130937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Partially Centralized</a:t>
            </a:r>
          </a:p>
          <a:p>
            <a:pPr marL="356235" indent="-342900">
              <a:lnSpc>
                <a:spcPts val="2500"/>
              </a:lnSpc>
              <a:buClr>
                <a:srgbClr val="3333FF"/>
              </a:buClr>
              <a:buFont typeface="Wingdings" panose="05000000000000000000" pitchFamily="2" charset="2"/>
              <a:buChar char="l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Architectures</a:t>
            </a:r>
          </a:p>
          <a:p>
            <a:pPr marL="75565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Freenet </a:t>
            </a:r>
            <a:r>
              <a:rPr sz="2000" dirty="0">
                <a:solidFill>
                  <a:srgbClr val="2F2F2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Loosely Structured System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5565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Chord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55650" indent="-342900">
              <a:lnSpc>
                <a:spcPts val="2500"/>
              </a:lnSpc>
              <a:buFont typeface="Symbol" panose="05050102010706020507" pitchFamily="18" charset="2"/>
              <a:buChar char="-"/>
            </a:pPr>
            <a:r>
              <a:rPr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(Content Addressable Network) Tapestry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sp>
        <p:nvSpPr>
          <p:cNvPr id="19" name="object 2" descr="$PPTXTitle">
            <a:extLst>
              <a:ext uri="{FF2B5EF4-FFF2-40B4-BE49-F238E27FC236}">
                <a16:creationId xmlns:a16="http://schemas.microsoft.com/office/drawing/2014/main" id="{2C332165-C162-E3AB-B24F-F68ED5EB2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541" y="1053004"/>
            <a:ext cx="5060950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4000" b="1" spc="-130" dirty="0">
                <a:solidFill>
                  <a:srgbClr val="386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541" y="1053004"/>
            <a:ext cx="5060950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0" b="1" spc="-130" dirty="0">
                <a:solidFill>
                  <a:srgbClr val="386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4000" b="1" spc="-165" dirty="0">
                <a:solidFill>
                  <a:srgbClr val="3862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solidFill>
                  <a:srgbClr val="3662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000" b="1" spc="-260" dirty="0">
                <a:solidFill>
                  <a:srgbClr val="3662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114" dirty="0">
                <a:solidFill>
                  <a:srgbClr val="3864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sz="4000" b="1" spc="-140" dirty="0">
                <a:solidFill>
                  <a:srgbClr val="3864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160" dirty="0">
                <a:solidFill>
                  <a:srgbClr val="316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Network?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8427" y="1818398"/>
            <a:ext cx="7353945" cy="314919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201930" indent="-342900">
              <a:lnSpc>
                <a:spcPct val="89100"/>
              </a:lnSpc>
              <a:spcBef>
                <a:spcPts val="490"/>
              </a:spcBef>
              <a:buClr>
                <a:srgbClr val="305CE8"/>
              </a:buClr>
              <a:buSzPct val="80000"/>
              <a:buFont typeface="Wingdings" panose="05000000000000000000" pitchFamily="2" charset="2"/>
              <a:buChar char="l"/>
            </a:pPr>
            <a:r>
              <a:rPr sz="24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distributed,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autonomous,</a:t>
            </a:r>
            <a:r>
              <a:rPr sz="24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sz="2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power,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capacity,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software,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contents.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01930" indent="-342900">
              <a:lnSpc>
                <a:spcPct val="89100"/>
              </a:lnSpc>
              <a:spcBef>
                <a:spcPts val="490"/>
              </a:spcBef>
              <a:buClr>
                <a:srgbClr val="305CE8"/>
              </a:buClr>
              <a:buSzPct val="80000"/>
              <a:buFont typeface="Wingdings" panose="05000000000000000000" pitchFamily="2" charset="2"/>
              <a:buChar char="l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01930" indent="-342900">
              <a:lnSpc>
                <a:spcPct val="89100"/>
              </a:lnSpc>
              <a:spcBef>
                <a:spcPts val="490"/>
              </a:spcBef>
              <a:buClr>
                <a:srgbClr val="305CE8"/>
              </a:buClr>
              <a:buSzPct val="80000"/>
              <a:buFont typeface="Wingdings" panose="05000000000000000000" pitchFamily="2" charset="2"/>
              <a:buChar char="l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directly,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intermediary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7A47E5FF-239A-A15B-0BB9-4D73E80FFD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F8713F30-A66C-E06B-DCEF-BF556877E541}"/>
              </a:ext>
            </a:extLst>
          </p:cNvPr>
          <p:cNvGrpSpPr/>
          <p:nvPr/>
        </p:nvGrpSpPr>
        <p:grpSpPr>
          <a:xfrm>
            <a:off x="191988" y="217883"/>
            <a:ext cx="8769846" cy="6122194"/>
            <a:chOff x="191988" y="217883"/>
            <a:chExt cx="8769846" cy="6122194"/>
          </a:xfrm>
        </p:grpSpPr>
        <p:pic>
          <p:nvPicPr>
            <p:cNvPr id="8" name="object 2">
              <a:extLst>
                <a:ext uri="{FF2B5EF4-FFF2-40B4-BE49-F238E27FC236}">
                  <a16:creationId xmlns:a16="http://schemas.microsoft.com/office/drawing/2014/main" id="{3BED49D5-02DA-4817-4A9D-ABA99B0DF4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596" y="5822156"/>
              <a:ext cx="8747522" cy="51792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12A93B3F-92A1-B904-72BB-BA326C01F3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9652A1EA-0C80-37EA-29F1-3C0F9EFFE77F}"/>
                </a:ext>
              </a:extLst>
            </p:cNvPr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9D9AB2F-786E-90FB-D2BF-22652734299F}"/>
                </a:ext>
              </a:extLst>
            </p:cNvPr>
            <p:cNvSpPr/>
            <p:nvPr/>
          </p:nvSpPr>
          <p:spPr>
            <a:xfrm>
              <a:off x="8915400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4312"/>
            <a:ext cx="8851106" cy="61293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87178" y="5594449"/>
            <a:ext cx="31623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0" dirty="0">
                <a:solidFill>
                  <a:srgbClr val="1C1C1C"/>
                </a:solidFill>
                <a:latin typeface="Consolas"/>
                <a:cs typeface="Consolas"/>
              </a:rPr>
              <a:t>Node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103" y="6412805"/>
            <a:ext cx="2656297" cy="23788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CMSC 621, Fall 2007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9DD728CC-5864-7708-4C91-CB4B2EB4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89" y="1066800"/>
            <a:ext cx="7492821" cy="553998"/>
          </a:xfrm>
        </p:spPr>
        <p:txBody>
          <a:bodyPr/>
          <a:lstStyle/>
          <a:p>
            <a:r>
              <a:rPr lang="en-US" altLang="zh-CN" sz="3600" b="1" spc="-114" dirty="0">
                <a:solidFill>
                  <a:srgbClr val="3864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  <a:r>
              <a:rPr lang="en-US" altLang="zh-CN" sz="3600" b="1" spc="-140" dirty="0">
                <a:solidFill>
                  <a:srgbClr val="3864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spc="-160" dirty="0">
                <a:solidFill>
                  <a:srgbClr val="316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68475" y="1875198"/>
            <a:ext cx="7285629" cy="2979149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69900" marR="5080" indent="-457200">
              <a:lnSpc>
                <a:spcPct val="87600"/>
              </a:lnSpc>
              <a:spcBef>
                <a:spcPts val="555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purest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supposed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totally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decentralized,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true,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degrees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87600"/>
              </a:lnSpc>
              <a:spcBef>
                <a:spcPts val="555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lvl="1">
              <a:lnSpc>
                <a:spcPct val="87600"/>
              </a:lnSpc>
              <a:spcBef>
                <a:spcPts val="555"/>
              </a:spcBef>
              <a:buClr>
                <a:srgbClr val="0000FF"/>
              </a:buClr>
            </a:pPr>
            <a:r>
              <a:rPr lang="en-US"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spc="-75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Purely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</a:t>
            </a:r>
            <a:endParaRPr lang="en-US" sz="2400" spc="-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lvl="1">
              <a:lnSpc>
                <a:spcPct val="87600"/>
              </a:lnSpc>
              <a:spcBef>
                <a:spcPts val="555"/>
              </a:spcBef>
              <a:buClr>
                <a:srgbClr val="0000FF"/>
              </a:buClr>
            </a:pPr>
            <a:r>
              <a:rPr lang="en-US"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spc="-85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</a:t>
            </a:r>
            <a:endParaRPr lang="en-US" sz="2400" spc="-1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lvl="1">
              <a:lnSpc>
                <a:spcPct val="87600"/>
              </a:lnSpc>
              <a:spcBef>
                <a:spcPts val="555"/>
              </a:spcBef>
              <a:buClr>
                <a:srgbClr val="0000FF"/>
              </a:buClr>
            </a:pPr>
            <a:r>
              <a:rPr lang="en-US"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29F55B-1A0D-3203-9B95-23BC565BB60C}"/>
              </a:ext>
            </a:extLst>
          </p:cNvPr>
          <p:cNvGrpSpPr/>
          <p:nvPr/>
        </p:nvGrpSpPr>
        <p:grpSpPr>
          <a:xfrm>
            <a:off x="191988" y="217883"/>
            <a:ext cx="8769846" cy="6122194"/>
            <a:chOff x="191988" y="217883"/>
            <a:chExt cx="8769846" cy="6122194"/>
          </a:xfrm>
        </p:grpSpPr>
        <p:pic>
          <p:nvPicPr>
            <p:cNvPr id="9" name="object 2">
              <a:extLst>
                <a:ext uri="{FF2B5EF4-FFF2-40B4-BE49-F238E27FC236}">
                  <a16:creationId xmlns:a16="http://schemas.microsoft.com/office/drawing/2014/main" id="{464A0FDD-4204-9B30-5E7D-A182DB20A2A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596" y="5822156"/>
              <a:ext cx="8747522" cy="517921"/>
            </a:xfrm>
            <a:prstGeom prst="rect">
              <a:avLst/>
            </a:prstGeom>
          </p:spPr>
        </p:pic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C065148-4832-6EEE-68BA-404F882B3F6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52822351-AE06-046B-9779-5174B33BF6EA}"/>
                </a:ext>
              </a:extLst>
            </p:cNvPr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D56D0F15-2671-835B-24AA-9970658BD579}"/>
                </a:ext>
              </a:extLst>
            </p:cNvPr>
            <p:cNvSpPr/>
            <p:nvPr/>
          </p:nvSpPr>
          <p:spPr>
            <a:xfrm>
              <a:off x="8915400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BA9FC832-C0C4-91BF-7C3C-E6217742BCE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sp>
        <p:nvSpPr>
          <p:cNvPr id="18" name="标题 8">
            <a:extLst>
              <a:ext uri="{FF2B5EF4-FFF2-40B4-BE49-F238E27FC236}">
                <a16:creationId xmlns:a16="http://schemas.microsoft.com/office/drawing/2014/main" id="{8CF72007-FDB4-90B6-CA81-F9D7ACC3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08" y="1062294"/>
            <a:ext cx="7493000" cy="553998"/>
          </a:xfrm>
        </p:spPr>
        <p:txBody>
          <a:bodyPr/>
          <a:lstStyle/>
          <a:p>
            <a:r>
              <a:rPr lang="en-US" altLang="zh-CN" sz="3600" b="1" dirty="0">
                <a:solidFill>
                  <a:srgbClr val="3864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 </a:t>
            </a:r>
            <a:r>
              <a:rPr lang="en-US" altLang="zh-CN" sz="3600" b="1" dirty="0">
                <a:solidFill>
                  <a:srgbClr val="316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168" y="1878806"/>
            <a:ext cx="8743950" cy="44648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0500" y="217883"/>
            <a:ext cx="8813800" cy="5696585"/>
            <a:chOff x="190500" y="217883"/>
            <a:chExt cx="8813800" cy="56965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75824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90707" y="684608"/>
              <a:ext cx="0" cy="5173345"/>
            </a:xfrm>
            <a:custGeom>
              <a:avLst/>
              <a:gdLst/>
              <a:ahLst/>
              <a:cxnLst/>
              <a:rect l="l" t="t" r="r" b="b"/>
              <a:pathLst>
                <a:path h="5173345">
                  <a:moveTo>
                    <a:pt x="0" y="51732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02613" y="729258"/>
              <a:ext cx="0" cy="5084445"/>
            </a:xfrm>
            <a:custGeom>
              <a:avLst/>
              <a:gdLst/>
              <a:ahLst/>
              <a:cxnLst/>
              <a:rect l="l" t="t" r="r" b="b"/>
              <a:pathLst>
                <a:path h="5084445">
                  <a:moveTo>
                    <a:pt x="0" y="50839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0808" y="2044898"/>
              <a:ext cx="0" cy="2223770"/>
            </a:xfrm>
            <a:custGeom>
              <a:avLst/>
              <a:gdLst/>
              <a:ahLst/>
              <a:cxnLst/>
              <a:rect l="l" t="t" r="r" b="b"/>
              <a:pathLst>
                <a:path h="2223770">
                  <a:moveTo>
                    <a:pt x="0" y="22234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67160" y="5176241"/>
              <a:ext cx="0" cy="595630"/>
            </a:xfrm>
            <a:custGeom>
              <a:avLst/>
              <a:gdLst/>
              <a:ahLst/>
              <a:cxnLst/>
              <a:rect l="l" t="t" r="r" b="b"/>
              <a:pathLst>
                <a:path h="595629">
                  <a:moveTo>
                    <a:pt x="0" y="5953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0902" y="2044898"/>
              <a:ext cx="0" cy="2223770"/>
            </a:xfrm>
            <a:custGeom>
              <a:avLst/>
              <a:gdLst/>
              <a:ahLst/>
              <a:cxnLst/>
              <a:rect l="l" t="t" r="r" b="b"/>
              <a:pathLst>
                <a:path h="2223770">
                  <a:moveTo>
                    <a:pt x="0" y="22234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95785" y="2050851"/>
              <a:ext cx="0" cy="2211705"/>
            </a:xfrm>
            <a:custGeom>
              <a:avLst/>
              <a:gdLst/>
              <a:ahLst/>
              <a:cxnLst/>
              <a:rect l="l" t="t" r="r" b="b"/>
              <a:pathLst>
                <a:path h="2211704">
                  <a:moveTo>
                    <a:pt x="0" y="22115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35683" y="5241726"/>
              <a:ext cx="0" cy="473709"/>
            </a:xfrm>
            <a:custGeom>
              <a:avLst/>
              <a:gdLst/>
              <a:ahLst/>
              <a:cxnLst/>
              <a:rect l="l" t="t" r="r" b="b"/>
              <a:pathLst>
                <a:path h="473710">
                  <a:moveTo>
                    <a:pt x="0" y="4732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53542" y="5241726"/>
              <a:ext cx="0" cy="476250"/>
            </a:xfrm>
            <a:custGeom>
              <a:avLst/>
              <a:gdLst/>
              <a:ahLst/>
              <a:cxnLst/>
              <a:rect l="l" t="t" r="r" b="b"/>
              <a:pathLst>
                <a:path h="476250">
                  <a:moveTo>
                    <a:pt x="0" y="4762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30933" y="2735460"/>
              <a:ext cx="0" cy="535940"/>
            </a:xfrm>
            <a:custGeom>
              <a:avLst/>
              <a:gdLst/>
              <a:ahLst/>
              <a:cxnLst/>
              <a:rect l="l" t="t" r="r" b="b"/>
              <a:pathLst>
                <a:path h="535939">
                  <a:moveTo>
                    <a:pt x="0" y="5357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35746" y="3345656"/>
              <a:ext cx="0" cy="601345"/>
            </a:xfrm>
            <a:custGeom>
              <a:avLst/>
              <a:gdLst/>
              <a:ahLst/>
              <a:cxnLst/>
              <a:rect l="l" t="t" r="r" b="b"/>
              <a:pathLst>
                <a:path h="601345">
                  <a:moveTo>
                    <a:pt x="0" y="6012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68488" y="5241726"/>
              <a:ext cx="0" cy="476250"/>
            </a:xfrm>
            <a:custGeom>
              <a:avLst/>
              <a:gdLst/>
              <a:ahLst/>
              <a:cxnLst/>
              <a:rect l="l" t="t" r="r" b="b"/>
              <a:pathLst>
                <a:path h="476250">
                  <a:moveTo>
                    <a:pt x="0" y="4762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80394" y="5247679"/>
              <a:ext cx="0" cy="467359"/>
            </a:xfrm>
            <a:custGeom>
              <a:avLst/>
              <a:gdLst/>
              <a:ahLst/>
              <a:cxnLst/>
              <a:rect l="l" t="t" r="r" b="b"/>
              <a:pathLst>
                <a:path h="467360">
                  <a:moveTo>
                    <a:pt x="0" y="4673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35808" y="3488531"/>
              <a:ext cx="0" cy="625475"/>
            </a:xfrm>
            <a:custGeom>
              <a:avLst/>
              <a:gdLst/>
              <a:ahLst/>
              <a:cxnLst/>
              <a:rect l="l" t="t" r="r" b="b"/>
              <a:pathLst>
                <a:path h="625475">
                  <a:moveTo>
                    <a:pt x="0" y="6250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9683" y="3491507"/>
              <a:ext cx="0" cy="473709"/>
            </a:xfrm>
            <a:custGeom>
              <a:avLst/>
              <a:gdLst/>
              <a:ahLst/>
              <a:cxnLst/>
              <a:rect l="l" t="t" r="r" b="b"/>
              <a:pathLst>
                <a:path h="473710">
                  <a:moveTo>
                    <a:pt x="0" y="4732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78746" y="2202656"/>
              <a:ext cx="0" cy="601345"/>
            </a:xfrm>
            <a:custGeom>
              <a:avLst/>
              <a:gdLst/>
              <a:ahLst/>
              <a:cxnLst/>
              <a:rect l="l" t="t" r="r" b="b"/>
              <a:pathLst>
                <a:path h="601344">
                  <a:moveTo>
                    <a:pt x="0" y="6012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78808" y="2345531"/>
              <a:ext cx="0" cy="622300"/>
            </a:xfrm>
            <a:custGeom>
              <a:avLst/>
              <a:gdLst/>
              <a:ahLst/>
              <a:cxnLst/>
              <a:rect l="l" t="t" r="r" b="b"/>
              <a:pathLst>
                <a:path h="622300">
                  <a:moveTo>
                    <a:pt x="0" y="6221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02683" y="2348508"/>
              <a:ext cx="0" cy="473709"/>
            </a:xfrm>
            <a:custGeom>
              <a:avLst/>
              <a:gdLst/>
              <a:ahLst/>
              <a:cxnLst/>
              <a:rect l="l" t="t" r="r" b="b"/>
              <a:pathLst>
                <a:path h="473710">
                  <a:moveTo>
                    <a:pt x="0" y="4732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99769" y="3878460"/>
              <a:ext cx="0" cy="598805"/>
            </a:xfrm>
            <a:custGeom>
              <a:avLst/>
              <a:gdLst/>
              <a:ahLst/>
              <a:cxnLst/>
              <a:rect l="l" t="t" r="r" b="b"/>
              <a:pathLst>
                <a:path h="598804">
                  <a:moveTo>
                    <a:pt x="0" y="5982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6855" y="4021335"/>
              <a:ext cx="0" cy="625475"/>
            </a:xfrm>
            <a:custGeom>
              <a:avLst/>
              <a:gdLst/>
              <a:ahLst/>
              <a:cxnLst/>
              <a:rect l="l" t="t" r="r" b="b"/>
              <a:pathLst>
                <a:path h="625475">
                  <a:moveTo>
                    <a:pt x="0" y="6250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2573" y="2357437"/>
              <a:ext cx="0" cy="592455"/>
            </a:xfrm>
            <a:custGeom>
              <a:avLst/>
              <a:gdLst/>
              <a:ahLst/>
              <a:cxnLst/>
              <a:rect l="l" t="t" r="r" b="b"/>
              <a:pathLst>
                <a:path h="592455">
                  <a:moveTo>
                    <a:pt x="0" y="59233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29660" y="2500312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6191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9660" y="4024312"/>
              <a:ext cx="0" cy="470534"/>
            </a:xfrm>
            <a:custGeom>
              <a:avLst/>
              <a:gdLst/>
              <a:ahLst/>
              <a:cxnLst/>
              <a:rect l="l" t="t" r="r" b="b"/>
              <a:pathLst>
                <a:path h="470535">
                  <a:moveTo>
                    <a:pt x="0" y="470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47582" y="2485429"/>
              <a:ext cx="0" cy="485775"/>
            </a:xfrm>
            <a:custGeom>
              <a:avLst/>
              <a:gdLst/>
              <a:ahLst/>
              <a:cxnLst/>
              <a:rect l="l" t="t" r="r" b="b"/>
              <a:pathLst>
                <a:path h="485775">
                  <a:moveTo>
                    <a:pt x="0" y="48517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68417" y="2491383"/>
              <a:ext cx="0" cy="479425"/>
            </a:xfrm>
            <a:custGeom>
              <a:avLst/>
              <a:gdLst/>
              <a:ahLst/>
              <a:cxnLst/>
              <a:rect l="l" t="t" r="r" b="b"/>
              <a:pathLst>
                <a:path h="479425">
                  <a:moveTo>
                    <a:pt x="0" y="4792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50621" y="3342679"/>
              <a:ext cx="0" cy="479425"/>
            </a:xfrm>
            <a:custGeom>
              <a:avLst/>
              <a:gdLst/>
              <a:ahLst/>
              <a:cxnLst/>
              <a:rect l="l" t="t" r="r" b="b"/>
              <a:pathLst>
                <a:path h="479425">
                  <a:moveTo>
                    <a:pt x="0" y="4792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53027" y="1967508"/>
              <a:ext cx="0" cy="2756535"/>
            </a:xfrm>
            <a:custGeom>
              <a:avLst/>
              <a:gdLst/>
              <a:ahLst/>
              <a:cxnLst/>
              <a:rect l="l" t="t" r="r" b="b"/>
              <a:pathLst>
                <a:path h="2756535">
                  <a:moveTo>
                    <a:pt x="0" y="27562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312050" y="1967508"/>
              <a:ext cx="0" cy="2756535"/>
            </a:xfrm>
            <a:custGeom>
              <a:avLst/>
              <a:gdLst/>
              <a:ahLst/>
              <a:cxnLst/>
              <a:rect l="l" t="t" r="r" b="b"/>
              <a:pathLst>
                <a:path h="2756535">
                  <a:moveTo>
                    <a:pt x="0" y="27562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4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xfrm>
            <a:off x="757237" y="1019101"/>
            <a:ext cx="7492821" cy="5398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3495">
              <a:lnSpc>
                <a:spcPts val="4079"/>
              </a:lnSpc>
              <a:spcBef>
                <a:spcPts val="110"/>
              </a:spcBef>
            </a:pPr>
            <a:r>
              <a:rPr sz="3600" b="1" dirty="0">
                <a:solidFill>
                  <a:srgbClr val="3367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Purely </a:t>
            </a:r>
            <a:r>
              <a:rPr sz="3600" b="1" dirty="0">
                <a:solidFill>
                  <a:srgbClr val="336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00" b="1" dirty="0">
                <a:solidFill>
                  <a:srgbClr val="346B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  <a:endParaRPr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98218" y="2933600"/>
            <a:ext cx="54483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45" dirty="0">
                <a:latin typeface="Arial"/>
                <a:cs typeface="Arial"/>
              </a:rPr>
              <a:t>Server2</a:t>
            </a:r>
            <a:endParaRPr sz="12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55618" y="3083619"/>
            <a:ext cx="54483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45" dirty="0">
                <a:latin typeface="Arial"/>
                <a:cs typeface="Arial"/>
              </a:rPr>
              <a:t>Server3</a:t>
            </a:r>
            <a:endParaRPr sz="12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1865" y="4052211"/>
            <a:ext cx="2205990" cy="5778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777364">
              <a:lnSpc>
                <a:spcPct val="100000"/>
              </a:lnSpc>
              <a:spcBef>
                <a:spcPts val="310"/>
              </a:spcBef>
            </a:pPr>
            <a:r>
              <a:rPr sz="1250" spc="-45" dirty="0">
                <a:latin typeface="Arial"/>
                <a:cs typeface="Arial"/>
              </a:rPr>
              <a:t>erver1</a:t>
            </a:r>
            <a:endParaRPr sz="1250">
              <a:latin typeface="Arial"/>
              <a:cs typeface="Arial"/>
            </a:endParaRPr>
          </a:p>
          <a:p>
            <a:pPr marL="12700" marR="992505" indent="1905">
              <a:lnSpc>
                <a:spcPts val="1180"/>
              </a:lnSpc>
              <a:spcBef>
                <a:spcPts val="295"/>
              </a:spcBef>
            </a:pPr>
            <a:r>
              <a:rPr sz="1050" spc="-25" dirty="0">
                <a:latin typeface="Arial"/>
                <a:cs typeface="Arial"/>
              </a:rPr>
              <a:t>Files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40" dirty="0">
                <a:latin typeface="Arial"/>
                <a:cs typeface="Arial"/>
              </a:rPr>
              <a:t>available</a:t>
            </a:r>
            <a:r>
              <a:rPr sz="1050" spc="-5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before </a:t>
            </a:r>
            <a:r>
              <a:rPr sz="1050" spc="-30" dirty="0">
                <a:latin typeface="Arial"/>
                <a:cs typeface="Arial"/>
              </a:rPr>
              <a:t>Server5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joined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02913" y="4611439"/>
            <a:ext cx="37147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0" dirty="0">
                <a:latin typeface="Arial"/>
                <a:cs typeface="Arial"/>
              </a:rPr>
              <a:t>rver4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40798" y="4741712"/>
            <a:ext cx="1109345" cy="34671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3970" marR="5080" indent="-1905">
              <a:lnSpc>
                <a:spcPts val="1180"/>
              </a:lnSpc>
              <a:spcBef>
                <a:spcPts val="280"/>
              </a:spcBef>
            </a:pPr>
            <a:r>
              <a:rPr sz="1100" spc="-50" dirty="0">
                <a:latin typeface="Arial"/>
                <a:cs typeface="Arial"/>
              </a:rPr>
              <a:t>Files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available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after </a:t>
            </a:r>
            <a:r>
              <a:rPr sz="1100" spc="-60" dirty="0">
                <a:latin typeface="Arial"/>
                <a:cs typeface="Arial"/>
              </a:rPr>
              <a:t>Server5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joined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20258" y="5235425"/>
            <a:ext cx="1907539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65" dirty="0">
                <a:latin typeface="Arial"/>
                <a:cs typeface="Arial"/>
              </a:rPr>
              <a:t>joining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spc="-45" dirty="0">
                <a:latin typeface="Arial"/>
                <a:cs typeface="Arial"/>
              </a:rPr>
              <a:t>the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55" dirty="0">
                <a:latin typeface="Arial"/>
                <a:cs typeface="Arial"/>
              </a:rPr>
              <a:t>nevork</a:t>
            </a:r>
            <a:endParaRPr sz="1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12255" y="5923260"/>
            <a:ext cx="550545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35" dirty="0">
                <a:latin typeface="Arial"/>
                <a:cs typeface="Arial"/>
              </a:rPr>
              <a:t>Server5</a:t>
            </a:r>
            <a:endParaRPr sz="125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000" y="1066800"/>
            <a:ext cx="7492821" cy="575156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845" marR="5080" indent="-1905">
              <a:lnSpc>
                <a:spcPts val="3970"/>
              </a:lnSpc>
              <a:spcBef>
                <a:spcPts val="484"/>
              </a:spcBef>
            </a:pPr>
            <a:r>
              <a:rPr sz="3550" b="1" spc="-150" dirty="0">
                <a:solidFill>
                  <a:srgbClr val="346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Gnutella</a:t>
            </a:r>
            <a:r>
              <a:rPr sz="3550" b="1" spc="5" dirty="0">
                <a:solidFill>
                  <a:srgbClr val="3464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b="1" dirty="0">
                <a:solidFill>
                  <a:srgbClr val="3167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3550" b="1" spc="-270" dirty="0">
                <a:solidFill>
                  <a:srgbClr val="3167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b="1" spc="-140" dirty="0">
                <a:solidFill>
                  <a:srgbClr val="346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</a:t>
            </a:r>
            <a:r>
              <a:rPr sz="3550" b="1" spc="-160" dirty="0">
                <a:solidFill>
                  <a:srgbClr val="346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b="1" spc="-180" dirty="0">
                <a:solidFill>
                  <a:srgbClr val="3366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</a:t>
            </a:r>
            <a:r>
              <a:rPr sz="3550" b="1" spc="-55" dirty="0">
                <a:solidFill>
                  <a:srgbClr val="3467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3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E0B208BB-FCAB-B56A-E884-D9829CAB0A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8E386FBC-F2FC-CF18-5A8D-AC5BB2C821B0}"/>
              </a:ext>
            </a:extLst>
          </p:cNvPr>
          <p:cNvGrpSpPr/>
          <p:nvPr/>
        </p:nvGrpSpPr>
        <p:grpSpPr>
          <a:xfrm>
            <a:off x="191988" y="217883"/>
            <a:ext cx="8769846" cy="6122194"/>
            <a:chOff x="191988" y="217883"/>
            <a:chExt cx="8769846" cy="6122194"/>
          </a:xfrm>
        </p:grpSpPr>
        <p:pic>
          <p:nvPicPr>
            <p:cNvPr id="39" name="object 2">
              <a:extLst>
                <a:ext uri="{FF2B5EF4-FFF2-40B4-BE49-F238E27FC236}">
                  <a16:creationId xmlns:a16="http://schemas.microsoft.com/office/drawing/2014/main" id="{2987BC3A-C3D3-7DC6-0B54-371B020D355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596" y="5822156"/>
              <a:ext cx="8747522" cy="517921"/>
            </a:xfrm>
            <a:prstGeom prst="rect">
              <a:avLst/>
            </a:prstGeom>
          </p:spPr>
        </p:pic>
        <p:pic>
          <p:nvPicPr>
            <p:cNvPr id="40" name="object 5">
              <a:extLst>
                <a:ext uri="{FF2B5EF4-FFF2-40B4-BE49-F238E27FC236}">
                  <a16:creationId xmlns:a16="http://schemas.microsoft.com/office/drawing/2014/main" id="{6A201AE1-B062-8F60-B429-CE514B575F6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41" name="object 6">
              <a:extLst>
                <a:ext uri="{FF2B5EF4-FFF2-40B4-BE49-F238E27FC236}">
                  <a16:creationId xmlns:a16="http://schemas.microsoft.com/office/drawing/2014/main" id="{5F080EE4-7DE2-5B45-6662-FFDC23EEF8AB}"/>
                </a:ext>
              </a:extLst>
            </p:cNvPr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7">
              <a:extLst>
                <a:ext uri="{FF2B5EF4-FFF2-40B4-BE49-F238E27FC236}">
                  <a16:creationId xmlns:a16="http://schemas.microsoft.com/office/drawing/2014/main" id="{A69367B5-BBA8-83D3-5DDF-FF269398D9E7}"/>
                </a:ext>
              </a:extLst>
            </p:cNvPr>
            <p:cNvSpPr/>
            <p:nvPr/>
          </p:nvSpPr>
          <p:spPr>
            <a:xfrm>
              <a:off x="8915400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4">
            <a:extLst>
              <a:ext uri="{FF2B5EF4-FFF2-40B4-BE49-F238E27FC236}">
                <a16:creationId xmlns:a16="http://schemas.microsoft.com/office/drawing/2014/main" id="{015AE438-7594-91BB-39C6-6E26DC19C254}"/>
              </a:ext>
            </a:extLst>
          </p:cNvPr>
          <p:cNvSpPr txBox="1"/>
          <p:nvPr/>
        </p:nvSpPr>
        <p:spPr>
          <a:xfrm>
            <a:off x="838200" y="1738511"/>
            <a:ext cx="8123632" cy="4509889"/>
          </a:xfrm>
          <a:prstGeom prst="rect">
            <a:avLst/>
          </a:prstGeom>
        </p:spPr>
        <p:txBody>
          <a:bodyPr vert="horz" wrap="square" lIns="0" tIns="61913" rIns="0" bIns="0" rtlCol="0" anchor="ctr">
            <a:spAutoFit/>
          </a:bodyPr>
          <a:lstStyle/>
          <a:p>
            <a:pPr marL="266224" marR="614363" indent="-257175" defTabSz="695325">
              <a:spcAft>
                <a:spcPts val="30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l"/>
              <a:tabLst>
                <a:tab pos="5451872" algn="l"/>
              </a:tabLst>
            </a:pPr>
            <a:r>
              <a:rPr lang="en-US"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</a:t>
            </a:r>
            <a:r>
              <a:rPr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networking: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sz="2200" spc="-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lang="en-US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pplications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224" marR="614363" indent="-257175" defTabSz="695325">
              <a:spcAft>
                <a:spcPts val="30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l"/>
              <a:tabLst>
                <a:tab pos="5451872" algn="l"/>
              </a:tabLst>
            </a:pPr>
            <a:r>
              <a:rPr lang="en-US"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ocus:</a:t>
            </a:r>
            <a:r>
              <a:rPr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</a:t>
            </a:r>
            <a:r>
              <a:rPr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  <a:r>
              <a:rPr sz="2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</a:t>
            </a:r>
            <a:endParaRPr lang="en-US" sz="2200" spc="-2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224" marR="614363" indent="-257175" defTabSz="695325">
              <a:spcAft>
                <a:spcPts val="30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l"/>
              <a:tabLst>
                <a:tab pos="5451872" algn="l"/>
              </a:tabLst>
            </a:pPr>
            <a:r>
              <a:rPr lang="en-US"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</a:t>
            </a:r>
            <a:r>
              <a:rPr lang="en-US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</a:t>
            </a:r>
            <a:r>
              <a:rPr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66224" marR="614363" indent="-257175" defTabSz="695325">
              <a:spcAft>
                <a:spcPts val="30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l"/>
              <a:tabLst>
                <a:tab pos="5451872" algn="l"/>
              </a:tabLst>
            </a:pPr>
            <a:r>
              <a:rPr lang="en-US" sz="22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tore</a:t>
            </a:r>
            <a:r>
              <a:rPr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51999" marR="614363" lvl="1" indent="-285750" defTabSz="695325">
              <a:spcAft>
                <a:spcPts val="300"/>
              </a:spcAft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5451872" algn="l"/>
              </a:tabLst>
            </a:pP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</a:t>
            </a:r>
            <a:r>
              <a:rPr lang="en-US" altLang="zh-CN"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</a:t>
            </a:r>
            <a:r>
              <a:rPr lang="en-US" altLang="zh-CN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</a:t>
            </a:r>
            <a:r>
              <a:rPr lang="en-US" altLang="zh-CN"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searches)</a:t>
            </a:r>
            <a:r>
              <a:rPr lang="en-US" altLang="zh-CN" sz="2200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altLang="zh-CN"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neighboring </a:t>
            </a:r>
            <a:r>
              <a:rPr lang="en-US" altLang="zh-CN" sz="2200" spc="-2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1999" marR="614363" lvl="1" indent="-285750" defTabSz="695325">
              <a:spcAft>
                <a:spcPts val="300"/>
              </a:spcAft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5451872" algn="l"/>
              </a:tabLst>
            </a:pPr>
            <a:r>
              <a:rPr lang="en-US" altLang="zh-CN" sz="2200" spc="-38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espond</a:t>
            </a:r>
            <a:r>
              <a:rPr lang="en-US" altLang="zh-CN"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altLang="zh-CN"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(serve</a:t>
            </a:r>
            <a:r>
              <a:rPr lang="en-US" altLang="zh-CN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file)</a:t>
            </a:r>
            <a:r>
              <a:rPr lang="en-US" altLang="zh-CN"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zh-CN"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altLang="zh-CN"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locally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224" marR="614363" indent="-257175" defTabSz="695325">
              <a:spcAft>
                <a:spcPts val="300"/>
              </a:spcAft>
              <a:buClr>
                <a:srgbClr val="0000FF"/>
              </a:buClr>
              <a:buSzPct val="75000"/>
              <a:buFont typeface="Wingdings" panose="05000000000000000000" pitchFamily="2" charset="2"/>
              <a:buChar char="l"/>
              <a:tabLst>
                <a:tab pos="5451872" algn="l"/>
              </a:tabLst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zh-CN"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altLang="zh-CN"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-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  <a:r>
              <a:rPr sz="2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flooding:</a:t>
            </a:r>
            <a:endParaRPr lang="en-US" sz="22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1999" marR="614363" lvl="1" indent="-285750" defTabSz="695325">
              <a:spcAft>
                <a:spcPts val="300"/>
              </a:spcAft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5451872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want,</a:t>
            </a:r>
            <a:r>
              <a:rPr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partners.</a:t>
            </a:r>
            <a:r>
              <a:rPr lang="en-US"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51999" marR="614363" lvl="1" indent="-285750" defTabSz="695325">
              <a:spcAft>
                <a:spcPts val="300"/>
              </a:spcAft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5451872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</a:t>
            </a:r>
            <a:r>
              <a:rPr sz="2200" spc="-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it,</a:t>
            </a:r>
            <a:r>
              <a:rPr sz="22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partners,</a:t>
            </a:r>
            <a:r>
              <a:rPr sz="2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</a:t>
            </a:r>
            <a:r>
              <a:rPr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endParaRPr lang="en-US" sz="2200" spc="-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1999" marR="614363" lvl="1" indent="-285750" defTabSz="695325">
              <a:spcAft>
                <a:spcPts val="300"/>
              </a:spcAft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5451872" algn="l"/>
              </a:tabLst>
            </a:pP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flooded,</a:t>
            </a:r>
            <a:r>
              <a:rPr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-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2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sz="2200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structure. </a:t>
            </a:r>
            <a:endParaRPr lang="en-US" sz="2200" spc="-3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1999" marR="614363" lvl="1" indent="-285750" defTabSz="695325">
              <a:spcAft>
                <a:spcPts val="300"/>
              </a:spcAft>
              <a:buClr>
                <a:srgbClr val="0000FF"/>
              </a:buClr>
              <a:buSzPct val="75000"/>
              <a:buFont typeface="Symbol" panose="05050102010706020507" pitchFamily="18" charset="2"/>
              <a:buChar char="-"/>
              <a:tabLst>
                <a:tab pos="5451872" algn="l"/>
              </a:tabLst>
            </a:pP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2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looping</a:t>
            </a:r>
            <a:r>
              <a:rPr sz="22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</a:t>
            </a:r>
            <a:r>
              <a:rPr sz="2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200" spc="-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twice.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8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5400" marR="5080" indent="5080">
              <a:lnSpc>
                <a:spcPts val="3970"/>
              </a:lnSpc>
              <a:spcBef>
                <a:spcPts val="535"/>
              </a:spcBef>
            </a:pPr>
            <a:r>
              <a:rPr sz="3600" spc="-260" dirty="0">
                <a:solidFill>
                  <a:srgbClr val="316467"/>
                </a:solidFill>
              </a:rPr>
              <a:t>Advantages</a:t>
            </a:r>
            <a:r>
              <a:rPr sz="3600" spc="500" dirty="0">
                <a:solidFill>
                  <a:srgbClr val="316467"/>
                </a:solidFill>
              </a:rPr>
              <a:t> </a:t>
            </a:r>
            <a:r>
              <a:rPr sz="3600" spc="-270" dirty="0">
                <a:solidFill>
                  <a:srgbClr val="346464"/>
                </a:solidFill>
              </a:rPr>
              <a:t>and</a:t>
            </a:r>
            <a:r>
              <a:rPr sz="3600" spc="75" dirty="0">
                <a:solidFill>
                  <a:srgbClr val="346464"/>
                </a:solidFill>
              </a:rPr>
              <a:t> </a:t>
            </a:r>
            <a:r>
              <a:rPr sz="3600" spc="-145" dirty="0">
                <a:solidFill>
                  <a:srgbClr val="346667"/>
                </a:solidFill>
              </a:rPr>
              <a:t>Disadvantages </a:t>
            </a:r>
            <a:r>
              <a:rPr sz="3600" dirty="0">
                <a:solidFill>
                  <a:srgbClr val="346769"/>
                </a:solidFill>
              </a:rPr>
              <a:t>of</a:t>
            </a:r>
            <a:r>
              <a:rPr sz="3600" spc="-250" dirty="0">
                <a:solidFill>
                  <a:srgbClr val="346769"/>
                </a:solidFill>
              </a:rPr>
              <a:t> </a:t>
            </a:r>
            <a:r>
              <a:rPr sz="3600" spc="-155" dirty="0">
                <a:solidFill>
                  <a:srgbClr val="366467"/>
                </a:solidFill>
              </a:rPr>
              <a:t>Purely</a:t>
            </a:r>
            <a:r>
              <a:rPr sz="3600" spc="-145" dirty="0">
                <a:solidFill>
                  <a:srgbClr val="366467"/>
                </a:solidFill>
              </a:rPr>
              <a:t> </a:t>
            </a:r>
            <a:r>
              <a:rPr sz="3600" spc="-195" dirty="0">
                <a:solidFill>
                  <a:srgbClr val="346469"/>
                </a:solidFill>
              </a:rPr>
              <a:t>Decentralized</a:t>
            </a:r>
            <a:r>
              <a:rPr sz="3600" spc="114" dirty="0">
                <a:solidFill>
                  <a:srgbClr val="346469"/>
                </a:solidFill>
              </a:rPr>
              <a:t> </a:t>
            </a:r>
            <a:r>
              <a:rPr sz="3600" spc="-280" dirty="0">
                <a:solidFill>
                  <a:srgbClr val="346769"/>
                </a:solidFill>
              </a:rPr>
              <a:t>Systems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188330" y="1859233"/>
            <a:ext cx="6914515" cy="3519804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350"/>
              </a:spcBef>
            </a:pPr>
            <a:r>
              <a:rPr sz="2700" spc="-10" dirty="0">
                <a:latin typeface="Arial"/>
                <a:cs typeface="Arial"/>
              </a:rPr>
              <a:t>Advantages</a:t>
            </a:r>
            <a:endParaRPr sz="2700">
              <a:latin typeface="Arial"/>
              <a:cs typeface="Arial"/>
            </a:endParaRPr>
          </a:p>
          <a:p>
            <a:pPr marL="405130" marR="5080" indent="5715">
              <a:lnSpc>
                <a:spcPct val="86700"/>
              </a:lnSpc>
              <a:spcBef>
                <a:spcPts val="595"/>
              </a:spcBef>
            </a:pPr>
            <a:r>
              <a:rPr sz="2500" spc="-50" dirty="0">
                <a:latin typeface="Arial"/>
                <a:cs typeface="Arial"/>
              </a:rPr>
              <a:t>Inherently</a:t>
            </a:r>
            <a:r>
              <a:rPr sz="2500" spc="35" dirty="0">
                <a:latin typeface="Arial"/>
                <a:cs typeface="Arial"/>
              </a:rPr>
              <a:t> </a:t>
            </a:r>
            <a:r>
              <a:rPr sz="2500" spc="-60" dirty="0">
                <a:latin typeface="Arial"/>
                <a:cs typeface="Arial"/>
              </a:rPr>
              <a:t>fault-</a:t>
            </a:r>
            <a:r>
              <a:rPr sz="2500" spc="-40" dirty="0">
                <a:latin typeface="Arial"/>
                <a:cs typeface="Arial"/>
              </a:rPr>
              <a:t>tolerant,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since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there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is</a:t>
            </a:r>
            <a:r>
              <a:rPr sz="2500" spc="-1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no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central </a:t>
            </a:r>
            <a:r>
              <a:rPr sz="2500" spc="-25" dirty="0">
                <a:latin typeface="Arial"/>
                <a:cs typeface="Arial"/>
              </a:rPr>
              <a:t>point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of</a:t>
            </a:r>
            <a:r>
              <a:rPr sz="2500" spc="-150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failure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and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30" dirty="0">
                <a:latin typeface="Arial"/>
                <a:cs typeface="Arial"/>
              </a:rPr>
              <a:t>the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loss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-75" dirty="0">
                <a:latin typeface="Arial"/>
                <a:cs typeface="Arial"/>
              </a:rPr>
              <a:t> </a:t>
            </a:r>
            <a:r>
              <a:rPr sz="2500" spc="-60" dirty="0">
                <a:latin typeface="Arial"/>
                <a:cs typeface="Arial"/>
              </a:rPr>
              <a:t>a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peer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or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even</a:t>
            </a:r>
            <a:r>
              <a:rPr sz="2500" spc="-105" dirty="0">
                <a:latin typeface="Arial"/>
                <a:cs typeface="Arial"/>
              </a:rPr>
              <a:t> </a:t>
            </a:r>
            <a:r>
              <a:rPr sz="2500" spc="-50" dirty="0">
                <a:latin typeface="Arial"/>
                <a:cs typeface="Arial"/>
              </a:rPr>
              <a:t>a </a:t>
            </a:r>
            <a:r>
              <a:rPr sz="2500" spc="-55" dirty="0">
                <a:latin typeface="Arial"/>
                <a:cs typeface="Arial"/>
              </a:rPr>
              <a:t>number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peers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can</a:t>
            </a:r>
            <a:r>
              <a:rPr sz="2500" spc="-165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easily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be</a:t>
            </a:r>
            <a:r>
              <a:rPr sz="2500" spc="-17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compensated.</a:t>
            </a:r>
            <a:endParaRPr sz="2500">
              <a:latin typeface="Arial"/>
              <a:cs typeface="Arial"/>
            </a:endParaRPr>
          </a:p>
          <a:p>
            <a:pPr marL="408305" marR="358140" indent="-1270">
              <a:lnSpc>
                <a:spcPts val="2590"/>
              </a:lnSpc>
              <a:spcBef>
                <a:spcPts val="575"/>
              </a:spcBef>
            </a:pPr>
            <a:r>
              <a:rPr sz="2500" spc="-45" dirty="0">
                <a:latin typeface="Arial"/>
                <a:cs typeface="Arial"/>
              </a:rPr>
              <a:t>Have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5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greater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degree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autonomous</a:t>
            </a:r>
            <a:r>
              <a:rPr sz="2500" spc="55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control </a:t>
            </a:r>
            <a:r>
              <a:rPr sz="2500" spc="-30" dirty="0">
                <a:latin typeface="Arial"/>
                <a:cs typeface="Arial"/>
              </a:rPr>
              <a:t>over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30" dirty="0">
                <a:latin typeface="Arial"/>
                <a:cs typeface="Arial"/>
              </a:rPr>
              <a:t>their</a:t>
            </a:r>
            <a:r>
              <a:rPr sz="2500" spc="-10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data</a:t>
            </a:r>
            <a:r>
              <a:rPr sz="2500" spc="-150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and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resources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800" spc="-20" dirty="0">
                <a:latin typeface="Arial"/>
                <a:cs typeface="Arial"/>
              </a:rPr>
              <a:t>Disadvantages</a:t>
            </a:r>
            <a:endParaRPr sz="28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  <a:spcBef>
                <a:spcPts val="245"/>
              </a:spcBef>
            </a:pPr>
            <a:r>
              <a:rPr sz="2400" dirty="0">
                <a:latin typeface="Arial"/>
                <a:cs typeface="Arial"/>
              </a:rPr>
              <a:t>Slow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discovery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time</a:t>
            </a:r>
            <a:endParaRPr sz="2400">
              <a:latin typeface="Arial"/>
              <a:cs typeface="Arial"/>
            </a:endParaRPr>
          </a:p>
          <a:p>
            <a:pPr marL="405765">
              <a:lnSpc>
                <a:spcPct val="100000"/>
              </a:lnSpc>
              <a:spcBef>
                <a:spcPts val="250"/>
              </a:spcBef>
            </a:pPr>
            <a:r>
              <a:rPr sz="2450" dirty="0">
                <a:latin typeface="Arial"/>
                <a:cs typeface="Arial"/>
              </a:rPr>
              <a:t>No</a:t>
            </a:r>
            <a:r>
              <a:rPr sz="2450" spc="-150" dirty="0">
                <a:latin typeface="Arial"/>
                <a:cs typeface="Arial"/>
              </a:rPr>
              <a:t> </a:t>
            </a:r>
            <a:r>
              <a:rPr sz="2450" spc="-35" dirty="0">
                <a:latin typeface="Arial"/>
                <a:cs typeface="Arial"/>
              </a:rPr>
              <a:t>guarantee</a:t>
            </a:r>
            <a:r>
              <a:rPr sz="2450" spc="25" dirty="0">
                <a:latin typeface="Arial"/>
                <a:cs typeface="Arial"/>
              </a:rPr>
              <a:t> </a:t>
            </a:r>
            <a:r>
              <a:rPr sz="2450" spc="-25" dirty="0">
                <a:latin typeface="Arial"/>
                <a:cs typeface="Arial"/>
              </a:rPr>
              <a:t>about</a:t>
            </a:r>
            <a:r>
              <a:rPr sz="2450" spc="-140" dirty="0">
                <a:latin typeface="Arial"/>
                <a:cs typeface="Arial"/>
              </a:rPr>
              <a:t> </a:t>
            </a:r>
            <a:r>
              <a:rPr sz="2450" spc="-10" dirty="0">
                <a:latin typeface="Arial"/>
                <a:cs typeface="Arial"/>
              </a:rPr>
              <a:t>quality</a:t>
            </a:r>
            <a:r>
              <a:rPr sz="2450" spc="-40" dirty="0">
                <a:latin typeface="Arial"/>
                <a:cs typeface="Arial"/>
              </a:rPr>
              <a:t> </a:t>
            </a:r>
            <a:r>
              <a:rPr sz="2450" dirty="0">
                <a:latin typeface="Arial"/>
                <a:cs typeface="Arial"/>
              </a:rPr>
              <a:t>of</a:t>
            </a:r>
            <a:r>
              <a:rPr sz="2450" spc="-75" dirty="0">
                <a:latin typeface="Arial"/>
                <a:cs typeface="Arial"/>
              </a:rPr>
              <a:t> </a:t>
            </a:r>
            <a:r>
              <a:rPr sz="2450" spc="-10" dirty="0">
                <a:latin typeface="Arial"/>
                <a:cs typeface="Arial"/>
              </a:rPr>
              <a:t>services</a:t>
            </a:r>
            <a:endParaRPr sz="24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162" y="214312"/>
            <a:ext cx="8851265" cy="6129655"/>
            <a:chOff x="157162" y="214312"/>
            <a:chExt cx="8851265" cy="6129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" y="214312"/>
              <a:ext cx="8851106" cy="61293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0523" y="3552527"/>
              <a:ext cx="300990" cy="0"/>
            </a:xfrm>
            <a:custGeom>
              <a:avLst/>
              <a:gdLst/>
              <a:ahLst/>
              <a:cxnLst/>
              <a:rect l="l" t="t" r="r" b="b"/>
              <a:pathLst>
                <a:path w="300989">
                  <a:moveTo>
                    <a:pt x="0" y="0"/>
                  </a:moveTo>
                  <a:lnTo>
                    <a:pt x="300632" y="0"/>
                  </a:lnTo>
                </a:path>
              </a:pathLst>
            </a:custGeom>
            <a:ln w="8929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6571" y="3561158"/>
              <a:ext cx="1057275" cy="353615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1750" marR="5080" indent="-9525">
              <a:lnSpc>
                <a:spcPts val="3940"/>
              </a:lnSpc>
              <a:spcBef>
                <a:spcPts val="560"/>
              </a:spcBef>
            </a:pPr>
            <a:r>
              <a:rPr sz="3600" spc="200" dirty="0">
                <a:solidFill>
                  <a:srgbClr val="336764"/>
                </a:solidFill>
                <a:latin typeface="Arial"/>
                <a:cs typeface="Arial"/>
              </a:rPr>
              <a:t>Hybrid</a:t>
            </a:r>
            <a:r>
              <a:rPr sz="3600" spc="195" dirty="0">
                <a:solidFill>
                  <a:srgbClr val="336764"/>
                </a:solidFill>
                <a:latin typeface="Arial"/>
                <a:cs typeface="Arial"/>
              </a:rPr>
              <a:t> </a:t>
            </a:r>
            <a:r>
              <a:rPr sz="3600" spc="185" dirty="0">
                <a:solidFill>
                  <a:srgbClr val="346469"/>
                </a:solidFill>
                <a:latin typeface="Arial"/>
                <a:cs typeface="Arial"/>
              </a:rPr>
              <a:t>Decentralized </a:t>
            </a:r>
            <a:r>
              <a:rPr sz="3600" spc="245" dirty="0">
                <a:solidFill>
                  <a:srgbClr val="336669"/>
                </a:solidFill>
                <a:latin typeface="Arial"/>
                <a:cs typeface="Arial"/>
              </a:rPr>
              <a:t>Architectures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64980" y="1893489"/>
            <a:ext cx="3090545" cy="1397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128905" indent="635" algn="just">
              <a:lnSpc>
                <a:spcPts val="2480"/>
              </a:lnSpc>
              <a:spcBef>
                <a:spcPts val="459"/>
              </a:spcBef>
            </a:pPr>
            <a:r>
              <a:rPr sz="2350" spc="-20" dirty="0">
                <a:latin typeface="Arial"/>
                <a:cs typeface="Arial"/>
              </a:rPr>
              <a:t>Client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computers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send </a:t>
            </a:r>
            <a:r>
              <a:rPr sz="2350" spc="-25" dirty="0">
                <a:latin typeface="Arial"/>
                <a:cs typeface="Arial"/>
              </a:rPr>
              <a:t>requests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for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files</a:t>
            </a:r>
            <a:r>
              <a:rPr sz="2350" spc="-114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to</a:t>
            </a:r>
            <a:r>
              <a:rPr sz="2350" spc="-140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the </a:t>
            </a:r>
            <a:r>
              <a:rPr sz="2300" spc="-10" dirty="0">
                <a:latin typeface="Arial"/>
                <a:cs typeface="Arial"/>
              </a:rPr>
              <a:t>server.</a:t>
            </a:r>
            <a:endParaRPr sz="2300"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  <a:spcBef>
                <a:spcPts val="180"/>
              </a:spcBef>
            </a:pPr>
            <a:r>
              <a:rPr sz="2350" dirty="0">
                <a:latin typeface="Arial"/>
                <a:cs typeface="Arial"/>
              </a:rPr>
              <a:t>The</a:t>
            </a:r>
            <a:r>
              <a:rPr sz="2350" spc="-15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server</a:t>
            </a:r>
            <a:r>
              <a:rPr sz="2350" spc="-80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searches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for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2352" y="3960415"/>
            <a:ext cx="42164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solidFill>
                  <a:srgbClr val="2F2DE8"/>
                </a:solidFill>
                <a:latin typeface="Arial"/>
                <a:cs typeface="Arial"/>
              </a:rPr>
              <a:t>Reply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2590" y="4257823"/>
            <a:ext cx="2679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20" dirty="0">
                <a:latin typeface="Arial"/>
                <a:cs typeface="Arial"/>
              </a:rPr>
              <a:t>File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7687" y="5400079"/>
            <a:ext cx="100393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60" dirty="0">
                <a:solidFill>
                  <a:srgbClr val="261CBA"/>
                </a:solidFill>
                <a:latin typeface="Arial"/>
                <a:cs typeface="Arial"/>
              </a:rPr>
              <a:t>File</a:t>
            </a:r>
            <a:r>
              <a:rPr sz="1350" spc="-15" dirty="0">
                <a:solidFill>
                  <a:srgbClr val="261CBA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110FCF"/>
                </a:solidFill>
                <a:latin typeface="Arial"/>
                <a:cs typeface="Arial"/>
              </a:rPr>
              <a:t>download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61953" y="3216025"/>
            <a:ext cx="3533140" cy="30537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5240" marR="5080" indent="-635">
              <a:lnSpc>
                <a:spcPct val="87200"/>
              </a:lnSpc>
              <a:spcBef>
                <a:spcPts val="459"/>
              </a:spcBef>
            </a:pPr>
            <a:r>
              <a:rPr sz="2400" spc="-60" dirty="0">
                <a:latin typeface="Arial"/>
                <a:cs typeface="Arial"/>
              </a:rPr>
              <a:t>matches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index, </a:t>
            </a:r>
            <a:r>
              <a:rPr sz="2400" spc="-55" dirty="0">
                <a:latin typeface="Arial"/>
                <a:cs typeface="Arial"/>
              </a:rPr>
              <a:t>returning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list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users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that </a:t>
            </a:r>
            <a:r>
              <a:rPr sz="2350" spc="-10" dirty="0">
                <a:latin typeface="Arial"/>
                <a:cs typeface="Arial"/>
              </a:rPr>
              <a:t>hold</a:t>
            </a:r>
            <a:r>
              <a:rPr sz="2350" spc="-13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the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spc="-35" dirty="0">
                <a:latin typeface="Arial"/>
                <a:cs typeface="Arial"/>
              </a:rPr>
              <a:t>matching</a:t>
            </a:r>
            <a:r>
              <a:rPr sz="2350" spc="1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file.</a:t>
            </a:r>
            <a:endParaRPr sz="2350">
              <a:latin typeface="Arial"/>
              <a:cs typeface="Arial"/>
            </a:endParaRPr>
          </a:p>
          <a:p>
            <a:pPr marL="12700" marR="31750" indent="4445">
              <a:lnSpc>
                <a:spcPct val="88500"/>
              </a:lnSpc>
              <a:spcBef>
                <a:spcPts val="470"/>
              </a:spcBef>
            </a:pPr>
            <a:r>
              <a:rPr sz="2400" spc="-5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user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opens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direct </a:t>
            </a:r>
            <a:r>
              <a:rPr sz="2300" spc="-10" dirty="0">
                <a:latin typeface="Arial"/>
                <a:cs typeface="Arial"/>
              </a:rPr>
              <a:t>connections</a:t>
            </a:r>
            <a:r>
              <a:rPr sz="2300" spc="114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with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one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or </a:t>
            </a:r>
            <a:r>
              <a:rPr sz="2350" spc="-20" dirty="0">
                <a:latin typeface="Arial"/>
                <a:cs typeface="Arial"/>
              </a:rPr>
              <a:t>more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of</a:t>
            </a:r>
            <a:r>
              <a:rPr sz="2350" spc="-10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the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peers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that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hold </a:t>
            </a:r>
            <a:r>
              <a:rPr sz="2350" dirty="0">
                <a:latin typeface="Arial"/>
                <a:cs typeface="Arial"/>
              </a:rPr>
              <a:t>the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spc="-35" dirty="0">
                <a:latin typeface="Arial"/>
                <a:cs typeface="Arial"/>
              </a:rPr>
              <a:t>requested</a:t>
            </a:r>
            <a:r>
              <a:rPr sz="2350" spc="-10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file,</a:t>
            </a:r>
            <a:r>
              <a:rPr sz="2350" spc="-10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and </a:t>
            </a:r>
            <a:r>
              <a:rPr sz="2400" spc="-65" dirty="0">
                <a:latin typeface="Arial"/>
                <a:cs typeface="Arial"/>
              </a:rPr>
              <a:t>downloads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80"/>
              </a:spcBef>
            </a:pPr>
            <a:r>
              <a:rPr sz="2350" dirty="0">
                <a:latin typeface="Arial"/>
                <a:cs typeface="Arial"/>
              </a:rPr>
              <a:t>Ex.</a:t>
            </a:r>
            <a:r>
              <a:rPr sz="2350" spc="-14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Napster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162" y="214312"/>
            <a:ext cx="8851265" cy="6129655"/>
            <a:chOff x="157162" y="214312"/>
            <a:chExt cx="8851265" cy="6129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" y="214312"/>
              <a:ext cx="8851106" cy="61293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0523" y="3552527"/>
              <a:ext cx="300990" cy="0"/>
            </a:xfrm>
            <a:custGeom>
              <a:avLst/>
              <a:gdLst/>
              <a:ahLst/>
              <a:cxnLst/>
              <a:rect l="l" t="t" r="r" b="b"/>
              <a:pathLst>
                <a:path w="300989">
                  <a:moveTo>
                    <a:pt x="0" y="0"/>
                  </a:moveTo>
                  <a:lnTo>
                    <a:pt x="300632" y="0"/>
                  </a:lnTo>
                </a:path>
              </a:pathLst>
            </a:custGeom>
            <a:ln w="8929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6571" y="3561158"/>
              <a:ext cx="1057275" cy="353615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1750" marR="5080" indent="-9525">
              <a:lnSpc>
                <a:spcPts val="3940"/>
              </a:lnSpc>
              <a:spcBef>
                <a:spcPts val="560"/>
              </a:spcBef>
            </a:pPr>
            <a:r>
              <a:rPr sz="3600" spc="200" dirty="0">
                <a:solidFill>
                  <a:srgbClr val="336764"/>
                </a:solidFill>
                <a:latin typeface="Arial"/>
                <a:cs typeface="Arial"/>
              </a:rPr>
              <a:t>Hybrid</a:t>
            </a:r>
            <a:r>
              <a:rPr sz="3600" spc="195" dirty="0">
                <a:solidFill>
                  <a:srgbClr val="336764"/>
                </a:solidFill>
                <a:latin typeface="Arial"/>
                <a:cs typeface="Arial"/>
              </a:rPr>
              <a:t> </a:t>
            </a:r>
            <a:r>
              <a:rPr sz="3600" spc="185" dirty="0">
                <a:solidFill>
                  <a:srgbClr val="346469"/>
                </a:solidFill>
                <a:latin typeface="Arial"/>
                <a:cs typeface="Arial"/>
              </a:rPr>
              <a:t>Decentralized </a:t>
            </a:r>
            <a:r>
              <a:rPr sz="3600" spc="245" dirty="0">
                <a:solidFill>
                  <a:srgbClr val="336669"/>
                </a:solidFill>
                <a:latin typeface="Arial"/>
                <a:cs typeface="Arial"/>
              </a:rPr>
              <a:t>Architectures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64980" y="1893489"/>
            <a:ext cx="3090545" cy="1397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128905" indent="635" algn="just">
              <a:lnSpc>
                <a:spcPts val="2480"/>
              </a:lnSpc>
              <a:spcBef>
                <a:spcPts val="459"/>
              </a:spcBef>
            </a:pPr>
            <a:r>
              <a:rPr sz="2350" spc="-20" dirty="0">
                <a:latin typeface="Arial"/>
                <a:cs typeface="Arial"/>
              </a:rPr>
              <a:t>Client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computers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send </a:t>
            </a:r>
            <a:r>
              <a:rPr sz="2350" spc="-25" dirty="0">
                <a:latin typeface="Arial"/>
                <a:cs typeface="Arial"/>
              </a:rPr>
              <a:t>requests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for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files</a:t>
            </a:r>
            <a:r>
              <a:rPr sz="2350" spc="-114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to</a:t>
            </a:r>
            <a:r>
              <a:rPr sz="2350" spc="-140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the </a:t>
            </a:r>
            <a:r>
              <a:rPr sz="2300" spc="-10" dirty="0">
                <a:latin typeface="Arial"/>
                <a:cs typeface="Arial"/>
              </a:rPr>
              <a:t>server.</a:t>
            </a:r>
            <a:endParaRPr sz="2300">
              <a:latin typeface="Arial"/>
              <a:cs typeface="Arial"/>
            </a:endParaRPr>
          </a:p>
          <a:p>
            <a:pPr marL="13970" algn="just">
              <a:lnSpc>
                <a:spcPct val="100000"/>
              </a:lnSpc>
              <a:spcBef>
                <a:spcPts val="180"/>
              </a:spcBef>
            </a:pPr>
            <a:r>
              <a:rPr sz="2350" dirty="0">
                <a:latin typeface="Arial"/>
                <a:cs typeface="Arial"/>
              </a:rPr>
              <a:t>The</a:t>
            </a:r>
            <a:r>
              <a:rPr sz="2350" spc="-15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server</a:t>
            </a:r>
            <a:r>
              <a:rPr sz="2350" spc="-80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searches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for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2352" y="3960415"/>
            <a:ext cx="42164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solidFill>
                  <a:srgbClr val="2F2DE8"/>
                </a:solidFill>
                <a:latin typeface="Arial"/>
                <a:cs typeface="Arial"/>
              </a:rPr>
              <a:t>Reply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2590" y="4257823"/>
            <a:ext cx="2679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20" dirty="0">
                <a:latin typeface="Arial"/>
                <a:cs typeface="Arial"/>
              </a:rPr>
              <a:t>File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7687" y="5400079"/>
            <a:ext cx="100393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60" dirty="0">
                <a:solidFill>
                  <a:srgbClr val="261CBA"/>
                </a:solidFill>
                <a:latin typeface="Arial"/>
                <a:cs typeface="Arial"/>
              </a:rPr>
              <a:t>File</a:t>
            </a:r>
            <a:r>
              <a:rPr sz="1350" spc="-15" dirty="0">
                <a:solidFill>
                  <a:srgbClr val="261CBA"/>
                </a:solidFill>
                <a:latin typeface="Arial"/>
                <a:cs typeface="Arial"/>
              </a:rPr>
              <a:t> </a:t>
            </a:r>
            <a:r>
              <a:rPr sz="1350" spc="-45" dirty="0">
                <a:solidFill>
                  <a:srgbClr val="110FCF"/>
                </a:solidFill>
                <a:latin typeface="Arial"/>
                <a:cs typeface="Arial"/>
              </a:rPr>
              <a:t>download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61953" y="3216025"/>
            <a:ext cx="3533140" cy="30537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5240" marR="5080" indent="-635">
              <a:lnSpc>
                <a:spcPct val="87200"/>
              </a:lnSpc>
              <a:spcBef>
                <a:spcPts val="459"/>
              </a:spcBef>
            </a:pPr>
            <a:r>
              <a:rPr sz="2400" spc="-60" dirty="0">
                <a:latin typeface="Arial"/>
                <a:cs typeface="Arial"/>
              </a:rPr>
              <a:t>matches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index, </a:t>
            </a:r>
            <a:r>
              <a:rPr sz="2400" spc="-55" dirty="0">
                <a:latin typeface="Arial"/>
                <a:cs typeface="Arial"/>
              </a:rPr>
              <a:t>returning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list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users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that </a:t>
            </a:r>
            <a:r>
              <a:rPr sz="2350" spc="-10" dirty="0">
                <a:latin typeface="Arial"/>
                <a:cs typeface="Arial"/>
              </a:rPr>
              <a:t>hold</a:t>
            </a:r>
            <a:r>
              <a:rPr sz="2350" spc="-13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the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spc="-35" dirty="0">
                <a:latin typeface="Arial"/>
                <a:cs typeface="Arial"/>
              </a:rPr>
              <a:t>matching</a:t>
            </a:r>
            <a:r>
              <a:rPr sz="2350" spc="1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file.</a:t>
            </a:r>
            <a:endParaRPr sz="2350">
              <a:latin typeface="Arial"/>
              <a:cs typeface="Arial"/>
            </a:endParaRPr>
          </a:p>
          <a:p>
            <a:pPr marL="12700" marR="31750" indent="4445">
              <a:lnSpc>
                <a:spcPct val="88500"/>
              </a:lnSpc>
              <a:spcBef>
                <a:spcPts val="470"/>
              </a:spcBef>
            </a:pPr>
            <a:r>
              <a:rPr sz="2400" spc="-5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user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opens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direct </a:t>
            </a:r>
            <a:r>
              <a:rPr sz="2300" spc="-10" dirty="0">
                <a:latin typeface="Arial"/>
                <a:cs typeface="Arial"/>
              </a:rPr>
              <a:t>connections</a:t>
            </a:r>
            <a:r>
              <a:rPr sz="2300" spc="114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with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one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or </a:t>
            </a:r>
            <a:r>
              <a:rPr sz="2350" spc="-20" dirty="0">
                <a:latin typeface="Arial"/>
                <a:cs typeface="Arial"/>
              </a:rPr>
              <a:t>more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of</a:t>
            </a:r>
            <a:r>
              <a:rPr sz="2350" spc="-10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the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peers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that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hold </a:t>
            </a:r>
            <a:r>
              <a:rPr sz="2350" dirty="0">
                <a:latin typeface="Arial"/>
                <a:cs typeface="Arial"/>
              </a:rPr>
              <a:t>the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spc="-35" dirty="0">
                <a:latin typeface="Arial"/>
                <a:cs typeface="Arial"/>
              </a:rPr>
              <a:t>requested</a:t>
            </a:r>
            <a:r>
              <a:rPr sz="2350" spc="-10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file,</a:t>
            </a:r>
            <a:r>
              <a:rPr sz="2350" spc="-10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and </a:t>
            </a:r>
            <a:r>
              <a:rPr sz="2400" spc="-65" dirty="0">
                <a:latin typeface="Arial"/>
                <a:cs typeface="Arial"/>
              </a:rPr>
              <a:t>downloads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80"/>
              </a:spcBef>
            </a:pPr>
            <a:r>
              <a:rPr sz="2350" dirty="0">
                <a:latin typeface="Arial"/>
                <a:cs typeface="Arial"/>
              </a:rPr>
              <a:t>Ex.</a:t>
            </a:r>
            <a:r>
              <a:rPr sz="2350" spc="-14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Napster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6843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14"/>
              </a:spcBef>
            </a:pPr>
            <a:r>
              <a:rPr sz="3500" spc="250" dirty="0">
                <a:solidFill>
                  <a:srgbClr val="346467"/>
                </a:solidFill>
                <a:latin typeface="Arial"/>
                <a:cs typeface="Arial"/>
              </a:rPr>
              <a:t>Napster</a:t>
            </a:r>
            <a:endParaRPr sz="3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0455" y="1871315"/>
            <a:ext cx="7011034" cy="4164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305">
              <a:lnSpc>
                <a:spcPts val="2750"/>
              </a:lnSpc>
              <a:spcBef>
                <a:spcPts val="90"/>
              </a:spcBef>
            </a:pPr>
            <a:r>
              <a:rPr sz="2500" spc="-110" dirty="0">
                <a:latin typeface="Arial"/>
                <a:cs typeface="Arial"/>
              </a:rPr>
              <a:t>Application-</a:t>
            </a:r>
            <a:r>
              <a:rPr sz="2500" spc="-95" dirty="0">
                <a:latin typeface="Arial"/>
                <a:cs typeface="Arial"/>
              </a:rPr>
              <a:t>level,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spc="-110" dirty="0">
                <a:latin typeface="Arial"/>
                <a:cs typeface="Arial"/>
              </a:rPr>
              <a:t>client-</a:t>
            </a:r>
            <a:r>
              <a:rPr sz="2500" spc="-80" dirty="0">
                <a:latin typeface="Arial"/>
                <a:cs typeface="Arial"/>
              </a:rPr>
              <a:t>server</a:t>
            </a:r>
            <a:r>
              <a:rPr sz="2500" spc="35" dirty="0">
                <a:latin typeface="Arial"/>
                <a:cs typeface="Arial"/>
              </a:rPr>
              <a:t> </a:t>
            </a:r>
            <a:r>
              <a:rPr sz="2500" spc="-100" dirty="0">
                <a:latin typeface="Arial"/>
                <a:cs typeface="Arial"/>
              </a:rPr>
              <a:t>protocol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125" dirty="0">
                <a:latin typeface="Arial"/>
                <a:cs typeface="Arial"/>
              </a:rPr>
              <a:t>over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90" dirty="0">
                <a:latin typeface="Arial"/>
                <a:cs typeface="Arial"/>
              </a:rPr>
              <a:t>point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to-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750"/>
              </a:lnSpc>
            </a:pPr>
            <a:r>
              <a:rPr sz="2500" spc="-100" dirty="0">
                <a:latin typeface="Arial"/>
                <a:cs typeface="Arial"/>
              </a:rPr>
              <a:t>point</a:t>
            </a:r>
            <a:r>
              <a:rPr sz="2500" spc="-75" dirty="0">
                <a:latin typeface="Arial"/>
                <a:cs typeface="Arial"/>
              </a:rPr>
              <a:t> </a:t>
            </a:r>
            <a:r>
              <a:rPr sz="2500" spc="-220" dirty="0">
                <a:latin typeface="Arial"/>
                <a:cs typeface="Arial"/>
              </a:rPr>
              <a:t>TCP,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105" dirty="0">
                <a:latin typeface="Arial"/>
                <a:cs typeface="Arial"/>
              </a:rPr>
              <a:t>centralized</a:t>
            </a:r>
            <a:r>
              <a:rPr sz="2500" spc="5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system</a:t>
            </a:r>
            <a:endParaRPr sz="25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185"/>
              </a:spcBef>
            </a:pPr>
            <a:r>
              <a:rPr sz="2350" spc="-30" dirty="0">
                <a:latin typeface="Arial"/>
                <a:cs typeface="Arial"/>
              </a:rPr>
              <a:t>Retrieval:</a:t>
            </a:r>
            <a:r>
              <a:rPr sz="2350" spc="-12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four</a:t>
            </a:r>
            <a:r>
              <a:rPr sz="2350" spc="-10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steps</a:t>
            </a:r>
            <a:endParaRPr sz="2350">
              <a:latin typeface="Arial"/>
              <a:cs typeface="Arial"/>
            </a:endParaRPr>
          </a:p>
          <a:p>
            <a:pPr marL="416559">
              <a:lnSpc>
                <a:spcPct val="100000"/>
              </a:lnSpc>
              <a:spcBef>
                <a:spcPts val="130"/>
              </a:spcBef>
            </a:pPr>
            <a:r>
              <a:rPr sz="2100" spc="-55" dirty="0">
                <a:latin typeface="Arial"/>
                <a:cs typeface="Arial"/>
              </a:rPr>
              <a:t>Connect</a:t>
            </a:r>
            <a:r>
              <a:rPr sz="2100" spc="-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-145" dirty="0">
                <a:latin typeface="Arial"/>
                <a:cs typeface="Arial"/>
              </a:rPr>
              <a:t> </a:t>
            </a:r>
            <a:r>
              <a:rPr sz="2100" spc="-45" dirty="0">
                <a:latin typeface="Arial"/>
                <a:cs typeface="Arial"/>
              </a:rPr>
              <a:t>Napster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server</a:t>
            </a:r>
            <a:endParaRPr sz="2100">
              <a:latin typeface="Arial"/>
              <a:cs typeface="Arial"/>
            </a:endParaRPr>
          </a:p>
          <a:p>
            <a:pPr marL="416559">
              <a:lnSpc>
                <a:spcPct val="100000"/>
              </a:lnSpc>
              <a:spcBef>
                <a:spcPts val="175"/>
              </a:spcBef>
            </a:pPr>
            <a:r>
              <a:rPr sz="2050" spc="-10" dirty="0">
                <a:latin typeface="Arial"/>
                <a:cs typeface="Arial"/>
              </a:rPr>
              <a:t>Upload</a:t>
            </a:r>
            <a:r>
              <a:rPr sz="2050" spc="-10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your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list</a:t>
            </a:r>
            <a:r>
              <a:rPr sz="2050" spc="-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of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files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(push)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to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server.</a:t>
            </a:r>
            <a:endParaRPr sz="2050">
              <a:latin typeface="Arial"/>
              <a:cs typeface="Arial"/>
            </a:endParaRPr>
          </a:p>
          <a:p>
            <a:pPr marL="418465" marR="1248410" indent="-5715">
              <a:lnSpc>
                <a:spcPct val="106300"/>
              </a:lnSpc>
              <a:spcBef>
                <a:spcPts val="30"/>
              </a:spcBef>
            </a:pPr>
            <a:r>
              <a:rPr sz="2050" dirty="0">
                <a:latin typeface="Arial"/>
                <a:cs typeface="Arial"/>
              </a:rPr>
              <a:t>Give</a:t>
            </a:r>
            <a:r>
              <a:rPr sz="2050" spc="-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sewer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keywords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to</a:t>
            </a:r>
            <a:r>
              <a:rPr sz="2050" spc="-10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search</a:t>
            </a:r>
            <a:r>
              <a:rPr sz="2050" spc="-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the</a:t>
            </a:r>
            <a:r>
              <a:rPr sz="2050" spc="-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full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list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with. Select</a:t>
            </a:r>
            <a:r>
              <a:rPr sz="2050" spc="-9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“best”</a:t>
            </a:r>
            <a:r>
              <a:rPr sz="2050" spc="-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of</a:t>
            </a:r>
            <a:r>
              <a:rPr sz="2050" spc="-120" dirty="0">
                <a:latin typeface="Arial"/>
                <a:cs typeface="Arial"/>
              </a:rPr>
              <a:t> </a:t>
            </a:r>
            <a:r>
              <a:rPr sz="2050" spc="-25" dirty="0">
                <a:latin typeface="Arial"/>
                <a:cs typeface="Arial"/>
              </a:rPr>
              <a:t>correct</a:t>
            </a:r>
            <a:r>
              <a:rPr sz="2050" spc="-80" dirty="0">
                <a:latin typeface="Arial"/>
                <a:cs typeface="Arial"/>
              </a:rPr>
              <a:t> </a:t>
            </a:r>
            <a:r>
              <a:rPr sz="2050" spc="-25" dirty="0">
                <a:latin typeface="Arial"/>
                <a:cs typeface="Arial"/>
              </a:rPr>
              <a:t>answers.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(pings)</a:t>
            </a:r>
            <a:endParaRPr sz="2050">
              <a:latin typeface="Arial"/>
              <a:cs typeface="Arial"/>
            </a:endParaRPr>
          </a:p>
          <a:p>
            <a:pPr marL="13335" marR="322580" indent="635">
              <a:lnSpc>
                <a:spcPct val="88600"/>
              </a:lnSpc>
              <a:spcBef>
                <a:spcPts val="585"/>
              </a:spcBef>
            </a:pPr>
            <a:r>
              <a:rPr sz="2300" spc="-10" dirty="0">
                <a:latin typeface="Arial"/>
                <a:cs typeface="Arial"/>
              </a:rPr>
              <a:t>centralized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server: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single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logical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point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of</a:t>
            </a:r>
            <a:r>
              <a:rPr sz="2300" spc="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failure,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can </a:t>
            </a:r>
            <a:r>
              <a:rPr sz="2300" dirty="0">
                <a:latin typeface="Arial"/>
                <a:cs typeface="Arial"/>
              </a:rPr>
              <a:t>load</a:t>
            </a:r>
            <a:r>
              <a:rPr sz="2300" spc="-14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balance among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servers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using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DNS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rotation, </a:t>
            </a:r>
            <a:r>
              <a:rPr sz="2400" spc="-45" dirty="0">
                <a:latin typeface="Arial"/>
                <a:cs typeface="Arial"/>
              </a:rPr>
              <a:t>potential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for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congestion</a:t>
            </a:r>
            <a:endParaRPr sz="2400">
              <a:latin typeface="Arial"/>
              <a:cs typeface="Arial"/>
            </a:endParaRPr>
          </a:p>
          <a:p>
            <a:pPr marL="16510" marR="5080">
              <a:lnSpc>
                <a:spcPts val="2480"/>
              </a:lnSpc>
              <a:spcBef>
                <a:spcPts val="575"/>
              </a:spcBef>
            </a:pPr>
            <a:r>
              <a:rPr sz="2450" spc="-90" dirty="0">
                <a:latin typeface="Arial"/>
                <a:cs typeface="Arial"/>
              </a:rPr>
              <a:t>no</a:t>
            </a:r>
            <a:r>
              <a:rPr sz="2450" spc="-80" dirty="0">
                <a:latin typeface="Arial"/>
                <a:cs typeface="Arial"/>
              </a:rPr>
              <a:t> security:</a:t>
            </a:r>
            <a:r>
              <a:rPr sz="2450" spc="-90" dirty="0">
                <a:latin typeface="Arial"/>
                <a:cs typeface="Arial"/>
              </a:rPr>
              <a:t> passwords</a:t>
            </a:r>
            <a:r>
              <a:rPr sz="2450" spc="-25" dirty="0">
                <a:latin typeface="Arial"/>
                <a:cs typeface="Arial"/>
              </a:rPr>
              <a:t> </a:t>
            </a:r>
            <a:r>
              <a:rPr sz="2450" spc="-50" dirty="0">
                <a:latin typeface="Arial"/>
                <a:cs typeface="Arial"/>
              </a:rPr>
              <a:t>in</a:t>
            </a:r>
            <a:r>
              <a:rPr sz="2450" spc="-120" dirty="0">
                <a:latin typeface="Arial"/>
                <a:cs typeface="Arial"/>
              </a:rPr>
              <a:t> </a:t>
            </a:r>
            <a:r>
              <a:rPr sz="2450" spc="-60" dirty="0">
                <a:latin typeface="Arial"/>
                <a:cs typeface="Arial"/>
              </a:rPr>
              <a:t>plain</a:t>
            </a:r>
            <a:r>
              <a:rPr sz="2450" spc="-105" dirty="0">
                <a:latin typeface="Arial"/>
                <a:cs typeface="Arial"/>
              </a:rPr>
              <a:t> </a:t>
            </a:r>
            <a:r>
              <a:rPr sz="2450" spc="-50" dirty="0">
                <a:latin typeface="Arial"/>
                <a:cs typeface="Arial"/>
              </a:rPr>
              <a:t>text,</a:t>
            </a:r>
            <a:r>
              <a:rPr sz="2450" spc="-45" dirty="0">
                <a:latin typeface="Arial"/>
                <a:cs typeface="Arial"/>
              </a:rPr>
              <a:t> </a:t>
            </a:r>
            <a:r>
              <a:rPr sz="2450" spc="-50" dirty="0">
                <a:latin typeface="Arial"/>
                <a:cs typeface="Arial"/>
              </a:rPr>
              <a:t>no</a:t>
            </a:r>
            <a:r>
              <a:rPr sz="2450" spc="-65" dirty="0">
                <a:latin typeface="Arial"/>
                <a:cs typeface="Arial"/>
              </a:rPr>
              <a:t> </a:t>
            </a:r>
            <a:r>
              <a:rPr sz="2450" spc="-55" dirty="0">
                <a:latin typeface="Arial"/>
                <a:cs typeface="Arial"/>
              </a:rPr>
              <a:t>authentication, </a:t>
            </a:r>
            <a:r>
              <a:rPr sz="2450" spc="-75" dirty="0">
                <a:latin typeface="Arial"/>
                <a:cs typeface="Arial"/>
              </a:rPr>
              <a:t>no</a:t>
            </a:r>
            <a:r>
              <a:rPr sz="2450" spc="-90" dirty="0">
                <a:latin typeface="Arial"/>
                <a:cs typeface="Arial"/>
              </a:rPr>
              <a:t> </a:t>
            </a:r>
            <a:r>
              <a:rPr sz="2450" spc="-10" dirty="0">
                <a:latin typeface="Arial"/>
                <a:cs typeface="Arial"/>
              </a:rPr>
              <a:t>anonymity</a:t>
            </a:r>
            <a:endParaRPr sz="24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4312"/>
            <a:ext cx="8851106" cy="61293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334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sz="3950" spc="-395" dirty="0">
                <a:solidFill>
                  <a:srgbClr val="346667"/>
                </a:solidFill>
              </a:rPr>
              <a:t>Napster:</a:t>
            </a:r>
            <a:r>
              <a:rPr sz="3950" spc="20" dirty="0">
                <a:solidFill>
                  <a:srgbClr val="346667"/>
                </a:solidFill>
              </a:rPr>
              <a:t> </a:t>
            </a:r>
            <a:r>
              <a:rPr sz="3950" spc="-615" dirty="0">
                <a:solidFill>
                  <a:srgbClr val="336466"/>
                </a:solidFill>
              </a:rPr>
              <a:t>How</a:t>
            </a:r>
            <a:r>
              <a:rPr sz="3950" spc="-15" dirty="0">
                <a:solidFill>
                  <a:srgbClr val="336466"/>
                </a:solidFill>
              </a:rPr>
              <a:t> </a:t>
            </a:r>
            <a:r>
              <a:rPr sz="3950" spc="-280" dirty="0">
                <a:solidFill>
                  <a:srgbClr val="366469"/>
                </a:solidFill>
              </a:rPr>
              <a:t>it</a:t>
            </a:r>
            <a:r>
              <a:rPr sz="3950" spc="-110" dirty="0">
                <a:solidFill>
                  <a:srgbClr val="366469"/>
                </a:solidFill>
              </a:rPr>
              <a:t> </a:t>
            </a:r>
            <a:r>
              <a:rPr sz="3950" spc="-445" dirty="0">
                <a:solidFill>
                  <a:srgbClr val="336267"/>
                </a:solidFill>
              </a:rPr>
              <a:t>works?(1)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682910" y="1692324"/>
            <a:ext cx="6089650" cy="1266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100" spc="-425" dirty="0">
                <a:latin typeface="Arial Black"/>
                <a:cs typeface="Arial Black"/>
              </a:rPr>
              <a:t>naps</a:t>
            </a:r>
            <a:r>
              <a:rPr sz="2100" u="heavy" spc="-425" dirty="0">
                <a:uFill>
                  <a:solidFill>
                    <a:srgbClr val="2B6B6B"/>
                  </a:solidFill>
                </a:uFill>
                <a:latin typeface="Arial Black"/>
                <a:cs typeface="Arial Black"/>
              </a:rPr>
              <a:t>ter.c</a:t>
            </a:r>
            <a:r>
              <a:rPr sz="2100" u="none" spc="-425" dirty="0">
                <a:latin typeface="Arial Black"/>
                <a:cs typeface="Arial Black"/>
              </a:rPr>
              <a:t>om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ts val="3654"/>
              </a:lnSpc>
              <a:spcBef>
                <a:spcPts val="55"/>
              </a:spcBef>
            </a:pPr>
            <a:r>
              <a:rPr sz="4725" spc="-1019" baseline="4409" dirty="0">
                <a:solidFill>
                  <a:srgbClr val="F93805"/>
                </a:solidFill>
                <a:latin typeface="Arial Black"/>
                <a:cs typeface="Arial Black"/>
              </a:rPr>
              <a:t>1.</a:t>
            </a:r>
            <a:r>
              <a:rPr sz="4725" spc="1139" baseline="4409" dirty="0">
                <a:solidFill>
                  <a:srgbClr val="F93805"/>
                </a:solidFill>
                <a:latin typeface="Arial Black"/>
                <a:cs typeface="Arial Black"/>
              </a:rPr>
              <a:t> </a:t>
            </a:r>
            <a:r>
              <a:rPr sz="3150" spc="-430" dirty="0">
                <a:latin typeface="Arial Black"/>
                <a:cs typeface="Arial Black"/>
              </a:rPr>
              <a:t>File</a:t>
            </a:r>
            <a:r>
              <a:rPr sz="3150" spc="-30" dirty="0">
                <a:latin typeface="Arial Black"/>
                <a:cs typeface="Arial Black"/>
              </a:rPr>
              <a:t> </a:t>
            </a:r>
            <a:r>
              <a:rPr sz="3150" spc="-509" dirty="0">
                <a:latin typeface="Arial Black"/>
                <a:cs typeface="Arial Black"/>
              </a:rPr>
              <a:t>lis†</a:t>
            </a:r>
            <a:r>
              <a:rPr sz="3150" spc="-85" dirty="0">
                <a:latin typeface="Arial Black"/>
                <a:cs typeface="Arial Black"/>
              </a:rPr>
              <a:t> </a:t>
            </a:r>
            <a:r>
              <a:rPr sz="3150" spc="-540" dirty="0">
                <a:latin typeface="Arial Black"/>
                <a:cs typeface="Arial Black"/>
              </a:rPr>
              <a:t>is</a:t>
            </a:r>
            <a:endParaRPr sz="3150">
              <a:latin typeface="Arial Black"/>
              <a:cs typeface="Arial Black"/>
            </a:endParaRPr>
          </a:p>
          <a:p>
            <a:pPr marL="469265">
              <a:lnSpc>
                <a:spcPts val="3535"/>
              </a:lnSpc>
            </a:pPr>
            <a:r>
              <a:rPr sz="3050" spc="-535" dirty="0">
                <a:latin typeface="Arial Black"/>
                <a:cs typeface="Arial Black"/>
              </a:rPr>
              <a:t>uploaded</a:t>
            </a:r>
            <a:endParaRPr sz="30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7733" y="4915098"/>
            <a:ext cx="58039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latin typeface="Times New Roman"/>
                <a:cs typeface="Times New Roman"/>
              </a:rPr>
              <a:t>users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4312"/>
            <a:ext cx="8851106" cy="61293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642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15"/>
              </a:spcBef>
            </a:pPr>
            <a:r>
              <a:rPr sz="3550" spc="-125" dirty="0">
                <a:solidFill>
                  <a:srgbClr val="346467"/>
                </a:solidFill>
              </a:rPr>
              <a:t>Napster:</a:t>
            </a:r>
            <a:r>
              <a:rPr sz="3550" spc="-85" dirty="0">
                <a:solidFill>
                  <a:srgbClr val="346467"/>
                </a:solidFill>
              </a:rPr>
              <a:t> </a:t>
            </a:r>
            <a:r>
              <a:rPr sz="3550" spc="-325" dirty="0">
                <a:solidFill>
                  <a:srgbClr val="336466"/>
                </a:solidFill>
              </a:rPr>
              <a:t>How</a:t>
            </a:r>
            <a:r>
              <a:rPr sz="3550" spc="30" dirty="0">
                <a:solidFill>
                  <a:srgbClr val="336466"/>
                </a:solidFill>
              </a:rPr>
              <a:t> </a:t>
            </a:r>
            <a:r>
              <a:rPr sz="3550" dirty="0">
                <a:solidFill>
                  <a:srgbClr val="366469"/>
                </a:solidFill>
              </a:rPr>
              <a:t>it</a:t>
            </a:r>
            <a:r>
              <a:rPr sz="3550" spc="-130" dirty="0">
                <a:solidFill>
                  <a:srgbClr val="366469"/>
                </a:solidFill>
              </a:rPr>
              <a:t> </a:t>
            </a:r>
            <a:r>
              <a:rPr sz="3550" spc="-175" dirty="0">
                <a:solidFill>
                  <a:srgbClr val="316267"/>
                </a:solidFill>
              </a:rPr>
              <a:t>works?(2)</a:t>
            </a:r>
            <a:endParaRPr sz="3550"/>
          </a:p>
        </p:txBody>
      </p:sp>
      <p:sp>
        <p:nvSpPr>
          <p:cNvPr id="6" name="object 6"/>
          <p:cNvSpPr txBox="1"/>
          <p:nvPr/>
        </p:nvSpPr>
        <p:spPr>
          <a:xfrm>
            <a:off x="5604520" y="1727100"/>
            <a:ext cx="127127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395" dirty="0">
                <a:latin typeface="Arial Black"/>
                <a:cs typeface="Arial Black"/>
              </a:rPr>
              <a:t>napster.com</a:t>
            </a:r>
            <a:endParaRPr sz="20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1499" y="2526506"/>
            <a:ext cx="1583055" cy="135191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indent="3175">
              <a:lnSpc>
                <a:spcPct val="88500"/>
              </a:lnSpc>
              <a:spcBef>
                <a:spcPts val="550"/>
              </a:spcBef>
            </a:pPr>
            <a:r>
              <a:rPr sz="3100" spc="-500" dirty="0">
                <a:latin typeface="Arial Black"/>
                <a:cs typeface="Arial Black"/>
              </a:rPr>
              <a:t>requests </a:t>
            </a:r>
            <a:r>
              <a:rPr sz="3200" spc="-585" dirty="0">
                <a:latin typeface="Arial Black"/>
                <a:cs typeface="Arial Black"/>
              </a:rPr>
              <a:t>search</a:t>
            </a:r>
            <a:r>
              <a:rPr sz="3200" spc="30" dirty="0">
                <a:latin typeface="Arial Black"/>
                <a:cs typeface="Arial Black"/>
              </a:rPr>
              <a:t> </a:t>
            </a:r>
            <a:r>
              <a:rPr sz="3200" spc="-480" dirty="0">
                <a:latin typeface="Arial Black"/>
                <a:cs typeface="Arial Black"/>
              </a:rPr>
              <a:t>at </a:t>
            </a:r>
            <a:r>
              <a:rPr sz="3100" spc="-415" dirty="0">
                <a:latin typeface="Arial Black"/>
                <a:cs typeface="Arial Black"/>
              </a:rPr>
              <a:t>server.</a:t>
            </a:r>
            <a:endParaRPr sz="31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7104" y="2950170"/>
            <a:ext cx="775970" cy="78422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lnSpc>
                <a:spcPct val="87000"/>
              </a:lnSpc>
              <a:spcBef>
                <a:spcPts val="380"/>
              </a:spcBef>
            </a:pPr>
            <a:r>
              <a:rPr sz="1750" spc="-220" dirty="0">
                <a:latin typeface="Courier New"/>
                <a:cs typeface="Courier New"/>
              </a:rPr>
              <a:t>Reques† </a:t>
            </a:r>
            <a:r>
              <a:rPr sz="1900" spc="-330" dirty="0">
                <a:latin typeface="Courier New"/>
                <a:cs typeface="Courier New"/>
              </a:rPr>
              <a:t>ond </a:t>
            </a:r>
            <a:r>
              <a:rPr sz="1800" spc="-370" dirty="0">
                <a:latin typeface="Courier New"/>
                <a:cs typeface="Courier New"/>
              </a:rPr>
              <a:t>results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4889" y="4921299"/>
            <a:ext cx="4610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latin typeface="Times New Roman"/>
                <a:cs typeface="Times New Roman"/>
              </a:rPr>
              <a:t>user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162" y="214312"/>
            <a:ext cx="8851265" cy="6129655"/>
            <a:chOff x="157162" y="214312"/>
            <a:chExt cx="8851265" cy="6129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" y="214312"/>
              <a:ext cx="8851106" cy="61293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250" y="3364706"/>
              <a:ext cx="821531" cy="6357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0512" y="4025502"/>
              <a:ext cx="748308" cy="421481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736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z="3850" spc="-340" dirty="0">
                <a:solidFill>
                  <a:srgbClr val="346667"/>
                </a:solidFill>
              </a:rPr>
              <a:t>Napster:</a:t>
            </a:r>
            <a:r>
              <a:rPr sz="3850" spc="20" dirty="0">
                <a:solidFill>
                  <a:srgbClr val="346667"/>
                </a:solidFill>
              </a:rPr>
              <a:t> </a:t>
            </a:r>
            <a:r>
              <a:rPr sz="3650" spc="-395" dirty="0">
                <a:solidFill>
                  <a:srgbClr val="336466"/>
                </a:solidFill>
              </a:rPr>
              <a:t>How</a:t>
            </a:r>
            <a:r>
              <a:rPr sz="3650" spc="90" dirty="0">
                <a:solidFill>
                  <a:srgbClr val="336466"/>
                </a:solidFill>
              </a:rPr>
              <a:t> </a:t>
            </a:r>
            <a:r>
              <a:rPr sz="3650" spc="-45" dirty="0">
                <a:solidFill>
                  <a:srgbClr val="366469"/>
                </a:solidFill>
              </a:rPr>
              <a:t>it</a:t>
            </a:r>
            <a:r>
              <a:rPr sz="3650" spc="-130" dirty="0">
                <a:solidFill>
                  <a:srgbClr val="366469"/>
                </a:solidFill>
              </a:rPr>
              <a:t> </a:t>
            </a:r>
            <a:r>
              <a:rPr sz="3650" spc="-280" dirty="0">
                <a:solidFill>
                  <a:srgbClr val="366267"/>
                </a:solidFill>
              </a:rPr>
              <a:t>works?(3)</a:t>
            </a:r>
            <a:endParaRPr sz="3650"/>
          </a:p>
        </p:txBody>
      </p:sp>
      <p:sp>
        <p:nvSpPr>
          <p:cNvPr id="7" name="object 7"/>
          <p:cNvSpPr txBox="1"/>
          <p:nvPr/>
        </p:nvSpPr>
        <p:spPr>
          <a:xfrm>
            <a:off x="1149681" y="5138488"/>
            <a:ext cx="814069" cy="509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10" dirty="0">
                <a:latin typeface="Cambria"/>
                <a:cs typeface="Cambria"/>
              </a:rPr>
              <a:t>rote.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7220" y="1656297"/>
            <a:ext cx="5744210" cy="356679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05"/>
              </a:spcBef>
            </a:pPr>
            <a:r>
              <a:rPr sz="2000" spc="-375" dirty="0">
                <a:latin typeface="Arial Black"/>
                <a:cs typeface="Arial Black"/>
              </a:rPr>
              <a:t>napster.com</a:t>
            </a:r>
            <a:endParaRPr sz="2000">
              <a:latin typeface="Arial Black"/>
              <a:cs typeface="Arial Black"/>
            </a:endParaRPr>
          </a:p>
          <a:p>
            <a:pPr marL="12700" marR="4002404" indent="2540" algn="just">
              <a:lnSpc>
                <a:spcPct val="89600"/>
              </a:lnSpc>
              <a:spcBef>
                <a:spcPts val="1360"/>
              </a:spcBef>
            </a:pPr>
            <a:r>
              <a:rPr sz="3100" spc="-525" dirty="0">
                <a:latin typeface="Arial Black"/>
                <a:cs typeface="Arial Black"/>
              </a:rPr>
              <a:t>User</a:t>
            </a:r>
            <a:r>
              <a:rPr sz="3100" spc="270" dirty="0">
                <a:latin typeface="Arial Black"/>
                <a:cs typeface="Arial Black"/>
              </a:rPr>
              <a:t> </a:t>
            </a:r>
            <a:r>
              <a:rPr sz="3100" spc="-580" dirty="0">
                <a:latin typeface="Arial Black"/>
                <a:cs typeface="Arial Black"/>
              </a:rPr>
              <a:t>pings </a:t>
            </a:r>
            <a:r>
              <a:rPr sz="3200" spc="-625" dirty="0">
                <a:latin typeface="Arial Black"/>
                <a:cs typeface="Arial Black"/>
              </a:rPr>
              <a:t>hosts</a:t>
            </a:r>
            <a:r>
              <a:rPr sz="3200" spc="375" dirty="0">
                <a:latin typeface="Arial Black"/>
                <a:cs typeface="Arial Black"/>
              </a:rPr>
              <a:t> </a:t>
            </a:r>
            <a:r>
              <a:rPr sz="3200" spc="-434" dirty="0">
                <a:latin typeface="Arial Black"/>
                <a:cs typeface="Arial Black"/>
              </a:rPr>
              <a:t>that </a:t>
            </a:r>
            <a:r>
              <a:rPr sz="3150" spc="-530" dirty="0">
                <a:latin typeface="Arial Black"/>
                <a:cs typeface="Arial Black"/>
              </a:rPr>
              <a:t>apparently </a:t>
            </a:r>
            <a:r>
              <a:rPr sz="3000" spc="-535" dirty="0">
                <a:latin typeface="Arial Black"/>
                <a:cs typeface="Arial Black"/>
              </a:rPr>
              <a:t>have</a:t>
            </a:r>
            <a:r>
              <a:rPr sz="3000" spc="35" dirty="0">
                <a:latin typeface="Arial Black"/>
                <a:cs typeface="Arial Black"/>
              </a:rPr>
              <a:t> </a:t>
            </a:r>
            <a:r>
              <a:rPr sz="3000" spc="-430" dirty="0">
                <a:latin typeface="Arial Black"/>
                <a:cs typeface="Arial Black"/>
              </a:rPr>
              <a:t>data.</a:t>
            </a:r>
            <a:endParaRPr sz="3000">
              <a:latin typeface="Arial Black"/>
              <a:cs typeface="Arial Black"/>
            </a:endParaRPr>
          </a:p>
          <a:p>
            <a:pPr marL="35560" marR="3474085" indent="-21590">
              <a:lnSpc>
                <a:spcPts val="3350"/>
              </a:lnSpc>
              <a:spcBef>
                <a:spcPts val="3470"/>
              </a:spcBef>
            </a:pPr>
            <a:r>
              <a:rPr sz="3150" spc="-105" dirty="0">
                <a:latin typeface="Cambria"/>
                <a:cs typeface="Cambria"/>
              </a:rPr>
              <a:t>Looks</a:t>
            </a:r>
            <a:r>
              <a:rPr sz="3150" spc="-55" dirty="0">
                <a:latin typeface="Cambria"/>
                <a:cs typeface="Cambria"/>
              </a:rPr>
              <a:t> </a:t>
            </a:r>
            <a:r>
              <a:rPr sz="3150" spc="35" dirty="0">
                <a:latin typeface="Cambria"/>
                <a:cs typeface="Cambria"/>
              </a:rPr>
              <a:t>for </a:t>
            </a:r>
            <a:r>
              <a:rPr sz="3150" spc="-110" dirty="0">
                <a:latin typeface="Cambria"/>
                <a:cs typeface="Cambria"/>
              </a:rPr>
              <a:t>bes†</a:t>
            </a:r>
            <a:r>
              <a:rPr sz="3150" spc="-40" dirty="0">
                <a:latin typeface="Cambria"/>
                <a:cs typeface="Cambria"/>
              </a:rPr>
              <a:t> </a:t>
            </a:r>
            <a:r>
              <a:rPr sz="3150" spc="-35" dirty="0">
                <a:latin typeface="Cambria"/>
                <a:cs typeface="Cambria"/>
              </a:rPr>
              <a:t>†roesfer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3199" y="4022823"/>
            <a:ext cx="732790" cy="419734"/>
          </a:xfrm>
          <a:prstGeom prst="rect">
            <a:avLst/>
          </a:prstGeom>
          <a:ln w="8929">
            <a:solidFill>
              <a:srgbClr val="545454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380"/>
              </a:spcBef>
            </a:pPr>
            <a:r>
              <a:rPr sz="2000" spc="-10" dirty="0">
                <a:latin typeface="Arial"/>
                <a:cs typeface="Arial"/>
              </a:rPr>
              <a:t>pings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80410" y="4937273"/>
            <a:ext cx="4686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65" dirty="0">
                <a:latin typeface="Arial Black"/>
                <a:cs typeface="Arial Black"/>
              </a:rPr>
              <a:t>user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4312"/>
            <a:ext cx="8851106" cy="61293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334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sz="3950" spc="-395" dirty="0">
                <a:solidFill>
                  <a:srgbClr val="346667"/>
                </a:solidFill>
              </a:rPr>
              <a:t>Napster:</a:t>
            </a:r>
            <a:r>
              <a:rPr sz="3950" spc="20" dirty="0">
                <a:solidFill>
                  <a:srgbClr val="346667"/>
                </a:solidFill>
              </a:rPr>
              <a:t> </a:t>
            </a:r>
            <a:r>
              <a:rPr sz="3950" spc="-615" dirty="0">
                <a:solidFill>
                  <a:srgbClr val="336466"/>
                </a:solidFill>
              </a:rPr>
              <a:t>How</a:t>
            </a:r>
            <a:r>
              <a:rPr sz="3950" spc="-15" dirty="0">
                <a:solidFill>
                  <a:srgbClr val="336466"/>
                </a:solidFill>
              </a:rPr>
              <a:t> </a:t>
            </a:r>
            <a:r>
              <a:rPr sz="3950" spc="-280" dirty="0">
                <a:solidFill>
                  <a:srgbClr val="366469"/>
                </a:solidFill>
              </a:rPr>
              <a:t>it</a:t>
            </a:r>
            <a:r>
              <a:rPr sz="3950" spc="-110" dirty="0">
                <a:solidFill>
                  <a:srgbClr val="366469"/>
                </a:solidFill>
              </a:rPr>
              <a:t> </a:t>
            </a:r>
            <a:r>
              <a:rPr sz="3950" spc="-445" dirty="0">
                <a:solidFill>
                  <a:srgbClr val="336267"/>
                </a:solidFill>
              </a:rPr>
              <a:t>works?(4)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523738" y="1671986"/>
            <a:ext cx="6365240" cy="13633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535"/>
              </a:spcBef>
            </a:pPr>
            <a:r>
              <a:rPr sz="2050" spc="-395" dirty="0">
                <a:latin typeface="Arial Black"/>
                <a:cs typeface="Arial Black"/>
              </a:rPr>
              <a:t>napster.com</a:t>
            </a:r>
            <a:endParaRPr sz="2050">
              <a:latin typeface="Arial Black"/>
              <a:cs typeface="Arial Black"/>
            </a:endParaRPr>
          </a:p>
          <a:p>
            <a:pPr marL="25400">
              <a:lnSpc>
                <a:spcPts val="3515"/>
              </a:lnSpc>
              <a:spcBef>
                <a:spcPts val="665"/>
              </a:spcBef>
            </a:pPr>
            <a:r>
              <a:rPr sz="4500" spc="-540" baseline="6481" dirty="0">
                <a:solidFill>
                  <a:srgbClr val="FD310A"/>
                </a:solidFill>
                <a:latin typeface="Arial Black"/>
                <a:cs typeface="Arial Black"/>
              </a:rPr>
              <a:t>4.</a:t>
            </a:r>
            <a:r>
              <a:rPr sz="4500" spc="375" baseline="6481" dirty="0">
                <a:solidFill>
                  <a:srgbClr val="FD310A"/>
                </a:solidFill>
                <a:latin typeface="Arial Black"/>
                <a:cs typeface="Arial Black"/>
              </a:rPr>
              <a:t> </a:t>
            </a:r>
            <a:r>
              <a:rPr sz="3000" spc="-450" dirty="0">
                <a:latin typeface="Arial Black"/>
                <a:cs typeface="Arial Black"/>
              </a:rPr>
              <a:t>User</a:t>
            </a:r>
            <a:endParaRPr sz="3000">
              <a:latin typeface="Arial Black"/>
              <a:cs typeface="Arial Black"/>
            </a:endParaRPr>
          </a:p>
          <a:p>
            <a:pPr marL="481330">
              <a:lnSpc>
                <a:spcPts val="3450"/>
              </a:lnSpc>
            </a:pPr>
            <a:r>
              <a:rPr sz="2950" spc="-310" dirty="0">
                <a:latin typeface="Arial Black"/>
                <a:cs typeface="Arial Black"/>
              </a:rPr>
              <a:t>retrieves</a:t>
            </a:r>
            <a:r>
              <a:rPr sz="2950" spc="320" dirty="0">
                <a:latin typeface="Arial Black"/>
                <a:cs typeface="Arial Black"/>
              </a:rPr>
              <a:t> </a:t>
            </a:r>
            <a:r>
              <a:rPr sz="2950" spc="-20" dirty="0">
                <a:latin typeface="Arial Black"/>
                <a:cs typeface="Arial Black"/>
              </a:rPr>
              <a:t>file</a:t>
            </a:r>
            <a:endParaRPr sz="295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6811" y="4096195"/>
            <a:ext cx="2240280" cy="117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52245" algn="r">
              <a:lnSpc>
                <a:spcPts val="2345"/>
              </a:lnSpc>
              <a:spcBef>
                <a:spcPts val="100"/>
              </a:spcBef>
            </a:pPr>
            <a:r>
              <a:rPr sz="2100" spc="-400" dirty="0">
                <a:latin typeface="Arial Black"/>
                <a:cs typeface="Arial Black"/>
              </a:rPr>
              <a:t>Re†rieź</a:t>
            </a:r>
            <a:endParaRPr sz="2100">
              <a:latin typeface="Arial Black"/>
              <a:cs typeface="Arial Black"/>
            </a:endParaRPr>
          </a:p>
          <a:p>
            <a:pPr marR="1522095" algn="r">
              <a:lnSpc>
                <a:spcPts val="2345"/>
              </a:lnSpc>
            </a:pPr>
            <a:r>
              <a:rPr sz="2100" spc="-20" dirty="0">
                <a:latin typeface="Arial Black"/>
                <a:cs typeface="Arial Black"/>
              </a:rPr>
              <a:t>file</a:t>
            </a:r>
            <a:endParaRPr sz="2100">
              <a:latin typeface="Arial Black"/>
              <a:cs typeface="Arial Black"/>
            </a:endParaRPr>
          </a:p>
          <a:p>
            <a:pPr marR="5080" algn="r">
              <a:lnSpc>
                <a:spcPct val="100000"/>
              </a:lnSpc>
              <a:spcBef>
                <a:spcPts val="1810"/>
              </a:spcBef>
            </a:pPr>
            <a:r>
              <a:rPr sz="2100" spc="-415" dirty="0">
                <a:latin typeface="Arial Black"/>
                <a:cs typeface="Arial Black"/>
              </a:rPr>
              <a:t>user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5103" y="6412805"/>
            <a:ext cx="17214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175" dirty="0">
                <a:latin typeface="Arial Black"/>
                <a:cs typeface="Arial Black"/>
              </a:rPr>
              <a:t>CMSC</a:t>
            </a:r>
            <a:r>
              <a:rPr sz="1450" spc="50" dirty="0">
                <a:latin typeface="Arial Black"/>
                <a:cs typeface="Arial Black"/>
              </a:rPr>
              <a:t> </a:t>
            </a:r>
            <a:r>
              <a:rPr sz="1450" spc="-185" dirty="0">
                <a:latin typeface="Arial Black"/>
                <a:cs typeface="Arial Black"/>
              </a:rPr>
              <a:t>621,</a:t>
            </a:r>
            <a:r>
              <a:rPr sz="1450" spc="10" dirty="0">
                <a:latin typeface="Arial Black"/>
                <a:cs typeface="Arial Black"/>
              </a:rPr>
              <a:t> </a:t>
            </a:r>
            <a:r>
              <a:rPr sz="1450" spc="-190" dirty="0">
                <a:latin typeface="Arial Black"/>
                <a:cs typeface="Arial Black"/>
              </a:rPr>
              <a:t>Fall</a:t>
            </a:r>
            <a:r>
              <a:rPr sz="1450" spc="-25" dirty="0">
                <a:latin typeface="Arial Black"/>
                <a:cs typeface="Arial Black"/>
              </a:rPr>
              <a:t> </a:t>
            </a:r>
            <a:r>
              <a:rPr sz="1450" spc="-180" dirty="0">
                <a:latin typeface="Arial Black"/>
                <a:cs typeface="Arial Black"/>
              </a:rPr>
              <a:t>2007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5400" marR="5080" indent="5080">
              <a:lnSpc>
                <a:spcPts val="3970"/>
              </a:lnSpc>
              <a:spcBef>
                <a:spcPts val="535"/>
              </a:spcBef>
            </a:pPr>
            <a:r>
              <a:rPr sz="3600" spc="-260" dirty="0">
                <a:solidFill>
                  <a:srgbClr val="316467"/>
                </a:solidFill>
              </a:rPr>
              <a:t>Advantages</a:t>
            </a:r>
            <a:r>
              <a:rPr sz="3600" spc="500" dirty="0">
                <a:solidFill>
                  <a:srgbClr val="316467"/>
                </a:solidFill>
              </a:rPr>
              <a:t> </a:t>
            </a:r>
            <a:r>
              <a:rPr sz="3600" spc="-270" dirty="0">
                <a:solidFill>
                  <a:srgbClr val="346464"/>
                </a:solidFill>
              </a:rPr>
              <a:t>and</a:t>
            </a:r>
            <a:r>
              <a:rPr sz="3600" spc="75" dirty="0">
                <a:solidFill>
                  <a:srgbClr val="346464"/>
                </a:solidFill>
              </a:rPr>
              <a:t> </a:t>
            </a:r>
            <a:r>
              <a:rPr sz="3600" spc="-145" dirty="0">
                <a:solidFill>
                  <a:srgbClr val="346667"/>
                </a:solidFill>
              </a:rPr>
              <a:t>Disadvantages </a:t>
            </a:r>
            <a:r>
              <a:rPr sz="3600" dirty="0">
                <a:solidFill>
                  <a:srgbClr val="346769"/>
                </a:solidFill>
              </a:rPr>
              <a:t>of</a:t>
            </a:r>
            <a:r>
              <a:rPr sz="3600" spc="-240" dirty="0">
                <a:solidFill>
                  <a:srgbClr val="346769"/>
                </a:solidFill>
              </a:rPr>
              <a:t> </a:t>
            </a:r>
            <a:r>
              <a:rPr sz="3600" spc="-185" dirty="0">
                <a:solidFill>
                  <a:srgbClr val="366467"/>
                </a:solidFill>
              </a:rPr>
              <a:t>Hybrid</a:t>
            </a:r>
            <a:r>
              <a:rPr sz="3600" spc="-114" dirty="0">
                <a:solidFill>
                  <a:srgbClr val="366467"/>
                </a:solidFill>
              </a:rPr>
              <a:t> </a:t>
            </a:r>
            <a:r>
              <a:rPr sz="3600" spc="-195" dirty="0">
                <a:solidFill>
                  <a:srgbClr val="346767"/>
                </a:solidFill>
              </a:rPr>
              <a:t>Decentralized</a:t>
            </a:r>
            <a:r>
              <a:rPr sz="3600" spc="120" dirty="0">
                <a:solidFill>
                  <a:srgbClr val="346767"/>
                </a:solidFill>
              </a:rPr>
              <a:t> </a:t>
            </a:r>
            <a:r>
              <a:rPr sz="3600" spc="-280" dirty="0">
                <a:solidFill>
                  <a:srgbClr val="346469"/>
                </a:solidFill>
              </a:rPr>
              <a:t>Systems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188808" y="1874506"/>
            <a:ext cx="7174230" cy="360934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565"/>
              </a:spcBef>
            </a:pPr>
            <a:r>
              <a:rPr sz="2700" spc="-10" dirty="0">
                <a:latin typeface="Arial"/>
                <a:cs typeface="Arial"/>
              </a:rPr>
              <a:t>Advantages</a:t>
            </a:r>
            <a:endParaRPr sz="2700">
              <a:latin typeface="Arial"/>
              <a:cs typeface="Arial"/>
            </a:endParaRPr>
          </a:p>
          <a:p>
            <a:pPr marL="408940">
              <a:lnSpc>
                <a:spcPct val="100000"/>
              </a:lnSpc>
              <a:spcBef>
                <a:spcPts val="375"/>
              </a:spcBef>
            </a:pPr>
            <a:r>
              <a:rPr sz="2350" spc="-90" dirty="0">
                <a:latin typeface="Arial"/>
                <a:cs typeface="Arial"/>
              </a:rPr>
              <a:t>Easy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to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implement</a:t>
            </a:r>
            <a:endParaRPr sz="2350">
              <a:latin typeface="Arial"/>
              <a:cs typeface="Arial"/>
            </a:endParaRPr>
          </a:p>
          <a:p>
            <a:pPr marL="407034">
              <a:lnSpc>
                <a:spcPct val="100000"/>
              </a:lnSpc>
              <a:spcBef>
                <a:spcPts val="280"/>
              </a:spcBef>
            </a:pPr>
            <a:r>
              <a:rPr sz="2400" spc="-114" dirty="0">
                <a:latin typeface="Arial"/>
                <a:cs typeface="Arial"/>
              </a:rPr>
              <a:t>Locate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files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quickly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eñiciently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750" spc="-10" dirty="0">
                <a:latin typeface="Arial"/>
                <a:cs typeface="Arial"/>
              </a:rPr>
              <a:t>Disadvantages</a:t>
            </a:r>
            <a:endParaRPr sz="2750">
              <a:latin typeface="Arial"/>
              <a:cs typeface="Arial"/>
            </a:endParaRPr>
          </a:p>
          <a:p>
            <a:pPr marL="409575" marR="446405" indent="6985" algn="just">
              <a:lnSpc>
                <a:spcPts val="2640"/>
              </a:lnSpc>
              <a:spcBef>
                <a:spcPts val="600"/>
              </a:spcBef>
            </a:pPr>
            <a:r>
              <a:rPr sz="2300" spc="-80" dirty="0">
                <a:latin typeface="Arial"/>
                <a:cs typeface="Arial"/>
              </a:rPr>
              <a:t>Vulnerable</a:t>
            </a:r>
            <a:r>
              <a:rPr sz="2300" spc="-7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-55" dirty="0">
                <a:latin typeface="Arial"/>
                <a:cs typeface="Arial"/>
              </a:rPr>
              <a:t>censorship,</a:t>
            </a:r>
            <a:r>
              <a:rPr sz="230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legal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40" dirty="0">
                <a:latin typeface="Arial"/>
                <a:cs typeface="Arial"/>
              </a:rPr>
              <a:t>action,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surveillance, </a:t>
            </a:r>
            <a:r>
              <a:rPr sz="2300" spc="-50" dirty="0">
                <a:latin typeface="Arial"/>
                <a:cs typeface="Arial"/>
              </a:rPr>
              <a:t>malicious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attack,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and</a:t>
            </a:r>
            <a:r>
              <a:rPr sz="2300" spc="-140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technical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failure</a:t>
            </a:r>
            <a:endParaRPr sz="2300">
              <a:latin typeface="Arial"/>
              <a:cs typeface="Arial"/>
            </a:endParaRPr>
          </a:p>
          <a:p>
            <a:pPr marL="401955" marR="5080" indent="5080" algn="just">
              <a:lnSpc>
                <a:spcPct val="92900"/>
              </a:lnSpc>
              <a:spcBef>
                <a:spcPts val="550"/>
              </a:spcBef>
            </a:pPr>
            <a:r>
              <a:rPr sz="2300" spc="-55" dirty="0">
                <a:latin typeface="Arial"/>
                <a:cs typeface="Arial"/>
              </a:rPr>
              <a:t>Considered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40" dirty="0">
                <a:latin typeface="Arial"/>
                <a:cs typeface="Arial"/>
              </a:rPr>
              <a:t>inherently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55" dirty="0">
                <a:latin typeface="Arial"/>
                <a:cs typeface="Arial"/>
              </a:rPr>
              <a:t>unscalable </a:t>
            </a:r>
            <a:r>
              <a:rPr sz="2300" spc="-20" dirty="0">
                <a:latin typeface="Arial"/>
                <a:cs typeface="Arial"/>
              </a:rPr>
              <a:t>as</a:t>
            </a:r>
            <a:r>
              <a:rPr sz="2300" spc="-14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they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are</a:t>
            </a:r>
            <a:r>
              <a:rPr sz="2300" spc="-13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bound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to </a:t>
            </a:r>
            <a:r>
              <a:rPr sz="2400" spc="-105" dirty="0">
                <a:latin typeface="Arial"/>
                <a:cs typeface="Arial"/>
              </a:rPr>
              <a:t>be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limitations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to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size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server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database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and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its </a:t>
            </a:r>
            <a:r>
              <a:rPr sz="2350" spc="-70" dirty="0">
                <a:latin typeface="Arial"/>
                <a:cs typeface="Arial"/>
              </a:rPr>
              <a:t>capacity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to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spc="-90" dirty="0">
                <a:latin typeface="Arial"/>
                <a:cs typeface="Arial"/>
              </a:rPr>
              <a:t>respond</a:t>
            </a:r>
            <a:r>
              <a:rPr sz="2350" spc="-25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to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queries.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0480" marR="5080" indent="-4445">
              <a:lnSpc>
                <a:spcPts val="3940"/>
              </a:lnSpc>
              <a:spcBef>
                <a:spcPts val="560"/>
              </a:spcBef>
            </a:pPr>
            <a:r>
              <a:rPr sz="3600" spc="-135" dirty="0">
                <a:solidFill>
                  <a:srgbClr val="336764"/>
                </a:solidFill>
              </a:rPr>
              <a:t>Partially </a:t>
            </a:r>
            <a:r>
              <a:rPr sz="3600" spc="-225" dirty="0">
                <a:solidFill>
                  <a:srgbClr val="346466"/>
                </a:solidFill>
              </a:rPr>
              <a:t>Centralized </a:t>
            </a:r>
            <a:r>
              <a:rPr sz="3600" spc="-160" dirty="0">
                <a:solidFill>
                  <a:srgbClr val="336669"/>
                </a:solidFill>
              </a:rPr>
              <a:t>Architectures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25589" y="1885602"/>
            <a:ext cx="7433823" cy="3957109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6510" marR="5080" indent="635">
              <a:lnSpc>
                <a:spcPts val="2590"/>
              </a:lnSpc>
              <a:spcBef>
                <a:spcPts val="515"/>
              </a:spcBef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concept of supernodes: nodes that are dynamically assigned the task of servicing a small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subpart of the peer network by indexing and caching </a:t>
            </a:r>
            <a:r>
              <a:rPr sz="2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contained therein.</a:t>
            </a:r>
          </a:p>
          <a:p>
            <a:pPr marL="18415">
              <a:lnSpc>
                <a:spcPts val="2870"/>
              </a:lnSpc>
            </a:pPr>
            <a:r>
              <a:rPr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 are automatically elected to become</a:t>
            </a:r>
          </a:p>
          <a:p>
            <a:pPr marL="18415">
              <a:lnSpc>
                <a:spcPts val="2590"/>
              </a:lnSpc>
            </a:pPr>
            <a:r>
              <a:rPr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supernodes if they have sufficient bandwidth and</a:t>
            </a:r>
          </a:p>
          <a:p>
            <a:pPr marL="13335">
              <a:lnSpc>
                <a:spcPts val="2830"/>
              </a:lnSpc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power.</a:t>
            </a:r>
          </a:p>
          <a:p>
            <a:pPr marL="21590">
              <a:lnSpc>
                <a:spcPts val="2895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Supernodes index the files shared by peers</a:t>
            </a:r>
          </a:p>
          <a:p>
            <a:pPr marL="12700" marR="381635" indent="1270">
              <a:lnSpc>
                <a:spcPct val="77800"/>
              </a:lnSpc>
              <a:spcBef>
                <a:spcPts val="36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them, and proxy search requests on behalf of these peers.</a:t>
            </a:r>
          </a:p>
          <a:p>
            <a:pPr marL="27940">
              <a:lnSpc>
                <a:spcPts val="2835"/>
              </a:lnSpc>
              <a:spcBef>
                <a:spcPts val="90"/>
              </a:spcBef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queries are therefore initially directed to</a:t>
            </a:r>
          </a:p>
          <a:p>
            <a:pPr marL="17780">
              <a:lnSpc>
                <a:spcPts val="2775"/>
              </a:lnSpc>
            </a:pPr>
            <a:r>
              <a:rPr sz="2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supernodes.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596" y="5822156"/>
            <a:ext cx="8747522" cy="51792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0500" y="217883"/>
            <a:ext cx="8813800" cy="5696585"/>
            <a:chOff x="190500" y="217883"/>
            <a:chExt cx="8813800" cy="56965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75824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90707" y="684608"/>
              <a:ext cx="0" cy="5173345"/>
            </a:xfrm>
            <a:custGeom>
              <a:avLst/>
              <a:gdLst/>
              <a:ahLst/>
              <a:cxnLst/>
              <a:rect l="l" t="t" r="r" b="b"/>
              <a:pathLst>
                <a:path h="5173345">
                  <a:moveTo>
                    <a:pt x="0" y="51732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02613" y="729258"/>
              <a:ext cx="0" cy="5084445"/>
            </a:xfrm>
            <a:custGeom>
              <a:avLst/>
              <a:gdLst/>
              <a:ahLst/>
              <a:cxnLst/>
              <a:rect l="l" t="t" r="r" b="b"/>
              <a:pathLst>
                <a:path h="5084445">
                  <a:moveTo>
                    <a:pt x="0" y="50839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7968" y="3175396"/>
              <a:ext cx="146446" cy="16787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5841" y="3018233"/>
              <a:ext cx="592931" cy="1357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82916" y="3511152"/>
              <a:ext cx="903684" cy="303609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233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10"/>
              </a:spcBef>
            </a:pPr>
            <a:r>
              <a:rPr sz="3600" spc="240" dirty="0">
                <a:solidFill>
                  <a:srgbClr val="346469"/>
                </a:solidFill>
                <a:latin typeface="Arial"/>
                <a:cs typeface="Arial"/>
              </a:rPr>
              <a:t>Partially</a:t>
            </a:r>
            <a:r>
              <a:rPr sz="3600" spc="305" dirty="0">
                <a:solidFill>
                  <a:srgbClr val="346469"/>
                </a:solidFill>
                <a:latin typeface="Arial"/>
                <a:cs typeface="Arial"/>
              </a:rPr>
              <a:t> </a:t>
            </a:r>
            <a:r>
              <a:rPr sz="3600" spc="175" dirty="0">
                <a:solidFill>
                  <a:srgbClr val="346767"/>
                </a:solidFill>
                <a:latin typeface="Arial"/>
                <a:cs typeface="Arial"/>
              </a:rPr>
              <a:t>Centralized</a:t>
            </a:r>
            <a:r>
              <a:rPr sz="3600" spc="380" dirty="0">
                <a:solidFill>
                  <a:srgbClr val="346767"/>
                </a:solidFill>
                <a:latin typeface="Arial"/>
                <a:cs typeface="Arial"/>
              </a:rPr>
              <a:t> </a:t>
            </a:r>
            <a:r>
              <a:rPr sz="3600" spc="185" dirty="0">
                <a:solidFill>
                  <a:srgbClr val="386467"/>
                </a:solidFill>
                <a:latin typeface="Arial"/>
                <a:cs typeface="Arial"/>
              </a:rPr>
              <a:t>Systems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2501" y="1880096"/>
            <a:ext cx="4396105" cy="33718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3335" marR="830580" indent="635" algn="just">
              <a:lnSpc>
                <a:spcPct val="78700"/>
              </a:lnSpc>
              <a:spcBef>
                <a:spcPts val="484"/>
              </a:spcBef>
            </a:pPr>
            <a:r>
              <a:rPr sz="1450" spc="-45" dirty="0">
                <a:latin typeface="Arial"/>
                <a:cs typeface="Arial"/>
              </a:rPr>
              <a:t>Kazaa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-20" dirty="0">
                <a:latin typeface="Arial"/>
                <a:cs typeface="Arial"/>
              </a:rPr>
              <a:t>and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Morpheus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are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-20" dirty="0">
                <a:latin typeface="Arial"/>
                <a:cs typeface="Arial"/>
              </a:rPr>
              <a:t>two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similar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partially </a:t>
            </a:r>
            <a:r>
              <a:rPr sz="1450" spc="-35" dirty="0">
                <a:latin typeface="Arial"/>
                <a:cs typeface="Arial"/>
              </a:rPr>
              <a:t>centralized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systems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which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use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the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-25" dirty="0">
                <a:latin typeface="Arial"/>
                <a:cs typeface="Arial"/>
              </a:rPr>
              <a:t>concept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-25" dirty="0">
                <a:latin typeface="Arial"/>
                <a:cs typeface="Arial"/>
              </a:rPr>
              <a:t>of </a:t>
            </a:r>
            <a:r>
              <a:rPr sz="1400" spc="-10" dirty="0">
                <a:latin typeface="Arial"/>
                <a:cs typeface="Arial"/>
              </a:rPr>
              <a:t>“SuperNodes".</a:t>
            </a:r>
            <a:endParaRPr sz="1400">
              <a:latin typeface="Arial"/>
              <a:cs typeface="Arial"/>
            </a:endParaRPr>
          </a:p>
          <a:p>
            <a:pPr marL="14604">
              <a:lnSpc>
                <a:spcPts val="1525"/>
              </a:lnSpc>
            </a:pPr>
            <a:r>
              <a:rPr sz="1450" dirty="0">
                <a:latin typeface="Arial"/>
                <a:cs typeface="Arial"/>
              </a:rPr>
              <a:t>In</a:t>
            </a:r>
            <a:r>
              <a:rPr sz="1450" spc="-95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Morpheus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a</a:t>
            </a:r>
            <a:r>
              <a:rPr sz="1450" spc="-100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central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server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provides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-45" dirty="0">
                <a:latin typeface="Arial"/>
                <a:cs typeface="Arial"/>
              </a:rPr>
              <a:t>new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peers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with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-50" dirty="0">
                <a:latin typeface="Arial"/>
                <a:cs typeface="Arial"/>
              </a:rPr>
              <a:t>a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305"/>
              </a:lnSpc>
            </a:pPr>
            <a:r>
              <a:rPr sz="1400" dirty="0">
                <a:latin typeface="Arial"/>
                <a:cs typeface="Arial"/>
              </a:rPr>
              <a:t>list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Supernodes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can</a:t>
            </a:r>
            <a:endParaRPr sz="1400">
              <a:latin typeface="Arial"/>
              <a:cs typeface="Arial"/>
            </a:endParaRPr>
          </a:p>
          <a:p>
            <a:pPr marL="13335" marR="223520">
              <a:lnSpc>
                <a:spcPct val="77600"/>
              </a:lnSpc>
              <a:spcBef>
                <a:spcPts val="185"/>
              </a:spcBef>
            </a:pPr>
            <a:r>
              <a:rPr sz="1450" spc="-35" dirty="0">
                <a:latin typeface="Arial"/>
                <a:cs typeface="Arial"/>
              </a:rPr>
              <a:t>connect.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-40" dirty="0">
                <a:latin typeface="Arial"/>
                <a:cs typeface="Arial"/>
              </a:rPr>
              <a:t>SuperNodes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index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the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-20" dirty="0">
                <a:latin typeface="Arial"/>
                <a:cs typeface="Arial"/>
              </a:rPr>
              <a:t>files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-40" dirty="0">
                <a:latin typeface="Arial"/>
                <a:cs typeface="Arial"/>
              </a:rPr>
              <a:t>shared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by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peers </a:t>
            </a:r>
            <a:r>
              <a:rPr sz="1450" spc="-40" dirty="0">
                <a:latin typeface="Arial"/>
                <a:cs typeface="Arial"/>
              </a:rPr>
              <a:t>connected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to</a:t>
            </a:r>
            <a:r>
              <a:rPr sz="1450" spc="-100" dirty="0">
                <a:latin typeface="Arial"/>
                <a:cs typeface="Arial"/>
              </a:rPr>
              <a:t> </a:t>
            </a:r>
            <a:r>
              <a:rPr sz="1450" spc="-25" dirty="0">
                <a:latin typeface="Arial"/>
                <a:cs typeface="Arial"/>
              </a:rPr>
              <a:t>them,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-45" dirty="0">
                <a:latin typeface="Arial"/>
                <a:cs typeface="Arial"/>
              </a:rPr>
              <a:t>and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-20" dirty="0">
                <a:latin typeface="Arial"/>
                <a:cs typeface="Arial"/>
              </a:rPr>
              <a:t>proxy</a:t>
            </a:r>
            <a:r>
              <a:rPr sz="1450" spc="15" dirty="0">
                <a:latin typeface="Arial"/>
                <a:cs typeface="Arial"/>
              </a:rPr>
              <a:t> </a:t>
            </a:r>
            <a:r>
              <a:rPr sz="1450" spc="-40" dirty="0">
                <a:latin typeface="Arial"/>
                <a:cs typeface="Arial"/>
              </a:rPr>
              <a:t>search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requestes</a:t>
            </a:r>
            <a:r>
              <a:rPr sz="1450" spc="-25" dirty="0">
                <a:latin typeface="Arial"/>
                <a:cs typeface="Arial"/>
              </a:rPr>
              <a:t> on</a:t>
            </a:r>
            <a:endParaRPr sz="1450">
              <a:latin typeface="Arial"/>
              <a:cs typeface="Arial"/>
            </a:endParaRPr>
          </a:p>
          <a:p>
            <a:pPr marL="15875" marR="359410" indent="-3810">
              <a:lnSpc>
                <a:spcPct val="76000"/>
              </a:lnSpc>
              <a:spcBef>
                <a:spcPts val="55"/>
              </a:spcBef>
            </a:pPr>
            <a:r>
              <a:rPr sz="1450" spc="-35" dirty="0">
                <a:latin typeface="Arial"/>
                <a:cs typeface="Arial"/>
              </a:rPr>
              <a:t>behalf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of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these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peers.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Queries are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therefore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sent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-25" dirty="0">
                <a:latin typeface="Arial"/>
                <a:cs typeface="Arial"/>
              </a:rPr>
              <a:t>to </a:t>
            </a:r>
            <a:r>
              <a:rPr sz="1450" spc="-45" dirty="0">
                <a:latin typeface="Arial"/>
                <a:cs typeface="Arial"/>
              </a:rPr>
              <a:t>SuperNodes,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-20" dirty="0">
                <a:latin typeface="Arial"/>
                <a:cs typeface="Arial"/>
              </a:rPr>
              <a:t>not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to</a:t>
            </a:r>
            <a:r>
              <a:rPr sz="1450" spc="-85" dirty="0">
                <a:latin typeface="Arial"/>
                <a:cs typeface="Arial"/>
              </a:rPr>
              <a:t> </a:t>
            </a:r>
            <a:r>
              <a:rPr sz="1450" spc="-30" dirty="0">
                <a:latin typeface="Arial"/>
                <a:cs typeface="Arial"/>
              </a:rPr>
              <a:t>other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peers.</a:t>
            </a:r>
            <a:endParaRPr sz="1450">
              <a:latin typeface="Arial"/>
              <a:cs typeface="Arial"/>
            </a:endParaRPr>
          </a:p>
          <a:p>
            <a:pPr marL="17145">
              <a:lnSpc>
                <a:spcPts val="1689"/>
              </a:lnSpc>
            </a:pPr>
            <a:r>
              <a:rPr sz="1450" spc="-35" dirty="0">
                <a:latin typeface="Arial"/>
                <a:cs typeface="Arial"/>
              </a:rPr>
              <a:t>Recent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version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of</a:t>
            </a:r>
            <a:r>
              <a:rPr sz="1450" spc="-30" dirty="0">
                <a:latin typeface="Arial"/>
                <a:cs typeface="Arial"/>
              </a:rPr>
              <a:t> the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-35" dirty="0">
                <a:latin typeface="Arial"/>
                <a:cs typeface="Arial"/>
              </a:rPr>
              <a:t>Gnutella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protocol.</a:t>
            </a:r>
            <a:endParaRPr sz="1450">
              <a:latin typeface="Arial"/>
              <a:cs typeface="Arial"/>
            </a:endParaRPr>
          </a:p>
          <a:p>
            <a:pPr marL="457200">
              <a:lnSpc>
                <a:spcPts val="1280"/>
              </a:lnSpc>
            </a:pPr>
            <a:r>
              <a:rPr sz="1200" spc="-105" dirty="0">
                <a:latin typeface="Arial"/>
                <a:cs typeface="Arial"/>
              </a:rPr>
              <a:t>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mechanism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dynamically</a:t>
            </a:r>
            <a:r>
              <a:rPr sz="1200" spc="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selecting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supernodes</a:t>
            </a:r>
            <a:endParaRPr sz="1200">
              <a:latin typeface="Arial"/>
              <a:cs typeface="Arial"/>
            </a:endParaRPr>
          </a:p>
          <a:p>
            <a:pPr marL="415925">
              <a:lnSpc>
                <a:spcPts val="1055"/>
              </a:lnSpc>
            </a:pPr>
            <a:r>
              <a:rPr sz="1200" dirty="0">
                <a:latin typeface="Arial"/>
                <a:cs typeface="Arial"/>
              </a:rPr>
              <a:t>organizes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Gnutella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network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interconnection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  <a:p>
            <a:pPr marL="411480" marR="5080" indent="5715">
              <a:lnSpc>
                <a:spcPct val="79500"/>
              </a:lnSpc>
              <a:spcBef>
                <a:spcPts val="114"/>
              </a:spcBef>
            </a:pPr>
            <a:r>
              <a:rPr sz="1400" i="1" spc="-114" dirty="0">
                <a:latin typeface="Arial"/>
                <a:cs typeface="Arial"/>
              </a:rPr>
              <a:t>superpeers</a:t>
            </a:r>
            <a:r>
              <a:rPr sz="1400" i="1" spc="50" dirty="0">
                <a:latin typeface="Arial"/>
                <a:cs typeface="Arial"/>
              </a:rPr>
              <a:t> </a:t>
            </a:r>
            <a:r>
              <a:rPr sz="1400" spc="-110" dirty="0">
                <a:latin typeface="Arial"/>
                <a:cs typeface="Arial"/>
              </a:rPr>
              <a:t>(as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114" dirty="0">
                <a:latin typeface="Arial"/>
                <a:cs typeface="Arial"/>
              </a:rPr>
              <a:t>they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25" dirty="0">
                <a:latin typeface="Arial"/>
                <a:cs typeface="Arial"/>
              </a:rPr>
              <a:t>are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105" dirty="0">
                <a:latin typeface="Arial"/>
                <a:cs typeface="Arial"/>
              </a:rPr>
              <a:t>referred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to)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spc="-135" dirty="0">
                <a:latin typeface="Arial"/>
                <a:cs typeface="Arial"/>
              </a:rPr>
              <a:t>and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client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-114" dirty="0">
                <a:latin typeface="Arial"/>
                <a:cs typeface="Arial"/>
              </a:rPr>
              <a:t>nodes.When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node with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enough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CPU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power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joins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network,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it </a:t>
            </a:r>
            <a:r>
              <a:rPr sz="1200" dirty="0">
                <a:latin typeface="Arial"/>
                <a:cs typeface="Arial"/>
              </a:rPr>
              <a:t>immediately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becomes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superpeer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establishes </a:t>
            </a:r>
            <a:r>
              <a:rPr sz="1200" dirty="0">
                <a:latin typeface="Arial"/>
                <a:cs typeface="Arial"/>
              </a:rPr>
              <a:t>connections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other </a:t>
            </a:r>
            <a:r>
              <a:rPr sz="1200" spc="-10" dirty="0">
                <a:latin typeface="Arial"/>
                <a:cs typeface="Arial"/>
              </a:rPr>
              <a:t>superpeers,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forming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61616"/>
                </a:solidFill>
                <a:latin typeface="Arial"/>
                <a:cs typeface="Arial"/>
              </a:rPr>
              <a:t>a</a:t>
            </a:r>
            <a:r>
              <a:rPr sz="1200" spc="-6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flat </a:t>
            </a:r>
            <a:r>
              <a:rPr sz="1200" spc="-10" dirty="0">
                <a:latin typeface="Arial"/>
                <a:cs typeface="Arial"/>
              </a:rPr>
              <a:t>unstructured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network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superpeers.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establishes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 </a:t>
            </a:r>
            <a:r>
              <a:rPr sz="1200" dirty="0">
                <a:latin typeface="Arial"/>
                <a:cs typeface="Arial"/>
              </a:rPr>
              <a:t>minimum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required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number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connections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client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nodes </a:t>
            </a:r>
            <a:r>
              <a:rPr sz="1200" dirty="0">
                <a:latin typeface="Arial"/>
                <a:cs typeface="Arial"/>
              </a:rPr>
              <a:t>within 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specified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time,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remains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superpeer.</a:t>
            </a:r>
            <a:r>
              <a:rPr sz="1200" i="1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Otherwise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it </a:t>
            </a:r>
            <a:r>
              <a:rPr sz="1200" dirty="0">
                <a:latin typeface="Arial"/>
                <a:cs typeface="Arial"/>
              </a:rPr>
              <a:t>turns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regular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client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node.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4091" y="546396"/>
            <a:ext cx="5353050" cy="576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260" dirty="0">
                <a:solidFill>
                  <a:srgbClr val="316467"/>
                </a:solidFill>
              </a:rPr>
              <a:t>Advantages</a:t>
            </a:r>
            <a:r>
              <a:rPr sz="3600" spc="250" dirty="0">
                <a:solidFill>
                  <a:srgbClr val="316467"/>
                </a:solidFill>
              </a:rPr>
              <a:t> </a:t>
            </a:r>
            <a:r>
              <a:rPr sz="3600" dirty="0">
                <a:solidFill>
                  <a:srgbClr val="336466"/>
                </a:solidFill>
              </a:rPr>
              <a:t>of</a:t>
            </a:r>
            <a:r>
              <a:rPr sz="3600" spc="-20" dirty="0">
                <a:solidFill>
                  <a:srgbClr val="336466"/>
                </a:solidFill>
              </a:rPr>
              <a:t> </a:t>
            </a:r>
            <a:r>
              <a:rPr sz="3600" spc="-160" dirty="0">
                <a:solidFill>
                  <a:srgbClr val="346664"/>
                </a:solidFill>
              </a:rPr>
              <a:t>Partially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39192" y="1062434"/>
            <a:ext cx="7521575" cy="4679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0" spc="-130" dirty="0">
                <a:solidFill>
                  <a:srgbClr val="346469"/>
                </a:solidFill>
                <a:latin typeface="Arial Black"/>
                <a:cs typeface="Arial Black"/>
              </a:rPr>
              <a:t>Decentralized</a:t>
            </a:r>
            <a:r>
              <a:rPr sz="3500" spc="40" dirty="0">
                <a:solidFill>
                  <a:srgbClr val="346469"/>
                </a:solidFill>
                <a:latin typeface="Arial Black"/>
                <a:cs typeface="Arial Black"/>
              </a:rPr>
              <a:t> </a:t>
            </a:r>
            <a:r>
              <a:rPr sz="3500" spc="-40" dirty="0">
                <a:solidFill>
                  <a:srgbClr val="2F6462"/>
                </a:solidFill>
                <a:latin typeface="Arial Black"/>
                <a:cs typeface="Arial Black"/>
              </a:rPr>
              <a:t>Systems</a:t>
            </a:r>
            <a:endParaRPr sz="3500">
              <a:latin typeface="Arial Black"/>
              <a:cs typeface="Arial Black"/>
            </a:endParaRPr>
          </a:p>
          <a:p>
            <a:pPr marL="368300">
              <a:lnSpc>
                <a:spcPct val="100000"/>
              </a:lnSpc>
              <a:spcBef>
                <a:spcPts val="2305"/>
              </a:spcBef>
            </a:pPr>
            <a:r>
              <a:rPr sz="2450" spc="-10" dirty="0">
                <a:latin typeface="Arial"/>
                <a:cs typeface="Arial"/>
              </a:rPr>
              <a:t>Advantages</a:t>
            </a:r>
            <a:endParaRPr sz="2450">
              <a:latin typeface="Arial"/>
              <a:cs typeface="Arial"/>
            </a:endParaRPr>
          </a:p>
          <a:p>
            <a:pPr marL="758825" marR="262890" indent="-3175">
              <a:lnSpc>
                <a:spcPct val="85700"/>
              </a:lnSpc>
              <a:spcBef>
                <a:spcPts val="409"/>
              </a:spcBef>
            </a:pPr>
            <a:r>
              <a:rPr sz="1900" spc="-10" dirty="0">
                <a:latin typeface="Arial"/>
                <a:cs typeface="Arial"/>
              </a:rPr>
              <a:t>In</a:t>
            </a:r>
            <a:r>
              <a:rPr sz="1900" spc="-125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comparison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with </a:t>
            </a:r>
            <a:r>
              <a:rPr sz="1900" spc="-50" dirty="0">
                <a:latin typeface="Arial"/>
                <a:cs typeface="Arial"/>
              </a:rPr>
              <a:t>purely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decentralized</a:t>
            </a:r>
            <a:r>
              <a:rPr sz="1900" spc="15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systems,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discovery</a:t>
            </a:r>
            <a:r>
              <a:rPr sz="1900" spc="20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time </a:t>
            </a:r>
            <a:r>
              <a:rPr sz="1900" spc="-70" dirty="0">
                <a:latin typeface="Arial"/>
                <a:cs typeface="Arial"/>
              </a:rPr>
              <a:t>and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40" dirty="0">
                <a:latin typeface="Arial"/>
                <a:cs typeface="Arial"/>
              </a:rPr>
              <a:t>the</a:t>
            </a:r>
            <a:r>
              <a:rPr sz="1900" spc="-90" dirty="0">
                <a:latin typeface="Arial"/>
                <a:cs typeface="Arial"/>
              </a:rPr>
              <a:t> </a:t>
            </a:r>
            <a:r>
              <a:rPr sz="1900" spc="-40" dirty="0">
                <a:latin typeface="Arial"/>
                <a:cs typeface="Arial"/>
              </a:rPr>
              <a:t>traffic</a:t>
            </a:r>
            <a:r>
              <a:rPr sz="1900" spc="-90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on</a:t>
            </a:r>
            <a:r>
              <a:rPr sz="1900" spc="-110" dirty="0">
                <a:latin typeface="Arial"/>
                <a:cs typeface="Arial"/>
              </a:rPr>
              <a:t> </a:t>
            </a:r>
            <a:r>
              <a:rPr sz="1900" spc="-75" dirty="0">
                <a:latin typeface="Arial"/>
                <a:cs typeface="Arial"/>
              </a:rPr>
              <a:t>messages</a:t>
            </a:r>
            <a:r>
              <a:rPr sz="1900" spc="25" dirty="0">
                <a:latin typeface="Arial"/>
                <a:cs typeface="Arial"/>
              </a:rPr>
              <a:t> </a:t>
            </a:r>
            <a:r>
              <a:rPr sz="1900" spc="-75" dirty="0">
                <a:latin typeface="Arial"/>
                <a:cs typeface="Arial"/>
              </a:rPr>
              <a:t>exchanging</a:t>
            </a:r>
            <a:r>
              <a:rPr sz="1900" spc="5" dirty="0">
                <a:latin typeface="Arial"/>
                <a:cs typeface="Arial"/>
              </a:rPr>
              <a:t> </a:t>
            </a:r>
            <a:r>
              <a:rPr sz="1900" spc="-70" dirty="0">
                <a:latin typeface="Arial"/>
                <a:cs typeface="Arial"/>
              </a:rPr>
              <a:t>between</a:t>
            </a:r>
            <a:r>
              <a:rPr sz="1900" spc="10" dirty="0">
                <a:latin typeface="Arial"/>
                <a:cs typeface="Arial"/>
              </a:rPr>
              <a:t> </a:t>
            </a:r>
            <a:r>
              <a:rPr sz="1900" spc="-70" dirty="0">
                <a:latin typeface="Arial"/>
                <a:cs typeface="Arial"/>
              </a:rPr>
              <a:t>nodes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are </a:t>
            </a:r>
            <a:r>
              <a:rPr sz="1900" spc="-10" dirty="0">
                <a:latin typeface="Arial"/>
                <a:cs typeface="Arial"/>
              </a:rPr>
              <a:t>reduced</a:t>
            </a:r>
            <a:endParaRPr sz="1900">
              <a:latin typeface="Arial"/>
              <a:cs typeface="Arial"/>
            </a:endParaRPr>
          </a:p>
          <a:p>
            <a:pPr marL="758190" marR="255270" indent="-2540">
              <a:lnSpc>
                <a:spcPct val="94700"/>
              </a:lnSpc>
              <a:spcBef>
                <a:spcPts val="204"/>
              </a:spcBef>
            </a:pPr>
            <a:r>
              <a:rPr sz="1900" spc="-10" dirty="0">
                <a:latin typeface="Arial"/>
                <a:cs typeface="Arial"/>
              </a:rPr>
              <a:t>In</a:t>
            </a:r>
            <a:r>
              <a:rPr sz="1900" spc="-125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comparison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with </a:t>
            </a:r>
            <a:r>
              <a:rPr sz="1900" spc="-50" dirty="0">
                <a:latin typeface="Arial"/>
                <a:cs typeface="Arial"/>
              </a:rPr>
              <a:t>Hybrid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70" dirty="0">
                <a:latin typeface="Arial"/>
                <a:cs typeface="Arial"/>
              </a:rPr>
              <a:t>Decentralized</a:t>
            </a:r>
            <a:r>
              <a:rPr sz="1900" spc="60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Systems,</a:t>
            </a:r>
            <a:r>
              <a:rPr sz="1900" spc="20" dirty="0">
                <a:latin typeface="Arial"/>
                <a:cs typeface="Arial"/>
              </a:rPr>
              <a:t> </a:t>
            </a:r>
            <a:r>
              <a:rPr sz="1900" spc="-70" dirty="0">
                <a:latin typeface="Arial"/>
                <a:cs typeface="Arial"/>
              </a:rPr>
              <a:t>workload</a:t>
            </a:r>
            <a:r>
              <a:rPr sz="190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on </a:t>
            </a:r>
            <a:r>
              <a:rPr sz="1900" spc="-55" dirty="0">
                <a:latin typeface="Arial"/>
                <a:cs typeface="Arial"/>
              </a:rPr>
              <a:t>central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server </a:t>
            </a:r>
            <a:r>
              <a:rPr sz="1900" spc="-50" dirty="0">
                <a:latin typeface="Arial"/>
                <a:cs typeface="Arial"/>
              </a:rPr>
              <a:t>are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reduced,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but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with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slower</a:t>
            </a:r>
            <a:r>
              <a:rPr sz="1900" spc="-5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information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discovery </a:t>
            </a:r>
            <a:r>
              <a:rPr sz="2150" spc="-110" dirty="0">
                <a:latin typeface="Arial"/>
                <a:cs typeface="Arial"/>
              </a:rPr>
              <a:t>The</a:t>
            </a:r>
            <a:r>
              <a:rPr sz="2150" spc="-50" dirty="0">
                <a:latin typeface="Arial"/>
                <a:cs typeface="Arial"/>
              </a:rPr>
              <a:t> </a:t>
            </a:r>
            <a:r>
              <a:rPr sz="2150" spc="-85" dirty="0">
                <a:latin typeface="Arial"/>
                <a:cs typeface="Arial"/>
              </a:rPr>
              <a:t>inherent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85" dirty="0">
                <a:latin typeface="Arial"/>
                <a:cs typeface="Arial"/>
              </a:rPr>
              <a:t>heterogeneity</a:t>
            </a:r>
            <a:r>
              <a:rPr sz="2150" spc="10" dirty="0">
                <a:latin typeface="Arial"/>
                <a:cs typeface="Arial"/>
              </a:rPr>
              <a:t> </a:t>
            </a:r>
            <a:r>
              <a:rPr sz="2150" spc="-90" dirty="0">
                <a:latin typeface="Arial"/>
                <a:cs typeface="Arial"/>
              </a:rPr>
              <a:t>of</a:t>
            </a:r>
            <a:r>
              <a:rPr sz="2150" spc="-60" dirty="0">
                <a:latin typeface="Arial"/>
                <a:cs typeface="Arial"/>
              </a:rPr>
              <a:t> </a:t>
            </a:r>
            <a:r>
              <a:rPr sz="2150" spc="-110" dirty="0">
                <a:latin typeface="Arial"/>
                <a:cs typeface="Arial"/>
              </a:rPr>
              <a:t>peer-</a:t>
            </a:r>
            <a:r>
              <a:rPr sz="2150" spc="-90" dirty="0">
                <a:latin typeface="Arial"/>
                <a:cs typeface="Arial"/>
              </a:rPr>
              <a:t>to-</a:t>
            </a:r>
            <a:r>
              <a:rPr sz="2150" spc="-45" dirty="0">
                <a:latin typeface="Arial"/>
                <a:cs typeface="Arial"/>
              </a:rPr>
              <a:t>peer</a:t>
            </a:r>
            <a:r>
              <a:rPr sz="2150" spc="70" dirty="0">
                <a:latin typeface="Arial"/>
                <a:cs typeface="Arial"/>
              </a:rPr>
              <a:t> </a:t>
            </a:r>
            <a:r>
              <a:rPr sz="2150" spc="-85" dirty="0">
                <a:latin typeface="Arial"/>
                <a:cs typeface="Arial"/>
              </a:rPr>
              <a:t>networks</a:t>
            </a:r>
            <a:r>
              <a:rPr sz="2150" spc="-15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is</a:t>
            </a:r>
            <a:endParaRPr sz="2150">
              <a:latin typeface="Arial"/>
              <a:cs typeface="Arial"/>
            </a:endParaRPr>
          </a:p>
          <a:p>
            <a:pPr marL="756285">
              <a:lnSpc>
                <a:spcPts val="2165"/>
              </a:lnSpc>
            </a:pPr>
            <a:r>
              <a:rPr sz="2150" spc="-85" dirty="0">
                <a:latin typeface="Arial"/>
                <a:cs typeface="Arial"/>
              </a:rPr>
              <a:t>taken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100" dirty="0">
                <a:latin typeface="Arial"/>
                <a:cs typeface="Arial"/>
              </a:rPr>
              <a:t>advantage</a:t>
            </a:r>
            <a:r>
              <a:rPr sz="2150" spc="-10" dirty="0">
                <a:latin typeface="Arial"/>
                <a:cs typeface="Arial"/>
              </a:rPr>
              <a:t> </a:t>
            </a:r>
            <a:r>
              <a:rPr sz="2150" spc="-75" dirty="0">
                <a:latin typeface="Arial"/>
                <a:cs typeface="Arial"/>
              </a:rPr>
              <a:t>of</a:t>
            </a:r>
            <a:r>
              <a:rPr sz="2150" spc="-15" dirty="0">
                <a:latin typeface="Arial"/>
                <a:cs typeface="Arial"/>
              </a:rPr>
              <a:t> </a:t>
            </a:r>
            <a:r>
              <a:rPr sz="2150" spc="-95" dirty="0">
                <a:latin typeface="Arial"/>
                <a:cs typeface="Arial"/>
              </a:rPr>
              <a:t>and</a:t>
            </a:r>
            <a:r>
              <a:rPr sz="2150" spc="-5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exploited</a:t>
            </a:r>
            <a:endParaRPr sz="2150">
              <a:latin typeface="Arial"/>
              <a:cs typeface="Arial"/>
            </a:endParaRPr>
          </a:p>
          <a:p>
            <a:pPr marL="759460">
              <a:lnSpc>
                <a:spcPct val="100000"/>
              </a:lnSpc>
              <a:spcBef>
                <a:spcPts val="140"/>
              </a:spcBef>
            </a:pPr>
            <a:r>
              <a:rPr sz="1850" dirty="0">
                <a:latin typeface="Arial"/>
                <a:cs typeface="Arial"/>
              </a:rPr>
              <a:t>no</a:t>
            </a:r>
            <a:r>
              <a:rPr sz="1850" spc="-120" dirty="0">
                <a:latin typeface="Arial"/>
                <a:cs typeface="Arial"/>
              </a:rPr>
              <a:t> </a:t>
            </a:r>
            <a:r>
              <a:rPr sz="1850" spc="-25" dirty="0">
                <a:latin typeface="Arial"/>
                <a:cs typeface="Arial"/>
              </a:rPr>
              <a:t>unique</a:t>
            </a:r>
            <a:r>
              <a:rPr sz="1850" spc="-85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point</a:t>
            </a:r>
            <a:r>
              <a:rPr sz="1850" spc="-5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of</a:t>
            </a:r>
            <a:r>
              <a:rPr sz="1850" spc="-45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failure</a:t>
            </a:r>
            <a:endParaRPr sz="1850">
              <a:latin typeface="Arial"/>
              <a:cs typeface="Arial"/>
            </a:endParaRPr>
          </a:p>
          <a:p>
            <a:pPr marL="1155700" marR="5080" indent="56515">
              <a:lnSpc>
                <a:spcPts val="1739"/>
              </a:lnSpc>
              <a:spcBef>
                <a:spcPts val="375"/>
              </a:spcBef>
            </a:pPr>
            <a:r>
              <a:rPr sz="1650" dirty="0">
                <a:latin typeface="Arial"/>
                <a:cs typeface="Arial"/>
              </a:rPr>
              <a:t>If</a:t>
            </a:r>
            <a:r>
              <a:rPr sz="1650" spc="-3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one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or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more</a:t>
            </a:r>
            <a:r>
              <a:rPr sz="1650" spc="-65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supernodes</a:t>
            </a:r>
            <a:r>
              <a:rPr sz="1650" spc="1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go</a:t>
            </a:r>
            <a:r>
              <a:rPr sz="1650" spc="-80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down,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the</a:t>
            </a:r>
            <a:r>
              <a:rPr sz="1650" spc="-70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nodes</a:t>
            </a:r>
            <a:r>
              <a:rPr sz="1650" spc="-65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connected</a:t>
            </a:r>
            <a:r>
              <a:rPr sz="1650" spc="-3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to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them</a:t>
            </a:r>
            <a:r>
              <a:rPr sz="1650" spc="50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can</a:t>
            </a:r>
            <a:r>
              <a:rPr sz="1650" spc="-11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open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new</a:t>
            </a:r>
            <a:r>
              <a:rPr sz="1650" spc="-65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connections</a:t>
            </a:r>
            <a:r>
              <a:rPr sz="1650" spc="4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with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other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40" dirty="0">
                <a:latin typeface="Arial"/>
                <a:cs typeface="Arial"/>
              </a:rPr>
              <a:t>supernodes,</a:t>
            </a:r>
            <a:r>
              <a:rPr sz="1650" spc="3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and</a:t>
            </a:r>
            <a:r>
              <a:rPr sz="1650" spc="-114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the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network</a:t>
            </a:r>
            <a:r>
              <a:rPr sz="1650" spc="5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will </a:t>
            </a:r>
            <a:r>
              <a:rPr sz="1650" spc="-30" dirty="0">
                <a:latin typeface="Arial"/>
                <a:cs typeface="Arial"/>
              </a:rPr>
              <a:t>continue</a:t>
            </a:r>
            <a:r>
              <a:rPr sz="1650" spc="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to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operate.</a:t>
            </a:r>
            <a:endParaRPr sz="1650">
              <a:latin typeface="Arial"/>
              <a:cs typeface="Arial"/>
            </a:endParaRPr>
          </a:p>
          <a:p>
            <a:pPr marL="1157605" marR="68580" indent="-222885">
              <a:lnSpc>
                <a:spcPts val="1720"/>
              </a:lnSpc>
              <a:spcBef>
                <a:spcPts val="390"/>
              </a:spcBef>
              <a:buChar char="•"/>
              <a:tabLst>
                <a:tab pos="1157605" algn="l"/>
                <a:tab pos="1162050" algn="l"/>
              </a:tabLst>
            </a:pPr>
            <a:r>
              <a:rPr sz="1650" dirty="0">
                <a:latin typeface="Arial"/>
                <a:cs typeface="Arial"/>
              </a:rPr>
              <a:t>	</a:t>
            </a:r>
            <a:r>
              <a:rPr sz="1650" spc="-40" dirty="0">
                <a:latin typeface="Arial"/>
                <a:cs typeface="Arial"/>
              </a:rPr>
              <a:t>Peers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can</a:t>
            </a:r>
            <a:r>
              <a:rPr sz="1650" spc="-95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become</a:t>
            </a:r>
            <a:r>
              <a:rPr sz="1650" spc="5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supernodes</a:t>
            </a:r>
            <a:r>
              <a:rPr sz="1650" spc="10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themselves</a:t>
            </a:r>
            <a:r>
              <a:rPr sz="1650" spc="3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even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when</a:t>
            </a:r>
            <a:r>
              <a:rPr sz="1650" spc="-6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all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supernodes </a:t>
            </a:r>
            <a:r>
              <a:rPr sz="1650" dirty="0">
                <a:latin typeface="Arial"/>
                <a:cs typeface="Arial"/>
              </a:rPr>
              <a:t>go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down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0480" marR="5080" indent="-6350">
              <a:lnSpc>
                <a:spcPts val="3970"/>
              </a:lnSpc>
              <a:spcBef>
                <a:spcPts val="585"/>
              </a:spcBef>
            </a:pPr>
            <a:r>
              <a:rPr sz="3650" spc="-270" dirty="0">
                <a:solidFill>
                  <a:srgbClr val="336667"/>
                </a:solidFill>
              </a:rPr>
              <a:t>Discovery</a:t>
            </a:r>
            <a:r>
              <a:rPr sz="3650" spc="335" dirty="0">
                <a:solidFill>
                  <a:srgbClr val="336667"/>
                </a:solidFill>
              </a:rPr>
              <a:t> </a:t>
            </a:r>
            <a:r>
              <a:rPr sz="3650" spc="-305" dirty="0">
                <a:solidFill>
                  <a:srgbClr val="346667"/>
                </a:solidFill>
              </a:rPr>
              <a:t>Mechanisms</a:t>
            </a:r>
            <a:r>
              <a:rPr sz="3650" spc="430" dirty="0">
                <a:solidFill>
                  <a:srgbClr val="346667"/>
                </a:solidFill>
              </a:rPr>
              <a:t> </a:t>
            </a:r>
            <a:r>
              <a:rPr sz="3650" spc="-260" dirty="0">
                <a:solidFill>
                  <a:srgbClr val="316762"/>
                </a:solidFill>
              </a:rPr>
              <a:t>for</a:t>
            </a:r>
            <a:r>
              <a:rPr sz="3650" spc="60" dirty="0">
                <a:solidFill>
                  <a:srgbClr val="316762"/>
                </a:solidFill>
              </a:rPr>
              <a:t> </a:t>
            </a:r>
            <a:r>
              <a:rPr sz="3650" spc="-340" dirty="0">
                <a:solidFill>
                  <a:srgbClr val="336667"/>
                </a:solidFill>
              </a:rPr>
              <a:t>P2P </a:t>
            </a:r>
            <a:r>
              <a:rPr sz="3650" spc="-300" dirty="0">
                <a:solidFill>
                  <a:srgbClr val="336669"/>
                </a:solidFill>
              </a:rPr>
              <a:t>systems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1181893" y="1880541"/>
            <a:ext cx="7007225" cy="42310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7145" marR="11430" indent="1905" algn="just">
              <a:lnSpc>
                <a:spcPct val="89700"/>
              </a:lnSpc>
              <a:spcBef>
                <a:spcPts val="470"/>
              </a:spcBef>
            </a:pPr>
            <a:r>
              <a:rPr sz="2750" spc="-25" dirty="0">
                <a:latin typeface="Arial"/>
                <a:cs typeface="Arial"/>
              </a:rPr>
              <a:t>Distributed</a:t>
            </a:r>
            <a:r>
              <a:rPr sz="2750" spc="-75" dirty="0">
                <a:latin typeface="Arial"/>
                <a:cs typeface="Arial"/>
              </a:rPr>
              <a:t> </a:t>
            </a:r>
            <a:r>
              <a:rPr sz="2750" spc="-60" dirty="0">
                <a:latin typeface="Arial"/>
                <a:cs typeface="Arial"/>
              </a:rPr>
              <a:t>peer-</a:t>
            </a:r>
            <a:r>
              <a:rPr sz="2750" spc="-50" dirty="0">
                <a:latin typeface="Arial"/>
                <a:cs typeface="Arial"/>
              </a:rPr>
              <a:t>to-</a:t>
            </a:r>
            <a:r>
              <a:rPr sz="2750" dirty="0">
                <a:latin typeface="Arial"/>
                <a:cs typeface="Arial"/>
              </a:rPr>
              <a:t>peer</a:t>
            </a:r>
            <a:r>
              <a:rPr sz="2750" spc="4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systems</a:t>
            </a:r>
            <a:r>
              <a:rPr sz="2750" spc="-7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often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require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-19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discovery</a:t>
            </a:r>
            <a:r>
              <a:rPr sz="2700" spc="6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mechanism</a:t>
            </a:r>
            <a:r>
              <a:rPr sz="2700" spc="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locate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specific</a:t>
            </a:r>
            <a:r>
              <a:rPr sz="2700" spc="15" dirty="0">
                <a:latin typeface="Arial"/>
                <a:cs typeface="Arial"/>
              </a:rPr>
              <a:t> </a:t>
            </a:r>
            <a:r>
              <a:rPr sz="2700" spc="-20" dirty="0">
                <a:latin typeface="Arial"/>
                <a:cs typeface="Arial"/>
              </a:rPr>
              <a:t>data </a:t>
            </a:r>
            <a:r>
              <a:rPr sz="2700" dirty="0">
                <a:latin typeface="Arial"/>
                <a:cs typeface="Arial"/>
              </a:rPr>
              <a:t>within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6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system.</a:t>
            </a:r>
            <a:endParaRPr sz="2700">
              <a:latin typeface="Arial"/>
              <a:cs typeface="Arial"/>
            </a:endParaRPr>
          </a:p>
          <a:p>
            <a:pPr marL="12700" marR="5080" indent="6985">
              <a:lnSpc>
                <a:spcPct val="89900"/>
              </a:lnSpc>
              <a:spcBef>
                <a:spcPts val="660"/>
              </a:spcBef>
            </a:pPr>
            <a:r>
              <a:rPr sz="2700" dirty="0">
                <a:latin typeface="Arial"/>
                <a:cs typeface="Arial"/>
              </a:rPr>
              <a:t>P2P</a:t>
            </a:r>
            <a:r>
              <a:rPr sz="2700" spc="-8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systems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have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evolved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from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first </a:t>
            </a:r>
            <a:r>
              <a:rPr sz="2750" spc="-30" dirty="0">
                <a:latin typeface="Arial"/>
                <a:cs typeface="Arial"/>
              </a:rPr>
              <a:t>generation</a:t>
            </a:r>
            <a:r>
              <a:rPr sz="2750" spc="-1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centralized</a:t>
            </a:r>
            <a:r>
              <a:rPr sz="2750" spc="-7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structures </a:t>
            </a:r>
            <a:r>
              <a:rPr sz="2750" dirty="0">
                <a:latin typeface="Arial"/>
                <a:cs typeface="Arial"/>
              </a:rPr>
              <a:t>to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second </a:t>
            </a:r>
            <a:r>
              <a:rPr sz="2700" dirty="0">
                <a:latin typeface="Arial"/>
                <a:cs typeface="Arial"/>
              </a:rPr>
              <a:t>generation</a:t>
            </a:r>
            <a:r>
              <a:rPr sz="2700" spc="8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flooding-</a:t>
            </a:r>
            <a:r>
              <a:rPr sz="2700" dirty="0">
                <a:latin typeface="Arial"/>
                <a:cs typeface="Arial"/>
              </a:rPr>
              <a:t>based</a:t>
            </a:r>
            <a:r>
              <a:rPr sz="2700" spc="-1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and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then</a:t>
            </a:r>
            <a:r>
              <a:rPr sz="2700" spc="-10" dirty="0">
                <a:latin typeface="Arial"/>
                <a:cs typeface="Arial"/>
              </a:rPr>
              <a:t> third </a:t>
            </a:r>
            <a:r>
              <a:rPr sz="2700" dirty="0">
                <a:latin typeface="Arial"/>
                <a:cs typeface="Arial"/>
              </a:rPr>
              <a:t>generation</a:t>
            </a:r>
            <a:r>
              <a:rPr sz="2700" spc="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systems</a:t>
            </a:r>
            <a:r>
              <a:rPr sz="2700" spc="-7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based</a:t>
            </a:r>
            <a:r>
              <a:rPr sz="2700" spc="-8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on</a:t>
            </a:r>
            <a:r>
              <a:rPr sz="2700" spc="-15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distributed</a:t>
            </a:r>
            <a:r>
              <a:rPr sz="2700" spc="15" dirty="0">
                <a:latin typeface="Arial"/>
                <a:cs typeface="Arial"/>
              </a:rPr>
              <a:t> </a:t>
            </a:r>
            <a:r>
              <a:rPr sz="2700" spc="-20" dirty="0">
                <a:latin typeface="Arial"/>
                <a:cs typeface="Arial"/>
              </a:rPr>
              <a:t>hash </a:t>
            </a:r>
            <a:r>
              <a:rPr sz="2700" spc="-10" dirty="0">
                <a:latin typeface="Arial"/>
                <a:cs typeface="Arial"/>
              </a:rPr>
              <a:t>tables:</a:t>
            </a:r>
            <a:endParaRPr sz="2700">
              <a:latin typeface="Arial"/>
              <a:cs typeface="Arial"/>
            </a:endParaRPr>
          </a:p>
          <a:p>
            <a:pPr marL="415290" marR="2090420" indent="-1905">
              <a:lnSpc>
                <a:spcPct val="105000"/>
              </a:lnSpc>
              <a:spcBef>
                <a:spcPts val="5"/>
              </a:spcBef>
            </a:pPr>
            <a:r>
              <a:rPr sz="2300" spc="-60" dirty="0">
                <a:latin typeface="Arial"/>
                <a:cs typeface="Arial"/>
              </a:rPr>
              <a:t>Centralized</a:t>
            </a:r>
            <a:r>
              <a:rPr sz="2300" spc="-45" dirty="0">
                <a:latin typeface="Arial"/>
                <a:cs typeface="Arial"/>
              </a:rPr>
              <a:t> indexes</a:t>
            </a:r>
            <a:r>
              <a:rPr sz="2300" spc="-35" dirty="0">
                <a:latin typeface="Arial"/>
                <a:cs typeface="Arial"/>
              </a:rPr>
              <a:t> and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repositories </a:t>
            </a:r>
            <a:r>
              <a:rPr sz="2300" spc="-45" dirty="0">
                <a:latin typeface="Arial"/>
                <a:cs typeface="Arial"/>
              </a:rPr>
              <a:t>Flooding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broadcast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of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queries </a:t>
            </a:r>
            <a:r>
              <a:rPr sz="2300" spc="-65" dirty="0">
                <a:latin typeface="Arial"/>
                <a:cs typeface="Arial"/>
              </a:rPr>
              <a:t>Routing</a:t>
            </a:r>
            <a:r>
              <a:rPr sz="2300" spc="-7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Model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6872" y="552597"/>
            <a:ext cx="5539105" cy="10699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6510">
              <a:lnSpc>
                <a:spcPts val="4075"/>
              </a:lnSpc>
              <a:spcBef>
                <a:spcPts val="115"/>
              </a:spcBef>
            </a:pPr>
            <a:r>
              <a:rPr sz="3550" spc="-145" dirty="0">
                <a:solidFill>
                  <a:srgbClr val="336267"/>
                </a:solidFill>
              </a:rPr>
              <a:t>Centralized</a:t>
            </a:r>
            <a:r>
              <a:rPr sz="3550" spc="120" dirty="0">
                <a:solidFill>
                  <a:srgbClr val="336267"/>
                </a:solidFill>
              </a:rPr>
              <a:t> </a:t>
            </a:r>
            <a:r>
              <a:rPr sz="3550" spc="-360" dirty="0">
                <a:solidFill>
                  <a:srgbClr val="346467"/>
                </a:solidFill>
              </a:rPr>
              <a:t>Indezres</a:t>
            </a:r>
            <a:r>
              <a:rPr sz="3550" spc="110" dirty="0">
                <a:solidFill>
                  <a:srgbClr val="346467"/>
                </a:solidFill>
              </a:rPr>
              <a:t> </a:t>
            </a:r>
            <a:r>
              <a:rPr sz="3550" spc="-145" dirty="0">
                <a:solidFill>
                  <a:srgbClr val="36676B"/>
                </a:solidFill>
              </a:rPr>
              <a:t>and</a:t>
            </a:r>
            <a:endParaRPr sz="3550"/>
          </a:p>
          <a:p>
            <a:pPr marL="12700">
              <a:lnSpc>
                <a:spcPts val="4135"/>
              </a:lnSpc>
            </a:pPr>
            <a:r>
              <a:rPr sz="3600" spc="170" dirty="0">
                <a:solidFill>
                  <a:srgbClr val="346667"/>
                </a:solidFill>
                <a:latin typeface="Arial"/>
                <a:cs typeface="Arial"/>
              </a:rPr>
              <a:t>Repositories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8408" y="1831477"/>
            <a:ext cx="6838315" cy="40760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780" algn="just">
              <a:lnSpc>
                <a:spcPts val="3335"/>
              </a:lnSpc>
              <a:spcBef>
                <a:spcPts val="130"/>
              </a:spcBef>
            </a:pPr>
            <a:r>
              <a:rPr sz="2800" spc="-60" dirty="0">
                <a:latin typeface="Arial"/>
                <a:cs typeface="Arial"/>
              </a:rPr>
              <a:t>Used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17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hybrid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 marL="12700" algn="just">
              <a:lnSpc>
                <a:spcPts val="2920"/>
              </a:lnSpc>
            </a:pPr>
            <a:r>
              <a:rPr sz="2750" dirty="0">
                <a:latin typeface="Arial"/>
                <a:cs typeface="Arial"/>
              </a:rPr>
              <a:t>peers</a:t>
            </a:r>
            <a:r>
              <a:rPr sz="2750" spc="-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of</a:t>
            </a:r>
            <a:r>
              <a:rPr sz="2750" spc="-7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17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community</a:t>
            </a:r>
            <a:r>
              <a:rPr sz="2750" spc="35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connect</a:t>
            </a:r>
            <a:r>
              <a:rPr sz="2750" spc="-5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to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-50" dirty="0">
                <a:latin typeface="Arial"/>
                <a:cs typeface="Arial"/>
              </a:rPr>
              <a:t>a</a:t>
            </a:r>
            <a:endParaRPr sz="2750">
              <a:latin typeface="Arial"/>
              <a:cs typeface="Arial"/>
            </a:endParaRPr>
          </a:p>
          <a:p>
            <a:pPr marL="19050" marR="170180" indent="-5080" algn="just">
              <a:lnSpc>
                <a:spcPct val="78900"/>
              </a:lnSpc>
              <a:spcBef>
                <a:spcPts val="340"/>
              </a:spcBef>
            </a:pPr>
            <a:r>
              <a:rPr sz="2750" spc="-20" dirty="0">
                <a:latin typeface="Arial"/>
                <a:cs typeface="Arial"/>
              </a:rPr>
              <a:t>centralized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directory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servers,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which</a:t>
            </a:r>
            <a:r>
              <a:rPr sz="2750" spc="-18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store</a:t>
            </a:r>
            <a:r>
              <a:rPr sz="2750" spc="-185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all </a:t>
            </a:r>
            <a:r>
              <a:rPr sz="2800" spc="-55" dirty="0">
                <a:latin typeface="Arial"/>
                <a:cs typeface="Arial"/>
              </a:rPr>
              <a:t>information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regarding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location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and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usage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of </a:t>
            </a:r>
            <a:r>
              <a:rPr sz="2650" spc="-10" dirty="0">
                <a:latin typeface="Arial"/>
                <a:cs typeface="Arial"/>
              </a:rPr>
              <a:t>resources</a:t>
            </a:r>
            <a:endParaRPr sz="2650">
              <a:latin typeface="Arial"/>
              <a:cs typeface="Arial"/>
            </a:endParaRPr>
          </a:p>
          <a:p>
            <a:pPr marL="29209" algn="just">
              <a:lnSpc>
                <a:spcPts val="3225"/>
              </a:lnSpc>
              <a:spcBef>
                <a:spcPts val="5"/>
              </a:spcBef>
            </a:pPr>
            <a:r>
              <a:rPr sz="2700" spc="-170" dirty="0">
                <a:latin typeface="Arial"/>
                <a:cs typeface="Arial"/>
              </a:rPr>
              <a:t>A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central</a:t>
            </a:r>
            <a:r>
              <a:rPr sz="2700" spc="-17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directory</a:t>
            </a:r>
            <a:r>
              <a:rPr sz="2700" spc="8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server</a:t>
            </a:r>
            <a:r>
              <a:rPr sz="2700" spc="2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maintains:</a:t>
            </a:r>
            <a:endParaRPr sz="2700">
              <a:latin typeface="Arial"/>
              <a:cs typeface="Arial"/>
            </a:endParaRPr>
          </a:p>
          <a:p>
            <a:pPr marL="417830" marR="109855" indent="3810">
              <a:lnSpc>
                <a:spcPct val="78100"/>
              </a:lnSpc>
              <a:spcBef>
                <a:spcPts val="575"/>
              </a:spcBef>
            </a:pPr>
            <a:r>
              <a:rPr sz="2250" dirty="0">
                <a:latin typeface="Arial"/>
                <a:cs typeface="Arial"/>
              </a:rPr>
              <a:t>an</a:t>
            </a:r>
            <a:r>
              <a:rPr sz="2250" spc="-160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index</a:t>
            </a:r>
            <a:r>
              <a:rPr sz="2250" spc="-90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with</a:t>
            </a:r>
            <a:r>
              <a:rPr sz="2250" spc="-125" dirty="0">
                <a:latin typeface="Arial"/>
                <a:cs typeface="Arial"/>
              </a:rPr>
              <a:t> </a:t>
            </a:r>
            <a:r>
              <a:rPr sz="2250" spc="-20" dirty="0">
                <a:latin typeface="Arial"/>
                <a:cs typeface="Arial"/>
              </a:rPr>
              <a:t>meta</a:t>
            </a:r>
            <a:r>
              <a:rPr sz="2250" spc="-135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data</a:t>
            </a:r>
            <a:r>
              <a:rPr sz="2250" spc="-155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(file</a:t>
            </a:r>
            <a:r>
              <a:rPr sz="2250" spc="-135" dirty="0">
                <a:latin typeface="Arial"/>
                <a:cs typeface="Arial"/>
              </a:rPr>
              <a:t> </a:t>
            </a:r>
            <a:r>
              <a:rPr sz="2250" spc="-20" dirty="0">
                <a:latin typeface="Arial"/>
                <a:cs typeface="Arial"/>
              </a:rPr>
              <a:t>name,</a:t>
            </a:r>
            <a:r>
              <a:rPr sz="2250" spc="-80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time</a:t>
            </a:r>
            <a:r>
              <a:rPr sz="2250" spc="-105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of</a:t>
            </a:r>
            <a:r>
              <a:rPr sz="2250" spc="-85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creation etc.)</a:t>
            </a:r>
            <a:r>
              <a:rPr sz="2250" spc="-30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of</a:t>
            </a:r>
            <a:r>
              <a:rPr sz="2250" spc="-25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all</a:t>
            </a:r>
            <a:r>
              <a:rPr sz="2250" spc="-120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files</a:t>
            </a:r>
            <a:r>
              <a:rPr sz="2250" spc="-110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in</a:t>
            </a:r>
            <a:r>
              <a:rPr sz="2250" spc="-150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the</a:t>
            </a:r>
            <a:r>
              <a:rPr sz="2250" spc="-114" dirty="0">
                <a:latin typeface="Arial"/>
                <a:cs typeface="Arial"/>
              </a:rPr>
              <a:t> </a:t>
            </a:r>
            <a:r>
              <a:rPr sz="2250" spc="-10" dirty="0">
                <a:latin typeface="Arial"/>
                <a:cs typeface="Arial"/>
              </a:rPr>
              <a:t>network</a:t>
            </a:r>
            <a:endParaRPr sz="2250">
              <a:latin typeface="Arial"/>
              <a:cs typeface="Arial"/>
            </a:endParaRPr>
          </a:p>
          <a:p>
            <a:pPr marL="421640">
              <a:lnSpc>
                <a:spcPts val="2315"/>
              </a:lnSpc>
            </a:pPr>
            <a:r>
              <a:rPr sz="2300" dirty="0">
                <a:latin typeface="Arial"/>
                <a:cs typeface="Arial"/>
              </a:rPr>
              <a:t>a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table</a:t>
            </a:r>
            <a:r>
              <a:rPr sz="2300" spc="-14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of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registered </a:t>
            </a:r>
            <a:r>
              <a:rPr sz="2300" spc="-20" dirty="0">
                <a:latin typeface="Arial"/>
                <a:cs typeface="Arial"/>
              </a:rPr>
              <a:t>user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connection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information</a:t>
            </a:r>
            <a:r>
              <a:rPr sz="2300" spc="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(IP</a:t>
            </a:r>
            <a:endParaRPr sz="2300">
              <a:latin typeface="Arial"/>
              <a:cs typeface="Arial"/>
            </a:endParaRPr>
          </a:p>
          <a:p>
            <a:pPr marL="421640">
              <a:lnSpc>
                <a:spcPts val="2405"/>
              </a:lnSpc>
            </a:pPr>
            <a:r>
              <a:rPr sz="2350" spc="-90" dirty="0">
                <a:latin typeface="Arial"/>
                <a:cs typeface="Arial"/>
              </a:rPr>
              <a:t>addresses,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spc="-85" dirty="0">
                <a:latin typeface="Arial"/>
                <a:cs typeface="Arial"/>
              </a:rPr>
              <a:t>connection</a:t>
            </a:r>
            <a:r>
              <a:rPr sz="2350" spc="15" dirty="0">
                <a:latin typeface="Arial"/>
                <a:cs typeface="Arial"/>
              </a:rPr>
              <a:t> </a:t>
            </a:r>
            <a:r>
              <a:rPr sz="2350" spc="-90" dirty="0">
                <a:latin typeface="Arial"/>
                <a:cs typeface="Arial"/>
              </a:rPr>
              <a:t>speeds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etc.)</a:t>
            </a:r>
            <a:endParaRPr sz="2350">
              <a:latin typeface="Arial"/>
              <a:cs typeface="Arial"/>
            </a:endParaRPr>
          </a:p>
          <a:p>
            <a:pPr marL="419734" marR="527685" indent="76835">
              <a:lnSpc>
                <a:spcPct val="75400"/>
              </a:lnSpc>
              <a:spcBef>
                <a:spcPts val="600"/>
              </a:spcBef>
            </a:pPr>
            <a:r>
              <a:rPr sz="2300" dirty="0">
                <a:latin typeface="Arial"/>
                <a:cs typeface="Arial"/>
              </a:rPr>
              <a:t>a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table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listing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files</a:t>
            </a:r>
            <a:r>
              <a:rPr sz="2300" spc="-13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that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each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user</a:t>
            </a:r>
            <a:r>
              <a:rPr sz="2300" spc="-50" dirty="0">
                <a:latin typeface="Arial"/>
                <a:cs typeface="Arial"/>
              </a:rPr>
              <a:t> </a:t>
            </a:r>
            <a:r>
              <a:rPr sz="2300" spc="-40" dirty="0">
                <a:latin typeface="Arial"/>
                <a:cs typeface="Arial"/>
              </a:rPr>
              <a:t>holds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and </a:t>
            </a:r>
            <a:r>
              <a:rPr sz="2300" spc="-35" dirty="0">
                <a:latin typeface="Arial"/>
                <a:cs typeface="Arial"/>
              </a:rPr>
              <a:t>shares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in</a:t>
            </a:r>
            <a:r>
              <a:rPr sz="2300" spc="-14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the</a:t>
            </a:r>
            <a:r>
              <a:rPr sz="2300" spc="-13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network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472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14"/>
              </a:spcBef>
            </a:pPr>
            <a:r>
              <a:rPr sz="3450" spc="-85" dirty="0">
                <a:solidFill>
                  <a:srgbClr val="346467"/>
                </a:solidFill>
              </a:rPr>
              <a:t>Flooding</a:t>
            </a:r>
            <a:r>
              <a:rPr sz="3450" spc="-45" dirty="0">
                <a:solidFill>
                  <a:srgbClr val="346467"/>
                </a:solidFill>
              </a:rPr>
              <a:t> </a:t>
            </a:r>
            <a:r>
              <a:rPr sz="3450" spc="-100" dirty="0">
                <a:solidFill>
                  <a:srgbClr val="366769"/>
                </a:solidFill>
              </a:rPr>
              <a:t>broadcast</a:t>
            </a:r>
            <a:r>
              <a:rPr sz="3450" spc="-10" dirty="0">
                <a:solidFill>
                  <a:srgbClr val="366769"/>
                </a:solidFill>
              </a:rPr>
              <a:t> </a:t>
            </a:r>
            <a:r>
              <a:rPr sz="3450" dirty="0">
                <a:solidFill>
                  <a:srgbClr val="2F6064"/>
                </a:solidFill>
              </a:rPr>
              <a:t>of</a:t>
            </a:r>
            <a:r>
              <a:rPr sz="3450" spc="-125" dirty="0">
                <a:solidFill>
                  <a:srgbClr val="2F6064"/>
                </a:solidFill>
              </a:rPr>
              <a:t> </a:t>
            </a:r>
            <a:r>
              <a:rPr sz="3450" spc="-105" dirty="0">
                <a:solidFill>
                  <a:srgbClr val="386467"/>
                </a:solidFill>
              </a:rPr>
              <a:t>queries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1186482" y="1834787"/>
            <a:ext cx="6973570" cy="376745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200" spc="-45" dirty="0">
                <a:latin typeface="Arial"/>
                <a:cs typeface="Arial"/>
              </a:rPr>
              <a:t>Simple</a:t>
            </a:r>
            <a:r>
              <a:rPr sz="3200" spc="-1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and</a:t>
            </a:r>
            <a:r>
              <a:rPr sz="3200" spc="-2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robust</a:t>
            </a:r>
            <a:endParaRPr sz="3200">
              <a:latin typeface="Arial"/>
              <a:cs typeface="Arial"/>
            </a:endParaRPr>
          </a:p>
          <a:p>
            <a:pPr marL="13335" marR="2088514" indent="395605" algn="r">
              <a:lnSpc>
                <a:spcPct val="108300"/>
              </a:lnSpc>
              <a:spcBef>
                <a:spcPts val="15"/>
              </a:spcBef>
            </a:pPr>
            <a:r>
              <a:rPr sz="2600" dirty="0">
                <a:latin typeface="Arial"/>
                <a:cs typeface="Arial"/>
              </a:rPr>
              <a:t>No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state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maintenance</a:t>
            </a:r>
            <a:r>
              <a:rPr sz="2600" spc="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needed </a:t>
            </a:r>
            <a:r>
              <a:rPr sz="2650" dirty="0">
                <a:latin typeface="Arial"/>
                <a:cs typeface="Arial"/>
              </a:rPr>
              <a:t>High</a:t>
            </a:r>
            <a:r>
              <a:rPr sz="2650" spc="-105" dirty="0">
                <a:latin typeface="Arial"/>
                <a:cs typeface="Arial"/>
              </a:rPr>
              <a:t> </a:t>
            </a:r>
            <a:r>
              <a:rPr sz="2650" spc="-25" dirty="0">
                <a:latin typeface="Arial"/>
                <a:cs typeface="Arial"/>
              </a:rPr>
              <a:t>tolerance</a:t>
            </a:r>
            <a:r>
              <a:rPr sz="2650" spc="-5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to</a:t>
            </a:r>
            <a:r>
              <a:rPr sz="2650" spc="-14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node</a:t>
            </a:r>
            <a:r>
              <a:rPr sz="2650" spc="-80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failures </a:t>
            </a:r>
            <a:r>
              <a:rPr sz="3200" dirty="0">
                <a:latin typeface="Arial"/>
                <a:cs typeface="Arial"/>
              </a:rPr>
              <a:t>Elective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and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low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late</a:t>
            </a:r>
            <a:r>
              <a:rPr sz="4800" spc="-15" baseline="1736" dirty="0">
                <a:latin typeface="Arial"/>
                <a:cs typeface="Arial"/>
              </a:rPr>
              <a:t>n</a:t>
            </a:r>
            <a:r>
              <a:rPr sz="3200" spc="-10" dirty="0">
                <a:latin typeface="Arial"/>
                <a:cs typeface="Arial"/>
              </a:rPr>
              <a:t>cy</a:t>
            </a:r>
            <a:endParaRPr sz="3200">
              <a:latin typeface="Arial"/>
              <a:cs typeface="Arial"/>
            </a:endParaRPr>
          </a:p>
          <a:p>
            <a:pPr marL="421005">
              <a:lnSpc>
                <a:spcPct val="100000"/>
              </a:lnSpc>
              <a:spcBef>
                <a:spcPts val="254"/>
              </a:spcBef>
            </a:pPr>
            <a:r>
              <a:rPr sz="2650" spc="-25" dirty="0">
                <a:latin typeface="Arial"/>
                <a:cs typeface="Arial"/>
              </a:rPr>
              <a:t>Always</a:t>
            </a:r>
            <a:r>
              <a:rPr sz="2650" spc="-3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find</a:t>
            </a:r>
            <a:r>
              <a:rPr sz="2650" spc="-14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the</a:t>
            </a:r>
            <a:r>
              <a:rPr sz="2650" spc="-120" dirty="0">
                <a:latin typeface="Arial"/>
                <a:cs typeface="Arial"/>
              </a:rPr>
              <a:t> </a:t>
            </a:r>
            <a:r>
              <a:rPr sz="2650" spc="-25" dirty="0">
                <a:latin typeface="Arial"/>
                <a:cs typeface="Arial"/>
              </a:rPr>
              <a:t>shortest/fastest</a:t>
            </a:r>
            <a:r>
              <a:rPr sz="2650" spc="-160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routing</a:t>
            </a:r>
            <a:r>
              <a:rPr sz="2650" spc="-65" dirty="0">
                <a:latin typeface="Arial"/>
                <a:cs typeface="Arial"/>
              </a:rPr>
              <a:t> </a:t>
            </a:r>
            <a:r>
              <a:rPr sz="2650" spc="-20" dirty="0">
                <a:latin typeface="Arial"/>
                <a:cs typeface="Arial"/>
              </a:rPr>
              <a:t>paths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3150" spc="-55" dirty="0">
                <a:latin typeface="Arial"/>
                <a:cs typeface="Arial"/>
              </a:rPr>
              <a:t>Fundamental</a:t>
            </a:r>
            <a:r>
              <a:rPr sz="3150" spc="65" dirty="0">
                <a:latin typeface="Arial"/>
                <a:cs typeface="Arial"/>
              </a:rPr>
              <a:t> </a:t>
            </a:r>
            <a:r>
              <a:rPr sz="3150" spc="-30" dirty="0">
                <a:latin typeface="Arial"/>
                <a:cs typeface="Arial"/>
              </a:rPr>
              <a:t>Operation </a:t>
            </a:r>
            <a:r>
              <a:rPr sz="3150" spc="-25" dirty="0">
                <a:latin typeface="Arial"/>
                <a:cs typeface="Arial"/>
              </a:rPr>
              <a:t>for</a:t>
            </a:r>
            <a:endParaRPr sz="315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260"/>
              </a:spcBef>
            </a:pPr>
            <a:r>
              <a:rPr sz="2650" spc="-35" dirty="0">
                <a:latin typeface="Arial"/>
                <a:cs typeface="Arial"/>
              </a:rPr>
              <a:t>Broadcasting</a:t>
            </a:r>
            <a:r>
              <a:rPr sz="2650" spc="1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in</a:t>
            </a:r>
            <a:r>
              <a:rPr sz="2650" spc="-185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distributed</a:t>
            </a:r>
            <a:r>
              <a:rPr sz="2650" spc="-70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systems</a:t>
            </a:r>
            <a:endParaRPr sz="2650">
              <a:latin typeface="Arial"/>
              <a:cs typeface="Arial"/>
            </a:endParaRPr>
          </a:p>
          <a:p>
            <a:pPr marL="415925">
              <a:lnSpc>
                <a:spcPct val="100000"/>
              </a:lnSpc>
              <a:spcBef>
                <a:spcPts val="305"/>
              </a:spcBef>
            </a:pPr>
            <a:r>
              <a:rPr sz="2600" dirty="0">
                <a:latin typeface="Arial"/>
                <a:cs typeface="Arial"/>
              </a:rPr>
              <a:t>P2P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communications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472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14"/>
              </a:spcBef>
            </a:pPr>
            <a:r>
              <a:rPr sz="3450" spc="-95" dirty="0">
                <a:solidFill>
                  <a:srgbClr val="346469"/>
                </a:solidFill>
              </a:rPr>
              <a:t>Problems</a:t>
            </a:r>
            <a:r>
              <a:rPr sz="3450" spc="5" dirty="0">
                <a:solidFill>
                  <a:srgbClr val="346469"/>
                </a:solidFill>
              </a:rPr>
              <a:t> </a:t>
            </a:r>
            <a:r>
              <a:rPr sz="3450" dirty="0">
                <a:solidFill>
                  <a:srgbClr val="366666"/>
                </a:solidFill>
              </a:rPr>
              <a:t>of</a:t>
            </a:r>
            <a:r>
              <a:rPr sz="3450" spc="-114" dirty="0">
                <a:solidFill>
                  <a:srgbClr val="366666"/>
                </a:solidFill>
              </a:rPr>
              <a:t> </a:t>
            </a:r>
            <a:r>
              <a:rPr sz="3450" spc="-120" dirty="0">
                <a:solidFill>
                  <a:srgbClr val="346467"/>
                </a:solidFill>
              </a:rPr>
              <a:t>Flooding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50"/>
              </a:spcBef>
            </a:pPr>
            <a:r>
              <a:rPr sz="3150" spc="-20" dirty="0"/>
              <a:t>Loops</a:t>
            </a:r>
            <a:r>
              <a:rPr sz="3150" spc="-95" dirty="0"/>
              <a:t> </a:t>
            </a:r>
            <a:r>
              <a:rPr sz="3150" dirty="0"/>
              <a:t>in</a:t>
            </a:r>
            <a:r>
              <a:rPr sz="3150" spc="-220" dirty="0"/>
              <a:t> </a:t>
            </a:r>
            <a:r>
              <a:rPr sz="3150" spc="-10" dirty="0"/>
              <a:t>Gnutella</a:t>
            </a:r>
            <a:r>
              <a:rPr sz="3150" spc="-135" dirty="0"/>
              <a:t> </a:t>
            </a:r>
            <a:r>
              <a:rPr sz="3150" spc="-10" dirty="0"/>
              <a:t>networks</a:t>
            </a:r>
            <a:endParaRPr sz="3150"/>
          </a:p>
          <a:p>
            <a:pPr marL="414655">
              <a:lnSpc>
                <a:spcPct val="100000"/>
              </a:lnSpc>
              <a:spcBef>
                <a:spcPts val="315"/>
              </a:spcBef>
            </a:pPr>
            <a:r>
              <a:rPr sz="2600" dirty="0"/>
              <a:t>Caused</a:t>
            </a:r>
            <a:r>
              <a:rPr sz="2600" spc="-60" dirty="0"/>
              <a:t> </a:t>
            </a:r>
            <a:r>
              <a:rPr sz="2600" dirty="0"/>
              <a:t>by</a:t>
            </a:r>
            <a:r>
              <a:rPr sz="2600" spc="-65" dirty="0"/>
              <a:t> </a:t>
            </a:r>
            <a:r>
              <a:rPr sz="2600" dirty="0"/>
              <a:t>redundant</a:t>
            </a:r>
            <a:r>
              <a:rPr sz="2600" spc="5" dirty="0"/>
              <a:t> </a:t>
            </a:r>
            <a:r>
              <a:rPr sz="2600" spc="-10" dirty="0"/>
              <a:t>links</a:t>
            </a:r>
            <a:endParaRPr sz="2600"/>
          </a:p>
          <a:p>
            <a:pPr marL="418465">
              <a:lnSpc>
                <a:spcPct val="100000"/>
              </a:lnSpc>
              <a:spcBef>
                <a:spcPts val="210"/>
              </a:spcBef>
            </a:pPr>
            <a:r>
              <a:rPr sz="2700" spc="-45" dirty="0"/>
              <a:t>Result</a:t>
            </a:r>
            <a:r>
              <a:rPr sz="2700" spc="-55" dirty="0"/>
              <a:t> </a:t>
            </a:r>
            <a:r>
              <a:rPr sz="2700" dirty="0"/>
              <a:t>in</a:t>
            </a:r>
            <a:r>
              <a:rPr sz="2700" spc="-190" dirty="0"/>
              <a:t> </a:t>
            </a:r>
            <a:r>
              <a:rPr sz="2700" spc="-35" dirty="0"/>
              <a:t>endless</a:t>
            </a:r>
            <a:r>
              <a:rPr sz="2700" spc="-114" dirty="0"/>
              <a:t> </a:t>
            </a:r>
            <a:r>
              <a:rPr sz="2700" spc="-50" dirty="0"/>
              <a:t>message</a:t>
            </a:r>
            <a:r>
              <a:rPr sz="2700" spc="-114" dirty="0"/>
              <a:t> </a:t>
            </a:r>
            <a:r>
              <a:rPr sz="2700" spc="-10" dirty="0"/>
              <a:t>routing</a:t>
            </a:r>
            <a:endParaRPr sz="2700"/>
          </a:p>
          <a:p>
            <a:pPr marL="15240">
              <a:lnSpc>
                <a:spcPct val="100000"/>
              </a:lnSpc>
              <a:spcBef>
                <a:spcPts val="305"/>
              </a:spcBef>
            </a:pPr>
            <a:r>
              <a:rPr sz="3150" spc="-30" dirty="0"/>
              <a:t>Current </a:t>
            </a:r>
            <a:r>
              <a:rPr sz="3150" spc="-20" dirty="0"/>
              <a:t>solutio</a:t>
            </a:r>
            <a:r>
              <a:rPr sz="4725" spc="-30" baseline="1763" dirty="0"/>
              <a:t>n</a:t>
            </a:r>
            <a:r>
              <a:rPr sz="4725" spc="-330" baseline="1763" dirty="0"/>
              <a:t> </a:t>
            </a:r>
            <a:r>
              <a:rPr sz="3150" dirty="0"/>
              <a:t>by</a:t>
            </a:r>
            <a:r>
              <a:rPr sz="3150" spc="-80" dirty="0"/>
              <a:t> </a:t>
            </a:r>
            <a:r>
              <a:rPr sz="3150" spc="-10" dirty="0"/>
              <a:t>Gnutella</a:t>
            </a:r>
            <a:endParaRPr sz="3150"/>
          </a:p>
          <a:p>
            <a:pPr marL="416559">
              <a:lnSpc>
                <a:spcPct val="100000"/>
              </a:lnSpc>
              <a:spcBef>
                <a:spcPts val="315"/>
              </a:spcBef>
            </a:pPr>
            <a:r>
              <a:rPr sz="2600" dirty="0"/>
              <a:t>Detect</a:t>
            </a:r>
            <a:r>
              <a:rPr sz="2600" spc="15" dirty="0"/>
              <a:t> </a:t>
            </a:r>
            <a:r>
              <a:rPr sz="2600" dirty="0"/>
              <a:t>and</a:t>
            </a:r>
            <a:r>
              <a:rPr sz="2600" spc="-145" dirty="0"/>
              <a:t> </a:t>
            </a:r>
            <a:r>
              <a:rPr sz="2600" dirty="0"/>
              <a:t>discard</a:t>
            </a:r>
            <a:r>
              <a:rPr sz="2600" spc="-70" dirty="0"/>
              <a:t> </a:t>
            </a:r>
            <a:r>
              <a:rPr sz="2600" dirty="0"/>
              <a:t>redundant</a:t>
            </a:r>
            <a:r>
              <a:rPr sz="2600" spc="35" dirty="0"/>
              <a:t> </a:t>
            </a:r>
            <a:r>
              <a:rPr sz="2600" spc="-10" dirty="0"/>
              <a:t>messages</a:t>
            </a:r>
            <a:endParaRPr sz="2600"/>
          </a:p>
          <a:p>
            <a:pPr marL="417195">
              <a:lnSpc>
                <a:spcPct val="100000"/>
              </a:lnSpc>
              <a:spcBef>
                <a:spcPts val="210"/>
              </a:spcBef>
            </a:pPr>
            <a:r>
              <a:rPr sz="2700" spc="-50" dirty="0"/>
              <a:t>Limit</a:t>
            </a:r>
            <a:r>
              <a:rPr sz="2700" spc="-95" dirty="0"/>
              <a:t> </a:t>
            </a:r>
            <a:r>
              <a:rPr sz="2700" spc="-65" dirty="0"/>
              <a:t>TTL(time-</a:t>
            </a:r>
            <a:r>
              <a:rPr sz="2700" spc="-55" dirty="0"/>
              <a:t>to-</a:t>
            </a:r>
            <a:r>
              <a:rPr sz="2700" spc="-10" dirty="0"/>
              <a:t>live)</a:t>
            </a:r>
            <a:r>
              <a:rPr sz="2700" spc="-140" dirty="0"/>
              <a:t> </a:t>
            </a:r>
            <a:r>
              <a:rPr sz="2700" dirty="0"/>
              <a:t>of</a:t>
            </a:r>
            <a:r>
              <a:rPr sz="2700" spc="-20" dirty="0"/>
              <a:t> </a:t>
            </a:r>
            <a:r>
              <a:rPr sz="2700" spc="-10" dirty="0"/>
              <a:t>messages</a:t>
            </a:r>
            <a:endParaRPr sz="2700"/>
          </a:p>
          <a:p>
            <a:pPr marL="17780">
              <a:lnSpc>
                <a:spcPct val="100000"/>
              </a:lnSpc>
              <a:spcBef>
                <a:spcPts val="305"/>
              </a:spcBef>
            </a:pPr>
            <a:r>
              <a:rPr sz="3150" spc="-50" dirty="0"/>
              <a:t>Unnecessary</a:t>
            </a:r>
            <a:r>
              <a:rPr sz="3150" spc="180" dirty="0"/>
              <a:t> </a:t>
            </a:r>
            <a:r>
              <a:rPr sz="3150" spc="-20" dirty="0"/>
              <a:t>traffic</a:t>
            </a:r>
            <a:r>
              <a:rPr sz="3150" spc="-10" dirty="0"/>
              <a:t> </a:t>
            </a:r>
            <a:r>
              <a:rPr sz="3150" dirty="0"/>
              <a:t>is</a:t>
            </a:r>
            <a:r>
              <a:rPr sz="3150" spc="-180" dirty="0"/>
              <a:t> </a:t>
            </a:r>
            <a:r>
              <a:rPr sz="3150" dirty="0"/>
              <a:t>till</a:t>
            </a:r>
            <a:r>
              <a:rPr sz="3150" spc="-170" dirty="0"/>
              <a:t> </a:t>
            </a:r>
            <a:r>
              <a:rPr sz="3150" dirty="0"/>
              <a:t>too</a:t>
            </a:r>
            <a:r>
              <a:rPr sz="3150" spc="-125" dirty="0"/>
              <a:t> </a:t>
            </a:r>
            <a:r>
              <a:rPr sz="3150" spc="-20" dirty="0"/>
              <a:t>much</a:t>
            </a:r>
            <a:endParaRPr sz="3150"/>
          </a:p>
          <a:p>
            <a:pPr marL="413384">
              <a:lnSpc>
                <a:spcPct val="100000"/>
              </a:lnSpc>
              <a:spcBef>
                <a:spcPts val="284"/>
              </a:spcBef>
            </a:pPr>
            <a:r>
              <a:rPr sz="2600" dirty="0"/>
              <a:t>The</a:t>
            </a:r>
            <a:r>
              <a:rPr sz="2600" spc="-60" dirty="0"/>
              <a:t> </a:t>
            </a:r>
            <a:r>
              <a:rPr sz="2600" dirty="0"/>
              <a:t>redundant</a:t>
            </a:r>
            <a:r>
              <a:rPr sz="2600" spc="75" dirty="0"/>
              <a:t> </a:t>
            </a:r>
            <a:r>
              <a:rPr sz="2600" dirty="0"/>
              <a:t>links</a:t>
            </a:r>
            <a:r>
              <a:rPr sz="2600" spc="-30" dirty="0"/>
              <a:t> </a:t>
            </a:r>
            <a:r>
              <a:rPr sz="2600" dirty="0"/>
              <a:t>are</a:t>
            </a:r>
            <a:r>
              <a:rPr sz="2600" spc="-30" dirty="0"/>
              <a:t> </a:t>
            </a:r>
            <a:r>
              <a:rPr sz="2600" dirty="0"/>
              <a:t>still</a:t>
            </a:r>
            <a:r>
              <a:rPr sz="2600" spc="-90" dirty="0"/>
              <a:t> </a:t>
            </a:r>
            <a:r>
              <a:rPr sz="2600" spc="-10" dirty="0"/>
              <a:t>there</a:t>
            </a:r>
            <a:endParaRPr sz="2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663" y="1065062"/>
            <a:ext cx="3270250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90" dirty="0">
                <a:solidFill>
                  <a:srgbClr val="346667"/>
                </a:solidFill>
              </a:rPr>
              <a:t>Routing</a:t>
            </a:r>
            <a:r>
              <a:rPr sz="3450" spc="-195" dirty="0">
                <a:solidFill>
                  <a:srgbClr val="346667"/>
                </a:solidFill>
              </a:rPr>
              <a:t> </a:t>
            </a:r>
            <a:r>
              <a:rPr sz="3450" spc="-130" dirty="0">
                <a:solidFill>
                  <a:srgbClr val="366669"/>
                </a:solidFill>
              </a:rPr>
              <a:t>Model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1180882" y="1926431"/>
            <a:ext cx="6600825" cy="353567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120014" indent="13970">
              <a:lnSpc>
                <a:spcPct val="98200"/>
              </a:lnSpc>
              <a:spcBef>
                <a:spcPts val="190"/>
              </a:spcBef>
            </a:pPr>
            <a:r>
              <a:rPr sz="3100" dirty="0">
                <a:latin typeface="Arial"/>
                <a:cs typeface="Arial"/>
              </a:rPr>
              <a:t>Adds</a:t>
            </a:r>
            <a:r>
              <a:rPr sz="3100" spc="-75" dirty="0">
                <a:latin typeface="Arial"/>
                <a:cs typeface="Arial"/>
              </a:rPr>
              <a:t> </a:t>
            </a:r>
            <a:r>
              <a:rPr sz="3100" spc="-10" dirty="0">
                <a:latin typeface="Arial"/>
                <a:cs typeface="Arial"/>
              </a:rPr>
              <a:t>structure</a:t>
            </a:r>
            <a:r>
              <a:rPr sz="3100" spc="4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to</a:t>
            </a:r>
            <a:r>
              <a:rPr sz="3100" spc="-12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the</a:t>
            </a:r>
            <a:r>
              <a:rPr sz="3100" spc="-90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way</a:t>
            </a:r>
            <a:r>
              <a:rPr sz="3100" spc="-55" dirty="0">
                <a:latin typeface="Arial"/>
                <a:cs typeface="Arial"/>
              </a:rPr>
              <a:t> </a:t>
            </a:r>
            <a:r>
              <a:rPr sz="3100" spc="-10" dirty="0">
                <a:latin typeface="Arial"/>
                <a:cs typeface="Arial"/>
              </a:rPr>
              <a:t>information </a:t>
            </a:r>
            <a:r>
              <a:rPr sz="3100" dirty="0">
                <a:latin typeface="Arial"/>
                <a:cs typeface="Arial"/>
              </a:rPr>
              <a:t>about</a:t>
            </a:r>
            <a:r>
              <a:rPr sz="3100" spc="-45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resources</a:t>
            </a:r>
            <a:r>
              <a:rPr sz="3100" spc="15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are</a:t>
            </a:r>
            <a:r>
              <a:rPr sz="3100" spc="-135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stored</a:t>
            </a:r>
            <a:r>
              <a:rPr sz="3100" spc="-160" dirty="0">
                <a:latin typeface="Arial"/>
                <a:cs typeface="Arial"/>
              </a:rPr>
              <a:t> </a:t>
            </a:r>
            <a:r>
              <a:rPr sz="3100" spc="-10" dirty="0">
                <a:latin typeface="Arial"/>
                <a:cs typeface="Arial"/>
              </a:rPr>
              <a:t>using </a:t>
            </a:r>
            <a:r>
              <a:rPr sz="3250" spc="-70" dirty="0">
                <a:latin typeface="Arial"/>
                <a:cs typeface="Arial"/>
              </a:rPr>
              <a:t>distributed</a:t>
            </a:r>
            <a:r>
              <a:rPr sz="3250" spc="-35" dirty="0">
                <a:latin typeface="Arial"/>
                <a:cs typeface="Arial"/>
              </a:rPr>
              <a:t> </a:t>
            </a:r>
            <a:r>
              <a:rPr sz="3250" spc="-80" dirty="0">
                <a:latin typeface="Arial"/>
                <a:cs typeface="Arial"/>
              </a:rPr>
              <a:t>hash</a:t>
            </a:r>
            <a:r>
              <a:rPr sz="3250" spc="-150" dirty="0">
                <a:latin typeface="Arial"/>
                <a:cs typeface="Arial"/>
              </a:rPr>
              <a:t> </a:t>
            </a:r>
            <a:r>
              <a:rPr sz="3250" spc="-10" dirty="0">
                <a:latin typeface="Arial"/>
                <a:cs typeface="Arial"/>
              </a:rPr>
              <a:t>table</a:t>
            </a:r>
            <a:endParaRPr sz="3250">
              <a:latin typeface="Arial"/>
              <a:cs typeface="Arial"/>
            </a:endParaRPr>
          </a:p>
          <a:p>
            <a:pPr marL="17780" marR="5080" indent="1905">
              <a:lnSpc>
                <a:spcPct val="106300"/>
              </a:lnSpc>
              <a:spcBef>
                <a:spcPts val="434"/>
              </a:spcBef>
            </a:pPr>
            <a:r>
              <a:rPr sz="3150" spc="-35" dirty="0">
                <a:latin typeface="Arial"/>
                <a:cs typeface="Arial"/>
              </a:rPr>
              <a:t>Provides</a:t>
            </a:r>
            <a:r>
              <a:rPr sz="3150" spc="-20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a</a:t>
            </a:r>
            <a:r>
              <a:rPr sz="3150" spc="-220" dirty="0">
                <a:latin typeface="Arial"/>
                <a:cs typeface="Arial"/>
              </a:rPr>
              <a:t> </a:t>
            </a:r>
            <a:r>
              <a:rPr sz="3150" spc="-40" dirty="0">
                <a:latin typeface="Arial"/>
                <a:cs typeface="Arial"/>
              </a:rPr>
              <a:t>mapping</a:t>
            </a:r>
            <a:r>
              <a:rPr sz="3150" spc="-5" dirty="0">
                <a:latin typeface="Arial"/>
                <a:cs typeface="Arial"/>
              </a:rPr>
              <a:t> </a:t>
            </a:r>
            <a:r>
              <a:rPr sz="3150" spc="-25" dirty="0">
                <a:latin typeface="Arial"/>
                <a:cs typeface="Arial"/>
              </a:rPr>
              <a:t>between</a:t>
            </a:r>
            <a:r>
              <a:rPr sz="3150" spc="-55" dirty="0">
                <a:latin typeface="Arial"/>
                <a:cs typeface="Arial"/>
              </a:rPr>
              <a:t> </a:t>
            </a:r>
            <a:r>
              <a:rPr sz="3150" spc="-25" dirty="0">
                <a:latin typeface="Arial"/>
                <a:cs typeface="Arial"/>
              </a:rPr>
              <a:t>the </a:t>
            </a:r>
            <a:r>
              <a:rPr sz="3150" spc="-35" dirty="0">
                <a:latin typeface="Arial"/>
                <a:cs typeface="Arial"/>
              </a:rPr>
              <a:t>resource </a:t>
            </a:r>
            <a:r>
              <a:rPr sz="3150" spc="-25" dirty="0">
                <a:latin typeface="Arial"/>
                <a:cs typeface="Arial"/>
              </a:rPr>
              <a:t>identifier</a:t>
            </a:r>
            <a:r>
              <a:rPr sz="3150" spc="-5" dirty="0">
                <a:latin typeface="Arial"/>
                <a:cs typeface="Arial"/>
              </a:rPr>
              <a:t> </a:t>
            </a:r>
            <a:r>
              <a:rPr sz="3150" dirty="0">
                <a:latin typeface="Arial"/>
                <a:cs typeface="Arial"/>
              </a:rPr>
              <a:t>and</a:t>
            </a:r>
            <a:r>
              <a:rPr sz="3150" spc="-204" dirty="0">
                <a:latin typeface="Arial"/>
                <a:cs typeface="Arial"/>
              </a:rPr>
              <a:t> </a:t>
            </a:r>
            <a:r>
              <a:rPr sz="3150" spc="-10" dirty="0">
                <a:latin typeface="Arial"/>
                <a:cs typeface="Arial"/>
              </a:rPr>
              <a:t>location </a:t>
            </a:r>
            <a:r>
              <a:rPr sz="4950" spc="-89" baseline="1683" dirty="0">
                <a:latin typeface="Arial"/>
                <a:cs typeface="Arial"/>
              </a:rPr>
              <a:t>R</a:t>
            </a:r>
            <a:r>
              <a:rPr sz="3300" spc="-60" dirty="0">
                <a:latin typeface="Arial"/>
                <a:cs typeface="Arial"/>
              </a:rPr>
              <a:t>educes</a:t>
            </a:r>
            <a:r>
              <a:rPr sz="3300" spc="-565" dirty="0">
                <a:latin typeface="Arial"/>
                <a:cs typeface="Arial"/>
              </a:rPr>
              <a:t> </a:t>
            </a:r>
            <a:r>
              <a:rPr sz="3300" spc="-90" dirty="0">
                <a:latin typeface="Arial"/>
                <a:cs typeface="Arial"/>
              </a:rPr>
              <a:t>the</a:t>
            </a:r>
            <a:r>
              <a:rPr sz="3300" spc="-140" dirty="0">
                <a:latin typeface="Arial"/>
                <a:cs typeface="Arial"/>
              </a:rPr>
              <a:t> </a:t>
            </a:r>
            <a:r>
              <a:rPr sz="3300" spc="-120" dirty="0">
                <a:latin typeface="Arial"/>
                <a:cs typeface="Arial"/>
              </a:rPr>
              <a:t>number</a:t>
            </a:r>
            <a:r>
              <a:rPr sz="3300" spc="-25" dirty="0">
                <a:latin typeface="Arial"/>
                <a:cs typeface="Arial"/>
              </a:rPr>
              <a:t> </a:t>
            </a:r>
            <a:r>
              <a:rPr sz="3300" spc="-90" dirty="0">
                <a:latin typeface="Arial"/>
                <a:cs typeface="Arial"/>
              </a:rPr>
              <a:t>of</a:t>
            </a:r>
            <a:r>
              <a:rPr sz="3300" spc="-100" dirty="0">
                <a:latin typeface="Arial"/>
                <a:cs typeface="Arial"/>
              </a:rPr>
              <a:t> </a:t>
            </a:r>
            <a:r>
              <a:rPr sz="3300" spc="-75" dirty="0">
                <a:latin typeface="Arial"/>
                <a:cs typeface="Arial"/>
              </a:rPr>
              <a:t>p2p</a:t>
            </a:r>
            <a:r>
              <a:rPr sz="3300" spc="-114" dirty="0">
                <a:latin typeface="Arial"/>
                <a:cs typeface="Arial"/>
              </a:rPr>
              <a:t> </a:t>
            </a:r>
            <a:r>
              <a:rPr sz="3300" spc="-110" dirty="0">
                <a:latin typeface="Arial"/>
                <a:cs typeface="Arial"/>
              </a:rPr>
              <a:t>hops</a:t>
            </a:r>
            <a:r>
              <a:rPr sz="3300" spc="-114" dirty="0">
                <a:latin typeface="Arial"/>
                <a:cs typeface="Arial"/>
              </a:rPr>
              <a:t> </a:t>
            </a:r>
            <a:r>
              <a:rPr sz="3300" spc="-60" dirty="0">
                <a:latin typeface="Arial"/>
                <a:cs typeface="Arial"/>
              </a:rPr>
              <a:t>that</a:t>
            </a:r>
            <a:endParaRPr sz="3300">
              <a:latin typeface="Arial"/>
              <a:cs typeface="Arial"/>
            </a:endParaRPr>
          </a:p>
          <a:p>
            <a:pPr marL="15875">
              <a:lnSpc>
                <a:spcPts val="3740"/>
              </a:lnSpc>
            </a:pPr>
            <a:r>
              <a:rPr sz="3300" spc="-135" dirty="0">
                <a:latin typeface="Arial"/>
                <a:cs typeface="Arial"/>
              </a:rPr>
              <a:t>must</a:t>
            </a:r>
            <a:r>
              <a:rPr sz="3300" spc="-95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be</a:t>
            </a:r>
            <a:r>
              <a:rPr sz="3300" spc="-220" dirty="0">
                <a:latin typeface="Arial"/>
                <a:cs typeface="Arial"/>
              </a:rPr>
              <a:t> </a:t>
            </a:r>
            <a:r>
              <a:rPr sz="3300" spc="-100" dirty="0">
                <a:latin typeface="Arial"/>
                <a:cs typeface="Arial"/>
              </a:rPr>
              <a:t>taken</a:t>
            </a:r>
            <a:r>
              <a:rPr sz="3300" spc="-125" dirty="0">
                <a:latin typeface="Arial"/>
                <a:cs typeface="Arial"/>
              </a:rPr>
              <a:t> </a:t>
            </a:r>
            <a:r>
              <a:rPr sz="3300" spc="-30" dirty="0">
                <a:latin typeface="Arial"/>
                <a:cs typeface="Arial"/>
              </a:rPr>
              <a:t>to</a:t>
            </a:r>
            <a:r>
              <a:rPr sz="3300" spc="-165" dirty="0">
                <a:latin typeface="Arial"/>
                <a:cs typeface="Arial"/>
              </a:rPr>
              <a:t> </a:t>
            </a:r>
            <a:r>
              <a:rPr sz="3300" spc="-90" dirty="0">
                <a:latin typeface="Arial"/>
                <a:cs typeface="Arial"/>
              </a:rPr>
              <a:t>locate</a:t>
            </a:r>
            <a:r>
              <a:rPr sz="3300" spc="-50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a</a:t>
            </a:r>
            <a:r>
              <a:rPr sz="3300" spc="-229" dirty="0">
                <a:latin typeface="Arial"/>
                <a:cs typeface="Arial"/>
              </a:rPr>
              <a:t> </a:t>
            </a:r>
            <a:r>
              <a:rPr sz="3300" spc="-10" dirty="0">
                <a:latin typeface="Arial"/>
                <a:cs typeface="Arial"/>
              </a:rPr>
              <a:t>resource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165" y="5700712"/>
            <a:ext cx="8783241" cy="63936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2165" y="217883"/>
            <a:ext cx="8819515" cy="5657850"/>
            <a:chOff x="182165" y="217883"/>
            <a:chExt cx="8819515" cy="565785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165" y="217883"/>
              <a:ext cx="8783241" cy="6465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9011" y="678656"/>
              <a:ext cx="0" cy="5137785"/>
            </a:xfrm>
            <a:custGeom>
              <a:avLst/>
              <a:gdLst/>
              <a:ahLst/>
              <a:cxnLst/>
              <a:rect l="l" t="t" r="r" b="b"/>
              <a:pathLst>
                <a:path h="5137785">
                  <a:moveTo>
                    <a:pt x="0" y="5137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99636" y="634008"/>
              <a:ext cx="0" cy="5241925"/>
            </a:xfrm>
            <a:custGeom>
              <a:avLst/>
              <a:gdLst/>
              <a:ahLst/>
              <a:cxnLst/>
              <a:rect l="l" t="t" r="r" b="b"/>
              <a:pathLst>
                <a:path h="5241925">
                  <a:moveTo>
                    <a:pt x="0" y="52417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41133" y="1052660"/>
            <a:ext cx="1351280" cy="568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550" spc="-195" dirty="0">
                <a:solidFill>
                  <a:srgbClr val="366464"/>
                </a:solidFill>
              </a:rPr>
              <a:t>Chord</a:t>
            </a:r>
            <a:endParaRPr sz="3550"/>
          </a:p>
        </p:txBody>
      </p:sp>
      <p:sp>
        <p:nvSpPr>
          <p:cNvPr id="9" name="object 9"/>
          <p:cNvSpPr txBox="1"/>
          <p:nvPr/>
        </p:nvSpPr>
        <p:spPr>
          <a:xfrm>
            <a:off x="1174948" y="1849286"/>
            <a:ext cx="6809740" cy="369442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900" spc="-450" dirty="0">
                <a:latin typeface="Arial Black"/>
                <a:cs typeface="Arial Black"/>
              </a:rPr>
              <a:t>Provides</a:t>
            </a:r>
            <a:r>
              <a:rPr sz="2900" spc="250" dirty="0">
                <a:latin typeface="Arial Black"/>
                <a:cs typeface="Arial Black"/>
              </a:rPr>
              <a:t> </a:t>
            </a:r>
            <a:r>
              <a:rPr sz="2900" spc="-315" dirty="0">
                <a:latin typeface="Arial Black"/>
                <a:cs typeface="Arial Black"/>
              </a:rPr>
              <a:t>peer-</a:t>
            </a:r>
            <a:r>
              <a:rPr sz="2900" spc="-275" dirty="0">
                <a:latin typeface="Arial Black"/>
                <a:cs typeface="Arial Black"/>
              </a:rPr>
              <a:t>to-</a:t>
            </a:r>
            <a:r>
              <a:rPr sz="2900" spc="-345" dirty="0">
                <a:latin typeface="Arial Black"/>
                <a:cs typeface="Arial Black"/>
              </a:rPr>
              <a:t>peer</a:t>
            </a:r>
            <a:r>
              <a:rPr sz="2900" spc="445" dirty="0">
                <a:latin typeface="Arial Black"/>
                <a:cs typeface="Arial Black"/>
              </a:rPr>
              <a:t> </a:t>
            </a:r>
            <a:r>
              <a:rPr sz="2900" spc="-520" dirty="0">
                <a:latin typeface="Arial Black"/>
                <a:cs typeface="Arial Black"/>
              </a:rPr>
              <a:t>hash</a:t>
            </a:r>
            <a:r>
              <a:rPr sz="2900" spc="110" dirty="0">
                <a:latin typeface="Arial Black"/>
                <a:cs typeface="Arial Black"/>
              </a:rPr>
              <a:t> </a:t>
            </a:r>
            <a:r>
              <a:rPr sz="2900" spc="-540" dirty="0">
                <a:latin typeface="Arial Black"/>
                <a:cs typeface="Arial Black"/>
              </a:rPr>
              <a:t>lookup</a:t>
            </a:r>
            <a:r>
              <a:rPr sz="2900" spc="185" dirty="0">
                <a:latin typeface="Arial Black"/>
                <a:cs typeface="Arial Black"/>
              </a:rPr>
              <a:t> </a:t>
            </a:r>
            <a:r>
              <a:rPr sz="2900" spc="-405" dirty="0">
                <a:latin typeface="Arial Black"/>
                <a:cs typeface="Arial Black"/>
              </a:rPr>
              <a:t>service:</a:t>
            </a:r>
            <a:endParaRPr sz="2900">
              <a:latin typeface="Arial Black"/>
              <a:cs typeface="Arial Black"/>
            </a:endParaRPr>
          </a:p>
          <a:p>
            <a:pPr marL="421640" marR="2437765" indent="-8255">
              <a:lnSpc>
                <a:spcPts val="3229"/>
              </a:lnSpc>
              <a:spcBef>
                <a:spcPts val="70"/>
              </a:spcBef>
            </a:pPr>
            <a:r>
              <a:rPr sz="2350" spc="-355" dirty="0">
                <a:latin typeface="Arial Black"/>
                <a:cs typeface="Arial Black"/>
              </a:rPr>
              <a:t>Lookup(key)</a:t>
            </a:r>
            <a:r>
              <a:rPr sz="2350" spc="-35" dirty="0">
                <a:latin typeface="Arial Black"/>
                <a:cs typeface="Arial Black"/>
              </a:rPr>
              <a:t> </a:t>
            </a:r>
            <a:r>
              <a:rPr sz="2350" spc="-825" dirty="0">
                <a:latin typeface="Arial Black"/>
                <a:cs typeface="Arial Black"/>
              </a:rPr>
              <a:t>B</a:t>
            </a:r>
            <a:r>
              <a:rPr sz="2350" spc="-220" dirty="0">
                <a:latin typeface="Arial Black"/>
                <a:cs typeface="Arial Black"/>
              </a:rPr>
              <a:t> </a:t>
            </a:r>
            <a:r>
              <a:rPr sz="2350" spc="-110" dirty="0">
                <a:latin typeface="Arial Black"/>
                <a:cs typeface="Arial Black"/>
              </a:rPr>
              <a:t>IP</a:t>
            </a:r>
            <a:r>
              <a:rPr sz="2350" spc="-114" dirty="0">
                <a:latin typeface="Arial Black"/>
                <a:cs typeface="Arial Black"/>
              </a:rPr>
              <a:t> </a:t>
            </a:r>
            <a:r>
              <a:rPr sz="2350" spc="-350" dirty="0">
                <a:latin typeface="Arial Black"/>
                <a:cs typeface="Arial Black"/>
              </a:rPr>
              <a:t>address</a:t>
            </a:r>
            <a:r>
              <a:rPr sz="2350" spc="-325" dirty="0">
                <a:latin typeface="Arial Black"/>
                <a:cs typeface="Arial Black"/>
              </a:rPr>
              <a:t> Chord</a:t>
            </a:r>
            <a:r>
              <a:rPr sz="2350" spc="80" dirty="0">
                <a:latin typeface="Arial Black"/>
                <a:cs typeface="Arial Black"/>
              </a:rPr>
              <a:t> </a:t>
            </a:r>
            <a:r>
              <a:rPr sz="2350" spc="-420" dirty="0">
                <a:latin typeface="Arial Black"/>
                <a:cs typeface="Arial Black"/>
              </a:rPr>
              <a:t>does</a:t>
            </a:r>
            <a:r>
              <a:rPr sz="2350" spc="80" dirty="0">
                <a:latin typeface="Arial Black"/>
                <a:cs typeface="Arial Black"/>
              </a:rPr>
              <a:t> </a:t>
            </a:r>
            <a:r>
              <a:rPr sz="2350" spc="-325" dirty="0">
                <a:latin typeface="Arial Black"/>
                <a:cs typeface="Arial Black"/>
              </a:rPr>
              <a:t>not</a:t>
            </a:r>
            <a:r>
              <a:rPr sz="2350" spc="15" dirty="0">
                <a:latin typeface="Arial Black"/>
                <a:cs typeface="Arial Black"/>
              </a:rPr>
              <a:t> </a:t>
            </a:r>
            <a:r>
              <a:rPr sz="2350" spc="-250" dirty="0">
                <a:latin typeface="Arial Black"/>
                <a:cs typeface="Arial Black"/>
              </a:rPr>
              <a:t>store</a:t>
            </a:r>
            <a:r>
              <a:rPr sz="2350" spc="5" dirty="0">
                <a:latin typeface="Arial Black"/>
                <a:cs typeface="Arial Black"/>
              </a:rPr>
              <a:t> </a:t>
            </a:r>
            <a:r>
              <a:rPr sz="2350" spc="-245" dirty="0">
                <a:latin typeface="Arial Black"/>
                <a:cs typeface="Arial Black"/>
              </a:rPr>
              <a:t>the</a:t>
            </a:r>
            <a:r>
              <a:rPr sz="2350" spc="-25" dirty="0">
                <a:latin typeface="Arial Black"/>
                <a:cs typeface="Arial Black"/>
              </a:rPr>
              <a:t> </a:t>
            </a:r>
            <a:r>
              <a:rPr sz="2350" spc="-340" dirty="0">
                <a:latin typeface="Arial Black"/>
                <a:cs typeface="Arial Black"/>
              </a:rPr>
              <a:t>data</a:t>
            </a:r>
            <a:endParaRPr sz="2350">
              <a:latin typeface="Arial Black"/>
              <a:cs typeface="Arial Black"/>
            </a:endParaRPr>
          </a:p>
          <a:p>
            <a:pPr marL="19685">
              <a:lnSpc>
                <a:spcPct val="100000"/>
              </a:lnSpc>
              <a:spcBef>
                <a:spcPts val="275"/>
              </a:spcBef>
            </a:pPr>
            <a:r>
              <a:rPr sz="2850" spc="-200" dirty="0">
                <a:latin typeface="Arial Black"/>
                <a:cs typeface="Arial Black"/>
              </a:rPr>
              <a:t>Efficient:</a:t>
            </a:r>
            <a:r>
              <a:rPr sz="2850" spc="85" dirty="0">
                <a:latin typeface="Arial Black"/>
                <a:cs typeface="Arial Black"/>
              </a:rPr>
              <a:t> </a:t>
            </a:r>
            <a:r>
              <a:rPr sz="2850" spc="-390" dirty="0">
                <a:latin typeface="Arial Black"/>
                <a:cs typeface="Arial Black"/>
              </a:rPr>
              <a:t>O(Log</a:t>
            </a:r>
            <a:r>
              <a:rPr sz="2850" spc="-75" dirty="0">
                <a:latin typeface="Arial Black"/>
                <a:cs typeface="Arial Black"/>
              </a:rPr>
              <a:t> </a:t>
            </a:r>
            <a:r>
              <a:rPr sz="2850" spc="-180" dirty="0">
                <a:latin typeface="Arial Black"/>
                <a:cs typeface="Arial Black"/>
              </a:rPr>
              <a:t>N)</a:t>
            </a:r>
            <a:r>
              <a:rPr sz="2850" spc="-145" dirty="0">
                <a:latin typeface="Arial Black"/>
                <a:cs typeface="Arial Black"/>
              </a:rPr>
              <a:t> </a:t>
            </a:r>
            <a:r>
              <a:rPr sz="2850" spc="-555" dirty="0">
                <a:latin typeface="Arial Black"/>
                <a:cs typeface="Arial Black"/>
              </a:rPr>
              <a:t>messages</a:t>
            </a:r>
            <a:r>
              <a:rPr sz="2850" spc="280" dirty="0">
                <a:latin typeface="Arial Black"/>
                <a:cs typeface="Arial Black"/>
              </a:rPr>
              <a:t> </a:t>
            </a:r>
            <a:r>
              <a:rPr sz="2850" spc="-395" dirty="0">
                <a:latin typeface="Arial Black"/>
                <a:cs typeface="Arial Black"/>
              </a:rPr>
              <a:t>per</a:t>
            </a:r>
            <a:r>
              <a:rPr sz="2850" spc="155" dirty="0">
                <a:latin typeface="Arial Black"/>
                <a:cs typeface="Arial Black"/>
              </a:rPr>
              <a:t> </a:t>
            </a:r>
            <a:r>
              <a:rPr sz="2850" spc="-525" dirty="0">
                <a:latin typeface="Arial Black"/>
                <a:cs typeface="Arial Black"/>
              </a:rPr>
              <a:t>lookup</a:t>
            </a:r>
            <a:endParaRPr sz="2850">
              <a:latin typeface="Arial Black"/>
              <a:cs typeface="Arial Black"/>
            </a:endParaRPr>
          </a:p>
          <a:p>
            <a:pPr marL="33655" marR="1302385" indent="482600">
              <a:lnSpc>
                <a:spcPts val="3850"/>
              </a:lnSpc>
              <a:spcBef>
                <a:spcPts val="120"/>
              </a:spcBef>
            </a:pPr>
            <a:r>
              <a:rPr sz="2850" i="1" spc="-455" dirty="0">
                <a:latin typeface="Comic Sans MS"/>
                <a:cs typeface="Comic Sans MS"/>
              </a:rPr>
              <a:t>N</a:t>
            </a:r>
            <a:r>
              <a:rPr sz="2850" i="1" spc="254" dirty="0">
                <a:latin typeface="Comic Sans MS"/>
                <a:cs typeface="Comic Sans MS"/>
              </a:rPr>
              <a:t> </a:t>
            </a:r>
            <a:r>
              <a:rPr sz="2850" spc="-475" dirty="0">
                <a:latin typeface="Arial Black"/>
                <a:cs typeface="Arial Black"/>
              </a:rPr>
              <a:t>is</a:t>
            </a:r>
            <a:r>
              <a:rPr sz="2850" spc="-105" dirty="0">
                <a:latin typeface="Arial Black"/>
                <a:cs typeface="Arial Black"/>
              </a:rPr>
              <a:t> </a:t>
            </a:r>
            <a:r>
              <a:rPr sz="2850" spc="-555" dirty="0">
                <a:latin typeface="Arial Black"/>
                <a:cs typeface="Arial Black"/>
              </a:rPr>
              <a:t>†he</a:t>
            </a:r>
            <a:r>
              <a:rPr sz="2850" spc="-110" dirty="0">
                <a:latin typeface="Arial Black"/>
                <a:cs typeface="Arial Black"/>
              </a:rPr>
              <a:t> </a:t>
            </a:r>
            <a:r>
              <a:rPr sz="2850" spc="-615" dirty="0">
                <a:latin typeface="Arial Black"/>
                <a:cs typeface="Arial Black"/>
              </a:rPr>
              <a:t>†o†aI</a:t>
            </a:r>
            <a:r>
              <a:rPr sz="2850" spc="50" dirty="0">
                <a:latin typeface="Arial Black"/>
                <a:cs typeface="Arial Black"/>
              </a:rPr>
              <a:t> </a:t>
            </a:r>
            <a:r>
              <a:rPr sz="2850" spc="-535" dirty="0">
                <a:latin typeface="Arial Black"/>
                <a:cs typeface="Arial Black"/>
              </a:rPr>
              <a:t>number</a:t>
            </a:r>
            <a:r>
              <a:rPr sz="2850" spc="130" dirty="0">
                <a:latin typeface="Arial Black"/>
                <a:cs typeface="Arial Black"/>
              </a:rPr>
              <a:t> </a:t>
            </a:r>
            <a:r>
              <a:rPr sz="2850" spc="-305" dirty="0">
                <a:latin typeface="Arial Black"/>
                <a:cs typeface="Arial Black"/>
              </a:rPr>
              <a:t>of</a:t>
            </a:r>
            <a:r>
              <a:rPr sz="2850" spc="80" dirty="0">
                <a:latin typeface="Arial Black"/>
                <a:cs typeface="Arial Black"/>
              </a:rPr>
              <a:t> </a:t>
            </a:r>
            <a:r>
              <a:rPr sz="2850" spc="-415" dirty="0">
                <a:latin typeface="Arial Black"/>
                <a:cs typeface="Arial Black"/>
              </a:rPr>
              <a:t>servers </a:t>
            </a:r>
            <a:r>
              <a:rPr sz="2850" spc="-405" dirty="0">
                <a:latin typeface="Arial Black"/>
                <a:cs typeface="Arial Black"/>
              </a:rPr>
              <a:t>Scalable:</a:t>
            </a:r>
            <a:r>
              <a:rPr sz="2850" spc="285" dirty="0">
                <a:latin typeface="Arial Black"/>
                <a:cs typeface="Arial Black"/>
              </a:rPr>
              <a:t> </a:t>
            </a:r>
            <a:r>
              <a:rPr sz="2850" spc="-390" dirty="0">
                <a:latin typeface="Arial Black"/>
                <a:cs typeface="Arial Black"/>
              </a:rPr>
              <a:t>O(Log</a:t>
            </a:r>
            <a:r>
              <a:rPr sz="2850" spc="-60" dirty="0">
                <a:latin typeface="Arial Black"/>
                <a:cs typeface="Arial Black"/>
              </a:rPr>
              <a:t> </a:t>
            </a:r>
            <a:r>
              <a:rPr sz="2850" spc="-180" dirty="0">
                <a:latin typeface="Arial Black"/>
                <a:cs typeface="Arial Black"/>
              </a:rPr>
              <a:t>N)</a:t>
            </a:r>
            <a:r>
              <a:rPr sz="2850" spc="-114" dirty="0">
                <a:latin typeface="Arial Black"/>
                <a:cs typeface="Arial Black"/>
              </a:rPr>
              <a:t> </a:t>
            </a:r>
            <a:r>
              <a:rPr sz="2850" spc="-585" dirty="0">
                <a:latin typeface="Arial Black"/>
                <a:cs typeface="Arial Black"/>
              </a:rPr>
              <a:t>s†a†e</a:t>
            </a:r>
            <a:r>
              <a:rPr sz="2850" spc="70" dirty="0">
                <a:latin typeface="Arial Black"/>
                <a:cs typeface="Arial Black"/>
              </a:rPr>
              <a:t> </a:t>
            </a:r>
            <a:r>
              <a:rPr sz="2850" spc="-375" dirty="0">
                <a:latin typeface="Arial Black"/>
                <a:cs typeface="Arial Black"/>
              </a:rPr>
              <a:t>per</a:t>
            </a:r>
            <a:r>
              <a:rPr sz="2850" spc="150" dirty="0">
                <a:latin typeface="Arial Black"/>
                <a:cs typeface="Arial Black"/>
              </a:rPr>
              <a:t> </a:t>
            </a:r>
            <a:r>
              <a:rPr sz="2850" spc="-520" dirty="0">
                <a:latin typeface="Arial Black"/>
                <a:cs typeface="Arial Black"/>
              </a:rPr>
              <a:t>code</a:t>
            </a:r>
            <a:endParaRPr sz="2850">
              <a:latin typeface="Arial Black"/>
              <a:cs typeface="Arial Black"/>
            </a:endParaRPr>
          </a:p>
          <a:p>
            <a:pPr marL="13970">
              <a:lnSpc>
                <a:spcPts val="3450"/>
              </a:lnSpc>
              <a:spcBef>
                <a:spcPts val="165"/>
              </a:spcBef>
            </a:pPr>
            <a:r>
              <a:rPr sz="2950" spc="-555" dirty="0">
                <a:latin typeface="Arial Black"/>
                <a:cs typeface="Arial Black"/>
              </a:rPr>
              <a:t>Robus†:</a:t>
            </a:r>
            <a:r>
              <a:rPr sz="2950" spc="260" dirty="0">
                <a:latin typeface="Arial Black"/>
                <a:cs typeface="Arial Black"/>
              </a:rPr>
              <a:t> </a:t>
            </a:r>
            <a:r>
              <a:rPr sz="2950" spc="-459" dirty="0">
                <a:latin typeface="Arial Black"/>
                <a:cs typeface="Arial Black"/>
              </a:rPr>
              <a:t>survives</a:t>
            </a:r>
            <a:r>
              <a:rPr sz="2950" spc="110" dirty="0">
                <a:latin typeface="Arial Black"/>
                <a:cs typeface="Arial Black"/>
              </a:rPr>
              <a:t> </a:t>
            </a:r>
            <a:r>
              <a:rPr sz="2950" spc="-575" dirty="0">
                <a:latin typeface="Arial Black"/>
                <a:cs typeface="Arial Black"/>
              </a:rPr>
              <a:t>massive</a:t>
            </a:r>
            <a:r>
              <a:rPr sz="2950" spc="200" dirty="0">
                <a:latin typeface="Arial Black"/>
                <a:cs typeface="Arial Black"/>
              </a:rPr>
              <a:t> </a:t>
            </a:r>
            <a:r>
              <a:rPr sz="2950" spc="-590" dirty="0">
                <a:latin typeface="Arial Black"/>
                <a:cs typeface="Arial Black"/>
              </a:rPr>
              <a:t>changes</a:t>
            </a:r>
            <a:r>
              <a:rPr sz="2950" spc="220" dirty="0">
                <a:latin typeface="Arial Black"/>
                <a:cs typeface="Arial Black"/>
              </a:rPr>
              <a:t> </a:t>
            </a:r>
            <a:r>
              <a:rPr sz="2950" spc="-505" dirty="0">
                <a:latin typeface="Arial Black"/>
                <a:cs typeface="Arial Black"/>
              </a:rPr>
              <a:t>in</a:t>
            </a:r>
            <a:endParaRPr sz="2950">
              <a:latin typeface="Arial Black"/>
              <a:cs typeface="Arial Black"/>
            </a:endParaRPr>
          </a:p>
          <a:p>
            <a:pPr marL="20320">
              <a:lnSpc>
                <a:spcPts val="3329"/>
              </a:lnSpc>
            </a:pPr>
            <a:r>
              <a:rPr sz="2850" spc="-475" dirty="0">
                <a:latin typeface="Arial Black"/>
                <a:cs typeface="Arial Black"/>
              </a:rPr>
              <a:t>membership</a:t>
            </a:r>
            <a:endParaRPr sz="28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162" y="214312"/>
            <a:ext cx="8851265" cy="6422390"/>
            <a:chOff x="157162" y="214312"/>
            <a:chExt cx="8851265" cy="6422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" y="214312"/>
              <a:ext cx="8851106" cy="64222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27539" y="3725167"/>
              <a:ext cx="669925" cy="0"/>
            </a:xfrm>
            <a:custGeom>
              <a:avLst/>
              <a:gdLst/>
              <a:ahLst/>
              <a:cxnLst/>
              <a:rect l="l" t="t" r="r" b="b"/>
              <a:pathLst>
                <a:path w="669925">
                  <a:moveTo>
                    <a:pt x="0" y="0"/>
                  </a:moveTo>
                  <a:lnTo>
                    <a:pt x="669726" y="0"/>
                  </a:lnTo>
                </a:path>
              </a:pathLst>
            </a:custGeom>
            <a:ln w="8929">
              <a:solidFill>
                <a:srgbClr val="67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8366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z="3800" spc="-320" dirty="0">
                <a:solidFill>
                  <a:srgbClr val="366464"/>
                </a:solidFill>
              </a:rPr>
              <a:t>Chord:</a:t>
            </a:r>
            <a:r>
              <a:rPr sz="3800" spc="15" dirty="0">
                <a:solidFill>
                  <a:srgbClr val="366464"/>
                </a:solidFill>
              </a:rPr>
              <a:t> </a:t>
            </a:r>
            <a:r>
              <a:rPr sz="3800" spc="-385" dirty="0">
                <a:solidFill>
                  <a:srgbClr val="36666B"/>
                </a:solidFill>
              </a:rPr>
              <a:t>Lookup</a:t>
            </a:r>
            <a:r>
              <a:rPr sz="3800" spc="100" dirty="0">
                <a:solidFill>
                  <a:srgbClr val="36666B"/>
                </a:solidFill>
              </a:rPr>
              <a:t> </a:t>
            </a:r>
            <a:r>
              <a:rPr sz="3800" spc="-405" dirty="0">
                <a:solidFill>
                  <a:srgbClr val="346767"/>
                </a:solidFill>
              </a:rPr>
              <a:t>Mechanism</a:t>
            </a:r>
            <a:endParaRPr sz="3800"/>
          </a:p>
        </p:txBody>
      </p:sp>
      <p:sp>
        <p:nvSpPr>
          <p:cNvPr id="7" name="object 7"/>
          <p:cNvSpPr txBox="1"/>
          <p:nvPr/>
        </p:nvSpPr>
        <p:spPr>
          <a:xfrm>
            <a:off x="6169620" y="3265089"/>
            <a:ext cx="2163445" cy="1359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2935">
              <a:lnSpc>
                <a:spcPct val="100000"/>
              </a:lnSpc>
              <a:spcBef>
                <a:spcPts val="90"/>
              </a:spcBef>
            </a:pPr>
            <a:r>
              <a:rPr sz="2350" spc="-660" dirty="0">
                <a:solidFill>
                  <a:srgbClr val="0AC405"/>
                </a:solidFill>
                <a:latin typeface="Arial Black"/>
                <a:cs typeface="Arial Black"/>
              </a:rPr>
              <a:t>K19</a:t>
            </a:r>
            <a:endParaRPr sz="23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23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tabLst>
                <a:tab pos="758825" algn="l"/>
              </a:tabLst>
            </a:pPr>
            <a:r>
              <a:rPr sz="2400" u="sng" dirty="0">
                <a:uFill>
                  <a:solidFill>
                    <a:srgbClr val="2F2F2F"/>
                  </a:solidFill>
                </a:uFill>
                <a:latin typeface="Arial Black"/>
                <a:cs typeface="Arial Black"/>
              </a:rPr>
              <a:t>	</a:t>
            </a:r>
            <a:r>
              <a:rPr sz="2400" u="none" spc="-550" dirty="0">
                <a:latin typeface="Arial Black"/>
                <a:cs typeface="Arial Black"/>
              </a:rPr>
              <a:t>Lookup(K19)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5103" y="6412805"/>
            <a:ext cx="17214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175" dirty="0">
                <a:latin typeface="Arial Black"/>
                <a:cs typeface="Arial Black"/>
              </a:rPr>
              <a:t>CMSC</a:t>
            </a:r>
            <a:r>
              <a:rPr sz="1450" spc="50" dirty="0">
                <a:latin typeface="Arial Black"/>
                <a:cs typeface="Arial Black"/>
              </a:rPr>
              <a:t> </a:t>
            </a:r>
            <a:r>
              <a:rPr sz="1450" spc="-185" dirty="0">
                <a:latin typeface="Arial Black"/>
                <a:cs typeface="Arial Black"/>
              </a:rPr>
              <a:t>621,</a:t>
            </a:r>
            <a:r>
              <a:rPr sz="1450" spc="10" dirty="0">
                <a:latin typeface="Arial Black"/>
                <a:cs typeface="Arial Black"/>
              </a:rPr>
              <a:t> </a:t>
            </a:r>
            <a:r>
              <a:rPr sz="1450" spc="-190" dirty="0">
                <a:latin typeface="Arial Black"/>
                <a:cs typeface="Arial Black"/>
              </a:rPr>
              <a:t>Fall</a:t>
            </a:r>
            <a:r>
              <a:rPr sz="1450" spc="-25" dirty="0">
                <a:latin typeface="Arial Black"/>
                <a:cs typeface="Arial Black"/>
              </a:rPr>
              <a:t> </a:t>
            </a:r>
            <a:r>
              <a:rPr sz="1450" spc="-180" dirty="0">
                <a:latin typeface="Arial Black"/>
                <a:cs typeface="Arial Black"/>
              </a:rPr>
              <a:t>2007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946" y="2278856"/>
            <a:ext cx="4682728" cy="326469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165" y="5700712"/>
            <a:ext cx="8783241" cy="6393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82165" y="217883"/>
            <a:ext cx="8822055" cy="5657850"/>
            <a:chOff x="182165" y="217883"/>
            <a:chExt cx="8822055" cy="565785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165" y="217883"/>
              <a:ext cx="8783241" cy="6465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011" y="678656"/>
              <a:ext cx="0" cy="5137785"/>
            </a:xfrm>
            <a:custGeom>
              <a:avLst/>
              <a:gdLst/>
              <a:ahLst/>
              <a:cxnLst/>
              <a:rect l="l" t="t" r="r" b="b"/>
              <a:pathLst>
                <a:path h="5137785">
                  <a:moveTo>
                    <a:pt x="0" y="5137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02613" y="634008"/>
              <a:ext cx="0" cy="5241925"/>
            </a:xfrm>
            <a:custGeom>
              <a:avLst/>
              <a:gdLst/>
              <a:ahLst/>
              <a:cxnLst/>
              <a:rect l="l" t="t" r="r" b="b"/>
              <a:pathLst>
                <a:path h="5241925">
                  <a:moveTo>
                    <a:pt x="0" y="52417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271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14"/>
              </a:spcBef>
            </a:pPr>
            <a:r>
              <a:rPr sz="3500" spc="-185" dirty="0">
                <a:solidFill>
                  <a:srgbClr val="346467"/>
                </a:solidFill>
              </a:rPr>
              <a:t>Freenet</a:t>
            </a:r>
            <a:endParaRPr sz="3500"/>
          </a:p>
        </p:txBody>
      </p:sp>
      <p:sp>
        <p:nvSpPr>
          <p:cNvPr id="10" name="object 10"/>
          <p:cNvSpPr txBox="1"/>
          <p:nvPr/>
        </p:nvSpPr>
        <p:spPr>
          <a:xfrm>
            <a:off x="803994" y="3608138"/>
            <a:ext cx="55372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60" dirty="0">
                <a:latin typeface="Arial"/>
                <a:cs typeface="Arial"/>
              </a:rPr>
              <a:t>Node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9810" y="1925637"/>
            <a:ext cx="3190240" cy="32581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875" marR="35560" indent="1905">
              <a:lnSpc>
                <a:spcPct val="99000"/>
              </a:lnSpc>
              <a:spcBef>
                <a:spcPts val="120"/>
              </a:spcBef>
            </a:pPr>
            <a:r>
              <a:rPr sz="2350" spc="-20" dirty="0">
                <a:latin typeface="Arial"/>
                <a:cs typeface="Arial"/>
              </a:rPr>
              <a:t>The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query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is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forwarded </a:t>
            </a:r>
            <a:r>
              <a:rPr sz="2300" dirty="0">
                <a:latin typeface="Arial"/>
                <a:cs typeface="Arial"/>
              </a:rPr>
              <a:t>from</a:t>
            </a:r>
            <a:r>
              <a:rPr sz="2300" spc="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node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5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node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using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routing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table,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until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it </a:t>
            </a:r>
            <a:r>
              <a:rPr sz="2350" spc="-30" dirty="0">
                <a:latin typeface="Arial"/>
                <a:cs typeface="Arial"/>
              </a:rPr>
              <a:t>reaches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the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node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which </a:t>
            </a:r>
            <a:r>
              <a:rPr sz="2350" dirty="0">
                <a:latin typeface="Arial"/>
                <a:cs typeface="Arial"/>
              </a:rPr>
              <a:t>has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the</a:t>
            </a:r>
            <a:r>
              <a:rPr sz="2350" spc="-135" dirty="0">
                <a:latin typeface="Arial"/>
                <a:cs typeface="Arial"/>
              </a:rPr>
              <a:t> </a:t>
            </a:r>
            <a:r>
              <a:rPr sz="2350" spc="-35" dirty="0">
                <a:latin typeface="Arial"/>
                <a:cs typeface="Arial"/>
              </a:rPr>
              <a:t>requested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data.</a:t>
            </a:r>
            <a:endParaRPr sz="2350">
              <a:latin typeface="Arial"/>
              <a:cs typeface="Arial"/>
            </a:endParaRPr>
          </a:p>
          <a:p>
            <a:pPr marL="12700" marR="5080" indent="5080">
              <a:lnSpc>
                <a:spcPts val="2760"/>
              </a:lnSpc>
              <a:spcBef>
                <a:spcPts val="640"/>
              </a:spcBef>
            </a:pPr>
            <a:r>
              <a:rPr sz="2400" spc="-45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replay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passed </a:t>
            </a:r>
            <a:r>
              <a:rPr sz="2300" dirty="0">
                <a:latin typeface="Arial"/>
                <a:cs typeface="Arial"/>
              </a:rPr>
              <a:t>back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original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node </a:t>
            </a:r>
            <a:r>
              <a:rPr sz="2300" dirty="0">
                <a:latin typeface="Arial"/>
                <a:cs typeface="Arial"/>
              </a:rPr>
              <a:t>following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reverse </a:t>
            </a:r>
            <a:r>
              <a:rPr sz="2350" spc="-10" dirty="0">
                <a:latin typeface="Arial"/>
                <a:cs typeface="Arial"/>
              </a:rPr>
              <a:t>path.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5202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0"/>
              </a:spcBef>
            </a:pPr>
            <a:r>
              <a:rPr spc="170" dirty="0">
                <a:solidFill>
                  <a:srgbClr val="346469"/>
                </a:solidFill>
                <a:latin typeface="Cambria"/>
                <a:cs typeface="Cambria"/>
              </a:rPr>
              <a:t>Pastry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64" y="1837679"/>
            <a:ext cx="6814184" cy="37985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960"/>
              </a:lnSpc>
              <a:spcBef>
                <a:spcPts val="130"/>
              </a:spcBef>
            </a:pPr>
            <a:r>
              <a:rPr sz="2750" spc="-25" dirty="0">
                <a:latin typeface="Arial"/>
                <a:cs typeface="Arial"/>
              </a:rPr>
              <a:t>Completely</a:t>
            </a:r>
            <a:r>
              <a:rPr sz="2750" spc="5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decentralized,</a:t>
            </a:r>
            <a:r>
              <a:rPr sz="2750" spc="-175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scalable, </a:t>
            </a:r>
            <a:r>
              <a:rPr sz="2750" dirty="0">
                <a:latin typeface="Arial"/>
                <a:cs typeface="Arial"/>
              </a:rPr>
              <a:t>and</a:t>
            </a:r>
            <a:r>
              <a:rPr sz="2750" spc="-17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self-</a:t>
            </a:r>
            <a:endParaRPr sz="2750">
              <a:latin typeface="Arial"/>
              <a:cs typeface="Arial"/>
            </a:endParaRPr>
          </a:p>
          <a:p>
            <a:pPr marL="14604">
              <a:lnSpc>
                <a:spcPts val="2525"/>
              </a:lnSpc>
            </a:pPr>
            <a:r>
              <a:rPr sz="2750" spc="-30" dirty="0">
                <a:latin typeface="Arial"/>
                <a:cs typeface="Arial"/>
              </a:rPr>
              <a:t>organizing;</a:t>
            </a:r>
            <a:r>
              <a:rPr sz="2750" spc="5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it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spc="-30" dirty="0">
                <a:latin typeface="Arial"/>
                <a:cs typeface="Arial"/>
              </a:rPr>
              <a:t>automatically</a:t>
            </a:r>
            <a:r>
              <a:rPr sz="2750" spc="7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adapts</a:t>
            </a:r>
            <a:r>
              <a:rPr sz="2750" spc="-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to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the</a:t>
            </a:r>
            <a:endParaRPr sz="2750">
              <a:latin typeface="Arial"/>
              <a:cs typeface="Arial"/>
            </a:endParaRPr>
          </a:p>
          <a:p>
            <a:pPr marL="16510">
              <a:lnSpc>
                <a:spcPts val="3000"/>
              </a:lnSpc>
            </a:pPr>
            <a:r>
              <a:rPr sz="2900" spc="-95" dirty="0">
                <a:latin typeface="Arial"/>
                <a:cs typeface="Arial"/>
              </a:rPr>
              <a:t>arrival,</a:t>
            </a:r>
            <a:r>
              <a:rPr sz="2900" spc="-105" dirty="0">
                <a:latin typeface="Arial"/>
                <a:cs typeface="Arial"/>
              </a:rPr>
              <a:t> </a:t>
            </a:r>
            <a:r>
              <a:rPr sz="2900" spc="-95" dirty="0">
                <a:latin typeface="Arial"/>
                <a:cs typeface="Arial"/>
              </a:rPr>
              <a:t>departure </a:t>
            </a:r>
            <a:r>
              <a:rPr sz="2900" spc="-125" dirty="0">
                <a:latin typeface="Arial"/>
                <a:cs typeface="Arial"/>
              </a:rPr>
              <a:t>and</a:t>
            </a:r>
            <a:r>
              <a:rPr sz="2900" spc="-75" dirty="0">
                <a:latin typeface="Arial"/>
                <a:cs typeface="Arial"/>
              </a:rPr>
              <a:t> </a:t>
            </a:r>
            <a:r>
              <a:rPr sz="2900" spc="-90" dirty="0">
                <a:latin typeface="Arial"/>
                <a:cs typeface="Arial"/>
              </a:rPr>
              <a:t>failure</a:t>
            </a:r>
            <a:r>
              <a:rPr sz="2900" spc="-100" dirty="0">
                <a:latin typeface="Arial"/>
                <a:cs typeface="Arial"/>
              </a:rPr>
              <a:t> </a:t>
            </a:r>
            <a:r>
              <a:rPr sz="2900" spc="-35" dirty="0">
                <a:latin typeface="Arial"/>
                <a:cs typeface="Arial"/>
              </a:rPr>
              <a:t>of</a:t>
            </a:r>
            <a:r>
              <a:rPr sz="2900" spc="-65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nodes.</a:t>
            </a:r>
            <a:endParaRPr sz="2900">
              <a:latin typeface="Arial"/>
              <a:cs typeface="Arial"/>
            </a:endParaRPr>
          </a:p>
          <a:p>
            <a:pPr marL="13970">
              <a:lnSpc>
                <a:spcPts val="2845"/>
              </a:lnSpc>
            </a:pPr>
            <a:r>
              <a:rPr sz="2750" dirty="0">
                <a:latin typeface="Arial"/>
                <a:cs typeface="Arial"/>
              </a:rPr>
              <a:t>Seeks</a:t>
            </a:r>
            <a:r>
              <a:rPr sz="2750" spc="-10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to</a:t>
            </a:r>
            <a:r>
              <a:rPr sz="2750" spc="-17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minimize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17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distance</a:t>
            </a:r>
            <a:r>
              <a:rPr sz="2750" spc="-35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messages</a:t>
            </a:r>
            <a:endParaRPr sz="2750">
              <a:latin typeface="Arial"/>
              <a:cs typeface="Arial"/>
            </a:endParaRPr>
          </a:p>
          <a:p>
            <a:pPr marL="13335">
              <a:lnSpc>
                <a:spcPts val="2650"/>
              </a:lnSpc>
            </a:pPr>
            <a:r>
              <a:rPr sz="2850" spc="-60" dirty="0">
                <a:latin typeface="Arial"/>
                <a:cs typeface="Arial"/>
              </a:rPr>
              <a:t>travel,</a:t>
            </a:r>
            <a:r>
              <a:rPr sz="2850" spc="-140" dirty="0">
                <a:latin typeface="Arial"/>
                <a:cs typeface="Arial"/>
              </a:rPr>
              <a:t> </a:t>
            </a:r>
            <a:r>
              <a:rPr sz="2850" spc="-95" dirty="0">
                <a:latin typeface="Arial"/>
                <a:cs typeface="Arial"/>
              </a:rPr>
              <a:t>according</a:t>
            </a:r>
            <a:r>
              <a:rPr sz="2850" spc="-65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to</a:t>
            </a:r>
            <a:r>
              <a:rPr sz="2850" spc="-130" dirty="0">
                <a:latin typeface="Arial"/>
                <a:cs typeface="Arial"/>
              </a:rPr>
              <a:t> </a:t>
            </a:r>
            <a:r>
              <a:rPr sz="2850" dirty="0">
                <a:latin typeface="Arial"/>
                <a:cs typeface="Arial"/>
              </a:rPr>
              <a:t>a</a:t>
            </a:r>
            <a:r>
              <a:rPr sz="2850" spc="-200" dirty="0">
                <a:latin typeface="Arial"/>
                <a:cs typeface="Arial"/>
              </a:rPr>
              <a:t> </a:t>
            </a:r>
            <a:r>
              <a:rPr sz="2850" spc="-80" dirty="0">
                <a:latin typeface="Arial"/>
                <a:cs typeface="Arial"/>
              </a:rPr>
              <a:t>scalar</a:t>
            </a:r>
            <a:r>
              <a:rPr sz="2850" spc="-95" dirty="0">
                <a:latin typeface="Arial"/>
                <a:cs typeface="Arial"/>
              </a:rPr>
              <a:t> </a:t>
            </a:r>
            <a:r>
              <a:rPr sz="2850" spc="-70" dirty="0">
                <a:latin typeface="Arial"/>
                <a:cs typeface="Arial"/>
              </a:rPr>
              <a:t>proximity</a:t>
            </a:r>
            <a:r>
              <a:rPr sz="2850" spc="-25" dirty="0">
                <a:latin typeface="Arial"/>
                <a:cs typeface="Arial"/>
              </a:rPr>
              <a:t> </a:t>
            </a:r>
            <a:r>
              <a:rPr sz="2850" spc="-10" dirty="0">
                <a:latin typeface="Arial"/>
                <a:cs typeface="Arial"/>
              </a:rPr>
              <a:t>metric</a:t>
            </a:r>
            <a:endParaRPr sz="2850">
              <a:latin typeface="Arial"/>
              <a:cs typeface="Arial"/>
            </a:endParaRPr>
          </a:p>
          <a:p>
            <a:pPr marL="14604">
              <a:lnSpc>
                <a:spcPts val="2875"/>
              </a:lnSpc>
            </a:pPr>
            <a:r>
              <a:rPr sz="2750" dirty="0">
                <a:latin typeface="Arial"/>
                <a:cs typeface="Arial"/>
              </a:rPr>
              <a:t>like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number</a:t>
            </a:r>
            <a:r>
              <a:rPr sz="2750" spc="-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of</a:t>
            </a:r>
            <a:r>
              <a:rPr sz="2750" spc="-4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IP</a:t>
            </a:r>
            <a:r>
              <a:rPr sz="2750" spc="-18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routing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hops.</a:t>
            </a:r>
            <a:endParaRPr sz="2750">
              <a:latin typeface="Arial"/>
              <a:cs typeface="Arial"/>
            </a:endParaRPr>
          </a:p>
          <a:p>
            <a:pPr marL="14604">
              <a:lnSpc>
                <a:spcPts val="3215"/>
              </a:lnSpc>
            </a:pPr>
            <a:r>
              <a:rPr sz="2800" dirty="0">
                <a:latin typeface="Arial"/>
                <a:cs typeface="Arial"/>
              </a:rPr>
              <a:t>In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Pastry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network,</a:t>
            </a:r>
            <a:endParaRPr sz="2800">
              <a:latin typeface="Arial"/>
              <a:cs typeface="Arial"/>
            </a:endParaRPr>
          </a:p>
          <a:p>
            <a:pPr marL="415290">
              <a:lnSpc>
                <a:spcPts val="2685"/>
              </a:lnSpc>
            </a:pPr>
            <a:r>
              <a:rPr sz="2400" spc="-465" dirty="0">
                <a:latin typeface="Arial Black"/>
                <a:cs typeface="Arial Black"/>
              </a:rPr>
              <a:t>Each</a:t>
            </a:r>
            <a:r>
              <a:rPr sz="2400" spc="80" dirty="0">
                <a:latin typeface="Arial Black"/>
                <a:cs typeface="Arial Black"/>
              </a:rPr>
              <a:t> </a:t>
            </a:r>
            <a:r>
              <a:rPr sz="2400" spc="-455" dirty="0">
                <a:latin typeface="Arial Black"/>
                <a:cs typeface="Arial Black"/>
              </a:rPr>
              <a:t>node</a:t>
            </a:r>
            <a:r>
              <a:rPr sz="2400" spc="35" dirty="0">
                <a:latin typeface="Arial Black"/>
                <a:cs typeface="Arial Black"/>
              </a:rPr>
              <a:t> </a:t>
            </a:r>
            <a:r>
              <a:rPr sz="2400" spc="-440" dirty="0">
                <a:latin typeface="Arial Black"/>
                <a:cs typeface="Arial Black"/>
              </a:rPr>
              <a:t>has</a:t>
            </a:r>
            <a:r>
              <a:rPr sz="2400" spc="-30" dirty="0">
                <a:latin typeface="Arial Black"/>
                <a:cs typeface="Arial Black"/>
              </a:rPr>
              <a:t> </a:t>
            </a:r>
            <a:r>
              <a:rPr sz="2400" spc="-420" dirty="0">
                <a:latin typeface="Arial Black"/>
                <a:cs typeface="Arial Black"/>
              </a:rPr>
              <a:t>a</a:t>
            </a:r>
            <a:r>
              <a:rPr sz="2400" spc="-165" dirty="0">
                <a:latin typeface="Arial Black"/>
                <a:cs typeface="Arial Black"/>
              </a:rPr>
              <a:t> </a:t>
            </a:r>
            <a:r>
              <a:rPr sz="2400" spc="-415" dirty="0">
                <a:latin typeface="Arial Black"/>
                <a:cs typeface="Arial Black"/>
              </a:rPr>
              <a:t>unique</a:t>
            </a:r>
            <a:r>
              <a:rPr sz="2400" spc="10" dirty="0">
                <a:latin typeface="Arial Black"/>
                <a:cs typeface="Arial Black"/>
              </a:rPr>
              <a:t> </a:t>
            </a:r>
            <a:r>
              <a:rPr sz="2400" spc="-375" dirty="0">
                <a:latin typeface="Arial Black"/>
                <a:cs typeface="Arial Black"/>
              </a:rPr>
              <a:t>id,</a:t>
            </a:r>
            <a:r>
              <a:rPr sz="2400" spc="45" dirty="0">
                <a:latin typeface="Arial Black"/>
                <a:cs typeface="Arial Black"/>
              </a:rPr>
              <a:t> </a:t>
            </a:r>
            <a:r>
              <a:rPr sz="2400" spc="-385" dirty="0">
                <a:latin typeface="Arial Black"/>
                <a:cs typeface="Arial Black"/>
              </a:rPr>
              <a:t>nodeld.</a:t>
            </a:r>
            <a:endParaRPr sz="2400">
              <a:latin typeface="Arial Black"/>
              <a:cs typeface="Arial Black"/>
            </a:endParaRPr>
          </a:p>
          <a:p>
            <a:pPr marL="417830">
              <a:lnSpc>
                <a:spcPts val="2380"/>
              </a:lnSpc>
            </a:pPr>
            <a:r>
              <a:rPr sz="2350" spc="-90" dirty="0">
                <a:latin typeface="Arial"/>
                <a:cs typeface="Arial"/>
              </a:rPr>
              <a:t>Presented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65" dirty="0">
                <a:latin typeface="Arial"/>
                <a:cs typeface="Arial"/>
              </a:rPr>
              <a:t>with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a</a:t>
            </a:r>
            <a:r>
              <a:rPr sz="2350" spc="-165" dirty="0">
                <a:latin typeface="Arial"/>
                <a:cs typeface="Arial"/>
              </a:rPr>
              <a:t> </a:t>
            </a:r>
            <a:r>
              <a:rPr sz="2350" spc="-105" dirty="0">
                <a:latin typeface="Arial"/>
                <a:cs typeface="Arial"/>
              </a:rPr>
              <a:t>message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&amp;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a</a:t>
            </a:r>
            <a:r>
              <a:rPr sz="2350" spc="-160" dirty="0">
                <a:latin typeface="Arial"/>
                <a:cs typeface="Arial"/>
              </a:rPr>
              <a:t> </a:t>
            </a:r>
            <a:r>
              <a:rPr sz="2350" spc="-114" dirty="0">
                <a:latin typeface="Arial"/>
                <a:cs typeface="Arial"/>
              </a:rPr>
              <a:t>key,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Pastry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node</a:t>
            </a:r>
            <a:endParaRPr sz="2350">
              <a:latin typeface="Arial"/>
              <a:cs typeface="Arial"/>
            </a:endParaRPr>
          </a:p>
          <a:p>
            <a:pPr marL="412115">
              <a:lnSpc>
                <a:spcPts val="2105"/>
              </a:lnSpc>
            </a:pPr>
            <a:r>
              <a:rPr sz="2300" spc="-50" dirty="0">
                <a:latin typeface="Arial"/>
                <a:cs typeface="Arial"/>
              </a:rPr>
              <a:t>efficiently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routes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the</a:t>
            </a:r>
            <a:r>
              <a:rPr sz="2300" spc="-135" dirty="0">
                <a:latin typeface="Arial"/>
                <a:cs typeface="Arial"/>
              </a:rPr>
              <a:t> </a:t>
            </a:r>
            <a:r>
              <a:rPr sz="2300" spc="-65" dirty="0">
                <a:latin typeface="Arial"/>
                <a:cs typeface="Arial"/>
              </a:rPr>
              <a:t>message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15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the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node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with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a</a:t>
            </a:r>
            <a:endParaRPr sz="2300">
              <a:latin typeface="Arial"/>
              <a:cs typeface="Arial"/>
            </a:endParaRPr>
          </a:p>
          <a:p>
            <a:pPr marL="415925">
              <a:lnSpc>
                <a:spcPts val="2435"/>
              </a:lnSpc>
            </a:pPr>
            <a:r>
              <a:rPr sz="2300" spc="-345" dirty="0">
                <a:latin typeface="Arial Black"/>
                <a:cs typeface="Arial Black"/>
              </a:rPr>
              <a:t>nodeld</a:t>
            </a:r>
            <a:r>
              <a:rPr sz="2300" spc="70" dirty="0">
                <a:latin typeface="Arial Black"/>
                <a:cs typeface="Arial Black"/>
              </a:rPr>
              <a:t> </a:t>
            </a:r>
            <a:r>
              <a:rPr sz="2300" spc="-405" dirty="0">
                <a:latin typeface="Arial Black"/>
                <a:cs typeface="Arial Black"/>
              </a:rPr>
              <a:t>that</a:t>
            </a:r>
            <a:r>
              <a:rPr sz="2300" spc="-20" dirty="0">
                <a:latin typeface="Arial Black"/>
                <a:cs typeface="Arial Black"/>
              </a:rPr>
              <a:t> </a:t>
            </a:r>
            <a:r>
              <a:rPr sz="2300" spc="-350" dirty="0">
                <a:latin typeface="Arial Black"/>
                <a:cs typeface="Arial Black"/>
              </a:rPr>
              <a:t>is</a:t>
            </a:r>
            <a:r>
              <a:rPr sz="2300" spc="-20" dirty="0">
                <a:latin typeface="Arial Black"/>
                <a:cs typeface="Arial Black"/>
              </a:rPr>
              <a:t> </a:t>
            </a:r>
            <a:r>
              <a:rPr sz="2300" spc="-380" dirty="0">
                <a:latin typeface="Arial Black"/>
                <a:cs typeface="Arial Black"/>
              </a:rPr>
              <a:t>numerically</a:t>
            </a:r>
            <a:r>
              <a:rPr sz="2300" spc="285" dirty="0">
                <a:latin typeface="Arial Black"/>
                <a:cs typeface="Arial Black"/>
              </a:rPr>
              <a:t> </a:t>
            </a:r>
            <a:r>
              <a:rPr sz="2300" spc="-390" dirty="0">
                <a:latin typeface="Arial Black"/>
                <a:cs typeface="Arial Black"/>
              </a:rPr>
              <a:t>closest</a:t>
            </a:r>
            <a:r>
              <a:rPr sz="2300" spc="90" dirty="0">
                <a:latin typeface="Arial Black"/>
                <a:cs typeface="Arial Black"/>
              </a:rPr>
              <a:t> </a:t>
            </a:r>
            <a:r>
              <a:rPr sz="2300" spc="-430" dirty="0">
                <a:latin typeface="Arial Black"/>
                <a:cs typeface="Arial Black"/>
              </a:rPr>
              <a:t>to</a:t>
            </a:r>
            <a:r>
              <a:rPr sz="2300" spc="-40" dirty="0">
                <a:latin typeface="Arial Black"/>
                <a:cs typeface="Arial Black"/>
              </a:rPr>
              <a:t> </a:t>
            </a:r>
            <a:r>
              <a:rPr sz="2300" spc="-400" dirty="0">
                <a:latin typeface="Arial Black"/>
                <a:cs typeface="Arial Black"/>
              </a:rPr>
              <a:t>the</a:t>
            </a:r>
            <a:r>
              <a:rPr sz="2300" dirty="0">
                <a:latin typeface="Arial Black"/>
                <a:cs typeface="Arial Black"/>
              </a:rPr>
              <a:t> </a:t>
            </a:r>
            <a:r>
              <a:rPr sz="2300" spc="-430" dirty="0">
                <a:latin typeface="Arial Black"/>
                <a:cs typeface="Arial Black"/>
              </a:rPr>
              <a:t>key.</a:t>
            </a:r>
            <a:endParaRPr sz="23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765" marR="5080" indent="1905">
              <a:lnSpc>
                <a:spcPts val="3970"/>
              </a:lnSpc>
              <a:spcBef>
                <a:spcPts val="585"/>
              </a:spcBef>
            </a:pPr>
            <a:r>
              <a:rPr sz="3650" spc="-350" dirty="0">
                <a:solidFill>
                  <a:srgbClr val="336267"/>
                </a:solidFill>
              </a:rPr>
              <a:t>CAN</a:t>
            </a:r>
            <a:r>
              <a:rPr sz="3650" spc="80" dirty="0">
                <a:solidFill>
                  <a:srgbClr val="336267"/>
                </a:solidFill>
              </a:rPr>
              <a:t> </a:t>
            </a:r>
            <a:r>
              <a:rPr sz="3650" spc="-265" dirty="0">
                <a:solidFill>
                  <a:srgbClr val="346467"/>
                </a:solidFill>
              </a:rPr>
              <a:t>(Content</a:t>
            </a:r>
            <a:r>
              <a:rPr sz="3650" spc="295" dirty="0">
                <a:solidFill>
                  <a:srgbClr val="346467"/>
                </a:solidFill>
              </a:rPr>
              <a:t> </a:t>
            </a:r>
            <a:r>
              <a:rPr sz="3650" spc="-265" dirty="0">
                <a:solidFill>
                  <a:srgbClr val="38666B"/>
                </a:solidFill>
              </a:rPr>
              <a:t>Addressable </a:t>
            </a:r>
            <a:r>
              <a:rPr sz="3650" spc="-295" dirty="0">
                <a:solidFill>
                  <a:srgbClr val="346667"/>
                </a:solidFill>
              </a:rPr>
              <a:t>Network)</a:t>
            </a:r>
            <a:endParaRPr sz="36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645"/>
              </a:spcBef>
            </a:pPr>
            <a:r>
              <a:rPr sz="2700" dirty="0"/>
              <a:t>The</a:t>
            </a:r>
            <a:r>
              <a:rPr sz="2700" spc="20" dirty="0"/>
              <a:t> </a:t>
            </a:r>
            <a:r>
              <a:rPr sz="2700" dirty="0"/>
              <a:t>network</a:t>
            </a:r>
            <a:r>
              <a:rPr sz="2700" spc="100" dirty="0"/>
              <a:t> </a:t>
            </a:r>
            <a:r>
              <a:rPr sz="2700" dirty="0"/>
              <a:t>is</a:t>
            </a:r>
            <a:r>
              <a:rPr sz="2700" spc="-20" dirty="0"/>
              <a:t> </a:t>
            </a:r>
            <a:r>
              <a:rPr sz="2700" dirty="0"/>
              <a:t>c</a:t>
            </a:r>
            <a:r>
              <a:rPr sz="4050" baseline="2057" dirty="0"/>
              <a:t>r</a:t>
            </a:r>
            <a:r>
              <a:rPr sz="2700" dirty="0"/>
              <a:t>eated</a:t>
            </a:r>
            <a:r>
              <a:rPr sz="2700" spc="-105" dirty="0"/>
              <a:t> </a:t>
            </a:r>
            <a:r>
              <a:rPr sz="2700" dirty="0"/>
              <a:t>in</a:t>
            </a:r>
            <a:r>
              <a:rPr sz="2700" spc="-25" dirty="0"/>
              <a:t> </a:t>
            </a:r>
            <a:r>
              <a:rPr sz="2700" dirty="0"/>
              <a:t>a</a:t>
            </a:r>
            <a:r>
              <a:rPr sz="2700" spc="-125" dirty="0"/>
              <a:t> </a:t>
            </a:r>
            <a:r>
              <a:rPr sz="2700" spc="-35" dirty="0"/>
              <a:t>tree-</a:t>
            </a:r>
            <a:r>
              <a:rPr sz="2700" dirty="0"/>
              <a:t>like</a:t>
            </a:r>
            <a:r>
              <a:rPr sz="2700" spc="114" dirty="0"/>
              <a:t> </a:t>
            </a:r>
            <a:r>
              <a:rPr sz="2700" spc="-10" dirty="0"/>
              <a:t>form.</a:t>
            </a:r>
            <a:endParaRPr sz="2700"/>
          </a:p>
          <a:p>
            <a:pPr marL="17145">
              <a:lnSpc>
                <a:spcPts val="3254"/>
              </a:lnSpc>
              <a:spcBef>
                <a:spcPts val="565"/>
              </a:spcBef>
            </a:pPr>
            <a:r>
              <a:rPr sz="2750" dirty="0"/>
              <a:t>Each</a:t>
            </a:r>
            <a:r>
              <a:rPr sz="2750" spc="-105" dirty="0"/>
              <a:t> </a:t>
            </a:r>
            <a:r>
              <a:rPr sz="2750" dirty="0"/>
              <a:t>node</a:t>
            </a:r>
            <a:r>
              <a:rPr sz="2750" spc="-85" dirty="0"/>
              <a:t> </a:t>
            </a:r>
            <a:r>
              <a:rPr sz="2750" dirty="0"/>
              <a:t>is</a:t>
            </a:r>
            <a:r>
              <a:rPr sz="2750" spc="-110" dirty="0"/>
              <a:t> </a:t>
            </a:r>
            <a:r>
              <a:rPr sz="2750" spc="-30" dirty="0"/>
              <a:t>associated</a:t>
            </a:r>
            <a:r>
              <a:rPr sz="2750" dirty="0"/>
              <a:t> to</a:t>
            </a:r>
            <a:r>
              <a:rPr sz="2750" spc="-135" dirty="0"/>
              <a:t> </a:t>
            </a:r>
            <a:r>
              <a:rPr sz="2750" dirty="0"/>
              <a:t>one</a:t>
            </a:r>
            <a:r>
              <a:rPr sz="2750" spc="-90" dirty="0"/>
              <a:t> </a:t>
            </a:r>
            <a:r>
              <a:rPr sz="2750" dirty="0"/>
              <a:t>in</a:t>
            </a:r>
            <a:r>
              <a:rPr sz="2750" spc="-130" dirty="0"/>
              <a:t> </a:t>
            </a:r>
            <a:r>
              <a:rPr sz="2750" dirty="0"/>
              <a:t>the</a:t>
            </a:r>
            <a:r>
              <a:rPr sz="2750" spc="-114" dirty="0"/>
              <a:t> </a:t>
            </a:r>
            <a:r>
              <a:rPr sz="2750" spc="-10" dirty="0"/>
              <a:t>upper</a:t>
            </a:r>
            <a:endParaRPr sz="2750"/>
          </a:p>
          <a:p>
            <a:pPr marL="15240">
              <a:lnSpc>
                <a:spcPts val="3315"/>
              </a:lnSpc>
            </a:pPr>
            <a:r>
              <a:rPr sz="2800" spc="-35" dirty="0"/>
              <a:t>level</a:t>
            </a:r>
            <a:r>
              <a:rPr sz="2800" spc="-160" dirty="0"/>
              <a:t> </a:t>
            </a:r>
            <a:r>
              <a:rPr sz="2800" spc="-30" dirty="0"/>
              <a:t>an</a:t>
            </a:r>
            <a:r>
              <a:rPr sz="2800" spc="-165" dirty="0"/>
              <a:t> </a:t>
            </a:r>
            <a:r>
              <a:rPr sz="2800" dirty="0"/>
              <a:t>to</a:t>
            </a:r>
            <a:r>
              <a:rPr sz="2800" spc="-160" dirty="0"/>
              <a:t> </a:t>
            </a:r>
            <a:r>
              <a:rPr sz="2800" dirty="0"/>
              <a:t>a</a:t>
            </a:r>
            <a:r>
              <a:rPr sz="2800" spc="-195" dirty="0"/>
              <a:t> </a:t>
            </a:r>
            <a:r>
              <a:rPr sz="2800" spc="-45" dirty="0"/>
              <a:t>group</a:t>
            </a:r>
            <a:r>
              <a:rPr sz="2800" spc="-114" dirty="0"/>
              <a:t> </a:t>
            </a:r>
            <a:r>
              <a:rPr sz="2800" dirty="0"/>
              <a:t>in</a:t>
            </a:r>
            <a:r>
              <a:rPr sz="2800" spc="-190" dirty="0"/>
              <a:t> </a:t>
            </a:r>
            <a:r>
              <a:rPr sz="2800" dirty="0"/>
              <a:t>the</a:t>
            </a:r>
            <a:r>
              <a:rPr sz="2800" spc="-165" dirty="0"/>
              <a:t> </a:t>
            </a:r>
            <a:r>
              <a:rPr sz="2800" spc="-45" dirty="0"/>
              <a:t>lower</a:t>
            </a:r>
            <a:r>
              <a:rPr sz="2800" spc="-25" dirty="0"/>
              <a:t> </a:t>
            </a:r>
            <a:r>
              <a:rPr sz="2800" spc="-10" dirty="0"/>
              <a:t>level.</a:t>
            </a:r>
            <a:endParaRPr sz="2800"/>
          </a:p>
          <a:p>
            <a:pPr marL="12700" marR="5080" indent="11430">
              <a:lnSpc>
                <a:spcPts val="3229"/>
              </a:lnSpc>
              <a:spcBef>
                <a:spcPts val="735"/>
              </a:spcBef>
            </a:pPr>
            <a:r>
              <a:rPr sz="2700" spc="-170" dirty="0"/>
              <a:t>A</a:t>
            </a:r>
            <a:r>
              <a:rPr sz="2700" spc="-105" dirty="0"/>
              <a:t> </a:t>
            </a:r>
            <a:r>
              <a:rPr sz="2700" dirty="0"/>
              <a:t>query</a:t>
            </a:r>
            <a:r>
              <a:rPr sz="2700" spc="-80" dirty="0"/>
              <a:t> </a:t>
            </a:r>
            <a:r>
              <a:rPr sz="2700" dirty="0"/>
              <a:t>travels</a:t>
            </a:r>
            <a:r>
              <a:rPr sz="2700" spc="25" dirty="0"/>
              <a:t> </a:t>
            </a:r>
            <a:r>
              <a:rPr sz="2700" dirty="0"/>
              <a:t>from</a:t>
            </a:r>
            <a:r>
              <a:rPr sz="2700" spc="-55" dirty="0"/>
              <a:t> </a:t>
            </a:r>
            <a:r>
              <a:rPr sz="2700" dirty="0"/>
              <a:t>the</a:t>
            </a:r>
            <a:r>
              <a:rPr sz="2700" spc="-65" dirty="0"/>
              <a:t> </a:t>
            </a:r>
            <a:r>
              <a:rPr sz="2700" spc="-10" dirty="0"/>
              <a:t>uppermost</a:t>
            </a:r>
            <a:r>
              <a:rPr sz="2700" spc="180" dirty="0"/>
              <a:t> </a:t>
            </a:r>
            <a:r>
              <a:rPr sz="2700" dirty="0"/>
              <a:t>level</a:t>
            </a:r>
            <a:r>
              <a:rPr sz="2700" spc="-40" dirty="0"/>
              <a:t> </a:t>
            </a:r>
            <a:r>
              <a:rPr sz="2700" spc="-20" dirty="0"/>
              <a:t>down </a:t>
            </a:r>
            <a:r>
              <a:rPr sz="2800" spc="-60" dirty="0"/>
              <a:t>through</a:t>
            </a:r>
            <a:r>
              <a:rPr sz="2800" spc="-90" dirty="0"/>
              <a:t> </a:t>
            </a:r>
            <a:r>
              <a:rPr sz="2800" spc="-20" dirty="0"/>
              <a:t>the</a:t>
            </a:r>
            <a:r>
              <a:rPr sz="2800" spc="-155" dirty="0"/>
              <a:t> </a:t>
            </a:r>
            <a:r>
              <a:rPr sz="2800" spc="-50" dirty="0"/>
              <a:t>network</a:t>
            </a:r>
            <a:r>
              <a:rPr sz="2800" spc="-85" dirty="0"/>
              <a:t> </a:t>
            </a:r>
            <a:r>
              <a:rPr sz="2800" spc="-20" dirty="0"/>
              <a:t>until</a:t>
            </a:r>
            <a:r>
              <a:rPr sz="2800" spc="-120" dirty="0"/>
              <a:t> </a:t>
            </a:r>
            <a:r>
              <a:rPr sz="2800" dirty="0"/>
              <a:t>a</a:t>
            </a:r>
            <a:r>
              <a:rPr sz="2800" spc="-195" dirty="0"/>
              <a:t> </a:t>
            </a:r>
            <a:r>
              <a:rPr sz="2800" spc="-65" dirty="0"/>
              <a:t>match</a:t>
            </a:r>
            <a:r>
              <a:rPr sz="2800" spc="-80" dirty="0"/>
              <a:t> </a:t>
            </a:r>
            <a:r>
              <a:rPr sz="2800" dirty="0"/>
              <a:t>is</a:t>
            </a:r>
            <a:r>
              <a:rPr sz="2800" spc="-140" dirty="0"/>
              <a:t> </a:t>
            </a:r>
            <a:r>
              <a:rPr sz="2800" spc="-55" dirty="0"/>
              <a:t>found</a:t>
            </a:r>
            <a:r>
              <a:rPr sz="2800" spc="-130" dirty="0"/>
              <a:t> </a:t>
            </a:r>
            <a:r>
              <a:rPr sz="2800" spc="-25" dirty="0"/>
              <a:t>or </a:t>
            </a:r>
            <a:r>
              <a:rPr sz="2700" dirty="0"/>
              <a:t>until</a:t>
            </a:r>
            <a:r>
              <a:rPr sz="2700" spc="-60" dirty="0"/>
              <a:t> </a:t>
            </a:r>
            <a:r>
              <a:rPr sz="2700" dirty="0"/>
              <a:t>it</a:t>
            </a:r>
            <a:r>
              <a:rPr sz="2700" spc="-80" dirty="0"/>
              <a:t> </a:t>
            </a:r>
            <a:r>
              <a:rPr sz="2700" dirty="0"/>
              <a:t>reaches the</a:t>
            </a:r>
            <a:r>
              <a:rPr sz="2700" spc="-45" dirty="0"/>
              <a:t> </a:t>
            </a:r>
            <a:r>
              <a:rPr sz="2700" spc="-10" dirty="0"/>
              <a:t>lowermost</a:t>
            </a:r>
            <a:r>
              <a:rPr sz="2700" spc="140" dirty="0"/>
              <a:t> </a:t>
            </a:r>
            <a:r>
              <a:rPr sz="2700" spc="-10" dirty="0"/>
              <a:t>level.</a:t>
            </a:r>
            <a:endParaRPr sz="2700"/>
          </a:p>
          <a:p>
            <a:pPr marL="15875">
              <a:lnSpc>
                <a:spcPct val="100000"/>
              </a:lnSpc>
              <a:spcBef>
                <a:spcPts val="500"/>
              </a:spcBef>
            </a:pPr>
            <a:r>
              <a:rPr sz="2800" spc="-40" dirty="0"/>
              <a:t>For</a:t>
            </a:r>
            <a:r>
              <a:rPr sz="2800" spc="-130" dirty="0"/>
              <a:t> </a:t>
            </a:r>
            <a:r>
              <a:rPr sz="2800" dirty="0"/>
              <a:t>its</a:t>
            </a:r>
            <a:r>
              <a:rPr sz="2800" spc="-175" dirty="0"/>
              <a:t> </a:t>
            </a:r>
            <a:r>
              <a:rPr sz="2800" spc="-40" dirty="0"/>
              <a:t>query</a:t>
            </a:r>
            <a:r>
              <a:rPr sz="2800" spc="-85" dirty="0"/>
              <a:t> </a:t>
            </a:r>
            <a:r>
              <a:rPr sz="2800" spc="-45" dirty="0"/>
              <a:t>model,</a:t>
            </a:r>
            <a:r>
              <a:rPr sz="2800" spc="-105" dirty="0"/>
              <a:t> </a:t>
            </a:r>
            <a:r>
              <a:rPr sz="2800" spc="-55" dirty="0"/>
              <a:t>scalability</a:t>
            </a:r>
            <a:r>
              <a:rPr sz="2800" spc="-25" dirty="0"/>
              <a:t> </a:t>
            </a:r>
            <a:r>
              <a:rPr sz="2800" dirty="0"/>
              <a:t>is</a:t>
            </a:r>
            <a:r>
              <a:rPr sz="2800" spc="-150" dirty="0"/>
              <a:t> </a:t>
            </a:r>
            <a:r>
              <a:rPr sz="2800" spc="-35" dirty="0"/>
              <a:t>an</a:t>
            </a:r>
            <a:r>
              <a:rPr sz="2800" spc="-160" dirty="0"/>
              <a:t> </a:t>
            </a:r>
            <a:r>
              <a:rPr sz="2800" spc="-10" dirty="0"/>
              <a:t>issue.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162" y="214312"/>
            <a:ext cx="8851265" cy="6129655"/>
            <a:chOff x="157162" y="214312"/>
            <a:chExt cx="8851265" cy="61296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" y="214312"/>
              <a:ext cx="8851106" cy="61293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3991" y="4629150"/>
              <a:ext cx="942975" cy="108227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3044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14"/>
              </a:spcBef>
            </a:pPr>
            <a:r>
              <a:rPr sz="3450" spc="-120" dirty="0">
                <a:solidFill>
                  <a:srgbClr val="366469"/>
                </a:solidFill>
              </a:rPr>
              <a:t>Tapestry</a:t>
            </a:r>
            <a:endParaRPr sz="345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1727" rIns="0" bIns="0" rtlCol="0">
            <a:spAutoFit/>
          </a:bodyPr>
          <a:lstStyle/>
          <a:p>
            <a:pPr marL="12065" marR="5080" indent="3175">
              <a:lnSpc>
                <a:spcPts val="3229"/>
              </a:lnSpc>
              <a:spcBef>
                <a:spcPts val="300"/>
              </a:spcBef>
            </a:pPr>
            <a:r>
              <a:rPr sz="2750" spc="-35" dirty="0"/>
              <a:t>Self-</a:t>
            </a:r>
            <a:r>
              <a:rPr sz="2750" dirty="0"/>
              <a:t>administered,</a:t>
            </a:r>
            <a:r>
              <a:rPr sz="2750" spc="484" dirty="0"/>
              <a:t> </a:t>
            </a:r>
            <a:r>
              <a:rPr sz="2750" spc="-35" dirty="0"/>
              <a:t>self-</a:t>
            </a:r>
            <a:r>
              <a:rPr sz="2750" spc="-20" dirty="0"/>
              <a:t>organized,</a:t>
            </a:r>
            <a:r>
              <a:rPr sz="2750" spc="-140" dirty="0"/>
              <a:t> </a:t>
            </a:r>
            <a:r>
              <a:rPr sz="2750" spc="-10" dirty="0"/>
              <a:t>locatio</a:t>
            </a:r>
            <a:r>
              <a:rPr sz="4125" spc="-15" baseline="2020" dirty="0"/>
              <a:t>n </a:t>
            </a:r>
            <a:r>
              <a:rPr sz="2750" spc="-35" dirty="0"/>
              <a:t>independent,</a:t>
            </a:r>
            <a:r>
              <a:rPr sz="2750" spc="70" dirty="0"/>
              <a:t> </a:t>
            </a:r>
            <a:r>
              <a:rPr sz="2750" spc="-20" dirty="0"/>
              <a:t>scalable,</a:t>
            </a:r>
            <a:r>
              <a:rPr sz="2750" spc="-25" dirty="0"/>
              <a:t> </a:t>
            </a:r>
            <a:r>
              <a:rPr sz="2750" spc="-35" dirty="0"/>
              <a:t>fault-</a:t>
            </a:r>
            <a:r>
              <a:rPr sz="2750" spc="-10" dirty="0"/>
              <a:t>tolerant</a:t>
            </a:r>
            <a:endParaRPr sz="2750"/>
          </a:p>
          <a:p>
            <a:pPr marL="15240" marR="211454" indent="2540">
              <a:lnSpc>
                <a:spcPts val="3210"/>
              </a:lnSpc>
              <a:spcBef>
                <a:spcPts val="670"/>
              </a:spcBef>
            </a:pPr>
            <a:r>
              <a:rPr sz="2750" dirty="0"/>
              <a:t>Each</a:t>
            </a:r>
            <a:r>
              <a:rPr sz="2750" spc="-175" dirty="0"/>
              <a:t> </a:t>
            </a:r>
            <a:r>
              <a:rPr sz="2750" dirty="0"/>
              <a:t>node</a:t>
            </a:r>
            <a:r>
              <a:rPr sz="2750" spc="-105" dirty="0"/>
              <a:t> </a:t>
            </a:r>
            <a:r>
              <a:rPr sz="2750" dirty="0"/>
              <a:t>has</a:t>
            </a:r>
            <a:r>
              <a:rPr sz="2750" spc="-85" dirty="0"/>
              <a:t> </a:t>
            </a:r>
            <a:r>
              <a:rPr sz="2750" dirty="0"/>
              <a:t>a</a:t>
            </a:r>
            <a:r>
              <a:rPr sz="2750" spc="-190" dirty="0"/>
              <a:t> </a:t>
            </a:r>
            <a:r>
              <a:rPr sz="2750" spc="-20" dirty="0"/>
              <a:t>neighbor</a:t>
            </a:r>
            <a:r>
              <a:rPr sz="2750" spc="-35" dirty="0"/>
              <a:t> </a:t>
            </a:r>
            <a:r>
              <a:rPr sz="2750" dirty="0"/>
              <a:t>map</a:t>
            </a:r>
            <a:r>
              <a:rPr sz="2750" spc="-145" dirty="0"/>
              <a:t> </a:t>
            </a:r>
            <a:r>
              <a:rPr sz="2750" dirty="0"/>
              <a:t>table</a:t>
            </a:r>
            <a:r>
              <a:rPr sz="2750" spc="-95" dirty="0"/>
              <a:t> </a:t>
            </a:r>
            <a:r>
              <a:rPr sz="2750" spc="-20" dirty="0"/>
              <a:t>with </a:t>
            </a:r>
            <a:r>
              <a:rPr sz="2750" spc="-30" dirty="0"/>
              <a:t>neighbor</a:t>
            </a:r>
            <a:r>
              <a:rPr sz="2750" spc="-20" dirty="0"/>
              <a:t> </a:t>
            </a:r>
            <a:r>
              <a:rPr sz="2750" spc="-10" dirty="0"/>
              <a:t>information.</a:t>
            </a:r>
            <a:endParaRPr sz="275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3262" y="3936206"/>
            <a:ext cx="3175397" cy="138945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165" y="5700712"/>
            <a:ext cx="8783241" cy="6393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82165" y="217883"/>
            <a:ext cx="8822055" cy="5657850"/>
            <a:chOff x="182165" y="217883"/>
            <a:chExt cx="8822055" cy="565785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165" y="217883"/>
              <a:ext cx="8786812" cy="6465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011" y="678656"/>
              <a:ext cx="0" cy="5137785"/>
            </a:xfrm>
            <a:custGeom>
              <a:avLst/>
              <a:gdLst/>
              <a:ahLst/>
              <a:cxnLst/>
              <a:rect l="l" t="t" r="r" b="b"/>
              <a:pathLst>
                <a:path h="5137785">
                  <a:moveTo>
                    <a:pt x="0" y="5137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02613" y="648889"/>
              <a:ext cx="0" cy="5227320"/>
            </a:xfrm>
            <a:custGeom>
              <a:avLst/>
              <a:gdLst/>
              <a:ahLst/>
              <a:cxnLst/>
              <a:rect l="l" t="t" r="r" b="b"/>
              <a:pathLst>
                <a:path h="5227320">
                  <a:moveTo>
                    <a:pt x="0" y="522684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0387" y="5032771"/>
              <a:ext cx="2746772" cy="2536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50556" y="3850481"/>
              <a:ext cx="507206" cy="210740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841567" y="1068635"/>
            <a:ext cx="3380104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85" dirty="0">
                <a:solidFill>
                  <a:srgbClr val="366469"/>
                </a:solidFill>
              </a:rPr>
              <a:t>Tapestry</a:t>
            </a:r>
            <a:r>
              <a:rPr sz="3450" spc="-140" dirty="0">
                <a:solidFill>
                  <a:srgbClr val="366469"/>
                </a:solidFill>
              </a:rPr>
              <a:t> </a:t>
            </a:r>
            <a:r>
              <a:rPr sz="3450" spc="-114" dirty="0">
                <a:solidFill>
                  <a:srgbClr val="346669"/>
                </a:solidFill>
              </a:rPr>
              <a:t>Cont.</a:t>
            </a:r>
            <a:endParaRPr sz="3450"/>
          </a:p>
        </p:txBody>
      </p:sp>
      <p:sp>
        <p:nvSpPr>
          <p:cNvPr id="12" name="object 12"/>
          <p:cNvSpPr txBox="1"/>
          <p:nvPr/>
        </p:nvSpPr>
        <p:spPr>
          <a:xfrm>
            <a:off x="1180207" y="1917202"/>
            <a:ext cx="6693534" cy="13582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5715">
              <a:lnSpc>
                <a:spcPts val="3229"/>
              </a:lnSpc>
              <a:spcBef>
                <a:spcPts val="345"/>
              </a:spcBef>
            </a:pPr>
            <a:r>
              <a:rPr sz="2800" spc="-50" dirty="0">
                <a:latin typeface="Arial"/>
                <a:cs typeface="Arial"/>
              </a:rPr>
              <a:t>The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system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able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adapt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network </a:t>
            </a:r>
            <a:r>
              <a:rPr sz="2800" spc="-65" dirty="0">
                <a:latin typeface="Arial"/>
                <a:cs typeface="Arial"/>
              </a:rPr>
              <a:t>changes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because</a:t>
            </a:r>
            <a:r>
              <a:rPr sz="2800" dirty="0">
                <a:latin typeface="Arial"/>
                <a:cs typeface="Arial"/>
              </a:rPr>
              <a:t> it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algorithms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are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dynamic.</a:t>
            </a:r>
            <a:endParaRPr sz="28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40"/>
              </a:spcBef>
            </a:pPr>
            <a:r>
              <a:rPr sz="2700" dirty="0">
                <a:latin typeface="Arial"/>
                <a:cs typeface="Arial"/>
              </a:rPr>
              <a:t>This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also</a:t>
            </a:r>
            <a:r>
              <a:rPr sz="2700" spc="-6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provides</a:t>
            </a:r>
            <a:r>
              <a:rPr sz="2700" spc="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for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Fault-handling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6670" marR="5080" indent="4445">
              <a:lnSpc>
                <a:spcPts val="3940"/>
              </a:lnSpc>
              <a:spcBef>
                <a:spcPts val="560"/>
              </a:spcBef>
            </a:pPr>
            <a:r>
              <a:rPr sz="3600" spc="-275" dirty="0">
                <a:solidFill>
                  <a:srgbClr val="346669"/>
                </a:solidFill>
              </a:rPr>
              <a:t>When</a:t>
            </a:r>
            <a:r>
              <a:rPr sz="3600" spc="-25" dirty="0">
                <a:solidFill>
                  <a:srgbClr val="346669"/>
                </a:solidFill>
              </a:rPr>
              <a:t> </a:t>
            </a:r>
            <a:r>
              <a:rPr sz="3600" spc="-170" dirty="0">
                <a:solidFill>
                  <a:srgbClr val="386969"/>
                </a:solidFill>
              </a:rPr>
              <a:t>to</a:t>
            </a:r>
            <a:r>
              <a:rPr sz="3600" spc="-130" dirty="0">
                <a:solidFill>
                  <a:srgbClr val="386969"/>
                </a:solidFill>
              </a:rPr>
              <a:t> </a:t>
            </a:r>
            <a:r>
              <a:rPr sz="3600" spc="-190" dirty="0">
                <a:solidFill>
                  <a:srgbClr val="336469"/>
                </a:solidFill>
              </a:rPr>
              <a:t>consider</a:t>
            </a:r>
            <a:r>
              <a:rPr sz="3600" spc="130" dirty="0">
                <a:solidFill>
                  <a:srgbClr val="336469"/>
                </a:solidFill>
              </a:rPr>
              <a:t> </a:t>
            </a:r>
            <a:r>
              <a:rPr sz="3600" spc="-204" dirty="0">
                <a:solidFill>
                  <a:srgbClr val="366767"/>
                </a:solidFill>
              </a:rPr>
              <a:t>unstructured </a:t>
            </a:r>
            <a:r>
              <a:rPr sz="3600" spc="-285" dirty="0">
                <a:solidFill>
                  <a:srgbClr val="346469"/>
                </a:solidFill>
              </a:rPr>
              <a:t>P2P</a:t>
            </a:r>
            <a:r>
              <a:rPr sz="3600" spc="145" dirty="0">
                <a:solidFill>
                  <a:srgbClr val="346469"/>
                </a:solidFill>
              </a:rPr>
              <a:t> </a:t>
            </a:r>
            <a:r>
              <a:rPr sz="3600" spc="-275" dirty="0">
                <a:solidFill>
                  <a:srgbClr val="336969"/>
                </a:solidFill>
              </a:rPr>
              <a:t>systems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179450" y="1933127"/>
            <a:ext cx="7040245" cy="4308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" marR="5080" indent="1905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placement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content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(files)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completely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unrelated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overlay topology.</a:t>
            </a:r>
            <a:endParaRPr sz="1800">
              <a:latin typeface="Arial"/>
              <a:cs typeface="Arial"/>
            </a:endParaRPr>
          </a:p>
          <a:p>
            <a:pPr marL="12700" marR="52705" indent="7620">
              <a:lnSpc>
                <a:spcPct val="99900"/>
              </a:lnSpc>
              <a:spcBef>
                <a:spcPts val="465"/>
              </a:spcBef>
            </a:pPr>
            <a:r>
              <a:rPr sz="1800" dirty="0">
                <a:latin typeface="Arial"/>
                <a:cs typeface="Arial"/>
              </a:rPr>
              <a:t>In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unstructured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network,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content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typically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needs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located. Searching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mechanisms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range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brute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force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methods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such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as </a:t>
            </a:r>
            <a:r>
              <a:rPr sz="1800" dirty="0">
                <a:latin typeface="Arial"/>
                <a:cs typeface="Arial"/>
              </a:rPr>
              <a:t>flooding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network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propagating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queries in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breadth-</a:t>
            </a:r>
            <a:r>
              <a:rPr sz="1800" dirty="0">
                <a:latin typeface="Arial"/>
                <a:cs typeface="Arial"/>
              </a:rPr>
              <a:t>first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or </a:t>
            </a:r>
            <a:r>
              <a:rPr sz="1800" spc="-40" dirty="0">
                <a:latin typeface="Arial"/>
                <a:cs typeface="Arial"/>
              </a:rPr>
              <a:t>depth-</a:t>
            </a:r>
            <a:r>
              <a:rPr sz="1800" dirty="0">
                <a:latin typeface="Arial"/>
                <a:cs typeface="Arial"/>
              </a:rPr>
              <a:t>first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manner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until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desired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content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located,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more </a:t>
            </a:r>
            <a:r>
              <a:rPr sz="1800" spc="-10" dirty="0">
                <a:latin typeface="Arial"/>
                <a:cs typeface="Arial"/>
              </a:rPr>
              <a:t>sophisticated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resource-</a:t>
            </a:r>
            <a:r>
              <a:rPr sz="1800" dirty="0">
                <a:latin typeface="Arial"/>
                <a:cs typeface="Arial"/>
              </a:rPr>
              <a:t>preserving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strategies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include the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use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random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walks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routing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indices.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searching</a:t>
            </a:r>
            <a:r>
              <a:rPr sz="1800" spc="-10" dirty="0">
                <a:latin typeface="Arial"/>
                <a:cs typeface="Arial"/>
              </a:rPr>
              <a:t> mechanisms employed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unstructured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networks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obvious </a:t>
            </a:r>
            <a:r>
              <a:rPr sz="1800" spc="-10" dirty="0">
                <a:latin typeface="Arial"/>
                <a:cs typeface="Arial"/>
              </a:rPr>
              <a:t>implications, </a:t>
            </a:r>
            <a:r>
              <a:rPr sz="1800" dirty="0">
                <a:latin typeface="Arial"/>
                <a:cs typeface="Arial"/>
              </a:rPr>
              <a:t>particularly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regards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matters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availability,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scalability,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</a:t>
            </a:r>
            <a:r>
              <a:rPr sz="1800" spc="-10" dirty="0">
                <a:latin typeface="Arial"/>
                <a:cs typeface="Arial"/>
              </a:rPr>
              <a:t>persistence.</a:t>
            </a:r>
            <a:endParaRPr sz="1800">
              <a:latin typeface="Arial"/>
              <a:cs typeface="Arial"/>
            </a:endParaRPr>
          </a:p>
          <a:p>
            <a:pPr marL="19050" marR="1297940" indent="635">
              <a:lnSpc>
                <a:spcPts val="2140"/>
              </a:lnSpc>
              <a:spcBef>
                <a:spcPts val="515"/>
              </a:spcBef>
            </a:pPr>
            <a:r>
              <a:rPr sz="1800" spc="-10" dirty="0">
                <a:latin typeface="Arial"/>
                <a:cs typeface="Arial"/>
              </a:rPr>
              <a:t>Unstructured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systems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generally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appropriate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for </a:t>
            </a:r>
            <a:r>
              <a:rPr sz="1800" spc="-20" dirty="0">
                <a:latin typeface="Arial"/>
                <a:cs typeface="Arial"/>
              </a:rPr>
              <a:t>accommodating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highly</a:t>
            </a:r>
            <a:r>
              <a:rPr sz="1800" spc="-10" dirty="0">
                <a:latin typeface="Arial"/>
                <a:cs typeface="Arial"/>
              </a:rPr>
              <a:t> transient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node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populations.</a:t>
            </a:r>
            <a:endParaRPr sz="1800">
              <a:latin typeface="Arial"/>
              <a:cs typeface="Arial"/>
            </a:endParaRPr>
          </a:p>
          <a:p>
            <a:pPr marL="20320" marR="81280" indent="-635">
              <a:lnSpc>
                <a:spcPct val="100000"/>
              </a:lnSpc>
              <a:spcBef>
                <a:spcPts val="385"/>
              </a:spcBef>
            </a:pPr>
            <a:r>
              <a:rPr sz="1800" dirty="0">
                <a:latin typeface="Arial"/>
                <a:cs typeface="Arial"/>
              </a:rPr>
              <a:t>Some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representative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examples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unstructured</a:t>
            </a:r>
            <a:r>
              <a:rPr sz="1800" dirty="0">
                <a:latin typeface="Arial"/>
                <a:cs typeface="Arial"/>
              </a:rPr>
              <a:t> systems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Napster, Publius,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Gnutella,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Kazaa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Freehaven,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et.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2" y="217883"/>
            <a:ext cx="8847535" cy="61221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6670" marR="5080" indent="4445">
              <a:lnSpc>
                <a:spcPts val="3940"/>
              </a:lnSpc>
              <a:spcBef>
                <a:spcPts val="560"/>
              </a:spcBef>
            </a:pPr>
            <a:r>
              <a:rPr sz="3600" spc="-275" dirty="0">
                <a:solidFill>
                  <a:srgbClr val="346669"/>
                </a:solidFill>
              </a:rPr>
              <a:t>When</a:t>
            </a:r>
            <a:r>
              <a:rPr sz="3600" spc="-25" dirty="0">
                <a:solidFill>
                  <a:srgbClr val="346669"/>
                </a:solidFill>
              </a:rPr>
              <a:t> </a:t>
            </a:r>
            <a:r>
              <a:rPr sz="3600" spc="-170" dirty="0">
                <a:solidFill>
                  <a:srgbClr val="386969"/>
                </a:solidFill>
              </a:rPr>
              <a:t>to</a:t>
            </a:r>
            <a:r>
              <a:rPr sz="3600" spc="-130" dirty="0">
                <a:solidFill>
                  <a:srgbClr val="386969"/>
                </a:solidFill>
              </a:rPr>
              <a:t> </a:t>
            </a:r>
            <a:r>
              <a:rPr sz="3600" spc="-185" dirty="0">
                <a:solidFill>
                  <a:srgbClr val="336469"/>
                </a:solidFill>
              </a:rPr>
              <a:t>consider</a:t>
            </a:r>
            <a:r>
              <a:rPr sz="3600" spc="114" dirty="0">
                <a:solidFill>
                  <a:srgbClr val="336469"/>
                </a:solidFill>
              </a:rPr>
              <a:t> </a:t>
            </a:r>
            <a:r>
              <a:rPr sz="3600" spc="-204" dirty="0">
                <a:solidFill>
                  <a:srgbClr val="346469"/>
                </a:solidFill>
              </a:rPr>
              <a:t>Structured </a:t>
            </a:r>
            <a:r>
              <a:rPr sz="3600" spc="-280" dirty="0">
                <a:solidFill>
                  <a:srgbClr val="346469"/>
                </a:solidFill>
              </a:rPr>
              <a:t>P2Psystems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5240" marR="257810" indent="1270">
              <a:lnSpc>
                <a:spcPct val="78500"/>
              </a:lnSpc>
              <a:spcBef>
                <a:spcPts val="580"/>
              </a:spcBef>
            </a:pPr>
            <a:r>
              <a:rPr dirty="0"/>
              <a:t>In</a:t>
            </a:r>
            <a:r>
              <a:rPr spc="-110" dirty="0"/>
              <a:t> </a:t>
            </a:r>
            <a:r>
              <a:rPr spc="-30" dirty="0"/>
              <a:t>structured</a:t>
            </a:r>
            <a:r>
              <a:rPr spc="-15" dirty="0"/>
              <a:t> </a:t>
            </a:r>
            <a:r>
              <a:rPr spc="-30" dirty="0"/>
              <a:t>networks</a:t>
            </a:r>
            <a:r>
              <a:rPr spc="25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spc="-25" dirty="0"/>
              <a:t>overlay</a:t>
            </a:r>
            <a:r>
              <a:rPr spc="5" dirty="0"/>
              <a:t> </a:t>
            </a:r>
            <a:r>
              <a:rPr spc="-25" dirty="0"/>
              <a:t>topology</a:t>
            </a:r>
            <a:r>
              <a:rPr spc="-45" dirty="0"/>
              <a:t> </a:t>
            </a:r>
            <a:r>
              <a:rPr dirty="0"/>
              <a:t>is</a:t>
            </a:r>
            <a:r>
              <a:rPr spc="-114" dirty="0"/>
              <a:t> </a:t>
            </a:r>
            <a:r>
              <a:rPr spc="-10" dirty="0"/>
              <a:t>tightly</a:t>
            </a:r>
            <a:r>
              <a:rPr spc="-30" dirty="0"/>
              <a:t> </a:t>
            </a:r>
            <a:r>
              <a:rPr spc="-25" dirty="0"/>
              <a:t>controlled</a:t>
            </a:r>
            <a:r>
              <a:rPr spc="-50" dirty="0"/>
              <a:t> </a:t>
            </a:r>
            <a:r>
              <a:rPr spc="-25" dirty="0"/>
              <a:t>and </a:t>
            </a:r>
            <a:r>
              <a:rPr dirty="0"/>
              <a:t>files</a:t>
            </a:r>
            <a:r>
              <a:rPr spc="-114" dirty="0"/>
              <a:t> </a:t>
            </a:r>
            <a:r>
              <a:rPr dirty="0"/>
              <a:t>(or</a:t>
            </a:r>
            <a:r>
              <a:rPr spc="-90" dirty="0"/>
              <a:t> </a:t>
            </a:r>
            <a:r>
              <a:rPr spc="-20" dirty="0"/>
              <a:t>pointers</a:t>
            </a:r>
            <a:r>
              <a:rPr spc="-55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spc="-20" dirty="0"/>
              <a:t>them)</a:t>
            </a:r>
            <a:r>
              <a:rPr spc="-35" dirty="0"/>
              <a:t> </a:t>
            </a:r>
            <a:r>
              <a:rPr spc="-30" dirty="0"/>
              <a:t>are</a:t>
            </a:r>
            <a:r>
              <a:rPr spc="-95" dirty="0"/>
              <a:t> </a:t>
            </a:r>
            <a:r>
              <a:rPr spc="-10" dirty="0"/>
              <a:t>placed</a:t>
            </a:r>
            <a:r>
              <a:rPr spc="-50" dirty="0"/>
              <a:t> </a:t>
            </a:r>
            <a:r>
              <a:rPr dirty="0"/>
              <a:t>at</a:t>
            </a:r>
            <a:r>
              <a:rPr spc="-130" dirty="0"/>
              <a:t> </a:t>
            </a:r>
            <a:r>
              <a:rPr spc="-20" dirty="0"/>
              <a:t>precisely</a:t>
            </a:r>
            <a:r>
              <a:rPr spc="-15" dirty="0"/>
              <a:t> </a:t>
            </a:r>
            <a:r>
              <a:rPr spc="-25" dirty="0"/>
              <a:t>specified </a:t>
            </a:r>
            <a:r>
              <a:rPr spc="-10" dirty="0"/>
              <a:t>locations.</a:t>
            </a:r>
          </a:p>
          <a:p>
            <a:pPr marL="15240" marR="247015">
              <a:lnSpc>
                <a:spcPct val="77300"/>
              </a:lnSpc>
              <a:spcBef>
                <a:spcPts val="30"/>
              </a:spcBef>
            </a:pPr>
            <a:r>
              <a:rPr spc="-20" dirty="0"/>
              <a:t>These</a:t>
            </a:r>
            <a:r>
              <a:rPr spc="-90" dirty="0"/>
              <a:t> </a:t>
            </a:r>
            <a:r>
              <a:rPr spc="-25" dirty="0"/>
              <a:t>systems</a:t>
            </a:r>
            <a:r>
              <a:rPr spc="-65" dirty="0"/>
              <a:t> </a:t>
            </a:r>
            <a:r>
              <a:rPr spc="-30" dirty="0"/>
              <a:t>essentially</a:t>
            </a:r>
            <a:r>
              <a:rPr spc="35" dirty="0"/>
              <a:t> </a:t>
            </a:r>
            <a:r>
              <a:rPr spc="-20" dirty="0"/>
              <a:t>provide</a:t>
            </a:r>
            <a:r>
              <a:rPr spc="-3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30" dirty="0"/>
              <a:t>mapping</a:t>
            </a:r>
            <a:r>
              <a:rPr spc="-65" dirty="0"/>
              <a:t> </a:t>
            </a:r>
            <a:r>
              <a:rPr spc="-35" dirty="0"/>
              <a:t>between</a:t>
            </a:r>
            <a:r>
              <a:rPr spc="10" dirty="0"/>
              <a:t> </a:t>
            </a:r>
            <a:r>
              <a:rPr spc="-20" dirty="0"/>
              <a:t>content</a:t>
            </a:r>
            <a:r>
              <a:rPr spc="-35" dirty="0"/>
              <a:t> </a:t>
            </a:r>
            <a:r>
              <a:rPr spc="-10" dirty="0"/>
              <a:t>(e.g. file</a:t>
            </a:r>
            <a:r>
              <a:rPr spc="-110" dirty="0"/>
              <a:t> </a:t>
            </a:r>
            <a:r>
              <a:rPr spc="-25" dirty="0"/>
              <a:t>identifier)</a:t>
            </a:r>
            <a:r>
              <a:rPr spc="55" dirty="0"/>
              <a:t> </a:t>
            </a:r>
            <a:r>
              <a:rPr spc="-10" dirty="0"/>
              <a:t>and</a:t>
            </a:r>
            <a:r>
              <a:rPr spc="-95" dirty="0"/>
              <a:t> </a:t>
            </a:r>
            <a:r>
              <a:rPr spc="-25" dirty="0"/>
              <a:t>location</a:t>
            </a:r>
            <a:r>
              <a:rPr spc="-20" dirty="0"/>
              <a:t> (e.g.</a:t>
            </a:r>
            <a:r>
              <a:rPr spc="-105" dirty="0"/>
              <a:t> </a:t>
            </a:r>
            <a:r>
              <a:rPr spc="-10" dirty="0"/>
              <a:t>node</a:t>
            </a:r>
            <a:r>
              <a:rPr spc="-55" dirty="0"/>
              <a:t> </a:t>
            </a:r>
            <a:r>
              <a:rPr spc="-25" dirty="0"/>
              <a:t>address),</a:t>
            </a:r>
            <a:r>
              <a:rPr spc="-30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form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a</a:t>
            </a:r>
          </a:p>
          <a:p>
            <a:pPr marL="15875" marR="5080" indent="-3175">
              <a:lnSpc>
                <a:spcPct val="77300"/>
              </a:lnSpc>
              <a:spcBef>
                <a:spcPts val="25"/>
              </a:spcBef>
            </a:pPr>
            <a:r>
              <a:rPr spc="-30" dirty="0"/>
              <a:t>distributed</a:t>
            </a:r>
            <a:r>
              <a:rPr spc="-5" dirty="0"/>
              <a:t> </a:t>
            </a:r>
            <a:r>
              <a:rPr spc="-20" dirty="0"/>
              <a:t>routing</a:t>
            </a:r>
            <a:r>
              <a:rPr spc="-45" dirty="0"/>
              <a:t> </a:t>
            </a:r>
            <a:r>
              <a:rPr spc="-10" dirty="0"/>
              <a:t>table,</a:t>
            </a:r>
            <a:r>
              <a:rPr spc="-45" dirty="0"/>
              <a:t> </a:t>
            </a:r>
            <a:r>
              <a:rPr dirty="0"/>
              <a:t>so</a:t>
            </a:r>
            <a:r>
              <a:rPr spc="-80" dirty="0"/>
              <a:t> </a:t>
            </a:r>
            <a:r>
              <a:rPr spc="-10" dirty="0"/>
              <a:t>that</a:t>
            </a:r>
            <a:r>
              <a:rPr spc="-70" dirty="0"/>
              <a:t> </a:t>
            </a:r>
            <a:r>
              <a:rPr spc="-20" dirty="0"/>
              <a:t>queries</a:t>
            </a:r>
            <a:r>
              <a:rPr spc="-40" dirty="0"/>
              <a:t> </a:t>
            </a:r>
            <a:r>
              <a:rPr spc="-10" dirty="0"/>
              <a:t>can</a:t>
            </a:r>
            <a:r>
              <a:rPr spc="-120" dirty="0"/>
              <a:t> </a:t>
            </a:r>
            <a:r>
              <a:rPr dirty="0"/>
              <a:t>be</a:t>
            </a:r>
            <a:r>
              <a:rPr spc="-125" dirty="0"/>
              <a:t> </a:t>
            </a:r>
            <a:r>
              <a:rPr spc="-30" dirty="0"/>
              <a:t>efficiently</a:t>
            </a:r>
            <a:r>
              <a:rPr spc="15" dirty="0"/>
              <a:t> </a:t>
            </a:r>
            <a:r>
              <a:rPr spc="-20" dirty="0"/>
              <a:t>routed</a:t>
            </a:r>
            <a:r>
              <a:rPr spc="-50" dirty="0"/>
              <a:t> </a:t>
            </a:r>
            <a:r>
              <a:rPr dirty="0"/>
              <a:t>to</a:t>
            </a:r>
            <a:r>
              <a:rPr spc="-110" dirty="0"/>
              <a:t> </a:t>
            </a:r>
            <a:r>
              <a:rPr spc="-25" dirty="0"/>
              <a:t>the </a:t>
            </a:r>
            <a:r>
              <a:rPr spc="-20" dirty="0"/>
              <a:t>node</a:t>
            </a:r>
            <a:r>
              <a:rPr spc="-8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the</a:t>
            </a:r>
            <a:r>
              <a:rPr spc="-125" dirty="0"/>
              <a:t> </a:t>
            </a:r>
            <a:r>
              <a:rPr spc="-25" dirty="0"/>
              <a:t>desired</a:t>
            </a:r>
            <a:r>
              <a:rPr spc="-75" dirty="0"/>
              <a:t> </a:t>
            </a:r>
            <a:r>
              <a:rPr spc="-10" dirty="0"/>
              <a:t>content.</a:t>
            </a:r>
          </a:p>
          <a:p>
            <a:pPr marL="13335">
              <a:lnSpc>
                <a:spcPts val="1914"/>
              </a:lnSpc>
            </a:pPr>
            <a:r>
              <a:rPr spc="-30" dirty="0"/>
              <a:t>Structured</a:t>
            </a:r>
            <a:r>
              <a:rPr spc="-10" dirty="0"/>
              <a:t> </a:t>
            </a:r>
            <a:r>
              <a:rPr spc="-25" dirty="0"/>
              <a:t>systems</a:t>
            </a:r>
            <a:r>
              <a:rPr spc="-20" dirty="0"/>
              <a:t> </a:t>
            </a:r>
            <a:r>
              <a:rPr spc="-80" dirty="0"/>
              <a:t>oXer</a:t>
            </a:r>
            <a:r>
              <a:rPr spc="-45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25" dirty="0"/>
              <a:t>scalable</a:t>
            </a:r>
            <a:r>
              <a:rPr spc="-45" dirty="0"/>
              <a:t> </a:t>
            </a:r>
            <a:r>
              <a:rPr spc="-25" dirty="0"/>
              <a:t>solution</a:t>
            </a:r>
            <a:r>
              <a:rPr spc="-3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spc="-55" dirty="0"/>
              <a:t>exact-</a:t>
            </a:r>
            <a:r>
              <a:rPr spc="-10" dirty="0"/>
              <a:t>match</a:t>
            </a:r>
            <a:r>
              <a:rPr spc="20" dirty="0"/>
              <a:t> </a:t>
            </a:r>
            <a:r>
              <a:rPr spc="-10" dirty="0"/>
              <a:t>queries,</a:t>
            </a:r>
          </a:p>
          <a:p>
            <a:pPr marL="15875">
              <a:lnSpc>
                <a:spcPts val="1730"/>
              </a:lnSpc>
            </a:pPr>
            <a:r>
              <a:rPr spc="-10" dirty="0"/>
              <a:t>i.e.</a:t>
            </a:r>
            <a:r>
              <a:rPr spc="-110" dirty="0"/>
              <a:t> </a:t>
            </a:r>
            <a:r>
              <a:rPr spc="-20" dirty="0"/>
              <a:t>queries</a:t>
            </a:r>
            <a:r>
              <a:rPr spc="-40" dirty="0"/>
              <a:t> </a:t>
            </a:r>
            <a:r>
              <a:rPr dirty="0"/>
              <a:t>in</a:t>
            </a:r>
            <a:r>
              <a:rPr spc="-130" dirty="0"/>
              <a:t> </a:t>
            </a:r>
            <a:r>
              <a:rPr spc="-25" dirty="0"/>
              <a:t>which</a:t>
            </a:r>
            <a:r>
              <a:rPr spc="-35" dirty="0"/>
              <a:t> </a:t>
            </a:r>
            <a:r>
              <a:rPr dirty="0"/>
              <a:t>the</a:t>
            </a:r>
            <a:r>
              <a:rPr spc="-125" dirty="0"/>
              <a:t> </a:t>
            </a:r>
            <a:r>
              <a:rPr spc="-10" dirty="0"/>
              <a:t>exact</a:t>
            </a:r>
            <a:r>
              <a:rPr spc="-60" dirty="0"/>
              <a:t> </a:t>
            </a:r>
            <a:r>
              <a:rPr spc="-25" dirty="0"/>
              <a:t>identifier</a:t>
            </a:r>
            <a:r>
              <a:rPr spc="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120" dirty="0"/>
              <a:t> </a:t>
            </a:r>
            <a:r>
              <a:rPr spc="-30" dirty="0"/>
              <a:t>requested</a:t>
            </a:r>
            <a:r>
              <a:rPr spc="-20" dirty="0"/>
              <a:t> </a:t>
            </a:r>
            <a:r>
              <a:rPr dirty="0"/>
              <a:t>data</a:t>
            </a:r>
            <a:r>
              <a:rPr spc="-125" dirty="0"/>
              <a:t> </a:t>
            </a:r>
            <a:r>
              <a:rPr spc="-25" dirty="0"/>
              <a:t>object</a:t>
            </a:r>
            <a:r>
              <a:rPr spc="-40" dirty="0"/>
              <a:t> </a:t>
            </a:r>
            <a:r>
              <a:rPr spc="-25" dirty="0"/>
              <a:t>is</a:t>
            </a:r>
          </a:p>
          <a:p>
            <a:pPr marL="12700">
              <a:lnSpc>
                <a:spcPts val="1730"/>
              </a:lnSpc>
            </a:pPr>
            <a:r>
              <a:rPr spc="-20" dirty="0"/>
              <a:t>known</a:t>
            </a:r>
            <a:r>
              <a:rPr spc="-40" dirty="0"/>
              <a:t> </a:t>
            </a:r>
            <a:r>
              <a:rPr spc="-20" dirty="0"/>
              <a:t>(as</a:t>
            </a:r>
            <a:r>
              <a:rPr spc="-110" dirty="0"/>
              <a:t> </a:t>
            </a:r>
            <a:r>
              <a:rPr spc="-25" dirty="0"/>
              <a:t>compared</a:t>
            </a:r>
            <a:r>
              <a:rPr spc="-50" dirty="0"/>
              <a:t> </a:t>
            </a:r>
            <a:r>
              <a:rPr dirty="0"/>
              <a:t>to</a:t>
            </a:r>
            <a:r>
              <a:rPr spc="-130" dirty="0"/>
              <a:t> </a:t>
            </a:r>
            <a:r>
              <a:rPr spc="-30" dirty="0"/>
              <a:t>keyword</a:t>
            </a:r>
            <a:r>
              <a:rPr spc="-40" dirty="0"/>
              <a:t> </a:t>
            </a:r>
            <a:r>
              <a:rPr spc="-20" dirty="0"/>
              <a:t>queries).</a:t>
            </a:r>
            <a:r>
              <a:rPr spc="-5" dirty="0"/>
              <a:t> </a:t>
            </a:r>
            <a:r>
              <a:rPr spc="-20" dirty="0"/>
              <a:t>Using</a:t>
            </a:r>
            <a:r>
              <a:rPr spc="-85" dirty="0"/>
              <a:t> </a:t>
            </a:r>
            <a:r>
              <a:rPr spc="-55" dirty="0"/>
              <a:t>exact-</a:t>
            </a:r>
            <a:r>
              <a:rPr spc="-10" dirty="0"/>
              <a:t>match</a:t>
            </a:r>
            <a:r>
              <a:rPr spc="5" dirty="0"/>
              <a:t> </a:t>
            </a:r>
            <a:r>
              <a:rPr spc="-10" dirty="0"/>
              <a:t>queries</a:t>
            </a:r>
          </a:p>
          <a:p>
            <a:pPr marL="15240" marR="29209" indent="635">
              <a:lnSpc>
                <a:spcPct val="77300"/>
              </a:lnSpc>
              <a:spcBef>
                <a:spcPts val="254"/>
              </a:spcBef>
            </a:pPr>
            <a:r>
              <a:rPr dirty="0"/>
              <a:t>as</a:t>
            </a:r>
            <a:r>
              <a:rPr spc="-110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30" dirty="0"/>
              <a:t>substrate</a:t>
            </a:r>
            <a:r>
              <a:rPr spc="-15" dirty="0"/>
              <a:t> </a:t>
            </a:r>
            <a:r>
              <a:rPr dirty="0"/>
              <a:t>for</a:t>
            </a:r>
            <a:r>
              <a:rPr spc="-85" dirty="0"/>
              <a:t> </a:t>
            </a:r>
            <a:r>
              <a:rPr spc="-30" dirty="0"/>
              <a:t>keyword</a:t>
            </a:r>
            <a:r>
              <a:rPr spc="-20" dirty="0"/>
              <a:t> queries</a:t>
            </a:r>
            <a:r>
              <a:rPr spc="-25" dirty="0"/>
              <a:t> remains</a:t>
            </a:r>
            <a:r>
              <a:rPr spc="-35" dirty="0"/>
              <a:t> </a:t>
            </a:r>
            <a:r>
              <a:rPr dirty="0"/>
              <a:t>an</a:t>
            </a:r>
            <a:r>
              <a:rPr spc="-85" dirty="0"/>
              <a:t> </a:t>
            </a:r>
            <a:r>
              <a:rPr spc="-20" dirty="0"/>
              <a:t>open</a:t>
            </a:r>
            <a:r>
              <a:rPr spc="-55" dirty="0"/>
              <a:t> </a:t>
            </a:r>
            <a:r>
              <a:rPr spc="-30" dirty="0"/>
              <a:t>research</a:t>
            </a:r>
            <a:r>
              <a:rPr spc="-35" dirty="0"/>
              <a:t> </a:t>
            </a:r>
            <a:r>
              <a:rPr spc="-10" dirty="0"/>
              <a:t>problem </a:t>
            </a:r>
            <a:r>
              <a:rPr dirty="0"/>
              <a:t>for</a:t>
            </a:r>
            <a:r>
              <a:rPr spc="-85" dirty="0"/>
              <a:t> </a:t>
            </a:r>
            <a:r>
              <a:rPr spc="-25" dirty="0"/>
              <a:t>distributed</a:t>
            </a:r>
            <a:r>
              <a:rPr spc="-55" dirty="0"/>
              <a:t> </a:t>
            </a:r>
            <a:r>
              <a:rPr spc="-10" dirty="0"/>
              <a:t>environments</a:t>
            </a:r>
          </a:p>
          <a:p>
            <a:pPr marL="17145" marR="67310" indent="3810">
              <a:lnSpc>
                <a:spcPct val="77300"/>
              </a:lnSpc>
              <a:spcBef>
                <a:spcPts val="450"/>
              </a:spcBef>
            </a:pPr>
            <a:r>
              <a:rPr spc="-155" dirty="0"/>
              <a:t>A</a:t>
            </a:r>
            <a:r>
              <a:rPr spc="-95" dirty="0"/>
              <a:t> </a:t>
            </a:r>
            <a:r>
              <a:rPr spc="-35" dirty="0"/>
              <a:t>disadvantage</a:t>
            </a:r>
            <a:r>
              <a:rPr spc="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30" dirty="0"/>
              <a:t>structured</a:t>
            </a:r>
            <a:r>
              <a:rPr spc="5" dirty="0"/>
              <a:t> </a:t>
            </a:r>
            <a:r>
              <a:rPr spc="-25" dirty="0"/>
              <a:t>systems</a:t>
            </a:r>
            <a:r>
              <a:rPr spc="-20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spc="-10" dirty="0"/>
              <a:t>that</a:t>
            </a:r>
            <a:r>
              <a:rPr spc="-55" dirty="0"/>
              <a:t> </a:t>
            </a:r>
            <a:r>
              <a:rPr dirty="0"/>
              <a:t>it</a:t>
            </a:r>
            <a:r>
              <a:rPr spc="-90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spc="-10" dirty="0"/>
              <a:t>hard</a:t>
            </a:r>
            <a:r>
              <a:rPr spc="-10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spc="-30" dirty="0"/>
              <a:t>maintain</a:t>
            </a:r>
            <a:r>
              <a:rPr spc="-10" dirty="0"/>
              <a:t> </a:t>
            </a:r>
            <a:r>
              <a:rPr spc="-25" dirty="0"/>
              <a:t>the struc|ure</a:t>
            </a:r>
            <a:r>
              <a:rPr spc="-60" dirty="0"/>
              <a:t> </a:t>
            </a:r>
            <a:r>
              <a:rPr spc="-25" dirty="0"/>
              <a:t>required</a:t>
            </a:r>
            <a:r>
              <a:rPr spc="-2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spc="-30" dirty="0"/>
              <a:t>efficiently</a:t>
            </a:r>
            <a:r>
              <a:rPr spc="10" dirty="0"/>
              <a:t> </a:t>
            </a:r>
            <a:r>
              <a:rPr spc="-20" dirty="0"/>
              <a:t>routing</a:t>
            </a:r>
            <a:r>
              <a:rPr spc="-30" dirty="0"/>
              <a:t> </a:t>
            </a:r>
            <a:r>
              <a:rPr spc="-40" dirty="0"/>
              <a:t>messages</a:t>
            </a:r>
            <a:r>
              <a:rPr spc="30" dirty="0"/>
              <a:t>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face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20" dirty="0"/>
              <a:t>very</a:t>
            </a:r>
          </a:p>
          <a:p>
            <a:pPr marL="13335">
              <a:lnSpc>
                <a:spcPts val="1465"/>
              </a:lnSpc>
            </a:pPr>
            <a:r>
              <a:rPr spc="-25" dirty="0"/>
              <a:t>transient</a:t>
            </a:r>
            <a:r>
              <a:rPr spc="-10" dirty="0"/>
              <a:t> </a:t>
            </a:r>
            <a:r>
              <a:rPr spc="-20" dirty="0"/>
              <a:t>node</a:t>
            </a:r>
            <a:r>
              <a:rPr spc="-100" dirty="0"/>
              <a:t> </a:t>
            </a:r>
            <a:r>
              <a:rPr spc="-30" dirty="0"/>
              <a:t>population,</a:t>
            </a:r>
            <a:r>
              <a:rPr spc="20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35" dirty="0"/>
              <a:t>which</a:t>
            </a:r>
            <a:r>
              <a:rPr spc="-25" dirty="0"/>
              <a:t> </a:t>
            </a:r>
            <a:r>
              <a:rPr spc="-20" dirty="0"/>
              <a:t>nodes</a:t>
            </a:r>
            <a:r>
              <a:rPr spc="-6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spc="-25" dirty="0"/>
              <a:t>joining</a:t>
            </a:r>
            <a:r>
              <a:rPr spc="-35" dirty="0"/>
              <a:t> </a:t>
            </a:r>
            <a:r>
              <a:rPr spc="-10" dirty="0"/>
              <a:t>and</a:t>
            </a:r>
            <a:r>
              <a:rPr spc="-95" dirty="0"/>
              <a:t> </a:t>
            </a:r>
            <a:r>
              <a:rPr spc="-20" dirty="0"/>
              <a:t>leaving</a:t>
            </a:r>
            <a:r>
              <a:rPr spc="-40" dirty="0"/>
              <a:t> </a:t>
            </a:r>
            <a:r>
              <a:rPr dirty="0"/>
              <a:t>at</a:t>
            </a:r>
            <a:r>
              <a:rPr spc="-80" dirty="0"/>
              <a:t> </a:t>
            </a:r>
            <a:r>
              <a:rPr spc="-50" dirty="0"/>
              <a:t>a</a:t>
            </a:r>
          </a:p>
          <a:p>
            <a:pPr marL="15875">
              <a:lnSpc>
                <a:spcPts val="1985"/>
              </a:lnSpc>
            </a:pPr>
            <a:r>
              <a:rPr sz="1900" spc="-60" dirty="0"/>
              <a:t>high</a:t>
            </a:r>
            <a:r>
              <a:rPr sz="1900" spc="-65" dirty="0"/>
              <a:t> </a:t>
            </a:r>
            <a:r>
              <a:rPr sz="1900" spc="-10" dirty="0"/>
              <a:t>rate.</a:t>
            </a:r>
            <a:endParaRPr sz="1900"/>
          </a:p>
          <a:p>
            <a:pPr marL="15875" marR="73660" indent="-635">
              <a:lnSpc>
                <a:spcPct val="78500"/>
              </a:lnSpc>
              <a:spcBef>
                <a:spcPts val="455"/>
              </a:spcBef>
            </a:pPr>
            <a:r>
              <a:rPr spc="-40" dirty="0"/>
              <a:t>Typical</a:t>
            </a:r>
            <a:r>
              <a:rPr spc="-60" dirty="0"/>
              <a:t> </a:t>
            </a:r>
            <a:r>
              <a:rPr spc="-35" dirty="0"/>
              <a:t>examples</a:t>
            </a:r>
            <a:r>
              <a:rPr spc="2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30" dirty="0"/>
              <a:t>structured</a:t>
            </a:r>
            <a:r>
              <a:rPr spc="-5" dirty="0"/>
              <a:t> </a:t>
            </a:r>
            <a:r>
              <a:rPr spc="-35" dirty="0"/>
              <a:t>systems</a:t>
            </a:r>
            <a:r>
              <a:rPr spc="-30" dirty="0"/>
              <a:t> </a:t>
            </a:r>
            <a:r>
              <a:rPr spc="-20" dirty="0"/>
              <a:t>include</a:t>
            </a:r>
            <a:r>
              <a:rPr spc="-50" dirty="0"/>
              <a:t> </a:t>
            </a:r>
            <a:r>
              <a:rPr spc="-20" dirty="0"/>
              <a:t>Chord,</a:t>
            </a:r>
            <a:r>
              <a:rPr spc="-55" dirty="0"/>
              <a:t> </a:t>
            </a:r>
            <a:r>
              <a:rPr spc="-30" dirty="0"/>
              <a:t>CAN,</a:t>
            </a:r>
            <a:r>
              <a:rPr spc="-95" dirty="0"/>
              <a:t> </a:t>
            </a:r>
            <a:r>
              <a:rPr spc="-30" dirty="0"/>
              <a:t>Tapestry </a:t>
            </a:r>
            <a:r>
              <a:rPr dirty="0"/>
              <a:t>et</a:t>
            </a:r>
            <a:r>
              <a:rPr spc="-105" dirty="0"/>
              <a:t> </a:t>
            </a:r>
            <a:r>
              <a:rPr spc="-10" dirty="0"/>
              <a:t>cetera.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596" y="5536406"/>
            <a:ext cx="8747522" cy="80367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0500" y="217883"/>
            <a:ext cx="8813800" cy="6006465"/>
            <a:chOff x="190500" y="217883"/>
            <a:chExt cx="8813800" cy="600646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94004" y="2848570"/>
              <a:ext cx="0" cy="3375660"/>
            </a:xfrm>
            <a:custGeom>
              <a:avLst/>
              <a:gdLst/>
              <a:ahLst/>
              <a:cxnLst/>
              <a:rect l="l" t="t" r="r" b="b"/>
              <a:pathLst>
                <a:path h="3375660">
                  <a:moveTo>
                    <a:pt x="0" y="33754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75824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90707" y="684608"/>
              <a:ext cx="0" cy="5173345"/>
            </a:xfrm>
            <a:custGeom>
              <a:avLst/>
              <a:gdLst/>
              <a:ahLst/>
              <a:cxnLst/>
              <a:rect l="l" t="t" r="r" b="b"/>
              <a:pathLst>
                <a:path h="5173345">
                  <a:moveTo>
                    <a:pt x="0" y="51732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02613" y="729258"/>
              <a:ext cx="0" cy="5084445"/>
            </a:xfrm>
            <a:custGeom>
              <a:avLst/>
              <a:gdLst/>
              <a:ahLst/>
              <a:cxnLst/>
              <a:rect l="l" t="t" r="r" b="b"/>
              <a:pathLst>
                <a:path h="5084445">
                  <a:moveTo>
                    <a:pt x="0" y="50839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21718" y="5025925"/>
              <a:ext cx="4441190" cy="0"/>
            </a:xfrm>
            <a:custGeom>
              <a:avLst/>
              <a:gdLst/>
              <a:ahLst/>
              <a:cxnLst/>
              <a:rect l="l" t="t" r="r" b="b"/>
              <a:pathLst>
                <a:path w="4441190">
                  <a:moveTo>
                    <a:pt x="0" y="0"/>
                  </a:moveTo>
                  <a:lnTo>
                    <a:pt x="4441033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48508" y="3347144"/>
              <a:ext cx="4414520" cy="0"/>
            </a:xfrm>
            <a:custGeom>
              <a:avLst/>
              <a:gdLst/>
              <a:ahLst/>
              <a:cxnLst/>
              <a:rect l="l" t="t" r="r" b="b"/>
              <a:pathLst>
                <a:path w="4414520">
                  <a:moveTo>
                    <a:pt x="0" y="0"/>
                  </a:moveTo>
                  <a:lnTo>
                    <a:pt x="4414244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472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14"/>
              </a:spcBef>
            </a:pPr>
            <a:r>
              <a:rPr sz="3450" spc="-145" dirty="0">
                <a:solidFill>
                  <a:srgbClr val="366464"/>
                </a:solidFill>
              </a:rPr>
              <a:t>Conclusion</a:t>
            </a:r>
            <a:endParaRPr sz="3450"/>
          </a:p>
        </p:txBody>
      </p:sp>
      <p:sp>
        <p:nvSpPr>
          <p:cNvPr id="14" name="object 14"/>
          <p:cNvSpPr txBox="1"/>
          <p:nvPr/>
        </p:nvSpPr>
        <p:spPr>
          <a:xfrm>
            <a:off x="1372666" y="1845716"/>
            <a:ext cx="6816725" cy="8623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1905">
              <a:lnSpc>
                <a:spcPct val="94400"/>
              </a:lnSpc>
              <a:spcBef>
                <a:spcPts val="229"/>
              </a:spcBef>
            </a:pPr>
            <a:r>
              <a:rPr sz="1900" spc="-50" dirty="0">
                <a:latin typeface="Arial"/>
                <a:cs typeface="Arial"/>
              </a:rPr>
              <a:t>This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50" dirty="0">
                <a:latin typeface="Arial"/>
                <a:cs typeface="Arial"/>
              </a:rPr>
              <a:t>table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70" dirty="0">
                <a:latin typeface="Arial"/>
                <a:cs typeface="Arial"/>
              </a:rPr>
              <a:t>shows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a</a:t>
            </a:r>
            <a:r>
              <a:rPr sz="1900" spc="-130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classification</a:t>
            </a:r>
            <a:r>
              <a:rPr sz="1900" spc="-7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of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spc="-90" dirty="0">
                <a:latin typeface="Arial"/>
                <a:cs typeface="Arial"/>
              </a:rPr>
              <a:t>peer-</a:t>
            </a:r>
            <a:r>
              <a:rPr sz="1900" spc="-75" dirty="0">
                <a:latin typeface="Arial"/>
                <a:cs typeface="Arial"/>
              </a:rPr>
              <a:t>to-</a:t>
            </a:r>
            <a:r>
              <a:rPr sz="1900" spc="-25" dirty="0">
                <a:latin typeface="Arial"/>
                <a:cs typeface="Arial"/>
              </a:rPr>
              <a:t>peer</a:t>
            </a:r>
            <a:r>
              <a:rPr sz="1900" spc="90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content</a:t>
            </a:r>
            <a:r>
              <a:rPr sz="1900" spc="-1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distribution </a:t>
            </a:r>
            <a:r>
              <a:rPr sz="1900" spc="-55" dirty="0">
                <a:latin typeface="Arial"/>
                <a:cs typeface="Arial"/>
              </a:rPr>
              <a:t>systems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and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location</a:t>
            </a:r>
            <a:r>
              <a:rPr sz="1900" spc="-20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and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routing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infrastructures</a:t>
            </a:r>
            <a:r>
              <a:rPr sz="1900" spc="-7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in</a:t>
            </a:r>
            <a:r>
              <a:rPr sz="1900" spc="-110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terms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of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their </a:t>
            </a:r>
            <a:r>
              <a:rPr sz="1900" spc="-65" dirty="0">
                <a:latin typeface="Arial"/>
                <a:cs typeface="Arial"/>
              </a:rPr>
              <a:t>Network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structure,</a:t>
            </a:r>
            <a:r>
              <a:rPr sz="1900" spc="-40" dirty="0">
                <a:latin typeface="Arial"/>
                <a:cs typeface="Arial"/>
              </a:rPr>
              <a:t> with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some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50" dirty="0">
                <a:latin typeface="Arial"/>
                <a:cs typeface="Arial"/>
              </a:rPr>
              <a:t>typical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examples.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5877" y="3081932"/>
            <a:ext cx="42164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85" dirty="0">
                <a:latin typeface="Courier New"/>
                <a:cs typeface="Courier New"/>
              </a:rPr>
              <a:t>HybnJ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43520" y="2813842"/>
            <a:ext cx="800100" cy="497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0" marR="5080" indent="-203835">
              <a:lnSpc>
                <a:spcPct val="134500"/>
              </a:lnSpc>
              <a:spcBef>
                <a:spcPts val="95"/>
              </a:spcBef>
            </a:pPr>
            <a:r>
              <a:rPr sz="1150" spc="-70" dirty="0">
                <a:solidFill>
                  <a:srgbClr val="1C1C1C"/>
                </a:solidFill>
                <a:latin typeface="Cambria"/>
                <a:cs typeface="Cambria"/>
              </a:rPr>
              <a:t>Centralizauon</a:t>
            </a:r>
            <a:r>
              <a:rPr sz="1150" spc="-10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latin typeface="Cambria"/>
                <a:cs typeface="Cambria"/>
              </a:rPr>
              <a:t>Paraal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20513" y="3100535"/>
            <a:ext cx="34544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90" dirty="0">
                <a:latin typeface="Courier New"/>
                <a:cs typeface="Courier New"/>
              </a:rPr>
              <a:t>None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38740" y="3837086"/>
            <a:ext cx="814069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Cambria"/>
                <a:cs typeface="Cambria"/>
              </a:rPr>
              <a:t>Unstructured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9216" y="3837086"/>
            <a:ext cx="102806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20" dirty="0">
                <a:latin typeface="Cambria"/>
                <a:cs typeface="Cambria"/>
              </a:rPr>
              <a:t>Napster,</a:t>
            </a:r>
            <a:r>
              <a:rPr sz="1050" spc="114" dirty="0">
                <a:latin typeface="Cambria"/>
                <a:cs typeface="Cambria"/>
              </a:rPr>
              <a:t> </a:t>
            </a:r>
            <a:r>
              <a:rPr sz="1050" spc="20" dirty="0">
                <a:solidFill>
                  <a:srgbClr val="0F0F0F"/>
                </a:solidFill>
                <a:latin typeface="Cambria"/>
                <a:cs typeface="Cambria"/>
              </a:rPr>
              <a:t>Pub</a:t>
            </a:r>
            <a:r>
              <a:rPr sz="1050" spc="-12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050" spc="-20" dirty="0">
                <a:latin typeface="Cambria"/>
                <a:cs typeface="Cambria"/>
              </a:rPr>
              <a:t>ltus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20481" y="3556792"/>
            <a:ext cx="661035" cy="7518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635">
              <a:lnSpc>
                <a:spcPct val="105800"/>
              </a:lnSpc>
              <a:spcBef>
                <a:spcPts val="40"/>
              </a:spcBef>
            </a:pPr>
            <a:r>
              <a:rPr sz="1150" spc="-10" dirty="0">
                <a:latin typeface="Times New Roman"/>
                <a:cs typeface="Times New Roman"/>
              </a:rPr>
              <a:t>Kazaa, Morpheus, </a:t>
            </a:r>
            <a:r>
              <a:rPr sz="1050" dirty="0">
                <a:latin typeface="Times New Roman"/>
                <a:cs typeface="Times New Roman"/>
              </a:rPr>
              <a:t>Gnute</a:t>
            </a:r>
            <a:r>
              <a:rPr sz="1050" spc="1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Times New Roman"/>
                <a:cs typeface="Times New Roman"/>
              </a:rPr>
              <a:t>lla, </a:t>
            </a:r>
            <a:r>
              <a:rPr sz="1200" spc="-10" dirty="0">
                <a:solidFill>
                  <a:srgbClr val="0E0E0E"/>
                </a:solidFill>
                <a:latin typeface="Times New Roman"/>
                <a:cs typeface="Times New Roman"/>
              </a:rPr>
              <a:t>Edutella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67970" y="3725429"/>
            <a:ext cx="673100" cy="39370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25"/>
              </a:spcBef>
            </a:pPr>
            <a:r>
              <a:rPr sz="1150" spc="-10" dirty="0">
                <a:latin typeface="Times New Roman"/>
                <a:cs typeface="Times New Roman"/>
              </a:rPr>
              <a:t>Gnute11a,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65" dirty="0">
                <a:latin typeface="Times New Roman"/>
                <a:cs typeface="Times New Roman"/>
              </a:rPr>
              <a:t>Freehaven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40540" y="4572296"/>
            <a:ext cx="898525" cy="389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">
              <a:lnSpc>
                <a:spcPct val="113799"/>
              </a:lnSpc>
              <a:spcBef>
                <a:spcPts val="95"/>
              </a:spcBef>
            </a:pPr>
            <a:r>
              <a:rPr sz="1050" spc="-10" dirty="0">
                <a:latin typeface="Cambria"/>
                <a:cs typeface="Cambria"/>
              </a:rPr>
              <a:t>Structure</a:t>
            </a:r>
            <a:r>
              <a:rPr sz="1050" spc="-30" dirty="0">
                <a:latin typeface="Cambria"/>
                <a:cs typeface="Cambria"/>
              </a:rPr>
              <a:t> </a:t>
            </a:r>
            <a:r>
              <a:rPr sz="1050" spc="-50" dirty="0">
                <a:solidFill>
                  <a:srgbClr val="0C0C0C"/>
                </a:solidFill>
                <a:latin typeface="Cambria"/>
                <a:cs typeface="Cambria"/>
              </a:rPr>
              <a:t>d</a:t>
            </a:r>
            <a:r>
              <a:rPr sz="10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050" dirty="0">
                <a:latin typeface="Cambria"/>
                <a:cs typeface="Cambria"/>
              </a:rPr>
              <a:t>lnfras</a:t>
            </a:r>
            <a:r>
              <a:rPr sz="1050" spc="-50" dirty="0">
                <a:latin typeface="Cambria"/>
                <a:cs typeface="Cambria"/>
              </a:rPr>
              <a:t> </a:t>
            </a:r>
            <a:r>
              <a:rPr sz="1050" spc="-40" dirty="0">
                <a:solidFill>
                  <a:srgbClr val="0C0C0C"/>
                </a:solidFill>
                <a:latin typeface="Cambria"/>
                <a:cs typeface="Cambria"/>
              </a:rPr>
              <a:t>truc </a:t>
            </a:r>
            <a:r>
              <a:rPr sz="1050" spc="-30" dirty="0">
                <a:latin typeface="Cambria"/>
                <a:cs typeface="Cambria"/>
              </a:rPr>
              <a:t>tures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62116" y="4578349"/>
            <a:ext cx="1007110" cy="38671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9525">
              <a:lnSpc>
                <a:spcPct val="103899"/>
              </a:lnSpc>
              <a:spcBef>
                <a:spcPts val="65"/>
              </a:spcBef>
            </a:pPr>
            <a:r>
              <a:rPr sz="1150" dirty="0">
                <a:latin typeface="Times New Roman"/>
                <a:cs typeface="Times New Roman"/>
              </a:rPr>
              <a:t>Chord,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161616"/>
                </a:solidFill>
                <a:latin typeface="Times New Roman"/>
                <a:cs typeface="Times New Roman"/>
              </a:rPr>
              <a:t>CAN, </a:t>
            </a:r>
            <a:r>
              <a:rPr sz="1150" dirty="0">
                <a:latin typeface="Times New Roman"/>
                <a:cs typeface="Times New Roman"/>
              </a:rPr>
              <a:t>Tapestry,</a:t>
            </a:r>
            <a:r>
              <a:rPr sz="1150" spc="1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Pastry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2653" y="5493507"/>
            <a:ext cx="650240" cy="39370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50" spc="-10" dirty="0">
                <a:latin typeface="Times New Roman"/>
                <a:cs typeface="Times New Roman"/>
              </a:rPr>
              <a:t>Structure</a:t>
            </a:r>
            <a:r>
              <a:rPr sz="1150" spc="-65" dirty="0">
                <a:latin typeface="Times New Roman"/>
                <a:cs typeface="Times New Roman"/>
              </a:rPr>
              <a:t> </a:t>
            </a:r>
            <a:r>
              <a:rPr sz="1150" spc="-50" dirty="0">
                <a:solidFill>
                  <a:srgbClr val="4F4F4F"/>
                </a:solidFill>
                <a:latin typeface="Times New Roman"/>
                <a:cs typeface="Times New Roman"/>
              </a:rPr>
              <a:t>d</a:t>
            </a:r>
            <a:endParaRPr sz="11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z="1050" spc="-10" dirty="0">
                <a:latin typeface="Times New Roman"/>
                <a:cs typeface="Times New Roman"/>
              </a:rPr>
              <a:t>Systems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56991" y="5223614"/>
            <a:ext cx="812165" cy="9448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11430">
              <a:lnSpc>
                <a:spcPct val="107100"/>
              </a:lnSpc>
              <a:spcBef>
                <a:spcPts val="200"/>
              </a:spcBef>
            </a:pPr>
            <a:r>
              <a:rPr sz="1100" spc="-10" dirty="0">
                <a:solidFill>
                  <a:srgbClr val="111111"/>
                </a:solidFill>
                <a:latin typeface="Cambria"/>
                <a:cs typeface="Cambria"/>
              </a:rPr>
              <a:t>OceanStore, </a:t>
            </a:r>
            <a:r>
              <a:rPr sz="1000" spc="85" dirty="0">
                <a:latin typeface="Cambria"/>
                <a:cs typeface="Cambria"/>
              </a:rPr>
              <a:t>Mnem</a:t>
            </a:r>
            <a:r>
              <a:rPr sz="1000" spc="-90" dirty="0">
                <a:latin typeface="Cambria"/>
                <a:cs typeface="Cambria"/>
              </a:rPr>
              <a:t> </a:t>
            </a:r>
            <a:r>
              <a:rPr sz="1000" dirty="0">
                <a:latin typeface="Cambria"/>
                <a:cs typeface="Cambria"/>
              </a:rPr>
              <a:t>os</a:t>
            </a:r>
            <a:r>
              <a:rPr sz="1000" spc="-110" dirty="0">
                <a:latin typeface="Cambria"/>
                <a:cs typeface="Cambria"/>
              </a:rPr>
              <a:t> </a:t>
            </a:r>
            <a:r>
              <a:rPr sz="1000" spc="-20" dirty="0">
                <a:latin typeface="Cambria"/>
                <a:cs typeface="Cambria"/>
              </a:rPr>
              <a:t>yne, </a:t>
            </a:r>
            <a:r>
              <a:rPr sz="1200" spc="-25" dirty="0">
                <a:latin typeface="Cambria"/>
                <a:cs typeface="Cambria"/>
              </a:rPr>
              <a:t>Scan, </a:t>
            </a:r>
            <a:r>
              <a:rPr sz="1200" spc="-10" dirty="0">
                <a:solidFill>
                  <a:srgbClr val="0F0F0F"/>
                </a:solidFill>
                <a:latin typeface="Cambria"/>
                <a:cs typeface="Cambria"/>
              </a:rPr>
              <a:t>PAST, </a:t>
            </a:r>
            <a:r>
              <a:rPr sz="1100" i="1" spc="50" dirty="0">
                <a:solidFill>
                  <a:srgbClr val="2B2B2B"/>
                </a:solidFill>
                <a:latin typeface="Cambria"/>
                <a:cs typeface="Cambria"/>
              </a:rPr>
              <a:t>Y</a:t>
            </a:r>
            <a:r>
              <a:rPr sz="1100" i="1" spc="155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1100" spc="-45" dirty="0">
                <a:solidFill>
                  <a:srgbClr val="131313"/>
                </a:solidFill>
                <a:latin typeface="Cambria"/>
                <a:cs typeface="Cambria"/>
              </a:rPr>
              <a:t>ademli</a:t>
            </a:r>
            <a:r>
              <a:rPr sz="1100" spc="-8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100" spc="-25" dirty="0">
                <a:solidFill>
                  <a:srgbClr val="1A1A1A"/>
                </a:solidFill>
                <a:latin typeface="Cambria"/>
                <a:cs typeface="Cambria"/>
              </a:rPr>
              <a:t>a, </a:t>
            </a:r>
            <a:r>
              <a:rPr sz="1150" spc="-10" dirty="0">
                <a:latin typeface="Cambria"/>
                <a:cs typeface="Cambria"/>
              </a:rPr>
              <a:t>Tarzan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237" y="1685925"/>
            <a:ext cx="7708106" cy="5000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596" y="5822156"/>
            <a:ext cx="8747522" cy="51792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0500" y="217883"/>
            <a:ext cx="8813800" cy="5696585"/>
            <a:chOff x="190500" y="217883"/>
            <a:chExt cx="8813800" cy="56965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53" y="217883"/>
              <a:ext cx="8765381" cy="539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988" y="645914"/>
              <a:ext cx="0" cy="5248275"/>
            </a:xfrm>
            <a:custGeom>
              <a:avLst/>
              <a:gdLst/>
              <a:ahLst/>
              <a:cxnLst/>
              <a:rect l="l" t="t" r="r" b="b"/>
              <a:pathLst>
                <a:path h="5248275">
                  <a:moveTo>
                    <a:pt x="0" y="52476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75824" y="628054"/>
              <a:ext cx="0" cy="5286375"/>
            </a:xfrm>
            <a:custGeom>
              <a:avLst/>
              <a:gdLst/>
              <a:ahLst/>
              <a:cxnLst/>
              <a:rect l="l" t="t" r="r" b="b"/>
              <a:pathLst>
                <a:path h="5286375">
                  <a:moveTo>
                    <a:pt x="0" y="52863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90707" y="684608"/>
              <a:ext cx="0" cy="5173345"/>
            </a:xfrm>
            <a:custGeom>
              <a:avLst/>
              <a:gdLst/>
              <a:ahLst/>
              <a:cxnLst/>
              <a:rect l="l" t="t" r="r" b="b"/>
              <a:pathLst>
                <a:path h="5173345">
                  <a:moveTo>
                    <a:pt x="0" y="51732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02613" y="729258"/>
              <a:ext cx="0" cy="5084445"/>
            </a:xfrm>
            <a:custGeom>
              <a:avLst/>
              <a:gdLst/>
              <a:ahLst/>
              <a:cxnLst/>
              <a:rect l="l" t="t" r="r" b="b"/>
              <a:pathLst>
                <a:path h="5084445">
                  <a:moveTo>
                    <a:pt x="0" y="50839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67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1581" y="3614737"/>
              <a:ext cx="6447235" cy="1821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65206" y="4393406"/>
              <a:ext cx="835818" cy="1607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8009" y="3136106"/>
              <a:ext cx="6257925" cy="1714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8009" y="4111227"/>
              <a:ext cx="6086475" cy="17502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4437" y="4361258"/>
              <a:ext cx="5957887" cy="192881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472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3450" spc="235" dirty="0">
                <a:solidFill>
                  <a:srgbClr val="346667"/>
                </a:solidFill>
                <a:latin typeface="Arial"/>
                <a:cs typeface="Arial"/>
              </a:rPr>
              <a:t>References</a:t>
            </a:r>
            <a:endParaRPr sz="3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4250" y="1907925"/>
            <a:ext cx="7053580" cy="359219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4604" marR="723900">
              <a:lnSpc>
                <a:spcPts val="1739"/>
              </a:lnSpc>
              <a:spcBef>
                <a:spcPts val="320"/>
              </a:spcBef>
              <a:tabLst>
                <a:tab pos="1083945" algn="l"/>
              </a:tabLst>
            </a:pPr>
            <a:r>
              <a:rPr sz="1600" dirty="0">
                <a:latin typeface="Arial"/>
                <a:cs typeface="Arial"/>
              </a:rPr>
              <a:t>B.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Pourebrahimi,</a:t>
            </a:r>
            <a:r>
              <a:rPr sz="1600" spc="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K.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bertels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S.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Vassiliadis.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110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survey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Peer-</a:t>
            </a:r>
            <a:r>
              <a:rPr sz="1600" spc="-10" dirty="0">
                <a:latin typeface="Arial"/>
                <a:cs typeface="Arial"/>
              </a:rPr>
              <a:t>toPeer Networks,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A5C33F"/>
                </a:solidFill>
                <a:latin typeface="Arial"/>
                <a:cs typeface="Arial"/>
              </a:rPr>
              <a:t>!‹t</a:t>
            </a:r>
            <a:endParaRPr sz="1600">
              <a:latin typeface="Arial"/>
              <a:cs typeface="Arial"/>
            </a:endParaRPr>
          </a:p>
          <a:p>
            <a:pPr marL="14604" marR="434340" indent="-1270">
              <a:lnSpc>
                <a:spcPts val="1739"/>
              </a:lnSpc>
              <a:spcBef>
                <a:spcPts val="345"/>
              </a:spcBef>
            </a:pPr>
            <a:r>
              <a:rPr sz="1650" dirty="0">
                <a:latin typeface="Arial"/>
                <a:cs typeface="Arial"/>
              </a:rPr>
              <a:t>Ion</a:t>
            </a:r>
            <a:r>
              <a:rPr sz="1650" spc="-100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Stoica,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Robert</a:t>
            </a:r>
            <a:r>
              <a:rPr sz="1650" spc="-20" dirty="0">
                <a:latin typeface="Arial"/>
                <a:cs typeface="Arial"/>
              </a:rPr>
              <a:t> morris,</a:t>
            </a:r>
            <a:r>
              <a:rPr sz="1650" spc="-6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david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40" dirty="0">
                <a:latin typeface="Arial"/>
                <a:cs typeface="Arial"/>
              </a:rPr>
              <a:t>Karger,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M.</a:t>
            </a:r>
            <a:r>
              <a:rPr sz="1650" spc="-90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Frans</a:t>
            </a:r>
            <a:r>
              <a:rPr sz="1650" spc="-70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Kaashoek</a:t>
            </a:r>
            <a:r>
              <a:rPr sz="1650" spc="1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and</a:t>
            </a:r>
            <a:r>
              <a:rPr sz="1650" spc="-10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Hari </a:t>
            </a:r>
            <a:r>
              <a:rPr sz="1650" spc="-40" dirty="0">
                <a:latin typeface="Arial"/>
                <a:cs typeface="Arial"/>
              </a:rPr>
              <a:t>Balakrishnan.</a:t>
            </a:r>
            <a:r>
              <a:rPr sz="1650" spc="-30" dirty="0">
                <a:latin typeface="Arial"/>
                <a:cs typeface="Arial"/>
              </a:rPr>
              <a:t> Chord:</a:t>
            </a:r>
            <a:r>
              <a:rPr sz="1650" spc="-85" dirty="0">
                <a:latin typeface="Arial"/>
                <a:cs typeface="Arial"/>
              </a:rPr>
              <a:t> </a:t>
            </a:r>
            <a:r>
              <a:rPr sz="1650" spc="-160" dirty="0">
                <a:latin typeface="Arial"/>
                <a:cs typeface="Arial"/>
              </a:rPr>
              <a:t>A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Scalable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spc="-55" dirty="0">
                <a:latin typeface="Arial"/>
                <a:cs typeface="Arial"/>
              </a:rPr>
              <a:t>Peer-</a:t>
            </a:r>
            <a:r>
              <a:rPr sz="1650" spc="-45" dirty="0">
                <a:latin typeface="Arial"/>
                <a:cs typeface="Arial"/>
              </a:rPr>
              <a:t>to-</a:t>
            </a:r>
            <a:r>
              <a:rPr sz="1650" dirty="0">
                <a:latin typeface="Arial"/>
                <a:cs typeface="Arial"/>
              </a:rPr>
              <a:t>Peer</a:t>
            </a:r>
            <a:r>
              <a:rPr sz="1650" spc="60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Lookup</a:t>
            </a:r>
            <a:r>
              <a:rPr sz="1650" spc="-5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Service</a:t>
            </a:r>
            <a:r>
              <a:rPr sz="1650" spc="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for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Internet Applications,</a:t>
            </a:r>
            <a:endParaRPr sz="16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830"/>
              </a:spcBef>
            </a:pPr>
            <a:r>
              <a:rPr sz="1650" spc="-25" dirty="0">
                <a:latin typeface="Arial"/>
                <a:cs typeface="Arial"/>
              </a:rPr>
              <a:t>Ismail</a:t>
            </a:r>
            <a:r>
              <a:rPr sz="1650" spc="-95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Guvenc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and</a:t>
            </a:r>
            <a:r>
              <a:rPr sz="1650" spc="-110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Juan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Jose</a:t>
            </a:r>
            <a:r>
              <a:rPr sz="1650" spc="-75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Urdaneta.</a:t>
            </a:r>
            <a:r>
              <a:rPr sz="1650" spc="65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Peer</a:t>
            </a:r>
            <a:r>
              <a:rPr sz="1650" spc="-2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to</a:t>
            </a:r>
            <a:r>
              <a:rPr sz="1650" spc="-60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Peer</a:t>
            </a:r>
            <a:r>
              <a:rPr sz="165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File</a:t>
            </a:r>
            <a:r>
              <a:rPr sz="1650" spc="-70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Sharing:</a:t>
            </a:r>
            <a:r>
              <a:rPr sz="1650" spc="-80" dirty="0">
                <a:latin typeface="Arial"/>
                <a:cs typeface="Arial"/>
              </a:rPr>
              <a:t> </a:t>
            </a:r>
            <a:r>
              <a:rPr sz="1650" spc="-160" dirty="0">
                <a:latin typeface="Arial"/>
                <a:cs typeface="Arial"/>
              </a:rPr>
              <a:t>A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Survey,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Nelson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Mina.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Distributed</a:t>
            </a:r>
            <a:r>
              <a:rPr sz="1600" dirty="0">
                <a:latin typeface="Arial"/>
                <a:cs typeface="Arial"/>
              </a:rPr>
              <a:t> Systems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Topologies: </a:t>
            </a:r>
            <a:r>
              <a:rPr sz="1600" dirty="0">
                <a:latin typeface="Arial"/>
                <a:cs typeface="Arial"/>
              </a:rPr>
              <a:t>Part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1,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6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tabLst>
                <a:tab pos="532765" algn="l"/>
              </a:tabLst>
            </a:pPr>
            <a:r>
              <a:rPr sz="1700" spc="-235" dirty="0">
                <a:solidFill>
                  <a:srgbClr val="A7C441"/>
                </a:solidFill>
                <a:latin typeface="Arial"/>
                <a:cs typeface="Arial"/>
              </a:rPr>
              <a:t>’-</a:t>
            </a:r>
            <a:r>
              <a:rPr sz="1700" dirty="0">
                <a:solidFill>
                  <a:srgbClr val="A7C441"/>
                </a:solidFill>
                <a:latin typeface="Arial"/>
                <a:cs typeface="Arial"/>
              </a:rPr>
              <a:t>.</a:t>
            </a:r>
            <a:r>
              <a:rPr sz="1700" spc="-20" dirty="0">
                <a:solidFill>
                  <a:srgbClr val="A7C441"/>
                </a:solidFill>
                <a:latin typeface="Arial"/>
                <a:cs typeface="Arial"/>
              </a:rPr>
              <a:t> </a:t>
            </a:r>
            <a:r>
              <a:rPr sz="1700" spc="-285" dirty="0">
                <a:solidFill>
                  <a:srgbClr val="97B828"/>
                </a:solidFill>
                <a:latin typeface="Arial"/>
                <a:cs typeface="Arial"/>
              </a:rPr>
              <a:t>•.</a:t>
            </a:r>
            <a:r>
              <a:rPr sz="1700" spc="-155" dirty="0">
                <a:solidFill>
                  <a:srgbClr val="97B828"/>
                </a:solidFill>
                <a:latin typeface="Arial"/>
                <a:cs typeface="Arial"/>
              </a:rPr>
              <a:t> </a:t>
            </a:r>
            <a:r>
              <a:rPr sz="1700" spc="-350" dirty="0">
                <a:solidFill>
                  <a:srgbClr val="A3C13B"/>
                </a:solidFill>
                <a:latin typeface="Arial"/>
                <a:cs typeface="Arial"/>
              </a:rPr>
              <a:t>’</a:t>
            </a:r>
            <a:r>
              <a:rPr sz="1700" dirty="0">
                <a:solidFill>
                  <a:srgbClr val="A3C13B"/>
                </a:solidFill>
                <a:latin typeface="Arial"/>
                <a:cs typeface="Arial"/>
              </a:rPr>
              <a:t>	</a:t>
            </a:r>
            <a:r>
              <a:rPr sz="1700" dirty="0">
                <a:solidFill>
                  <a:srgbClr val="9EC131"/>
                </a:solidFill>
                <a:latin typeface="Arial"/>
                <a:cs typeface="Arial"/>
              </a:rPr>
              <a:t>!','”</a:t>
            </a:r>
            <a:r>
              <a:rPr sz="1700" spc="-50" dirty="0">
                <a:solidFill>
                  <a:srgbClr val="9EC131"/>
                </a:solidFill>
                <a:latin typeface="Arial"/>
                <a:cs typeface="Arial"/>
              </a:rPr>
              <a:t> </a:t>
            </a:r>
            <a:r>
              <a:rPr sz="1700" spc="-409" dirty="0">
                <a:solidFill>
                  <a:srgbClr val="9ABC31"/>
                </a:solidFill>
                <a:latin typeface="Arial"/>
                <a:cs typeface="Arial"/>
              </a:rPr>
              <a:t>ñ.</a:t>
            </a:r>
            <a:r>
              <a:rPr sz="1700" spc="-20" dirty="0">
                <a:solidFill>
                  <a:srgbClr val="9ABC31"/>
                </a:solidFill>
                <a:latin typeface="Arial"/>
                <a:cs typeface="Arial"/>
              </a:rPr>
              <a:t> </a:t>
            </a:r>
            <a:r>
              <a:rPr sz="1700" spc="-1130" dirty="0">
                <a:solidFill>
                  <a:srgbClr val="ACC34D"/>
                </a:solidFill>
                <a:latin typeface="Arial"/>
                <a:cs typeface="Arial"/>
              </a:rPr>
              <a:t>—</a:t>
            </a:r>
            <a:r>
              <a:rPr sz="1700" dirty="0">
                <a:solidFill>
                  <a:srgbClr val="99BF33"/>
                </a:solidFill>
                <a:latin typeface="Arial"/>
                <a:cs typeface="Arial"/>
              </a:rPr>
              <a:t>|</a:t>
            </a:r>
            <a:r>
              <a:rPr sz="1700" spc="-315" dirty="0">
                <a:solidFill>
                  <a:srgbClr val="99BF33"/>
                </a:solidFill>
                <a:latin typeface="Arial"/>
                <a:cs typeface="Arial"/>
              </a:rPr>
              <a:t> </a:t>
            </a:r>
            <a:r>
              <a:rPr sz="1700" spc="-525" dirty="0">
                <a:solidFill>
                  <a:srgbClr val="95BC23"/>
                </a:solidFill>
                <a:latin typeface="Arial"/>
                <a:cs typeface="Arial"/>
              </a:rPr>
              <a:t>e'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86100"/>
              </a:lnSpc>
              <a:spcBef>
                <a:spcPts val="720"/>
              </a:spcBef>
            </a:pPr>
            <a:r>
              <a:rPr sz="1700" spc="-70" dirty="0">
                <a:latin typeface="Arial"/>
                <a:cs typeface="Arial"/>
              </a:rPr>
              <a:t>Stephanos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Androutsellis-</a:t>
            </a:r>
            <a:r>
              <a:rPr sz="1700" spc="-50" dirty="0">
                <a:latin typeface="Arial"/>
                <a:cs typeface="Arial"/>
              </a:rPr>
              <a:t>Theotokis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and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Diomidis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Spinellis.</a:t>
            </a:r>
            <a:r>
              <a:rPr sz="1700" spc="100" dirty="0">
                <a:latin typeface="Arial"/>
                <a:cs typeface="Arial"/>
              </a:rPr>
              <a:t> </a:t>
            </a:r>
            <a:r>
              <a:rPr sz="1700" spc="-240" dirty="0">
                <a:solidFill>
                  <a:srgbClr val="345283"/>
                </a:solidFill>
                <a:latin typeface="Arial"/>
                <a:cs typeface="Arial"/>
              </a:rPr>
              <a:t>A</a:t>
            </a:r>
            <a:r>
              <a:rPr sz="1700" spc="5" dirty="0">
                <a:solidFill>
                  <a:srgbClr val="345283"/>
                </a:solidFill>
                <a:latin typeface="Arial"/>
                <a:cs typeface="Arial"/>
              </a:rPr>
              <a:t> </a:t>
            </a:r>
            <a:r>
              <a:rPr sz="1700" spc="-55" dirty="0">
                <a:solidFill>
                  <a:srgbClr val="2D3F5D"/>
                </a:solidFill>
                <a:latin typeface="Arial"/>
                <a:cs typeface="Arial"/>
              </a:rPr>
              <a:t>survey</a:t>
            </a:r>
            <a:r>
              <a:rPr sz="1700" spc="50" dirty="0">
                <a:solidFill>
                  <a:srgbClr val="2D3F5D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2F4864"/>
                </a:solidFill>
                <a:latin typeface="Arial"/>
                <a:cs typeface="Arial"/>
              </a:rPr>
              <a:t>of</a:t>
            </a:r>
            <a:r>
              <a:rPr sz="1700" dirty="0">
                <a:solidFill>
                  <a:srgbClr val="2F4864"/>
                </a:solidFill>
                <a:latin typeface="Arial"/>
                <a:cs typeface="Arial"/>
              </a:rPr>
              <a:t> </a:t>
            </a:r>
            <a:r>
              <a:rPr sz="1700" spc="-80" dirty="0">
                <a:solidFill>
                  <a:srgbClr val="798090"/>
                </a:solidFill>
                <a:latin typeface="Arial"/>
                <a:cs typeface="Arial"/>
              </a:rPr>
              <a:t>peer-</a:t>
            </a:r>
            <a:r>
              <a:rPr sz="1700" spc="-25" dirty="0">
                <a:solidFill>
                  <a:srgbClr val="798090"/>
                </a:solidFill>
                <a:latin typeface="Arial"/>
                <a:cs typeface="Arial"/>
              </a:rPr>
              <a:t>to-</a:t>
            </a:r>
            <a:r>
              <a:rPr sz="1650" spc="-10" dirty="0">
                <a:solidFill>
                  <a:srgbClr val="1F3B74"/>
                </a:solidFill>
                <a:latin typeface="Arial"/>
                <a:cs typeface="Arial"/>
              </a:rPr>
              <a:t>peer</a:t>
            </a:r>
            <a:r>
              <a:rPr sz="1650" spc="-75" dirty="0">
                <a:solidFill>
                  <a:srgbClr val="1F3B74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364669"/>
                </a:solidFill>
                <a:latin typeface="Arial"/>
                <a:cs typeface="Arial"/>
              </a:rPr>
              <a:t>content </a:t>
            </a:r>
            <a:r>
              <a:rPr sz="1650" spc="-35" dirty="0">
                <a:solidFill>
                  <a:srgbClr val="233B79"/>
                </a:solidFill>
                <a:latin typeface="Arial"/>
                <a:cs typeface="Arial"/>
              </a:rPr>
              <a:t>distribution </a:t>
            </a:r>
            <a:r>
              <a:rPr sz="1650" spc="-35" dirty="0">
                <a:latin typeface="Arial"/>
                <a:cs typeface="Arial"/>
              </a:rPr>
              <a:t>technologies. </a:t>
            </a:r>
            <a:r>
              <a:rPr sz="1650" spc="-65" dirty="0">
                <a:latin typeface="Arial"/>
                <a:cs typeface="Arial"/>
              </a:rPr>
              <a:t>ACM</a:t>
            </a:r>
            <a:r>
              <a:rPr sz="1650" spc="-55" dirty="0">
                <a:latin typeface="Arial"/>
                <a:cs typeface="Arial"/>
              </a:rPr>
              <a:t> </a:t>
            </a:r>
            <a:r>
              <a:rPr sz="1650" spc="-35" dirty="0">
                <a:latin typeface="Arial"/>
                <a:cs typeface="Arial"/>
              </a:rPr>
              <a:t>Computing Surveys, </a:t>
            </a:r>
            <a:r>
              <a:rPr sz="1650" spc="-10" dirty="0">
                <a:latin typeface="Arial"/>
                <a:cs typeface="Arial"/>
              </a:rPr>
              <a:t>36(4):335—</a:t>
            </a:r>
            <a:r>
              <a:rPr sz="1700" spc="-50" dirty="0">
                <a:latin typeface="Arial"/>
                <a:cs typeface="Arial"/>
              </a:rPr>
              <a:t>371, </a:t>
            </a:r>
            <a:r>
              <a:rPr sz="1700" spc="-70" dirty="0">
                <a:latin typeface="Arial"/>
                <a:cs typeface="Arial"/>
              </a:rPr>
              <a:t>December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2004.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dirty="0"/>
              <a:t>CMSC</a:t>
            </a:r>
            <a:r>
              <a:rPr spc="5" dirty="0"/>
              <a:t> </a:t>
            </a:r>
            <a:r>
              <a:rPr dirty="0"/>
              <a:t>621,</a:t>
            </a:r>
            <a:r>
              <a:rPr spc="-60" dirty="0"/>
              <a:t> </a:t>
            </a:r>
            <a:r>
              <a:rPr dirty="0"/>
              <a:t>Fall</a:t>
            </a:r>
            <a:r>
              <a:rPr spc="-5" dirty="0"/>
              <a:t> </a:t>
            </a:r>
            <a:r>
              <a:rPr spc="-20" dirty="0"/>
              <a:t>2007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773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10"/>
              </a:spcBef>
            </a:pPr>
            <a:r>
              <a:rPr spc="-340" dirty="0"/>
              <a:t>Questions?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5103" y="6412805"/>
            <a:ext cx="172148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175" dirty="0">
                <a:latin typeface="Arial Black"/>
                <a:cs typeface="Arial Black"/>
              </a:rPr>
              <a:t>CMSC</a:t>
            </a:r>
            <a:r>
              <a:rPr sz="1450" spc="50" dirty="0">
                <a:latin typeface="Arial Black"/>
                <a:cs typeface="Arial Black"/>
              </a:rPr>
              <a:t> </a:t>
            </a:r>
            <a:r>
              <a:rPr sz="1450" spc="-185" dirty="0">
                <a:latin typeface="Arial Black"/>
                <a:cs typeface="Arial Black"/>
              </a:rPr>
              <a:t>621,</a:t>
            </a:r>
            <a:r>
              <a:rPr sz="1450" spc="10" dirty="0">
                <a:latin typeface="Arial Black"/>
                <a:cs typeface="Arial Black"/>
              </a:rPr>
              <a:t> </a:t>
            </a:r>
            <a:r>
              <a:rPr sz="1450" spc="-190" dirty="0">
                <a:latin typeface="Arial Black"/>
                <a:cs typeface="Arial Black"/>
              </a:rPr>
              <a:t>Fall</a:t>
            </a:r>
            <a:r>
              <a:rPr sz="1450" spc="-25" dirty="0">
                <a:latin typeface="Arial Black"/>
                <a:cs typeface="Arial Black"/>
              </a:rPr>
              <a:t> </a:t>
            </a:r>
            <a:r>
              <a:rPr sz="1450" spc="-180" dirty="0">
                <a:latin typeface="Arial Black"/>
                <a:cs typeface="Arial Black"/>
              </a:rPr>
              <a:t>2007</a:t>
            </a:r>
            <a:endParaRPr sz="1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2362</Words>
  <Application>Microsoft Office PowerPoint</Application>
  <PresentationFormat>全屏显示(4:3)</PresentationFormat>
  <Paragraphs>293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Arial</vt:lpstr>
      <vt:lpstr>Arial Black</vt:lpstr>
      <vt:lpstr>Cambria</vt:lpstr>
      <vt:lpstr>Comic Sans MS</vt:lpstr>
      <vt:lpstr>Consolas</vt:lpstr>
      <vt:lpstr>Courier New</vt:lpstr>
      <vt:lpstr>Symbol</vt:lpstr>
      <vt:lpstr>Times New Roman</vt:lpstr>
      <vt:lpstr>Wingdings</vt:lpstr>
      <vt:lpstr>Office Theme</vt:lpstr>
      <vt:lpstr>PowerPoint 演示文稿</vt:lpstr>
      <vt:lpstr>Outline</vt:lpstr>
      <vt:lpstr>What is P2P Network?</vt:lpstr>
      <vt:lpstr>P2P Network</vt:lpstr>
      <vt:lpstr>P2P Architecture</vt:lpstr>
      <vt:lpstr>Purely Decentralized Architectures</vt:lpstr>
      <vt:lpstr>Gnutella : Pure Decentralized System</vt:lpstr>
      <vt:lpstr>Advantages and Disadvantages of Purely Decentralized Systems</vt:lpstr>
      <vt:lpstr>Hybrid Decentralized Architectures</vt:lpstr>
      <vt:lpstr>Hybrid Decentralized Architectures</vt:lpstr>
      <vt:lpstr>Napster</vt:lpstr>
      <vt:lpstr>Napster: How it works?(1)</vt:lpstr>
      <vt:lpstr>Napster: How it works?(2)</vt:lpstr>
      <vt:lpstr>Napster: How it works?(3)</vt:lpstr>
      <vt:lpstr>Napster: How it works?(4)</vt:lpstr>
      <vt:lpstr>Advantages and Disadvantages of Hybrid Decentralized Systems</vt:lpstr>
      <vt:lpstr>Partially Centralized Architectures</vt:lpstr>
      <vt:lpstr>Partially Centralized Systems</vt:lpstr>
      <vt:lpstr>Advantages of Partially</vt:lpstr>
      <vt:lpstr>Discovery Mechanisms for P2P systems</vt:lpstr>
      <vt:lpstr>Centralized Indezres and Repositories</vt:lpstr>
      <vt:lpstr>Flooding broadcast of queries</vt:lpstr>
      <vt:lpstr>Problems of Flooding</vt:lpstr>
      <vt:lpstr>Routing Model</vt:lpstr>
      <vt:lpstr>Chord</vt:lpstr>
      <vt:lpstr>Chord: Lookup Mechanism</vt:lpstr>
      <vt:lpstr>Freenet</vt:lpstr>
      <vt:lpstr>Pastry</vt:lpstr>
      <vt:lpstr>CAN (Content Addressable Network)</vt:lpstr>
      <vt:lpstr>Tapestry</vt:lpstr>
      <vt:lpstr>Tapestry Cont.</vt:lpstr>
      <vt:lpstr>When to consider unstructured P2P systems</vt:lpstr>
      <vt:lpstr>When to consider Structured P2Psystems</vt:lpstr>
      <vt:lpstr>Conclusion</vt:lpstr>
      <vt:lpstr>References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Yeh-Ching Chung</cp:lastModifiedBy>
  <cp:revision>3</cp:revision>
  <dcterms:created xsi:type="dcterms:W3CDTF">2026-09-25T23:42:17Z</dcterms:created>
  <dcterms:modified xsi:type="dcterms:W3CDTF">2026-09-26T08:12:56Z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2026-09-25T00:00:00Z</vt:filetime>
  </property>
  <property fmtid="{D5CDD505-2E9C-101B-9397-08002B2CF9AE}" pid="4" name="LastSaved">
    <vt:filetime>2026-09-25T00:00:00Z</vt:filetime>
  </property>
  <property fmtid="{D5CDD505-2E9C-101B-9397-08002B2CF9AE}" pid="5" name="Producer">
    <vt:lpwstr>jsPDF 1.3.2 2016-09-30T20:33:17.116Z:jameshall</vt:lpwstr>
  </property>
</Properties>
</file>