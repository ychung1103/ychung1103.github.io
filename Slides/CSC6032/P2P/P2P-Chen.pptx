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media/image5.jpg" ContentType="image/jpg"/>
  <Override PartName="/ppt/notesSlides/notesSlide1.xml" ContentType="application/vnd.openxmlformats-officedocument.presentationml.notesSlide+xml"/>
  <Override PartName="/ppt/media/image12.jpg" ContentType="image/jpg"/>
  <Override PartName="/ppt/media/image14.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handoutMasterIdLst>
    <p:handoutMasterId r:id="rId41"/>
  </p:handoutMasterIdLst>
  <p:sldIdLst>
    <p:sldId id="256" r:id="rId2"/>
    <p:sldId id="257" r:id="rId3"/>
    <p:sldId id="322" r:id="rId4"/>
    <p:sldId id="258" r:id="rId5"/>
    <p:sldId id="260" r:id="rId6"/>
    <p:sldId id="293" r:id="rId7"/>
    <p:sldId id="294" r:id="rId8"/>
    <p:sldId id="295" r:id="rId9"/>
    <p:sldId id="296" r:id="rId10"/>
    <p:sldId id="297" r:id="rId11"/>
    <p:sldId id="302" r:id="rId12"/>
    <p:sldId id="298" r:id="rId13"/>
    <p:sldId id="299" r:id="rId14"/>
    <p:sldId id="300" r:id="rId15"/>
    <p:sldId id="301" r:id="rId16"/>
    <p:sldId id="309" r:id="rId17"/>
    <p:sldId id="303" r:id="rId18"/>
    <p:sldId id="274" r:id="rId19"/>
    <p:sldId id="304" r:id="rId20"/>
    <p:sldId id="305" r:id="rId21"/>
    <p:sldId id="307" r:id="rId22"/>
    <p:sldId id="308" r:id="rId23"/>
    <p:sldId id="279" r:id="rId24"/>
    <p:sldId id="280" r:id="rId25"/>
    <p:sldId id="310" r:id="rId26"/>
    <p:sldId id="311" r:id="rId27"/>
    <p:sldId id="283" r:id="rId28"/>
    <p:sldId id="312" r:id="rId29"/>
    <p:sldId id="285" r:id="rId30"/>
    <p:sldId id="313" r:id="rId31"/>
    <p:sldId id="314" r:id="rId32"/>
    <p:sldId id="320" r:id="rId33"/>
    <p:sldId id="315" r:id="rId34"/>
    <p:sldId id="321" r:id="rId35"/>
    <p:sldId id="316" r:id="rId36"/>
    <p:sldId id="317" r:id="rId37"/>
    <p:sldId id="318" r:id="rId38"/>
    <p:sldId id="319" r:id="rId39"/>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autoAdjust="0"/>
  </p:normalViewPr>
  <p:slideViewPr>
    <p:cSldViewPr snapToGrid="0">
      <p:cViewPr>
        <p:scale>
          <a:sx n="66" d="100"/>
          <a:sy n="66" d="100"/>
        </p:scale>
        <p:origin x="1232" y="264"/>
      </p:cViewPr>
      <p:guideLst>
        <p:guide orient="horz" pos="2160"/>
        <p:guide pos="2880"/>
        <p:guide orient="horz" pos="1620"/>
      </p:guideLst>
    </p:cSldViewPr>
  </p:slideViewPr>
  <p:outlineViewPr>
    <p:cViewPr>
      <p:scale>
        <a:sx n="33" d="100"/>
        <a:sy n="33" d="100"/>
      </p:scale>
      <p:origin x="0" y="-2360"/>
    </p:cViewPr>
  </p:outlineViewPr>
  <p:notesTextViewPr>
    <p:cViewPr>
      <p:scale>
        <a:sx n="1" d="1"/>
        <a:sy n="1" d="1"/>
      </p:scale>
      <p:origin x="0" y="0"/>
    </p:cViewPr>
  </p:notesTextViewPr>
  <p:sorterViewPr>
    <p:cViewPr>
      <p:scale>
        <a:sx n="66" d="100"/>
        <a:sy n="66" d="100"/>
      </p:scale>
      <p:origin x="0" y="-1564"/>
    </p:cViewPr>
  </p:sorterViewPr>
  <p:notesViewPr>
    <p:cSldViewPr snapToGrid="0">
      <p:cViewPr varScale="1">
        <p:scale>
          <a:sx n="45" d="100"/>
          <a:sy n="45" d="100"/>
        </p:scale>
        <p:origin x="2760" y="6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2026/9/28</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2026/9/28</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86C40E4-B9C8-417B-AB00-3BF7F8038A2D}" type="slidenum">
              <a:rPr lang="zh-TW" altLang="en-US" smtClean="0"/>
              <a:pPr/>
              <a:t>18</a:t>
            </a:fld>
            <a:endParaRPr lang="zh-TW" altLang="en-US"/>
          </a:p>
        </p:txBody>
      </p:sp>
    </p:spTree>
    <p:extLst>
      <p:ext uri="{BB962C8B-B14F-4D97-AF65-F5344CB8AC3E}">
        <p14:creationId xmlns:p14="http://schemas.microsoft.com/office/powerpoint/2010/main" val="2750669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sz="2000">
                <a:latin typeface="Times New Roman" panose="02020603050405020304" pitchFamily="18" charset="0"/>
                <a:ea typeface="標楷體" pitchFamily="65" charset="-120"/>
                <a:cs typeface="Times New Roman" panose="02020603050405020304" pitchFamily="18" charset="0"/>
              </a:defRPr>
            </a:lvl3pPr>
            <a:lvl4pPr>
              <a:defRPr sz="1800">
                <a:latin typeface="Times New Roman" panose="02020603050405020304" pitchFamily="18" charset="0"/>
                <a:ea typeface="標楷體" pitchFamily="65" charset="-120"/>
                <a:cs typeface="Times New Roman" panose="02020603050405020304" pitchFamily="18" charset="0"/>
              </a:defRPr>
            </a:lvl4pPr>
            <a:lvl5pPr>
              <a:defRPr sz="1600">
                <a:latin typeface="Times New Roman" panose="02020603050405020304" pitchFamily="18" charset="0"/>
                <a:ea typeface="標楷體" pitchFamily="65" charset="-120"/>
                <a:cs typeface="Times New Roman" panose="02020603050405020304" pitchFamily="18"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3">
            <a:extLst>
              <a:ext uri="{FF2B5EF4-FFF2-40B4-BE49-F238E27FC236}">
                <a16:creationId xmlns:a16="http://schemas.microsoft.com/office/drawing/2014/main" id="{4C67FEB8-36D3-4CC5-9713-36EE82A172D2}"/>
              </a:ext>
            </a:extLst>
          </p:cNvPr>
          <p:cNvSpPr/>
          <p:nvPr userDrawn="1"/>
        </p:nvSpPr>
        <p:spPr>
          <a:xfrm>
            <a:off x="669958" y="4681829"/>
            <a:ext cx="2192188" cy="400110"/>
          </a:xfrm>
          <a:prstGeom prst="rect">
            <a:avLst/>
          </a:prstGeom>
        </p:spPr>
        <p:txBody>
          <a:bodyPr wrap="square">
            <a:spAutoFit/>
          </a:bodyPr>
          <a:lstStyle/>
          <a:p>
            <a:pPr algn="ctr">
              <a:spcAft>
                <a:spcPts val="0"/>
              </a:spcAft>
            </a:pPr>
            <a:r>
              <a:rPr lang="zh-CN"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香港中文大学（深圳）数据科学院</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CUHK-SZ School of Data Science</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Times New Roman" panose="02020603050405020304" pitchFamily="18" charset="0"/>
          <a:ea typeface="標楷體" pitchFamily="65" charset="-120"/>
          <a:cs typeface="Times New Roman" panose="02020603050405020304" pitchFamily="18" charset="0"/>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Times New Roman" panose="02020603050405020304" pitchFamily="18" charset="0"/>
          <a:ea typeface="標楷體" pitchFamily="65" charset="-120"/>
          <a:cs typeface="Times New Roman" panose="02020603050405020304" pitchFamily="18" charset="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6003" y="826534"/>
            <a:ext cx="8547653" cy="1307066"/>
          </a:xfrm>
        </p:spPr>
        <p:txBody>
          <a:bodyPr/>
          <a:lstStyle/>
          <a:p>
            <a:pPr algn="ctr"/>
            <a:r>
              <a:rPr lang="en-US" altLang="zh-TW" sz="3600" dirty="0">
                <a:effectLst>
                  <a:outerShdw blurRad="38100" dist="38100" dir="2700000" algn="tl">
                    <a:srgbClr val="000000">
                      <a:alpha val="43137"/>
                    </a:srgbClr>
                  </a:outerShdw>
                </a:effectLst>
              </a:rPr>
              <a:t>CSC</a:t>
            </a:r>
            <a:r>
              <a:rPr lang="en-US" altLang="zh-CN" sz="3600" dirty="0">
                <a:effectLst>
                  <a:outerShdw blurRad="38100" dist="38100" dir="2700000" algn="tl">
                    <a:srgbClr val="000000">
                      <a:alpha val="43137"/>
                    </a:srgbClr>
                  </a:outerShdw>
                </a:effectLst>
              </a:rPr>
              <a:t>6032</a:t>
            </a:r>
            <a:r>
              <a:rPr lang="en-US" altLang="zh-TW" sz="3600" dirty="0">
                <a:effectLst>
                  <a:outerShdw blurRad="38100" dist="38100" dir="2700000" algn="tl">
                    <a:srgbClr val="000000">
                      <a:alpha val="43137"/>
                    </a:srgbClr>
                  </a:outerShdw>
                </a:effectLst>
              </a:rPr>
              <a:t> – Advanced Operating Systems</a:t>
            </a:r>
            <a:br>
              <a:rPr lang="en-US" altLang="zh-TW" sz="3600" dirty="0">
                <a:effectLst>
                  <a:outerShdw blurRad="38100" dist="38100" dir="2700000" algn="tl">
                    <a:srgbClr val="000000">
                      <a:alpha val="43137"/>
                    </a:srgbClr>
                  </a:outerShdw>
                </a:effectLst>
              </a:rPr>
            </a:br>
            <a:r>
              <a:rPr lang="en-US" altLang="zh-CN" sz="3600" dirty="0">
                <a:effectLst>
                  <a:outerShdw blurRad="38100" dist="38100" dir="2700000" algn="tl">
                    <a:srgbClr val="000000">
                      <a:alpha val="43137"/>
                    </a:srgbClr>
                  </a:outerShdw>
                </a:effectLst>
              </a:rPr>
              <a:t>Peer-to-Peer Systems</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a:t>
            </a:r>
            <a:r>
              <a:rPr lang="en-US" altLang="zh-TW" sz="2400" dirty="0" err="1">
                <a:effectLst>
                  <a:outerShdw blurRad="38100" dist="38100" dir="2700000" algn="tl">
                    <a:srgbClr val="000000">
                      <a:alpha val="43137"/>
                    </a:srgbClr>
                  </a:outerShdw>
                </a:effectLst>
              </a:rPr>
              <a:t>Yeh-Ching</a:t>
            </a:r>
            <a:r>
              <a:rPr lang="en-US" altLang="zh-TW" sz="2400" dirty="0">
                <a:effectLst>
                  <a:outerShdw blurRad="38100" dist="38100" dir="2700000" algn="tl">
                    <a:srgbClr val="000000">
                      <a:alpha val="43137"/>
                    </a:srgbClr>
                  </a:outerShdw>
                </a:effectLst>
              </a:rPr>
              <a:t> Chung</a:t>
            </a:r>
          </a:p>
          <a:p>
            <a:endParaRPr lang="en-US" altLang="zh-TW" sz="2400" dirty="0">
              <a:effectLst>
                <a:outerShdw blurRad="38100" dist="38100" dir="2700000" algn="tl">
                  <a:srgbClr val="000000">
                    <a:alpha val="43137"/>
                  </a:srgbClr>
                </a:outerShdw>
              </a:effectLst>
            </a:endParaRPr>
          </a:p>
          <a:p>
            <a:r>
              <a:rPr lang="en-US" altLang="zh-TW" sz="2400" dirty="0"/>
              <a:t>School of </a:t>
            </a:r>
            <a:r>
              <a:rPr lang="en-US" altLang="zh-CN" sz="2400" dirty="0"/>
              <a:t>Data </a:t>
            </a:r>
            <a:r>
              <a:rPr lang="en-US" altLang="zh-TW" sz="2400" dirty="0"/>
              <a:t>Science</a:t>
            </a:r>
          </a:p>
          <a:p>
            <a:r>
              <a:rPr lang="en-US" altLang="zh-TW" sz="2400" dirty="0"/>
              <a:t>Chinese University of Hong Kong, Shenzhen</a:t>
            </a:r>
          </a:p>
        </p:txBody>
      </p:sp>
      <p:sp>
        <p:nvSpPr>
          <p:cNvPr id="4" name="灯片编号占位符 3">
            <a:extLst>
              <a:ext uri="{FF2B5EF4-FFF2-40B4-BE49-F238E27FC236}">
                <a16:creationId xmlns:a16="http://schemas.microsoft.com/office/drawing/2014/main" id="{F09A67E0-79D7-B082-6C6C-C494F5F3B5A1}"/>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1059180" y="861666"/>
            <a:ext cx="6294522" cy="2418450"/>
          </a:xfrm>
          <a:prstGeom prst="rect">
            <a:avLst/>
          </a:prstGeom>
        </p:spPr>
        <p:txBody>
          <a:bodyPr vert="horz" wrap="square" lIns="0" tIns="10001" rIns="0" bIns="0" rtlCol="0">
            <a:spAutoFit/>
          </a:bodyPr>
          <a:lstStyle/>
          <a:p>
            <a:pPr marL="300990" indent="-285750">
              <a:spcBef>
                <a:spcPts val="300"/>
              </a:spcBef>
              <a:buClr>
                <a:srgbClr val="0000FF"/>
              </a:buClr>
              <a:buFont typeface="Wingdings" panose="05000000000000000000" pitchFamily="2" charset="2"/>
              <a:buChar char="l"/>
            </a:pPr>
            <a:r>
              <a:rPr sz="2400" dirty="0">
                <a:latin typeface="Times New Roman" panose="02020603050405020304" pitchFamily="18" charset="0"/>
                <a:cs typeface="Times New Roman" panose="02020603050405020304" pitchFamily="18" charset="0"/>
              </a:rPr>
              <a:t>What is P2P Network</a:t>
            </a:r>
            <a:endParaRPr lang="en-US" sz="2400" dirty="0">
              <a:latin typeface="Times New Roman" panose="02020603050405020304" pitchFamily="18" charset="0"/>
              <a:cs typeface="Times New Roman" panose="02020603050405020304" pitchFamily="18" charset="0"/>
            </a:endParaRPr>
          </a:p>
          <a:p>
            <a:pPr marL="300990" indent="-285750">
              <a:spcBef>
                <a:spcPts val="300"/>
              </a:spcBef>
              <a:buClr>
                <a:srgbClr val="0000FF"/>
              </a:buClr>
              <a:buFont typeface="Wingdings" panose="05000000000000000000" pitchFamily="2" charset="2"/>
              <a:buChar char="l"/>
            </a:pPr>
            <a:r>
              <a:rPr lang="en-US" sz="2400" dirty="0">
                <a:latin typeface="Times New Roman" panose="02020603050405020304" pitchFamily="18" charset="0"/>
                <a:cs typeface="Times New Roman" panose="02020603050405020304" pitchFamily="18" charset="0"/>
              </a:rPr>
              <a:t>Overlay Network Centralization</a:t>
            </a:r>
          </a:p>
          <a:p>
            <a:pPr marL="300990" indent="-285750">
              <a:spcBef>
                <a:spcPts val="300"/>
              </a:spcBef>
              <a:buClr>
                <a:srgbClr val="0000FF"/>
              </a:buClr>
              <a:buFont typeface="Wingdings" panose="05000000000000000000" pitchFamily="2" charset="2"/>
              <a:buChar char="l"/>
            </a:pPr>
            <a:r>
              <a:rPr lang="en-US" sz="2400" dirty="0">
                <a:latin typeface="Times New Roman" panose="02020603050405020304" pitchFamily="18" charset="0"/>
                <a:cs typeface="Times New Roman" panose="02020603050405020304" pitchFamily="18" charset="0"/>
              </a:rPr>
              <a:t>Network Structure</a:t>
            </a:r>
          </a:p>
          <a:p>
            <a:pPr marL="300990" indent="-285750">
              <a:spcBef>
                <a:spcPts val="300"/>
              </a:spcBef>
              <a:buClr>
                <a:srgbClr val="0000FF"/>
              </a:buClr>
              <a:buFont typeface="Wingdings" panose="05000000000000000000" pitchFamily="2" charset="2"/>
              <a:buChar char="l"/>
            </a:pPr>
            <a:r>
              <a:rPr sz="2400" dirty="0">
                <a:latin typeface="Times New Roman" panose="02020603050405020304" pitchFamily="18" charset="0"/>
                <a:cs typeface="Times New Roman" panose="02020603050405020304" pitchFamily="18" charset="0"/>
              </a:rPr>
              <a:t>Unstructured Architectures</a:t>
            </a:r>
            <a:endParaRPr lang="en-US" sz="2400" dirty="0">
              <a:latin typeface="Times New Roman" panose="02020603050405020304" pitchFamily="18" charset="0"/>
              <a:cs typeface="Times New Roman" panose="02020603050405020304" pitchFamily="18" charset="0"/>
            </a:endParaRPr>
          </a:p>
          <a:p>
            <a:pPr marL="300990" indent="-285750">
              <a:spcBef>
                <a:spcPts val="300"/>
              </a:spcBef>
              <a:buClr>
                <a:srgbClr val="0000FF"/>
              </a:buClr>
              <a:buFont typeface="Wingdings" panose="05000000000000000000" pitchFamily="2" charset="2"/>
              <a:buChar char="l"/>
            </a:pPr>
            <a:r>
              <a:rPr sz="2400" dirty="0">
                <a:latin typeface="Times New Roman" panose="02020603050405020304" pitchFamily="18" charset="0"/>
                <a:cs typeface="Times New Roman" panose="02020603050405020304" pitchFamily="18" charset="0"/>
              </a:rPr>
              <a:t>Structured Architectures</a:t>
            </a:r>
          </a:p>
          <a:p>
            <a:pPr marL="309563">
              <a:spcBef>
                <a:spcPts val="300"/>
              </a:spcBef>
            </a:pPr>
            <a:endParaRPr sz="2400" dirty="0">
              <a:latin typeface="Times New Roman" panose="02020603050405020304" pitchFamily="18" charset="0"/>
              <a:cs typeface="Times New Roman" panose="02020603050405020304" pitchFamily="18" charset="0"/>
            </a:endParaRPr>
          </a:p>
        </p:txBody>
      </p:sp>
      <p:sp>
        <p:nvSpPr>
          <p:cNvPr id="11" name="灯片编号占位符 10">
            <a:extLst>
              <a:ext uri="{FF2B5EF4-FFF2-40B4-BE49-F238E27FC236}">
                <a16:creationId xmlns:a16="http://schemas.microsoft.com/office/drawing/2014/main" id="{B057A6CA-AE76-3799-C025-E21789B7F80C}"/>
              </a:ext>
            </a:extLst>
          </p:cNvPr>
          <p:cNvSpPr>
            <a:spLocks noGrp="1"/>
          </p:cNvSpPr>
          <p:nvPr>
            <p:ph type="sldNum" sz="quarter" idx="10"/>
          </p:nvPr>
        </p:nvSpPr>
        <p:spPr/>
        <p:txBody>
          <a:bodyPr/>
          <a:lstStyle/>
          <a:p>
            <a:fld id="{D9B6BDF2-6896-4B98-8776-C18582F63BA5}" type="slidenum">
              <a:rPr lang="zh-TW" altLang="en-US" smtClean="0"/>
              <a:pPr/>
              <a:t>2</a:t>
            </a:fld>
            <a:endParaRPr lang="zh-TW" altLang="en-US"/>
          </a:p>
        </p:txBody>
      </p:sp>
      <p:sp>
        <p:nvSpPr>
          <p:cNvPr id="13" name="文本框 12">
            <a:extLst>
              <a:ext uri="{FF2B5EF4-FFF2-40B4-BE49-F238E27FC236}">
                <a16:creationId xmlns:a16="http://schemas.microsoft.com/office/drawing/2014/main" id="{47B4FD49-6F19-D49A-8F70-FED7E684A4C7}"/>
              </a:ext>
            </a:extLst>
          </p:cNvPr>
          <p:cNvSpPr txBox="1"/>
          <p:nvPr/>
        </p:nvSpPr>
        <p:spPr>
          <a:xfrm>
            <a:off x="895149" y="0"/>
            <a:ext cx="4576011" cy="646331"/>
          </a:xfrm>
          <a:prstGeom prst="rect">
            <a:avLst/>
          </a:prstGeom>
          <a:noFill/>
        </p:spPr>
        <p:txBody>
          <a:bodyPr wrap="square">
            <a:spAutoFit/>
          </a:bodyPr>
          <a:lstStyle/>
          <a:p>
            <a:r>
              <a:rPr lang="en-US" altLang="zh-CN" sz="3600" b="1" dirty="0">
                <a:solidFill>
                  <a:srgbClr val="316060"/>
                </a:solidFill>
                <a:latin typeface="Times New Roman" panose="02020603050405020304" pitchFamily="18" charset="0"/>
                <a:cs typeface="Times New Roman" panose="02020603050405020304" pitchFamily="18" charset="0"/>
              </a:rPr>
              <a:t>Outline</a:t>
            </a:r>
            <a:endParaRPr lang="zh-CN" altLang="en-US" sz="3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990601" y="48327"/>
            <a:ext cx="5742582" cy="566020"/>
          </a:xfrm>
          <a:prstGeom prst="rect">
            <a:avLst/>
          </a:prstGeom>
        </p:spPr>
        <p:txBody>
          <a:bodyPr vert="horz" wrap="square" lIns="0" tIns="11906" rIns="0" bIns="0" numCol="1" rtlCol="0" anchor="ctr" anchorCtr="0" compatLnSpc="1">
            <a:prstTxWarp prst="textNoShape">
              <a:avLst/>
            </a:prstTxWarp>
            <a:spAutoFit/>
          </a:bodyPr>
          <a:lstStyle/>
          <a:p>
            <a:pPr marL="9525">
              <a:spcBef>
                <a:spcPts val="94"/>
              </a:spcBef>
            </a:pPr>
            <a:r>
              <a:rPr dirty="0"/>
              <a:t>A Basic Definition of P2P</a:t>
            </a:r>
          </a:p>
        </p:txBody>
      </p:sp>
      <p:sp>
        <p:nvSpPr>
          <p:cNvPr id="4" name="object 4"/>
          <p:cNvSpPr txBox="1"/>
          <p:nvPr/>
        </p:nvSpPr>
        <p:spPr>
          <a:xfrm>
            <a:off x="990602" y="832026"/>
            <a:ext cx="6815666" cy="1623009"/>
          </a:xfrm>
          <a:prstGeom prst="rect">
            <a:avLst/>
          </a:prstGeom>
        </p:spPr>
        <p:txBody>
          <a:bodyPr vert="horz" wrap="square" lIns="0" tIns="71438" rIns="0" bIns="0" rtlCol="0">
            <a:spAutoFit/>
          </a:bodyPr>
          <a:lstStyle/>
          <a:p>
            <a:pPr marL="352425" indent="-342900">
              <a:lnSpc>
                <a:spcPts val="3143"/>
              </a:lnSpc>
              <a:buClr>
                <a:srgbClr val="0000FF"/>
              </a:buClr>
              <a:buFont typeface="Wingdings" panose="05000000000000000000" pitchFamily="2" charset="2"/>
              <a:buChar char="l"/>
              <a:tabLst>
                <a:tab pos="259080" algn="l"/>
              </a:tabLst>
            </a:pPr>
            <a:r>
              <a:rPr lang="en-US" altLang="zh-CN" sz="2000" dirty="0">
                <a:latin typeface="Times New Roman" panose="02020603050405020304" pitchFamily="18" charset="0"/>
                <a:cs typeface="Times New Roman" panose="02020603050405020304" pitchFamily="18" charset="0"/>
              </a:rPr>
              <a:t>The exchange of data (documents, MP3s, voice) between two “peers” that can act as both the client and the server</a:t>
            </a:r>
          </a:p>
          <a:p>
            <a:pPr marL="352425" indent="-342900">
              <a:lnSpc>
                <a:spcPts val="3143"/>
              </a:lnSpc>
              <a:buClr>
                <a:srgbClr val="3631D3"/>
              </a:buClr>
              <a:buFont typeface="Wingdings" panose="05000000000000000000" pitchFamily="2" charset="2"/>
              <a:buChar char="l"/>
              <a:tabLst>
                <a:tab pos="259080" algn="l"/>
              </a:tabLst>
            </a:pPr>
            <a:r>
              <a:rPr sz="2000" dirty="0">
                <a:latin typeface="Times New Roman" panose="02020603050405020304" pitchFamily="18" charset="0"/>
                <a:cs typeface="Times New Roman" panose="02020603050405020304" pitchFamily="18" charset="0"/>
              </a:rPr>
              <a:t>A basic example</a:t>
            </a:r>
            <a:endParaRPr lang="en-US" sz="2000" dirty="0">
              <a:latin typeface="Times New Roman" panose="02020603050405020304" pitchFamily="18" charset="0"/>
              <a:cs typeface="Times New Roman" panose="02020603050405020304" pitchFamily="18" charset="0"/>
            </a:endParaRPr>
          </a:p>
          <a:p>
            <a:pPr marL="809625" lvl="1" indent="-342900">
              <a:lnSpc>
                <a:spcPts val="3143"/>
              </a:lnSpc>
              <a:buClr>
                <a:srgbClr val="3631D3"/>
              </a:buClr>
              <a:buFont typeface="Symbol" panose="05050102010706020507" pitchFamily="18" charset="2"/>
              <a:buChar char="-"/>
              <a:tabLst>
                <a:tab pos="259080" algn="l"/>
              </a:tabLst>
            </a:pPr>
            <a:r>
              <a:rPr sz="2000" dirty="0">
                <a:latin typeface="Times New Roman" panose="02020603050405020304" pitchFamily="18" charset="0"/>
                <a:cs typeface="Times New Roman" panose="02020603050405020304" pitchFamily="18" charset="0"/>
              </a:rPr>
              <a:t>The typical telephone call</a:t>
            </a:r>
          </a:p>
        </p:txBody>
      </p:sp>
      <p:sp>
        <p:nvSpPr>
          <p:cNvPr id="5" name="object 4">
            <a:extLst>
              <a:ext uri="{FF2B5EF4-FFF2-40B4-BE49-F238E27FC236}">
                <a16:creationId xmlns:a16="http://schemas.microsoft.com/office/drawing/2014/main" id="{FB9B4CF0-5142-F8FA-EDD9-C418721EF3DA}"/>
              </a:ext>
            </a:extLst>
          </p:cNvPr>
          <p:cNvSpPr txBox="1"/>
          <p:nvPr/>
        </p:nvSpPr>
        <p:spPr>
          <a:xfrm>
            <a:off x="1363132" y="2672714"/>
            <a:ext cx="6815666" cy="372667"/>
          </a:xfrm>
          <a:prstGeom prst="rect">
            <a:avLst/>
          </a:prstGeom>
        </p:spPr>
        <p:txBody>
          <a:bodyPr vert="horz" wrap="square" lIns="0" tIns="71438" rIns="0" bIns="0" rtlCol="0">
            <a:spAutoFit/>
          </a:bodyPr>
          <a:lstStyle/>
          <a:p>
            <a:pPr marR="224314" indent="-211455" algn="ctr">
              <a:lnSpc>
                <a:spcPts val="2534"/>
              </a:lnSpc>
              <a:spcBef>
                <a:spcPts val="472"/>
              </a:spcBef>
            </a:pPr>
            <a:r>
              <a:rPr sz="2000" dirty="0">
                <a:solidFill>
                  <a:srgbClr val="FF0000"/>
                </a:solidFill>
                <a:latin typeface="Times New Roman" panose="02020603050405020304" pitchFamily="18" charset="0"/>
                <a:cs typeface="Times New Roman" panose="02020603050405020304" pitchFamily="18" charset="0"/>
              </a:rPr>
              <a:t>Both “peers” act as producers (by talking) and as consumers</a:t>
            </a:r>
          </a:p>
        </p:txBody>
      </p:sp>
      <p:sp>
        <p:nvSpPr>
          <p:cNvPr id="6" name="灯片编号占位符 5">
            <a:extLst>
              <a:ext uri="{FF2B5EF4-FFF2-40B4-BE49-F238E27FC236}">
                <a16:creationId xmlns:a16="http://schemas.microsoft.com/office/drawing/2014/main" id="{171B1C56-7D23-AD55-68F9-9793768BA1A5}"/>
              </a:ext>
            </a:extLst>
          </p:cNvPr>
          <p:cNvSpPr>
            <a:spLocks noGrp="1"/>
          </p:cNvSpPr>
          <p:nvPr>
            <p:ph type="sldNum" sz="quarter" idx="10"/>
          </p:nvPr>
        </p:nvSpPr>
        <p:spPr/>
        <p:txBody>
          <a:bodyPr/>
          <a:lstStyle/>
          <a:p>
            <a:fld id="{D9B6BDF2-6896-4B98-8776-C18582F63BA5}" type="slidenum">
              <a:rPr lang="zh-TW" altLang="en-US" smtClean="0"/>
              <a:pPr/>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6BE761B8-85A4-CD52-966E-4B083C0CB608}"/>
              </a:ext>
            </a:extLst>
          </p:cNvPr>
          <p:cNvPicPr>
            <a:picLocks noChangeAspect="1"/>
          </p:cNvPicPr>
          <p:nvPr/>
        </p:nvPicPr>
        <p:blipFill>
          <a:blip r:embed="rId2"/>
          <a:stretch>
            <a:fillRect/>
          </a:stretch>
        </p:blipFill>
        <p:spPr>
          <a:xfrm>
            <a:off x="5537035" y="1395661"/>
            <a:ext cx="3606965" cy="2577391"/>
          </a:xfrm>
          <a:prstGeom prst="rect">
            <a:avLst/>
          </a:prstGeom>
        </p:spPr>
      </p:pic>
      <p:sp>
        <p:nvSpPr>
          <p:cNvPr id="2" name="object 2" descr="$PPTXTitle"/>
          <p:cNvSpPr txBox="1">
            <a:spLocks noGrp="1"/>
          </p:cNvSpPr>
          <p:nvPr>
            <p:ph type="title"/>
          </p:nvPr>
        </p:nvSpPr>
        <p:spPr>
          <a:xfrm>
            <a:off x="962526" y="61185"/>
            <a:ext cx="5613534" cy="565058"/>
          </a:xfrm>
          <a:prstGeom prst="rect">
            <a:avLst/>
          </a:prstGeom>
        </p:spPr>
        <p:txBody>
          <a:bodyPr vert="horz" wrap="square" lIns="0" tIns="10953" rIns="0" bIns="0" numCol="1" rtlCol="0" anchor="ctr" anchorCtr="0" compatLnSpc="1">
            <a:prstTxWarp prst="textNoShape">
              <a:avLst/>
            </a:prstTxWarp>
            <a:spAutoFit/>
          </a:bodyPr>
          <a:lstStyle/>
          <a:p>
            <a:pPr marL="9525">
              <a:spcBef>
                <a:spcPts val="86"/>
              </a:spcBef>
            </a:pPr>
            <a:r>
              <a:rPr lang="en-US" altLang="zh-CN" dirty="0">
                <a:solidFill>
                  <a:srgbClr val="386269"/>
                </a:solidFill>
              </a:rPr>
              <a:t>Definition of </a:t>
            </a:r>
            <a:r>
              <a:rPr dirty="0">
                <a:solidFill>
                  <a:srgbClr val="386469"/>
                </a:solidFill>
              </a:rPr>
              <a:t>P2P </a:t>
            </a:r>
            <a:r>
              <a:rPr dirty="0">
                <a:solidFill>
                  <a:srgbClr val="316966"/>
                </a:solidFill>
              </a:rPr>
              <a:t>Network</a:t>
            </a:r>
            <a:endParaRPr dirty="0"/>
          </a:p>
        </p:txBody>
      </p:sp>
      <p:sp>
        <p:nvSpPr>
          <p:cNvPr id="3" name="object 3"/>
          <p:cNvSpPr txBox="1"/>
          <p:nvPr/>
        </p:nvSpPr>
        <p:spPr>
          <a:xfrm>
            <a:off x="507483" y="849172"/>
            <a:ext cx="5104046" cy="3214150"/>
          </a:xfrm>
          <a:prstGeom prst="rect">
            <a:avLst/>
          </a:prstGeom>
        </p:spPr>
        <p:txBody>
          <a:bodyPr vert="horz" wrap="square" lIns="0" tIns="46673" rIns="0" bIns="0" rtlCol="0">
            <a:spAutoFit/>
          </a:bodyPr>
          <a:lstStyle/>
          <a:p>
            <a:pPr marL="352425" marR="151448" indent="-342900">
              <a:lnSpc>
                <a:spcPct val="89100"/>
              </a:lnSpc>
              <a:spcBef>
                <a:spcPts val="600"/>
              </a:spcBef>
              <a:buClr>
                <a:srgbClr val="0000FF"/>
              </a:buClr>
              <a:buFont typeface="Wingdings" panose="05000000000000000000" pitchFamily="2" charset="2"/>
              <a:buChar char="l"/>
            </a:pPr>
            <a:r>
              <a:rPr lang="en-US" sz="2000" dirty="0">
                <a:latin typeface="Times New Roman" panose="02020603050405020304" pitchFamily="18" charset="0"/>
                <a:cs typeface="Times New Roman" panose="02020603050405020304" pitchFamily="18" charset="0"/>
              </a:rPr>
              <a:t>A P2P network is a</a:t>
            </a:r>
            <a:r>
              <a:rPr sz="2000" dirty="0">
                <a:latin typeface="Times New Roman" panose="02020603050405020304" pitchFamily="18" charset="0"/>
                <a:cs typeface="Times New Roman" panose="02020603050405020304" pitchFamily="18" charset="0"/>
              </a:rPr>
              <a:t> distributed network composed of a large number of distributed, heterogeneous, autonomous, and highly dynamic peers in which participants share a part of their own resources such as processing power, storage capacity, software, and file contents.</a:t>
            </a:r>
            <a:endParaRPr lang="en-US" sz="2000" dirty="0">
              <a:latin typeface="Times New Roman" panose="02020603050405020304" pitchFamily="18" charset="0"/>
              <a:cs typeface="Times New Roman" panose="02020603050405020304" pitchFamily="18" charset="0"/>
            </a:endParaRPr>
          </a:p>
          <a:p>
            <a:pPr marL="352425" marR="151448" indent="-342900">
              <a:lnSpc>
                <a:spcPct val="89100"/>
              </a:lnSpc>
              <a:spcBef>
                <a:spcPts val="600"/>
              </a:spcBef>
              <a:buClr>
                <a:srgbClr val="0000FF"/>
              </a:buClr>
              <a:buFont typeface="Wingdings" panose="05000000000000000000" pitchFamily="2" charset="2"/>
              <a:buChar char="l"/>
            </a:pPr>
            <a:r>
              <a:rPr sz="2000" dirty="0">
                <a:latin typeface="Times New Roman" panose="02020603050405020304" pitchFamily="18" charset="0"/>
                <a:cs typeface="Times New Roman" panose="02020603050405020304" pitchFamily="18" charset="0"/>
              </a:rPr>
              <a:t>The participants in the P2P network can act as a server and a client at the same time.</a:t>
            </a:r>
            <a:endParaRPr lang="en-US" sz="2000" dirty="0">
              <a:latin typeface="Times New Roman" panose="02020603050405020304" pitchFamily="18" charset="0"/>
              <a:cs typeface="Times New Roman" panose="02020603050405020304" pitchFamily="18" charset="0"/>
            </a:endParaRPr>
          </a:p>
          <a:p>
            <a:pPr marL="352425" marR="151448" indent="-342900">
              <a:lnSpc>
                <a:spcPct val="89100"/>
              </a:lnSpc>
              <a:spcBef>
                <a:spcPts val="600"/>
              </a:spcBef>
              <a:buClr>
                <a:srgbClr val="0000FF"/>
              </a:buClr>
              <a:buFont typeface="Wingdings" panose="05000000000000000000" pitchFamily="2" charset="2"/>
              <a:buChar char="l"/>
            </a:pPr>
            <a:r>
              <a:rPr sz="2000" dirty="0">
                <a:latin typeface="Times New Roman" panose="02020603050405020304" pitchFamily="18" charset="0"/>
                <a:cs typeface="Times New Roman" panose="02020603050405020304" pitchFamily="18" charset="0"/>
              </a:rPr>
              <a:t>They are accessible by other nodes directly,</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without passing intermediary entities.</a:t>
            </a:r>
          </a:p>
        </p:txBody>
      </p:sp>
      <p:sp>
        <p:nvSpPr>
          <p:cNvPr id="5" name="灯片编号占位符 4">
            <a:extLst>
              <a:ext uri="{FF2B5EF4-FFF2-40B4-BE49-F238E27FC236}">
                <a16:creationId xmlns:a16="http://schemas.microsoft.com/office/drawing/2014/main" id="{07ABAC6F-BAB3-2B6B-0746-EEBB63D1B3BF}"/>
              </a:ext>
            </a:extLst>
          </p:cNvPr>
          <p:cNvSpPr>
            <a:spLocks noGrp="1"/>
          </p:cNvSpPr>
          <p:nvPr>
            <p:ph type="sldNum" sz="quarter" idx="10"/>
          </p:nvPr>
        </p:nvSpPr>
        <p:spPr/>
        <p:txBody>
          <a:bodyPr/>
          <a:lstStyle/>
          <a:p>
            <a:fld id="{D9B6BDF2-6896-4B98-8776-C18582F63BA5}" type="slidenum">
              <a:rPr lang="zh-TW" altLang="en-US" smtClean="0"/>
              <a:pPr/>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87654" y="859560"/>
            <a:ext cx="6679933" cy="2823369"/>
          </a:xfrm>
          <a:prstGeom prst="rect">
            <a:avLst/>
          </a:prstGeom>
        </p:spPr>
        <p:txBody>
          <a:bodyPr vert="horz" wrap="square" lIns="0" tIns="52864" rIns="0" bIns="0" rtlCol="0">
            <a:spAutoFit/>
          </a:bodyPr>
          <a:lstStyle/>
          <a:p>
            <a:pPr marL="352425" marR="3810" indent="-342900">
              <a:spcBef>
                <a:spcPts val="600"/>
              </a:spcBef>
              <a:buClr>
                <a:srgbClr val="0000FF"/>
              </a:buClr>
              <a:buFont typeface="Wingdings" panose="05000000000000000000" pitchFamily="2" charset="2"/>
              <a:buChar char="l"/>
            </a:pPr>
            <a:r>
              <a:rPr sz="2000" dirty="0">
                <a:latin typeface="Times New Roman" panose="02020603050405020304" pitchFamily="18" charset="0"/>
                <a:cs typeface="Times New Roman" panose="02020603050405020304" pitchFamily="18" charset="0"/>
              </a:rPr>
              <a:t>Although in purest form peer-to-peer overlay networks are supposed to be totally decentralized, in practice this is not always true, and systems with various degrees of centralization are encountered.</a:t>
            </a:r>
            <a:endParaRPr lang="en-US" sz="2000" dirty="0">
              <a:latin typeface="Times New Roman" panose="02020603050405020304" pitchFamily="18" charset="0"/>
              <a:cs typeface="Times New Roman" panose="02020603050405020304" pitchFamily="18" charset="0"/>
            </a:endParaRPr>
          </a:p>
          <a:p>
            <a:pPr marL="352425" marR="3810" indent="-342900">
              <a:spcBef>
                <a:spcPts val="600"/>
              </a:spcBef>
              <a:buClr>
                <a:srgbClr val="0000FF"/>
              </a:buClr>
              <a:buFont typeface="Wingdings" panose="05000000000000000000" pitchFamily="2" charset="2"/>
              <a:buChar char="l"/>
            </a:pPr>
            <a:r>
              <a:rPr sz="2000" dirty="0">
                <a:latin typeface="Times New Roman" panose="02020603050405020304" pitchFamily="18" charset="0"/>
                <a:cs typeface="Times New Roman" panose="02020603050405020304" pitchFamily="18" charset="0"/>
              </a:rPr>
              <a:t>They are identified into the following three</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categories:</a:t>
            </a:r>
            <a:endParaRPr lang="en-US" sz="2000" dirty="0">
              <a:latin typeface="Times New Roman" panose="02020603050405020304" pitchFamily="18" charset="0"/>
              <a:cs typeface="Times New Roman" panose="02020603050405020304" pitchFamily="18" charset="0"/>
            </a:endParaRPr>
          </a:p>
          <a:p>
            <a:pPr marL="809625" marR="3810" lvl="1" indent="-342900">
              <a:spcBef>
                <a:spcPts val="600"/>
              </a:spcBef>
              <a:buClr>
                <a:srgbClr val="0000FF"/>
              </a:buClr>
              <a:buFont typeface="Symbol" panose="05050102010706020507" pitchFamily="18" charset="2"/>
              <a:buChar char="-"/>
            </a:pPr>
            <a:r>
              <a:rPr sz="2000" dirty="0">
                <a:latin typeface="Times New Roman" panose="02020603050405020304" pitchFamily="18" charset="0"/>
                <a:cs typeface="Times New Roman" panose="02020603050405020304" pitchFamily="18" charset="0"/>
              </a:rPr>
              <a:t>Purely </a:t>
            </a:r>
            <a:r>
              <a:rPr lang="en-US" sz="2000" dirty="0">
                <a:latin typeface="Times New Roman" panose="02020603050405020304" pitchFamily="18" charset="0"/>
                <a:cs typeface="Times New Roman" panose="02020603050405020304" pitchFamily="18" charset="0"/>
              </a:rPr>
              <a:t>d</a:t>
            </a:r>
            <a:r>
              <a:rPr sz="2000" dirty="0">
                <a:latin typeface="Times New Roman" panose="02020603050405020304" pitchFamily="18" charset="0"/>
                <a:cs typeface="Times New Roman" panose="02020603050405020304" pitchFamily="18" charset="0"/>
              </a:rPr>
              <a:t>ecentralized architectures </a:t>
            </a:r>
            <a:endParaRPr lang="en-US" sz="2000" dirty="0">
              <a:latin typeface="Times New Roman" panose="02020603050405020304" pitchFamily="18" charset="0"/>
              <a:cs typeface="Times New Roman" panose="02020603050405020304" pitchFamily="18" charset="0"/>
            </a:endParaRPr>
          </a:p>
          <a:p>
            <a:pPr marL="809625" marR="3810" lvl="1" indent="-342900">
              <a:spcBef>
                <a:spcPts val="600"/>
              </a:spcBef>
              <a:buClr>
                <a:srgbClr val="0000FF"/>
              </a:buClr>
              <a:buFont typeface="Symbol" panose="05050102010706020507" pitchFamily="18" charset="2"/>
              <a:buChar char="-"/>
            </a:pPr>
            <a:r>
              <a:rPr sz="2000" dirty="0">
                <a:latin typeface="Times New Roman" panose="02020603050405020304" pitchFamily="18" charset="0"/>
                <a:cs typeface="Times New Roman" panose="02020603050405020304" pitchFamily="18" charset="0"/>
              </a:rPr>
              <a:t>Hybrid decentralized architectures </a:t>
            </a:r>
            <a:endParaRPr lang="en-US" sz="2000" dirty="0">
              <a:latin typeface="Times New Roman" panose="02020603050405020304" pitchFamily="18" charset="0"/>
              <a:cs typeface="Times New Roman" panose="02020603050405020304" pitchFamily="18" charset="0"/>
            </a:endParaRPr>
          </a:p>
          <a:p>
            <a:pPr marL="809625" marR="3810" lvl="1" indent="-342900">
              <a:spcBef>
                <a:spcPts val="600"/>
              </a:spcBef>
              <a:buClr>
                <a:srgbClr val="0000FF"/>
              </a:buClr>
              <a:buFont typeface="Symbol" panose="05050102010706020507" pitchFamily="18" charset="2"/>
              <a:buChar char="-"/>
            </a:pPr>
            <a:r>
              <a:rPr sz="2000" dirty="0">
                <a:latin typeface="Times New Roman" panose="02020603050405020304" pitchFamily="18" charset="0"/>
                <a:cs typeface="Times New Roman" panose="02020603050405020304" pitchFamily="18" charset="0"/>
              </a:rPr>
              <a:t>Partially Centralized architectures</a:t>
            </a:r>
          </a:p>
        </p:txBody>
      </p:sp>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5</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888289" cy="519113"/>
          </a:xfrm>
        </p:spPr>
        <p:txBody>
          <a:bodyPr/>
          <a:lstStyle/>
          <a:p>
            <a:r>
              <a:rPr lang="en-US" altLang="zh-CN" kern="0" dirty="0"/>
              <a:t>Peer-to-Peer Architecture</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6</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6" y="88622"/>
            <a:ext cx="7471074"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Purely Decentralized Architecture (1) </a:t>
            </a:r>
          </a:p>
        </p:txBody>
      </p:sp>
      <p:grpSp>
        <p:nvGrpSpPr>
          <p:cNvPr id="3" name="组合 2">
            <a:extLst>
              <a:ext uri="{FF2B5EF4-FFF2-40B4-BE49-F238E27FC236}">
                <a16:creationId xmlns:a16="http://schemas.microsoft.com/office/drawing/2014/main" id="{1CE86BE7-C338-3440-40B5-F47CE7EEDDA0}"/>
              </a:ext>
            </a:extLst>
          </p:cNvPr>
          <p:cNvGrpSpPr/>
          <p:nvPr/>
        </p:nvGrpSpPr>
        <p:grpSpPr>
          <a:xfrm>
            <a:off x="1597794" y="1076287"/>
            <a:ext cx="6169793" cy="3255081"/>
            <a:chOff x="1597794" y="1076287"/>
            <a:chExt cx="6169793" cy="3255081"/>
          </a:xfrm>
        </p:grpSpPr>
        <p:pic>
          <p:nvPicPr>
            <p:cNvPr id="2" name="object 2">
              <a:extLst>
                <a:ext uri="{FF2B5EF4-FFF2-40B4-BE49-F238E27FC236}">
                  <a16:creationId xmlns:a16="http://schemas.microsoft.com/office/drawing/2014/main" id="{F1F57EC3-E660-E640-274E-147935B82D58}"/>
                </a:ext>
              </a:extLst>
            </p:cNvPr>
            <p:cNvPicPr/>
            <p:nvPr/>
          </p:nvPicPr>
          <p:blipFill>
            <a:blip r:embed="rId2" cstate="print"/>
            <a:srcRect l="8088" r="4435" b="7392"/>
            <a:stretch/>
          </p:blipFill>
          <p:spPr>
            <a:xfrm>
              <a:off x="1597794" y="1076287"/>
              <a:ext cx="6169793" cy="3255081"/>
            </a:xfrm>
            <a:prstGeom prst="rect">
              <a:avLst/>
            </a:prstGeom>
          </p:spPr>
        </p:pic>
        <p:sp>
          <p:nvSpPr>
            <p:cNvPr id="4" name="object 3">
              <a:extLst>
                <a:ext uri="{FF2B5EF4-FFF2-40B4-BE49-F238E27FC236}">
                  <a16:creationId xmlns:a16="http://schemas.microsoft.com/office/drawing/2014/main" id="{938FAD60-CCC3-4FEC-A67A-BE574D571298}"/>
                </a:ext>
              </a:extLst>
            </p:cNvPr>
            <p:cNvSpPr txBox="1"/>
            <p:nvPr/>
          </p:nvSpPr>
          <p:spPr>
            <a:xfrm>
              <a:off x="3484346" y="3736834"/>
              <a:ext cx="1713297" cy="330379"/>
            </a:xfrm>
            <a:prstGeom prst="rect">
              <a:avLst/>
            </a:prstGeom>
          </p:spPr>
          <p:txBody>
            <a:bodyPr vert="horz" wrap="square" lIns="0" tIns="52864" rIns="0" bIns="0" rtlCol="0">
              <a:spAutoFit/>
            </a:bodyPr>
            <a:lstStyle/>
            <a:p>
              <a:pPr marL="9525" marR="3810">
                <a:buClr>
                  <a:srgbClr val="0000FF"/>
                </a:buClr>
              </a:pPr>
              <a:r>
                <a:rPr lang="en-US" dirty="0">
                  <a:latin typeface="Times New Roman" panose="02020603050405020304" pitchFamily="18" charset="0"/>
                  <a:cs typeface="Times New Roman" panose="02020603050405020304" pitchFamily="18" charset="0"/>
                </a:rPr>
                <a:t>Join the network</a:t>
              </a:r>
              <a:endParaRPr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0254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7</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Purely Decentralized Architectures (2) </a:t>
            </a:r>
          </a:p>
        </p:txBody>
      </p:sp>
      <p:sp>
        <p:nvSpPr>
          <p:cNvPr id="2" name="object 3" descr="$PPTXTitle">
            <a:extLst>
              <a:ext uri="{FF2B5EF4-FFF2-40B4-BE49-F238E27FC236}">
                <a16:creationId xmlns:a16="http://schemas.microsoft.com/office/drawing/2014/main" id="{4A96F23C-0E01-C9A2-FA09-7673CE0AE6B4}"/>
              </a:ext>
            </a:extLst>
          </p:cNvPr>
          <p:cNvSpPr txBox="1">
            <a:spLocks/>
          </p:cNvSpPr>
          <p:nvPr/>
        </p:nvSpPr>
        <p:spPr bwMode="auto">
          <a:xfrm>
            <a:off x="748900" y="855655"/>
            <a:ext cx="7788706" cy="3432189"/>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L="342900" marR="3810" indent="-342900">
              <a:spcBef>
                <a:spcPts val="0"/>
              </a:spcBef>
              <a:buClr>
                <a:srgbClr val="0000FF"/>
              </a:buClr>
              <a:buSzPct val="75000"/>
              <a:buFont typeface="Wingdings" panose="05000000000000000000" pitchFamily="2" charset="2"/>
              <a:buChar char="l"/>
            </a:pPr>
            <a:r>
              <a:rPr lang="en-US" sz="2000" b="0" kern="0" dirty="0">
                <a:solidFill>
                  <a:schemeClr val="tx1"/>
                </a:solidFill>
              </a:rPr>
              <a:t>Gnutella – A pure decentralized </a:t>
            </a:r>
            <a:r>
              <a:rPr lang="en-US" altLang="zh-CN" sz="2000" b="0" dirty="0">
                <a:solidFill>
                  <a:schemeClr val="tx1"/>
                </a:solidFill>
              </a:rPr>
              <a:t>peer-to-peer networking</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Applications connect to peer applications </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Decentralized method of searching for files each application instance serves to</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Store selected files route queries (file searches) from and to its neighboring peers respond to queries (serve file) if file stored locally</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How it works</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Searching by flooding: If you don't have the file you want, query 7 of your partners. If they don't have it, they contact 7 of their partners, for a maximum hop count of 10. Requests are flooded, but there is no tree structure. No looping but packets may be received twice.</a:t>
            </a:r>
          </a:p>
        </p:txBody>
      </p:sp>
    </p:spTree>
    <p:extLst>
      <p:ext uri="{BB962C8B-B14F-4D97-AF65-F5344CB8AC3E}">
        <p14:creationId xmlns:p14="http://schemas.microsoft.com/office/powerpoint/2010/main" val="3592433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8</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Purely Decentralized Architectures (3) </a:t>
            </a:r>
          </a:p>
        </p:txBody>
      </p:sp>
      <p:sp>
        <p:nvSpPr>
          <p:cNvPr id="2" name="object 3" descr="$PPTXTitle">
            <a:extLst>
              <a:ext uri="{FF2B5EF4-FFF2-40B4-BE49-F238E27FC236}">
                <a16:creationId xmlns:a16="http://schemas.microsoft.com/office/drawing/2014/main" id="{4A96F23C-0E01-C9A2-FA09-7673CE0AE6B4}"/>
              </a:ext>
            </a:extLst>
          </p:cNvPr>
          <p:cNvSpPr txBox="1">
            <a:spLocks/>
          </p:cNvSpPr>
          <p:nvPr/>
        </p:nvSpPr>
        <p:spPr bwMode="auto">
          <a:xfrm>
            <a:off x="1066534" y="836173"/>
            <a:ext cx="7317070" cy="2816636"/>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L="342900" marR="3810" indent="-342900">
              <a:spcBef>
                <a:spcPts val="0"/>
              </a:spcBef>
              <a:buClr>
                <a:srgbClr val="0000FF"/>
              </a:buClr>
              <a:buSzPct val="75000"/>
              <a:buFont typeface="Wingdings" panose="05000000000000000000" pitchFamily="2" charset="2"/>
              <a:buChar char="l"/>
            </a:pPr>
            <a:r>
              <a:rPr lang="en-US" altLang="zh-CN" sz="2000" b="0" spc="-8" dirty="0">
                <a:solidFill>
                  <a:schemeClr val="tx1"/>
                </a:solidFill>
                <a:latin typeface="Times New Roman" panose="02020603050405020304" pitchFamily="18" charset="0"/>
                <a:cs typeface="Times New Roman" panose="02020603050405020304" pitchFamily="18" charset="0"/>
              </a:rPr>
              <a:t>Advantages</a:t>
            </a:r>
          </a:p>
          <a:p>
            <a:pPr marL="800100" marR="3810" lvl="1" indent="-342900">
              <a:spcBef>
                <a:spcPts val="0"/>
              </a:spcBef>
              <a:buClr>
                <a:srgbClr val="0000FF"/>
              </a:buClr>
              <a:buSzPct val="75000"/>
              <a:buFont typeface="Symbol" panose="05050102010706020507" pitchFamily="18" charset="2"/>
              <a:buChar char="-"/>
            </a:pPr>
            <a:r>
              <a:rPr lang="en-US" altLang="zh-CN" sz="2000" b="0" spc="-38" dirty="0">
                <a:solidFill>
                  <a:schemeClr val="tx1"/>
                </a:solidFill>
                <a:latin typeface="Times New Roman" panose="02020603050405020304" pitchFamily="18" charset="0"/>
                <a:cs typeface="Times New Roman" panose="02020603050405020304" pitchFamily="18" charset="0"/>
              </a:rPr>
              <a:t>Inherently</a:t>
            </a:r>
            <a:r>
              <a:rPr lang="en-US" altLang="zh-CN" sz="2000" b="0" spc="26" dirty="0">
                <a:solidFill>
                  <a:schemeClr val="tx1"/>
                </a:solidFill>
                <a:latin typeface="Times New Roman" panose="02020603050405020304" pitchFamily="18" charset="0"/>
                <a:cs typeface="Times New Roman" panose="02020603050405020304" pitchFamily="18" charset="0"/>
              </a:rPr>
              <a:t> </a:t>
            </a:r>
            <a:r>
              <a:rPr lang="en-US" altLang="zh-CN" sz="2000" b="0" spc="-45" dirty="0">
                <a:solidFill>
                  <a:schemeClr val="tx1"/>
                </a:solidFill>
                <a:latin typeface="Times New Roman" panose="02020603050405020304" pitchFamily="18" charset="0"/>
                <a:cs typeface="Times New Roman" panose="02020603050405020304" pitchFamily="18" charset="0"/>
              </a:rPr>
              <a:t>fault-</a:t>
            </a:r>
            <a:r>
              <a:rPr lang="en-US" altLang="zh-CN" sz="2000" b="0" spc="-30" dirty="0">
                <a:solidFill>
                  <a:schemeClr val="tx1"/>
                </a:solidFill>
                <a:latin typeface="Times New Roman" panose="02020603050405020304" pitchFamily="18" charset="0"/>
                <a:cs typeface="Times New Roman" panose="02020603050405020304" pitchFamily="18" charset="0"/>
              </a:rPr>
              <a:t>tolerant,</a:t>
            </a:r>
            <a:r>
              <a:rPr lang="en-US" altLang="zh-CN" sz="2000" b="0" spc="-101" dirty="0">
                <a:solidFill>
                  <a:schemeClr val="tx1"/>
                </a:solidFill>
                <a:latin typeface="Times New Roman" panose="02020603050405020304" pitchFamily="18" charset="0"/>
                <a:cs typeface="Times New Roman" panose="02020603050405020304" pitchFamily="18" charset="0"/>
              </a:rPr>
              <a:t> </a:t>
            </a:r>
            <a:r>
              <a:rPr lang="en-US" altLang="zh-CN" sz="2000" b="0" spc="-30" dirty="0">
                <a:solidFill>
                  <a:schemeClr val="tx1"/>
                </a:solidFill>
                <a:latin typeface="Times New Roman" panose="02020603050405020304" pitchFamily="18" charset="0"/>
                <a:cs typeface="Times New Roman" panose="02020603050405020304" pitchFamily="18" charset="0"/>
              </a:rPr>
              <a:t>since</a:t>
            </a:r>
            <a:r>
              <a:rPr lang="en-US" altLang="zh-CN" sz="2000" b="0" spc="-68" dirty="0">
                <a:solidFill>
                  <a:schemeClr val="tx1"/>
                </a:solidFill>
                <a:latin typeface="Times New Roman" panose="02020603050405020304" pitchFamily="18" charset="0"/>
                <a:cs typeface="Times New Roman" panose="02020603050405020304" pitchFamily="18" charset="0"/>
              </a:rPr>
              <a:t> </a:t>
            </a:r>
            <a:r>
              <a:rPr lang="en-US" altLang="zh-CN" sz="2000" b="0" spc="-26" dirty="0">
                <a:solidFill>
                  <a:schemeClr val="tx1"/>
                </a:solidFill>
                <a:latin typeface="Times New Roman" panose="02020603050405020304" pitchFamily="18" charset="0"/>
                <a:cs typeface="Times New Roman" panose="02020603050405020304" pitchFamily="18" charset="0"/>
              </a:rPr>
              <a:t>there</a:t>
            </a:r>
            <a:r>
              <a:rPr lang="en-US" altLang="zh-CN" sz="2000" b="0" spc="-86"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is</a:t>
            </a:r>
            <a:r>
              <a:rPr lang="en-US" altLang="zh-CN" sz="2000" b="0" spc="-127"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no</a:t>
            </a:r>
            <a:r>
              <a:rPr lang="en-US" altLang="zh-CN" sz="2000" b="0" spc="-109" dirty="0">
                <a:solidFill>
                  <a:schemeClr val="tx1"/>
                </a:solidFill>
                <a:latin typeface="Times New Roman" panose="02020603050405020304" pitchFamily="18" charset="0"/>
                <a:cs typeface="Times New Roman" panose="02020603050405020304" pitchFamily="18" charset="0"/>
              </a:rPr>
              <a:t> </a:t>
            </a:r>
            <a:r>
              <a:rPr lang="en-US" altLang="zh-CN" sz="2000" b="0" spc="-15" dirty="0">
                <a:solidFill>
                  <a:schemeClr val="tx1"/>
                </a:solidFill>
                <a:latin typeface="Times New Roman" panose="02020603050405020304" pitchFamily="18" charset="0"/>
                <a:cs typeface="Times New Roman" panose="02020603050405020304" pitchFamily="18" charset="0"/>
              </a:rPr>
              <a:t>central </a:t>
            </a:r>
            <a:r>
              <a:rPr lang="en-US" altLang="zh-CN" sz="2000" b="0" spc="-19" dirty="0">
                <a:solidFill>
                  <a:schemeClr val="tx1"/>
                </a:solidFill>
                <a:latin typeface="Times New Roman" panose="02020603050405020304" pitchFamily="18" charset="0"/>
                <a:cs typeface="Times New Roman" panose="02020603050405020304" pitchFamily="18" charset="0"/>
              </a:rPr>
              <a:t>point</a:t>
            </a:r>
            <a:r>
              <a:rPr lang="en-US" altLang="zh-CN" sz="2000" b="0" spc="-105"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of</a:t>
            </a:r>
            <a:r>
              <a:rPr lang="en-US" altLang="zh-CN" sz="2000" b="0" spc="-113" dirty="0">
                <a:solidFill>
                  <a:schemeClr val="tx1"/>
                </a:solidFill>
                <a:latin typeface="Times New Roman" panose="02020603050405020304" pitchFamily="18" charset="0"/>
                <a:cs typeface="Times New Roman" panose="02020603050405020304" pitchFamily="18" charset="0"/>
              </a:rPr>
              <a:t> </a:t>
            </a:r>
            <a:r>
              <a:rPr lang="en-US" altLang="zh-CN" sz="2000" b="0" spc="-30" dirty="0">
                <a:solidFill>
                  <a:schemeClr val="tx1"/>
                </a:solidFill>
                <a:latin typeface="Times New Roman" panose="02020603050405020304" pitchFamily="18" charset="0"/>
                <a:cs typeface="Times New Roman" panose="02020603050405020304" pitchFamily="18" charset="0"/>
              </a:rPr>
              <a:t>failure</a:t>
            </a:r>
            <a:r>
              <a:rPr lang="en-US" altLang="zh-CN" sz="2000" b="0" spc="-101" dirty="0">
                <a:solidFill>
                  <a:schemeClr val="tx1"/>
                </a:solidFill>
                <a:latin typeface="Times New Roman" panose="02020603050405020304" pitchFamily="18" charset="0"/>
                <a:cs typeface="Times New Roman" panose="02020603050405020304" pitchFamily="18" charset="0"/>
              </a:rPr>
              <a:t> </a:t>
            </a:r>
            <a:r>
              <a:rPr lang="en-US" altLang="zh-CN" sz="2000" b="0" spc="-30" dirty="0">
                <a:solidFill>
                  <a:schemeClr val="tx1"/>
                </a:solidFill>
                <a:latin typeface="Times New Roman" panose="02020603050405020304" pitchFamily="18" charset="0"/>
                <a:cs typeface="Times New Roman" panose="02020603050405020304" pitchFamily="18" charset="0"/>
              </a:rPr>
              <a:t>and</a:t>
            </a:r>
            <a:r>
              <a:rPr lang="en-US" altLang="zh-CN" sz="2000" b="0" spc="-101" dirty="0">
                <a:solidFill>
                  <a:schemeClr val="tx1"/>
                </a:solidFill>
                <a:latin typeface="Times New Roman" panose="02020603050405020304" pitchFamily="18" charset="0"/>
                <a:cs typeface="Times New Roman" panose="02020603050405020304" pitchFamily="18" charset="0"/>
              </a:rPr>
              <a:t> </a:t>
            </a:r>
            <a:r>
              <a:rPr lang="en-US" altLang="zh-CN" sz="2000" b="0" spc="-23" dirty="0">
                <a:solidFill>
                  <a:schemeClr val="tx1"/>
                </a:solidFill>
                <a:latin typeface="Times New Roman" panose="02020603050405020304" pitchFamily="18" charset="0"/>
                <a:cs typeface="Times New Roman" panose="02020603050405020304" pitchFamily="18" charset="0"/>
              </a:rPr>
              <a:t>the</a:t>
            </a:r>
            <a:r>
              <a:rPr lang="en-US" altLang="zh-CN" sz="2000" b="0" spc="-109" dirty="0">
                <a:solidFill>
                  <a:schemeClr val="tx1"/>
                </a:solidFill>
                <a:latin typeface="Times New Roman" panose="02020603050405020304" pitchFamily="18" charset="0"/>
                <a:cs typeface="Times New Roman" panose="02020603050405020304" pitchFamily="18" charset="0"/>
              </a:rPr>
              <a:t> </a:t>
            </a:r>
            <a:r>
              <a:rPr lang="en-US" altLang="zh-CN" sz="2000" b="0" spc="-15" dirty="0">
                <a:solidFill>
                  <a:schemeClr val="tx1"/>
                </a:solidFill>
                <a:latin typeface="Times New Roman" panose="02020603050405020304" pitchFamily="18" charset="0"/>
                <a:cs typeface="Times New Roman" panose="02020603050405020304" pitchFamily="18" charset="0"/>
              </a:rPr>
              <a:t>loss</a:t>
            </a:r>
            <a:r>
              <a:rPr lang="en-US" altLang="zh-CN" sz="2000" b="0" spc="-90"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of</a:t>
            </a:r>
            <a:r>
              <a:rPr lang="en-US" altLang="zh-CN" sz="2000" b="0" spc="-56" dirty="0">
                <a:solidFill>
                  <a:schemeClr val="tx1"/>
                </a:solidFill>
                <a:latin typeface="Times New Roman" panose="02020603050405020304" pitchFamily="18" charset="0"/>
                <a:cs typeface="Times New Roman" panose="02020603050405020304" pitchFamily="18" charset="0"/>
              </a:rPr>
              <a:t> </a:t>
            </a:r>
            <a:r>
              <a:rPr lang="en-US" altLang="zh-CN" sz="2000" b="0" spc="-45" dirty="0">
                <a:solidFill>
                  <a:schemeClr val="tx1"/>
                </a:solidFill>
                <a:latin typeface="Times New Roman" panose="02020603050405020304" pitchFamily="18" charset="0"/>
                <a:cs typeface="Times New Roman" panose="02020603050405020304" pitchFamily="18" charset="0"/>
              </a:rPr>
              <a:t>a</a:t>
            </a:r>
            <a:r>
              <a:rPr lang="en-US" altLang="zh-CN" sz="2000" b="0" spc="-90" dirty="0">
                <a:solidFill>
                  <a:schemeClr val="tx1"/>
                </a:solidFill>
                <a:latin typeface="Times New Roman" panose="02020603050405020304" pitchFamily="18" charset="0"/>
                <a:cs typeface="Times New Roman" panose="02020603050405020304" pitchFamily="18" charset="0"/>
              </a:rPr>
              <a:t> </a:t>
            </a:r>
            <a:r>
              <a:rPr lang="en-US" altLang="zh-CN" sz="2000" b="0" spc="-15" dirty="0">
                <a:solidFill>
                  <a:schemeClr val="tx1"/>
                </a:solidFill>
                <a:latin typeface="Times New Roman" panose="02020603050405020304" pitchFamily="18" charset="0"/>
                <a:cs typeface="Times New Roman" panose="02020603050405020304" pitchFamily="18" charset="0"/>
              </a:rPr>
              <a:t>peer</a:t>
            </a:r>
            <a:r>
              <a:rPr lang="en-US" altLang="zh-CN" sz="2000" b="0" spc="-53"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or</a:t>
            </a:r>
            <a:r>
              <a:rPr lang="en-US" altLang="zh-CN" sz="2000" b="0" spc="-94" dirty="0">
                <a:solidFill>
                  <a:schemeClr val="tx1"/>
                </a:solidFill>
                <a:latin typeface="Times New Roman" panose="02020603050405020304" pitchFamily="18" charset="0"/>
                <a:cs typeface="Times New Roman" panose="02020603050405020304" pitchFamily="18" charset="0"/>
              </a:rPr>
              <a:t> </a:t>
            </a:r>
            <a:r>
              <a:rPr lang="en-US" altLang="zh-CN" sz="2000" b="0" spc="-34" dirty="0">
                <a:solidFill>
                  <a:schemeClr val="tx1"/>
                </a:solidFill>
                <a:latin typeface="Times New Roman" panose="02020603050405020304" pitchFamily="18" charset="0"/>
                <a:cs typeface="Times New Roman" panose="02020603050405020304" pitchFamily="18" charset="0"/>
              </a:rPr>
              <a:t>even</a:t>
            </a:r>
            <a:r>
              <a:rPr lang="en-US" altLang="zh-CN" sz="2000" b="0" spc="-79" dirty="0">
                <a:solidFill>
                  <a:schemeClr val="tx1"/>
                </a:solidFill>
                <a:latin typeface="Times New Roman" panose="02020603050405020304" pitchFamily="18" charset="0"/>
                <a:cs typeface="Times New Roman" panose="02020603050405020304" pitchFamily="18" charset="0"/>
              </a:rPr>
              <a:t> </a:t>
            </a:r>
            <a:r>
              <a:rPr lang="en-US" altLang="zh-CN" sz="2000" b="0" spc="-38" dirty="0">
                <a:solidFill>
                  <a:schemeClr val="tx1"/>
                </a:solidFill>
                <a:latin typeface="Times New Roman" panose="02020603050405020304" pitchFamily="18" charset="0"/>
                <a:cs typeface="Times New Roman" panose="02020603050405020304" pitchFamily="18" charset="0"/>
              </a:rPr>
              <a:t>a </a:t>
            </a:r>
            <a:r>
              <a:rPr lang="en-US" altLang="zh-CN" sz="2000" b="0" spc="-41" dirty="0">
                <a:solidFill>
                  <a:schemeClr val="tx1"/>
                </a:solidFill>
                <a:latin typeface="Times New Roman" panose="02020603050405020304" pitchFamily="18" charset="0"/>
                <a:cs typeface="Times New Roman" panose="02020603050405020304" pitchFamily="18" charset="0"/>
              </a:rPr>
              <a:t>number</a:t>
            </a:r>
            <a:r>
              <a:rPr lang="en-US" altLang="zh-CN" sz="2000" b="0" spc="-90"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of</a:t>
            </a:r>
            <a:r>
              <a:rPr lang="en-US" altLang="zh-CN" sz="2000" b="0" spc="-94" dirty="0">
                <a:solidFill>
                  <a:schemeClr val="tx1"/>
                </a:solidFill>
                <a:latin typeface="Times New Roman" panose="02020603050405020304" pitchFamily="18" charset="0"/>
                <a:cs typeface="Times New Roman" panose="02020603050405020304" pitchFamily="18" charset="0"/>
              </a:rPr>
              <a:t> </a:t>
            </a:r>
            <a:r>
              <a:rPr lang="en-US" altLang="zh-CN" sz="2000" b="0" spc="-26" dirty="0">
                <a:solidFill>
                  <a:schemeClr val="tx1"/>
                </a:solidFill>
                <a:latin typeface="Times New Roman" panose="02020603050405020304" pitchFamily="18" charset="0"/>
                <a:cs typeface="Times New Roman" panose="02020603050405020304" pitchFamily="18" charset="0"/>
              </a:rPr>
              <a:t>peers</a:t>
            </a:r>
            <a:r>
              <a:rPr lang="en-US" altLang="zh-CN" sz="2000" b="0" spc="-105"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can</a:t>
            </a:r>
            <a:r>
              <a:rPr lang="en-US" altLang="zh-CN" sz="2000" b="0" spc="-124" dirty="0">
                <a:solidFill>
                  <a:schemeClr val="tx1"/>
                </a:solidFill>
                <a:latin typeface="Times New Roman" panose="02020603050405020304" pitchFamily="18" charset="0"/>
                <a:cs typeface="Times New Roman" panose="02020603050405020304" pitchFamily="18" charset="0"/>
              </a:rPr>
              <a:t> </a:t>
            </a:r>
            <a:r>
              <a:rPr lang="en-US" altLang="zh-CN" sz="2000" b="0" spc="-34" dirty="0">
                <a:solidFill>
                  <a:schemeClr val="tx1"/>
                </a:solidFill>
                <a:latin typeface="Times New Roman" panose="02020603050405020304" pitchFamily="18" charset="0"/>
                <a:cs typeface="Times New Roman" panose="02020603050405020304" pitchFamily="18" charset="0"/>
              </a:rPr>
              <a:t>easily</a:t>
            </a:r>
            <a:r>
              <a:rPr lang="en-US" altLang="zh-CN" sz="2000" b="0" spc="-83"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be</a:t>
            </a:r>
            <a:r>
              <a:rPr lang="en-US" altLang="zh-CN" sz="2000" b="0" spc="-131"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compensated.</a:t>
            </a:r>
            <a:endParaRPr lang="en-US" altLang="zh-CN" sz="2000" b="0" dirty="0">
              <a:solidFill>
                <a:schemeClr val="tx1"/>
              </a:solidFill>
              <a:latin typeface="Times New Roman" panose="02020603050405020304" pitchFamily="18" charset="0"/>
              <a:cs typeface="Times New Roman" panose="02020603050405020304" pitchFamily="18" charset="0"/>
            </a:endParaRPr>
          </a:p>
          <a:p>
            <a:pPr marL="800100" marR="3810" lvl="1" indent="-342900">
              <a:spcBef>
                <a:spcPts val="0"/>
              </a:spcBef>
              <a:buClr>
                <a:srgbClr val="0000FF"/>
              </a:buClr>
              <a:buSzPct val="75000"/>
              <a:buFont typeface="Symbol" panose="05050102010706020507" pitchFamily="18" charset="2"/>
              <a:buChar char="-"/>
            </a:pPr>
            <a:r>
              <a:rPr lang="en-US" altLang="zh-CN" sz="2000" b="0" spc="-34" dirty="0">
                <a:solidFill>
                  <a:schemeClr val="tx1"/>
                </a:solidFill>
                <a:latin typeface="Times New Roman" panose="02020603050405020304" pitchFamily="18" charset="0"/>
                <a:cs typeface="Times New Roman" panose="02020603050405020304" pitchFamily="18" charset="0"/>
              </a:rPr>
              <a:t>Have</a:t>
            </a:r>
            <a:r>
              <a:rPr lang="en-US" altLang="zh-CN" sz="2000" b="0" spc="-98"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a</a:t>
            </a:r>
            <a:r>
              <a:rPr lang="en-US" altLang="zh-CN" sz="2000" b="0" spc="-131" dirty="0">
                <a:solidFill>
                  <a:schemeClr val="tx1"/>
                </a:solidFill>
                <a:latin typeface="Times New Roman" panose="02020603050405020304" pitchFamily="18" charset="0"/>
                <a:cs typeface="Times New Roman" panose="02020603050405020304" pitchFamily="18" charset="0"/>
              </a:rPr>
              <a:t> </a:t>
            </a:r>
            <a:r>
              <a:rPr lang="en-US" altLang="zh-CN" sz="2000" b="0" spc="-34" dirty="0">
                <a:solidFill>
                  <a:schemeClr val="tx1"/>
                </a:solidFill>
                <a:latin typeface="Times New Roman" panose="02020603050405020304" pitchFamily="18" charset="0"/>
                <a:cs typeface="Times New Roman" panose="02020603050405020304" pitchFamily="18" charset="0"/>
              </a:rPr>
              <a:t>greater</a:t>
            </a:r>
            <a:r>
              <a:rPr lang="en-US" altLang="zh-CN" sz="2000" b="0" spc="-71" dirty="0">
                <a:solidFill>
                  <a:schemeClr val="tx1"/>
                </a:solidFill>
                <a:latin typeface="Times New Roman" panose="02020603050405020304" pitchFamily="18" charset="0"/>
                <a:cs typeface="Times New Roman" panose="02020603050405020304" pitchFamily="18" charset="0"/>
              </a:rPr>
              <a:t> </a:t>
            </a:r>
            <a:r>
              <a:rPr lang="en-US" altLang="zh-CN" sz="2000" b="0" spc="-34" dirty="0">
                <a:solidFill>
                  <a:schemeClr val="tx1"/>
                </a:solidFill>
                <a:latin typeface="Times New Roman" panose="02020603050405020304" pitchFamily="18" charset="0"/>
                <a:cs typeface="Times New Roman" panose="02020603050405020304" pitchFamily="18" charset="0"/>
              </a:rPr>
              <a:t>degree</a:t>
            </a:r>
            <a:r>
              <a:rPr lang="en-US" altLang="zh-CN" sz="2000" b="0" spc="-75"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of</a:t>
            </a:r>
            <a:r>
              <a:rPr lang="en-US" altLang="zh-CN" sz="2000" b="0" spc="-64" dirty="0">
                <a:solidFill>
                  <a:schemeClr val="tx1"/>
                </a:solidFill>
                <a:latin typeface="Times New Roman" panose="02020603050405020304" pitchFamily="18" charset="0"/>
                <a:cs typeface="Times New Roman" panose="02020603050405020304" pitchFamily="18" charset="0"/>
              </a:rPr>
              <a:t> </a:t>
            </a:r>
            <a:r>
              <a:rPr lang="en-US" altLang="zh-CN" sz="2000" b="0" spc="-53" dirty="0">
                <a:solidFill>
                  <a:schemeClr val="tx1"/>
                </a:solidFill>
                <a:latin typeface="Times New Roman" panose="02020603050405020304" pitchFamily="18" charset="0"/>
                <a:cs typeface="Times New Roman" panose="02020603050405020304" pitchFamily="18" charset="0"/>
              </a:rPr>
              <a:t>autonomous</a:t>
            </a:r>
            <a:r>
              <a:rPr lang="en-US" altLang="zh-CN" sz="2000" b="0" spc="41" dirty="0">
                <a:solidFill>
                  <a:schemeClr val="tx1"/>
                </a:solidFill>
                <a:latin typeface="Times New Roman" panose="02020603050405020304" pitchFamily="18" charset="0"/>
                <a:cs typeface="Times New Roman" panose="02020603050405020304" pitchFamily="18" charset="0"/>
              </a:rPr>
              <a:t> </a:t>
            </a:r>
            <a:r>
              <a:rPr lang="en-US" altLang="zh-CN" sz="2000" b="0" spc="-19" dirty="0">
                <a:solidFill>
                  <a:schemeClr val="tx1"/>
                </a:solidFill>
                <a:latin typeface="Times New Roman" panose="02020603050405020304" pitchFamily="18" charset="0"/>
                <a:cs typeface="Times New Roman" panose="02020603050405020304" pitchFamily="18" charset="0"/>
              </a:rPr>
              <a:t>control </a:t>
            </a:r>
            <a:r>
              <a:rPr lang="en-US" altLang="zh-CN" sz="2000" b="0" spc="-23" dirty="0">
                <a:solidFill>
                  <a:schemeClr val="tx1"/>
                </a:solidFill>
                <a:latin typeface="Times New Roman" panose="02020603050405020304" pitchFamily="18" charset="0"/>
                <a:cs typeface="Times New Roman" panose="02020603050405020304" pitchFamily="18" charset="0"/>
              </a:rPr>
              <a:t>over</a:t>
            </a:r>
            <a:r>
              <a:rPr lang="en-US" altLang="zh-CN" sz="2000" b="0" spc="-109" dirty="0">
                <a:solidFill>
                  <a:schemeClr val="tx1"/>
                </a:solidFill>
                <a:latin typeface="Times New Roman" panose="02020603050405020304" pitchFamily="18" charset="0"/>
                <a:cs typeface="Times New Roman" panose="02020603050405020304" pitchFamily="18" charset="0"/>
              </a:rPr>
              <a:t> </a:t>
            </a:r>
            <a:r>
              <a:rPr lang="en-US" altLang="zh-CN" sz="2000" b="0" spc="-23" dirty="0">
                <a:solidFill>
                  <a:schemeClr val="tx1"/>
                </a:solidFill>
                <a:latin typeface="Times New Roman" panose="02020603050405020304" pitchFamily="18" charset="0"/>
                <a:cs typeface="Times New Roman" panose="02020603050405020304" pitchFamily="18" charset="0"/>
              </a:rPr>
              <a:t>their</a:t>
            </a:r>
            <a:r>
              <a:rPr lang="en-US" altLang="zh-CN" sz="2000" b="0" spc="-75" dirty="0">
                <a:solidFill>
                  <a:schemeClr val="tx1"/>
                </a:solidFill>
                <a:latin typeface="Times New Roman" panose="02020603050405020304" pitchFamily="18" charset="0"/>
                <a:cs typeface="Times New Roman" panose="02020603050405020304" pitchFamily="18" charset="0"/>
              </a:rPr>
              <a:t> </a:t>
            </a:r>
            <a:r>
              <a:rPr lang="en-US" altLang="zh-CN" sz="2000" b="0" spc="-19" dirty="0">
                <a:solidFill>
                  <a:schemeClr val="tx1"/>
                </a:solidFill>
                <a:latin typeface="Times New Roman" panose="02020603050405020304" pitchFamily="18" charset="0"/>
                <a:cs typeface="Times New Roman" panose="02020603050405020304" pitchFamily="18" charset="0"/>
              </a:rPr>
              <a:t>data</a:t>
            </a:r>
            <a:r>
              <a:rPr lang="en-US" altLang="zh-CN" sz="2000" b="0" spc="-113" dirty="0">
                <a:solidFill>
                  <a:schemeClr val="tx1"/>
                </a:solidFill>
                <a:latin typeface="Times New Roman" panose="02020603050405020304" pitchFamily="18" charset="0"/>
                <a:cs typeface="Times New Roman" panose="02020603050405020304" pitchFamily="18" charset="0"/>
              </a:rPr>
              <a:t> </a:t>
            </a:r>
            <a:r>
              <a:rPr lang="en-US" altLang="zh-CN" sz="2000" b="0" spc="-30" dirty="0">
                <a:solidFill>
                  <a:schemeClr val="tx1"/>
                </a:solidFill>
                <a:latin typeface="Times New Roman" panose="02020603050405020304" pitchFamily="18" charset="0"/>
                <a:cs typeface="Times New Roman" panose="02020603050405020304" pitchFamily="18" charset="0"/>
              </a:rPr>
              <a:t>and</a:t>
            </a:r>
            <a:r>
              <a:rPr lang="en-US" altLang="zh-CN" sz="2000" b="0" spc="-101"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resources</a:t>
            </a:r>
          </a:p>
          <a:p>
            <a:pPr marL="342900" marR="3810" indent="-342900">
              <a:spcBef>
                <a:spcPts val="0"/>
              </a:spcBef>
              <a:buClr>
                <a:srgbClr val="0000FF"/>
              </a:buClr>
              <a:buSzPct val="75000"/>
              <a:buFont typeface="Wingdings" panose="05000000000000000000" pitchFamily="2" charset="2"/>
              <a:buChar char="l"/>
            </a:pPr>
            <a:r>
              <a:rPr lang="en-US" altLang="zh-CN" sz="2000" b="0" spc="-15" dirty="0">
                <a:solidFill>
                  <a:schemeClr val="tx1"/>
                </a:solidFill>
                <a:latin typeface="Times New Roman" panose="02020603050405020304" pitchFamily="18" charset="0"/>
                <a:cs typeface="Times New Roman" panose="02020603050405020304" pitchFamily="18" charset="0"/>
              </a:rPr>
              <a:t>Disadvantages</a:t>
            </a:r>
            <a:endParaRPr lang="en-US" altLang="zh-CN" sz="2000" b="0" spc="-15" dirty="0">
              <a:solidFill>
                <a:schemeClr val="tx1"/>
              </a:solidFill>
            </a:endParaRP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Slow</a:t>
            </a:r>
            <a:r>
              <a:rPr lang="en-US" altLang="zh-CN" sz="2000" b="0" spc="-90"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discovery</a:t>
            </a:r>
            <a:r>
              <a:rPr lang="en-US" altLang="zh-CN" sz="2000" b="0" spc="-11" dirty="0">
                <a:solidFill>
                  <a:schemeClr val="tx1"/>
                </a:solidFill>
                <a:latin typeface="Times New Roman" panose="02020603050405020304" pitchFamily="18" charset="0"/>
                <a:cs typeface="Times New Roman" panose="02020603050405020304" pitchFamily="18" charset="0"/>
              </a:rPr>
              <a:t> </a:t>
            </a:r>
            <a:r>
              <a:rPr lang="en-US" altLang="zh-CN" sz="2000" b="0" spc="-15" dirty="0">
                <a:solidFill>
                  <a:schemeClr val="tx1"/>
                </a:solidFill>
                <a:latin typeface="Times New Roman" panose="02020603050405020304" pitchFamily="18" charset="0"/>
                <a:cs typeface="Times New Roman" panose="02020603050405020304" pitchFamily="18" charset="0"/>
              </a:rPr>
              <a:t>time </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No</a:t>
            </a:r>
            <a:r>
              <a:rPr lang="en-US" altLang="zh-CN" sz="2000" b="0" spc="-113" dirty="0">
                <a:solidFill>
                  <a:schemeClr val="tx1"/>
                </a:solidFill>
                <a:latin typeface="Times New Roman" panose="02020603050405020304" pitchFamily="18" charset="0"/>
                <a:cs typeface="Times New Roman" panose="02020603050405020304" pitchFamily="18" charset="0"/>
              </a:rPr>
              <a:t> </a:t>
            </a:r>
            <a:r>
              <a:rPr lang="en-US" altLang="zh-CN" sz="2000" b="0" spc="-26" dirty="0">
                <a:solidFill>
                  <a:schemeClr val="tx1"/>
                </a:solidFill>
                <a:latin typeface="Times New Roman" panose="02020603050405020304" pitchFamily="18" charset="0"/>
                <a:cs typeface="Times New Roman" panose="02020603050405020304" pitchFamily="18" charset="0"/>
              </a:rPr>
              <a:t>guarantee</a:t>
            </a:r>
            <a:r>
              <a:rPr lang="en-US" altLang="zh-CN" sz="2000" b="0" spc="19" dirty="0">
                <a:solidFill>
                  <a:schemeClr val="tx1"/>
                </a:solidFill>
                <a:latin typeface="Times New Roman" panose="02020603050405020304" pitchFamily="18" charset="0"/>
                <a:cs typeface="Times New Roman" panose="02020603050405020304" pitchFamily="18" charset="0"/>
              </a:rPr>
              <a:t> </a:t>
            </a:r>
            <a:r>
              <a:rPr lang="en-US" altLang="zh-CN" sz="2000" b="0" spc="-19" dirty="0">
                <a:solidFill>
                  <a:schemeClr val="tx1"/>
                </a:solidFill>
                <a:latin typeface="Times New Roman" panose="02020603050405020304" pitchFamily="18" charset="0"/>
                <a:cs typeface="Times New Roman" panose="02020603050405020304" pitchFamily="18" charset="0"/>
              </a:rPr>
              <a:t>about</a:t>
            </a:r>
            <a:r>
              <a:rPr lang="en-US" altLang="zh-CN" sz="2000" b="0" spc="-105"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quality</a:t>
            </a:r>
            <a:r>
              <a:rPr lang="en-US" altLang="zh-CN" sz="2000" b="0" spc="-30"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of</a:t>
            </a:r>
            <a:r>
              <a:rPr lang="en-US" altLang="zh-CN" sz="2000" b="0" spc="-56"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services</a:t>
            </a:r>
            <a:endParaRPr lang="en-US" altLang="zh-CN" sz="2000" b="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0404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9</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Hybrid Decentralized Architectures (1) </a:t>
            </a:r>
          </a:p>
        </p:txBody>
      </p:sp>
      <p:pic>
        <p:nvPicPr>
          <p:cNvPr id="4" name="图片 3">
            <a:extLst>
              <a:ext uri="{FF2B5EF4-FFF2-40B4-BE49-F238E27FC236}">
                <a16:creationId xmlns:a16="http://schemas.microsoft.com/office/drawing/2014/main" id="{D8C19572-ECBE-0A16-3B8A-B9E315BF82B6}"/>
              </a:ext>
            </a:extLst>
          </p:cNvPr>
          <p:cNvPicPr>
            <a:picLocks noChangeAspect="1"/>
          </p:cNvPicPr>
          <p:nvPr/>
        </p:nvPicPr>
        <p:blipFill>
          <a:blip r:embed="rId2"/>
          <a:stretch>
            <a:fillRect/>
          </a:stretch>
        </p:blipFill>
        <p:spPr>
          <a:xfrm>
            <a:off x="6295715" y="1691970"/>
            <a:ext cx="2668898" cy="2799088"/>
          </a:xfrm>
          <a:prstGeom prst="rect">
            <a:avLst/>
          </a:prstGeom>
        </p:spPr>
      </p:pic>
      <p:sp>
        <p:nvSpPr>
          <p:cNvPr id="2" name="object 3" descr="$PPTXTitle">
            <a:extLst>
              <a:ext uri="{FF2B5EF4-FFF2-40B4-BE49-F238E27FC236}">
                <a16:creationId xmlns:a16="http://schemas.microsoft.com/office/drawing/2014/main" id="{4A96F23C-0E01-C9A2-FA09-7673CE0AE6B4}"/>
              </a:ext>
            </a:extLst>
          </p:cNvPr>
          <p:cNvSpPr txBox="1">
            <a:spLocks/>
          </p:cNvSpPr>
          <p:nvPr/>
        </p:nvSpPr>
        <p:spPr bwMode="auto">
          <a:xfrm>
            <a:off x="922155" y="827545"/>
            <a:ext cx="5265019" cy="1893307"/>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L="342900" marR="3810" indent="-342900">
              <a:spcBef>
                <a:spcPts val="0"/>
              </a:spcBef>
              <a:buClr>
                <a:srgbClr val="0000FF"/>
              </a:buClr>
              <a:buSzPct val="75000"/>
              <a:buFont typeface="Wingdings" panose="05000000000000000000" pitchFamily="2" charset="2"/>
              <a:buChar char="l"/>
            </a:pPr>
            <a:r>
              <a:rPr lang="en-US" altLang="zh-CN" sz="2000" b="0" spc="-15" dirty="0">
                <a:solidFill>
                  <a:schemeClr val="tx1"/>
                </a:solidFill>
              </a:rPr>
              <a:t>Clients</a:t>
            </a:r>
            <a:r>
              <a:rPr lang="en-US" altLang="zh-CN" sz="2000" b="0" spc="-45" dirty="0">
                <a:solidFill>
                  <a:schemeClr val="tx1"/>
                </a:solidFill>
              </a:rPr>
              <a:t> </a:t>
            </a:r>
            <a:r>
              <a:rPr lang="en-US" altLang="zh-CN" sz="2000" b="0" spc="-15" dirty="0">
                <a:solidFill>
                  <a:schemeClr val="tx1"/>
                </a:solidFill>
              </a:rPr>
              <a:t>send </a:t>
            </a:r>
            <a:r>
              <a:rPr lang="en-US" altLang="zh-CN" sz="2000" b="0" spc="-19" dirty="0">
                <a:solidFill>
                  <a:schemeClr val="tx1"/>
                </a:solidFill>
              </a:rPr>
              <a:t>requests</a:t>
            </a:r>
            <a:r>
              <a:rPr lang="en-US" altLang="zh-CN" sz="2000" b="0" spc="-38" dirty="0">
                <a:solidFill>
                  <a:schemeClr val="tx1"/>
                </a:solidFill>
              </a:rPr>
              <a:t> </a:t>
            </a:r>
            <a:r>
              <a:rPr lang="en-US" altLang="zh-CN" sz="2000" b="0" dirty="0">
                <a:solidFill>
                  <a:schemeClr val="tx1"/>
                </a:solidFill>
              </a:rPr>
              <a:t>for</a:t>
            </a:r>
            <a:r>
              <a:rPr lang="en-US" altLang="zh-CN" sz="2000" b="0" spc="-56" dirty="0">
                <a:solidFill>
                  <a:schemeClr val="tx1"/>
                </a:solidFill>
              </a:rPr>
              <a:t> </a:t>
            </a:r>
            <a:r>
              <a:rPr lang="en-US" altLang="zh-CN" sz="2000" b="0" spc="-8" dirty="0">
                <a:solidFill>
                  <a:schemeClr val="tx1"/>
                </a:solidFill>
              </a:rPr>
              <a:t>files</a:t>
            </a:r>
            <a:r>
              <a:rPr lang="en-US" altLang="zh-CN" sz="2000" b="0" spc="-86" dirty="0">
                <a:solidFill>
                  <a:schemeClr val="tx1"/>
                </a:solidFill>
              </a:rPr>
              <a:t> </a:t>
            </a:r>
            <a:r>
              <a:rPr lang="en-US" altLang="zh-CN" sz="2000" b="0" dirty="0">
                <a:solidFill>
                  <a:schemeClr val="tx1"/>
                </a:solidFill>
              </a:rPr>
              <a:t>to</a:t>
            </a:r>
            <a:r>
              <a:rPr lang="en-US" altLang="zh-CN" sz="2000" b="0" spc="-105" dirty="0">
                <a:solidFill>
                  <a:schemeClr val="tx1"/>
                </a:solidFill>
              </a:rPr>
              <a:t> </a:t>
            </a:r>
            <a:r>
              <a:rPr lang="en-US" altLang="zh-CN" sz="2000" b="0" spc="-23" dirty="0">
                <a:solidFill>
                  <a:schemeClr val="tx1"/>
                </a:solidFill>
              </a:rPr>
              <a:t>the </a:t>
            </a:r>
            <a:r>
              <a:rPr lang="en-US" altLang="zh-CN" sz="2000" b="0" spc="-8" dirty="0">
                <a:solidFill>
                  <a:schemeClr val="tx1"/>
                </a:solidFill>
              </a:rPr>
              <a:t>server</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The</a:t>
            </a:r>
            <a:r>
              <a:rPr lang="en-US" altLang="zh-CN" sz="2000" b="0" spc="-116" dirty="0">
                <a:solidFill>
                  <a:schemeClr val="tx1"/>
                </a:solidFill>
              </a:rPr>
              <a:t> </a:t>
            </a:r>
            <a:r>
              <a:rPr lang="en-US" altLang="zh-CN" sz="2000" b="0" spc="-19" dirty="0">
                <a:solidFill>
                  <a:schemeClr val="tx1"/>
                </a:solidFill>
              </a:rPr>
              <a:t>server</a:t>
            </a:r>
            <a:r>
              <a:rPr lang="en-US" altLang="zh-CN" sz="2000" b="0" spc="-60" dirty="0">
                <a:solidFill>
                  <a:schemeClr val="tx1"/>
                </a:solidFill>
              </a:rPr>
              <a:t> </a:t>
            </a:r>
            <a:r>
              <a:rPr lang="en-US" altLang="zh-CN" sz="2000" b="0" spc="-23" dirty="0">
                <a:solidFill>
                  <a:schemeClr val="tx1"/>
                </a:solidFill>
              </a:rPr>
              <a:t>searches</a:t>
            </a:r>
            <a:r>
              <a:rPr lang="en-US" altLang="zh-CN" sz="2000" b="0" spc="-56" dirty="0">
                <a:solidFill>
                  <a:schemeClr val="tx1"/>
                </a:solidFill>
              </a:rPr>
              <a:t> </a:t>
            </a:r>
            <a:r>
              <a:rPr lang="en-US" altLang="zh-CN" sz="2000" b="0" spc="-19" dirty="0">
                <a:solidFill>
                  <a:schemeClr val="tx1"/>
                </a:solidFill>
              </a:rPr>
              <a:t>for </a:t>
            </a:r>
            <a:r>
              <a:rPr lang="en-US" altLang="zh-CN" sz="2000" b="0" spc="-45" dirty="0">
                <a:solidFill>
                  <a:schemeClr val="tx1"/>
                </a:solidFill>
              </a:rPr>
              <a:t>matches </a:t>
            </a:r>
            <a:r>
              <a:rPr lang="en-US" altLang="zh-CN" sz="2000" b="0" dirty="0">
                <a:solidFill>
                  <a:schemeClr val="tx1"/>
                </a:solidFill>
              </a:rPr>
              <a:t>in</a:t>
            </a:r>
            <a:r>
              <a:rPr lang="en-US" altLang="zh-CN" sz="2000" b="0" spc="-124" dirty="0">
                <a:solidFill>
                  <a:schemeClr val="tx1"/>
                </a:solidFill>
              </a:rPr>
              <a:t> </a:t>
            </a:r>
            <a:r>
              <a:rPr lang="en-US" altLang="zh-CN" sz="2000" b="0" dirty="0">
                <a:solidFill>
                  <a:schemeClr val="tx1"/>
                </a:solidFill>
              </a:rPr>
              <a:t>its</a:t>
            </a:r>
            <a:r>
              <a:rPr lang="en-US" altLang="zh-CN" sz="2000" b="0" spc="-90" dirty="0">
                <a:solidFill>
                  <a:schemeClr val="tx1"/>
                </a:solidFill>
              </a:rPr>
              <a:t> </a:t>
            </a:r>
            <a:r>
              <a:rPr lang="en-US" altLang="zh-CN" sz="2000" b="0" spc="-8" dirty="0">
                <a:solidFill>
                  <a:schemeClr val="tx1"/>
                </a:solidFill>
              </a:rPr>
              <a:t>index, </a:t>
            </a:r>
            <a:r>
              <a:rPr lang="en-US" altLang="zh-CN" sz="2000" b="0" spc="-41" dirty="0">
                <a:solidFill>
                  <a:schemeClr val="tx1"/>
                </a:solidFill>
              </a:rPr>
              <a:t>returning</a:t>
            </a:r>
            <a:r>
              <a:rPr lang="en-US" altLang="zh-CN" sz="2000" b="0" spc="-49" dirty="0">
                <a:solidFill>
                  <a:schemeClr val="tx1"/>
                </a:solidFill>
              </a:rPr>
              <a:t> </a:t>
            </a:r>
            <a:r>
              <a:rPr lang="en-US" altLang="zh-CN" sz="2000" b="0" dirty="0">
                <a:solidFill>
                  <a:schemeClr val="tx1"/>
                </a:solidFill>
              </a:rPr>
              <a:t>a</a:t>
            </a:r>
            <a:r>
              <a:rPr lang="en-US" altLang="zh-CN" sz="2000" b="0" spc="-124" dirty="0">
                <a:solidFill>
                  <a:schemeClr val="tx1"/>
                </a:solidFill>
              </a:rPr>
              <a:t> </a:t>
            </a:r>
            <a:r>
              <a:rPr lang="en-US" altLang="zh-CN" sz="2000" b="0" spc="-8" dirty="0">
                <a:solidFill>
                  <a:schemeClr val="tx1"/>
                </a:solidFill>
              </a:rPr>
              <a:t>list</a:t>
            </a:r>
            <a:r>
              <a:rPr lang="en-US" altLang="zh-CN" sz="2000" b="0" spc="-86" dirty="0">
                <a:solidFill>
                  <a:schemeClr val="tx1"/>
                </a:solidFill>
              </a:rPr>
              <a:t> </a:t>
            </a:r>
            <a:r>
              <a:rPr lang="en-US" altLang="zh-CN" sz="2000" b="0" dirty="0">
                <a:solidFill>
                  <a:schemeClr val="tx1"/>
                </a:solidFill>
              </a:rPr>
              <a:t>of</a:t>
            </a:r>
            <a:r>
              <a:rPr lang="en-US" altLang="zh-CN" sz="2000" b="0" spc="-56" dirty="0">
                <a:solidFill>
                  <a:schemeClr val="tx1"/>
                </a:solidFill>
              </a:rPr>
              <a:t> </a:t>
            </a:r>
            <a:r>
              <a:rPr lang="en-US" altLang="zh-CN" sz="2000" b="0" spc="-38" dirty="0">
                <a:solidFill>
                  <a:schemeClr val="tx1"/>
                </a:solidFill>
              </a:rPr>
              <a:t>users</a:t>
            </a:r>
            <a:r>
              <a:rPr lang="en-US" altLang="zh-CN" sz="2000" b="0" spc="-79" dirty="0">
                <a:solidFill>
                  <a:schemeClr val="tx1"/>
                </a:solidFill>
              </a:rPr>
              <a:t> </a:t>
            </a:r>
            <a:r>
              <a:rPr lang="en-US" altLang="zh-CN" sz="2000" b="0" spc="-23" dirty="0">
                <a:solidFill>
                  <a:schemeClr val="tx1"/>
                </a:solidFill>
              </a:rPr>
              <a:t>that </a:t>
            </a:r>
            <a:r>
              <a:rPr lang="en-US" altLang="zh-CN" sz="2000" b="0" spc="-8" dirty="0">
                <a:solidFill>
                  <a:schemeClr val="tx1"/>
                </a:solidFill>
              </a:rPr>
              <a:t>hold</a:t>
            </a:r>
            <a:r>
              <a:rPr lang="en-US" altLang="zh-CN" sz="2000" b="0" spc="-101" dirty="0">
                <a:solidFill>
                  <a:schemeClr val="tx1"/>
                </a:solidFill>
              </a:rPr>
              <a:t> </a:t>
            </a:r>
            <a:r>
              <a:rPr lang="en-US" altLang="zh-CN" sz="2000" b="0" dirty="0">
                <a:solidFill>
                  <a:schemeClr val="tx1"/>
                </a:solidFill>
              </a:rPr>
              <a:t>the</a:t>
            </a:r>
            <a:r>
              <a:rPr lang="en-US" altLang="zh-CN" sz="2000" b="0" spc="-113" dirty="0">
                <a:solidFill>
                  <a:schemeClr val="tx1"/>
                </a:solidFill>
              </a:rPr>
              <a:t> </a:t>
            </a:r>
            <a:r>
              <a:rPr lang="en-US" altLang="zh-CN" sz="2000" b="0" spc="-26" dirty="0">
                <a:solidFill>
                  <a:schemeClr val="tx1"/>
                </a:solidFill>
              </a:rPr>
              <a:t>matching</a:t>
            </a:r>
            <a:r>
              <a:rPr lang="en-US" altLang="zh-CN" sz="2000" b="0" spc="11" dirty="0">
                <a:solidFill>
                  <a:schemeClr val="tx1"/>
                </a:solidFill>
              </a:rPr>
              <a:t> </a:t>
            </a:r>
            <a:r>
              <a:rPr lang="en-US" altLang="zh-CN" sz="2000" b="0" spc="-8" dirty="0">
                <a:solidFill>
                  <a:schemeClr val="tx1"/>
                </a:solidFill>
              </a:rPr>
              <a:t>file.</a:t>
            </a:r>
            <a:endParaRPr lang="en-US" altLang="zh-CN" sz="2000" b="0" dirty="0">
              <a:solidFill>
                <a:schemeClr val="tx1"/>
              </a:solidFill>
            </a:endParaRPr>
          </a:p>
          <a:p>
            <a:pPr marL="342900" marR="3810" indent="-342900">
              <a:spcBef>
                <a:spcPts val="0"/>
              </a:spcBef>
              <a:buClr>
                <a:srgbClr val="0000FF"/>
              </a:buClr>
              <a:buSzPct val="75000"/>
              <a:buFont typeface="Wingdings" panose="05000000000000000000" pitchFamily="2" charset="2"/>
              <a:buChar char="l"/>
            </a:pPr>
            <a:r>
              <a:rPr lang="en-US" altLang="zh-CN" sz="2000" b="0" spc="-41" dirty="0">
                <a:solidFill>
                  <a:schemeClr val="tx1"/>
                </a:solidFill>
              </a:rPr>
              <a:t>The</a:t>
            </a:r>
            <a:r>
              <a:rPr lang="en-US" altLang="zh-CN" sz="2000" b="0" spc="-86" dirty="0">
                <a:solidFill>
                  <a:schemeClr val="tx1"/>
                </a:solidFill>
              </a:rPr>
              <a:t> </a:t>
            </a:r>
            <a:r>
              <a:rPr lang="en-US" altLang="zh-CN" sz="2000" b="0" spc="-34" dirty="0">
                <a:solidFill>
                  <a:schemeClr val="tx1"/>
                </a:solidFill>
              </a:rPr>
              <a:t>user</a:t>
            </a:r>
            <a:r>
              <a:rPr lang="en-US" altLang="zh-CN" sz="2000" b="0" spc="-79" dirty="0">
                <a:solidFill>
                  <a:schemeClr val="tx1"/>
                </a:solidFill>
              </a:rPr>
              <a:t> </a:t>
            </a:r>
            <a:r>
              <a:rPr lang="en-US" altLang="zh-CN" sz="2000" b="0" spc="-23" dirty="0">
                <a:solidFill>
                  <a:schemeClr val="tx1"/>
                </a:solidFill>
              </a:rPr>
              <a:t>then</a:t>
            </a:r>
            <a:r>
              <a:rPr lang="en-US" altLang="zh-CN" sz="2000" b="0" spc="-79" dirty="0">
                <a:solidFill>
                  <a:schemeClr val="tx1"/>
                </a:solidFill>
              </a:rPr>
              <a:t> </a:t>
            </a:r>
            <a:r>
              <a:rPr lang="en-US" altLang="zh-CN" sz="2000" b="0" spc="-53" dirty="0">
                <a:solidFill>
                  <a:schemeClr val="tx1"/>
                </a:solidFill>
              </a:rPr>
              <a:t>opens</a:t>
            </a:r>
            <a:r>
              <a:rPr lang="en-US" altLang="zh-CN" sz="2000" b="0" spc="-71" dirty="0">
                <a:solidFill>
                  <a:schemeClr val="tx1"/>
                </a:solidFill>
              </a:rPr>
              <a:t> </a:t>
            </a:r>
            <a:r>
              <a:rPr lang="en-US" altLang="zh-CN" sz="2000" b="0" spc="-8" dirty="0">
                <a:solidFill>
                  <a:schemeClr val="tx1"/>
                </a:solidFill>
              </a:rPr>
              <a:t>direct connections</a:t>
            </a:r>
            <a:r>
              <a:rPr lang="en-US" altLang="zh-CN" sz="2000" b="0" spc="86" dirty="0">
                <a:solidFill>
                  <a:schemeClr val="tx1"/>
                </a:solidFill>
              </a:rPr>
              <a:t> </a:t>
            </a:r>
            <a:r>
              <a:rPr lang="en-US" altLang="zh-CN" sz="2000" b="0" dirty="0">
                <a:solidFill>
                  <a:schemeClr val="tx1"/>
                </a:solidFill>
              </a:rPr>
              <a:t>with</a:t>
            </a:r>
            <a:r>
              <a:rPr lang="en-US" altLang="zh-CN" sz="2000" b="0" spc="-49" dirty="0">
                <a:solidFill>
                  <a:schemeClr val="tx1"/>
                </a:solidFill>
              </a:rPr>
              <a:t> </a:t>
            </a:r>
            <a:r>
              <a:rPr lang="en-US" altLang="zh-CN" sz="2000" b="0" dirty="0">
                <a:solidFill>
                  <a:schemeClr val="tx1"/>
                </a:solidFill>
              </a:rPr>
              <a:t>one</a:t>
            </a:r>
            <a:r>
              <a:rPr lang="en-US" altLang="zh-CN" sz="2000" b="0" spc="-68" dirty="0">
                <a:solidFill>
                  <a:schemeClr val="tx1"/>
                </a:solidFill>
              </a:rPr>
              <a:t> </a:t>
            </a:r>
            <a:r>
              <a:rPr lang="en-US" altLang="zh-CN" sz="2000" b="0" spc="-19" dirty="0">
                <a:solidFill>
                  <a:schemeClr val="tx1"/>
                </a:solidFill>
              </a:rPr>
              <a:t>or </a:t>
            </a:r>
            <a:r>
              <a:rPr lang="en-US" altLang="zh-CN" sz="2000" b="0" spc="-15" dirty="0">
                <a:solidFill>
                  <a:schemeClr val="tx1"/>
                </a:solidFill>
              </a:rPr>
              <a:t>more</a:t>
            </a:r>
            <a:r>
              <a:rPr lang="en-US" altLang="zh-CN" sz="2000" b="0" spc="-109" dirty="0">
                <a:solidFill>
                  <a:schemeClr val="tx1"/>
                </a:solidFill>
              </a:rPr>
              <a:t> </a:t>
            </a:r>
            <a:r>
              <a:rPr lang="en-US" altLang="zh-CN" sz="2000" b="0" dirty="0">
                <a:solidFill>
                  <a:schemeClr val="tx1"/>
                </a:solidFill>
              </a:rPr>
              <a:t>of</a:t>
            </a:r>
            <a:r>
              <a:rPr lang="en-US" altLang="zh-CN" sz="2000" b="0" spc="-75" dirty="0">
                <a:solidFill>
                  <a:schemeClr val="tx1"/>
                </a:solidFill>
              </a:rPr>
              <a:t> </a:t>
            </a:r>
            <a:r>
              <a:rPr lang="en-US" altLang="zh-CN" sz="2000" b="0" spc="-8" dirty="0">
                <a:solidFill>
                  <a:schemeClr val="tx1"/>
                </a:solidFill>
              </a:rPr>
              <a:t>the</a:t>
            </a:r>
            <a:r>
              <a:rPr lang="en-US" altLang="zh-CN" sz="2000" b="0" spc="-113" dirty="0">
                <a:solidFill>
                  <a:schemeClr val="tx1"/>
                </a:solidFill>
              </a:rPr>
              <a:t> </a:t>
            </a:r>
            <a:r>
              <a:rPr lang="en-US" altLang="zh-CN" sz="2000" b="0" dirty="0">
                <a:solidFill>
                  <a:schemeClr val="tx1"/>
                </a:solidFill>
              </a:rPr>
              <a:t>peers</a:t>
            </a:r>
            <a:r>
              <a:rPr lang="en-US" altLang="zh-CN" sz="2000" b="0" spc="-94" dirty="0">
                <a:solidFill>
                  <a:schemeClr val="tx1"/>
                </a:solidFill>
              </a:rPr>
              <a:t> </a:t>
            </a:r>
            <a:r>
              <a:rPr lang="en-US" altLang="zh-CN" sz="2000" b="0" dirty="0">
                <a:solidFill>
                  <a:schemeClr val="tx1"/>
                </a:solidFill>
              </a:rPr>
              <a:t>that</a:t>
            </a:r>
            <a:r>
              <a:rPr lang="en-US" altLang="zh-CN" sz="2000" b="0" spc="-98" dirty="0">
                <a:solidFill>
                  <a:schemeClr val="tx1"/>
                </a:solidFill>
              </a:rPr>
              <a:t> </a:t>
            </a:r>
            <a:r>
              <a:rPr lang="en-US" altLang="zh-CN" sz="2000" b="0" spc="-15" dirty="0">
                <a:solidFill>
                  <a:schemeClr val="tx1"/>
                </a:solidFill>
              </a:rPr>
              <a:t>hold </a:t>
            </a:r>
            <a:r>
              <a:rPr lang="en-US" altLang="zh-CN" sz="2000" b="0" dirty="0">
                <a:solidFill>
                  <a:schemeClr val="tx1"/>
                </a:solidFill>
              </a:rPr>
              <a:t>the</a:t>
            </a:r>
            <a:r>
              <a:rPr lang="en-US" altLang="zh-CN" sz="2000" b="0" spc="-71" dirty="0">
                <a:solidFill>
                  <a:schemeClr val="tx1"/>
                </a:solidFill>
              </a:rPr>
              <a:t> </a:t>
            </a:r>
            <a:r>
              <a:rPr lang="en-US" altLang="zh-CN" sz="2000" b="0" spc="-26" dirty="0">
                <a:solidFill>
                  <a:schemeClr val="tx1"/>
                </a:solidFill>
              </a:rPr>
              <a:t>requested</a:t>
            </a:r>
            <a:r>
              <a:rPr lang="en-US" altLang="zh-CN" sz="2000" b="0" spc="-79" dirty="0">
                <a:solidFill>
                  <a:schemeClr val="tx1"/>
                </a:solidFill>
              </a:rPr>
              <a:t> </a:t>
            </a:r>
            <a:r>
              <a:rPr lang="en-US" altLang="zh-CN" sz="2000" b="0" dirty="0">
                <a:solidFill>
                  <a:schemeClr val="tx1"/>
                </a:solidFill>
              </a:rPr>
              <a:t>file,</a:t>
            </a:r>
            <a:r>
              <a:rPr lang="en-US" altLang="zh-CN" sz="2000" b="0" spc="-79" dirty="0">
                <a:solidFill>
                  <a:schemeClr val="tx1"/>
                </a:solidFill>
              </a:rPr>
              <a:t> </a:t>
            </a:r>
            <a:r>
              <a:rPr lang="en-US" altLang="zh-CN" sz="2000" b="0" spc="-19" dirty="0">
                <a:solidFill>
                  <a:schemeClr val="tx1"/>
                </a:solidFill>
              </a:rPr>
              <a:t>and </a:t>
            </a:r>
            <a:r>
              <a:rPr lang="en-US" altLang="zh-CN" sz="2000" b="0" spc="-49" dirty="0">
                <a:solidFill>
                  <a:schemeClr val="tx1"/>
                </a:solidFill>
              </a:rPr>
              <a:t>downloads</a:t>
            </a:r>
            <a:r>
              <a:rPr lang="en-US" altLang="zh-CN" sz="2000" b="0" spc="-15" dirty="0">
                <a:solidFill>
                  <a:schemeClr val="tx1"/>
                </a:solidFill>
              </a:rPr>
              <a:t> </a:t>
            </a:r>
            <a:r>
              <a:rPr lang="en-US" altLang="zh-CN" sz="2000" b="0" spc="-19" dirty="0">
                <a:solidFill>
                  <a:schemeClr val="tx1"/>
                </a:solidFill>
              </a:rPr>
              <a:t>it</a:t>
            </a:r>
            <a:endParaRPr lang="en-US" altLang="zh-CN" sz="2000" b="0" dirty="0">
              <a:solidFill>
                <a:schemeClr val="tx1"/>
              </a:solidFill>
            </a:endParaRPr>
          </a:p>
        </p:txBody>
      </p:sp>
    </p:spTree>
    <p:extLst>
      <p:ext uri="{BB962C8B-B14F-4D97-AF65-F5344CB8AC3E}">
        <p14:creationId xmlns:p14="http://schemas.microsoft.com/office/powerpoint/2010/main" val="228174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10</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Hybrid Decentralized Architectures (2) </a:t>
            </a:r>
          </a:p>
        </p:txBody>
      </p:sp>
      <p:sp>
        <p:nvSpPr>
          <p:cNvPr id="2" name="object 3" descr="$PPTXTitle">
            <a:extLst>
              <a:ext uri="{FF2B5EF4-FFF2-40B4-BE49-F238E27FC236}">
                <a16:creationId xmlns:a16="http://schemas.microsoft.com/office/drawing/2014/main" id="{4A96F23C-0E01-C9A2-FA09-7673CE0AE6B4}"/>
              </a:ext>
            </a:extLst>
          </p:cNvPr>
          <p:cNvSpPr txBox="1">
            <a:spLocks/>
          </p:cNvSpPr>
          <p:nvPr/>
        </p:nvSpPr>
        <p:spPr bwMode="auto">
          <a:xfrm>
            <a:off x="922155" y="855655"/>
            <a:ext cx="7709836" cy="3432189"/>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L="342900" marR="3810" indent="-342900">
              <a:spcBef>
                <a:spcPts val="0"/>
              </a:spcBef>
              <a:buClr>
                <a:srgbClr val="0000FF"/>
              </a:buClr>
              <a:buSzPct val="75000"/>
              <a:buFont typeface="Wingdings" panose="05000000000000000000" pitchFamily="2" charset="2"/>
              <a:buChar char="l"/>
            </a:pPr>
            <a:r>
              <a:rPr lang="en-US" altLang="zh-CN" sz="2000" b="0" spc="-15" dirty="0">
                <a:solidFill>
                  <a:schemeClr val="tx1"/>
                </a:solidFill>
              </a:rPr>
              <a:t>Napster</a:t>
            </a:r>
            <a:r>
              <a:rPr lang="en-US" altLang="zh-CN" sz="2000" b="0" spc="-8" dirty="0">
                <a:solidFill>
                  <a:schemeClr val="tx1"/>
                </a:solidFill>
              </a:rPr>
              <a:t> - </a:t>
            </a:r>
            <a:r>
              <a:rPr lang="en-US" altLang="zh-CN" sz="2000" b="0" dirty="0">
                <a:solidFill>
                  <a:schemeClr val="tx1"/>
                </a:solidFill>
              </a:rPr>
              <a:t>Application-level, client-server protocol over point to­ point TCP, centralized system </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Retrieval -  Four steps </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Connect to Napster server</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Upload your list of files (push) to server.</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Give server keywords to search the full list with</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Select "best" of correct answers. (pings)</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Centralized server: single logical point of failure, can load balance among servers using DNS rotation, potential for congestion </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No security: passwords in plain text, no authentication,</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No anonymity</a:t>
            </a:r>
          </a:p>
        </p:txBody>
      </p:sp>
    </p:spTree>
    <p:extLst>
      <p:ext uri="{BB962C8B-B14F-4D97-AF65-F5344CB8AC3E}">
        <p14:creationId xmlns:p14="http://schemas.microsoft.com/office/powerpoint/2010/main" val="2200160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11</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Hybrid Decentralized Architectures (3) </a:t>
            </a:r>
          </a:p>
        </p:txBody>
      </p:sp>
      <p:sp>
        <p:nvSpPr>
          <p:cNvPr id="2" name="object 3" descr="$PPTXTitle">
            <a:extLst>
              <a:ext uri="{FF2B5EF4-FFF2-40B4-BE49-F238E27FC236}">
                <a16:creationId xmlns:a16="http://schemas.microsoft.com/office/drawing/2014/main" id="{4A96F23C-0E01-C9A2-FA09-7673CE0AE6B4}"/>
              </a:ext>
            </a:extLst>
          </p:cNvPr>
          <p:cNvSpPr txBox="1">
            <a:spLocks/>
          </p:cNvSpPr>
          <p:nvPr/>
        </p:nvSpPr>
        <p:spPr bwMode="auto">
          <a:xfrm>
            <a:off x="1043314" y="845856"/>
            <a:ext cx="7215162" cy="2970524"/>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L="342900" marR="3810" indent="-342900">
              <a:spcBef>
                <a:spcPts val="0"/>
              </a:spcBef>
              <a:buClr>
                <a:srgbClr val="0000FF"/>
              </a:buClr>
              <a:buSzPct val="75000"/>
              <a:buFont typeface="Wingdings" panose="05000000000000000000" pitchFamily="2" charset="2"/>
              <a:buChar char="l"/>
            </a:pPr>
            <a:r>
              <a:rPr lang="en-US" altLang="zh-CN" sz="2000" b="0" spc="-8" dirty="0">
                <a:solidFill>
                  <a:schemeClr val="tx1"/>
                </a:solidFill>
              </a:rPr>
              <a:t>Advantages</a:t>
            </a:r>
            <a:endParaRPr lang="en-US" altLang="zh-CN" sz="2000" b="0" dirty="0">
              <a:solidFill>
                <a:schemeClr val="tx1"/>
              </a:solidFill>
            </a:endParaRPr>
          </a:p>
          <a:p>
            <a:pPr marL="800100" marR="3810" lvl="1" indent="-342900">
              <a:spcBef>
                <a:spcPts val="0"/>
              </a:spcBef>
              <a:buClr>
                <a:srgbClr val="0000FF"/>
              </a:buClr>
              <a:buSzPct val="75000"/>
              <a:buFont typeface="Symbol" panose="05050102010706020507" pitchFamily="18" charset="2"/>
              <a:buChar char="-"/>
            </a:pPr>
            <a:r>
              <a:rPr lang="en-US" altLang="zh-CN" sz="2000" b="0" spc="-68" dirty="0">
                <a:solidFill>
                  <a:schemeClr val="tx1"/>
                </a:solidFill>
                <a:latin typeface="Times New Roman" panose="02020603050405020304" pitchFamily="18" charset="0"/>
                <a:cs typeface="Times New Roman" panose="02020603050405020304" pitchFamily="18" charset="0"/>
              </a:rPr>
              <a:t>Easy</a:t>
            </a:r>
            <a:r>
              <a:rPr lang="en-US" altLang="zh-CN" sz="2000" b="0" spc="-56" dirty="0">
                <a:solidFill>
                  <a:schemeClr val="tx1"/>
                </a:solidFill>
                <a:latin typeface="Times New Roman" panose="02020603050405020304" pitchFamily="18" charset="0"/>
                <a:cs typeface="Times New Roman" panose="02020603050405020304" pitchFamily="18" charset="0"/>
              </a:rPr>
              <a:t> </a:t>
            </a:r>
            <a:r>
              <a:rPr lang="en-US" altLang="zh-CN" sz="2000" b="0" spc="-23" dirty="0">
                <a:solidFill>
                  <a:schemeClr val="tx1"/>
                </a:solidFill>
                <a:latin typeface="Times New Roman" panose="02020603050405020304" pitchFamily="18" charset="0"/>
                <a:cs typeface="Times New Roman" panose="02020603050405020304" pitchFamily="18" charset="0"/>
              </a:rPr>
              <a:t>to</a:t>
            </a:r>
            <a:r>
              <a:rPr lang="en-US" altLang="zh-CN" sz="2000" b="0" spc="-94"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implement</a:t>
            </a:r>
            <a:endParaRPr lang="en-US" altLang="zh-CN" sz="2000" b="0" dirty="0">
              <a:solidFill>
                <a:schemeClr val="tx1"/>
              </a:solidFill>
              <a:latin typeface="Times New Roman" panose="02020603050405020304" pitchFamily="18" charset="0"/>
              <a:cs typeface="Times New Roman" panose="02020603050405020304" pitchFamily="18" charset="0"/>
            </a:endParaRPr>
          </a:p>
          <a:p>
            <a:pPr marL="800100" marR="3810" lvl="1" indent="-342900">
              <a:spcBef>
                <a:spcPts val="0"/>
              </a:spcBef>
              <a:buClr>
                <a:srgbClr val="0000FF"/>
              </a:buClr>
              <a:buSzPct val="75000"/>
              <a:buFont typeface="Symbol" panose="05050102010706020507" pitchFamily="18" charset="2"/>
              <a:buChar char="-"/>
            </a:pPr>
            <a:r>
              <a:rPr lang="en-US" altLang="zh-CN" sz="2000" b="0" spc="-86" dirty="0">
                <a:solidFill>
                  <a:schemeClr val="tx1"/>
                </a:solidFill>
                <a:latin typeface="Times New Roman" panose="02020603050405020304" pitchFamily="18" charset="0"/>
                <a:cs typeface="Times New Roman" panose="02020603050405020304" pitchFamily="18" charset="0"/>
              </a:rPr>
              <a:t>Locate</a:t>
            </a:r>
            <a:r>
              <a:rPr lang="en-US" altLang="zh-CN" sz="2000" b="0" spc="-38" dirty="0">
                <a:solidFill>
                  <a:schemeClr val="tx1"/>
                </a:solidFill>
                <a:latin typeface="Times New Roman" panose="02020603050405020304" pitchFamily="18" charset="0"/>
                <a:cs typeface="Times New Roman" panose="02020603050405020304" pitchFamily="18" charset="0"/>
              </a:rPr>
              <a:t> </a:t>
            </a:r>
            <a:r>
              <a:rPr lang="en-US" altLang="zh-CN" sz="2000" b="0" spc="-60" dirty="0">
                <a:solidFill>
                  <a:schemeClr val="tx1"/>
                </a:solidFill>
                <a:latin typeface="Times New Roman" panose="02020603050405020304" pitchFamily="18" charset="0"/>
                <a:cs typeface="Times New Roman" panose="02020603050405020304" pitchFamily="18" charset="0"/>
              </a:rPr>
              <a:t>files</a:t>
            </a:r>
            <a:r>
              <a:rPr lang="en-US" altLang="zh-CN" sz="2000" b="0" spc="-64" dirty="0">
                <a:solidFill>
                  <a:schemeClr val="tx1"/>
                </a:solidFill>
                <a:latin typeface="Times New Roman" panose="02020603050405020304" pitchFamily="18" charset="0"/>
                <a:cs typeface="Times New Roman" panose="02020603050405020304" pitchFamily="18" charset="0"/>
              </a:rPr>
              <a:t> </a:t>
            </a:r>
            <a:r>
              <a:rPr lang="en-US" altLang="zh-CN" sz="2000" b="0" spc="-71" dirty="0">
                <a:solidFill>
                  <a:schemeClr val="tx1"/>
                </a:solidFill>
                <a:latin typeface="Times New Roman" panose="02020603050405020304" pitchFamily="18" charset="0"/>
                <a:cs typeface="Times New Roman" panose="02020603050405020304" pitchFamily="18" charset="0"/>
              </a:rPr>
              <a:t>quickly</a:t>
            </a:r>
            <a:r>
              <a:rPr lang="en-US" altLang="zh-CN" sz="2000" b="0" spc="11" dirty="0">
                <a:solidFill>
                  <a:schemeClr val="tx1"/>
                </a:solidFill>
                <a:latin typeface="Times New Roman" panose="02020603050405020304" pitchFamily="18" charset="0"/>
                <a:cs typeface="Times New Roman" panose="02020603050405020304" pitchFamily="18" charset="0"/>
              </a:rPr>
              <a:t> </a:t>
            </a:r>
            <a:r>
              <a:rPr lang="en-US" altLang="zh-CN" sz="2000" b="0" spc="-105" dirty="0">
                <a:solidFill>
                  <a:schemeClr val="tx1"/>
                </a:solidFill>
                <a:latin typeface="Times New Roman" panose="02020603050405020304" pitchFamily="18" charset="0"/>
                <a:cs typeface="Times New Roman" panose="02020603050405020304" pitchFamily="18" charset="0"/>
              </a:rPr>
              <a:t>and</a:t>
            </a:r>
            <a:r>
              <a:rPr lang="en-US" altLang="zh-CN" sz="2000" b="0" spc="-19"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efficiently</a:t>
            </a:r>
            <a:endParaRPr lang="en-US" altLang="zh-CN" sz="2000" b="0" dirty="0">
              <a:solidFill>
                <a:schemeClr val="tx1"/>
              </a:solidFill>
              <a:latin typeface="Times New Roman" panose="02020603050405020304" pitchFamily="18" charset="0"/>
              <a:cs typeface="Times New Roman" panose="02020603050405020304" pitchFamily="18" charset="0"/>
            </a:endParaRPr>
          </a:p>
          <a:p>
            <a:pPr marL="352425" indent="-342900">
              <a:spcBef>
                <a:spcPts val="424"/>
              </a:spcBef>
              <a:buClr>
                <a:srgbClr val="0000FF"/>
              </a:buClr>
              <a:buSzPct val="75000"/>
              <a:buFont typeface="Wingdings" panose="05000000000000000000" pitchFamily="2" charset="2"/>
              <a:buChar char="l"/>
            </a:pPr>
            <a:r>
              <a:rPr lang="en-US" altLang="zh-CN" sz="2000" b="0" spc="-8" dirty="0">
                <a:solidFill>
                  <a:schemeClr val="tx1"/>
                </a:solidFill>
              </a:rPr>
              <a:t>Disadvantages</a:t>
            </a:r>
            <a:endParaRPr lang="en-US" altLang="zh-CN" sz="2000" b="0" dirty="0">
              <a:solidFill>
                <a:schemeClr val="tx1"/>
              </a:solidFill>
            </a:endParaRPr>
          </a:p>
          <a:p>
            <a:pPr marL="809625" lvl="1" indent="-342900">
              <a:spcBef>
                <a:spcPts val="424"/>
              </a:spcBef>
              <a:buClr>
                <a:srgbClr val="0000FF"/>
              </a:buClr>
              <a:buSzPct val="75000"/>
              <a:buFont typeface="Symbol" panose="05050102010706020507" pitchFamily="18" charset="2"/>
              <a:buChar char="-"/>
            </a:pPr>
            <a:r>
              <a:rPr lang="en-US" altLang="zh-CN" sz="2000" b="0" spc="-60" dirty="0">
                <a:solidFill>
                  <a:schemeClr val="tx1"/>
                </a:solidFill>
                <a:latin typeface="Times New Roman" panose="02020603050405020304" pitchFamily="18" charset="0"/>
                <a:cs typeface="Times New Roman" panose="02020603050405020304" pitchFamily="18" charset="0"/>
              </a:rPr>
              <a:t>Vulnerable</a:t>
            </a:r>
            <a:r>
              <a:rPr lang="en-US" altLang="zh-CN" sz="2000" b="0" spc="-53" dirty="0">
                <a:solidFill>
                  <a:schemeClr val="tx1"/>
                </a:solidFill>
                <a:latin typeface="Times New Roman" panose="02020603050405020304" pitchFamily="18" charset="0"/>
                <a:cs typeface="Times New Roman" panose="02020603050405020304" pitchFamily="18" charset="0"/>
              </a:rPr>
              <a:t> </a:t>
            </a:r>
            <a:r>
              <a:rPr lang="en-US" altLang="zh-CN" sz="2000" b="0" dirty="0">
                <a:solidFill>
                  <a:schemeClr val="tx1"/>
                </a:solidFill>
                <a:latin typeface="Times New Roman" panose="02020603050405020304" pitchFamily="18" charset="0"/>
                <a:cs typeface="Times New Roman" panose="02020603050405020304" pitchFamily="18" charset="0"/>
              </a:rPr>
              <a:t>to</a:t>
            </a:r>
            <a:r>
              <a:rPr lang="en-US" altLang="zh-CN" sz="2000" b="0" spc="-98" dirty="0">
                <a:solidFill>
                  <a:schemeClr val="tx1"/>
                </a:solidFill>
                <a:latin typeface="Times New Roman" panose="02020603050405020304" pitchFamily="18" charset="0"/>
                <a:cs typeface="Times New Roman" panose="02020603050405020304" pitchFamily="18" charset="0"/>
              </a:rPr>
              <a:t> </a:t>
            </a:r>
            <a:r>
              <a:rPr lang="en-US" altLang="zh-CN" sz="2000" b="0" spc="-41" dirty="0">
                <a:solidFill>
                  <a:schemeClr val="tx1"/>
                </a:solidFill>
                <a:latin typeface="Times New Roman" panose="02020603050405020304" pitchFamily="18" charset="0"/>
                <a:cs typeface="Times New Roman" panose="02020603050405020304" pitchFamily="18" charset="0"/>
              </a:rPr>
              <a:t>censorship,</a:t>
            </a:r>
            <a:r>
              <a:rPr lang="en-US" altLang="zh-CN" sz="2000" b="0" dirty="0">
                <a:solidFill>
                  <a:schemeClr val="tx1"/>
                </a:solidFill>
                <a:latin typeface="Times New Roman" panose="02020603050405020304" pitchFamily="18" charset="0"/>
                <a:cs typeface="Times New Roman" panose="02020603050405020304" pitchFamily="18" charset="0"/>
              </a:rPr>
              <a:t> </a:t>
            </a:r>
            <a:r>
              <a:rPr lang="en-US" altLang="zh-CN" sz="2000" b="0" spc="-26" dirty="0">
                <a:solidFill>
                  <a:schemeClr val="tx1"/>
                </a:solidFill>
                <a:latin typeface="Times New Roman" panose="02020603050405020304" pitchFamily="18" charset="0"/>
                <a:cs typeface="Times New Roman" panose="02020603050405020304" pitchFamily="18" charset="0"/>
              </a:rPr>
              <a:t>legal</a:t>
            </a:r>
            <a:r>
              <a:rPr lang="en-US" altLang="zh-CN" sz="2000" b="0" spc="-86" dirty="0">
                <a:solidFill>
                  <a:schemeClr val="tx1"/>
                </a:solidFill>
                <a:latin typeface="Times New Roman" panose="02020603050405020304" pitchFamily="18" charset="0"/>
                <a:cs typeface="Times New Roman" panose="02020603050405020304" pitchFamily="18" charset="0"/>
              </a:rPr>
              <a:t> </a:t>
            </a:r>
            <a:r>
              <a:rPr lang="en-US" altLang="zh-CN" sz="2000" b="0" spc="-30" dirty="0">
                <a:solidFill>
                  <a:schemeClr val="tx1"/>
                </a:solidFill>
                <a:latin typeface="Times New Roman" panose="02020603050405020304" pitchFamily="18" charset="0"/>
                <a:cs typeface="Times New Roman" panose="02020603050405020304" pitchFamily="18" charset="0"/>
              </a:rPr>
              <a:t>action,</a:t>
            </a:r>
            <a:r>
              <a:rPr lang="en-US" altLang="zh-CN" sz="2000" b="0" spc="-60" dirty="0">
                <a:solidFill>
                  <a:schemeClr val="tx1"/>
                </a:solidFill>
                <a:latin typeface="Times New Roman" panose="02020603050405020304" pitchFamily="18" charset="0"/>
                <a:cs typeface="Times New Roman" panose="02020603050405020304" pitchFamily="18" charset="0"/>
              </a:rPr>
              <a:t> </a:t>
            </a:r>
            <a:r>
              <a:rPr lang="en-US" altLang="zh-CN" sz="2000" b="0" spc="-26" dirty="0">
                <a:solidFill>
                  <a:schemeClr val="tx1"/>
                </a:solidFill>
                <a:latin typeface="Times New Roman" panose="02020603050405020304" pitchFamily="18" charset="0"/>
                <a:cs typeface="Times New Roman" panose="02020603050405020304" pitchFamily="18" charset="0"/>
              </a:rPr>
              <a:t>surveillance, </a:t>
            </a:r>
            <a:r>
              <a:rPr lang="en-US" altLang="zh-CN" sz="2000" b="0" spc="-38" dirty="0">
                <a:solidFill>
                  <a:schemeClr val="tx1"/>
                </a:solidFill>
                <a:latin typeface="Times New Roman" panose="02020603050405020304" pitchFamily="18" charset="0"/>
                <a:cs typeface="Times New Roman" panose="02020603050405020304" pitchFamily="18" charset="0"/>
              </a:rPr>
              <a:t>malicious</a:t>
            </a:r>
            <a:r>
              <a:rPr lang="en-US" altLang="zh-CN" sz="2000" b="0" spc="-60" dirty="0">
                <a:solidFill>
                  <a:schemeClr val="tx1"/>
                </a:solidFill>
                <a:latin typeface="Times New Roman" panose="02020603050405020304" pitchFamily="18" charset="0"/>
                <a:cs typeface="Times New Roman" panose="02020603050405020304" pitchFamily="18" charset="0"/>
              </a:rPr>
              <a:t> </a:t>
            </a:r>
            <a:r>
              <a:rPr lang="en-US" altLang="zh-CN" sz="2000" b="0" spc="-34" dirty="0">
                <a:solidFill>
                  <a:schemeClr val="tx1"/>
                </a:solidFill>
                <a:latin typeface="Times New Roman" panose="02020603050405020304" pitchFamily="18" charset="0"/>
                <a:cs typeface="Times New Roman" panose="02020603050405020304" pitchFamily="18" charset="0"/>
              </a:rPr>
              <a:t>attack,</a:t>
            </a:r>
            <a:r>
              <a:rPr lang="en-US" altLang="zh-CN" sz="2000" b="0" spc="-68" dirty="0">
                <a:solidFill>
                  <a:schemeClr val="tx1"/>
                </a:solidFill>
                <a:latin typeface="Times New Roman" panose="02020603050405020304" pitchFamily="18" charset="0"/>
                <a:cs typeface="Times New Roman" panose="02020603050405020304" pitchFamily="18" charset="0"/>
              </a:rPr>
              <a:t> </a:t>
            </a:r>
            <a:r>
              <a:rPr lang="en-US" altLang="zh-CN" sz="2000" b="0" spc="-15" dirty="0">
                <a:solidFill>
                  <a:schemeClr val="tx1"/>
                </a:solidFill>
                <a:latin typeface="Times New Roman" panose="02020603050405020304" pitchFamily="18" charset="0"/>
                <a:cs typeface="Times New Roman" panose="02020603050405020304" pitchFamily="18" charset="0"/>
              </a:rPr>
              <a:t>and</a:t>
            </a:r>
            <a:r>
              <a:rPr lang="en-US" altLang="zh-CN" sz="2000" b="0" spc="-105" dirty="0">
                <a:solidFill>
                  <a:schemeClr val="tx1"/>
                </a:solidFill>
                <a:latin typeface="Times New Roman" panose="02020603050405020304" pitchFamily="18" charset="0"/>
                <a:cs typeface="Times New Roman" panose="02020603050405020304" pitchFamily="18" charset="0"/>
              </a:rPr>
              <a:t> </a:t>
            </a:r>
            <a:r>
              <a:rPr lang="en-US" altLang="zh-CN" sz="2000" b="0" spc="-38" dirty="0">
                <a:solidFill>
                  <a:schemeClr val="tx1"/>
                </a:solidFill>
                <a:latin typeface="Times New Roman" panose="02020603050405020304" pitchFamily="18" charset="0"/>
                <a:cs typeface="Times New Roman" panose="02020603050405020304" pitchFamily="18" charset="0"/>
              </a:rPr>
              <a:t>technical</a:t>
            </a:r>
            <a:r>
              <a:rPr lang="en-US" altLang="zh-CN" sz="2000" b="0" spc="-26"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failure </a:t>
            </a:r>
          </a:p>
          <a:p>
            <a:pPr marL="809625" lvl="1" indent="-342900">
              <a:spcBef>
                <a:spcPts val="424"/>
              </a:spcBef>
              <a:buClr>
                <a:srgbClr val="0000FF"/>
              </a:buClr>
              <a:buSzPct val="75000"/>
              <a:buFont typeface="Symbol" panose="05050102010706020507" pitchFamily="18" charset="2"/>
              <a:buChar char="-"/>
            </a:pPr>
            <a:r>
              <a:rPr lang="en-US" altLang="zh-CN" sz="2000" b="0" spc="-41" dirty="0">
                <a:solidFill>
                  <a:schemeClr val="tx1"/>
                </a:solidFill>
                <a:latin typeface="Times New Roman" panose="02020603050405020304" pitchFamily="18" charset="0"/>
                <a:cs typeface="Times New Roman" panose="02020603050405020304" pitchFamily="18" charset="0"/>
              </a:rPr>
              <a:t>Considered</a:t>
            </a:r>
            <a:r>
              <a:rPr lang="en-US" altLang="zh-CN" sz="2000" b="0" spc="-79" dirty="0">
                <a:solidFill>
                  <a:schemeClr val="tx1"/>
                </a:solidFill>
                <a:latin typeface="Times New Roman" panose="02020603050405020304" pitchFamily="18" charset="0"/>
                <a:cs typeface="Times New Roman" panose="02020603050405020304" pitchFamily="18" charset="0"/>
              </a:rPr>
              <a:t> </a:t>
            </a:r>
            <a:r>
              <a:rPr lang="en-US" altLang="zh-CN" sz="2000" b="0" spc="-30" dirty="0">
                <a:solidFill>
                  <a:schemeClr val="tx1"/>
                </a:solidFill>
                <a:latin typeface="Times New Roman" panose="02020603050405020304" pitchFamily="18" charset="0"/>
                <a:cs typeface="Times New Roman" panose="02020603050405020304" pitchFamily="18" charset="0"/>
              </a:rPr>
              <a:t>inherently</a:t>
            </a:r>
            <a:r>
              <a:rPr lang="en-US" altLang="zh-CN" sz="2000" b="0" spc="-75" dirty="0">
                <a:solidFill>
                  <a:schemeClr val="tx1"/>
                </a:solidFill>
                <a:latin typeface="Times New Roman" panose="02020603050405020304" pitchFamily="18" charset="0"/>
                <a:cs typeface="Times New Roman" panose="02020603050405020304" pitchFamily="18" charset="0"/>
              </a:rPr>
              <a:t> </a:t>
            </a:r>
            <a:r>
              <a:rPr lang="en-US" altLang="zh-CN" sz="2000" b="0" spc="-41" dirty="0">
                <a:solidFill>
                  <a:schemeClr val="tx1"/>
                </a:solidFill>
                <a:latin typeface="Times New Roman" panose="02020603050405020304" pitchFamily="18" charset="0"/>
                <a:cs typeface="Times New Roman" panose="02020603050405020304" pitchFamily="18" charset="0"/>
              </a:rPr>
              <a:t>unscalable </a:t>
            </a:r>
            <a:r>
              <a:rPr lang="en-US" altLang="zh-CN" sz="2000" b="0" spc="-15" dirty="0">
                <a:solidFill>
                  <a:schemeClr val="tx1"/>
                </a:solidFill>
                <a:latin typeface="Times New Roman" panose="02020603050405020304" pitchFamily="18" charset="0"/>
                <a:cs typeface="Times New Roman" panose="02020603050405020304" pitchFamily="18" charset="0"/>
              </a:rPr>
              <a:t>as</a:t>
            </a:r>
            <a:r>
              <a:rPr lang="en-US" altLang="zh-CN" sz="2000" b="0" spc="-105"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they</a:t>
            </a:r>
            <a:r>
              <a:rPr lang="en-US" altLang="zh-CN" sz="2000" b="0" spc="-83" dirty="0">
                <a:solidFill>
                  <a:schemeClr val="tx1"/>
                </a:solidFill>
                <a:latin typeface="Times New Roman" panose="02020603050405020304" pitchFamily="18" charset="0"/>
                <a:cs typeface="Times New Roman" panose="02020603050405020304" pitchFamily="18" charset="0"/>
              </a:rPr>
              <a:t> </a:t>
            </a:r>
            <a:r>
              <a:rPr lang="en-US" altLang="zh-CN" sz="2000" b="0" spc="-19" dirty="0">
                <a:solidFill>
                  <a:schemeClr val="tx1"/>
                </a:solidFill>
                <a:latin typeface="Times New Roman" panose="02020603050405020304" pitchFamily="18" charset="0"/>
                <a:cs typeface="Times New Roman" panose="02020603050405020304" pitchFamily="18" charset="0"/>
              </a:rPr>
              <a:t>are</a:t>
            </a:r>
            <a:r>
              <a:rPr lang="en-US" altLang="zh-CN" sz="2000" b="0" spc="-101" dirty="0">
                <a:solidFill>
                  <a:schemeClr val="tx1"/>
                </a:solidFill>
                <a:latin typeface="Times New Roman" panose="02020603050405020304" pitchFamily="18" charset="0"/>
                <a:cs typeface="Times New Roman" panose="02020603050405020304" pitchFamily="18" charset="0"/>
              </a:rPr>
              <a:t> </a:t>
            </a:r>
            <a:r>
              <a:rPr lang="en-US" altLang="zh-CN" sz="2000" b="0" spc="-26" dirty="0">
                <a:solidFill>
                  <a:schemeClr val="tx1"/>
                </a:solidFill>
                <a:latin typeface="Times New Roman" panose="02020603050405020304" pitchFamily="18" charset="0"/>
                <a:cs typeface="Times New Roman" panose="02020603050405020304" pitchFamily="18" charset="0"/>
              </a:rPr>
              <a:t>bound</a:t>
            </a:r>
            <a:r>
              <a:rPr lang="en-US" altLang="zh-CN" sz="2000" b="0" spc="-94" dirty="0">
                <a:solidFill>
                  <a:schemeClr val="tx1"/>
                </a:solidFill>
                <a:latin typeface="Times New Roman" panose="02020603050405020304" pitchFamily="18" charset="0"/>
                <a:cs typeface="Times New Roman" panose="02020603050405020304" pitchFamily="18" charset="0"/>
              </a:rPr>
              <a:t> </a:t>
            </a:r>
            <a:r>
              <a:rPr lang="en-US" altLang="zh-CN" sz="2000" b="0" spc="-19" dirty="0">
                <a:solidFill>
                  <a:schemeClr val="tx1"/>
                </a:solidFill>
                <a:latin typeface="Times New Roman" panose="02020603050405020304" pitchFamily="18" charset="0"/>
                <a:cs typeface="Times New Roman" panose="02020603050405020304" pitchFamily="18" charset="0"/>
              </a:rPr>
              <a:t>to </a:t>
            </a:r>
            <a:r>
              <a:rPr lang="en-US" altLang="zh-CN" sz="2000" b="0" spc="-79" dirty="0">
                <a:solidFill>
                  <a:schemeClr val="tx1"/>
                </a:solidFill>
                <a:latin typeface="Times New Roman" panose="02020603050405020304" pitchFamily="18" charset="0"/>
                <a:cs typeface="Times New Roman" panose="02020603050405020304" pitchFamily="18" charset="0"/>
              </a:rPr>
              <a:t>be</a:t>
            </a:r>
            <a:r>
              <a:rPr lang="en-US" altLang="zh-CN" sz="2000" b="0" spc="-49" dirty="0">
                <a:solidFill>
                  <a:schemeClr val="tx1"/>
                </a:solidFill>
                <a:latin typeface="Times New Roman" panose="02020603050405020304" pitchFamily="18" charset="0"/>
                <a:cs typeface="Times New Roman" panose="02020603050405020304" pitchFamily="18" charset="0"/>
              </a:rPr>
              <a:t> </a:t>
            </a:r>
            <a:r>
              <a:rPr lang="en-US" altLang="zh-CN" sz="2000" b="0" spc="-71" dirty="0">
                <a:solidFill>
                  <a:schemeClr val="tx1"/>
                </a:solidFill>
                <a:latin typeface="Times New Roman" panose="02020603050405020304" pitchFamily="18" charset="0"/>
                <a:cs typeface="Times New Roman" panose="02020603050405020304" pitchFamily="18" charset="0"/>
              </a:rPr>
              <a:t>limitations</a:t>
            </a:r>
            <a:r>
              <a:rPr lang="en-US" altLang="zh-CN" sz="2000" b="0" spc="-53" dirty="0">
                <a:solidFill>
                  <a:schemeClr val="tx1"/>
                </a:solidFill>
                <a:latin typeface="Times New Roman" panose="02020603050405020304" pitchFamily="18" charset="0"/>
                <a:cs typeface="Times New Roman" panose="02020603050405020304" pitchFamily="18" charset="0"/>
              </a:rPr>
              <a:t> </a:t>
            </a:r>
            <a:r>
              <a:rPr lang="en-US" altLang="zh-CN" sz="2000" b="0" spc="-64" dirty="0">
                <a:solidFill>
                  <a:schemeClr val="tx1"/>
                </a:solidFill>
                <a:latin typeface="Times New Roman" panose="02020603050405020304" pitchFamily="18" charset="0"/>
                <a:cs typeface="Times New Roman" panose="02020603050405020304" pitchFamily="18" charset="0"/>
              </a:rPr>
              <a:t>to</a:t>
            </a:r>
            <a:r>
              <a:rPr lang="en-US" altLang="zh-CN" sz="2000" b="0" spc="-60" dirty="0">
                <a:solidFill>
                  <a:schemeClr val="tx1"/>
                </a:solidFill>
                <a:latin typeface="Times New Roman" panose="02020603050405020304" pitchFamily="18" charset="0"/>
                <a:cs typeface="Times New Roman" panose="02020603050405020304" pitchFamily="18" charset="0"/>
              </a:rPr>
              <a:t> </a:t>
            </a:r>
            <a:r>
              <a:rPr lang="en-US" altLang="zh-CN" sz="2000" b="0" spc="-68" dirty="0">
                <a:solidFill>
                  <a:schemeClr val="tx1"/>
                </a:solidFill>
                <a:latin typeface="Times New Roman" panose="02020603050405020304" pitchFamily="18" charset="0"/>
                <a:cs typeface="Times New Roman" panose="02020603050405020304" pitchFamily="18" charset="0"/>
              </a:rPr>
              <a:t>the</a:t>
            </a:r>
            <a:r>
              <a:rPr lang="en-US" altLang="zh-CN" sz="2000" b="0" spc="-56" dirty="0">
                <a:solidFill>
                  <a:schemeClr val="tx1"/>
                </a:solidFill>
                <a:latin typeface="Times New Roman" panose="02020603050405020304" pitchFamily="18" charset="0"/>
                <a:cs typeface="Times New Roman" panose="02020603050405020304" pitchFamily="18" charset="0"/>
              </a:rPr>
              <a:t> </a:t>
            </a:r>
            <a:r>
              <a:rPr lang="en-US" altLang="zh-CN" sz="2000" b="0" spc="-75" dirty="0">
                <a:solidFill>
                  <a:schemeClr val="tx1"/>
                </a:solidFill>
                <a:latin typeface="Times New Roman" panose="02020603050405020304" pitchFamily="18" charset="0"/>
                <a:cs typeface="Times New Roman" panose="02020603050405020304" pitchFamily="18" charset="0"/>
              </a:rPr>
              <a:t>size</a:t>
            </a:r>
            <a:r>
              <a:rPr lang="en-US" altLang="zh-CN" sz="2000" b="0" spc="-49" dirty="0">
                <a:solidFill>
                  <a:schemeClr val="tx1"/>
                </a:solidFill>
                <a:latin typeface="Times New Roman" panose="02020603050405020304" pitchFamily="18" charset="0"/>
                <a:cs typeface="Times New Roman" panose="02020603050405020304" pitchFamily="18" charset="0"/>
              </a:rPr>
              <a:t> </a:t>
            </a:r>
            <a:r>
              <a:rPr lang="en-US" altLang="zh-CN" sz="2000" b="0" spc="-68" dirty="0">
                <a:solidFill>
                  <a:schemeClr val="tx1"/>
                </a:solidFill>
                <a:latin typeface="Times New Roman" panose="02020603050405020304" pitchFamily="18" charset="0"/>
                <a:cs typeface="Times New Roman" panose="02020603050405020304" pitchFamily="18" charset="0"/>
              </a:rPr>
              <a:t>of</a:t>
            </a:r>
            <a:r>
              <a:rPr lang="en-US" altLang="zh-CN" sz="2000" b="0" spc="-56" dirty="0">
                <a:solidFill>
                  <a:schemeClr val="tx1"/>
                </a:solidFill>
                <a:latin typeface="Times New Roman" panose="02020603050405020304" pitchFamily="18" charset="0"/>
                <a:cs typeface="Times New Roman" panose="02020603050405020304" pitchFamily="18" charset="0"/>
              </a:rPr>
              <a:t> </a:t>
            </a:r>
            <a:r>
              <a:rPr lang="en-US" altLang="zh-CN" sz="2000" b="0" spc="-79" dirty="0">
                <a:solidFill>
                  <a:schemeClr val="tx1"/>
                </a:solidFill>
                <a:latin typeface="Times New Roman" panose="02020603050405020304" pitchFamily="18" charset="0"/>
                <a:cs typeface="Times New Roman" panose="02020603050405020304" pitchFamily="18" charset="0"/>
              </a:rPr>
              <a:t>the</a:t>
            </a:r>
            <a:r>
              <a:rPr lang="en-US" altLang="zh-CN" sz="2000" b="0" spc="-45" dirty="0">
                <a:solidFill>
                  <a:schemeClr val="tx1"/>
                </a:solidFill>
                <a:latin typeface="Times New Roman" panose="02020603050405020304" pitchFamily="18" charset="0"/>
                <a:cs typeface="Times New Roman" panose="02020603050405020304" pitchFamily="18" charset="0"/>
              </a:rPr>
              <a:t> </a:t>
            </a:r>
            <a:r>
              <a:rPr lang="en-US" altLang="zh-CN" sz="2000" b="0" spc="-79" dirty="0">
                <a:solidFill>
                  <a:schemeClr val="tx1"/>
                </a:solidFill>
                <a:latin typeface="Times New Roman" panose="02020603050405020304" pitchFamily="18" charset="0"/>
                <a:cs typeface="Times New Roman" panose="02020603050405020304" pitchFamily="18" charset="0"/>
              </a:rPr>
              <a:t>server</a:t>
            </a:r>
            <a:r>
              <a:rPr lang="en-US" altLang="zh-CN" sz="2000" b="0" spc="19" dirty="0">
                <a:solidFill>
                  <a:schemeClr val="tx1"/>
                </a:solidFill>
                <a:latin typeface="Times New Roman" panose="02020603050405020304" pitchFamily="18" charset="0"/>
                <a:cs typeface="Times New Roman" panose="02020603050405020304" pitchFamily="18" charset="0"/>
              </a:rPr>
              <a:t> </a:t>
            </a:r>
            <a:r>
              <a:rPr lang="en-US" altLang="zh-CN" sz="2000" b="0" spc="-90" dirty="0">
                <a:solidFill>
                  <a:schemeClr val="tx1"/>
                </a:solidFill>
                <a:latin typeface="Times New Roman" panose="02020603050405020304" pitchFamily="18" charset="0"/>
                <a:cs typeface="Times New Roman" panose="02020603050405020304" pitchFamily="18" charset="0"/>
              </a:rPr>
              <a:t>database</a:t>
            </a:r>
            <a:r>
              <a:rPr lang="en-US" altLang="zh-CN" sz="2000" b="0" spc="49" dirty="0">
                <a:solidFill>
                  <a:schemeClr val="tx1"/>
                </a:solidFill>
                <a:latin typeface="Times New Roman" panose="02020603050405020304" pitchFamily="18" charset="0"/>
                <a:cs typeface="Times New Roman" panose="02020603050405020304" pitchFamily="18" charset="0"/>
              </a:rPr>
              <a:t> </a:t>
            </a:r>
            <a:r>
              <a:rPr lang="en-US" altLang="zh-CN" sz="2000" b="0" spc="-109" dirty="0">
                <a:solidFill>
                  <a:schemeClr val="tx1"/>
                </a:solidFill>
                <a:latin typeface="Times New Roman" panose="02020603050405020304" pitchFamily="18" charset="0"/>
                <a:cs typeface="Times New Roman" panose="02020603050405020304" pitchFamily="18" charset="0"/>
              </a:rPr>
              <a:t>and</a:t>
            </a:r>
            <a:r>
              <a:rPr lang="en-US" altLang="zh-CN" sz="2000" b="0" spc="-15" dirty="0">
                <a:solidFill>
                  <a:schemeClr val="tx1"/>
                </a:solidFill>
                <a:latin typeface="Times New Roman" panose="02020603050405020304" pitchFamily="18" charset="0"/>
                <a:cs typeface="Times New Roman" panose="02020603050405020304" pitchFamily="18" charset="0"/>
              </a:rPr>
              <a:t> </a:t>
            </a:r>
            <a:r>
              <a:rPr lang="en-US" altLang="zh-CN" sz="2000" b="0" spc="-19" dirty="0">
                <a:solidFill>
                  <a:schemeClr val="tx1"/>
                </a:solidFill>
                <a:latin typeface="Times New Roman" panose="02020603050405020304" pitchFamily="18" charset="0"/>
                <a:cs typeface="Times New Roman" panose="02020603050405020304" pitchFamily="18" charset="0"/>
              </a:rPr>
              <a:t>its </a:t>
            </a:r>
            <a:r>
              <a:rPr lang="en-US" altLang="zh-CN" sz="2000" b="0" spc="-53" dirty="0">
                <a:solidFill>
                  <a:schemeClr val="tx1"/>
                </a:solidFill>
                <a:latin typeface="Times New Roman" panose="02020603050405020304" pitchFamily="18" charset="0"/>
                <a:cs typeface="Times New Roman" panose="02020603050405020304" pitchFamily="18" charset="0"/>
              </a:rPr>
              <a:t>capacity</a:t>
            </a:r>
            <a:r>
              <a:rPr lang="en-US" altLang="zh-CN" sz="2000" b="0" spc="-71" dirty="0">
                <a:solidFill>
                  <a:schemeClr val="tx1"/>
                </a:solidFill>
                <a:latin typeface="Times New Roman" panose="02020603050405020304" pitchFamily="18" charset="0"/>
                <a:cs typeface="Times New Roman" panose="02020603050405020304" pitchFamily="18" charset="0"/>
              </a:rPr>
              <a:t> </a:t>
            </a:r>
            <a:r>
              <a:rPr lang="en-US" altLang="zh-CN" sz="2000" b="0" spc="-23" dirty="0">
                <a:solidFill>
                  <a:schemeClr val="tx1"/>
                </a:solidFill>
                <a:latin typeface="Times New Roman" panose="02020603050405020304" pitchFamily="18" charset="0"/>
                <a:cs typeface="Times New Roman" panose="02020603050405020304" pitchFamily="18" charset="0"/>
              </a:rPr>
              <a:t>to</a:t>
            </a:r>
            <a:r>
              <a:rPr lang="en-US" altLang="zh-CN" sz="2000" b="0" spc="-98" dirty="0">
                <a:solidFill>
                  <a:schemeClr val="tx1"/>
                </a:solidFill>
                <a:latin typeface="Times New Roman" panose="02020603050405020304" pitchFamily="18" charset="0"/>
                <a:cs typeface="Times New Roman" panose="02020603050405020304" pitchFamily="18" charset="0"/>
              </a:rPr>
              <a:t> </a:t>
            </a:r>
            <a:r>
              <a:rPr lang="en-US" altLang="zh-CN" sz="2000" b="0" spc="-68" dirty="0">
                <a:solidFill>
                  <a:schemeClr val="tx1"/>
                </a:solidFill>
                <a:latin typeface="Times New Roman" panose="02020603050405020304" pitchFamily="18" charset="0"/>
                <a:cs typeface="Times New Roman" panose="02020603050405020304" pitchFamily="18" charset="0"/>
              </a:rPr>
              <a:t>respond</a:t>
            </a:r>
            <a:r>
              <a:rPr lang="en-US" altLang="zh-CN" sz="2000" b="0" spc="-19" dirty="0">
                <a:solidFill>
                  <a:schemeClr val="tx1"/>
                </a:solidFill>
                <a:latin typeface="Times New Roman" panose="02020603050405020304" pitchFamily="18" charset="0"/>
                <a:cs typeface="Times New Roman" panose="02020603050405020304" pitchFamily="18" charset="0"/>
              </a:rPr>
              <a:t> </a:t>
            </a:r>
            <a:r>
              <a:rPr lang="en-US" altLang="zh-CN" sz="2000" b="0" spc="-56" dirty="0">
                <a:solidFill>
                  <a:schemeClr val="tx1"/>
                </a:solidFill>
                <a:latin typeface="Times New Roman" panose="02020603050405020304" pitchFamily="18" charset="0"/>
                <a:cs typeface="Times New Roman" panose="02020603050405020304" pitchFamily="18" charset="0"/>
              </a:rPr>
              <a:t>to</a:t>
            </a:r>
            <a:r>
              <a:rPr lang="en-US" altLang="zh-CN" sz="2000" b="0" spc="-68" dirty="0">
                <a:solidFill>
                  <a:schemeClr val="tx1"/>
                </a:solidFill>
                <a:latin typeface="Times New Roman" panose="02020603050405020304" pitchFamily="18" charset="0"/>
                <a:cs typeface="Times New Roman" panose="02020603050405020304" pitchFamily="18" charset="0"/>
              </a:rPr>
              <a:t> </a:t>
            </a:r>
            <a:r>
              <a:rPr lang="en-US" altLang="zh-CN" sz="2000" b="0" spc="-8" dirty="0">
                <a:solidFill>
                  <a:schemeClr val="tx1"/>
                </a:solidFill>
                <a:latin typeface="Times New Roman" panose="02020603050405020304" pitchFamily="18" charset="0"/>
                <a:cs typeface="Times New Roman" panose="02020603050405020304" pitchFamily="18" charset="0"/>
              </a:rPr>
              <a:t>queries.</a:t>
            </a:r>
            <a:endParaRPr lang="en-US" altLang="zh-CN" sz="2000" b="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5859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12</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Hybrid Decentralized Architectures (4)</a:t>
            </a:r>
          </a:p>
        </p:txBody>
      </p:sp>
      <p:grpSp>
        <p:nvGrpSpPr>
          <p:cNvPr id="14" name="组合 13">
            <a:extLst>
              <a:ext uri="{FF2B5EF4-FFF2-40B4-BE49-F238E27FC236}">
                <a16:creationId xmlns:a16="http://schemas.microsoft.com/office/drawing/2014/main" id="{1183D225-C8FC-AA0E-6D40-678BC2CF6D6E}"/>
              </a:ext>
            </a:extLst>
          </p:cNvPr>
          <p:cNvGrpSpPr/>
          <p:nvPr/>
        </p:nvGrpSpPr>
        <p:grpSpPr>
          <a:xfrm>
            <a:off x="2574141" y="1231396"/>
            <a:ext cx="3995718" cy="3200374"/>
            <a:chOff x="2891020" y="1231396"/>
            <a:chExt cx="3995718" cy="3200374"/>
          </a:xfrm>
        </p:grpSpPr>
        <p:grpSp>
          <p:nvGrpSpPr>
            <p:cNvPr id="9" name="组合 8">
              <a:extLst>
                <a:ext uri="{FF2B5EF4-FFF2-40B4-BE49-F238E27FC236}">
                  <a16:creationId xmlns:a16="http://schemas.microsoft.com/office/drawing/2014/main" id="{C9F58C8A-DDA8-7517-AE39-44AC44C034B5}"/>
                </a:ext>
              </a:extLst>
            </p:cNvPr>
            <p:cNvGrpSpPr/>
            <p:nvPr/>
          </p:nvGrpSpPr>
          <p:grpSpPr>
            <a:xfrm>
              <a:off x="2891020" y="1231396"/>
              <a:ext cx="3995718" cy="2881592"/>
              <a:chOff x="3273358" y="1411275"/>
              <a:chExt cx="3995718" cy="2881592"/>
            </a:xfrm>
          </p:grpSpPr>
          <p:pic>
            <p:nvPicPr>
              <p:cNvPr id="6" name="图片 5">
                <a:extLst>
                  <a:ext uri="{FF2B5EF4-FFF2-40B4-BE49-F238E27FC236}">
                    <a16:creationId xmlns:a16="http://schemas.microsoft.com/office/drawing/2014/main" id="{3D6A8D0B-17C3-65D1-227E-0B1E1774B6C4}"/>
                  </a:ext>
                </a:extLst>
              </p:cNvPr>
              <p:cNvPicPr>
                <a:picLocks noChangeAspect="1"/>
              </p:cNvPicPr>
              <p:nvPr/>
            </p:nvPicPr>
            <p:blipFill>
              <a:blip r:embed="rId2"/>
              <a:srcRect t="889"/>
              <a:stretch/>
            </p:blipFill>
            <p:spPr>
              <a:xfrm>
                <a:off x="3273358" y="1765699"/>
                <a:ext cx="3995718" cy="2527168"/>
              </a:xfrm>
              <a:prstGeom prst="rect">
                <a:avLst/>
              </a:prstGeom>
            </p:spPr>
          </p:pic>
          <p:sp>
            <p:nvSpPr>
              <p:cNvPr id="7" name="object 3" descr="$PPTXTitle">
                <a:extLst>
                  <a:ext uri="{FF2B5EF4-FFF2-40B4-BE49-F238E27FC236}">
                    <a16:creationId xmlns:a16="http://schemas.microsoft.com/office/drawing/2014/main" id="{9FA01F98-FA3E-1DF6-F066-55D00191C0BD}"/>
                  </a:ext>
                </a:extLst>
              </p:cNvPr>
              <p:cNvSpPr txBox="1">
                <a:spLocks/>
              </p:cNvSpPr>
              <p:nvPr/>
            </p:nvSpPr>
            <p:spPr bwMode="auto">
              <a:xfrm>
                <a:off x="4739506" y="1411275"/>
                <a:ext cx="1880402" cy="354424"/>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R="3810">
                  <a:spcBef>
                    <a:spcPts val="0"/>
                  </a:spcBef>
                  <a:buClr>
                    <a:srgbClr val="0000FF"/>
                  </a:buClr>
                  <a:buSzPct val="75000"/>
                </a:pPr>
                <a:r>
                  <a:rPr lang="en-US" altLang="zh-CN" sz="2000" b="0" dirty="0">
                    <a:solidFill>
                      <a:schemeClr val="tx1"/>
                    </a:solidFill>
                  </a:rPr>
                  <a:t>Napster Computer</a:t>
                </a:r>
              </a:p>
            </p:txBody>
          </p:sp>
        </p:grpSp>
        <p:sp>
          <p:nvSpPr>
            <p:cNvPr id="2" name="object 3" descr="$PPTXTitle">
              <a:extLst>
                <a:ext uri="{FF2B5EF4-FFF2-40B4-BE49-F238E27FC236}">
                  <a16:creationId xmlns:a16="http://schemas.microsoft.com/office/drawing/2014/main" id="{4A96F23C-0E01-C9A2-FA09-7673CE0AE6B4}"/>
                </a:ext>
              </a:extLst>
            </p:cNvPr>
            <p:cNvSpPr txBox="1">
              <a:spLocks/>
            </p:cNvSpPr>
            <p:nvPr/>
          </p:nvSpPr>
          <p:spPr bwMode="auto">
            <a:xfrm>
              <a:off x="3957546" y="4138902"/>
              <a:ext cx="2387600" cy="292868"/>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R="3810">
                <a:spcBef>
                  <a:spcPts val="0"/>
                </a:spcBef>
                <a:buClr>
                  <a:srgbClr val="0000FF"/>
                </a:buClr>
                <a:buSzPct val="75000"/>
              </a:pPr>
              <a:r>
                <a:rPr lang="en-US" altLang="zh-CN" sz="1600" b="0" dirty="0">
                  <a:solidFill>
                    <a:schemeClr val="tx1"/>
                  </a:solidFill>
                </a:rPr>
                <a:t>Step 1: File list is uploaded</a:t>
              </a:r>
            </a:p>
          </p:txBody>
        </p:sp>
      </p:grpSp>
      <p:sp>
        <p:nvSpPr>
          <p:cNvPr id="13" name="object 3" descr="$PPTXTitle">
            <a:extLst>
              <a:ext uri="{FF2B5EF4-FFF2-40B4-BE49-F238E27FC236}">
                <a16:creationId xmlns:a16="http://schemas.microsoft.com/office/drawing/2014/main" id="{37F7FCC1-30D4-D82C-5373-10CFA0B7EA12}"/>
              </a:ext>
            </a:extLst>
          </p:cNvPr>
          <p:cNvSpPr txBox="1">
            <a:spLocks/>
          </p:cNvSpPr>
          <p:nvPr/>
        </p:nvSpPr>
        <p:spPr bwMode="auto">
          <a:xfrm>
            <a:off x="1079899" y="876972"/>
            <a:ext cx="7215162" cy="354424"/>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L="342900" marR="3810" indent="-342900">
              <a:spcBef>
                <a:spcPts val="0"/>
              </a:spcBef>
              <a:buClr>
                <a:srgbClr val="0000FF"/>
              </a:buClr>
              <a:buSzPct val="75000"/>
              <a:buFont typeface="Wingdings" panose="05000000000000000000" pitchFamily="2" charset="2"/>
              <a:buChar char="l"/>
            </a:pPr>
            <a:r>
              <a:rPr lang="en-US" altLang="zh-CN" sz="2000" b="0" spc="-8" dirty="0">
                <a:solidFill>
                  <a:schemeClr val="tx1"/>
                </a:solidFill>
              </a:rPr>
              <a:t>Example - Napster</a:t>
            </a:r>
            <a:endParaRPr lang="en-US" altLang="zh-CN" sz="2000" b="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1279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13</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Hybrid Decentralized Architectures (5)</a:t>
            </a:r>
          </a:p>
        </p:txBody>
      </p:sp>
      <p:grpSp>
        <p:nvGrpSpPr>
          <p:cNvPr id="4" name="组合 3">
            <a:extLst>
              <a:ext uri="{FF2B5EF4-FFF2-40B4-BE49-F238E27FC236}">
                <a16:creationId xmlns:a16="http://schemas.microsoft.com/office/drawing/2014/main" id="{20A9D9AB-F1E9-ACF2-0D0C-8A417A11D7D4}"/>
              </a:ext>
            </a:extLst>
          </p:cNvPr>
          <p:cNvGrpSpPr/>
          <p:nvPr/>
        </p:nvGrpSpPr>
        <p:grpSpPr>
          <a:xfrm>
            <a:off x="2506764" y="1237870"/>
            <a:ext cx="4402037" cy="3132386"/>
            <a:chOff x="2506764" y="1237870"/>
            <a:chExt cx="4402037" cy="3132386"/>
          </a:xfrm>
        </p:grpSpPr>
        <p:grpSp>
          <p:nvGrpSpPr>
            <p:cNvPr id="9" name="组合 8">
              <a:extLst>
                <a:ext uri="{FF2B5EF4-FFF2-40B4-BE49-F238E27FC236}">
                  <a16:creationId xmlns:a16="http://schemas.microsoft.com/office/drawing/2014/main" id="{C9F58C8A-DDA8-7517-AE39-44AC44C034B5}"/>
                </a:ext>
              </a:extLst>
            </p:cNvPr>
            <p:cNvGrpSpPr/>
            <p:nvPr/>
          </p:nvGrpSpPr>
          <p:grpSpPr>
            <a:xfrm>
              <a:off x="2506764" y="1237870"/>
              <a:ext cx="3995718" cy="2871668"/>
              <a:chOff x="3273358" y="1421199"/>
              <a:chExt cx="3995718" cy="2871668"/>
            </a:xfrm>
          </p:grpSpPr>
          <p:pic>
            <p:nvPicPr>
              <p:cNvPr id="6" name="图片 5">
                <a:extLst>
                  <a:ext uri="{FF2B5EF4-FFF2-40B4-BE49-F238E27FC236}">
                    <a16:creationId xmlns:a16="http://schemas.microsoft.com/office/drawing/2014/main" id="{3D6A8D0B-17C3-65D1-227E-0B1E1774B6C4}"/>
                  </a:ext>
                </a:extLst>
              </p:cNvPr>
              <p:cNvPicPr>
                <a:picLocks noChangeAspect="1"/>
              </p:cNvPicPr>
              <p:nvPr/>
            </p:nvPicPr>
            <p:blipFill>
              <a:blip r:embed="rId2"/>
              <a:srcRect t="889"/>
              <a:stretch/>
            </p:blipFill>
            <p:spPr>
              <a:xfrm>
                <a:off x="3273358" y="1765699"/>
                <a:ext cx="3995718" cy="2527168"/>
              </a:xfrm>
              <a:prstGeom prst="rect">
                <a:avLst/>
              </a:prstGeom>
            </p:spPr>
          </p:pic>
          <p:sp>
            <p:nvSpPr>
              <p:cNvPr id="7" name="object 3" descr="$PPTXTitle">
                <a:extLst>
                  <a:ext uri="{FF2B5EF4-FFF2-40B4-BE49-F238E27FC236}">
                    <a16:creationId xmlns:a16="http://schemas.microsoft.com/office/drawing/2014/main" id="{9FA01F98-FA3E-1DF6-F066-55D00191C0BD}"/>
                  </a:ext>
                </a:extLst>
              </p:cNvPr>
              <p:cNvSpPr txBox="1">
                <a:spLocks/>
              </p:cNvSpPr>
              <p:nvPr/>
            </p:nvSpPr>
            <p:spPr bwMode="auto">
              <a:xfrm>
                <a:off x="5021543" y="1421199"/>
                <a:ext cx="1645337" cy="292868"/>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R="3810">
                  <a:spcBef>
                    <a:spcPts val="0"/>
                  </a:spcBef>
                  <a:buClr>
                    <a:srgbClr val="0000FF"/>
                  </a:buClr>
                  <a:buSzPct val="75000"/>
                </a:pPr>
                <a:r>
                  <a:rPr lang="en-US" altLang="zh-CN" sz="1600" b="0" dirty="0">
                    <a:solidFill>
                      <a:schemeClr val="tx1"/>
                    </a:solidFill>
                  </a:rPr>
                  <a:t>Napster Computer</a:t>
                </a:r>
              </a:p>
            </p:txBody>
          </p:sp>
        </p:grpSp>
        <p:sp>
          <p:nvSpPr>
            <p:cNvPr id="2" name="object 3" descr="$PPTXTitle">
              <a:extLst>
                <a:ext uri="{FF2B5EF4-FFF2-40B4-BE49-F238E27FC236}">
                  <a16:creationId xmlns:a16="http://schemas.microsoft.com/office/drawing/2014/main" id="{4A96F23C-0E01-C9A2-FA09-7673CE0AE6B4}"/>
                </a:ext>
              </a:extLst>
            </p:cNvPr>
            <p:cNvSpPr txBox="1">
              <a:spLocks/>
            </p:cNvSpPr>
            <p:nvPr/>
          </p:nvSpPr>
          <p:spPr bwMode="auto">
            <a:xfrm>
              <a:off x="3242733" y="4077388"/>
              <a:ext cx="3666068" cy="292868"/>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R="3810">
                <a:spcBef>
                  <a:spcPts val="0"/>
                </a:spcBef>
                <a:buClr>
                  <a:srgbClr val="0000FF"/>
                </a:buClr>
                <a:buSzPct val="75000"/>
              </a:pPr>
              <a:r>
                <a:rPr lang="en-US" altLang="zh-CN" sz="1600" b="0" dirty="0">
                  <a:solidFill>
                    <a:schemeClr val="tx1"/>
                  </a:solidFill>
                </a:rPr>
                <a:t>Step 2. User requests a search on server</a:t>
              </a:r>
            </a:p>
          </p:txBody>
        </p:sp>
      </p:grpSp>
      <p:sp>
        <p:nvSpPr>
          <p:cNvPr id="3" name="object 3" descr="$PPTXTitle">
            <a:extLst>
              <a:ext uri="{FF2B5EF4-FFF2-40B4-BE49-F238E27FC236}">
                <a16:creationId xmlns:a16="http://schemas.microsoft.com/office/drawing/2014/main" id="{3BA69B6E-10ED-3A9C-F8A6-B11287D99D62}"/>
              </a:ext>
            </a:extLst>
          </p:cNvPr>
          <p:cNvSpPr txBox="1">
            <a:spLocks/>
          </p:cNvSpPr>
          <p:nvPr/>
        </p:nvSpPr>
        <p:spPr bwMode="auto">
          <a:xfrm>
            <a:off x="1070274" y="860286"/>
            <a:ext cx="7215162" cy="354424"/>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L="342900" marR="3810" indent="-342900">
              <a:spcBef>
                <a:spcPts val="0"/>
              </a:spcBef>
              <a:buClr>
                <a:srgbClr val="0000FF"/>
              </a:buClr>
              <a:buSzPct val="75000"/>
              <a:buFont typeface="Wingdings" panose="05000000000000000000" pitchFamily="2" charset="2"/>
              <a:buChar char="l"/>
            </a:pPr>
            <a:r>
              <a:rPr lang="en-US" altLang="zh-CN" sz="2000" b="0" spc="-8" dirty="0">
                <a:solidFill>
                  <a:schemeClr val="tx1"/>
                </a:solidFill>
              </a:rPr>
              <a:t>Example - Napster</a:t>
            </a:r>
            <a:endParaRPr lang="en-US" altLang="zh-CN" sz="2000" b="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1017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14</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Hybrid Decentralized Architectures (6)</a:t>
            </a:r>
          </a:p>
        </p:txBody>
      </p:sp>
      <p:grpSp>
        <p:nvGrpSpPr>
          <p:cNvPr id="15" name="组合 14">
            <a:extLst>
              <a:ext uri="{FF2B5EF4-FFF2-40B4-BE49-F238E27FC236}">
                <a16:creationId xmlns:a16="http://schemas.microsoft.com/office/drawing/2014/main" id="{B87E6D4F-0307-DDF5-71B3-DA2AAC952832}"/>
              </a:ext>
            </a:extLst>
          </p:cNvPr>
          <p:cNvGrpSpPr/>
          <p:nvPr/>
        </p:nvGrpSpPr>
        <p:grpSpPr>
          <a:xfrm>
            <a:off x="1384359" y="1499145"/>
            <a:ext cx="6537234" cy="2753172"/>
            <a:chOff x="1384359" y="1499145"/>
            <a:chExt cx="6537234" cy="2753172"/>
          </a:xfrm>
        </p:grpSpPr>
        <p:sp>
          <p:nvSpPr>
            <p:cNvPr id="2" name="object 3" descr="$PPTXTitle">
              <a:extLst>
                <a:ext uri="{FF2B5EF4-FFF2-40B4-BE49-F238E27FC236}">
                  <a16:creationId xmlns:a16="http://schemas.microsoft.com/office/drawing/2014/main" id="{4A96F23C-0E01-C9A2-FA09-7673CE0AE6B4}"/>
                </a:ext>
              </a:extLst>
            </p:cNvPr>
            <p:cNvSpPr txBox="1">
              <a:spLocks/>
            </p:cNvSpPr>
            <p:nvPr/>
          </p:nvSpPr>
          <p:spPr bwMode="auto">
            <a:xfrm>
              <a:off x="1384359" y="3959449"/>
              <a:ext cx="6537234" cy="292868"/>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R="3810">
                <a:spcBef>
                  <a:spcPts val="0"/>
                </a:spcBef>
                <a:buClr>
                  <a:srgbClr val="0000FF"/>
                </a:buClr>
                <a:buSzPct val="75000"/>
              </a:pPr>
              <a:r>
                <a:rPr lang="en-US" altLang="zh-CN" sz="1600" b="0" dirty="0">
                  <a:solidFill>
                    <a:schemeClr val="tx1"/>
                  </a:solidFill>
                </a:rPr>
                <a:t>Step 3. User pings hosts that apparently have data and look for best transfer rate</a:t>
              </a:r>
            </a:p>
          </p:txBody>
        </p:sp>
        <p:grpSp>
          <p:nvGrpSpPr>
            <p:cNvPr id="13" name="组合 12">
              <a:extLst>
                <a:ext uri="{FF2B5EF4-FFF2-40B4-BE49-F238E27FC236}">
                  <a16:creationId xmlns:a16="http://schemas.microsoft.com/office/drawing/2014/main" id="{0E4979E4-EBD8-2846-86E8-62DB772AA698}"/>
                </a:ext>
              </a:extLst>
            </p:cNvPr>
            <p:cNvGrpSpPr/>
            <p:nvPr/>
          </p:nvGrpSpPr>
          <p:grpSpPr>
            <a:xfrm>
              <a:off x="2558268" y="1499145"/>
              <a:ext cx="4239174" cy="2537797"/>
              <a:chOff x="2513262" y="1627024"/>
              <a:chExt cx="4546114" cy="2800597"/>
            </a:xfrm>
          </p:grpSpPr>
          <p:pic>
            <p:nvPicPr>
              <p:cNvPr id="11" name="图片 10">
                <a:extLst>
                  <a:ext uri="{FF2B5EF4-FFF2-40B4-BE49-F238E27FC236}">
                    <a16:creationId xmlns:a16="http://schemas.microsoft.com/office/drawing/2014/main" id="{41518A50-2998-AF8D-5E51-75A708D761AF}"/>
                  </a:ext>
                </a:extLst>
              </p:cNvPr>
              <p:cNvPicPr>
                <a:picLocks noChangeAspect="1"/>
              </p:cNvPicPr>
              <p:nvPr/>
            </p:nvPicPr>
            <p:blipFill>
              <a:blip r:embed="rId2"/>
              <a:stretch>
                <a:fillRect/>
              </a:stretch>
            </p:blipFill>
            <p:spPr>
              <a:xfrm>
                <a:off x="2513262" y="1806535"/>
                <a:ext cx="4546114" cy="2621086"/>
              </a:xfrm>
              <a:prstGeom prst="rect">
                <a:avLst/>
              </a:prstGeom>
            </p:spPr>
          </p:pic>
          <p:sp>
            <p:nvSpPr>
              <p:cNvPr id="12" name="object 3" descr="$PPTXTitle">
                <a:extLst>
                  <a:ext uri="{FF2B5EF4-FFF2-40B4-BE49-F238E27FC236}">
                    <a16:creationId xmlns:a16="http://schemas.microsoft.com/office/drawing/2014/main" id="{C72EFBCF-DE61-E390-4D27-60B7551EF45E}"/>
                  </a:ext>
                </a:extLst>
              </p:cNvPr>
              <p:cNvSpPr txBox="1">
                <a:spLocks/>
              </p:cNvSpPr>
              <p:nvPr/>
            </p:nvSpPr>
            <p:spPr bwMode="auto">
              <a:xfrm>
                <a:off x="4334685" y="1627024"/>
                <a:ext cx="2101008" cy="323196"/>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R="3810">
                  <a:spcBef>
                    <a:spcPts val="0"/>
                  </a:spcBef>
                  <a:buClr>
                    <a:srgbClr val="0000FF"/>
                  </a:buClr>
                  <a:buSzPct val="75000"/>
                </a:pPr>
                <a:r>
                  <a:rPr lang="en-US" altLang="zh-CN" sz="1600" b="0" dirty="0">
                    <a:solidFill>
                      <a:schemeClr val="tx1"/>
                    </a:solidFill>
                  </a:rPr>
                  <a:t>Napster Computer</a:t>
                </a:r>
              </a:p>
            </p:txBody>
          </p:sp>
        </p:grpSp>
      </p:grpSp>
      <p:sp>
        <p:nvSpPr>
          <p:cNvPr id="14" name="object 3" descr="$PPTXTitle">
            <a:extLst>
              <a:ext uri="{FF2B5EF4-FFF2-40B4-BE49-F238E27FC236}">
                <a16:creationId xmlns:a16="http://schemas.microsoft.com/office/drawing/2014/main" id="{0F2343D4-1129-C9BF-6A9E-E1EB2BBD200B}"/>
              </a:ext>
            </a:extLst>
          </p:cNvPr>
          <p:cNvSpPr txBox="1">
            <a:spLocks/>
          </p:cNvSpPr>
          <p:nvPr/>
        </p:nvSpPr>
        <p:spPr bwMode="auto">
          <a:xfrm>
            <a:off x="1129373" y="876228"/>
            <a:ext cx="3800109" cy="354424"/>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L="342900" marR="3810" indent="-342900">
              <a:spcBef>
                <a:spcPts val="0"/>
              </a:spcBef>
              <a:buClr>
                <a:srgbClr val="0000FF"/>
              </a:buClr>
              <a:buSzPct val="75000"/>
              <a:buFont typeface="Wingdings" panose="05000000000000000000" pitchFamily="2" charset="2"/>
              <a:buChar char="l"/>
            </a:pPr>
            <a:r>
              <a:rPr lang="en-US" altLang="zh-CN" sz="2000" b="0" spc="-8" dirty="0">
                <a:solidFill>
                  <a:schemeClr val="tx1"/>
                </a:solidFill>
              </a:rPr>
              <a:t>Example - Napster</a:t>
            </a:r>
            <a:endParaRPr lang="en-US" altLang="zh-CN" sz="2000" b="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5452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15</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Hybrid Decentralized Architectures (7)</a:t>
            </a:r>
          </a:p>
        </p:txBody>
      </p:sp>
      <p:sp>
        <p:nvSpPr>
          <p:cNvPr id="7" name="object 3" descr="$PPTXTitle">
            <a:extLst>
              <a:ext uri="{FF2B5EF4-FFF2-40B4-BE49-F238E27FC236}">
                <a16:creationId xmlns:a16="http://schemas.microsoft.com/office/drawing/2014/main" id="{AA2BF189-71ED-55A7-DF83-684BE9237383}"/>
              </a:ext>
            </a:extLst>
          </p:cNvPr>
          <p:cNvSpPr txBox="1">
            <a:spLocks/>
          </p:cNvSpPr>
          <p:nvPr/>
        </p:nvSpPr>
        <p:spPr bwMode="auto">
          <a:xfrm>
            <a:off x="1129373" y="876228"/>
            <a:ext cx="3800109" cy="354424"/>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L="342900" marR="3810" indent="-342900">
              <a:spcBef>
                <a:spcPts val="0"/>
              </a:spcBef>
              <a:buClr>
                <a:srgbClr val="0000FF"/>
              </a:buClr>
              <a:buSzPct val="75000"/>
              <a:buFont typeface="Wingdings" panose="05000000000000000000" pitchFamily="2" charset="2"/>
              <a:buChar char="l"/>
            </a:pPr>
            <a:r>
              <a:rPr lang="en-US" altLang="zh-CN" sz="2000" b="0" spc="-8" dirty="0">
                <a:solidFill>
                  <a:schemeClr val="tx1"/>
                </a:solidFill>
              </a:rPr>
              <a:t>Example - Napster</a:t>
            </a:r>
            <a:endParaRPr lang="en-US" altLang="zh-CN" sz="2000" b="0" dirty="0">
              <a:solidFill>
                <a:schemeClr val="tx1"/>
              </a:solidFill>
              <a:latin typeface="Times New Roman" panose="02020603050405020304" pitchFamily="18" charset="0"/>
              <a:cs typeface="Times New Roman" panose="02020603050405020304" pitchFamily="18" charset="0"/>
            </a:endParaRPr>
          </a:p>
        </p:txBody>
      </p:sp>
      <p:grpSp>
        <p:nvGrpSpPr>
          <p:cNvPr id="15" name="组合 14">
            <a:extLst>
              <a:ext uri="{FF2B5EF4-FFF2-40B4-BE49-F238E27FC236}">
                <a16:creationId xmlns:a16="http://schemas.microsoft.com/office/drawing/2014/main" id="{694ADE2B-8B02-D7CE-5E11-333A241ED65A}"/>
              </a:ext>
            </a:extLst>
          </p:cNvPr>
          <p:cNvGrpSpPr/>
          <p:nvPr/>
        </p:nvGrpSpPr>
        <p:grpSpPr>
          <a:xfrm>
            <a:off x="2721632" y="1383052"/>
            <a:ext cx="4125266" cy="3030654"/>
            <a:chOff x="2819034" y="1393350"/>
            <a:chExt cx="3665798" cy="2948367"/>
          </a:xfrm>
        </p:grpSpPr>
        <p:grpSp>
          <p:nvGrpSpPr>
            <p:cNvPr id="9" name="组合 8">
              <a:extLst>
                <a:ext uri="{FF2B5EF4-FFF2-40B4-BE49-F238E27FC236}">
                  <a16:creationId xmlns:a16="http://schemas.microsoft.com/office/drawing/2014/main" id="{8A7E8330-D83E-9640-975A-F682075E77EF}"/>
                </a:ext>
              </a:extLst>
            </p:cNvPr>
            <p:cNvGrpSpPr/>
            <p:nvPr/>
          </p:nvGrpSpPr>
          <p:grpSpPr>
            <a:xfrm>
              <a:off x="2916455" y="1393350"/>
              <a:ext cx="3568377" cy="2948367"/>
              <a:chOff x="2916455" y="1393350"/>
              <a:chExt cx="3568377" cy="2948367"/>
            </a:xfrm>
          </p:grpSpPr>
          <p:grpSp>
            <p:nvGrpSpPr>
              <p:cNvPr id="6" name="组合 5">
                <a:extLst>
                  <a:ext uri="{FF2B5EF4-FFF2-40B4-BE49-F238E27FC236}">
                    <a16:creationId xmlns:a16="http://schemas.microsoft.com/office/drawing/2014/main" id="{4F06E1EF-F946-069E-AACE-A69C2291B805}"/>
                  </a:ext>
                </a:extLst>
              </p:cNvPr>
              <p:cNvGrpSpPr/>
              <p:nvPr/>
            </p:nvGrpSpPr>
            <p:grpSpPr>
              <a:xfrm>
                <a:off x="2916455" y="1393350"/>
                <a:ext cx="3568377" cy="2714505"/>
                <a:chOff x="2732865" y="1573481"/>
                <a:chExt cx="3941167" cy="2873391"/>
              </a:xfrm>
            </p:grpSpPr>
            <p:pic>
              <p:nvPicPr>
                <p:cNvPr id="4" name="图片 3">
                  <a:extLst>
                    <a:ext uri="{FF2B5EF4-FFF2-40B4-BE49-F238E27FC236}">
                      <a16:creationId xmlns:a16="http://schemas.microsoft.com/office/drawing/2014/main" id="{7F7D6304-FF0B-E078-B627-CCAFBF70C30D}"/>
                    </a:ext>
                  </a:extLst>
                </p:cNvPr>
                <p:cNvPicPr>
                  <a:picLocks noChangeAspect="1"/>
                </p:cNvPicPr>
                <p:nvPr/>
              </p:nvPicPr>
              <p:blipFill>
                <a:blip r:embed="rId2"/>
                <a:stretch>
                  <a:fillRect/>
                </a:stretch>
              </p:blipFill>
              <p:spPr>
                <a:xfrm>
                  <a:off x="2732865" y="1799820"/>
                  <a:ext cx="3941167" cy="2647052"/>
                </a:xfrm>
                <a:prstGeom prst="rect">
                  <a:avLst/>
                </a:prstGeom>
              </p:spPr>
            </p:pic>
            <p:sp>
              <p:nvSpPr>
                <p:cNvPr id="12" name="object 3" descr="$PPTXTitle">
                  <a:extLst>
                    <a:ext uri="{FF2B5EF4-FFF2-40B4-BE49-F238E27FC236}">
                      <a16:creationId xmlns:a16="http://schemas.microsoft.com/office/drawing/2014/main" id="{C72EFBCF-DE61-E390-4D27-60B7551EF45E}"/>
                    </a:ext>
                  </a:extLst>
                </p:cNvPr>
                <p:cNvSpPr txBox="1">
                  <a:spLocks/>
                </p:cNvSpPr>
                <p:nvPr/>
              </p:nvSpPr>
              <p:spPr bwMode="auto">
                <a:xfrm>
                  <a:off x="4120706" y="1573481"/>
                  <a:ext cx="1959154" cy="310010"/>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R="3810">
                    <a:spcBef>
                      <a:spcPts val="0"/>
                    </a:spcBef>
                    <a:buClr>
                      <a:srgbClr val="0000FF"/>
                    </a:buClr>
                    <a:buSzPct val="75000"/>
                  </a:pPr>
                  <a:r>
                    <a:rPr lang="en-US" altLang="zh-CN" sz="1600" b="0" dirty="0">
                      <a:solidFill>
                        <a:schemeClr val="tx1"/>
                      </a:solidFill>
                    </a:rPr>
                    <a:t>Napster Computer</a:t>
                  </a:r>
                </a:p>
              </p:txBody>
            </p:sp>
          </p:grpSp>
          <p:sp>
            <p:nvSpPr>
              <p:cNvPr id="2" name="object 3" descr="$PPTXTitle">
                <a:extLst>
                  <a:ext uri="{FF2B5EF4-FFF2-40B4-BE49-F238E27FC236}">
                    <a16:creationId xmlns:a16="http://schemas.microsoft.com/office/drawing/2014/main" id="{4A96F23C-0E01-C9A2-FA09-7673CE0AE6B4}"/>
                  </a:ext>
                </a:extLst>
              </p:cNvPr>
              <p:cNvSpPr txBox="1">
                <a:spLocks/>
              </p:cNvSpPr>
              <p:nvPr/>
            </p:nvSpPr>
            <p:spPr bwMode="auto">
              <a:xfrm>
                <a:off x="3650953" y="4056801"/>
                <a:ext cx="2233470" cy="284916"/>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R="3810" algn="ctr">
                  <a:spcBef>
                    <a:spcPts val="0"/>
                  </a:spcBef>
                  <a:buClr>
                    <a:srgbClr val="0000FF"/>
                  </a:buClr>
                  <a:buSzPct val="75000"/>
                </a:pPr>
                <a:r>
                  <a:rPr lang="en-US" altLang="zh-CN" sz="1600" b="0" dirty="0">
                    <a:solidFill>
                      <a:schemeClr val="tx1"/>
                    </a:solidFill>
                  </a:rPr>
                  <a:t>Step 4. User retrieve file</a:t>
                </a:r>
              </a:p>
            </p:txBody>
          </p:sp>
        </p:grpSp>
        <p:pic>
          <p:nvPicPr>
            <p:cNvPr id="14" name="图片 13">
              <a:extLst>
                <a:ext uri="{FF2B5EF4-FFF2-40B4-BE49-F238E27FC236}">
                  <a16:creationId xmlns:a16="http://schemas.microsoft.com/office/drawing/2014/main" id="{E0843B5B-6E4A-E51B-6DDD-E9C827D2CBBA}"/>
                </a:ext>
              </a:extLst>
            </p:cNvPr>
            <p:cNvPicPr>
              <a:picLocks noChangeAspect="1"/>
            </p:cNvPicPr>
            <p:nvPr/>
          </p:nvPicPr>
          <p:blipFill>
            <a:blip r:embed="rId3"/>
            <a:stretch>
              <a:fillRect/>
            </a:stretch>
          </p:blipFill>
          <p:spPr>
            <a:xfrm>
              <a:off x="2819034" y="2571749"/>
              <a:ext cx="2464980" cy="1461235"/>
            </a:xfrm>
            <a:prstGeom prst="rect">
              <a:avLst/>
            </a:prstGeom>
          </p:spPr>
        </p:pic>
      </p:grpSp>
    </p:spTree>
    <p:extLst>
      <p:ext uri="{BB962C8B-B14F-4D97-AF65-F5344CB8AC3E}">
        <p14:creationId xmlns:p14="http://schemas.microsoft.com/office/powerpoint/2010/main" val="1706033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40C4F47E-E291-48D6-1042-82083D1F45C9}"/>
              </a:ext>
            </a:extLst>
          </p:cNvPr>
          <p:cNvSpPr>
            <a:spLocks noGrp="1"/>
          </p:cNvSpPr>
          <p:nvPr>
            <p:ph type="sldNum" sz="quarter" idx="10"/>
          </p:nvPr>
        </p:nvSpPr>
        <p:spPr/>
        <p:txBody>
          <a:bodyPr/>
          <a:lstStyle/>
          <a:p>
            <a:fld id="{D9B6BDF2-6896-4B98-8776-C18582F63BA5}" type="slidenum">
              <a:rPr lang="zh-TW" altLang="en-US" smtClean="0"/>
              <a:pPr/>
              <a:t>16</a:t>
            </a:fld>
            <a:endParaRPr lang="zh-TW" altLang="en-US"/>
          </a:p>
        </p:txBody>
      </p:sp>
      <p:sp>
        <p:nvSpPr>
          <p:cNvPr id="8" name="标题 7">
            <a:extLst>
              <a:ext uri="{FF2B5EF4-FFF2-40B4-BE49-F238E27FC236}">
                <a16:creationId xmlns:a16="http://schemas.microsoft.com/office/drawing/2014/main" id="{42D6E1D0-2F9E-E1B3-941E-46F86D64B4D2}"/>
              </a:ext>
            </a:extLst>
          </p:cNvPr>
          <p:cNvSpPr>
            <a:spLocks noGrp="1"/>
          </p:cNvSpPr>
          <p:nvPr>
            <p:ph type="title"/>
          </p:nvPr>
        </p:nvSpPr>
        <p:spPr>
          <a:xfrm>
            <a:off x="922155" y="88622"/>
            <a:ext cx="7788707" cy="519113"/>
          </a:xfrm>
        </p:spPr>
        <p:txBody>
          <a:bodyPr/>
          <a:lstStyle/>
          <a:p>
            <a:pPr marR="3810" lvl="1">
              <a:spcBef>
                <a:spcPts val="600"/>
              </a:spcBef>
              <a:buClr>
                <a:srgbClr val="0000FF"/>
              </a:buClr>
            </a:pPr>
            <a:r>
              <a:rPr lang="en-US" altLang="zh-CN" sz="3600" dirty="0">
                <a:latin typeface="Times New Roman" panose="02020603050405020304" pitchFamily="18" charset="0"/>
                <a:cs typeface="Times New Roman" panose="02020603050405020304" pitchFamily="18" charset="0"/>
              </a:rPr>
              <a:t>Hybrid Decentralized Architectures (8)</a:t>
            </a:r>
          </a:p>
        </p:txBody>
      </p:sp>
      <p:sp>
        <p:nvSpPr>
          <p:cNvPr id="3" name="object 3" descr="$PPTXTitle">
            <a:extLst>
              <a:ext uri="{FF2B5EF4-FFF2-40B4-BE49-F238E27FC236}">
                <a16:creationId xmlns:a16="http://schemas.microsoft.com/office/drawing/2014/main" id="{2C603D1B-BF29-2772-F5CC-0ED0E9B1DFC8}"/>
              </a:ext>
            </a:extLst>
          </p:cNvPr>
          <p:cNvSpPr txBox="1">
            <a:spLocks/>
          </p:cNvSpPr>
          <p:nvPr/>
        </p:nvSpPr>
        <p:spPr bwMode="auto">
          <a:xfrm>
            <a:off x="1035452" y="819967"/>
            <a:ext cx="7271150" cy="3124413"/>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Advantages</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Easy to Implement</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Locate files quickly and efficiently</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Disadvantages</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Vulnerable to censorship, legal action, surveillance, malicious attack, and technical failure </a:t>
            </a: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Considered inherently unscalable as they are bound to be limitations to the size of the server database and its capacity to respond to queries index the files shared by peers connected to them, and proxy search requests on behalf of these peers.</a:t>
            </a:r>
          </a:p>
        </p:txBody>
      </p:sp>
    </p:spTree>
    <p:extLst>
      <p:ext uri="{BB962C8B-B14F-4D97-AF65-F5344CB8AC3E}">
        <p14:creationId xmlns:p14="http://schemas.microsoft.com/office/powerpoint/2010/main" val="3403813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996951" y="152244"/>
            <a:ext cx="7037916" cy="450573"/>
          </a:xfrm>
          <a:prstGeom prst="rect">
            <a:avLst/>
          </a:prstGeom>
        </p:spPr>
        <p:txBody>
          <a:bodyPr vert="horz" wrap="square" lIns="0" tIns="53340" rIns="0" bIns="0" numCol="1" rtlCol="0" anchor="ctr" anchorCtr="0" compatLnSpc="1">
            <a:prstTxWarp prst="textNoShape">
              <a:avLst/>
            </a:prstTxWarp>
            <a:spAutoFit/>
          </a:bodyPr>
          <a:lstStyle/>
          <a:p>
            <a:pPr marL="22860" marR="3810" indent="-3334">
              <a:lnSpc>
                <a:spcPts val="2955"/>
              </a:lnSpc>
              <a:spcBef>
                <a:spcPts val="420"/>
              </a:spcBef>
            </a:pPr>
            <a:r>
              <a:rPr dirty="0"/>
              <a:t>Partially</a:t>
            </a:r>
            <a:r>
              <a:rPr dirty="0">
                <a:solidFill>
                  <a:srgbClr val="336764"/>
                </a:solidFill>
              </a:rPr>
              <a:t> </a:t>
            </a:r>
            <a:r>
              <a:rPr dirty="0">
                <a:solidFill>
                  <a:srgbClr val="002060"/>
                </a:solidFill>
              </a:rPr>
              <a:t>Centralized</a:t>
            </a:r>
            <a:r>
              <a:rPr dirty="0">
                <a:solidFill>
                  <a:srgbClr val="346466"/>
                </a:solidFill>
              </a:rPr>
              <a:t> </a:t>
            </a:r>
            <a:r>
              <a:rPr dirty="0">
                <a:solidFill>
                  <a:srgbClr val="336669"/>
                </a:solidFill>
              </a:rPr>
              <a:t>Architectures</a:t>
            </a:r>
            <a:endParaRPr dirty="0"/>
          </a:p>
        </p:txBody>
      </p:sp>
      <p:sp>
        <p:nvSpPr>
          <p:cNvPr id="4" name="object 4"/>
          <p:cNvSpPr txBox="1"/>
          <p:nvPr/>
        </p:nvSpPr>
        <p:spPr>
          <a:xfrm>
            <a:off x="694267" y="2878706"/>
            <a:ext cx="7340600" cy="331662"/>
          </a:xfrm>
          <a:prstGeom prst="rect">
            <a:avLst/>
          </a:prstGeom>
        </p:spPr>
        <p:txBody>
          <a:bodyPr vert="horz" wrap="square" lIns="0" tIns="49054" rIns="0" bIns="0" rtlCol="0">
            <a:spAutoFit/>
          </a:bodyPr>
          <a:lstStyle/>
          <a:p>
            <a:pPr marL="13811">
              <a:lnSpc>
                <a:spcPts val="2153"/>
              </a:lnSpc>
            </a:pPr>
            <a:r>
              <a:rPr sz="2025" dirty="0">
                <a:latin typeface="Times New Roman" panose="02020603050405020304" pitchFamily="18" charset="0"/>
                <a:cs typeface="Times New Roman" panose="02020603050405020304" pitchFamily="18" charset="0"/>
              </a:rPr>
              <a:t>.</a:t>
            </a:r>
          </a:p>
        </p:txBody>
      </p:sp>
      <p:sp>
        <p:nvSpPr>
          <p:cNvPr id="6" name="灯片编号占位符 5">
            <a:extLst>
              <a:ext uri="{FF2B5EF4-FFF2-40B4-BE49-F238E27FC236}">
                <a16:creationId xmlns:a16="http://schemas.microsoft.com/office/drawing/2014/main" id="{5287BB2D-0086-C358-124A-7E85DC7B24C5}"/>
              </a:ext>
            </a:extLst>
          </p:cNvPr>
          <p:cNvSpPr>
            <a:spLocks noGrp="1"/>
          </p:cNvSpPr>
          <p:nvPr>
            <p:ph type="sldNum" sz="quarter" idx="10"/>
          </p:nvPr>
        </p:nvSpPr>
        <p:spPr/>
        <p:txBody>
          <a:bodyPr/>
          <a:lstStyle/>
          <a:p>
            <a:fld id="{D9B6BDF2-6896-4B98-8776-C18582F63BA5}" type="slidenum">
              <a:rPr lang="zh-TW" altLang="en-US" smtClean="0"/>
              <a:pPr/>
              <a:t>17</a:t>
            </a:fld>
            <a:endParaRPr lang="zh-TW" altLang="en-US"/>
          </a:p>
        </p:txBody>
      </p:sp>
      <p:sp>
        <p:nvSpPr>
          <p:cNvPr id="5" name="object 3" descr="$PPTXTitle">
            <a:extLst>
              <a:ext uri="{FF2B5EF4-FFF2-40B4-BE49-F238E27FC236}">
                <a16:creationId xmlns:a16="http://schemas.microsoft.com/office/drawing/2014/main" id="{BB6409B1-85D6-F45D-5913-663966308BF4}"/>
              </a:ext>
            </a:extLst>
          </p:cNvPr>
          <p:cNvSpPr txBox="1">
            <a:spLocks/>
          </p:cNvSpPr>
          <p:nvPr/>
        </p:nvSpPr>
        <p:spPr bwMode="auto">
          <a:xfrm>
            <a:off x="996951" y="877602"/>
            <a:ext cx="7271150" cy="2816636"/>
          </a:xfrm>
          <a:prstGeom prst="rect">
            <a:avLst/>
          </a:prstGeom>
          <a:noFill/>
          <a:ln w="9525">
            <a:noFill/>
            <a:miter lim="800000"/>
            <a:headEnd/>
            <a:tailEnd/>
          </a:ln>
        </p:spPr>
        <p:txBody>
          <a:bodyPr vert="horz" wrap="square" lIns="0" tIns="46196" rIns="0" bIns="0" numCol="1" rtlCol="0" anchor="ctr" anchorCtr="0" compatLnSpc="1">
            <a:prstTxWarp prst="textNoShape">
              <a:avLst/>
            </a:prstTxWarp>
            <a:spAutoFit/>
          </a:bodyPr>
          <a:lstStyle>
            <a:lvl1pPr algn="l" rtl="0" eaLnBrk="1" fontAlgn="base" hangingPunct="1">
              <a:spcBef>
                <a:spcPct val="0"/>
              </a:spcBef>
              <a:spcAft>
                <a:spcPct val="0"/>
              </a:spcAft>
              <a:defRPr kumimoji="1" sz="3600" b="1">
                <a:solidFill>
                  <a:schemeClr val="tx2"/>
                </a:solidFill>
                <a:latin typeface="Times New Roman" panose="02020603050405020304" pitchFamily="18" charset="0"/>
                <a:ea typeface="標楷體" pitchFamily="65" charset="-120"/>
                <a:cs typeface="Times New Roman" panose="02020603050405020304" pitchFamily="18" charset="0"/>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U</a:t>
            </a:r>
            <a:r>
              <a:rPr lang="en-US" altLang="zh-CN" sz="2000" b="0" dirty="0">
                <a:solidFill>
                  <a:schemeClr val="tx1"/>
                </a:solidFill>
                <a:latin typeface="Times New Roman" panose="02020603050405020304" pitchFamily="18" charset="0"/>
                <a:cs typeface="Times New Roman" panose="02020603050405020304" pitchFamily="18" charset="0"/>
              </a:rPr>
              <a:t>se the concept of supernodes</a:t>
            </a:r>
            <a:endParaRPr lang="en-US" altLang="zh-CN" sz="2000" b="0" dirty="0">
              <a:solidFill>
                <a:schemeClr val="tx1"/>
              </a:solidFill>
            </a:endParaRPr>
          </a:p>
          <a:p>
            <a:pPr marL="800100" marR="3810" lvl="1" indent="-342900">
              <a:spcBef>
                <a:spcPts val="0"/>
              </a:spcBef>
              <a:buClr>
                <a:srgbClr val="0000FF"/>
              </a:buClr>
              <a:buSzPct val="75000"/>
              <a:buFont typeface="Symbol" panose="05050102010706020507" pitchFamily="18" charset="2"/>
              <a:buChar char="-"/>
            </a:pPr>
            <a:r>
              <a:rPr lang="en-US" altLang="zh-CN" sz="2000" b="0" dirty="0">
                <a:solidFill>
                  <a:schemeClr val="tx1"/>
                </a:solidFill>
                <a:latin typeface="Times New Roman" panose="02020603050405020304" pitchFamily="18" charset="0"/>
                <a:cs typeface="Times New Roman" panose="02020603050405020304" pitchFamily="18" charset="0"/>
              </a:rPr>
              <a:t>Nodes that are dynamically assigned the task of servicing a small subpart of the peer network by indexing and caching files contained therein</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Peers are automatically elected to become supernodes if they have sufficient bandwidth and processing power</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Supernodes index the files shared by peers connected to them, and proxy search requests on behalf of these peers</a:t>
            </a:r>
          </a:p>
          <a:p>
            <a:pPr marL="342900" marR="3810" indent="-342900">
              <a:spcBef>
                <a:spcPts val="0"/>
              </a:spcBef>
              <a:buClr>
                <a:srgbClr val="0000FF"/>
              </a:buClr>
              <a:buSzPct val="75000"/>
              <a:buFont typeface="Wingdings" panose="05000000000000000000" pitchFamily="2" charset="2"/>
              <a:buChar char="l"/>
            </a:pPr>
            <a:r>
              <a:rPr lang="en-US" altLang="zh-CN" sz="2000" b="0" dirty="0">
                <a:solidFill>
                  <a:schemeClr val="tx1"/>
                </a:solidFill>
              </a:rPr>
              <a:t>All queries are therefore initially directed to supernodes</a:t>
            </a:r>
          </a:p>
        </p:txBody>
      </p:sp>
    </p:spTree>
    <p:extLst>
      <p:ext uri="{BB962C8B-B14F-4D97-AF65-F5344CB8AC3E}">
        <p14:creationId xmlns:p14="http://schemas.microsoft.com/office/powerpoint/2010/main" val="3819706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p:nvPr/>
        </p:nvSpPr>
        <p:spPr>
          <a:xfrm>
            <a:off x="760394" y="803783"/>
            <a:ext cx="8204219" cy="3704059"/>
          </a:xfrm>
          <a:prstGeom prst="rect">
            <a:avLst/>
          </a:prstGeom>
        </p:spPr>
        <p:txBody>
          <a:bodyPr vert="horz" wrap="square" lIns="0" tIns="46196" rIns="0" bIns="0" rtlCol="0">
            <a:spAutoFit/>
          </a:bodyPr>
          <a:lstStyle/>
          <a:p>
            <a:pPr marL="352901" marR="622935" indent="-342900" algn="just" defTabSz="1042988">
              <a:buClr>
                <a:srgbClr val="0000FF"/>
              </a:buClr>
              <a:buFont typeface="Wingdings" panose="05000000000000000000" pitchFamily="2" charset="2"/>
              <a:buChar char="l"/>
              <a:tabLst>
                <a:tab pos="7805738" algn="l"/>
              </a:tabLst>
            </a:pPr>
            <a:r>
              <a:rPr dirty="0">
                <a:latin typeface="Times New Roman" panose="02020603050405020304" pitchFamily="18" charset="0"/>
                <a:cs typeface="Times New Roman" panose="02020603050405020304" pitchFamily="18" charset="0"/>
              </a:rPr>
              <a:t>Kazaa and Morpheus are two similar partially centralized systems which use the concept of “SuperNodes".</a:t>
            </a:r>
            <a:r>
              <a:rPr lang="en-US" dirty="0">
                <a:latin typeface="Times New Roman" panose="02020603050405020304" pitchFamily="18" charset="0"/>
                <a:cs typeface="Times New Roman" panose="02020603050405020304" pitchFamily="18" charset="0"/>
              </a:rPr>
              <a:t> </a:t>
            </a:r>
          </a:p>
          <a:p>
            <a:pPr marL="352901" marR="622935" indent="-342900" defTabSz="1165225">
              <a:buClr>
                <a:srgbClr val="0000FF"/>
              </a:buClr>
              <a:buFont typeface="Wingdings" panose="05000000000000000000" pitchFamily="2" charset="2"/>
              <a:buChar char="l"/>
              <a:tabLst>
                <a:tab pos="8162925" algn="l"/>
              </a:tabLst>
            </a:pPr>
            <a:r>
              <a:rPr dirty="0">
                <a:latin typeface="Times New Roman" panose="02020603050405020304" pitchFamily="18" charset="0"/>
                <a:cs typeface="Times New Roman" panose="02020603050405020304" pitchFamily="18" charset="0"/>
              </a:rPr>
              <a:t>In Morpheus a central server provides new peers with a</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list of one or more Supernodes with which they can</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connect. SuperNodes index the files shared by peers connected to them, and proxy search requests on</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behalf of these peers. Queries are therefore sent to SuperNodes, not to other peers.</a:t>
            </a:r>
            <a:endParaRPr lang="en-US" dirty="0">
              <a:latin typeface="Times New Roman" panose="02020603050405020304" pitchFamily="18" charset="0"/>
              <a:cs typeface="Times New Roman" panose="02020603050405020304" pitchFamily="18" charset="0"/>
            </a:endParaRPr>
          </a:p>
          <a:p>
            <a:pPr marL="352901" marR="622935" indent="-342900" algn="just">
              <a:buClr>
                <a:srgbClr val="0000FF"/>
              </a:buClr>
              <a:buFont typeface="Wingdings" panose="05000000000000000000" pitchFamily="2" charset="2"/>
              <a:buChar char="l"/>
            </a:pPr>
            <a:r>
              <a:rPr dirty="0">
                <a:latin typeface="Times New Roman" panose="02020603050405020304" pitchFamily="18" charset="0"/>
                <a:cs typeface="Times New Roman" panose="02020603050405020304" pitchFamily="18" charset="0"/>
              </a:rPr>
              <a:t>Recent version of the Gnutella protocol.</a:t>
            </a:r>
            <a:r>
              <a:rPr lang="en-US" dirty="0">
                <a:latin typeface="Times New Roman" panose="02020603050405020304" pitchFamily="18" charset="0"/>
                <a:cs typeface="Times New Roman" panose="02020603050405020304" pitchFamily="18" charset="0"/>
              </a:rPr>
              <a:t> </a:t>
            </a:r>
          </a:p>
          <a:p>
            <a:pPr marL="722313" marR="622935" lvl="1" indent="-269875" algn="just" defTabSz="877888">
              <a:buClr>
                <a:srgbClr val="0000FF"/>
              </a:buClr>
              <a:buFont typeface="Symbol" panose="05050102010706020507" pitchFamily="18" charset="2"/>
              <a:buChar char="-"/>
            </a:pPr>
            <a:r>
              <a:rPr sz="1600" dirty="0">
                <a:latin typeface="Times New Roman" panose="02020603050405020304" pitchFamily="18" charset="0"/>
                <a:cs typeface="Times New Roman" panose="02020603050405020304" pitchFamily="18" charset="0"/>
              </a:rPr>
              <a:t>A mechanism for dynamically selecting supernodes</a:t>
            </a:r>
            <a:r>
              <a:rPr lang="en-US" sz="1600"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organizes the Gnutella network into an interconnection of</a:t>
            </a:r>
            <a:r>
              <a:rPr lang="en-US" sz="1600" dirty="0">
                <a:latin typeface="Times New Roman" panose="02020603050405020304" pitchFamily="18" charset="0"/>
                <a:cs typeface="Times New Roman" panose="02020603050405020304" pitchFamily="18" charset="0"/>
              </a:rPr>
              <a:t> </a:t>
            </a:r>
            <a:r>
              <a:rPr sz="1600" i="1" dirty="0">
                <a:latin typeface="Times New Roman" panose="02020603050405020304" pitchFamily="18" charset="0"/>
                <a:cs typeface="Times New Roman" panose="02020603050405020304" pitchFamily="18" charset="0"/>
              </a:rPr>
              <a:t>superpeers </a:t>
            </a:r>
            <a:r>
              <a:rPr sz="1600" dirty="0">
                <a:latin typeface="Times New Roman" panose="02020603050405020304" pitchFamily="18" charset="0"/>
                <a:cs typeface="Times New Roman" panose="02020603050405020304" pitchFamily="18" charset="0"/>
              </a:rPr>
              <a:t>(as they are referred to) and client nodes.</a:t>
            </a:r>
            <a:endParaRPr lang="en-US" sz="1600" dirty="0">
              <a:latin typeface="Times New Roman" panose="02020603050405020304" pitchFamily="18" charset="0"/>
              <a:cs typeface="Times New Roman" panose="02020603050405020304" pitchFamily="18" charset="0"/>
            </a:endParaRPr>
          </a:p>
          <a:p>
            <a:pPr marL="722313" marR="622935" lvl="1" indent="-269875" algn="just">
              <a:buClr>
                <a:srgbClr val="0000FF"/>
              </a:buClr>
              <a:buFont typeface="Symbol" panose="05050102010706020507" pitchFamily="18" charset="2"/>
              <a:buChar char="-"/>
            </a:pPr>
            <a:r>
              <a:rPr sz="1600" dirty="0">
                <a:latin typeface="Times New Roman" panose="02020603050405020304" pitchFamily="18" charset="0"/>
                <a:cs typeface="Times New Roman" panose="02020603050405020304" pitchFamily="18" charset="0"/>
              </a:rPr>
              <a:t>When a node with enough CPU power joins the network, it immediately becomes a </a:t>
            </a:r>
            <a:r>
              <a:rPr sz="1600" i="1" dirty="0">
                <a:latin typeface="Times New Roman" panose="02020603050405020304" pitchFamily="18" charset="0"/>
                <a:cs typeface="Times New Roman" panose="02020603050405020304" pitchFamily="18" charset="0"/>
              </a:rPr>
              <a:t>superpeer </a:t>
            </a:r>
            <a:r>
              <a:rPr sz="1600" dirty="0">
                <a:latin typeface="Times New Roman" panose="02020603050405020304" pitchFamily="18" charset="0"/>
                <a:cs typeface="Times New Roman" panose="02020603050405020304" pitchFamily="18" charset="0"/>
              </a:rPr>
              <a:t>and establishes connections with other superpeers, forming </a:t>
            </a:r>
            <a:r>
              <a:rPr sz="1600" dirty="0">
                <a:solidFill>
                  <a:srgbClr val="161616"/>
                </a:solidFill>
                <a:latin typeface="Times New Roman" panose="02020603050405020304" pitchFamily="18" charset="0"/>
                <a:cs typeface="Times New Roman" panose="02020603050405020304" pitchFamily="18" charset="0"/>
              </a:rPr>
              <a:t>a </a:t>
            </a:r>
            <a:r>
              <a:rPr sz="1600" dirty="0">
                <a:latin typeface="Times New Roman" panose="02020603050405020304" pitchFamily="18" charset="0"/>
                <a:cs typeface="Times New Roman" panose="02020603050405020304" pitchFamily="18" charset="0"/>
              </a:rPr>
              <a:t>flat unstructured network of superpeers. </a:t>
            </a:r>
            <a:endParaRPr lang="en-US" sz="1600" dirty="0">
              <a:latin typeface="Times New Roman" panose="02020603050405020304" pitchFamily="18" charset="0"/>
              <a:cs typeface="Times New Roman" panose="02020603050405020304" pitchFamily="18" charset="0"/>
            </a:endParaRPr>
          </a:p>
          <a:p>
            <a:pPr marL="722313" marR="622935" lvl="1" indent="-269875" algn="just">
              <a:buClr>
                <a:srgbClr val="0000FF"/>
              </a:buClr>
              <a:buFont typeface="Symbol" panose="05050102010706020507" pitchFamily="18" charset="2"/>
              <a:buChar char="-"/>
            </a:pPr>
            <a:r>
              <a:rPr sz="1600" dirty="0">
                <a:latin typeface="Times New Roman" panose="02020603050405020304" pitchFamily="18" charset="0"/>
                <a:cs typeface="Times New Roman" panose="02020603050405020304" pitchFamily="18" charset="0"/>
              </a:rPr>
              <a:t>If it establishes a minimum required number of connections to client nodes within a specified time, it remains a </a:t>
            </a:r>
            <a:r>
              <a:rPr sz="1600" i="1" dirty="0">
                <a:latin typeface="Times New Roman" panose="02020603050405020304" pitchFamily="18" charset="0"/>
                <a:cs typeface="Times New Roman" panose="02020603050405020304" pitchFamily="18" charset="0"/>
              </a:rPr>
              <a:t>superpeer. </a:t>
            </a:r>
            <a:r>
              <a:rPr sz="1600" dirty="0">
                <a:latin typeface="Times New Roman" panose="02020603050405020304" pitchFamily="18" charset="0"/>
                <a:cs typeface="Times New Roman" panose="02020603050405020304" pitchFamily="18" charset="0"/>
              </a:rPr>
              <a:t>Otherwise it turns into a regular client node.</a:t>
            </a:r>
          </a:p>
        </p:txBody>
      </p:sp>
      <p:sp>
        <p:nvSpPr>
          <p:cNvPr id="16" name="灯片编号占位符 15">
            <a:extLst>
              <a:ext uri="{FF2B5EF4-FFF2-40B4-BE49-F238E27FC236}">
                <a16:creationId xmlns:a16="http://schemas.microsoft.com/office/drawing/2014/main" id="{12CB0A1B-6149-F446-C63C-61E781D87B0E}"/>
              </a:ext>
            </a:extLst>
          </p:cNvPr>
          <p:cNvSpPr>
            <a:spLocks noGrp="1"/>
          </p:cNvSpPr>
          <p:nvPr>
            <p:ph type="sldNum" sz="quarter" idx="10"/>
          </p:nvPr>
        </p:nvSpPr>
        <p:spPr/>
        <p:txBody>
          <a:bodyPr/>
          <a:lstStyle/>
          <a:p>
            <a:fld id="{D9B6BDF2-6896-4B98-8776-C18582F63BA5}" type="slidenum">
              <a:rPr lang="zh-TW" altLang="en-US" smtClean="0"/>
              <a:pPr/>
              <a:t>18</a:t>
            </a:fld>
            <a:endParaRPr lang="zh-TW" altLang="en-US"/>
          </a:p>
        </p:txBody>
      </p:sp>
      <p:sp>
        <p:nvSpPr>
          <p:cNvPr id="18" name="标题 17">
            <a:extLst>
              <a:ext uri="{FF2B5EF4-FFF2-40B4-BE49-F238E27FC236}">
                <a16:creationId xmlns:a16="http://schemas.microsoft.com/office/drawing/2014/main" id="{C28D325D-1D13-4F74-E0EF-78B518024FF0}"/>
              </a:ext>
            </a:extLst>
          </p:cNvPr>
          <p:cNvSpPr>
            <a:spLocks noGrp="1"/>
          </p:cNvSpPr>
          <p:nvPr>
            <p:ph type="title"/>
          </p:nvPr>
        </p:nvSpPr>
        <p:spPr>
          <a:xfrm>
            <a:off x="864402" y="75748"/>
            <a:ext cx="7888289" cy="519113"/>
          </a:xfrm>
        </p:spPr>
        <p:txBody>
          <a:bodyPr/>
          <a:lstStyle/>
          <a:p>
            <a:r>
              <a:rPr lang="en-US" altLang="zh-CN" kern="0" dirty="0"/>
              <a:t>Partially</a:t>
            </a:r>
            <a:r>
              <a:rPr lang="en-US" altLang="zh-CN" kern="0" dirty="0">
                <a:solidFill>
                  <a:srgbClr val="002060"/>
                </a:solidFill>
              </a:rPr>
              <a:t> Centralized Systems (1)</a:t>
            </a:r>
            <a:endParaRPr lang="zh-CN" altLang="en-US" dirty="0">
              <a:solidFill>
                <a:srgbClr val="00206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p:nvPr/>
        </p:nvSpPr>
        <p:spPr>
          <a:xfrm>
            <a:off x="968826" y="824933"/>
            <a:ext cx="7888289" cy="3647633"/>
          </a:xfrm>
          <a:prstGeom prst="rect">
            <a:avLst/>
          </a:prstGeom>
        </p:spPr>
        <p:txBody>
          <a:bodyPr vert="horz" wrap="square" lIns="0" tIns="46196" rIns="0" bIns="0" rtlCol="0">
            <a:spAutoFit/>
          </a:bodyPr>
          <a:lstStyle/>
          <a:p>
            <a:pPr marL="269875" marR="622935" indent="-260350" algn="just" defTabSz="927100">
              <a:buClr>
                <a:srgbClr val="0000FF"/>
              </a:buClr>
              <a:buFont typeface="Wingdings" panose="05000000000000000000" pitchFamily="2" charset="2"/>
              <a:buChar char="l"/>
              <a:tabLst>
                <a:tab pos="8248650" algn="l"/>
              </a:tabLst>
            </a:pPr>
            <a:r>
              <a:rPr lang="en-US" altLang="zh-CN" sz="2000" spc="-8" dirty="0">
                <a:latin typeface="Times New Roman" panose="02020603050405020304" pitchFamily="18" charset="0"/>
                <a:cs typeface="Times New Roman" panose="02020603050405020304" pitchFamily="18" charset="0"/>
              </a:rPr>
              <a:t>Advantages</a:t>
            </a:r>
          </a:p>
          <a:p>
            <a:pPr marL="810101" marR="622935" lvl="1" indent="-342900" algn="just" defTabSz="927100">
              <a:buClr>
                <a:srgbClr val="0000FF"/>
              </a:buClr>
              <a:buFont typeface="Symbol" panose="05050102010706020507" pitchFamily="18" charset="2"/>
              <a:buChar char="-"/>
              <a:tabLst>
                <a:tab pos="8248650" algn="l"/>
              </a:tabLst>
            </a:pPr>
            <a:r>
              <a:rPr lang="en-US" altLang="zh-CN" spc="-8" dirty="0">
                <a:latin typeface="Times New Roman" panose="02020603050405020304" pitchFamily="18" charset="0"/>
                <a:cs typeface="Times New Roman" panose="02020603050405020304" pitchFamily="18" charset="0"/>
              </a:rPr>
              <a:t>In</a:t>
            </a:r>
            <a:r>
              <a:rPr lang="en-US" altLang="zh-CN" spc="-94" dirty="0">
                <a:latin typeface="Times New Roman" panose="02020603050405020304" pitchFamily="18" charset="0"/>
                <a:cs typeface="Times New Roman" panose="02020603050405020304" pitchFamily="18" charset="0"/>
              </a:rPr>
              <a:t> </a:t>
            </a:r>
            <a:r>
              <a:rPr lang="en-US" altLang="zh-CN" spc="-49" dirty="0">
                <a:latin typeface="Times New Roman" panose="02020603050405020304" pitchFamily="18" charset="0"/>
                <a:cs typeface="Times New Roman" panose="02020603050405020304" pitchFamily="18" charset="0"/>
              </a:rPr>
              <a:t>comparison</a:t>
            </a:r>
            <a:r>
              <a:rPr lang="en-US" altLang="zh-CN" spc="-30" dirty="0">
                <a:latin typeface="Times New Roman" panose="02020603050405020304" pitchFamily="18" charset="0"/>
                <a:cs typeface="Times New Roman" panose="02020603050405020304" pitchFamily="18" charset="0"/>
              </a:rPr>
              <a:t> </a:t>
            </a:r>
            <a:r>
              <a:rPr lang="en-US" altLang="zh-CN" spc="-49" dirty="0">
                <a:latin typeface="Times New Roman" panose="02020603050405020304" pitchFamily="18" charset="0"/>
                <a:cs typeface="Times New Roman" panose="02020603050405020304" pitchFamily="18" charset="0"/>
              </a:rPr>
              <a:t>with </a:t>
            </a:r>
            <a:r>
              <a:rPr lang="en-US" altLang="zh-CN" spc="-38" dirty="0">
                <a:latin typeface="Times New Roman" panose="02020603050405020304" pitchFamily="18" charset="0"/>
                <a:cs typeface="Times New Roman" panose="02020603050405020304" pitchFamily="18" charset="0"/>
              </a:rPr>
              <a:t>purely</a:t>
            </a:r>
            <a:r>
              <a:rPr lang="en-US" altLang="zh-CN" spc="-26" dirty="0">
                <a:latin typeface="Times New Roman" panose="02020603050405020304" pitchFamily="18" charset="0"/>
                <a:cs typeface="Times New Roman" panose="02020603050405020304" pitchFamily="18" charset="0"/>
              </a:rPr>
              <a:t> </a:t>
            </a:r>
            <a:r>
              <a:rPr lang="en-US" altLang="zh-CN" spc="-49" dirty="0">
                <a:latin typeface="Times New Roman" panose="02020603050405020304" pitchFamily="18" charset="0"/>
                <a:cs typeface="Times New Roman" panose="02020603050405020304" pitchFamily="18" charset="0"/>
              </a:rPr>
              <a:t>decentralized</a:t>
            </a:r>
            <a:r>
              <a:rPr lang="en-US" altLang="zh-CN" spc="11" dirty="0">
                <a:latin typeface="Times New Roman" panose="02020603050405020304" pitchFamily="18" charset="0"/>
                <a:cs typeface="Times New Roman" panose="02020603050405020304" pitchFamily="18" charset="0"/>
              </a:rPr>
              <a:t> </a:t>
            </a:r>
            <a:r>
              <a:rPr lang="en-US" altLang="zh-CN" spc="-45" dirty="0">
                <a:latin typeface="Times New Roman" panose="02020603050405020304" pitchFamily="18" charset="0"/>
                <a:cs typeface="Times New Roman" panose="02020603050405020304" pitchFamily="18" charset="0"/>
              </a:rPr>
              <a:t>systems,</a:t>
            </a:r>
            <a:r>
              <a:rPr lang="en-US" altLang="zh-CN" spc="-11" dirty="0">
                <a:latin typeface="Times New Roman" panose="02020603050405020304" pitchFamily="18" charset="0"/>
                <a:cs typeface="Times New Roman" panose="02020603050405020304" pitchFamily="18" charset="0"/>
              </a:rPr>
              <a:t> </a:t>
            </a:r>
            <a:r>
              <a:rPr lang="en-US" altLang="zh-CN" spc="-45" dirty="0">
                <a:latin typeface="Times New Roman" panose="02020603050405020304" pitchFamily="18" charset="0"/>
                <a:cs typeface="Times New Roman" panose="02020603050405020304" pitchFamily="18" charset="0"/>
              </a:rPr>
              <a:t>discovery</a:t>
            </a:r>
            <a:r>
              <a:rPr lang="en-US" altLang="zh-CN" spc="15"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time </a:t>
            </a:r>
            <a:r>
              <a:rPr lang="en-US" altLang="zh-CN" spc="-53" dirty="0">
                <a:latin typeface="Times New Roman" panose="02020603050405020304" pitchFamily="18" charset="0"/>
                <a:cs typeface="Times New Roman" panose="02020603050405020304" pitchFamily="18" charset="0"/>
              </a:rPr>
              <a:t>and</a:t>
            </a:r>
            <a:r>
              <a:rPr lang="en-US" altLang="zh-CN" spc="-49" dirty="0">
                <a:latin typeface="Times New Roman" panose="02020603050405020304" pitchFamily="18" charset="0"/>
                <a:cs typeface="Times New Roman" panose="02020603050405020304" pitchFamily="18" charset="0"/>
              </a:rPr>
              <a:t> </a:t>
            </a:r>
            <a:r>
              <a:rPr lang="en-US" altLang="zh-CN" spc="-30" dirty="0">
                <a:latin typeface="Times New Roman" panose="02020603050405020304" pitchFamily="18" charset="0"/>
                <a:cs typeface="Times New Roman" panose="02020603050405020304" pitchFamily="18" charset="0"/>
              </a:rPr>
              <a:t>the</a:t>
            </a:r>
            <a:r>
              <a:rPr lang="en-US" altLang="zh-CN" spc="-68" dirty="0">
                <a:latin typeface="Times New Roman" panose="02020603050405020304" pitchFamily="18" charset="0"/>
                <a:cs typeface="Times New Roman" panose="02020603050405020304" pitchFamily="18" charset="0"/>
              </a:rPr>
              <a:t> </a:t>
            </a:r>
            <a:r>
              <a:rPr lang="en-US" altLang="zh-CN" spc="-30" dirty="0">
                <a:latin typeface="Times New Roman" panose="02020603050405020304" pitchFamily="18" charset="0"/>
                <a:cs typeface="Times New Roman" panose="02020603050405020304" pitchFamily="18" charset="0"/>
              </a:rPr>
              <a:t>traffic</a:t>
            </a:r>
            <a:r>
              <a:rPr lang="en-US" altLang="zh-CN" spc="-68"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on</a:t>
            </a:r>
            <a:r>
              <a:rPr lang="en-US" altLang="zh-CN" spc="-83" dirty="0">
                <a:latin typeface="Times New Roman" panose="02020603050405020304" pitchFamily="18" charset="0"/>
                <a:cs typeface="Times New Roman" panose="02020603050405020304" pitchFamily="18" charset="0"/>
              </a:rPr>
              <a:t> </a:t>
            </a:r>
            <a:r>
              <a:rPr lang="en-US" altLang="zh-CN" spc="-56" dirty="0">
                <a:latin typeface="Times New Roman" panose="02020603050405020304" pitchFamily="18" charset="0"/>
                <a:cs typeface="Times New Roman" panose="02020603050405020304" pitchFamily="18" charset="0"/>
              </a:rPr>
              <a:t>messages</a:t>
            </a:r>
            <a:r>
              <a:rPr lang="en-US" altLang="zh-CN" spc="19" dirty="0">
                <a:latin typeface="Times New Roman" panose="02020603050405020304" pitchFamily="18" charset="0"/>
                <a:cs typeface="Times New Roman" panose="02020603050405020304" pitchFamily="18" charset="0"/>
              </a:rPr>
              <a:t> </a:t>
            </a:r>
            <a:r>
              <a:rPr lang="en-US" altLang="zh-CN" spc="-56" dirty="0">
                <a:latin typeface="Times New Roman" panose="02020603050405020304" pitchFamily="18" charset="0"/>
                <a:cs typeface="Times New Roman" panose="02020603050405020304" pitchFamily="18" charset="0"/>
              </a:rPr>
              <a:t>exchanging</a:t>
            </a:r>
            <a:r>
              <a:rPr lang="en-US" altLang="zh-CN" spc="4" dirty="0">
                <a:latin typeface="Times New Roman" panose="02020603050405020304" pitchFamily="18" charset="0"/>
                <a:cs typeface="Times New Roman" panose="02020603050405020304" pitchFamily="18" charset="0"/>
              </a:rPr>
              <a:t> </a:t>
            </a:r>
            <a:r>
              <a:rPr lang="en-US" altLang="zh-CN" spc="-53" dirty="0">
                <a:latin typeface="Times New Roman" panose="02020603050405020304" pitchFamily="18" charset="0"/>
                <a:cs typeface="Times New Roman" panose="02020603050405020304" pitchFamily="18" charset="0"/>
              </a:rPr>
              <a:t>between</a:t>
            </a:r>
            <a:r>
              <a:rPr lang="en-US" altLang="zh-CN" spc="8" dirty="0">
                <a:latin typeface="Times New Roman" panose="02020603050405020304" pitchFamily="18" charset="0"/>
                <a:cs typeface="Times New Roman" panose="02020603050405020304" pitchFamily="18" charset="0"/>
              </a:rPr>
              <a:t> </a:t>
            </a:r>
            <a:r>
              <a:rPr lang="en-US" altLang="zh-CN" spc="-53" dirty="0">
                <a:latin typeface="Times New Roman" panose="02020603050405020304" pitchFamily="18" charset="0"/>
                <a:cs typeface="Times New Roman" panose="02020603050405020304" pitchFamily="18" charset="0"/>
              </a:rPr>
              <a:t>nodes</a:t>
            </a:r>
            <a:r>
              <a:rPr lang="en-US" altLang="zh-CN" spc="-30" dirty="0">
                <a:latin typeface="Times New Roman" panose="02020603050405020304" pitchFamily="18" charset="0"/>
                <a:cs typeface="Times New Roman" panose="02020603050405020304" pitchFamily="18" charset="0"/>
              </a:rPr>
              <a:t> </a:t>
            </a:r>
            <a:r>
              <a:rPr lang="en-US" altLang="zh-CN" spc="-19" dirty="0">
                <a:latin typeface="Times New Roman" panose="02020603050405020304" pitchFamily="18" charset="0"/>
                <a:cs typeface="Times New Roman" panose="02020603050405020304" pitchFamily="18" charset="0"/>
              </a:rPr>
              <a:t>are </a:t>
            </a:r>
            <a:r>
              <a:rPr lang="en-US" altLang="zh-CN" spc="-8" dirty="0">
                <a:latin typeface="Times New Roman" panose="02020603050405020304" pitchFamily="18" charset="0"/>
                <a:cs typeface="Times New Roman" panose="02020603050405020304" pitchFamily="18" charset="0"/>
              </a:rPr>
              <a:t>reduced</a:t>
            </a:r>
          </a:p>
          <a:p>
            <a:pPr marL="810101" marR="622935" lvl="1" indent="-342900" algn="just" defTabSz="927100">
              <a:buClr>
                <a:srgbClr val="0000FF"/>
              </a:buClr>
              <a:buFont typeface="Symbol" panose="05050102010706020507" pitchFamily="18" charset="2"/>
              <a:buChar char="-"/>
              <a:tabLst>
                <a:tab pos="8248650" algn="l"/>
              </a:tabLst>
            </a:pPr>
            <a:r>
              <a:rPr lang="en-US" altLang="zh-CN" spc="-8" dirty="0">
                <a:latin typeface="Times New Roman" panose="02020603050405020304" pitchFamily="18" charset="0"/>
                <a:cs typeface="Times New Roman" panose="02020603050405020304" pitchFamily="18" charset="0"/>
              </a:rPr>
              <a:t>In</a:t>
            </a:r>
            <a:r>
              <a:rPr lang="en-US" altLang="zh-CN" spc="-94" dirty="0">
                <a:latin typeface="Times New Roman" panose="02020603050405020304" pitchFamily="18" charset="0"/>
                <a:cs typeface="Times New Roman" panose="02020603050405020304" pitchFamily="18" charset="0"/>
              </a:rPr>
              <a:t> </a:t>
            </a:r>
            <a:r>
              <a:rPr lang="en-US" altLang="zh-CN" spc="-49" dirty="0">
                <a:latin typeface="Times New Roman" panose="02020603050405020304" pitchFamily="18" charset="0"/>
                <a:cs typeface="Times New Roman" panose="02020603050405020304" pitchFamily="18" charset="0"/>
              </a:rPr>
              <a:t>comparison</a:t>
            </a:r>
            <a:r>
              <a:rPr lang="en-US" altLang="zh-CN" spc="-45" dirty="0">
                <a:latin typeface="Times New Roman" panose="02020603050405020304" pitchFamily="18" charset="0"/>
                <a:cs typeface="Times New Roman" panose="02020603050405020304" pitchFamily="18" charset="0"/>
              </a:rPr>
              <a:t> </a:t>
            </a:r>
            <a:r>
              <a:rPr lang="en-US" altLang="zh-CN" spc="-49" dirty="0">
                <a:latin typeface="Times New Roman" panose="02020603050405020304" pitchFamily="18" charset="0"/>
                <a:cs typeface="Times New Roman" panose="02020603050405020304" pitchFamily="18" charset="0"/>
              </a:rPr>
              <a:t>with </a:t>
            </a:r>
            <a:r>
              <a:rPr lang="en-US" altLang="zh-CN" spc="-38" dirty="0">
                <a:latin typeface="Times New Roman" panose="02020603050405020304" pitchFamily="18" charset="0"/>
                <a:cs typeface="Times New Roman" panose="02020603050405020304" pitchFamily="18" charset="0"/>
              </a:rPr>
              <a:t>Hybrid</a:t>
            </a:r>
            <a:r>
              <a:rPr lang="en-US" altLang="zh-CN" spc="-34" dirty="0">
                <a:latin typeface="Times New Roman" panose="02020603050405020304" pitchFamily="18" charset="0"/>
                <a:cs typeface="Times New Roman" panose="02020603050405020304" pitchFamily="18" charset="0"/>
              </a:rPr>
              <a:t> </a:t>
            </a:r>
            <a:r>
              <a:rPr lang="en-US" altLang="zh-CN" spc="-53" dirty="0">
                <a:latin typeface="Times New Roman" panose="02020603050405020304" pitchFamily="18" charset="0"/>
                <a:cs typeface="Times New Roman" panose="02020603050405020304" pitchFamily="18" charset="0"/>
              </a:rPr>
              <a:t>Decentralized</a:t>
            </a:r>
            <a:r>
              <a:rPr lang="en-US" altLang="zh-CN" spc="45" dirty="0">
                <a:latin typeface="Times New Roman" panose="02020603050405020304" pitchFamily="18" charset="0"/>
                <a:cs typeface="Times New Roman" panose="02020603050405020304" pitchFamily="18" charset="0"/>
              </a:rPr>
              <a:t> </a:t>
            </a:r>
            <a:r>
              <a:rPr lang="en-US" altLang="zh-CN" spc="-45" dirty="0">
                <a:latin typeface="Times New Roman" panose="02020603050405020304" pitchFamily="18" charset="0"/>
                <a:cs typeface="Times New Roman" panose="02020603050405020304" pitchFamily="18" charset="0"/>
              </a:rPr>
              <a:t>Systems,</a:t>
            </a:r>
            <a:r>
              <a:rPr lang="en-US" altLang="zh-CN" spc="15" dirty="0">
                <a:latin typeface="Times New Roman" panose="02020603050405020304" pitchFamily="18" charset="0"/>
                <a:cs typeface="Times New Roman" panose="02020603050405020304" pitchFamily="18" charset="0"/>
              </a:rPr>
              <a:t> </a:t>
            </a:r>
            <a:r>
              <a:rPr lang="en-US" altLang="zh-CN" spc="-53" dirty="0">
                <a:latin typeface="Times New Roman" panose="02020603050405020304" pitchFamily="18" charset="0"/>
                <a:cs typeface="Times New Roman" panose="02020603050405020304" pitchFamily="18" charset="0"/>
              </a:rPr>
              <a:t>workload</a:t>
            </a:r>
            <a:r>
              <a:rPr lang="en-US" altLang="zh-CN" dirty="0">
                <a:latin typeface="Times New Roman" panose="02020603050405020304" pitchFamily="18" charset="0"/>
                <a:cs typeface="Times New Roman" panose="02020603050405020304" pitchFamily="18" charset="0"/>
              </a:rPr>
              <a:t> </a:t>
            </a:r>
            <a:r>
              <a:rPr lang="en-US" altLang="zh-CN" spc="-19" dirty="0">
                <a:latin typeface="Times New Roman" panose="02020603050405020304" pitchFamily="18" charset="0"/>
                <a:cs typeface="Times New Roman" panose="02020603050405020304" pitchFamily="18" charset="0"/>
              </a:rPr>
              <a:t>on </a:t>
            </a:r>
            <a:r>
              <a:rPr lang="en-US" altLang="zh-CN" spc="-41" dirty="0">
                <a:latin typeface="Times New Roman" panose="02020603050405020304" pitchFamily="18" charset="0"/>
                <a:cs typeface="Times New Roman" panose="02020603050405020304" pitchFamily="18" charset="0"/>
              </a:rPr>
              <a:t>central</a:t>
            </a:r>
            <a:r>
              <a:rPr lang="en-US" altLang="zh-CN" spc="-60" dirty="0">
                <a:latin typeface="Times New Roman" panose="02020603050405020304" pitchFamily="18" charset="0"/>
                <a:cs typeface="Times New Roman" panose="02020603050405020304" pitchFamily="18" charset="0"/>
              </a:rPr>
              <a:t> </a:t>
            </a:r>
            <a:r>
              <a:rPr lang="en-US" altLang="zh-CN" spc="-45" dirty="0">
                <a:latin typeface="Times New Roman" panose="02020603050405020304" pitchFamily="18" charset="0"/>
                <a:cs typeface="Times New Roman" panose="02020603050405020304" pitchFamily="18" charset="0"/>
              </a:rPr>
              <a:t>server </a:t>
            </a:r>
            <a:r>
              <a:rPr lang="en-US" altLang="zh-CN" spc="-38" dirty="0">
                <a:latin typeface="Times New Roman" panose="02020603050405020304" pitchFamily="18" charset="0"/>
                <a:cs typeface="Times New Roman" panose="02020603050405020304" pitchFamily="18" charset="0"/>
              </a:rPr>
              <a:t>are</a:t>
            </a:r>
            <a:r>
              <a:rPr lang="en-US" altLang="zh-CN" spc="-60" dirty="0">
                <a:latin typeface="Times New Roman" panose="02020603050405020304" pitchFamily="18" charset="0"/>
                <a:cs typeface="Times New Roman" panose="02020603050405020304" pitchFamily="18" charset="0"/>
              </a:rPr>
              <a:t> </a:t>
            </a:r>
            <a:r>
              <a:rPr lang="en-US" altLang="zh-CN" spc="-49" dirty="0">
                <a:latin typeface="Times New Roman" panose="02020603050405020304" pitchFamily="18" charset="0"/>
                <a:cs typeface="Times New Roman" panose="02020603050405020304" pitchFamily="18" charset="0"/>
              </a:rPr>
              <a:t>reduced,</a:t>
            </a:r>
            <a:r>
              <a:rPr lang="en-US" altLang="zh-CN" spc="-11"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but</a:t>
            </a:r>
            <a:r>
              <a:rPr lang="en-US" altLang="zh-CN" spc="-49" dirty="0">
                <a:latin typeface="Times New Roman" panose="02020603050405020304" pitchFamily="18" charset="0"/>
                <a:cs typeface="Times New Roman" panose="02020603050405020304" pitchFamily="18" charset="0"/>
              </a:rPr>
              <a:t> </a:t>
            </a:r>
            <a:r>
              <a:rPr lang="en-US" altLang="zh-CN" spc="-41" dirty="0">
                <a:latin typeface="Times New Roman" panose="02020603050405020304" pitchFamily="18" charset="0"/>
                <a:cs typeface="Times New Roman" panose="02020603050405020304" pitchFamily="18" charset="0"/>
              </a:rPr>
              <a:t>with</a:t>
            </a:r>
            <a:r>
              <a:rPr lang="en-US" altLang="zh-CN" spc="-53" dirty="0">
                <a:latin typeface="Times New Roman" panose="02020603050405020304" pitchFamily="18" charset="0"/>
                <a:cs typeface="Times New Roman" panose="02020603050405020304" pitchFamily="18" charset="0"/>
              </a:rPr>
              <a:t> </a:t>
            </a:r>
            <a:r>
              <a:rPr lang="en-US" altLang="zh-CN" spc="-45" dirty="0">
                <a:latin typeface="Times New Roman" panose="02020603050405020304" pitchFamily="18" charset="0"/>
                <a:cs typeface="Times New Roman" panose="02020603050405020304" pitchFamily="18" charset="0"/>
              </a:rPr>
              <a:t>slower</a:t>
            </a:r>
            <a:r>
              <a:rPr lang="en-US" altLang="zh-CN" spc="-4" dirty="0">
                <a:latin typeface="Times New Roman" panose="02020603050405020304" pitchFamily="18" charset="0"/>
                <a:cs typeface="Times New Roman" panose="02020603050405020304" pitchFamily="18" charset="0"/>
              </a:rPr>
              <a:t> </a:t>
            </a:r>
            <a:r>
              <a:rPr lang="en-US" altLang="zh-CN" spc="-45" dirty="0">
                <a:latin typeface="Times New Roman" panose="02020603050405020304" pitchFamily="18" charset="0"/>
                <a:cs typeface="Times New Roman" panose="02020603050405020304" pitchFamily="18" charset="0"/>
              </a:rPr>
              <a:t>information</a:t>
            </a:r>
            <a:r>
              <a:rPr lang="en-US" altLang="zh-CN" spc="-49" dirty="0">
                <a:latin typeface="Times New Roman" panose="02020603050405020304" pitchFamily="18" charset="0"/>
                <a:cs typeface="Times New Roman" panose="02020603050405020304" pitchFamily="18" charset="0"/>
              </a:rPr>
              <a:t> </a:t>
            </a:r>
            <a:r>
              <a:rPr lang="en-US" altLang="zh-CN" spc="-19" dirty="0">
                <a:latin typeface="Times New Roman" panose="02020603050405020304" pitchFamily="18" charset="0"/>
                <a:cs typeface="Times New Roman" panose="02020603050405020304" pitchFamily="18" charset="0"/>
              </a:rPr>
              <a:t>discovery</a:t>
            </a:r>
          </a:p>
          <a:p>
            <a:pPr marL="810101" marR="622935" lvl="1" indent="-360000" defTabSz="927100">
              <a:buClr>
                <a:srgbClr val="0000FF"/>
              </a:buClr>
              <a:buFont typeface="Symbol" panose="05050102010706020507" pitchFamily="18" charset="2"/>
              <a:buChar char="-"/>
              <a:tabLst>
                <a:tab pos="8248650" algn="l"/>
              </a:tabLst>
            </a:pPr>
            <a:r>
              <a:rPr lang="en-US" altLang="zh-CN" spc="-83" dirty="0">
                <a:latin typeface="Times New Roman" panose="02020603050405020304" pitchFamily="18" charset="0"/>
                <a:cs typeface="Times New Roman" panose="02020603050405020304" pitchFamily="18" charset="0"/>
              </a:rPr>
              <a:t>The</a:t>
            </a:r>
            <a:r>
              <a:rPr lang="en-US" altLang="zh-CN" spc="-38" dirty="0">
                <a:latin typeface="Times New Roman" panose="02020603050405020304" pitchFamily="18" charset="0"/>
                <a:cs typeface="Times New Roman" panose="02020603050405020304" pitchFamily="18" charset="0"/>
              </a:rPr>
              <a:t> </a:t>
            </a:r>
            <a:r>
              <a:rPr lang="en-US" altLang="zh-CN" spc="-64" dirty="0">
                <a:latin typeface="Times New Roman" panose="02020603050405020304" pitchFamily="18" charset="0"/>
                <a:cs typeface="Times New Roman" panose="02020603050405020304" pitchFamily="18" charset="0"/>
              </a:rPr>
              <a:t>inherent</a:t>
            </a:r>
            <a:r>
              <a:rPr lang="en-US" altLang="zh-CN" spc="-49" dirty="0">
                <a:latin typeface="Times New Roman" panose="02020603050405020304" pitchFamily="18" charset="0"/>
                <a:cs typeface="Times New Roman" panose="02020603050405020304" pitchFamily="18" charset="0"/>
              </a:rPr>
              <a:t> </a:t>
            </a:r>
            <a:r>
              <a:rPr lang="en-US" altLang="zh-CN" spc="-64" dirty="0">
                <a:latin typeface="Times New Roman" panose="02020603050405020304" pitchFamily="18" charset="0"/>
                <a:cs typeface="Times New Roman" panose="02020603050405020304" pitchFamily="18" charset="0"/>
              </a:rPr>
              <a:t>heterogeneity</a:t>
            </a:r>
            <a:r>
              <a:rPr lang="en-US" altLang="zh-CN" spc="8" dirty="0">
                <a:latin typeface="Times New Roman" panose="02020603050405020304" pitchFamily="18" charset="0"/>
                <a:cs typeface="Times New Roman" panose="02020603050405020304" pitchFamily="18" charset="0"/>
              </a:rPr>
              <a:t> </a:t>
            </a:r>
            <a:r>
              <a:rPr lang="en-US" altLang="zh-CN" spc="-68" dirty="0">
                <a:latin typeface="Times New Roman" panose="02020603050405020304" pitchFamily="18" charset="0"/>
                <a:cs typeface="Times New Roman" panose="02020603050405020304" pitchFamily="18" charset="0"/>
              </a:rPr>
              <a:t>of</a:t>
            </a:r>
            <a:r>
              <a:rPr lang="en-US" altLang="zh-CN" spc="-45" dirty="0">
                <a:latin typeface="Times New Roman" panose="02020603050405020304" pitchFamily="18" charset="0"/>
                <a:cs typeface="Times New Roman" panose="02020603050405020304" pitchFamily="18" charset="0"/>
              </a:rPr>
              <a:t> </a:t>
            </a:r>
            <a:r>
              <a:rPr lang="en-US" altLang="zh-CN" spc="-83" dirty="0">
                <a:latin typeface="Times New Roman" panose="02020603050405020304" pitchFamily="18" charset="0"/>
                <a:cs typeface="Times New Roman" panose="02020603050405020304" pitchFamily="18" charset="0"/>
              </a:rPr>
              <a:t>peer-</a:t>
            </a:r>
            <a:r>
              <a:rPr lang="en-US" altLang="zh-CN" spc="-68" dirty="0">
                <a:latin typeface="Times New Roman" panose="02020603050405020304" pitchFamily="18" charset="0"/>
                <a:cs typeface="Times New Roman" panose="02020603050405020304" pitchFamily="18" charset="0"/>
              </a:rPr>
              <a:t>to-</a:t>
            </a:r>
            <a:r>
              <a:rPr lang="en-US" altLang="zh-CN" spc="-34" dirty="0">
                <a:latin typeface="Times New Roman" panose="02020603050405020304" pitchFamily="18" charset="0"/>
                <a:cs typeface="Times New Roman" panose="02020603050405020304" pitchFamily="18" charset="0"/>
              </a:rPr>
              <a:t>peer</a:t>
            </a:r>
            <a:r>
              <a:rPr lang="en-US" altLang="zh-CN" spc="53" dirty="0">
                <a:latin typeface="Times New Roman" panose="02020603050405020304" pitchFamily="18" charset="0"/>
                <a:cs typeface="Times New Roman" panose="02020603050405020304" pitchFamily="18" charset="0"/>
              </a:rPr>
              <a:t> </a:t>
            </a:r>
            <a:r>
              <a:rPr lang="en-US" altLang="zh-CN" spc="-64" dirty="0">
                <a:latin typeface="Times New Roman" panose="02020603050405020304" pitchFamily="18" charset="0"/>
                <a:cs typeface="Times New Roman" panose="02020603050405020304" pitchFamily="18" charset="0"/>
              </a:rPr>
              <a:t>networks</a:t>
            </a:r>
            <a:r>
              <a:rPr lang="en-US" altLang="zh-CN" spc="-11" dirty="0">
                <a:latin typeface="Times New Roman" panose="02020603050405020304" pitchFamily="18" charset="0"/>
                <a:cs typeface="Times New Roman" panose="02020603050405020304" pitchFamily="18" charset="0"/>
              </a:rPr>
              <a:t> </a:t>
            </a:r>
            <a:r>
              <a:rPr lang="en-US" altLang="zh-CN" spc="-19" dirty="0">
                <a:latin typeface="Times New Roman" panose="02020603050405020304" pitchFamily="18" charset="0"/>
                <a:cs typeface="Times New Roman" panose="02020603050405020304" pitchFamily="18" charset="0"/>
              </a:rPr>
              <a:t>is  </a:t>
            </a:r>
            <a:r>
              <a:rPr lang="en-US" altLang="zh-CN" spc="-64" dirty="0">
                <a:latin typeface="Times New Roman" panose="02020603050405020304" pitchFamily="18" charset="0"/>
                <a:cs typeface="Times New Roman" panose="02020603050405020304" pitchFamily="18" charset="0"/>
              </a:rPr>
              <a:t>taken</a:t>
            </a:r>
            <a:r>
              <a:rPr lang="en-US" altLang="zh-CN" spc="-49" dirty="0">
                <a:latin typeface="Times New Roman" panose="02020603050405020304" pitchFamily="18" charset="0"/>
                <a:cs typeface="Times New Roman" panose="02020603050405020304" pitchFamily="18" charset="0"/>
              </a:rPr>
              <a:t> </a:t>
            </a:r>
            <a:r>
              <a:rPr lang="en-US" altLang="zh-CN" spc="-75" dirty="0">
                <a:latin typeface="Times New Roman" panose="02020603050405020304" pitchFamily="18" charset="0"/>
                <a:cs typeface="Times New Roman" panose="02020603050405020304" pitchFamily="18" charset="0"/>
              </a:rPr>
              <a:t>advantage</a:t>
            </a:r>
            <a:r>
              <a:rPr lang="en-US" altLang="zh-CN" spc="-8" dirty="0">
                <a:latin typeface="Times New Roman" panose="02020603050405020304" pitchFamily="18" charset="0"/>
                <a:cs typeface="Times New Roman" panose="02020603050405020304" pitchFamily="18" charset="0"/>
              </a:rPr>
              <a:t> </a:t>
            </a:r>
            <a:r>
              <a:rPr lang="en-US" altLang="zh-CN" spc="-56" dirty="0">
                <a:latin typeface="Times New Roman" panose="02020603050405020304" pitchFamily="18" charset="0"/>
                <a:cs typeface="Times New Roman" panose="02020603050405020304" pitchFamily="18" charset="0"/>
              </a:rPr>
              <a:t>of</a:t>
            </a:r>
            <a:r>
              <a:rPr lang="en-US" altLang="zh-CN" spc="-11" dirty="0">
                <a:latin typeface="Times New Roman" panose="02020603050405020304" pitchFamily="18" charset="0"/>
                <a:cs typeface="Times New Roman" panose="02020603050405020304" pitchFamily="18" charset="0"/>
              </a:rPr>
              <a:t> </a:t>
            </a:r>
            <a:r>
              <a:rPr lang="en-US" altLang="zh-CN" spc="-71" dirty="0">
                <a:latin typeface="Times New Roman" panose="02020603050405020304" pitchFamily="18" charset="0"/>
                <a:cs typeface="Times New Roman" panose="02020603050405020304" pitchFamily="18" charset="0"/>
              </a:rPr>
              <a:t>and</a:t>
            </a:r>
            <a:r>
              <a:rPr lang="en-US" altLang="zh-CN" spc="-41" dirty="0">
                <a:latin typeface="Times New Roman" panose="02020603050405020304" pitchFamily="18" charset="0"/>
                <a:cs typeface="Times New Roman" panose="02020603050405020304" pitchFamily="18" charset="0"/>
              </a:rPr>
              <a:t> </a:t>
            </a:r>
            <a:r>
              <a:rPr lang="en-US" altLang="zh-CN" spc="-8" dirty="0">
                <a:latin typeface="Times New Roman" panose="02020603050405020304" pitchFamily="18" charset="0"/>
                <a:cs typeface="Times New Roman" panose="02020603050405020304" pitchFamily="18" charset="0"/>
              </a:rPr>
              <a:t>exploited</a:t>
            </a:r>
            <a:endParaRPr lang="en-US" altLang="zh-CN" dirty="0">
              <a:latin typeface="Times New Roman" panose="02020603050405020304" pitchFamily="18" charset="0"/>
              <a:cs typeface="Times New Roman" panose="02020603050405020304" pitchFamily="18" charset="0"/>
            </a:endParaRPr>
          </a:p>
          <a:p>
            <a:pPr marL="810101" marR="622935" lvl="1" indent="-342900" algn="just" defTabSz="927100">
              <a:buClr>
                <a:srgbClr val="0000FF"/>
              </a:buClr>
              <a:buFont typeface="Symbol" panose="05050102010706020507" pitchFamily="18" charset="2"/>
              <a:buChar char="-"/>
              <a:tabLst>
                <a:tab pos="8248650" algn="l"/>
              </a:tabLst>
            </a:pPr>
            <a:r>
              <a:rPr lang="en-US" altLang="zh-CN" dirty="0">
                <a:latin typeface="Times New Roman" panose="02020603050405020304" pitchFamily="18" charset="0"/>
                <a:cs typeface="Times New Roman" panose="02020603050405020304" pitchFamily="18" charset="0"/>
              </a:rPr>
              <a:t>no</a:t>
            </a:r>
            <a:r>
              <a:rPr lang="en-US" altLang="zh-CN" spc="-90" dirty="0">
                <a:latin typeface="Times New Roman" panose="02020603050405020304" pitchFamily="18" charset="0"/>
                <a:cs typeface="Times New Roman" panose="02020603050405020304" pitchFamily="18" charset="0"/>
              </a:rPr>
              <a:t> </a:t>
            </a:r>
            <a:r>
              <a:rPr lang="en-US" altLang="zh-CN" spc="-19" dirty="0">
                <a:latin typeface="Times New Roman" panose="02020603050405020304" pitchFamily="18" charset="0"/>
                <a:cs typeface="Times New Roman" panose="02020603050405020304" pitchFamily="18" charset="0"/>
              </a:rPr>
              <a:t>unique</a:t>
            </a:r>
            <a:r>
              <a:rPr lang="en-US" altLang="zh-CN" spc="-64" dirty="0">
                <a:latin typeface="Times New Roman" panose="02020603050405020304" pitchFamily="18" charset="0"/>
                <a:cs typeface="Times New Roman" panose="02020603050405020304" pitchFamily="18" charset="0"/>
              </a:rPr>
              <a:t> </a:t>
            </a:r>
            <a:r>
              <a:rPr lang="en-US" altLang="zh-CN" spc="-8" dirty="0">
                <a:latin typeface="Times New Roman" panose="02020603050405020304" pitchFamily="18" charset="0"/>
                <a:cs typeface="Times New Roman" panose="02020603050405020304" pitchFamily="18" charset="0"/>
              </a:rPr>
              <a:t>point</a:t>
            </a:r>
            <a:r>
              <a:rPr lang="en-US" altLang="zh-CN" spc="-38"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of</a:t>
            </a:r>
            <a:r>
              <a:rPr lang="en-US" altLang="zh-CN" spc="-34" dirty="0">
                <a:latin typeface="Times New Roman" panose="02020603050405020304" pitchFamily="18" charset="0"/>
                <a:cs typeface="Times New Roman" panose="02020603050405020304" pitchFamily="18" charset="0"/>
              </a:rPr>
              <a:t> </a:t>
            </a:r>
            <a:r>
              <a:rPr lang="en-US" altLang="zh-CN" spc="-8" dirty="0">
                <a:latin typeface="Times New Roman" panose="02020603050405020304" pitchFamily="18" charset="0"/>
                <a:cs typeface="Times New Roman" panose="02020603050405020304" pitchFamily="18" charset="0"/>
              </a:rPr>
              <a:t>failure</a:t>
            </a:r>
            <a:endParaRPr lang="en-US" altLang="zh-CN" dirty="0">
              <a:latin typeface="Times New Roman" panose="02020603050405020304" pitchFamily="18" charset="0"/>
              <a:cs typeface="Times New Roman" panose="02020603050405020304" pitchFamily="18" charset="0"/>
            </a:endParaRPr>
          </a:p>
          <a:p>
            <a:pPr marL="1267301" marR="622935" lvl="2" indent="-342900" algn="just" defTabSz="927100">
              <a:buClr>
                <a:srgbClr val="0000FF"/>
              </a:buClr>
              <a:buFont typeface="Symbol" panose="05050102010706020507" pitchFamily="18" charset="2"/>
              <a:buChar char="-"/>
              <a:tabLst>
                <a:tab pos="8248650" algn="l"/>
              </a:tabLst>
            </a:pPr>
            <a:r>
              <a:rPr lang="en-US" altLang="zh-CN" dirty="0">
                <a:latin typeface="Times New Roman" panose="02020603050405020304" pitchFamily="18" charset="0"/>
                <a:cs typeface="Times New Roman" panose="02020603050405020304" pitchFamily="18" charset="0"/>
              </a:rPr>
              <a:t>If</a:t>
            </a:r>
            <a:r>
              <a:rPr lang="en-US" altLang="zh-CN" spc="-26" dirty="0">
                <a:latin typeface="Times New Roman" panose="02020603050405020304" pitchFamily="18" charset="0"/>
                <a:cs typeface="Times New Roman" panose="02020603050405020304" pitchFamily="18" charset="0"/>
              </a:rPr>
              <a:t> </a:t>
            </a:r>
            <a:r>
              <a:rPr lang="en-US" altLang="zh-CN" spc="-8" dirty="0">
                <a:latin typeface="Times New Roman" panose="02020603050405020304" pitchFamily="18" charset="0"/>
                <a:cs typeface="Times New Roman" panose="02020603050405020304" pitchFamily="18" charset="0"/>
              </a:rPr>
              <a:t>one</a:t>
            </a:r>
            <a:r>
              <a:rPr lang="en-US" altLang="zh-CN" spc="-79"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or</a:t>
            </a:r>
            <a:r>
              <a:rPr lang="en-US" altLang="zh-CN" spc="-34"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more</a:t>
            </a:r>
            <a:r>
              <a:rPr lang="en-US" altLang="zh-CN" spc="-49" dirty="0">
                <a:latin typeface="Times New Roman" panose="02020603050405020304" pitchFamily="18" charset="0"/>
                <a:cs typeface="Times New Roman" panose="02020603050405020304" pitchFamily="18" charset="0"/>
              </a:rPr>
              <a:t> </a:t>
            </a:r>
            <a:r>
              <a:rPr lang="en-US" altLang="zh-CN" spc="-26" dirty="0">
                <a:latin typeface="Times New Roman" panose="02020603050405020304" pitchFamily="18" charset="0"/>
                <a:cs typeface="Times New Roman" panose="02020603050405020304" pitchFamily="18" charset="0"/>
              </a:rPr>
              <a:t>supernodes</a:t>
            </a:r>
            <a:r>
              <a:rPr lang="en-US" altLang="zh-CN" spc="8"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go</a:t>
            </a:r>
            <a:r>
              <a:rPr lang="en-US" altLang="zh-CN" spc="-60" dirty="0">
                <a:latin typeface="Times New Roman" panose="02020603050405020304" pitchFamily="18" charset="0"/>
                <a:cs typeface="Times New Roman" panose="02020603050405020304" pitchFamily="18" charset="0"/>
              </a:rPr>
              <a:t> </a:t>
            </a:r>
            <a:r>
              <a:rPr lang="en-US" altLang="zh-CN" spc="-19" dirty="0">
                <a:latin typeface="Times New Roman" panose="02020603050405020304" pitchFamily="18" charset="0"/>
                <a:cs typeface="Times New Roman" panose="02020603050405020304" pitchFamily="18" charset="0"/>
              </a:rPr>
              <a:t>down,</a:t>
            </a:r>
            <a:r>
              <a:rPr lang="en-US" altLang="zh-CN" spc="-4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the</a:t>
            </a:r>
            <a:r>
              <a:rPr lang="en-US" altLang="zh-CN" spc="-53"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nodes</a:t>
            </a:r>
            <a:r>
              <a:rPr lang="en-US" altLang="zh-CN" spc="-49" dirty="0">
                <a:latin typeface="Times New Roman" panose="02020603050405020304" pitchFamily="18" charset="0"/>
                <a:cs typeface="Times New Roman" panose="02020603050405020304" pitchFamily="18" charset="0"/>
              </a:rPr>
              <a:t> </a:t>
            </a:r>
            <a:r>
              <a:rPr lang="en-US" altLang="zh-CN" spc="-23" dirty="0">
                <a:latin typeface="Times New Roman" panose="02020603050405020304" pitchFamily="18" charset="0"/>
                <a:cs typeface="Times New Roman" panose="02020603050405020304" pitchFamily="18" charset="0"/>
              </a:rPr>
              <a:t>connected</a:t>
            </a:r>
            <a:r>
              <a:rPr lang="en-US" altLang="zh-CN" spc="-26"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to</a:t>
            </a:r>
            <a:r>
              <a:rPr lang="en-US" altLang="zh-CN" spc="-56"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them</a:t>
            </a:r>
            <a:r>
              <a:rPr lang="en-US" altLang="zh-CN" spc="375" dirty="0">
                <a:latin typeface="Times New Roman" panose="02020603050405020304" pitchFamily="18" charset="0"/>
                <a:cs typeface="Times New Roman" panose="02020603050405020304" pitchFamily="18" charset="0"/>
              </a:rPr>
              <a:t> </a:t>
            </a:r>
            <a:r>
              <a:rPr lang="en-US" altLang="zh-CN" spc="-8" dirty="0">
                <a:latin typeface="Times New Roman" panose="02020603050405020304" pitchFamily="18" charset="0"/>
                <a:cs typeface="Times New Roman" panose="02020603050405020304" pitchFamily="18" charset="0"/>
              </a:rPr>
              <a:t>can</a:t>
            </a:r>
            <a:r>
              <a:rPr lang="en-US" altLang="zh-CN" spc="-83" dirty="0">
                <a:latin typeface="Times New Roman" panose="02020603050405020304" pitchFamily="18" charset="0"/>
                <a:cs typeface="Times New Roman" panose="02020603050405020304" pitchFamily="18" charset="0"/>
              </a:rPr>
              <a:t> </a:t>
            </a:r>
            <a:r>
              <a:rPr lang="en-US" altLang="zh-CN" spc="-8" dirty="0">
                <a:latin typeface="Times New Roman" panose="02020603050405020304" pitchFamily="18" charset="0"/>
                <a:cs typeface="Times New Roman" panose="02020603050405020304" pitchFamily="18" charset="0"/>
              </a:rPr>
              <a:t>open</a:t>
            </a:r>
            <a:r>
              <a:rPr lang="en-US" altLang="zh-CN" spc="-79"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new</a:t>
            </a:r>
            <a:r>
              <a:rPr lang="en-US" altLang="zh-CN" spc="-49" dirty="0">
                <a:latin typeface="Times New Roman" panose="02020603050405020304" pitchFamily="18" charset="0"/>
                <a:cs typeface="Times New Roman" panose="02020603050405020304" pitchFamily="18" charset="0"/>
              </a:rPr>
              <a:t> </a:t>
            </a:r>
            <a:r>
              <a:rPr lang="en-US" altLang="zh-CN" spc="-26" dirty="0">
                <a:latin typeface="Times New Roman" panose="02020603050405020304" pitchFamily="18" charset="0"/>
                <a:cs typeface="Times New Roman" panose="02020603050405020304" pitchFamily="18" charset="0"/>
              </a:rPr>
              <a:t>connections</a:t>
            </a:r>
            <a:r>
              <a:rPr lang="en-US" altLang="zh-CN" spc="34"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with</a:t>
            </a:r>
            <a:r>
              <a:rPr lang="en-US" altLang="zh-CN" spc="-56" dirty="0">
                <a:latin typeface="Times New Roman" panose="02020603050405020304" pitchFamily="18" charset="0"/>
                <a:cs typeface="Times New Roman" panose="02020603050405020304" pitchFamily="18" charset="0"/>
              </a:rPr>
              <a:t> </a:t>
            </a:r>
            <a:r>
              <a:rPr lang="en-US" altLang="zh-CN" spc="-19" dirty="0">
                <a:latin typeface="Times New Roman" panose="02020603050405020304" pitchFamily="18" charset="0"/>
                <a:cs typeface="Times New Roman" panose="02020603050405020304" pitchFamily="18" charset="0"/>
              </a:rPr>
              <a:t>other</a:t>
            </a:r>
            <a:r>
              <a:rPr lang="en-US" altLang="zh-CN" spc="-11" dirty="0">
                <a:latin typeface="Times New Roman" panose="02020603050405020304" pitchFamily="18" charset="0"/>
                <a:cs typeface="Times New Roman" panose="02020603050405020304" pitchFamily="18" charset="0"/>
              </a:rPr>
              <a:t> </a:t>
            </a:r>
            <a:r>
              <a:rPr lang="en-US" altLang="zh-CN" spc="-30" dirty="0">
                <a:latin typeface="Times New Roman" panose="02020603050405020304" pitchFamily="18" charset="0"/>
                <a:cs typeface="Times New Roman" panose="02020603050405020304" pitchFamily="18" charset="0"/>
              </a:rPr>
              <a:t>supernodes,</a:t>
            </a:r>
            <a:r>
              <a:rPr lang="en-US" altLang="zh-CN" spc="26"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and</a:t>
            </a:r>
            <a:r>
              <a:rPr lang="en-US" altLang="zh-CN" spc="-86"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the</a:t>
            </a:r>
            <a:r>
              <a:rPr lang="en-US" altLang="zh-CN" spc="-79" dirty="0">
                <a:latin typeface="Times New Roman" panose="02020603050405020304" pitchFamily="18" charset="0"/>
                <a:cs typeface="Times New Roman" panose="02020603050405020304" pitchFamily="18" charset="0"/>
              </a:rPr>
              <a:t> </a:t>
            </a:r>
            <a:r>
              <a:rPr lang="en-US" altLang="zh-CN" spc="-23" dirty="0">
                <a:latin typeface="Times New Roman" panose="02020603050405020304" pitchFamily="18" charset="0"/>
                <a:cs typeface="Times New Roman" panose="02020603050405020304" pitchFamily="18" charset="0"/>
              </a:rPr>
              <a:t>network</a:t>
            </a:r>
            <a:r>
              <a:rPr lang="en-US" altLang="zh-CN" spc="41"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will </a:t>
            </a:r>
            <a:r>
              <a:rPr lang="en-US" altLang="zh-CN" spc="-23" dirty="0">
                <a:latin typeface="Times New Roman" panose="02020603050405020304" pitchFamily="18" charset="0"/>
                <a:cs typeface="Times New Roman" panose="02020603050405020304" pitchFamily="18" charset="0"/>
              </a:rPr>
              <a:t>continue</a:t>
            </a:r>
            <a:r>
              <a:rPr lang="en-US" altLang="zh-CN" spc="4"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to</a:t>
            </a:r>
            <a:r>
              <a:rPr lang="en-US" altLang="zh-CN" spc="-79" dirty="0">
                <a:latin typeface="Times New Roman" panose="02020603050405020304" pitchFamily="18" charset="0"/>
                <a:cs typeface="Times New Roman" panose="02020603050405020304" pitchFamily="18" charset="0"/>
              </a:rPr>
              <a:t> </a:t>
            </a:r>
            <a:r>
              <a:rPr lang="en-US" altLang="zh-CN" spc="-8" dirty="0">
                <a:latin typeface="Times New Roman" panose="02020603050405020304" pitchFamily="18" charset="0"/>
                <a:cs typeface="Times New Roman" panose="02020603050405020304" pitchFamily="18" charset="0"/>
              </a:rPr>
              <a:t>operate.</a:t>
            </a:r>
          </a:p>
          <a:p>
            <a:pPr marL="1267301" marR="622935" lvl="2" indent="-342900" algn="just" defTabSz="927100">
              <a:buClr>
                <a:srgbClr val="0000FF"/>
              </a:buClr>
              <a:buFont typeface="Symbol" panose="05050102010706020507" pitchFamily="18" charset="2"/>
              <a:buChar char="-"/>
              <a:tabLst>
                <a:tab pos="8248650" algn="l"/>
              </a:tabLst>
            </a:pPr>
            <a:r>
              <a:rPr lang="en-US" altLang="zh-CN" spc="-30" dirty="0">
                <a:latin typeface="Times New Roman" panose="02020603050405020304" pitchFamily="18" charset="0"/>
                <a:cs typeface="Times New Roman" panose="02020603050405020304" pitchFamily="18" charset="0"/>
              </a:rPr>
              <a:t>Peers</a:t>
            </a:r>
            <a:r>
              <a:rPr lang="en-US" altLang="zh-CN" spc="-56"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can</a:t>
            </a:r>
            <a:r>
              <a:rPr lang="en-US" altLang="zh-CN" spc="-71" dirty="0">
                <a:latin typeface="Times New Roman" panose="02020603050405020304" pitchFamily="18" charset="0"/>
                <a:cs typeface="Times New Roman" panose="02020603050405020304" pitchFamily="18" charset="0"/>
              </a:rPr>
              <a:t> </a:t>
            </a:r>
            <a:r>
              <a:rPr lang="en-US" altLang="zh-CN" spc="-19" dirty="0">
                <a:latin typeface="Times New Roman" panose="02020603050405020304" pitchFamily="18" charset="0"/>
                <a:cs typeface="Times New Roman" panose="02020603050405020304" pitchFamily="18" charset="0"/>
              </a:rPr>
              <a:t>become</a:t>
            </a:r>
            <a:r>
              <a:rPr lang="en-US" altLang="zh-CN" spc="4" dirty="0">
                <a:latin typeface="Times New Roman" panose="02020603050405020304" pitchFamily="18" charset="0"/>
                <a:cs typeface="Times New Roman" panose="02020603050405020304" pitchFamily="18" charset="0"/>
              </a:rPr>
              <a:t> </a:t>
            </a:r>
            <a:r>
              <a:rPr lang="en-US" altLang="zh-CN" spc="-26" dirty="0">
                <a:latin typeface="Times New Roman" panose="02020603050405020304" pitchFamily="18" charset="0"/>
                <a:cs typeface="Times New Roman" panose="02020603050405020304" pitchFamily="18" charset="0"/>
              </a:rPr>
              <a:t>supernodes</a:t>
            </a:r>
            <a:r>
              <a:rPr lang="en-US" altLang="zh-CN" spc="8" dirty="0">
                <a:latin typeface="Times New Roman" panose="02020603050405020304" pitchFamily="18" charset="0"/>
                <a:cs typeface="Times New Roman" panose="02020603050405020304" pitchFamily="18" charset="0"/>
              </a:rPr>
              <a:t> </a:t>
            </a:r>
            <a:r>
              <a:rPr lang="en-US" altLang="zh-CN" spc="-26" dirty="0">
                <a:latin typeface="Times New Roman" panose="02020603050405020304" pitchFamily="18" charset="0"/>
                <a:cs typeface="Times New Roman" panose="02020603050405020304" pitchFamily="18" charset="0"/>
              </a:rPr>
              <a:t>themselves</a:t>
            </a:r>
            <a:r>
              <a:rPr lang="en-US" altLang="zh-CN" spc="26"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even</a:t>
            </a:r>
            <a:r>
              <a:rPr lang="en-US" altLang="zh-CN" spc="-41"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when</a:t>
            </a:r>
            <a:r>
              <a:rPr lang="en-US" altLang="zh-CN" spc="-49"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all</a:t>
            </a:r>
            <a:r>
              <a:rPr lang="en-US" altLang="zh-CN" spc="-68" dirty="0">
                <a:latin typeface="Times New Roman" panose="02020603050405020304" pitchFamily="18" charset="0"/>
                <a:cs typeface="Times New Roman" panose="02020603050405020304" pitchFamily="18" charset="0"/>
              </a:rPr>
              <a:t> </a:t>
            </a:r>
            <a:r>
              <a:rPr lang="en-US" altLang="zh-CN" spc="-8" dirty="0">
                <a:latin typeface="Times New Roman" panose="02020603050405020304" pitchFamily="18" charset="0"/>
                <a:cs typeface="Times New Roman" panose="02020603050405020304" pitchFamily="18" charset="0"/>
              </a:rPr>
              <a:t>supernodes </a:t>
            </a:r>
            <a:r>
              <a:rPr lang="en-US" altLang="zh-CN" dirty="0">
                <a:latin typeface="Times New Roman" panose="02020603050405020304" pitchFamily="18" charset="0"/>
                <a:cs typeface="Times New Roman" panose="02020603050405020304" pitchFamily="18" charset="0"/>
              </a:rPr>
              <a:t>go</a:t>
            </a:r>
            <a:r>
              <a:rPr lang="en-US" altLang="zh-CN" spc="-56" dirty="0">
                <a:latin typeface="Times New Roman" panose="02020603050405020304" pitchFamily="18" charset="0"/>
                <a:cs typeface="Times New Roman" panose="02020603050405020304" pitchFamily="18" charset="0"/>
              </a:rPr>
              <a:t> </a:t>
            </a:r>
            <a:r>
              <a:rPr lang="en-US" altLang="zh-CN" spc="-15" dirty="0">
                <a:latin typeface="Times New Roman" panose="02020603050405020304" pitchFamily="18" charset="0"/>
                <a:cs typeface="Times New Roman" panose="02020603050405020304" pitchFamily="18" charset="0"/>
              </a:rPr>
              <a:t>down</a:t>
            </a:r>
            <a:endParaRPr lang="en-US" altLang="zh-CN" dirty="0">
              <a:latin typeface="Times New Roman" panose="02020603050405020304" pitchFamily="18" charset="0"/>
              <a:cs typeface="Times New Roman" panose="02020603050405020304" pitchFamily="18" charset="0"/>
            </a:endParaRPr>
          </a:p>
        </p:txBody>
      </p:sp>
      <p:sp>
        <p:nvSpPr>
          <p:cNvPr id="16" name="灯片编号占位符 15">
            <a:extLst>
              <a:ext uri="{FF2B5EF4-FFF2-40B4-BE49-F238E27FC236}">
                <a16:creationId xmlns:a16="http://schemas.microsoft.com/office/drawing/2014/main" id="{12CB0A1B-6149-F446-C63C-61E781D87B0E}"/>
              </a:ext>
            </a:extLst>
          </p:cNvPr>
          <p:cNvSpPr>
            <a:spLocks noGrp="1"/>
          </p:cNvSpPr>
          <p:nvPr>
            <p:ph type="sldNum" sz="quarter" idx="10"/>
          </p:nvPr>
        </p:nvSpPr>
        <p:spPr/>
        <p:txBody>
          <a:bodyPr/>
          <a:lstStyle/>
          <a:p>
            <a:fld id="{D9B6BDF2-6896-4B98-8776-C18582F63BA5}" type="slidenum">
              <a:rPr lang="zh-TW" altLang="en-US" smtClean="0"/>
              <a:pPr/>
              <a:t>19</a:t>
            </a:fld>
            <a:endParaRPr lang="zh-TW" altLang="en-US"/>
          </a:p>
        </p:txBody>
      </p:sp>
      <p:sp>
        <p:nvSpPr>
          <p:cNvPr id="18" name="标题 17">
            <a:extLst>
              <a:ext uri="{FF2B5EF4-FFF2-40B4-BE49-F238E27FC236}">
                <a16:creationId xmlns:a16="http://schemas.microsoft.com/office/drawing/2014/main" id="{C28D325D-1D13-4F74-E0EF-78B518024FF0}"/>
              </a:ext>
            </a:extLst>
          </p:cNvPr>
          <p:cNvSpPr>
            <a:spLocks noGrp="1"/>
          </p:cNvSpPr>
          <p:nvPr>
            <p:ph type="title"/>
          </p:nvPr>
        </p:nvSpPr>
        <p:spPr>
          <a:xfrm>
            <a:off x="864402" y="75748"/>
            <a:ext cx="7888289" cy="519113"/>
          </a:xfrm>
        </p:spPr>
        <p:txBody>
          <a:bodyPr/>
          <a:lstStyle/>
          <a:p>
            <a:r>
              <a:rPr lang="en-US" altLang="zh-CN" kern="0" dirty="0"/>
              <a:t>Partially</a:t>
            </a:r>
            <a:r>
              <a:rPr lang="en-US" altLang="zh-CN" kern="0" dirty="0">
                <a:solidFill>
                  <a:srgbClr val="002060"/>
                </a:solidFill>
              </a:rPr>
              <a:t> Centralized Systems (2)</a:t>
            </a:r>
            <a:endParaRPr lang="zh-CN" altLang="en-US" dirty="0">
              <a:solidFill>
                <a:srgbClr val="002060"/>
              </a:solidFill>
            </a:endParaRPr>
          </a:p>
        </p:txBody>
      </p:sp>
    </p:spTree>
    <p:extLst>
      <p:ext uri="{BB962C8B-B14F-4D97-AF65-F5344CB8AC3E}">
        <p14:creationId xmlns:p14="http://schemas.microsoft.com/office/powerpoint/2010/main" val="3311107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72150" y="151040"/>
            <a:ext cx="7925085" cy="452977"/>
          </a:xfrm>
          <a:prstGeom prst="rect">
            <a:avLst/>
          </a:prstGeom>
        </p:spPr>
        <p:txBody>
          <a:bodyPr vert="horz" wrap="square" lIns="0" tIns="55721" rIns="0" bIns="0" numCol="1" rtlCol="0" anchor="ctr" anchorCtr="0" compatLnSpc="1">
            <a:prstTxWarp prst="textNoShape">
              <a:avLst/>
            </a:prstTxWarp>
            <a:spAutoFit/>
          </a:bodyPr>
          <a:lstStyle/>
          <a:p>
            <a:pPr marL="22860" marR="3810" indent="-4763">
              <a:lnSpc>
                <a:spcPts val="2978"/>
              </a:lnSpc>
              <a:spcBef>
                <a:spcPts val="439"/>
              </a:spcBef>
            </a:pPr>
            <a:r>
              <a:rPr dirty="0"/>
              <a:t>Discovery Mechanisms for P2P </a:t>
            </a:r>
            <a:r>
              <a:rPr lang="en-US" dirty="0"/>
              <a:t>S</a:t>
            </a:r>
            <a:r>
              <a:rPr dirty="0"/>
              <a:t>ystems</a:t>
            </a:r>
          </a:p>
        </p:txBody>
      </p:sp>
      <p:sp>
        <p:nvSpPr>
          <p:cNvPr id="3" name="object 3"/>
          <p:cNvSpPr txBox="1"/>
          <p:nvPr/>
        </p:nvSpPr>
        <p:spPr>
          <a:xfrm>
            <a:off x="1044626" y="871101"/>
            <a:ext cx="7329353" cy="2558714"/>
          </a:xfrm>
          <a:prstGeom prst="rect">
            <a:avLst/>
          </a:prstGeom>
        </p:spPr>
        <p:txBody>
          <a:bodyPr vert="horz" wrap="square" lIns="0" tIns="44768" rIns="0" bIns="0" rtlCol="0">
            <a:spAutoFit/>
          </a:bodyPr>
          <a:lstStyle/>
          <a:p>
            <a:pPr marL="355759" marR="8573" indent="-342900">
              <a:lnSpc>
                <a:spcPct val="89700"/>
              </a:lnSpc>
              <a:spcBef>
                <a:spcPts val="353"/>
              </a:spcBef>
              <a:buClr>
                <a:srgbClr val="0000FF"/>
              </a:buClr>
              <a:buFont typeface="Wingdings" panose="05000000000000000000" pitchFamily="2" charset="2"/>
              <a:buChar char="l"/>
            </a:pPr>
            <a:r>
              <a:rPr lang="en-US" sz="2000" spc="-19" dirty="0">
                <a:latin typeface="Times New Roman" panose="02020603050405020304" pitchFamily="18" charset="0"/>
                <a:cs typeface="Times New Roman" panose="02020603050405020304" pitchFamily="18" charset="0"/>
              </a:rPr>
              <a:t>Distributed</a:t>
            </a:r>
            <a:r>
              <a:rPr lang="en-US" sz="2000" spc="-56" dirty="0">
                <a:latin typeface="Times New Roman" panose="02020603050405020304" pitchFamily="18" charset="0"/>
                <a:cs typeface="Times New Roman" panose="02020603050405020304" pitchFamily="18" charset="0"/>
              </a:rPr>
              <a:t> </a:t>
            </a:r>
            <a:r>
              <a:rPr lang="en-US" sz="2000" spc="-45" dirty="0">
                <a:latin typeface="Times New Roman" panose="02020603050405020304" pitchFamily="18" charset="0"/>
                <a:cs typeface="Times New Roman" panose="02020603050405020304" pitchFamily="18" charset="0"/>
              </a:rPr>
              <a:t>peer-</a:t>
            </a:r>
            <a:r>
              <a:rPr lang="en-US" sz="2000" spc="-38" dirty="0">
                <a:latin typeface="Times New Roman" panose="02020603050405020304" pitchFamily="18" charset="0"/>
                <a:cs typeface="Times New Roman" panose="02020603050405020304" pitchFamily="18" charset="0"/>
              </a:rPr>
              <a:t>to-</a:t>
            </a:r>
            <a:r>
              <a:rPr lang="en-US" sz="2000" dirty="0">
                <a:latin typeface="Times New Roman" panose="02020603050405020304" pitchFamily="18" charset="0"/>
                <a:cs typeface="Times New Roman" panose="02020603050405020304" pitchFamily="18" charset="0"/>
              </a:rPr>
              <a:t>peer</a:t>
            </a:r>
            <a:r>
              <a:rPr lang="en-US" sz="2000" spc="30" dirty="0">
                <a:latin typeface="Times New Roman" panose="02020603050405020304" pitchFamily="18" charset="0"/>
                <a:cs typeface="Times New Roman" panose="02020603050405020304" pitchFamily="18" charset="0"/>
              </a:rPr>
              <a:t> </a:t>
            </a:r>
            <a:r>
              <a:rPr lang="en-US" sz="2000" spc="-8" dirty="0">
                <a:latin typeface="Times New Roman" panose="02020603050405020304" pitchFamily="18" charset="0"/>
                <a:cs typeface="Times New Roman" panose="02020603050405020304" pitchFamily="18" charset="0"/>
              </a:rPr>
              <a:t>systems</a:t>
            </a:r>
            <a:r>
              <a:rPr lang="en-US" sz="2000" spc="-56"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often</a:t>
            </a:r>
            <a:r>
              <a:rPr lang="en-US" sz="2000" spc="-101" dirty="0">
                <a:latin typeface="Times New Roman" panose="02020603050405020304" pitchFamily="18" charset="0"/>
                <a:cs typeface="Times New Roman" panose="02020603050405020304" pitchFamily="18" charset="0"/>
              </a:rPr>
              <a:t> </a:t>
            </a:r>
            <a:r>
              <a:rPr lang="en-US" sz="2000" spc="-15" dirty="0">
                <a:latin typeface="Times New Roman" panose="02020603050405020304" pitchFamily="18" charset="0"/>
                <a:cs typeface="Times New Roman" panose="02020603050405020304" pitchFamily="18" charset="0"/>
              </a:rPr>
              <a:t>require </a:t>
            </a:r>
            <a:r>
              <a:rPr lang="en-US" sz="2000" dirty="0">
                <a:latin typeface="Times New Roman" panose="02020603050405020304" pitchFamily="18" charset="0"/>
                <a:cs typeface="Times New Roman" panose="02020603050405020304" pitchFamily="18" charset="0"/>
              </a:rPr>
              <a:t>a</a:t>
            </a:r>
            <a:r>
              <a:rPr lang="en-US" sz="2000" spc="-14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discovery</a:t>
            </a:r>
            <a:r>
              <a:rPr lang="en-US" sz="2000" spc="49"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mechanism</a:t>
            </a:r>
            <a:r>
              <a:rPr lang="en-US" sz="2000" spc="1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86"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locate</a:t>
            </a:r>
            <a:r>
              <a:rPr lang="en-US" sz="2000" spc="-1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specific</a:t>
            </a:r>
            <a:r>
              <a:rPr lang="en-US" sz="2000" spc="11" dirty="0">
                <a:latin typeface="Times New Roman" panose="02020603050405020304" pitchFamily="18" charset="0"/>
                <a:cs typeface="Times New Roman" panose="02020603050405020304" pitchFamily="18" charset="0"/>
              </a:rPr>
              <a:t> </a:t>
            </a:r>
            <a:r>
              <a:rPr lang="en-US" sz="2000" spc="-15" dirty="0">
                <a:latin typeface="Times New Roman" panose="02020603050405020304" pitchFamily="18" charset="0"/>
                <a:cs typeface="Times New Roman" panose="02020603050405020304" pitchFamily="18" charset="0"/>
              </a:rPr>
              <a:t>data </a:t>
            </a:r>
            <a:r>
              <a:rPr lang="en-US" sz="2000" dirty="0">
                <a:latin typeface="Times New Roman" panose="02020603050405020304" pitchFamily="18" charset="0"/>
                <a:cs typeface="Times New Roman" panose="02020603050405020304" pitchFamily="18" charset="0"/>
              </a:rPr>
              <a:t>within</a:t>
            </a:r>
            <a:r>
              <a:rPr lang="en-US" sz="2000" spc="-23"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49" dirty="0">
                <a:latin typeface="Times New Roman" panose="02020603050405020304" pitchFamily="18" charset="0"/>
                <a:cs typeface="Times New Roman" panose="02020603050405020304" pitchFamily="18" charset="0"/>
              </a:rPr>
              <a:t> </a:t>
            </a:r>
            <a:r>
              <a:rPr lang="en-US" sz="2000" spc="-8" dirty="0">
                <a:latin typeface="Times New Roman" panose="02020603050405020304" pitchFamily="18" charset="0"/>
                <a:cs typeface="Times New Roman" panose="02020603050405020304" pitchFamily="18" charset="0"/>
              </a:rPr>
              <a:t>system.</a:t>
            </a:r>
          </a:p>
          <a:p>
            <a:pPr marL="355759" marR="8573" indent="-342900">
              <a:spcBef>
                <a:spcPts val="353"/>
              </a:spcBef>
              <a:buClr>
                <a:srgbClr val="0000FF"/>
              </a:buClr>
              <a:buFont typeface="Wingdings" panose="05000000000000000000" pitchFamily="2" charset="2"/>
              <a:buChar char="l"/>
            </a:pPr>
            <a:r>
              <a:rPr sz="2000" dirty="0">
                <a:latin typeface="Times New Roman" panose="02020603050405020304" pitchFamily="18" charset="0"/>
                <a:cs typeface="Times New Roman" panose="02020603050405020304" pitchFamily="18" charset="0"/>
              </a:rPr>
              <a:t>P2P</a:t>
            </a:r>
            <a:r>
              <a:rPr sz="2000" spc="-6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systems</a:t>
            </a:r>
            <a:r>
              <a:rPr sz="2000" spc="-23"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have</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evolved</a:t>
            </a:r>
            <a:r>
              <a:rPr sz="2000" spc="-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from</a:t>
            </a:r>
            <a:r>
              <a:rPr sz="2000" spc="-45" dirty="0">
                <a:latin typeface="Times New Roman" panose="02020603050405020304" pitchFamily="18" charset="0"/>
                <a:cs typeface="Times New Roman" panose="02020603050405020304" pitchFamily="18" charset="0"/>
              </a:rPr>
              <a:t> </a:t>
            </a:r>
            <a:r>
              <a:rPr sz="2000" spc="-8" dirty="0">
                <a:latin typeface="Times New Roman" panose="02020603050405020304" pitchFamily="18" charset="0"/>
                <a:cs typeface="Times New Roman" panose="02020603050405020304" pitchFamily="18" charset="0"/>
              </a:rPr>
              <a:t>first </a:t>
            </a:r>
            <a:r>
              <a:rPr sz="2000" spc="-23" dirty="0">
                <a:latin typeface="Times New Roman" panose="02020603050405020304" pitchFamily="18" charset="0"/>
                <a:cs typeface="Times New Roman" panose="02020603050405020304" pitchFamily="18" charset="0"/>
              </a:rPr>
              <a:t>generation</a:t>
            </a:r>
            <a:r>
              <a:rPr sz="2000" spc="-8"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centralized</a:t>
            </a:r>
            <a:r>
              <a:rPr sz="2000" spc="-53"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structures </a:t>
            </a:r>
            <a:r>
              <a:rPr sz="2000" dirty="0">
                <a:latin typeface="Times New Roman" panose="02020603050405020304" pitchFamily="18" charset="0"/>
                <a:cs typeface="Times New Roman" panose="02020603050405020304" pitchFamily="18" charset="0"/>
              </a:rPr>
              <a:t>to</a:t>
            </a:r>
            <a:r>
              <a:rPr sz="2000" spc="-105" dirty="0">
                <a:latin typeface="Times New Roman" panose="02020603050405020304" pitchFamily="18" charset="0"/>
                <a:cs typeface="Times New Roman" panose="02020603050405020304" pitchFamily="18" charset="0"/>
              </a:rPr>
              <a:t> </a:t>
            </a:r>
            <a:r>
              <a:rPr sz="2000" spc="-8" dirty="0">
                <a:latin typeface="Times New Roman" panose="02020603050405020304" pitchFamily="18" charset="0"/>
                <a:cs typeface="Times New Roman" panose="02020603050405020304" pitchFamily="18" charset="0"/>
              </a:rPr>
              <a:t>second </a:t>
            </a:r>
            <a:r>
              <a:rPr sz="2000" dirty="0">
                <a:latin typeface="Times New Roman" panose="02020603050405020304" pitchFamily="18" charset="0"/>
                <a:cs typeface="Times New Roman" panose="02020603050405020304" pitchFamily="18" charset="0"/>
              </a:rPr>
              <a:t>generation</a:t>
            </a:r>
            <a:r>
              <a:rPr sz="2000" spc="64" dirty="0">
                <a:latin typeface="Times New Roman" panose="02020603050405020304" pitchFamily="18" charset="0"/>
                <a:cs typeface="Times New Roman" panose="02020603050405020304" pitchFamily="18" charset="0"/>
              </a:rPr>
              <a:t> </a:t>
            </a:r>
            <a:r>
              <a:rPr sz="2000" spc="-8" dirty="0">
                <a:latin typeface="Times New Roman" panose="02020603050405020304" pitchFamily="18" charset="0"/>
                <a:cs typeface="Times New Roman" panose="02020603050405020304" pitchFamily="18" charset="0"/>
              </a:rPr>
              <a:t>flooding-</a:t>
            </a:r>
            <a:r>
              <a:rPr sz="2000" dirty="0">
                <a:latin typeface="Times New Roman" panose="02020603050405020304" pitchFamily="18" charset="0"/>
                <a:cs typeface="Times New Roman" panose="02020603050405020304" pitchFamily="18" charset="0"/>
              </a:rPr>
              <a:t>based</a:t>
            </a:r>
            <a:r>
              <a:rPr sz="2000" spc="-1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56"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then</a:t>
            </a:r>
            <a:r>
              <a:rPr sz="2000" spc="-8" dirty="0">
                <a:latin typeface="Times New Roman" panose="02020603050405020304" pitchFamily="18" charset="0"/>
                <a:cs typeface="Times New Roman" panose="02020603050405020304" pitchFamily="18" charset="0"/>
              </a:rPr>
              <a:t> third </a:t>
            </a:r>
            <a:r>
              <a:rPr sz="2000" dirty="0">
                <a:latin typeface="Times New Roman" panose="02020603050405020304" pitchFamily="18" charset="0"/>
                <a:cs typeface="Times New Roman" panose="02020603050405020304" pitchFamily="18" charset="0"/>
              </a:rPr>
              <a:t>generation</a:t>
            </a:r>
            <a:r>
              <a:rPr sz="2000" spc="23"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systems</a:t>
            </a:r>
            <a:r>
              <a:rPr sz="2000" spc="-53"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based</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on</a:t>
            </a:r>
            <a:r>
              <a:rPr sz="2000" spc="-116"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distributed</a:t>
            </a:r>
            <a:r>
              <a:rPr sz="2000" spc="11"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hash </a:t>
            </a:r>
            <a:r>
              <a:rPr sz="2000" spc="-8" dirty="0">
                <a:latin typeface="Times New Roman" panose="02020603050405020304" pitchFamily="18" charset="0"/>
                <a:cs typeface="Times New Roman" panose="02020603050405020304" pitchFamily="18" charset="0"/>
              </a:rPr>
              <a:t>tables:</a:t>
            </a:r>
            <a:endParaRPr lang="en-US" sz="2000" dirty="0">
              <a:latin typeface="Times New Roman" panose="02020603050405020304" pitchFamily="18" charset="0"/>
              <a:cs typeface="Times New Roman" panose="02020603050405020304" pitchFamily="18" charset="0"/>
            </a:endParaRPr>
          </a:p>
          <a:p>
            <a:pPr marL="812959" marR="8573" lvl="1" indent="-342900">
              <a:lnSpc>
                <a:spcPct val="89700"/>
              </a:lnSpc>
              <a:spcBef>
                <a:spcPts val="353"/>
              </a:spcBef>
              <a:buClr>
                <a:srgbClr val="0000FF"/>
              </a:buClr>
              <a:buFont typeface="Symbol" panose="05050102010706020507" pitchFamily="18" charset="2"/>
              <a:buChar char="-"/>
            </a:pPr>
            <a:r>
              <a:rPr sz="2000" spc="-45" dirty="0">
                <a:latin typeface="Times New Roman" panose="02020603050405020304" pitchFamily="18" charset="0"/>
                <a:cs typeface="Times New Roman" panose="02020603050405020304" pitchFamily="18" charset="0"/>
              </a:rPr>
              <a:t>Centralized</a:t>
            </a:r>
            <a:r>
              <a:rPr sz="2000" spc="-34" dirty="0">
                <a:latin typeface="Times New Roman" panose="02020603050405020304" pitchFamily="18" charset="0"/>
                <a:cs typeface="Times New Roman" panose="02020603050405020304" pitchFamily="18" charset="0"/>
              </a:rPr>
              <a:t> indexes</a:t>
            </a:r>
            <a:r>
              <a:rPr sz="2000" spc="-26" dirty="0">
                <a:latin typeface="Times New Roman" panose="02020603050405020304" pitchFamily="18" charset="0"/>
                <a:cs typeface="Times New Roman" panose="02020603050405020304" pitchFamily="18" charset="0"/>
              </a:rPr>
              <a:t> and</a:t>
            </a:r>
            <a:r>
              <a:rPr sz="2000" spc="-94" dirty="0">
                <a:latin typeface="Times New Roman" panose="02020603050405020304" pitchFamily="18" charset="0"/>
                <a:cs typeface="Times New Roman" panose="02020603050405020304" pitchFamily="18" charset="0"/>
              </a:rPr>
              <a:t> </a:t>
            </a:r>
            <a:r>
              <a:rPr sz="2000" spc="-38" dirty="0">
                <a:latin typeface="Times New Roman" panose="02020603050405020304" pitchFamily="18" charset="0"/>
                <a:cs typeface="Times New Roman" panose="02020603050405020304" pitchFamily="18" charset="0"/>
              </a:rPr>
              <a:t>repositories </a:t>
            </a:r>
            <a:endParaRPr lang="en-US" sz="2000" spc="-38" dirty="0">
              <a:latin typeface="Times New Roman" panose="02020603050405020304" pitchFamily="18" charset="0"/>
              <a:cs typeface="Times New Roman" panose="02020603050405020304" pitchFamily="18" charset="0"/>
            </a:endParaRPr>
          </a:p>
          <a:p>
            <a:pPr marL="812959" marR="8573" lvl="1" indent="-342900">
              <a:lnSpc>
                <a:spcPct val="89700"/>
              </a:lnSpc>
              <a:spcBef>
                <a:spcPts val="353"/>
              </a:spcBef>
              <a:buClr>
                <a:srgbClr val="0000FF"/>
              </a:buClr>
              <a:buFont typeface="Symbol" panose="05050102010706020507" pitchFamily="18" charset="2"/>
              <a:buChar char="-"/>
            </a:pPr>
            <a:r>
              <a:rPr sz="2000" spc="-34" dirty="0">
                <a:latin typeface="Times New Roman" panose="02020603050405020304" pitchFamily="18" charset="0"/>
                <a:cs typeface="Times New Roman" panose="02020603050405020304" pitchFamily="18" charset="0"/>
              </a:rPr>
              <a:t>Flooding</a:t>
            </a:r>
            <a:r>
              <a:rPr sz="2000" spc="-86" dirty="0">
                <a:latin typeface="Times New Roman" panose="02020603050405020304" pitchFamily="18" charset="0"/>
                <a:cs typeface="Times New Roman" panose="02020603050405020304" pitchFamily="18" charset="0"/>
              </a:rPr>
              <a:t> </a:t>
            </a:r>
            <a:r>
              <a:rPr sz="2000" spc="-34" dirty="0">
                <a:latin typeface="Times New Roman" panose="02020603050405020304" pitchFamily="18" charset="0"/>
                <a:cs typeface="Times New Roman" panose="02020603050405020304" pitchFamily="18" charset="0"/>
              </a:rPr>
              <a:t>broadcast</a:t>
            </a:r>
            <a:r>
              <a:rPr sz="2000" spc="-19" dirty="0">
                <a:latin typeface="Times New Roman" panose="02020603050405020304" pitchFamily="18" charset="0"/>
                <a:cs typeface="Times New Roman" panose="02020603050405020304" pitchFamily="18" charset="0"/>
              </a:rPr>
              <a:t> </a:t>
            </a:r>
            <a:r>
              <a:rPr sz="2000" spc="-8" dirty="0">
                <a:latin typeface="Times New Roman" panose="02020603050405020304" pitchFamily="18" charset="0"/>
                <a:cs typeface="Times New Roman" panose="02020603050405020304" pitchFamily="18" charset="0"/>
              </a:rPr>
              <a:t>of</a:t>
            </a:r>
            <a:r>
              <a:rPr sz="2000" spc="-75" dirty="0">
                <a:latin typeface="Times New Roman" panose="02020603050405020304" pitchFamily="18" charset="0"/>
                <a:cs typeface="Times New Roman" panose="02020603050405020304" pitchFamily="18" charset="0"/>
              </a:rPr>
              <a:t> </a:t>
            </a:r>
            <a:r>
              <a:rPr sz="2000" spc="-8" dirty="0">
                <a:latin typeface="Times New Roman" panose="02020603050405020304" pitchFamily="18" charset="0"/>
                <a:cs typeface="Times New Roman" panose="02020603050405020304" pitchFamily="18" charset="0"/>
              </a:rPr>
              <a:t>queries </a:t>
            </a:r>
            <a:endParaRPr lang="en-US" sz="2000" spc="-8" dirty="0">
              <a:latin typeface="Times New Roman" panose="02020603050405020304" pitchFamily="18" charset="0"/>
              <a:cs typeface="Times New Roman" panose="02020603050405020304" pitchFamily="18" charset="0"/>
            </a:endParaRPr>
          </a:p>
          <a:p>
            <a:pPr marL="812959" marR="8573" lvl="1" indent="-342900">
              <a:lnSpc>
                <a:spcPct val="89700"/>
              </a:lnSpc>
              <a:spcBef>
                <a:spcPts val="353"/>
              </a:spcBef>
              <a:buClr>
                <a:srgbClr val="0000FF"/>
              </a:buClr>
              <a:buFont typeface="Symbol" panose="05050102010706020507" pitchFamily="18" charset="2"/>
              <a:buChar char="-"/>
            </a:pPr>
            <a:r>
              <a:rPr sz="2000" spc="-49" dirty="0">
                <a:latin typeface="Times New Roman" panose="02020603050405020304" pitchFamily="18" charset="0"/>
                <a:cs typeface="Times New Roman" panose="02020603050405020304" pitchFamily="18" charset="0"/>
              </a:rPr>
              <a:t>Routing</a:t>
            </a:r>
            <a:r>
              <a:rPr sz="2000" spc="-53"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Model</a:t>
            </a:r>
            <a:endParaRPr sz="2000" dirty="0">
              <a:latin typeface="Times New Roman" panose="02020603050405020304" pitchFamily="18" charset="0"/>
              <a:cs typeface="Times New Roman" panose="02020603050405020304" pitchFamily="18" charset="0"/>
            </a:endParaRPr>
          </a:p>
        </p:txBody>
      </p:sp>
      <p:sp>
        <p:nvSpPr>
          <p:cNvPr id="5" name="灯片编号占位符 4">
            <a:extLst>
              <a:ext uri="{FF2B5EF4-FFF2-40B4-BE49-F238E27FC236}">
                <a16:creationId xmlns:a16="http://schemas.microsoft.com/office/drawing/2014/main" id="{84D6F2A5-D1CC-E3BE-52E9-E0FEB318A376}"/>
              </a:ext>
            </a:extLst>
          </p:cNvPr>
          <p:cNvSpPr>
            <a:spLocks noGrp="1"/>
          </p:cNvSpPr>
          <p:nvPr>
            <p:ph type="sldNum" sz="quarter" idx="10"/>
          </p:nvPr>
        </p:nvSpPr>
        <p:spPr/>
        <p:txBody>
          <a:bodyPr/>
          <a:lstStyle/>
          <a:p>
            <a:fld id="{D9B6BDF2-6896-4B98-8776-C18582F63BA5}" type="slidenum">
              <a:rPr lang="zh-TW" altLang="en-US" smtClean="0"/>
              <a:pPr/>
              <a:t>20</a:t>
            </a:fld>
            <a:endParaRPr lang="zh-TW" altLang="en-US"/>
          </a:p>
        </p:txBody>
      </p:sp>
    </p:spTree>
    <p:extLst>
      <p:ext uri="{BB962C8B-B14F-4D97-AF65-F5344CB8AC3E}">
        <p14:creationId xmlns:p14="http://schemas.microsoft.com/office/powerpoint/2010/main" val="237880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72150" y="146231"/>
            <a:ext cx="7925085" cy="462595"/>
          </a:xfrm>
          <a:prstGeom prst="rect">
            <a:avLst/>
          </a:prstGeom>
        </p:spPr>
        <p:txBody>
          <a:bodyPr vert="horz" wrap="square" lIns="0" tIns="55721" rIns="0" bIns="0" numCol="1" rtlCol="0" anchor="ctr" anchorCtr="0" compatLnSpc="1">
            <a:prstTxWarp prst="textNoShape">
              <a:avLst/>
            </a:prstTxWarp>
            <a:spAutoFit/>
          </a:bodyPr>
          <a:lstStyle/>
          <a:p>
            <a:pPr marL="12383">
              <a:lnSpc>
                <a:spcPts val="3056"/>
              </a:lnSpc>
              <a:spcBef>
                <a:spcPts val="86"/>
              </a:spcBef>
            </a:pPr>
            <a:r>
              <a:rPr lang="en-US" altLang="zh-CN" sz="3600" dirty="0"/>
              <a:t>Centralized Indexes and Repositories</a:t>
            </a:r>
            <a:endParaRPr dirty="0"/>
          </a:p>
        </p:txBody>
      </p:sp>
      <p:sp>
        <p:nvSpPr>
          <p:cNvPr id="3" name="object 3"/>
          <p:cNvSpPr txBox="1"/>
          <p:nvPr/>
        </p:nvSpPr>
        <p:spPr>
          <a:xfrm>
            <a:off x="996499" y="861475"/>
            <a:ext cx="6901314" cy="3348674"/>
          </a:xfrm>
          <a:prstGeom prst="rect">
            <a:avLst/>
          </a:prstGeom>
        </p:spPr>
        <p:txBody>
          <a:bodyPr vert="horz" wrap="square" lIns="0" tIns="44768" rIns="0" bIns="0" rtlCol="0">
            <a:spAutoFit/>
          </a:bodyPr>
          <a:lstStyle/>
          <a:p>
            <a:pPr marL="355759" marR="8573" indent="-342900" algn="just">
              <a:lnSpc>
                <a:spcPct val="89700"/>
              </a:lnSpc>
              <a:spcBef>
                <a:spcPts val="353"/>
              </a:spcBef>
              <a:buClr>
                <a:srgbClr val="0000FF"/>
              </a:buClr>
              <a:buFont typeface="Wingdings" panose="05000000000000000000" pitchFamily="2" charset="2"/>
              <a:buChar char="l"/>
            </a:pPr>
            <a:r>
              <a:rPr lang="en-US" altLang="zh-CN" sz="2000" spc="-45" dirty="0">
                <a:latin typeface="Times New Roman" panose="02020603050405020304" pitchFamily="18" charset="0"/>
                <a:cs typeface="Times New Roman" panose="02020603050405020304" pitchFamily="18" charset="0"/>
              </a:rPr>
              <a:t>Used</a:t>
            </a:r>
            <a:r>
              <a:rPr lang="en-US" altLang="zh-CN" sz="2000" spc="-98"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in</a:t>
            </a:r>
            <a:r>
              <a:rPr lang="en-US" altLang="zh-CN" sz="2000" spc="-127" dirty="0">
                <a:latin typeface="Times New Roman" panose="02020603050405020304" pitchFamily="18" charset="0"/>
                <a:cs typeface="Times New Roman" panose="02020603050405020304" pitchFamily="18" charset="0"/>
              </a:rPr>
              <a:t> </a:t>
            </a:r>
            <a:r>
              <a:rPr lang="en-US" altLang="zh-CN" sz="2000" spc="-34" dirty="0">
                <a:latin typeface="Times New Roman" panose="02020603050405020304" pitchFamily="18" charset="0"/>
                <a:cs typeface="Times New Roman" panose="02020603050405020304" pitchFamily="18" charset="0"/>
              </a:rPr>
              <a:t>hybrid</a:t>
            </a:r>
            <a:r>
              <a:rPr lang="en-US" altLang="zh-CN" sz="2000" spc="-53"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system</a:t>
            </a:r>
          </a:p>
          <a:p>
            <a:pPr marL="355759" marR="8573" indent="-342900" algn="just">
              <a:lnSpc>
                <a:spcPct val="89700"/>
              </a:lnSpc>
              <a:spcBef>
                <a:spcPts val="353"/>
              </a:spcBef>
              <a:buClr>
                <a:srgbClr val="0000FF"/>
              </a:buClr>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Peers</a:t>
            </a:r>
            <a:r>
              <a:rPr lang="en-US" altLang="zh-CN" sz="2000" spc="-4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of</a:t>
            </a:r>
            <a:r>
              <a:rPr lang="en-US" altLang="zh-CN" sz="2000" spc="-56"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the</a:t>
            </a:r>
            <a:r>
              <a:rPr lang="en-US" altLang="zh-CN" sz="2000" spc="-127" dirty="0">
                <a:latin typeface="Times New Roman" panose="02020603050405020304" pitchFamily="18" charset="0"/>
                <a:cs typeface="Times New Roman" panose="02020603050405020304" pitchFamily="18" charset="0"/>
              </a:rPr>
              <a:t> </a:t>
            </a:r>
            <a:r>
              <a:rPr lang="en-US" altLang="zh-CN" sz="2000" spc="-19" dirty="0">
                <a:latin typeface="Times New Roman" panose="02020603050405020304" pitchFamily="18" charset="0"/>
                <a:cs typeface="Times New Roman" panose="02020603050405020304" pitchFamily="18" charset="0"/>
              </a:rPr>
              <a:t>community</a:t>
            </a:r>
            <a:r>
              <a:rPr lang="en-US" altLang="zh-CN" sz="2000" spc="26" dirty="0">
                <a:latin typeface="Times New Roman" panose="02020603050405020304" pitchFamily="18" charset="0"/>
                <a:cs typeface="Times New Roman" panose="02020603050405020304" pitchFamily="18" charset="0"/>
              </a:rPr>
              <a:t> </a:t>
            </a:r>
            <a:r>
              <a:rPr lang="en-US" altLang="zh-CN" sz="2000" spc="-15" dirty="0">
                <a:latin typeface="Times New Roman" panose="02020603050405020304" pitchFamily="18" charset="0"/>
                <a:cs typeface="Times New Roman" panose="02020603050405020304" pitchFamily="18" charset="0"/>
              </a:rPr>
              <a:t>connect</a:t>
            </a:r>
            <a:r>
              <a:rPr lang="en-US" altLang="zh-CN" sz="2000" spc="-38"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to</a:t>
            </a:r>
            <a:r>
              <a:rPr lang="en-US" altLang="zh-CN" sz="2000" spc="-101" dirty="0">
                <a:latin typeface="Times New Roman" panose="02020603050405020304" pitchFamily="18" charset="0"/>
                <a:cs typeface="Times New Roman" panose="02020603050405020304" pitchFamily="18" charset="0"/>
              </a:rPr>
              <a:t> </a:t>
            </a:r>
            <a:r>
              <a:rPr lang="en-US" altLang="zh-CN" sz="2000" spc="-38" dirty="0">
                <a:latin typeface="Times New Roman" panose="02020603050405020304" pitchFamily="18" charset="0"/>
                <a:cs typeface="Times New Roman" panose="02020603050405020304" pitchFamily="18" charset="0"/>
              </a:rPr>
              <a:t>a </a:t>
            </a:r>
            <a:r>
              <a:rPr lang="en-US" altLang="zh-CN" sz="2000" spc="-15" dirty="0">
                <a:latin typeface="Times New Roman" panose="02020603050405020304" pitchFamily="18" charset="0"/>
                <a:cs typeface="Times New Roman" panose="02020603050405020304" pitchFamily="18" charset="0"/>
              </a:rPr>
              <a:t>centralized</a:t>
            </a:r>
            <a:r>
              <a:rPr lang="en-US" altLang="zh-CN" sz="2000" spc="-9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directory</a:t>
            </a:r>
            <a:r>
              <a:rPr lang="en-US" altLang="zh-CN" sz="2000" spc="-83"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servers,</a:t>
            </a:r>
            <a:r>
              <a:rPr lang="en-US" altLang="zh-CN" sz="2000" spc="-90"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which</a:t>
            </a:r>
            <a:r>
              <a:rPr lang="en-US" altLang="zh-CN" sz="2000" spc="-135"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store</a:t>
            </a:r>
            <a:r>
              <a:rPr lang="en-US" altLang="zh-CN" sz="2000" spc="-139" dirty="0">
                <a:latin typeface="Times New Roman" panose="02020603050405020304" pitchFamily="18" charset="0"/>
                <a:cs typeface="Times New Roman" panose="02020603050405020304" pitchFamily="18" charset="0"/>
              </a:rPr>
              <a:t> </a:t>
            </a:r>
            <a:r>
              <a:rPr lang="en-US" altLang="zh-CN" sz="2000" spc="-19" dirty="0">
                <a:latin typeface="Times New Roman" panose="02020603050405020304" pitchFamily="18" charset="0"/>
                <a:cs typeface="Times New Roman" panose="02020603050405020304" pitchFamily="18" charset="0"/>
              </a:rPr>
              <a:t>all </a:t>
            </a:r>
            <a:r>
              <a:rPr lang="en-US" altLang="zh-CN" sz="2000" spc="-41" dirty="0">
                <a:latin typeface="Times New Roman" panose="02020603050405020304" pitchFamily="18" charset="0"/>
                <a:cs typeface="Times New Roman" panose="02020603050405020304" pitchFamily="18" charset="0"/>
              </a:rPr>
              <a:t>information</a:t>
            </a:r>
            <a:r>
              <a:rPr lang="en-US" altLang="zh-CN" sz="2000" spc="-105" dirty="0">
                <a:latin typeface="Times New Roman" panose="02020603050405020304" pitchFamily="18" charset="0"/>
                <a:cs typeface="Times New Roman" panose="02020603050405020304" pitchFamily="18" charset="0"/>
              </a:rPr>
              <a:t> </a:t>
            </a:r>
            <a:r>
              <a:rPr lang="en-US" altLang="zh-CN" sz="2000" spc="-41" dirty="0">
                <a:latin typeface="Times New Roman" panose="02020603050405020304" pitchFamily="18" charset="0"/>
                <a:cs typeface="Times New Roman" panose="02020603050405020304" pitchFamily="18" charset="0"/>
              </a:rPr>
              <a:t>regarding</a:t>
            </a:r>
            <a:r>
              <a:rPr lang="en-US" altLang="zh-CN" sz="2000" spc="-86" dirty="0">
                <a:latin typeface="Times New Roman" panose="02020603050405020304" pitchFamily="18" charset="0"/>
                <a:cs typeface="Times New Roman" panose="02020603050405020304" pitchFamily="18" charset="0"/>
              </a:rPr>
              <a:t> </a:t>
            </a:r>
            <a:r>
              <a:rPr lang="en-US" altLang="zh-CN" sz="2000" spc="-34" dirty="0">
                <a:latin typeface="Times New Roman" panose="02020603050405020304" pitchFamily="18" charset="0"/>
                <a:cs typeface="Times New Roman" panose="02020603050405020304" pitchFamily="18" charset="0"/>
              </a:rPr>
              <a:t>location</a:t>
            </a:r>
            <a:r>
              <a:rPr lang="en-US" altLang="zh-CN" sz="2000" spc="-68" dirty="0">
                <a:latin typeface="Times New Roman" panose="02020603050405020304" pitchFamily="18" charset="0"/>
                <a:cs typeface="Times New Roman" panose="02020603050405020304" pitchFamily="18" charset="0"/>
              </a:rPr>
              <a:t> </a:t>
            </a:r>
            <a:r>
              <a:rPr lang="en-US" altLang="zh-CN" sz="2000" spc="-49" dirty="0">
                <a:latin typeface="Times New Roman" panose="02020603050405020304" pitchFamily="18" charset="0"/>
                <a:cs typeface="Times New Roman" panose="02020603050405020304" pitchFamily="18" charset="0"/>
              </a:rPr>
              <a:t>and</a:t>
            </a:r>
            <a:r>
              <a:rPr lang="en-US" altLang="zh-CN" sz="2000" spc="-98" dirty="0">
                <a:latin typeface="Times New Roman" panose="02020603050405020304" pitchFamily="18" charset="0"/>
                <a:cs typeface="Times New Roman" panose="02020603050405020304" pitchFamily="18" charset="0"/>
              </a:rPr>
              <a:t> </a:t>
            </a:r>
            <a:r>
              <a:rPr lang="en-US" altLang="zh-CN" sz="2000" spc="-41" dirty="0">
                <a:latin typeface="Times New Roman" panose="02020603050405020304" pitchFamily="18" charset="0"/>
                <a:cs typeface="Times New Roman" panose="02020603050405020304" pitchFamily="18" charset="0"/>
              </a:rPr>
              <a:t>usage</a:t>
            </a:r>
            <a:r>
              <a:rPr lang="en-US" altLang="zh-CN" sz="2000" spc="-105" dirty="0">
                <a:latin typeface="Times New Roman" panose="02020603050405020304" pitchFamily="18" charset="0"/>
                <a:cs typeface="Times New Roman" panose="02020603050405020304" pitchFamily="18" charset="0"/>
              </a:rPr>
              <a:t> </a:t>
            </a:r>
            <a:r>
              <a:rPr lang="en-US" altLang="zh-CN" sz="2000" spc="-19" dirty="0">
                <a:latin typeface="Times New Roman" panose="02020603050405020304" pitchFamily="18" charset="0"/>
                <a:cs typeface="Times New Roman" panose="02020603050405020304" pitchFamily="18" charset="0"/>
              </a:rPr>
              <a:t>of </a:t>
            </a:r>
            <a:r>
              <a:rPr lang="en-US" altLang="zh-CN" sz="2000" spc="-8" dirty="0">
                <a:latin typeface="Times New Roman" panose="02020603050405020304" pitchFamily="18" charset="0"/>
                <a:cs typeface="Times New Roman" panose="02020603050405020304" pitchFamily="18" charset="0"/>
              </a:rPr>
              <a:t>resources</a:t>
            </a:r>
            <a:endParaRPr lang="en-US" altLang="zh-CN" sz="2000" dirty="0">
              <a:latin typeface="Times New Roman" panose="02020603050405020304" pitchFamily="18" charset="0"/>
              <a:cs typeface="Times New Roman" panose="02020603050405020304" pitchFamily="18" charset="0"/>
            </a:endParaRPr>
          </a:p>
          <a:p>
            <a:pPr marL="355759" marR="8573" indent="-342900" algn="just">
              <a:lnSpc>
                <a:spcPct val="89700"/>
              </a:lnSpc>
              <a:spcBef>
                <a:spcPts val="353"/>
              </a:spcBef>
              <a:buClr>
                <a:srgbClr val="0000FF"/>
              </a:buClr>
              <a:buFont typeface="Wingdings" panose="05000000000000000000" pitchFamily="2" charset="2"/>
              <a:buChar char="l"/>
            </a:pPr>
            <a:r>
              <a:rPr lang="en-US" altLang="zh-CN" sz="2000" spc="-127" dirty="0">
                <a:latin typeface="Times New Roman" panose="02020603050405020304" pitchFamily="18" charset="0"/>
                <a:cs typeface="Times New Roman" panose="02020603050405020304" pitchFamily="18" charset="0"/>
              </a:rPr>
              <a:t>A</a:t>
            </a:r>
            <a:r>
              <a:rPr lang="en-US" altLang="zh-CN" sz="2000" spc="-68"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central</a:t>
            </a:r>
            <a:r>
              <a:rPr lang="en-US" altLang="zh-CN" sz="2000" spc="-13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directory</a:t>
            </a:r>
            <a:r>
              <a:rPr lang="en-US" altLang="zh-CN" sz="2000" spc="6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server</a:t>
            </a:r>
            <a:r>
              <a:rPr lang="en-US" altLang="zh-CN" sz="2000" spc="15"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maintains</a:t>
            </a:r>
            <a:endParaRPr lang="en-US" sz="2000" spc="-8" dirty="0">
              <a:latin typeface="Times New Roman" panose="02020603050405020304" pitchFamily="18" charset="0"/>
              <a:cs typeface="Times New Roman" panose="02020603050405020304" pitchFamily="18" charset="0"/>
            </a:endParaRPr>
          </a:p>
          <a:p>
            <a:pPr marL="812959" marR="8573" lvl="1" indent="-342900" algn="just">
              <a:lnSpc>
                <a:spcPct val="89700"/>
              </a:lnSpc>
              <a:spcBef>
                <a:spcPts val="353"/>
              </a:spcBef>
              <a:buClr>
                <a:srgbClr val="0000FF"/>
              </a:buClr>
              <a:buFont typeface="Symbol" panose="05050102010706020507" pitchFamily="18" charset="2"/>
              <a:buChar char="-"/>
            </a:pPr>
            <a:r>
              <a:rPr lang="en-US" altLang="zh-CN" sz="2000" dirty="0">
                <a:latin typeface="Times New Roman" panose="02020603050405020304" pitchFamily="18" charset="0"/>
                <a:cs typeface="Times New Roman" panose="02020603050405020304" pitchFamily="18" charset="0"/>
              </a:rPr>
              <a:t>An</a:t>
            </a:r>
            <a:r>
              <a:rPr lang="en-US" altLang="zh-CN" sz="2000" spc="-120"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index</a:t>
            </a:r>
            <a:r>
              <a:rPr lang="en-US" altLang="zh-CN" sz="2000" spc="-68"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with</a:t>
            </a:r>
            <a:r>
              <a:rPr lang="en-US" altLang="zh-CN" sz="2000" spc="-94" dirty="0">
                <a:latin typeface="Times New Roman" panose="02020603050405020304" pitchFamily="18" charset="0"/>
                <a:cs typeface="Times New Roman" panose="02020603050405020304" pitchFamily="18" charset="0"/>
              </a:rPr>
              <a:t> </a:t>
            </a:r>
            <a:r>
              <a:rPr lang="en-US" altLang="zh-CN" sz="2000" spc="-15" dirty="0">
                <a:latin typeface="Times New Roman" panose="02020603050405020304" pitchFamily="18" charset="0"/>
                <a:cs typeface="Times New Roman" panose="02020603050405020304" pitchFamily="18" charset="0"/>
              </a:rPr>
              <a:t>meta</a:t>
            </a:r>
            <a:r>
              <a:rPr lang="en-US" altLang="zh-CN" sz="2000" spc="-10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data</a:t>
            </a:r>
            <a:r>
              <a:rPr lang="en-US" altLang="zh-CN" sz="2000" spc="-116"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(file</a:t>
            </a:r>
            <a:r>
              <a:rPr lang="en-US" altLang="zh-CN" sz="2000" spc="-101" dirty="0">
                <a:latin typeface="Times New Roman" panose="02020603050405020304" pitchFamily="18" charset="0"/>
                <a:cs typeface="Times New Roman" panose="02020603050405020304" pitchFamily="18" charset="0"/>
              </a:rPr>
              <a:t> </a:t>
            </a:r>
            <a:r>
              <a:rPr lang="en-US" altLang="zh-CN" sz="2000" spc="-15" dirty="0">
                <a:latin typeface="Times New Roman" panose="02020603050405020304" pitchFamily="18" charset="0"/>
                <a:cs typeface="Times New Roman" panose="02020603050405020304" pitchFamily="18" charset="0"/>
              </a:rPr>
              <a:t>name,</a:t>
            </a:r>
            <a:r>
              <a:rPr lang="en-US" altLang="zh-CN" sz="2000" spc="-6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time</a:t>
            </a:r>
            <a:r>
              <a:rPr lang="en-US" altLang="zh-CN" sz="2000" spc="-7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of</a:t>
            </a:r>
            <a:r>
              <a:rPr lang="en-US" altLang="zh-CN" sz="2000" spc="-64"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creation etc.)</a:t>
            </a:r>
            <a:r>
              <a:rPr lang="en-US" altLang="zh-CN" sz="2000" spc="-23"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of</a:t>
            </a:r>
            <a:r>
              <a:rPr lang="en-US" altLang="zh-CN" sz="2000" spc="-1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all</a:t>
            </a:r>
            <a:r>
              <a:rPr lang="en-US" altLang="zh-CN" sz="2000" spc="-90"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files</a:t>
            </a:r>
            <a:r>
              <a:rPr lang="en-US" altLang="zh-CN" sz="2000" spc="-83"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in</a:t>
            </a:r>
            <a:r>
              <a:rPr lang="en-US" altLang="zh-CN" sz="2000" spc="-113"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the</a:t>
            </a:r>
            <a:r>
              <a:rPr lang="en-US" altLang="zh-CN" sz="2000" spc="-86"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network</a:t>
            </a:r>
            <a:endParaRPr lang="en-US" altLang="zh-CN" sz="2000" dirty="0">
              <a:latin typeface="Times New Roman" panose="02020603050405020304" pitchFamily="18" charset="0"/>
              <a:cs typeface="Times New Roman" panose="02020603050405020304" pitchFamily="18" charset="0"/>
            </a:endParaRPr>
          </a:p>
          <a:p>
            <a:pPr marL="812959" marR="8573" lvl="1" indent="-342900" algn="just">
              <a:lnSpc>
                <a:spcPct val="89700"/>
              </a:lnSpc>
              <a:spcBef>
                <a:spcPts val="353"/>
              </a:spcBef>
              <a:buClr>
                <a:srgbClr val="0000FF"/>
              </a:buClr>
              <a:buFont typeface="Symbol" panose="05050102010706020507" pitchFamily="18" charset="2"/>
              <a:buChar char="-"/>
            </a:pPr>
            <a:r>
              <a:rPr lang="en-US" altLang="zh-CN" sz="2000" spc="-120" dirty="0">
                <a:latin typeface="Times New Roman" panose="02020603050405020304" pitchFamily="18" charset="0"/>
                <a:cs typeface="Times New Roman" panose="02020603050405020304" pitchFamily="18" charset="0"/>
              </a:rPr>
              <a:t>A </a:t>
            </a:r>
            <a:r>
              <a:rPr lang="en-US" altLang="zh-CN" sz="2000" spc="-15" dirty="0">
                <a:latin typeface="Times New Roman" panose="02020603050405020304" pitchFamily="18" charset="0"/>
                <a:cs typeface="Times New Roman" panose="02020603050405020304" pitchFamily="18" charset="0"/>
              </a:rPr>
              <a:t>table</a:t>
            </a:r>
            <a:r>
              <a:rPr lang="en-US" altLang="zh-CN" sz="2000" spc="-105"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of</a:t>
            </a:r>
            <a:r>
              <a:rPr lang="en-US" altLang="zh-CN" sz="2000" spc="-79" dirty="0">
                <a:latin typeface="Times New Roman" panose="02020603050405020304" pitchFamily="18" charset="0"/>
                <a:cs typeface="Times New Roman" panose="02020603050405020304" pitchFamily="18" charset="0"/>
              </a:rPr>
              <a:t> </a:t>
            </a:r>
            <a:r>
              <a:rPr lang="en-US" altLang="zh-CN" sz="2000" spc="-34" dirty="0">
                <a:latin typeface="Times New Roman" panose="02020603050405020304" pitchFamily="18" charset="0"/>
                <a:cs typeface="Times New Roman" panose="02020603050405020304" pitchFamily="18" charset="0"/>
              </a:rPr>
              <a:t>registered </a:t>
            </a:r>
            <a:r>
              <a:rPr lang="en-US" altLang="zh-CN" sz="2000" spc="-15" dirty="0">
                <a:latin typeface="Times New Roman" panose="02020603050405020304" pitchFamily="18" charset="0"/>
                <a:cs typeface="Times New Roman" panose="02020603050405020304" pitchFamily="18" charset="0"/>
              </a:rPr>
              <a:t>user</a:t>
            </a:r>
            <a:r>
              <a:rPr lang="en-US" altLang="zh-CN" sz="2000" spc="-71" dirty="0">
                <a:latin typeface="Times New Roman" panose="02020603050405020304" pitchFamily="18" charset="0"/>
                <a:cs typeface="Times New Roman" panose="02020603050405020304" pitchFamily="18" charset="0"/>
              </a:rPr>
              <a:t> </a:t>
            </a:r>
            <a:r>
              <a:rPr lang="en-US" altLang="zh-CN" sz="2000" spc="-38" dirty="0">
                <a:latin typeface="Times New Roman" panose="02020603050405020304" pitchFamily="18" charset="0"/>
                <a:cs typeface="Times New Roman" panose="02020603050405020304" pitchFamily="18" charset="0"/>
              </a:rPr>
              <a:t>connection</a:t>
            </a:r>
            <a:r>
              <a:rPr lang="en-US" altLang="zh-CN" sz="2000" spc="-30" dirty="0">
                <a:latin typeface="Times New Roman" panose="02020603050405020304" pitchFamily="18" charset="0"/>
                <a:cs typeface="Times New Roman" panose="02020603050405020304" pitchFamily="18" charset="0"/>
              </a:rPr>
              <a:t> </a:t>
            </a:r>
            <a:r>
              <a:rPr lang="en-US" altLang="zh-CN" sz="2000" spc="-34" dirty="0">
                <a:latin typeface="Times New Roman" panose="02020603050405020304" pitchFamily="18" charset="0"/>
                <a:cs typeface="Times New Roman" panose="02020603050405020304" pitchFamily="18" charset="0"/>
              </a:rPr>
              <a:t>information </a:t>
            </a:r>
            <a:r>
              <a:rPr lang="en-US" altLang="zh-CN" sz="2000" spc="-19" dirty="0">
                <a:latin typeface="Times New Roman" panose="02020603050405020304" pitchFamily="18" charset="0"/>
                <a:cs typeface="Times New Roman" panose="02020603050405020304" pitchFamily="18" charset="0"/>
              </a:rPr>
              <a:t>(IP </a:t>
            </a:r>
            <a:r>
              <a:rPr lang="en-US" altLang="zh-CN" sz="2000" spc="-68" dirty="0">
                <a:latin typeface="Times New Roman" panose="02020603050405020304" pitchFamily="18" charset="0"/>
                <a:cs typeface="Times New Roman" panose="02020603050405020304" pitchFamily="18" charset="0"/>
              </a:rPr>
              <a:t>addresses,</a:t>
            </a:r>
            <a:r>
              <a:rPr lang="en-US" altLang="zh-CN" sz="2000" spc="-38" dirty="0">
                <a:latin typeface="Times New Roman" panose="02020603050405020304" pitchFamily="18" charset="0"/>
                <a:cs typeface="Times New Roman" panose="02020603050405020304" pitchFamily="18" charset="0"/>
              </a:rPr>
              <a:t> </a:t>
            </a:r>
            <a:r>
              <a:rPr lang="en-US" altLang="zh-CN" sz="2000" spc="-64" dirty="0">
                <a:latin typeface="Times New Roman" panose="02020603050405020304" pitchFamily="18" charset="0"/>
                <a:cs typeface="Times New Roman" panose="02020603050405020304" pitchFamily="18" charset="0"/>
              </a:rPr>
              <a:t>connection</a:t>
            </a:r>
            <a:r>
              <a:rPr lang="en-US" altLang="zh-CN" sz="2000" spc="11" dirty="0">
                <a:latin typeface="Times New Roman" panose="02020603050405020304" pitchFamily="18" charset="0"/>
                <a:cs typeface="Times New Roman" panose="02020603050405020304" pitchFamily="18" charset="0"/>
              </a:rPr>
              <a:t> </a:t>
            </a:r>
            <a:r>
              <a:rPr lang="en-US" altLang="zh-CN" sz="2000" spc="-68" dirty="0">
                <a:latin typeface="Times New Roman" panose="02020603050405020304" pitchFamily="18" charset="0"/>
                <a:cs typeface="Times New Roman" panose="02020603050405020304" pitchFamily="18" charset="0"/>
              </a:rPr>
              <a:t>speeds</a:t>
            </a:r>
            <a:r>
              <a:rPr lang="en-US" altLang="zh-CN" sz="2000" spc="-56"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etc.)</a:t>
            </a:r>
          </a:p>
          <a:p>
            <a:pPr marL="812959" marR="8573" lvl="1" indent="-342900" algn="just">
              <a:lnSpc>
                <a:spcPct val="89700"/>
              </a:lnSpc>
              <a:spcBef>
                <a:spcPts val="353"/>
              </a:spcBef>
              <a:buClr>
                <a:srgbClr val="0000FF"/>
              </a:buClr>
              <a:buFont typeface="Symbol" panose="05050102010706020507" pitchFamily="18" charset="2"/>
              <a:buChar char="-"/>
            </a:pPr>
            <a:r>
              <a:rPr lang="en-US" altLang="zh-CN" sz="2000" dirty="0">
                <a:latin typeface="Times New Roman" panose="02020603050405020304" pitchFamily="18" charset="0"/>
                <a:cs typeface="Times New Roman" panose="02020603050405020304" pitchFamily="18" charset="0"/>
              </a:rPr>
              <a:t>A</a:t>
            </a:r>
            <a:r>
              <a:rPr lang="en-US" altLang="zh-CN" sz="2000" spc="-120" dirty="0">
                <a:latin typeface="Times New Roman" panose="02020603050405020304" pitchFamily="18" charset="0"/>
                <a:cs typeface="Times New Roman" panose="02020603050405020304" pitchFamily="18" charset="0"/>
              </a:rPr>
              <a:t> </a:t>
            </a:r>
            <a:r>
              <a:rPr lang="en-US" altLang="zh-CN" sz="2000" spc="-23" dirty="0">
                <a:latin typeface="Times New Roman" panose="02020603050405020304" pitchFamily="18" charset="0"/>
                <a:cs typeface="Times New Roman" panose="02020603050405020304" pitchFamily="18" charset="0"/>
              </a:rPr>
              <a:t>table</a:t>
            </a:r>
            <a:r>
              <a:rPr lang="en-US" altLang="zh-CN" sz="2000" spc="-98" dirty="0">
                <a:latin typeface="Times New Roman" panose="02020603050405020304" pitchFamily="18" charset="0"/>
                <a:cs typeface="Times New Roman" panose="02020603050405020304" pitchFamily="18" charset="0"/>
              </a:rPr>
              <a:t> </a:t>
            </a:r>
            <a:r>
              <a:rPr lang="en-US" altLang="zh-CN" sz="2000" spc="-26" dirty="0">
                <a:latin typeface="Times New Roman" panose="02020603050405020304" pitchFamily="18" charset="0"/>
                <a:cs typeface="Times New Roman" panose="02020603050405020304" pitchFamily="18" charset="0"/>
              </a:rPr>
              <a:t>listing</a:t>
            </a:r>
            <a:r>
              <a:rPr lang="en-US" altLang="zh-CN" sz="2000" spc="-94"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the</a:t>
            </a:r>
            <a:r>
              <a:rPr lang="en-US" altLang="zh-CN" sz="2000" spc="-120" dirty="0">
                <a:latin typeface="Times New Roman" panose="02020603050405020304" pitchFamily="18" charset="0"/>
                <a:cs typeface="Times New Roman" panose="02020603050405020304" pitchFamily="18" charset="0"/>
              </a:rPr>
              <a:t> </a:t>
            </a:r>
            <a:r>
              <a:rPr lang="en-US" altLang="zh-CN" sz="2000" spc="-19" dirty="0">
                <a:latin typeface="Times New Roman" panose="02020603050405020304" pitchFamily="18" charset="0"/>
                <a:cs typeface="Times New Roman" panose="02020603050405020304" pitchFamily="18" charset="0"/>
              </a:rPr>
              <a:t>files</a:t>
            </a:r>
            <a:r>
              <a:rPr lang="en-US" altLang="zh-CN" sz="2000" spc="-101"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that</a:t>
            </a:r>
            <a:r>
              <a:rPr lang="en-US" altLang="zh-CN" sz="2000" spc="-86" dirty="0">
                <a:latin typeface="Times New Roman" panose="02020603050405020304" pitchFamily="18" charset="0"/>
                <a:cs typeface="Times New Roman" panose="02020603050405020304" pitchFamily="18" charset="0"/>
              </a:rPr>
              <a:t> </a:t>
            </a:r>
            <a:r>
              <a:rPr lang="en-US" altLang="zh-CN" sz="2000" spc="-26" dirty="0">
                <a:latin typeface="Times New Roman" panose="02020603050405020304" pitchFamily="18" charset="0"/>
                <a:cs typeface="Times New Roman" panose="02020603050405020304" pitchFamily="18" charset="0"/>
              </a:rPr>
              <a:t>each</a:t>
            </a:r>
            <a:r>
              <a:rPr lang="en-US" altLang="zh-CN" sz="2000" spc="-90" dirty="0">
                <a:latin typeface="Times New Roman" panose="02020603050405020304" pitchFamily="18" charset="0"/>
                <a:cs typeface="Times New Roman" panose="02020603050405020304" pitchFamily="18" charset="0"/>
              </a:rPr>
              <a:t> </a:t>
            </a:r>
            <a:r>
              <a:rPr lang="en-US" altLang="zh-CN" sz="2000" spc="-23" dirty="0">
                <a:latin typeface="Times New Roman" panose="02020603050405020304" pitchFamily="18" charset="0"/>
                <a:cs typeface="Times New Roman" panose="02020603050405020304" pitchFamily="18" charset="0"/>
              </a:rPr>
              <a:t>user</a:t>
            </a:r>
            <a:r>
              <a:rPr lang="en-US" altLang="zh-CN" sz="2000" spc="-38" dirty="0">
                <a:latin typeface="Times New Roman" panose="02020603050405020304" pitchFamily="18" charset="0"/>
                <a:cs typeface="Times New Roman" panose="02020603050405020304" pitchFamily="18" charset="0"/>
              </a:rPr>
              <a:t> </a:t>
            </a:r>
            <a:r>
              <a:rPr lang="en-US" altLang="zh-CN" sz="2000" spc="-30" dirty="0">
                <a:latin typeface="Times New Roman" panose="02020603050405020304" pitchFamily="18" charset="0"/>
                <a:cs typeface="Times New Roman" panose="02020603050405020304" pitchFamily="18" charset="0"/>
              </a:rPr>
              <a:t>holds</a:t>
            </a:r>
            <a:r>
              <a:rPr lang="en-US" altLang="zh-CN" sz="2000" spc="-49" dirty="0">
                <a:latin typeface="Times New Roman" panose="02020603050405020304" pitchFamily="18" charset="0"/>
                <a:cs typeface="Times New Roman" panose="02020603050405020304" pitchFamily="18" charset="0"/>
              </a:rPr>
              <a:t> </a:t>
            </a:r>
            <a:r>
              <a:rPr lang="en-US" altLang="zh-CN" sz="2000" spc="-19" dirty="0">
                <a:latin typeface="Times New Roman" panose="02020603050405020304" pitchFamily="18" charset="0"/>
                <a:cs typeface="Times New Roman" panose="02020603050405020304" pitchFamily="18" charset="0"/>
              </a:rPr>
              <a:t>and </a:t>
            </a:r>
            <a:r>
              <a:rPr lang="en-US" altLang="zh-CN" sz="2000" spc="-26" dirty="0">
                <a:latin typeface="Times New Roman" panose="02020603050405020304" pitchFamily="18" charset="0"/>
                <a:cs typeface="Times New Roman" panose="02020603050405020304" pitchFamily="18" charset="0"/>
              </a:rPr>
              <a:t>shares</a:t>
            </a:r>
            <a:r>
              <a:rPr lang="en-US" altLang="zh-CN" sz="2000" spc="-56"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in</a:t>
            </a:r>
            <a:r>
              <a:rPr lang="en-US" altLang="zh-CN" sz="2000" spc="-109" dirty="0">
                <a:latin typeface="Times New Roman" panose="02020603050405020304" pitchFamily="18" charset="0"/>
                <a:cs typeface="Times New Roman" panose="02020603050405020304" pitchFamily="18" charset="0"/>
              </a:rPr>
              <a:t> </a:t>
            </a:r>
            <a:r>
              <a:rPr lang="en-US" altLang="zh-CN" sz="2000" spc="-15" dirty="0">
                <a:latin typeface="Times New Roman" panose="02020603050405020304" pitchFamily="18" charset="0"/>
                <a:cs typeface="Times New Roman" panose="02020603050405020304" pitchFamily="18" charset="0"/>
              </a:rPr>
              <a:t>the</a:t>
            </a:r>
            <a:r>
              <a:rPr lang="en-US" altLang="zh-CN" sz="2000" spc="-101"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network</a:t>
            </a:r>
            <a:endParaRPr sz="2000" dirty="0">
              <a:latin typeface="Times New Roman" panose="02020603050405020304" pitchFamily="18" charset="0"/>
              <a:cs typeface="Times New Roman" panose="02020603050405020304" pitchFamily="18" charset="0"/>
            </a:endParaRPr>
          </a:p>
        </p:txBody>
      </p:sp>
      <p:sp>
        <p:nvSpPr>
          <p:cNvPr id="5" name="灯片编号占位符 4">
            <a:extLst>
              <a:ext uri="{FF2B5EF4-FFF2-40B4-BE49-F238E27FC236}">
                <a16:creationId xmlns:a16="http://schemas.microsoft.com/office/drawing/2014/main" id="{84D6F2A5-D1CC-E3BE-52E9-E0FEB318A376}"/>
              </a:ext>
            </a:extLst>
          </p:cNvPr>
          <p:cNvSpPr>
            <a:spLocks noGrp="1"/>
          </p:cNvSpPr>
          <p:nvPr>
            <p:ph type="sldNum" sz="quarter" idx="10"/>
          </p:nvPr>
        </p:nvSpPr>
        <p:spPr/>
        <p:txBody>
          <a:bodyPr/>
          <a:lstStyle/>
          <a:p>
            <a:fld id="{D9B6BDF2-6896-4B98-8776-C18582F63BA5}" type="slidenum">
              <a:rPr lang="zh-TW" altLang="en-US" smtClean="0"/>
              <a:pPr/>
              <a:t>21</a:t>
            </a:fld>
            <a:endParaRPr lang="zh-TW" altLang="en-US"/>
          </a:p>
        </p:txBody>
      </p:sp>
    </p:spTree>
    <p:extLst>
      <p:ext uri="{BB962C8B-B14F-4D97-AF65-F5344CB8AC3E}">
        <p14:creationId xmlns:p14="http://schemas.microsoft.com/office/powerpoint/2010/main" val="3824350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8A10126B-8AE0-5E93-35F9-6B9E38F9EA8B}"/>
              </a:ext>
            </a:extLst>
          </p:cNvPr>
          <p:cNvSpPr>
            <a:spLocks noGrp="1"/>
          </p:cNvSpPr>
          <p:nvPr>
            <p:ph type="sldNum" sz="quarter" idx="10"/>
          </p:nvPr>
        </p:nvSpPr>
        <p:spPr/>
        <p:txBody>
          <a:bodyPr/>
          <a:lstStyle/>
          <a:p>
            <a:fld id="{D9B6BDF2-6896-4B98-8776-C18582F63BA5}" type="slidenum">
              <a:rPr lang="zh-TW" altLang="en-US" smtClean="0"/>
              <a:pPr/>
              <a:t>22</a:t>
            </a:fld>
            <a:endParaRPr lang="zh-TW" altLang="en-US"/>
          </a:p>
        </p:txBody>
      </p:sp>
      <p:sp>
        <p:nvSpPr>
          <p:cNvPr id="7" name="标题 6">
            <a:extLst>
              <a:ext uri="{FF2B5EF4-FFF2-40B4-BE49-F238E27FC236}">
                <a16:creationId xmlns:a16="http://schemas.microsoft.com/office/drawing/2014/main" id="{E6E89DD7-7245-8C7A-6F57-1AE7EDDB7AA9}"/>
              </a:ext>
            </a:extLst>
          </p:cNvPr>
          <p:cNvSpPr>
            <a:spLocks noGrp="1"/>
          </p:cNvSpPr>
          <p:nvPr>
            <p:ph type="title"/>
          </p:nvPr>
        </p:nvSpPr>
        <p:spPr>
          <a:xfrm>
            <a:off x="951031" y="95928"/>
            <a:ext cx="7888289" cy="519113"/>
          </a:xfrm>
        </p:spPr>
        <p:txBody>
          <a:bodyPr/>
          <a:lstStyle/>
          <a:p>
            <a:r>
              <a:rPr lang="en-US" altLang="zh-CN" sz="3600" dirty="0"/>
              <a:t>Flooding </a:t>
            </a:r>
            <a:r>
              <a:rPr lang="en-US" altLang="zh-CN" dirty="0"/>
              <a:t>B</a:t>
            </a:r>
            <a:r>
              <a:rPr lang="en-US" altLang="zh-CN" sz="3600" dirty="0"/>
              <a:t>roadcast of </a:t>
            </a:r>
            <a:r>
              <a:rPr lang="en-US" altLang="zh-CN" dirty="0"/>
              <a:t>Q</a:t>
            </a:r>
            <a:r>
              <a:rPr lang="en-US" altLang="zh-CN" sz="3600" dirty="0"/>
              <a:t>ueries</a:t>
            </a:r>
            <a:endParaRPr lang="zh-CN" altLang="en-US" dirty="0"/>
          </a:p>
        </p:txBody>
      </p:sp>
      <p:sp>
        <p:nvSpPr>
          <p:cNvPr id="8" name="object 3">
            <a:extLst>
              <a:ext uri="{FF2B5EF4-FFF2-40B4-BE49-F238E27FC236}">
                <a16:creationId xmlns:a16="http://schemas.microsoft.com/office/drawing/2014/main" id="{58410580-CFF9-7D0A-5936-E1F205638CD6}"/>
              </a:ext>
            </a:extLst>
          </p:cNvPr>
          <p:cNvSpPr txBox="1"/>
          <p:nvPr/>
        </p:nvSpPr>
        <p:spPr>
          <a:xfrm>
            <a:off x="1097279" y="871101"/>
            <a:ext cx="6381549" cy="2638736"/>
          </a:xfrm>
          <a:prstGeom prst="rect">
            <a:avLst/>
          </a:prstGeom>
        </p:spPr>
        <p:txBody>
          <a:bodyPr vert="horz" wrap="square" lIns="0" tIns="44768" rIns="0" bIns="0" rtlCol="0">
            <a:spAutoFit/>
          </a:bodyPr>
          <a:lstStyle/>
          <a:p>
            <a:pPr marL="355759" marR="8573" indent="-342900" algn="just">
              <a:lnSpc>
                <a:spcPct val="89700"/>
              </a:lnSpc>
              <a:spcBef>
                <a:spcPts val="353"/>
              </a:spcBef>
              <a:buClr>
                <a:srgbClr val="0000FF"/>
              </a:buClr>
              <a:buFont typeface="Wingdings" panose="05000000000000000000" pitchFamily="2" charset="2"/>
              <a:buChar char="l"/>
            </a:pPr>
            <a:r>
              <a:rPr lang="en-US" altLang="zh-CN" sz="2000" spc="-34" dirty="0">
                <a:latin typeface="Times New Roman" panose="02020603050405020304" pitchFamily="18" charset="0"/>
                <a:cs typeface="Times New Roman" panose="02020603050405020304" pitchFamily="18" charset="0"/>
              </a:rPr>
              <a:t>Simple</a:t>
            </a:r>
            <a:r>
              <a:rPr lang="en-US" altLang="zh-CN" sz="2000" spc="-120"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and</a:t>
            </a:r>
            <a:r>
              <a:rPr lang="en-US" altLang="zh-CN" sz="2000" spc="-161"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robust</a:t>
            </a:r>
            <a:endParaRPr lang="en-US" sz="2000" spc="-8" dirty="0">
              <a:latin typeface="Times New Roman" panose="02020603050405020304" pitchFamily="18" charset="0"/>
              <a:cs typeface="Times New Roman" panose="02020603050405020304" pitchFamily="18" charset="0"/>
            </a:endParaRPr>
          </a:p>
          <a:p>
            <a:pPr marL="812959" marR="8573" lvl="1" indent="-342900" algn="just">
              <a:lnSpc>
                <a:spcPct val="89700"/>
              </a:lnSpc>
              <a:spcBef>
                <a:spcPts val="353"/>
              </a:spcBef>
              <a:buClr>
                <a:srgbClr val="0000FF"/>
              </a:buClr>
              <a:buFont typeface="Symbol" panose="05050102010706020507" pitchFamily="18" charset="2"/>
              <a:buChar char="-"/>
            </a:pPr>
            <a:r>
              <a:rPr lang="en-US" altLang="zh-CN" sz="2000" dirty="0">
                <a:latin typeface="Times New Roman" panose="02020603050405020304" pitchFamily="18" charset="0"/>
                <a:cs typeface="Times New Roman" panose="02020603050405020304" pitchFamily="18" charset="0"/>
              </a:rPr>
              <a:t>No</a:t>
            </a:r>
            <a:r>
              <a:rPr lang="en-US" altLang="zh-CN" sz="2000" spc="-75"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state</a:t>
            </a:r>
            <a:r>
              <a:rPr lang="en-US" altLang="zh-CN" sz="2000" spc="-4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maintenance</a:t>
            </a:r>
            <a:r>
              <a:rPr lang="en-US" altLang="zh-CN" sz="2000" spc="34"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needed</a:t>
            </a:r>
            <a:endParaRPr lang="en-US" altLang="zh-CN" sz="2000" dirty="0">
              <a:latin typeface="Times New Roman" panose="02020603050405020304" pitchFamily="18" charset="0"/>
              <a:cs typeface="Times New Roman" panose="02020603050405020304" pitchFamily="18" charset="0"/>
            </a:endParaRPr>
          </a:p>
          <a:p>
            <a:pPr marL="812959" marR="8573" lvl="1" indent="-342900" algn="just">
              <a:lnSpc>
                <a:spcPct val="89700"/>
              </a:lnSpc>
              <a:spcBef>
                <a:spcPts val="353"/>
              </a:spcBef>
              <a:buClr>
                <a:srgbClr val="0000FF"/>
              </a:buClr>
              <a:buFont typeface="Symbol" panose="05050102010706020507" pitchFamily="18" charset="2"/>
              <a:buChar char="-"/>
            </a:pPr>
            <a:r>
              <a:rPr lang="en-US" altLang="zh-CN" sz="2000" dirty="0">
                <a:latin typeface="Times New Roman" panose="02020603050405020304" pitchFamily="18" charset="0"/>
                <a:cs typeface="Times New Roman" panose="02020603050405020304" pitchFamily="18" charset="0"/>
              </a:rPr>
              <a:t>High</a:t>
            </a:r>
            <a:r>
              <a:rPr lang="en-US" altLang="zh-CN" sz="2000" spc="-79" dirty="0">
                <a:latin typeface="Times New Roman" panose="02020603050405020304" pitchFamily="18" charset="0"/>
                <a:cs typeface="Times New Roman" panose="02020603050405020304" pitchFamily="18" charset="0"/>
              </a:rPr>
              <a:t> </a:t>
            </a:r>
            <a:r>
              <a:rPr lang="en-US" altLang="zh-CN" sz="2000" spc="-19" dirty="0">
                <a:latin typeface="Times New Roman" panose="02020603050405020304" pitchFamily="18" charset="0"/>
                <a:cs typeface="Times New Roman" panose="02020603050405020304" pitchFamily="18" charset="0"/>
              </a:rPr>
              <a:t>tolerance</a:t>
            </a:r>
            <a:r>
              <a:rPr lang="en-US" altLang="zh-CN" sz="2000" spc="-4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to</a:t>
            </a:r>
            <a:r>
              <a:rPr lang="en-US" altLang="zh-CN" sz="2000" spc="-10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node</a:t>
            </a:r>
            <a:r>
              <a:rPr lang="en-US" altLang="zh-CN" sz="2000" spc="-60"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failures</a:t>
            </a:r>
          </a:p>
          <a:p>
            <a:pPr marL="355759" marR="8573" indent="-342900" algn="just">
              <a:lnSpc>
                <a:spcPct val="89700"/>
              </a:lnSpc>
              <a:spcBef>
                <a:spcPts val="353"/>
              </a:spcBef>
              <a:buClr>
                <a:srgbClr val="0000FF"/>
              </a:buClr>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Elective</a:t>
            </a:r>
            <a:r>
              <a:rPr lang="en-US" altLang="zh-CN" sz="2000" spc="4" dirty="0">
                <a:latin typeface="Times New Roman" panose="02020603050405020304" pitchFamily="18" charset="0"/>
                <a:cs typeface="Times New Roman" panose="02020603050405020304" pitchFamily="18" charset="0"/>
              </a:rPr>
              <a:t> </a:t>
            </a:r>
            <a:r>
              <a:rPr lang="en-US" altLang="zh-CN" sz="2000" spc="-15" dirty="0">
                <a:latin typeface="Times New Roman" panose="02020603050405020304" pitchFamily="18" charset="0"/>
                <a:cs typeface="Times New Roman" panose="02020603050405020304" pitchFamily="18" charset="0"/>
              </a:rPr>
              <a:t>and</a:t>
            </a:r>
            <a:r>
              <a:rPr lang="en-US" altLang="zh-CN" sz="2000" spc="-4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of</a:t>
            </a:r>
            <a:r>
              <a:rPr lang="en-US" altLang="zh-CN" sz="2000" spc="15"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low</a:t>
            </a:r>
            <a:r>
              <a:rPr lang="en-US" altLang="zh-CN" sz="2000" spc="-23"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late</a:t>
            </a:r>
            <a:r>
              <a:rPr lang="en-US" altLang="zh-CN" sz="3200" spc="-11" baseline="1736" dirty="0">
                <a:latin typeface="Times New Roman" panose="02020603050405020304" pitchFamily="18" charset="0"/>
                <a:cs typeface="Times New Roman" panose="02020603050405020304" pitchFamily="18" charset="0"/>
              </a:rPr>
              <a:t>n</a:t>
            </a:r>
            <a:r>
              <a:rPr lang="en-US" altLang="zh-CN" sz="2000" spc="-8" dirty="0">
                <a:latin typeface="Times New Roman" panose="02020603050405020304" pitchFamily="18" charset="0"/>
                <a:cs typeface="Times New Roman" panose="02020603050405020304" pitchFamily="18" charset="0"/>
              </a:rPr>
              <a:t>cy </a:t>
            </a:r>
          </a:p>
          <a:p>
            <a:pPr marL="812959" marR="8573" lvl="1" indent="-342900" algn="just">
              <a:lnSpc>
                <a:spcPct val="89700"/>
              </a:lnSpc>
              <a:spcBef>
                <a:spcPts val="353"/>
              </a:spcBef>
              <a:buClr>
                <a:srgbClr val="0000FF"/>
              </a:buClr>
              <a:buFont typeface="Symbol" panose="05050102010706020507" pitchFamily="18" charset="2"/>
              <a:buChar char="-"/>
            </a:pPr>
            <a:r>
              <a:rPr lang="en-US" altLang="zh-CN" sz="2000" spc="-19" dirty="0">
                <a:latin typeface="Times New Roman" panose="02020603050405020304" pitchFamily="18" charset="0"/>
                <a:cs typeface="Times New Roman" panose="02020603050405020304" pitchFamily="18" charset="0"/>
              </a:rPr>
              <a:t>Always</a:t>
            </a:r>
            <a:r>
              <a:rPr lang="en-US" altLang="zh-CN" sz="2000" spc="-26"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find</a:t>
            </a:r>
            <a:r>
              <a:rPr lang="en-US" altLang="zh-CN" sz="2000" spc="-10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the</a:t>
            </a:r>
            <a:r>
              <a:rPr lang="en-US" altLang="zh-CN" sz="2000" spc="-90" dirty="0">
                <a:latin typeface="Times New Roman" panose="02020603050405020304" pitchFamily="18" charset="0"/>
                <a:cs typeface="Times New Roman" panose="02020603050405020304" pitchFamily="18" charset="0"/>
              </a:rPr>
              <a:t> </a:t>
            </a:r>
            <a:r>
              <a:rPr lang="en-US" altLang="zh-CN" sz="2000" spc="-19" dirty="0">
                <a:latin typeface="Times New Roman" panose="02020603050405020304" pitchFamily="18" charset="0"/>
                <a:cs typeface="Times New Roman" panose="02020603050405020304" pitchFamily="18" charset="0"/>
              </a:rPr>
              <a:t>shortest/fastest</a:t>
            </a:r>
            <a:r>
              <a:rPr lang="en-US" altLang="zh-CN" sz="2000" spc="-120"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routing</a:t>
            </a:r>
            <a:r>
              <a:rPr lang="en-US" altLang="zh-CN" sz="2000" spc="-49" dirty="0">
                <a:latin typeface="Times New Roman" panose="02020603050405020304" pitchFamily="18" charset="0"/>
                <a:cs typeface="Times New Roman" panose="02020603050405020304" pitchFamily="18" charset="0"/>
              </a:rPr>
              <a:t> </a:t>
            </a:r>
            <a:r>
              <a:rPr lang="en-US" altLang="zh-CN" sz="2000" spc="-15" dirty="0">
                <a:latin typeface="Times New Roman" panose="02020603050405020304" pitchFamily="18" charset="0"/>
                <a:cs typeface="Times New Roman" panose="02020603050405020304" pitchFamily="18" charset="0"/>
              </a:rPr>
              <a:t>paths</a:t>
            </a:r>
            <a:endParaRPr lang="en-US" altLang="zh-CN" sz="2000" dirty="0">
              <a:latin typeface="Times New Roman" panose="02020603050405020304" pitchFamily="18" charset="0"/>
              <a:cs typeface="Times New Roman" panose="02020603050405020304" pitchFamily="18" charset="0"/>
            </a:endParaRPr>
          </a:p>
          <a:p>
            <a:pPr marL="355759" marR="8573" indent="-342900" algn="just">
              <a:lnSpc>
                <a:spcPct val="89700"/>
              </a:lnSpc>
              <a:spcBef>
                <a:spcPts val="353"/>
              </a:spcBef>
              <a:buClr>
                <a:srgbClr val="0000FF"/>
              </a:buClr>
              <a:buFont typeface="Wingdings" panose="05000000000000000000" pitchFamily="2" charset="2"/>
              <a:buChar char="l"/>
            </a:pPr>
            <a:r>
              <a:rPr lang="en-US" altLang="zh-CN" sz="2000" spc="-41" dirty="0">
                <a:latin typeface="Times New Roman" panose="02020603050405020304" pitchFamily="18" charset="0"/>
                <a:cs typeface="Times New Roman" panose="02020603050405020304" pitchFamily="18" charset="0"/>
              </a:rPr>
              <a:t>Fundamental</a:t>
            </a:r>
            <a:r>
              <a:rPr lang="en-US" altLang="zh-CN" sz="2000" spc="49" dirty="0">
                <a:latin typeface="Times New Roman" panose="02020603050405020304" pitchFamily="18" charset="0"/>
                <a:cs typeface="Times New Roman" panose="02020603050405020304" pitchFamily="18" charset="0"/>
              </a:rPr>
              <a:t> </a:t>
            </a:r>
            <a:r>
              <a:rPr lang="en-US" altLang="zh-CN" sz="2000" spc="-23" dirty="0">
                <a:latin typeface="Times New Roman" panose="02020603050405020304" pitchFamily="18" charset="0"/>
                <a:cs typeface="Times New Roman" panose="02020603050405020304" pitchFamily="18" charset="0"/>
              </a:rPr>
              <a:t>Operation </a:t>
            </a:r>
            <a:r>
              <a:rPr lang="en-US" altLang="zh-CN" sz="2000" spc="-19" dirty="0">
                <a:latin typeface="Times New Roman" panose="02020603050405020304" pitchFamily="18" charset="0"/>
                <a:cs typeface="Times New Roman" panose="02020603050405020304" pitchFamily="18" charset="0"/>
              </a:rPr>
              <a:t>for</a:t>
            </a:r>
            <a:endParaRPr lang="en-US" altLang="zh-CN" sz="2000" spc="-8" dirty="0">
              <a:latin typeface="Times New Roman" panose="02020603050405020304" pitchFamily="18" charset="0"/>
              <a:cs typeface="Times New Roman" panose="02020603050405020304" pitchFamily="18" charset="0"/>
            </a:endParaRPr>
          </a:p>
          <a:p>
            <a:pPr marL="812959" marR="8573" lvl="1" indent="-342900" algn="just">
              <a:lnSpc>
                <a:spcPct val="89700"/>
              </a:lnSpc>
              <a:spcBef>
                <a:spcPts val="353"/>
              </a:spcBef>
              <a:buClr>
                <a:srgbClr val="0000FF"/>
              </a:buClr>
              <a:buFont typeface="Symbol" panose="05050102010706020507" pitchFamily="18" charset="2"/>
              <a:buChar char="-"/>
            </a:pPr>
            <a:r>
              <a:rPr lang="en-US" altLang="zh-CN" sz="2000" spc="-26" dirty="0">
                <a:latin typeface="Times New Roman" panose="02020603050405020304" pitchFamily="18" charset="0"/>
                <a:cs typeface="Times New Roman" panose="02020603050405020304" pitchFamily="18" charset="0"/>
              </a:rPr>
              <a:t>Broadcasting</a:t>
            </a:r>
            <a:r>
              <a:rPr lang="en-US" altLang="zh-CN" sz="2000" spc="8"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in</a:t>
            </a:r>
            <a:r>
              <a:rPr lang="en-US" altLang="zh-CN" sz="2000" spc="-139"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distributed</a:t>
            </a:r>
            <a:r>
              <a:rPr lang="en-US" altLang="zh-CN" sz="2000" spc="-53"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system</a:t>
            </a:r>
          </a:p>
          <a:p>
            <a:pPr marL="812959" marR="8573" lvl="1" indent="-342900" algn="just">
              <a:lnSpc>
                <a:spcPct val="89700"/>
              </a:lnSpc>
              <a:spcBef>
                <a:spcPts val="353"/>
              </a:spcBef>
              <a:buClr>
                <a:srgbClr val="0000FF"/>
              </a:buClr>
              <a:buFont typeface="Symbol" panose="05050102010706020507" pitchFamily="18" charset="2"/>
              <a:buChar char="-"/>
            </a:pPr>
            <a:r>
              <a:rPr lang="en-US" altLang="zh-CN" sz="2000" dirty="0">
                <a:latin typeface="Times New Roman" panose="02020603050405020304" pitchFamily="18" charset="0"/>
                <a:cs typeface="Times New Roman" panose="02020603050405020304" pitchFamily="18" charset="0"/>
              </a:rPr>
              <a:t>P2P</a:t>
            </a:r>
            <a:r>
              <a:rPr lang="en-US" altLang="zh-CN" sz="2000" spc="-83"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communications</a:t>
            </a:r>
            <a:endParaRPr lang="en-US" altLang="zh-C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20710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1129764" y="835522"/>
            <a:ext cx="5598294" cy="2697854"/>
          </a:xfrm>
          <a:prstGeom prst="rect">
            <a:avLst/>
          </a:prstGeom>
        </p:spPr>
        <p:txBody>
          <a:bodyPr vert="horz" wrap="square" lIns="0" tIns="42863" rIns="0" bIns="0" numCol="1" rtlCol="0" anchor="t" anchorCtr="0" compatLnSpc="1">
            <a:prstTxWarp prst="textNoShape">
              <a:avLst/>
            </a:prstTxWarp>
            <a:spAutoFit/>
          </a:bodyPr>
          <a:lstStyle/>
          <a:p>
            <a:pPr marL="12383">
              <a:spcBef>
                <a:spcPts val="338"/>
              </a:spcBef>
            </a:pPr>
            <a:r>
              <a:rPr sz="2000" spc="-15" dirty="0"/>
              <a:t>Loops</a:t>
            </a:r>
            <a:r>
              <a:rPr sz="2000" spc="-71" dirty="0"/>
              <a:t> </a:t>
            </a:r>
            <a:r>
              <a:rPr sz="2000" dirty="0"/>
              <a:t>in</a:t>
            </a:r>
            <a:r>
              <a:rPr sz="2000" spc="-165" dirty="0"/>
              <a:t> </a:t>
            </a:r>
            <a:r>
              <a:rPr sz="2000" spc="-8" dirty="0"/>
              <a:t>Gnutella</a:t>
            </a:r>
            <a:r>
              <a:rPr sz="2000" spc="-101" dirty="0"/>
              <a:t> </a:t>
            </a:r>
            <a:r>
              <a:rPr sz="2000" spc="-8" dirty="0"/>
              <a:t>networks</a:t>
            </a:r>
            <a:endParaRPr lang="en-US" sz="2000" spc="-8" dirty="0"/>
          </a:p>
          <a:p>
            <a:pPr marL="12383">
              <a:spcBef>
                <a:spcPts val="338"/>
              </a:spcBef>
            </a:pPr>
            <a:r>
              <a:rPr sz="2000" dirty="0"/>
              <a:t>Caused</a:t>
            </a:r>
            <a:r>
              <a:rPr sz="2000" spc="-45" dirty="0"/>
              <a:t> </a:t>
            </a:r>
            <a:r>
              <a:rPr sz="2000" dirty="0"/>
              <a:t>by</a:t>
            </a:r>
            <a:r>
              <a:rPr sz="2000" spc="-49" dirty="0"/>
              <a:t> </a:t>
            </a:r>
            <a:r>
              <a:rPr sz="2000" dirty="0"/>
              <a:t>redundant</a:t>
            </a:r>
            <a:r>
              <a:rPr sz="2000" spc="4" dirty="0"/>
              <a:t> </a:t>
            </a:r>
            <a:r>
              <a:rPr sz="2000" spc="-8" dirty="0"/>
              <a:t>links</a:t>
            </a:r>
            <a:endParaRPr lang="en-US" sz="2000" spc="-8" dirty="0"/>
          </a:p>
          <a:p>
            <a:pPr marL="12383">
              <a:spcBef>
                <a:spcPts val="338"/>
              </a:spcBef>
            </a:pPr>
            <a:r>
              <a:rPr sz="2000" spc="-34" dirty="0"/>
              <a:t>Result</a:t>
            </a:r>
            <a:r>
              <a:rPr sz="2000" spc="-41" dirty="0"/>
              <a:t> </a:t>
            </a:r>
            <a:r>
              <a:rPr sz="2000" dirty="0"/>
              <a:t>in</a:t>
            </a:r>
            <a:r>
              <a:rPr sz="2000" spc="-143" dirty="0"/>
              <a:t> </a:t>
            </a:r>
            <a:r>
              <a:rPr sz="2000" spc="-26" dirty="0"/>
              <a:t>endless</a:t>
            </a:r>
            <a:r>
              <a:rPr sz="2000" spc="-86" dirty="0"/>
              <a:t> </a:t>
            </a:r>
            <a:r>
              <a:rPr sz="2000" spc="-38" dirty="0"/>
              <a:t>message</a:t>
            </a:r>
            <a:r>
              <a:rPr sz="2000" spc="-86" dirty="0"/>
              <a:t> </a:t>
            </a:r>
            <a:r>
              <a:rPr sz="2000" spc="-8" dirty="0"/>
              <a:t>routing</a:t>
            </a:r>
            <a:endParaRPr sz="2000" dirty="0"/>
          </a:p>
          <a:p>
            <a:pPr marL="11430">
              <a:spcBef>
                <a:spcPts val="229"/>
              </a:spcBef>
            </a:pPr>
            <a:r>
              <a:rPr sz="2000" spc="-23" dirty="0"/>
              <a:t>Current </a:t>
            </a:r>
            <a:r>
              <a:rPr sz="2000" spc="-15" dirty="0"/>
              <a:t>solutio</a:t>
            </a:r>
            <a:r>
              <a:rPr sz="2000" spc="-23" baseline="1763" dirty="0"/>
              <a:t>n</a:t>
            </a:r>
            <a:r>
              <a:rPr sz="2000" spc="-248" baseline="1763" dirty="0"/>
              <a:t> </a:t>
            </a:r>
            <a:r>
              <a:rPr sz="2000" dirty="0"/>
              <a:t>by</a:t>
            </a:r>
            <a:r>
              <a:rPr sz="2000" spc="-60" dirty="0"/>
              <a:t> </a:t>
            </a:r>
            <a:r>
              <a:rPr sz="2000" spc="-8" dirty="0"/>
              <a:t>Gnutella</a:t>
            </a:r>
            <a:endParaRPr lang="en-US" sz="2000" spc="-8" dirty="0"/>
          </a:p>
          <a:p>
            <a:pPr marL="11430">
              <a:spcBef>
                <a:spcPts val="229"/>
              </a:spcBef>
            </a:pPr>
            <a:r>
              <a:rPr sz="2000" dirty="0"/>
              <a:t>Detect</a:t>
            </a:r>
            <a:r>
              <a:rPr sz="2000" spc="11" dirty="0"/>
              <a:t> </a:t>
            </a:r>
            <a:r>
              <a:rPr sz="2000" dirty="0"/>
              <a:t>and</a:t>
            </a:r>
            <a:r>
              <a:rPr sz="2000" spc="-109" dirty="0"/>
              <a:t> </a:t>
            </a:r>
            <a:r>
              <a:rPr sz="2000" dirty="0"/>
              <a:t>discard</a:t>
            </a:r>
            <a:r>
              <a:rPr sz="2000" spc="-53" dirty="0"/>
              <a:t> </a:t>
            </a:r>
            <a:r>
              <a:rPr sz="2000" dirty="0"/>
              <a:t>redundant</a:t>
            </a:r>
            <a:r>
              <a:rPr sz="2000" spc="26" dirty="0"/>
              <a:t> </a:t>
            </a:r>
            <a:r>
              <a:rPr sz="2000" spc="-8" dirty="0"/>
              <a:t>messages</a:t>
            </a:r>
            <a:endParaRPr lang="en-US" sz="2000" spc="-8" dirty="0"/>
          </a:p>
          <a:p>
            <a:pPr marL="11430">
              <a:spcBef>
                <a:spcPts val="229"/>
              </a:spcBef>
            </a:pPr>
            <a:r>
              <a:rPr sz="2000" spc="-38" dirty="0"/>
              <a:t>Limit</a:t>
            </a:r>
            <a:r>
              <a:rPr sz="2000" spc="-71" dirty="0"/>
              <a:t> </a:t>
            </a:r>
            <a:r>
              <a:rPr sz="2000" spc="-49" dirty="0"/>
              <a:t>TTL(time-</a:t>
            </a:r>
            <a:r>
              <a:rPr sz="2000" spc="-41" dirty="0"/>
              <a:t>to-</a:t>
            </a:r>
            <a:r>
              <a:rPr sz="2000" spc="-8" dirty="0"/>
              <a:t>live)</a:t>
            </a:r>
            <a:r>
              <a:rPr sz="2000" spc="-105" dirty="0"/>
              <a:t> </a:t>
            </a:r>
            <a:r>
              <a:rPr sz="2000" dirty="0"/>
              <a:t>of</a:t>
            </a:r>
            <a:r>
              <a:rPr sz="2000" spc="-15" dirty="0"/>
              <a:t> </a:t>
            </a:r>
            <a:r>
              <a:rPr sz="2000" spc="-8" dirty="0"/>
              <a:t>messages</a:t>
            </a:r>
            <a:endParaRPr sz="2000" dirty="0"/>
          </a:p>
          <a:p>
            <a:pPr marL="13335">
              <a:spcBef>
                <a:spcPts val="229"/>
              </a:spcBef>
            </a:pPr>
            <a:r>
              <a:rPr sz="2000" spc="-38" dirty="0"/>
              <a:t>Unnecessary</a:t>
            </a:r>
            <a:r>
              <a:rPr sz="2000" spc="135" dirty="0"/>
              <a:t> </a:t>
            </a:r>
            <a:r>
              <a:rPr sz="2000" spc="-15" dirty="0"/>
              <a:t>traffic</a:t>
            </a:r>
            <a:r>
              <a:rPr sz="2000" spc="-8" dirty="0"/>
              <a:t> </a:t>
            </a:r>
            <a:r>
              <a:rPr sz="2000" dirty="0"/>
              <a:t>is</a:t>
            </a:r>
            <a:r>
              <a:rPr sz="2000" spc="-135" dirty="0"/>
              <a:t> </a:t>
            </a:r>
            <a:r>
              <a:rPr sz="2000" dirty="0"/>
              <a:t>till</a:t>
            </a:r>
            <a:r>
              <a:rPr sz="2000" spc="-127" dirty="0"/>
              <a:t> </a:t>
            </a:r>
            <a:r>
              <a:rPr sz="2000" dirty="0"/>
              <a:t>too</a:t>
            </a:r>
            <a:r>
              <a:rPr sz="2000" spc="-94" dirty="0"/>
              <a:t> </a:t>
            </a:r>
            <a:r>
              <a:rPr sz="2000" spc="-15" dirty="0"/>
              <a:t>much</a:t>
            </a:r>
            <a:endParaRPr lang="en-US" sz="2000" spc="-15" dirty="0"/>
          </a:p>
          <a:p>
            <a:pPr marL="13335">
              <a:spcBef>
                <a:spcPts val="229"/>
              </a:spcBef>
            </a:pPr>
            <a:r>
              <a:rPr sz="2000" dirty="0"/>
              <a:t>The</a:t>
            </a:r>
            <a:r>
              <a:rPr sz="2000" spc="-45" dirty="0"/>
              <a:t> </a:t>
            </a:r>
            <a:r>
              <a:rPr sz="2000" dirty="0"/>
              <a:t>redundant</a:t>
            </a:r>
            <a:r>
              <a:rPr sz="2000" spc="56" dirty="0"/>
              <a:t> </a:t>
            </a:r>
            <a:r>
              <a:rPr sz="2000" dirty="0"/>
              <a:t>links</a:t>
            </a:r>
            <a:r>
              <a:rPr sz="2000" spc="-23" dirty="0"/>
              <a:t> </a:t>
            </a:r>
            <a:r>
              <a:rPr sz="2000" dirty="0"/>
              <a:t>are</a:t>
            </a:r>
            <a:r>
              <a:rPr sz="2000" spc="-23" dirty="0"/>
              <a:t> </a:t>
            </a:r>
            <a:r>
              <a:rPr sz="2000" dirty="0"/>
              <a:t>still</a:t>
            </a:r>
            <a:r>
              <a:rPr sz="2000" spc="-68" dirty="0"/>
              <a:t> </a:t>
            </a:r>
            <a:r>
              <a:rPr sz="2000" spc="-8" dirty="0"/>
              <a:t>there</a:t>
            </a:r>
            <a:endParaRPr sz="2000" dirty="0"/>
          </a:p>
        </p:txBody>
      </p:sp>
      <p:sp>
        <p:nvSpPr>
          <p:cNvPr id="5" name="灯片编号占位符 4">
            <a:extLst>
              <a:ext uri="{FF2B5EF4-FFF2-40B4-BE49-F238E27FC236}">
                <a16:creationId xmlns:a16="http://schemas.microsoft.com/office/drawing/2014/main" id="{08E97779-5FEF-74E2-2094-117CEFF4A0A4}"/>
              </a:ext>
            </a:extLst>
          </p:cNvPr>
          <p:cNvSpPr>
            <a:spLocks noGrp="1"/>
          </p:cNvSpPr>
          <p:nvPr>
            <p:ph type="sldNum" sz="quarter" idx="10"/>
          </p:nvPr>
        </p:nvSpPr>
        <p:spPr/>
        <p:txBody>
          <a:bodyPr/>
          <a:lstStyle/>
          <a:p>
            <a:fld id="{D9B6BDF2-6896-4B98-8776-C18582F63BA5}" type="slidenum">
              <a:rPr lang="zh-TW" altLang="en-US" smtClean="0"/>
              <a:pPr/>
              <a:t>23</a:t>
            </a:fld>
            <a:endParaRPr lang="zh-TW" altLang="en-US"/>
          </a:p>
        </p:txBody>
      </p:sp>
      <p:sp>
        <p:nvSpPr>
          <p:cNvPr id="6" name="标题 5">
            <a:extLst>
              <a:ext uri="{FF2B5EF4-FFF2-40B4-BE49-F238E27FC236}">
                <a16:creationId xmlns:a16="http://schemas.microsoft.com/office/drawing/2014/main" id="{BFF0F79A-C76A-8221-BB30-3E7314FB0037}"/>
              </a:ext>
            </a:extLst>
          </p:cNvPr>
          <p:cNvSpPr>
            <a:spLocks noGrp="1"/>
          </p:cNvSpPr>
          <p:nvPr>
            <p:ph type="title"/>
          </p:nvPr>
        </p:nvSpPr>
        <p:spPr>
          <a:xfrm>
            <a:off x="914400" y="108349"/>
            <a:ext cx="7761290" cy="519113"/>
          </a:xfrm>
        </p:spPr>
        <p:txBody>
          <a:bodyPr/>
          <a:lstStyle/>
          <a:p>
            <a:r>
              <a:rPr lang="en-US" altLang="zh-CN" dirty="0"/>
              <a:t>Problems of Flooding</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43276" y="79260"/>
            <a:ext cx="4860758" cy="565058"/>
          </a:xfrm>
          <a:prstGeom prst="rect">
            <a:avLst/>
          </a:prstGeom>
        </p:spPr>
        <p:txBody>
          <a:bodyPr vert="horz" wrap="square" lIns="0" tIns="10953" rIns="0" bIns="0" numCol="1" rtlCol="0" anchor="ctr" anchorCtr="0" compatLnSpc="1">
            <a:prstTxWarp prst="textNoShape">
              <a:avLst/>
            </a:prstTxWarp>
            <a:spAutoFit/>
          </a:bodyPr>
          <a:lstStyle/>
          <a:p>
            <a:pPr marL="9525">
              <a:spcBef>
                <a:spcPts val="86"/>
              </a:spcBef>
            </a:pPr>
            <a:r>
              <a:rPr dirty="0"/>
              <a:t>Routing Model</a:t>
            </a:r>
          </a:p>
        </p:txBody>
      </p:sp>
      <p:sp>
        <p:nvSpPr>
          <p:cNvPr id="3" name="object 3"/>
          <p:cNvSpPr txBox="1"/>
          <p:nvPr/>
        </p:nvSpPr>
        <p:spPr>
          <a:xfrm>
            <a:off x="1029903" y="905809"/>
            <a:ext cx="7170820" cy="2215671"/>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sz="2400" dirty="0">
                <a:latin typeface="Times New Roman" panose="02020603050405020304" pitchFamily="18" charset="0"/>
                <a:cs typeface="Times New Roman" panose="02020603050405020304" pitchFamily="18" charset="0"/>
              </a:rPr>
              <a:t>Adds structure to the way information about resources are stored using distributed hash table</a:t>
            </a:r>
            <a:r>
              <a:rPr lang="en-US" sz="2400" dirty="0">
                <a:latin typeface="Times New Roman" panose="02020603050405020304" pitchFamily="18" charset="0"/>
                <a:cs typeface="Times New Roman" panose="02020603050405020304" pitchFamily="18" charset="0"/>
              </a:rPr>
              <a:t> </a:t>
            </a:r>
          </a:p>
          <a:p>
            <a:pPr marL="352425" marR="90011" indent="-342900">
              <a:lnSpc>
                <a:spcPct val="98200"/>
              </a:lnSpc>
              <a:spcBef>
                <a:spcPts val="143"/>
              </a:spcBef>
              <a:buClr>
                <a:srgbClr val="0000FF"/>
              </a:buClr>
              <a:buSzPct val="80000"/>
              <a:buFont typeface="Wingdings" panose="05000000000000000000" pitchFamily="2" charset="2"/>
              <a:buChar char="l"/>
            </a:pPr>
            <a:r>
              <a:rPr sz="2400" dirty="0">
                <a:latin typeface="Times New Roman" panose="02020603050405020304" pitchFamily="18" charset="0"/>
                <a:cs typeface="Times New Roman" panose="02020603050405020304" pitchFamily="18" charset="0"/>
              </a:rPr>
              <a:t>Provides a mapping between the resource identifier and location </a:t>
            </a:r>
            <a:endParaRPr lang="en-US" sz="2400" dirty="0">
              <a:latin typeface="Times New Roman" panose="02020603050405020304" pitchFamily="18" charset="0"/>
              <a:cs typeface="Times New Roman" panose="02020603050405020304" pitchFamily="18" charset="0"/>
            </a:endParaRPr>
          </a:p>
          <a:p>
            <a:pPr marL="352425" marR="90011" indent="-342900">
              <a:lnSpc>
                <a:spcPct val="98200"/>
              </a:lnSpc>
              <a:spcBef>
                <a:spcPts val="143"/>
              </a:spcBef>
              <a:buClr>
                <a:srgbClr val="0000FF"/>
              </a:buClr>
              <a:buSzPct val="80000"/>
              <a:buFont typeface="Wingdings" panose="05000000000000000000" pitchFamily="2" charset="2"/>
              <a:buChar char="l"/>
            </a:pPr>
            <a:r>
              <a:rPr lang="en-US" sz="2400" dirty="0">
                <a:latin typeface="Times New Roman" panose="02020603050405020304" pitchFamily="18" charset="0"/>
                <a:cs typeface="Times New Roman" panose="02020603050405020304" pitchFamily="18" charset="0"/>
              </a:rPr>
              <a:t>Re</a:t>
            </a:r>
            <a:r>
              <a:rPr sz="2400" dirty="0">
                <a:latin typeface="Times New Roman" panose="02020603050405020304" pitchFamily="18" charset="0"/>
                <a:cs typeface="Times New Roman" panose="02020603050405020304" pitchFamily="18" charset="0"/>
              </a:rPr>
              <a:t>duces the number of p2p hops that</a:t>
            </a:r>
            <a:r>
              <a:rPr lang="en-US" sz="24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must be taken to locate a resource</a:t>
            </a:r>
          </a:p>
        </p:txBody>
      </p:sp>
      <p:sp>
        <p:nvSpPr>
          <p:cNvPr id="5" name="灯片编号占位符 4">
            <a:extLst>
              <a:ext uri="{FF2B5EF4-FFF2-40B4-BE49-F238E27FC236}">
                <a16:creationId xmlns:a16="http://schemas.microsoft.com/office/drawing/2014/main" id="{6CD9DEA2-7B4F-53FF-C6AB-39E04E88A940}"/>
              </a:ext>
            </a:extLst>
          </p:cNvPr>
          <p:cNvSpPr>
            <a:spLocks noGrp="1"/>
          </p:cNvSpPr>
          <p:nvPr>
            <p:ph type="sldNum" sz="quarter" idx="10"/>
          </p:nvPr>
        </p:nvSpPr>
        <p:spPr/>
        <p:txBody>
          <a:bodyPr/>
          <a:lstStyle/>
          <a:p>
            <a:fld id="{D9B6BDF2-6896-4B98-8776-C18582F63BA5}" type="slidenum">
              <a:rPr lang="zh-TW" altLang="en-US" smtClean="0"/>
              <a:pPr/>
              <a:t>24</a:t>
            </a:fld>
            <a:endParaRPr lang="zh-TW"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43276" y="79260"/>
            <a:ext cx="4860758" cy="565058"/>
          </a:xfrm>
          <a:prstGeom prst="rect">
            <a:avLst/>
          </a:prstGeom>
        </p:spPr>
        <p:txBody>
          <a:bodyPr vert="horz" wrap="square" lIns="0" tIns="10953" rIns="0" bIns="0" numCol="1" rtlCol="0" anchor="ctr" anchorCtr="0" compatLnSpc="1">
            <a:prstTxWarp prst="textNoShape">
              <a:avLst/>
            </a:prstTxWarp>
            <a:spAutoFit/>
          </a:bodyPr>
          <a:lstStyle/>
          <a:p>
            <a:pPr marL="9525">
              <a:spcBef>
                <a:spcPts val="86"/>
              </a:spcBef>
            </a:pPr>
            <a:r>
              <a:rPr lang="en-US" dirty="0"/>
              <a:t>Chord (1)</a:t>
            </a:r>
            <a:endParaRPr dirty="0"/>
          </a:p>
        </p:txBody>
      </p:sp>
      <p:sp>
        <p:nvSpPr>
          <p:cNvPr id="5" name="灯片编号占位符 4">
            <a:extLst>
              <a:ext uri="{FF2B5EF4-FFF2-40B4-BE49-F238E27FC236}">
                <a16:creationId xmlns:a16="http://schemas.microsoft.com/office/drawing/2014/main" id="{6CD9DEA2-7B4F-53FF-C6AB-39E04E88A940}"/>
              </a:ext>
            </a:extLst>
          </p:cNvPr>
          <p:cNvSpPr>
            <a:spLocks noGrp="1"/>
          </p:cNvSpPr>
          <p:nvPr>
            <p:ph type="sldNum" sz="quarter" idx="10"/>
          </p:nvPr>
        </p:nvSpPr>
        <p:spPr/>
        <p:txBody>
          <a:bodyPr/>
          <a:lstStyle/>
          <a:p>
            <a:fld id="{D9B6BDF2-6896-4B98-8776-C18582F63BA5}" type="slidenum">
              <a:rPr lang="zh-TW" altLang="en-US" smtClean="0"/>
              <a:pPr/>
              <a:t>25</a:t>
            </a:fld>
            <a:endParaRPr lang="zh-TW" altLang="en-US"/>
          </a:p>
        </p:txBody>
      </p:sp>
      <p:sp>
        <p:nvSpPr>
          <p:cNvPr id="6" name="object 3">
            <a:extLst>
              <a:ext uri="{FF2B5EF4-FFF2-40B4-BE49-F238E27FC236}">
                <a16:creationId xmlns:a16="http://schemas.microsoft.com/office/drawing/2014/main" id="{3920FDA9-AA6C-0158-7B7A-0116D41F248D}"/>
              </a:ext>
            </a:extLst>
          </p:cNvPr>
          <p:cNvSpPr txBox="1"/>
          <p:nvPr/>
        </p:nvSpPr>
        <p:spPr>
          <a:xfrm>
            <a:off x="1145407" y="808358"/>
            <a:ext cx="7161196" cy="2387578"/>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400" dirty="0">
                <a:latin typeface="Times New Roman" panose="02020603050405020304" pitchFamily="18" charset="0"/>
                <a:cs typeface="Times New Roman" panose="02020603050405020304" pitchFamily="18" charset="0"/>
              </a:rPr>
              <a:t>Provides peer-to-peer hash lookup service</a:t>
            </a:r>
          </a:p>
          <a:p>
            <a:pPr marL="809625" marR="90011" lvl="1" indent="-342900">
              <a:lnSpc>
                <a:spcPct val="98200"/>
              </a:lnSpc>
              <a:spcBef>
                <a:spcPts val="143"/>
              </a:spcBef>
              <a:buClr>
                <a:srgbClr val="0000FF"/>
              </a:buClr>
              <a:buSzPct val="80000"/>
              <a:buFont typeface="Symbol" panose="05050102010706020507" pitchFamily="18" charset="2"/>
              <a:buChar char="-"/>
            </a:pPr>
            <a:r>
              <a:rPr lang="en-US" altLang="zh-CN" sz="2000" dirty="0">
                <a:latin typeface="Times New Roman" panose="02020603050405020304" pitchFamily="18" charset="0"/>
                <a:cs typeface="Times New Roman" panose="02020603050405020304" pitchFamily="18" charset="0"/>
              </a:rPr>
              <a:t>Lookup(key) for IP address </a:t>
            </a:r>
          </a:p>
          <a:p>
            <a:pPr marL="809625" marR="90011" lvl="1" indent="-342900">
              <a:lnSpc>
                <a:spcPct val="98200"/>
              </a:lnSpc>
              <a:spcBef>
                <a:spcPts val="143"/>
              </a:spcBef>
              <a:buClr>
                <a:srgbClr val="0000FF"/>
              </a:buClr>
              <a:buSzPct val="80000"/>
              <a:buFont typeface="Symbol" panose="05050102010706020507" pitchFamily="18" charset="2"/>
              <a:buChar char="-"/>
            </a:pPr>
            <a:r>
              <a:rPr lang="en-US" altLang="zh-CN" sz="2000" dirty="0">
                <a:latin typeface="Times New Roman" panose="02020603050405020304" pitchFamily="18" charset="0"/>
                <a:cs typeface="Times New Roman" panose="02020603050405020304" pitchFamily="18" charset="0"/>
              </a:rPr>
              <a:t>Chord does not store the data</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400" dirty="0">
                <a:latin typeface="Times New Roman" panose="02020603050405020304" pitchFamily="18" charset="0"/>
                <a:cs typeface="Times New Roman" panose="02020603050405020304" pitchFamily="18" charset="0"/>
              </a:rPr>
              <a:t> Efficient: O(Log </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messages per lookup</a:t>
            </a:r>
          </a:p>
          <a:p>
            <a:pPr marL="809625" marR="90011" lvl="1" indent="-342900">
              <a:lnSpc>
                <a:spcPct val="98200"/>
              </a:lnSpc>
              <a:spcBef>
                <a:spcPts val="143"/>
              </a:spcBef>
              <a:buClr>
                <a:srgbClr val="0000FF"/>
              </a:buClr>
              <a:buSzPct val="80000"/>
              <a:buFont typeface="Symbol" panose="05050102010706020507" pitchFamily="18" charset="2"/>
              <a:buChar char="-"/>
            </a:pPr>
            <a:r>
              <a:rPr lang="en-US" altLang="zh-CN" sz="2000" i="1" dirty="0">
                <a:latin typeface="Times New Roman" panose="02020603050405020304" pitchFamily="18" charset="0"/>
                <a:cs typeface="Times New Roman" panose="02020603050405020304" pitchFamily="18" charset="0"/>
              </a:rPr>
              <a:t>N </a:t>
            </a:r>
            <a:r>
              <a:rPr lang="en-US" altLang="zh-CN" sz="2000" dirty="0">
                <a:latin typeface="Times New Roman" panose="02020603050405020304" pitchFamily="18" charset="0"/>
                <a:cs typeface="Times New Roman" panose="02020603050405020304" pitchFamily="18" charset="0"/>
              </a:rPr>
              <a:t>is the total number of servers </a:t>
            </a:r>
          </a:p>
          <a:p>
            <a:pPr marL="809625" marR="90011" lvl="1" indent="-342900">
              <a:lnSpc>
                <a:spcPct val="98200"/>
              </a:lnSpc>
              <a:spcBef>
                <a:spcPts val="143"/>
              </a:spcBef>
              <a:buClr>
                <a:srgbClr val="0000FF"/>
              </a:buClr>
              <a:buSzPct val="80000"/>
              <a:buFont typeface="Symbol" panose="05050102010706020507" pitchFamily="18" charset="2"/>
              <a:buChar char="-"/>
            </a:pPr>
            <a:r>
              <a:rPr lang="en-US" altLang="zh-CN" sz="2000" dirty="0">
                <a:latin typeface="Times New Roman" panose="02020603050405020304" pitchFamily="18" charset="0"/>
                <a:cs typeface="Times New Roman" panose="02020603050405020304" pitchFamily="18" charset="0"/>
              </a:rPr>
              <a:t>Scalable: O(Log </a:t>
            </a:r>
            <a:r>
              <a:rPr lang="en-US" altLang="zh-CN" sz="2000" i="1" dirty="0">
                <a:latin typeface="Times New Roman" panose="02020603050405020304" pitchFamily="18" charset="0"/>
                <a:cs typeface="Times New Roman" panose="02020603050405020304" pitchFamily="18" charset="0"/>
              </a:rPr>
              <a:t>N</a:t>
            </a:r>
            <a:r>
              <a:rPr lang="en-US" altLang="zh-CN" sz="2000" dirty="0">
                <a:latin typeface="Times New Roman" panose="02020603050405020304" pitchFamily="18" charset="0"/>
                <a:cs typeface="Times New Roman" panose="02020603050405020304" pitchFamily="18" charset="0"/>
              </a:rPr>
              <a:t>) </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400" dirty="0">
                <a:latin typeface="Times New Roman" panose="02020603050405020304" pitchFamily="18" charset="0"/>
                <a:cs typeface="Times New Roman" panose="02020603050405020304" pitchFamily="18" charset="0"/>
              </a:rPr>
              <a:t>Robust: Survives massive changes in membership</a:t>
            </a:r>
          </a:p>
        </p:txBody>
      </p:sp>
    </p:spTree>
    <p:extLst>
      <p:ext uri="{BB962C8B-B14F-4D97-AF65-F5344CB8AC3E}">
        <p14:creationId xmlns:p14="http://schemas.microsoft.com/office/powerpoint/2010/main" val="4280576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010652" y="79260"/>
            <a:ext cx="4793381" cy="565058"/>
          </a:xfrm>
          <a:prstGeom prst="rect">
            <a:avLst/>
          </a:prstGeom>
        </p:spPr>
        <p:txBody>
          <a:bodyPr vert="horz" wrap="square" lIns="0" tIns="10953" rIns="0" bIns="0" numCol="1" rtlCol="0" anchor="ctr" anchorCtr="0" compatLnSpc="1">
            <a:prstTxWarp prst="textNoShape">
              <a:avLst/>
            </a:prstTxWarp>
            <a:spAutoFit/>
          </a:bodyPr>
          <a:lstStyle/>
          <a:p>
            <a:pPr marL="9525">
              <a:spcBef>
                <a:spcPts val="86"/>
              </a:spcBef>
            </a:pPr>
            <a:r>
              <a:rPr lang="en-US" dirty="0"/>
              <a:t>Chord (2)</a:t>
            </a:r>
            <a:endParaRPr dirty="0"/>
          </a:p>
        </p:txBody>
      </p:sp>
      <p:sp>
        <p:nvSpPr>
          <p:cNvPr id="5" name="灯片编号占位符 4">
            <a:extLst>
              <a:ext uri="{FF2B5EF4-FFF2-40B4-BE49-F238E27FC236}">
                <a16:creationId xmlns:a16="http://schemas.microsoft.com/office/drawing/2014/main" id="{6CD9DEA2-7B4F-53FF-C6AB-39E04E88A940}"/>
              </a:ext>
            </a:extLst>
          </p:cNvPr>
          <p:cNvSpPr>
            <a:spLocks noGrp="1"/>
          </p:cNvSpPr>
          <p:nvPr>
            <p:ph type="sldNum" sz="quarter" idx="10"/>
          </p:nvPr>
        </p:nvSpPr>
        <p:spPr/>
        <p:txBody>
          <a:bodyPr/>
          <a:lstStyle/>
          <a:p>
            <a:fld id="{D9B6BDF2-6896-4B98-8776-C18582F63BA5}" type="slidenum">
              <a:rPr lang="zh-TW" altLang="en-US" smtClean="0"/>
              <a:pPr/>
              <a:t>26</a:t>
            </a:fld>
            <a:endParaRPr lang="zh-TW" altLang="en-US"/>
          </a:p>
        </p:txBody>
      </p:sp>
      <p:sp>
        <p:nvSpPr>
          <p:cNvPr id="6" name="object 3">
            <a:extLst>
              <a:ext uri="{FF2B5EF4-FFF2-40B4-BE49-F238E27FC236}">
                <a16:creationId xmlns:a16="http://schemas.microsoft.com/office/drawing/2014/main" id="{3920FDA9-AA6C-0158-7B7A-0116D41F248D}"/>
              </a:ext>
            </a:extLst>
          </p:cNvPr>
          <p:cNvSpPr txBox="1"/>
          <p:nvPr/>
        </p:nvSpPr>
        <p:spPr>
          <a:xfrm>
            <a:off x="1145407" y="808358"/>
            <a:ext cx="7161196" cy="380233"/>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400" dirty="0">
                <a:latin typeface="Times New Roman" panose="02020603050405020304" pitchFamily="18" charset="0"/>
                <a:cs typeface="Times New Roman" panose="02020603050405020304" pitchFamily="18" charset="0"/>
              </a:rPr>
              <a:t>Chord: Lookup mechanism</a:t>
            </a:r>
          </a:p>
        </p:txBody>
      </p:sp>
      <p:grpSp>
        <p:nvGrpSpPr>
          <p:cNvPr id="36" name="组合 35">
            <a:extLst>
              <a:ext uri="{FF2B5EF4-FFF2-40B4-BE49-F238E27FC236}">
                <a16:creationId xmlns:a16="http://schemas.microsoft.com/office/drawing/2014/main" id="{001F6B9C-FF42-43BB-7537-97D6192F3DD1}"/>
              </a:ext>
            </a:extLst>
          </p:cNvPr>
          <p:cNvGrpSpPr/>
          <p:nvPr/>
        </p:nvGrpSpPr>
        <p:grpSpPr>
          <a:xfrm>
            <a:off x="2428954" y="1314131"/>
            <a:ext cx="4521908" cy="3244333"/>
            <a:chOff x="2428954" y="1314131"/>
            <a:chExt cx="4521908" cy="3244333"/>
          </a:xfrm>
        </p:grpSpPr>
        <p:grpSp>
          <p:nvGrpSpPr>
            <p:cNvPr id="34" name="组合 33">
              <a:extLst>
                <a:ext uri="{FF2B5EF4-FFF2-40B4-BE49-F238E27FC236}">
                  <a16:creationId xmlns:a16="http://schemas.microsoft.com/office/drawing/2014/main" id="{2FDA1198-F16F-0139-7F6D-E2D8FDD3C944}"/>
                </a:ext>
              </a:extLst>
            </p:cNvPr>
            <p:cNvGrpSpPr/>
            <p:nvPr/>
          </p:nvGrpSpPr>
          <p:grpSpPr>
            <a:xfrm>
              <a:off x="2428954" y="1314131"/>
              <a:ext cx="4521908" cy="3244333"/>
              <a:chOff x="2966472" y="1261360"/>
              <a:chExt cx="4521908" cy="3244333"/>
            </a:xfrm>
          </p:grpSpPr>
          <p:grpSp>
            <p:nvGrpSpPr>
              <p:cNvPr id="32" name="组合 31">
                <a:extLst>
                  <a:ext uri="{FF2B5EF4-FFF2-40B4-BE49-F238E27FC236}">
                    <a16:creationId xmlns:a16="http://schemas.microsoft.com/office/drawing/2014/main" id="{CDCF5BBD-535A-3156-2F35-8B6790F3CE86}"/>
                  </a:ext>
                </a:extLst>
              </p:cNvPr>
              <p:cNvGrpSpPr/>
              <p:nvPr/>
            </p:nvGrpSpPr>
            <p:grpSpPr>
              <a:xfrm>
                <a:off x="2966472" y="1261360"/>
                <a:ext cx="4521908" cy="2872559"/>
                <a:chOff x="2966472" y="1261360"/>
                <a:chExt cx="4521908" cy="2872559"/>
              </a:xfrm>
            </p:grpSpPr>
            <p:sp>
              <p:nvSpPr>
                <p:cNvPr id="16" name="文本框 15">
                  <a:extLst>
                    <a:ext uri="{FF2B5EF4-FFF2-40B4-BE49-F238E27FC236}">
                      <a16:creationId xmlns:a16="http://schemas.microsoft.com/office/drawing/2014/main" id="{159A60DE-4CA9-A075-90B9-114523B32AE1}"/>
                    </a:ext>
                  </a:extLst>
                </p:cNvPr>
                <p:cNvSpPr txBox="1"/>
                <p:nvPr/>
              </p:nvSpPr>
              <p:spPr>
                <a:xfrm>
                  <a:off x="6083377" y="3093952"/>
                  <a:ext cx="1405003" cy="338554"/>
                </a:xfrm>
                <a:prstGeom prst="rect">
                  <a:avLst/>
                </a:prstGeom>
                <a:noFill/>
              </p:spPr>
              <p:txBody>
                <a:bodyPr wrap="square">
                  <a:spAutoFit/>
                </a:bodyPr>
                <a:lstStyle/>
                <a:p>
                  <a:r>
                    <a:rPr lang="zh-CN" altLang="en-US" sz="1600" dirty="0"/>
                    <a:t>Lookup(K19)</a:t>
                  </a:r>
                </a:p>
              </p:txBody>
            </p:sp>
            <p:pic>
              <p:nvPicPr>
                <p:cNvPr id="20" name="图片 19">
                  <a:extLst>
                    <a:ext uri="{FF2B5EF4-FFF2-40B4-BE49-F238E27FC236}">
                      <a16:creationId xmlns:a16="http://schemas.microsoft.com/office/drawing/2014/main" id="{6BA403DA-9656-AF06-E59E-E8C086BC164A}"/>
                    </a:ext>
                  </a:extLst>
                </p:cNvPr>
                <p:cNvPicPr>
                  <a:picLocks noChangeAspect="1"/>
                </p:cNvPicPr>
                <p:nvPr/>
              </p:nvPicPr>
              <p:blipFill>
                <a:blip r:embed="rId2"/>
                <a:stretch>
                  <a:fillRect/>
                </a:stretch>
              </p:blipFill>
              <p:spPr>
                <a:xfrm>
                  <a:off x="3667226" y="1633134"/>
                  <a:ext cx="2579570" cy="2500785"/>
                </a:xfrm>
                <a:prstGeom prst="rect">
                  <a:avLst/>
                </a:prstGeom>
              </p:spPr>
            </p:pic>
            <p:sp>
              <p:nvSpPr>
                <p:cNvPr id="25" name="文本框 24">
                  <a:extLst>
                    <a:ext uri="{FF2B5EF4-FFF2-40B4-BE49-F238E27FC236}">
                      <a16:creationId xmlns:a16="http://schemas.microsoft.com/office/drawing/2014/main" id="{EA875D9C-2733-E326-49C4-F2598E2A3B0A}"/>
                    </a:ext>
                  </a:extLst>
                </p:cNvPr>
                <p:cNvSpPr txBox="1"/>
                <p:nvPr/>
              </p:nvSpPr>
              <p:spPr>
                <a:xfrm>
                  <a:off x="3121937" y="3407446"/>
                  <a:ext cx="623024" cy="307777"/>
                </a:xfrm>
                <a:prstGeom prst="rect">
                  <a:avLst/>
                </a:prstGeom>
              </p:spPr>
              <p:style>
                <a:lnRef idx="2">
                  <a:schemeClr val="dk1"/>
                </a:lnRef>
                <a:fillRef idx="1">
                  <a:schemeClr val="lt1"/>
                </a:fillRef>
                <a:effectRef idx="0">
                  <a:schemeClr val="dk1"/>
                </a:effectRef>
                <a:fontRef idx="minor">
                  <a:schemeClr val="dk1"/>
                </a:fontRef>
              </p:style>
              <p:txBody>
                <a:bodyPr wrap="square" rtlCol="0" anchor="ctr" anchorCtr="1">
                  <a:spAutoFit/>
                </a:bodyPr>
                <a:lstStyle/>
                <a:p>
                  <a:r>
                    <a:rPr lang="en-US" altLang="zh-CN" sz="1400" dirty="0">
                      <a:ea typeface="標楷體" pitchFamily="65" charset="-120"/>
                      <a:cs typeface="Calibri" pitchFamily="34" charset="0"/>
                    </a:rPr>
                    <a:t>N80</a:t>
                  </a:r>
                  <a:endParaRPr lang="zh-CN" altLang="en-US" sz="1400" dirty="0">
                    <a:ea typeface="標楷體" pitchFamily="65" charset="-120"/>
                    <a:cs typeface="Calibri" pitchFamily="34" charset="0"/>
                  </a:endParaRPr>
                </a:p>
              </p:txBody>
            </p:sp>
            <p:sp>
              <p:nvSpPr>
                <p:cNvPr id="26" name="文本框 25">
                  <a:extLst>
                    <a:ext uri="{FF2B5EF4-FFF2-40B4-BE49-F238E27FC236}">
                      <a16:creationId xmlns:a16="http://schemas.microsoft.com/office/drawing/2014/main" id="{26A61740-E447-9D3B-518E-F6B259F6AECB}"/>
                    </a:ext>
                  </a:extLst>
                </p:cNvPr>
                <p:cNvSpPr txBox="1"/>
                <p:nvPr/>
              </p:nvSpPr>
              <p:spPr>
                <a:xfrm>
                  <a:off x="2966472" y="2399265"/>
                  <a:ext cx="623024" cy="317402"/>
                </a:xfrm>
                <a:prstGeom prst="rect">
                  <a:avLst/>
                </a:prstGeom>
              </p:spPr>
              <p:style>
                <a:lnRef idx="2">
                  <a:schemeClr val="dk1"/>
                </a:lnRef>
                <a:fillRef idx="1">
                  <a:schemeClr val="lt1"/>
                </a:fillRef>
                <a:effectRef idx="0">
                  <a:schemeClr val="dk1"/>
                </a:effectRef>
                <a:fontRef idx="minor">
                  <a:schemeClr val="dk1"/>
                </a:fontRef>
              </p:style>
              <p:txBody>
                <a:bodyPr wrap="square" rtlCol="0" anchor="ctr" anchorCtr="1">
                  <a:spAutoFit/>
                </a:bodyPr>
                <a:lstStyle/>
                <a:p>
                  <a:r>
                    <a:rPr lang="en-US" altLang="zh-CN" sz="1400" dirty="0">
                      <a:ea typeface="標楷體" pitchFamily="65" charset="-120"/>
                      <a:cs typeface="Calibri" pitchFamily="34" charset="0"/>
                    </a:rPr>
                    <a:t>N99</a:t>
                  </a:r>
                  <a:endParaRPr lang="zh-CN" altLang="en-US" sz="1400" dirty="0">
                    <a:ea typeface="標楷體" pitchFamily="65" charset="-120"/>
                    <a:cs typeface="Calibri" pitchFamily="34" charset="0"/>
                  </a:endParaRPr>
                </a:p>
              </p:txBody>
            </p:sp>
            <p:sp>
              <p:nvSpPr>
                <p:cNvPr id="27" name="文本框 26">
                  <a:extLst>
                    <a:ext uri="{FF2B5EF4-FFF2-40B4-BE49-F238E27FC236}">
                      <a16:creationId xmlns:a16="http://schemas.microsoft.com/office/drawing/2014/main" id="{B6C446AA-EC1C-E6CE-DA0C-138DCBFCA849}"/>
                    </a:ext>
                  </a:extLst>
                </p:cNvPr>
                <p:cNvSpPr txBox="1"/>
                <p:nvPr/>
              </p:nvSpPr>
              <p:spPr>
                <a:xfrm>
                  <a:off x="3300947" y="1672792"/>
                  <a:ext cx="623025" cy="307777"/>
                </a:xfrm>
                <a:prstGeom prst="rect">
                  <a:avLst/>
                </a:prstGeom>
              </p:spPr>
              <p:style>
                <a:lnRef idx="2">
                  <a:schemeClr val="dk1"/>
                </a:lnRef>
                <a:fillRef idx="1">
                  <a:schemeClr val="lt1"/>
                </a:fillRef>
                <a:effectRef idx="0">
                  <a:schemeClr val="dk1"/>
                </a:effectRef>
                <a:fontRef idx="minor">
                  <a:schemeClr val="dk1"/>
                </a:fontRef>
              </p:style>
              <p:txBody>
                <a:bodyPr wrap="square" rtlCol="0" anchor="ctr" anchorCtr="1">
                  <a:spAutoFit/>
                </a:bodyPr>
                <a:lstStyle/>
                <a:p>
                  <a:r>
                    <a:rPr lang="en-US" altLang="zh-CN" sz="1400" dirty="0">
                      <a:ea typeface="標楷體" pitchFamily="65" charset="-120"/>
                      <a:cs typeface="Calibri" pitchFamily="34" charset="0"/>
                    </a:rPr>
                    <a:t>N110</a:t>
                  </a:r>
                  <a:endParaRPr lang="zh-CN" altLang="en-US" sz="1400" dirty="0">
                    <a:ea typeface="標楷體" pitchFamily="65" charset="-120"/>
                    <a:cs typeface="Calibri" pitchFamily="34" charset="0"/>
                  </a:endParaRPr>
                </a:p>
              </p:txBody>
            </p:sp>
            <p:sp>
              <p:nvSpPr>
                <p:cNvPr id="28" name="文本框 27">
                  <a:extLst>
                    <a:ext uri="{FF2B5EF4-FFF2-40B4-BE49-F238E27FC236}">
                      <a16:creationId xmlns:a16="http://schemas.microsoft.com/office/drawing/2014/main" id="{957FF2FB-7221-8AB5-C23D-B49C5E4793D7}"/>
                    </a:ext>
                  </a:extLst>
                </p:cNvPr>
                <p:cNvSpPr txBox="1"/>
                <p:nvPr/>
              </p:nvSpPr>
              <p:spPr>
                <a:xfrm>
                  <a:off x="4957011" y="1261360"/>
                  <a:ext cx="423511" cy="307777"/>
                </a:xfrm>
                <a:prstGeom prst="rect">
                  <a:avLst/>
                </a:prstGeom>
              </p:spPr>
              <p:style>
                <a:lnRef idx="2">
                  <a:schemeClr val="dk1"/>
                </a:lnRef>
                <a:fillRef idx="1">
                  <a:schemeClr val="lt1"/>
                </a:fillRef>
                <a:effectRef idx="0">
                  <a:schemeClr val="dk1"/>
                </a:effectRef>
                <a:fontRef idx="minor">
                  <a:schemeClr val="dk1"/>
                </a:fontRef>
              </p:style>
              <p:txBody>
                <a:bodyPr wrap="square" rtlCol="0" anchor="ctr" anchorCtr="1">
                  <a:spAutoFit/>
                </a:bodyPr>
                <a:lstStyle/>
                <a:p>
                  <a:r>
                    <a:rPr lang="en-US" altLang="zh-CN" sz="1400" dirty="0">
                      <a:ea typeface="標楷體" pitchFamily="65" charset="-120"/>
                      <a:cs typeface="Calibri" pitchFamily="34" charset="0"/>
                    </a:rPr>
                    <a:t>N5</a:t>
                  </a:r>
                  <a:endParaRPr lang="zh-CN" altLang="en-US" sz="1400" dirty="0">
                    <a:ea typeface="標楷體" pitchFamily="65" charset="-120"/>
                    <a:cs typeface="Calibri" pitchFamily="34" charset="0"/>
                  </a:endParaRPr>
                </a:p>
              </p:txBody>
            </p:sp>
            <p:sp>
              <p:nvSpPr>
                <p:cNvPr id="29" name="文本框 28">
                  <a:extLst>
                    <a:ext uri="{FF2B5EF4-FFF2-40B4-BE49-F238E27FC236}">
                      <a16:creationId xmlns:a16="http://schemas.microsoft.com/office/drawing/2014/main" id="{D9AD4556-DD9F-2B48-4DB1-860E8E96CAAA}"/>
                    </a:ext>
                  </a:extLst>
                </p:cNvPr>
                <p:cNvSpPr txBox="1"/>
                <p:nvPr/>
              </p:nvSpPr>
              <p:spPr>
                <a:xfrm>
                  <a:off x="5807962" y="1601635"/>
                  <a:ext cx="550831" cy="307777"/>
                </a:xfrm>
                <a:prstGeom prst="rect">
                  <a:avLst/>
                </a:prstGeom>
              </p:spPr>
              <p:style>
                <a:lnRef idx="2">
                  <a:schemeClr val="dk1"/>
                </a:lnRef>
                <a:fillRef idx="1">
                  <a:schemeClr val="lt1"/>
                </a:fillRef>
                <a:effectRef idx="0">
                  <a:schemeClr val="dk1"/>
                </a:effectRef>
                <a:fontRef idx="minor">
                  <a:schemeClr val="dk1"/>
                </a:fontRef>
              </p:style>
              <p:txBody>
                <a:bodyPr wrap="square" rtlCol="0" anchor="ctr" anchorCtr="1">
                  <a:spAutoFit/>
                </a:bodyPr>
                <a:lstStyle/>
                <a:p>
                  <a:r>
                    <a:rPr lang="en-US" altLang="zh-CN" sz="1400" dirty="0">
                      <a:ea typeface="標楷體" pitchFamily="65" charset="-120"/>
                      <a:cs typeface="Calibri" pitchFamily="34" charset="0"/>
                    </a:rPr>
                    <a:t>N10</a:t>
                  </a:r>
                  <a:endParaRPr lang="zh-CN" altLang="en-US" sz="1400" dirty="0">
                    <a:ea typeface="標楷體" pitchFamily="65" charset="-120"/>
                    <a:cs typeface="Calibri" pitchFamily="34" charset="0"/>
                  </a:endParaRPr>
                </a:p>
              </p:txBody>
            </p:sp>
            <p:sp>
              <p:nvSpPr>
                <p:cNvPr id="30" name="文本框 29">
                  <a:extLst>
                    <a:ext uri="{FF2B5EF4-FFF2-40B4-BE49-F238E27FC236}">
                      <a16:creationId xmlns:a16="http://schemas.microsoft.com/office/drawing/2014/main" id="{A5CFB56B-57DC-CE9E-17F2-2DE947AB7BF0}"/>
                    </a:ext>
                  </a:extLst>
                </p:cNvPr>
                <p:cNvSpPr txBox="1"/>
                <p:nvPr/>
              </p:nvSpPr>
              <p:spPr>
                <a:xfrm>
                  <a:off x="6095773" y="2071003"/>
                  <a:ext cx="526039" cy="307777"/>
                </a:xfrm>
                <a:prstGeom prst="rect">
                  <a:avLst/>
                </a:prstGeom>
              </p:spPr>
              <p:style>
                <a:lnRef idx="2">
                  <a:schemeClr val="dk1"/>
                </a:lnRef>
                <a:fillRef idx="1">
                  <a:schemeClr val="lt1"/>
                </a:fillRef>
                <a:effectRef idx="0">
                  <a:schemeClr val="dk1"/>
                </a:effectRef>
                <a:fontRef idx="minor">
                  <a:schemeClr val="dk1"/>
                </a:fontRef>
              </p:style>
              <p:txBody>
                <a:bodyPr wrap="square" rtlCol="0" anchor="ctr" anchorCtr="1">
                  <a:spAutoFit/>
                </a:bodyPr>
                <a:lstStyle/>
                <a:p>
                  <a:r>
                    <a:rPr lang="en-US" altLang="zh-CN" sz="1400" dirty="0">
                      <a:ea typeface="標楷體" pitchFamily="65" charset="-120"/>
                      <a:cs typeface="Calibri" pitchFamily="34" charset="0"/>
                    </a:rPr>
                    <a:t>N20</a:t>
                  </a:r>
                  <a:endParaRPr lang="zh-CN" altLang="en-US" sz="1400" dirty="0">
                    <a:ea typeface="標楷體" pitchFamily="65" charset="-120"/>
                    <a:cs typeface="Calibri" pitchFamily="34" charset="0"/>
                  </a:endParaRPr>
                </a:p>
              </p:txBody>
            </p:sp>
            <p:sp>
              <p:nvSpPr>
                <p:cNvPr id="31" name="文本框 30">
                  <a:extLst>
                    <a:ext uri="{FF2B5EF4-FFF2-40B4-BE49-F238E27FC236}">
                      <a16:creationId xmlns:a16="http://schemas.microsoft.com/office/drawing/2014/main" id="{84F8A303-E38F-CC48-E1FC-2E47CD895CB5}"/>
                    </a:ext>
                  </a:extLst>
                </p:cNvPr>
                <p:cNvSpPr txBox="1"/>
                <p:nvPr/>
              </p:nvSpPr>
              <p:spPr>
                <a:xfrm>
                  <a:off x="6261752" y="2719199"/>
                  <a:ext cx="538069" cy="315634"/>
                </a:xfrm>
                <a:prstGeom prst="rect">
                  <a:avLst/>
                </a:prstGeom>
              </p:spPr>
              <p:style>
                <a:lnRef idx="2">
                  <a:schemeClr val="dk1"/>
                </a:lnRef>
                <a:fillRef idx="1">
                  <a:schemeClr val="lt1"/>
                </a:fillRef>
                <a:effectRef idx="0">
                  <a:schemeClr val="dk1"/>
                </a:effectRef>
                <a:fontRef idx="minor">
                  <a:schemeClr val="dk1"/>
                </a:fontRef>
              </p:style>
              <p:txBody>
                <a:bodyPr wrap="square" rtlCol="0" anchor="ctr" anchorCtr="1">
                  <a:spAutoFit/>
                </a:bodyPr>
                <a:lstStyle/>
                <a:p>
                  <a:r>
                    <a:rPr lang="en-US" altLang="zh-CN" sz="1400" dirty="0">
                      <a:ea typeface="標楷體" pitchFamily="65" charset="-120"/>
                      <a:cs typeface="Calibri" pitchFamily="34" charset="0"/>
                    </a:rPr>
                    <a:t>N32</a:t>
                  </a:r>
                  <a:endParaRPr lang="zh-CN" altLang="en-US" sz="1400" dirty="0">
                    <a:ea typeface="標楷體" pitchFamily="65" charset="-120"/>
                    <a:cs typeface="Calibri" pitchFamily="34" charset="0"/>
                  </a:endParaRPr>
                </a:p>
              </p:txBody>
            </p:sp>
          </p:grpSp>
          <p:sp>
            <p:nvSpPr>
              <p:cNvPr id="33" name="文本框 32">
                <a:extLst>
                  <a:ext uri="{FF2B5EF4-FFF2-40B4-BE49-F238E27FC236}">
                    <a16:creationId xmlns:a16="http://schemas.microsoft.com/office/drawing/2014/main" id="{3E5911C4-AAEA-7B11-288A-F61A9EB7BB30}"/>
                  </a:ext>
                </a:extLst>
              </p:cNvPr>
              <p:cNvSpPr txBox="1"/>
              <p:nvPr/>
            </p:nvSpPr>
            <p:spPr>
              <a:xfrm>
                <a:off x="4857254" y="4197916"/>
                <a:ext cx="623024" cy="307777"/>
              </a:xfrm>
              <a:prstGeom prst="rect">
                <a:avLst/>
              </a:prstGeom>
            </p:spPr>
            <p:style>
              <a:lnRef idx="2">
                <a:schemeClr val="dk1"/>
              </a:lnRef>
              <a:fillRef idx="1">
                <a:schemeClr val="lt1"/>
              </a:fillRef>
              <a:effectRef idx="0">
                <a:schemeClr val="dk1"/>
              </a:effectRef>
              <a:fontRef idx="minor">
                <a:schemeClr val="dk1"/>
              </a:fontRef>
            </p:style>
            <p:txBody>
              <a:bodyPr wrap="square" rtlCol="0" anchor="ctr" anchorCtr="1">
                <a:spAutoFit/>
              </a:bodyPr>
              <a:lstStyle/>
              <a:p>
                <a:r>
                  <a:rPr lang="en-US" altLang="zh-CN" sz="1400" dirty="0">
                    <a:ea typeface="標楷體" pitchFamily="65" charset="-120"/>
                    <a:cs typeface="Calibri" pitchFamily="34" charset="0"/>
                  </a:rPr>
                  <a:t>N60</a:t>
                </a:r>
                <a:endParaRPr lang="zh-CN" altLang="en-US" sz="1400" dirty="0">
                  <a:ea typeface="標楷體" pitchFamily="65" charset="-120"/>
                  <a:cs typeface="Calibri" pitchFamily="34" charset="0"/>
                </a:endParaRPr>
              </a:p>
            </p:txBody>
          </p:sp>
        </p:grpSp>
        <p:sp>
          <p:nvSpPr>
            <p:cNvPr id="35" name="文本框 34">
              <a:extLst>
                <a:ext uri="{FF2B5EF4-FFF2-40B4-BE49-F238E27FC236}">
                  <a16:creationId xmlns:a16="http://schemas.microsoft.com/office/drawing/2014/main" id="{41A6F257-6F33-28E6-8168-A240A9C235A3}"/>
                </a:ext>
              </a:extLst>
            </p:cNvPr>
            <p:cNvSpPr txBox="1"/>
            <p:nvPr/>
          </p:nvSpPr>
          <p:spPr>
            <a:xfrm>
              <a:off x="6173251" y="2123774"/>
              <a:ext cx="580760" cy="338508"/>
            </a:xfrm>
            <a:prstGeom prst="rect">
              <a:avLst/>
            </a:prstGeom>
            <a:noFill/>
          </p:spPr>
          <p:txBody>
            <a:bodyPr wrap="square">
              <a:spAutoFit/>
            </a:bodyPr>
            <a:lstStyle/>
            <a:p>
              <a:r>
                <a:rPr lang="zh-CN" altLang="en-US" sz="1600" dirty="0">
                  <a:solidFill>
                    <a:srgbClr val="FF0000"/>
                  </a:solidFill>
                </a:rPr>
                <a:t>K19</a:t>
              </a:r>
            </a:p>
          </p:txBody>
        </p:sp>
      </p:grpSp>
    </p:spTree>
    <p:extLst>
      <p:ext uri="{BB962C8B-B14F-4D97-AF65-F5344CB8AC3E}">
        <p14:creationId xmlns:p14="http://schemas.microsoft.com/office/powerpoint/2010/main" val="25745272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113600BC-5EBE-9864-A735-3BA39C5AC0C3}"/>
              </a:ext>
            </a:extLst>
          </p:cNvPr>
          <p:cNvGrpSpPr/>
          <p:nvPr/>
        </p:nvGrpSpPr>
        <p:grpSpPr>
          <a:xfrm>
            <a:off x="3527514" y="2313700"/>
            <a:ext cx="3171669" cy="2082244"/>
            <a:chOff x="1681460" y="1709142"/>
            <a:chExt cx="3512046" cy="2448520"/>
          </a:xfrm>
        </p:grpSpPr>
        <p:pic>
          <p:nvPicPr>
            <p:cNvPr id="3" name="object 3"/>
            <p:cNvPicPr/>
            <p:nvPr/>
          </p:nvPicPr>
          <p:blipFill>
            <a:blip r:embed="rId2" cstate="print"/>
            <a:stretch>
              <a:fillRect/>
            </a:stretch>
          </p:blipFill>
          <p:spPr>
            <a:xfrm>
              <a:off x="1681460" y="1709142"/>
              <a:ext cx="3512046" cy="2448520"/>
            </a:xfrm>
            <a:prstGeom prst="rect">
              <a:avLst/>
            </a:prstGeom>
          </p:spPr>
        </p:pic>
        <p:sp>
          <p:nvSpPr>
            <p:cNvPr id="10" name="object 10"/>
            <p:cNvSpPr txBox="1"/>
            <p:nvPr/>
          </p:nvSpPr>
          <p:spPr>
            <a:xfrm>
              <a:off x="1745996" y="2706104"/>
              <a:ext cx="415290" cy="195246"/>
            </a:xfrm>
            <a:prstGeom prst="rect">
              <a:avLst/>
            </a:prstGeom>
          </p:spPr>
          <p:txBody>
            <a:bodyPr vert="horz" wrap="square" lIns="0" tIns="10478" rIns="0" bIns="0" rtlCol="0">
              <a:spAutoFit/>
            </a:bodyPr>
            <a:lstStyle/>
            <a:p>
              <a:pPr marL="9525">
                <a:spcBef>
                  <a:spcPts val="83"/>
                </a:spcBef>
              </a:pPr>
              <a:r>
                <a:rPr sz="1000" spc="45" dirty="0">
                  <a:latin typeface="Arial"/>
                  <a:cs typeface="Arial"/>
                </a:rPr>
                <a:t>Node</a:t>
              </a:r>
              <a:endParaRPr sz="1000" dirty="0">
                <a:latin typeface="Arial"/>
                <a:cs typeface="Arial"/>
              </a:endParaRPr>
            </a:p>
          </p:txBody>
        </p:sp>
      </p:grpSp>
      <p:sp>
        <p:nvSpPr>
          <p:cNvPr id="13" name="灯片编号占位符 12">
            <a:extLst>
              <a:ext uri="{FF2B5EF4-FFF2-40B4-BE49-F238E27FC236}">
                <a16:creationId xmlns:a16="http://schemas.microsoft.com/office/drawing/2014/main" id="{5C518307-74B5-3CF8-960E-0591477B3B59}"/>
              </a:ext>
            </a:extLst>
          </p:cNvPr>
          <p:cNvSpPr>
            <a:spLocks noGrp="1"/>
          </p:cNvSpPr>
          <p:nvPr>
            <p:ph type="sldNum" sz="quarter" idx="10"/>
          </p:nvPr>
        </p:nvSpPr>
        <p:spPr/>
        <p:txBody>
          <a:bodyPr/>
          <a:lstStyle/>
          <a:p>
            <a:fld id="{D9B6BDF2-6896-4B98-8776-C18582F63BA5}" type="slidenum">
              <a:rPr lang="zh-TW" altLang="en-US" smtClean="0"/>
              <a:pPr/>
              <a:t>27</a:t>
            </a:fld>
            <a:endParaRPr lang="zh-TW" altLang="en-US"/>
          </a:p>
        </p:txBody>
      </p:sp>
      <p:sp>
        <p:nvSpPr>
          <p:cNvPr id="15" name="标题 14">
            <a:extLst>
              <a:ext uri="{FF2B5EF4-FFF2-40B4-BE49-F238E27FC236}">
                <a16:creationId xmlns:a16="http://schemas.microsoft.com/office/drawing/2014/main" id="{A75A11FF-E21F-5A81-97B8-C99003B94634}"/>
              </a:ext>
            </a:extLst>
          </p:cNvPr>
          <p:cNvSpPr>
            <a:spLocks noGrp="1"/>
          </p:cNvSpPr>
          <p:nvPr>
            <p:ph type="title"/>
          </p:nvPr>
        </p:nvSpPr>
        <p:spPr>
          <a:xfrm>
            <a:off x="883653" y="82607"/>
            <a:ext cx="7888289" cy="519113"/>
          </a:xfrm>
        </p:spPr>
        <p:txBody>
          <a:bodyPr/>
          <a:lstStyle/>
          <a:p>
            <a:r>
              <a:rPr lang="en-US" altLang="zh-CN" kern="0" dirty="0"/>
              <a:t>Freenet</a:t>
            </a:r>
            <a:endParaRPr lang="zh-CN" altLang="en-US" dirty="0"/>
          </a:p>
        </p:txBody>
      </p:sp>
      <p:sp>
        <p:nvSpPr>
          <p:cNvPr id="18" name="object 3">
            <a:extLst>
              <a:ext uri="{FF2B5EF4-FFF2-40B4-BE49-F238E27FC236}">
                <a16:creationId xmlns:a16="http://schemas.microsoft.com/office/drawing/2014/main" id="{4112B2DC-3AF1-FC4D-E23E-2F8588A39E59}"/>
              </a:ext>
            </a:extLst>
          </p:cNvPr>
          <p:cNvSpPr txBox="1"/>
          <p:nvPr/>
        </p:nvSpPr>
        <p:spPr>
          <a:xfrm>
            <a:off x="991402" y="880212"/>
            <a:ext cx="7780540" cy="1358129"/>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spc="-15" dirty="0">
                <a:latin typeface="Times New Roman" panose="02020603050405020304" pitchFamily="18" charset="0"/>
                <a:cs typeface="Times New Roman" panose="02020603050405020304" pitchFamily="18" charset="0"/>
              </a:rPr>
              <a:t>The</a:t>
            </a:r>
            <a:r>
              <a:rPr lang="en-US" altLang="zh-CN" sz="2200" spc="-98"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query</a:t>
            </a:r>
            <a:r>
              <a:rPr lang="en-US" altLang="zh-CN" sz="2200" spc="-4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is</a:t>
            </a:r>
            <a:r>
              <a:rPr lang="en-US" altLang="zh-CN" sz="2200" spc="-109"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forwarded </a:t>
            </a:r>
            <a:r>
              <a:rPr lang="en-US" altLang="zh-CN" sz="2200" dirty="0">
                <a:latin typeface="Times New Roman" panose="02020603050405020304" pitchFamily="18" charset="0"/>
                <a:cs typeface="Times New Roman" panose="02020603050405020304" pitchFamily="18" charset="0"/>
              </a:rPr>
              <a:t>from</a:t>
            </a:r>
            <a:r>
              <a:rPr lang="en-US" altLang="zh-CN" sz="2200" spc="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node</a:t>
            </a:r>
            <a:r>
              <a:rPr lang="en-US" altLang="zh-CN" sz="2200" spc="-2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to</a:t>
            </a:r>
            <a:r>
              <a:rPr lang="en-US" altLang="zh-CN" sz="2200" spc="-3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node</a:t>
            </a:r>
            <a:r>
              <a:rPr lang="en-US" altLang="zh-CN" sz="2200" spc="-19"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using </a:t>
            </a:r>
            <a:r>
              <a:rPr lang="en-US" altLang="zh-CN" sz="2200" dirty="0">
                <a:latin typeface="Times New Roman" panose="02020603050405020304" pitchFamily="18" charset="0"/>
                <a:cs typeface="Times New Roman" panose="02020603050405020304" pitchFamily="18" charset="0"/>
              </a:rPr>
              <a:t>the</a:t>
            </a:r>
            <a:r>
              <a:rPr lang="en-US" altLang="zh-CN" sz="2200" spc="-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routing</a:t>
            </a:r>
            <a:r>
              <a:rPr lang="en-US" altLang="zh-CN" sz="2200" spc="-4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table,</a:t>
            </a:r>
            <a:r>
              <a:rPr lang="en-US" altLang="zh-CN" sz="2200" spc="-26"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until</a:t>
            </a:r>
            <a:r>
              <a:rPr lang="en-US" altLang="zh-CN" sz="2200" spc="-45" dirty="0">
                <a:latin typeface="Times New Roman" panose="02020603050405020304" pitchFamily="18" charset="0"/>
                <a:cs typeface="Times New Roman" panose="02020603050405020304" pitchFamily="18" charset="0"/>
              </a:rPr>
              <a:t> </a:t>
            </a:r>
            <a:r>
              <a:rPr lang="en-US" altLang="zh-CN" sz="2200" spc="-19" dirty="0">
                <a:latin typeface="Times New Roman" panose="02020603050405020304" pitchFamily="18" charset="0"/>
                <a:cs typeface="Times New Roman" panose="02020603050405020304" pitchFamily="18" charset="0"/>
              </a:rPr>
              <a:t>it </a:t>
            </a:r>
            <a:r>
              <a:rPr lang="en-US" altLang="zh-CN" sz="2200" spc="-23" dirty="0">
                <a:latin typeface="Times New Roman" panose="02020603050405020304" pitchFamily="18" charset="0"/>
                <a:cs typeface="Times New Roman" panose="02020603050405020304" pitchFamily="18" charset="0"/>
              </a:rPr>
              <a:t>reaches</a:t>
            </a:r>
            <a:r>
              <a:rPr lang="en-US" altLang="zh-CN" sz="2200" spc="-6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109"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node</a:t>
            </a:r>
            <a:r>
              <a:rPr lang="en-US" altLang="zh-CN" sz="2200" spc="-68"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which </a:t>
            </a:r>
            <a:r>
              <a:rPr lang="en-US" altLang="zh-CN" sz="2200" dirty="0">
                <a:latin typeface="Times New Roman" panose="02020603050405020304" pitchFamily="18" charset="0"/>
                <a:cs typeface="Times New Roman" panose="02020603050405020304" pitchFamily="18" charset="0"/>
              </a:rPr>
              <a:t>has</a:t>
            </a:r>
            <a:r>
              <a:rPr lang="en-US" altLang="zh-CN" sz="2200" spc="-9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101" dirty="0">
                <a:latin typeface="Times New Roman" panose="02020603050405020304" pitchFamily="18" charset="0"/>
                <a:cs typeface="Times New Roman" panose="02020603050405020304" pitchFamily="18" charset="0"/>
              </a:rPr>
              <a:t> </a:t>
            </a:r>
            <a:r>
              <a:rPr lang="en-US" altLang="zh-CN" sz="2200" spc="-26" dirty="0">
                <a:latin typeface="Times New Roman" panose="02020603050405020304" pitchFamily="18" charset="0"/>
                <a:cs typeface="Times New Roman" panose="02020603050405020304" pitchFamily="18" charset="0"/>
              </a:rPr>
              <a:t>requested</a:t>
            </a:r>
            <a:r>
              <a:rPr lang="en-US" altLang="zh-CN" sz="2200" spc="-71"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data.</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spc="-34" dirty="0">
                <a:latin typeface="Times New Roman" panose="02020603050405020304" pitchFamily="18" charset="0"/>
                <a:cs typeface="Times New Roman" panose="02020603050405020304" pitchFamily="18" charset="0"/>
              </a:rPr>
              <a:t>The</a:t>
            </a:r>
            <a:r>
              <a:rPr lang="en-US" altLang="zh-CN" sz="2200" spc="-94" dirty="0">
                <a:latin typeface="Times New Roman" panose="02020603050405020304" pitchFamily="18" charset="0"/>
                <a:cs typeface="Times New Roman" panose="02020603050405020304" pitchFamily="18" charset="0"/>
              </a:rPr>
              <a:t> </a:t>
            </a:r>
            <a:r>
              <a:rPr lang="en-US" altLang="zh-CN" sz="2200" spc="-38" dirty="0">
                <a:latin typeface="Times New Roman" panose="02020603050405020304" pitchFamily="18" charset="0"/>
                <a:cs typeface="Times New Roman" panose="02020603050405020304" pitchFamily="18" charset="0"/>
              </a:rPr>
              <a:t>replay</a:t>
            </a:r>
            <a:r>
              <a:rPr lang="en-US" altLang="zh-CN" sz="2200" spc="-4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is</a:t>
            </a:r>
            <a:r>
              <a:rPr lang="en-US" altLang="zh-CN" sz="2200" spc="-124"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passed </a:t>
            </a:r>
            <a:r>
              <a:rPr lang="en-US" altLang="zh-CN" sz="2200" dirty="0">
                <a:latin typeface="Times New Roman" panose="02020603050405020304" pitchFamily="18" charset="0"/>
                <a:cs typeface="Times New Roman" panose="02020603050405020304" pitchFamily="18" charset="0"/>
              </a:rPr>
              <a:t>back</a:t>
            </a:r>
            <a:r>
              <a:rPr lang="en-US" altLang="zh-CN" sz="2200" spc="-2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to</a:t>
            </a:r>
            <a:r>
              <a:rPr lang="en-US" altLang="zh-CN" sz="2200" spc="-4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1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original</a:t>
            </a:r>
            <a:r>
              <a:rPr lang="en-US" altLang="zh-CN" sz="2200" spc="-45" dirty="0">
                <a:latin typeface="Times New Roman" panose="02020603050405020304" pitchFamily="18" charset="0"/>
                <a:cs typeface="Times New Roman" panose="02020603050405020304" pitchFamily="18" charset="0"/>
              </a:rPr>
              <a:t> </a:t>
            </a:r>
            <a:r>
              <a:rPr lang="en-US" altLang="zh-CN" sz="2200" spc="-15" dirty="0">
                <a:latin typeface="Times New Roman" panose="02020603050405020304" pitchFamily="18" charset="0"/>
                <a:cs typeface="Times New Roman" panose="02020603050405020304" pitchFamily="18" charset="0"/>
              </a:rPr>
              <a:t>node </a:t>
            </a:r>
            <a:r>
              <a:rPr lang="en-US" altLang="zh-CN" sz="2200" dirty="0">
                <a:latin typeface="Times New Roman" panose="02020603050405020304" pitchFamily="18" charset="0"/>
                <a:cs typeface="Times New Roman" panose="02020603050405020304" pitchFamily="18" charset="0"/>
              </a:rPr>
              <a:t>following</a:t>
            </a:r>
            <a:r>
              <a:rPr lang="en-US" altLang="zh-CN" sz="2200" spc="-6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49"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reverse path.</a:t>
            </a:r>
            <a:endParaRPr lang="en-US" altLang="zh-C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5C518307-74B5-3CF8-960E-0591477B3B59}"/>
              </a:ext>
            </a:extLst>
          </p:cNvPr>
          <p:cNvSpPr>
            <a:spLocks noGrp="1"/>
          </p:cNvSpPr>
          <p:nvPr>
            <p:ph type="sldNum" sz="quarter" idx="10"/>
          </p:nvPr>
        </p:nvSpPr>
        <p:spPr/>
        <p:txBody>
          <a:bodyPr/>
          <a:lstStyle/>
          <a:p>
            <a:fld id="{D9B6BDF2-6896-4B98-8776-C18582F63BA5}" type="slidenum">
              <a:rPr lang="zh-TW" altLang="en-US" smtClean="0"/>
              <a:pPr/>
              <a:t>28</a:t>
            </a:fld>
            <a:endParaRPr lang="zh-TW" altLang="en-US"/>
          </a:p>
        </p:txBody>
      </p:sp>
      <p:sp>
        <p:nvSpPr>
          <p:cNvPr id="15" name="标题 14">
            <a:extLst>
              <a:ext uri="{FF2B5EF4-FFF2-40B4-BE49-F238E27FC236}">
                <a16:creationId xmlns:a16="http://schemas.microsoft.com/office/drawing/2014/main" id="{A75A11FF-E21F-5A81-97B8-C99003B94634}"/>
              </a:ext>
            </a:extLst>
          </p:cNvPr>
          <p:cNvSpPr>
            <a:spLocks noGrp="1"/>
          </p:cNvSpPr>
          <p:nvPr>
            <p:ph type="title"/>
          </p:nvPr>
        </p:nvSpPr>
        <p:spPr>
          <a:xfrm>
            <a:off x="904775" y="82607"/>
            <a:ext cx="7867167" cy="519113"/>
          </a:xfrm>
        </p:spPr>
        <p:txBody>
          <a:bodyPr/>
          <a:lstStyle/>
          <a:p>
            <a:r>
              <a:rPr lang="en-US" altLang="zh-CN" spc="127" dirty="0"/>
              <a:t>Pastry</a:t>
            </a:r>
            <a:endParaRPr lang="zh-CN" altLang="en-US" dirty="0"/>
          </a:p>
        </p:txBody>
      </p:sp>
      <p:sp>
        <p:nvSpPr>
          <p:cNvPr id="18" name="object 3">
            <a:extLst>
              <a:ext uri="{FF2B5EF4-FFF2-40B4-BE49-F238E27FC236}">
                <a16:creationId xmlns:a16="http://schemas.microsoft.com/office/drawing/2014/main" id="{4112B2DC-3AF1-FC4D-E23E-2F8588A39E59}"/>
              </a:ext>
            </a:extLst>
          </p:cNvPr>
          <p:cNvSpPr txBox="1"/>
          <p:nvPr/>
        </p:nvSpPr>
        <p:spPr>
          <a:xfrm>
            <a:off x="808522" y="870587"/>
            <a:ext cx="7780540" cy="3055388"/>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dirty="0">
                <a:latin typeface="Times New Roman" panose="02020603050405020304" pitchFamily="18" charset="0"/>
                <a:cs typeface="Times New Roman" panose="02020603050405020304" pitchFamily="18" charset="0"/>
              </a:rPr>
              <a:t>Completely decentralized, scalable, and self-organizing; it automatically adapts to the arrival, departure and failure of nodes.</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dirty="0">
                <a:latin typeface="Times New Roman" panose="02020603050405020304" pitchFamily="18" charset="0"/>
                <a:cs typeface="Times New Roman" panose="02020603050405020304" pitchFamily="18" charset="0"/>
              </a:rPr>
              <a:t>Seeks to minimize the distance messages travel, according to a scalar proximity metric like the number of IP routing hops.</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dirty="0">
                <a:latin typeface="Times New Roman" panose="02020603050405020304" pitchFamily="18" charset="0"/>
                <a:cs typeface="Times New Roman" panose="02020603050405020304" pitchFamily="18" charset="0"/>
              </a:rPr>
              <a:t>In a Pastry network</a:t>
            </a:r>
          </a:p>
          <a:p>
            <a:pPr marL="809625" marR="90011" lvl="1" indent="-342900">
              <a:lnSpc>
                <a:spcPct val="98200"/>
              </a:lnSpc>
              <a:spcBef>
                <a:spcPts val="143"/>
              </a:spcBef>
              <a:buClr>
                <a:srgbClr val="0000FF"/>
              </a:buClr>
              <a:buSzPct val="80000"/>
              <a:buFont typeface="Symbol" panose="05050102010706020507" pitchFamily="18" charset="2"/>
              <a:buChar char="-"/>
            </a:pPr>
            <a:r>
              <a:rPr lang="en-US" altLang="zh-CN" sz="2200" dirty="0">
                <a:latin typeface="Times New Roman" panose="02020603050405020304" pitchFamily="18" charset="0"/>
                <a:cs typeface="Times New Roman" panose="02020603050405020304" pitchFamily="18" charset="0"/>
              </a:rPr>
              <a:t>Each node has a unique id, </a:t>
            </a:r>
            <a:r>
              <a:rPr lang="en-US" altLang="zh-CN" sz="2200" dirty="0" err="1">
                <a:solidFill>
                  <a:srgbClr val="FF0000"/>
                </a:solidFill>
                <a:latin typeface="Times New Roman" panose="02020603050405020304" pitchFamily="18" charset="0"/>
                <a:cs typeface="Times New Roman" panose="02020603050405020304" pitchFamily="18" charset="0"/>
              </a:rPr>
              <a:t>nodeld</a:t>
            </a:r>
            <a:r>
              <a:rPr lang="en-US" altLang="zh-CN" sz="2200" dirty="0">
                <a:latin typeface="Times New Roman" panose="02020603050405020304" pitchFamily="18" charset="0"/>
                <a:cs typeface="Times New Roman" panose="02020603050405020304" pitchFamily="18" charset="0"/>
              </a:rPr>
              <a:t>.</a:t>
            </a:r>
          </a:p>
          <a:p>
            <a:pPr marL="809625" marR="90011" lvl="1" indent="-342900">
              <a:lnSpc>
                <a:spcPct val="98200"/>
              </a:lnSpc>
              <a:spcBef>
                <a:spcPts val="143"/>
              </a:spcBef>
              <a:buClr>
                <a:srgbClr val="0000FF"/>
              </a:buClr>
              <a:buSzPct val="80000"/>
              <a:buFont typeface="Symbol" panose="05050102010706020507" pitchFamily="18" charset="2"/>
              <a:buChar char="-"/>
            </a:pPr>
            <a:r>
              <a:rPr lang="en-US" altLang="zh-CN" sz="2200" dirty="0">
                <a:latin typeface="Times New Roman" panose="02020603050405020304" pitchFamily="18" charset="0"/>
                <a:cs typeface="Times New Roman" panose="02020603050405020304" pitchFamily="18" charset="0"/>
              </a:rPr>
              <a:t>Presented with a message &amp; a key, Pastry node efficiently routes the message to the node with a </a:t>
            </a:r>
            <a:r>
              <a:rPr lang="en-US" altLang="zh-CN" sz="2200" dirty="0" err="1">
                <a:solidFill>
                  <a:srgbClr val="FF0000"/>
                </a:solidFill>
                <a:latin typeface="Times New Roman" panose="02020603050405020304" pitchFamily="18" charset="0"/>
                <a:cs typeface="Times New Roman" panose="02020603050405020304" pitchFamily="18" charset="0"/>
              </a:rPr>
              <a:t>nodeld</a:t>
            </a:r>
            <a:r>
              <a:rPr lang="en-US" altLang="zh-CN" sz="2200" dirty="0">
                <a:latin typeface="Times New Roman" panose="02020603050405020304" pitchFamily="18" charset="0"/>
                <a:cs typeface="Times New Roman" panose="02020603050405020304" pitchFamily="18" charset="0"/>
              </a:rPr>
              <a:t> that is numerically closest to the key.</a:t>
            </a:r>
          </a:p>
        </p:txBody>
      </p:sp>
    </p:spTree>
    <p:extLst>
      <p:ext uri="{BB962C8B-B14F-4D97-AF65-F5344CB8AC3E}">
        <p14:creationId xmlns:p14="http://schemas.microsoft.com/office/powerpoint/2010/main" val="19018177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62526" y="145694"/>
            <a:ext cx="7661710" cy="452977"/>
          </a:xfrm>
          <a:prstGeom prst="rect">
            <a:avLst/>
          </a:prstGeom>
        </p:spPr>
        <p:txBody>
          <a:bodyPr vert="horz" wrap="square" lIns="0" tIns="55721" rIns="0" bIns="0" numCol="1" rtlCol="0" anchor="ctr" anchorCtr="0" compatLnSpc="1">
            <a:prstTxWarp prst="textNoShape">
              <a:avLst/>
            </a:prstTxWarp>
            <a:spAutoFit/>
          </a:bodyPr>
          <a:lstStyle/>
          <a:p>
            <a:pPr marL="18574" marR="3810" indent="1429">
              <a:lnSpc>
                <a:spcPts val="2978"/>
              </a:lnSpc>
              <a:spcBef>
                <a:spcPts val="439"/>
              </a:spcBef>
            </a:pPr>
            <a:r>
              <a:rPr dirty="0"/>
              <a:t>CAN (Content Addressable Network)</a:t>
            </a:r>
          </a:p>
        </p:txBody>
      </p:sp>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29</a:t>
            </a:fld>
            <a:endParaRPr lang="zh-TW" altLang="en-US"/>
          </a:p>
        </p:txBody>
      </p:sp>
      <p:sp>
        <p:nvSpPr>
          <p:cNvPr id="4" name="object 3">
            <a:extLst>
              <a:ext uri="{FF2B5EF4-FFF2-40B4-BE49-F238E27FC236}">
                <a16:creationId xmlns:a16="http://schemas.microsoft.com/office/drawing/2014/main" id="{73441FDB-CA3F-10AC-1787-E46E7ED35B3A}"/>
              </a:ext>
            </a:extLst>
          </p:cNvPr>
          <p:cNvSpPr txBox="1"/>
          <p:nvPr/>
        </p:nvSpPr>
        <p:spPr>
          <a:xfrm>
            <a:off x="962527" y="871765"/>
            <a:ext cx="7276698" cy="2796984"/>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The</a:t>
            </a:r>
            <a:r>
              <a:rPr lang="en-US" altLang="zh-CN" sz="2000" spc="15"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network</a:t>
            </a:r>
            <a:r>
              <a:rPr lang="en-US" altLang="zh-CN" sz="2000" spc="75"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is</a:t>
            </a:r>
            <a:r>
              <a:rPr lang="en-US" altLang="zh-CN" sz="2000" spc="-15"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c</a:t>
            </a:r>
            <a:r>
              <a:rPr lang="en-US" altLang="zh-CN" sz="2000" baseline="2057" dirty="0">
                <a:latin typeface="Times New Roman" panose="02020603050405020304" pitchFamily="18" charset="0"/>
                <a:cs typeface="Times New Roman" panose="02020603050405020304" pitchFamily="18" charset="0"/>
              </a:rPr>
              <a:t>r</a:t>
            </a:r>
            <a:r>
              <a:rPr lang="en-US" altLang="zh-CN" sz="2000" dirty="0">
                <a:latin typeface="Times New Roman" panose="02020603050405020304" pitchFamily="18" charset="0"/>
                <a:cs typeface="Times New Roman" panose="02020603050405020304" pitchFamily="18" charset="0"/>
              </a:rPr>
              <a:t>eated</a:t>
            </a:r>
            <a:r>
              <a:rPr lang="en-US" altLang="zh-CN" sz="2000" spc="-7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in</a:t>
            </a:r>
            <a:r>
              <a:rPr lang="en-US" altLang="zh-CN" sz="2000" spc="-1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a:t>
            </a:r>
            <a:r>
              <a:rPr lang="en-US" altLang="zh-CN" sz="2000" spc="-94" dirty="0">
                <a:latin typeface="Times New Roman" panose="02020603050405020304" pitchFamily="18" charset="0"/>
                <a:cs typeface="Times New Roman" panose="02020603050405020304" pitchFamily="18" charset="0"/>
              </a:rPr>
              <a:t> </a:t>
            </a:r>
            <a:r>
              <a:rPr lang="en-US" altLang="zh-CN" sz="2000" spc="-26" dirty="0">
                <a:latin typeface="Times New Roman" panose="02020603050405020304" pitchFamily="18" charset="0"/>
                <a:cs typeface="Times New Roman" panose="02020603050405020304" pitchFamily="18" charset="0"/>
              </a:rPr>
              <a:t>tree-</a:t>
            </a:r>
            <a:r>
              <a:rPr lang="en-US" altLang="zh-CN" sz="2000" dirty="0">
                <a:latin typeface="Times New Roman" panose="02020603050405020304" pitchFamily="18" charset="0"/>
                <a:cs typeface="Times New Roman" panose="02020603050405020304" pitchFamily="18" charset="0"/>
              </a:rPr>
              <a:t>like</a:t>
            </a:r>
            <a:r>
              <a:rPr lang="en-US" altLang="zh-CN" sz="2000" spc="86"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form </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Each</a:t>
            </a:r>
            <a:r>
              <a:rPr lang="en-US" altLang="zh-CN" sz="2000" spc="-7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node</a:t>
            </a:r>
            <a:r>
              <a:rPr lang="en-US" altLang="zh-CN" sz="2000" spc="-64"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is</a:t>
            </a:r>
            <a:r>
              <a:rPr lang="en-US" altLang="zh-CN" sz="2000" spc="-83" dirty="0">
                <a:latin typeface="Times New Roman" panose="02020603050405020304" pitchFamily="18" charset="0"/>
                <a:cs typeface="Times New Roman" panose="02020603050405020304" pitchFamily="18" charset="0"/>
              </a:rPr>
              <a:t> </a:t>
            </a:r>
            <a:r>
              <a:rPr lang="en-US" altLang="zh-CN" sz="2000" spc="-23" dirty="0">
                <a:latin typeface="Times New Roman" panose="02020603050405020304" pitchFamily="18" charset="0"/>
                <a:cs typeface="Times New Roman" panose="02020603050405020304" pitchFamily="18" charset="0"/>
              </a:rPr>
              <a:t>associated</a:t>
            </a:r>
            <a:r>
              <a:rPr lang="en-US" altLang="zh-CN" sz="2000" dirty="0">
                <a:latin typeface="Times New Roman" panose="02020603050405020304" pitchFamily="18" charset="0"/>
                <a:cs typeface="Times New Roman" panose="02020603050405020304" pitchFamily="18" charset="0"/>
              </a:rPr>
              <a:t> to</a:t>
            </a:r>
            <a:r>
              <a:rPr lang="en-US" altLang="zh-CN" sz="2000" spc="-10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one</a:t>
            </a:r>
            <a:r>
              <a:rPr lang="en-US" altLang="zh-CN" sz="2000" spc="-68"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in</a:t>
            </a:r>
            <a:r>
              <a:rPr lang="en-US" altLang="zh-CN" sz="2000" spc="-98"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the</a:t>
            </a:r>
            <a:r>
              <a:rPr lang="en-US" altLang="zh-CN" sz="2000" spc="-86"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upper</a:t>
            </a:r>
            <a:r>
              <a:rPr lang="en-US" altLang="zh-CN" sz="2000" dirty="0">
                <a:latin typeface="Times New Roman" panose="02020603050405020304" pitchFamily="18" charset="0"/>
                <a:cs typeface="Times New Roman" panose="02020603050405020304" pitchFamily="18" charset="0"/>
              </a:rPr>
              <a:t> </a:t>
            </a:r>
            <a:r>
              <a:rPr lang="en-US" altLang="zh-CN" sz="2000" spc="-26" dirty="0">
                <a:latin typeface="Times New Roman" panose="02020603050405020304" pitchFamily="18" charset="0"/>
                <a:cs typeface="Times New Roman" panose="02020603050405020304" pitchFamily="18" charset="0"/>
              </a:rPr>
              <a:t>level</a:t>
            </a:r>
            <a:r>
              <a:rPr lang="en-US" altLang="zh-CN" sz="2000" spc="-120" dirty="0">
                <a:latin typeface="Times New Roman" panose="02020603050405020304" pitchFamily="18" charset="0"/>
                <a:cs typeface="Times New Roman" panose="02020603050405020304" pitchFamily="18" charset="0"/>
              </a:rPr>
              <a:t> </a:t>
            </a:r>
            <a:r>
              <a:rPr lang="en-US" altLang="zh-CN" sz="2000" spc="-23" dirty="0">
                <a:latin typeface="Times New Roman" panose="02020603050405020304" pitchFamily="18" charset="0"/>
                <a:cs typeface="Times New Roman" panose="02020603050405020304" pitchFamily="18" charset="0"/>
              </a:rPr>
              <a:t>an</a:t>
            </a:r>
            <a:r>
              <a:rPr lang="en-US" altLang="zh-CN" sz="2000" spc="-124"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to</a:t>
            </a:r>
            <a:r>
              <a:rPr lang="en-US" altLang="zh-CN" sz="2000" spc="-12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a:t>
            </a:r>
            <a:r>
              <a:rPr lang="en-US" altLang="zh-CN" sz="2000" spc="-146" dirty="0">
                <a:latin typeface="Times New Roman" panose="02020603050405020304" pitchFamily="18" charset="0"/>
                <a:cs typeface="Times New Roman" panose="02020603050405020304" pitchFamily="18" charset="0"/>
              </a:rPr>
              <a:t> </a:t>
            </a:r>
            <a:r>
              <a:rPr lang="en-US" altLang="zh-CN" sz="2000" spc="-34" dirty="0">
                <a:latin typeface="Times New Roman" panose="02020603050405020304" pitchFamily="18" charset="0"/>
                <a:cs typeface="Times New Roman" panose="02020603050405020304" pitchFamily="18" charset="0"/>
              </a:rPr>
              <a:t>group</a:t>
            </a:r>
            <a:r>
              <a:rPr lang="en-US" altLang="zh-CN" sz="2000" spc="-86"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in</a:t>
            </a:r>
            <a:r>
              <a:rPr lang="en-US" altLang="zh-CN" sz="2000" spc="-143"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the</a:t>
            </a:r>
            <a:r>
              <a:rPr lang="en-US" altLang="zh-CN" sz="2000" spc="-124" dirty="0">
                <a:latin typeface="Times New Roman" panose="02020603050405020304" pitchFamily="18" charset="0"/>
                <a:cs typeface="Times New Roman" panose="02020603050405020304" pitchFamily="18" charset="0"/>
              </a:rPr>
              <a:t> </a:t>
            </a:r>
            <a:r>
              <a:rPr lang="en-US" altLang="zh-CN" sz="2000" spc="-34" dirty="0">
                <a:latin typeface="Times New Roman" panose="02020603050405020304" pitchFamily="18" charset="0"/>
                <a:cs typeface="Times New Roman" panose="02020603050405020304" pitchFamily="18" charset="0"/>
              </a:rPr>
              <a:t>lower</a:t>
            </a:r>
            <a:r>
              <a:rPr lang="en-US" altLang="zh-CN" sz="2000" spc="-19"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level.</a:t>
            </a:r>
            <a:r>
              <a:rPr lang="en-US" altLang="zh-CN" sz="2000" dirty="0">
                <a:latin typeface="Times New Roman" panose="02020603050405020304" pitchFamily="18" charset="0"/>
                <a:cs typeface="Times New Roman" panose="02020603050405020304" pitchFamily="18" charset="0"/>
              </a:rPr>
              <a:t> </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The</a:t>
            </a:r>
            <a:r>
              <a:rPr lang="en-US" altLang="zh-CN" sz="2000" spc="15"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network</a:t>
            </a:r>
            <a:r>
              <a:rPr lang="en-US" altLang="zh-CN" sz="2000" spc="75"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is</a:t>
            </a:r>
            <a:r>
              <a:rPr lang="en-US" altLang="zh-CN" sz="2000" spc="-15" dirty="0">
                <a:latin typeface="Times New Roman" panose="02020603050405020304" pitchFamily="18" charset="0"/>
                <a:cs typeface="Times New Roman" panose="02020603050405020304" pitchFamily="18" charset="0"/>
              </a:rPr>
              <a:t> create</a:t>
            </a:r>
            <a:r>
              <a:rPr lang="en-US" altLang="zh-CN" sz="2000" spc="-7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in</a:t>
            </a:r>
            <a:r>
              <a:rPr lang="en-US" altLang="zh-CN" sz="2000" spc="-1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a:t>
            </a:r>
            <a:r>
              <a:rPr lang="en-US" altLang="zh-CN" sz="2000" spc="-94" dirty="0">
                <a:latin typeface="Times New Roman" panose="02020603050405020304" pitchFamily="18" charset="0"/>
                <a:cs typeface="Times New Roman" panose="02020603050405020304" pitchFamily="18" charset="0"/>
              </a:rPr>
              <a:t> </a:t>
            </a:r>
            <a:r>
              <a:rPr lang="en-US" altLang="zh-CN" sz="2000" spc="-26" dirty="0">
                <a:latin typeface="Times New Roman" panose="02020603050405020304" pitchFamily="18" charset="0"/>
                <a:cs typeface="Times New Roman" panose="02020603050405020304" pitchFamily="18" charset="0"/>
              </a:rPr>
              <a:t>tree-</a:t>
            </a:r>
            <a:r>
              <a:rPr lang="en-US" altLang="zh-CN" sz="2000" dirty="0">
                <a:latin typeface="Times New Roman" panose="02020603050405020304" pitchFamily="18" charset="0"/>
                <a:cs typeface="Times New Roman" panose="02020603050405020304" pitchFamily="18" charset="0"/>
              </a:rPr>
              <a:t>like</a:t>
            </a:r>
            <a:r>
              <a:rPr lang="en-US" altLang="zh-CN" sz="2000" spc="86"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form.</a:t>
            </a:r>
            <a:endParaRPr lang="en-US" altLang="zh-CN" sz="2000" dirty="0">
              <a:latin typeface="Times New Roman" panose="02020603050405020304" pitchFamily="18" charset="0"/>
              <a:cs typeface="Times New Roman" panose="02020603050405020304" pitchFamily="18" charset="0"/>
            </a:endParaRP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000" dirty="0">
                <a:latin typeface="Times New Roman" panose="02020603050405020304" pitchFamily="18" charset="0"/>
                <a:cs typeface="Times New Roman" panose="02020603050405020304" pitchFamily="18" charset="0"/>
              </a:rPr>
              <a:t>Each</a:t>
            </a:r>
            <a:r>
              <a:rPr lang="en-US" altLang="zh-CN" sz="2000" spc="-7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node</a:t>
            </a:r>
            <a:r>
              <a:rPr lang="en-US" altLang="zh-CN" sz="2000" spc="-64"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is</a:t>
            </a:r>
            <a:r>
              <a:rPr lang="en-US" altLang="zh-CN" sz="2000" spc="-83" dirty="0">
                <a:latin typeface="Times New Roman" panose="02020603050405020304" pitchFamily="18" charset="0"/>
                <a:cs typeface="Times New Roman" panose="02020603050405020304" pitchFamily="18" charset="0"/>
              </a:rPr>
              <a:t> </a:t>
            </a:r>
            <a:r>
              <a:rPr lang="en-US" altLang="zh-CN" sz="2000" spc="-23" dirty="0">
                <a:latin typeface="Times New Roman" panose="02020603050405020304" pitchFamily="18" charset="0"/>
                <a:cs typeface="Times New Roman" panose="02020603050405020304" pitchFamily="18" charset="0"/>
              </a:rPr>
              <a:t>associated</a:t>
            </a:r>
            <a:r>
              <a:rPr lang="en-US" altLang="zh-CN" sz="2000" dirty="0">
                <a:latin typeface="Times New Roman" panose="02020603050405020304" pitchFamily="18" charset="0"/>
                <a:cs typeface="Times New Roman" panose="02020603050405020304" pitchFamily="18" charset="0"/>
              </a:rPr>
              <a:t> to</a:t>
            </a:r>
            <a:r>
              <a:rPr lang="en-US" altLang="zh-CN" sz="2000" spc="-10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one</a:t>
            </a:r>
            <a:r>
              <a:rPr lang="en-US" altLang="zh-CN" sz="2000" spc="-68"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in</a:t>
            </a:r>
            <a:r>
              <a:rPr lang="en-US" altLang="zh-CN" sz="2000" spc="-98"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the</a:t>
            </a:r>
            <a:r>
              <a:rPr lang="en-US" altLang="zh-CN" sz="2000" spc="-86"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upper</a:t>
            </a:r>
            <a:r>
              <a:rPr lang="en-US" altLang="zh-CN" sz="2000" dirty="0">
                <a:latin typeface="Times New Roman" panose="02020603050405020304" pitchFamily="18" charset="0"/>
                <a:cs typeface="Times New Roman" panose="02020603050405020304" pitchFamily="18" charset="0"/>
              </a:rPr>
              <a:t> </a:t>
            </a:r>
            <a:r>
              <a:rPr lang="en-US" altLang="zh-CN" sz="2000" spc="-26" dirty="0">
                <a:latin typeface="Times New Roman" panose="02020603050405020304" pitchFamily="18" charset="0"/>
                <a:cs typeface="Times New Roman" panose="02020603050405020304" pitchFamily="18" charset="0"/>
              </a:rPr>
              <a:t>level</a:t>
            </a:r>
            <a:r>
              <a:rPr lang="en-US" altLang="zh-CN" sz="2000" spc="-120" dirty="0">
                <a:latin typeface="Times New Roman" panose="02020603050405020304" pitchFamily="18" charset="0"/>
                <a:cs typeface="Times New Roman" panose="02020603050405020304" pitchFamily="18" charset="0"/>
              </a:rPr>
              <a:t> </a:t>
            </a:r>
            <a:r>
              <a:rPr lang="en-US" altLang="zh-CN" sz="2000" spc="-23" dirty="0">
                <a:latin typeface="Times New Roman" panose="02020603050405020304" pitchFamily="18" charset="0"/>
                <a:cs typeface="Times New Roman" panose="02020603050405020304" pitchFamily="18" charset="0"/>
              </a:rPr>
              <a:t>an</a:t>
            </a:r>
            <a:r>
              <a:rPr lang="en-US" altLang="zh-CN" sz="2000" spc="-124"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to</a:t>
            </a:r>
            <a:r>
              <a:rPr lang="en-US" altLang="zh-CN" sz="2000" spc="-12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a:t>
            </a:r>
            <a:r>
              <a:rPr lang="en-US" altLang="zh-CN" sz="2000" spc="-146" dirty="0">
                <a:latin typeface="Times New Roman" panose="02020603050405020304" pitchFamily="18" charset="0"/>
                <a:cs typeface="Times New Roman" panose="02020603050405020304" pitchFamily="18" charset="0"/>
              </a:rPr>
              <a:t> </a:t>
            </a:r>
            <a:r>
              <a:rPr lang="en-US" altLang="zh-CN" sz="2000" spc="-34" dirty="0">
                <a:latin typeface="Times New Roman" panose="02020603050405020304" pitchFamily="18" charset="0"/>
                <a:cs typeface="Times New Roman" panose="02020603050405020304" pitchFamily="18" charset="0"/>
              </a:rPr>
              <a:t>group</a:t>
            </a:r>
            <a:r>
              <a:rPr lang="en-US" altLang="zh-CN" sz="2000" spc="-86"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in</a:t>
            </a:r>
            <a:r>
              <a:rPr lang="en-US" altLang="zh-CN" sz="2000" spc="-143"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the</a:t>
            </a:r>
            <a:r>
              <a:rPr lang="en-US" altLang="zh-CN" sz="2000" spc="-124" dirty="0">
                <a:latin typeface="Times New Roman" panose="02020603050405020304" pitchFamily="18" charset="0"/>
                <a:cs typeface="Times New Roman" panose="02020603050405020304" pitchFamily="18" charset="0"/>
              </a:rPr>
              <a:t> </a:t>
            </a:r>
            <a:r>
              <a:rPr lang="en-US" altLang="zh-CN" sz="2000" spc="-34" dirty="0">
                <a:latin typeface="Times New Roman" panose="02020603050405020304" pitchFamily="18" charset="0"/>
                <a:cs typeface="Times New Roman" panose="02020603050405020304" pitchFamily="18" charset="0"/>
              </a:rPr>
              <a:t>lower</a:t>
            </a:r>
            <a:r>
              <a:rPr lang="en-US" altLang="zh-CN" sz="2000" spc="-19"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level</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000" spc="-127" dirty="0">
                <a:latin typeface="Times New Roman" panose="02020603050405020304" pitchFamily="18" charset="0"/>
                <a:cs typeface="Times New Roman" panose="02020603050405020304" pitchFamily="18" charset="0"/>
              </a:rPr>
              <a:t>A</a:t>
            </a:r>
            <a:r>
              <a:rPr lang="en-US" altLang="zh-CN" sz="2000" spc="-7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query</a:t>
            </a:r>
            <a:r>
              <a:rPr lang="en-US" altLang="zh-CN" sz="2000" spc="-6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travels</a:t>
            </a:r>
            <a:r>
              <a:rPr lang="en-US" altLang="zh-CN" sz="2000" spc="1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from</a:t>
            </a:r>
            <a:r>
              <a:rPr lang="en-US" altLang="zh-CN" sz="2000" spc="-4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the</a:t>
            </a:r>
            <a:r>
              <a:rPr lang="en-US" altLang="zh-CN" sz="2000" spc="-49"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uppermost</a:t>
            </a:r>
            <a:r>
              <a:rPr lang="en-US" altLang="zh-CN" sz="2000" spc="135"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level</a:t>
            </a:r>
            <a:r>
              <a:rPr lang="en-US" altLang="zh-CN" sz="2000" spc="-30" dirty="0">
                <a:latin typeface="Times New Roman" panose="02020603050405020304" pitchFamily="18" charset="0"/>
                <a:cs typeface="Times New Roman" panose="02020603050405020304" pitchFamily="18" charset="0"/>
              </a:rPr>
              <a:t> </a:t>
            </a:r>
            <a:r>
              <a:rPr lang="en-US" altLang="zh-CN" sz="2000" spc="-15" dirty="0">
                <a:latin typeface="Times New Roman" panose="02020603050405020304" pitchFamily="18" charset="0"/>
                <a:cs typeface="Times New Roman" panose="02020603050405020304" pitchFamily="18" charset="0"/>
              </a:rPr>
              <a:t>down </a:t>
            </a:r>
            <a:r>
              <a:rPr lang="en-US" altLang="zh-CN" sz="2000" spc="-45" dirty="0">
                <a:latin typeface="Times New Roman" panose="02020603050405020304" pitchFamily="18" charset="0"/>
                <a:cs typeface="Times New Roman" panose="02020603050405020304" pitchFamily="18" charset="0"/>
              </a:rPr>
              <a:t>through</a:t>
            </a:r>
            <a:r>
              <a:rPr lang="en-US" altLang="zh-CN" sz="2000" spc="-68" dirty="0">
                <a:latin typeface="Times New Roman" panose="02020603050405020304" pitchFamily="18" charset="0"/>
                <a:cs typeface="Times New Roman" panose="02020603050405020304" pitchFamily="18" charset="0"/>
              </a:rPr>
              <a:t> </a:t>
            </a:r>
            <a:r>
              <a:rPr lang="en-US" altLang="zh-CN" sz="2000" spc="-15" dirty="0">
                <a:latin typeface="Times New Roman" panose="02020603050405020304" pitchFamily="18" charset="0"/>
                <a:cs typeface="Times New Roman" panose="02020603050405020304" pitchFamily="18" charset="0"/>
              </a:rPr>
              <a:t>the </a:t>
            </a:r>
            <a:r>
              <a:rPr lang="en-US" altLang="zh-CN" sz="2000" spc="-38" dirty="0">
                <a:latin typeface="Times New Roman" panose="02020603050405020304" pitchFamily="18" charset="0"/>
                <a:cs typeface="Times New Roman" panose="02020603050405020304" pitchFamily="18" charset="0"/>
              </a:rPr>
              <a:t>network</a:t>
            </a:r>
            <a:r>
              <a:rPr lang="en-US" altLang="zh-CN" sz="2000" spc="-64" dirty="0">
                <a:latin typeface="Times New Roman" panose="02020603050405020304" pitchFamily="18" charset="0"/>
                <a:cs typeface="Times New Roman" panose="02020603050405020304" pitchFamily="18" charset="0"/>
              </a:rPr>
              <a:t> </a:t>
            </a:r>
            <a:r>
              <a:rPr lang="en-US" altLang="zh-CN" sz="2000" spc="-15" dirty="0">
                <a:latin typeface="Times New Roman" panose="02020603050405020304" pitchFamily="18" charset="0"/>
                <a:cs typeface="Times New Roman" panose="02020603050405020304" pitchFamily="18" charset="0"/>
              </a:rPr>
              <a:t>until</a:t>
            </a:r>
            <a:r>
              <a:rPr lang="en-US" altLang="zh-CN" sz="2000" spc="-9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a:t>
            </a:r>
            <a:r>
              <a:rPr lang="en-US" altLang="zh-CN" sz="2000" spc="-146" dirty="0">
                <a:latin typeface="Times New Roman" panose="02020603050405020304" pitchFamily="18" charset="0"/>
                <a:cs typeface="Times New Roman" panose="02020603050405020304" pitchFamily="18" charset="0"/>
              </a:rPr>
              <a:t> </a:t>
            </a:r>
            <a:r>
              <a:rPr lang="en-US" altLang="zh-CN" sz="2000" spc="-49" dirty="0">
                <a:latin typeface="Times New Roman" panose="02020603050405020304" pitchFamily="18" charset="0"/>
                <a:cs typeface="Times New Roman" panose="02020603050405020304" pitchFamily="18" charset="0"/>
              </a:rPr>
              <a:t>match</a:t>
            </a:r>
            <a:r>
              <a:rPr lang="en-US" altLang="zh-CN" sz="2000" spc="-6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is</a:t>
            </a:r>
            <a:r>
              <a:rPr lang="en-US" altLang="zh-CN" sz="2000" spc="-105" dirty="0">
                <a:latin typeface="Times New Roman" panose="02020603050405020304" pitchFamily="18" charset="0"/>
                <a:cs typeface="Times New Roman" panose="02020603050405020304" pitchFamily="18" charset="0"/>
              </a:rPr>
              <a:t> </a:t>
            </a:r>
            <a:r>
              <a:rPr lang="en-US" altLang="zh-CN" sz="2000" spc="-41" dirty="0">
                <a:latin typeface="Times New Roman" panose="02020603050405020304" pitchFamily="18" charset="0"/>
                <a:cs typeface="Times New Roman" panose="02020603050405020304" pitchFamily="18" charset="0"/>
              </a:rPr>
              <a:t>found</a:t>
            </a:r>
            <a:r>
              <a:rPr lang="en-US" altLang="zh-CN" sz="2000" spc="-98" dirty="0">
                <a:latin typeface="Times New Roman" panose="02020603050405020304" pitchFamily="18" charset="0"/>
                <a:cs typeface="Times New Roman" panose="02020603050405020304" pitchFamily="18" charset="0"/>
              </a:rPr>
              <a:t> </a:t>
            </a:r>
            <a:r>
              <a:rPr lang="en-US" altLang="zh-CN" sz="2000" spc="-19" dirty="0">
                <a:latin typeface="Times New Roman" panose="02020603050405020304" pitchFamily="18" charset="0"/>
                <a:cs typeface="Times New Roman" panose="02020603050405020304" pitchFamily="18" charset="0"/>
              </a:rPr>
              <a:t>or </a:t>
            </a:r>
            <a:r>
              <a:rPr lang="en-US" altLang="zh-CN" sz="2000" dirty="0">
                <a:latin typeface="Times New Roman" panose="02020603050405020304" pitchFamily="18" charset="0"/>
                <a:cs typeface="Times New Roman" panose="02020603050405020304" pitchFamily="18" charset="0"/>
              </a:rPr>
              <a:t>until</a:t>
            </a:r>
            <a:r>
              <a:rPr lang="en-US" altLang="zh-CN" sz="2000" spc="-45"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it</a:t>
            </a:r>
            <a:r>
              <a:rPr lang="en-US" altLang="zh-CN" sz="2000" spc="-6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reaches the </a:t>
            </a:r>
            <a:r>
              <a:rPr lang="en-US" altLang="zh-CN" sz="2000" spc="-8" dirty="0">
                <a:latin typeface="Times New Roman" panose="02020603050405020304" pitchFamily="18" charset="0"/>
                <a:cs typeface="Times New Roman" panose="02020603050405020304" pitchFamily="18" charset="0"/>
              </a:rPr>
              <a:t>lowermost</a:t>
            </a:r>
            <a:r>
              <a:rPr lang="en-US" altLang="zh-CN" sz="2000" spc="105"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level.</a:t>
            </a:r>
            <a:endParaRPr lang="en-US" altLang="zh-CN" sz="2000" dirty="0">
              <a:latin typeface="Times New Roman" panose="02020603050405020304" pitchFamily="18" charset="0"/>
              <a:cs typeface="Times New Roman" panose="02020603050405020304" pitchFamily="18" charset="0"/>
            </a:endParaRP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000" spc="-30" dirty="0">
                <a:latin typeface="Times New Roman" panose="02020603050405020304" pitchFamily="18" charset="0"/>
                <a:cs typeface="Times New Roman" panose="02020603050405020304" pitchFamily="18" charset="0"/>
              </a:rPr>
              <a:t>For</a:t>
            </a:r>
            <a:r>
              <a:rPr lang="en-US" altLang="zh-CN" sz="2000" spc="-98"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its</a:t>
            </a:r>
            <a:r>
              <a:rPr lang="en-US" altLang="zh-CN" sz="2000" spc="-131" dirty="0">
                <a:latin typeface="Times New Roman" panose="02020603050405020304" pitchFamily="18" charset="0"/>
                <a:cs typeface="Times New Roman" panose="02020603050405020304" pitchFamily="18" charset="0"/>
              </a:rPr>
              <a:t> </a:t>
            </a:r>
            <a:r>
              <a:rPr lang="en-US" altLang="zh-CN" sz="2000" spc="-30" dirty="0">
                <a:latin typeface="Times New Roman" panose="02020603050405020304" pitchFamily="18" charset="0"/>
                <a:cs typeface="Times New Roman" panose="02020603050405020304" pitchFamily="18" charset="0"/>
              </a:rPr>
              <a:t>query</a:t>
            </a:r>
            <a:r>
              <a:rPr lang="en-US" altLang="zh-CN" sz="2000" spc="-64" dirty="0">
                <a:latin typeface="Times New Roman" panose="02020603050405020304" pitchFamily="18" charset="0"/>
                <a:cs typeface="Times New Roman" panose="02020603050405020304" pitchFamily="18" charset="0"/>
              </a:rPr>
              <a:t> </a:t>
            </a:r>
            <a:r>
              <a:rPr lang="en-US" altLang="zh-CN" sz="2000" spc="-34" dirty="0">
                <a:latin typeface="Times New Roman" panose="02020603050405020304" pitchFamily="18" charset="0"/>
                <a:cs typeface="Times New Roman" panose="02020603050405020304" pitchFamily="18" charset="0"/>
              </a:rPr>
              <a:t>model,</a:t>
            </a:r>
            <a:r>
              <a:rPr lang="en-US" altLang="zh-CN" sz="2000" spc="-79" dirty="0">
                <a:latin typeface="Times New Roman" panose="02020603050405020304" pitchFamily="18" charset="0"/>
                <a:cs typeface="Times New Roman" panose="02020603050405020304" pitchFamily="18" charset="0"/>
              </a:rPr>
              <a:t> </a:t>
            </a:r>
            <a:r>
              <a:rPr lang="en-US" altLang="zh-CN" sz="2000" spc="-41" dirty="0">
                <a:latin typeface="Times New Roman" panose="02020603050405020304" pitchFamily="18" charset="0"/>
                <a:cs typeface="Times New Roman" panose="02020603050405020304" pitchFamily="18" charset="0"/>
              </a:rPr>
              <a:t>scalability</a:t>
            </a:r>
            <a:r>
              <a:rPr lang="en-US" altLang="zh-CN" sz="2000" spc="-19"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is</a:t>
            </a:r>
            <a:r>
              <a:rPr lang="en-US" altLang="zh-CN" sz="2000" spc="-113" dirty="0">
                <a:latin typeface="Times New Roman" panose="02020603050405020304" pitchFamily="18" charset="0"/>
                <a:cs typeface="Times New Roman" panose="02020603050405020304" pitchFamily="18" charset="0"/>
              </a:rPr>
              <a:t> </a:t>
            </a:r>
            <a:r>
              <a:rPr lang="en-US" altLang="zh-CN" sz="2000" spc="-26" dirty="0">
                <a:latin typeface="Times New Roman" panose="02020603050405020304" pitchFamily="18" charset="0"/>
                <a:cs typeface="Times New Roman" panose="02020603050405020304" pitchFamily="18" charset="0"/>
              </a:rPr>
              <a:t>an</a:t>
            </a:r>
            <a:r>
              <a:rPr lang="en-US" altLang="zh-CN" sz="2000" spc="-120" dirty="0">
                <a:latin typeface="Times New Roman" panose="02020603050405020304" pitchFamily="18" charset="0"/>
                <a:cs typeface="Times New Roman" panose="02020603050405020304" pitchFamily="18" charset="0"/>
              </a:rPr>
              <a:t> </a:t>
            </a:r>
            <a:r>
              <a:rPr lang="en-US" altLang="zh-CN" sz="2000" spc="-8" dirty="0">
                <a:latin typeface="Times New Roman" panose="02020603050405020304" pitchFamily="18" charset="0"/>
                <a:cs typeface="Times New Roman" panose="02020603050405020304" pitchFamily="18" charset="0"/>
              </a:rPr>
              <a:t>issue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62526" y="136069"/>
            <a:ext cx="7661710" cy="452977"/>
          </a:xfrm>
          <a:prstGeom prst="rect">
            <a:avLst/>
          </a:prstGeom>
        </p:spPr>
        <p:txBody>
          <a:bodyPr vert="horz" wrap="square" lIns="0" tIns="55721" rIns="0" bIns="0" numCol="1" rtlCol="0" anchor="ctr" anchorCtr="0" compatLnSpc="1">
            <a:prstTxWarp prst="textNoShape">
              <a:avLst/>
            </a:prstTxWarp>
            <a:spAutoFit/>
          </a:bodyPr>
          <a:lstStyle/>
          <a:p>
            <a:pPr marL="18574" marR="3810" indent="1429">
              <a:lnSpc>
                <a:spcPts val="2978"/>
              </a:lnSpc>
              <a:spcBef>
                <a:spcPts val="439"/>
              </a:spcBef>
            </a:pPr>
            <a:r>
              <a:rPr lang="en-US" altLang="zh-CN" sz="3600" spc="-90" dirty="0">
                <a:solidFill>
                  <a:srgbClr val="366469"/>
                </a:solidFill>
              </a:rPr>
              <a:t>Tapestry (1)</a:t>
            </a:r>
            <a:endParaRPr dirty="0"/>
          </a:p>
        </p:txBody>
      </p:sp>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30</a:t>
            </a:fld>
            <a:endParaRPr lang="zh-TW" altLang="en-US"/>
          </a:p>
        </p:txBody>
      </p:sp>
      <p:sp>
        <p:nvSpPr>
          <p:cNvPr id="4" name="object 3">
            <a:extLst>
              <a:ext uri="{FF2B5EF4-FFF2-40B4-BE49-F238E27FC236}">
                <a16:creationId xmlns:a16="http://schemas.microsoft.com/office/drawing/2014/main" id="{73441FDB-CA3F-10AC-1787-E46E7ED35B3A}"/>
              </a:ext>
            </a:extLst>
          </p:cNvPr>
          <p:cNvSpPr txBox="1"/>
          <p:nvPr/>
        </p:nvSpPr>
        <p:spPr>
          <a:xfrm>
            <a:off x="1068404" y="871765"/>
            <a:ext cx="7305575" cy="1478931"/>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400" spc="-26" dirty="0">
                <a:latin typeface="Times New Roman" panose="02020603050405020304" pitchFamily="18" charset="0"/>
                <a:cs typeface="Times New Roman" panose="02020603050405020304" pitchFamily="18" charset="0"/>
              </a:rPr>
              <a:t>Self-</a:t>
            </a:r>
            <a:r>
              <a:rPr lang="en-US" altLang="zh-CN" sz="2400" dirty="0">
                <a:latin typeface="Times New Roman" panose="02020603050405020304" pitchFamily="18" charset="0"/>
                <a:cs typeface="Times New Roman" panose="02020603050405020304" pitchFamily="18" charset="0"/>
              </a:rPr>
              <a:t>administered,</a:t>
            </a:r>
            <a:r>
              <a:rPr lang="en-US" altLang="zh-CN" sz="2400" spc="363" dirty="0">
                <a:latin typeface="Times New Roman" panose="02020603050405020304" pitchFamily="18" charset="0"/>
                <a:cs typeface="Times New Roman" panose="02020603050405020304" pitchFamily="18" charset="0"/>
              </a:rPr>
              <a:t> </a:t>
            </a:r>
            <a:r>
              <a:rPr lang="en-US" altLang="zh-CN" sz="2400" spc="-26" dirty="0">
                <a:latin typeface="Times New Roman" panose="02020603050405020304" pitchFamily="18" charset="0"/>
                <a:cs typeface="Times New Roman" panose="02020603050405020304" pitchFamily="18" charset="0"/>
              </a:rPr>
              <a:t>self-</a:t>
            </a:r>
            <a:r>
              <a:rPr lang="en-US" altLang="zh-CN" sz="2400" spc="-15" dirty="0">
                <a:latin typeface="Times New Roman" panose="02020603050405020304" pitchFamily="18" charset="0"/>
                <a:cs typeface="Times New Roman" panose="02020603050405020304" pitchFamily="18" charset="0"/>
              </a:rPr>
              <a:t>organized,</a:t>
            </a:r>
            <a:r>
              <a:rPr lang="en-US" altLang="zh-CN" sz="2400" spc="-105" dirty="0">
                <a:latin typeface="Times New Roman" panose="02020603050405020304" pitchFamily="18" charset="0"/>
                <a:cs typeface="Times New Roman" panose="02020603050405020304" pitchFamily="18" charset="0"/>
              </a:rPr>
              <a:t> </a:t>
            </a:r>
            <a:r>
              <a:rPr lang="en-US" altLang="zh-CN" sz="2400" spc="-8" dirty="0">
                <a:latin typeface="Times New Roman" panose="02020603050405020304" pitchFamily="18" charset="0"/>
                <a:cs typeface="Times New Roman" panose="02020603050405020304" pitchFamily="18" charset="0"/>
              </a:rPr>
              <a:t>locatio</a:t>
            </a:r>
            <a:r>
              <a:rPr lang="en-US" altLang="zh-CN" sz="2400" spc="-11" baseline="2020" dirty="0">
                <a:latin typeface="Times New Roman" panose="02020603050405020304" pitchFamily="18" charset="0"/>
                <a:cs typeface="Times New Roman" panose="02020603050405020304" pitchFamily="18" charset="0"/>
              </a:rPr>
              <a:t>n </a:t>
            </a:r>
            <a:r>
              <a:rPr lang="en-US" altLang="zh-CN" sz="2400" spc="-26" dirty="0">
                <a:latin typeface="Times New Roman" panose="02020603050405020304" pitchFamily="18" charset="0"/>
                <a:cs typeface="Times New Roman" panose="02020603050405020304" pitchFamily="18" charset="0"/>
              </a:rPr>
              <a:t>independent,</a:t>
            </a:r>
            <a:r>
              <a:rPr lang="en-US" altLang="zh-CN" sz="2400" spc="53" dirty="0">
                <a:latin typeface="Times New Roman" panose="02020603050405020304" pitchFamily="18" charset="0"/>
                <a:cs typeface="Times New Roman" panose="02020603050405020304" pitchFamily="18" charset="0"/>
              </a:rPr>
              <a:t> </a:t>
            </a:r>
            <a:r>
              <a:rPr lang="en-US" altLang="zh-CN" sz="2400" spc="-15" dirty="0">
                <a:latin typeface="Times New Roman" panose="02020603050405020304" pitchFamily="18" charset="0"/>
                <a:cs typeface="Times New Roman" panose="02020603050405020304" pitchFamily="18" charset="0"/>
              </a:rPr>
              <a:t>scalable,</a:t>
            </a:r>
            <a:r>
              <a:rPr lang="en-US" altLang="zh-CN" sz="2400" spc="-19" dirty="0">
                <a:latin typeface="Times New Roman" panose="02020603050405020304" pitchFamily="18" charset="0"/>
                <a:cs typeface="Times New Roman" panose="02020603050405020304" pitchFamily="18" charset="0"/>
              </a:rPr>
              <a:t> </a:t>
            </a:r>
            <a:r>
              <a:rPr lang="en-US" altLang="zh-CN" sz="2400" spc="-26" dirty="0">
                <a:latin typeface="Times New Roman" panose="02020603050405020304" pitchFamily="18" charset="0"/>
                <a:cs typeface="Times New Roman" panose="02020603050405020304" pitchFamily="18" charset="0"/>
              </a:rPr>
              <a:t>fault-</a:t>
            </a:r>
            <a:r>
              <a:rPr lang="en-US" altLang="zh-CN" sz="2400" spc="-8" dirty="0">
                <a:latin typeface="Times New Roman" panose="02020603050405020304" pitchFamily="18" charset="0"/>
                <a:cs typeface="Times New Roman" panose="02020603050405020304" pitchFamily="18" charset="0"/>
              </a:rPr>
              <a:t>tolerant</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400" dirty="0">
                <a:latin typeface="Times New Roman" panose="02020603050405020304" pitchFamily="18" charset="0"/>
                <a:cs typeface="Times New Roman" panose="02020603050405020304" pitchFamily="18" charset="0"/>
              </a:rPr>
              <a:t>Each</a:t>
            </a:r>
            <a:r>
              <a:rPr lang="en-US" altLang="zh-CN" sz="2400" spc="-131"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node</a:t>
            </a:r>
            <a:r>
              <a:rPr lang="en-US" altLang="zh-CN" sz="2400" spc="-79"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has</a:t>
            </a:r>
            <a:r>
              <a:rPr lang="en-US" altLang="zh-CN" sz="2400" spc="-64"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a:t>
            </a:r>
            <a:r>
              <a:rPr lang="en-US" altLang="zh-CN" sz="2400" spc="-143" dirty="0">
                <a:latin typeface="Times New Roman" panose="02020603050405020304" pitchFamily="18" charset="0"/>
                <a:cs typeface="Times New Roman" panose="02020603050405020304" pitchFamily="18" charset="0"/>
              </a:rPr>
              <a:t> </a:t>
            </a:r>
            <a:r>
              <a:rPr lang="en-US" altLang="zh-CN" sz="2400" spc="-15" dirty="0">
                <a:latin typeface="Times New Roman" panose="02020603050405020304" pitchFamily="18" charset="0"/>
                <a:cs typeface="Times New Roman" panose="02020603050405020304" pitchFamily="18" charset="0"/>
              </a:rPr>
              <a:t>neighbor</a:t>
            </a:r>
            <a:r>
              <a:rPr lang="en-US" altLang="zh-CN" sz="2400" spc="-26"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map</a:t>
            </a:r>
            <a:r>
              <a:rPr lang="en-US" altLang="zh-CN" sz="2400" spc="-109"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table</a:t>
            </a:r>
            <a:r>
              <a:rPr lang="en-US" altLang="zh-CN" sz="2400" spc="-71" dirty="0">
                <a:latin typeface="Times New Roman" panose="02020603050405020304" pitchFamily="18" charset="0"/>
                <a:cs typeface="Times New Roman" panose="02020603050405020304" pitchFamily="18" charset="0"/>
              </a:rPr>
              <a:t> </a:t>
            </a:r>
            <a:r>
              <a:rPr lang="en-US" altLang="zh-CN" sz="2400" spc="-15" dirty="0">
                <a:latin typeface="Times New Roman" panose="02020603050405020304" pitchFamily="18" charset="0"/>
                <a:cs typeface="Times New Roman" panose="02020603050405020304" pitchFamily="18" charset="0"/>
              </a:rPr>
              <a:t>with </a:t>
            </a:r>
            <a:r>
              <a:rPr lang="en-US" altLang="zh-CN" sz="2400" spc="-23" dirty="0">
                <a:latin typeface="Times New Roman" panose="02020603050405020304" pitchFamily="18" charset="0"/>
                <a:cs typeface="Times New Roman" panose="02020603050405020304" pitchFamily="18" charset="0"/>
              </a:rPr>
              <a:t>neighbor</a:t>
            </a:r>
            <a:r>
              <a:rPr lang="en-US" altLang="zh-CN" sz="2400" spc="-15" dirty="0">
                <a:latin typeface="Times New Roman" panose="02020603050405020304" pitchFamily="18" charset="0"/>
                <a:cs typeface="Times New Roman" panose="02020603050405020304" pitchFamily="18" charset="0"/>
              </a:rPr>
              <a:t> </a:t>
            </a:r>
            <a:r>
              <a:rPr lang="en-US" altLang="zh-CN" sz="2400" spc="-8" dirty="0">
                <a:latin typeface="Times New Roman" panose="02020603050405020304" pitchFamily="18" charset="0"/>
                <a:cs typeface="Times New Roman" panose="02020603050405020304" pitchFamily="18" charset="0"/>
              </a:rPr>
              <a:t>information.</a:t>
            </a:r>
            <a:endParaRPr lang="en-US" altLang="zh-CN" sz="2400" dirty="0">
              <a:latin typeface="Times New Roman" panose="02020603050405020304" pitchFamily="18" charset="0"/>
              <a:cs typeface="Times New Roman" panose="02020603050405020304" pitchFamily="18" charset="0"/>
            </a:endParaRPr>
          </a:p>
        </p:txBody>
      </p:sp>
      <p:pic>
        <p:nvPicPr>
          <p:cNvPr id="1028" name="Picture 4" descr="Tapestry Infrastructure: Nodes are connected | Download Scientific Diagram">
            <a:extLst>
              <a:ext uri="{FF2B5EF4-FFF2-40B4-BE49-F238E27FC236}">
                <a16:creationId xmlns:a16="http://schemas.microsoft.com/office/drawing/2014/main" id="{D3597A6B-E584-BB21-C6B5-F78B9FE03AF3}"/>
              </a:ext>
            </a:extLst>
          </p:cNvPr>
          <p:cNvPicPr>
            <a:picLocks noChangeAspect="1" noChangeArrowheads="1"/>
          </p:cNvPicPr>
          <p:nvPr/>
        </p:nvPicPr>
        <p:blipFill>
          <a:blip r:embed="rId2">
            <a:alphaModFix/>
            <a:duotone>
              <a:prstClr val="black"/>
              <a:schemeClr val="accent5">
                <a:tint val="45000"/>
                <a:satMod val="400000"/>
              </a:schemeClr>
            </a:duotone>
            <a:extLst>
              <a:ext uri="{BEBA8EAE-BF5A-486C-A8C5-ECC9F3942E4B}">
                <a14:imgProps xmlns:a14="http://schemas.microsoft.com/office/drawing/2010/main">
                  <a14:imgLayer r:embed="rId3">
                    <a14:imgEffect>
                      <a14:sharpenSoften amount="50000"/>
                    </a14:imgEffect>
                    <a14:imgEffect>
                      <a14:saturation sat="33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3325527" y="2241255"/>
            <a:ext cx="2825015" cy="2030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26764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62526" y="136069"/>
            <a:ext cx="7661710" cy="452977"/>
          </a:xfrm>
          <a:prstGeom prst="rect">
            <a:avLst/>
          </a:prstGeom>
        </p:spPr>
        <p:txBody>
          <a:bodyPr vert="horz" wrap="square" lIns="0" tIns="55721" rIns="0" bIns="0" numCol="1" rtlCol="0" anchor="ctr" anchorCtr="0" compatLnSpc="1">
            <a:prstTxWarp prst="textNoShape">
              <a:avLst/>
            </a:prstTxWarp>
            <a:spAutoFit/>
          </a:bodyPr>
          <a:lstStyle/>
          <a:p>
            <a:pPr marL="18574" marR="3810" indent="1429">
              <a:lnSpc>
                <a:spcPts val="2978"/>
              </a:lnSpc>
              <a:spcBef>
                <a:spcPts val="439"/>
              </a:spcBef>
            </a:pPr>
            <a:r>
              <a:rPr lang="en-US" altLang="zh-CN" sz="3600" spc="-90" dirty="0">
                <a:solidFill>
                  <a:srgbClr val="366469"/>
                </a:solidFill>
              </a:rPr>
              <a:t>Tapestry (2)</a:t>
            </a:r>
            <a:endParaRPr dirty="0"/>
          </a:p>
        </p:txBody>
      </p:sp>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31</a:t>
            </a:fld>
            <a:endParaRPr lang="zh-TW" altLang="en-US"/>
          </a:p>
        </p:txBody>
      </p:sp>
      <p:sp>
        <p:nvSpPr>
          <p:cNvPr id="4" name="object 3">
            <a:extLst>
              <a:ext uri="{FF2B5EF4-FFF2-40B4-BE49-F238E27FC236}">
                <a16:creationId xmlns:a16="http://schemas.microsoft.com/office/drawing/2014/main" id="{73441FDB-CA3F-10AC-1787-E46E7ED35B3A}"/>
              </a:ext>
            </a:extLst>
          </p:cNvPr>
          <p:cNvSpPr txBox="1"/>
          <p:nvPr/>
        </p:nvSpPr>
        <p:spPr>
          <a:xfrm>
            <a:off x="1068404" y="871765"/>
            <a:ext cx="7661711" cy="681790"/>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spc="-38" dirty="0">
                <a:latin typeface="Times New Roman" panose="02020603050405020304" pitchFamily="18" charset="0"/>
                <a:cs typeface="Times New Roman" panose="02020603050405020304" pitchFamily="18" charset="0"/>
              </a:rPr>
              <a:t>The</a:t>
            </a:r>
            <a:r>
              <a:rPr lang="en-US" altLang="zh-CN" sz="2200" spc="-83" dirty="0">
                <a:latin typeface="Times New Roman" panose="02020603050405020304" pitchFamily="18" charset="0"/>
                <a:cs typeface="Times New Roman" panose="02020603050405020304" pitchFamily="18" charset="0"/>
              </a:rPr>
              <a:t> </a:t>
            </a:r>
            <a:r>
              <a:rPr lang="en-US" altLang="zh-CN" sz="2200" spc="-49" dirty="0">
                <a:latin typeface="Times New Roman" panose="02020603050405020304" pitchFamily="18" charset="0"/>
                <a:cs typeface="Times New Roman" panose="02020603050405020304" pitchFamily="18" charset="0"/>
              </a:rPr>
              <a:t>system</a:t>
            </a:r>
            <a:r>
              <a:rPr lang="en-US" altLang="zh-CN" sz="2200" spc="-8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is</a:t>
            </a:r>
            <a:r>
              <a:rPr lang="en-US" altLang="zh-CN" sz="2200" spc="-86" dirty="0">
                <a:latin typeface="Times New Roman" panose="02020603050405020304" pitchFamily="18" charset="0"/>
                <a:cs typeface="Times New Roman" panose="02020603050405020304" pitchFamily="18" charset="0"/>
              </a:rPr>
              <a:t> </a:t>
            </a:r>
            <a:r>
              <a:rPr lang="en-US" altLang="zh-CN" sz="2200" spc="-38" dirty="0">
                <a:latin typeface="Times New Roman" panose="02020603050405020304" pitchFamily="18" charset="0"/>
                <a:cs typeface="Times New Roman" panose="02020603050405020304" pitchFamily="18" charset="0"/>
              </a:rPr>
              <a:t>able</a:t>
            </a:r>
            <a:r>
              <a:rPr lang="en-US" altLang="zh-CN" sz="2200" spc="-7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to</a:t>
            </a:r>
            <a:r>
              <a:rPr lang="en-US" altLang="zh-CN" sz="2200" spc="-79" dirty="0">
                <a:latin typeface="Times New Roman" panose="02020603050405020304" pitchFamily="18" charset="0"/>
                <a:cs typeface="Times New Roman" panose="02020603050405020304" pitchFamily="18" charset="0"/>
              </a:rPr>
              <a:t> </a:t>
            </a:r>
            <a:r>
              <a:rPr lang="en-US" altLang="zh-CN" sz="2200" spc="-49" dirty="0">
                <a:latin typeface="Times New Roman" panose="02020603050405020304" pitchFamily="18" charset="0"/>
                <a:cs typeface="Times New Roman" panose="02020603050405020304" pitchFamily="18" charset="0"/>
              </a:rPr>
              <a:t>adapt</a:t>
            </a:r>
            <a:r>
              <a:rPr lang="en-US" altLang="zh-CN" sz="2200" spc="-6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to</a:t>
            </a:r>
            <a:r>
              <a:rPr lang="en-US" altLang="zh-CN" sz="2200" spc="-98"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network </a:t>
            </a:r>
            <a:r>
              <a:rPr lang="en-US" altLang="zh-CN" sz="2200" spc="-49" dirty="0">
                <a:latin typeface="Times New Roman" panose="02020603050405020304" pitchFamily="18" charset="0"/>
                <a:cs typeface="Times New Roman" panose="02020603050405020304" pitchFamily="18" charset="0"/>
              </a:rPr>
              <a:t>changes</a:t>
            </a:r>
            <a:r>
              <a:rPr lang="en-US" altLang="zh-CN" sz="2200" spc="-75" dirty="0">
                <a:latin typeface="Times New Roman" panose="02020603050405020304" pitchFamily="18" charset="0"/>
                <a:cs typeface="Times New Roman" panose="02020603050405020304" pitchFamily="18" charset="0"/>
              </a:rPr>
              <a:t> </a:t>
            </a:r>
            <a:r>
              <a:rPr lang="en-US" altLang="zh-CN" sz="2200" spc="-53" dirty="0">
                <a:latin typeface="Times New Roman" panose="02020603050405020304" pitchFamily="18" charset="0"/>
                <a:cs typeface="Times New Roman" panose="02020603050405020304" pitchFamily="18" charset="0"/>
              </a:rPr>
              <a:t>because</a:t>
            </a:r>
            <a:r>
              <a:rPr lang="en-US" altLang="zh-CN" sz="2200" dirty="0">
                <a:latin typeface="Times New Roman" panose="02020603050405020304" pitchFamily="18" charset="0"/>
                <a:cs typeface="Times New Roman" panose="02020603050405020304" pitchFamily="18" charset="0"/>
              </a:rPr>
              <a:t> it</a:t>
            </a:r>
            <a:r>
              <a:rPr lang="en-US" altLang="zh-CN" sz="2200" spc="-94" dirty="0">
                <a:latin typeface="Times New Roman" panose="02020603050405020304" pitchFamily="18" charset="0"/>
                <a:cs typeface="Times New Roman" panose="02020603050405020304" pitchFamily="18" charset="0"/>
              </a:rPr>
              <a:t> </a:t>
            </a:r>
            <a:r>
              <a:rPr lang="en-US" altLang="zh-CN" sz="2200" spc="-45" dirty="0">
                <a:latin typeface="Times New Roman" panose="02020603050405020304" pitchFamily="18" charset="0"/>
                <a:cs typeface="Times New Roman" panose="02020603050405020304" pitchFamily="18" charset="0"/>
              </a:rPr>
              <a:t>algorithms</a:t>
            </a:r>
            <a:r>
              <a:rPr lang="en-US" altLang="zh-CN" sz="2200" spc="15" dirty="0">
                <a:latin typeface="Times New Roman" panose="02020603050405020304" pitchFamily="18" charset="0"/>
                <a:cs typeface="Times New Roman" panose="02020603050405020304" pitchFamily="18" charset="0"/>
              </a:rPr>
              <a:t> </a:t>
            </a:r>
            <a:r>
              <a:rPr lang="en-US" altLang="zh-CN" sz="2200" spc="-30" dirty="0">
                <a:latin typeface="Times New Roman" panose="02020603050405020304" pitchFamily="18" charset="0"/>
                <a:cs typeface="Times New Roman" panose="02020603050405020304" pitchFamily="18" charset="0"/>
              </a:rPr>
              <a:t>are</a:t>
            </a:r>
            <a:r>
              <a:rPr lang="en-US" altLang="zh-CN" sz="2200" spc="-116" dirty="0">
                <a:latin typeface="Times New Roman" panose="02020603050405020304" pitchFamily="18" charset="0"/>
                <a:cs typeface="Times New Roman" panose="02020603050405020304" pitchFamily="18" charset="0"/>
              </a:rPr>
              <a:t> </a:t>
            </a:r>
            <a:r>
              <a:rPr lang="en-US" altLang="zh-CN" sz="2200" spc="-30" dirty="0">
                <a:latin typeface="Times New Roman" panose="02020603050405020304" pitchFamily="18" charset="0"/>
                <a:cs typeface="Times New Roman" panose="02020603050405020304" pitchFamily="18" charset="0"/>
              </a:rPr>
              <a:t>dynamic. </a:t>
            </a:r>
            <a:r>
              <a:rPr lang="en-US" altLang="zh-CN" sz="2200" dirty="0">
                <a:latin typeface="Times New Roman" panose="02020603050405020304" pitchFamily="18" charset="0"/>
                <a:cs typeface="Times New Roman" panose="02020603050405020304" pitchFamily="18" charset="0"/>
              </a:rPr>
              <a:t>This</a:t>
            </a:r>
            <a:r>
              <a:rPr lang="en-US" altLang="zh-CN" sz="2200" spc="-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also</a:t>
            </a:r>
            <a:r>
              <a:rPr lang="en-US" altLang="zh-CN" sz="2200" spc="-4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provides</a:t>
            </a:r>
            <a:r>
              <a:rPr lang="en-US" altLang="zh-CN" sz="2200" spc="3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for</a:t>
            </a:r>
            <a:r>
              <a:rPr lang="en-US" altLang="zh-CN" sz="2200" spc="4"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Fault-handling</a:t>
            </a:r>
            <a:endParaRPr lang="en-US" altLang="zh-CN" sz="2200" dirty="0">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5C790EFD-1A47-5F4C-A0E0-ECC8946C66D8}"/>
              </a:ext>
            </a:extLst>
          </p:cNvPr>
          <p:cNvPicPr/>
          <p:nvPr/>
        </p:nvPicPr>
        <p:blipFill>
          <a:blip r:embed="rId2" cstate="print"/>
          <a:stretch>
            <a:fillRect/>
          </a:stretch>
        </p:blipFill>
        <p:spPr>
          <a:xfrm>
            <a:off x="2949804" y="1992429"/>
            <a:ext cx="3479871" cy="1944069"/>
          </a:xfrm>
          <a:prstGeom prst="rect">
            <a:avLst/>
          </a:prstGeom>
        </p:spPr>
      </p:pic>
    </p:spTree>
    <p:extLst>
      <p:ext uri="{BB962C8B-B14F-4D97-AF65-F5344CB8AC3E}">
        <p14:creationId xmlns:p14="http://schemas.microsoft.com/office/powerpoint/2010/main" val="4562984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62526" y="136069"/>
            <a:ext cx="7661710" cy="452977"/>
          </a:xfrm>
          <a:prstGeom prst="rect">
            <a:avLst/>
          </a:prstGeom>
        </p:spPr>
        <p:txBody>
          <a:bodyPr vert="horz" wrap="square" lIns="0" tIns="55721" rIns="0" bIns="0" numCol="1" rtlCol="0" anchor="ctr" anchorCtr="0" compatLnSpc="1">
            <a:prstTxWarp prst="textNoShape">
              <a:avLst/>
            </a:prstTxWarp>
            <a:spAutoFit/>
          </a:bodyPr>
          <a:lstStyle/>
          <a:p>
            <a:pPr marL="18574" marR="3810" indent="1429">
              <a:lnSpc>
                <a:spcPts val="2978"/>
              </a:lnSpc>
              <a:spcBef>
                <a:spcPts val="439"/>
              </a:spcBef>
            </a:pPr>
            <a:r>
              <a:rPr lang="en-US" altLang="zh-CN" sz="3600" spc="-90" dirty="0">
                <a:solidFill>
                  <a:srgbClr val="366469"/>
                </a:solidFill>
              </a:rPr>
              <a:t>Tapestry (3)</a:t>
            </a:r>
            <a:endParaRPr dirty="0"/>
          </a:p>
        </p:txBody>
      </p:sp>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32</a:t>
            </a:fld>
            <a:endParaRPr lang="zh-TW" altLang="en-US"/>
          </a:p>
        </p:txBody>
      </p:sp>
      <p:sp>
        <p:nvSpPr>
          <p:cNvPr id="4" name="object 3">
            <a:extLst>
              <a:ext uri="{FF2B5EF4-FFF2-40B4-BE49-F238E27FC236}">
                <a16:creationId xmlns:a16="http://schemas.microsoft.com/office/drawing/2014/main" id="{73441FDB-CA3F-10AC-1787-E46E7ED35B3A}"/>
              </a:ext>
            </a:extLst>
          </p:cNvPr>
          <p:cNvSpPr txBox="1"/>
          <p:nvPr/>
        </p:nvSpPr>
        <p:spPr>
          <a:xfrm>
            <a:off x="962525" y="855034"/>
            <a:ext cx="7892717" cy="3680431"/>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dirty="0">
                <a:latin typeface="Times New Roman" panose="02020603050405020304" pitchFamily="18" charset="0"/>
                <a:cs typeface="Times New Roman" panose="02020603050405020304" pitchFamily="18" charset="0"/>
              </a:rPr>
              <a:t>The</a:t>
            </a:r>
            <a:r>
              <a:rPr lang="en-US" altLang="zh-CN" sz="2200" spc="-75"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placement</a:t>
            </a:r>
            <a:r>
              <a:rPr lang="en-US" altLang="zh-CN" sz="2200" spc="7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of</a:t>
            </a:r>
            <a:r>
              <a:rPr lang="en-US" altLang="zh-CN" sz="2200" spc="-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content</a:t>
            </a:r>
            <a:r>
              <a:rPr lang="en-US" altLang="zh-CN" sz="2200" spc="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(files)</a:t>
            </a:r>
            <a:r>
              <a:rPr lang="en-US" altLang="zh-CN" sz="2200" spc="1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is</a:t>
            </a:r>
            <a:r>
              <a:rPr lang="en-US" altLang="zh-CN" sz="2200" spc="-79"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completely</a:t>
            </a:r>
            <a:r>
              <a:rPr lang="en-US" altLang="zh-CN" sz="2200" spc="56"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unrelated</a:t>
            </a:r>
            <a:r>
              <a:rPr lang="en-US" altLang="zh-CN" sz="2200" spc="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to</a:t>
            </a:r>
            <a:r>
              <a:rPr lang="en-US" altLang="zh-CN" sz="2200" spc="-6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34"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overlay topology. </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dirty="0">
                <a:latin typeface="Times New Roman" panose="02020603050405020304" pitchFamily="18" charset="0"/>
                <a:cs typeface="Times New Roman" panose="02020603050405020304" pitchFamily="18" charset="0"/>
              </a:rPr>
              <a:t>In</a:t>
            </a:r>
            <a:r>
              <a:rPr lang="en-US" altLang="zh-CN" sz="2200" spc="-6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an</a:t>
            </a:r>
            <a:r>
              <a:rPr lang="en-US" altLang="zh-CN" sz="2200" spc="-49"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unstructured</a:t>
            </a:r>
            <a:r>
              <a:rPr lang="en-US" altLang="zh-CN" sz="2200" spc="45"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network,</a:t>
            </a:r>
            <a:r>
              <a:rPr lang="en-US" altLang="zh-CN" sz="2200" spc="3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content</a:t>
            </a:r>
            <a:r>
              <a:rPr lang="en-US" altLang="zh-CN" sz="2200" spc="49"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typically</a:t>
            </a:r>
            <a:r>
              <a:rPr lang="en-US" altLang="zh-CN" sz="2200" spc="7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needs</a:t>
            </a:r>
            <a:r>
              <a:rPr lang="en-US" altLang="zh-CN" sz="2200" spc="-1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to</a:t>
            </a:r>
            <a:r>
              <a:rPr lang="en-US" altLang="zh-CN" sz="2200" spc="-5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be</a:t>
            </a:r>
            <a:r>
              <a:rPr lang="en-US" altLang="zh-CN" sz="2200" spc="-53"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located. Searching</a:t>
            </a:r>
            <a:r>
              <a:rPr lang="en-US" altLang="zh-CN" sz="2200" spc="26"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mechanisms</a:t>
            </a:r>
            <a:r>
              <a:rPr lang="en-US" altLang="zh-CN" sz="2200" spc="6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range</a:t>
            </a:r>
            <a:r>
              <a:rPr lang="en-US" altLang="zh-CN" sz="2200" spc="-1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from</a:t>
            </a:r>
            <a:r>
              <a:rPr lang="en-US" altLang="zh-CN" sz="2200" spc="-6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brute</a:t>
            </a:r>
            <a:r>
              <a:rPr lang="en-US" altLang="zh-CN" sz="2200" spc="-1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force</a:t>
            </a:r>
            <a:r>
              <a:rPr lang="en-US" altLang="zh-CN" sz="2200" spc="-4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methods</a:t>
            </a:r>
            <a:r>
              <a:rPr lang="en-US" altLang="zh-CN" sz="2200" spc="1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such</a:t>
            </a:r>
            <a:r>
              <a:rPr lang="en-US" altLang="zh-CN" sz="2200" spc="-56" dirty="0">
                <a:latin typeface="Times New Roman" panose="02020603050405020304" pitchFamily="18" charset="0"/>
                <a:cs typeface="Times New Roman" panose="02020603050405020304" pitchFamily="18" charset="0"/>
              </a:rPr>
              <a:t> </a:t>
            </a:r>
            <a:r>
              <a:rPr lang="en-US" altLang="zh-CN" sz="2200" spc="-19" dirty="0">
                <a:latin typeface="Times New Roman" panose="02020603050405020304" pitchFamily="18" charset="0"/>
                <a:cs typeface="Times New Roman" panose="02020603050405020304" pitchFamily="18" charset="0"/>
              </a:rPr>
              <a:t>as </a:t>
            </a:r>
            <a:r>
              <a:rPr lang="en-US" altLang="zh-CN" sz="2200" dirty="0">
                <a:latin typeface="Times New Roman" panose="02020603050405020304" pitchFamily="18" charset="0"/>
                <a:cs typeface="Times New Roman" panose="02020603050405020304" pitchFamily="18" charset="0"/>
              </a:rPr>
              <a:t>flooding</a:t>
            </a:r>
            <a:r>
              <a:rPr lang="en-US" altLang="zh-CN" sz="2200" spc="-1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2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network</a:t>
            </a:r>
            <a:r>
              <a:rPr lang="en-US" altLang="zh-CN" sz="2200" spc="8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with</a:t>
            </a:r>
            <a:r>
              <a:rPr lang="en-US" altLang="zh-CN" sz="2200" spc="-23"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propagating</a:t>
            </a:r>
            <a:r>
              <a:rPr lang="en-US" altLang="zh-CN" sz="2200" spc="3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queries in</a:t>
            </a:r>
            <a:r>
              <a:rPr lang="en-US" altLang="zh-CN" sz="2200" spc="-3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a:t>
            </a:r>
            <a:r>
              <a:rPr lang="en-US" altLang="zh-CN" sz="2200" spc="-94" dirty="0">
                <a:latin typeface="Times New Roman" panose="02020603050405020304" pitchFamily="18" charset="0"/>
                <a:cs typeface="Times New Roman" panose="02020603050405020304" pitchFamily="18" charset="0"/>
              </a:rPr>
              <a:t> </a:t>
            </a:r>
            <a:r>
              <a:rPr lang="en-US" altLang="zh-CN" sz="2200" spc="-23" dirty="0">
                <a:latin typeface="Times New Roman" panose="02020603050405020304" pitchFamily="18" charset="0"/>
                <a:cs typeface="Times New Roman" panose="02020603050405020304" pitchFamily="18" charset="0"/>
              </a:rPr>
              <a:t>breadth-</a:t>
            </a:r>
            <a:r>
              <a:rPr lang="en-US" altLang="zh-CN" sz="2200" dirty="0">
                <a:latin typeface="Times New Roman" panose="02020603050405020304" pitchFamily="18" charset="0"/>
                <a:cs typeface="Times New Roman" panose="02020603050405020304" pitchFamily="18" charset="0"/>
              </a:rPr>
              <a:t>first</a:t>
            </a:r>
            <a:r>
              <a:rPr lang="en-US" altLang="zh-CN" sz="2200" spc="56" dirty="0">
                <a:latin typeface="Times New Roman" panose="02020603050405020304" pitchFamily="18" charset="0"/>
                <a:cs typeface="Times New Roman" panose="02020603050405020304" pitchFamily="18" charset="0"/>
              </a:rPr>
              <a:t> </a:t>
            </a:r>
            <a:r>
              <a:rPr lang="en-US" altLang="zh-CN" sz="2200" spc="-19" dirty="0">
                <a:latin typeface="Times New Roman" panose="02020603050405020304" pitchFamily="18" charset="0"/>
                <a:cs typeface="Times New Roman" panose="02020603050405020304" pitchFamily="18" charset="0"/>
              </a:rPr>
              <a:t>or </a:t>
            </a:r>
            <a:r>
              <a:rPr lang="en-US" altLang="zh-CN" sz="2200" spc="-30" dirty="0">
                <a:latin typeface="Times New Roman" panose="02020603050405020304" pitchFamily="18" charset="0"/>
                <a:cs typeface="Times New Roman" panose="02020603050405020304" pitchFamily="18" charset="0"/>
              </a:rPr>
              <a:t>depth-</a:t>
            </a:r>
            <a:r>
              <a:rPr lang="en-US" altLang="zh-CN" sz="2200" dirty="0">
                <a:latin typeface="Times New Roman" panose="02020603050405020304" pitchFamily="18" charset="0"/>
                <a:cs typeface="Times New Roman" panose="02020603050405020304" pitchFamily="18" charset="0"/>
              </a:rPr>
              <a:t>first</a:t>
            </a:r>
            <a:r>
              <a:rPr lang="en-US" altLang="zh-CN" sz="2200" spc="6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manner</a:t>
            </a:r>
            <a:r>
              <a:rPr lang="en-US" altLang="zh-CN" sz="2200" spc="4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until</a:t>
            </a:r>
            <a:r>
              <a:rPr lang="en-US" altLang="zh-CN" sz="2200" spc="-3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4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desired</a:t>
            </a:r>
            <a:r>
              <a:rPr lang="en-US" altLang="zh-CN" sz="2200" spc="-4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content</a:t>
            </a:r>
            <a:r>
              <a:rPr lang="en-US" altLang="zh-CN" sz="2200" spc="4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is</a:t>
            </a:r>
            <a:r>
              <a:rPr lang="en-US" altLang="zh-CN" sz="2200" spc="-6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located,</a:t>
            </a:r>
            <a:r>
              <a:rPr lang="en-US" altLang="zh-CN" sz="2200" spc="-1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to</a:t>
            </a:r>
            <a:r>
              <a:rPr lang="en-US" altLang="zh-CN" sz="2200" spc="-38" dirty="0">
                <a:latin typeface="Times New Roman" panose="02020603050405020304" pitchFamily="18" charset="0"/>
                <a:cs typeface="Times New Roman" panose="02020603050405020304" pitchFamily="18" charset="0"/>
              </a:rPr>
              <a:t> </a:t>
            </a:r>
            <a:r>
              <a:rPr lang="en-US" altLang="zh-CN" sz="2200" spc="-15" dirty="0">
                <a:latin typeface="Times New Roman" panose="02020603050405020304" pitchFamily="18" charset="0"/>
                <a:cs typeface="Times New Roman" panose="02020603050405020304" pitchFamily="18" charset="0"/>
              </a:rPr>
              <a:t>more </a:t>
            </a:r>
            <a:r>
              <a:rPr lang="en-US" altLang="zh-CN" sz="2200" spc="-8" dirty="0">
                <a:latin typeface="Times New Roman" panose="02020603050405020304" pitchFamily="18" charset="0"/>
                <a:cs typeface="Times New Roman" panose="02020603050405020304" pitchFamily="18" charset="0"/>
              </a:rPr>
              <a:t>sophisticated</a:t>
            </a:r>
            <a:r>
              <a:rPr lang="en-US" altLang="zh-CN" sz="2200" spc="5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and</a:t>
            </a:r>
            <a:r>
              <a:rPr lang="en-US" altLang="zh-CN" sz="2200" spc="-60"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resource-</a:t>
            </a:r>
            <a:r>
              <a:rPr lang="en-US" altLang="zh-CN" sz="2200" dirty="0">
                <a:latin typeface="Times New Roman" panose="02020603050405020304" pitchFamily="18" charset="0"/>
                <a:cs typeface="Times New Roman" panose="02020603050405020304" pitchFamily="18" charset="0"/>
              </a:rPr>
              <a:t>preserving</a:t>
            </a:r>
            <a:r>
              <a:rPr lang="en-US" altLang="zh-CN" sz="2200" spc="-9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strategies</a:t>
            </a:r>
            <a:r>
              <a:rPr lang="en-US" altLang="zh-CN" sz="2200" spc="1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that</a:t>
            </a:r>
            <a:r>
              <a:rPr lang="en-US" altLang="zh-CN" sz="2200" spc="-4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include the</a:t>
            </a:r>
            <a:r>
              <a:rPr lang="en-US" altLang="zh-CN" sz="2200" spc="-38" dirty="0">
                <a:latin typeface="Times New Roman" panose="02020603050405020304" pitchFamily="18" charset="0"/>
                <a:cs typeface="Times New Roman" panose="02020603050405020304" pitchFamily="18" charset="0"/>
              </a:rPr>
              <a:t> </a:t>
            </a:r>
            <a:r>
              <a:rPr lang="en-US" altLang="zh-CN" sz="2200" spc="-19" dirty="0">
                <a:latin typeface="Times New Roman" panose="02020603050405020304" pitchFamily="18" charset="0"/>
                <a:cs typeface="Times New Roman" panose="02020603050405020304" pitchFamily="18" charset="0"/>
              </a:rPr>
              <a:t>use </a:t>
            </a:r>
            <a:r>
              <a:rPr lang="en-US" altLang="zh-CN" sz="2200" dirty="0">
                <a:latin typeface="Times New Roman" panose="02020603050405020304" pitchFamily="18" charset="0"/>
                <a:cs typeface="Times New Roman" panose="02020603050405020304" pitchFamily="18" charset="0"/>
              </a:rPr>
              <a:t>of</a:t>
            </a:r>
            <a:r>
              <a:rPr lang="en-US" altLang="zh-CN" sz="2200" spc="-3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random</a:t>
            </a:r>
            <a:r>
              <a:rPr lang="en-US" altLang="zh-CN" sz="2200" spc="26"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walks</a:t>
            </a:r>
            <a:r>
              <a:rPr lang="en-US" altLang="zh-CN" sz="2200" spc="-11"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and</a:t>
            </a:r>
            <a:r>
              <a:rPr lang="en-US" altLang="zh-CN" sz="2200" spc="-6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routing</a:t>
            </a:r>
            <a:r>
              <a:rPr lang="en-US" altLang="zh-CN" sz="2200" spc="-4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indices.</a:t>
            </a:r>
            <a:r>
              <a:rPr lang="en-US" altLang="zh-CN" sz="2200" spc="-56"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The</a:t>
            </a:r>
            <a:r>
              <a:rPr lang="en-US" altLang="zh-CN" sz="2200" spc="-5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searching</a:t>
            </a:r>
            <a:r>
              <a:rPr lang="en-US" altLang="zh-CN" sz="2200" spc="-8" dirty="0">
                <a:latin typeface="Times New Roman" panose="02020603050405020304" pitchFamily="18" charset="0"/>
                <a:cs typeface="Times New Roman" panose="02020603050405020304" pitchFamily="18" charset="0"/>
              </a:rPr>
              <a:t> mechanisms employed</a:t>
            </a:r>
            <a:r>
              <a:rPr lang="en-US" altLang="zh-CN" sz="2200" spc="26"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in</a:t>
            </a:r>
            <a:r>
              <a:rPr lang="en-US" altLang="zh-CN" sz="2200" spc="-75"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unstructured</a:t>
            </a:r>
            <a:r>
              <a:rPr lang="en-US" altLang="zh-CN" sz="2200" spc="-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networks</a:t>
            </a:r>
            <a:r>
              <a:rPr lang="en-US" altLang="zh-CN" sz="2200" spc="26"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have</a:t>
            </a:r>
            <a:r>
              <a:rPr lang="en-US" altLang="zh-CN" sz="2200" spc="-6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obvious </a:t>
            </a:r>
            <a:r>
              <a:rPr lang="en-US" altLang="zh-CN" sz="2200" spc="-8" dirty="0">
                <a:latin typeface="Times New Roman" panose="02020603050405020304" pitchFamily="18" charset="0"/>
                <a:cs typeface="Times New Roman" panose="02020603050405020304" pitchFamily="18" charset="0"/>
              </a:rPr>
              <a:t>implications, </a:t>
            </a:r>
            <a:r>
              <a:rPr lang="en-US" altLang="zh-CN" sz="2200" dirty="0">
                <a:latin typeface="Times New Roman" panose="02020603050405020304" pitchFamily="18" charset="0"/>
                <a:cs typeface="Times New Roman" panose="02020603050405020304" pitchFamily="18" charset="0"/>
              </a:rPr>
              <a:t>particularly</a:t>
            </a:r>
            <a:r>
              <a:rPr lang="en-US" altLang="zh-CN" sz="2200" spc="6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in</a:t>
            </a:r>
            <a:r>
              <a:rPr lang="en-US" altLang="zh-CN" sz="2200" spc="-7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regards</a:t>
            </a:r>
            <a:r>
              <a:rPr lang="en-US" altLang="zh-CN" sz="2200" spc="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to</a:t>
            </a:r>
            <a:r>
              <a:rPr lang="en-US" altLang="zh-CN" sz="2200" spc="-56"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matters</a:t>
            </a:r>
            <a:r>
              <a:rPr lang="en-US" altLang="zh-CN" sz="2200" spc="-3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of</a:t>
            </a:r>
            <a:r>
              <a:rPr lang="en-US" altLang="zh-CN" sz="2200" spc="23" dirty="0">
                <a:latin typeface="Times New Roman" panose="02020603050405020304" pitchFamily="18" charset="0"/>
                <a:cs typeface="Times New Roman" panose="02020603050405020304" pitchFamily="18" charset="0"/>
              </a:rPr>
              <a:t> </a:t>
            </a:r>
            <a:r>
              <a:rPr lang="en-US" altLang="zh-CN" sz="2200" spc="-19" dirty="0">
                <a:latin typeface="Times New Roman" panose="02020603050405020304" pitchFamily="18" charset="0"/>
                <a:cs typeface="Times New Roman" panose="02020603050405020304" pitchFamily="18" charset="0"/>
              </a:rPr>
              <a:t>availability,</a:t>
            </a:r>
            <a:r>
              <a:rPr lang="en-US" altLang="zh-CN" sz="2200" spc="83" dirty="0">
                <a:latin typeface="Times New Roman" panose="02020603050405020304" pitchFamily="18" charset="0"/>
                <a:cs typeface="Times New Roman" panose="02020603050405020304" pitchFamily="18" charset="0"/>
              </a:rPr>
              <a:t> </a:t>
            </a:r>
            <a:r>
              <a:rPr lang="en-US" altLang="zh-CN" sz="2200" spc="-19" dirty="0">
                <a:latin typeface="Times New Roman" panose="02020603050405020304" pitchFamily="18" charset="0"/>
                <a:cs typeface="Times New Roman" panose="02020603050405020304" pitchFamily="18" charset="0"/>
              </a:rPr>
              <a:t>scalability,</a:t>
            </a:r>
            <a:r>
              <a:rPr lang="en-US" altLang="zh-CN" sz="2200" spc="71" dirty="0">
                <a:latin typeface="Times New Roman" panose="02020603050405020304" pitchFamily="18" charset="0"/>
                <a:cs typeface="Times New Roman" panose="02020603050405020304" pitchFamily="18" charset="0"/>
              </a:rPr>
              <a:t> </a:t>
            </a:r>
            <a:r>
              <a:rPr lang="en-US" altLang="zh-CN" sz="2200" spc="-19" dirty="0">
                <a:latin typeface="Times New Roman" panose="02020603050405020304" pitchFamily="18" charset="0"/>
                <a:cs typeface="Times New Roman" panose="02020603050405020304" pitchFamily="18" charset="0"/>
              </a:rPr>
              <a:t>and </a:t>
            </a:r>
            <a:r>
              <a:rPr lang="en-US" altLang="zh-CN" sz="2200" spc="-8" dirty="0">
                <a:latin typeface="Times New Roman" panose="02020603050405020304" pitchFamily="18" charset="0"/>
                <a:cs typeface="Times New Roman" panose="02020603050405020304" pitchFamily="18" charset="0"/>
              </a:rPr>
              <a:t>persistence. </a:t>
            </a:r>
          </a:p>
        </p:txBody>
      </p:sp>
    </p:spTree>
    <p:extLst>
      <p:ext uri="{BB962C8B-B14F-4D97-AF65-F5344CB8AC3E}">
        <p14:creationId xmlns:p14="http://schemas.microsoft.com/office/powerpoint/2010/main" val="2429059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62526" y="136069"/>
            <a:ext cx="7661710" cy="452977"/>
          </a:xfrm>
          <a:prstGeom prst="rect">
            <a:avLst/>
          </a:prstGeom>
        </p:spPr>
        <p:txBody>
          <a:bodyPr vert="horz" wrap="square" lIns="0" tIns="55721" rIns="0" bIns="0" numCol="1" rtlCol="0" anchor="ctr" anchorCtr="0" compatLnSpc="1">
            <a:prstTxWarp prst="textNoShape">
              <a:avLst/>
            </a:prstTxWarp>
            <a:spAutoFit/>
          </a:bodyPr>
          <a:lstStyle/>
          <a:p>
            <a:pPr marL="18574" marR="3810" indent="1429">
              <a:lnSpc>
                <a:spcPts val="2978"/>
              </a:lnSpc>
              <a:spcBef>
                <a:spcPts val="439"/>
              </a:spcBef>
            </a:pPr>
            <a:r>
              <a:rPr lang="en-US" altLang="zh-CN" sz="3600" spc="-90" dirty="0">
                <a:solidFill>
                  <a:srgbClr val="366469"/>
                </a:solidFill>
              </a:rPr>
              <a:t>Tapestry (4)</a:t>
            </a:r>
            <a:endParaRPr dirty="0"/>
          </a:p>
        </p:txBody>
      </p:sp>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33</a:t>
            </a:fld>
            <a:endParaRPr lang="zh-TW" altLang="en-US"/>
          </a:p>
        </p:txBody>
      </p:sp>
      <p:sp>
        <p:nvSpPr>
          <p:cNvPr id="4" name="object 3">
            <a:extLst>
              <a:ext uri="{FF2B5EF4-FFF2-40B4-BE49-F238E27FC236}">
                <a16:creationId xmlns:a16="http://schemas.microsoft.com/office/drawing/2014/main" id="{73441FDB-CA3F-10AC-1787-E46E7ED35B3A}"/>
              </a:ext>
            </a:extLst>
          </p:cNvPr>
          <p:cNvSpPr txBox="1"/>
          <p:nvPr/>
        </p:nvSpPr>
        <p:spPr>
          <a:xfrm>
            <a:off x="962525" y="903159"/>
            <a:ext cx="7661711" cy="1358129"/>
          </a:xfrm>
          <a:prstGeom prst="rect">
            <a:avLst/>
          </a:prstGeom>
        </p:spPr>
        <p:txBody>
          <a:bodyPr vert="horz" wrap="square" lIns="0" tIns="18098" rIns="0" bIns="0" rtlCol="0">
            <a:spAutoFit/>
          </a:bodyPr>
          <a:lstStyle/>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spc="-8" dirty="0">
                <a:latin typeface="Times New Roman" panose="02020603050405020304" pitchFamily="18" charset="0"/>
                <a:cs typeface="Times New Roman" panose="02020603050405020304" pitchFamily="18" charset="0"/>
              </a:rPr>
              <a:t>Unstructured</a:t>
            </a:r>
            <a:r>
              <a:rPr lang="en-US" altLang="zh-CN" sz="2200" spc="-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systems</a:t>
            </a:r>
            <a:r>
              <a:rPr lang="en-US" altLang="zh-CN" sz="2200" spc="8"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are</a:t>
            </a:r>
            <a:r>
              <a:rPr lang="en-US" altLang="zh-CN" sz="2200" spc="-7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generally</a:t>
            </a:r>
            <a:r>
              <a:rPr lang="en-US" altLang="zh-CN" sz="2200" spc="1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more</a:t>
            </a:r>
            <a:r>
              <a:rPr lang="en-US" altLang="zh-CN" sz="2200" spc="-53"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appropriate</a:t>
            </a:r>
            <a:r>
              <a:rPr lang="en-US" altLang="zh-CN" sz="2200" spc="41" dirty="0">
                <a:latin typeface="Times New Roman" panose="02020603050405020304" pitchFamily="18" charset="0"/>
                <a:cs typeface="Times New Roman" panose="02020603050405020304" pitchFamily="18" charset="0"/>
              </a:rPr>
              <a:t> </a:t>
            </a:r>
            <a:r>
              <a:rPr lang="en-US" altLang="zh-CN" sz="2200" spc="-19" dirty="0">
                <a:latin typeface="Times New Roman" panose="02020603050405020304" pitchFamily="18" charset="0"/>
                <a:cs typeface="Times New Roman" panose="02020603050405020304" pitchFamily="18" charset="0"/>
              </a:rPr>
              <a:t>for </a:t>
            </a:r>
            <a:r>
              <a:rPr lang="en-US" altLang="zh-CN" sz="2200" spc="-15" dirty="0">
                <a:latin typeface="Times New Roman" panose="02020603050405020304" pitchFamily="18" charset="0"/>
                <a:cs typeface="Times New Roman" panose="02020603050405020304" pitchFamily="18" charset="0"/>
              </a:rPr>
              <a:t>accommodating</a:t>
            </a:r>
            <a:r>
              <a:rPr lang="en-US" altLang="zh-CN" sz="2200" spc="8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highly</a:t>
            </a:r>
            <a:r>
              <a:rPr lang="en-US" altLang="zh-CN" sz="2200" spc="-8" dirty="0">
                <a:latin typeface="Times New Roman" panose="02020603050405020304" pitchFamily="18" charset="0"/>
                <a:cs typeface="Times New Roman" panose="02020603050405020304" pitchFamily="18" charset="0"/>
              </a:rPr>
              <a:t> transient</a:t>
            </a:r>
            <a:r>
              <a:rPr lang="en-US" altLang="zh-CN" sz="2200" spc="3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node</a:t>
            </a:r>
            <a:r>
              <a:rPr lang="en-US" altLang="zh-CN" sz="2200" spc="-45"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populations. </a:t>
            </a:r>
          </a:p>
          <a:p>
            <a:pPr marL="352425" marR="90011" indent="-342900">
              <a:lnSpc>
                <a:spcPct val="98200"/>
              </a:lnSpc>
              <a:spcBef>
                <a:spcPts val="143"/>
              </a:spcBef>
              <a:buClr>
                <a:srgbClr val="0000FF"/>
              </a:buClr>
              <a:buSzPct val="80000"/>
              <a:buFont typeface="Wingdings" panose="05000000000000000000" pitchFamily="2" charset="2"/>
              <a:buChar char="l"/>
            </a:pPr>
            <a:r>
              <a:rPr lang="en-US" altLang="zh-CN" sz="2200" dirty="0">
                <a:latin typeface="Times New Roman" panose="02020603050405020304" pitchFamily="18" charset="0"/>
                <a:cs typeface="Times New Roman" panose="02020603050405020304" pitchFamily="18" charset="0"/>
              </a:rPr>
              <a:t>Some</a:t>
            </a:r>
            <a:r>
              <a:rPr lang="en-US" altLang="zh-CN" sz="2200" spc="-53"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representative</a:t>
            </a:r>
            <a:r>
              <a:rPr lang="en-US" altLang="zh-CN" sz="2200" spc="-94"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examples</a:t>
            </a:r>
            <a:r>
              <a:rPr lang="en-US" altLang="zh-CN" sz="2200" spc="19"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of</a:t>
            </a:r>
            <a:r>
              <a:rPr lang="en-US" altLang="zh-CN" sz="2200" spc="-19"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unstructured</a:t>
            </a:r>
            <a:r>
              <a:rPr lang="en-US" altLang="zh-CN" sz="2200" dirty="0">
                <a:latin typeface="Times New Roman" panose="02020603050405020304" pitchFamily="18" charset="0"/>
                <a:cs typeface="Times New Roman" panose="02020603050405020304" pitchFamily="18" charset="0"/>
              </a:rPr>
              <a:t> systems</a:t>
            </a:r>
            <a:r>
              <a:rPr lang="en-US" altLang="zh-CN" sz="2200" spc="1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are</a:t>
            </a:r>
            <a:r>
              <a:rPr lang="en-US" altLang="zh-CN" sz="2200" spc="-64" dirty="0">
                <a:latin typeface="Times New Roman" panose="02020603050405020304" pitchFamily="18" charset="0"/>
                <a:cs typeface="Times New Roman" panose="02020603050405020304" pitchFamily="18" charset="0"/>
              </a:rPr>
              <a:t> </a:t>
            </a:r>
            <a:r>
              <a:rPr lang="en-US" altLang="zh-CN" sz="2200" spc="-8" dirty="0">
                <a:latin typeface="Times New Roman" panose="02020603050405020304" pitchFamily="18" charset="0"/>
                <a:cs typeface="Times New Roman" panose="02020603050405020304" pitchFamily="18" charset="0"/>
              </a:rPr>
              <a:t>Napster, Publius,</a:t>
            </a:r>
            <a:r>
              <a:rPr lang="en-US" altLang="zh-CN" sz="2200" spc="-15"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Gnutella,</a:t>
            </a:r>
            <a:r>
              <a:rPr lang="en-US" altLang="zh-CN" sz="2200" spc="8" dirty="0">
                <a:latin typeface="Times New Roman" panose="02020603050405020304" pitchFamily="18" charset="0"/>
                <a:cs typeface="Times New Roman" panose="02020603050405020304" pitchFamily="18" charset="0"/>
              </a:rPr>
              <a:t> </a:t>
            </a:r>
            <a:r>
              <a:rPr lang="en-US" altLang="zh-CN" sz="2200" dirty="0" err="1">
                <a:latin typeface="Times New Roman" panose="02020603050405020304" pitchFamily="18" charset="0"/>
                <a:cs typeface="Times New Roman" panose="02020603050405020304" pitchFamily="18" charset="0"/>
              </a:rPr>
              <a:t>Kazaa</a:t>
            </a:r>
            <a:r>
              <a:rPr lang="en-US" altLang="zh-CN" sz="2200" spc="-3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and</a:t>
            </a:r>
            <a:r>
              <a:rPr lang="en-US" altLang="zh-CN" sz="2200" spc="-60" dirty="0">
                <a:latin typeface="Times New Roman" panose="02020603050405020304" pitchFamily="18" charset="0"/>
                <a:cs typeface="Times New Roman" panose="02020603050405020304" pitchFamily="18" charset="0"/>
              </a:rPr>
              <a:t> </a:t>
            </a:r>
            <a:r>
              <a:rPr lang="en-US" altLang="zh-CN" sz="2200" spc="-8" dirty="0" err="1">
                <a:latin typeface="Times New Roman" panose="02020603050405020304" pitchFamily="18" charset="0"/>
                <a:cs typeface="Times New Roman" panose="02020603050405020304" pitchFamily="18" charset="0"/>
              </a:rPr>
              <a:t>Freehaven</a:t>
            </a:r>
            <a:r>
              <a:rPr lang="en-US" altLang="zh-CN" sz="2200" spc="-8" dirty="0">
                <a:latin typeface="Times New Roman" panose="02020603050405020304" pitchFamily="18" charset="0"/>
                <a:cs typeface="Times New Roman" panose="02020603050405020304" pitchFamily="18" charset="0"/>
              </a:rPr>
              <a:t>,</a:t>
            </a:r>
            <a:r>
              <a:rPr lang="en-US" altLang="zh-CN" sz="2200" spc="4" dirty="0">
                <a:latin typeface="Times New Roman" panose="02020603050405020304" pitchFamily="18" charset="0"/>
                <a:cs typeface="Times New Roman" panose="02020603050405020304" pitchFamily="18" charset="0"/>
              </a:rPr>
              <a:t> </a:t>
            </a:r>
            <a:r>
              <a:rPr lang="en-US" altLang="zh-CN" sz="2200" spc="-19" dirty="0">
                <a:latin typeface="Times New Roman" panose="02020603050405020304" pitchFamily="18" charset="0"/>
                <a:cs typeface="Times New Roman" panose="02020603050405020304" pitchFamily="18" charset="0"/>
              </a:rPr>
              <a:t>et.</a:t>
            </a:r>
            <a:endParaRPr lang="en-US" altLang="zh-C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37867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85523" y="128357"/>
            <a:ext cx="8181475" cy="440986"/>
          </a:xfrm>
          <a:prstGeom prst="rect">
            <a:avLst/>
          </a:prstGeom>
        </p:spPr>
        <p:txBody>
          <a:bodyPr vert="horz" wrap="square" lIns="0" tIns="55721" rIns="0" bIns="0" numCol="1" rtlCol="0" anchor="ctr" anchorCtr="0" compatLnSpc="1">
            <a:prstTxWarp prst="textNoShape">
              <a:avLst/>
            </a:prstTxWarp>
            <a:spAutoFit/>
          </a:bodyPr>
          <a:lstStyle/>
          <a:p>
            <a:pPr marL="18574" marR="3810" indent="1429">
              <a:lnSpc>
                <a:spcPts val="2978"/>
              </a:lnSpc>
              <a:spcBef>
                <a:spcPts val="439"/>
              </a:spcBef>
            </a:pPr>
            <a:r>
              <a:rPr lang="en-US" sz="3200" dirty="0"/>
              <a:t>When to Consider Structured P2P Systems (1) </a:t>
            </a:r>
            <a:endParaRPr sz="3200" dirty="0"/>
          </a:p>
        </p:txBody>
      </p:sp>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34</a:t>
            </a:fld>
            <a:endParaRPr lang="zh-TW" altLang="en-US"/>
          </a:p>
        </p:txBody>
      </p:sp>
      <p:sp>
        <p:nvSpPr>
          <p:cNvPr id="3" name="object 4">
            <a:extLst>
              <a:ext uri="{FF2B5EF4-FFF2-40B4-BE49-F238E27FC236}">
                <a16:creationId xmlns:a16="http://schemas.microsoft.com/office/drawing/2014/main" id="{3013FBCD-F610-4A4C-C324-F3A96784E256}"/>
              </a:ext>
            </a:extLst>
          </p:cNvPr>
          <p:cNvSpPr txBox="1">
            <a:spLocks/>
          </p:cNvSpPr>
          <p:nvPr/>
        </p:nvSpPr>
        <p:spPr bwMode="auto">
          <a:xfrm>
            <a:off x="962526" y="819903"/>
            <a:ext cx="7623209" cy="3595215"/>
          </a:xfrm>
          <a:prstGeom prst="rect">
            <a:avLst/>
          </a:prstGeom>
          <a:noFill/>
          <a:ln w="9525">
            <a:noFill/>
            <a:miter lim="800000"/>
            <a:headEnd/>
            <a:tailEnd/>
          </a:ln>
        </p:spPr>
        <p:txBody>
          <a:bodyPr vert="horz" wrap="square" lIns="0" tIns="55245" rIns="0" bIns="0" numCol="1" rtlCol="0" anchor="t" anchorCtr="0" compatLnSpc="1">
            <a:prstTxWarp prst="textNoShape">
              <a:avLst/>
            </a:prstTxWarp>
            <a:spAutoFit/>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Times New Roman" panose="02020603050405020304" pitchFamily="18" charset="0"/>
                <a:ea typeface="標楷體" pitchFamily="65" charset="-120"/>
                <a:cs typeface="Times New Roman" panose="02020603050405020304" pitchFamily="18" charset="0"/>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Times New Roman" panose="02020603050405020304" pitchFamily="18" charset="0"/>
                <a:ea typeface="標楷體" pitchFamily="65" charset="-120"/>
                <a:cs typeface="Times New Roman" panose="02020603050405020304" pitchFamily="18" charset="0"/>
              </a:defRPr>
            </a:lvl2pPr>
            <a:lvl3pPr marL="857229" indent="-171446" algn="l" rtl="0" eaLnBrk="1" fontAlgn="base" hangingPunct="1">
              <a:spcBef>
                <a:spcPct val="20000"/>
              </a:spcBef>
              <a:spcAft>
                <a:spcPct val="0"/>
              </a:spcAft>
              <a:buChar char="•"/>
              <a:defRPr kumimoji="1" sz="2000">
                <a:solidFill>
                  <a:schemeClr val="tx1"/>
                </a:solidFill>
                <a:latin typeface="Times New Roman" panose="02020603050405020304" pitchFamily="18" charset="0"/>
                <a:ea typeface="標楷體" pitchFamily="65" charset="-120"/>
                <a:cs typeface="Times New Roman" panose="02020603050405020304" pitchFamily="18" charset="0"/>
              </a:defRPr>
            </a:lvl3pPr>
            <a:lvl4pPr marL="1200121" indent="-171446" algn="l" rtl="0" eaLnBrk="1" fontAlgn="base" hangingPunct="1">
              <a:spcBef>
                <a:spcPct val="20000"/>
              </a:spcBef>
              <a:spcAft>
                <a:spcPct val="0"/>
              </a:spcAft>
              <a:buChar char="–"/>
              <a:defRPr kumimoji="1" sz="1800">
                <a:solidFill>
                  <a:schemeClr val="tx1"/>
                </a:solidFill>
                <a:latin typeface="Times New Roman" panose="02020603050405020304" pitchFamily="18" charset="0"/>
                <a:ea typeface="標楷體" pitchFamily="65" charset="-120"/>
                <a:cs typeface="Times New Roman" panose="02020603050405020304" pitchFamily="18" charset="0"/>
              </a:defRPr>
            </a:lvl4pPr>
            <a:lvl5pPr marL="1543012" indent="-171446" algn="l" rtl="0" eaLnBrk="1" fontAlgn="base" hangingPunct="1">
              <a:spcBef>
                <a:spcPct val="20000"/>
              </a:spcBef>
              <a:spcAft>
                <a:spcPct val="0"/>
              </a:spcAft>
              <a:buChar char="»"/>
              <a:defRPr kumimoji="1" sz="1600">
                <a:solidFill>
                  <a:schemeClr val="tx1"/>
                </a:solidFill>
                <a:latin typeface="Times New Roman" panose="02020603050405020304" pitchFamily="18" charset="0"/>
                <a:ea typeface="標楷體" pitchFamily="65" charset="-120"/>
                <a:cs typeface="Times New Roman" panose="02020603050405020304" pitchFamily="18" charset="0"/>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marL="297180" marR="193358" indent="-285750">
              <a:spcBef>
                <a:spcPts val="600"/>
              </a:spcBef>
              <a:spcAft>
                <a:spcPts val="600"/>
              </a:spcAft>
            </a:pPr>
            <a:r>
              <a:rPr lang="en-US" sz="2000" kern="0" dirty="0"/>
              <a:t>In</a:t>
            </a:r>
            <a:r>
              <a:rPr lang="en-US" sz="2000" kern="0" spc="-83" dirty="0"/>
              <a:t> </a:t>
            </a:r>
            <a:r>
              <a:rPr lang="en-US" sz="2000" kern="0" spc="-23" dirty="0"/>
              <a:t>structured</a:t>
            </a:r>
            <a:r>
              <a:rPr lang="en-US" sz="2000" kern="0" spc="-11" dirty="0"/>
              <a:t> </a:t>
            </a:r>
            <a:r>
              <a:rPr lang="en-US" sz="2000" kern="0" spc="-23" dirty="0"/>
              <a:t>networks</a:t>
            </a:r>
            <a:r>
              <a:rPr lang="en-US" sz="2000" kern="0" spc="19" dirty="0"/>
              <a:t> </a:t>
            </a:r>
            <a:r>
              <a:rPr lang="en-US" sz="2000" kern="0" dirty="0"/>
              <a:t>the</a:t>
            </a:r>
            <a:r>
              <a:rPr lang="en-US" sz="2000" kern="0" spc="-83" dirty="0"/>
              <a:t> </a:t>
            </a:r>
            <a:r>
              <a:rPr lang="en-US" sz="2000" kern="0" spc="-19" dirty="0"/>
              <a:t>overlay</a:t>
            </a:r>
            <a:r>
              <a:rPr lang="en-US" sz="2000" kern="0" spc="4" dirty="0"/>
              <a:t> </a:t>
            </a:r>
            <a:r>
              <a:rPr lang="en-US" sz="2000" kern="0" spc="-19" dirty="0"/>
              <a:t>topology</a:t>
            </a:r>
            <a:r>
              <a:rPr lang="en-US" sz="2000" kern="0" spc="-34" dirty="0"/>
              <a:t> </a:t>
            </a:r>
            <a:r>
              <a:rPr lang="en-US" sz="2000" kern="0" dirty="0"/>
              <a:t>is</a:t>
            </a:r>
            <a:r>
              <a:rPr lang="en-US" sz="2000" kern="0" spc="-86" dirty="0"/>
              <a:t> </a:t>
            </a:r>
            <a:r>
              <a:rPr lang="en-US" sz="2000" kern="0" spc="-8" dirty="0"/>
              <a:t>tightly</a:t>
            </a:r>
            <a:r>
              <a:rPr lang="en-US" sz="2000" kern="0" spc="-23" dirty="0"/>
              <a:t> </a:t>
            </a:r>
            <a:r>
              <a:rPr lang="en-US" sz="2000" kern="0" spc="-19" dirty="0"/>
              <a:t>controlled</a:t>
            </a:r>
            <a:r>
              <a:rPr lang="en-US" sz="2000" kern="0" spc="-38" dirty="0"/>
              <a:t> </a:t>
            </a:r>
            <a:r>
              <a:rPr lang="en-US" sz="2000" kern="0" spc="-19" dirty="0"/>
              <a:t>and </a:t>
            </a:r>
            <a:r>
              <a:rPr lang="en-US" sz="2000" kern="0" dirty="0"/>
              <a:t>files</a:t>
            </a:r>
            <a:r>
              <a:rPr lang="en-US" sz="2000" kern="0" spc="-86" dirty="0"/>
              <a:t> </a:t>
            </a:r>
            <a:r>
              <a:rPr lang="en-US" sz="2000" kern="0" dirty="0"/>
              <a:t>(or</a:t>
            </a:r>
            <a:r>
              <a:rPr lang="en-US" sz="2000" kern="0" spc="-68" dirty="0"/>
              <a:t> </a:t>
            </a:r>
            <a:r>
              <a:rPr lang="en-US" sz="2000" kern="0" spc="-15" dirty="0"/>
              <a:t>pointers</a:t>
            </a:r>
            <a:r>
              <a:rPr lang="en-US" sz="2000" kern="0" spc="-41" dirty="0"/>
              <a:t> </a:t>
            </a:r>
            <a:r>
              <a:rPr lang="en-US" sz="2000" kern="0" dirty="0"/>
              <a:t>to</a:t>
            </a:r>
            <a:r>
              <a:rPr lang="en-US" sz="2000" kern="0" spc="-79" dirty="0"/>
              <a:t> </a:t>
            </a:r>
            <a:r>
              <a:rPr lang="en-US" sz="2000" kern="0" spc="-15" dirty="0"/>
              <a:t>them)</a:t>
            </a:r>
            <a:r>
              <a:rPr lang="en-US" sz="2000" kern="0" spc="-26" dirty="0"/>
              <a:t> </a:t>
            </a:r>
            <a:r>
              <a:rPr lang="en-US" sz="2000" kern="0" spc="-23" dirty="0"/>
              <a:t>are</a:t>
            </a:r>
            <a:r>
              <a:rPr lang="en-US" sz="2000" kern="0" spc="-71" dirty="0"/>
              <a:t> </a:t>
            </a:r>
            <a:r>
              <a:rPr lang="en-US" sz="2000" kern="0" spc="-8" dirty="0"/>
              <a:t>placed</a:t>
            </a:r>
            <a:r>
              <a:rPr lang="en-US" sz="2000" kern="0" spc="-38" dirty="0"/>
              <a:t> </a:t>
            </a:r>
            <a:r>
              <a:rPr lang="en-US" sz="2000" kern="0" dirty="0"/>
              <a:t>at</a:t>
            </a:r>
            <a:r>
              <a:rPr lang="en-US" sz="2000" kern="0" spc="-98" dirty="0"/>
              <a:t> </a:t>
            </a:r>
            <a:r>
              <a:rPr lang="en-US" sz="2000" kern="0" spc="-15" dirty="0"/>
              <a:t>precisely</a:t>
            </a:r>
            <a:r>
              <a:rPr lang="en-US" sz="2000" kern="0" spc="-11" dirty="0"/>
              <a:t> </a:t>
            </a:r>
            <a:r>
              <a:rPr lang="en-US" sz="2000" kern="0" spc="-19" dirty="0"/>
              <a:t>specified </a:t>
            </a:r>
            <a:r>
              <a:rPr lang="en-US" sz="2000" kern="0" spc="-8" dirty="0"/>
              <a:t>locations.</a:t>
            </a:r>
          </a:p>
          <a:p>
            <a:pPr marL="897241" marR="193358" lvl="2" indent="-285750">
              <a:spcBef>
                <a:spcPts val="0"/>
              </a:spcBef>
              <a:spcAft>
                <a:spcPts val="600"/>
              </a:spcAft>
              <a:buFont typeface="Symbol" panose="05050102010706020507" pitchFamily="18" charset="2"/>
              <a:buChar char="-"/>
            </a:pPr>
            <a:r>
              <a:rPr lang="en-US" kern="0" spc="-15" dirty="0"/>
              <a:t>These</a:t>
            </a:r>
            <a:r>
              <a:rPr lang="en-US" kern="0" spc="-68" dirty="0"/>
              <a:t> </a:t>
            </a:r>
            <a:r>
              <a:rPr lang="en-US" kern="0" spc="-19" dirty="0"/>
              <a:t>systems</a:t>
            </a:r>
            <a:r>
              <a:rPr lang="en-US" kern="0" spc="-49" dirty="0"/>
              <a:t> </a:t>
            </a:r>
            <a:r>
              <a:rPr lang="en-US" kern="0" spc="-23" dirty="0"/>
              <a:t>essentially</a:t>
            </a:r>
            <a:r>
              <a:rPr lang="en-US" kern="0" spc="26" dirty="0"/>
              <a:t> </a:t>
            </a:r>
            <a:r>
              <a:rPr lang="en-US" kern="0" spc="-15" dirty="0"/>
              <a:t>provide</a:t>
            </a:r>
            <a:r>
              <a:rPr lang="en-US" kern="0" spc="-23" dirty="0"/>
              <a:t> </a:t>
            </a:r>
            <a:r>
              <a:rPr lang="en-US" kern="0" dirty="0"/>
              <a:t>a</a:t>
            </a:r>
            <a:r>
              <a:rPr lang="en-US" kern="0" spc="-94" dirty="0"/>
              <a:t> </a:t>
            </a:r>
            <a:r>
              <a:rPr lang="en-US" kern="0" spc="-23" dirty="0"/>
              <a:t>mapping</a:t>
            </a:r>
            <a:r>
              <a:rPr lang="en-US" kern="0" spc="-49" dirty="0"/>
              <a:t> </a:t>
            </a:r>
            <a:r>
              <a:rPr lang="en-US" kern="0" spc="-26" dirty="0"/>
              <a:t>between</a:t>
            </a:r>
            <a:r>
              <a:rPr lang="en-US" kern="0" spc="8" dirty="0"/>
              <a:t> </a:t>
            </a:r>
            <a:r>
              <a:rPr lang="en-US" kern="0" spc="-15" dirty="0"/>
              <a:t>content</a:t>
            </a:r>
            <a:r>
              <a:rPr lang="en-US" kern="0" spc="-26" dirty="0"/>
              <a:t> </a:t>
            </a:r>
            <a:r>
              <a:rPr lang="en-US" kern="0" spc="-8" dirty="0"/>
              <a:t>(e.g. file</a:t>
            </a:r>
            <a:r>
              <a:rPr lang="en-US" kern="0" spc="-83" dirty="0"/>
              <a:t> </a:t>
            </a:r>
            <a:r>
              <a:rPr lang="en-US" kern="0" spc="-19" dirty="0"/>
              <a:t>identifier)</a:t>
            </a:r>
            <a:r>
              <a:rPr lang="en-US" kern="0" spc="41" dirty="0"/>
              <a:t> </a:t>
            </a:r>
            <a:r>
              <a:rPr lang="en-US" kern="0" spc="-8" dirty="0"/>
              <a:t>and</a:t>
            </a:r>
            <a:r>
              <a:rPr lang="en-US" kern="0" spc="-71" dirty="0"/>
              <a:t> </a:t>
            </a:r>
            <a:r>
              <a:rPr lang="en-US" kern="0" spc="-19" dirty="0"/>
              <a:t>location</a:t>
            </a:r>
            <a:r>
              <a:rPr lang="en-US" kern="0" spc="-15" dirty="0"/>
              <a:t> (e.g.</a:t>
            </a:r>
            <a:r>
              <a:rPr lang="en-US" kern="0" spc="-79" dirty="0"/>
              <a:t> </a:t>
            </a:r>
            <a:r>
              <a:rPr lang="en-US" kern="0" spc="-8" dirty="0"/>
              <a:t>node</a:t>
            </a:r>
            <a:r>
              <a:rPr lang="en-US" kern="0" spc="-41" dirty="0"/>
              <a:t> </a:t>
            </a:r>
            <a:r>
              <a:rPr lang="en-US" kern="0" spc="-19" dirty="0"/>
              <a:t>address),</a:t>
            </a:r>
            <a:r>
              <a:rPr lang="en-US" kern="0" spc="-23" dirty="0"/>
              <a:t> </a:t>
            </a:r>
            <a:r>
              <a:rPr lang="en-US" kern="0" dirty="0"/>
              <a:t>in</a:t>
            </a:r>
            <a:r>
              <a:rPr lang="en-US" kern="0" spc="-90" dirty="0"/>
              <a:t> </a:t>
            </a:r>
            <a:r>
              <a:rPr lang="en-US" kern="0" dirty="0"/>
              <a:t>the</a:t>
            </a:r>
            <a:r>
              <a:rPr lang="en-US" kern="0" spc="-94" dirty="0"/>
              <a:t> </a:t>
            </a:r>
            <a:r>
              <a:rPr lang="en-US" kern="0" dirty="0"/>
              <a:t>form</a:t>
            </a:r>
            <a:r>
              <a:rPr lang="en-US" kern="0" spc="-49" dirty="0"/>
              <a:t> </a:t>
            </a:r>
            <a:r>
              <a:rPr lang="en-US" kern="0" dirty="0"/>
              <a:t>of</a:t>
            </a:r>
            <a:r>
              <a:rPr lang="en-US" kern="0" spc="-38" dirty="0"/>
              <a:t> a </a:t>
            </a:r>
            <a:r>
              <a:rPr lang="en-US" kern="0" spc="-23" dirty="0"/>
              <a:t>distributed</a:t>
            </a:r>
            <a:r>
              <a:rPr lang="en-US" kern="0" spc="-4" dirty="0"/>
              <a:t> </a:t>
            </a:r>
            <a:r>
              <a:rPr lang="en-US" kern="0" spc="-15" dirty="0"/>
              <a:t>routing</a:t>
            </a:r>
            <a:r>
              <a:rPr lang="en-US" kern="0" spc="-34" dirty="0"/>
              <a:t> </a:t>
            </a:r>
            <a:r>
              <a:rPr lang="en-US" kern="0" spc="-8" dirty="0"/>
              <a:t>table,</a:t>
            </a:r>
            <a:r>
              <a:rPr lang="en-US" kern="0" spc="-34" dirty="0"/>
              <a:t> </a:t>
            </a:r>
            <a:r>
              <a:rPr lang="en-US" kern="0" dirty="0"/>
              <a:t>so</a:t>
            </a:r>
            <a:r>
              <a:rPr lang="en-US" kern="0" spc="-60" dirty="0"/>
              <a:t> </a:t>
            </a:r>
            <a:r>
              <a:rPr lang="en-US" kern="0" spc="-8" dirty="0"/>
              <a:t>that</a:t>
            </a:r>
            <a:r>
              <a:rPr lang="en-US" kern="0" spc="-53" dirty="0"/>
              <a:t> </a:t>
            </a:r>
            <a:r>
              <a:rPr lang="en-US" kern="0" spc="-15" dirty="0"/>
              <a:t>queries</a:t>
            </a:r>
            <a:r>
              <a:rPr lang="en-US" kern="0" spc="-30" dirty="0"/>
              <a:t> </a:t>
            </a:r>
            <a:r>
              <a:rPr lang="en-US" kern="0" spc="-8" dirty="0"/>
              <a:t>can</a:t>
            </a:r>
            <a:r>
              <a:rPr lang="en-US" kern="0" spc="-90" dirty="0"/>
              <a:t> </a:t>
            </a:r>
            <a:r>
              <a:rPr lang="en-US" kern="0" dirty="0"/>
              <a:t>be</a:t>
            </a:r>
            <a:r>
              <a:rPr lang="en-US" kern="0" spc="-94" dirty="0"/>
              <a:t> </a:t>
            </a:r>
            <a:r>
              <a:rPr lang="en-US" kern="0" spc="-23" dirty="0"/>
              <a:t>efficiently</a:t>
            </a:r>
            <a:r>
              <a:rPr lang="en-US" kern="0" spc="11" dirty="0"/>
              <a:t> </a:t>
            </a:r>
            <a:r>
              <a:rPr lang="en-US" kern="0" spc="-15" dirty="0"/>
              <a:t>routed</a:t>
            </a:r>
            <a:r>
              <a:rPr lang="en-US" kern="0" spc="-38" dirty="0"/>
              <a:t> </a:t>
            </a:r>
            <a:r>
              <a:rPr lang="en-US" kern="0" dirty="0"/>
              <a:t>to</a:t>
            </a:r>
            <a:r>
              <a:rPr lang="en-US" kern="0" spc="-83" dirty="0"/>
              <a:t> </a:t>
            </a:r>
            <a:r>
              <a:rPr lang="en-US" kern="0" spc="-19" dirty="0"/>
              <a:t>the </a:t>
            </a:r>
            <a:r>
              <a:rPr lang="en-US" kern="0" spc="-15" dirty="0"/>
              <a:t>node</a:t>
            </a:r>
            <a:r>
              <a:rPr lang="en-US" kern="0" spc="-60" dirty="0"/>
              <a:t> </a:t>
            </a:r>
            <a:r>
              <a:rPr lang="en-US" kern="0" spc="-8" dirty="0"/>
              <a:t>with</a:t>
            </a:r>
            <a:r>
              <a:rPr lang="en-US" kern="0" spc="-56" dirty="0"/>
              <a:t> </a:t>
            </a:r>
            <a:r>
              <a:rPr lang="en-US" kern="0" dirty="0"/>
              <a:t>the</a:t>
            </a:r>
            <a:r>
              <a:rPr lang="en-US" kern="0" spc="-94" dirty="0"/>
              <a:t> </a:t>
            </a:r>
            <a:r>
              <a:rPr lang="en-US" kern="0" spc="-19" dirty="0"/>
              <a:t>desired</a:t>
            </a:r>
            <a:r>
              <a:rPr lang="en-US" kern="0" spc="-56" dirty="0"/>
              <a:t> </a:t>
            </a:r>
            <a:r>
              <a:rPr lang="en-US" kern="0" spc="-8" dirty="0"/>
              <a:t>content.</a:t>
            </a:r>
          </a:p>
          <a:p>
            <a:pPr marL="297180" marR="193358" indent="-285750">
              <a:spcBef>
                <a:spcPts val="0"/>
              </a:spcBef>
              <a:spcAft>
                <a:spcPts val="600"/>
              </a:spcAft>
            </a:pPr>
            <a:r>
              <a:rPr lang="en-US" sz="2000" kern="0" spc="-23" dirty="0"/>
              <a:t>Structured</a:t>
            </a:r>
            <a:r>
              <a:rPr lang="en-US" sz="2000" kern="0" spc="-8" dirty="0"/>
              <a:t> </a:t>
            </a:r>
            <a:r>
              <a:rPr lang="en-US" sz="2000" kern="0" spc="-19" dirty="0"/>
              <a:t>systems</a:t>
            </a:r>
            <a:r>
              <a:rPr lang="en-US" sz="2000" kern="0" spc="-15" dirty="0"/>
              <a:t> </a:t>
            </a:r>
            <a:r>
              <a:rPr lang="en-US" sz="2000" kern="0" spc="-60" dirty="0"/>
              <a:t>offer</a:t>
            </a:r>
            <a:r>
              <a:rPr lang="en-US" sz="2000" kern="0" spc="-34" dirty="0"/>
              <a:t> </a:t>
            </a:r>
            <a:r>
              <a:rPr lang="en-US" sz="2000" kern="0" dirty="0"/>
              <a:t>a</a:t>
            </a:r>
            <a:r>
              <a:rPr lang="en-US" sz="2000" kern="0" spc="-94" dirty="0"/>
              <a:t> </a:t>
            </a:r>
            <a:r>
              <a:rPr lang="en-US" sz="2000" kern="0" spc="-19" dirty="0"/>
              <a:t>scalable</a:t>
            </a:r>
            <a:r>
              <a:rPr lang="en-US" sz="2000" kern="0" spc="-34" dirty="0"/>
              <a:t> </a:t>
            </a:r>
            <a:r>
              <a:rPr lang="en-US" sz="2000" kern="0" spc="-19" dirty="0"/>
              <a:t>solution</a:t>
            </a:r>
            <a:r>
              <a:rPr lang="en-US" sz="2000" kern="0" spc="-26" dirty="0"/>
              <a:t> </a:t>
            </a:r>
            <a:r>
              <a:rPr lang="en-US" sz="2000" kern="0" dirty="0"/>
              <a:t>for</a:t>
            </a:r>
            <a:r>
              <a:rPr lang="en-US" sz="2000" kern="0" spc="-45" dirty="0"/>
              <a:t> </a:t>
            </a:r>
            <a:r>
              <a:rPr lang="en-US" sz="2000" kern="0" spc="-41" dirty="0"/>
              <a:t>exact-</a:t>
            </a:r>
            <a:r>
              <a:rPr lang="en-US" sz="2000" kern="0" spc="-8" dirty="0"/>
              <a:t>match</a:t>
            </a:r>
            <a:r>
              <a:rPr lang="en-US" sz="2000" kern="0" spc="15" dirty="0"/>
              <a:t> </a:t>
            </a:r>
            <a:r>
              <a:rPr lang="en-US" sz="2000" kern="0" spc="-8" dirty="0"/>
              <a:t>queries, i.e.</a:t>
            </a:r>
            <a:r>
              <a:rPr lang="en-US" sz="2000" kern="0" spc="-83" dirty="0"/>
              <a:t> </a:t>
            </a:r>
            <a:r>
              <a:rPr lang="en-US" sz="2000" kern="0" spc="-15" dirty="0"/>
              <a:t>queries</a:t>
            </a:r>
            <a:r>
              <a:rPr lang="en-US" sz="2000" kern="0" spc="-30" dirty="0"/>
              <a:t> </a:t>
            </a:r>
            <a:r>
              <a:rPr lang="en-US" sz="2000" kern="0" dirty="0"/>
              <a:t>in</a:t>
            </a:r>
            <a:r>
              <a:rPr lang="en-US" sz="2000" kern="0" spc="-98" dirty="0"/>
              <a:t> </a:t>
            </a:r>
            <a:r>
              <a:rPr lang="en-US" sz="2000" kern="0" spc="-19" dirty="0"/>
              <a:t>which</a:t>
            </a:r>
            <a:r>
              <a:rPr lang="en-US" sz="2000" kern="0" spc="-26" dirty="0"/>
              <a:t> </a:t>
            </a:r>
            <a:r>
              <a:rPr lang="en-US" sz="2000" kern="0" dirty="0"/>
              <a:t>the</a:t>
            </a:r>
            <a:r>
              <a:rPr lang="en-US" sz="2000" kern="0" spc="-94" dirty="0"/>
              <a:t> </a:t>
            </a:r>
            <a:r>
              <a:rPr lang="en-US" sz="2000" kern="0" spc="-8" dirty="0"/>
              <a:t>exact</a:t>
            </a:r>
            <a:r>
              <a:rPr lang="en-US" sz="2000" kern="0" spc="-45" dirty="0"/>
              <a:t> </a:t>
            </a:r>
            <a:r>
              <a:rPr lang="en-US" sz="2000" kern="0" spc="-19" dirty="0"/>
              <a:t>identifier</a:t>
            </a:r>
            <a:r>
              <a:rPr lang="en-US" sz="2000" kern="0" spc="4" dirty="0"/>
              <a:t> </a:t>
            </a:r>
            <a:r>
              <a:rPr lang="en-US" sz="2000" kern="0" dirty="0"/>
              <a:t>of</a:t>
            </a:r>
            <a:r>
              <a:rPr lang="en-US" sz="2000" kern="0" spc="-34" dirty="0"/>
              <a:t> </a:t>
            </a:r>
            <a:r>
              <a:rPr lang="en-US" sz="2000" kern="0" dirty="0"/>
              <a:t>the</a:t>
            </a:r>
            <a:r>
              <a:rPr lang="en-US" sz="2000" kern="0" spc="-90" dirty="0"/>
              <a:t> </a:t>
            </a:r>
            <a:r>
              <a:rPr lang="en-US" sz="2000" kern="0" spc="-23" dirty="0"/>
              <a:t>requested</a:t>
            </a:r>
            <a:r>
              <a:rPr lang="en-US" sz="2000" kern="0" spc="-15" dirty="0"/>
              <a:t> </a:t>
            </a:r>
            <a:r>
              <a:rPr lang="en-US" sz="2000" kern="0" dirty="0"/>
              <a:t>data</a:t>
            </a:r>
            <a:r>
              <a:rPr lang="en-US" sz="2000" kern="0" spc="-94" dirty="0"/>
              <a:t> </a:t>
            </a:r>
            <a:r>
              <a:rPr lang="en-US" sz="2000" kern="0" spc="-19" dirty="0"/>
              <a:t>object</a:t>
            </a:r>
            <a:r>
              <a:rPr lang="en-US" sz="2000" kern="0" spc="-30" dirty="0"/>
              <a:t> </a:t>
            </a:r>
            <a:r>
              <a:rPr lang="en-US" sz="2000" kern="0" spc="-19" dirty="0"/>
              <a:t>is </a:t>
            </a:r>
            <a:r>
              <a:rPr lang="en-US" sz="2000" kern="0" spc="-15" dirty="0"/>
              <a:t>known</a:t>
            </a:r>
            <a:r>
              <a:rPr lang="en-US" sz="2000" kern="0" spc="-30" dirty="0"/>
              <a:t> </a:t>
            </a:r>
            <a:r>
              <a:rPr lang="en-US" sz="2000" kern="0" spc="-15" dirty="0"/>
              <a:t>(as</a:t>
            </a:r>
            <a:r>
              <a:rPr lang="en-US" sz="2000" kern="0" spc="-83" dirty="0"/>
              <a:t> </a:t>
            </a:r>
            <a:r>
              <a:rPr lang="en-US" sz="2000" kern="0" spc="-19" dirty="0"/>
              <a:t>compared</a:t>
            </a:r>
            <a:r>
              <a:rPr lang="en-US" sz="2000" kern="0" spc="-38" dirty="0"/>
              <a:t> </a:t>
            </a:r>
            <a:r>
              <a:rPr lang="en-US" sz="2000" kern="0" dirty="0"/>
              <a:t>to</a:t>
            </a:r>
            <a:r>
              <a:rPr lang="en-US" sz="2000" kern="0" spc="-98" dirty="0"/>
              <a:t> </a:t>
            </a:r>
            <a:r>
              <a:rPr lang="en-US" sz="2000" kern="0" spc="-23" dirty="0"/>
              <a:t>keyword</a:t>
            </a:r>
            <a:r>
              <a:rPr lang="en-US" sz="2000" kern="0" spc="-30" dirty="0"/>
              <a:t> </a:t>
            </a:r>
            <a:r>
              <a:rPr lang="en-US" sz="2000" kern="0" spc="-15" dirty="0"/>
              <a:t>queries).</a:t>
            </a:r>
            <a:r>
              <a:rPr lang="en-US" sz="2000" kern="0" spc="-4" dirty="0"/>
              <a:t> </a:t>
            </a:r>
            <a:r>
              <a:rPr lang="en-US" sz="2000" kern="0" spc="-15" dirty="0"/>
              <a:t>Using</a:t>
            </a:r>
            <a:r>
              <a:rPr lang="en-US" sz="2000" kern="0" spc="-64" dirty="0"/>
              <a:t> </a:t>
            </a:r>
            <a:r>
              <a:rPr lang="en-US" sz="2000" kern="0" spc="-41" dirty="0"/>
              <a:t>exact-</a:t>
            </a:r>
            <a:r>
              <a:rPr lang="en-US" sz="2000" kern="0" spc="-8" dirty="0"/>
              <a:t>match</a:t>
            </a:r>
            <a:r>
              <a:rPr lang="en-US" sz="2000" kern="0" spc="4" dirty="0"/>
              <a:t> </a:t>
            </a:r>
            <a:r>
              <a:rPr lang="en-US" sz="2000" kern="0" spc="-8" dirty="0"/>
              <a:t>queries </a:t>
            </a:r>
            <a:r>
              <a:rPr lang="en-US" sz="2000" kern="0" dirty="0"/>
              <a:t>as</a:t>
            </a:r>
            <a:r>
              <a:rPr lang="en-US" sz="2000" kern="0" spc="-83" dirty="0"/>
              <a:t> </a:t>
            </a:r>
            <a:r>
              <a:rPr lang="en-US" sz="2000" kern="0" dirty="0"/>
              <a:t>a</a:t>
            </a:r>
            <a:r>
              <a:rPr lang="en-US" sz="2000" kern="0" spc="-98" dirty="0"/>
              <a:t> </a:t>
            </a:r>
            <a:r>
              <a:rPr lang="en-US" sz="2000" kern="0" spc="-23" dirty="0"/>
              <a:t>substrate</a:t>
            </a:r>
            <a:r>
              <a:rPr lang="en-US" sz="2000" kern="0" spc="-11" dirty="0"/>
              <a:t> </a:t>
            </a:r>
            <a:r>
              <a:rPr lang="en-US" sz="2000" kern="0" dirty="0"/>
              <a:t>for</a:t>
            </a:r>
            <a:r>
              <a:rPr lang="en-US" sz="2000" kern="0" spc="-64" dirty="0"/>
              <a:t> </a:t>
            </a:r>
            <a:r>
              <a:rPr lang="en-US" sz="2000" kern="0" spc="-23" dirty="0"/>
              <a:t>keyword</a:t>
            </a:r>
            <a:r>
              <a:rPr lang="en-US" sz="2000" kern="0" spc="-15" dirty="0"/>
              <a:t> queries</a:t>
            </a:r>
            <a:r>
              <a:rPr lang="en-US" sz="2000" kern="0" spc="-19" dirty="0"/>
              <a:t> remains</a:t>
            </a:r>
            <a:r>
              <a:rPr lang="en-US" sz="2000" kern="0" spc="-26" dirty="0"/>
              <a:t> </a:t>
            </a:r>
            <a:r>
              <a:rPr lang="en-US" sz="2000" kern="0" dirty="0"/>
              <a:t>an</a:t>
            </a:r>
            <a:r>
              <a:rPr lang="en-US" sz="2000" kern="0" spc="-64" dirty="0"/>
              <a:t> </a:t>
            </a:r>
            <a:r>
              <a:rPr lang="en-US" sz="2000" kern="0" spc="-15" dirty="0"/>
              <a:t>open</a:t>
            </a:r>
            <a:r>
              <a:rPr lang="en-US" sz="2000" kern="0" spc="-41" dirty="0"/>
              <a:t> </a:t>
            </a:r>
            <a:r>
              <a:rPr lang="en-US" sz="2000" kern="0" spc="-23" dirty="0"/>
              <a:t>research</a:t>
            </a:r>
            <a:r>
              <a:rPr lang="en-US" sz="2000" kern="0" spc="-26" dirty="0"/>
              <a:t> </a:t>
            </a:r>
            <a:r>
              <a:rPr lang="en-US" sz="2000" kern="0" spc="-8" dirty="0"/>
              <a:t>problem </a:t>
            </a:r>
            <a:r>
              <a:rPr lang="en-US" sz="2000" kern="0" dirty="0"/>
              <a:t>for</a:t>
            </a:r>
            <a:r>
              <a:rPr lang="en-US" sz="2000" kern="0" spc="-64" dirty="0"/>
              <a:t> </a:t>
            </a:r>
            <a:r>
              <a:rPr lang="en-US" sz="2000" kern="0" spc="-19" dirty="0"/>
              <a:t>distributed</a:t>
            </a:r>
            <a:r>
              <a:rPr lang="en-US" sz="2000" kern="0" spc="-41" dirty="0"/>
              <a:t> </a:t>
            </a:r>
            <a:r>
              <a:rPr lang="en-US" sz="2000" kern="0" spc="-8" dirty="0"/>
              <a:t>environments</a:t>
            </a:r>
          </a:p>
        </p:txBody>
      </p:sp>
    </p:spTree>
    <p:extLst>
      <p:ext uri="{BB962C8B-B14F-4D97-AF65-F5344CB8AC3E}">
        <p14:creationId xmlns:p14="http://schemas.microsoft.com/office/powerpoint/2010/main" val="18791643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62525" y="142065"/>
            <a:ext cx="8181475" cy="440986"/>
          </a:xfrm>
          <a:prstGeom prst="rect">
            <a:avLst/>
          </a:prstGeom>
        </p:spPr>
        <p:txBody>
          <a:bodyPr vert="horz" wrap="square" lIns="0" tIns="55721" rIns="0" bIns="0" numCol="1" rtlCol="0" anchor="ctr" anchorCtr="0" compatLnSpc="1">
            <a:prstTxWarp prst="textNoShape">
              <a:avLst/>
            </a:prstTxWarp>
            <a:spAutoFit/>
          </a:bodyPr>
          <a:lstStyle/>
          <a:p>
            <a:pPr marL="18574" marR="3810" indent="1429">
              <a:lnSpc>
                <a:spcPts val="2978"/>
              </a:lnSpc>
              <a:spcBef>
                <a:spcPts val="439"/>
              </a:spcBef>
            </a:pPr>
            <a:r>
              <a:rPr lang="en-US" sz="3200" dirty="0"/>
              <a:t>When to Consider Structured P2P Systems (2) </a:t>
            </a:r>
            <a:endParaRPr sz="3200" dirty="0"/>
          </a:p>
        </p:txBody>
      </p:sp>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35</a:t>
            </a:fld>
            <a:endParaRPr lang="zh-TW" altLang="en-US"/>
          </a:p>
        </p:txBody>
      </p:sp>
      <p:sp>
        <p:nvSpPr>
          <p:cNvPr id="3" name="object 4">
            <a:extLst>
              <a:ext uri="{FF2B5EF4-FFF2-40B4-BE49-F238E27FC236}">
                <a16:creationId xmlns:a16="http://schemas.microsoft.com/office/drawing/2014/main" id="{3013FBCD-F610-4A4C-C324-F3A96784E256}"/>
              </a:ext>
            </a:extLst>
          </p:cNvPr>
          <p:cNvSpPr txBox="1">
            <a:spLocks/>
          </p:cNvSpPr>
          <p:nvPr/>
        </p:nvSpPr>
        <p:spPr bwMode="auto">
          <a:xfrm>
            <a:off x="1145406" y="954656"/>
            <a:ext cx="6853188" cy="2299476"/>
          </a:xfrm>
          <a:prstGeom prst="rect">
            <a:avLst/>
          </a:prstGeom>
          <a:noFill/>
          <a:ln w="9525">
            <a:noFill/>
            <a:miter lim="800000"/>
            <a:headEnd/>
            <a:tailEnd/>
          </a:ln>
        </p:spPr>
        <p:txBody>
          <a:bodyPr vert="horz" wrap="square" lIns="0" tIns="55245" rIns="0" bIns="0" numCol="1" rtlCol="0" anchor="t" anchorCtr="0" compatLnSpc="1">
            <a:prstTxWarp prst="textNoShape">
              <a:avLst/>
            </a:prstTxWarp>
            <a:spAutoFit/>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Times New Roman" panose="02020603050405020304" pitchFamily="18" charset="0"/>
                <a:ea typeface="標楷體" pitchFamily="65" charset="-120"/>
                <a:cs typeface="Times New Roman" panose="02020603050405020304" pitchFamily="18" charset="0"/>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Times New Roman" panose="02020603050405020304" pitchFamily="18" charset="0"/>
                <a:ea typeface="標楷體" pitchFamily="65" charset="-120"/>
                <a:cs typeface="Times New Roman" panose="02020603050405020304" pitchFamily="18" charset="0"/>
              </a:defRPr>
            </a:lvl2pPr>
            <a:lvl3pPr marL="857229" indent="-171446" algn="l" rtl="0" eaLnBrk="1" fontAlgn="base" hangingPunct="1">
              <a:spcBef>
                <a:spcPct val="20000"/>
              </a:spcBef>
              <a:spcAft>
                <a:spcPct val="0"/>
              </a:spcAft>
              <a:buChar char="•"/>
              <a:defRPr kumimoji="1" sz="2000">
                <a:solidFill>
                  <a:schemeClr val="tx1"/>
                </a:solidFill>
                <a:latin typeface="Times New Roman" panose="02020603050405020304" pitchFamily="18" charset="0"/>
                <a:ea typeface="標楷體" pitchFamily="65" charset="-120"/>
                <a:cs typeface="Times New Roman" panose="02020603050405020304" pitchFamily="18" charset="0"/>
              </a:defRPr>
            </a:lvl3pPr>
            <a:lvl4pPr marL="1200121" indent="-171446" algn="l" rtl="0" eaLnBrk="1" fontAlgn="base" hangingPunct="1">
              <a:spcBef>
                <a:spcPct val="20000"/>
              </a:spcBef>
              <a:spcAft>
                <a:spcPct val="0"/>
              </a:spcAft>
              <a:buChar char="–"/>
              <a:defRPr kumimoji="1" sz="1800">
                <a:solidFill>
                  <a:schemeClr val="tx1"/>
                </a:solidFill>
                <a:latin typeface="Times New Roman" panose="02020603050405020304" pitchFamily="18" charset="0"/>
                <a:ea typeface="標楷體" pitchFamily="65" charset="-120"/>
                <a:cs typeface="Times New Roman" panose="02020603050405020304" pitchFamily="18" charset="0"/>
              </a:defRPr>
            </a:lvl4pPr>
            <a:lvl5pPr marL="1543012" indent="-171446" algn="l" rtl="0" eaLnBrk="1" fontAlgn="base" hangingPunct="1">
              <a:spcBef>
                <a:spcPct val="20000"/>
              </a:spcBef>
              <a:spcAft>
                <a:spcPct val="0"/>
              </a:spcAft>
              <a:buChar char="»"/>
              <a:defRPr kumimoji="1" sz="1600">
                <a:solidFill>
                  <a:schemeClr val="tx1"/>
                </a:solidFill>
                <a:latin typeface="Times New Roman" panose="02020603050405020304" pitchFamily="18" charset="0"/>
                <a:ea typeface="標楷體" pitchFamily="65" charset="-120"/>
                <a:cs typeface="Times New Roman" panose="02020603050405020304" pitchFamily="18" charset="0"/>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marL="297180" marR="193358" indent="-285750">
              <a:spcBef>
                <a:spcPts val="600"/>
              </a:spcBef>
            </a:pPr>
            <a:r>
              <a:rPr lang="en-US" sz="2000" kern="0" spc="-116" dirty="0"/>
              <a:t>A</a:t>
            </a:r>
            <a:r>
              <a:rPr lang="en-US" sz="2000" kern="0" spc="-71" dirty="0"/>
              <a:t> </a:t>
            </a:r>
            <a:r>
              <a:rPr lang="en-US" sz="2000" kern="0" spc="-26" dirty="0"/>
              <a:t>disadvantage</a:t>
            </a:r>
            <a:r>
              <a:rPr lang="en-US" sz="2000" kern="0" spc="8" dirty="0"/>
              <a:t> </a:t>
            </a:r>
            <a:r>
              <a:rPr lang="en-US" sz="2000" kern="0" dirty="0"/>
              <a:t>of</a:t>
            </a:r>
            <a:r>
              <a:rPr lang="en-US" sz="2000" kern="0" spc="-11" dirty="0"/>
              <a:t> </a:t>
            </a:r>
            <a:r>
              <a:rPr lang="en-US" sz="2000" kern="0" spc="-23" dirty="0"/>
              <a:t>structured</a:t>
            </a:r>
            <a:r>
              <a:rPr lang="en-US" sz="2000" kern="0" spc="4" dirty="0"/>
              <a:t> </a:t>
            </a:r>
            <a:r>
              <a:rPr lang="en-US" sz="2000" kern="0" spc="-19" dirty="0"/>
              <a:t>systems</a:t>
            </a:r>
            <a:r>
              <a:rPr lang="en-US" sz="2000" kern="0" spc="-15" dirty="0"/>
              <a:t> </a:t>
            </a:r>
            <a:r>
              <a:rPr lang="en-US" sz="2000" kern="0" dirty="0"/>
              <a:t>is</a:t>
            </a:r>
            <a:r>
              <a:rPr lang="en-US" sz="2000" kern="0" spc="-60" dirty="0"/>
              <a:t> </a:t>
            </a:r>
            <a:r>
              <a:rPr lang="en-US" sz="2000" kern="0" spc="-8" dirty="0"/>
              <a:t>that</a:t>
            </a:r>
            <a:r>
              <a:rPr lang="en-US" sz="2000" kern="0" spc="-41" dirty="0"/>
              <a:t> </a:t>
            </a:r>
            <a:r>
              <a:rPr lang="en-US" sz="2000" kern="0" dirty="0"/>
              <a:t>it</a:t>
            </a:r>
            <a:r>
              <a:rPr lang="en-US" sz="2000" kern="0" spc="-68" dirty="0"/>
              <a:t> </a:t>
            </a:r>
            <a:r>
              <a:rPr lang="en-US" sz="2000" kern="0" dirty="0"/>
              <a:t>is</a:t>
            </a:r>
            <a:r>
              <a:rPr lang="en-US" sz="2000" kern="0" spc="-64" dirty="0"/>
              <a:t> </a:t>
            </a:r>
            <a:r>
              <a:rPr lang="en-US" sz="2000" kern="0" spc="-8" dirty="0"/>
              <a:t>hard</a:t>
            </a:r>
            <a:r>
              <a:rPr lang="en-US" sz="2000" kern="0" spc="-75" dirty="0"/>
              <a:t> </a:t>
            </a:r>
            <a:r>
              <a:rPr lang="en-US" sz="2000" kern="0" dirty="0"/>
              <a:t>to</a:t>
            </a:r>
            <a:r>
              <a:rPr lang="en-US" sz="2000" kern="0" spc="-56" dirty="0"/>
              <a:t> </a:t>
            </a:r>
            <a:r>
              <a:rPr lang="en-US" sz="2000" kern="0" spc="-23" dirty="0"/>
              <a:t>maintain</a:t>
            </a:r>
            <a:r>
              <a:rPr lang="en-US" sz="2000" kern="0" spc="-8" dirty="0"/>
              <a:t> </a:t>
            </a:r>
            <a:r>
              <a:rPr lang="en-US" sz="2000" kern="0" spc="-19" dirty="0"/>
              <a:t>the structure</a:t>
            </a:r>
            <a:r>
              <a:rPr lang="en-US" sz="2000" kern="0" spc="-45" dirty="0"/>
              <a:t> </a:t>
            </a:r>
            <a:r>
              <a:rPr lang="en-US" sz="2000" kern="0" spc="-19" dirty="0"/>
              <a:t>required</a:t>
            </a:r>
            <a:r>
              <a:rPr lang="en-US" sz="2000" kern="0" spc="-15" dirty="0"/>
              <a:t> </a:t>
            </a:r>
            <a:r>
              <a:rPr lang="en-US" sz="2000" kern="0" dirty="0"/>
              <a:t>for</a:t>
            </a:r>
            <a:r>
              <a:rPr lang="en-US" sz="2000" kern="0" spc="-41" dirty="0"/>
              <a:t> </a:t>
            </a:r>
            <a:r>
              <a:rPr lang="en-US" sz="2000" kern="0" spc="-23" dirty="0"/>
              <a:t>efficiently</a:t>
            </a:r>
            <a:r>
              <a:rPr lang="en-US" sz="2000" kern="0" spc="8" dirty="0"/>
              <a:t> </a:t>
            </a:r>
            <a:r>
              <a:rPr lang="en-US" sz="2000" kern="0" spc="-15" dirty="0"/>
              <a:t>routing</a:t>
            </a:r>
            <a:r>
              <a:rPr lang="en-US" sz="2000" kern="0" spc="-23" dirty="0"/>
              <a:t> </a:t>
            </a:r>
            <a:r>
              <a:rPr lang="en-US" sz="2000" kern="0" spc="-30" dirty="0"/>
              <a:t>messages</a:t>
            </a:r>
            <a:r>
              <a:rPr lang="en-US" sz="2000" kern="0" spc="23" dirty="0"/>
              <a:t> </a:t>
            </a:r>
            <a:r>
              <a:rPr lang="en-US" sz="2000" kern="0" dirty="0"/>
              <a:t>in</a:t>
            </a:r>
            <a:r>
              <a:rPr lang="en-US" sz="2000" kern="0" spc="-90" dirty="0"/>
              <a:t> </a:t>
            </a:r>
            <a:r>
              <a:rPr lang="en-US" sz="2000" kern="0" dirty="0"/>
              <a:t>the</a:t>
            </a:r>
            <a:r>
              <a:rPr lang="en-US" sz="2000" kern="0" spc="-56" dirty="0"/>
              <a:t> </a:t>
            </a:r>
            <a:r>
              <a:rPr lang="en-US" sz="2000" kern="0" spc="-8" dirty="0"/>
              <a:t>face</a:t>
            </a:r>
            <a:r>
              <a:rPr lang="en-US" sz="2000" kern="0" spc="-45" dirty="0"/>
              <a:t> </a:t>
            </a:r>
            <a:r>
              <a:rPr lang="en-US" sz="2000" kern="0" dirty="0"/>
              <a:t>of</a:t>
            </a:r>
            <a:r>
              <a:rPr lang="en-US" sz="2000" kern="0" spc="-34" dirty="0"/>
              <a:t> </a:t>
            </a:r>
            <a:r>
              <a:rPr lang="en-US" sz="2000" kern="0" dirty="0"/>
              <a:t>a</a:t>
            </a:r>
            <a:r>
              <a:rPr lang="en-US" sz="2000" kern="0" spc="-98" dirty="0"/>
              <a:t> </a:t>
            </a:r>
            <a:r>
              <a:rPr lang="en-US" sz="2000" kern="0" spc="-15" dirty="0"/>
              <a:t>very </a:t>
            </a:r>
            <a:r>
              <a:rPr lang="en-US" sz="2000" kern="0" spc="-19" dirty="0"/>
              <a:t>transient</a:t>
            </a:r>
            <a:r>
              <a:rPr lang="en-US" sz="2000" kern="0" spc="-8" dirty="0"/>
              <a:t> </a:t>
            </a:r>
            <a:r>
              <a:rPr lang="en-US" sz="2000" kern="0" spc="-15" dirty="0"/>
              <a:t>node</a:t>
            </a:r>
            <a:r>
              <a:rPr lang="en-US" sz="2000" kern="0" spc="-75" dirty="0"/>
              <a:t> </a:t>
            </a:r>
            <a:r>
              <a:rPr lang="en-US" sz="2000" kern="0" spc="-23" dirty="0"/>
              <a:t>population,</a:t>
            </a:r>
            <a:r>
              <a:rPr lang="en-US" sz="2000" kern="0" spc="15" dirty="0"/>
              <a:t> </a:t>
            </a:r>
            <a:r>
              <a:rPr lang="en-US" sz="2000" kern="0" dirty="0"/>
              <a:t>in</a:t>
            </a:r>
            <a:r>
              <a:rPr lang="en-US" sz="2000" kern="0" spc="-75" dirty="0"/>
              <a:t> </a:t>
            </a:r>
            <a:r>
              <a:rPr lang="en-US" sz="2000" kern="0" spc="-26" dirty="0"/>
              <a:t>which</a:t>
            </a:r>
            <a:r>
              <a:rPr lang="en-US" sz="2000" kern="0" spc="-19" dirty="0"/>
              <a:t> </a:t>
            </a:r>
            <a:r>
              <a:rPr lang="en-US" sz="2000" kern="0" spc="-15" dirty="0"/>
              <a:t>nodes</a:t>
            </a:r>
            <a:r>
              <a:rPr lang="en-US" sz="2000" kern="0" spc="-49" dirty="0"/>
              <a:t> </a:t>
            </a:r>
            <a:r>
              <a:rPr lang="en-US" sz="2000" kern="0" dirty="0"/>
              <a:t>are</a:t>
            </a:r>
            <a:r>
              <a:rPr lang="en-US" sz="2000" kern="0" spc="-68" dirty="0"/>
              <a:t> </a:t>
            </a:r>
            <a:r>
              <a:rPr lang="en-US" sz="2000" kern="0" spc="-19" dirty="0"/>
              <a:t>joining</a:t>
            </a:r>
            <a:r>
              <a:rPr lang="en-US" sz="2000" kern="0" spc="-26" dirty="0"/>
              <a:t> </a:t>
            </a:r>
            <a:r>
              <a:rPr lang="en-US" sz="2000" kern="0" spc="-8" dirty="0"/>
              <a:t>and</a:t>
            </a:r>
            <a:r>
              <a:rPr lang="en-US" sz="2000" kern="0" spc="-71" dirty="0"/>
              <a:t> </a:t>
            </a:r>
            <a:r>
              <a:rPr lang="en-US" sz="2000" kern="0" spc="-15" dirty="0"/>
              <a:t>leaving</a:t>
            </a:r>
            <a:r>
              <a:rPr lang="en-US" sz="2000" kern="0" spc="-30" dirty="0"/>
              <a:t> </a:t>
            </a:r>
            <a:r>
              <a:rPr lang="en-US" sz="2000" kern="0" dirty="0"/>
              <a:t>at</a:t>
            </a:r>
            <a:r>
              <a:rPr lang="en-US" sz="2000" kern="0" spc="-60" dirty="0"/>
              <a:t> </a:t>
            </a:r>
            <a:r>
              <a:rPr lang="en-US" sz="2000" kern="0" spc="-38" dirty="0"/>
              <a:t>a </a:t>
            </a:r>
            <a:r>
              <a:rPr lang="en-US" sz="2000" kern="0" spc="-45" dirty="0"/>
              <a:t>high</a:t>
            </a:r>
            <a:r>
              <a:rPr lang="en-US" sz="2000" kern="0" spc="-49" dirty="0"/>
              <a:t> </a:t>
            </a:r>
            <a:r>
              <a:rPr lang="en-US" sz="2000" kern="0" spc="-8" dirty="0"/>
              <a:t>rate.</a:t>
            </a:r>
          </a:p>
          <a:p>
            <a:pPr marL="297180" marR="193358" indent="-285750">
              <a:lnSpc>
                <a:spcPct val="78500"/>
              </a:lnSpc>
              <a:spcBef>
                <a:spcPts val="600"/>
              </a:spcBef>
            </a:pPr>
            <a:endParaRPr lang="en-US" sz="2000" kern="0" dirty="0"/>
          </a:p>
          <a:p>
            <a:pPr marL="297180" marR="193358" indent="-285750">
              <a:spcBef>
                <a:spcPts val="600"/>
              </a:spcBef>
            </a:pPr>
            <a:r>
              <a:rPr lang="en-US" sz="2000" kern="0" spc="-30" dirty="0"/>
              <a:t>Typical</a:t>
            </a:r>
            <a:r>
              <a:rPr lang="en-US" sz="2000" kern="0" spc="-45" dirty="0"/>
              <a:t> </a:t>
            </a:r>
            <a:r>
              <a:rPr lang="en-US" sz="2000" kern="0" spc="-26" dirty="0"/>
              <a:t>examples</a:t>
            </a:r>
            <a:r>
              <a:rPr lang="en-US" sz="2000" kern="0" spc="19" dirty="0"/>
              <a:t> </a:t>
            </a:r>
            <a:r>
              <a:rPr lang="en-US" sz="2000" kern="0" dirty="0"/>
              <a:t>of</a:t>
            </a:r>
            <a:r>
              <a:rPr lang="en-US" sz="2000" kern="0" spc="-41" dirty="0"/>
              <a:t> </a:t>
            </a:r>
            <a:r>
              <a:rPr lang="en-US" sz="2000" kern="0" spc="-23" dirty="0"/>
              <a:t>structured</a:t>
            </a:r>
            <a:r>
              <a:rPr lang="en-US" sz="2000" kern="0" spc="-4" dirty="0"/>
              <a:t> </a:t>
            </a:r>
            <a:r>
              <a:rPr lang="en-US" sz="2000" kern="0" spc="-26" dirty="0"/>
              <a:t>systems</a:t>
            </a:r>
            <a:r>
              <a:rPr lang="en-US" sz="2000" kern="0" spc="-23" dirty="0"/>
              <a:t> </a:t>
            </a:r>
            <a:r>
              <a:rPr lang="en-US" sz="2000" kern="0" spc="-15" dirty="0"/>
              <a:t>include</a:t>
            </a:r>
            <a:r>
              <a:rPr lang="en-US" sz="2000" kern="0" spc="-38" dirty="0"/>
              <a:t> </a:t>
            </a:r>
            <a:r>
              <a:rPr lang="en-US" sz="2000" kern="0" spc="-15" dirty="0"/>
              <a:t>Chord,</a:t>
            </a:r>
            <a:r>
              <a:rPr lang="en-US" sz="2000" kern="0" spc="-41" dirty="0"/>
              <a:t> </a:t>
            </a:r>
            <a:r>
              <a:rPr lang="en-US" sz="2000" kern="0" spc="-23" dirty="0"/>
              <a:t>CAN,</a:t>
            </a:r>
            <a:r>
              <a:rPr lang="en-US" sz="2000" kern="0" spc="-71" dirty="0"/>
              <a:t> </a:t>
            </a:r>
            <a:r>
              <a:rPr lang="en-US" sz="2000" kern="0" spc="-23" dirty="0"/>
              <a:t>Tapestry,</a:t>
            </a:r>
            <a:r>
              <a:rPr lang="zh-CN" altLang="en-US" sz="2000" kern="0" spc="-23" dirty="0"/>
              <a:t> </a:t>
            </a:r>
            <a:r>
              <a:rPr lang="en-US" altLang="zh-CN" sz="2000" kern="0" spc="-23" dirty="0"/>
              <a:t>etc</a:t>
            </a:r>
            <a:r>
              <a:rPr lang="en-US" sz="2000" kern="0" spc="-8" dirty="0"/>
              <a:t>.</a:t>
            </a:r>
          </a:p>
        </p:txBody>
      </p:sp>
    </p:spTree>
    <p:extLst>
      <p:ext uri="{BB962C8B-B14F-4D97-AF65-F5344CB8AC3E}">
        <p14:creationId xmlns:p14="http://schemas.microsoft.com/office/powerpoint/2010/main" val="29952934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62525" y="142065"/>
            <a:ext cx="8002087" cy="440986"/>
          </a:xfrm>
          <a:prstGeom prst="rect">
            <a:avLst/>
          </a:prstGeom>
        </p:spPr>
        <p:txBody>
          <a:bodyPr vert="horz" wrap="square" lIns="0" tIns="55721" rIns="0" bIns="0" numCol="1" rtlCol="0" anchor="ctr" anchorCtr="0" compatLnSpc="1">
            <a:prstTxWarp prst="textNoShape">
              <a:avLst/>
            </a:prstTxWarp>
            <a:spAutoFit/>
          </a:bodyPr>
          <a:lstStyle/>
          <a:p>
            <a:pPr marL="18574" marR="3810" indent="1429">
              <a:lnSpc>
                <a:spcPts val="2978"/>
              </a:lnSpc>
              <a:spcBef>
                <a:spcPts val="439"/>
              </a:spcBef>
            </a:pPr>
            <a:r>
              <a:rPr lang="en-US" sz="3200" dirty="0"/>
              <a:t>Conclusion</a:t>
            </a:r>
            <a:endParaRPr sz="3200" dirty="0"/>
          </a:p>
        </p:txBody>
      </p:sp>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36</a:t>
            </a:fld>
            <a:endParaRPr lang="zh-TW" altLang="en-US"/>
          </a:p>
        </p:txBody>
      </p:sp>
      <p:sp>
        <p:nvSpPr>
          <p:cNvPr id="3" name="object 4">
            <a:extLst>
              <a:ext uri="{FF2B5EF4-FFF2-40B4-BE49-F238E27FC236}">
                <a16:creationId xmlns:a16="http://schemas.microsoft.com/office/drawing/2014/main" id="{3013FBCD-F610-4A4C-C324-F3A96784E256}"/>
              </a:ext>
            </a:extLst>
          </p:cNvPr>
          <p:cNvSpPr txBox="1">
            <a:spLocks/>
          </p:cNvSpPr>
          <p:nvPr/>
        </p:nvSpPr>
        <p:spPr bwMode="auto">
          <a:xfrm>
            <a:off x="962525" y="810278"/>
            <a:ext cx="7286326" cy="979114"/>
          </a:xfrm>
          <a:prstGeom prst="rect">
            <a:avLst/>
          </a:prstGeom>
          <a:noFill/>
          <a:ln w="9525">
            <a:noFill/>
            <a:miter lim="800000"/>
            <a:headEnd/>
            <a:tailEnd/>
          </a:ln>
        </p:spPr>
        <p:txBody>
          <a:bodyPr vert="horz" wrap="square" lIns="0" tIns="55245" rIns="0" bIns="0" numCol="1" rtlCol="0" anchor="t" anchorCtr="0" compatLnSpc="1">
            <a:prstTxWarp prst="textNoShape">
              <a:avLst/>
            </a:prstTxWarp>
            <a:spAutoFit/>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Times New Roman" panose="02020603050405020304" pitchFamily="18" charset="0"/>
                <a:ea typeface="標楷體" pitchFamily="65" charset="-120"/>
                <a:cs typeface="Times New Roman" panose="02020603050405020304" pitchFamily="18" charset="0"/>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Times New Roman" panose="02020603050405020304" pitchFamily="18" charset="0"/>
                <a:ea typeface="標楷體" pitchFamily="65" charset="-120"/>
                <a:cs typeface="Times New Roman" panose="02020603050405020304" pitchFamily="18" charset="0"/>
              </a:defRPr>
            </a:lvl2pPr>
            <a:lvl3pPr marL="857229" indent="-171446" algn="l" rtl="0" eaLnBrk="1" fontAlgn="base" hangingPunct="1">
              <a:spcBef>
                <a:spcPct val="20000"/>
              </a:spcBef>
              <a:spcAft>
                <a:spcPct val="0"/>
              </a:spcAft>
              <a:buChar char="•"/>
              <a:defRPr kumimoji="1" sz="2000">
                <a:solidFill>
                  <a:schemeClr val="tx1"/>
                </a:solidFill>
                <a:latin typeface="Times New Roman" panose="02020603050405020304" pitchFamily="18" charset="0"/>
                <a:ea typeface="標楷體" pitchFamily="65" charset="-120"/>
                <a:cs typeface="Times New Roman" panose="02020603050405020304" pitchFamily="18" charset="0"/>
              </a:defRPr>
            </a:lvl3pPr>
            <a:lvl4pPr marL="1200121" indent="-171446" algn="l" rtl="0" eaLnBrk="1" fontAlgn="base" hangingPunct="1">
              <a:spcBef>
                <a:spcPct val="20000"/>
              </a:spcBef>
              <a:spcAft>
                <a:spcPct val="0"/>
              </a:spcAft>
              <a:buChar char="–"/>
              <a:defRPr kumimoji="1" sz="1800">
                <a:solidFill>
                  <a:schemeClr val="tx1"/>
                </a:solidFill>
                <a:latin typeface="Times New Roman" panose="02020603050405020304" pitchFamily="18" charset="0"/>
                <a:ea typeface="標楷體" pitchFamily="65" charset="-120"/>
                <a:cs typeface="Times New Roman" panose="02020603050405020304" pitchFamily="18" charset="0"/>
              </a:defRPr>
            </a:lvl4pPr>
            <a:lvl5pPr marL="1543012" indent="-171446" algn="l" rtl="0" eaLnBrk="1" fontAlgn="base" hangingPunct="1">
              <a:spcBef>
                <a:spcPct val="20000"/>
              </a:spcBef>
              <a:spcAft>
                <a:spcPct val="0"/>
              </a:spcAft>
              <a:buChar char="»"/>
              <a:defRPr kumimoji="1" sz="1600">
                <a:solidFill>
                  <a:schemeClr val="tx1"/>
                </a:solidFill>
                <a:latin typeface="Times New Roman" panose="02020603050405020304" pitchFamily="18" charset="0"/>
                <a:ea typeface="標楷體" pitchFamily="65" charset="-120"/>
                <a:cs typeface="Times New Roman" panose="02020603050405020304" pitchFamily="18" charset="0"/>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marL="297180" marR="193358" indent="-285750">
              <a:spcBef>
                <a:spcPts val="435"/>
              </a:spcBef>
            </a:pPr>
            <a:r>
              <a:rPr lang="en-US" altLang="zh-CN" sz="2000" spc="-38" dirty="0"/>
              <a:t>The</a:t>
            </a:r>
            <a:r>
              <a:rPr lang="en-US" altLang="zh-CN" sz="2000" spc="-64" dirty="0"/>
              <a:t> </a:t>
            </a:r>
            <a:r>
              <a:rPr lang="en-US" altLang="zh-CN" sz="2000" spc="-38" dirty="0"/>
              <a:t>table</a:t>
            </a:r>
            <a:r>
              <a:rPr lang="en-US" altLang="zh-CN" sz="2000" spc="-60" dirty="0"/>
              <a:t> below </a:t>
            </a:r>
            <a:r>
              <a:rPr lang="en-US" altLang="zh-CN" sz="2000" spc="-53" dirty="0"/>
              <a:t>shows</a:t>
            </a:r>
            <a:r>
              <a:rPr lang="en-US" altLang="zh-CN" sz="2000" spc="-45" dirty="0"/>
              <a:t> </a:t>
            </a:r>
            <a:r>
              <a:rPr lang="en-US" altLang="zh-CN" sz="2000" dirty="0"/>
              <a:t>a</a:t>
            </a:r>
            <a:r>
              <a:rPr lang="en-US" altLang="zh-CN" sz="2000" spc="-98" dirty="0"/>
              <a:t> </a:t>
            </a:r>
            <a:r>
              <a:rPr lang="en-US" altLang="zh-CN" sz="2000" spc="-41" dirty="0"/>
              <a:t>classification</a:t>
            </a:r>
            <a:r>
              <a:rPr lang="en-US" altLang="zh-CN" sz="2000" spc="-56" dirty="0"/>
              <a:t> </a:t>
            </a:r>
            <a:r>
              <a:rPr lang="en-US" altLang="zh-CN" sz="2000" spc="-8" dirty="0"/>
              <a:t>of</a:t>
            </a:r>
            <a:r>
              <a:rPr lang="en-US" altLang="zh-CN" sz="2000" spc="-26" dirty="0"/>
              <a:t> </a:t>
            </a:r>
            <a:r>
              <a:rPr lang="en-US" altLang="zh-CN" sz="2000" spc="-68" dirty="0"/>
              <a:t>peer-</a:t>
            </a:r>
            <a:r>
              <a:rPr lang="en-US" altLang="zh-CN" sz="2000" spc="-56" dirty="0"/>
              <a:t>to-</a:t>
            </a:r>
            <a:r>
              <a:rPr lang="en-US" altLang="zh-CN" sz="2000" spc="-19" dirty="0"/>
              <a:t>peer</a:t>
            </a:r>
            <a:r>
              <a:rPr lang="en-US" altLang="zh-CN" sz="2000" spc="68" dirty="0"/>
              <a:t> </a:t>
            </a:r>
            <a:r>
              <a:rPr lang="en-US" altLang="zh-CN" sz="2000" spc="-45" dirty="0"/>
              <a:t>content</a:t>
            </a:r>
            <a:r>
              <a:rPr lang="en-US" altLang="zh-CN" sz="2000" spc="-8" dirty="0"/>
              <a:t> </a:t>
            </a:r>
            <a:r>
              <a:rPr lang="en-US" altLang="zh-CN" sz="2000" spc="-19" dirty="0"/>
              <a:t>distribution </a:t>
            </a:r>
            <a:r>
              <a:rPr lang="en-US" altLang="zh-CN" sz="2000" spc="-41" dirty="0"/>
              <a:t>systems</a:t>
            </a:r>
            <a:r>
              <a:rPr lang="en-US" altLang="zh-CN" sz="2000" spc="-60" dirty="0"/>
              <a:t> </a:t>
            </a:r>
            <a:r>
              <a:rPr lang="en-US" altLang="zh-CN" sz="2000" spc="-45" dirty="0"/>
              <a:t>and</a:t>
            </a:r>
            <a:r>
              <a:rPr lang="en-US" altLang="zh-CN" sz="2000" spc="-53" dirty="0"/>
              <a:t> </a:t>
            </a:r>
            <a:r>
              <a:rPr lang="en-US" altLang="zh-CN" sz="2000" spc="-41" dirty="0"/>
              <a:t>location</a:t>
            </a:r>
            <a:r>
              <a:rPr lang="en-US" altLang="zh-CN" sz="2000" spc="-15" dirty="0"/>
              <a:t> </a:t>
            </a:r>
            <a:r>
              <a:rPr lang="en-US" altLang="zh-CN" sz="2000" spc="-64" dirty="0"/>
              <a:t>and</a:t>
            </a:r>
            <a:r>
              <a:rPr lang="en-US" altLang="zh-CN" sz="2000" spc="-34" dirty="0"/>
              <a:t> </a:t>
            </a:r>
            <a:r>
              <a:rPr lang="en-US" altLang="zh-CN" sz="2000" spc="-41" dirty="0"/>
              <a:t>routing</a:t>
            </a:r>
            <a:r>
              <a:rPr lang="en-US" altLang="zh-CN" sz="2000" spc="-19" dirty="0"/>
              <a:t> </a:t>
            </a:r>
            <a:r>
              <a:rPr lang="en-US" altLang="zh-CN" sz="2000" spc="-41" dirty="0"/>
              <a:t>infrastructures</a:t>
            </a:r>
            <a:r>
              <a:rPr lang="en-US" altLang="zh-CN" sz="2000" spc="-56" dirty="0"/>
              <a:t> </a:t>
            </a:r>
            <a:r>
              <a:rPr lang="en-US" altLang="zh-CN" sz="2000" dirty="0"/>
              <a:t>in</a:t>
            </a:r>
            <a:r>
              <a:rPr lang="en-US" altLang="zh-CN" sz="2000" spc="-83" dirty="0"/>
              <a:t> </a:t>
            </a:r>
            <a:r>
              <a:rPr lang="en-US" altLang="zh-CN" sz="2000" spc="-45" dirty="0"/>
              <a:t>terms</a:t>
            </a:r>
            <a:r>
              <a:rPr lang="en-US" altLang="zh-CN" sz="2000" spc="-26" dirty="0"/>
              <a:t> </a:t>
            </a:r>
            <a:r>
              <a:rPr lang="en-US" altLang="zh-CN" sz="2000" spc="-8" dirty="0"/>
              <a:t>of</a:t>
            </a:r>
            <a:r>
              <a:rPr lang="en-US" altLang="zh-CN" sz="2000" spc="-19" dirty="0"/>
              <a:t> </a:t>
            </a:r>
            <a:r>
              <a:rPr lang="en-US" altLang="zh-CN" sz="2000" spc="-15" dirty="0"/>
              <a:t>their </a:t>
            </a:r>
            <a:r>
              <a:rPr lang="en-US" altLang="zh-CN" sz="2000" spc="-49" dirty="0"/>
              <a:t>Network</a:t>
            </a:r>
            <a:r>
              <a:rPr lang="en-US" altLang="zh-CN" sz="2000" spc="-34" dirty="0"/>
              <a:t> </a:t>
            </a:r>
            <a:r>
              <a:rPr lang="en-US" altLang="zh-CN" sz="2000" spc="-41" dirty="0"/>
              <a:t>structure,</a:t>
            </a:r>
            <a:r>
              <a:rPr lang="en-US" altLang="zh-CN" sz="2000" spc="-30" dirty="0"/>
              <a:t> with</a:t>
            </a:r>
            <a:r>
              <a:rPr lang="en-US" altLang="zh-CN" sz="2000" spc="-34" dirty="0"/>
              <a:t> </a:t>
            </a:r>
            <a:r>
              <a:rPr lang="en-US" altLang="zh-CN" sz="2000" spc="-64" dirty="0"/>
              <a:t>some</a:t>
            </a:r>
            <a:r>
              <a:rPr lang="en-US" altLang="zh-CN" sz="2000" spc="-34" dirty="0"/>
              <a:t> </a:t>
            </a:r>
            <a:r>
              <a:rPr lang="en-US" altLang="zh-CN" sz="2000" spc="-38" dirty="0"/>
              <a:t>typical</a:t>
            </a:r>
            <a:r>
              <a:rPr lang="en-US" altLang="zh-CN" sz="2000" spc="-26" dirty="0"/>
              <a:t> </a:t>
            </a:r>
            <a:r>
              <a:rPr lang="en-US" altLang="zh-CN" sz="2000" spc="-8" dirty="0"/>
              <a:t>examples</a:t>
            </a:r>
            <a:endParaRPr lang="en-US" sz="2000" kern="0" spc="-8" dirty="0"/>
          </a:p>
        </p:txBody>
      </p:sp>
      <p:pic>
        <p:nvPicPr>
          <p:cNvPr id="17" name="图片 16">
            <a:extLst>
              <a:ext uri="{FF2B5EF4-FFF2-40B4-BE49-F238E27FC236}">
                <a16:creationId xmlns:a16="http://schemas.microsoft.com/office/drawing/2014/main" id="{86DAD49B-BBA1-9E22-F564-F7673DB0FE6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684855" y="1832342"/>
            <a:ext cx="3821823" cy="2745446"/>
          </a:xfrm>
          <a:prstGeom prst="rect">
            <a:avLst/>
          </a:prstGeom>
        </p:spPr>
      </p:pic>
    </p:spTree>
    <p:extLst>
      <p:ext uri="{BB962C8B-B14F-4D97-AF65-F5344CB8AC3E}">
        <p14:creationId xmlns:p14="http://schemas.microsoft.com/office/powerpoint/2010/main" val="18789886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62525" y="142065"/>
            <a:ext cx="8002087" cy="440986"/>
          </a:xfrm>
          <a:prstGeom prst="rect">
            <a:avLst/>
          </a:prstGeom>
        </p:spPr>
        <p:txBody>
          <a:bodyPr vert="horz" wrap="square" lIns="0" tIns="55721" rIns="0" bIns="0" numCol="1" rtlCol="0" anchor="ctr" anchorCtr="0" compatLnSpc="1">
            <a:prstTxWarp prst="textNoShape">
              <a:avLst/>
            </a:prstTxWarp>
            <a:spAutoFit/>
          </a:bodyPr>
          <a:lstStyle/>
          <a:p>
            <a:pPr marL="18574" marR="3810" indent="1429">
              <a:lnSpc>
                <a:spcPts val="2978"/>
              </a:lnSpc>
              <a:spcBef>
                <a:spcPts val="439"/>
              </a:spcBef>
            </a:pPr>
            <a:r>
              <a:rPr lang="en-US" altLang="zh-CN" sz="3200" dirty="0"/>
              <a:t>References</a:t>
            </a:r>
            <a:endParaRPr sz="3200" dirty="0"/>
          </a:p>
        </p:txBody>
      </p:sp>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37</a:t>
            </a:fld>
            <a:endParaRPr lang="zh-TW" altLang="en-US"/>
          </a:p>
        </p:txBody>
      </p:sp>
      <p:sp>
        <p:nvSpPr>
          <p:cNvPr id="3" name="object 4">
            <a:extLst>
              <a:ext uri="{FF2B5EF4-FFF2-40B4-BE49-F238E27FC236}">
                <a16:creationId xmlns:a16="http://schemas.microsoft.com/office/drawing/2014/main" id="{3013FBCD-F610-4A4C-C324-F3A96784E256}"/>
              </a:ext>
            </a:extLst>
          </p:cNvPr>
          <p:cNvSpPr txBox="1">
            <a:spLocks/>
          </p:cNvSpPr>
          <p:nvPr/>
        </p:nvSpPr>
        <p:spPr bwMode="auto">
          <a:xfrm>
            <a:off x="962525" y="848778"/>
            <a:ext cx="7713330" cy="785215"/>
          </a:xfrm>
          <a:prstGeom prst="rect">
            <a:avLst/>
          </a:prstGeom>
          <a:noFill/>
          <a:ln w="9525">
            <a:noFill/>
            <a:miter lim="800000"/>
            <a:headEnd/>
            <a:tailEnd/>
          </a:ln>
        </p:spPr>
        <p:txBody>
          <a:bodyPr vert="horz" wrap="square" lIns="0" tIns="55245" rIns="0" bIns="0" numCol="1" rtlCol="0" anchor="t" anchorCtr="0" compatLnSpc="1">
            <a:prstTxWarp prst="textNoShape">
              <a:avLst/>
            </a:prstTxWarp>
            <a:spAutoFit/>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Times New Roman" panose="02020603050405020304" pitchFamily="18" charset="0"/>
                <a:ea typeface="標楷體" pitchFamily="65" charset="-120"/>
                <a:cs typeface="Times New Roman" panose="02020603050405020304" pitchFamily="18" charset="0"/>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Times New Roman" panose="02020603050405020304" pitchFamily="18" charset="0"/>
                <a:ea typeface="標楷體" pitchFamily="65" charset="-120"/>
                <a:cs typeface="Times New Roman" panose="02020603050405020304" pitchFamily="18" charset="0"/>
              </a:defRPr>
            </a:lvl2pPr>
            <a:lvl3pPr marL="857229" indent="-171446" algn="l" rtl="0" eaLnBrk="1" fontAlgn="base" hangingPunct="1">
              <a:spcBef>
                <a:spcPct val="20000"/>
              </a:spcBef>
              <a:spcAft>
                <a:spcPct val="0"/>
              </a:spcAft>
              <a:buChar char="•"/>
              <a:defRPr kumimoji="1" sz="2000">
                <a:solidFill>
                  <a:schemeClr val="tx1"/>
                </a:solidFill>
                <a:latin typeface="Times New Roman" panose="02020603050405020304" pitchFamily="18" charset="0"/>
                <a:ea typeface="標楷體" pitchFamily="65" charset="-120"/>
                <a:cs typeface="Times New Roman" panose="02020603050405020304" pitchFamily="18" charset="0"/>
              </a:defRPr>
            </a:lvl3pPr>
            <a:lvl4pPr marL="1200121" indent="-171446" algn="l" rtl="0" eaLnBrk="1" fontAlgn="base" hangingPunct="1">
              <a:spcBef>
                <a:spcPct val="20000"/>
              </a:spcBef>
              <a:spcAft>
                <a:spcPct val="0"/>
              </a:spcAft>
              <a:buChar char="–"/>
              <a:defRPr kumimoji="1" sz="1800">
                <a:solidFill>
                  <a:schemeClr val="tx1"/>
                </a:solidFill>
                <a:latin typeface="Times New Roman" panose="02020603050405020304" pitchFamily="18" charset="0"/>
                <a:ea typeface="標楷體" pitchFamily="65" charset="-120"/>
                <a:cs typeface="Times New Roman" panose="02020603050405020304" pitchFamily="18" charset="0"/>
              </a:defRPr>
            </a:lvl4pPr>
            <a:lvl5pPr marL="1543012" indent="-171446" algn="l" rtl="0" eaLnBrk="1" fontAlgn="base" hangingPunct="1">
              <a:spcBef>
                <a:spcPct val="20000"/>
              </a:spcBef>
              <a:spcAft>
                <a:spcPct val="0"/>
              </a:spcAft>
              <a:buChar char="»"/>
              <a:defRPr kumimoji="1" sz="1600">
                <a:solidFill>
                  <a:schemeClr val="tx1"/>
                </a:solidFill>
                <a:latin typeface="Times New Roman" panose="02020603050405020304" pitchFamily="18" charset="0"/>
                <a:ea typeface="標楷體" pitchFamily="65" charset="-120"/>
                <a:cs typeface="Times New Roman" panose="02020603050405020304" pitchFamily="18" charset="0"/>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marL="297180" marR="193358" indent="-285750">
              <a:lnSpc>
                <a:spcPct val="78500"/>
              </a:lnSpc>
              <a:spcBef>
                <a:spcPts val="435"/>
              </a:spcBef>
            </a:pPr>
            <a:r>
              <a:rPr lang="en-US" altLang="zh-CN" sz="2000" spc="-38" dirty="0"/>
              <a:t>The</a:t>
            </a:r>
            <a:r>
              <a:rPr lang="en-US" altLang="zh-CN" sz="2000" spc="-64" dirty="0"/>
              <a:t> </a:t>
            </a:r>
            <a:r>
              <a:rPr lang="en-US" altLang="zh-CN" sz="2000" spc="-38" dirty="0"/>
              <a:t>table</a:t>
            </a:r>
            <a:r>
              <a:rPr lang="en-US" altLang="zh-CN" sz="2000" spc="-60" dirty="0"/>
              <a:t> below </a:t>
            </a:r>
            <a:r>
              <a:rPr lang="en-US" altLang="zh-CN" sz="2000" spc="-53" dirty="0"/>
              <a:t>shows</a:t>
            </a:r>
            <a:r>
              <a:rPr lang="en-US" altLang="zh-CN" sz="2000" spc="-45" dirty="0"/>
              <a:t> </a:t>
            </a:r>
            <a:r>
              <a:rPr lang="en-US" altLang="zh-CN" sz="2000" dirty="0"/>
              <a:t>a</a:t>
            </a:r>
            <a:r>
              <a:rPr lang="en-US" altLang="zh-CN" sz="2000" spc="-98" dirty="0"/>
              <a:t> </a:t>
            </a:r>
            <a:r>
              <a:rPr lang="en-US" altLang="zh-CN" sz="2000" spc="-41" dirty="0"/>
              <a:t>classification</a:t>
            </a:r>
            <a:r>
              <a:rPr lang="en-US" altLang="zh-CN" sz="2000" spc="-56" dirty="0"/>
              <a:t> </a:t>
            </a:r>
            <a:r>
              <a:rPr lang="en-US" altLang="zh-CN" sz="2000" spc="-8" dirty="0"/>
              <a:t>of</a:t>
            </a:r>
            <a:r>
              <a:rPr lang="en-US" altLang="zh-CN" sz="2000" spc="-26" dirty="0"/>
              <a:t> </a:t>
            </a:r>
            <a:r>
              <a:rPr lang="en-US" altLang="zh-CN" sz="2000" spc="-68" dirty="0"/>
              <a:t>peer-</a:t>
            </a:r>
            <a:r>
              <a:rPr lang="en-US" altLang="zh-CN" sz="2000" spc="-56" dirty="0"/>
              <a:t>to-</a:t>
            </a:r>
            <a:r>
              <a:rPr lang="en-US" altLang="zh-CN" sz="2000" spc="-19" dirty="0"/>
              <a:t>peer</a:t>
            </a:r>
            <a:r>
              <a:rPr lang="en-US" altLang="zh-CN" sz="2000" spc="68" dirty="0"/>
              <a:t> </a:t>
            </a:r>
            <a:r>
              <a:rPr lang="en-US" altLang="zh-CN" sz="2000" spc="-45" dirty="0"/>
              <a:t>content</a:t>
            </a:r>
            <a:r>
              <a:rPr lang="en-US" altLang="zh-CN" sz="2000" spc="-8" dirty="0"/>
              <a:t> </a:t>
            </a:r>
            <a:r>
              <a:rPr lang="en-US" altLang="zh-CN" sz="2000" spc="-19" dirty="0"/>
              <a:t>distribution </a:t>
            </a:r>
            <a:r>
              <a:rPr lang="en-US" altLang="zh-CN" sz="2000" spc="-41" dirty="0"/>
              <a:t>systems</a:t>
            </a:r>
            <a:r>
              <a:rPr lang="en-US" altLang="zh-CN" sz="2000" spc="-60" dirty="0"/>
              <a:t> </a:t>
            </a:r>
            <a:r>
              <a:rPr lang="en-US" altLang="zh-CN" sz="2000" spc="-45" dirty="0"/>
              <a:t>and</a:t>
            </a:r>
            <a:r>
              <a:rPr lang="en-US" altLang="zh-CN" sz="2000" spc="-53" dirty="0"/>
              <a:t> </a:t>
            </a:r>
            <a:r>
              <a:rPr lang="en-US" altLang="zh-CN" sz="2000" spc="-41" dirty="0"/>
              <a:t>location</a:t>
            </a:r>
            <a:r>
              <a:rPr lang="en-US" altLang="zh-CN" sz="2000" spc="-15" dirty="0"/>
              <a:t> </a:t>
            </a:r>
            <a:r>
              <a:rPr lang="en-US" altLang="zh-CN" sz="2000" spc="-64" dirty="0"/>
              <a:t>and</a:t>
            </a:r>
            <a:r>
              <a:rPr lang="en-US" altLang="zh-CN" sz="2000" spc="-34" dirty="0"/>
              <a:t> </a:t>
            </a:r>
            <a:r>
              <a:rPr lang="en-US" altLang="zh-CN" sz="2000" spc="-41" dirty="0"/>
              <a:t>routing</a:t>
            </a:r>
            <a:r>
              <a:rPr lang="en-US" altLang="zh-CN" sz="2000" spc="-19" dirty="0"/>
              <a:t> </a:t>
            </a:r>
            <a:r>
              <a:rPr lang="en-US" altLang="zh-CN" sz="2000" spc="-41" dirty="0"/>
              <a:t>infrastructures</a:t>
            </a:r>
            <a:r>
              <a:rPr lang="en-US" altLang="zh-CN" sz="2000" spc="-56" dirty="0"/>
              <a:t> </a:t>
            </a:r>
            <a:r>
              <a:rPr lang="en-US" altLang="zh-CN" sz="2000" dirty="0"/>
              <a:t>in</a:t>
            </a:r>
            <a:r>
              <a:rPr lang="en-US" altLang="zh-CN" sz="2000" spc="-83" dirty="0"/>
              <a:t> </a:t>
            </a:r>
            <a:r>
              <a:rPr lang="en-US" altLang="zh-CN" sz="2000" spc="-45" dirty="0"/>
              <a:t>terms</a:t>
            </a:r>
            <a:r>
              <a:rPr lang="en-US" altLang="zh-CN" sz="2000" spc="-26" dirty="0"/>
              <a:t> </a:t>
            </a:r>
            <a:r>
              <a:rPr lang="en-US" altLang="zh-CN" sz="2000" spc="-8" dirty="0"/>
              <a:t>of</a:t>
            </a:r>
            <a:r>
              <a:rPr lang="en-US" altLang="zh-CN" sz="2000" spc="-19" dirty="0"/>
              <a:t> </a:t>
            </a:r>
            <a:r>
              <a:rPr lang="en-US" altLang="zh-CN" sz="2000" spc="-15" dirty="0"/>
              <a:t>their </a:t>
            </a:r>
            <a:r>
              <a:rPr lang="en-US" altLang="zh-CN" sz="2000" spc="-49" dirty="0"/>
              <a:t>Network</a:t>
            </a:r>
            <a:r>
              <a:rPr lang="en-US" altLang="zh-CN" sz="2000" spc="-34" dirty="0"/>
              <a:t> </a:t>
            </a:r>
            <a:r>
              <a:rPr lang="en-US" altLang="zh-CN" sz="2000" spc="-41" dirty="0"/>
              <a:t>structure,</a:t>
            </a:r>
            <a:r>
              <a:rPr lang="en-US" altLang="zh-CN" sz="2000" spc="-30" dirty="0"/>
              <a:t> with</a:t>
            </a:r>
            <a:r>
              <a:rPr lang="en-US" altLang="zh-CN" sz="2000" spc="-34" dirty="0"/>
              <a:t> </a:t>
            </a:r>
            <a:r>
              <a:rPr lang="en-US" altLang="zh-CN" sz="2000" spc="-64" dirty="0"/>
              <a:t>some</a:t>
            </a:r>
            <a:r>
              <a:rPr lang="en-US" altLang="zh-CN" sz="2000" spc="-34" dirty="0"/>
              <a:t> </a:t>
            </a:r>
            <a:r>
              <a:rPr lang="en-US" altLang="zh-CN" sz="2000" spc="-38" dirty="0"/>
              <a:t>typical</a:t>
            </a:r>
            <a:r>
              <a:rPr lang="en-US" altLang="zh-CN" sz="2000" spc="-26" dirty="0"/>
              <a:t> </a:t>
            </a:r>
            <a:r>
              <a:rPr lang="en-US" altLang="zh-CN" sz="2000" spc="-8" dirty="0"/>
              <a:t>examples</a:t>
            </a:r>
            <a:endParaRPr lang="en-US" sz="1900" kern="0" spc="-8" dirty="0"/>
          </a:p>
        </p:txBody>
      </p:sp>
      <p:pic>
        <p:nvPicPr>
          <p:cNvPr id="7" name="图片 6">
            <a:extLst>
              <a:ext uri="{FF2B5EF4-FFF2-40B4-BE49-F238E27FC236}">
                <a16:creationId xmlns:a16="http://schemas.microsoft.com/office/drawing/2014/main" id="{645C6C36-C0C5-E96E-B665-89F330377582}"/>
              </a:ext>
            </a:extLst>
          </p:cNvPr>
          <p:cNvPicPr>
            <a:picLocks noChangeAspect="1"/>
          </p:cNvPicPr>
          <p:nvPr/>
        </p:nvPicPr>
        <p:blipFill>
          <a:blip r:embed="rId2"/>
          <a:stretch>
            <a:fillRect/>
          </a:stretch>
        </p:blipFill>
        <p:spPr>
          <a:xfrm>
            <a:off x="1757102" y="1717288"/>
            <a:ext cx="5798730" cy="2873963"/>
          </a:xfrm>
          <a:prstGeom prst="rect">
            <a:avLst/>
          </a:prstGeom>
        </p:spPr>
      </p:pic>
    </p:spTree>
    <p:extLst>
      <p:ext uri="{BB962C8B-B14F-4D97-AF65-F5344CB8AC3E}">
        <p14:creationId xmlns:p14="http://schemas.microsoft.com/office/powerpoint/2010/main" val="40556264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8EE8EBCA-A78B-110F-EE80-4CD85F9CE070}"/>
              </a:ext>
            </a:extLst>
          </p:cNvPr>
          <p:cNvSpPr>
            <a:spLocks noGrp="1"/>
          </p:cNvSpPr>
          <p:nvPr>
            <p:ph type="sldNum" sz="quarter" idx="10"/>
          </p:nvPr>
        </p:nvSpPr>
        <p:spPr/>
        <p:txBody>
          <a:bodyPr/>
          <a:lstStyle/>
          <a:p>
            <a:fld id="{D9B6BDF2-6896-4B98-8776-C18582F63BA5}" type="slidenum">
              <a:rPr lang="zh-TW" altLang="en-US" smtClean="0"/>
              <a:pPr/>
              <a:t>38</a:t>
            </a:fld>
            <a:endParaRPr lang="zh-TW" altLang="en-US"/>
          </a:p>
        </p:txBody>
      </p:sp>
      <p:sp>
        <p:nvSpPr>
          <p:cNvPr id="3" name="object 4">
            <a:extLst>
              <a:ext uri="{FF2B5EF4-FFF2-40B4-BE49-F238E27FC236}">
                <a16:creationId xmlns:a16="http://schemas.microsoft.com/office/drawing/2014/main" id="{3013FBCD-F610-4A4C-C324-F3A96784E256}"/>
              </a:ext>
            </a:extLst>
          </p:cNvPr>
          <p:cNvSpPr txBox="1">
            <a:spLocks/>
          </p:cNvSpPr>
          <p:nvPr/>
        </p:nvSpPr>
        <p:spPr bwMode="auto">
          <a:xfrm>
            <a:off x="715335" y="2215627"/>
            <a:ext cx="7713330" cy="712246"/>
          </a:xfrm>
          <a:prstGeom prst="rect">
            <a:avLst/>
          </a:prstGeom>
          <a:noFill/>
          <a:ln w="9525">
            <a:noFill/>
            <a:miter lim="800000"/>
            <a:headEnd/>
            <a:tailEnd/>
          </a:ln>
        </p:spPr>
        <p:txBody>
          <a:bodyPr vert="horz" wrap="square" lIns="0" tIns="55245" rIns="0" bIns="0" numCol="1" rtlCol="0" anchor="t" anchorCtr="0" compatLnSpc="1">
            <a:prstTxWarp prst="textNoShape">
              <a:avLst/>
            </a:prstTxWarp>
            <a:spAutoFit/>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Times New Roman" panose="02020603050405020304" pitchFamily="18" charset="0"/>
                <a:ea typeface="標楷體" pitchFamily="65" charset="-120"/>
                <a:cs typeface="Times New Roman" panose="02020603050405020304" pitchFamily="18" charset="0"/>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Times New Roman" panose="02020603050405020304" pitchFamily="18" charset="0"/>
                <a:ea typeface="標楷體" pitchFamily="65" charset="-120"/>
                <a:cs typeface="Times New Roman" panose="02020603050405020304" pitchFamily="18" charset="0"/>
              </a:defRPr>
            </a:lvl2pPr>
            <a:lvl3pPr marL="857229" indent="-171446" algn="l" rtl="0" eaLnBrk="1" fontAlgn="base" hangingPunct="1">
              <a:spcBef>
                <a:spcPct val="20000"/>
              </a:spcBef>
              <a:spcAft>
                <a:spcPct val="0"/>
              </a:spcAft>
              <a:buChar char="•"/>
              <a:defRPr kumimoji="1" sz="2000">
                <a:solidFill>
                  <a:schemeClr val="tx1"/>
                </a:solidFill>
                <a:latin typeface="Times New Roman" panose="02020603050405020304" pitchFamily="18" charset="0"/>
                <a:ea typeface="標楷體" pitchFamily="65" charset="-120"/>
                <a:cs typeface="Times New Roman" panose="02020603050405020304" pitchFamily="18" charset="0"/>
              </a:defRPr>
            </a:lvl3pPr>
            <a:lvl4pPr marL="1200121" indent="-171446" algn="l" rtl="0" eaLnBrk="1" fontAlgn="base" hangingPunct="1">
              <a:spcBef>
                <a:spcPct val="20000"/>
              </a:spcBef>
              <a:spcAft>
                <a:spcPct val="0"/>
              </a:spcAft>
              <a:buChar char="–"/>
              <a:defRPr kumimoji="1" sz="1800">
                <a:solidFill>
                  <a:schemeClr val="tx1"/>
                </a:solidFill>
                <a:latin typeface="Times New Roman" panose="02020603050405020304" pitchFamily="18" charset="0"/>
                <a:ea typeface="標楷體" pitchFamily="65" charset="-120"/>
                <a:cs typeface="Times New Roman" panose="02020603050405020304" pitchFamily="18" charset="0"/>
              </a:defRPr>
            </a:lvl4pPr>
            <a:lvl5pPr marL="1543012" indent="-171446" algn="l" rtl="0" eaLnBrk="1" fontAlgn="base" hangingPunct="1">
              <a:spcBef>
                <a:spcPct val="20000"/>
              </a:spcBef>
              <a:spcAft>
                <a:spcPct val="0"/>
              </a:spcAft>
              <a:buChar char="»"/>
              <a:defRPr kumimoji="1" sz="1600">
                <a:solidFill>
                  <a:schemeClr val="tx1"/>
                </a:solidFill>
                <a:latin typeface="Times New Roman" panose="02020603050405020304" pitchFamily="18" charset="0"/>
                <a:ea typeface="標楷體" pitchFamily="65" charset="-120"/>
                <a:cs typeface="Times New Roman" panose="02020603050405020304" pitchFamily="18" charset="0"/>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marL="11430" marR="193358" indent="0" algn="ctr">
              <a:lnSpc>
                <a:spcPct val="78500"/>
              </a:lnSpc>
              <a:spcBef>
                <a:spcPts val="435"/>
              </a:spcBef>
              <a:buNone/>
            </a:pPr>
            <a:r>
              <a:rPr lang="en-US" altLang="zh-CN" sz="5400" spc="-38" dirty="0">
                <a:solidFill>
                  <a:srgbClr val="0000FF"/>
                </a:solidFill>
              </a:rPr>
              <a:t>Q &amp; A</a:t>
            </a:r>
            <a:endParaRPr lang="en-US" sz="5400" kern="0" spc="-8" dirty="0">
              <a:solidFill>
                <a:srgbClr val="0000FF"/>
              </a:solidFill>
            </a:endParaRPr>
          </a:p>
        </p:txBody>
      </p:sp>
    </p:spTree>
    <p:extLst>
      <p:ext uri="{BB962C8B-B14F-4D97-AF65-F5344CB8AC3E}">
        <p14:creationId xmlns:p14="http://schemas.microsoft.com/office/powerpoint/2010/main" val="2549703697"/>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2969</TotalTime>
  <Words>2159</Words>
  <Application>Microsoft Office PowerPoint</Application>
  <PresentationFormat>全屏显示(16:9)</PresentationFormat>
  <Paragraphs>243</Paragraphs>
  <Slides>38</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38</vt:i4>
      </vt:variant>
    </vt:vector>
  </HeadingPairs>
  <TitlesOfParts>
    <vt:vector size="46" baseType="lpstr">
      <vt:lpstr>DFKai-SB</vt:lpstr>
      <vt:lpstr>MS Sans Serif</vt:lpstr>
      <vt:lpstr>Arial</vt:lpstr>
      <vt:lpstr>Calibri</vt:lpstr>
      <vt:lpstr>Symbol</vt:lpstr>
      <vt:lpstr>Times New Roman</vt:lpstr>
      <vt:lpstr>Wingdings</vt:lpstr>
      <vt:lpstr>NTHU UniCloud</vt:lpstr>
      <vt:lpstr>CSC6032 – Advanced Operating Systems Peer-to-Peer Systems</vt:lpstr>
      <vt:lpstr>PowerPoint 演示文稿</vt:lpstr>
      <vt:lpstr>A Basic Definition of P2P</vt:lpstr>
      <vt:lpstr>Definition of P2P Network</vt:lpstr>
      <vt:lpstr>Peer-to-Peer Architecture</vt:lpstr>
      <vt:lpstr>Purely Decentralized Architecture (1) </vt:lpstr>
      <vt:lpstr>Purely Decentralized Architectures (2) </vt:lpstr>
      <vt:lpstr>Purely Decentralized Architectures (3) </vt:lpstr>
      <vt:lpstr>Hybrid Decentralized Architectures (1) </vt:lpstr>
      <vt:lpstr>Hybrid Decentralized Architectures (2) </vt:lpstr>
      <vt:lpstr>Hybrid Decentralized Architectures (3) </vt:lpstr>
      <vt:lpstr>Hybrid Decentralized Architectures (4)</vt:lpstr>
      <vt:lpstr>Hybrid Decentralized Architectures (5)</vt:lpstr>
      <vt:lpstr>Hybrid Decentralized Architectures (6)</vt:lpstr>
      <vt:lpstr>Hybrid Decentralized Architectures (7)</vt:lpstr>
      <vt:lpstr>Hybrid Decentralized Architectures (8)</vt:lpstr>
      <vt:lpstr>Partially Centralized Architectures</vt:lpstr>
      <vt:lpstr>Partially Centralized Systems (1)</vt:lpstr>
      <vt:lpstr>Partially Centralized Systems (2)</vt:lpstr>
      <vt:lpstr>Discovery Mechanisms for P2P Systems</vt:lpstr>
      <vt:lpstr>Centralized Indexes and Repositories</vt:lpstr>
      <vt:lpstr>Flooding Broadcast of Queries</vt:lpstr>
      <vt:lpstr>Problems of Flooding</vt:lpstr>
      <vt:lpstr>Routing Model</vt:lpstr>
      <vt:lpstr>Chord (1)</vt:lpstr>
      <vt:lpstr>Chord (2)</vt:lpstr>
      <vt:lpstr>Freenet</vt:lpstr>
      <vt:lpstr>Pastry</vt:lpstr>
      <vt:lpstr>CAN (Content Addressable Network)</vt:lpstr>
      <vt:lpstr>Tapestry (1)</vt:lpstr>
      <vt:lpstr>Tapestry (2)</vt:lpstr>
      <vt:lpstr>Tapestry (3)</vt:lpstr>
      <vt:lpstr>Tapestry (4)</vt:lpstr>
      <vt:lpstr>When to Consider Structured P2P Systems (1) </vt:lpstr>
      <vt:lpstr>When to Consider Structured P2P Systems (2) </vt:lpstr>
      <vt:lpstr>Conclusion</vt:lpstr>
      <vt:lpstr>References</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cp:lastModifiedBy>
  <cp:revision>315</cp:revision>
  <dcterms:created xsi:type="dcterms:W3CDTF">2015-06-05T07:23:35Z</dcterms:created>
  <dcterms:modified xsi:type="dcterms:W3CDTF">2026-09-28T08:55:34Z</dcterms:modified>
</cp:coreProperties>
</file>