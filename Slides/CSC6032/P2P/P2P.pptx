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132" y="1616273"/>
            <a:ext cx="7902773" cy="406300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09992" y="3679031"/>
            <a:ext cx="89296" cy="3571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40353" y="264864"/>
            <a:ext cx="4078604" cy="539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E9380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E9380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4266" y="4563070"/>
            <a:ext cx="2080616" cy="17859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E9380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E9380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8083" y="151010"/>
            <a:ext cx="7424396" cy="16398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E9380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7780" y="1970377"/>
            <a:ext cx="8014334" cy="1851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2.png"/><Relationship Id="rId21" Type="http://schemas.openxmlformats.org/officeDocument/2006/relationships/image" Target="../media/image40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21.jp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jpg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jpg"/><Relationship Id="rId4" Type="http://schemas.openxmlformats.org/officeDocument/2006/relationships/image" Target="../media/image72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jpg"/><Relationship Id="rId3" Type="http://schemas.openxmlformats.org/officeDocument/2006/relationships/image" Target="../media/image79.jpg"/><Relationship Id="rId7" Type="http://schemas.openxmlformats.org/officeDocument/2006/relationships/image" Target="../media/image83.jp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jpg"/><Relationship Id="rId9" Type="http://schemas.openxmlformats.org/officeDocument/2006/relationships/image" Target="../media/image85.jp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jpg"/><Relationship Id="rId3" Type="http://schemas.openxmlformats.org/officeDocument/2006/relationships/image" Target="../media/image88.jpg"/><Relationship Id="rId7" Type="http://schemas.openxmlformats.org/officeDocument/2006/relationships/image" Target="../media/image92.jpg"/><Relationship Id="rId12" Type="http://schemas.openxmlformats.org/officeDocument/2006/relationships/image" Target="../media/image97.jp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jpg"/><Relationship Id="rId10" Type="http://schemas.openxmlformats.org/officeDocument/2006/relationships/image" Target="../media/image95.jpg"/><Relationship Id="rId4" Type="http://schemas.openxmlformats.org/officeDocument/2006/relationships/image" Target="../media/image89.jpg"/><Relationship Id="rId9" Type="http://schemas.openxmlformats.org/officeDocument/2006/relationships/image" Target="../media/image94.jp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g"/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jpg"/><Relationship Id="rId5" Type="http://schemas.openxmlformats.org/officeDocument/2006/relationships/image" Target="../media/image103.jpg"/><Relationship Id="rId4" Type="http://schemas.openxmlformats.org/officeDocument/2006/relationships/image" Target="../media/image102.jp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75" y="991195"/>
            <a:ext cx="4214812" cy="55453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3304" y="446483"/>
            <a:ext cx="7742555" cy="4893945"/>
            <a:chOff x="723304" y="446483"/>
            <a:chExt cx="7742555" cy="48939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3304" y="446483"/>
              <a:ext cx="7742039" cy="489346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0093" y="2719090"/>
              <a:ext cx="1334988" cy="102244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442610" y="168373"/>
            <a:ext cx="575691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165" dirty="0">
                <a:solidFill>
                  <a:srgbClr val="FB3300"/>
                </a:solidFill>
                <a:latin typeface="Calibri"/>
                <a:cs typeface="Calibri"/>
              </a:rPr>
              <a:t>Application-</a:t>
            </a:r>
            <a:r>
              <a:rPr sz="4200" spc="155" dirty="0">
                <a:solidFill>
                  <a:srgbClr val="FB3300"/>
                </a:solidFill>
                <a:latin typeface="Calibri"/>
                <a:cs typeface="Calibri"/>
              </a:rPr>
              <a:t>level</a:t>
            </a:r>
            <a:r>
              <a:rPr sz="4200" spc="745" dirty="0">
                <a:solidFill>
                  <a:srgbClr val="FB3300"/>
                </a:solidFill>
                <a:latin typeface="Calibri"/>
                <a:cs typeface="Calibri"/>
              </a:rPr>
              <a:t> </a:t>
            </a:r>
            <a:r>
              <a:rPr sz="4200" spc="165" dirty="0">
                <a:solidFill>
                  <a:srgbClr val="F93407"/>
                </a:solidFill>
                <a:latin typeface="Calibri"/>
                <a:cs typeface="Calibri"/>
              </a:rPr>
              <a:t>overla</a:t>
            </a:r>
            <a:endParaRPr sz="4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29123" y="1003300"/>
            <a:ext cx="4424680" cy="397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09035" algn="l"/>
              </a:tabLst>
            </a:pPr>
            <a:r>
              <a:rPr sz="2450" dirty="0">
                <a:latin typeface="Times New Roman"/>
                <a:cs typeface="Times New Roman"/>
              </a:rPr>
              <a:t>Site</a:t>
            </a:r>
            <a:r>
              <a:rPr sz="2450" spc="-70" dirty="0">
                <a:latin typeface="Times New Roman"/>
                <a:cs typeface="Times New Roman"/>
              </a:rPr>
              <a:t> </a:t>
            </a:r>
            <a:r>
              <a:rPr sz="2450" spc="-50" dirty="0">
                <a:latin typeface="Times New Roman"/>
                <a:cs typeface="Times New Roman"/>
              </a:rPr>
              <a:t>2</a:t>
            </a:r>
            <a:r>
              <a:rPr sz="2450" dirty="0">
                <a:latin typeface="Times New Roman"/>
                <a:cs typeface="Times New Roman"/>
              </a:rPr>
              <a:t>	Site</a:t>
            </a:r>
            <a:r>
              <a:rPr sz="2450" spc="-125" dirty="0">
                <a:latin typeface="Times New Roman"/>
                <a:cs typeface="Times New Roman"/>
              </a:rPr>
              <a:t> </a:t>
            </a:r>
            <a:r>
              <a:rPr sz="2450" spc="-50" dirty="0">
                <a:latin typeface="Times New Roman"/>
                <a:cs typeface="Times New Roman"/>
              </a:rPr>
              <a:t>3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1505" y="4427834"/>
            <a:ext cx="7504430" cy="2037714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49885">
              <a:lnSpc>
                <a:spcPct val="100000"/>
              </a:lnSpc>
              <a:spcBef>
                <a:spcPts val="545"/>
              </a:spcBef>
            </a:pPr>
            <a:r>
              <a:rPr sz="2700" dirty="0">
                <a:latin typeface="Times New Roman"/>
                <a:cs typeface="Times New Roman"/>
              </a:rPr>
              <a:t>One</a:t>
            </a:r>
            <a:r>
              <a:rPr sz="2700" spc="1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per</a:t>
            </a:r>
            <a:r>
              <a:rPr sz="2700" spc="14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application</a:t>
            </a:r>
            <a:endParaRPr sz="2700">
              <a:latin typeface="Times New Roman"/>
              <a:cs typeface="Times New Roman"/>
            </a:endParaRPr>
          </a:p>
          <a:p>
            <a:pPr marL="357505" indent="-344805">
              <a:lnSpc>
                <a:spcPct val="100000"/>
              </a:lnSpc>
              <a:spcBef>
                <a:spcPts val="450"/>
              </a:spcBef>
              <a:buChar char="•"/>
              <a:tabLst>
                <a:tab pos="357505" algn="l"/>
              </a:tabLst>
            </a:pPr>
            <a:r>
              <a:rPr sz="2700" dirty="0">
                <a:latin typeface="Times New Roman"/>
                <a:cs typeface="Times New Roman"/>
              </a:rPr>
              <a:t>Nodes</a:t>
            </a:r>
            <a:r>
              <a:rPr sz="2700" spc="18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are</a:t>
            </a:r>
            <a:r>
              <a:rPr sz="2700" spc="11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decentralized</a:t>
            </a: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80"/>
              </a:spcBef>
            </a:pPr>
            <a:endParaRPr sz="2700">
              <a:latin typeface="Times New Roman"/>
              <a:cs typeface="Times New Roman"/>
            </a:endParaRPr>
          </a:p>
          <a:p>
            <a:pPr marL="109220">
              <a:lnSpc>
                <a:spcPct val="100000"/>
              </a:lnSpc>
              <a:spcBef>
                <a:spcPts val="5"/>
              </a:spcBef>
            </a:pPr>
            <a:r>
              <a:rPr sz="2150" i="1" spc="55" dirty="0">
                <a:latin typeface="Times New Roman"/>
                <a:cs typeface="Times New Roman"/>
              </a:rPr>
              <a:t>P£P</a:t>
            </a:r>
            <a:r>
              <a:rPr sz="2150" i="1" spc="-135" dirty="0">
                <a:latin typeface="Times New Roman"/>
                <a:cs typeface="Times New Roman"/>
              </a:rPr>
              <a:t> </a:t>
            </a:r>
            <a:r>
              <a:rPr sz="2150" i="1" spc="200" dirty="0">
                <a:latin typeface="Times New Roman"/>
                <a:cs typeface="Times New Roman"/>
              </a:rPr>
              <a:t>eyefeme</a:t>
            </a:r>
            <a:r>
              <a:rPr sz="2150" i="1" spc="-80" dirty="0">
                <a:latin typeface="Times New Roman"/>
                <a:cs typeface="Times New Roman"/>
              </a:rPr>
              <a:t> </a:t>
            </a:r>
            <a:r>
              <a:rPr sz="2150" i="1" spc="270" dirty="0">
                <a:latin typeface="Times New Roman"/>
                <a:cs typeface="Times New Roman"/>
              </a:rPr>
              <a:t>am</a:t>
            </a:r>
            <a:r>
              <a:rPr sz="2150" i="1" spc="160" dirty="0">
                <a:latin typeface="Times New Roman"/>
                <a:cs typeface="Times New Roman"/>
              </a:rPr>
              <a:t> </a:t>
            </a:r>
            <a:r>
              <a:rPr sz="2150" i="1" spc="150" dirty="0">
                <a:latin typeface="Times New Roman"/>
                <a:cs typeface="Times New Roman"/>
              </a:rPr>
              <a:t>overlay</a:t>
            </a:r>
            <a:r>
              <a:rPr sz="2150" i="1" spc="-90" dirty="0">
                <a:latin typeface="Times New Roman"/>
                <a:cs typeface="Times New Roman"/>
              </a:rPr>
              <a:t> </a:t>
            </a:r>
            <a:r>
              <a:rPr sz="2150" i="1" spc="200" dirty="0">
                <a:latin typeface="Times New Roman"/>
                <a:cs typeface="Times New Roman"/>
              </a:rPr>
              <a:t>nefworke</a:t>
            </a:r>
            <a:r>
              <a:rPr sz="2150" i="1" spc="170" dirty="0">
                <a:latin typeface="Times New Roman"/>
                <a:cs typeface="Times New Roman"/>
              </a:rPr>
              <a:t> </a:t>
            </a:r>
            <a:r>
              <a:rPr sz="2150" i="1" spc="105" dirty="0">
                <a:latin typeface="Times New Roman"/>
                <a:cs typeface="Times New Roman"/>
              </a:rPr>
              <a:t>wifhouf</a:t>
            </a:r>
            <a:r>
              <a:rPr sz="2150" i="1" spc="420" dirty="0">
                <a:latin typeface="Times New Roman"/>
                <a:cs typeface="Times New Roman"/>
              </a:rPr>
              <a:t> </a:t>
            </a:r>
            <a:r>
              <a:rPr sz="2150" i="1" spc="130" dirty="0">
                <a:latin typeface="Times New Roman"/>
                <a:cs typeface="Times New Roman"/>
              </a:rPr>
              <a:t>central</a:t>
            </a:r>
            <a:r>
              <a:rPr sz="2150" i="1" spc="-45" dirty="0">
                <a:latin typeface="Times New Roman"/>
                <a:cs typeface="Times New Roman"/>
              </a:rPr>
              <a:t> </a:t>
            </a:r>
            <a:r>
              <a:rPr sz="2150" i="1" spc="114" dirty="0">
                <a:latin typeface="Times New Roman"/>
                <a:cs typeface="Times New Roman"/>
              </a:rPr>
              <a:t>confzol</a:t>
            </a:r>
            <a:endParaRPr sz="2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0625" y="982264"/>
            <a:ext cx="767953" cy="40183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539651" y="828179"/>
            <a:ext cx="6026785" cy="65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84345" algn="l"/>
              </a:tabLst>
            </a:pPr>
            <a:r>
              <a:rPr sz="4100" spc="165" dirty="0">
                <a:solidFill>
                  <a:srgbClr val="F03603"/>
                </a:solidFill>
              </a:rPr>
              <a:t>Clien†/Server</a:t>
            </a:r>
            <a:r>
              <a:rPr sz="4100" dirty="0">
                <a:solidFill>
                  <a:srgbClr val="F03603"/>
                </a:solidFill>
              </a:rPr>
              <a:t>	</a:t>
            </a:r>
            <a:r>
              <a:rPr sz="4100" spc="-35" dirty="0">
                <a:solidFill>
                  <a:srgbClr val="D43D16"/>
                </a:solidFill>
              </a:rPr>
              <a:t>i†a†ioxs</a:t>
            </a:r>
            <a:endParaRPr sz="4100"/>
          </a:p>
        </p:txBody>
      </p:sp>
      <p:sp>
        <p:nvSpPr>
          <p:cNvPr id="4" name="object 4"/>
          <p:cNvSpPr txBox="1"/>
          <p:nvPr/>
        </p:nvSpPr>
        <p:spPr>
          <a:xfrm>
            <a:off x="759872" y="1892795"/>
            <a:ext cx="7439025" cy="3545204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348615" indent="-335915">
              <a:lnSpc>
                <a:spcPct val="100000"/>
              </a:lnSpc>
              <a:spcBef>
                <a:spcPts val="1015"/>
              </a:spcBef>
              <a:buChar char="•"/>
              <a:tabLst>
                <a:tab pos="348615" algn="l"/>
              </a:tabLst>
            </a:pPr>
            <a:r>
              <a:rPr sz="3100" dirty="0">
                <a:latin typeface="Times New Roman"/>
                <a:cs typeface="Times New Roman"/>
              </a:rPr>
              <a:t>Scalability</a:t>
            </a:r>
            <a:r>
              <a:rPr sz="3100" spc="30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is</a:t>
            </a:r>
            <a:r>
              <a:rPr sz="3100" spc="15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hard</a:t>
            </a:r>
            <a:r>
              <a:rPr sz="3100" spc="19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to</a:t>
            </a:r>
            <a:r>
              <a:rPr sz="3100" spc="95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achieve</a:t>
            </a:r>
            <a:endParaRPr sz="3100">
              <a:latin typeface="Times New Roman"/>
              <a:cs typeface="Times New Roman"/>
            </a:endParaRPr>
          </a:p>
          <a:p>
            <a:pPr marL="358140" indent="-345440">
              <a:lnSpc>
                <a:spcPct val="100000"/>
              </a:lnSpc>
              <a:spcBef>
                <a:spcPts val="919"/>
              </a:spcBef>
              <a:buChar char="•"/>
              <a:tabLst>
                <a:tab pos="358140" algn="l"/>
              </a:tabLst>
            </a:pPr>
            <a:r>
              <a:rPr sz="3100" dirty="0">
                <a:latin typeface="Times New Roman"/>
                <a:cs typeface="Times New Roman"/>
              </a:rPr>
              <a:t>Presents</a:t>
            </a:r>
            <a:r>
              <a:rPr sz="3100" spc="254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a</a:t>
            </a:r>
            <a:r>
              <a:rPr sz="3100" spc="-1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single</a:t>
            </a:r>
            <a:r>
              <a:rPr sz="3100" spc="21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point</a:t>
            </a:r>
            <a:r>
              <a:rPr sz="3100" spc="5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of</a:t>
            </a:r>
            <a:r>
              <a:rPr sz="3100" spc="165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failure</a:t>
            </a:r>
            <a:endParaRPr sz="3100">
              <a:latin typeface="Times New Roman"/>
              <a:cs typeface="Times New Roman"/>
            </a:endParaRPr>
          </a:p>
          <a:p>
            <a:pPr marL="357505" indent="-344805">
              <a:lnSpc>
                <a:spcPct val="100000"/>
              </a:lnSpc>
              <a:spcBef>
                <a:spcPts val="850"/>
              </a:spcBef>
              <a:buChar char="•"/>
              <a:tabLst>
                <a:tab pos="357505" algn="l"/>
              </a:tabLst>
            </a:pPr>
            <a:r>
              <a:rPr sz="3100" dirty="0">
                <a:latin typeface="Times New Roman"/>
                <a:cs typeface="Times New Roman"/>
              </a:rPr>
              <a:t>Requires</a:t>
            </a:r>
            <a:r>
              <a:rPr sz="3100" spc="260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administration</a:t>
            </a:r>
            <a:endParaRPr sz="3100">
              <a:latin typeface="Times New Roman"/>
              <a:cs typeface="Times New Roman"/>
            </a:endParaRPr>
          </a:p>
          <a:p>
            <a:pPr marL="361950" indent="-349250">
              <a:lnSpc>
                <a:spcPct val="100000"/>
              </a:lnSpc>
              <a:spcBef>
                <a:spcPts val="919"/>
              </a:spcBef>
              <a:buChar char="•"/>
              <a:tabLst>
                <a:tab pos="361950" algn="l"/>
              </a:tabLst>
            </a:pPr>
            <a:r>
              <a:rPr sz="3100" dirty="0">
                <a:latin typeface="Times New Roman"/>
                <a:cs typeface="Times New Roman"/>
              </a:rPr>
              <a:t>Unused</a:t>
            </a:r>
            <a:r>
              <a:rPr sz="3100" spc="2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resources</a:t>
            </a:r>
            <a:r>
              <a:rPr sz="3100" spc="24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at</a:t>
            </a:r>
            <a:r>
              <a:rPr sz="3100" spc="11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the</a:t>
            </a:r>
            <a:r>
              <a:rPr sz="3100" spc="11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network</a:t>
            </a:r>
            <a:r>
              <a:rPr sz="3100" spc="220" dirty="0">
                <a:latin typeface="Times New Roman"/>
                <a:cs typeface="Times New Roman"/>
              </a:rPr>
              <a:t> </a:t>
            </a:r>
            <a:r>
              <a:rPr sz="3100" spc="-20" dirty="0">
                <a:latin typeface="Times New Roman"/>
                <a:cs typeface="Times New Roman"/>
              </a:rPr>
              <a:t>edge</a:t>
            </a: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75"/>
              </a:spcBef>
              <a:buFont typeface="Times New Roman"/>
              <a:buChar char="•"/>
            </a:pPr>
            <a:endParaRPr sz="3100">
              <a:latin typeface="Times New Roman"/>
              <a:cs typeface="Times New Roman"/>
            </a:endParaRPr>
          </a:p>
          <a:p>
            <a:pPr marL="358140" indent="-345440">
              <a:lnSpc>
                <a:spcPct val="100000"/>
              </a:lnSpc>
              <a:buChar char="•"/>
              <a:tabLst>
                <a:tab pos="358140" algn="l"/>
              </a:tabLst>
            </a:pPr>
            <a:r>
              <a:rPr sz="3150" dirty="0">
                <a:latin typeface="Times New Roman"/>
                <a:cs typeface="Times New Roman"/>
              </a:rPr>
              <a:t>P2P</a:t>
            </a:r>
            <a:r>
              <a:rPr sz="3150" spc="-12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systems</a:t>
            </a:r>
            <a:r>
              <a:rPr sz="3150" spc="10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try</a:t>
            </a:r>
            <a:r>
              <a:rPr sz="3150" spc="10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to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address</a:t>
            </a:r>
            <a:r>
              <a:rPr sz="3150" spc="9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these</a:t>
            </a:r>
            <a:r>
              <a:rPr sz="3150" spc="35" dirty="0">
                <a:latin typeface="Times New Roman"/>
                <a:cs typeface="Times New Roman"/>
              </a:rPr>
              <a:t> </a:t>
            </a:r>
            <a:r>
              <a:rPr sz="3150" spc="-10" dirty="0">
                <a:latin typeface="Times New Roman"/>
                <a:cs typeface="Times New Roman"/>
              </a:rPr>
              <a:t>limitations</a:t>
            </a:r>
            <a:endParaRPr sz="3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89251" y="518368"/>
            <a:ext cx="7126605" cy="1272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4850"/>
              </a:lnSpc>
              <a:spcBef>
                <a:spcPts val="100"/>
              </a:spcBef>
            </a:pPr>
            <a:r>
              <a:rPr sz="4150" spc="215" dirty="0">
                <a:solidFill>
                  <a:srgbClr val="E93B07"/>
                </a:solidFill>
                <a:latin typeface="Calibri"/>
                <a:cs typeface="Calibri"/>
              </a:rPr>
              <a:t>Client-</a:t>
            </a:r>
            <a:r>
              <a:rPr sz="4150" spc="245" dirty="0">
                <a:solidFill>
                  <a:srgbClr val="E93B07"/>
                </a:solidFill>
                <a:latin typeface="Calibri"/>
                <a:cs typeface="Calibri"/>
              </a:rPr>
              <a:t>Server</a:t>
            </a:r>
            <a:r>
              <a:rPr sz="4150" spc="55" dirty="0">
                <a:solidFill>
                  <a:srgbClr val="E93B07"/>
                </a:solidFill>
                <a:latin typeface="Calibri"/>
                <a:cs typeface="Calibri"/>
              </a:rPr>
              <a:t>  </a:t>
            </a:r>
            <a:r>
              <a:rPr sz="4150" spc="165" dirty="0">
                <a:solidFill>
                  <a:srgbClr val="FB3801"/>
                </a:solidFill>
                <a:latin typeface="Calibri"/>
                <a:cs typeface="Calibri"/>
              </a:rPr>
              <a:t>Versus</a:t>
            </a:r>
            <a:r>
              <a:rPr sz="4150" spc="345" dirty="0">
                <a:solidFill>
                  <a:srgbClr val="FB3801"/>
                </a:solidFill>
                <a:latin typeface="Calibri"/>
                <a:cs typeface="Calibri"/>
              </a:rPr>
              <a:t> </a:t>
            </a:r>
            <a:r>
              <a:rPr sz="4150" spc="190" dirty="0">
                <a:solidFill>
                  <a:srgbClr val="E64113"/>
                </a:solidFill>
                <a:latin typeface="Calibri"/>
                <a:cs typeface="Calibri"/>
              </a:rPr>
              <a:t>Peer-</a:t>
            </a:r>
            <a:r>
              <a:rPr sz="4150" spc="145" dirty="0">
                <a:solidFill>
                  <a:srgbClr val="E64113"/>
                </a:solidFill>
                <a:latin typeface="Calibri"/>
                <a:cs typeface="Calibri"/>
              </a:rPr>
              <a:t>to-</a:t>
            </a:r>
            <a:endParaRPr sz="4150">
              <a:latin typeface="Calibri"/>
              <a:cs typeface="Calibri"/>
            </a:endParaRPr>
          </a:p>
          <a:p>
            <a:pPr marR="3810" algn="ctr">
              <a:lnSpc>
                <a:spcPts val="4970"/>
              </a:lnSpc>
            </a:pPr>
            <a:r>
              <a:rPr sz="4250" spc="75" dirty="0">
                <a:solidFill>
                  <a:srgbClr val="E43A08"/>
                </a:solidFill>
                <a:latin typeface="Calibri"/>
                <a:cs typeface="Calibri"/>
              </a:rPr>
              <a:t>Peer</a:t>
            </a:r>
            <a:r>
              <a:rPr sz="4250" spc="395" dirty="0">
                <a:solidFill>
                  <a:srgbClr val="E43A08"/>
                </a:solidFill>
                <a:latin typeface="Calibri"/>
                <a:cs typeface="Calibri"/>
              </a:rPr>
              <a:t> </a:t>
            </a:r>
            <a:r>
              <a:rPr sz="4250" spc="120" dirty="0">
                <a:solidFill>
                  <a:srgbClr val="F93401"/>
                </a:solidFill>
                <a:latin typeface="Calibri"/>
                <a:cs typeface="Calibri"/>
              </a:rPr>
              <a:t>Network</a:t>
            </a:r>
            <a:r>
              <a:rPr sz="4250" spc="705" dirty="0">
                <a:solidFill>
                  <a:srgbClr val="F93401"/>
                </a:solidFill>
                <a:latin typeface="Calibri"/>
                <a:cs typeface="Calibri"/>
              </a:rPr>
              <a:t> </a:t>
            </a:r>
            <a:r>
              <a:rPr sz="4250" spc="180" dirty="0">
                <a:solidFill>
                  <a:srgbClr val="F43801"/>
                </a:solidFill>
                <a:latin typeface="Calibri"/>
                <a:cs typeface="Calibri"/>
              </a:rPr>
              <a:t>Architecture</a:t>
            </a:r>
            <a:endParaRPr sz="42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601" y="1917671"/>
            <a:ext cx="7444105" cy="3973829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359410" indent="-346710">
              <a:lnSpc>
                <a:spcPct val="100000"/>
              </a:lnSpc>
              <a:spcBef>
                <a:spcPts val="830"/>
              </a:spcBef>
              <a:buChar char="•"/>
              <a:tabLst>
                <a:tab pos="359410" algn="l"/>
              </a:tabLst>
            </a:pP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simple</a:t>
            </a:r>
            <a:r>
              <a:rPr sz="2700" spc="18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distinction</a:t>
            </a:r>
            <a:endParaRPr sz="2700">
              <a:latin typeface="Times New Roman"/>
              <a:cs typeface="Times New Roman"/>
            </a:endParaRPr>
          </a:p>
          <a:p>
            <a:pPr marL="753110">
              <a:lnSpc>
                <a:spcPct val="100000"/>
              </a:lnSpc>
              <a:spcBef>
                <a:spcPts val="610"/>
              </a:spcBef>
            </a:pPr>
            <a:r>
              <a:rPr sz="2400" spc="-25" dirty="0">
                <a:solidFill>
                  <a:srgbClr val="181818"/>
                </a:solidFill>
                <a:latin typeface="Times New Roman"/>
                <a:cs typeface="Times New Roman"/>
              </a:rPr>
              <a:t>Client-</a:t>
            </a:r>
            <a:r>
              <a:rPr sz="2400" spc="-10" dirty="0">
                <a:solidFill>
                  <a:srgbClr val="181818"/>
                </a:solidFill>
                <a:latin typeface="Times New Roman"/>
                <a:cs typeface="Times New Roman"/>
              </a:rPr>
              <a:t>server</a:t>
            </a:r>
            <a:endParaRPr sz="2400">
              <a:latin typeface="Times New Roman"/>
              <a:cs typeface="Times New Roman"/>
            </a:endParaRPr>
          </a:p>
          <a:p>
            <a:pPr marL="1155700" lvl="1" indent="-227329">
              <a:lnSpc>
                <a:spcPct val="100000"/>
              </a:lnSpc>
              <a:spcBef>
                <a:spcPts val="475"/>
              </a:spcBef>
              <a:buClr>
                <a:srgbClr val="69080C"/>
              </a:buClr>
              <a:buChar char="•"/>
              <a:tabLst>
                <a:tab pos="1155700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Computers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61316"/>
                </a:solidFill>
                <a:latin typeface="Times New Roman"/>
                <a:cs typeface="Times New Roman"/>
              </a:rPr>
              <a:t>perform</a:t>
            </a:r>
            <a:r>
              <a:rPr sz="2000" spc="-20" dirty="0">
                <a:solidFill>
                  <a:srgbClr val="461316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asymmetric</a:t>
            </a:r>
            <a:r>
              <a:rPr sz="2000" spc="-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functions</a:t>
            </a:r>
            <a:endParaRPr sz="2000">
              <a:latin typeface="Times New Roman"/>
              <a:cs typeface="Times New Roman"/>
            </a:endParaRPr>
          </a:p>
          <a:p>
            <a:pPr marL="759460">
              <a:lnSpc>
                <a:spcPct val="100000"/>
              </a:lnSpc>
              <a:spcBef>
                <a:spcPts val="575"/>
              </a:spcBef>
            </a:pPr>
            <a:r>
              <a:rPr sz="2400" spc="-20" dirty="0">
                <a:solidFill>
                  <a:srgbClr val="131313"/>
                </a:solidFill>
                <a:latin typeface="Times New Roman"/>
                <a:cs typeface="Times New Roman"/>
              </a:rPr>
              <a:t>Peers-</a:t>
            </a:r>
            <a:r>
              <a:rPr sz="2400" spc="-25" dirty="0">
                <a:solidFill>
                  <a:srgbClr val="131313"/>
                </a:solidFill>
                <a:latin typeface="Times New Roman"/>
                <a:cs typeface="Times New Roman"/>
              </a:rPr>
              <a:t>to-</a:t>
            </a:r>
            <a:r>
              <a:rPr sz="2400" dirty="0">
                <a:solidFill>
                  <a:srgbClr val="131313"/>
                </a:solidFill>
                <a:latin typeface="Times New Roman"/>
                <a:cs typeface="Times New Roman"/>
              </a:rPr>
              <a:t>Peer</a:t>
            </a:r>
            <a:r>
              <a:rPr sz="2400" spc="8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050152"/>
                </a:solidFill>
                <a:latin typeface="Times New Roman"/>
                <a:cs typeface="Times New Roman"/>
              </a:rPr>
              <a:t>(P2P)</a:t>
            </a:r>
            <a:endParaRPr sz="2400">
              <a:latin typeface="Times New Roman"/>
              <a:cs typeface="Times New Roman"/>
            </a:endParaRPr>
          </a:p>
          <a:p>
            <a:pPr marL="1155700" lvl="1" indent="-227329">
              <a:lnSpc>
                <a:spcPct val="100000"/>
              </a:lnSpc>
              <a:spcBef>
                <a:spcPts val="459"/>
              </a:spcBef>
              <a:buClr>
                <a:srgbClr val="6E0508"/>
              </a:buClr>
              <a:buChar char="•"/>
              <a:tabLst>
                <a:tab pos="1155700" algn="l"/>
              </a:tabLst>
            </a:pPr>
            <a:r>
              <a:rPr sz="2050" spc="-35" dirty="0">
                <a:solidFill>
                  <a:srgbClr val="282828"/>
                </a:solidFill>
                <a:latin typeface="Times New Roman"/>
                <a:cs typeface="Times New Roman"/>
              </a:rPr>
              <a:t>Computers</a:t>
            </a:r>
            <a:r>
              <a:rPr sz="2050" spc="-5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50" spc="-40" dirty="0">
                <a:solidFill>
                  <a:srgbClr val="481D1F"/>
                </a:solidFill>
                <a:latin typeface="Times New Roman"/>
                <a:cs typeface="Times New Roman"/>
              </a:rPr>
              <a:t>perform</a:t>
            </a:r>
            <a:r>
              <a:rPr sz="2050" spc="10" dirty="0">
                <a:solidFill>
                  <a:srgbClr val="481D1F"/>
                </a:solidFill>
                <a:latin typeface="Times New Roman"/>
                <a:cs typeface="Times New Roman"/>
              </a:rPr>
              <a:t> </a:t>
            </a:r>
            <a:r>
              <a:rPr sz="2050" spc="-50" dirty="0">
                <a:solidFill>
                  <a:srgbClr val="2A2A2A"/>
                </a:solidFill>
                <a:latin typeface="Times New Roman"/>
                <a:cs typeface="Times New Roman"/>
              </a:rPr>
              <a:t>symmetric</a:t>
            </a:r>
            <a:r>
              <a:rPr sz="2050" spc="4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491813"/>
                </a:solidFill>
                <a:latin typeface="Times New Roman"/>
                <a:cs typeface="Times New Roman"/>
              </a:rPr>
              <a:t>functions</a:t>
            </a:r>
            <a:endParaRPr sz="2050">
              <a:latin typeface="Times New Roman"/>
              <a:cs typeface="Times New Roman"/>
            </a:endParaRPr>
          </a:p>
          <a:p>
            <a:pPr marL="356235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6235" algn="l"/>
              </a:tabLst>
            </a:pPr>
            <a:r>
              <a:rPr sz="2650" dirty="0">
                <a:latin typeface="Times New Roman"/>
                <a:cs typeface="Times New Roman"/>
              </a:rPr>
              <a:t>Different</a:t>
            </a:r>
            <a:r>
              <a:rPr sz="2650" spc="57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architectures</a:t>
            </a:r>
            <a:r>
              <a:rPr sz="2650" spc="48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offer</a:t>
            </a:r>
            <a:r>
              <a:rPr sz="2650" spc="33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different</a:t>
            </a:r>
            <a:r>
              <a:rPr sz="2650" spc="5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benefits</a:t>
            </a:r>
            <a:endParaRPr sz="2650">
              <a:latin typeface="Times New Roman"/>
              <a:cs typeface="Times New Roman"/>
            </a:endParaRPr>
          </a:p>
          <a:p>
            <a:pPr marL="356235" indent="-343535">
              <a:lnSpc>
                <a:spcPct val="100000"/>
              </a:lnSpc>
              <a:spcBef>
                <a:spcPts val="765"/>
              </a:spcBef>
              <a:buChar char="•"/>
              <a:tabLst>
                <a:tab pos="356235" algn="l"/>
              </a:tabLst>
            </a:pPr>
            <a:r>
              <a:rPr sz="2750" dirty="0">
                <a:latin typeface="Times New Roman"/>
                <a:cs typeface="Times New Roman"/>
              </a:rPr>
              <a:t>Pure</a:t>
            </a:r>
            <a:r>
              <a:rPr sz="2750" spc="10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P2P</a:t>
            </a:r>
            <a:r>
              <a:rPr sz="2750" spc="-5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networks</a:t>
            </a:r>
            <a:r>
              <a:rPr sz="2750" spc="1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are</a:t>
            </a:r>
            <a:r>
              <a:rPr sz="2750" spc="65" dirty="0">
                <a:latin typeface="Times New Roman"/>
                <a:cs typeface="Times New Roman"/>
              </a:rPr>
              <a:t> </a:t>
            </a:r>
            <a:r>
              <a:rPr sz="2750" spc="-20" dirty="0">
                <a:latin typeface="Times New Roman"/>
                <a:cs typeface="Times New Roman"/>
              </a:rPr>
              <a:t>rare</a:t>
            </a:r>
            <a:endParaRPr sz="2750">
              <a:latin typeface="Times New Roman"/>
              <a:cs typeface="Times New Roman"/>
            </a:endParaRPr>
          </a:p>
          <a:p>
            <a:pPr marL="752475" marR="5080" indent="6985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solidFill>
                  <a:srgbClr val="0C054F"/>
                </a:solidFill>
                <a:latin typeface="Times New Roman"/>
                <a:cs typeface="Times New Roman"/>
              </a:rPr>
              <a:t>Most</a:t>
            </a:r>
            <a:r>
              <a:rPr sz="2400" spc="10" dirty="0">
                <a:solidFill>
                  <a:srgbClr val="0C05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856"/>
                </a:solidFill>
                <a:latin typeface="Times New Roman"/>
                <a:cs typeface="Times New Roman"/>
              </a:rPr>
              <a:t>P2P</a:t>
            </a:r>
            <a:r>
              <a:rPr sz="2400" spc="-130" dirty="0">
                <a:solidFill>
                  <a:srgbClr val="0C0856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81642"/>
                </a:solidFill>
                <a:latin typeface="Times New Roman"/>
                <a:cs typeface="Times New Roman"/>
              </a:rPr>
              <a:t>networks </a:t>
            </a:r>
            <a:r>
              <a:rPr sz="2400" dirty="0">
                <a:solidFill>
                  <a:srgbClr val="110F44"/>
                </a:solidFill>
                <a:latin typeface="Times New Roman"/>
                <a:cs typeface="Times New Roman"/>
              </a:rPr>
              <a:t>rely</a:t>
            </a:r>
            <a:r>
              <a:rPr sz="2400" spc="-15" dirty="0">
                <a:solidFill>
                  <a:srgbClr val="110F4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A0552"/>
                </a:solidFill>
                <a:latin typeface="Times New Roman"/>
                <a:cs typeface="Times New Roman"/>
              </a:rPr>
              <a:t>on</a:t>
            </a:r>
            <a:r>
              <a:rPr sz="2400" spc="-90" dirty="0">
                <a:solidFill>
                  <a:srgbClr val="0A0552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81359"/>
                </a:solidFill>
                <a:latin typeface="Times New Roman"/>
                <a:cs typeface="Times New Roman"/>
              </a:rPr>
              <a:t>centralized</a:t>
            </a:r>
            <a:r>
              <a:rPr sz="2400" spc="70" dirty="0">
                <a:solidFill>
                  <a:srgbClr val="18135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10C46"/>
                </a:solidFill>
                <a:latin typeface="Times New Roman"/>
                <a:cs typeface="Times New Roman"/>
              </a:rPr>
              <a:t>server</a:t>
            </a:r>
            <a:r>
              <a:rPr sz="2400" spc="-55" dirty="0">
                <a:solidFill>
                  <a:srgbClr val="110C4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5033F"/>
                </a:solidFill>
                <a:latin typeface="Times New Roman"/>
                <a:cs typeface="Times New Roman"/>
              </a:rPr>
              <a:t>for</a:t>
            </a:r>
            <a:r>
              <a:rPr sz="2400" spc="-90" dirty="0">
                <a:solidFill>
                  <a:srgbClr val="05033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050342"/>
                </a:solidFill>
                <a:latin typeface="Times New Roman"/>
                <a:cs typeface="Times New Roman"/>
              </a:rPr>
              <a:t>some </a:t>
            </a:r>
            <a:r>
              <a:rPr sz="2400" spc="-10" dirty="0">
                <a:solidFill>
                  <a:srgbClr val="110C4F"/>
                </a:solidFill>
                <a:latin typeface="Times New Roman"/>
                <a:cs typeface="Times New Roman"/>
              </a:rPr>
              <a:t>functions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95813" y="196403"/>
            <a:ext cx="3307079" cy="717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50" spc="-35" dirty="0">
                <a:solidFill>
                  <a:srgbClr val="FB3403"/>
                </a:solidFill>
              </a:rPr>
              <a:t>Who†</a:t>
            </a:r>
            <a:r>
              <a:rPr sz="4550" spc="375" dirty="0">
                <a:solidFill>
                  <a:srgbClr val="FB3403"/>
                </a:solidFill>
              </a:rPr>
              <a:t> </a:t>
            </a:r>
            <a:r>
              <a:rPr sz="4550" dirty="0">
                <a:solidFill>
                  <a:srgbClr val="F03605"/>
                </a:solidFill>
              </a:rPr>
              <a:t>is</a:t>
            </a:r>
            <a:r>
              <a:rPr sz="4550" spc="275" dirty="0">
                <a:solidFill>
                  <a:srgbClr val="F03605"/>
                </a:solidFill>
              </a:rPr>
              <a:t> </a:t>
            </a:r>
            <a:r>
              <a:rPr sz="4550" spc="-110" dirty="0">
                <a:solidFill>
                  <a:srgbClr val="FF3105"/>
                </a:solidFill>
              </a:rPr>
              <a:t>P2P?</a:t>
            </a:r>
            <a:endParaRPr sz="4550"/>
          </a:p>
        </p:txBody>
      </p:sp>
      <p:sp>
        <p:nvSpPr>
          <p:cNvPr id="3" name="object 3"/>
          <p:cNvSpPr txBox="1"/>
          <p:nvPr/>
        </p:nvSpPr>
        <p:spPr>
          <a:xfrm>
            <a:off x="780429" y="1998959"/>
            <a:ext cx="3546475" cy="302387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22580" marR="60960" indent="-310515">
              <a:lnSpc>
                <a:spcPct val="79000"/>
              </a:lnSpc>
              <a:spcBef>
                <a:spcPts val="705"/>
              </a:spcBef>
            </a:pPr>
            <a:r>
              <a:rPr sz="2450" i="1" spc="65" dirty="0">
                <a:solidFill>
                  <a:srgbClr val="4660B6"/>
                </a:solidFill>
                <a:latin typeface="Times New Roman"/>
                <a:cs typeface="Times New Roman"/>
              </a:rPr>
              <a:t>...a</a:t>
            </a:r>
            <a:r>
              <a:rPr sz="2450" i="1" spc="-5" dirty="0">
                <a:solidFill>
                  <a:srgbClr val="4660B6"/>
                </a:solidFill>
                <a:latin typeface="Times New Roman"/>
                <a:cs typeface="Times New Roman"/>
              </a:rPr>
              <a:t> </a:t>
            </a:r>
            <a:r>
              <a:rPr sz="2450" i="1" dirty="0">
                <a:solidFill>
                  <a:srgbClr val="4B69BF"/>
                </a:solidFill>
                <a:latin typeface="Times New Roman"/>
                <a:cs typeface="Times New Roman"/>
              </a:rPr>
              <a:t>technology</a:t>
            </a:r>
            <a:r>
              <a:rPr sz="2450" i="1" spc="60" dirty="0">
                <a:solidFill>
                  <a:srgbClr val="4B69BF"/>
                </a:solidFill>
                <a:latin typeface="Times New Roman"/>
                <a:cs typeface="Times New Roman"/>
              </a:rPr>
              <a:t> </a:t>
            </a:r>
            <a:r>
              <a:rPr sz="2450" i="1" dirty="0">
                <a:solidFill>
                  <a:srgbClr val="3D69C1"/>
                </a:solidFill>
                <a:latin typeface="Times New Roman"/>
                <a:cs typeface="Times New Roman"/>
              </a:rPr>
              <a:t>that</a:t>
            </a:r>
            <a:r>
              <a:rPr sz="2450" i="1" spc="-25" dirty="0">
                <a:solidFill>
                  <a:srgbClr val="3D69C1"/>
                </a:solidFill>
                <a:latin typeface="Times New Roman"/>
                <a:cs typeface="Times New Roman"/>
              </a:rPr>
              <a:t> </a:t>
            </a:r>
            <a:r>
              <a:rPr sz="2450" i="1" spc="-10" dirty="0">
                <a:solidFill>
                  <a:srgbClr val="4467C3"/>
                </a:solidFill>
                <a:latin typeface="Times New Roman"/>
                <a:cs typeface="Times New Roman"/>
              </a:rPr>
              <a:t>enables </a:t>
            </a:r>
            <a:r>
              <a:rPr sz="2450" i="1" dirty="0">
                <a:solidFill>
                  <a:srgbClr val="4266B8"/>
                </a:solidFill>
                <a:latin typeface="Times New Roman"/>
                <a:cs typeface="Times New Roman"/>
              </a:rPr>
              <a:t>two</a:t>
            </a:r>
            <a:r>
              <a:rPr sz="2450" i="1" spc="-90" dirty="0">
                <a:solidFill>
                  <a:srgbClr val="4266B8"/>
                </a:solidFill>
                <a:latin typeface="Times New Roman"/>
                <a:cs typeface="Times New Roman"/>
              </a:rPr>
              <a:t> </a:t>
            </a:r>
            <a:r>
              <a:rPr sz="2450" i="1" dirty="0">
                <a:solidFill>
                  <a:srgbClr val="465DC4"/>
                </a:solidFill>
                <a:latin typeface="Times New Roman"/>
                <a:cs typeface="Times New Roman"/>
              </a:rPr>
              <a:t>or</a:t>
            </a:r>
            <a:r>
              <a:rPr sz="2450" i="1" spc="-50" dirty="0">
                <a:solidFill>
                  <a:srgbClr val="465DC4"/>
                </a:solidFill>
                <a:latin typeface="Times New Roman"/>
                <a:cs typeface="Times New Roman"/>
              </a:rPr>
              <a:t> </a:t>
            </a:r>
            <a:r>
              <a:rPr sz="2450" i="1" dirty="0">
                <a:solidFill>
                  <a:srgbClr val="4469C1"/>
                </a:solidFill>
                <a:latin typeface="Times New Roman"/>
                <a:cs typeface="Times New Roman"/>
              </a:rPr>
              <a:t>more</a:t>
            </a:r>
            <a:r>
              <a:rPr sz="2450" i="1" spc="45" dirty="0">
                <a:solidFill>
                  <a:srgbClr val="4469C1"/>
                </a:solidFill>
                <a:latin typeface="Times New Roman"/>
                <a:cs typeface="Times New Roman"/>
              </a:rPr>
              <a:t> </a:t>
            </a:r>
            <a:r>
              <a:rPr sz="2450" i="1" spc="-45" dirty="0">
                <a:solidFill>
                  <a:srgbClr val="446DCC"/>
                </a:solidFill>
                <a:latin typeface="Times New Roman"/>
                <a:cs typeface="Times New Roman"/>
              </a:rPr>
              <a:t>peers</a:t>
            </a:r>
            <a:r>
              <a:rPr sz="2450" i="1" spc="-60" dirty="0">
                <a:solidFill>
                  <a:srgbClr val="446DCC"/>
                </a:solidFill>
                <a:latin typeface="Times New Roman"/>
                <a:cs typeface="Times New Roman"/>
              </a:rPr>
              <a:t> </a:t>
            </a:r>
            <a:r>
              <a:rPr sz="2450" i="1" spc="-25" dirty="0">
                <a:solidFill>
                  <a:srgbClr val="4264BA"/>
                </a:solidFill>
                <a:latin typeface="Times New Roman"/>
                <a:cs typeface="Times New Roman"/>
              </a:rPr>
              <a:t>to </a:t>
            </a:r>
            <a:r>
              <a:rPr sz="2450" i="1" spc="-10" dirty="0">
                <a:solidFill>
                  <a:srgbClr val="3D64BF"/>
                </a:solidFill>
                <a:latin typeface="Times New Roman"/>
                <a:cs typeface="Times New Roman"/>
              </a:rPr>
              <a:t>collaborate </a:t>
            </a:r>
            <a:r>
              <a:rPr sz="2400" i="1" spc="-40" dirty="0">
                <a:solidFill>
                  <a:srgbClr val="506DB6"/>
                </a:solidFill>
                <a:latin typeface="Cambria"/>
                <a:cs typeface="Cambria"/>
              </a:rPr>
              <a:t>spontaneously</a:t>
            </a:r>
            <a:r>
              <a:rPr sz="2400" i="1" spc="250" dirty="0">
                <a:solidFill>
                  <a:srgbClr val="506DB6"/>
                </a:solidFill>
                <a:latin typeface="Cambria"/>
                <a:cs typeface="Cambria"/>
              </a:rPr>
              <a:t> </a:t>
            </a:r>
            <a:r>
              <a:rPr sz="2400" i="1" spc="65" dirty="0">
                <a:solidFill>
                  <a:srgbClr val="4666BA"/>
                </a:solidFill>
                <a:latin typeface="Cambria"/>
                <a:cs typeface="Cambria"/>
              </a:rPr>
              <a:t>in</a:t>
            </a:r>
            <a:r>
              <a:rPr sz="2400" i="1" spc="-130" dirty="0">
                <a:solidFill>
                  <a:srgbClr val="4666BA"/>
                </a:solidFill>
                <a:latin typeface="Cambria"/>
                <a:cs typeface="Cambria"/>
              </a:rPr>
              <a:t> </a:t>
            </a:r>
            <a:r>
              <a:rPr sz="2400" i="1" spc="-50" dirty="0">
                <a:solidFill>
                  <a:srgbClr val="486DC6"/>
                </a:solidFill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  <a:p>
            <a:pPr marL="322580" marR="5080">
              <a:lnSpc>
                <a:spcPct val="80200"/>
              </a:lnSpc>
              <a:spcBef>
                <a:spcPts val="50"/>
              </a:spcBef>
            </a:pPr>
            <a:r>
              <a:rPr sz="2350" i="1" spc="-20" dirty="0">
                <a:solidFill>
                  <a:srgbClr val="4F6EC8"/>
                </a:solidFill>
                <a:latin typeface="Cambria"/>
                <a:cs typeface="Cambria"/>
              </a:rPr>
              <a:t>network</a:t>
            </a:r>
            <a:r>
              <a:rPr sz="2350" i="1" spc="130" dirty="0">
                <a:solidFill>
                  <a:srgbClr val="4F6EC8"/>
                </a:solidFill>
                <a:latin typeface="Cambria"/>
                <a:cs typeface="Cambria"/>
              </a:rPr>
              <a:t> </a:t>
            </a:r>
            <a:r>
              <a:rPr sz="2350" i="1" dirty="0">
                <a:solidFill>
                  <a:srgbClr val="4969CF"/>
                </a:solidFill>
                <a:latin typeface="Cambria"/>
                <a:cs typeface="Cambria"/>
              </a:rPr>
              <a:t>of</a:t>
            </a:r>
            <a:r>
              <a:rPr sz="2350" i="1" spc="85" dirty="0">
                <a:solidFill>
                  <a:srgbClr val="4969CF"/>
                </a:solidFill>
                <a:latin typeface="Cambria"/>
                <a:cs typeface="Cambria"/>
              </a:rPr>
              <a:t> </a:t>
            </a:r>
            <a:r>
              <a:rPr sz="2350" i="1" dirty="0">
                <a:solidFill>
                  <a:srgbClr val="4962BA"/>
                </a:solidFill>
                <a:latin typeface="Cambria"/>
                <a:cs typeface="Cambria"/>
              </a:rPr>
              <a:t>equal</a:t>
            </a:r>
            <a:r>
              <a:rPr sz="2350" i="1" spc="-114" dirty="0">
                <a:solidFill>
                  <a:srgbClr val="4962BA"/>
                </a:solidFill>
                <a:latin typeface="Cambria"/>
                <a:cs typeface="Cambria"/>
              </a:rPr>
              <a:t> </a:t>
            </a:r>
            <a:r>
              <a:rPr sz="2350" i="1" dirty="0">
                <a:solidFill>
                  <a:srgbClr val="466BD3"/>
                </a:solidFill>
                <a:latin typeface="Cambria"/>
                <a:cs typeface="Cambria"/>
              </a:rPr>
              <a:t>peers</a:t>
            </a:r>
            <a:r>
              <a:rPr sz="2350" i="1" spc="114" dirty="0">
                <a:solidFill>
                  <a:srgbClr val="466BD3"/>
                </a:solidFill>
                <a:latin typeface="Cambria"/>
                <a:cs typeface="Cambria"/>
              </a:rPr>
              <a:t> </a:t>
            </a:r>
            <a:r>
              <a:rPr sz="2350" i="1" spc="-25" dirty="0">
                <a:solidFill>
                  <a:srgbClr val="4B6BC8"/>
                </a:solidFill>
                <a:latin typeface="Cambria"/>
                <a:cs typeface="Cambria"/>
              </a:rPr>
              <a:t>by </a:t>
            </a:r>
            <a:r>
              <a:rPr sz="2400" i="1" dirty="0">
                <a:solidFill>
                  <a:srgbClr val="446DC3"/>
                </a:solidFill>
                <a:latin typeface="Cambria"/>
                <a:cs typeface="Cambria"/>
              </a:rPr>
              <a:t>using</a:t>
            </a:r>
            <a:r>
              <a:rPr sz="2400" i="1" spc="60" dirty="0">
                <a:solidFill>
                  <a:srgbClr val="446DC3"/>
                </a:solidFill>
                <a:latin typeface="Cambria"/>
                <a:cs typeface="Cambria"/>
              </a:rPr>
              <a:t> </a:t>
            </a:r>
            <a:r>
              <a:rPr sz="2400" i="1" spc="-10" dirty="0">
                <a:solidFill>
                  <a:srgbClr val="3A64C3"/>
                </a:solidFill>
                <a:latin typeface="Cambria"/>
                <a:cs typeface="Cambria"/>
              </a:rPr>
              <a:t>appropriate </a:t>
            </a:r>
            <a:r>
              <a:rPr sz="2400" i="1" spc="-25" dirty="0">
                <a:solidFill>
                  <a:srgbClr val="526DC6"/>
                </a:solidFill>
                <a:latin typeface="Cambria"/>
                <a:cs typeface="Cambria"/>
              </a:rPr>
              <a:t>information</a:t>
            </a:r>
            <a:r>
              <a:rPr sz="2400" i="1" spc="5" dirty="0">
                <a:solidFill>
                  <a:srgbClr val="526DC6"/>
                </a:solidFill>
                <a:latin typeface="Cambria"/>
                <a:cs typeface="Cambria"/>
              </a:rPr>
              <a:t> </a:t>
            </a:r>
            <a:r>
              <a:rPr sz="2400" i="1" spc="-25" dirty="0">
                <a:solidFill>
                  <a:srgbClr val="4B6EC4"/>
                </a:solidFill>
                <a:latin typeface="Cambria"/>
                <a:cs typeface="Cambria"/>
              </a:rPr>
              <a:t>and </a:t>
            </a:r>
            <a:r>
              <a:rPr sz="2400" i="1" spc="-25" dirty="0">
                <a:solidFill>
                  <a:srgbClr val="4464CA"/>
                </a:solidFill>
                <a:latin typeface="Cambria"/>
                <a:cs typeface="Cambria"/>
              </a:rPr>
              <a:t>communication</a:t>
            </a:r>
            <a:r>
              <a:rPr sz="2400" i="1" spc="165" dirty="0">
                <a:solidFill>
                  <a:srgbClr val="4464CA"/>
                </a:solidFill>
                <a:latin typeface="Cambria"/>
                <a:cs typeface="Cambria"/>
              </a:rPr>
              <a:t> </a:t>
            </a:r>
            <a:r>
              <a:rPr sz="2400" i="1" spc="-10" dirty="0">
                <a:solidFill>
                  <a:srgbClr val="4262AF"/>
                </a:solidFill>
                <a:latin typeface="Cambria"/>
                <a:cs typeface="Cambria"/>
              </a:rPr>
              <a:t>systems </a:t>
            </a:r>
            <a:r>
              <a:rPr sz="2400" i="1" spc="-60" dirty="0">
                <a:solidFill>
                  <a:srgbClr val="3F67C3"/>
                </a:solidFill>
                <a:latin typeface="Cambria"/>
                <a:cs typeface="Cambria"/>
              </a:rPr>
              <a:t>without</a:t>
            </a:r>
            <a:r>
              <a:rPr sz="2400" i="1" spc="-65" dirty="0">
                <a:solidFill>
                  <a:srgbClr val="3F67C3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4D6EC6"/>
                </a:solidFill>
                <a:latin typeface="Cambria"/>
                <a:cs typeface="Cambria"/>
              </a:rPr>
              <a:t>the</a:t>
            </a:r>
            <a:r>
              <a:rPr sz="2400" i="1" spc="-75" dirty="0">
                <a:solidFill>
                  <a:srgbClr val="4D6EC6"/>
                </a:solidFill>
                <a:latin typeface="Cambria"/>
                <a:cs typeface="Cambria"/>
              </a:rPr>
              <a:t> </a:t>
            </a:r>
            <a:r>
              <a:rPr sz="2400" i="1" spc="-20" dirty="0">
                <a:solidFill>
                  <a:srgbClr val="496BD4"/>
                </a:solidFill>
                <a:latin typeface="Cambria"/>
                <a:cs typeface="Cambria"/>
              </a:rPr>
              <a:t>necessity</a:t>
            </a:r>
            <a:r>
              <a:rPr sz="2400" i="1" spc="60" dirty="0">
                <a:solidFill>
                  <a:srgbClr val="496BD4"/>
                </a:solidFill>
                <a:latin typeface="Cambria"/>
                <a:cs typeface="Cambria"/>
              </a:rPr>
              <a:t> </a:t>
            </a:r>
            <a:r>
              <a:rPr sz="2400" i="1" spc="-25" dirty="0">
                <a:solidFill>
                  <a:srgbClr val="4269B3"/>
                </a:solidFill>
                <a:latin typeface="Cambria"/>
                <a:cs typeface="Cambria"/>
              </a:rPr>
              <a:t>for </a:t>
            </a:r>
            <a:r>
              <a:rPr sz="2300" i="1" dirty="0">
                <a:solidFill>
                  <a:srgbClr val="466BC3"/>
                </a:solidFill>
                <a:latin typeface="Cambria"/>
                <a:cs typeface="Cambria"/>
              </a:rPr>
              <a:t>central</a:t>
            </a:r>
            <a:r>
              <a:rPr sz="2300" i="1" spc="110" dirty="0">
                <a:solidFill>
                  <a:srgbClr val="466BC3"/>
                </a:solidFill>
                <a:latin typeface="Cambria"/>
                <a:cs typeface="Cambria"/>
              </a:rPr>
              <a:t> </a:t>
            </a:r>
            <a:r>
              <a:rPr sz="2300" i="1" spc="-10" dirty="0">
                <a:solidFill>
                  <a:srgbClr val="446DC1"/>
                </a:solidFill>
                <a:latin typeface="Cambria"/>
                <a:cs typeface="Cambria"/>
              </a:rPr>
              <a:t>coordination.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53012" y="1998959"/>
            <a:ext cx="3498850" cy="21526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3695" marR="5080" indent="-341630">
              <a:lnSpc>
                <a:spcPct val="77700"/>
              </a:lnSpc>
              <a:spcBef>
                <a:spcPts val="745"/>
              </a:spcBef>
              <a:buChar char="•"/>
              <a:tabLst>
                <a:tab pos="353695" algn="l"/>
                <a:tab pos="354965" algn="l"/>
              </a:tabLst>
            </a:pP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-20" dirty="0">
                <a:latin typeface="Times New Roman"/>
                <a:cs typeface="Times New Roman"/>
              </a:rPr>
              <a:t>File/information/resource </a:t>
            </a:r>
            <a:r>
              <a:rPr sz="2450" spc="-10" dirty="0">
                <a:latin typeface="Times New Roman"/>
                <a:cs typeface="Times New Roman"/>
              </a:rPr>
              <a:t>sharing</a:t>
            </a: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imes New Roman"/>
              <a:buChar char="•"/>
            </a:pPr>
            <a:endParaRPr sz="245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buChar char="•"/>
              <a:tabLst>
                <a:tab pos="353695" algn="l"/>
              </a:tabLst>
            </a:pPr>
            <a:r>
              <a:rPr sz="2400" dirty="0">
                <a:latin typeface="Times New Roman"/>
                <a:cs typeface="Times New Roman"/>
              </a:rPr>
              <a:t>Equal</a:t>
            </a:r>
            <a:r>
              <a:rPr sz="2400" spc="-10" dirty="0">
                <a:latin typeface="Times New Roman"/>
                <a:cs typeface="Times New Roman"/>
              </a:rPr>
              <a:t> peers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Times New Roman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330" indent="-341630">
              <a:lnSpc>
                <a:spcPct val="100000"/>
              </a:lnSpc>
              <a:buChar char="•"/>
              <a:tabLst>
                <a:tab pos="354330" algn="l"/>
              </a:tabLst>
            </a:pPr>
            <a:r>
              <a:rPr sz="2450" spc="-10" dirty="0">
                <a:latin typeface="Times New Roman"/>
                <a:cs typeface="Times New Roman"/>
              </a:rPr>
              <a:t>Decentralization</a:t>
            </a:r>
            <a:endParaRPr sz="2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806059" y="287188"/>
            <a:ext cx="2629535" cy="9569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0" u="heavy" dirty="0">
                <a:uFill>
                  <a:solidFill>
                    <a:srgbClr val="181818"/>
                  </a:solidFill>
                </a:uFill>
                <a:latin typeface="Times New Roman"/>
                <a:cs typeface="Times New Roman"/>
              </a:rPr>
              <a:t>Client/Server</a:t>
            </a:r>
            <a:r>
              <a:rPr sz="2500" u="heavy" spc="350" dirty="0">
                <a:uFill>
                  <a:solidFill>
                    <a:srgbClr val="181818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00" u="heavy" spc="-70" dirty="0">
                <a:uFill>
                  <a:solidFill>
                    <a:srgbClr val="181818"/>
                  </a:solidFill>
                </a:uFill>
                <a:latin typeface="Times New Roman"/>
                <a:cs typeface="Times New Roman"/>
              </a:rPr>
              <a:t>Model</a:t>
            </a:r>
            <a:endParaRPr sz="2500">
              <a:latin typeface="Times New Roman"/>
              <a:cs typeface="Times New Roman"/>
            </a:endParaRPr>
          </a:p>
          <a:p>
            <a:pPr marL="502284">
              <a:lnSpc>
                <a:spcPct val="100000"/>
              </a:lnSpc>
              <a:spcBef>
                <a:spcPts val="1645"/>
              </a:spcBef>
            </a:pPr>
            <a:r>
              <a:rPr sz="2250" i="1" u="heavy" spc="-10" dirty="0">
                <a:uFill>
                  <a:solidFill>
                    <a:srgbClr val="030303"/>
                  </a:solidFill>
                </a:uFill>
                <a:latin typeface="Times New Roman"/>
                <a:cs typeface="Times New Roman"/>
              </a:rPr>
              <a:t>Assumption</a:t>
            </a:r>
            <a:endParaRPr sz="22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4070" y="3045023"/>
            <a:ext cx="1919883" cy="84832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55258" y="1444617"/>
            <a:ext cx="3841115" cy="220535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360"/>
              </a:spcBef>
            </a:pPr>
            <a:r>
              <a:rPr sz="2500" spc="-75" dirty="0">
                <a:latin typeface="Times New Roman"/>
                <a:cs typeface="Times New Roman"/>
              </a:rPr>
              <a:t>Workstation</a:t>
            </a:r>
            <a:r>
              <a:rPr sz="2500" spc="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55" dirty="0">
                <a:latin typeface="Times New Roman"/>
                <a:cs typeface="Times New Roman"/>
              </a:rPr>
              <a:t>  </a:t>
            </a:r>
            <a:r>
              <a:rPr sz="2500" spc="75" dirty="0">
                <a:latin typeface="Times New Roman"/>
                <a:cs typeface="Times New Roman"/>
              </a:rPr>
              <a:t>So</a:t>
            </a:r>
            <a:r>
              <a:rPr sz="2500" spc="180" dirty="0">
                <a:latin typeface="Times New Roman"/>
                <a:cs typeface="Times New Roman"/>
              </a:rPr>
              <a:t> </a:t>
            </a:r>
            <a:r>
              <a:rPr sz="2500" spc="85" dirty="0">
                <a:solidFill>
                  <a:srgbClr val="163891"/>
                </a:solidFill>
                <a:latin typeface="Times New Roman"/>
                <a:cs typeface="Times New Roman"/>
              </a:rPr>
              <a:t>powerless</a:t>
            </a:r>
            <a:endParaRPr sz="2500">
              <a:latin typeface="Times New Roman"/>
              <a:cs typeface="Times New Roman"/>
            </a:endParaRPr>
          </a:p>
          <a:p>
            <a:pPr marL="33655" algn="ctr">
              <a:lnSpc>
                <a:spcPct val="100000"/>
              </a:lnSpc>
              <a:spcBef>
                <a:spcPts val="210"/>
              </a:spcBef>
            </a:pPr>
            <a:r>
              <a:rPr sz="2350" dirty="0">
                <a:latin typeface="Times New Roman"/>
                <a:cs typeface="Times New Roman"/>
              </a:rPr>
              <a:t>thdt</a:t>
            </a:r>
            <a:r>
              <a:rPr sz="2350" spc="45" dirty="0">
                <a:latin typeface="Times New Roman"/>
                <a:cs typeface="Times New Roman"/>
              </a:rPr>
              <a:t> </a:t>
            </a:r>
            <a:r>
              <a:rPr sz="3525" baseline="1182" dirty="0">
                <a:latin typeface="Times New Roman"/>
                <a:cs typeface="Times New Roman"/>
              </a:rPr>
              <a:t>it</a:t>
            </a:r>
            <a:r>
              <a:rPr sz="3525" spc="-22" baseline="1182" dirty="0">
                <a:latin typeface="Times New Roman"/>
                <a:cs typeface="Times New Roman"/>
              </a:rPr>
              <a:t> </a:t>
            </a:r>
            <a:r>
              <a:rPr sz="3525" baseline="1182" dirty="0">
                <a:latin typeface="Times New Roman"/>
                <a:cs typeface="Times New Roman"/>
              </a:rPr>
              <a:t>can</a:t>
            </a:r>
            <a:r>
              <a:rPr sz="3525" spc="82" baseline="1182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not</a:t>
            </a:r>
            <a:r>
              <a:rPr sz="2350" spc="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do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3525" baseline="1182" dirty="0">
                <a:latin typeface="Times New Roman"/>
                <a:cs typeface="Times New Roman"/>
              </a:rPr>
              <a:t>any</a:t>
            </a:r>
            <a:r>
              <a:rPr sz="3525" spc="165" baseline="1182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tdsk.</a:t>
            </a:r>
            <a:endParaRPr sz="2350">
              <a:latin typeface="Times New Roman"/>
              <a:cs typeface="Times New Roman"/>
            </a:endParaRPr>
          </a:p>
          <a:p>
            <a:pPr marL="12065" marR="674370" algn="ctr">
              <a:lnSpc>
                <a:spcPct val="100000"/>
              </a:lnSpc>
              <a:spcBef>
                <a:spcPts val="470"/>
              </a:spcBef>
            </a:pPr>
            <a:r>
              <a:rPr sz="2400" dirty="0">
                <a:latin typeface="Times New Roman"/>
                <a:cs typeface="Times New Roman"/>
              </a:rPr>
              <a:t>Only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F33A7"/>
                </a:solidFill>
                <a:latin typeface="Times New Roman"/>
                <a:cs typeface="Times New Roman"/>
              </a:rPr>
              <a:t>User</a:t>
            </a:r>
            <a:r>
              <a:rPr sz="2400" spc="5" dirty="0">
                <a:solidFill>
                  <a:srgbClr val="0F33A7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(Operator) </a:t>
            </a:r>
            <a:r>
              <a:rPr sz="2400" spc="-25" dirty="0">
                <a:latin typeface="Times New Roman"/>
                <a:cs typeface="Times New Roman"/>
              </a:rPr>
              <a:t>can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workstation</a:t>
            </a:r>
            <a:endParaRPr sz="2400">
              <a:latin typeface="Times New Roman"/>
              <a:cs typeface="Times New Roman"/>
            </a:endParaRPr>
          </a:p>
          <a:p>
            <a:pPr marL="6985" algn="ctr">
              <a:lnSpc>
                <a:spcPct val="100000"/>
              </a:lnSpc>
              <a:spcBef>
                <a:spcPts val="1764"/>
              </a:spcBef>
            </a:pPr>
            <a:r>
              <a:rPr sz="2400" spc="-10" dirty="0">
                <a:latin typeface="Times New Roman"/>
                <a:cs typeface="Times New Roman"/>
              </a:rPr>
              <a:t>Server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89704" y="220443"/>
            <a:ext cx="4046854" cy="276415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004569">
              <a:lnSpc>
                <a:spcPct val="100000"/>
              </a:lnSpc>
              <a:spcBef>
                <a:spcPts val="875"/>
              </a:spcBef>
            </a:pPr>
            <a:r>
              <a:rPr sz="2450" u="heavy" spc="-100" dirty="0">
                <a:uFill>
                  <a:solidFill>
                    <a:srgbClr val="1F1F1F"/>
                  </a:solidFill>
                </a:uFill>
                <a:latin typeface="Cambria"/>
                <a:cs typeface="Cambria"/>
              </a:rPr>
              <a:t>Peer</a:t>
            </a:r>
            <a:r>
              <a:rPr sz="2450" u="heavy" spc="-10" dirty="0">
                <a:uFill>
                  <a:solidFill>
                    <a:srgbClr val="1F1F1F"/>
                  </a:solidFill>
                </a:uFill>
                <a:latin typeface="Cambria"/>
                <a:cs typeface="Cambria"/>
              </a:rPr>
              <a:t> </a:t>
            </a:r>
            <a:r>
              <a:rPr sz="2450" u="heavy" spc="-145" dirty="0">
                <a:uFill>
                  <a:solidFill>
                    <a:srgbClr val="1F1F1F"/>
                  </a:solidFill>
                </a:uFill>
                <a:latin typeface="Cambria"/>
                <a:cs typeface="Cambria"/>
              </a:rPr>
              <a:t>to</a:t>
            </a:r>
            <a:r>
              <a:rPr sz="2450" u="heavy" spc="-45" dirty="0">
                <a:uFill>
                  <a:solidFill>
                    <a:srgbClr val="1F1F1F"/>
                  </a:solidFill>
                </a:uFill>
                <a:latin typeface="Cambria"/>
                <a:cs typeface="Cambria"/>
              </a:rPr>
              <a:t> </a:t>
            </a:r>
            <a:r>
              <a:rPr sz="2450" u="heavy" spc="-130" dirty="0">
                <a:uFill>
                  <a:solidFill>
                    <a:srgbClr val="1F1F1F"/>
                  </a:solidFill>
                </a:uFill>
                <a:latin typeface="Cambria"/>
                <a:cs typeface="Cambria"/>
              </a:rPr>
              <a:t>Peer</a:t>
            </a:r>
            <a:r>
              <a:rPr sz="2450" u="heavy" spc="-5" dirty="0">
                <a:uFill>
                  <a:solidFill>
                    <a:srgbClr val="1F1F1F"/>
                  </a:solidFill>
                </a:uFill>
                <a:latin typeface="Cambria"/>
                <a:cs typeface="Cambria"/>
              </a:rPr>
              <a:t> </a:t>
            </a:r>
            <a:r>
              <a:rPr sz="2450" u="heavy" spc="-10" dirty="0">
                <a:uFill>
                  <a:solidFill>
                    <a:srgbClr val="1F1F1F"/>
                  </a:solidFill>
                </a:uFill>
                <a:latin typeface="Cambria"/>
                <a:cs typeface="Cambria"/>
              </a:rPr>
              <a:t>Model</a:t>
            </a:r>
            <a:endParaRPr sz="2450">
              <a:latin typeface="Cambria"/>
              <a:cs typeface="Cambria"/>
            </a:endParaRPr>
          </a:p>
          <a:p>
            <a:pPr marR="144780" algn="ctr">
              <a:lnSpc>
                <a:spcPct val="100000"/>
              </a:lnSpc>
              <a:spcBef>
                <a:spcPts val="745"/>
              </a:spcBef>
            </a:pPr>
            <a:r>
              <a:rPr sz="2350" i="1" u="heavy" spc="-10" dirty="0">
                <a:uFill>
                  <a:solidFill>
                    <a:srgbClr val="282828"/>
                  </a:solidFill>
                </a:uFill>
                <a:latin typeface="Cambria"/>
                <a:cs typeface="Cambria"/>
              </a:rPr>
              <a:t>Assumption</a:t>
            </a:r>
            <a:endParaRPr sz="2350">
              <a:latin typeface="Cambria"/>
              <a:cs typeface="Cambria"/>
            </a:endParaRPr>
          </a:p>
          <a:p>
            <a:pPr marR="153670" algn="ctr">
              <a:lnSpc>
                <a:spcPct val="100000"/>
              </a:lnSpc>
              <a:spcBef>
                <a:spcPts val="2025"/>
              </a:spcBef>
            </a:pPr>
            <a:r>
              <a:rPr sz="2500" spc="-80" dirty="0">
                <a:latin typeface="Times New Roman"/>
                <a:cs typeface="Times New Roman"/>
              </a:rPr>
              <a:t>Workstation</a:t>
            </a:r>
            <a:r>
              <a:rPr sz="2500" spc="180" dirty="0">
                <a:latin typeface="Times New Roman"/>
                <a:cs typeface="Times New Roman"/>
              </a:rPr>
              <a:t> </a:t>
            </a:r>
            <a:r>
              <a:rPr sz="3750" baseline="1111" dirty="0">
                <a:latin typeface="Times New Roman"/>
                <a:cs typeface="Times New Roman"/>
              </a:rPr>
              <a:t>is</a:t>
            </a:r>
            <a:r>
              <a:rPr sz="3750" spc="7" baseline="1111" dirty="0">
                <a:latin typeface="Times New Roman"/>
                <a:cs typeface="Times New Roman"/>
              </a:rPr>
              <a:t>  </a:t>
            </a:r>
            <a:r>
              <a:rPr sz="3750" spc="112" baseline="1111" dirty="0">
                <a:solidFill>
                  <a:srgbClr val="3D3A83"/>
                </a:solidFill>
                <a:latin typeface="Times New Roman"/>
                <a:cs typeface="Times New Roman"/>
              </a:rPr>
              <a:t>powerful</a:t>
            </a:r>
            <a:endParaRPr sz="3750" baseline="1111">
              <a:latin typeface="Times New Roman"/>
              <a:cs typeface="Times New Roman"/>
            </a:endParaRPr>
          </a:p>
          <a:p>
            <a:pPr marR="144780" algn="ctr">
              <a:lnSpc>
                <a:spcPct val="100000"/>
              </a:lnSpc>
              <a:spcBef>
                <a:spcPts val="204"/>
              </a:spcBef>
            </a:pPr>
            <a:r>
              <a:rPr sz="2350" dirty="0">
                <a:latin typeface="Times New Roman"/>
                <a:cs typeface="Times New Roman"/>
              </a:rPr>
              <a:t>enough</a:t>
            </a:r>
            <a:r>
              <a:rPr sz="2350" spc="204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do</a:t>
            </a:r>
            <a:r>
              <a:rPr sz="2350" spc="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some</a:t>
            </a:r>
            <a:r>
              <a:rPr sz="2350" spc="90" dirty="0">
                <a:latin typeface="Times New Roman"/>
                <a:cs typeface="Times New Roman"/>
              </a:rPr>
              <a:t> </a:t>
            </a:r>
            <a:r>
              <a:rPr sz="2350" spc="-20" dirty="0">
                <a:latin typeface="Times New Roman"/>
                <a:cs typeface="Times New Roman"/>
              </a:rPr>
              <a:t>jobs</a:t>
            </a:r>
            <a:endParaRPr sz="2350">
              <a:latin typeface="Times New Roman"/>
              <a:cs typeface="Times New Roman"/>
            </a:endParaRPr>
          </a:p>
          <a:p>
            <a:pPr marL="12065" marR="5080" algn="ctr">
              <a:lnSpc>
                <a:spcPts val="2850"/>
              </a:lnSpc>
              <a:spcBef>
                <a:spcPts val="625"/>
              </a:spcBef>
            </a:pPr>
            <a:r>
              <a:rPr sz="3600" baseline="1157" dirty="0">
                <a:latin typeface="Times New Roman"/>
                <a:cs typeface="Times New Roman"/>
              </a:rPr>
              <a:t>Other</a:t>
            </a:r>
            <a:r>
              <a:rPr sz="3600" spc="30" baseline="1157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workstation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3600" baseline="1157" dirty="0">
                <a:latin typeface="Times New Roman"/>
                <a:cs typeface="Times New Roman"/>
              </a:rPr>
              <a:t>and</a:t>
            </a:r>
            <a:r>
              <a:rPr sz="3600" spc="-82" baseline="1157" dirty="0">
                <a:latin typeface="Times New Roman"/>
                <a:cs typeface="Times New Roman"/>
              </a:rPr>
              <a:t> </a:t>
            </a:r>
            <a:r>
              <a:rPr sz="3600" baseline="1157" dirty="0">
                <a:latin typeface="Times New Roman"/>
                <a:cs typeface="Times New Roman"/>
              </a:rPr>
              <a:t>server</a:t>
            </a:r>
            <a:r>
              <a:rPr sz="3600" spc="-120" baseline="1157" dirty="0">
                <a:latin typeface="Times New Roman"/>
                <a:cs typeface="Times New Roman"/>
              </a:rPr>
              <a:t> </a:t>
            </a:r>
            <a:r>
              <a:rPr sz="3600" spc="-37" baseline="1157" dirty="0">
                <a:latin typeface="Times New Roman"/>
                <a:cs typeface="Times New Roman"/>
              </a:rPr>
              <a:t>can </a:t>
            </a:r>
            <a:r>
              <a:rPr sz="2400" spc="45" dirty="0">
                <a:solidFill>
                  <a:srgbClr val="3436A0"/>
                </a:solidFill>
                <a:latin typeface="Times New Roman"/>
                <a:cs typeface="Times New Roman"/>
              </a:rPr>
              <a:t>remote-</a:t>
            </a:r>
            <a:r>
              <a:rPr sz="2400" dirty="0">
                <a:solidFill>
                  <a:srgbClr val="3436A0"/>
                </a:solidFill>
                <a:latin typeface="Times New Roman"/>
                <a:cs typeface="Times New Roman"/>
              </a:rPr>
              <a:t>control</a:t>
            </a:r>
            <a:r>
              <a:rPr sz="2400" spc="275" dirty="0">
                <a:solidFill>
                  <a:srgbClr val="3436A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workstation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88023" y="3196827"/>
            <a:ext cx="1910953" cy="84832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727983" y="3411587"/>
            <a:ext cx="81089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latin typeface="Times New Roman"/>
                <a:cs typeface="Times New Roman"/>
              </a:rPr>
              <a:t>Server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4437" y="3964781"/>
            <a:ext cx="1687710" cy="243780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90618" y="4367064"/>
            <a:ext cx="68580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20" dirty="0">
                <a:solidFill>
                  <a:srgbClr val="992D2D"/>
                </a:solidFill>
                <a:latin typeface="Times New Roman"/>
                <a:cs typeface="Times New Roman"/>
              </a:rPr>
              <a:t>result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44867" y="4362598"/>
            <a:ext cx="72009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25" dirty="0">
                <a:latin typeface="Times New Roman"/>
                <a:cs typeface="Times New Roman"/>
              </a:rPr>
              <a:t>Order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67814" y="4362598"/>
            <a:ext cx="68580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20" dirty="0">
                <a:solidFill>
                  <a:srgbClr val="A52D38"/>
                </a:solidFill>
                <a:latin typeface="Times New Roman"/>
                <a:cs typeface="Times New Roman"/>
              </a:rPr>
              <a:t>result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66679" y="4125514"/>
            <a:ext cx="169664" cy="105370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22093" y="4116585"/>
            <a:ext cx="169664" cy="11340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30898" y="5322093"/>
            <a:ext cx="4518422" cy="108942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486281" y="4297223"/>
            <a:ext cx="2174240" cy="103505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spc="-10" dirty="0">
                <a:latin typeface="Times New Roman"/>
                <a:cs typeface="Times New Roman"/>
              </a:rPr>
              <a:t>Order</a:t>
            </a:r>
            <a:endParaRPr sz="2400">
              <a:latin typeface="Times New Roman"/>
              <a:cs typeface="Times New Roman"/>
            </a:endParaRPr>
          </a:p>
          <a:p>
            <a:pPr marL="659130">
              <a:lnSpc>
                <a:spcPct val="100000"/>
              </a:lnSpc>
              <a:spcBef>
                <a:spcPts val="715"/>
              </a:spcBef>
            </a:pPr>
            <a:r>
              <a:rPr sz="3200" dirty="0">
                <a:solidFill>
                  <a:srgbClr val="133497"/>
                </a:solidFill>
                <a:latin typeface="Times New Roman"/>
                <a:cs typeface="Times New Roman"/>
              </a:rPr>
              <a:t>Pure</a:t>
            </a:r>
            <a:r>
              <a:rPr sz="3200" spc="-40" dirty="0">
                <a:solidFill>
                  <a:srgbClr val="133497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112F95"/>
                </a:solidFill>
                <a:latin typeface="Times New Roman"/>
                <a:cs typeface="Times New Roman"/>
              </a:rPr>
              <a:t>P2P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2788" rIns="0" bIns="0" rtlCol="0">
            <a:spAutoFit/>
          </a:bodyPr>
          <a:lstStyle/>
          <a:p>
            <a:pPr marL="2081530">
              <a:lnSpc>
                <a:spcPct val="100000"/>
              </a:lnSpc>
              <a:spcBef>
                <a:spcPts val="90"/>
              </a:spcBef>
            </a:pPr>
            <a:r>
              <a:rPr sz="4550" spc="-305" dirty="0">
                <a:solidFill>
                  <a:srgbClr val="FB3108"/>
                </a:solidFill>
              </a:rPr>
              <a:t>l?le†work</a:t>
            </a:r>
            <a:r>
              <a:rPr sz="4550" spc="765" dirty="0">
                <a:solidFill>
                  <a:srgbClr val="FB3108"/>
                </a:solidFill>
              </a:rPr>
              <a:t> </a:t>
            </a:r>
            <a:r>
              <a:rPr sz="6825" spc="-150" baseline="-1831" dirty="0">
                <a:solidFill>
                  <a:srgbClr val="DB3D13"/>
                </a:solidFill>
              </a:rPr>
              <a:t>F</a:t>
            </a:r>
            <a:r>
              <a:rPr sz="4550" spc="-100" dirty="0">
                <a:solidFill>
                  <a:srgbClr val="DB3D13"/>
                </a:solidFill>
              </a:rPr>
              <a:t>eo†ures</a:t>
            </a:r>
            <a:endParaRPr sz="4550"/>
          </a:p>
        </p:txBody>
      </p:sp>
      <p:sp>
        <p:nvSpPr>
          <p:cNvPr id="3" name="object 3"/>
          <p:cNvSpPr txBox="1"/>
          <p:nvPr/>
        </p:nvSpPr>
        <p:spPr>
          <a:xfrm>
            <a:off x="762260" y="1927770"/>
            <a:ext cx="7041515" cy="3787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49885" indent="-336550">
              <a:lnSpc>
                <a:spcPct val="100000"/>
              </a:lnSpc>
              <a:spcBef>
                <a:spcPts val="135"/>
              </a:spcBef>
              <a:buChar char="•"/>
              <a:tabLst>
                <a:tab pos="349885" algn="l"/>
              </a:tabLst>
            </a:pPr>
            <a:r>
              <a:rPr sz="2650" dirty="0">
                <a:latin typeface="Times New Roman"/>
                <a:cs typeface="Times New Roman"/>
              </a:rPr>
              <a:t>Clients</a:t>
            </a:r>
            <a:r>
              <a:rPr sz="2650" spc="29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are</a:t>
            </a:r>
            <a:r>
              <a:rPr sz="2650" spc="20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also</a:t>
            </a:r>
            <a:r>
              <a:rPr sz="2650" spc="330" dirty="0">
                <a:latin typeface="Times New Roman"/>
                <a:cs typeface="Times New Roman"/>
              </a:rPr>
              <a:t> </a:t>
            </a:r>
            <a:r>
              <a:rPr sz="2650" spc="65" dirty="0">
                <a:solidFill>
                  <a:srgbClr val="B65236"/>
                </a:solidFill>
                <a:latin typeface="Times New Roman"/>
                <a:cs typeface="Times New Roman"/>
              </a:rPr>
              <a:t>veireis</a:t>
            </a:r>
            <a:r>
              <a:rPr sz="2650" spc="320" dirty="0">
                <a:solidFill>
                  <a:srgbClr val="B65236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AC4F26"/>
                </a:solidFill>
                <a:latin typeface="Times New Roman"/>
                <a:cs typeface="Times New Roman"/>
              </a:rPr>
              <a:t>and</a:t>
            </a:r>
            <a:r>
              <a:rPr sz="2650" spc="325" dirty="0">
                <a:solidFill>
                  <a:srgbClr val="AC4F26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BC4D2F"/>
                </a:solidFill>
                <a:latin typeface="Times New Roman"/>
                <a:cs typeface="Times New Roman"/>
              </a:rPr>
              <a:t>iouterv</a:t>
            </a:r>
            <a:endParaRPr sz="2650">
              <a:latin typeface="Times New Roman"/>
              <a:cs typeface="Times New Roman"/>
            </a:endParaRPr>
          </a:p>
          <a:p>
            <a:pPr marL="471805">
              <a:lnSpc>
                <a:spcPct val="100000"/>
              </a:lnSpc>
              <a:spcBef>
                <a:spcPts val="105"/>
              </a:spcBef>
            </a:pPr>
            <a:r>
              <a:rPr sz="2350" spc="-1200" dirty="0">
                <a:solidFill>
                  <a:srgbClr val="676767"/>
                </a:solidFill>
                <a:latin typeface="Times New Roman"/>
                <a:cs typeface="Times New Roman"/>
              </a:rPr>
              <a:t>—</a:t>
            </a:r>
            <a:r>
              <a:rPr sz="2350" spc="560" dirty="0">
                <a:solidFill>
                  <a:srgbClr val="676767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130A60"/>
                </a:solidFill>
                <a:latin typeface="Times New Roman"/>
                <a:cs typeface="Times New Roman"/>
              </a:rPr>
              <a:t>Nodes</a:t>
            </a:r>
            <a:r>
              <a:rPr sz="2350" spc="-130" dirty="0">
                <a:solidFill>
                  <a:srgbClr val="130A6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A014D"/>
                </a:solidFill>
                <a:latin typeface="Times New Roman"/>
                <a:cs typeface="Times New Roman"/>
              </a:rPr>
              <a:t>contribute</a:t>
            </a:r>
            <a:r>
              <a:rPr sz="2350" spc="25" dirty="0">
                <a:solidFill>
                  <a:srgbClr val="0A014D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C0854"/>
                </a:solidFill>
                <a:latin typeface="Times New Roman"/>
                <a:cs typeface="Times New Roman"/>
              </a:rPr>
              <a:t>content,</a:t>
            </a:r>
            <a:r>
              <a:rPr sz="2350" spc="75" dirty="0">
                <a:solidFill>
                  <a:srgbClr val="0C0854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C0549"/>
                </a:solidFill>
                <a:latin typeface="Times New Roman"/>
                <a:cs typeface="Times New Roman"/>
              </a:rPr>
              <a:t>stordge,</a:t>
            </a:r>
            <a:r>
              <a:rPr sz="2350" spc="70" dirty="0">
                <a:solidFill>
                  <a:srgbClr val="0C0549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161152"/>
                </a:solidFill>
                <a:latin typeface="Times New Roman"/>
                <a:cs typeface="Times New Roman"/>
              </a:rPr>
              <a:t>memory,</a:t>
            </a:r>
            <a:r>
              <a:rPr sz="2350" spc="70" dirty="0">
                <a:solidFill>
                  <a:srgbClr val="161152"/>
                </a:solidFill>
                <a:latin typeface="Times New Roman"/>
                <a:cs typeface="Times New Roman"/>
              </a:rPr>
              <a:t> </a:t>
            </a:r>
            <a:r>
              <a:rPr sz="2350" spc="-25" dirty="0">
                <a:solidFill>
                  <a:srgbClr val="050059"/>
                </a:solidFill>
                <a:latin typeface="Times New Roman"/>
                <a:cs typeface="Times New Roman"/>
              </a:rPr>
              <a:t>CPU</a:t>
            </a:r>
            <a:endParaRPr sz="2350">
              <a:latin typeface="Times New Roman"/>
              <a:cs typeface="Times New Roman"/>
            </a:endParaRPr>
          </a:p>
          <a:p>
            <a:pPr marL="367030" indent="-353695">
              <a:lnSpc>
                <a:spcPct val="100000"/>
              </a:lnSpc>
              <a:spcBef>
                <a:spcPts val="100"/>
              </a:spcBef>
              <a:buChar char="•"/>
              <a:tabLst>
                <a:tab pos="367030" algn="l"/>
              </a:tabLst>
            </a:pPr>
            <a:r>
              <a:rPr sz="2700" dirty="0">
                <a:latin typeface="Times New Roman"/>
                <a:cs typeface="Times New Roman"/>
              </a:rPr>
              <a:t>Nodes</a:t>
            </a:r>
            <a:r>
              <a:rPr sz="2700" spc="11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are</a:t>
            </a:r>
            <a:r>
              <a:rPr sz="2700" spc="105" dirty="0">
                <a:latin typeface="Times New Roman"/>
                <a:cs typeface="Times New Roman"/>
              </a:rPr>
              <a:t> </a:t>
            </a:r>
            <a:r>
              <a:rPr sz="2700" spc="-150" dirty="0">
                <a:solidFill>
                  <a:srgbClr val="B14931"/>
                </a:solidFill>
                <a:latin typeface="Times New Roman"/>
                <a:cs typeface="Times New Roman"/>
              </a:rPr>
              <a:t>aritc›nc›mc›us</a:t>
            </a:r>
            <a:r>
              <a:rPr sz="2700" spc="140" dirty="0">
                <a:solidFill>
                  <a:srgbClr val="B14931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(no</a:t>
            </a:r>
            <a:r>
              <a:rPr sz="2700" spc="2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administrative</a:t>
            </a:r>
            <a:endParaRPr sz="2700">
              <a:latin typeface="Times New Roman"/>
              <a:cs typeface="Times New Roman"/>
            </a:endParaRPr>
          </a:p>
          <a:p>
            <a:pPr marL="358775" indent="-346075">
              <a:lnSpc>
                <a:spcPct val="100000"/>
              </a:lnSpc>
              <a:spcBef>
                <a:spcPts val="35"/>
              </a:spcBef>
              <a:buChar char="•"/>
              <a:tabLst>
                <a:tab pos="358775" algn="l"/>
              </a:tabLst>
            </a:pPr>
            <a:r>
              <a:rPr sz="2800" spc="-10" dirty="0">
                <a:latin typeface="Times New Roman"/>
                <a:cs typeface="Times New Roman"/>
              </a:rPr>
              <a:t>authority)</a:t>
            </a:r>
            <a:endParaRPr sz="2800">
              <a:latin typeface="Times New Roman"/>
              <a:cs typeface="Times New Roman"/>
            </a:endParaRPr>
          </a:p>
          <a:p>
            <a:pPr marL="367030" indent="-353695">
              <a:lnSpc>
                <a:spcPct val="100000"/>
              </a:lnSpc>
              <a:spcBef>
                <a:spcPts val="80"/>
              </a:spcBef>
              <a:buChar char="•"/>
              <a:tabLst>
                <a:tab pos="367030" algn="l"/>
              </a:tabLst>
            </a:pPr>
            <a:r>
              <a:rPr sz="2700" dirty="0">
                <a:latin typeface="Times New Roman"/>
                <a:cs typeface="Times New Roman"/>
              </a:rPr>
              <a:t>Network</a:t>
            </a:r>
            <a:r>
              <a:rPr sz="2700" spc="28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1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dynalnlc:</a:t>
            </a:r>
            <a:r>
              <a:rPr sz="2700" spc="29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nodes</a:t>
            </a:r>
            <a:r>
              <a:rPr sz="2700" spc="1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enter</a:t>
            </a:r>
            <a:r>
              <a:rPr sz="2700" spc="19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1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leave</a:t>
            </a:r>
            <a:r>
              <a:rPr sz="2700" spc="165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the</a:t>
            </a:r>
            <a:endParaRPr sz="2700">
              <a:latin typeface="Times New Roman"/>
              <a:cs typeface="Times New Roman"/>
            </a:endParaRPr>
          </a:p>
          <a:p>
            <a:pPr marL="360680" indent="-347980">
              <a:lnSpc>
                <a:spcPct val="100000"/>
              </a:lnSpc>
              <a:spcBef>
                <a:spcPts val="85"/>
              </a:spcBef>
              <a:buChar char="•"/>
              <a:tabLst>
                <a:tab pos="360680" algn="l"/>
              </a:tabLst>
            </a:pPr>
            <a:r>
              <a:rPr sz="2750" dirty="0">
                <a:latin typeface="Times New Roman"/>
                <a:cs typeface="Times New Roman"/>
              </a:rPr>
              <a:t>network</a:t>
            </a:r>
            <a:r>
              <a:rPr sz="2750" spc="11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“frequently”</a:t>
            </a:r>
            <a:endParaRPr sz="2750">
              <a:latin typeface="Times New Roman"/>
              <a:cs typeface="Times New Roman"/>
            </a:endParaRPr>
          </a:p>
          <a:p>
            <a:pPr marL="367030" indent="-353695">
              <a:lnSpc>
                <a:spcPct val="100000"/>
              </a:lnSpc>
              <a:spcBef>
                <a:spcPts val="140"/>
              </a:spcBef>
              <a:buChar char="•"/>
              <a:tabLst>
                <a:tab pos="367030" algn="l"/>
              </a:tabLst>
            </a:pPr>
            <a:r>
              <a:rPr sz="2650" dirty="0">
                <a:latin typeface="Times New Roman"/>
                <a:cs typeface="Times New Roman"/>
              </a:rPr>
              <a:t>Nodes</a:t>
            </a:r>
            <a:r>
              <a:rPr sz="2650" spc="290" dirty="0"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BF4F31"/>
                </a:solidFill>
                <a:latin typeface="Times New Roman"/>
                <a:cs typeface="Times New Roman"/>
              </a:rPr>
              <a:t>coll:lbor:lte</a:t>
            </a:r>
            <a:r>
              <a:rPr sz="2650" spc="450" dirty="0">
                <a:solidFill>
                  <a:srgbClr val="BF4F31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C1543F"/>
                </a:solidFill>
                <a:latin typeface="Times New Roman"/>
                <a:cs typeface="Times New Roman"/>
              </a:rPr>
              <a:t>diiectly</a:t>
            </a:r>
            <a:r>
              <a:rPr sz="2650" spc="405" dirty="0">
                <a:solidFill>
                  <a:srgbClr val="C1543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with</a:t>
            </a:r>
            <a:r>
              <a:rPr sz="2650" spc="25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each</a:t>
            </a:r>
            <a:r>
              <a:rPr sz="2650" spc="229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other</a:t>
            </a:r>
            <a:r>
              <a:rPr sz="2650" spc="175" dirty="0">
                <a:latin typeface="Times New Roman"/>
                <a:cs typeface="Times New Roman"/>
              </a:rPr>
              <a:t> </a:t>
            </a:r>
            <a:r>
              <a:rPr sz="2650" spc="-20" dirty="0">
                <a:latin typeface="Times New Roman"/>
                <a:cs typeface="Times New Roman"/>
              </a:rPr>
              <a:t>(not</a:t>
            </a:r>
            <a:endParaRPr sz="2650">
              <a:latin typeface="Times New Roman"/>
              <a:cs typeface="Times New Roman"/>
            </a:endParaRPr>
          </a:p>
          <a:p>
            <a:pPr marL="358775" indent="-346075">
              <a:lnSpc>
                <a:spcPct val="100000"/>
              </a:lnSpc>
              <a:spcBef>
                <a:spcPts val="95"/>
              </a:spcBef>
              <a:buChar char="•"/>
              <a:tabLst>
                <a:tab pos="358775" algn="l"/>
              </a:tabLst>
            </a:pPr>
            <a:r>
              <a:rPr sz="2750" dirty="0">
                <a:latin typeface="Times New Roman"/>
                <a:cs typeface="Times New Roman"/>
              </a:rPr>
              <a:t>through</a:t>
            </a:r>
            <a:r>
              <a:rPr sz="2750" spc="195" dirty="0">
                <a:latin typeface="Times New Roman"/>
                <a:cs typeface="Times New Roman"/>
              </a:rPr>
              <a:t> </a:t>
            </a:r>
            <a:r>
              <a:rPr sz="2750" spc="-20" dirty="0">
                <a:latin typeface="Times New Roman"/>
                <a:cs typeface="Times New Roman"/>
              </a:rPr>
              <a:t>well-</a:t>
            </a:r>
            <a:r>
              <a:rPr sz="2750" dirty="0">
                <a:latin typeface="Times New Roman"/>
                <a:cs typeface="Times New Roman"/>
              </a:rPr>
              <a:t>known</a:t>
            </a:r>
            <a:r>
              <a:rPr sz="2750" spc="23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servers)</a:t>
            </a:r>
            <a:endParaRPr sz="2750">
              <a:latin typeface="Times New Roman"/>
              <a:cs typeface="Times New Roman"/>
            </a:endParaRPr>
          </a:p>
          <a:p>
            <a:pPr marL="367030" indent="-353695">
              <a:lnSpc>
                <a:spcPct val="100000"/>
              </a:lnSpc>
              <a:spcBef>
                <a:spcPts val="140"/>
              </a:spcBef>
              <a:buChar char="•"/>
              <a:tabLst>
                <a:tab pos="367030" algn="l"/>
              </a:tabLst>
            </a:pPr>
            <a:r>
              <a:rPr sz="2650" dirty="0">
                <a:latin typeface="Times New Roman"/>
                <a:cs typeface="Times New Roman"/>
              </a:rPr>
              <a:t>Nodes</a:t>
            </a:r>
            <a:r>
              <a:rPr sz="2650" spc="31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have</a:t>
            </a:r>
            <a:r>
              <a:rPr sz="2650" spc="22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widely</a:t>
            </a:r>
            <a:r>
              <a:rPr sz="2650" spc="345" dirty="0"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AC492A"/>
                </a:solidFill>
                <a:latin typeface="Times New Roman"/>
                <a:cs typeface="Times New Roman"/>
              </a:rPr>
              <a:t>v:irying</a:t>
            </a:r>
            <a:r>
              <a:rPr sz="2650" spc="250" dirty="0">
                <a:solidFill>
                  <a:srgbClr val="AC492A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CD563D"/>
                </a:solidFill>
                <a:latin typeface="Times New Roman"/>
                <a:cs typeface="Times New Roman"/>
              </a:rPr>
              <a:t>capribilities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5758" y="964406"/>
            <a:ext cx="473273" cy="428625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97466" y="805110"/>
            <a:ext cx="4765675" cy="673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69260" algn="l"/>
              </a:tabLst>
            </a:pPr>
            <a:r>
              <a:rPr sz="6375" spc="-15" baseline="-1960" dirty="0">
                <a:solidFill>
                  <a:srgbClr val="F2360E"/>
                </a:solidFill>
                <a:latin typeface="Calibri"/>
                <a:cs typeface="Calibri"/>
              </a:rPr>
              <a:t>F</a:t>
            </a:r>
            <a:r>
              <a:rPr sz="4250" spc="-10" dirty="0">
                <a:solidFill>
                  <a:srgbClr val="F2360E"/>
                </a:solidFill>
                <a:latin typeface="Calibri"/>
                <a:cs typeface="Calibri"/>
              </a:rPr>
              <a:t>eQtures</a:t>
            </a:r>
            <a:r>
              <a:rPr sz="4250" dirty="0">
                <a:solidFill>
                  <a:srgbClr val="F2360E"/>
                </a:solidFill>
                <a:latin typeface="Calibri"/>
                <a:cs typeface="Calibri"/>
              </a:rPr>
              <a:t>	</a:t>
            </a:r>
            <a:r>
              <a:rPr sz="4250" spc="150" dirty="0">
                <a:solidFill>
                  <a:srgbClr val="F63D01"/>
                </a:solidFill>
                <a:latin typeface="Calibri"/>
                <a:cs typeface="Calibri"/>
              </a:rPr>
              <a:t>the</a:t>
            </a:r>
            <a:r>
              <a:rPr sz="4250" spc="130" dirty="0">
                <a:solidFill>
                  <a:srgbClr val="F63D01"/>
                </a:solidFill>
                <a:latin typeface="Calibri"/>
                <a:cs typeface="Calibri"/>
              </a:rPr>
              <a:t> </a:t>
            </a:r>
            <a:r>
              <a:rPr sz="4250" spc="-25" dirty="0">
                <a:solidFill>
                  <a:srgbClr val="DA3B0F"/>
                </a:solidFill>
                <a:latin typeface="Calibri"/>
                <a:cs typeface="Calibri"/>
              </a:rPr>
              <a:t>P2P</a:t>
            </a:r>
            <a:endParaRPr sz="42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40016" y="982264"/>
            <a:ext cx="1821656" cy="51792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33110" y="1089421"/>
            <a:ext cx="473273" cy="4018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65330" y="1964977"/>
            <a:ext cx="7212330" cy="39757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330" indent="-341630">
              <a:lnSpc>
                <a:spcPts val="2715"/>
              </a:lnSpc>
              <a:spcBef>
                <a:spcPts val="90"/>
              </a:spcBef>
              <a:buChar char="•"/>
              <a:tabLst>
                <a:tab pos="354330" algn="l"/>
              </a:tabLst>
            </a:pPr>
            <a:r>
              <a:rPr sz="2400" spc="-20" dirty="0">
                <a:latin typeface="Times New Roman"/>
                <a:cs typeface="Times New Roman"/>
              </a:rPr>
              <a:t>P2P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sharing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resources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marL="353060">
              <a:lnSpc>
                <a:spcPts val="2775"/>
              </a:lnSpc>
            </a:pPr>
            <a:r>
              <a:rPr sz="2450" spc="-25" dirty="0">
                <a:latin typeface="Times New Roman"/>
                <a:cs typeface="Times New Roman"/>
              </a:rPr>
              <a:t>services</a:t>
            </a:r>
            <a:r>
              <a:rPr sz="2450" spc="15" dirty="0">
                <a:latin typeface="Times New Roman"/>
                <a:cs typeface="Times New Roman"/>
              </a:rPr>
              <a:t> </a:t>
            </a:r>
            <a:r>
              <a:rPr sz="2450" spc="-35" dirty="0">
                <a:latin typeface="Times New Roman"/>
                <a:cs typeface="Times New Roman"/>
              </a:rPr>
              <a:t>by</a:t>
            </a:r>
            <a:r>
              <a:rPr sz="2450" spc="-90" dirty="0">
                <a:latin typeface="Times New Roman"/>
                <a:cs typeface="Times New Roman"/>
              </a:rPr>
              <a:t> </a:t>
            </a:r>
            <a:r>
              <a:rPr sz="2450" i="1" spc="-35" dirty="0">
                <a:latin typeface="Times New Roman"/>
                <a:cs typeface="Times New Roman"/>
              </a:rPr>
              <a:t>direct</a:t>
            </a:r>
            <a:r>
              <a:rPr sz="2450" i="1" spc="-120" dirty="0">
                <a:latin typeface="Times New Roman"/>
                <a:cs typeface="Times New Roman"/>
              </a:rPr>
              <a:t> </a:t>
            </a:r>
            <a:r>
              <a:rPr sz="2450" spc="-25" dirty="0">
                <a:latin typeface="Times New Roman"/>
                <a:cs typeface="Times New Roman"/>
              </a:rPr>
              <a:t>exchange</a:t>
            </a:r>
            <a:r>
              <a:rPr sz="2450" spc="-5" dirty="0">
                <a:latin typeface="Times New Roman"/>
                <a:cs typeface="Times New Roman"/>
              </a:rPr>
              <a:t> </a:t>
            </a:r>
            <a:r>
              <a:rPr sz="2450" spc="-40" dirty="0">
                <a:latin typeface="Times New Roman"/>
                <a:cs typeface="Times New Roman"/>
              </a:rPr>
              <a:t>between</a:t>
            </a:r>
            <a:r>
              <a:rPr sz="2450" spc="-20" dirty="0">
                <a:latin typeface="Times New Roman"/>
                <a:cs typeface="Times New Roman"/>
              </a:rPr>
              <a:t> </a:t>
            </a:r>
            <a:r>
              <a:rPr sz="2450" spc="-10" dirty="0">
                <a:latin typeface="Times New Roman"/>
                <a:cs typeface="Times New Roman"/>
              </a:rPr>
              <a:t>systems.</a:t>
            </a: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2450">
              <a:latin typeface="Times New Roman"/>
              <a:cs typeface="Times New Roman"/>
            </a:endParaRPr>
          </a:p>
          <a:p>
            <a:pPr marL="350520" marR="160655" indent="-338455">
              <a:lnSpc>
                <a:spcPts val="2600"/>
              </a:lnSpc>
              <a:buChar char="•"/>
              <a:tabLst>
                <a:tab pos="350520" algn="l"/>
              </a:tabLst>
            </a:pP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resources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services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include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exchange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information,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processing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cycles,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cache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storage,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disk </a:t>
            </a:r>
            <a:r>
              <a:rPr sz="2400" dirty="0">
                <a:latin typeface="Times New Roman"/>
                <a:cs typeface="Times New Roman"/>
              </a:rPr>
              <a:t>storage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files.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44"/>
              </a:spcBef>
              <a:buFont typeface="Times New Roman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49885" marR="184150" indent="-337820" algn="just">
              <a:lnSpc>
                <a:spcPct val="89900"/>
              </a:lnSpc>
              <a:buChar char="•"/>
              <a:tabLst>
                <a:tab pos="349885" algn="l"/>
                <a:tab pos="353695" algn="l"/>
              </a:tabLst>
            </a:pP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30" dirty="0">
                <a:latin typeface="Times New Roman"/>
                <a:cs typeface="Times New Roman"/>
              </a:rPr>
              <a:t>P2P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takes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ad</a:t>
            </a:r>
            <a:r>
              <a:rPr sz="3600" spc="-15" baseline="2314" dirty="0">
                <a:latin typeface="Times New Roman"/>
                <a:cs typeface="Times New Roman"/>
              </a:rPr>
              <a:t>v</a:t>
            </a:r>
            <a:r>
              <a:rPr sz="2400" spc="-10" dirty="0">
                <a:latin typeface="Times New Roman"/>
                <a:cs typeface="Times New Roman"/>
              </a:rPr>
              <a:t>antage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existing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computing </a:t>
            </a:r>
            <a:r>
              <a:rPr sz="2400" spc="-25" dirty="0">
                <a:latin typeface="Times New Roman"/>
                <a:cs typeface="Times New Roman"/>
              </a:rPr>
              <a:t>power,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storage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networking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connectivity, </a:t>
            </a:r>
            <a:r>
              <a:rPr sz="2400" dirty="0">
                <a:latin typeface="Times New Roman"/>
                <a:cs typeface="Times New Roman"/>
              </a:rPr>
              <a:t>allowing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leverage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their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collective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power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‘benefit’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all.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4119" rIns="0" bIns="0" rtlCol="0">
            <a:spAutoFit/>
          </a:bodyPr>
          <a:lstStyle/>
          <a:p>
            <a:pPr marL="2701925">
              <a:lnSpc>
                <a:spcPct val="100000"/>
              </a:lnSpc>
              <a:spcBef>
                <a:spcPts val="90"/>
              </a:spcBef>
            </a:pPr>
            <a:r>
              <a:rPr sz="6675" spc="-52" baseline="1872" dirty="0">
                <a:solidFill>
                  <a:srgbClr val="F23401"/>
                </a:solidFill>
              </a:rPr>
              <a:t>A</a:t>
            </a:r>
            <a:r>
              <a:rPr sz="4450" spc="-35" dirty="0">
                <a:solidFill>
                  <a:srgbClr val="F23401"/>
                </a:solidFill>
              </a:rPr>
              <a:t>rchi†ec†ure</a:t>
            </a:r>
            <a:endParaRPr sz="4450"/>
          </a:p>
        </p:txBody>
      </p:sp>
      <p:sp>
        <p:nvSpPr>
          <p:cNvPr id="6" name="object 6"/>
          <p:cNvSpPr txBox="1"/>
          <p:nvPr/>
        </p:nvSpPr>
        <p:spPr>
          <a:xfrm>
            <a:off x="765330" y="1929258"/>
            <a:ext cx="3112135" cy="178244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48615" marR="514350" indent="-336550">
              <a:lnSpc>
                <a:spcPct val="79300"/>
              </a:lnSpc>
              <a:spcBef>
                <a:spcPts val="685"/>
              </a:spcBef>
              <a:buChar char="•"/>
              <a:tabLst>
                <a:tab pos="348615" algn="l"/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	All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both </a:t>
            </a:r>
            <a:r>
              <a:rPr sz="2400" dirty="0">
                <a:latin typeface="Times New Roman"/>
                <a:cs typeface="Times New Roman"/>
              </a:rPr>
              <a:t>clients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servers</a:t>
            </a:r>
            <a:endParaRPr sz="2400">
              <a:latin typeface="Times New Roman"/>
              <a:cs typeface="Times New Roman"/>
            </a:endParaRPr>
          </a:p>
          <a:p>
            <a:pPr marL="752475" marR="187325" lvl="1" indent="-284480">
              <a:lnSpc>
                <a:spcPct val="77200"/>
              </a:lnSpc>
              <a:spcBef>
                <a:spcPts val="530"/>
              </a:spcBef>
              <a:buChar char="—"/>
              <a:tabLst>
                <a:tab pos="752475" algn="l"/>
                <a:tab pos="756920" algn="l"/>
              </a:tabLst>
            </a:pPr>
            <a:r>
              <a:rPr sz="2050" dirty="0">
                <a:solidFill>
                  <a:srgbClr val="505050"/>
                </a:solidFill>
                <a:latin typeface="Times New Roman"/>
                <a:cs typeface="Times New Roman"/>
              </a:rPr>
              <a:t>	</a:t>
            </a:r>
            <a:r>
              <a:rPr sz="2050" spc="-35" dirty="0">
                <a:solidFill>
                  <a:srgbClr val="0C0A52"/>
                </a:solidFill>
                <a:latin typeface="Times New Roman"/>
                <a:cs typeface="Times New Roman"/>
              </a:rPr>
              <a:t>Provide</a:t>
            </a:r>
            <a:r>
              <a:rPr sz="2050" spc="-50" dirty="0">
                <a:solidFill>
                  <a:srgbClr val="0C0A52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0A0742"/>
                </a:solidFill>
                <a:latin typeface="Times New Roman"/>
                <a:cs typeface="Times New Roman"/>
              </a:rPr>
              <a:t>and</a:t>
            </a:r>
            <a:r>
              <a:rPr sz="2050" spc="-80" dirty="0">
                <a:solidFill>
                  <a:srgbClr val="0A0742"/>
                </a:solidFill>
                <a:latin typeface="Times New Roman"/>
                <a:cs typeface="Times New Roman"/>
              </a:rPr>
              <a:t> </a:t>
            </a:r>
            <a:r>
              <a:rPr sz="2050" spc="-50" dirty="0">
                <a:solidFill>
                  <a:srgbClr val="080041"/>
                </a:solidFill>
                <a:latin typeface="Times New Roman"/>
                <a:cs typeface="Times New Roman"/>
              </a:rPr>
              <a:t>consume </a:t>
            </a:r>
            <a:r>
              <a:rPr sz="2050" spc="-20" dirty="0">
                <a:solidFill>
                  <a:srgbClr val="03003A"/>
                </a:solidFill>
                <a:latin typeface="Times New Roman"/>
                <a:cs typeface="Times New Roman"/>
              </a:rPr>
              <a:t>data</a:t>
            </a:r>
            <a:endParaRPr sz="2050">
              <a:latin typeface="Times New Roman"/>
              <a:cs typeface="Times New Roman"/>
            </a:endParaRPr>
          </a:p>
          <a:p>
            <a:pPr marL="768350" lvl="1" indent="-299720">
              <a:lnSpc>
                <a:spcPts val="2190"/>
              </a:lnSpc>
              <a:buClr>
                <a:srgbClr val="212121"/>
              </a:buClr>
              <a:buChar char="—"/>
              <a:tabLst>
                <a:tab pos="768350" algn="l"/>
              </a:tabLst>
            </a:pPr>
            <a:r>
              <a:rPr sz="2050" spc="-45" dirty="0">
                <a:solidFill>
                  <a:srgbClr val="180C5B"/>
                </a:solidFill>
                <a:latin typeface="Times New Roman"/>
                <a:cs typeface="Times New Roman"/>
              </a:rPr>
              <a:t>Any </a:t>
            </a:r>
            <a:r>
              <a:rPr sz="2050" spc="-20" dirty="0">
                <a:solidFill>
                  <a:srgbClr val="0E0544"/>
                </a:solidFill>
                <a:latin typeface="Times New Roman"/>
                <a:cs typeface="Times New Roman"/>
              </a:rPr>
              <a:t>node</a:t>
            </a:r>
            <a:r>
              <a:rPr sz="2050" spc="-100" dirty="0">
                <a:solidFill>
                  <a:srgbClr val="0E0544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0F0A3D"/>
                </a:solidFill>
                <a:latin typeface="Times New Roman"/>
                <a:cs typeface="Times New Roman"/>
              </a:rPr>
              <a:t>can</a:t>
            </a:r>
            <a:r>
              <a:rPr sz="2050" spc="-25" dirty="0">
                <a:solidFill>
                  <a:srgbClr val="0F0A3D"/>
                </a:solidFill>
                <a:latin typeface="Times New Roman"/>
                <a:cs typeface="Times New Roman"/>
              </a:rPr>
              <a:t> </a:t>
            </a:r>
            <a:r>
              <a:rPr sz="2050" spc="-30" dirty="0">
                <a:solidFill>
                  <a:srgbClr val="0E073D"/>
                </a:solidFill>
                <a:latin typeface="Times New Roman"/>
                <a:cs typeface="Times New Roman"/>
              </a:rPr>
              <a:t>initiate</a:t>
            </a:r>
            <a:r>
              <a:rPr sz="2050" spc="-100" dirty="0">
                <a:solidFill>
                  <a:srgbClr val="0E073D"/>
                </a:solidFill>
                <a:latin typeface="Times New Roman"/>
                <a:cs typeface="Times New Roman"/>
              </a:rPr>
              <a:t> </a:t>
            </a:r>
            <a:r>
              <a:rPr sz="2050" spc="-50" dirty="0">
                <a:solidFill>
                  <a:srgbClr val="0E073D"/>
                </a:solidFill>
                <a:latin typeface="Times New Roman"/>
                <a:cs typeface="Times New Roman"/>
              </a:rPr>
              <a:t>a</a:t>
            </a:r>
            <a:endParaRPr sz="2050">
              <a:latin typeface="Times New Roman"/>
              <a:cs typeface="Times New Roman"/>
            </a:endParaRPr>
          </a:p>
          <a:p>
            <a:pPr marL="752475">
              <a:lnSpc>
                <a:spcPts val="2160"/>
              </a:lnSpc>
            </a:pPr>
            <a:r>
              <a:rPr sz="2000" spc="-10" dirty="0">
                <a:solidFill>
                  <a:srgbClr val="0F0834"/>
                </a:solidFill>
                <a:latin typeface="Times New Roman"/>
                <a:cs typeface="Times New Roman"/>
              </a:rPr>
              <a:t>connection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3773" y="2589608"/>
            <a:ext cx="1169789" cy="7322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4360" y="2214562"/>
            <a:ext cx="2446735" cy="108049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893762" y="2394346"/>
            <a:ext cx="568325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50" spc="-145" dirty="0">
                <a:latin typeface="Times New Roman"/>
                <a:cs typeface="Times New Roman"/>
              </a:rPr>
              <a:t>Node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0275" y="2959396"/>
            <a:ext cx="57785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20" dirty="0">
                <a:latin typeface="Times New Roman"/>
                <a:cs typeface="Times New Roman"/>
              </a:rPr>
              <a:t>Node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22181" y="2896890"/>
            <a:ext cx="57785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20" dirty="0">
                <a:latin typeface="Times New Roman"/>
                <a:cs typeface="Times New Roman"/>
              </a:rPr>
              <a:t>Node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22175" y="3481039"/>
            <a:ext cx="9086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002103"/>
                </a:solidFill>
                <a:latin typeface="Times New Roman"/>
                <a:cs typeface="Times New Roman"/>
              </a:rPr>
              <a:t>Internet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1006" y="3956297"/>
            <a:ext cx="3221355" cy="227457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347345" marR="495300" indent="-335280">
              <a:lnSpc>
                <a:spcPts val="2320"/>
              </a:lnSpc>
              <a:spcBef>
                <a:spcPts val="635"/>
              </a:spcBef>
              <a:buChar char="•"/>
              <a:tabLst>
                <a:tab pos="360045" algn="l"/>
              </a:tabLst>
            </a:pPr>
            <a:r>
              <a:rPr sz="2400" spc="55" dirty="0">
                <a:latin typeface="Cambria"/>
                <a:cs typeface="Cambria"/>
              </a:rPr>
              <a:t>No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95" dirty="0">
                <a:latin typeface="Cambria"/>
                <a:cs typeface="Cambria"/>
              </a:rPr>
              <a:t>centralized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100" dirty="0">
                <a:latin typeface="Cambria"/>
                <a:cs typeface="Cambria"/>
              </a:rPr>
              <a:t>data 	</a:t>
            </a:r>
            <a:r>
              <a:rPr sz="2400" spc="-10" dirty="0">
                <a:latin typeface="Cambria"/>
                <a:cs typeface="Cambria"/>
              </a:rPr>
              <a:t>source</a:t>
            </a:r>
            <a:endParaRPr sz="2400">
              <a:latin typeface="Cambria"/>
              <a:cs typeface="Cambria"/>
            </a:endParaRPr>
          </a:p>
          <a:p>
            <a:pPr marL="756920" marR="226695" lvl="1" indent="-283210">
              <a:lnSpc>
                <a:spcPct val="77900"/>
              </a:lnSpc>
              <a:spcBef>
                <a:spcPts val="525"/>
              </a:spcBef>
              <a:buClr>
                <a:srgbClr val="1D1D1D"/>
              </a:buClr>
              <a:buChar char="—"/>
              <a:tabLst>
                <a:tab pos="758190" algn="l"/>
              </a:tabLst>
            </a:pPr>
            <a:r>
              <a:rPr sz="2050" dirty="0">
                <a:solidFill>
                  <a:srgbClr val="161616"/>
                </a:solidFill>
                <a:latin typeface="Times New Roman"/>
                <a:cs typeface="Times New Roman"/>
              </a:rPr>
              <a:t>“Thc</a:t>
            </a:r>
            <a:r>
              <a:rPr sz="2050" spc="-1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2050" spc="-50" dirty="0">
                <a:solidFill>
                  <a:srgbClr val="130C44"/>
                </a:solidFill>
                <a:latin typeface="Times New Roman"/>
                <a:cs typeface="Times New Roman"/>
              </a:rPr>
              <a:t>ultimatc</a:t>
            </a:r>
            <a:r>
              <a:rPr sz="2050" spc="-5" dirty="0">
                <a:solidFill>
                  <a:srgbClr val="130C44"/>
                </a:solidFill>
                <a:latin typeface="Times New Roman"/>
                <a:cs typeface="Times New Roman"/>
              </a:rPr>
              <a:t> </a:t>
            </a:r>
            <a:r>
              <a:rPr sz="2050" spc="-45" dirty="0">
                <a:solidFill>
                  <a:srgbClr val="1C154D"/>
                </a:solidFill>
                <a:latin typeface="Times New Roman"/>
                <a:cs typeface="Times New Roman"/>
              </a:rPr>
              <a:t>form</a:t>
            </a:r>
            <a:r>
              <a:rPr sz="2050" spc="-65" dirty="0">
                <a:solidFill>
                  <a:srgbClr val="1C154D"/>
                </a:solidFill>
                <a:latin typeface="Times New Roman"/>
                <a:cs typeface="Times New Roman"/>
              </a:rPr>
              <a:t> </a:t>
            </a:r>
            <a:r>
              <a:rPr sz="2050" spc="-25" dirty="0">
                <a:solidFill>
                  <a:srgbClr val="0E0849"/>
                </a:solidFill>
                <a:latin typeface="Times New Roman"/>
                <a:cs typeface="Times New Roman"/>
              </a:rPr>
              <a:t>of 	</a:t>
            </a:r>
            <a:r>
              <a:rPr sz="2050" spc="-40" dirty="0">
                <a:solidFill>
                  <a:srgbClr val="05013D"/>
                </a:solidFill>
                <a:latin typeface="Times New Roman"/>
                <a:cs typeface="Times New Roman"/>
              </a:rPr>
              <a:t>democracy</a:t>
            </a:r>
            <a:r>
              <a:rPr sz="2050" spc="45" dirty="0">
                <a:solidFill>
                  <a:srgbClr val="05013D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0C0744"/>
                </a:solidFill>
                <a:latin typeface="Times New Roman"/>
                <a:cs typeface="Times New Roman"/>
              </a:rPr>
              <a:t>on</a:t>
            </a:r>
            <a:r>
              <a:rPr sz="2050" spc="-65" dirty="0">
                <a:solidFill>
                  <a:srgbClr val="0C0744"/>
                </a:solidFill>
                <a:latin typeface="Times New Roman"/>
                <a:cs typeface="Times New Roman"/>
              </a:rPr>
              <a:t> </a:t>
            </a:r>
            <a:r>
              <a:rPr sz="2050" spc="-25" dirty="0">
                <a:solidFill>
                  <a:srgbClr val="070544"/>
                </a:solidFill>
                <a:latin typeface="Times New Roman"/>
                <a:cs typeface="Times New Roman"/>
              </a:rPr>
              <a:t>the 	</a:t>
            </a:r>
            <a:r>
              <a:rPr sz="2050" spc="-10" dirty="0">
                <a:solidFill>
                  <a:srgbClr val="050133"/>
                </a:solidFill>
                <a:latin typeface="Times New Roman"/>
                <a:cs typeface="Times New Roman"/>
              </a:rPr>
              <a:t>Internet”</a:t>
            </a:r>
            <a:endParaRPr sz="2050">
              <a:latin typeface="Times New Roman"/>
              <a:cs typeface="Times New Roman"/>
            </a:endParaRPr>
          </a:p>
          <a:p>
            <a:pPr marL="757555" marR="5080" lvl="1" indent="-283845">
              <a:lnSpc>
                <a:spcPct val="77900"/>
              </a:lnSpc>
              <a:spcBef>
                <a:spcPts val="509"/>
              </a:spcBef>
              <a:buClr>
                <a:srgbClr val="262626"/>
              </a:buClr>
              <a:buChar char="—"/>
              <a:tabLst>
                <a:tab pos="757555" algn="l"/>
              </a:tabLst>
            </a:pPr>
            <a:r>
              <a:rPr sz="2050" spc="-10" dirty="0">
                <a:solidFill>
                  <a:srgbClr val="130C33"/>
                </a:solidFill>
                <a:latin typeface="Times New Roman"/>
                <a:cs typeface="Times New Roman"/>
              </a:rPr>
              <a:t>“The</a:t>
            </a:r>
            <a:r>
              <a:rPr sz="2050" spc="-40" dirty="0">
                <a:solidFill>
                  <a:srgbClr val="130C33"/>
                </a:solidFill>
                <a:latin typeface="Times New Roman"/>
                <a:cs typeface="Times New Roman"/>
              </a:rPr>
              <a:t> </a:t>
            </a:r>
            <a:r>
              <a:rPr sz="2050" spc="-40" dirty="0">
                <a:solidFill>
                  <a:srgbClr val="08053B"/>
                </a:solidFill>
                <a:latin typeface="Times New Roman"/>
                <a:cs typeface="Times New Roman"/>
              </a:rPr>
              <a:t>ultimate</a:t>
            </a:r>
            <a:r>
              <a:rPr sz="2050" spc="-15" dirty="0">
                <a:solidFill>
                  <a:srgbClr val="08053B"/>
                </a:solidFill>
                <a:latin typeface="Times New Roman"/>
                <a:cs typeface="Times New Roman"/>
              </a:rPr>
              <a:t> </a:t>
            </a:r>
            <a:r>
              <a:rPr sz="2050" spc="-20" dirty="0">
                <a:solidFill>
                  <a:srgbClr val="0A0542"/>
                </a:solidFill>
                <a:latin typeface="Times New Roman"/>
                <a:cs typeface="Times New Roman"/>
              </a:rPr>
              <a:t>threat</a:t>
            </a:r>
            <a:r>
              <a:rPr sz="2050" spc="-70" dirty="0">
                <a:solidFill>
                  <a:srgbClr val="0A0542"/>
                </a:solidFill>
                <a:latin typeface="Times New Roman"/>
                <a:cs typeface="Times New Roman"/>
              </a:rPr>
              <a:t> </a:t>
            </a:r>
            <a:r>
              <a:rPr sz="2050" spc="-25" dirty="0">
                <a:solidFill>
                  <a:srgbClr val="08032D"/>
                </a:solidFill>
                <a:latin typeface="Times New Roman"/>
                <a:cs typeface="Times New Roman"/>
              </a:rPr>
              <a:t>to </a:t>
            </a:r>
            <a:r>
              <a:rPr sz="2050" spc="-60" dirty="0">
                <a:solidFill>
                  <a:srgbClr val="232323"/>
                </a:solidFill>
                <a:latin typeface="Times New Roman"/>
                <a:cs typeface="Times New Roman"/>
              </a:rPr>
              <a:t>copy-</a:t>
            </a:r>
            <a:r>
              <a:rPr sz="2050" dirty="0">
                <a:solidFill>
                  <a:srgbClr val="232323"/>
                </a:solidFill>
                <a:latin typeface="Times New Roman"/>
                <a:cs typeface="Times New Roman"/>
              </a:rPr>
              <a:t>right</a:t>
            </a:r>
            <a:r>
              <a:rPr sz="2050" spc="-20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2050" spc="-40" dirty="0">
                <a:solidFill>
                  <a:srgbClr val="1A1152"/>
                </a:solidFill>
                <a:latin typeface="Times New Roman"/>
                <a:cs typeface="Times New Roman"/>
              </a:rPr>
              <a:t>protection</a:t>
            </a:r>
            <a:r>
              <a:rPr sz="2050" spc="-5" dirty="0">
                <a:solidFill>
                  <a:srgbClr val="1A1152"/>
                </a:solidFill>
                <a:latin typeface="Times New Roman"/>
                <a:cs typeface="Times New Roman"/>
              </a:rPr>
              <a:t> </a:t>
            </a:r>
            <a:r>
              <a:rPr sz="2050" spc="-25" dirty="0">
                <a:solidFill>
                  <a:srgbClr val="130A46"/>
                </a:solidFill>
                <a:latin typeface="Times New Roman"/>
                <a:cs typeface="Times New Roman"/>
              </a:rPr>
              <a:t>on </a:t>
            </a:r>
            <a:r>
              <a:rPr sz="2050" spc="-10" dirty="0">
                <a:solidFill>
                  <a:srgbClr val="0F0A46"/>
                </a:solidFill>
                <a:latin typeface="Times New Roman"/>
                <a:cs typeface="Times New Roman"/>
              </a:rPr>
              <a:t>the</a:t>
            </a:r>
            <a:r>
              <a:rPr sz="2050" spc="-105" dirty="0">
                <a:solidFill>
                  <a:srgbClr val="0F0A46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Times New Roman"/>
                <a:cs typeface="Times New Roman"/>
              </a:rPr>
              <a:t>Internet”</a:t>
            </a:r>
            <a:endParaRPr sz="2050">
              <a:latin typeface="Times New Roman"/>
              <a:cs typeface="Times New Roman"/>
            </a:endParaRPr>
          </a:p>
        </p:txBody>
      </p:sp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20195" y="3839764"/>
            <a:ext cx="1339453" cy="5000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92007" y="3911202"/>
            <a:ext cx="1232296" cy="36611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491595" y="4311500"/>
            <a:ext cx="5810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90" dirty="0">
                <a:latin typeface="Times New Roman"/>
                <a:cs typeface="Times New Roman"/>
              </a:rPr>
              <a:t>Node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13335" y="4323903"/>
            <a:ext cx="5791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35" dirty="0">
                <a:latin typeface="Times New Roman"/>
                <a:cs typeface="Times New Roman"/>
              </a:rPr>
              <a:t>Node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2271" rIns="0" bIns="0" rtlCol="0">
            <a:spAutoFit/>
          </a:bodyPr>
          <a:lstStyle/>
          <a:p>
            <a:pPr marL="1329690">
              <a:lnSpc>
                <a:spcPct val="100000"/>
              </a:lnSpc>
              <a:spcBef>
                <a:spcPts val="100"/>
              </a:spcBef>
            </a:pPr>
            <a:r>
              <a:rPr sz="4000" spc="200" dirty="0">
                <a:solidFill>
                  <a:srgbClr val="FF3408"/>
                </a:solidFill>
              </a:rPr>
              <a:t>Network</a:t>
            </a:r>
            <a:r>
              <a:rPr sz="4000" spc="750" dirty="0">
                <a:solidFill>
                  <a:srgbClr val="FF3408"/>
                </a:solidFill>
              </a:rPr>
              <a:t> </a:t>
            </a:r>
            <a:r>
              <a:rPr sz="4000" spc="40" dirty="0">
                <a:solidFill>
                  <a:srgbClr val="E84216"/>
                </a:solidFill>
              </a:rPr>
              <a:t>ChQrQc†eris†ics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3283" y="1933542"/>
            <a:ext cx="6744334" cy="95758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48615" indent="-335915">
              <a:lnSpc>
                <a:spcPct val="100000"/>
              </a:lnSpc>
              <a:spcBef>
                <a:spcPts val="790"/>
              </a:spcBef>
              <a:buChar char="•"/>
              <a:tabLst>
                <a:tab pos="348615" algn="l"/>
              </a:tabLst>
            </a:pPr>
            <a:r>
              <a:rPr sz="2650" dirty="0">
                <a:latin typeface="Times New Roman"/>
                <a:cs typeface="Times New Roman"/>
              </a:rPr>
              <a:t>Clients</a:t>
            </a:r>
            <a:r>
              <a:rPr sz="2650" spc="37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are</a:t>
            </a:r>
            <a:r>
              <a:rPr sz="2650" spc="280" dirty="0">
                <a:latin typeface="Times New Roman"/>
                <a:cs typeface="Times New Roman"/>
              </a:rPr>
              <a:t> </a:t>
            </a:r>
            <a:r>
              <a:rPr sz="2650" spc="-20" dirty="0">
                <a:latin typeface="Times New Roman"/>
                <a:cs typeface="Times New Roman"/>
              </a:rPr>
              <a:t>also</a:t>
            </a:r>
            <a:endParaRPr sz="2650">
              <a:latin typeface="Times New Roman"/>
              <a:cs typeface="Times New Roman"/>
            </a:endParaRPr>
          </a:p>
          <a:p>
            <a:pPr marL="767715">
              <a:lnSpc>
                <a:spcPct val="100000"/>
              </a:lnSpc>
              <a:spcBef>
                <a:spcPts val="585"/>
              </a:spcBef>
            </a:pPr>
            <a:r>
              <a:rPr sz="2400" spc="-10" dirty="0">
                <a:solidFill>
                  <a:srgbClr val="0A085E"/>
                </a:solidFill>
                <a:latin typeface="Times New Roman"/>
                <a:cs typeface="Times New Roman"/>
              </a:rPr>
              <a:t>Nodes</a:t>
            </a:r>
            <a:r>
              <a:rPr sz="2400" spc="-110" dirty="0">
                <a:solidFill>
                  <a:srgbClr val="0A085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552"/>
                </a:solidFill>
                <a:latin typeface="Times New Roman"/>
                <a:cs typeface="Times New Roman"/>
              </a:rPr>
              <a:t>contribute</a:t>
            </a:r>
            <a:r>
              <a:rPr sz="2400" spc="-75" dirty="0">
                <a:solidFill>
                  <a:srgbClr val="0C0552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81157"/>
                </a:solidFill>
                <a:latin typeface="Times New Roman"/>
                <a:cs typeface="Times New Roman"/>
              </a:rPr>
              <a:t>content,</a:t>
            </a:r>
            <a:r>
              <a:rPr sz="2400" spc="-60" dirty="0">
                <a:solidFill>
                  <a:srgbClr val="181157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10F52"/>
                </a:solidFill>
                <a:latin typeface="Times New Roman"/>
                <a:cs typeface="Times New Roman"/>
              </a:rPr>
              <a:t>storage,</a:t>
            </a:r>
            <a:r>
              <a:rPr sz="2400" spc="-75" dirty="0">
                <a:solidFill>
                  <a:srgbClr val="110F52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0E0C4D"/>
                </a:solidFill>
                <a:latin typeface="Times New Roman"/>
                <a:cs typeface="Times New Roman"/>
              </a:rPr>
              <a:t>memory,</a:t>
            </a:r>
            <a:r>
              <a:rPr sz="2400" spc="-60" dirty="0">
                <a:solidFill>
                  <a:srgbClr val="0E0C4D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1004B"/>
                </a:solidFill>
                <a:latin typeface="Times New Roman"/>
                <a:cs typeface="Times New Roman"/>
              </a:rPr>
              <a:t>CPU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3283" y="2963613"/>
            <a:ext cx="1929130" cy="137287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8775" marR="147320" indent="-346710">
              <a:lnSpc>
                <a:spcPts val="3379"/>
              </a:lnSpc>
              <a:spcBef>
                <a:spcPts val="80"/>
              </a:spcBef>
              <a:buChar char="•"/>
              <a:tabLst>
                <a:tab pos="358775" algn="l"/>
                <a:tab pos="365760" algn="l"/>
              </a:tabLst>
            </a:pPr>
            <a:r>
              <a:rPr sz="2650" dirty="0">
                <a:latin typeface="Times New Roman"/>
                <a:cs typeface="Times New Roman"/>
              </a:rPr>
              <a:t>	Nodes</a:t>
            </a:r>
            <a:r>
              <a:rPr sz="2650" spc="260" dirty="0">
                <a:latin typeface="Times New Roman"/>
                <a:cs typeface="Times New Roman"/>
              </a:rPr>
              <a:t> </a:t>
            </a:r>
            <a:r>
              <a:rPr sz="2650" spc="-25" dirty="0">
                <a:latin typeface="Times New Roman"/>
                <a:cs typeface="Times New Roman"/>
              </a:rPr>
              <a:t>are </a:t>
            </a:r>
            <a:r>
              <a:rPr sz="2650" spc="-10" dirty="0">
                <a:latin typeface="Times New Roman"/>
                <a:cs typeface="Times New Roman"/>
              </a:rPr>
              <a:t>authority)</a:t>
            </a:r>
            <a:endParaRPr sz="2650">
              <a:latin typeface="Times New Roman"/>
              <a:cs typeface="Times New Roman"/>
            </a:endParaRPr>
          </a:p>
          <a:p>
            <a:pPr marL="366395">
              <a:lnSpc>
                <a:spcPct val="100000"/>
              </a:lnSpc>
              <a:spcBef>
                <a:spcPts val="675"/>
              </a:spcBef>
            </a:pPr>
            <a:r>
              <a:rPr sz="2650" dirty="0">
                <a:latin typeface="Times New Roman"/>
                <a:cs typeface="Times New Roman"/>
              </a:rPr>
              <a:t>Network</a:t>
            </a:r>
            <a:r>
              <a:rPr sz="2650" spc="390" dirty="0">
                <a:latin typeface="Times New Roman"/>
                <a:cs typeface="Times New Roman"/>
              </a:rPr>
              <a:t> </a:t>
            </a:r>
            <a:r>
              <a:rPr sz="2650" spc="-25" dirty="0">
                <a:latin typeface="Times New Roman"/>
                <a:cs typeface="Times New Roman"/>
              </a:rPr>
              <a:t>is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56019" y="2963613"/>
            <a:ext cx="2625725" cy="4349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50" dirty="0">
                <a:latin typeface="Times New Roman"/>
                <a:cs typeface="Times New Roman"/>
              </a:rPr>
              <a:t>(no</a:t>
            </a:r>
            <a:r>
              <a:rPr sz="2650" spc="155" dirty="0">
                <a:latin typeface="Times New Roman"/>
                <a:cs typeface="Times New Roman"/>
              </a:rPr>
              <a:t> </a:t>
            </a:r>
            <a:r>
              <a:rPr sz="2650" spc="50" dirty="0">
                <a:latin typeface="Times New Roman"/>
                <a:cs typeface="Times New Roman"/>
              </a:rPr>
              <a:t>administrative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3283" y="3901232"/>
            <a:ext cx="7019290" cy="4349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234055" indent="-3221355">
              <a:lnSpc>
                <a:spcPct val="100000"/>
              </a:lnSpc>
              <a:spcBef>
                <a:spcPts val="135"/>
              </a:spcBef>
              <a:buChar char="•"/>
              <a:tabLst>
                <a:tab pos="3234055" algn="l"/>
              </a:tabLst>
            </a:pPr>
            <a:r>
              <a:rPr sz="2650" dirty="0">
                <a:latin typeface="Times New Roman"/>
                <a:cs typeface="Times New Roman"/>
              </a:rPr>
              <a:t>:</a:t>
            </a:r>
            <a:r>
              <a:rPr sz="2650" spc="204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nodes</a:t>
            </a:r>
            <a:r>
              <a:rPr sz="2650" spc="28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enter</a:t>
            </a:r>
            <a:r>
              <a:rPr sz="2650" spc="31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and</a:t>
            </a:r>
            <a:r>
              <a:rPr sz="2650" spc="21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leave</a:t>
            </a:r>
            <a:r>
              <a:rPr sz="2650" spc="285" dirty="0">
                <a:latin typeface="Times New Roman"/>
                <a:cs typeface="Times New Roman"/>
              </a:rPr>
              <a:t> </a:t>
            </a:r>
            <a:r>
              <a:rPr sz="2650" spc="-25" dirty="0">
                <a:latin typeface="Times New Roman"/>
                <a:cs typeface="Times New Roman"/>
              </a:rPr>
              <a:t>the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2601" y="4234708"/>
            <a:ext cx="7044055" cy="1983739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835"/>
              </a:spcBef>
            </a:pPr>
            <a:r>
              <a:rPr sz="2700" dirty="0">
                <a:latin typeface="Times New Roman"/>
                <a:cs typeface="Times New Roman"/>
              </a:rPr>
              <a:t>network</a:t>
            </a:r>
            <a:r>
              <a:rPr sz="2700" spc="29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“frequently”</a:t>
            </a:r>
            <a:endParaRPr sz="27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750"/>
              </a:spcBef>
              <a:buChar char="•"/>
              <a:tabLst>
                <a:tab pos="367030" algn="l"/>
                <a:tab pos="4199890" algn="l"/>
              </a:tabLst>
            </a:pPr>
            <a:r>
              <a:rPr sz="2750" spc="-10" dirty="0">
                <a:latin typeface="Times New Roman"/>
                <a:cs typeface="Times New Roman"/>
              </a:rPr>
              <a:t>Nodes</a:t>
            </a:r>
            <a:r>
              <a:rPr sz="2750" dirty="0">
                <a:latin typeface="Times New Roman"/>
                <a:cs typeface="Times New Roman"/>
              </a:rPr>
              <a:t>	with</a:t>
            </a:r>
            <a:r>
              <a:rPr sz="2750" spc="5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each</a:t>
            </a:r>
            <a:r>
              <a:rPr sz="2750" spc="8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other</a:t>
            </a:r>
            <a:r>
              <a:rPr sz="2750" spc="35" dirty="0">
                <a:latin typeface="Times New Roman"/>
                <a:cs typeface="Times New Roman"/>
              </a:rPr>
              <a:t> </a:t>
            </a:r>
            <a:r>
              <a:rPr sz="2750" spc="-20" dirty="0">
                <a:latin typeface="Times New Roman"/>
                <a:cs typeface="Times New Roman"/>
              </a:rPr>
              <a:t>(not</a:t>
            </a:r>
            <a:endParaRPr sz="2750">
              <a:latin typeface="Times New Roman"/>
              <a:cs typeface="Times New Roman"/>
            </a:endParaRPr>
          </a:p>
          <a:p>
            <a:pPr marL="358775">
              <a:lnSpc>
                <a:spcPct val="100000"/>
              </a:lnSpc>
              <a:spcBef>
                <a:spcPts val="90"/>
              </a:spcBef>
            </a:pPr>
            <a:r>
              <a:rPr sz="2700" dirty="0">
                <a:latin typeface="Times New Roman"/>
                <a:cs typeface="Times New Roman"/>
              </a:rPr>
              <a:t>through</a:t>
            </a:r>
            <a:r>
              <a:rPr sz="2700" spc="3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well-known</a:t>
            </a:r>
            <a:r>
              <a:rPr sz="2700" spc="38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servers)</a:t>
            </a:r>
            <a:endParaRPr sz="27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755"/>
              </a:spcBef>
              <a:buChar char="•"/>
              <a:tabLst>
                <a:tab pos="367030" algn="l"/>
              </a:tabLst>
            </a:pPr>
            <a:r>
              <a:rPr sz="2750" dirty="0">
                <a:latin typeface="Times New Roman"/>
                <a:cs typeface="Times New Roman"/>
              </a:rPr>
              <a:t>Nodes</a:t>
            </a:r>
            <a:r>
              <a:rPr sz="2750" spc="11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have</a:t>
            </a:r>
            <a:r>
              <a:rPr sz="2750" spc="3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widely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0828" y="348258"/>
            <a:ext cx="383976" cy="410765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0187" y="1598414"/>
            <a:ext cx="3357562" cy="348257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7414" y="1687710"/>
            <a:ext cx="17859" cy="1428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6211" y="1768077"/>
            <a:ext cx="133945" cy="17859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27414" y="1946671"/>
            <a:ext cx="17859" cy="14287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27414" y="2205633"/>
            <a:ext cx="17859" cy="1428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0250" y="3339702"/>
            <a:ext cx="437554" cy="1071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16211" y="3420070"/>
            <a:ext cx="133945" cy="1696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34070" y="4009429"/>
            <a:ext cx="98226" cy="13394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7414" y="4545210"/>
            <a:ext cx="17859" cy="1428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34070" y="4839889"/>
            <a:ext cx="98226" cy="12501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7414" y="4813101"/>
            <a:ext cx="17859" cy="1428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179218" y="1571625"/>
            <a:ext cx="3089672" cy="3509367"/>
          </a:xfrm>
          <a:prstGeom prst="rect">
            <a:avLst/>
          </a:prstGeom>
        </p:spPr>
      </p:pic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210" rIns="0" bIns="0" rtlCol="0">
            <a:spAutoFit/>
          </a:bodyPr>
          <a:lstStyle/>
          <a:p>
            <a:pPr marL="267970" algn="ctr">
              <a:lnSpc>
                <a:spcPts val="4970"/>
              </a:lnSpc>
              <a:spcBef>
                <a:spcPts val="95"/>
              </a:spcBef>
            </a:pPr>
            <a:r>
              <a:rPr sz="4300" dirty="0">
                <a:solidFill>
                  <a:srgbClr val="E1441C"/>
                </a:solidFill>
                <a:latin typeface="Arial"/>
                <a:cs typeface="Arial"/>
              </a:rPr>
              <a:t>ient-Server</a:t>
            </a:r>
            <a:r>
              <a:rPr sz="4300" spc="795" dirty="0">
                <a:solidFill>
                  <a:srgbClr val="E1441C"/>
                </a:solidFill>
                <a:latin typeface="Arial"/>
                <a:cs typeface="Arial"/>
              </a:rPr>
              <a:t> </a:t>
            </a:r>
            <a:r>
              <a:rPr sz="4300" spc="-250" dirty="0">
                <a:solidFill>
                  <a:srgbClr val="F43605"/>
                </a:solidFill>
                <a:latin typeface="Arial"/>
                <a:cs typeface="Arial"/>
              </a:rPr>
              <a:t>vs.</a:t>
            </a:r>
            <a:r>
              <a:rPr sz="4300" spc="-80" dirty="0">
                <a:solidFill>
                  <a:srgbClr val="F43605"/>
                </a:solidFill>
                <a:latin typeface="Arial"/>
                <a:cs typeface="Arial"/>
              </a:rPr>
              <a:t> </a:t>
            </a:r>
            <a:r>
              <a:rPr sz="4300" spc="-114" dirty="0">
                <a:solidFill>
                  <a:srgbClr val="F03101"/>
                </a:solidFill>
                <a:latin typeface="Arial"/>
                <a:cs typeface="Arial"/>
              </a:rPr>
              <a:t>Peer-</a:t>
            </a:r>
            <a:r>
              <a:rPr sz="4300" spc="-90" dirty="0">
                <a:solidFill>
                  <a:srgbClr val="F03101"/>
                </a:solidFill>
                <a:latin typeface="Arial"/>
                <a:cs typeface="Arial"/>
              </a:rPr>
              <a:t>to-</a:t>
            </a:r>
            <a:r>
              <a:rPr sz="4300" spc="-20" dirty="0">
                <a:solidFill>
                  <a:srgbClr val="F03101"/>
                </a:solidFill>
                <a:latin typeface="Arial"/>
                <a:cs typeface="Arial"/>
              </a:rPr>
              <a:t>Peer</a:t>
            </a:r>
            <a:endParaRPr sz="4300">
              <a:latin typeface="Arial"/>
              <a:cs typeface="Arial"/>
            </a:endParaRPr>
          </a:p>
          <a:p>
            <a:pPr marL="267970" marR="388620" algn="ctr">
              <a:lnSpc>
                <a:spcPts val="4970"/>
              </a:lnSpc>
            </a:pPr>
            <a:r>
              <a:rPr sz="4300" i="1" spc="-60" dirty="0">
                <a:solidFill>
                  <a:srgbClr val="DF4213"/>
                </a:solidFill>
                <a:latin typeface="Arial"/>
                <a:cs typeface="Arial"/>
              </a:rPr>
              <a:t>£xomple</a:t>
            </a:r>
            <a:endParaRPr sz="43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416217" y="1410097"/>
            <a:ext cx="159385" cy="611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95"/>
              </a:lnSpc>
              <a:spcBef>
                <a:spcPts val="100"/>
              </a:spcBef>
            </a:pPr>
            <a:r>
              <a:rPr sz="2050" spc="-50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13335">
              <a:lnSpc>
                <a:spcPts val="2215"/>
              </a:lnSpc>
            </a:pPr>
            <a:r>
              <a:rPr sz="1900" spc="-50" dirty="0">
                <a:latin typeface="Arial"/>
                <a:cs typeface="Arial"/>
              </a:rPr>
              <a:t>e</a:t>
            </a:r>
            <a:endParaRPr sz="19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953939" y="1918096"/>
            <a:ext cx="403860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70" dirty="0">
                <a:solidFill>
                  <a:srgbClr val="797979"/>
                </a:solidFill>
                <a:latin typeface="Arial"/>
                <a:cs typeface="Arial"/>
              </a:rPr>
              <a:t>C</a:t>
            </a:r>
            <a:r>
              <a:rPr sz="1050" spc="-16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32323"/>
                </a:solidFill>
                <a:latin typeface="Arial"/>
                <a:cs typeface="Arial"/>
              </a:rPr>
              <a:t>lient: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34070" y="2035968"/>
            <a:ext cx="98226" cy="178593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2046281" y="2025252"/>
            <a:ext cx="306705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20" dirty="0">
                <a:solidFill>
                  <a:srgbClr val="3B3B3B"/>
                </a:solidFill>
                <a:latin typeface="Arial"/>
                <a:cs typeface="Arial"/>
              </a:rPr>
              <a:t>Jane</a:t>
            </a:r>
            <a:endParaRPr sz="10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275783" y="1927026"/>
            <a:ext cx="384810" cy="29654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95885" marR="5080" indent="-83820">
              <a:lnSpc>
                <a:spcPct val="67000"/>
              </a:lnSpc>
              <a:spcBef>
                <a:spcPts val="540"/>
              </a:spcBef>
            </a:pPr>
            <a:r>
              <a:rPr sz="1050" spc="-35" dirty="0">
                <a:solidFill>
                  <a:srgbClr val="2A2A2A"/>
                </a:solidFill>
                <a:latin typeface="Arial"/>
                <a:cs typeface="Arial"/>
              </a:rPr>
              <a:t>Client: </a:t>
            </a:r>
            <a:r>
              <a:rPr sz="1050" spc="-45" dirty="0">
                <a:solidFill>
                  <a:srgbClr val="3F3F3F"/>
                </a:solidFill>
                <a:latin typeface="Arial"/>
                <a:cs typeface="Arial"/>
              </a:rPr>
              <a:t>Jane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456414" y="2107406"/>
            <a:ext cx="89296" cy="12501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102804" y="2213768"/>
            <a:ext cx="157480" cy="890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70"/>
              </a:lnSpc>
              <a:spcBef>
                <a:spcPts val="100"/>
              </a:spcBef>
            </a:pPr>
            <a:r>
              <a:rPr sz="2050" spc="-50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14604">
              <a:lnSpc>
                <a:spcPts val="2145"/>
              </a:lnSpc>
            </a:pPr>
            <a:r>
              <a:rPr sz="1950" spc="-50" dirty="0">
                <a:latin typeface="Arial"/>
                <a:cs typeface="Arial"/>
              </a:rPr>
              <a:t>n</a:t>
            </a:r>
            <a:endParaRPr sz="1950">
              <a:latin typeface="Arial"/>
              <a:cs typeface="Arial"/>
            </a:endParaRPr>
          </a:p>
          <a:p>
            <a:pPr marL="21590">
              <a:lnSpc>
                <a:spcPts val="2295"/>
              </a:lnSpc>
            </a:pPr>
            <a:r>
              <a:rPr sz="2000" spc="-100" dirty="0">
                <a:latin typeface="Arial"/>
                <a:cs typeface="Arial"/>
              </a:rPr>
              <a:t>†</a:t>
            </a:r>
            <a:endParaRPr sz="2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97413" y="2368548"/>
            <a:ext cx="76835" cy="802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7200"/>
              </a:lnSpc>
              <a:spcBef>
                <a:spcPts val="95"/>
              </a:spcBef>
            </a:pPr>
            <a:r>
              <a:rPr sz="1450" spc="-50" dirty="0">
                <a:solidFill>
                  <a:srgbClr val="161616"/>
                </a:solidFill>
                <a:latin typeface="Arial"/>
                <a:cs typeface="Arial"/>
              </a:rPr>
              <a:t>I </a:t>
            </a:r>
            <a:r>
              <a:rPr sz="1450" spc="-50" dirty="0">
                <a:solidFill>
                  <a:srgbClr val="1D1D1D"/>
                </a:solidFill>
                <a:latin typeface="Arial"/>
                <a:cs typeface="Arial"/>
              </a:rPr>
              <a:t>I I</a:t>
            </a:r>
            <a:endParaRPr sz="145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447485" y="2616398"/>
            <a:ext cx="98226" cy="169664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8426710" y="2844551"/>
            <a:ext cx="140970" cy="2565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15" dirty="0">
                <a:latin typeface="Arial"/>
                <a:cs typeface="Arial"/>
              </a:rPr>
              <a:t>0</a:t>
            </a:r>
            <a:endParaRPr sz="1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12900" y="3144441"/>
            <a:ext cx="435609" cy="418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7155" marR="5080" indent="-84455">
              <a:lnSpc>
                <a:spcPct val="122800"/>
              </a:lnSpc>
              <a:spcBef>
                <a:spcPts val="95"/>
              </a:spcBef>
            </a:pPr>
            <a:r>
              <a:rPr sz="1050" spc="-20" dirty="0">
                <a:solidFill>
                  <a:srgbClr val="232323"/>
                </a:solidFill>
                <a:latin typeface="Arial"/>
                <a:cs typeface="Arial"/>
              </a:rPr>
              <a:t>Netwot </a:t>
            </a:r>
            <a:r>
              <a:rPr sz="1050" spc="-105" dirty="0">
                <a:solidFill>
                  <a:srgbClr val="2A2A2A"/>
                </a:solidFill>
                <a:latin typeface="Arial"/>
                <a:cs typeface="Arial"/>
              </a:rPr>
              <a:t>Server</a:t>
            </a:r>
            <a:endParaRPr sz="10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88196" y="3177183"/>
            <a:ext cx="426084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100" dirty="0">
                <a:solidFill>
                  <a:srgbClr val="161616"/>
                </a:solidFill>
                <a:latin typeface="Arial"/>
                <a:cs typeface="Arial"/>
              </a:rPr>
              <a:t>Network</a:t>
            </a:r>
            <a:endParaRPr sz="10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82405" y="3275408"/>
            <a:ext cx="461645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95" dirty="0">
                <a:solidFill>
                  <a:srgbClr val="898989"/>
                </a:solidFill>
                <a:latin typeface="Arial"/>
                <a:cs typeface="Arial"/>
              </a:rPr>
              <a:t>Gateway</a:t>
            </a:r>
            <a:endParaRPr sz="10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275374" y="3275408"/>
            <a:ext cx="401955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110" dirty="0">
                <a:solidFill>
                  <a:srgbClr val="878787"/>
                </a:solidFill>
                <a:latin typeface="Arial"/>
                <a:cs typeface="Arial"/>
              </a:rPr>
              <a:t>Gatewa</a:t>
            </a:r>
            <a:endParaRPr sz="10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373851" y="3275408"/>
            <a:ext cx="346710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90" dirty="0">
                <a:solidFill>
                  <a:srgbClr val="8C8C8C"/>
                </a:solidFill>
                <a:latin typeface="Arial"/>
                <a:cs typeface="Arial"/>
              </a:rPr>
              <a:t>Golew</a:t>
            </a:r>
            <a:endParaRPr sz="10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85406" y="3373635"/>
            <a:ext cx="351790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60" dirty="0">
                <a:solidFill>
                  <a:srgbClr val="2D2D2D"/>
                </a:solidFill>
                <a:latin typeface="Arial"/>
                <a:cs typeface="Arial"/>
              </a:rPr>
              <a:t>server</a:t>
            </a:r>
            <a:endParaRPr sz="10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276329" y="3373635"/>
            <a:ext cx="351155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90" dirty="0">
                <a:solidFill>
                  <a:srgbClr val="414141"/>
                </a:solidFill>
                <a:latin typeface="Arial"/>
                <a:cs typeface="Arial"/>
              </a:rPr>
              <a:t>Server</a:t>
            </a:r>
            <a:endParaRPr sz="10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374806" y="3373635"/>
            <a:ext cx="351155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90" dirty="0">
                <a:solidFill>
                  <a:srgbClr val="2F2F2F"/>
                </a:solidFill>
                <a:latin typeface="Arial"/>
                <a:cs typeface="Arial"/>
              </a:rPr>
              <a:t>Server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447485" y="3420070"/>
            <a:ext cx="107156" cy="178593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102804" y="3588941"/>
            <a:ext cx="15748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50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20523" y="4201864"/>
            <a:ext cx="123189" cy="2565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-180" dirty="0">
                <a:latin typeface="Arial"/>
                <a:cs typeface="Arial"/>
              </a:rPr>
              <a:t>V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456414" y="4304108"/>
            <a:ext cx="89296" cy="12501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25140" y="4482702"/>
            <a:ext cx="642937" cy="232171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1520949" y="4320183"/>
            <a:ext cx="214629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40" dirty="0">
                <a:solidFill>
                  <a:srgbClr val="1F1F1F"/>
                </a:solidFill>
                <a:latin typeface="Arial"/>
                <a:cs typeface="Arial"/>
              </a:rPr>
              <a:t>File</a:t>
            </a:r>
            <a:endParaRPr sz="10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997413" y="3654426"/>
            <a:ext cx="76835" cy="8204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algn="just">
              <a:lnSpc>
                <a:spcPct val="119200"/>
              </a:lnSpc>
              <a:spcBef>
                <a:spcPts val="130"/>
              </a:spcBef>
            </a:pPr>
            <a:r>
              <a:rPr sz="1450" spc="-50" dirty="0">
                <a:solidFill>
                  <a:srgbClr val="1F1F1F"/>
                </a:solidFill>
                <a:latin typeface="Arial"/>
                <a:cs typeface="Arial"/>
              </a:rPr>
              <a:t>I </a:t>
            </a:r>
            <a:r>
              <a:rPr sz="1450" spc="-50" dirty="0">
                <a:solidFill>
                  <a:srgbClr val="262626"/>
                </a:solidFill>
                <a:latin typeface="Arial"/>
                <a:cs typeface="Arial"/>
              </a:rPr>
              <a:t>I I</a:t>
            </a:r>
            <a:endParaRPr sz="14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416217" y="3606799"/>
            <a:ext cx="157480" cy="60642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459"/>
              </a:spcBef>
            </a:pPr>
            <a:r>
              <a:rPr sz="2050" spc="-145" dirty="0">
                <a:latin typeface="Arial"/>
                <a:cs typeface="Arial"/>
              </a:rPr>
              <a:t>e e</a:t>
            </a:r>
            <a:endParaRPr sz="20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17562" y="4656037"/>
            <a:ext cx="299720" cy="32956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marR="5080" indent="60960">
              <a:lnSpc>
                <a:spcPct val="71300"/>
              </a:lnSpc>
              <a:spcBef>
                <a:spcPts val="515"/>
              </a:spcBef>
            </a:pPr>
            <a:r>
              <a:rPr sz="1150" spc="-25" dirty="0">
                <a:solidFill>
                  <a:srgbClr val="242424"/>
                </a:solidFill>
                <a:latin typeface="Arial"/>
                <a:cs typeface="Arial"/>
              </a:rPr>
              <a:t>ent </a:t>
            </a:r>
            <a:r>
              <a:rPr sz="1150" spc="-100" dirty="0">
                <a:solidFill>
                  <a:srgbClr val="212121"/>
                </a:solidFill>
                <a:latin typeface="Arial"/>
                <a:cs typeface="Arial"/>
              </a:rPr>
              <a:t>John</a:t>
            </a:r>
            <a:endParaRPr sz="11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517009" y="4650581"/>
            <a:ext cx="393065" cy="31432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04775" marR="5080" indent="-92710">
              <a:lnSpc>
                <a:spcPct val="78100"/>
              </a:lnSpc>
              <a:spcBef>
                <a:spcPts val="400"/>
              </a:spcBef>
            </a:pPr>
            <a:r>
              <a:rPr sz="1050" spc="-10" dirty="0">
                <a:solidFill>
                  <a:srgbClr val="2D2D2D"/>
                </a:solidFill>
                <a:latin typeface="Arial"/>
                <a:cs typeface="Arial"/>
              </a:rPr>
              <a:t>Cient </a:t>
            </a:r>
            <a:r>
              <a:rPr sz="1050" spc="-45" dirty="0">
                <a:solidFill>
                  <a:srgbClr val="313131"/>
                </a:solidFill>
                <a:latin typeface="Arial"/>
                <a:cs typeface="Arial"/>
              </a:rPr>
              <a:t>John</a:t>
            </a:r>
            <a:endParaRPr sz="10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841003" y="5311675"/>
            <a:ext cx="2955925" cy="1304290"/>
          </a:xfrm>
          <a:prstGeom prst="rect">
            <a:avLst/>
          </a:prstGeom>
          <a:ln w="14882">
            <a:solidFill>
              <a:srgbClr val="282828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279400">
              <a:lnSpc>
                <a:spcPts val="1320"/>
              </a:lnSpc>
              <a:spcBef>
                <a:spcPts val="320"/>
              </a:spcBef>
            </a:pPr>
            <a:r>
              <a:rPr sz="1200" spc="-125" dirty="0">
                <a:solidFill>
                  <a:srgbClr val="2F2F2F"/>
                </a:solidFill>
                <a:latin typeface="Arial"/>
                <a:cs typeface="Arial"/>
              </a:rPr>
              <a:t>John</a:t>
            </a:r>
            <a:r>
              <a:rPr sz="1200" spc="-6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200" spc="-90" dirty="0">
                <a:solidFill>
                  <a:srgbClr val="414141"/>
                </a:solidFill>
                <a:latin typeface="Arial"/>
                <a:cs typeface="Arial"/>
              </a:rPr>
              <a:t>mails</a:t>
            </a:r>
            <a:r>
              <a:rPr sz="1200" spc="5" dirty="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Arial"/>
                <a:cs typeface="Arial"/>
              </a:rPr>
              <a:t>Jane.</a:t>
            </a:r>
            <a:r>
              <a:rPr sz="1200" spc="15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262626"/>
                </a:solidFill>
                <a:latin typeface="Arial"/>
                <a:cs typeface="Arial"/>
              </a:rPr>
              <a:t>”I</a:t>
            </a:r>
            <a:r>
              <a:rPr sz="1200" spc="-6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1200" spc="-110" dirty="0">
                <a:solidFill>
                  <a:srgbClr val="262626"/>
                </a:solidFill>
                <a:latin typeface="Arial"/>
                <a:cs typeface="Arial"/>
              </a:rPr>
              <a:t>need</a:t>
            </a:r>
            <a:r>
              <a:rPr sz="1200" spc="2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1200" spc="-110" dirty="0">
                <a:solidFill>
                  <a:srgbClr val="343434"/>
                </a:solidFill>
                <a:latin typeface="Arial"/>
                <a:cs typeface="Arial"/>
              </a:rPr>
              <a:t>the</a:t>
            </a:r>
            <a:r>
              <a:rPr sz="1200" spc="5" dirty="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282828"/>
                </a:solidFill>
                <a:latin typeface="Arial"/>
                <a:cs typeface="Arial"/>
              </a:rPr>
              <a:t>file</a:t>
            </a:r>
            <a:r>
              <a:rPr sz="1200" spc="-6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200" spc="-90" dirty="0">
                <a:solidFill>
                  <a:srgbClr val="242424"/>
                </a:solidFill>
                <a:latin typeface="Arial"/>
                <a:cs typeface="Arial"/>
              </a:rPr>
              <a:t>"Plan.doc</a:t>
            </a:r>
            <a:r>
              <a:rPr sz="1200" spc="40" dirty="0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242424"/>
                </a:solidFill>
                <a:latin typeface="Arial"/>
                <a:cs typeface="Arial"/>
              </a:rPr>
              <a:t>”</a:t>
            </a:r>
            <a:endParaRPr sz="1200">
              <a:latin typeface="Arial"/>
              <a:cs typeface="Arial"/>
            </a:endParaRPr>
          </a:p>
          <a:p>
            <a:pPr marL="280035">
              <a:lnSpc>
                <a:spcPts val="1140"/>
              </a:lnSpc>
            </a:pPr>
            <a:r>
              <a:rPr sz="1050" spc="-45" dirty="0">
                <a:solidFill>
                  <a:srgbClr val="363636"/>
                </a:solidFill>
                <a:latin typeface="Arial"/>
                <a:cs typeface="Arial"/>
              </a:rPr>
              <a:t>Jane</a:t>
            </a:r>
            <a:r>
              <a:rPr sz="1050" spc="-30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06060"/>
                </a:solidFill>
                <a:latin typeface="Arial"/>
                <a:cs typeface="Arial"/>
              </a:rPr>
              <a:t>reads</a:t>
            </a:r>
            <a:r>
              <a:rPr sz="1050" spc="-5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343434"/>
                </a:solidFill>
                <a:latin typeface="Arial"/>
                <a:cs typeface="Arial"/>
              </a:rPr>
              <a:t>when</a:t>
            </a:r>
            <a:r>
              <a:rPr sz="1050" spc="5" dirty="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sz="1050" spc="-30" dirty="0">
                <a:solidFill>
                  <a:srgbClr val="232323"/>
                </a:solidFill>
                <a:latin typeface="Arial"/>
                <a:cs typeface="Arial"/>
              </a:rPr>
              <a:t>synchronizing</a:t>
            </a:r>
            <a:r>
              <a:rPr sz="1050" spc="2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282828"/>
                </a:solidFill>
                <a:latin typeface="Arial"/>
                <a:cs typeface="Arial"/>
              </a:rPr>
              <a:t>her</a:t>
            </a:r>
            <a:r>
              <a:rPr sz="1050" spc="3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12121"/>
                </a:solidFill>
                <a:latin typeface="Arial"/>
                <a:cs typeface="Arial"/>
              </a:rPr>
              <a:t>inbox.</a:t>
            </a:r>
            <a:endParaRPr sz="1050">
              <a:latin typeface="Arial"/>
              <a:cs typeface="Arial"/>
            </a:endParaRPr>
          </a:p>
          <a:p>
            <a:pPr marL="280035">
              <a:lnSpc>
                <a:spcPts val="1155"/>
              </a:lnSpc>
              <a:spcBef>
                <a:spcPts val="360"/>
              </a:spcBef>
            </a:pPr>
            <a:r>
              <a:rPr sz="1050" dirty="0">
                <a:solidFill>
                  <a:srgbClr val="2F2F2F"/>
                </a:solidFill>
                <a:latin typeface="Arial"/>
                <a:cs typeface="Arial"/>
              </a:rPr>
              <a:t>John</a:t>
            </a:r>
            <a:r>
              <a:rPr sz="1050" spc="240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2B2B2B"/>
                </a:solidFill>
                <a:latin typeface="Arial"/>
                <a:cs typeface="Arial"/>
              </a:rPr>
              <a:t>pulls"</a:t>
            </a:r>
            <a:r>
              <a:rPr sz="105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363636"/>
                </a:solidFill>
                <a:latin typeface="Arial"/>
                <a:cs typeface="Arial"/>
              </a:rPr>
              <a:t>Jane's</a:t>
            </a:r>
            <a:r>
              <a:rPr sz="1050" spc="-30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050" spc="-70" dirty="0">
                <a:solidFill>
                  <a:srgbClr val="6D6D6D"/>
                </a:solidFill>
                <a:latin typeface="Arial"/>
                <a:cs typeface="Arial"/>
              </a:rPr>
              <a:t>m</a:t>
            </a:r>
            <a:r>
              <a:rPr sz="1050" spc="-160" dirty="0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sz="1050" spc="-30" dirty="0">
                <a:solidFill>
                  <a:srgbClr val="4F4F4F"/>
                </a:solidFill>
                <a:latin typeface="Arial"/>
                <a:cs typeface="Arial"/>
              </a:rPr>
              <a:t>ail</a:t>
            </a:r>
            <a:r>
              <a:rPr sz="1050" spc="-6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444444"/>
                </a:solidFill>
                <a:latin typeface="Arial"/>
                <a:cs typeface="Arial"/>
              </a:rPr>
              <a:t>reply</a:t>
            </a:r>
            <a:endParaRPr sz="1050">
              <a:latin typeface="Arial"/>
              <a:cs typeface="Arial"/>
            </a:endParaRPr>
          </a:p>
          <a:p>
            <a:pPr marL="277495">
              <a:lnSpc>
                <a:spcPts val="1155"/>
              </a:lnSpc>
            </a:pPr>
            <a:r>
              <a:rPr sz="1050" dirty="0">
                <a:solidFill>
                  <a:srgbClr val="565656"/>
                </a:solidFill>
                <a:latin typeface="Arial"/>
                <a:cs typeface="Arial"/>
              </a:rPr>
              <a:t>"I</a:t>
            </a:r>
            <a:r>
              <a:rPr sz="1050" spc="-60" dirty="0">
                <a:solidFill>
                  <a:srgbClr val="56565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A2A2A"/>
                </a:solidFill>
                <a:latin typeface="Arial"/>
                <a:cs typeface="Arial"/>
              </a:rPr>
              <a:t>will</a:t>
            </a:r>
            <a:r>
              <a:rPr sz="1050" spc="-5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050" spc="-30" dirty="0">
                <a:solidFill>
                  <a:srgbClr val="232323"/>
                </a:solidFill>
                <a:latin typeface="Arial"/>
                <a:cs typeface="Arial"/>
              </a:rPr>
              <a:t>place</a:t>
            </a:r>
            <a:r>
              <a:rPr sz="1050" spc="-4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12121"/>
                </a:solidFill>
                <a:latin typeface="Arial"/>
                <a:cs typeface="Arial"/>
              </a:rPr>
              <a:t>Plan.doc</a:t>
            </a:r>
            <a:r>
              <a:rPr sz="1050" spc="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444444"/>
                </a:solidFill>
                <a:latin typeface="Arial"/>
                <a:cs typeface="Arial"/>
              </a:rPr>
              <a:t>on</a:t>
            </a:r>
            <a:r>
              <a:rPr sz="1050" spc="-6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232323"/>
                </a:solidFill>
                <a:latin typeface="Arial"/>
                <a:cs typeface="Arial"/>
              </a:rPr>
              <a:t>group's</a:t>
            </a:r>
            <a:r>
              <a:rPr sz="1050" spc="-2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262626"/>
                </a:solidFill>
                <a:latin typeface="Arial"/>
                <a:cs typeface="Arial"/>
              </a:rPr>
              <a:t>shared</a:t>
            </a:r>
            <a:r>
              <a:rPr sz="1050" spc="20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12121"/>
                </a:solidFill>
                <a:latin typeface="Arial"/>
                <a:cs typeface="Arial"/>
              </a:rPr>
              <a:t>drive."</a:t>
            </a:r>
            <a:endParaRPr sz="1050">
              <a:latin typeface="Arial"/>
              <a:cs typeface="Arial"/>
            </a:endParaRPr>
          </a:p>
          <a:p>
            <a:pPr marL="280035">
              <a:lnSpc>
                <a:spcPct val="100000"/>
              </a:lnSpc>
              <a:spcBef>
                <a:spcPts val="530"/>
              </a:spcBef>
            </a:pPr>
            <a:r>
              <a:rPr sz="1050" spc="-20" dirty="0">
                <a:solidFill>
                  <a:srgbClr val="1C1C1C"/>
                </a:solidFill>
                <a:latin typeface="Arial"/>
                <a:cs typeface="Arial"/>
              </a:rPr>
              <a:t>Jane</a:t>
            </a:r>
            <a:r>
              <a:rPr sz="1050" spc="-5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1C1C1C"/>
                </a:solidFill>
                <a:latin typeface="Arial"/>
                <a:cs typeface="Arial"/>
              </a:rPr>
              <a:t>uploads</a:t>
            </a:r>
            <a:r>
              <a:rPr sz="1050" spc="-50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42424"/>
                </a:solidFill>
                <a:latin typeface="Arial"/>
                <a:cs typeface="Arial"/>
              </a:rPr>
              <a:t>file</a:t>
            </a:r>
            <a:r>
              <a:rPr sz="1050" spc="-50" dirty="0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B4B4B"/>
                </a:solidFill>
                <a:latin typeface="Arial"/>
                <a:cs typeface="Arial"/>
              </a:rPr>
              <a:t>to</a:t>
            </a:r>
            <a:r>
              <a:rPr sz="1050" spc="-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2A2A2A"/>
                </a:solidFill>
                <a:latin typeface="Arial"/>
                <a:cs typeface="Arial"/>
              </a:rPr>
              <a:t>shared</a:t>
            </a:r>
            <a:r>
              <a:rPr sz="1050" spc="1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62626"/>
                </a:solidFill>
                <a:latin typeface="Arial"/>
                <a:cs typeface="Arial"/>
              </a:rPr>
              <a:t>drive.</a:t>
            </a:r>
            <a:endParaRPr sz="1050">
              <a:latin typeface="Arial"/>
              <a:cs typeface="Arial"/>
            </a:endParaRPr>
          </a:p>
          <a:p>
            <a:pPr marL="83185">
              <a:lnSpc>
                <a:spcPct val="100000"/>
              </a:lnSpc>
              <a:spcBef>
                <a:spcPts val="745"/>
              </a:spcBef>
            </a:pPr>
            <a:r>
              <a:rPr sz="1050" dirty="0">
                <a:solidFill>
                  <a:srgbClr val="1A1A1A"/>
                </a:solidFill>
                <a:latin typeface="Arial"/>
                <a:cs typeface="Arial"/>
              </a:rPr>
              <a:t>*C</a:t>
            </a:r>
            <a:r>
              <a:rPr sz="1050" spc="4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50" spc="-30" dirty="0">
                <a:solidFill>
                  <a:srgbClr val="282828"/>
                </a:solidFill>
                <a:latin typeface="Arial"/>
                <a:cs typeface="Arial"/>
              </a:rPr>
              <a:t>John</a:t>
            </a:r>
            <a:r>
              <a:rPr sz="1050" spc="-4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1F1F1F"/>
                </a:solidFill>
                <a:latin typeface="Arial"/>
                <a:cs typeface="Arial"/>
              </a:rPr>
              <a:t>downlaads</a:t>
            </a:r>
            <a:r>
              <a:rPr sz="1050" spc="2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32323"/>
                </a:solidFill>
                <a:latin typeface="Arial"/>
                <a:cs typeface="Arial"/>
              </a:rPr>
              <a:t>the</a:t>
            </a:r>
            <a:r>
              <a:rPr sz="1050" spc="-2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1F1F1F"/>
                </a:solidFill>
                <a:latin typeface="Arial"/>
                <a:cs typeface="Arial"/>
              </a:rPr>
              <a:t>file.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027414" y="5598914"/>
            <a:ext cx="17859" cy="13394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357812" y="5723929"/>
            <a:ext cx="160734" cy="169664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5002027" y="5829300"/>
            <a:ext cx="60325" cy="725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50" dirty="0">
                <a:solidFill>
                  <a:srgbClr val="1F1F1F"/>
                </a:solidFill>
                <a:latin typeface="Arial"/>
                <a:cs typeface="Arial"/>
              </a:rPr>
              <a:t>I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050" spc="-50" dirty="0">
                <a:solidFill>
                  <a:srgbClr val="242424"/>
                </a:solidFill>
                <a:latin typeface="Arial"/>
                <a:cs typeface="Arial"/>
              </a:rPr>
              <a:t>I</a:t>
            </a:r>
            <a:endParaRPr sz="105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850"/>
              </a:spcBef>
            </a:pPr>
            <a:r>
              <a:rPr sz="1050" spc="-50" dirty="0">
                <a:solidFill>
                  <a:srgbClr val="131313"/>
                </a:solidFill>
                <a:latin typeface="Arial"/>
                <a:cs typeface="Arial"/>
              </a:rPr>
              <a:t>i</a:t>
            </a:r>
            <a:endParaRPr sz="10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261074" y="5311675"/>
            <a:ext cx="2938145" cy="1304290"/>
          </a:xfrm>
          <a:prstGeom prst="rect">
            <a:avLst/>
          </a:prstGeom>
          <a:ln w="14882">
            <a:solidFill>
              <a:srgbClr val="282B2B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304165" marR="600075" indent="1905">
              <a:lnSpc>
                <a:spcPts val="1050"/>
              </a:lnSpc>
              <a:spcBef>
                <a:spcPts val="190"/>
              </a:spcBef>
            </a:pPr>
            <a:r>
              <a:rPr sz="1050" spc="-20" dirty="0">
                <a:solidFill>
                  <a:srgbClr val="1A1A1A"/>
                </a:solidFill>
                <a:latin typeface="Arial"/>
                <a:cs typeface="Arial"/>
              </a:rPr>
              <a:t>Instant</a:t>
            </a:r>
            <a:r>
              <a:rPr sz="1050" spc="-4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1F1F1F"/>
                </a:solidFill>
                <a:latin typeface="Arial"/>
                <a:cs typeface="Arial"/>
              </a:rPr>
              <a:t>Message</a:t>
            </a:r>
            <a:r>
              <a:rPr sz="1050" spc="-1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1050" spc="-40" dirty="0">
                <a:solidFill>
                  <a:srgbClr val="6E6E6E"/>
                </a:solidFill>
                <a:latin typeface="Arial"/>
                <a:cs typeface="Arial"/>
              </a:rPr>
              <a:t>(</a:t>
            </a:r>
            <a:r>
              <a:rPr sz="1050" spc="-40" dirty="0">
                <a:solidFill>
                  <a:srgbClr val="2B2B2B"/>
                </a:solidFill>
                <a:latin typeface="Arial"/>
                <a:cs typeface="Arial"/>
              </a:rPr>
              <a:t>IM)</a:t>
            </a:r>
            <a:r>
              <a:rPr sz="1050" spc="-17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46464"/>
                </a:solidFill>
                <a:latin typeface="Arial"/>
                <a:cs typeface="Arial"/>
              </a:rPr>
              <a:t>,</a:t>
            </a:r>
            <a:r>
              <a:rPr sz="1050" spc="15" dirty="0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212121"/>
                </a:solidFill>
                <a:latin typeface="Arial"/>
                <a:cs typeface="Arial"/>
              </a:rPr>
              <a:t>John</a:t>
            </a:r>
            <a:r>
              <a:rPr sz="1050" spc="-4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32323"/>
                </a:solidFill>
                <a:latin typeface="Arial"/>
                <a:cs typeface="Arial"/>
              </a:rPr>
              <a:t>to</a:t>
            </a:r>
            <a:r>
              <a:rPr sz="1050" spc="-4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232323"/>
                </a:solidFill>
                <a:latin typeface="Arial"/>
                <a:cs typeface="Arial"/>
              </a:rPr>
              <a:t>Jane </a:t>
            </a:r>
            <a:r>
              <a:rPr sz="1050" dirty="0">
                <a:solidFill>
                  <a:srgbClr val="606060"/>
                </a:solidFill>
                <a:latin typeface="Arial"/>
                <a:cs typeface="Arial"/>
              </a:rPr>
              <a:t>"I</a:t>
            </a:r>
            <a:r>
              <a:rPr sz="1050" spc="-7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363636"/>
                </a:solidFill>
                <a:latin typeface="Arial"/>
                <a:cs typeface="Arial"/>
              </a:rPr>
              <a:t>will</a:t>
            </a:r>
            <a:r>
              <a:rPr sz="1050" spc="-60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242424"/>
                </a:solidFill>
                <a:latin typeface="Arial"/>
                <a:cs typeface="Arial"/>
              </a:rPr>
              <a:t>need</a:t>
            </a:r>
            <a:r>
              <a:rPr sz="1050" spc="30" dirty="0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4D4D4D"/>
                </a:solidFill>
                <a:latin typeface="Arial"/>
                <a:cs typeface="Arial"/>
              </a:rPr>
              <a:t>the </a:t>
            </a:r>
            <a:r>
              <a:rPr sz="1050" spc="-20" dirty="0">
                <a:solidFill>
                  <a:srgbClr val="484848"/>
                </a:solidFill>
                <a:latin typeface="Arial"/>
                <a:cs typeface="Arial"/>
              </a:rPr>
              <a:t>file</a:t>
            </a:r>
            <a:r>
              <a:rPr sz="1050" spc="-50" dirty="0">
                <a:solidFill>
                  <a:srgbClr val="484848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12121"/>
                </a:solidFill>
                <a:latin typeface="Arial"/>
                <a:cs typeface="Arial"/>
              </a:rPr>
              <a:t>Plan.doc."</a:t>
            </a:r>
            <a:endParaRPr sz="1050">
              <a:latin typeface="Arial"/>
              <a:cs typeface="Arial"/>
            </a:endParaRPr>
          </a:p>
          <a:p>
            <a:pPr marL="306705">
              <a:lnSpc>
                <a:spcPts val="1120"/>
              </a:lnSpc>
              <a:spcBef>
                <a:spcPts val="855"/>
              </a:spcBef>
            </a:pPr>
            <a:r>
              <a:rPr sz="1050" spc="-10" dirty="0">
                <a:solidFill>
                  <a:srgbClr val="343434"/>
                </a:solidFill>
                <a:latin typeface="Arial"/>
                <a:cs typeface="Arial"/>
              </a:rPr>
              <a:t>IM,</a:t>
            </a:r>
            <a:r>
              <a:rPr sz="1050" spc="-55" dirty="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82828"/>
                </a:solidFill>
                <a:latin typeface="Arial"/>
                <a:cs typeface="Arial"/>
              </a:rPr>
              <a:t>Jane</a:t>
            </a:r>
            <a:r>
              <a:rPr sz="1050" spc="-6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525252"/>
                </a:solidFill>
                <a:latin typeface="Arial"/>
                <a:cs typeface="Arial"/>
              </a:rPr>
              <a:t>to</a:t>
            </a:r>
            <a:r>
              <a:rPr sz="1050" spc="-7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A2A2A"/>
                </a:solidFill>
                <a:latin typeface="Arial"/>
                <a:cs typeface="Arial"/>
              </a:rPr>
              <a:t>John:</a:t>
            </a:r>
            <a:endParaRPr sz="1050">
              <a:latin typeface="Arial"/>
              <a:cs typeface="Arial"/>
            </a:endParaRPr>
          </a:p>
          <a:p>
            <a:pPr marL="304165">
              <a:lnSpc>
                <a:spcPts val="1120"/>
              </a:lnSpc>
            </a:pPr>
            <a:r>
              <a:rPr sz="1050" dirty="0">
                <a:solidFill>
                  <a:srgbClr val="363636"/>
                </a:solidFill>
                <a:latin typeface="Arial"/>
                <a:cs typeface="Arial"/>
              </a:rPr>
              <a:t>"It's</a:t>
            </a:r>
            <a:r>
              <a:rPr sz="1050" spc="-55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383838"/>
                </a:solidFill>
                <a:latin typeface="Arial"/>
                <a:cs typeface="Arial"/>
              </a:rPr>
              <a:t>on</a:t>
            </a:r>
            <a:r>
              <a:rPr sz="1050" spc="-5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545454"/>
                </a:solidFill>
                <a:latin typeface="Arial"/>
                <a:cs typeface="Arial"/>
              </a:rPr>
              <a:t>my</a:t>
            </a:r>
            <a:r>
              <a:rPr sz="1050" spc="2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050" spc="-30" dirty="0">
                <a:solidFill>
                  <a:srgbClr val="242424"/>
                </a:solidFill>
                <a:latin typeface="Arial"/>
                <a:cs typeface="Arial"/>
              </a:rPr>
              <a:t>shared</a:t>
            </a:r>
            <a:r>
              <a:rPr sz="1050" spc="5" dirty="0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sz="1050" spc="-30" dirty="0">
                <a:solidFill>
                  <a:srgbClr val="1C1C1C"/>
                </a:solidFill>
                <a:latin typeface="Arial"/>
                <a:cs typeface="Arial"/>
              </a:rPr>
              <a:t>storage</a:t>
            </a:r>
            <a:r>
              <a:rPr sz="1050" spc="-40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82828"/>
                </a:solidFill>
                <a:latin typeface="Arial"/>
                <a:cs typeface="Arial"/>
              </a:rPr>
              <a:t>now."</a:t>
            </a:r>
            <a:endParaRPr sz="1050">
              <a:latin typeface="Arial"/>
              <a:cs typeface="Arial"/>
            </a:endParaRPr>
          </a:p>
          <a:p>
            <a:pPr marL="306705" marR="982344">
              <a:lnSpc>
                <a:spcPct val="68400"/>
              </a:lnSpc>
              <a:spcBef>
                <a:spcPts val="1085"/>
              </a:spcBef>
            </a:pPr>
            <a:r>
              <a:rPr sz="1200" spc="-110" dirty="0">
                <a:solidFill>
                  <a:srgbClr val="212121"/>
                </a:solidFill>
                <a:latin typeface="Arial"/>
                <a:cs typeface="Arial"/>
              </a:rPr>
              <a:t>John</a:t>
            </a:r>
            <a:r>
              <a:rPr sz="12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200" spc="-114" dirty="0">
                <a:solidFill>
                  <a:srgbClr val="181818"/>
                </a:solidFill>
                <a:latin typeface="Arial"/>
                <a:cs typeface="Arial"/>
              </a:rPr>
              <a:t>downloads</a:t>
            </a:r>
            <a:r>
              <a:rPr sz="1200" spc="60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1200" spc="-110" dirty="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sz="1200" spc="3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181818"/>
                </a:solidFill>
                <a:latin typeface="Arial"/>
                <a:cs typeface="Arial"/>
              </a:rPr>
              <a:t>file</a:t>
            </a:r>
            <a:r>
              <a:rPr sz="1200" spc="10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1200" spc="-100" dirty="0">
                <a:solidFill>
                  <a:srgbClr val="343434"/>
                </a:solidFill>
                <a:latin typeface="Arial"/>
                <a:cs typeface="Arial"/>
              </a:rPr>
              <a:t>from </a:t>
            </a:r>
            <a:r>
              <a:rPr sz="1200" spc="-100" dirty="0">
                <a:solidFill>
                  <a:srgbClr val="444444"/>
                </a:solidFill>
                <a:latin typeface="Arial"/>
                <a:cs typeface="Arial"/>
              </a:rPr>
              <a:t>Jane's</a:t>
            </a:r>
            <a:r>
              <a:rPr sz="1200" spc="4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C1C1C"/>
                </a:solidFill>
                <a:latin typeface="Arial"/>
                <a:cs typeface="Arial"/>
              </a:rPr>
              <a:t>computer.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634909" y="425102"/>
            <a:ext cx="2576195" cy="598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750" spc="245" dirty="0">
                <a:solidFill>
                  <a:srgbClr val="ED3F16"/>
                </a:solidFill>
                <a:latin typeface="Calibri"/>
                <a:cs typeface="Calibri"/>
              </a:rPr>
              <a:t>Large-</a:t>
            </a:r>
            <a:r>
              <a:rPr sz="3750" spc="235" dirty="0">
                <a:solidFill>
                  <a:srgbClr val="ED3F16"/>
                </a:solidFill>
                <a:latin typeface="Calibri"/>
                <a:cs typeface="Calibri"/>
              </a:rPr>
              <a:t>Scale</a:t>
            </a:r>
            <a:endParaRPr sz="37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3406" y="562570"/>
            <a:ext cx="964406" cy="36611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507150" y="425102"/>
            <a:ext cx="1743710" cy="598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750" spc="120" dirty="0">
                <a:solidFill>
                  <a:srgbClr val="DD421A"/>
                </a:solidFill>
                <a:latin typeface="Calibri"/>
                <a:cs typeface="Calibri"/>
              </a:rPr>
              <a:t>Sharing:</a:t>
            </a:r>
            <a:endParaRPr sz="375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3976" y="1330523"/>
            <a:ext cx="8760023" cy="539353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662124" y="2914997"/>
            <a:ext cx="2169160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185" dirty="0">
                <a:latin typeface="Arial"/>
                <a:cs typeface="Arial"/>
              </a:rPr>
              <a:t>Peer-</a:t>
            </a:r>
            <a:r>
              <a:rPr sz="2300" spc="-150" dirty="0">
                <a:latin typeface="Arial"/>
                <a:cs typeface="Arial"/>
              </a:rPr>
              <a:t>to-</a:t>
            </a:r>
            <a:r>
              <a:rPr sz="2300" spc="-145" dirty="0">
                <a:latin typeface="Arial"/>
                <a:cs typeface="Arial"/>
              </a:rPr>
              <a:t>peer</a:t>
            </a:r>
            <a:r>
              <a:rPr sz="2300" spc="60" dirty="0">
                <a:latin typeface="Arial"/>
                <a:cs typeface="Arial"/>
              </a:rPr>
              <a:t> </a:t>
            </a:r>
            <a:r>
              <a:rPr sz="2300" spc="-195" dirty="0">
                <a:latin typeface="Arial"/>
                <a:cs typeface="Arial"/>
              </a:rPr>
              <a:t>model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993" y="4689276"/>
            <a:ext cx="2193925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50" spc="-70" dirty="0">
                <a:latin typeface="Calibri"/>
                <a:cs typeface="Calibri"/>
              </a:rPr>
              <a:t>Client/server</a:t>
            </a:r>
            <a:r>
              <a:rPr sz="2250" spc="145" dirty="0">
                <a:latin typeface="Calibri"/>
                <a:cs typeface="Calibri"/>
              </a:rPr>
              <a:t> </a:t>
            </a:r>
            <a:r>
              <a:rPr sz="2250" spc="-70" dirty="0">
                <a:latin typeface="Calibri"/>
                <a:cs typeface="Calibri"/>
              </a:rPr>
              <a:t>model</a:t>
            </a:r>
            <a:endParaRPr sz="2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5398" y="598289"/>
            <a:ext cx="151804" cy="35718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571435" y="151010"/>
            <a:ext cx="5957570" cy="739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798060" algn="l"/>
              </a:tabLst>
            </a:pPr>
            <a:r>
              <a:rPr sz="4650" spc="-35" dirty="0">
                <a:solidFill>
                  <a:srgbClr val="D63D11"/>
                </a:solidFill>
                <a:latin typeface="Calibri"/>
                <a:cs typeface="Calibri"/>
              </a:rPr>
              <a:t>P2P</a:t>
            </a:r>
            <a:r>
              <a:rPr sz="4650" spc="55" dirty="0">
                <a:solidFill>
                  <a:srgbClr val="D63D11"/>
                </a:solidFill>
                <a:latin typeface="Calibri"/>
                <a:cs typeface="Calibri"/>
              </a:rPr>
              <a:t> </a:t>
            </a:r>
            <a:r>
              <a:rPr sz="4650" dirty="0">
                <a:solidFill>
                  <a:srgbClr val="E63805"/>
                </a:solidFill>
                <a:latin typeface="Calibri"/>
                <a:cs typeface="Calibri"/>
              </a:rPr>
              <a:t>History:</a:t>
            </a:r>
            <a:r>
              <a:rPr sz="4650" spc="290" dirty="0">
                <a:solidFill>
                  <a:srgbClr val="E63805"/>
                </a:solidFill>
                <a:latin typeface="Calibri"/>
                <a:cs typeface="Calibri"/>
              </a:rPr>
              <a:t> </a:t>
            </a:r>
            <a:r>
              <a:rPr sz="6975" spc="-30" baseline="1194" dirty="0">
                <a:solidFill>
                  <a:srgbClr val="F6380C"/>
                </a:solidFill>
                <a:latin typeface="Calibri"/>
                <a:cs typeface="Calibri"/>
              </a:rPr>
              <a:t>1</a:t>
            </a:r>
            <a:r>
              <a:rPr sz="4650" spc="-20" dirty="0">
                <a:solidFill>
                  <a:srgbClr val="F6380C"/>
                </a:solidFill>
                <a:latin typeface="Calibri"/>
                <a:cs typeface="Calibri"/>
              </a:rPr>
              <a:t>969</a:t>
            </a:r>
            <a:r>
              <a:rPr sz="4650" dirty="0">
                <a:solidFill>
                  <a:srgbClr val="F6380C"/>
                </a:solidFill>
                <a:latin typeface="Calibri"/>
                <a:cs typeface="Calibri"/>
              </a:rPr>
              <a:t>	</a:t>
            </a:r>
            <a:r>
              <a:rPr sz="6975" spc="-150" baseline="1194" dirty="0">
                <a:solidFill>
                  <a:srgbClr val="F63608"/>
                </a:solidFill>
                <a:latin typeface="Calibri"/>
                <a:cs typeface="Calibri"/>
              </a:rPr>
              <a:t>1</a:t>
            </a:r>
            <a:r>
              <a:rPr sz="4650" spc="-100" dirty="0">
                <a:solidFill>
                  <a:srgbClr val="F63608"/>
                </a:solidFill>
                <a:latin typeface="Calibri"/>
                <a:cs typeface="Calibri"/>
              </a:rPr>
              <a:t>995</a:t>
            </a:r>
            <a:endParaRPr sz="46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1163" y="1149208"/>
            <a:ext cx="7044055" cy="1634489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505"/>
              </a:spcBef>
              <a:buChar char="•"/>
              <a:tabLst>
                <a:tab pos="356870" algn="l"/>
              </a:tabLst>
            </a:pPr>
            <a:r>
              <a:rPr sz="2750" dirty="0">
                <a:latin typeface="Times New Roman"/>
                <a:cs typeface="Times New Roman"/>
              </a:rPr>
              <a:t>1969</a:t>
            </a:r>
            <a:r>
              <a:rPr sz="2750" spc="45" dirty="0">
                <a:latin typeface="Times New Roman"/>
                <a:cs typeface="Times New Roman"/>
              </a:rPr>
              <a:t> </a:t>
            </a:r>
            <a:r>
              <a:rPr sz="2750" spc="-1375" dirty="0">
                <a:latin typeface="Times New Roman"/>
                <a:cs typeface="Times New Roman"/>
              </a:rPr>
              <a:t>—</a:t>
            </a:r>
            <a:r>
              <a:rPr sz="2750" spc="3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1995:</a:t>
            </a:r>
            <a:r>
              <a:rPr sz="2750" spc="13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-4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origins</a:t>
            </a:r>
            <a:endParaRPr sz="2750">
              <a:latin typeface="Times New Roman"/>
              <a:cs typeface="Times New Roman"/>
            </a:endParaRPr>
          </a:p>
          <a:p>
            <a:pPr marL="756285" marR="5080">
              <a:lnSpc>
                <a:spcPts val="2600"/>
              </a:lnSpc>
              <a:spcBef>
                <a:spcPts val="640"/>
              </a:spcBef>
            </a:pPr>
            <a:r>
              <a:rPr sz="2400" dirty="0">
                <a:solidFill>
                  <a:srgbClr val="030059"/>
                </a:solidFill>
                <a:latin typeface="Times New Roman"/>
                <a:cs typeface="Times New Roman"/>
              </a:rPr>
              <a:t>In</a:t>
            </a:r>
            <a:r>
              <a:rPr sz="2400" spc="-75" dirty="0">
                <a:solidFill>
                  <a:srgbClr val="03005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5033F"/>
                </a:solidFill>
                <a:latin typeface="Times New Roman"/>
                <a:cs typeface="Times New Roman"/>
              </a:rPr>
              <a:t>the</a:t>
            </a:r>
            <a:r>
              <a:rPr sz="2400" spc="-40" dirty="0">
                <a:solidFill>
                  <a:srgbClr val="05033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11114B"/>
                </a:solidFill>
                <a:latin typeface="Times New Roman"/>
                <a:cs typeface="Times New Roman"/>
              </a:rPr>
              <a:t>beginning,</a:t>
            </a:r>
            <a:r>
              <a:rPr sz="2400" spc="90" dirty="0">
                <a:solidFill>
                  <a:srgbClr val="11114B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1114D"/>
                </a:solidFill>
                <a:latin typeface="Times New Roman"/>
                <a:cs typeface="Times New Roman"/>
              </a:rPr>
              <a:t>all</a:t>
            </a:r>
            <a:r>
              <a:rPr sz="2400" spc="-65" dirty="0">
                <a:solidFill>
                  <a:srgbClr val="11114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30044"/>
                </a:solidFill>
                <a:latin typeface="Times New Roman"/>
                <a:cs typeface="Times New Roman"/>
              </a:rPr>
              <a:t>nodes</a:t>
            </a:r>
            <a:r>
              <a:rPr sz="2400" spc="-25" dirty="0">
                <a:solidFill>
                  <a:srgbClr val="030044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151642"/>
                </a:solidFill>
                <a:latin typeface="Times New Roman"/>
                <a:cs typeface="Times New Roman"/>
              </a:rPr>
              <a:t>in</a:t>
            </a:r>
            <a:r>
              <a:rPr sz="2400" spc="-120" dirty="0">
                <a:solidFill>
                  <a:srgbClr val="151642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A015B"/>
                </a:solidFill>
                <a:latin typeface="Times New Roman"/>
                <a:cs typeface="Times New Roman"/>
              </a:rPr>
              <a:t>Arpanet/Internet</a:t>
            </a:r>
            <a:r>
              <a:rPr sz="2400" spc="-10" dirty="0">
                <a:solidFill>
                  <a:srgbClr val="0A015B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0C0E46"/>
                </a:solidFill>
                <a:latin typeface="Times New Roman"/>
                <a:cs typeface="Times New Roman"/>
              </a:rPr>
              <a:t>were </a:t>
            </a:r>
            <a:r>
              <a:rPr sz="2400" spc="-10" dirty="0">
                <a:solidFill>
                  <a:srgbClr val="0F0554"/>
                </a:solidFill>
                <a:latin typeface="Times New Roman"/>
                <a:cs typeface="Times New Roman"/>
              </a:rPr>
              <a:t>peers</a:t>
            </a:r>
            <a:endParaRPr sz="2400">
              <a:latin typeface="Times New Roman"/>
              <a:cs typeface="Times New Roman"/>
            </a:endParaRPr>
          </a:p>
          <a:p>
            <a:pPr marL="749300">
              <a:lnSpc>
                <a:spcPct val="100000"/>
              </a:lnSpc>
              <a:spcBef>
                <a:spcPts val="245"/>
              </a:spcBef>
            </a:pPr>
            <a:r>
              <a:rPr sz="2400" dirty="0">
                <a:solidFill>
                  <a:srgbClr val="080350"/>
                </a:solidFill>
                <a:latin typeface="Times New Roman"/>
                <a:cs typeface="Times New Roman"/>
              </a:rPr>
              <a:t>Every</a:t>
            </a:r>
            <a:r>
              <a:rPr sz="2400" spc="-30" dirty="0">
                <a:solidFill>
                  <a:srgbClr val="0803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80349"/>
                </a:solidFill>
                <a:latin typeface="Times New Roman"/>
                <a:cs typeface="Times New Roman"/>
              </a:rPr>
              <a:t>node </a:t>
            </a:r>
            <a:r>
              <a:rPr sz="2400" dirty="0">
                <a:solidFill>
                  <a:srgbClr val="11114F"/>
                </a:solidFill>
                <a:latin typeface="Times New Roman"/>
                <a:cs typeface="Times New Roman"/>
              </a:rPr>
              <a:t>was</a:t>
            </a:r>
            <a:r>
              <a:rPr sz="2400" spc="-85" dirty="0">
                <a:solidFill>
                  <a:srgbClr val="1111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50A52"/>
                </a:solidFill>
                <a:latin typeface="Times New Roman"/>
                <a:cs typeface="Times New Roman"/>
              </a:rPr>
              <a:t>capable</a:t>
            </a:r>
            <a:r>
              <a:rPr sz="2400" spc="-5" dirty="0">
                <a:solidFill>
                  <a:srgbClr val="150A52"/>
                </a:solidFill>
                <a:latin typeface="Times New Roman"/>
                <a:cs typeface="Times New Roman"/>
              </a:rPr>
              <a:t> </a:t>
            </a:r>
            <a:r>
              <a:rPr sz="2400" spc="-35" dirty="0">
                <a:solidFill>
                  <a:srgbClr val="0E0F4D"/>
                </a:solidFill>
                <a:latin typeface="Times New Roman"/>
                <a:cs typeface="Times New Roman"/>
              </a:rPr>
              <a:t>to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54203" y="3545085"/>
            <a:ext cx="3643312" cy="186630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062632" y="3935014"/>
            <a:ext cx="7155815" cy="1923414"/>
            <a:chOff x="1062632" y="3935014"/>
            <a:chExt cx="7155815" cy="1923414"/>
          </a:xfrm>
        </p:grpSpPr>
        <p:sp>
          <p:nvSpPr>
            <p:cNvPr id="5" name="object 5"/>
            <p:cNvSpPr/>
            <p:nvPr/>
          </p:nvSpPr>
          <p:spPr>
            <a:xfrm>
              <a:off x="5948660" y="3961804"/>
              <a:ext cx="0" cy="1896110"/>
            </a:xfrm>
            <a:custGeom>
              <a:avLst/>
              <a:gdLst/>
              <a:ahLst/>
              <a:cxnLst/>
              <a:rect l="l" t="t" r="r" b="b"/>
              <a:pathLst>
                <a:path h="1896110">
                  <a:moveTo>
                    <a:pt x="0" y="189607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62632" y="4900909"/>
              <a:ext cx="7155815" cy="0"/>
            </a:xfrm>
            <a:custGeom>
              <a:avLst/>
              <a:gdLst/>
              <a:ahLst/>
              <a:cxnLst/>
              <a:rect l="l" t="t" r="r" b="b"/>
              <a:pathLst>
                <a:path w="7155815">
                  <a:moveTo>
                    <a:pt x="0" y="0"/>
                  </a:moveTo>
                  <a:lnTo>
                    <a:pt x="7155659" y="0"/>
                  </a:lnTo>
                </a:path>
              </a:pathLst>
            </a:custGeom>
            <a:ln w="3175">
              <a:solidFill>
                <a:srgbClr val="0F0F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62632" y="3936503"/>
              <a:ext cx="7155815" cy="0"/>
            </a:xfrm>
            <a:custGeom>
              <a:avLst/>
              <a:gdLst/>
              <a:ahLst/>
              <a:cxnLst/>
              <a:rect l="l" t="t" r="r" b="b"/>
              <a:pathLst>
                <a:path w="7155815">
                  <a:moveTo>
                    <a:pt x="0" y="0"/>
                  </a:moveTo>
                  <a:lnTo>
                    <a:pt x="7155659" y="0"/>
                  </a:lnTo>
                </a:path>
              </a:pathLst>
            </a:custGeom>
            <a:ln w="3175">
              <a:solidFill>
                <a:srgbClr val="0F0F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12622" y="2767409"/>
            <a:ext cx="3173095" cy="184150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635635" indent="-237490">
              <a:lnSpc>
                <a:spcPct val="100000"/>
              </a:lnSpc>
              <a:spcBef>
                <a:spcPts val="240"/>
              </a:spcBef>
              <a:buClr>
                <a:srgbClr val="6E0F0F"/>
              </a:buClr>
              <a:buChar char="•"/>
              <a:tabLst>
                <a:tab pos="635635" algn="l"/>
              </a:tabLst>
            </a:pPr>
            <a:r>
              <a:rPr sz="2050" spc="-25" dirty="0">
                <a:solidFill>
                  <a:srgbClr val="232323"/>
                </a:solidFill>
                <a:latin typeface="Times New Roman"/>
                <a:cs typeface="Times New Roman"/>
              </a:rPr>
              <a:t>perfoim</a:t>
            </a:r>
            <a:r>
              <a:rPr sz="2050" spc="10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3F1613"/>
                </a:solidFill>
                <a:latin typeface="Times New Roman"/>
                <a:cs typeface="Times New Roman"/>
              </a:rPr>
              <a:t>routing</a:t>
            </a:r>
            <a:endParaRPr sz="2050">
              <a:latin typeface="Times New Roman"/>
              <a:cs typeface="Times New Roman"/>
            </a:endParaRPr>
          </a:p>
          <a:p>
            <a:pPr marL="634365" indent="-236220">
              <a:lnSpc>
                <a:spcPct val="100000"/>
              </a:lnSpc>
              <a:spcBef>
                <a:spcPts val="140"/>
              </a:spcBef>
              <a:buClr>
                <a:srgbClr val="6B0A11"/>
              </a:buClr>
              <a:buChar char="•"/>
              <a:tabLst>
                <a:tab pos="634365" algn="l"/>
              </a:tabLst>
            </a:pPr>
            <a:r>
              <a:rPr sz="2050" spc="-30" dirty="0">
                <a:solidFill>
                  <a:srgbClr val="541823"/>
                </a:solidFill>
                <a:latin typeface="Times New Roman"/>
                <a:cs typeface="Times New Roman"/>
              </a:rPr>
              <a:t>accept</a:t>
            </a:r>
            <a:r>
              <a:rPr sz="2050" spc="-85" dirty="0">
                <a:solidFill>
                  <a:srgbClr val="541823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491813"/>
                </a:solidFill>
                <a:latin typeface="Times New Roman"/>
                <a:cs typeface="Times New Roman"/>
              </a:rPr>
              <a:t>ftp</a:t>
            </a:r>
            <a:r>
              <a:rPr sz="2050" spc="-120" dirty="0">
                <a:solidFill>
                  <a:srgbClr val="491813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424242"/>
                </a:solidFill>
                <a:latin typeface="Times New Roman"/>
                <a:cs typeface="Times New Roman"/>
              </a:rPr>
              <a:t>connections</a:t>
            </a:r>
            <a:endParaRPr sz="2050">
              <a:latin typeface="Times New Roman"/>
              <a:cs typeface="Times New Roman"/>
            </a:endParaRPr>
          </a:p>
          <a:p>
            <a:pPr marL="634365" indent="-236220">
              <a:lnSpc>
                <a:spcPct val="100000"/>
              </a:lnSpc>
              <a:spcBef>
                <a:spcPts val="215"/>
              </a:spcBef>
              <a:buClr>
                <a:srgbClr val="6B0A0C"/>
              </a:buClr>
              <a:buChar char="•"/>
              <a:tabLst>
                <a:tab pos="634365" algn="l"/>
              </a:tabLst>
            </a:pPr>
            <a:r>
              <a:rPr sz="2050" spc="-40" dirty="0">
                <a:solidFill>
                  <a:srgbClr val="41161A"/>
                </a:solidFill>
                <a:latin typeface="Times New Roman"/>
                <a:cs typeface="Times New Roman"/>
              </a:rPr>
              <a:t>accept</a:t>
            </a:r>
            <a:r>
              <a:rPr sz="2050" spc="25" dirty="0">
                <a:solidFill>
                  <a:srgbClr val="41161A"/>
                </a:solidFill>
                <a:latin typeface="Times New Roman"/>
                <a:cs typeface="Times New Roman"/>
              </a:rPr>
              <a:t> </a:t>
            </a:r>
            <a:r>
              <a:rPr sz="2050" spc="-30" dirty="0">
                <a:solidFill>
                  <a:srgbClr val="262626"/>
                </a:solidFill>
                <a:latin typeface="Times New Roman"/>
                <a:cs typeface="Times New Roman"/>
              </a:rPr>
              <a:t>telnet</a:t>
            </a:r>
            <a:r>
              <a:rPr sz="2050" spc="-9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50" spc="-30" dirty="0">
                <a:solidFill>
                  <a:srgbClr val="1F1F1F"/>
                </a:solidFill>
                <a:latin typeface="Times New Roman"/>
                <a:cs typeface="Times New Roman"/>
              </a:rPr>
              <a:t>connections</a:t>
            </a:r>
            <a:endParaRPr sz="2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066165" algn="l"/>
                <a:tab pos="2449830" algn="l"/>
              </a:tabLst>
            </a:pPr>
            <a:r>
              <a:rPr sz="2850" spc="-25" dirty="0">
                <a:solidFill>
                  <a:srgbClr val="3846AE"/>
                </a:solidFill>
                <a:latin typeface="Calibri"/>
                <a:cs typeface="Calibri"/>
              </a:rPr>
              <a:t>'50</a:t>
            </a:r>
            <a:r>
              <a:rPr sz="2850" dirty="0">
                <a:solidFill>
                  <a:srgbClr val="3846AE"/>
                </a:solidFill>
                <a:latin typeface="Calibri"/>
                <a:cs typeface="Calibri"/>
              </a:rPr>
              <a:t>	</a:t>
            </a:r>
            <a:r>
              <a:rPr sz="2850" spc="-25" dirty="0">
                <a:solidFill>
                  <a:srgbClr val="333FAF"/>
                </a:solidFill>
                <a:latin typeface="Calibri"/>
                <a:cs typeface="Calibri"/>
              </a:rPr>
              <a:t>'60</a:t>
            </a:r>
            <a:r>
              <a:rPr sz="2850" dirty="0">
                <a:solidFill>
                  <a:srgbClr val="333FAF"/>
                </a:solidFill>
                <a:latin typeface="Calibri"/>
                <a:cs typeface="Calibri"/>
              </a:rPr>
              <a:t>	</a:t>
            </a:r>
            <a:r>
              <a:rPr sz="2850" spc="-25" dirty="0">
                <a:solidFill>
                  <a:srgbClr val="343DAF"/>
                </a:solidFill>
                <a:latin typeface="Calibri"/>
                <a:cs typeface="Calibri"/>
              </a:rPr>
              <a:t>’70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62996" y="2758478"/>
            <a:ext cx="2569845" cy="103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84860">
              <a:lnSpc>
                <a:spcPct val="107200"/>
              </a:lnSpc>
              <a:spcBef>
                <a:spcPts val="100"/>
              </a:spcBef>
            </a:pPr>
            <a:r>
              <a:rPr sz="2050" spc="-25" dirty="0">
                <a:solidFill>
                  <a:srgbClr val="491616"/>
                </a:solidFill>
                <a:latin typeface="Times New Roman"/>
                <a:cs typeface="Times New Roman"/>
              </a:rPr>
              <a:t>(locate</a:t>
            </a:r>
            <a:r>
              <a:rPr sz="2050" spc="-30" dirty="0">
                <a:solidFill>
                  <a:srgbClr val="491616"/>
                </a:solidFill>
                <a:latin typeface="Times New Roman"/>
                <a:cs typeface="Times New Roman"/>
              </a:rPr>
              <a:t> </a:t>
            </a:r>
            <a:r>
              <a:rPr sz="2050" spc="-65" dirty="0">
                <a:solidFill>
                  <a:srgbClr val="1F1F1F"/>
                </a:solidFill>
                <a:latin typeface="Times New Roman"/>
                <a:cs typeface="Times New Roman"/>
              </a:rPr>
              <a:t>machines) </a:t>
            </a:r>
            <a:r>
              <a:rPr sz="2050" spc="-20" dirty="0">
                <a:solidFill>
                  <a:srgbClr val="572F38"/>
                </a:solidFill>
                <a:latin typeface="Times New Roman"/>
                <a:cs typeface="Times New Roman"/>
              </a:rPr>
              <a:t>(file</a:t>
            </a:r>
            <a:r>
              <a:rPr sz="2050" spc="-100" dirty="0">
                <a:solidFill>
                  <a:srgbClr val="572F38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60464B"/>
                </a:solidFill>
                <a:latin typeface="Times New Roman"/>
                <a:cs typeface="Times New Roman"/>
              </a:rPr>
              <a:t>sharing)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2050" spc="-35" dirty="0">
                <a:solidFill>
                  <a:srgbClr val="4B1A1A"/>
                </a:solidFill>
                <a:latin typeface="Times New Roman"/>
                <a:cs typeface="Times New Roman"/>
              </a:rPr>
              <a:t>(distributed</a:t>
            </a:r>
            <a:r>
              <a:rPr sz="2050" dirty="0">
                <a:solidFill>
                  <a:srgbClr val="4B1A1A"/>
                </a:solidFill>
                <a:latin typeface="Times New Roman"/>
                <a:cs typeface="Times New Roman"/>
              </a:rPr>
              <a:t> </a:t>
            </a:r>
            <a:r>
              <a:rPr sz="2050" spc="-45" dirty="0">
                <a:solidFill>
                  <a:srgbClr val="461F1F"/>
                </a:solidFill>
                <a:latin typeface="Times New Roman"/>
                <a:cs typeface="Times New Roman"/>
              </a:rPr>
              <a:t>computation)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7329" y="5557688"/>
            <a:ext cx="732790" cy="551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065"/>
              </a:lnSpc>
              <a:spcBef>
                <a:spcPts val="105"/>
              </a:spcBef>
            </a:pPr>
            <a:r>
              <a:rPr sz="1800" spc="-20" dirty="0">
                <a:solidFill>
                  <a:srgbClr val="383667"/>
                </a:solidFill>
                <a:latin typeface="Calibri"/>
                <a:cs typeface="Calibri"/>
              </a:rPr>
              <a:t>1957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ts val="2065"/>
              </a:lnSpc>
            </a:pPr>
            <a:r>
              <a:rPr sz="1800" spc="150" dirty="0">
                <a:latin typeface="Calibri"/>
                <a:cs typeface="Calibri"/>
              </a:rPr>
              <a:t>Sptnik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34108" y="5557688"/>
            <a:ext cx="493395" cy="551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065"/>
              </a:lnSpc>
              <a:spcBef>
                <a:spcPts val="105"/>
              </a:spcBef>
            </a:pPr>
            <a:r>
              <a:rPr sz="1800" spc="-20" dirty="0">
                <a:solidFill>
                  <a:srgbClr val="443D89"/>
                </a:solidFill>
                <a:latin typeface="Calibri"/>
                <a:cs typeface="Calibri"/>
              </a:rPr>
              <a:t>1962</a:t>
            </a:r>
            <a:endParaRPr sz="1800">
              <a:latin typeface="Calibri"/>
              <a:cs typeface="Calibri"/>
            </a:endParaRPr>
          </a:p>
          <a:p>
            <a:pPr marL="19050">
              <a:lnSpc>
                <a:spcPts val="2065"/>
              </a:lnSpc>
            </a:pPr>
            <a:r>
              <a:rPr sz="1800" spc="-20" dirty="0">
                <a:latin typeface="Calibri"/>
                <a:cs typeface="Calibri"/>
              </a:rPr>
              <a:t>Arpa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02886" y="5412085"/>
            <a:ext cx="1286510" cy="542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305">
              <a:lnSpc>
                <a:spcPts val="2060"/>
              </a:lnSpc>
              <a:spcBef>
                <a:spcPts val="105"/>
              </a:spcBef>
            </a:pPr>
            <a:r>
              <a:rPr sz="1750" spc="70" dirty="0">
                <a:solidFill>
                  <a:srgbClr val="3F3879"/>
                </a:solidFill>
                <a:latin typeface="Times New Roman"/>
                <a:cs typeface="Times New Roman"/>
              </a:rPr>
              <a:t>t97t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ts val="2000"/>
              </a:lnSpc>
            </a:pPr>
            <a:r>
              <a:rPr sz="1700" dirty="0">
                <a:latin typeface="Times New Roman"/>
                <a:cs typeface="Times New Roman"/>
              </a:rPr>
              <a:t>email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40" dirty="0">
                <a:latin typeface="Times New Roman"/>
                <a:cs typeface="Times New Roman"/>
              </a:rPr>
              <a:t>appears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92614" y="5393481"/>
            <a:ext cx="52451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775" spc="52" baseline="15015" dirty="0">
                <a:solidFill>
                  <a:srgbClr val="484480"/>
                </a:solidFill>
                <a:latin typeface="Calibri"/>
                <a:cs typeface="Calibri"/>
              </a:rPr>
              <a:t>j</a:t>
            </a:r>
            <a:r>
              <a:rPr sz="1900" spc="35" dirty="0">
                <a:solidFill>
                  <a:srgbClr val="484480"/>
                </a:solidFill>
                <a:latin typeface="Calibri"/>
                <a:cs typeface="Calibri"/>
              </a:rPr>
              <a:t>99</a:t>
            </a:r>
            <a:r>
              <a:rPr sz="2700" spc="52" baseline="1543" dirty="0">
                <a:solidFill>
                  <a:srgbClr val="484480"/>
                </a:solidFill>
                <a:latin typeface="Calibri"/>
                <a:cs typeface="Calibri"/>
              </a:rPr>
              <a:t>2</a:t>
            </a:r>
            <a:endParaRPr sz="2700" baseline="1543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80628" y="5096073"/>
            <a:ext cx="1662430" cy="549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060"/>
              </a:lnSpc>
              <a:spcBef>
                <a:spcPts val="105"/>
              </a:spcBef>
            </a:pPr>
            <a:r>
              <a:rPr sz="1850" spc="-20" dirty="0">
                <a:solidFill>
                  <a:srgbClr val="443D82"/>
                </a:solidFill>
                <a:latin typeface="Calibri"/>
                <a:cs typeface="Calibri"/>
              </a:rPr>
              <a:t>1994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ts val="2060"/>
              </a:lnSpc>
            </a:pPr>
            <a:r>
              <a:rPr sz="1850" dirty="0">
                <a:latin typeface="Calibri"/>
                <a:cs typeface="Calibri"/>
              </a:rPr>
              <a:t>10k</a:t>
            </a:r>
            <a:r>
              <a:rPr sz="1850" spc="-3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Web</a:t>
            </a:r>
            <a:r>
              <a:rPr sz="1850" spc="-5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Servers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05810" y="5639048"/>
            <a:ext cx="1570355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spc="-375" dirty="0">
                <a:latin typeface="Times New Roman"/>
                <a:cs typeface="Times New Roman"/>
              </a:rPr>
              <a:t>TO</a:t>
            </a:r>
            <a:r>
              <a:rPr sz="1900" spc="140" dirty="0">
                <a:latin typeface="Times New Roman"/>
                <a:cs typeface="Times New Roman"/>
              </a:rPr>
              <a:t> </a:t>
            </a:r>
            <a:r>
              <a:rPr sz="1900" spc="-30" dirty="0">
                <a:latin typeface="Times New Roman"/>
                <a:cs typeface="Times New Roman"/>
              </a:rPr>
              <a:t>Web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Servers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01824" y="6005165"/>
            <a:ext cx="772160" cy="555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ctr">
              <a:lnSpc>
                <a:spcPts val="2115"/>
              </a:lnSpc>
              <a:spcBef>
                <a:spcPts val="105"/>
              </a:spcBef>
            </a:pPr>
            <a:r>
              <a:rPr sz="1900" spc="-20" dirty="0">
                <a:solidFill>
                  <a:srgbClr val="3D3A85"/>
                </a:solidFill>
                <a:latin typeface="Times New Roman"/>
                <a:cs typeface="Times New Roman"/>
              </a:rPr>
              <a:t>1969</a:t>
            </a:r>
            <a:endParaRPr sz="1900">
              <a:latin typeface="Times New Roman"/>
              <a:cs typeface="Times New Roman"/>
            </a:endParaRPr>
          </a:p>
          <a:p>
            <a:pPr algn="ctr">
              <a:lnSpc>
                <a:spcPts val="2055"/>
              </a:lnSpc>
            </a:pPr>
            <a:r>
              <a:rPr sz="1850" spc="-55" dirty="0">
                <a:latin typeface="Times New Roman"/>
                <a:cs typeface="Times New Roman"/>
              </a:rPr>
              <a:t>Arpane†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47158" y="6011366"/>
            <a:ext cx="1529715" cy="5543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075"/>
              </a:lnSpc>
              <a:spcBef>
                <a:spcPts val="105"/>
              </a:spcBef>
            </a:pPr>
            <a:r>
              <a:rPr sz="1850" spc="-20" dirty="0">
                <a:solidFill>
                  <a:srgbClr val="423D74"/>
                </a:solidFill>
                <a:latin typeface="Times New Roman"/>
                <a:cs typeface="Times New Roman"/>
              </a:rPr>
              <a:t>1990</a:t>
            </a:r>
            <a:endParaRPr sz="1850">
              <a:latin typeface="Times New Roman"/>
              <a:cs typeface="Times New Roman"/>
            </a:endParaRPr>
          </a:p>
          <a:p>
            <a:pPr algn="ctr">
              <a:lnSpc>
                <a:spcPts val="2075"/>
              </a:lnSpc>
            </a:pPr>
            <a:r>
              <a:rPr sz="1850" spc="-100" dirty="0">
                <a:latin typeface="Times New Roman"/>
                <a:cs typeface="Times New Roman"/>
              </a:rPr>
              <a:t>WWW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proposed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3187" y="750093"/>
            <a:ext cx="321468" cy="39290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6093" y="759023"/>
            <a:ext cx="1455539" cy="5089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45398" y="973335"/>
            <a:ext cx="151804" cy="35718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612205" y="553590"/>
            <a:ext cx="5919470" cy="717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061970" algn="l"/>
                <a:tab pos="4740910" algn="l"/>
              </a:tabLst>
            </a:pPr>
            <a:r>
              <a:rPr sz="4550" spc="-395" dirty="0">
                <a:solidFill>
                  <a:srgbClr val="DB4218"/>
                </a:solidFill>
              </a:rPr>
              <a:t>P2P</a:t>
            </a:r>
            <a:r>
              <a:rPr sz="4550" dirty="0">
                <a:solidFill>
                  <a:srgbClr val="DB4218"/>
                </a:solidFill>
              </a:rPr>
              <a:t>	</a:t>
            </a:r>
            <a:r>
              <a:rPr sz="6825" spc="-30" baseline="1831" dirty="0">
                <a:solidFill>
                  <a:srgbClr val="F43600"/>
                </a:solidFill>
              </a:rPr>
              <a:t>1</a:t>
            </a:r>
            <a:r>
              <a:rPr sz="4550" spc="-20" dirty="0">
                <a:solidFill>
                  <a:srgbClr val="F43600"/>
                </a:solidFill>
              </a:rPr>
              <a:t>995</a:t>
            </a:r>
            <a:r>
              <a:rPr sz="4550" dirty="0">
                <a:solidFill>
                  <a:srgbClr val="F43600"/>
                </a:solidFill>
              </a:rPr>
              <a:t>	</a:t>
            </a:r>
            <a:r>
              <a:rPr sz="4550" spc="-20" dirty="0">
                <a:solidFill>
                  <a:srgbClr val="F63805"/>
                </a:solidFill>
              </a:rPr>
              <a:t>1999</a:t>
            </a:r>
            <a:endParaRPr sz="4550"/>
          </a:p>
        </p:txBody>
      </p:sp>
      <p:pic>
        <p:nvPicPr>
          <p:cNvPr id="2" name="object 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12726" y="3804046"/>
            <a:ext cx="6884789" cy="188416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062632" y="4185046"/>
            <a:ext cx="7155815" cy="1941195"/>
            <a:chOff x="1062632" y="4185046"/>
            <a:chExt cx="7155815" cy="1941195"/>
          </a:xfrm>
        </p:grpSpPr>
        <p:sp>
          <p:nvSpPr>
            <p:cNvPr id="7" name="object 7"/>
            <p:cNvSpPr/>
            <p:nvPr/>
          </p:nvSpPr>
          <p:spPr>
            <a:xfrm>
              <a:off x="5939730" y="4185046"/>
              <a:ext cx="0" cy="1932305"/>
            </a:xfrm>
            <a:custGeom>
              <a:avLst/>
              <a:gdLst/>
              <a:ahLst/>
              <a:cxnLst/>
              <a:rect l="l" t="t" r="r" b="b"/>
              <a:pathLst>
                <a:path h="1932304">
                  <a:moveTo>
                    <a:pt x="0" y="19317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13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62632" y="5159871"/>
              <a:ext cx="7155815" cy="0"/>
            </a:xfrm>
            <a:custGeom>
              <a:avLst/>
              <a:gdLst/>
              <a:ahLst/>
              <a:cxnLst/>
              <a:rect l="l" t="t" r="r" b="b"/>
              <a:pathLst>
                <a:path w="7155815">
                  <a:moveTo>
                    <a:pt x="0" y="0"/>
                  </a:moveTo>
                  <a:lnTo>
                    <a:pt x="7155659" y="0"/>
                  </a:lnTo>
                </a:path>
              </a:pathLst>
            </a:custGeom>
            <a:ln w="3175">
              <a:solidFill>
                <a:srgbClr val="0F13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62632" y="4195465"/>
              <a:ext cx="7155815" cy="0"/>
            </a:xfrm>
            <a:custGeom>
              <a:avLst/>
              <a:gdLst/>
              <a:ahLst/>
              <a:cxnLst/>
              <a:rect l="l" t="t" r="r" b="b"/>
              <a:pathLst>
                <a:path w="7155815">
                  <a:moveTo>
                    <a:pt x="0" y="0"/>
                  </a:moveTo>
                  <a:lnTo>
                    <a:pt x="7155659" y="0"/>
                  </a:lnTo>
                </a:path>
              </a:pathLst>
            </a:custGeom>
            <a:ln w="3175">
              <a:solidFill>
                <a:srgbClr val="0F13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36093" y="5679281"/>
              <a:ext cx="26789" cy="44648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040469" y="1303575"/>
            <a:ext cx="6252845" cy="35598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90525" indent="-352425">
              <a:lnSpc>
                <a:spcPct val="100000"/>
              </a:lnSpc>
              <a:spcBef>
                <a:spcPts val="434"/>
              </a:spcBef>
              <a:buChar char="•"/>
              <a:tabLst>
                <a:tab pos="390525" algn="l"/>
              </a:tabLst>
            </a:pPr>
            <a:r>
              <a:rPr sz="2800" dirty="0">
                <a:latin typeface="Times New Roman"/>
                <a:cs typeface="Times New Roman"/>
              </a:rPr>
              <a:t>1995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430" dirty="0">
                <a:latin typeface="Times New Roman"/>
                <a:cs typeface="Times New Roman"/>
              </a:rPr>
              <a:t>—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1999: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Internet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explosion</a:t>
            </a:r>
            <a:endParaRPr sz="2800">
              <a:latin typeface="Times New Roman"/>
              <a:cs typeface="Times New Roman"/>
            </a:endParaRPr>
          </a:p>
          <a:p>
            <a:pPr marL="778510" marR="222885" indent="1905">
              <a:lnSpc>
                <a:spcPct val="98100"/>
              </a:lnSpc>
              <a:spcBef>
                <a:spcPts val="315"/>
              </a:spcBef>
            </a:pPr>
            <a:r>
              <a:rPr sz="3675" baseline="1133" dirty="0">
                <a:solidFill>
                  <a:srgbClr val="0C073D"/>
                </a:solidFill>
                <a:latin typeface="Times New Roman"/>
                <a:cs typeface="Times New Roman"/>
              </a:rPr>
              <a:t>The</a:t>
            </a:r>
            <a:r>
              <a:rPr sz="3675" spc="-232" baseline="1133" dirty="0">
                <a:solidFill>
                  <a:srgbClr val="0C073D"/>
                </a:solidFill>
                <a:latin typeface="Times New Roman"/>
                <a:cs typeface="Times New Roman"/>
              </a:rPr>
              <a:t> </a:t>
            </a:r>
            <a:r>
              <a:rPr sz="3675" spc="-30" baseline="1133" dirty="0">
                <a:solidFill>
                  <a:srgbClr val="0C0749"/>
                </a:solidFill>
                <a:latin typeface="Times New Roman"/>
                <a:cs typeface="Times New Roman"/>
              </a:rPr>
              <a:t>original</a:t>
            </a:r>
            <a:r>
              <a:rPr sz="3675" spc="44" baseline="1133" dirty="0">
                <a:solidFill>
                  <a:srgbClr val="0C0749"/>
                </a:solidFill>
                <a:latin typeface="Times New Roman"/>
                <a:cs typeface="Times New Roman"/>
              </a:rPr>
              <a:t> </a:t>
            </a:r>
            <a:r>
              <a:rPr sz="3675" spc="-225" baseline="23809" dirty="0">
                <a:solidFill>
                  <a:srgbClr val="0A084D"/>
                </a:solidFill>
                <a:latin typeface="Times New Roman"/>
                <a:cs typeface="Times New Roman"/>
              </a:rPr>
              <a:t>re</a:t>
            </a:r>
            <a:r>
              <a:rPr sz="2450" spc="-150" dirty="0">
                <a:solidFill>
                  <a:srgbClr val="0A084D"/>
                </a:solidFill>
                <a:latin typeface="Times New Roman"/>
                <a:cs typeface="Times New Roman"/>
              </a:rPr>
              <a:t>state</a:t>
            </a:r>
            <a:r>
              <a:rPr sz="2450" spc="-130" dirty="0">
                <a:solidFill>
                  <a:srgbClr val="0A084D"/>
                </a:solidFill>
                <a:latin typeface="Times New Roman"/>
                <a:cs typeface="Times New Roman"/>
              </a:rPr>
              <a:t> </a:t>
            </a:r>
            <a:r>
              <a:rPr sz="3675" baseline="1133" dirty="0">
                <a:solidFill>
                  <a:srgbClr val="0F084B"/>
                </a:solidFill>
                <a:latin typeface="Times New Roman"/>
                <a:cs typeface="Times New Roman"/>
              </a:rPr>
              <a:t>of</a:t>
            </a:r>
            <a:r>
              <a:rPr sz="3675" spc="-157" baseline="1133" dirty="0">
                <a:solidFill>
                  <a:srgbClr val="0F084B"/>
                </a:solidFill>
                <a:latin typeface="Times New Roman"/>
                <a:cs typeface="Times New Roman"/>
              </a:rPr>
              <a:t> </a:t>
            </a:r>
            <a:r>
              <a:rPr sz="3675" spc="-30" baseline="1133" dirty="0">
                <a:solidFill>
                  <a:srgbClr val="0A0552"/>
                </a:solidFill>
                <a:latin typeface="Times New Roman"/>
                <a:cs typeface="Times New Roman"/>
              </a:rPr>
              <a:t>grace”</a:t>
            </a:r>
            <a:r>
              <a:rPr sz="3675" spc="7" baseline="1133" dirty="0">
                <a:solidFill>
                  <a:srgbClr val="0A0552"/>
                </a:solidFill>
                <a:latin typeface="Times New Roman"/>
                <a:cs typeface="Times New Roman"/>
              </a:rPr>
              <a:t> </a:t>
            </a:r>
            <a:r>
              <a:rPr sz="3675" baseline="1133" dirty="0">
                <a:solidFill>
                  <a:srgbClr val="0A0346"/>
                </a:solidFill>
                <a:latin typeface="Times New Roman"/>
                <a:cs typeface="Times New Roman"/>
              </a:rPr>
              <a:t>was</a:t>
            </a:r>
            <a:r>
              <a:rPr sz="3675" spc="-104" baseline="1133" dirty="0">
                <a:solidFill>
                  <a:srgbClr val="0A0346"/>
                </a:solidFill>
                <a:latin typeface="Times New Roman"/>
                <a:cs typeface="Times New Roman"/>
              </a:rPr>
              <a:t> </a:t>
            </a:r>
            <a:r>
              <a:rPr sz="3675" spc="-30" baseline="1133" dirty="0">
                <a:solidFill>
                  <a:srgbClr val="080A36"/>
                </a:solidFill>
                <a:latin typeface="Times New Roman"/>
                <a:cs typeface="Times New Roman"/>
              </a:rPr>
              <a:t>lost </a:t>
            </a:r>
            <a:r>
              <a:rPr sz="2450" spc="-25" dirty="0">
                <a:solidFill>
                  <a:srgbClr val="0A0366"/>
                </a:solidFill>
                <a:latin typeface="Times New Roman"/>
                <a:cs typeface="Times New Roman"/>
              </a:rPr>
              <a:t>Current</a:t>
            </a:r>
            <a:r>
              <a:rPr sz="2450" spc="25" dirty="0">
                <a:solidFill>
                  <a:srgbClr val="0A0366"/>
                </a:solidFill>
                <a:latin typeface="Times New Roman"/>
                <a:cs typeface="Times New Roman"/>
              </a:rPr>
              <a:t> </a:t>
            </a:r>
            <a:r>
              <a:rPr sz="2450" spc="-30" dirty="0">
                <a:solidFill>
                  <a:srgbClr val="000052"/>
                </a:solidFill>
                <a:latin typeface="Times New Roman"/>
                <a:cs typeface="Times New Roman"/>
              </a:rPr>
              <a:t>Internet</a:t>
            </a:r>
            <a:r>
              <a:rPr sz="2450" spc="-50" dirty="0">
                <a:solidFill>
                  <a:srgbClr val="000052"/>
                </a:solidFill>
                <a:latin typeface="Times New Roman"/>
                <a:cs typeface="Times New Roman"/>
              </a:rPr>
              <a:t> </a:t>
            </a:r>
            <a:r>
              <a:rPr sz="2450" dirty="0">
                <a:solidFill>
                  <a:srgbClr val="0F084F"/>
                </a:solidFill>
                <a:latin typeface="Times New Roman"/>
                <a:cs typeface="Times New Roman"/>
              </a:rPr>
              <a:t>is</a:t>
            </a:r>
            <a:r>
              <a:rPr sz="2450" spc="-130" dirty="0">
                <a:solidFill>
                  <a:srgbClr val="0F084F"/>
                </a:solidFill>
                <a:latin typeface="Times New Roman"/>
                <a:cs typeface="Times New Roman"/>
              </a:rPr>
              <a:t> </a:t>
            </a:r>
            <a:r>
              <a:rPr sz="2450" spc="-35" dirty="0">
                <a:solidFill>
                  <a:srgbClr val="130C54"/>
                </a:solidFill>
                <a:latin typeface="Times New Roman"/>
                <a:cs typeface="Times New Roman"/>
              </a:rPr>
              <a:t>organized</a:t>
            </a:r>
            <a:r>
              <a:rPr sz="2450" spc="95" dirty="0">
                <a:solidFill>
                  <a:srgbClr val="130C54"/>
                </a:solidFill>
                <a:latin typeface="Times New Roman"/>
                <a:cs typeface="Times New Roman"/>
              </a:rPr>
              <a:t> </a:t>
            </a:r>
            <a:r>
              <a:rPr sz="2450" spc="-20" dirty="0">
                <a:solidFill>
                  <a:srgbClr val="0E0E3F"/>
                </a:solidFill>
                <a:latin typeface="Times New Roman"/>
                <a:cs typeface="Times New Roman"/>
              </a:rPr>
              <a:t>hierarchically </a:t>
            </a:r>
            <a:r>
              <a:rPr sz="2450" spc="-10" dirty="0">
                <a:solidFill>
                  <a:srgbClr val="0C0854"/>
                </a:solidFill>
                <a:latin typeface="Times New Roman"/>
                <a:cs typeface="Times New Roman"/>
              </a:rPr>
              <a:t>(client/server)</a:t>
            </a:r>
            <a:endParaRPr sz="2450">
              <a:latin typeface="Times New Roman"/>
              <a:cs typeface="Times New Roman"/>
            </a:endParaRPr>
          </a:p>
          <a:p>
            <a:pPr marL="1186180" lvl="1" indent="-232410">
              <a:lnSpc>
                <a:spcPct val="100000"/>
              </a:lnSpc>
              <a:spcBef>
                <a:spcPts val="200"/>
              </a:spcBef>
              <a:buClr>
                <a:srgbClr val="72080E"/>
              </a:buClr>
              <a:buChar char="•"/>
              <a:tabLst>
                <a:tab pos="1186180" algn="l"/>
              </a:tabLst>
            </a:pPr>
            <a:r>
              <a:rPr sz="2050" spc="-35" dirty="0">
                <a:solidFill>
                  <a:srgbClr val="461615"/>
                </a:solidFill>
                <a:latin typeface="Times New Roman"/>
                <a:cs typeface="Times New Roman"/>
              </a:rPr>
              <a:t>Relatively </a:t>
            </a:r>
            <a:r>
              <a:rPr sz="2050" spc="-25" dirty="0">
                <a:solidFill>
                  <a:srgbClr val="3D1315"/>
                </a:solidFill>
                <a:latin typeface="Times New Roman"/>
                <a:cs typeface="Times New Roman"/>
              </a:rPr>
              <a:t>few</a:t>
            </a:r>
            <a:r>
              <a:rPr sz="2050" spc="10" dirty="0">
                <a:solidFill>
                  <a:srgbClr val="3D1315"/>
                </a:solidFill>
                <a:latin typeface="Times New Roman"/>
                <a:cs typeface="Times New Roman"/>
              </a:rPr>
              <a:t> </a:t>
            </a:r>
            <a:r>
              <a:rPr sz="2050" spc="-60" dirty="0">
                <a:solidFill>
                  <a:srgbClr val="232323"/>
                </a:solidFill>
                <a:latin typeface="Times New Roman"/>
                <a:cs typeface="Times New Roman"/>
              </a:rPr>
              <a:t>sei'vers</a:t>
            </a:r>
            <a:r>
              <a:rPr sz="2050" spc="-10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2050" spc="-70" dirty="0">
                <a:solidFill>
                  <a:srgbClr val="282828"/>
                </a:solidFill>
                <a:latin typeface="Times New Roman"/>
                <a:cs typeface="Times New Roman"/>
              </a:rPr>
              <a:t>pi'ovide</a:t>
            </a:r>
            <a:r>
              <a:rPr sz="2050" spc="-6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956B6B"/>
                </a:solidFill>
                <a:latin typeface="Times New Roman"/>
                <a:cs typeface="Times New Roman"/>
              </a:rPr>
              <a:t>services</a:t>
            </a:r>
            <a:endParaRPr sz="2050">
              <a:latin typeface="Times New Roman"/>
              <a:cs typeface="Times New Roman"/>
            </a:endParaRPr>
          </a:p>
          <a:p>
            <a:pPr marL="1181100" marR="30480" lvl="1" indent="-227329">
              <a:lnSpc>
                <a:spcPts val="2180"/>
              </a:lnSpc>
              <a:spcBef>
                <a:spcPts val="450"/>
              </a:spcBef>
              <a:buClr>
                <a:srgbClr val="6E0711"/>
              </a:buClr>
              <a:buChar char="•"/>
              <a:tabLst>
                <a:tab pos="1189990" algn="l"/>
              </a:tabLst>
            </a:pPr>
            <a:r>
              <a:rPr sz="2050" spc="-20" dirty="0">
                <a:solidFill>
                  <a:srgbClr val="56211D"/>
                </a:solidFill>
                <a:latin typeface="Times New Roman"/>
                <a:cs typeface="Times New Roman"/>
              </a:rPr>
              <a:t>Client</a:t>
            </a:r>
            <a:r>
              <a:rPr sz="2050" spc="20" dirty="0">
                <a:solidFill>
                  <a:srgbClr val="56211D"/>
                </a:solidFill>
                <a:latin typeface="Times New Roman"/>
                <a:cs typeface="Times New Roman"/>
              </a:rPr>
              <a:t> </a:t>
            </a:r>
            <a:r>
              <a:rPr sz="2050" spc="-45" dirty="0">
                <a:solidFill>
                  <a:srgbClr val="262626"/>
                </a:solidFill>
                <a:latin typeface="Times New Roman"/>
                <a:cs typeface="Times New Roman"/>
              </a:rPr>
              <a:t>machines</a:t>
            </a:r>
            <a:r>
              <a:rPr sz="2050" spc="-6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490C13"/>
                </a:solidFill>
                <a:latin typeface="Times New Roman"/>
                <a:cs typeface="Times New Roman"/>
              </a:rPr>
              <a:t>are</a:t>
            </a:r>
            <a:r>
              <a:rPr sz="2050" spc="-120" dirty="0">
                <a:solidFill>
                  <a:srgbClr val="490C13"/>
                </a:solidFill>
                <a:latin typeface="Times New Roman"/>
                <a:cs typeface="Times New Roman"/>
              </a:rPr>
              <a:t> </a:t>
            </a:r>
            <a:r>
              <a:rPr sz="2050" spc="-60" dirty="0">
                <a:solidFill>
                  <a:srgbClr val="1A1A1A"/>
                </a:solidFill>
                <a:latin typeface="Times New Roman"/>
                <a:cs typeface="Times New Roman"/>
              </a:rPr>
              <a:t>second-</a:t>
            </a:r>
            <a:r>
              <a:rPr sz="2050" dirty="0">
                <a:solidFill>
                  <a:srgbClr val="1A1A1A"/>
                </a:solidFill>
                <a:latin typeface="Times New Roman"/>
                <a:cs typeface="Times New Roman"/>
              </a:rPr>
              <a:t>class</a:t>
            </a:r>
            <a:r>
              <a:rPr sz="2050" spc="-2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050" spc="-30" dirty="0">
                <a:solidFill>
                  <a:srgbClr val="4F0E16"/>
                </a:solidFill>
                <a:latin typeface="Times New Roman"/>
                <a:cs typeface="Times New Roman"/>
              </a:rPr>
              <a:t>Internet</a:t>
            </a:r>
            <a:r>
              <a:rPr sz="2050" spc="-100" dirty="0">
                <a:solidFill>
                  <a:srgbClr val="4F0E16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1F1F1F"/>
                </a:solidFill>
                <a:latin typeface="Times New Roman"/>
                <a:cs typeface="Times New Roman"/>
              </a:rPr>
              <a:t>citizens 	</a:t>
            </a:r>
            <a:r>
              <a:rPr sz="2050" spc="-30" dirty="0">
                <a:solidFill>
                  <a:srgbClr val="1A1A1A"/>
                </a:solidFill>
                <a:latin typeface="Times New Roman"/>
                <a:cs typeface="Times New Roman"/>
              </a:rPr>
              <a:t>(cut</a:t>
            </a:r>
            <a:r>
              <a:rPr sz="2050" spc="-10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050" spc="-40" dirty="0">
                <a:solidFill>
                  <a:srgbClr val="460C13"/>
                </a:solidFill>
                <a:latin typeface="Times New Roman"/>
                <a:cs typeface="Times New Roman"/>
              </a:rPr>
              <a:t>off</a:t>
            </a:r>
            <a:r>
              <a:rPr sz="2050" spc="-90" dirty="0">
                <a:solidFill>
                  <a:srgbClr val="460C13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421518"/>
                </a:solidFill>
                <a:latin typeface="Times New Roman"/>
                <a:cs typeface="Times New Roman"/>
              </a:rPr>
              <a:t>from</a:t>
            </a:r>
            <a:r>
              <a:rPr sz="2050" spc="-75" dirty="0">
                <a:solidFill>
                  <a:srgbClr val="421518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3B0F0C"/>
                </a:solidFill>
                <a:latin typeface="Times New Roman"/>
                <a:cs typeface="Times New Roman"/>
              </a:rPr>
              <a:t>the</a:t>
            </a:r>
            <a:r>
              <a:rPr sz="2050" spc="-90" dirty="0">
                <a:solidFill>
                  <a:srgbClr val="3B0F0C"/>
                </a:solidFill>
                <a:latin typeface="Times New Roman"/>
                <a:cs typeface="Times New Roman"/>
              </a:rPr>
              <a:t> </a:t>
            </a:r>
            <a:r>
              <a:rPr sz="2050" spc="-40" dirty="0">
                <a:solidFill>
                  <a:srgbClr val="460F0C"/>
                </a:solidFill>
                <a:latin typeface="Times New Roman"/>
                <a:cs typeface="Times New Roman"/>
              </a:rPr>
              <a:t>DNS</a:t>
            </a:r>
            <a:r>
              <a:rPr sz="2050" spc="-85" dirty="0">
                <a:solidFill>
                  <a:srgbClr val="460F0C"/>
                </a:solidFill>
                <a:latin typeface="Times New Roman"/>
                <a:cs typeface="Times New Roman"/>
              </a:rPr>
              <a:t> </a:t>
            </a:r>
            <a:r>
              <a:rPr sz="2050" spc="-25" dirty="0">
                <a:solidFill>
                  <a:srgbClr val="242424"/>
                </a:solidFill>
                <a:latin typeface="Times New Roman"/>
                <a:cs typeface="Times New Roman"/>
              </a:rPr>
              <a:t>system, </a:t>
            </a:r>
            <a:r>
              <a:rPr sz="2050" spc="-45" dirty="0">
                <a:solidFill>
                  <a:srgbClr val="212121"/>
                </a:solidFill>
                <a:latin typeface="Times New Roman"/>
                <a:cs typeface="Times New Roman"/>
              </a:rPr>
              <a:t>dynamic</a:t>
            </a:r>
            <a:r>
              <a:rPr sz="2050" spc="3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242424"/>
                </a:solidFill>
                <a:latin typeface="Times New Roman"/>
                <a:cs typeface="Times New Roman"/>
              </a:rPr>
              <a:t>addi'ess)</a:t>
            </a:r>
            <a:endParaRPr sz="2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50"/>
              </a:spcBef>
            </a:pPr>
            <a:endParaRPr sz="2050">
              <a:latin typeface="Times New Roman"/>
              <a:cs typeface="Times New Roman"/>
            </a:endParaRPr>
          </a:p>
          <a:p>
            <a:pPr marL="185420">
              <a:lnSpc>
                <a:spcPct val="100000"/>
              </a:lnSpc>
            </a:pPr>
            <a:r>
              <a:rPr sz="2650" spc="-25" dirty="0">
                <a:solidFill>
                  <a:srgbClr val="24349A"/>
                </a:solidFill>
                <a:latin typeface="Cambria"/>
                <a:cs typeface="Cambria"/>
              </a:rPr>
              <a:t>'50</a:t>
            </a:r>
            <a:endParaRPr sz="26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2212" y="5587950"/>
            <a:ext cx="1313815" cy="767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27329" algn="r">
              <a:lnSpc>
                <a:spcPts val="1945"/>
              </a:lnSpc>
              <a:spcBef>
                <a:spcPts val="105"/>
              </a:spcBef>
            </a:pPr>
            <a:r>
              <a:rPr sz="1700" spc="-375" dirty="0">
                <a:latin typeface="Times New Roman"/>
                <a:cs typeface="Times New Roman"/>
              </a:rPr>
              <a:t>I</a:t>
            </a:r>
            <a:endParaRPr sz="1700">
              <a:latin typeface="Times New Roman"/>
              <a:cs typeface="Times New Roman"/>
            </a:endParaRPr>
          </a:p>
          <a:p>
            <a:pPr marR="13970" algn="r">
              <a:lnSpc>
                <a:spcPts val="1955"/>
              </a:lnSpc>
              <a:tabLst>
                <a:tab pos="724535" algn="l"/>
              </a:tabLst>
            </a:pPr>
            <a:r>
              <a:rPr sz="1750" spc="-20" dirty="0">
                <a:solidFill>
                  <a:srgbClr val="3F3677"/>
                </a:solidFill>
                <a:latin typeface="Times New Roman"/>
                <a:cs typeface="Times New Roman"/>
              </a:rPr>
              <a:t>1957</a:t>
            </a:r>
            <a:r>
              <a:rPr sz="1750" dirty="0">
                <a:solidFill>
                  <a:srgbClr val="3F3677"/>
                </a:solidFill>
                <a:latin typeface="Times New Roman"/>
                <a:cs typeface="Times New Roman"/>
              </a:rPr>
              <a:t>	</a:t>
            </a:r>
            <a:r>
              <a:rPr sz="1750" spc="-20" dirty="0">
                <a:solidFill>
                  <a:srgbClr val="443A7E"/>
                </a:solidFill>
                <a:latin typeface="Times New Roman"/>
                <a:cs typeface="Times New Roman"/>
              </a:rPr>
              <a:t>T962</a:t>
            </a:r>
            <a:endParaRPr sz="1750">
              <a:latin typeface="Times New Roman"/>
              <a:cs typeface="Times New Roman"/>
            </a:endParaRPr>
          </a:p>
          <a:p>
            <a:pPr marR="5080" algn="r">
              <a:lnSpc>
                <a:spcPts val="1930"/>
              </a:lnSpc>
              <a:tabLst>
                <a:tab pos="850265" algn="l"/>
              </a:tabLst>
            </a:pPr>
            <a:r>
              <a:rPr sz="1650" spc="45" dirty="0">
                <a:latin typeface="Times New Roman"/>
                <a:cs typeface="Times New Roman"/>
              </a:rPr>
              <a:t>Sputnik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20" dirty="0">
                <a:latin typeface="Times New Roman"/>
                <a:cs typeface="Times New Roman"/>
              </a:rPr>
              <a:t>Arpa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99651" y="5658643"/>
            <a:ext cx="1895475" cy="1161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06425">
              <a:lnSpc>
                <a:spcPts val="2135"/>
              </a:lnSpc>
              <a:spcBef>
                <a:spcPts val="105"/>
              </a:spcBef>
            </a:pPr>
            <a:r>
              <a:rPr sz="1850" spc="-295" dirty="0">
                <a:solidFill>
                  <a:srgbClr val="423689"/>
                </a:solidFill>
                <a:latin typeface="Courier New"/>
                <a:cs typeface="Courier New"/>
              </a:rPr>
              <a:t>1971</a:t>
            </a:r>
            <a:endParaRPr sz="1850">
              <a:latin typeface="Courier New"/>
              <a:cs typeface="Courier New"/>
            </a:endParaRPr>
          </a:p>
          <a:p>
            <a:pPr marL="610235">
              <a:lnSpc>
                <a:spcPts val="1955"/>
              </a:lnSpc>
            </a:pPr>
            <a:r>
              <a:rPr sz="1700" spc="-225" dirty="0">
                <a:latin typeface="Courier New"/>
                <a:cs typeface="Courier New"/>
              </a:rPr>
              <a:t>emOi|</a:t>
            </a:r>
            <a:r>
              <a:rPr sz="1700" spc="-775" dirty="0">
                <a:latin typeface="Courier New"/>
                <a:cs typeface="Courier New"/>
              </a:rPr>
              <a:t> </a:t>
            </a:r>
            <a:r>
              <a:rPr sz="1700" spc="-200" dirty="0">
                <a:latin typeface="Courier New"/>
                <a:cs typeface="Courier New"/>
              </a:rPr>
              <a:t>oppeQrs</a:t>
            </a:r>
            <a:endParaRPr sz="1700">
              <a:latin typeface="Courier New"/>
              <a:cs typeface="Courier New"/>
            </a:endParaRPr>
          </a:p>
          <a:p>
            <a:pPr marR="1120140" algn="ctr">
              <a:lnSpc>
                <a:spcPts val="2060"/>
              </a:lnSpc>
              <a:spcBef>
                <a:spcPts val="725"/>
              </a:spcBef>
            </a:pPr>
            <a:r>
              <a:rPr sz="1850" spc="-20" dirty="0">
                <a:solidFill>
                  <a:srgbClr val="424169"/>
                </a:solidFill>
                <a:latin typeface="Times New Roman"/>
                <a:cs typeface="Times New Roman"/>
              </a:rPr>
              <a:t>1969</a:t>
            </a:r>
            <a:endParaRPr sz="1850">
              <a:latin typeface="Times New Roman"/>
              <a:cs typeface="Times New Roman"/>
            </a:endParaRPr>
          </a:p>
          <a:p>
            <a:pPr marR="1119505" algn="ctr">
              <a:lnSpc>
                <a:spcPts val="2060"/>
              </a:lnSpc>
            </a:pPr>
            <a:r>
              <a:rPr sz="1850" spc="-20" dirty="0">
                <a:latin typeface="Calibri"/>
                <a:cs typeface="Calibri"/>
              </a:rPr>
              <a:t>Arpanet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92745" y="5652442"/>
            <a:ext cx="518795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850" spc="-30" baseline="14619" dirty="0">
                <a:solidFill>
                  <a:srgbClr val="463B85"/>
                </a:solidFill>
                <a:latin typeface="Calibri"/>
                <a:cs typeface="Calibri"/>
              </a:rPr>
              <a:t>j</a:t>
            </a:r>
            <a:r>
              <a:rPr sz="1900" spc="-20" dirty="0">
                <a:solidFill>
                  <a:srgbClr val="463B85"/>
                </a:solidFill>
                <a:latin typeface="Calibri"/>
                <a:cs typeface="Calibri"/>
              </a:rPr>
              <a:t>992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73316" y="5350569"/>
            <a:ext cx="1667510" cy="554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050"/>
              </a:lnSpc>
              <a:spcBef>
                <a:spcPts val="105"/>
              </a:spcBef>
            </a:pPr>
            <a:r>
              <a:rPr sz="1850" spc="-20" dirty="0">
                <a:solidFill>
                  <a:srgbClr val="3A347E"/>
                </a:solidFill>
                <a:latin typeface="Times New Roman"/>
                <a:cs typeface="Times New Roman"/>
              </a:rPr>
              <a:t>1994</a:t>
            </a:r>
            <a:endParaRPr sz="1850">
              <a:latin typeface="Times New Roman"/>
              <a:cs typeface="Times New Roman"/>
            </a:endParaRPr>
          </a:p>
          <a:p>
            <a:pPr marL="19050">
              <a:lnSpc>
                <a:spcPts val="2110"/>
              </a:lnSpc>
            </a:pPr>
            <a:r>
              <a:rPr sz="1900" spc="-35" dirty="0">
                <a:latin typeface="Calibri"/>
                <a:cs typeface="Calibri"/>
              </a:rPr>
              <a:t>10k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35" dirty="0">
                <a:latin typeface="Calibri"/>
                <a:cs typeface="Calibri"/>
              </a:rPr>
              <a:t>Web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Servers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01751" y="5905946"/>
            <a:ext cx="157670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libri"/>
                <a:cs typeface="Calibri"/>
              </a:rPr>
              <a:t>50</a:t>
            </a:r>
            <a:r>
              <a:rPr sz="1800" spc="11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Web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Servers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43211" y="6276528"/>
            <a:ext cx="1543685" cy="549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995"/>
              </a:lnSpc>
              <a:spcBef>
                <a:spcPts val="105"/>
              </a:spcBef>
            </a:pPr>
            <a:r>
              <a:rPr sz="1800" spc="-20" dirty="0">
                <a:solidFill>
                  <a:srgbClr val="48448C"/>
                </a:solidFill>
                <a:latin typeface="Times New Roman"/>
                <a:cs typeface="Times New Roman"/>
              </a:rPr>
              <a:t>1990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2115"/>
              </a:lnSpc>
            </a:pPr>
            <a:r>
              <a:rPr sz="1900" spc="-50" dirty="0">
                <a:latin typeface="Calibri"/>
                <a:cs typeface="Calibri"/>
              </a:rPr>
              <a:t>WWW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75" dirty="0">
                <a:latin typeface="Calibri"/>
                <a:cs typeface="Calibri"/>
              </a:rPr>
              <a:t>proposed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6101" y="1205508"/>
            <a:ext cx="160734" cy="3571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495880" y="814039"/>
            <a:ext cx="5109845" cy="673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85870" algn="l"/>
              </a:tabLst>
            </a:pPr>
            <a:r>
              <a:rPr sz="4250" spc="180" dirty="0">
                <a:solidFill>
                  <a:srgbClr val="ED3B0C"/>
                </a:solidFill>
                <a:latin typeface="Calibri"/>
                <a:cs typeface="Calibri"/>
              </a:rPr>
              <a:t>History:</a:t>
            </a:r>
            <a:r>
              <a:rPr sz="4250" spc="540" dirty="0">
                <a:solidFill>
                  <a:srgbClr val="ED3B0C"/>
                </a:solidFill>
                <a:latin typeface="Calibri"/>
                <a:cs typeface="Calibri"/>
              </a:rPr>
              <a:t> </a:t>
            </a:r>
            <a:r>
              <a:rPr sz="4250" spc="80" dirty="0">
                <a:solidFill>
                  <a:srgbClr val="FF3D0A"/>
                </a:solidFill>
                <a:latin typeface="Calibri"/>
                <a:cs typeface="Calibri"/>
              </a:rPr>
              <a:t>1999</a:t>
            </a:r>
            <a:r>
              <a:rPr sz="4250" dirty="0">
                <a:solidFill>
                  <a:srgbClr val="FF3D0A"/>
                </a:solidFill>
                <a:latin typeface="Calibri"/>
                <a:cs typeface="Calibri"/>
              </a:rPr>
              <a:t>	</a:t>
            </a:r>
            <a:r>
              <a:rPr sz="4250" spc="-35" dirty="0">
                <a:solidFill>
                  <a:srgbClr val="F63B05"/>
                </a:solidFill>
                <a:latin typeface="Calibri"/>
                <a:cs typeface="Calibri"/>
              </a:rPr>
              <a:t>†oday</a:t>
            </a:r>
            <a:endParaRPr sz="42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551" y="1582241"/>
            <a:ext cx="1071880" cy="4425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57505" indent="-344805">
              <a:lnSpc>
                <a:spcPct val="100000"/>
              </a:lnSpc>
              <a:spcBef>
                <a:spcPts val="135"/>
              </a:spcBef>
              <a:buChar char="•"/>
              <a:tabLst>
                <a:tab pos="357505" algn="l"/>
              </a:tabLst>
            </a:pPr>
            <a:r>
              <a:rPr sz="2700" spc="-20" dirty="0">
                <a:latin typeface="Times New Roman"/>
                <a:cs typeface="Times New Roman"/>
              </a:rPr>
              <a:t>1999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84140" y="1582241"/>
            <a:ext cx="4022725" cy="4425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00" dirty="0">
                <a:latin typeface="Times New Roman"/>
                <a:cs typeface="Times New Roman"/>
              </a:rPr>
              <a:t>today:</a:t>
            </a:r>
            <a:r>
              <a:rPr sz="2700" spc="18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8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advent</a:t>
            </a:r>
            <a:r>
              <a:rPr sz="2700" spc="1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34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Napster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6892" y="2092721"/>
            <a:ext cx="7435850" cy="35845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53110" marR="257810" indent="3175">
              <a:lnSpc>
                <a:spcPct val="99300"/>
              </a:lnSpc>
              <a:spcBef>
                <a:spcPts val="110"/>
              </a:spcBef>
            </a:pPr>
            <a:r>
              <a:rPr sz="2450" dirty="0">
                <a:solidFill>
                  <a:srgbClr val="030560"/>
                </a:solidFill>
                <a:latin typeface="Times New Roman"/>
                <a:cs typeface="Times New Roman"/>
              </a:rPr>
              <a:t>Jan</a:t>
            </a:r>
            <a:r>
              <a:rPr sz="2450" spc="45" dirty="0">
                <a:solidFill>
                  <a:srgbClr val="030560"/>
                </a:solidFill>
                <a:latin typeface="Times New Roman"/>
                <a:cs typeface="Times New Roman"/>
              </a:rPr>
              <a:t> </a:t>
            </a:r>
            <a:r>
              <a:rPr sz="2450" spc="-40" dirty="0">
                <a:solidFill>
                  <a:srgbClr val="161616"/>
                </a:solidFill>
                <a:latin typeface="Times New Roman"/>
                <a:cs typeface="Times New Roman"/>
              </a:rPr>
              <a:t>1999:</a:t>
            </a:r>
            <a:r>
              <a:rPr sz="2450" spc="-7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2450" dirty="0">
                <a:solidFill>
                  <a:srgbClr val="0A0A44"/>
                </a:solidFill>
                <a:latin typeface="Times New Roman"/>
                <a:cs typeface="Times New Roman"/>
              </a:rPr>
              <a:t>the</a:t>
            </a:r>
            <a:r>
              <a:rPr sz="2450" spc="-105" dirty="0">
                <a:solidFill>
                  <a:srgbClr val="0A0A44"/>
                </a:solidFill>
                <a:latin typeface="Times New Roman"/>
                <a:cs typeface="Times New Roman"/>
              </a:rPr>
              <a:t> </a:t>
            </a:r>
            <a:r>
              <a:rPr sz="2450" dirty="0">
                <a:solidFill>
                  <a:srgbClr val="0E084F"/>
                </a:solidFill>
                <a:latin typeface="Times New Roman"/>
                <a:cs typeface="Times New Roman"/>
              </a:rPr>
              <a:t>first</a:t>
            </a:r>
            <a:r>
              <a:rPr sz="2450" spc="-105" dirty="0">
                <a:solidFill>
                  <a:srgbClr val="0E084F"/>
                </a:solidFill>
                <a:latin typeface="Times New Roman"/>
                <a:cs typeface="Times New Roman"/>
              </a:rPr>
              <a:t> </a:t>
            </a:r>
            <a:r>
              <a:rPr sz="2450" spc="-35" dirty="0">
                <a:solidFill>
                  <a:srgbClr val="0C0552"/>
                </a:solidFill>
                <a:latin typeface="Times New Roman"/>
                <a:cs typeface="Times New Roman"/>
              </a:rPr>
              <a:t>version</a:t>
            </a:r>
            <a:r>
              <a:rPr sz="2450" spc="15" dirty="0">
                <a:solidFill>
                  <a:srgbClr val="0C0552"/>
                </a:solidFill>
                <a:latin typeface="Times New Roman"/>
                <a:cs typeface="Times New Roman"/>
              </a:rPr>
              <a:t> </a:t>
            </a:r>
            <a:r>
              <a:rPr sz="2450" dirty="0">
                <a:solidFill>
                  <a:srgbClr val="0F0A5E"/>
                </a:solidFill>
                <a:latin typeface="Times New Roman"/>
                <a:cs typeface="Times New Roman"/>
              </a:rPr>
              <a:t>of</a:t>
            </a:r>
            <a:r>
              <a:rPr sz="2450" spc="55" dirty="0">
                <a:solidFill>
                  <a:srgbClr val="0F0A5E"/>
                </a:solidFill>
                <a:latin typeface="Times New Roman"/>
                <a:cs typeface="Times New Roman"/>
              </a:rPr>
              <a:t> </a:t>
            </a:r>
            <a:r>
              <a:rPr sz="2450" i="1" spc="-20" dirty="0">
                <a:solidFill>
                  <a:srgbClr val="993F26"/>
                </a:solidFill>
                <a:latin typeface="Times New Roman"/>
                <a:cs typeface="Times New Roman"/>
              </a:rPr>
              <a:t>Na,r.s/«i</a:t>
            </a:r>
            <a:r>
              <a:rPr sz="2450" i="1" spc="300" dirty="0">
                <a:solidFill>
                  <a:srgbClr val="993F26"/>
                </a:solidFill>
                <a:latin typeface="Times New Roman"/>
                <a:cs typeface="Times New Roman"/>
              </a:rPr>
              <a:t> </a:t>
            </a:r>
            <a:r>
              <a:rPr sz="2450" dirty="0">
                <a:solidFill>
                  <a:srgbClr val="080342"/>
                </a:solidFill>
                <a:latin typeface="Times New Roman"/>
                <a:cs typeface="Times New Roman"/>
              </a:rPr>
              <a:t>is</a:t>
            </a:r>
            <a:r>
              <a:rPr sz="2450" spc="-95" dirty="0">
                <a:solidFill>
                  <a:srgbClr val="080342"/>
                </a:solidFill>
                <a:latin typeface="Times New Roman"/>
                <a:cs typeface="Times New Roman"/>
              </a:rPr>
              <a:t> </a:t>
            </a:r>
            <a:r>
              <a:rPr sz="2450" spc="-30" dirty="0">
                <a:solidFill>
                  <a:srgbClr val="0C0A56"/>
                </a:solidFill>
                <a:latin typeface="Times New Roman"/>
                <a:cs typeface="Times New Roman"/>
              </a:rPr>
              <a:t>released</a:t>
            </a:r>
            <a:r>
              <a:rPr sz="2450" spc="25" dirty="0">
                <a:solidFill>
                  <a:srgbClr val="0C0A56"/>
                </a:solidFill>
                <a:latin typeface="Times New Roman"/>
                <a:cs typeface="Times New Roman"/>
              </a:rPr>
              <a:t> </a:t>
            </a:r>
            <a:r>
              <a:rPr sz="2450" spc="-25" dirty="0">
                <a:solidFill>
                  <a:srgbClr val="0F0F48"/>
                </a:solidFill>
                <a:latin typeface="Times New Roman"/>
                <a:cs typeface="Times New Roman"/>
              </a:rPr>
              <a:t>by </a:t>
            </a:r>
            <a:r>
              <a:rPr sz="2450" spc="-20" dirty="0">
                <a:solidFill>
                  <a:srgbClr val="0F0C4D"/>
                </a:solidFill>
                <a:latin typeface="Times New Roman"/>
                <a:cs typeface="Times New Roman"/>
              </a:rPr>
              <a:t>Shawn</a:t>
            </a:r>
            <a:r>
              <a:rPr sz="2450" spc="-60" dirty="0">
                <a:solidFill>
                  <a:srgbClr val="0F0C4D"/>
                </a:solidFill>
                <a:latin typeface="Times New Roman"/>
                <a:cs typeface="Times New Roman"/>
              </a:rPr>
              <a:t> </a:t>
            </a:r>
            <a:r>
              <a:rPr sz="2450" spc="-25" dirty="0">
                <a:solidFill>
                  <a:srgbClr val="080544"/>
                </a:solidFill>
                <a:latin typeface="Times New Roman"/>
                <a:cs typeface="Times New Roman"/>
              </a:rPr>
              <a:t>Fanning,</a:t>
            </a:r>
            <a:r>
              <a:rPr sz="2450" spc="30" dirty="0">
                <a:solidFill>
                  <a:srgbClr val="080544"/>
                </a:solidFill>
                <a:latin typeface="Times New Roman"/>
                <a:cs typeface="Times New Roman"/>
              </a:rPr>
              <a:t> </a:t>
            </a:r>
            <a:r>
              <a:rPr sz="2450" spc="-30" dirty="0">
                <a:solidFill>
                  <a:srgbClr val="080548"/>
                </a:solidFill>
                <a:latin typeface="Times New Roman"/>
                <a:cs typeface="Times New Roman"/>
              </a:rPr>
              <a:t>student</a:t>
            </a:r>
            <a:r>
              <a:rPr sz="2450" spc="-25" dirty="0">
                <a:solidFill>
                  <a:srgbClr val="080548"/>
                </a:solidFill>
                <a:latin typeface="Times New Roman"/>
                <a:cs typeface="Times New Roman"/>
              </a:rPr>
              <a:t> </a:t>
            </a:r>
            <a:r>
              <a:rPr sz="2450" dirty="0">
                <a:solidFill>
                  <a:srgbClr val="160F54"/>
                </a:solidFill>
                <a:latin typeface="Times New Roman"/>
                <a:cs typeface="Times New Roman"/>
              </a:rPr>
              <a:t>at</a:t>
            </a:r>
            <a:r>
              <a:rPr sz="2450" spc="-30" dirty="0">
                <a:solidFill>
                  <a:srgbClr val="160F54"/>
                </a:solidFill>
                <a:latin typeface="Times New Roman"/>
                <a:cs typeface="Times New Roman"/>
              </a:rPr>
              <a:t> </a:t>
            </a:r>
            <a:r>
              <a:rPr sz="2450" spc="-45" dirty="0">
                <a:solidFill>
                  <a:srgbClr val="0A0869"/>
                </a:solidFill>
                <a:latin typeface="Times New Roman"/>
                <a:cs typeface="Times New Roman"/>
              </a:rPr>
              <a:t>Northeastern</a:t>
            </a:r>
            <a:r>
              <a:rPr sz="2450" spc="65" dirty="0">
                <a:solidFill>
                  <a:srgbClr val="0A0869"/>
                </a:solidFill>
                <a:latin typeface="Times New Roman"/>
                <a:cs typeface="Times New Roman"/>
              </a:rPr>
              <a:t> </a:t>
            </a:r>
            <a:r>
              <a:rPr sz="2450" spc="-10" dirty="0">
                <a:solidFill>
                  <a:srgbClr val="110F50"/>
                </a:solidFill>
                <a:latin typeface="Times New Roman"/>
                <a:cs typeface="Times New Roman"/>
              </a:rPr>
              <a:t>University </a:t>
            </a:r>
            <a:r>
              <a:rPr sz="2450" dirty="0">
                <a:solidFill>
                  <a:srgbClr val="0A0856"/>
                </a:solidFill>
                <a:latin typeface="Times New Roman"/>
                <a:cs typeface="Times New Roman"/>
              </a:rPr>
              <a:t>Jul</a:t>
            </a:r>
            <a:r>
              <a:rPr sz="2450" spc="-105" dirty="0">
                <a:solidFill>
                  <a:srgbClr val="0A0856"/>
                </a:solidFill>
                <a:latin typeface="Times New Roman"/>
                <a:cs typeface="Times New Roman"/>
              </a:rPr>
              <a:t> </a:t>
            </a:r>
            <a:r>
              <a:rPr sz="2450" spc="-10" dirty="0">
                <a:solidFill>
                  <a:srgbClr val="0A0541"/>
                </a:solidFill>
                <a:latin typeface="Times New Roman"/>
                <a:cs typeface="Times New Roman"/>
              </a:rPr>
              <a:t>1999:</a:t>
            </a:r>
            <a:r>
              <a:rPr sz="2450" spc="10" dirty="0">
                <a:solidFill>
                  <a:srgbClr val="0A0541"/>
                </a:solidFill>
                <a:latin typeface="Times New Roman"/>
                <a:cs typeface="Times New Roman"/>
              </a:rPr>
              <a:t> </a:t>
            </a:r>
            <a:r>
              <a:rPr sz="2450" spc="-50" dirty="0">
                <a:solidFill>
                  <a:srgbClr val="030167"/>
                </a:solidFill>
                <a:latin typeface="Times New Roman"/>
                <a:cs typeface="Times New Roman"/>
              </a:rPr>
              <a:t>Napster,</a:t>
            </a:r>
            <a:r>
              <a:rPr sz="2450" spc="-85" dirty="0">
                <a:solidFill>
                  <a:srgbClr val="030167"/>
                </a:solidFill>
                <a:latin typeface="Times New Roman"/>
                <a:cs typeface="Times New Roman"/>
              </a:rPr>
              <a:t> </a:t>
            </a:r>
            <a:r>
              <a:rPr sz="2450" dirty="0">
                <a:solidFill>
                  <a:srgbClr val="0C075E"/>
                </a:solidFill>
                <a:latin typeface="Times New Roman"/>
                <a:cs typeface="Times New Roman"/>
              </a:rPr>
              <a:t>Inc.</a:t>
            </a:r>
            <a:r>
              <a:rPr sz="2450" spc="-155" dirty="0">
                <a:solidFill>
                  <a:srgbClr val="0C075E"/>
                </a:solidFill>
                <a:latin typeface="Times New Roman"/>
                <a:cs typeface="Times New Roman"/>
              </a:rPr>
              <a:t> </a:t>
            </a:r>
            <a:r>
              <a:rPr sz="2450" spc="-10" dirty="0">
                <a:solidFill>
                  <a:srgbClr val="1C115B"/>
                </a:solidFill>
                <a:latin typeface="Times New Roman"/>
                <a:cs typeface="Times New Roman"/>
              </a:rPr>
              <a:t>founded</a:t>
            </a:r>
            <a:endParaRPr sz="2450">
              <a:latin typeface="Times New Roman"/>
              <a:cs typeface="Times New Roman"/>
            </a:endParaRPr>
          </a:p>
          <a:p>
            <a:pPr marL="353060" marR="5080" indent="-340995">
              <a:lnSpc>
                <a:spcPts val="3020"/>
              </a:lnSpc>
              <a:spcBef>
                <a:spcPts val="680"/>
              </a:spcBef>
              <a:buChar char="•"/>
              <a:tabLst>
                <a:tab pos="358140" algn="l"/>
              </a:tabLst>
            </a:pPr>
            <a:r>
              <a:rPr sz="2650" dirty="0">
                <a:latin typeface="Times New Roman"/>
                <a:cs typeface="Times New Roman"/>
              </a:rPr>
              <a:t>In</a:t>
            </a:r>
            <a:r>
              <a:rPr sz="2650" spc="29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short</a:t>
            </a:r>
            <a:r>
              <a:rPr sz="2650" spc="35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time,</a:t>
            </a:r>
            <a:r>
              <a:rPr sz="2650" spc="31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Napster</a:t>
            </a:r>
            <a:r>
              <a:rPr sz="2650" spc="34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gains</a:t>
            </a:r>
            <a:r>
              <a:rPr sz="2650" spc="30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</a:t>
            </a:r>
            <a:r>
              <a:rPr sz="2650" spc="254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enormous</a:t>
            </a:r>
            <a:r>
              <a:rPr sz="2650" spc="39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success, 	</a:t>
            </a:r>
            <a:r>
              <a:rPr sz="2650" dirty="0">
                <a:latin typeface="Times New Roman"/>
                <a:cs typeface="Times New Roman"/>
              </a:rPr>
              <a:t>enabling</a:t>
            </a:r>
            <a:r>
              <a:rPr sz="2650" spc="43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millions</a:t>
            </a:r>
            <a:r>
              <a:rPr sz="2650" spc="37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of</a:t>
            </a:r>
            <a:r>
              <a:rPr sz="2650" spc="44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end-users</a:t>
            </a:r>
            <a:r>
              <a:rPr sz="2650" spc="37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to</a:t>
            </a:r>
            <a:r>
              <a:rPr sz="2650" spc="18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establish</a:t>
            </a:r>
            <a:r>
              <a:rPr sz="2650" spc="38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</a:t>
            </a:r>
            <a:r>
              <a:rPr sz="2650" spc="16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file-	</a:t>
            </a:r>
            <a:r>
              <a:rPr sz="2600" spc="50" dirty="0">
                <a:latin typeface="Times New Roman"/>
                <a:cs typeface="Times New Roman"/>
              </a:rPr>
              <a:t>sharing</a:t>
            </a:r>
            <a:r>
              <a:rPr sz="2600" spc="235" dirty="0"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network</a:t>
            </a:r>
            <a:r>
              <a:rPr sz="2600" spc="250" dirty="0">
                <a:latin typeface="Times New Roman"/>
                <a:cs typeface="Times New Roman"/>
              </a:rPr>
              <a:t> </a:t>
            </a:r>
            <a:r>
              <a:rPr sz="2600" spc="50" dirty="0">
                <a:latin typeface="Times New Roman"/>
                <a:cs typeface="Times New Roman"/>
              </a:rPr>
              <a:t>for</a:t>
            </a:r>
            <a:r>
              <a:rPr sz="2600" spc="2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spc="55" dirty="0">
                <a:latin typeface="Times New Roman"/>
                <a:cs typeface="Times New Roman"/>
              </a:rPr>
              <a:t>exchange</a:t>
            </a:r>
            <a:r>
              <a:rPr sz="2600" spc="3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3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music</a:t>
            </a:r>
            <a:r>
              <a:rPr sz="2600" spc="23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files</a:t>
            </a:r>
            <a:endParaRPr sz="2600">
              <a:latin typeface="Times New Roman"/>
              <a:cs typeface="Times New Roman"/>
            </a:endParaRPr>
          </a:p>
          <a:p>
            <a:pPr marL="756920">
              <a:lnSpc>
                <a:spcPct val="100000"/>
              </a:lnSpc>
              <a:spcBef>
                <a:spcPts val="275"/>
              </a:spcBef>
            </a:pPr>
            <a:r>
              <a:rPr sz="2400" dirty="0">
                <a:solidFill>
                  <a:srgbClr val="080559"/>
                </a:solidFill>
                <a:latin typeface="Times New Roman"/>
                <a:cs typeface="Times New Roman"/>
              </a:rPr>
              <a:t>Jan</a:t>
            </a:r>
            <a:r>
              <a:rPr sz="2400" spc="25" dirty="0">
                <a:solidFill>
                  <a:srgbClr val="08055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7034B"/>
                </a:solidFill>
                <a:latin typeface="Times New Roman"/>
                <a:cs typeface="Times New Roman"/>
              </a:rPr>
              <a:t>2000:</a:t>
            </a:r>
            <a:r>
              <a:rPr sz="2400" spc="-15" dirty="0">
                <a:solidFill>
                  <a:srgbClr val="07034B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162"/>
                </a:solidFill>
                <a:latin typeface="Times New Roman"/>
                <a:cs typeface="Times New Roman"/>
              </a:rPr>
              <a:t>Napster</a:t>
            </a:r>
            <a:r>
              <a:rPr sz="2400" spc="-35" dirty="0">
                <a:solidFill>
                  <a:srgbClr val="0C0162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60C5D"/>
                </a:solidFill>
                <a:latin typeface="Times New Roman"/>
                <a:cs typeface="Times New Roman"/>
              </a:rPr>
              <a:t>unique</a:t>
            </a:r>
            <a:r>
              <a:rPr sz="2400" spc="-5" dirty="0">
                <a:solidFill>
                  <a:srgbClr val="160C5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F0C54"/>
                </a:solidFill>
                <a:latin typeface="Times New Roman"/>
                <a:cs typeface="Times New Roman"/>
              </a:rPr>
              <a:t>users</a:t>
            </a:r>
            <a:r>
              <a:rPr sz="2400" spc="-45" dirty="0">
                <a:solidFill>
                  <a:srgbClr val="0F0C5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A034D"/>
                </a:solidFill>
                <a:latin typeface="Times New Roman"/>
                <a:cs typeface="Times New Roman"/>
              </a:rPr>
              <a:t>&gt;</a:t>
            </a:r>
            <a:r>
              <a:rPr sz="2400" spc="-140" dirty="0">
                <a:solidFill>
                  <a:srgbClr val="0A034D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A0A54"/>
                </a:solidFill>
                <a:latin typeface="Times New Roman"/>
                <a:cs typeface="Times New Roman"/>
              </a:rPr>
              <a:t>1.000.000</a:t>
            </a:r>
            <a:endParaRPr sz="2400">
              <a:latin typeface="Times New Roman"/>
              <a:cs typeface="Times New Roman"/>
            </a:endParaRPr>
          </a:p>
          <a:p>
            <a:pPr marL="758825" marR="1070610" indent="-287655">
              <a:lnSpc>
                <a:spcPts val="3200"/>
              </a:lnSpc>
              <a:spcBef>
                <a:spcPts val="60"/>
              </a:spcBef>
            </a:pPr>
            <a:r>
              <a:rPr sz="2400" spc="-1225" dirty="0">
                <a:solidFill>
                  <a:srgbClr val="3A3A3A"/>
                </a:solidFill>
                <a:latin typeface="Times New Roman"/>
                <a:cs typeface="Times New Roman"/>
              </a:rPr>
              <a:t>—</a:t>
            </a:r>
            <a:r>
              <a:rPr sz="2400" spc="535" dirty="0">
                <a:solidFill>
                  <a:srgbClr val="3A3A3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50567"/>
                </a:solidFill>
                <a:latin typeface="Times New Roman"/>
                <a:cs typeface="Times New Roman"/>
              </a:rPr>
              <a:t>Nov</a:t>
            </a:r>
            <a:r>
              <a:rPr sz="2400" spc="-95" dirty="0">
                <a:solidFill>
                  <a:srgbClr val="050567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5013D"/>
                </a:solidFill>
                <a:latin typeface="Times New Roman"/>
                <a:cs typeface="Times New Roman"/>
              </a:rPr>
              <a:t>2000:</a:t>
            </a:r>
            <a:r>
              <a:rPr sz="2400" spc="-85" dirty="0">
                <a:solidFill>
                  <a:srgbClr val="05013D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30A5D"/>
                </a:solidFill>
                <a:latin typeface="Times New Roman"/>
                <a:cs typeface="Times New Roman"/>
              </a:rPr>
              <a:t>Napster</a:t>
            </a:r>
            <a:r>
              <a:rPr sz="2400" spc="-20" dirty="0">
                <a:solidFill>
                  <a:srgbClr val="130A5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50852"/>
                </a:solidFill>
                <a:latin typeface="Times New Roman"/>
                <a:cs typeface="Times New Roman"/>
              </a:rPr>
              <a:t>unique</a:t>
            </a:r>
            <a:r>
              <a:rPr sz="2400" spc="30" dirty="0">
                <a:solidFill>
                  <a:srgbClr val="050852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80146"/>
                </a:solidFill>
                <a:latin typeface="Times New Roman"/>
                <a:cs typeface="Times New Roman"/>
              </a:rPr>
              <a:t>users</a:t>
            </a:r>
            <a:r>
              <a:rPr sz="2400" spc="-15" dirty="0">
                <a:solidFill>
                  <a:srgbClr val="08014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A0556"/>
                </a:solidFill>
                <a:latin typeface="Times New Roman"/>
                <a:cs typeface="Times New Roman"/>
              </a:rPr>
              <a:t>&gt;</a:t>
            </a:r>
            <a:r>
              <a:rPr sz="2400" spc="-45" dirty="0">
                <a:solidFill>
                  <a:srgbClr val="0A0556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50346"/>
                </a:solidFill>
                <a:latin typeface="Times New Roman"/>
                <a:cs typeface="Times New Roman"/>
              </a:rPr>
              <a:t>23.000.000 </a:t>
            </a:r>
            <a:r>
              <a:rPr sz="2400" dirty="0">
                <a:solidFill>
                  <a:srgbClr val="110A56"/>
                </a:solidFill>
                <a:latin typeface="Times New Roman"/>
                <a:cs typeface="Times New Roman"/>
              </a:rPr>
              <a:t>Feb</a:t>
            </a:r>
            <a:r>
              <a:rPr sz="2400" spc="-105" dirty="0">
                <a:solidFill>
                  <a:srgbClr val="110A5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10A4D"/>
                </a:solidFill>
                <a:latin typeface="Times New Roman"/>
                <a:cs typeface="Times New Roman"/>
              </a:rPr>
              <a:t>2001:</a:t>
            </a:r>
            <a:r>
              <a:rPr sz="2400" spc="5" dirty="0">
                <a:solidFill>
                  <a:srgbClr val="110A4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10C6E"/>
                </a:solidFill>
                <a:latin typeface="Times New Roman"/>
                <a:cs typeface="Times New Roman"/>
              </a:rPr>
              <a:t>Napster</a:t>
            </a:r>
            <a:r>
              <a:rPr sz="2400" spc="-20" dirty="0">
                <a:solidFill>
                  <a:srgbClr val="110C6E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E0F4F"/>
                </a:solidFill>
                <a:latin typeface="Times New Roman"/>
                <a:cs typeface="Times New Roman"/>
              </a:rPr>
              <a:t>unique</a:t>
            </a:r>
            <a:r>
              <a:rPr sz="2400" dirty="0">
                <a:solidFill>
                  <a:srgbClr val="0E0F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A0854"/>
                </a:solidFill>
                <a:latin typeface="Times New Roman"/>
                <a:cs typeface="Times New Roman"/>
              </a:rPr>
              <a:t>users</a:t>
            </a:r>
            <a:r>
              <a:rPr sz="2400" spc="-35" dirty="0">
                <a:solidFill>
                  <a:srgbClr val="0A085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F0A5D"/>
                </a:solidFill>
                <a:latin typeface="Times New Roman"/>
                <a:cs typeface="Times New Roman"/>
              </a:rPr>
              <a:t>&gt;</a:t>
            </a:r>
            <a:r>
              <a:rPr sz="2400" spc="-110" dirty="0">
                <a:solidFill>
                  <a:srgbClr val="0F0A5D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A1A1A"/>
                </a:solidFill>
                <a:latin typeface="Times New Roman"/>
                <a:cs typeface="Times New Roman"/>
              </a:rPr>
              <a:t>50.000.000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459" rIns="0" bIns="0" rtlCol="0">
            <a:spAutoFit/>
          </a:bodyPr>
          <a:lstStyle/>
          <a:p>
            <a:pPr marL="44450" marR="5080" algn="ctr">
              <a:lnSpc>
                <a:spcPct val="93900"/>
              </a:lnSpc>
              <a:spcBef>
                <a:spcPts val="325"/>
              </a:spcBef>
            </a:pPr>
            <a:r>
              <a:rPr sz="2600" i="1" dirty="0">
                <a:solidFill>
                  <a:srgbClr val="3D3AA3"/>
                </a:solidFill>
                <a:latin typeface="Calibri"/>
                <a:cs typeface="Calibri"/>
              </a:rPr>
              <a:t>p2p</a:t>
            </a:r>
            <a:r>
              <a:rPr sz="2600" i="1" spc="285" dirty="0">
                <a:solidFill>
                  <a:srgbClr val="3D3AA3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3B3674"/>
                </a:solidFill>
                <a:latin typeface="Calibri"/>
                <a:cs typeface="Calibri"/>
              </a:rPr>
              <a:t>\pin</a:t>
            </a:r>
            <a:r>
              <a:rPr sz="2600" i="1" spc="-10" dirty="0">
                <a:solidFill>
                  <a:srgbClr val="3B3674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383489"/>
                </a:solidFill>
                <a:latin typeface="Calibri"/>
                <a:cs typeface="Calibri"/>
              </a:rPr>
              <a:t>too</a:t>
            </a:r>
            <a:r>
              <a:rPr sz="2600" i="1" spc="265" dirty="0">
                <a:solidFill>
                  <a:srgbClr val="383489"/>
                </a:solidFill>
                <a:latin typeface="Calibri"/>
                <a:cs typeface="Calibri"/>
              </a:rPr>
              <a:t> </a:t>
            </a:r>
            <a:r>
              <a:rPr sz="2600" i="1" spc="120" dirty="0">
                <a:solidFill>
                  <a:srgbClr val="3F3A93"/>
                </a:solidFill>
                <a:latin typeface="Calibri"/>
                <a:cs typeface="Calibri"/>
              </a:rPr>
              <a:t>pir\</a:t>
            </a:r>
            <a:r>
              <a:rPr sz="2600" i="1" spc="220" dirty="0">
                <a:solidFill>
                  <a:srgbClr val="3F3A93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3838B3"/>
                </a:solidFill>
                <a:latin typeface="Calibri"/>
                <a:cs typeface="Calibri"/>
              </a:rPr>
              <a:t>n.</a:t>
            </a:r>
            <a:r>
              <a:rPr sz="2600" i="1" spc="114" dirty="0">
                <a:solidFill>
                  <a:srgbClr val="3838B3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363D8A"/>
                </a:solidFill>
                <a:latin typeface="Calibri"/>
                <a:cs typeface="Calibri"/>
              </a:rPr>
              <a:t>o</a:t>
            </a:r>
            <a:r>
              <a:rPr sz="2600" i="1" spc="210" dirty="0">
                <a:solidFill>
                  <a:srgbClr val="363D8A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3D389E"/>
                </a:solidFill>
                <a:latin typeface="Calibri"/>
                <a:cs typeface="Calibri"/>
              </a:rPr>
              <a:t>virtuol</a:t>
            </a:r>
            <a:r>
              <a:rPr sz="2600" i="1" spc="320" dirty="0">
                <a:solidFill>
                  <a:srgbClr val="3D389E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3B3F85"/>
                </a:solidFill>
                <a:latin typeface="Calibri"/>
                <a:cs typeface="Calibri"/>
              </a:rPr>
              <a:t>network</a:t>
            </a:r>
            <a:r>
              <a:rPr sz="2600" i="1" spc="305" dirty="0">
                <a:solidFill>
                  <a:srgbClr val="3B3F85"/>
                </a:solidFill>
                <a:latin typeface="Calibri"/>
                <a:cs typeface="Calibri"/>
              </a:rPr>
              <a:t> </a:t>
            </a:r>
            <a:r>
              <a:rPr sz="2600" i="1" spc="90" dirty="0">
                <a:solidFill>
                  <a:srgbClr val="312F8E"/>
                </a:solidFill>
                <a:latin typeface="Calibri"/>
                <a:cs typeface="Calibri"/>
              </a:rPr>
              <a:t>of</a:t>
            </a:r>
            <a:r>
              <a:rPr sz="2600" i="1" spc="370" dirty="0">
                <a:solidFill>
                  <a:srgbClr val="312F8E"/>
                </a:solidFill>
                <a:latin typeface="Calibri"/>
                <a:cs typeface="Calibri"/>
              </a:rPr>
              <a:t> </a:t>
            </a:r>
            <a:r>
              <a:rPr sz="2600" i="1" spc="-10" dirty="0">
                <a:solidFill>
                  <a:srgbClr val="3431A3"/>
                </a:solidFill>
                <a:latin typeface="Calibri"/>
                <a:cs typeface="Calibri"/>
              </a:rPr>
              <a:t>(unctionolly </a:t>
            </a:r>
            <a:r>
              <a:rPr sz="2600" i="1" dirty="0">
                <a:solidFill>
                  <a:srgbClr val="3F3B8A"/>
                </a:solidFill>
                <a:latin typeface="Calibri"/>
                <a:cs typeface="Calibri"/>
              </a:rPr>
              <a:t>zimilor</a:t>
            </a:r>
            <a:r>
              <a:rPr sz="2600" i="1" spc="315" dirty="0">
                <a:solidFill>
                  <a:srgbClr val="3F3B8A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3833AC"/>
                </a:solidFill>
                <a:latin typeface="Calibri"/>
                <a:cs typeface="Calibri"/>
              </a:rPr>
              <a:t>nodes</a:t>
            </a:r>
            <a:r>
              <a:rPr sz="2600" i="1" spc="150" dirty="0">
                <a:solidFill>
                  <a:srgbClr val="3833AC"/>
                </a:solidFill>
                <a:latin typeface="Calibri"/>
                <a:cs typeface="Calibri"/>
              </a:rPr>
              <a:t> </a:t>
            </a:r>
            <a:r>
              <a:rPr sz="2600" spc="120" dirty="0">
                <a:solidFill>
                  <a:srgbClr val="4B448E"/>
                </a:solidFill>
                <a:latin typeface="Calibri"/>
                <a:cs typeface="Calibri"/>
              </a:rPr>
              <a:t>created</a:t>
            </a:r>
            <a:r>
              <a:rPr sz="2600" spc="-50" dirty="0">
                <a:solidFill>
                  <a:srgbClr val="4B448E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423B93"/>
                </a:solidFill>
                <a:latin typeface="Calibri"/>
                <a:cs typeface="Calibri"/>
              </a:rPr>
              <a:t>using</a:t>
            </a:r>
            <a:r>
              <a:rPr sz="2600" i="1" spc="70" dirty="0">
                <a:solidFill>
                  <a:srgbClr val="423B93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343191"/>
                </a:solidFill>
                <a:latin typeface="Calibri"/>
                <a:cs typeface="Calibri"/>
              </a:rPr>
              <a:t>an</a:t>
            </a:r>
            <a:r>
              <a:rPr sz="2600" i="1" spc="5" dirty="0">
                <a:solidFill>
                  <a:srgbClr val="343191"/>
                </a:solidFill>
                <a:latin typeface="Calibri"/>
                <a:cs typeface="Calibri"/>
              </a:rPr>
              <a:t> </a:t>
            </a:r>
            <a:r>
              <a:rPr sz="2600" i="1" spc="55" dirty="0">
                <a:solidFill>
                  <a:srgbClr val="3B3689"/>
                </a:solidFill>
                <a:latin typeface="Calibri"/>
                <a:cs typeface="Calibri"/>
              </a:rPr>
              <a:t>olternate,</a:t>
            </a:r>
            <a:r>
              <a:rPr sz="2600" i="1" spc="210" dirty="0">
                <a:solidFill>
                  <a:srgbClr val="3B3689"/>
                </a:solidFill>
                <a:latin typeface="Calibri"/>
                <a:cs typeface="Calibri"/>
              </a:rPr>
              <a:t> </a:t>
            </a:r>
            <a:r>
              <a:rPr sz="2600" i="1" spc="105" dirty="0">
                <a:solidFill>
                  <a:srgbClr val="3F3F8A"/>
                </a:solidFill>
                <a:latin typeface="Calibri"/>
                <a:cs typeface="Calibri"/>
              </a:rPr>
              <a:t>often </a:t>
            </a:r>
            <a:r>
              <a:rPr sz="2500" spc="110" dirty="0">
                <a:solidFill>
                  <a:srgbClr val="383689"/>
                </a:solidFill>
                <a:latin typeface="Calibri"/>
                <a:cs typeface="Calibri"/>
              </a:rPr>
              <a:t>private,</a:t>
            </a:r>
            <a:r>
              <a:rPr sz="2500" spc="100" dirty="0">
                <a:solidFill>
                  <a:srgbClr val="383689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3F3887"/>
                </a:solidFill>
                <a:latin typeface="Calibri"/>
                <a:cs typeface="Calibri"/>
              </a:rPr>
              <a:t>namespace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4133" y="1839515"/>
            <a:ext cx="5938241" cy="435768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67645" y="154483"/>
            <a:ext cx="2983230" cy="7251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550" spc="-370" dirty="0">
                <a:solidFill>
                  <a:srgbClr val="F03805"/>
                </a:solidFill>
              </a:rPr>
              <a:t>P2P</a:t>
            </a:r>
            <a:r>
              <a:rPr sz="4550" spc="315" dirty="0">
                <a:solidFill>
                  <a:srgbClr val="F03805"/>
                </a:solidFill>
              </a:rPr>
              <a:t> </a:t>
            </a:r>
            <a:r>
              <a:rPr sz="4550" spc="-10" dirty="0">
                <a:solidFill>
                  <a:srgbClr val="F63405"/>
                </a:solidFill>
              </a:rPr>
              <a:t>8enefi†s</a:t>
            </a:r>
            <a:endParaRPr sz="4550"/>
          </a:p>
        </p:txBody>
      </p:sp>
      <p:sp>
        <p:nvSpPr>
          <p:cNvPr id="3" name="object 3"/>
          <p:cNvSpPr txBox="1"/>
          <p:nvPr/>
        </p:nvSpPr>
        <p:spPr>
          <a:xfrm>
            <a:off x="535545" y="1014461"/>
            <a:ext cx="8100695" cy="5434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790" indent="-339090">
              <a:lnSpc>
                <a:spcPts val="2365"/>
              </a:lnSpc>
              <a:spcBef>
                <a:spcPts val="100"/>
              </a:spcBef>
              <a:buChar char="•"/>
              <a:tabLst>
                <a:tab pos="351790" algn="l"/>
              </a:tabLst>
            </a:pPr>
            <a:r>
              <a:rPr sz="2000" dirty="0">
                <a:latin typeface="Times New Roman"/>
                <a:cs typeface="Times New Roman"/>
              </a:rPr>
              <a:t>Efficient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resources</a:t>
            </a:r>
            <a:endParaRPr sz="2000">
              <a:latin typeface="Times New Roman"/>
              <a:cs typeface="Times New Roman"/>
            </a:endParaRPr>
          </a:p>
          <a:p>
            <a:pPr marL="757555" lvl="1" indent="-282575">
              <a:lnSpc>
                <a:spcPts val="2185"/>
              </a:lnSpc>
              <a:buClr>
                <a:srgbClr val="757289"/>
              </a:buClr>
              <a:buChar char="—"/>
              <a:tabLst>
                <a:tab pos="757555" algn="l"/>
              </a:tabLst>
            </a:pPr>
            <a:r>
              <a:rPr sz="1850" spc="-25" dirty="0">
                <a:solidFill>
                  <a:srgbClr val="282828"/>
                </a:solidFill>
                <a:latin typeface="Times New Roman"/>
                <a:cs typeface="Times New Roman"/>
              </a:rPr>
              <a:t>Unused</a:t>
            </a:r>
            <a:r>
              <a:rPr sz="185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850" spc="-35" dirty="0">
                <a:solidFill>
                  <a:srgbClr val="181818"/>
                </a:solidFill>
                <a:latin typeface="Times New Roman"/>
                <a:cs typeface="Times New Roman"/>
              </a:rPr>
              <a:t>bandwidth,</a:t>
            </a:r>
            <a:r>
              <a:rPr sz="1850" spc="-5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131313"/>
                </a:solidFill>
                <a:latin typeface="Times New Roman"/>
                <a:cs typeface="Times New Roman"/>
              </a:rPr>
              <a:t>storage,</a:t>
            </a:r>
            <a:r>
              <a:rPr sz="185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282828"/>
                </a:solidFill>
                <a:latin typeface="Times New Roman"/>
                <a:cs typeface="Times New Roman"/>
              </a:rPr>
              <a:t>processing</a:t>
            </a:r>
            <a:r>
              <a:rPr sz="185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850" spc="-20" dirty="0">
                <a:solidFill>
                  <a:srgbClr val="131313"/>
                </a:solidFill>
                <a:latin typeface="Times New Roman"/>
                <a:cs typeface="Times New Roman"/>
              </a:rPr>
              <a:t>power</a:t>
            </a:r>
            <a:r>
              <a:rPr sz="1850" spc="-7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130C3B"/>
                </a:solidFill>
                <a:latin typeface="Times New Roman"/>
                <a:cs typeface="Times New Roman"/>
              </a:rPr>
              <a:t>at</a:t>
            </a:r>
            <a:r>
              <a:rPr sz="1850" spc="-30" dirty="0">
                <a:solidFill>
                  <a:srgbClr val="130C3B"/>
                </a:solidFill>
                <a:latin typeface="Times New Roman"/>
                <a:cs typeface="Times New Roman"/>
              </a:rPr>
              <a:t> </a:t>
            </a:r>
            <a:r>
              <a:rPr sz="1850" spc="-40" dirty="0">
                <a:solidFill>
                  <a:srgbClr val="131313"/>
                </a:solidFill>
                <a:latin typeface="Times New Roman"/>
                <a:cs typeface="Times New Roman"/>
              </a:rPr>
              <a:t>the</a:t>
            </a:r>
            <a:r>
              <a:rPr sz="1850" spc="-7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151515"/>
                </a:solidFill>
                <a:latin typeface="Times New Roman"/>
                <a:cs typeface="Times New Roman"/>
              </a:rPr>
              <a:t>edge</a:t>
            </a:r>
            <a:r>
              <a:rPr sz="1850" spc="-80" dirty="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5003B"/>
                </a:solidFill>
                <a:latin typeface="Times New Roman"/>
                <a:cs typeface="Times New Roman"/>
              </a:rPr>
              <a:t>of</a:t>
            </a:r>
            <a:r>
              <a:rPr sz="1850" spc="-5" dirty="0">
                <a:solidFill>
                  <a:srgbClr val="05003B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161616"/>
                </a:solidFill>
                <a:latin typeface="Times New Roman"/>
                <a:cs typeface="Times New Roman"/>
              </a:rPr>
              <a:t>the</a:t>
            </a:r>
            <a:r>
              <a:rPr sz="1850" spc="-5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0F0F0F"/>
                </a:solidFill>
                <a:latin typeface="Times New Roman"/>
                <a:cs typeface="Times New Roman"/>
              </a:rPr>
              <a:t>network</a:t>
            </a:r>
            <a:endParaRPr sz="185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Times New Roman"/>
              <a:buChar char="—"/>
            </a:pPr>
            <a:endParaRPr sz="1850">
              <a:latin typeface="Times New Roman"/>
              <a:cs typeface="Times New Roman"/>
            </a:endParaRPr>
          </a:p>
          <a:p>
            <a:pPr marL="350520" indent="-337820">
              <a:lnSpc>
                <a:spcPts val="2380"/>
              </a:lnSpc>
              <a:spcBef>
                <a:spcPts val="5"/>
              </a:spcBef>
              <a:buChar char="•"/>
              <a:tabLst>
                <a:tab pos="350520" algn="l"/>
              </a:tabLst>
            </a:pPr>
            <a:r>
              <a:rPr sz="2000" spc="-10" dirty="0">
                <a:latin typeface="Times New Roman"/>
                <a:cs typeface="Times New Roman"/>
              </a:rPr>
              <a:t>Scalability</a:t>
            </a:r>
            <a:endParaRPr sz="2000">
              <a:latin typeface="Times New Roman"/>
              <a:cs typeface="Times New Roman"/>
            </a:endParaRPr>
          </a:p>
          <a:p>
            <a:pPr marL="753110" marR="5080" lvl="1" indent="-287020">
              <a:lnSpc>
                <a:spcPct val="76000"/>
              </a:lnSpc>
              <a:spcBef>
                <a:spcPts val="515"/>
              </a:spcBef>
              <a:buClr>
                <a:srgbClr val="1C1C1C"/>
              </a:buClr>
              <a:buChar char="—"/>
              <a:tabLst>
                <a:tab pos="765810" algn="l"/>
              </a:tabLst>
            </a:pPr>
            <a:r>
              <a:rPr sz="1850" spc="-10" dirty="0">
                <a:solidFill>
                  <a:srgbClr val="1A1A1A"/>
                </a:solidFill>
                <a:latin typeface="Times New Roman"/>
                <a:cs typeface="Times New Roman"/>
              </a:rPr>
              <a:t>Since</a:t>
            </a:r>
            <a:r>
              <a:rPr sz="1850" spc="-9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1D1D1D"/>
                </a:solidFill>
                <a:latin typeface="Times New Roman"/>
                <a:cs typeface="Times New Roman"/>
              </a:rPr>
              <a:t>every</a:t>
            </a:r>
            <a:r>
              <a:rPr sz="1850" spc="15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850" spc="-20" dirty="0">
                <a:solidFill>
                  <a:srgbClr val="0A0731"/>
                </a:solidFill>
                <a:latin typeface="Times New Roman"/>
                <a:cs typeface="Times New Roman"/>
              </a:rPr>
              <a:t>peer </a:t>
            </a:r>
            <a:r>
              <a:rPr sz="1850" dirty="0">
                <a:solidFill>
                  <a:srgbClr val="0F0C31"/>
                </a:solidFill>
                <a:latin typeface="Times New Roman"/>
                <a:cs typeface="Times New Roman"/>
              </a:rPr>
              <a:t>is</a:t>
            </a:r>
            <a:r>
              <a:rPr sz="1850" spc="-114" dirty="0">
                <a:solidFill>
                  <a:srgbClr val="0F0C31"/>
                </a:solidFill>
                <a:latin typeface="Times New Roman"/>
                <a:cs typeface="Times New Roman"/>
              </a:rPr>
              <a:t> </a:t>
            </a:r>
            <a:r>
              <a:rPr sz="1850" spc="-20" dirty="0">
                <a:solidFill>
                  <a:srgbClr val="161616"/>
                </a:solidFill>
                <a:latin typeface="Times New Roman"/>
                <a:cs typeface="Times New Roman"/>
              </a:rPr>
              <a:t>alike,</a:t>
            </a:r>
            <a:r>
              <a:rPr sz="1850" spc="-9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74758C"/>
                </a:solidFill>
                <a:latin typeface="Times New Roman"/>
                <a:cs typeface="Times New Roman"/>
              </a:rPr>
              <a:t>it</a:t>
            </a:r>
            <a:r>
              <a:rPr sz="1850" spc="-55" dirty="0">
                <a:solidFill>
                  <a:srgbClr val="74758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161616"/>
                </a:solidFill>
                <a:latin typeface="Times New Roman"/>
                <a:cs typeface="Times New Roman"/>
              </a:rPr>
              <a:t>is</a:t>
            </a:r>
            <a:r>
              <a:rPr sz="1850" spc="-6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0F083B"/>
                </a:solidFill>
                <a:latin typeface="Times New Roman"/>
                <a:cs typeface="Times New Roman"/>
              </a:rPr>
              <a:t>possible</a:t>
            </a:r>
            <a:r>
              <a:rPr sz="1850" spc="-5" dirty="0">
                <a:solidFill>
                  <a:srgbClr val="0F083B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44415D"/>
                </a:solidFill>
                <a:latin typeface="Times New Roman"/>
                <a:cs typeface="Times New Roman"/>
              </a:rPr>
              <a:t>to</a:t>
            </a:r>
            <a:r>
              <a:rPr sz="1850" spc="-110" dirty="0">
                <a:solidFill>
                  <a:srgbClr val="44415D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181818"/>
                </a:solidFill>
                <a:latin typeface="Times New Roman"/>
                <a:cs typeface="Times New Roman"/>
              </a:rPr>
              <a:t>add</a:t>
            </a:r>
            <a:r>
              <a:rPr sz="1850" spc="-15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850" spc="-35" dirty="0">
                <a:solidFill>
                  <a:srgbClr val="080C28"/>
                </a:solidFill>
                <a:latin typeface="Times New Roman"/>
                <a:cs typeface="Times New Roman"/>
              </a:rPr>
              <a:t>more</a:t>
            </a:r>
            <a:r>
              <a:rPr sz="1850" spc="-10" dirty="0">
                <a:solidFill>
                  <a:srgbClr val="080C28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2F2F2F"/>
                </a:solidFill>
                <a:latin typeface="Times New Roman"/>
                <a:cs typeface="Times New Roman"/>
              </a:rPr>
              <a:t>peers</a:t>
            </a:r>
            <a:r>
              <a:rPr sz="185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3D3F5D"/>
                </a:solidFill>
                <a:latin typeface="Times New Roman"/>
                <a:cs typeface="Times New Roman"/>
              </a:rPr>
              <a:t>to</a:t>
            </a:r>
            <a:r>
              <a:rPr sz="1850" spc="-80" dirty="0">
                <a:solidFill>
                  <a:srgbClr val="3D3F5D"/>
                </a:solidFill>
                <a:latin typeface="Times New Roman"/>
                <a:cs typeface="Times New Roman"/>
              </a:rPr>
              <a:t> </a:t>
            </a:r>
            <a:r>
              <a:rPr sz="1850" spc="-20" dirty="0">
                <a:solidFill>
                  <a:srgbClr val="241F49"/>
                </a:solidFill>
                <a:latin typeface="Times New Roman"/>
                <a:cs typeface="Times New Roman"/>
              </a:rPr>
              <a:t>the</a:t>
            </a:r>
            <a:r>
              <a:rPr sz="1850" spc="-95" dirty="0">
                <a:solidFill>
                  <a:srgbClr val="241F49"/>
                </a:solidFill>
                <a:latin typeface="Times New Roman"/>
                <a:cs typeface="Times New Roman"/>
              </a:rPr>
              <a:t> </a:t>
            </a:r>
            <a:r>
              <a:rPr sz="1850" spc="-20" dirty="0">
                <a:solidFill>
                  <a:srgbClr val="232323"/>
                </a:solidFill>
                <a:latin typeface="Times New Roman"/>
                <a:cs typeface="Times New Roman"/>
              </a:rPr>
              <a:t>system</a:t>
            </a:r>
            <a:r>
              <a:rPr sz="1850" spc="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850" spc="-20" dirty="0">
                <a:solidFill>
                  <a:srgbClr val="232323"/>
                </a:solidFill>
                <a:latin typeface="Times New Roman"/>
                <a:cs typeface="Times New Roman"/>
              </a:rPr>
              <a:t>and</a:t>
            </a:r>
            <a:r>
              <a:rPr sz="1850" spc="-60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413D5B"/>
                </a:solidFill>
                <a:latin typeface="Times New Roman"/>
                <a:cs typeface="Times New Roman"/>
              </a:rPr>
              <a:t>scale 	</a:t>
            </a:r>
            <a:r>
              <a:rPr sz="1850" spc="-65" dirty="0">
                <a:solidFill>
                  <a:srgbClr val="0C0A3B"/>
                </a:solidFill>
                <a:latin typeface="Times New Roman"/>
                <a:cs typeface="Times New Roman"/>
              </a:rPr>
              <a:t>tti</a:t>
            </a:r>
            <a:r>
              <a:rPr sz="1850" spc="-55" dirty="0">
                <a:solidFill>
                  <a:srgbClr val="0C0A3B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131313"/>
                </a:solidFill>
                <a:latin typeface="Times New Roman"/>
                <a:cs typeface="Times New Roman"/>
              </a:rPr>
              <a:t>larger</a:t>
            </a:r>
            <a:r>
              <a:rPr sz="185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332D56"/>
                </a:solidFill>
                <a:latin typeface="Times New Roman"/>
                <a:cs typeface="Times New Roman"/>
              </a:rPr>
              <a:t>netwtirks</a:t>
            </a:r>
            <a:endParaRPr sz="1850">
              <a:latin typeface="Times New Roman"/>
              <a:cs typeface="Times New Roman"/>
            </a:endParaRPr>
          </a:p>
          <a:p>
            <a:pPr marL="749935" lvl="1" indent="-283845">
              <a:lnSpc>
                <a:spcPts val="2160"/>
              </a:lnSpc>
              <a:buClr>
                <a:srgbClr val="4B4B4B"/>
              </a:buClr>
              <a:buChar char="—"/>
              <a:tabLst>
                <a:tab pos="749935" algn="l"/>
              </a:tabLst>
            </a:pPr>
            <a:r>
              <a:rPr sz="1850" spc="-25" dirty="0">
                <a:solidFill>
                  <a:srgbClr val="2B2B2B"/>
                </a:solidFill>
                <a:latin typeface="Times New Roman"/>
                <a:cs typeface="Times New Roman"/>
              </a:rPr>
              <a:t>Consumers</a:t>
            </a:r>
            <a:r>
              <a:rPr sz="1850" spc="-9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1C1644"/>
                </a:solidFill>
                <a:latin typeface="Times New Roman"/>
                <a:cs typeface="Times New Roman"/>
              </a:rPr>
              <a:t>of</a:t>
            </a:r>
            <a:r>
              <a:rPr sz="1850" spc="35" dirty="0">
                <a:solidFill>
                  <a:srgbClr val="1C1644"/>
                </a:solidFill>
                <a:latin typeface="Times New Roman"/>
                <a:cs typeface="Times New Roman"/>
              </a:rPr>
              <a:t> </a:t>
            </a:r>
            <a:r>
              <a:rPr sz="1850" spc="-20" dirty="0">
                <a:solidFill>
                  <a:srgbClr val="1C1C1C"/>
                </a:solidFill>
                <a:latin typeface="Times New Roman"/>
                <a:cs typeface="Times New Roman"/>
              </a:rPr>
              <a:t>resources</a:t>
            </a:r>
            <a:r>
              <a:rPr sz="1850" spc="-75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181818"/>
                </a:solidFill>
                <a:latin typeface="Times New Roman"/>
                <a:cs typeface="Times New Roman"/>
              </a:rPr>
              <a:t>also</a:t>
            </a:r>
            <a:r>
              <a:rPr sz="1850" spc="-105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080842"/>
                </a:solidFill>
                <a:latin typeface="Times New Roman"/>
                <a:cs typeface="Times New Roman"/>
              </a:rPr>
              <a:t>donate</a:t>
            </a:r>
            <a:r>
              <a:rPr sz="1850" spc="-40" dirty="0">
                <a:solidFill>
                  <a:srgbClr val="080842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242424"/>
                </a:solidFill>
                <a:latin typeface="Times New Roman"/>
                <a:cs typeface="Times New Roman"/>
              </a:rPr>
              <a:t>resources</a:t>
            </a:r>
            <a:endParaRPr sz="1850">
              <a:latin typeface="Times New Roman"/>
              <a:cs typeface="Times New Roman"/>
            </a:endParaRPr>
          </a:p>
          <a:p>
            <a:pPr marL="756920" lvl="1" indent="-290830">
              <a:lnSpc>
                <a:spcPts val="2200"/>
              </a:lnSpc>
              <a:buClr>
                <a:srgbClr val="262626"/>
              </a:buClr>
              <a:buChar char="—"/>
              <a:tabLst>
                <a:tab pos="756920" algn="l"/>
              </a:tabLst>
            </a:pPr>
            <a:r>
              <a:rPr sz="1850" spc="-35" dirty="0">
                <a:solidFill>
                  <a:srgbClr val="343434"/>
                </a:solidFill>
                <a:latin typeface="Times New Roman"/>
                <a:cs typeface="Times New Roman"/>
              </a:rPr>
              <a:t>Aggregate</a:t>
            </a:r>
            <a:r>
              <a:rPr sz="1850" spc="25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850" spc="-30" dirty="0">
                <a:solidFill>
                  <a:srgbClr val="181818"/>
                </a:solidFill>
                <a:latin typeface="Times New Roman"/>
                <a:cs typeface="Times New Roman"/>
              </a:rPr>
              <a:t>resources</a:t>
            </a:r>
            <a:r>
              <a:rPr sz="1850" spc="15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463D70"/>
                </a:solidFill>
                <a:latin typeface="Times New Roman"/>
                <a:cs typeface="Times New Roman"/>
              </a:rPr>
              <a:t>grow</a:t>
            </a:r>
            <a:r>
              <a:rPr sz="1850" spc="-30" dirty="0">
                <a:solidFill>
                  <a:srgbClr val="463D70"/>
                </a:solidFill>
                <a:latin typeface="Times New Roman"/>
                <a:cs typeface="Times New Roman"/>
              </a:rPr>
              <a:t> </a:t>
            </a:r>
            <a:r>
              <a:rPr sz="1850" spc="-30" dirty="0">
                <a:solidFill>
                  <a:srgbClr val="1A1A1A"/>
                </a:solidFill>
                <a:latin typeface="Times New Roman"/>
                <a:cs typeface="Times New Roman"/>
              </a:rPr>
              <a:t>naturally</a:t>
            </a:r>
            <a:r>
              <a:rPr sz="1850" spc="1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1C184F"/>
                </a:solidFill>
                <a:latin typeface="Times New Roman"/>
                <a:cs typeface="Times New Roman"/>
              </a:rPr>
              <a:t>with</a:t>
            </a:r>
            <a:r>
              <a:rPr sz="1850" spc="-40" dirty="0">
                <a:solidFill>
                  <a:srgbClr val="1C184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212121"/>
                </a:solidFill>
                <a:latin typeface="Times New Roman"/>
                <a:cs typeface="Times New Roman"/>
              </a:rPr>
              <a:t>utilization</a:t>
            </a:r>
            <a:endParaRPr sz="1850">
              <a:latin typeface="Times New Roman"/>
              <a:cs typeface="Times New Roman"/>
            </a:endParaRPr>
          </a:p>
          <a:p>
            <a:pPr marL="361315" indent="-348615">
              <a:lnSpc>
                <a:spcPts val="2420"/>
              </a:lnSpc>
              <a:spcBef>
                <a:spcPts val="2080"/>
              </a:spcBef>
              <a:buChar char="•"/>
              <a:tabLst>
                <a:tab pos="361315" algn="l"/>
              </a:tabLst>
            </a:pPr>
            <a:r>
              <a:rPr sz="2050" spc="-10" dirty="0">
                <a:latin typeface="Times New Roman"/>
                <a:cs typeface="Times New Roman"/>
              </a:rPr>
              <a:t>Reliability</a:t>
            </a:r>
            <a:endParaRPr sz="2050">
              <a:latin typeface="Times New Roman"/>
              <a:cs typeface="Times New Roman"/>
            </a:endParaRPr>
          </a:p>
          <a:p>
            <a:pPr marL="755015" lvl="1" indent="-280035">
              <a:lnSpc>
                <a:spcPts val="2160"/>
              </a:lnSpc>
              <a:buClr>
                <a:srgbClr val="7E7E7E"/>
              </a:buClr>
              <a:buChar char="—"/>
              <a:tabLst>
                <a:tab pos="755015" algn="l"/>
              </a:tabLst>
            </a:pPr>
            <a:r>
              <a:rPr sz="1850" spc="-10" dirty="0">
                <a:solidFill>
                  <a:srgbClr val="161616"/>
                </a:solidFill>
                <a:latin typeface="Times New Roman"/>
                <a:cs typeface="Times New Roman"/>
              </a:rPr>
              <a:t>Replicas</a:t>
            </a:r>
            <a:endParaRPr sz="1850">
              <a:latin typeface="Times New Roman"/>
              <a:cs typeface="Times New Roman"/>
            </a:endParaRPr>
          </a:p>
          <a:p>
            <a:pPr marL="750570" lvl="1" indent="-275590">
              <a:lnSpc>
                <a:spcPts val="2180"/>
              </a:lnSpc>
              <a:buClr>
                <a:srgbClr val="807C8E"/>
              </a:buClr>
              <a:buChar char="—"/>
              <a:tabLst>
                <a:tab pos="750570" algn="l"/>
              </a:tabLst>
            </a:pPr>
            <a:r>
              <a:rPr sz="1850" spc="-30" dirty="0">
                <a:solidFill>
                  <a:srgbClr val="0C0C0C"/>
                </a:solidFill>
                <a:latin typeface="Times New Roman"/>
                <a:cs typeface="Times New Roman"/>
              </a:rPr>
              <a:t>Geographic</a:t>
            </a:r>
            <a:r>
              <a:rPr sz="185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0F0F0F"/>
                </a:solidFill>
                <a:latin typeface="Times New Roman"/>
                <a:cs typeface="Times New Roman"/>
              </a:rPr>
              <a:t>distribution</a:t>
            </a:r>
            <a:endParaRPr sz="1850">
              <a:latin typeface="Times New Roman"/>
              <a:cs typeface="Times New Roman"/>
            </a:endParaRPr>
          </a:p>
          <a:p>
            <a:pPr marL="762000" lvl="1" indent="-295910">
              <a:lnSpc>
                <a:spcPts val="2175"/>
              </a:lnSpc>
              <a:buClr>
                <a:srgbClr val="212121"/>
              </a:buClr>
              <a:buChar char="—"/>
              <a:tabLst>
                <a:tab pos="762000" algn="l"/>
              </a:tabLst>
            </a:pPr>
            <a:r>
              <a:rPr sz="1850" dirty="0">
                <a:solidFill>
                  <a:srgbClr val="0C0C56"/>
                </a:solidFill>
                <a:latin typeface="Times New Roman"/>
                <a:cs typeface="Times New Roman"/>
              </a:rPr>
              <a:t>No</a:t>
            </a:r>
            <a:r>
              <a:rPr sz="1850" spc="-110" dirty="0">
                <a:solidFill>
                  <a:srgbClr val="0C0C56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1A1A1A"/>
                </a:solidFill>
                <a:latin typeface="Times New Roman"/>
                <a:cs typeface="Times New Roman"/>
              </a:rPr>
              <a:t>single</a:t>
            </a:r>
            <a:r>
              <a:rPr sz="1850" spc="-5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850" spc="-30" dirty="0">
                <a:solidFill>
                  <a:srgbClr val="0C0C36"/>
                </a:solidFill>
                <a:latin typeface="Times New Roman"/>
                <a:cs typeface="Times New Roman"/>
              </a:rPr>
              <a:t>point</a:t>
            </a:r>
            <a:r>
              <a:rPr sz="1850" spc="-75" dirty="0">
                <a:solidFill>
                  <a:srgbClr val="0C0C36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1F1F1F"/>
                </a:solidFill>
                <a:latin typeface="Times New Roman"/>
                <a:cs typeface="Times New Roman"/>
              </a:rPr>
              <a:t>of</a:t>
            </a:r>
            <a:r>
              <a:rPr sz="1850" spc="-7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0E0A3A"/>
                </a:solidFill>
                <a:latin typeface="Times New Roman"/>
                <a:cs typeface="Times New Roman"/>
              </a:rPr>
              <a:t>failure</a:t>
            </a:r>
            <a:endParaRPr sz="1850">
              <a:latin typeface="Times New Roman"/>
              <a:cs typeface="Times New Roman"/>
            </a:endParaRPr>
          </a:p>
          <a:p>
            <a:pPr marL="1159510" lvl="2" indent="-233679">
              <a:lnSpc>
                <a:spcPts val="1955"/>
              </a:lnSpc>
              <a:buClr>
                <a:srgbClr val="5D1116"/>
              </a:buClr>
              <a:buChar char="•"/>
              <a:tabLst>
                <a:tab pos="1159510" algn="l"/>
              </a:tabLst>
            </a:pPr>
            <a:r>
              <a:rPr sz="1650" dirty="0">
                <a:solidFill>
                  <a:srgbClr val="1F1F1F"/>
                </a:solidFill>
                <a:latin typeface="Times New Roman"/>
                <a:cs typeface="Times New Roman"/>
              </a:rPr>
              <a:t>ñ.g.,</a:t>
            </a:r>
            <a:r>
              <a:rPr sz="1650" spc="-8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262626"/>
                </a:solidFill>
                <a:latin typeface="Times New Roman"/>
                <a:cs typeface="Times New Roman"/>
              </a:rPr>
              <a:t>the</a:t>
            </a:r>
            <a:r>
              <a:rPr sz="1650" spc="-4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Times New Roman"/>
                <a:cs typeface="Times New Roman"/>
              </a:rPr>
              <a:t>lntci‘nct</a:t>
            </a:r>
            <a:r>
              <a:rPr sz="1650" spc="-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937575"/>
                </a:solidFill>
                <a:latin typeface="Times New Roman"/>
                <a:cs typeface="Times New Roman"/>
              </a:rPr>
              <a:t>and </a:t>
            </a:r>
            <a:r>
              <a:rPr sz="1650" spc="-10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65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650" spc="-125" dirty="0">
                <a:solidFill>
                  <a:srgbClr val="282828"/>
                </a:solidFill>
                <a:latin typeface="Times New Roman"/>
                <a:cs typeface="Times New Roman"/>
              </a:rPr>
              <a:t>Web</a:t>
            </a:r>
            <a:r>
              <a:rPr sz="1650" spc="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704446"/>
                </a:solidFill>
                <a:latin typeface="Times New Roman"/>
                <a:cs typeface="Times New Roman"/>
              </a:rPr>
              <a:t>do </a:t>
            </a:r>
            <a:r>
              <a:rPr sz="1650" spc="-50" dirty="0">
                <a:solidFill>
                  <a:srgbClr val="977E80"/>
                </a:solidFill>
                <a:latin typeface="Times New Roman"/>
                <a:cs typeface="Times New Roman"/>
              </a:rPr>
              <a:t>not</a:t>
            </a:r>
            <a:r>
              <a:rPr sz="1650" spc="-40" dirty="0">
                <a:solidFill>
                  <a:srgbClr val="977E80"/>
                </a:solidFill>
                <a:latin typeface="Times New Roman"/>
                <a:cs typeface="Times New Roman"/>
              </a:rPr>
              <a:t> </a:t>
            </a:r>
            <a:r>
              <a:rPr sz="1650" spc="-30" dirty="0">
                <a:solidFill>
                  <a:srgbClr val="232323"/>
                </a:solidFill>
                <a:latin typeface="Times New Roman"/>
                <a:cs typeface="Times New Roman"/>
              </a:rPr>
              <a:t>liavc</a:t>
            </a:r>
            <a:r>
              <a:rPr sz="1650" spc="-70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592F38"/>
                </a:solidFill>
                <a:latin typeface="Times New Roman"/>
                <a:cs typeface="Times New Roman"/>
              </a:rPr>
              <a:t>a</a:t>
            </a:r>
            <a:r>
              <a:rPr sz="1650" spc="-70" dirty="0">
                <a:solidFill>
                  <a:srgbClr val="592F38"/>
                </a:solidFill>
                <a:latin typeface="Times New Roman"/>
                <a:cs typeface="Times New Roman"/>
              </a:rPr>
              <a:t> </a:t>
            </a:r>
            <a:r>
              <a:rPr sz="1650" spc="-30" dirty="0">
                <a:solidFill>
                  <a:srgbClr val="1F1F1F"/>
                </a:solidFill>
                <a:latin typeface="Times New Roman"/>
                <a:cs typeface="Times New Roman"/>
              </a:rPr>
              <a:t>central</a:t>
            </a:r>
            <a:r>
              <a:rPr sz="1650" spc="4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50" spc="-25" dirty="0">
                <a:solidFill>
                  <a:srgbClr val="3F0F15"/>
                </a:solidFill>
                <a:latin typeface="Times New Roman"/>
                <a:cs typeface="Times New Roman"/>
              </a:rPr>
              <a:t>point</a:t>
            </a:r>
            <a:r>
              <a:rPr sz="1650" spc="-30" dirty="0">
                <a:solidFill>
                  <a:srgbClr val="3F0F15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282828"/>
                </a:solidFill>
                <a:latin typeface="Times New Roman"/>
                <a:cs typeface="Times New Roman"/>
              </a:rPr>
              <a:t>of</a:t>
            </a:r>
            <a:r>
              <a:rPr sz="1650" spc="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262626"/>
                </a:solidFill>
                <a:latin typeface="Times New Roman"/>
                <a:cs typeface="Times New Roman"/>
              </a:rPr>
              <a:t>failure.</a:t>
            </a:r>
            <a:endParaRPr sz="1650">
              <a:latin typeface="Times New Roman"/>
              <a:cs typeface="Times New Roman"/>
            </a:endParaRPr>
          </a:p>
          <a:p>
            <a:pPr marL="1157605" marR="11430" lvl="2" indent="-231140">
              <a:lnSpc>
                <a:spcPts val="1550"/>
              </a:lnSpc>
              <a:spcBef>
                <a:spcPts val="325"/>
              </a:spcBef>
              <a:buClr>
                <a:srgbClr val="52070C"/>
              </a:buClr>
              <a:buChar char="•"/>
              <a:tabLst>
                <a:tab pos="1160145" algn="l"/>
              </a:tabLst>
            </a:pPr>
            <a:r>
              <a:rPr sz="1500" dirty="0">
                <a:solidFill>
                  <a:srgbClr val="282828"/>
                </a:solidFill>
                <a:latin typeface="Times New Roman"/>
                <a:cs typeface="Times New Roman"/>
              </a:rPr>
              <a:t>Most</a:t>
            </a:r>
            <a:r>
              <a:rPr sz="1500" spc="25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Times New Roman"/>
                <a:cs typeface="Times New Roman"/>
              </a:rPr>
              <a:t>inter</a:t>
            </a:r>
            <a:r>
              <a:rPr sz="1500" spc="5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D1D1D"/>
                </a:solidFill>
                <a:latin typeface="Times New Roman"/>
                <a:cs typeface="Times New Roman"/>
              </a:rPr>
              <a:t>net</a:t>
            </a:r>
            <a:r>
              <a:rPr sz="1500" spc="204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F1F1F"/>
                </a:solidFill>
                <a:latin typeface="Times New Roman"/>
                <a:cs typeface="Times New Roman"/>
              </a:rPr>
              <a:t>and</a:t>
            </a:r>
            <a:r>
              <a:rPr sz="1500" spc="26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C1C1C"/>
                </a:solidFill>
                <a:latin typeface="Times New Roman"/>
                <a:cs typeface="Times New Roman"/>
              </a:rPr>
              <a:t>web</a:t>
            </a:r>
            <a:r>
              <a:rPr sz="1500" spc="125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232323"/>
                </a:solidFill>
                <a:latin typeface="Times New Roman"/>
                <a:cs typeface="Times New Roman"/>
              </a:rPr>
              <a:t>serv</a:t>
            </a:r>
            <a:r>
              <a:rPr sz="1500" spc="-160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62626"/>
                </a:solidFill>
                <a:latin typeface="Times New Roman"/>
                <a:cs typeface="Times New Roman"/>
              </a:rPr>
              <a:t>ices</a:t>
            </a:r>
            <a:r>
              <a:rPr sz="1500" spc="20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F1F1F"/>
                </a:solidFill>
                <a:latin typeface="Times New Roman"/>
                <a:cs typeface="Times New Roman"/>
              </a:rPr>
              <a:t>use</a:t>
            </a:r>
            <a:r>
              <a:rPr sz="1500" spc="19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12121"/>
                </a:solidFill>
                <a:latin typeface="Times New Roman"/>
                <a:cs typeface="Times New Roman"/>
              </a:rPr>
              <a:t>the</a:t>
            </a:r>
            <a:r>
              <a:rPr sz="1500" spc="8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82828"/>
                </a:solidFill>
                <a:latin typeface="Times New Roman"/>
                <a:cs typeface="Times New Roman"/>
              </a:rPr>
              <a:t>c</a:t>
            </a:r>
            <a:r>
              <a:rPr sz="1500" dirty="0">
                <a:solidFill>
                  <a:srgbClr val="181818"/>
                </a:solidFill>
                <a:latin typeface="Times New Roman"/>
                <a:cs typeface="Times New Roman"/>
              </a:rPr>
              <a:t>licnt-server</a:t>
            </a:r>
            <a:r>
              <a:rPr sz="1500" spc="155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32323"/>
                </a:solidFill>
                <a:latin typeface="Times New Roman"/>
                <a:cs typeface="Times New Roman"/>
              </a:rPr>
              <a:t>1rt›del</a:t>
            </a:r>
            <a:r>
              <a:rPr sz="1500" spc="220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12121"/>
                </a:solidFill>
                <a:latin typeface="Times New Roman"/>
                <a:cs typeface="Times New Roman"/>
              </a:rPr>
              <a:t>(e.p.</a:t>
            </a:r>
            <a:r>
              <a:rPr sz="1500" spc="19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HTTP),</a:t>
            </a:r>
            <a:r>
              <a:rPr sz="1500" spc="23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12121"/>
                </a:solidFill>
                <a:latin typeface="Times New Roman"/>
                <a:cs typeface="Times New Roman"/>
              </a:rPr>
              <a:t>so</a:t>
            </a:r>
            <a:r>
              <a:rPr sz="1500" spc="5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82828"/>
                </a:solidFill>
                <a:latin typeface="Times New Roman"/>
                <a:cs typeface="Times New Roman"/>
              </a:rPr>
              <a:t>a</a:t>
            </a:r>
            <a:r>
              <a:rPr sz="1500" spc="7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C1C1C"/>
                </a:solidFill>
                <a:latin typeface="Times New Roman"/>
                <a:cs typeface="Times New Roman"/>
              </a:rPr>
              <a:t>spec</a:t>
            </a:r>
            <a:r>
              <a:rPr sz="1500" spc="-195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232323"/>
                </a:solidFill>
                <a:latin typeface="Times New Roman"/>
                <a:cs typeface="Times New Roman"/>
              </a:rPr>
              <a:t>i</a:t>
            </a:r>
            <a:r>
              <a:rPr sz="1500" spc="-10" dirty="0">
                <a:solidFill>
                  <a:srgbClr val="1F1F1F"/>
                </a:solidFill>
                <a:latin typeface="Times New Roman"/>
                <a:cs typeface="Times New Roman"/>
              </a:rPr>
              <a:t>f'ic 	</a:t>
            </a:r>
            <a:r>
              <a:rPr sz="1500" dirty="0">
                <a:solidFill>
                  <a:srgbClr val="1D1D1D"/>
                </a:solidFill>
                <a:latin typeface="Times New Roman"/>
                <a:cs typeface="Times New Roman"/>
              </a:rPr>
              <a:t>sei›’ice</a:t>
            </a:r>
            <a:r>
              <a:rPr sz="1500" spc="100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B2B2B"/>
                </a:solidFill>
                <a:latin typeface="Times New Roman"/>
                <a:cs typeface="Times New Roman"/>
              </a:rPr>
              <a:t>does</a:t>
            </a:r>
            <a:r>
              <a:rPr sz="1500" spc="18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D1D1D"/>
                </a:solidFill>
                <a:latin typeface="Times New Roman"/>
                <a:cs typeface="Times New Roman"/>
              </a:rPr>
              <a:t>his</a:t>
            </a:r>
            <a:r>
              <a:rPr sz="1500" spc="85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D1D1D"/>
                </a:solidFill>
                <a:latin typeface="Times New Roman"/>
                <a:cs typeface="Times New Roman"/>
              </a:rPr>
              <a:t>e</a:t>
            </a:r>
            <a:r>
              <a:rPr sz="1500" spc="110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82828"/>
                </a:solidFill>
                <a:latin typeface="Times New Roman"/>
                <a:cs typeface="Times New Roman"/>
              </a:rPr>
              <a:t>a</a:t>
            </a:r>
            <a:r>
              <a:rPr sz="1500" spc="8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42424"/>
                </a:solidFill>
                <a:latin typeface="Times New Roman"/>
                <a:cs typeface="Times New Roman"/>
              </a:rPr>
              <a:t>cenlral</a:t>
            </a:r>
            <a:r>
              <a:rPr sz="1500" spc="23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F1F1F"/>
                </a:solidFill>
                <a:latin typeface="Times New Roman"/>
                <a:cs typeface="Times New Roman"/>
              </a:rPr>
              <a:t>poinl</a:t>
            </a:r>
            <a:r>
              <a:rPr sz="1500" spc="15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500" spc="-40" dirty="0">
                <a:solidFill>
                  <a:srgbClr val="755656"/>
                </a:solidFill>
                <a:latin typeface="Times New Roman"/>
                <a:cs typeface="Times New Roman"/>
              </a:rPr>
              <a:t>o1</a:t>
            </a:r>
            <a:r>
              <a:rPr sz="1500" spc="90" dirty="0">
                <a:solidFill>
                  <a:srgbClr val="755656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1F1F1F"/>
                </a:solidFill>
                <a:latin typeface="Times New Roman"/>
                <a:cs typeface="Times New Roman"/>
              </a:rPr>
              <a:t>l'ailure</a:t>
            </a:r>
            <a:endParaRPr sz="1500">
              <a:latin typeface="Times New Roman"/>
              <a:cs typeface="Times New Roman"/>
            </a:endParaRPr>
          </a:p>
          <a:p>
            <a:pPr marL="351790" indent="-338455">
              <a:lnSpc>
                <a:spcPct val="100000"/>
              </a:lnSpc>
              <a:spcBef>
                <a:spcPts val="60"/>
              </a:spcBef>
              <a:buChar char="•"/>
              <a:tabLst>
                <a:tab pos="351790" algn="l"/>
              </a:tabLst>
            </a:pPr>
            <a:r>
              <a:rPr sz="1950" dirty="0">
                <a:latin typeface="Times New Roman"/>
                <a:cs typeface="Times New Roman"/>
              </a:rPr>
              <a:t>Ease</a:t>
            </a:r>
            <a:r>
              <a:rPr sz="1950" spc="2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of</a:t>
            </a:r>
            <a:r>
              <a:rPr sz="1950" spc="11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administration</a:t>
            </a:r>
            <a:endParaRPr sz="1950">
              <a:latin typeface="Times New Roman"/>
              <a:cs typeface="Times New Roman"/>
            </a:endParaRPr>
          </a:p>
          <a:p>
            <a:pPr marL="762000" lvl="1" indent="-287020">
              <a:lnSpc>
                <a:spcPct val="100000"/>
              </a:lnSpc>
              <a:spcBef>
                <a:spcPts val="40"/>
              </a:spcBef>
              <a:buClr>
                <a:srgbClr val="757289"/>
              </a:buClr>
              <a:buChar char="—"/>
              <a:tabLst>
                <a:tab pos="762000" algn="l"/>
              </a:tabLst>
            </a:pPr>
            <a:r>
              <a:rPr sz="1750" dirty="0">
                <a:solidFill>
                  <a:srgbClr val="262626"/>
                </a:solidFill>
                <a:latin typeface="Times New Roman"/>
                <a:cs typeface="Times New Roman"/>
              </a:rPr>
              <a:t>Nodes</a:t>
            </a:r>
            <a:r>
              <a:rPr sz="1750" spc="10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750" spc="-55" dirty="0">
                <a:solidFill>
                  <a:srgbClr val="0A0A0A"/>
                </a:solidFill>
                <a:latin typeface="Times New Roman"/>
                <a:cs typeface="Times New Roman"/>
              </a:rPr>
              <a:t>sell’</a:t>
            </a:r>
            <a:r>
              <a:rPr sz="1750" spc="-175" dirty="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131313"/>
                </a:solidFill>
                <a:latin typeface="Times New Roman"/>
                <a:cs typeface="Times New Roman"/>
              </a:rPr>
              <a:t>organize</a:t>
            </a:r>
            <a:endParaRPr sz="1750">
              <a:latin typeface="Times New Roman"/>
              <a:cs typeface="Times New Roman"/>
            </a:endParaRPr>
          </a:p>
          <a:p>
            <a:pPr marL="762000" lvl="1" indent="-295910">
              <a:lnSpc>
                <a:spcPct val="100000"/>
              </a:lnSpc>
              <a:spcBef>
                <a:spcPts val="80"/>
              </a:spcBef>
              <a:buClr>
                <a:srgbClr val="4D4D4D"/>
              </a:buClr>
              <a:buChar char="—"/>
              <a:tabLst>
                <a:tab pos="762000" algn="l"/>
              </a:tabLst>
            </a:pPr>
            <a:r>
              <a:rPr sz="1750" dirty="0">
                <a:solidFill>
                  <a:srgbClr val="1D1D1D"/>
                </a:solidFill>
                <a:latin typeface="Times New Roman"/>
                <a:cs typeface="Times New Roman"/>
              </a:rPr>
              <a:t>No</a:t>
            </a:r>
            <a:r>
              <a:rPr sz="1750" spc="30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60F3F"/>
                </a:solidFill>
                <a:latin typeface="Times New Roman"/>
                <a:cs typeface="Times New Roman"/>
              </a:rPr>
              <a:t>need</a:t>
            </a:r>
            <a:r>
              <a:rPr sz="1750" spc="130" dirty="0">
                <a:solidFill>
                  <a:srgbClr val="160F3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524B7C"/>
                </a:solidFill>
                <a:latin typeface="Times New Roman"/>
                <a:cs typeface="Times New Roman"/>
              </a:rPr>
              <a:t>to</a:t>
            </a:r>
            <a:r>
              <a:rPr sz="1750" spc="10" dirty="0">
                <a:solidFill>
                  <a:srgbClr val="524B7C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11111"/>
                </a:solidFill>
                <a:latin typeface="Times New Roman"/>
                <a:cs typeface="Times New Roman"/>
              </a:rPr>
              <a:t>deploy</a:t>
            </a:r>
            <a:r>
              <a:rPr sz="1750" spc="17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3A3A3A"/>
                </a:solidFill>
                <a:latin typeface="Times New Roman"/>
                <a:cs typeface="Times New Roman"/>
              </a:rPr>
              <a:t>servers</a:t>
            </a:r>
            <a:r>
              <a:rPr sz="1750" spc="100" dirty="0">
                <a:solidFill>
                  <a:srgbClr val="3A3A3A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A2B52"/>
                </a:solidFill>
                <a:latin typeface="Times New Roman"/>
                <a:cs typeface="Times New Roman"/>
              </a:rPr>
              <a:t>to</a:t>
            </a:r>
            <a:r>
              <a:rPr sz="1750" spc="45" dirty="0">
                <a:solidFill>
                  <a:srgbClr val="2A2B52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11111"/>
                </a:solidFill>
                <a:latin typeface="Times New Roman"/>
                <a:cs typeface="Times New Roman"/>
              </a:rPr>
              <a:t>satisfy</a:t>
            </a:r>
            <a:r>
              <a:rPr sz="1750" spc="18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81C44"/>
                </a:solidFill>
                <a:latin typeface="Times New Roman"/>
                <a:cs typeface="Times New Roman"/>
              </a:rPr>
              <a:t>demand</a:t>
            </a:r>
            <a:r>
              <a:rPr sz="1750" spc="135" dirty="0">
                <a:solidFill>
                  <a:srgbClr val="181C44"/>
                </a:solidFill>
                <a:latin typeface="Times New Roman"/>
                <a:cs typeface="Times New Roman"/>
              </a:rPr>
              <a:t> </a:t>
            </a:r>
            <a:r>
              <a:rPr sz="1750" spc="-894" dirty="0">
                <a:solidFill>
                  <a:srgbClr val="3D3D3D"/>
                </a:solidFill>
                <a:latin typeface="Times New Roman"/>
                <a:cs typeface="Times New Roman"/>
              </a:rPr>
              <a:t>—</a:t>
            </a:r>
            <a:r>
              <a:rPr sz="1750" spc="3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C1A49"/>
                </a:solidFill>
                <a:latin typeface="Times New Roman"/>
                <a:cs typeface="Times New Roman"/>
              </a:rPr>
              <a:t>confer</a:t>
            </a:r>
            <a:r>
              <a:rPr sz="1750" spc="114" dirty="0">
                <a:solidFill>
                  <a:srgbClr val="1C1A49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F1F1F"/>
                </a:solidFill>
                <a:latin typeface="Times New Roman"/>
                <a:cs typeface="Times New Roman"/>
              </a:rPr>
              <a:t>(compare,</a:t>
            </a:r>
            <a:r>
              <a:rPr sz="1750" spc="12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31313"/>
                </a:solidFill>
                <a:latin typeface="Times New Roman"/>
                <a:cs typeface="Times New Roman"/>
              </a:rPr>
              <a:t>c.f.)</a:t>
            </a:r>
            <a:r>
              <a:rPr sz="1750" spc="5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0C0C0C"/>
                </a:solidFill>
                <a:latin typeface="Times New Roman"/>
                <a:cs typeface="Times New Roman"/>
              </a:rPr>
              <a:t>scalability</a:t>
            </a:r>
            <a:endParaRPr sz="1750">
              <a:latin typeface="Times New Roman"/>
              <a:cs typeface="Times New Roman"/>
            </a:endParaRPr>
          </a:p>
          <a:p>
            <a:pPr marL="755015" lvl="1" indent="-280035">
              <a:lnSpc>
                <a:spcPct val="100000"/>
              </a:lnSpc>
              <a:spcBef>
                <a:spcPts val="145"/>
              </a:spcBef>
              <a:buClr>
                <a:srgbClr val="424242"/>
              </a:buClr>
              <a:buChar char="—"/>
              <a:tabLst>
                <a:tab pos="755015" algn="l"/>
              </a:tabLst>
            </a:pPr>
            <a:r>
              <a:rPr sz="1650" dirty="0">
                <a:solidFill>
                  <a:srgbClr val="0C0C0C"/>
                </a:solidFill>
                <a:latin typeface="Times New Roman"/>
                <a:cs typeface="Times New Roman"/>
              </a:rPr>
              <a:t>Built-in</a:t>
            </a:r>
            <a:r>
              <a:rPr sz="1650" spc="3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50F38"/>
                </a:solidFill>
                <a:latin typeface="Times New Roman"/>
                <a:cs typeface="Times New Roman"/>
              </a:rPr>
              <a:t>fault</a:t>
            </a:r>
            <a:r>
              <a:rPr sz="1650" spc="350" dirty="0">
                <a:solidFill>
                  <a:srgbClr val="150F38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A1A1A"/>
                </a:solidFill>
                <a:latin typeface="Times New Roman"/>
                <a:cs typeface="Times New Roman"/>
              </a:rPr>
              <a:t>toler‹tnce,</a:t>
            </a:r>
            <a:r>
              <a:rPr sz="1650" spc="46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5013B"/>
                </a:solidFill>
                <a:latin typeface="Times New Roman"/>
                <a:cs typeface="Times New Roman"/>
              </a:rPr>
              <a:t>replication,</a:t>
            </a:r>
            <a:r>
              <a:rPr sz="1650" spc="405" dirty="0">
                <a:solidFill>
                  <a:srgbClr val="05013B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6D697B"/>
                </a:solidFill>
                <a:latin typeface="Times New Roman"/>
                <a:cs typeface="Times New Roman"/>
              </a:rPr>
              <a:t>and</a:t>
            </a:r>
            <a:r>
              <a:rPr sz="1650" spc="395" dirty="0">
                <a:solidFill>
                  <a:srgbClr val="6D697B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61616"/>
                </a:solidFill>
                <a:latin typeface="Times New Roman"/>
                <a:cs typeface="Times New Roman"/>
              </a:rPr>
              <a:t>load</a:t>
            </a:r>
            <a:r>
              <a:rPr sz="1650" spc="30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F1144"/>
                </a:solidFill>
                <a:latin typeface="Times New Roman"/>
                <a:cs typeface="Times New Roman"/>
              </a:rPr>
              <a:t>balancing</a:t>
            </a:r>
            <a:endParaRPr sz="1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551" rIns="0" bIns="0" rtlCol="0">
            <a:spAutoFit/>
          </a:bodyPr>
          <a:lstStyle/>
          <a:p>
            <a:pPr marL="8890" algn="ctr">
              <a:lnSpc>
                <a:spcPts val="4820"/>
              </a:lnSpc>
              <a:spcBef>
                <a:spcPts val="100"/>
              </a:spcBef>
            </a:pPr>
            <a:r>
              <a:rPr sz="4100" dirty="0">
                <a:solidFill>
                  <a:srgbClr val="EB3B13"/>
                </a:solidFill>
                <a:latin typeface="Arial"/>
                <a:cs typeface="Arial"/>
              </a:rPr>
              <a:t>The</a:t>
            </a:r>
            <a:r>
              <a:rPr sz="4100" spc="250" dirty="0">
                <a:solidFill>
                  <a:srgbClr val="EB3B13"/>
                </a:solidFill>
                <a:latin typeface="Arial"/>
                <a:cs typeface="Arial"/>
              </a:rPr>
              <a:t> </a:t>
            </a:r>
            <a:r>
              <a:rPr sz="4100" dirty="0">
                <a:solidFill>
                  <a:srgbClr val="F6360A"/>
                </a:solidFill>
                <a:latin typeface="Arial"/>
                <a:cs typeface="Arial"/>
              </a:rPr>
              <a:t>trQdítional</a:t>
            </a:r>
            <a:r>
              <a:rPr sz="4100" spc="565" dirty="0">
                <a:solidFill>
                  <a:srgbClr val="F6360A"/>
                </a:solidFill>
                <a:latin typeface="Arial"/>
                <a:cs typeface="Arial"/>
              </a:rPr>
              <a:t> </a:t>
            </a:r>
            <a:r>
              <a:rPr sz="4100" spc="-10" dirty="0">
                <a:solidFill>
                  <a:srgbClr val="F43D11"/>
                </a:solidFill>
                <a:latin typeface="Arial"/>
                <a:cs typeface="Arial"/>
              </a:rPr>
              <a:t>network</a:t>
            </a:r>
            <a:endParaRPr sz="4100">
              <a:latin typeface="Arial"/>
              <a:cs typeface="Arial"/>
            </a:endParaRPr>
          </a:p>
          <a:p>
            <a:pPr marL="8890" marR="1905" algn="ctr">
              <a:lnSpc>
                <a:spcPts val="4940"/>
              </a:lnSpc>
            </a:pPr>
            <a:r>
              <a:rPr sz="4200" spc="-10" dirty="0">
                <a:solidFill>
                  <a:srgbClr val="D64426"/>
                </a:solidFill>
                <a:latin typeface="Arial"/>
                <a:cs typeface="Arial"/>
              </a:rPr>
              <a:t>archi†ec†ure</a:t>
            </a:r>
            <a:endParaRPr sz="4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04173" y="2269827"/>
            <a:ext cx="68961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80" dirty="0">
                <a:latin typeface="Calibri"/>
                <a:cs typeface="Calibri"/>
              </a:rPr>
              <a:t>M40.111.N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671" y="2482452"/>
            <a:ext cx="7697391" cy="35361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145986" y="6011366"/>
            <a:ext cx="8051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Arial"/>
                <a:cs typeface="Arial"/>
              </a:rPr>
              <a:t>ź1&amp;11ßt2.176</a:t>
            </a:r>
            <a:endParaRPr sz="9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13101" y="6063257"/>
            <a:ext cx="651867" cy="9822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4898" y="687585"/>
            <a:ext cx="294679" cy="366117"/>
          </a:xfrm>
          <a:prstGeom prst="rect">
            <a:avLst/>
          </a:prstGeom>
        </p:spPr>
      </p:pic>
      <p:sp>
        <p:nvSpPr>
          <p:cNvPr id="5" name="object 5" descr="$PPTXTitle"/>
          <p:cNvSpPr txBox="1"/>
          <p:nvPr/>
        </p:nvSpPr>
        <p:spPr>
          <a:xfrm>
            <a:off x="2519759" y="441225"/>
            <a:ext cx="4580890" cy="739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650" spc="-120" dirty="0">
                <a:solidFill>
                  <a:srgbClr val="F23D08"/>
                </a:solidFill>
                <a:latin typeface="Arial"/>
                <a:cs typeface="Arial"/>
              </a:rPr>
              <a:t>hybrid</a:t>
            </a:r>
            <a:r>
              <a:rPr sz="4650" spc="-190" dirty="0">
                <a:solidFill>
                  <a:srgbClr val="F23D08"/>
                </a:solidFill>
                <a:latin typeface="Arial"/>
                <a:cs typeface="Arial"/>
              </a:rPr>
              <a:t> </a:t>
            </a:r>
            <a:r>
              <a:rPr sz="4650" spc="-795" dirty="0">
                <a:solidFill>
                  <a:srgbClr val="D6421A"/>
                </a:solidFill>
                <a:latin typeface="Arial"/>
                <a:cs typeface="Arial"/>
              </a:rPr>
              <a:t>P2P</a:t>
            </a:r>
            <a:r>
              <a:rPr sz="4650" spc="170" dirty="0">
                <a:solidFill>
                  <a:srgbClr val="D6421A"/>
                </a:solidFill>
                <a:latin typeface="Arial"/>
                <a:cs typeface="Arial"/>
              </a:rPr>
              <a:t> </a:t>
            </a:r>
            <a:r>
              <a:rPr sz="4650" spc="-190" dirty="0">
                <a:solidFill>
                  <a:srgbClr val="EF3A03"/>
                </a:solidFill>
                <a:latin typeface="Arial"/>
                <a:cs typeface="Arial"/>
              </a:rPr>
              <a:t>network</a:t>
            </a:r>
            <a:endParaRPr sz="46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54040" y="1123850"/>
            <a:ext cx="29921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80" dirty="0">
                <a:solidFill>
                  <a:srgbClr val="F43F0A"/>
                </a:solidFill>
                <a:latin typeface="Arial"/>
                <a:cs typeface="Arial"/>
              </a:rPr>
              <a:t>QP¢îhitecture</a:t>
            </a:r>
            <a:endParaRPr sz="4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54787" y="2267099"/>
            <a:ext cx="60452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-10" dirty="0">
                <a:latin typeface="Calibri"/>
                <a:cs typeface="Calibri"/>
              </a:rPr>
              <a:t>B4.40.111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spc="-50" dirty="0">
                <a:latin typeface="Calibri"/>
                <a:cs typeface="Calibri"/>
              </a:rPr>
              <a:t>M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375" y="2473523"/>
            <a:ext cx="7893843" cy="348257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01122" y="5930255"/>
            <a:ext cx="780415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5" dirty="0">
                <a:latin typeface="Arial"/>
                <a:cs typeface="Arial"/>
              </a:rPr>
              <a:t>g1611ßłS.ț70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5703" y="6009679"/>
            <a:ext cx="625078" cy="892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6687" rIns="0" bIns="0" rtlCol="0">
            <a:spAutoFit/>
          </a:bodyPr>
          <a:lstStyle/>
          <a:p>
            <a:pPr marL="1907539">
              <a:lnSpc>
                <a:spcPct val="100000"/>
              </a:lnSpc>
              <a:spcBef>
                <a:spcPts val="110"/>
              </a:spcBef>
            </a:pPr>
            <a:r>
              <a:rPr sz="3750" dirty="0">
                <a:solidFill>
                  <a:srgbClr val="ED3F0C"/>
                </a:solidFill>
              </a:rPr>
              <a:t>mus†</a:t>
            </a:r>
            <a:r>
              <a:rPr sz="3750" spc="320" dirty="0">
                <a:solidFill>
                  <a:srgbClr val="ED3F0C"/>
                </a:solidFill>
              </a:rPr>
              <a:t> </a:t>
            </a:r>
            <a:r>
              <a:rPr sz="3750" spc="100" dirty="0">
                <a:solidFill>
                  <a:srgbClr val="E93F1C"/>
                </a:solidFill>
              </a:rPr>
              <a:t>be</a:t>
            </a:r>
            <a:r>
              <a:rPr sz="3750" spc="150" dirty="0">
                <a:solidFill>
                  <a:srgbClr val="E93F1C"/>
                </a:solidFill>
              </a:rPr>
              <a:t> </a:t>
            </a:r>
            <a:r>
              <a:rPr sz="3750" spc="70" dirty="0">
                <a:solidFill>
                  <a:srgbClr val="DD3801"/>
                </a:solidFill>
              </a:rPr>
              <a:t>disruptive...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737201" y="1894802"/>
            <a:ext cx="7602855" cy="345757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381635" indent="-343535">
              <a:lnSpc>
                <a:spcPct val="100000"/>
              </a:lnSpc>
              <a:spcBef>
                <a:spcPts val="960"/>
              </a:spcBef>
              <a:buChar char="•"/>
              <a:tabLst>
                <a:tab pos="381635" algn="l"/>
              </a:tabLst>
            </a:pPr>
            <a:r>
              <a:rPr sz="2750" spc="-20" dirty="0">
                <a:latin typeface="Times New Roman"/>
                <a:cs typeface="Times New Roman"/>
              </a:rPr>
              <a:t>Peer-to-</a:t>
            </a:r>
            <a:r>
              <a:rPr sz="2750" dirty="0">
                <a:latin typeface="Times New Roman"/>
                <a:cs typeface="Times New Roman"/>
              </a:rPr>
              <a:t>peer</a:t>
            </a:r>
            <a:r>
              <a:rPr sz="2750" spc="23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(p2p):</a:t>
            </a:r>
            <a:r>
              <a:rPr sz="2750" spc="114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third</a:t>
            </a:r>
            <a:r>
              <a:rPr sz="2750" spc="12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generation</a:t>
            </a:r>
            <a:r>
              <a:rPr sz="2750" spc="22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of</a:t>
            </a:r>
            <a:r>
              <a:rPr sz="2750" spc="10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2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Internet</a:t>
            </a:r>
            <a:endParaRPr sz="2750">
              <a:latin typeface="Times New Roman"/>
              <a:cs typeface="Times New Roman"/>
            </a:endParaRPr>
          </a:p>
          <a:p>
            <a:pPr marL="383540" indent="-344805">
              <a:lnSpc>
                <a:spcPct val="100000"/>
              </a:lnSpc>
              <a:spcBef>
                <a:spcPts val="844"/>
              </a:spcBef>
              <a:buChar char="•"/>
              <a:tabLst>
                <a:tab pos="383540" algn="l"/>
              </a:tabLst>
            </a:pPr>
            <a:r>
              <a:rPr sz="2650" spc="-25" dirty="0">
                <a:latin typeface="Times New Roman"/>
                <a:cs typeface="Times New Roman"/>
              </a:rPr>
              <a:t>1"</a:t>
            </a:r>
            <a:r>
              <a:rPr sz="2625" spc="-37" baseline="26984" dirty="0">
                <a:latin typeface="Times New Roman"/>
                <a:cs typeface="Times New Roman"/>
              </a:rPr>
              <a:t>t</a:t>
            </a:r>
            <a:r>
              <a:rPr sz="2625" spc="555" baseline="26984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generation:</a:t>
            </a:r>
            <a:r>
              <a:rPr sz="2650" spc="33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“raw”</a:t>
            </a:r>
            <a:r>
              <a:rPr sz="2650" spc="34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Internet</a:t>
            </a:r>
            <a:endParaRPr sz="2650">
              <a:latin typeface="Times New Roman"/>
              <a:cs typeface="Times New Roman"/>
            </a:endParaRPr>
          </a:p>
          <a:p>
            <a:pPr marL="389890" indent="-350520">
              <a:lnSpc>
                <a:spcPct val="100000"/>
              </a:lnSpc>
              <a:spcBef>
                <a:spcPts val="925"/>
              </a:spcBef>
              <a:buChar char="•"/>
              <a:tabLst>
                <a:tab pos="389890" algn="l"/>
              </a:tabLst>
            </a:pPr>
            <a:r>
              <a:rPr sz="2550" dirty="0">
                <a:latin typeface="Times New Roman"/>
                <a:cs typeface="Times New Roman"/>
              </a:rPr>
              <a:t>2</a:t>
            </a:r>
            <a:r>
              <a:rPr sz="2850" baseline="24853" dirty="0">
                <a:latin typeface="Times New Roman"/>
                <a:cs typeface="Times New Roman"/>
              </a:rPr>
              <a:t>nd</a:t>
            </a:r>
            <a:r>
              <a:rPr sz="2850" spc="390" baseline="24853" dirty="0">
                <a:latin typeface="Times New Roman"/>
                <a:cs typeface="Times New Roman"/>
              </a:rPr>
              <a:t> </a:t>
            </a:r>
            <a:r>
              <a:rPr sz="2550" spc="65" dirty="0">
                <a:latin typeface="Times New Roman"/>
                <a:cs typeface="Times New Roman"/>
              </a:rPr>
              <a:t>generation:</a:t>
            </a:r>
            <a:r>
              <a:rPr sz="2550" spc="484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the</a:t>
            </a:r>
            <a:r>
              <a:rPr sz="2550" spc="145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Web</a:t>
            </a:r>
            <a:endParaRPr sz="2550">
              <a:latin typeface="Times New Roman"/>
              <a:cs typeface="Times New Roman"/>
            </a:endParaRPr>
          </a:p>
          <a:p>
            <a:pPr marL="375285" marR="30480" indent="-337820">
              <a:lnSpc>
                <a:spcPct val="103099"/>
              </a:lnSpc>
              <a:spcBef>
                <a:spcPts val="770"/>
              </a:spcBef>
              <a:buChar char="•"/>
              <a:tabLst>
                <a:tab pos="375285" algn="l"/>
                <a:tab pos="382905" algn="l"/>
              </a:tabLst>
            </a:pP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70" dirty="0">
                <a:latin typeface="Times New Roman"/>
                <a:cs typeface="Times New Roman"/>
              </a:rPr>
              <a:t>3'</a:t>
            </a:r>
            <a:r>
              <a:rPr sz="2925" spc="104" baseline="24216" dirty="0">
                <a:latin typeface="Times New Roman"/>
                <a:cs typeface="Times New Roman"/>
              </a:rPr>
              <a:t>d</a:t>
            </a:r>
            <a:r>
              <a:rPr sz="2925" spc="165" baseline="24216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generation:</a:t>
            </a:r>
            <a:r>
              <a:rPr sz="2700" spc="3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making</a:t>
            </a:r>
            <a:r>
              <a:rPr sz="2700" spc="3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new</a:t>
            </a:r>
            <a:r>
              <a:rPr sz="2700" spc="2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services</a:t>
            </a:r>
            <a:r>
              <a:rPr sz="2700" spc="2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14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users </a:t>
            </a:r>
            <a:r>
              <a:rPr sz="2700" dirty="0">
                <a:latin typeface="Times New Roman"/>
                <a:cs typeface="Times New Roman"/>
              </a:rPr>
              <a:t>cheaply</a:t>
            </a:r>
            <a:r>
              <a:rPr sz="2700" spc="25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10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quickly</a:t>
            </a:r>
            <a:r>
              <a:rPr sz="2700" spc="2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by</a:t>
            </a:r>
            <a:r>
              <a:rPr sz="2700" spc="19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making</a:t>
            </a:r>
            <a:r>
              <a:rPr sz="2700" spc="3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use</a:t>
            </a:r>
            <a:r>
              <a:rPr sz="2700" spc="7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2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their</a:t>
            </a:r>
            <a:r>
              <a:rPr sz="2700" spc="19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PCs</a:t>
            </a:r>
            <a:r>
              <a:rPr sz="2700" spc="150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as </a:t>
            </a:r>
            <a:r>
              <a:rPr sz="2700" dirty="0">
                <a:latin typeface="Times New Roman"/>
                <a:cs typeface="Times New Roman"/>
              </a:rPr>
              <a:t>active</a:t>
            </a:r>
            <a:r>
              <a:rPr sz="2700" spc="29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participants</a:t>
            </a:r>
            <a:r>
              <a:rPr sz="2700" spc="2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</a:t>
            </a:r>
            <a:r>
              <a:rPr sz="2700" spc="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computing</a:t>
            </a:r>
            <a:r>
              <a:rPr sz="2700" spc="47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processes</a:t>
            </a:r>
            <a:endParaRPr sz="2700">
              <a:latin typeface="Times New Roman"/>
              <a:cs typeface="Times New Roman"/>
            </a:endParaRPr>
          </a:p>
          <a:p>
            <a:pPr marL="381635" indent="-343535">
              <a:lnSpc>
                <a:spcPct val="100000"/>
              </a:lnSpc>
              <a:spcBef>
                <a:spcPts val="755"/>
              </a:spcBef>
              <a:buChar char="•"/>
              <a:tabLst>
                <a:tab pos="381635" algn="l"/>
              </a:tabLst>
            </a:pPr>
            <a:r>
              <a:rPr sz="2750" dirty="0">
                <a:latin typeface="Times New Roman"/>
                <a:cs typeface="Times New Roman"/>
              </a:rPr>
              <a:t>P2P</a:t>
            </a:r>
            <a:r>
              <a:rPr sz="2750" spc="-6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doing</a:t>
            </a:r>
            <a:r>
              <a:rPr sz="2750" spc="6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this</a:t>
            </a:r>
            <a:r>
              <a:rPr sz="2750" spc="-1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iii</a:t>
            </a:r>
            <a:r>
              <a:rPr sz="2750" spc="5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“disruptive”</a:t>
            </a:r>
            <a:r>
              <a:rPr sz="2750" spc="200" dirty="0">
                <a:latin typeface="Times New Roman"/>
                <a:cs typeface="Times New Roman"/>
              </a:rPr>
              <a:t> </a:t>
            </a:r>
            <a:r>
              <a:rPr sz="2750" spc="-20" dirty="0">
                <a:latin typeface="Times New Roman"/>
                <a:cs typeface="Times New Roman"/>
              </a:rPr>
              <a:t>ways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861748" y="126454"/>
            <a:ext cx="7409815" cy="673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250" dirty="0">
                <a:solidFill>
                  <a:srgbClr val="F63108"/>
                </a:solidFill>
                <a:latin typeface="Calibri"/>
                <a:cs typeface="Calibri"/>
              </a:rPr>
              <a:t>Bandwidth</a:t>
            </a:r>
            <a:r>
              <a:rPr sz="4250" spc="550" dirty="0">
                <a:solidFill>
                  <a:srgbClr val="F63108"/>
                </a:solidFill>
                <a:latin typeface="Calibri"/>
                <a:cs typeface="Calibri"/>
              </a:rPr>
              <a:t> </a:t>
            </a:r>
            <a:r>
              <a:rPr sz="4250" dirty="0">
                <a:solidFill>
                  <a:srgbClr val="ED3B0C"/>
                </a:solidFill>
                <a:latin typeface="Calibri"/>
                <a:cs typeface="Calibri"/>
              </a:rPr>
              <a:t>and</a:t>
            </a:r>
            <a:r>
              <a:rPr sz="4250" spc="425" dirty="0">
                <a:solidFill>
                  <a:srgbClr val="ED3B0C"/>
                </a:solidFill>
                <a:latin typeface="Calibri"/>
                <a:cs typeface="Calibri"/>
              </a:rPr>
              <a:t> </a:t>
            </a:r>
            <a:r>
              <a:rPr sz="4250" spc="200" dirty="0">
                <a:solidFill>
                  <a:srgbClr val="D63B1A"/>
                </a:solidFill>
                <a:latin typeface="Calibri"/>
                <a:cs typeface="Calibri"/>
              </a:rPr>
              <a:t>Storage</a:t>
            </a:r>
            <a:r>
              <a:rPr sz="4250" spc="380" dirty="0">
                <a:solidFill>
                  <a:srgbClr val="D63B1A"/>
                </a:solidFill>
                <a:latin typeface="Calibri"/>
                <a:cs typeface="Calibri"/>
              </a:rPr>
              <a:t> </a:t>
            </a:r>
            <a:r>
              <a:rPr sz="4250" spc="50" dirty="0">
                <a:solidFill>
                  <a:srgbClr val="DD3F15"/>
                </a:solidFill>
                <a:latin typeface="Calibri"/>
                <a:cs typeface="Calibri"/>
              </a:rPr>
              <a:t>Growth</a:t>
            </a:r>
            <a:endParaRPr sz="4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72761" y="767406"/>
            <a:ext cx="3343275" cy="643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50" spc="-270" dirty="0">
                <a:solidFill>
                  <a:srgbClr val="E93B0A"/>
                </a:solidFill>
                <a:latin typeface="Calibri"/>
                <a:cs typeface="Calibri"/>
              </a:rPr>
              <a:t>»</a:t>
            </a:r>
            <a:r>
              <a:rPr sz="4050" spc="150" dirty="0">
                <a:solidFill>
                  <a:srgbClr val="E93B0A"/>
                </a:solidFill>
                <a:latin typeface="Calibri"/>
                <a:cs typeface="Calibri"/>
              </a:rPr>
              <a:t> </a:t>
            </a:r>
            <a:r>
              <a:rPr sz="4050" spc="170" dirty="0">
                <a:solidFill>
                  <a:srgbClr val="F23805"/>
                </a:solidFill>
                <a:latin typeface="Calibri"/>
                <a:cs typeface="Calibri"/>
              </a:rPr>
              <a:t>Moore's</a:t>
            </a:r>
            <a:r>
              <a:rPr sz="4050" spc="395" dirty="0">
                <a:solidFill>
                  <a:srgbClr val="F23805"/>
                </a:solidFill>
                <a:latin typeface="Calibri"/>
                <a:cs typeface="Calibri"/>
              </a:rPr>
              <a:t> </a:t>
            </a:r>
            <a:r>
              <a:rPr sz="4050" spc="100" dirty="0">
                <a:solidFill>
                  <a:srgbClr val="ED3F0F"/>
                </a:solidFill>
                <a:latin typeface="Calibri"/>
                <a:cs typeface="Calibri"/>
              </a:rPr>
              <a:t>Law</a:t>
            </a:r>
            <a:endParaRPr sz="40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71326" y="1487487"/>
            <a:ext cx="4585335" cy="174307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60680" indent="-347980">
              <a:lnSpc>
                <a:spcPct val="100000"/>
              </a:lnSpc>
              <a:spcBef>
                <a:spcPts val="509"/>
              </a:spcBef>
              <a:buChar char="•"/>
              <a:tabLst>
                <a:tab pos="360680" algn="l"/>
              </a:tabLst>
            </a:pPr>
            <a:r>
              <a:rPr sz="2050" spc="-45" dirty="0">
                <a:latin typeface="Times New Roman"/>
                <a:cs typeface="Times New Roman"/>
              </a:rPr>
              <a:t>Network,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spc="-95" dirty="0">
                <a:latin typeface="Times New Roman"/>
                <a:cs typeface="Times New Roman"/>
              </a:rPr>
              <a:t>StOrage</a:t>
            </a:r>
            <a:r>
              <a:rPr sz="2050" spc="-3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and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Computers</a:t>
            </a:r>
            <a:endParaRPr sz="2050">
              <a:latin typeface="Times New Roman"/>
              <a:cs typeface="Times New Roman"/>
            </a:endParaRPr>
          </a:p>
          <a:p>
            <a:pPr marL="762000" lvl="1" indent="-295910">
              <a:lnSpc>
                <a:spcPct val="100000"/>
              </a:lnSpc>
              <a:spcBef>
                <a:spcPts val="375"/>
              </a:spcBef>
              <a:buClr>
                <a:srgbClr val="4F4F4F"/>
              </a:buClr>
              <a:buChar char="—"/>
              <a:tabLst>
                <a:tab pos="762000" algn="l"/>
              </a:tabLst>
            </a:pPr>
            <a:r>
              <a:rPr sz="1850" spc="-35" dirty="0">
                <a:solidFill>
                  <a:srgbClr val="0F0542"/>
                </a:solidFill>
                <a:latin typeface="Times New Roman"/>
                <a:cs typeface="Times New Roman"/>
              </a:rPr>
              <a:t>Network</a:t>
            </a:r>
            <a:r>
              <a:rPr sz="1850" spc="-65" dirty="0">
                <a:solidFill>
                  <a:srgbClr val="0F0542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282828"/>
                </a:solidFill>
                <a:latin typeface="Times New Roman"/>
                <a:cs typeface="Times New Roman"/>
              </a:rPr>
              <a:t>speed</a:t>
            </a:r>
            <a:r>
              <a:rPr sz="185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161616"/>
                </a:solidFill>
                <a:latin typeface="Times New Roman"/>
                <a:cs typeface="Times New Roman"/>
              </a:rPr>
              <a:t>doubles</a:t>
            </a:r>
            <a:r>
              <a:rPr sz="1850" spc="-4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850" spc="-20" dirty="0">
                <a:solidFill>
                  <a:srgbClr val="080538"/>
                </a:solidFill>
                <a:latin typeface="Times New Roman"/>
                <a:cs typeface="Times New Roman"/>
              </a:rPr>
              <a:t>every</a:t>
            </a:r>
            <a:r>
              <a:rPr sz="1850" spc="-45" dirty="0">
                <a:solidFill>
                  <a:srgbClr val="080538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80749"/>
                </a:solidFill>
                <a:latin typeface="Times New Roman"/>
                <a:cs typeface="Times New Roman"/>
              </a:rPr>
              <a:t>9</a:t>
            </a:r>
            <a:r>
              <a:rPr sz="1850" spc="-100" dirty="0">
                <a:solidFill>
                  <a:srgbClr val="080749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212121"/>
                </a:solidFill>
                <a:latin typeface="Times New Roman"/>
                <a:cs typeface="Times New Roman"/>
              </a:rPr>
              <a:t>months</a:t>
            </a:r>
            <a:endParaRPr sz="1850">
              <a:latin typeface="Times New Roman"/>
              <a:cs typeface="Times New Roman"/>
            </a:endParaRPr>
          </a:p>
          <a:p>
            <a:pPr marL="744220" lvl="1" indent="-278130">
              <a:lnSpc>
                <a:spcPct val="100000"/>
              </a:lnSpc>
              <a:spcBef>
                <a:spcPts val="384"/>
              </a:spcBef>
              <a:buClr>
                <a:srgbClr val="232323"/>
              </a:buClr>
              <a:buChar char="—"/>
              <a:tabLst>
                <a:tab pos="744220" algn="l"/>
              </a:tabLst>
            </a:pPr>
            <a:r>
              <a:rPr sz="1850" spc="-10" dirty="0">
                <a:solidFill>
                  <a:srgbClr val="0A0A46"/>
                </a:solidFill>
                <a:latin typeface="Times New Roman"/>
                <a:cs typeface="Times New Roman"/>
              </a:rPr>
              <a:t>Storage</a:t>
            </a:r>
            <a:r>
              <a:rPr sz="1850" spc="-100" dirty="0">
                <a:solidFill>
                  <a:srgbClr val="0A0A46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313131"/>
                </a:solidFill>
                <a:latin typeface="Times New Roman"/>
                <a:cs typeface="Times New Roman"/>
              </a:rPr>
              <a:t>size</a:t>
            </a:r>
            <a:r>
              <a:rPr sz="1850" spc="-85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3B3659"/>
                </a:solidFill>
                <a:latin typeface="Times New Roman"/>
                <a:cs typeface="Times New Roman"/>
              </a:rPr>
              <a:t>doubles</a:t>
            </a:r>
            <a:r>
              <a:rPr sz="1850" spc="-45" dirty="0">
                <a:solidFill>
                  <a:srgbClr val="3B3659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181818"/>
                </a:solidFill>
                <a:latin typeface="Times New Roman"/>
                <a:cs typeface="Times New Roman"/>
              </a:rPr>
              <a:t>every</a:t>
            </a:r>
            <a:r>
              <a:rPr sz="1850" spc="5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706B90"/>
                </a:solidFill>
                <a:latin typeface="Times New Roman"/>
                <a:cs typeface="Times New Roman"/>
              </a:rPr>
              <a:t>12</a:t>
            </a:r>
            <a:r>
              <a:rPr sz="1850" spc="-114" dirty="0">
                <a:solidFill>
                  <a:srgbClr val="706B90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2B2B2B"/>
                </a:solidFill>
                <a:latin typeface="Times New Roman"/>
                <a:cs typeface="Times New Roman"/>
              </a:rPr>
              <a:t>months</a:t>
            </a:r>
            <a:endParaRPr sz="1850">
              <a:latin typeface="Times New Roman"/>
              <a:cs typeface="Times New Roman"/>
            </a:endParaRPr>
          </a:p>
          <a:p>
            <a:pPr marL="749935" lvl="1" indent="-283845">
              <a:lnSpc>
                <a:spcPct val="100000"/>
              </a:lnSpc>
              <a:spcBef>
                <a:spcPts val="380"/>
              </a:spcBef>
              <a:buClr>
                <a:srgbClr val="232323"/>
              </a:buClr>
              <a:buChar char="—"/>
              <a:tabLst>
                <a:tab pos="749935" algn="l"/>
              </a:tabLst>
            </a:pPr>
            <a:r>
              <a:rPr sz="1850" spc="-30" dirty="0">
                <a:solidFill>
                  <a:srgbClr val="030038"/>
                </a:solidFill>
                <a:latin typeface="Times New Roman"/>
                <a:cs typeface="Times New Roman"/>
              </a:rPr>
              <a:t>Computer</a:t>
            </a:r>
            <a:r>
              <a:rPr sz="1850" spc="-10" dirty="0">
                <a:solidFill>
                  <a:srgbClr val="030038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1C1C1C"/>
                </a:solidFill>
                <a:latin typeface="Times New Roman"/>
                <a:cs typeface="Times New Roman"/>
              </a:rPr>
              <a:t>speed</a:t>
            </a:r>
            <a:r>
              <a:rPr sz="1850" spc="-70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111111"/>
                </a:solidFill>
                <a:latin typeface="Times New Roman"/>
                <a:cs typeface="Times New Roman"/>
              </a:rPr>
              <a:t>doubles</a:t>
            </a:r>
            <a:r>
              <a:rPr sz="1850" spc="-8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131346"/>
                </a:solidFill>
                <a:latin typeface="Times New Roman"/>
                <a:cs typeface="Times New Roman"/>
              </a:rPr>
              <a:t>every</a:t>
            </a:r>
            <a:r>
              <a:rPr sz="1850" spc="-50" dirty="0">
                <a:solidFill>
                  <a:srgbClr val="1313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1C1C1C"/>
                </a:solidFill>
                <a:latin typeface="Times New Roman"/>
                <a:cs typeface="Times New Roman"/>
              </a:rPr>
              <a:t>18</a:t>
            </a:r>
            <a:r>
              <a:rPr sz="1850" spc="-25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1850" spc="-40" dirty="0">
                <a:solidFill>
                  <a:srgbClr val="0F0F0F"/>
                </a:solidFill>
                <a:latin typeface="Times New Roman"/>
                <a:cs typeface="Times New Roman"/>
              </a:rPr>
              <a:t>months</a:t>
            </a:r>
            <a:endParaRPr sz="185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390"/>
              </a:spcBef>
              <a:buChar char="•"/>
              <a:tabLst>
                <a:tab pos="353695" algn="l"/>
              </a:tabLst>
            </a:pPr>
            <a:r>
              <a:rPr sz="2050" dirty="0">
                <a:latin typeface="Times New Roman"/>
                <a:cs typeface="Times New Roman"/>
              </a:rPr>
              <a:t>1986</a:t>
            </a:r>
            <a:r>
              <a:rPr sz="2050" spc="-9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-12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2000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25041" y="3223096"/>
            <a:ext cx="2327275" cy="99250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96545" indent="-283845">
              <a:lnSpc>
                <a:spcPct val="100000"/>
              </a:lnSpc>
              <a:spcBef>
                <a:spcPts val="365"/>
              </a:spcBef>
              <a:buClr>
                <a:srgbClr val="565656"/>
              </a:buClr>
              <a:buChar char="—"/>
              <a:tabLst>
                <a:tab pos="296545" algn="l"/>
              </a:tabLst>
            </a:pPr>
            <a:r>
              <a:rPr sz="1850" spc="-30" dirty="0">
                <a:solidFill>
                  <a:srgbClr val="181818"/>
                </a:solidFill>
                <a:latin typeface="Times New Roman"/>
                <a:cs typeface="Times New Roman"/>
              </a:rPr>
              <a:t>Computers</a:t>
            </a:r>
            <a:r>
              <a:rPr sz="1850" spc="10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111111"/>
                </a:solidFill>
                <a:latin typeface="Times New Roman"/>
                <a:cs typeface="Times New Roman"/>
              </a:rPr>
              <a:t>:</a:t>
            </a:r>
            <a:r>
              <a:rPr sz="1850" spc="-2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850" spc="-140" dirty="0">
                <a:solidFill>
                  <a:srgbClr val="11114B"/>
                </a:solidFill>
                <a:latin typeface="Times New Roman"/>
                <a:cs typeface="Times New Roman"/>
              </a:rPr>
              <a:t>X</a:t>
            </a:r>
            <a:r>
              <a:rPr sz="1850" spc="10" dirty="0">
                <a:solidFill>
                  <a:srgbClr val="11114B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0F0F46"/>
                </a:solidFill>
                <a:latin typeface="Times New Roman"/>
                <a:cs typeface="Times New Roman"/>
              </a:rPr>
              <a:t>500</a:t>
            </a:r>
            <a:endParaRPr sz="1850">
              <a:latin typeface="Times New Roman"/>
              <a:cs typeface="Times New Roman"/>
            </a:endParaRPr>
          </a:p>
          <a:p>
            <a:pPr marL="289560" indent="-276860">
              <a:lnSpc>
                <a:spcPct val="100000"/>
              </a:lnSpc>
              <a:spcBef>
                <a:spcPts val="285"/>
              </a:spcBef>
              <a:buClr>
                <a:srgbClr val="808080"/>
              </a:buClr>
              <a:buChar char="—"/>
              <a:tabLst>
                <a:tab pos="289560" algn="l"/>
              </a:tabLst>
            </a:pPr>
            <a:r>
              <a:rPr sz="1950" spc="-60" dirty="0">
                <a:solidFill>
                  <a:srgbClr val="0A0844"/>
                </a:solidFill>
                <a:latin typeface="Times New Roman"/>
                <a:cs typeface="Times New Roman"/>
              </a:rPr>
              <a:t>Storage</a:t>
            </a:r>
            <a:r>
              <a:rPr sz="1950" spc="-35" dirty="0">
                <a:solidFill>
                  <a:srgbClr val="0A0844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:</a:t>
            </a:r>
            <a:r>
              <a:rPr sz="1950" spc="-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spc="-235" dirty="0">
                <a:solidFill>
                  <a:srgbClr val="0F0A46"/>
                </a:solidFill>
                <a:latin typeface="Times New Roman"/>
                <a:cs typeface="Times New Roman"/>
              </a:rPr>
              <a:t>X</a:t>
            </a:r>
            <a:r>
              <a:rPr sz="1950" spc="65" dirty="0">
                <a:solidFill>
                  <a:srgbClr val="0F0A46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1A1A1A"/>
                </a:solidFill>
                <a:latin typeface="Times New Roman"/>
                <a:cs typeface="Times New Roman"/>
              </a:rPr>
              <a:t>16,000</a:t>
            </a:r>
            <a:endParaRPr sz="1950">
              <a:latin typeface="Times New Roman"/>
              <a:cs typeface="Times New Roman"/>
            </a:endParaRPr>
          </a:p>
          <a:p>
            <a:pPr marL="307975" indent="-295275">
              <a:lnSpc>
                <a:spcPct val="100000"/>
              </a:lnSpc>
              <a:spcBef>
                <a:spcPts val="340"/>
              </a:spcBef>
              <a:buClr>
                <a:srgbClr val="777777"/>
              </a:buClr>
              <a:buChar char="—"/>
              <a:tabLst>
                <a:tab pos="307975" algn="l"/>
              </a:tabLst>
            </a:pPr>
            <a:r>
              <a:rPr sz="1800" spc="-10" dirty="0">
                <a:solidFill>
                  <a:srgbClr val="0F0F0F"/>
                </a:solidFill>
                <a:latin typeface="Times New Roman"/>
                <a:cs typeface="Times New Roman"/>
              </a:rPr>
              <a:t>Networks</a:t>
            </a:r>
            <a:r>
              <a:rPr sz="1800" spc="2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F0F0F"/>
                </a:solidFill>
                <a:latin typeface="Times New Roman"/>
                <a:cs typeface="Times New Roman"/>
              </a:rPr>
              <a:t>:</a:t>
            </a:r>
            <a:r>
              <a:rPr sz="1800" spc="-5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10C54"/>
                </a:solidFill>
                <a:latin typeface="Times New Roman"/>
                <a:cs typeface="Times New Roman"/>
              </a:rPr>
              <a:t>X</a:t>
            </a:r>
            <a:r>
              <a:rPr sz="1800" spc="-20" dirty="0">
                <a:solidFill>
                  <a:srgbClr val="110C54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81818"/>
                </a:solidFill>
                <a:latin typeface="Times New Roman"/>
                <a:cs typeface="Times New Roman"/>
              </a:rPr>
              <a:t>340,000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70985" y="4243535"/>
            <a:ext cx="17024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790" indent="-339090">
              <a:lnSpc>
                <a:spcPct val="100000"/>
              </a:lnSpc>
              <a:spcBef>
                <a:spcPts val="100"/>
              </a:spcBef>
              <a:buChar char="•"/>
              <a:tabLst>
                <a:tab pos="351790" algn="l"/>
              </a:tabLst>
            </a:pPr>
            <a:r>
              <a:rPr sz="2100" spc="-25" dirty="0">
                <a:latin typeface="Times New Roman"/>
                <a:cs typeface="Times New Roman"/>
              </a:rPr>
              <a:t>2001</a:t>
            </a:r>
            <a:r>
              <a:rPr sz="2100" spc="-105" dirty="0">
                <a:latin typeface="Times New Roman"/>
                <a:cs typeface="Times New Roman"/>
              </a:rPr>
              <a:t> </a:t>
            </a:r>
            <a:r>
              <a:rPr sz="2100" spc="-30" dirty="0">
                <a:latin typeface="Times New Roman"/>
                <a:cs typeface="Times New Roman"/>
              </a:rPr>
              <a:t>to</a:t>
            </a:r>
            <a:r>
              <a:rPr sz="2100" spc="-100" dirty="0">
                <a:latin typeface="Times New Roman"/>
                <a:cs typeface="Times New Roman"/>
              </a:rPr>
              <a:t> </a:t>
            </a:r>
            <a:r>
              <a:rPr sz="2100" spc="-45" dirty="0">
                <a:latin typeface="Times New Roman"/>
                <a:cs typeface="Times New Roman"/>
              </a:rPr>
              <a:t>2010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37803" y="3318488"/>
            <a:ext cx="267970" cy="14592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85"/>
              </a:lnSpc>
            </a:pPr>
            <a:r>
              <a:rPr sz="1700" spc="-60" dirty="0">
                <a:latin typeface="Arial"/>
                <a:cs typeface="Arial"/>
              </a:rPr>
              <a:t>per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-105" dirty="0">
                <a:solidFill>
                  <a:srgbClr val="3F3F3F"/>
                </a:solidFill>
                <a:latin typeface="Arial"/>
                <a:cs typeface="Arial"/>
              </a:rPr>
              <a:t>D</a:t>
            </a:r>
            <a:r>
              <a:rPr sz="1700" spc="-325" dirty="0">
                <a:solidFill>
                  <a:srgbClr val="3F3F3F"/>
                </a:solidFill>
                <a:latin typeface="Arial"/>
                <a:cs typeface="Arial"/>
              </a:rPr>
              <a:t>o</a:t>
            </a:r>
            <a:r>
              <a:rPr sz="1700" spc="-935" dirty="0">
                <a:solidFill>
                  <a:srgbClr val="3F3F3F"/>
                </a:solidFill>
                <a:latin typeface="Arial"/>
                <a:cs typeface="Arial"/>
              </a:rPr>
              <a:t>a</a:t>
            </a:r>
            <a:r>
              <a:rPr sz="1700" spc="-50" dirty="0">
                <a:solidFill>
                  <a:srgbClr val="3F3F3F"/>
                </a:solidFill>
                <a:latin typeface="Arial"/>
                <a:cs typeface="Arial"/>
              </a:rPr>
              <a:t>l</a:t>
            </a:r>
            <a:r>
              <a:rPr sz="1700" spc="-95" dirty="0">
                <a:solidFill>
                  <a:srgbClr val="3F3F3F"/>
                </a:solidFill>
                <a:latin typeface="Arial"/>
                <a:cs typeface="Arial"/>
              </a:rPr>
              <a:t>l</a:t>
            </a:r>
            <a:r>
              <a:rPr sz="1700" spc="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700" spc="-310" dirty="0">
                <a:latin typeface="Arial"/>
                <a:cs typeface="Arial"/>
              </a:rPr>
              <a:t>r</a:t>
            </a:r>
            <a:r>
              <a:rPr sz="1700" spc="330" dirty="0">
                <a:latin typeface="Arial"/>
                <a:cs typeface="Arial"/>
              </a:rPr>
              <a:t> </a:t>
            </a:r>
            <a:r>
              <a:rPr sz="1700" spc="-275" dirty="0">
                <a:solidFill>
                  <a:srgbClr val="3B3B3B"/>
                </a:solidFill>
                <a:latin typeface="Arial"/>
                <a:cs typeface="Arial"/>
              </a:rPr>
              <a:t>S</a:t>
            </a:r>
            <a:r>
              <a:rPr sz="1700" spc="365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peat</a:t>
            </a:r>
            <a:endParaRPr sz="17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25041" y="4563561"/>
            <a:ext cx="2048510" cy="1010919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96545" indent="-283845">
              <a:lnSpc>
                <a:spcPct val="100000"/>
              </a:lnSpc>
              <a:spcBef>
                <a:spcPts val="480"/>
              </a:spcBef>
              <a:buClr>
                <a:srgbClr val="757575"/>
              </a:buClr>
              <a:buChar char="—"/>
              <a:tabLst>
                <a:tab pos="296545" algn="l"/>
              </a:tabLst>
            </a:pP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Computers</a:t>
            </a:r>
            <a:r>
              <a:rPr sz="1800" spc="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61616"/>
                </a:solidFill>
                <a:latin typeface="Times New Roman"/>
                <a:cs typeface="Times New Roman"/>
              </a:rPr>
              <a:t>:</a:t>
            </a:r>
            <a:r>
              <a:rPr sz="1800" spc="-6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60A56"/>
                </a:solidFill>
                <a:latin typeface="Times New Roman"/>
                <a:cs typeface="Times New Roman"/>
              </a:rPr>
              <a:t>X</a:t>
            </a:r>
            <a:r>
              <a:rPr sz="1800" spc="-95" dirty="0">
                <a:solidFill>
                  <a:srgbClr val="160A56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30838"/>
                </a:solidFill>
                <a:latin typeface="Times New Roman"/>
                <a:cs typeface="Times New Roman"/>
              </a:rPr>
              <a:t>60</a:t>
            </a:r>
            <a:endParaRPr sz="1800">
              <a:latin typeface="Times New Roman"/>
              <a:cs typeface="Times New Roman"/>
            </a:endParaRPr>
          </a:p>
          <a:p>
            <a:pPr marL="290830" indent="-278130">
              <a:lnSpc>
                <a:spcPct val="100000"/>
              </a:lnSpc>
              <a:spcBef>
                <a:spcPts val="390"/>
              </a:spcBef>
              <a:buClr>
                <a:srgbClr val="4B4B4B"/>
              </a:buClr>
              <a:buChar char="—"/>
              <a:tabLst>
                <a:tab pos="290830" algn="l"/>
              </a:tabLst>
            </a:pPr>
            <a:r>
              <a:rPr sz="1850" spc="-10" dirty="0">
                <a:solidFill>
                  <a:srgbClr val="161616"/>
                </a:solidFill>
                <a:latin typeface="Times New Roman"/>
                <a:cs typeface="Times New Roman"/>
              </a:rPr>
              <a:t>Storage</a:t>
            </a:r>
            <a:r>
              <a:rPr sz="1850" spc="-3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161616"/>
                </a:solidFill>
                <a:latin typeface="Times New Roman"/>
                <a:cs typeface="Times New Roman"/>
              </a:rPr>
              <a:t>:</a:t>
            </a:r>
            <a:r>
              <a:rPr sz="1850" spc="-4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850" spc="-70" dirty="0">
                <a:solidFill>
                  <a:srgbClr val="00002B"/>
                </a:solidFill>
                <a:latin typeface="Times New Roman"/>
                <a:cs typeface="Times New Roman"/>
              </a:rPr>
              <a:t>X</a:t>
            </a:r>
            <a:r>
              <a:rPr sz="1850" spc="-55" dirty="0">
                <a:solidFill>
                  <a:srgbClr val="00002B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0F0E4D"/>
                </a:solidFill>
                <a:latin typeface="Times New Roman"/>
                <a:cs typeface="Times New Roman"/>
              </a:rPr>
              <a:t>500</a:t>
            </a:r>
            <a:endParaRPr sz="1850">
              <a:latin typeface="Times New Roman"/>
              <a:cs typeface="Times New Roman"/>
            </a:endParaRPr>
          </a:p>
          <a:p>
            <a:pPr marL="308610" indent="-295910">
              <a:lnSpc>
                <a:spcPct val="100000"/>
              </a:lnSpc>
              <a:spcBef>
                <a:spcPts val="384"/>
              </a:spcBef>
              <a:buClr>
                <a:srgbClr val="1F1F1F"/>
              </a:buClr>
              <a:buChar char="—"/>
              <a:tabLst>
                <a:tab pos="308610" algn="l"/>
              </a:tabLst>
            </a:pPr>
            <a:r>
              <a:rPr sz="1850" spc="-40" dirty="0">
                <a:solidFill>
                  <a:srgbClr val="2F2F2F"/>
                </a:solidFill>
                <a:latin typeface="Times New Roman"/>
                <a:cs typeface="Times New Roman"/>
              </a:rPr>
              <a:t>Networks</a:t>
            </a:r>
            <a:r>
              <a:rPr sz="1850" spc="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F0F0F"/>
                </a:solidFill>
                <a:latin typeface="Times New Roman"/>
                <a:cs typeface="Times New Roman"/>
              </a:rPr>
              <a:t>:</a:t>
            </a:r>
            <a:r>
              <a:rPr sz="1850" spc="-6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F084B"/>
                </a:solidFill>
                <a:latin typeface="Times New Roman"/>
                <a:cs typeface="Times New Roman"/>
              </a:rPr>
              <a:t>X</a:t>
            </a:r>
            <a:r>
              <a:rPr sz="1850" spc="-60" dirty="0">
                <a:solidFill>
                  <a:srgbClr val="0F084B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16086D"/>
                </a:solidFill>
                <a:latin typeface="Times New Roman"/>
                <a:cs typeface="Times New Roman"/>
              </a:rPr>
              <a:t>4000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37803" y="4906024"/>
            <a:ext cx="267970" cy="10617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85"/>
              </a:lnSpc>
            </a:pPr>
            <a:r>
              <a:rPr sz="1700" spc="-40" dirty="0">
                <a:latin typeface="Arial"/>
                <a:cs typeface="Arial"/>
              </a:rPr>
              <a:t>Perforr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-925" dirty="0">
                <a:latin typeface="Arial"/>
                <a:cs typeface="Arial"/>
              </a:rPr>
              <a:t>n</a:t>
            </a:r>
            <a:r>
              <a:rPr sz="1700" spc="-20" dirty="0">
                <a:latin typeface="Arial"/>
                <a:cs typeface="Arial"/>
              </a:rPr>
              <a:t>æ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4572000" y="3295054"/>
            <a:ext cx="4170679" cy="2741930"/>
            <a:chOff x="4572000" y="3295054"/>
            <a:chExt cx="4170679" cy="27419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3295054"/>
              <a:ext cx="4170164" cy="274141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66991" y="3330773"/>
              <a:ext cx="267890" cy="12501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6008" y="3473648"/>
              <a:ext cx="669726" cy="2768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73835" y="3437929"/>
              <a:ext cx="634007" cy="1250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38179" y="4777383"/>
              <a:ext cx="1428749" cy="1607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36593" y="3330773"/>
              <a:ext cx="616148" cy="2946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66991" y="3330773"/>
              <a:ext cx="267890" cy="1250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77508" y="3437929"/>
              <a:ext cx="419695" cy="1250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00937" y="3473648"/>
              <a:ext cx="562570" cy="2857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29437" y="4768452"/>
              <a:ext cx="383976" cy="178593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519909" y="3213199"/>
            <a:ext cx="4277360" cy="2875915"/>
          </a:xfrm>
          <a:prstGeom prst="rect">
            <a:avLst/>
          </a:prstGeom>
          <a:ln w="20835">
            <a:solidFill>
              <a:srgbClr val="484844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R="734060" algn="r">
              <a:lnSpc>
                <a:spcPct val="100000"/>
              </a:lnSpc>
              <a:spcBef>
                <a:spcPts val="425"/>
              </a:spcBef>
            </a:pPr>
            <a:r>
              <a:rPr sz="1450" spc="55" dirty="0">
                <a:solidFill>
                  <a:srgbClr val="383838"/>
                </a:solidFill>
                <a:latin typeface="Times New Roman"/>
                <a:cs typeface="Times New Roman"/>
              </a:rPr>
              <a:t>Fibe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1450">
              <a:latin typeface="Times New Roman"/>
              <a:cs typeface="Times New Roman"/>
            </a:endParaRPr>
          </a:p>
          <a:p>
            <a:pPr marL="979169">
              <a:lnSpc>
                <a:spcPct val="100000"/>
              </a:lnSpc>
              <a:tabLst>
                <a:tab pos="1974214" algn="l"/>
              </a:tabLst>
            </a:pPr>
            <a:r>
              <a:rPr sz="1350" spc="75" dirty="0">
                <a:solidFill>
                  <a:srgbClr val="2A2A2A"/>
                </a:solidFill>
                <a:latin typeface="Times New Roman"/>
                <a:cs typeface="Times New Roman"/>
              </a:rPr>
              <a:t>‹numbar</a:t>
            </a:r>
            <a:r>
              <a:rPr sz="1350" spc="-1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444444"/>
                </a:solidFill>
                <a:latin typeface="Times New Roman"/>
                <a:cs typeface="Times New Roman"/>
              </a:rPr>
              <a:t>of</a:t>
            </a:r>
            <a:r>
              <a:rPr sz="1350" dirty="0">
                <a:solidFill>
                  <a:srgbClr val="444444"/>
                </a:solidFill>
                <a:latin typeface="Times New Roman"/>
                <a:cs typeface="Times New Roman"/>
              </a:rPr>
              <a:t>	</a:t>
            </a:r>
            <a:r>
              <a:rPr sz="1350" spc="-25" dirty="0">
                <a:solidFill>
                  <a:srgbClr val="414141"/>
                </a:solidFill>
                <a:latin typeface="Times New Roman"/>
                <a:cs typeface="Times New Roman"/>
              </a:rPr>
              <a:t>am</a:t>
            </a:r>
            <a:endParaRPr sz="135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500562" y="6107906"/>
            <a:ext cx="1696641" cy="11608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947297" y="6107906"/>
            <a:ext cx="857250" cy="11608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554641" y="6107906"/>
            <a:ext cx="53578" cy="116085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4645545" y="6176069"/>
            <a:ext cx="4001770" cy="6445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687830">
              <a:lnSpc>
                <a:spcPct val="100000"/>
              </a:lnSpc>
              <a:spcBef>
                <a:spcPts val="114"/>
              </a:spcBef>
            </a:pPr>
            <a:r>
              <a:rPr sz="1350" spc="114" dirty="0">
                <a:latin typeface="Times New Roman"/>
                <a:cs typeface="Times New Roman"/>
              </a:rPr>
              <a:t>Number</a:t>
            </a:r>
            <a:r>
              <a:rPr sz="1350" spc="215" dirty="0"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7E7E7E"/>
                </a:solidFill>
                <a:latin typeface="Times New Roman"/>
                <a:cs typeface="Times New Roman"/>
              </a:rPr>
              <a:t>o</a:t>
            </a:r>
            <a:r>
              <a:rPr sz="1350" spc="-7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350" spc="-229" dirty="0">
                <a:solidFill>
                  <a:srgbClr val="1D1D1D"/>
                </a:solidFill>
                <a:latin typeface="Times New Roman"/>
                <a:cs typeface="Times New Roman"/>
              </a:rPr>
              <a:t>f</a:t>
            </a:r>
            <a:r>
              <a:rPr sz="1350" spc="40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350" spc="114" dirty="0">
                <a:latin typeface="Times New Roman"/>
                <a:cs typeface="Times New Roman"/>
              </a:rPr>
              <a:t>Years</a:t>
            </a:r>
            <a:endParaRPr sz="1350">
              <a:latin typeface="Times New Roman"/>
              <a:cs typeface="Times New Roman"/>
            </a:endParaRPr>
          </a:p>
          <a:p>
            <a:pPr marL="17145" marR="5080" indent="-5080">
              <a:lnSpc>
                <a:spcPts val="1550"/>
              </a:lnSpc>
              <a:spcBef>
                <a:spcPts val="180"/>
              </a:spcBef>
            </a:pPr>
            <a:r>
              <a:rPr sz="1350" i="1" spc="-10" dirty="0">
                <a:latin typeface="Times New Roman"/>
                <a:cs typeface="Times New Roman"/>
              </a:rPr>
              <a:t>Graph</a:t>
            </a:r>
            <a:r>
              <a:rPr sz="1350" i="1" spc="-35" dirty="0"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131313"/>
                </a:solidFill>
                <a:latin typeface="Times New Roman"/>
                <a:cs typeface="Times New Roman"/>
              </a:rPr>
              <a:t>fmm</a:t>
            </a:r>
            <a:r>
              <a:rPr sz="1350" i="1" spc="-2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latin typeface="Times New Roman"/>
                <a:cs typeface="Times New Roman"/>
              </a:rPr>
              <a:t>Scientific</a:t>
            </a:r>
            <a:r>
              <a:rPr sz="1350" i="1" spc="-5" dirty="0">
                <a:latin typeface="Times New Roman"/>
                <a:cs typeface="Times New Roman"/>
              </a:rPr>
              <a:t> </a:t>
            </a:r>
            <a:r>
              <a:rPr sz="1350" i="1" dirty="0">
                <a:latin typeface="Times New Roman"/>
                <a:cs typeface="Times New Roman"/>
              </a:rPr>
              <a:t>American</a:t>
            </a:r>
            <a:r>
              <a:rPr sz="1350" i="1" spc="-40" dirty="0">
                <a:latin typeface="Times New Roman"/>
                <a:cs typeface="Times New Roman"/>
              </a:rPr>
              <a:t> </a:t>
            </a:r>
            <a:r>
              <a:rPr sz="1350" i="1" dirty="0">
                <a:latin typeface="Times New Roman"/>
                <a:cs typeface="Times New Roman"/>
              </a:rPr>
              <a:t>{Jon</a:t>
            </a:r>
            <a:r>
              <a:rPr sz="1350" i="1" spc="-30" dirty="0">
                <a:latin typeface="Times New Roman"/>
                <a:cs typeface="Times New Roman"/>
              </a:rPr>
              <a:t> </a:t>
            </a:r>
            <a:r>
              <a:rPr sz="1350" i="1" spc="-20" dirty="0">
                <a:latin typeface="Times New Roman"/>
                <a:cs typeface="Times New Roman"/>
              </a:rPr>
              <a:t>2001)</a:t>
            </a:r>
            <a:r>
              <a:rPr sz="1350" i="1" spc="-65" dirty="0">
                <a:latin typeface="Times New Roman"/>
                <a:cs typeface="Times New Roman"/>
              </a:rPr>
              <a:t> </a:t>
            </a:r>
            <a:r>
              <a:rPr sz="1350" i="1" dirty="0">
                <a:latin typeface="Times New Roman"/>
                <a:cs typeface="Times New Roman"/>
              </a:rPr>
              <a:t>by</a:t>
            </a:r>
            <a:r>
              <a:rPr sz="1350" i="1" spc="-60" dirty="0">
                <a:latin typeface="Times New Roman"/>
                <a:cs typeface="Times New Roman"/>
              </a:rPr>
              <a:t> </a:t>
            </a:r>
            <a:r>
              <a:rPr sz="1350" i="1" spc="-25" dirty="0">
                <a:latin typeface="Times New Roman"/>
                <a:cs typeface="Times New Roman"/>
              </a:rPr>
              <a:t>Cleo</a:t>
            </a:r>
            <a:r>
              <a:rPr sz="1350" i="1" spc="-60" dirty="0">
                <a:latin typeface="Times New Roman"/>
                <a:cs typeface="Times New Roman"/>
              </a:rPr>
              <a:t> </a:t>
            </a:r>
            <a:r>
              <a:rPr sz="1350" i="1" spc="-10" dirty="0">
                <a:latin typeface="Times New Roman"/>
                <a:cs typeface="Times New Roman"/>
              </a:rPr>
              <a:t>Vllett, </a:t>
            </a:r>
            <a:r>
              <a:rPr sz="1350" i="1" spc="-30" dirty="0">
                <a:latin typeface="Times New Roman"/>
                <a:cs typeface="Times New Roman"/>
              </a:rPr>
              <a:t>sourre </a:t>
            </a:r>
            <a:r>
              <a:rPr sz="1350" i="1" dirty="0">
                <a:latin typeface="Times New Roman"/>
                <a:cs typeface="Times New Roman"/>
              </a:rPr>
              <a:t>Vinci</a:t>
            </a:r>
            <a:r>
              <a:rPr sz="1350" i="1" spc="-45" dirty="0">
                <a:latin typeface="Times New Roman"/>
                <a:cs typeface="Times New Roman"/>
              </a:rPr>
              <a:t> </a:t>
            </a:r>
            <a:r>
              <a:rPr sz="1350" i="1" spc="-30" dirty="0">
                <a:latin typeface="Times New Roman"/>
                <a:cs typeface="Times New Roman"/>
              </a:rPr>
              <a:t>Khoslan,</a:t>
            </a:r>
            <a:r>
              <a:rPr sz="1350" i="1" spc="75" dirty="0">
                <a:latin typeface="Times New Roman"/>
                <a:cs typeface="Times New Roman"/>
              </a:rPr>
              <a:t> </a:t>
            </a:r>
            <a:r>
              <a:rPr sz="1350" i="1" spc="-30" dirty="0">
                <a:latin typeface="Times New Roman"/>
                <a:cs typeface="Times New Roman"/>
              </a:rPr>
              <a:t>Kleiner</a:t>
            </a:r>
            <a:r>
              <a:rPr sz="1350" i="1" spc="145" dirty="0">
                <a:latin typeface="Times New Roman"/>
                <a:cs typeface="Times New Roman"/>
              </a:rPr>
              <a:t> </a:t>
            </a:r>
            <a:r>
              <a:rPr sz="1350" i="1" spc="-25" dirty="0">
                <a:latin typeface="Times New Roman"/>
                <a:cs typeface="Times New Roman"/>
              </a:rPr>
              <a:t>Cauheld</a:t>
            </a:r>
            <a:r>
              <a:rPr sz="1350" i="1" spc="50" dirty="0">
                <a:latin typeface="Times New Roman"/>
                <a:cs typeface="Times New Roman"/>
              </a:rPr>
              <a:t> </a:t>
            </a:r>
            <a:r>
              <a:rPr sz="1350" i="1" dirty="0">
                <a:latin typeface="Times New Roman"/>
                <a:cs typeface="Times New Roman"/>
              </a:rPr>
              <a:t>and</a:t>
            </a:r>
            <a:r>
              <a:rPr sz="1350" i="1" spc="100" dirty="0">
                <a:latin typeface="Times New Roman"/>
                <a:cs typeface="Times New Roman"/>
              </a:rPr>
              <a:t> </a:t>
            </a:r>
            <a:r>
              <a:rPr sz="1350" i="1" spc="-10" dirty="0">
                <a:latin typeface="Times New Roman"/>
                <a:cs typeface="Times New Roman"/>
              </a:rPr>
              <a:t>Perkins.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3196521" y="242291"/>
            <a:ext cx="272796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E24115"/>
                </a:solidFill>
                <a:latin typeface="Cambria"/>
                <a:cs typeface="Cambria"/>
              </a:rPr>
              <a:t>Voore's</a:t>
            </a:r>
            <a:r>
              <a:rPr sz="4000" spc="375" dirty="0">
                <a:solidFill>
                  <a:srgbClr val="E24115"/>
                </a:solidFill>
                <a:latin typeface="Cambria"/>
                <a:cs typeface="Cambria"/>
              </a:rPr>
              <a:t> </a:t>
            </a:r>
            <a:r>
              <a:rPr sz="4000" spc="-30" dirty="0">
                <a:solidFill>
                  <a:srgbClr val="DB360A"/>
                </a:solidFill>
                <a:latin typeface="Cambria"/>
                <a:cs typeface="Cambria"/>
              </a:rPr>
              <a:t>Law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2607" y="1054397"/>
            <a:ext cx="7468870" cy="12312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49250" marR="236854" indent="-337185">
              <a:lnSpc>
                <a:spcPct val="103800"/>
              </a:lnSpc>
              <a:spcBef>
                <a:spcPts val="25"/>
              </a:spcBef>
              <a:buChar char="•"/>
              <a:tabLst>
                <a:tab pos="357505" algn="l"/>
              </a:tabLst>
            </a:pPr>
            <a:r>
              <a:rPr sz="1750" dirty="0">
                <a:latin typeface="Times New Roman"/>
                <a:cs typeface="Times New Roman"/>
              </a:rPr>
              <a:t>In</a:t>
            </a:r>
            <a:r>
              <a:rPr sz="1750" spc="1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1965,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Gordon</a:t>
            </a:r>
            <a:r>
              <a:rPr sz="1750" spc="17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Moore</a:t>
            </a:r>
            <a:r>
              <a:rPr sz="1750" spc="1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predicted</a:t>
            </a:r>
            <a:r>
              <a:rPr sz="1750" spc="1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that</a:t>
            </a:r>
            <a:r>
              <a:rPr sz="1750" spc="7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7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number</a:t>
            </a:r>
            <a:r>
              <a:rPr sz="1750" spc="8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of</a:t>
            </a:r>
            <a:r>
              <a:rPr sz="1750" spc="1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transistors</a:t>
            </a:r>
            <a:r>
              <a:rPr sz="1750" spc="1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that</a:t>
            </a:r>
            <a:r>
              <a:rPr sz="1750" spc="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can</a:t>
            </a:r>
            <a:r>
              <a:rPr sz="1750" spc="70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be 	</a:t>
            </a:r>
            <a:r>
              <a:rPr sz="1750" dirty="0">
                <a:latin typeface="Times New Roman"/>
                <a:cs typeface="Times New Roman"/>
              </a:rPr>
              <a:t>integrated</a:t>
            </a:r>
            <a:r>
              <a:rPr sz="1750" spc="1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on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die</a:t>
            </a:r>
            <a:r>
              <a:rPr sz="1750" spc="10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would</a:t>
            </a:r>
            <a:r>
              <a:rPr sz="1750" spc="9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double</a:t>
            </a:r>
            <a:r>
              <a:rPr sz="1750" spc="1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every</a:t>
            </a:r>
            <a:r>
              <a:rPr sz="1750" spc="20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18</a:t>
            </a:r>
            <a:r>
              <a:rPr sz="1750" spc="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14</a:t>
            </a:r>
            <a:r>
              <a:rPr sz="1750" spc="7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months</a:t>
            </a:r>
            <a:endParaRPr sz="1750">
              <a:latin typeface="Times New Roman"/>
              <a:cs typeface="Times New Roman"/>
            </a:endParaRPr>
          </a:p>
          <a:p>
            <a:pPr marL="758825" lvl="1" indent="-290830">
              <a:lnSpc>
                <a:spcPct val="100000"/>
              </a:lnSpc>
              <a:spcBef>
                <a:spcPts val="505"/>
              </a:spcBef>
              <a:buChar char="•"/>
              <a:tabLst>
                <a:tab pos="758825" algn="l"/>
              </a:tabLst>
            </a:pPr>
            <a:r>
              <a:rPr sz="1750" dirty="0">
                <a:latin typeface="Times New Roman"/>
                <a:cs typeface="Times New Roman"/>
              </a:rPr>
              <a:t>i.e.,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grow</a:t>
            </a:r>
            <a:r>
              <a:rPr sz="1750" spc="1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exponentially</a:t>
            </a:r>
            <a:r>
              <a:rPr sz="1750" spc="3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with</a:t>
            </a:r>
            <a:r>
              <a:rPr sz="1750" spc="85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time</a:t>
            </a:r>
            <a:endParaRPr sz="1750">
              <a:latin typeface="Times New Roman"/>
              <a:cs typeface="Times New Roman"/>
            </a:endParaRPr>
          </a:p>
          <a:p>
            <a:pPr marL="361950" indent="-349250">
              <a:lnSpc>
                <a:spcPct val="100000"/>
              </a:lnSpc>
              <a:spcBef>
                <a:spcPts val="500"/>
              </a:spcBef>
              <a:buChar char="•"/>
              <a:tabLst>
                <a:tab pos="361950" algn="l"/>
              </a:tabLst>
            </a:pPr>
            <a:r>
              <a:rPr sz="1750" dirty="0">
                <a:latin typeface="Times New Roman"/>
                <a:cs typeface="Times New Roman"/>
              </a:rPr>
              <a:t>Amazing</a:t>
            </a:r>
            <a:r>
              <a:rPr sz="1750" spc="2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visionary</a:t>
            </a:r>
            <a:r>
              <a:rPr sz="1750" spc="220" dirty="0">
                <a:latin typeface="Times New Roman"/>
                <a:cs typeface="Times New Roman"/>
              </a:rPr>
              <a:t> </a:t>
            </a:r>
            <a:r>
              <a:rPr sz="1750" spc="-825" dirty="0">
                <a:solidFill>
                  <a:srgbClr val="3F3F3F"/>
                </a:solidFill>
                <a:latin typeface="Times New Roman"/>
                <a:cs typeface="Times New Roman"/>
              </a:rPr>
              <a:t>—</a:t>
            </a:r>
            <a:r>
              <a:rPr sz="175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million</a:t>
            </a:r>
            <a:r>
              <a:rPr sz="1750" spc="1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transistor/chip</a:t>
            </a:r>
            <a:r>
              <a:rPr sz="1750" spc="9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barrier</a:t>
            </a:r>
            <a:r>
              <a:rPr sz="1750" spc="7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was</a:t>
            </a:r>
            <a:r>
              <a:rPr sz="1750" spc="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crossed</a:t>
            </a:r>
            <a:r>
              <a:rPr sz="1750" spc="8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</a:t>
            </a:r>
            <a:r>
              <a:rPr sz="1750" spc="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114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1980’s.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23106" y="2238106"/>
            <a:ext cx="4200525" cy="103568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670"/>
              </a:spcBef>
              <a:buClr>
                <a:srgbClr val="595959"/>
              </a:buClr>
              <a:buChar char="—"/>
              <a:tabLst>
                <a:tab pos="291465" algn="l"/>
              </a:tabLst>
            </a:pPr>
            <a:r>
              <a:rPr sz="1850" dirty="0">
                <a:latin typeface="Times New Roman"/>
                <a:cs typeface="Times New Roman"/>
              </a:rPr>
              <a:t>2300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transistors.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280" dirty="0">
                <a:latin typeface="Times New Roman"/>
                <a:cs typeface="Times New Roman"/>
              </a:rPr>
              <a:t>1</a:t>
            </a:r>
            <a:r>
              <a:rPr sz="1850" spc="165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MHz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clock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(Intel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4004)</a:t>
            </a:r>
            <a:endParaRPr sz="1850">
              <a:latin typeface="Times New Roman"/>
              <a:cs typeface="Times New Roman"/>
            </a:endParaRPr>
          </a:p>
          <a:p>
            <a:pPr marL="292735" indent="-280035">
              <a:lnSpc>
                <a:spcPct val="100000"/>
              </a:lnSpc>
              <a:spcBef>
                <a:spcPts val="530"/>
              </a:spcBef>
              <a:buClr>
                <a:srgbClr val="626262"/>
              </a:buClr>
              <a:buChar char="—"/>
              <a:tabLst>
                <a:tab pos="292735" algn="l"/>
              </a:tabLst>
            </a:pPr>
            <a:r>
              <a:rPr sz="1700" dirty="0">
                <a:latin typeface="Times New Roman"/>
                <a:cs typeface="Times New Roman"/>
              </a:rPr>
              <a:t>42</a:t>
            </a:r>
            <a:r>
              <a:rPr sz="1700" spc="1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Million,</a:t>
            </a:r>
            <a:r>
              <a:rPr sz="1700" spc="20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</a:t>
            </a:r>
            <a:r>
              <a:rPr sz="1700" spc="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GHz</a:t>
            </a:r>
            <a:r>
              <a:rPr sz="1700" spc="2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clock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(Intel</a:t>
            </a:r>
            <a:r>
              <a:rPr sz="1700" spc="2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P4)</a:t>
            </a:r>
            <a:r>
              <a:rPr sz="1700" spc="1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-</a:t>
            </a:r>
            <a:r>
              <a:rPr sz="1700" spc="17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2001</a:t>
            </a:r>
            <a:endParaRPr sz="1700">
              <a:latin typeface="Times New Roman"/>
              <a:cs typeface="Times New Roman"/>
            </a:endParaRPr>
          </a:p>
          <a:p>
            <a:pPr marL="296545" indent="-283845">
              <a:lnSpc>
                <a:spcPct val="100000"/>
              </a:lnSpc>
              <a:spcBef>
                <a:spcPts val="430"/>
              </a:spcBef>
              <a:buClr>
                <a:srgbClr val="626262"/>
              </a:buClr>
              <a:buChar char="—"/>
              <a:tabLst>
                <a:tab pos="296545" algn="l"/>
              </a:tabLst>
            </a:pPr>
            <a:r>
              <a:rPr sz="1800" dirty="0">
                <a:latin typeface="Times New Roman"/>
                <a:cs typeface="Times New Roman"/>
              </a:rPr>
              <a:t>140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Million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transistor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(HP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PA-</a:t>
            </a:r>
            <a:r>
              <a:rPr sz="1800" spc="-10" dirty="0">
                <a:latin typeface="Times New Roman"/>
                <a:cs typeface="Times New Roman"/>
              </a:rPr>
              <a:t>8500)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14230" y="2204172"/>
            <a:ext cx="629285" cy="77216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850" spc="-20" dirty="0">
                <a:latin typeface="Times New Roman"/>
                <a:cs typeface="Times New Roman"/>
              </a:rPr>
              <a:t>1971</a:t>
            </a:r>
            <a:endParaRPr sz="1850">
              <a:latin typeface="Times New Roman"/>
              <a:cs typeface="Times New Roman"/>
            </a:endParaRPr>
          </a:p>
          <a:p>
            <a:pPr marL="247015">
              <a:lnSpc>
                <a:spcPct val="100000"/>
              </a:lnSpc>
              <a:spcBef>
                <a:spcPts val="780"/>
              </a:spcBef>
            </a:pPr>
            <a:r>
              <a:rPr sz="2550" spc="-682" baseline="1633" dirty="0">
                <a:solidFill>
                  <a:srgbClr val="161616"/>
                </a:solidFill>
                <a:latin typeface="Times New Roman"/>
                <a:cs typeface="Times New Roman"/>
              </a:rPr>
              <a:t>1</a:t>
            </a:r>
            <a:r>
              <a:rPr sz="2550" spc="67" baseline="1633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700" spc="-434" dirty="0">
                <a:solidFill>
                  <a:srgbClr val="151515"/>
                </a:solidFill>
                <a:latin typeface="Times New Roman"/>
                <a:cs typeface="Times New Roman"/>
              </a:rPr>
              <a:t>B*08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88631" y="3497163"/>
            <a:ext cx="94678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80" dirty="0">
                <a:solidFill>
                  <a:srgbClr val="212D90"/>
                </a:solidFill>
                <a:latin typeface="Arial"/>
                <a:cs typeface="Arial"/>
              </a:rPr>
              <a:t>transistors</a:t>
            </a:r>
            <a:endParaRPr sz="13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60342" y="3466405"/>
            <a:ext cx="36957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30" dirty="0">
                <a:solidFill>
                  <a:srgbClr val="0F0F0F"/>
                </a:solidFill>
                <a:latin typeface="Arial"/>
                <a:cs typeface="Arial"/>
              </a:rPr>
              <a:t>1.L+0</a:t>
            </a:r>
            <a:r>
              <a:rPr sz="950" spc="-2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950" spc="-50" dirty="0">
                <a:solidFill>
                  <a:srgbClr val="7E7E7E"/>
                </a:solidFill>
                <a:latin typeface="Arial"/>
                <a:cs typeface="Arial"/>
              </a:rPr>
              <a:t>‘</a:t>
            </a:r>
            <a:endParaRPr sz="95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484" y="3848695"/>
            <a:ext cx="4768453" cy="251817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20761" y="4077592"/>
            <a:ext cx="132778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55" dirty="0">
                <a:solidFill>
                  <a:srgbClr val="1631A8"/>
                </a:solidFill>
                <a:latin typeface="Arial"/>
                <a:cs typeface="Arial"/>
              </a:rPr>
              <a:t>MOORE'S</a:t>
            </a:r>
            <a:r>
              <a:rPr sz="1350" spc="110" dirty="0">
                <a:solidFill>
                  <a:srgbClr val="1631A8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18349A"/>
                </a:solidFill>
                <a:latin typeface="Arial"/>
                <a:cs typeface="Arial"/>
              </a:rPr>
              <a:t>LAW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81054" y="3893343"/>
            <a:ext cx="116085" cy="1482328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5762144" y="4150518"/>
            <a:ext cx="403860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20" dirty="0">
                <a:solidFill>
                  <a:srgbClr val="161616"/>
                </a:solidFill>
                <a:latin typeface="Calibri"/>
                <a:cs typeface="Calibri"/>
              </a:rPr>
              <a:t>1.E</a:t>
            </a:r>
            <a:r>
              <a:rPr sz="1050" spc="-3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838383"/>
                </a:solidFill>
                <a:latin typeface="Calibri"/>
                <a:cs typeface="Calibri"/>
              </a:rPr>
              <a:t>*</a:t>
            </a:r>
            <a:r>
              <a:rPr sz="1050" spc="-25" dirty="0">
                <a:solidFill>
                  <a:srgbClr val="4F4F4F"/>
                </a:solidFill>
                <a:latin typeface="Calibri"/>
                <a:cs typeface="Calibri"/>
              </a:rPr>
              <a:t>00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59003" y="4838104"/>
            <a:ext cx="400685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65" dirty="0">
                <a:solidFill>
                  <a:srgbClr val="1A1A1A"/>
                </a:solidFill>
                <a:latin typeface="Arial"/>
                <a:cs typeface="Arial"/>
              </a:rPr>
              <a:t>1.E+01</a:t>
            </a:r>
            <a:endParaRPr sz="10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63198" y="5538092"/>
            <a:ext cx="37528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0C0C0C"/>
                </a:solidFill>
                <a:latin typeface="Calibri"/>
                <a:cs typeface="Calibri"/>
              </a:rPr>
              <a:t>1.</a:t>
            </a:r>
            <a:r>
              <a:rPr sz="950" spc="5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0C0C0C"/>
                </a:solidFill>
                <a:latin typeface="Calibri"/>
                <a:cs typeface="Calibri"/>
              </a:rPr>
              <a:t>-</a:t>
            </a:r>
            <a:r>
              <a:rPr sz="950" spc="-25" dirty="0">
                <a:solidFill>
                  <a:srgbClr val="0C0C0C"/>
                </a:solidFill>
                <a:latin typeface="Calibri"/>
                <a:cs typeface="Calibri"/>
              </a:rPr>
              <a:t>+04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7187" y="5848945"/>
            <a:ext cx="562570" cy="17412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1050" y="5976391"/>
            <a:ext cx="475615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spc="-114" dirty="0">
                <a:solidFill>
                  <a:srgbClr val="4959AE"/>
                </a:solidFill>
                <a:latin typeface="Arial"/>
                <a:cs typeface="Arial"/>
              </a:rPr>
              <a:t>4</a:t>
            </a:r>
            <a:r>
              <a:rPr sz="800" spc="-114" dirty="0">
                <a:solidFill>
                  <a:srgbClr val="5D698C"/>
                </a:solidFill>
                <a:latin typeface="Arial"/>
                <a:cs typeface="Arial"/>
              </a:rPr>
              <a:t>OOH*</a:t>
            </a:r>
            <a:r>
              <a:rPr sz="800" spc="85" dirty="0">
                <a:solidFill>
                  <a:srgbClr val="5D698C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E603B"/>
                </a:solidFill>
                <a:latin typeface="Arial"/>
                <a:cs typeface="Arial"/>
              </a:rPr>
              <a:t>•</a:t>
            </a:r>
            <a:r>
              <a:rPr sz="800" spc="140" dirty="0">
                <a:solidFill>
                  <a:srgbClr val="6E603B"/>
                </a:solidFill>
                <a:latin typeface="Arial"/>
                <a:cs typeface="Arial"/>
              </a:rPr>
              <a:t>  </a:t>
            </a:r>
            <a:r>
              <a:rPr sz="800" spc="-50" dirty="0">
                <a:solidFill>
                  <a:srgbClr val="E2AE52"/>
                </a:solidFill>
                <a:latin typeface="Arial"/>
                <a:cs typeface="Arial"/>
              </a:rPr>
              <a:t>"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8854" y="6238081"/>
            <a:ext cx="32829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90" dirty="0">
                <a:solidFill>
                  <a:srgbClr val="2F4287"/>
                </a:solidFill>
                <a:latin typeface="Arial"/>
                <a:cs typeface="Arial"/>
              </a:rPr>
              <a:t>1970</a:t>
            </a:r>
            <a:endParaRPr sz="8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8213" y="6238081"/>
            <a:ext cx="33591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105" dirty="0">
                <a:solidFill>
                  <a:srgbClr val="5D67A5"/>
                </a:solidFill>
                <a:latin typeface="Arial"/>
                <a:cs typeface="Arial"/>
              </a:rPr>
              <a:t>1975</a:t>
            </a:r>
            <a:endParaRPr sz="8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59003" y="6222206"/>
            <a:ext cx="380365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130" dirty="0">
                <a:solidFill>
                  <a:srgbClr val="0F0F0F"/>
                </a:solidFill>
                <a:latin typeface="Arial"/>
                <a:cs typeface="Arial"/>
              </a:rPr>
              <a:t>1.E</a:t>
            </a:r>
            <a:r>
              <a:rPr sz="1050" spc="-11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565656"/>
                </a:solidFill>
                <a:latin typeface="Arial"/>
                <a:cs typeface="Arial"/>
              </a:rPr>
              <a:t>•03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15062" y="2863452"/>
            <a:ext cx="2619375" cy="3503929"/>
            <a:chOff x="6215062" y="2863452"/>
            <a:chExt cx="2619375" cy="3503929"/>
          </a:xfrm>
        </p:grpSpPr>
        <p:pic>
          <p:nvPicPr>
            <p:cNvPr id="4" name="object 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15062" y="3214687"/>
              <a:ext cx="2589610" cy="315217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225480" y="2863452"/>
              <a:ext cx="0" cy="3449954"/>
            </a:xfrm>
            <a:custGeom>
              <a:avLst/>
              <a:gdLst/>
              <a:ahLst/>
              <a:cxnLst/>
              <a:rect l="l" t="t" r="r" b="b"/>
              <a:pathLst>
                <a:path h="3449954">
                  <a:moveTo>
                    <a:pt x="0" y="344983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3F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832948" y="2863452"/>
              <a:ext cx="0" cy="3495040"/>
            </a:xfrm>
            <a:custGeom>
              <a:avLst/>
              <a:gdLst/>
              <a:ahLst/>
              <a:cxnLst/>
              <a:rect l="l" t="t" r="r" b="b"/>
              <a:pathLst>
                <a:path h="3495040">
                  <a:moveTo>
                    <a:pt x="0" y="349448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3F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32922" y="2882800"/>
              <a:ext cx="2601595" cy="0"/>
            </a:xfrm>
            <a:custGeom>
              <a:avLst/>
              <a:gdLst/>
              <a:ahLst/>
              <a:cxnLst/>
              <a:rect l="l" t="t" r="r" b="b"/>
              <a:pathLst>
                <a:path w="2601595">
                  <a:moveTo>
                    <a:pt x="0" y="0"/>
                  </a:moveTo>
                  <a:lnTo>
                    <a:pt x="2601516" y="0"/>
                  </a:lnTo>
                </a:path>
              </a:pathLst>
            </a:custGeom>
            <a:ln w="3175">
              <a:solidFill>
                <a:srgbClr val="443F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081811" y="6413202"/>
            <a:ext cx="114300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49580" algn="l"/>
                <a:tab pos="878205" algn="l"/>
              </a:tabLst>
            </a:pPr>
            <a:r>
              <a:rPr sz="950" spc="-10" dirty="0">
                <a:solidFill>
                  <a:srgbClr val="0E0E0E"/>
                </a:solidFill>
                <a:latin typeface="Arial"/>
                <a:cs typeface="Arial"/>
              </a:rPr>
              <a:t>1?*70</a:t>
            </a:r>
            <a:r>
              <a:rPr sz="950" dirty="0">
                <a:solidFill>
                  <a:srgbClr val="0E0E0E"/>
                </a:solidFill>
                <a:latin typeface="Arial"/>
                <a:cs typeface="Arial"/>
              </a:rPr>
              <a:t>	</a:t>
            </a:r>
            <a:r>
              <a:rPr sz="950" spc="-20" dirty="0">
                <a:solidFill>
                  <a:srgbClr val="363636"/>
                </a:solidFill>
                <a:latin typeface="Arial"/>
                <a:cs typeface="Arial"/>
              </a:rPr>
              <a:t>1973</a:t>
            </a:r>
            <a:r>
              <a:rPr sz="950" dirty="0">
                <a:solidFill>
                  <a:srgbClr val="363636"/>
                </a:solidFill>
                <a:latin typeface="Arial"/>
                <a:cs typeface="Arial"/>
              </a:rPr>
              <a:t>	</a:t>
            </a:r>
            <a:r>
              <a:rPr sz="950" spc="-25" dirty="0">
                <a:solidFill>
                  <a:srgbClr val="282828"/>
                </a:solidFill>
                <a:latin typeface="Arial"/>
                <a:cs typeface="Arial"/>
              </a:rPr>
              <a:t>190L</a:t>
            </a:r>
            <a:endParaRPr sz="9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26968" y="5241181"/>
            <a:ext cx="2604770" cy="1346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330960">
              <a:lnSpc>
                <a:spcPct val="100000"/>
              </a:lnSpc>
              <a:spcBef>
                <a:spcPts val="114"/>
              </a:spcBef>
            </a:pPr>
            <a:r>
              <a:rPr sz="1400" spc="-50" dirty="0">
                <a:solidFill>
                  <a:srgbClr val="151515"/>
                </a:solidFill>
                <a:latin typeface="Arial"/>
                <a:cs typeface="Arial"/>
              </a:rPr>
              <a:t>2x/1.Syear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75"/>
              </a:spcBef>
            </a:pPr>
            <a:endParaRPr sz="1400">
              <a:latin typeface="Arial"/>
              <a:cs typeface="Arial"/>
            </a:endParaRPr>
          </a:p>
          <a:p>
            <a:pPr marL="1006475">
              <a:lnSpc>
                <a:spcPct val="100000"/>
              </a:lnSpc>
              <a:spcBef>
                <a:spcPts val="5"/>
              </a:spcBef>
            </a:pPr>
            <a:r>
              <a:rPr sz="1450" spc="-50" dirty="0">
                <a:latin typeface="Arial"/>
                <a:cs typeface="Arial"/>
              </a:rPr>
              <a:t>Intel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processors</a:t>
            </a:r>
            <a:endParaRPr sz="1450">
              <a:latin typeface="Arial"/>
              <a:cs typeface="Arial"/>
            </a:endParaRPr>
          </a:p>
          <a:p>
            <a:pPr marL="1170940">
              <a:lnSpc>
                <a:spcPct val="100000"/>
              </a:lnSpc>
              <a:spcBef>
                <a:spcPts val="1220"/>
              </a:spcBef>
              <a:tabLst>
                <a:tab pos="1366520" algn="l"/>
                <a:tab pos="1617345" algn="l"/>
                <a:tab pos="2037080" algn="l"/>
              </a:tabLst>
            </a:pPr>
            <a:r>
              <a:rPr sz="950" spc="-50" dirty="0">
                <a:solidFill>
                  <a:srgbClr val="232323"/>
                </a:solidFill>
                <a:latin typeface="Arial"/>
                <a:cs typeface="Arial"/>
              </a:rPr>
              <a:t>1</a:t>
            </a:r>
            <a:r>
              <a:rPr sz="950" dirty="0">
                <a:solidFill>
                  <a:srgbClr val="232323"/>
                </a:solidFill>
                <a:latin typeface="Arial"/>
                <a:cs typeface="Arial"/>
              </a:rPr>
              <a:t>	</a:t>
            </a:r>
            <a:r>
              <a:rPr sz="950" spc="-50" dirty="0">
                <a:solidFill>
                  <a:srgbClr val="232323"/>
                </a:solidFill>
                <a:latin typeface="Arial"/>
                <a:cs typeface="Arial"/>
              </a:rPr>
              <a:t>?</a:t>
            </a:r>
            <a:r>
              <a:rPr sz="950" dirty="0">
                <a:solidFill>
                  <a:srgbClr val="232323"/>
                </a:solidFill>
                <a:latin typeface="Arial"/>
                <a:cs typeface="Arial"/>
              </a:rPr>
              <a:t>	</a:t>
            </a:r>
            <a:r>
              <a:rPr sz="950" spc="-50" dirty="0">
                <a:solidFill>
                  <a:srgbClr val="464646"/>
                </a:solidFill>
                <a:latin typeface="Arial"/>
                <a:cs typeface="Arial"/>
              </a:rPr>
              <a:t>”</a:t>
            </a:r>
            <a:r>
              <a:rPr sz="950" spc="-114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950" spc="-25" dirty="0">
                <a:solidFill>
                  <a:srgbClr val="464646"/>
                </a:solidFill>
                <a:latin typeface="Arial"/>
                <a:cs typeface="Arial"/>
              </a:rPr>
              <a:t>990</a:t>
            </a:r>
            <a:r>
              <a:rPr sz="950" dirty="0">
                <a:solidFill>
                  <a:srgbClr val="464646"/>
                </a:solidFill>
                <a:latin typeface="Arial"/>
                <a:cs typeface="Arial"/>
              </a:rPr>
              <a:t>	</a:t>
            </a:r>
            <a:r>
              <a:rPr sz="950" spc="-20" dirty="0">
                <a:latin typeface="Arial"/>
                <a:cs typeface="Arial"/>
              </a:rPr>
              <a:t>193?</a:t>
            </a:r>
            <a:endParaRPr sz="9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681301" y="6413202"/>
            <a:ext cx="27876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90" dirty="0">
                <a:latin typeface="Arial"/>
                <a:cs typeface="Arial"/>
              </a:rPr>
              <a:t>2C'00</a:t>
            </a:r>
            <a:endParaRPr sz="9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68922" y="6574432"/>
            <a:ext cx="2915285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-20" dirty="0">
                <a:latin typeface="Times New Roman"/>
                <a:cs typeface="Times New Roman"/>
              </a:rPr>
              <a:t>Source:</a:t>
            </a:r>
            <a:r>
              <a:rPr sz="1450" spc="-6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Intel</a:t>
            </a:r>
            <a:r>
              <a:rPr sz="1450" dirty="0">
                <a:latin typeface="Times New Roman"/>
                <a:cs typeface="Times New Roman"/>
              </a:rPr>
              <a:t> </a:t>
            </a:r>
            <a:r>
              <a:rPr sz="1450" spc="-25" dirty="0">
                <a:latin typeface="Times New Roman"/>
                <a:cs typeface="Times New Roman"/>
              </a:rPr>
              <a:t>web</a:t>
            </a:r>
            <a:r>
              <a:rPr sz="1450" spc="-15" dirty="0">
                <a:latin typeface="Times New Roman"/>
                <a:cs typeface="Times New Roman"/>
              </a:rPr>
              <a:t> </a:t>
            </a:r>
            <a:r>
              <a:rPr sz="1450" spc="-25" dirty="0">
                <a:latin typeface="Times New Roman"/>
                <a:cs typeface="Times New Roman"/>
              </a:rPr>
              <a:t>page</a:t>
            </a:r>
            <a:r>
              <a:rPr sz="1450" spc="-50" dirty="0">
                <a:latin typeface="Times New Roman"/>
                <a:cs typeface="Times New Roman"/>
              </a:rPr>
              <a:t> </a:t>
            </a:r>
            <a:r>
              <a:rPr sz="1450" spc="-30" dirty="0">
                <a:latin typeface="Times New Roman"/>
                <a:cs typeface="Times New Roman"/>
              </a:rPr>
              <a:t>(z'ww',iotel.com)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93781" y="6706195"/>
            <a:ext cx="267890" cy="9822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350" spc="-75" dirty="0">
                <a:solidFill>
                  <a:srgbClr val="EB3B13"/>
                </a:solidFill>
                <a:latin typeface="Arial"/>
                <a:cs typeface="Arial"/>
              </a:rPr>
              <a:t>Peer-</a:t>
            </a:r>
            <a:r>
              <a:rPr sz="3350" dirty="0">
                <a:solidFill>
                  <a:srgbClr val="EB3B13"/>
                </a:solidFill>
                <a:latin typeface="Arial"/>
                <a:cs typeface="Arial"/>
              </a:rPr>
              <a:t>peer</a:t>
            </a:r>
            <a:r>
              <a:rPr sz="3350" spc="235" dirty="0">
                <a:solidFill>
                  <a:srgbClr val="EB3B13"/>
                </a:solidFill>
                <a:latin typeface="Arial"/>
                <a:cs typeface="Arial"/>
              </a:rPr>
              <a:t> </a:t>
            </a:r>
            <a:r>
              <a:rPr sz="3350" spc="-10" dirty="0">
                <a:solidFill>
                  <a:srgbClr val="ED3B16"/>
                </a:solidFill>
                <a:latin typeface="Arial"/>
                <a:cs typeface="Arial"/>
              </a:rPr>
              <a:t>networking</a:t>
            </a:r>
            <a:endParaRPr sz="33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1160" y="1208434"/>
            <a:ext cx="34550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45" dirty="0">
                <a:solidFill>
                  <a:srgbClr val="131313"/>
                </a:solidFill>
                <a:latin typeface="Arial"/>
                <a:cs typeface="Arial"/>
              </a:rPr>
              <a:t>Focus</a:t>
            </a:r>
            <a:r>
              <a:rPr sz="2200" spc="-10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200" spc="-285" dirty="0">
                <a:solidFill>
                  <a:srgbClr val="111111"/>
                </a:solidFill>
                <a:latin typeface="Arial"/>
                <a:cs typeface="Arial"/>
              </a:rPr>
              <a:t>a†</a:t>
            </a:r>
            <a:r>
              <a:rPr sz="220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200" spc="-175" dirty="0">
                <a:solidFill>
                  <a:srgbClr val="151515"/>
                </a:solidFill>
                <a:latin typeface="Arial"/>
                <a:cs typeface="Arial"/>
              </a:rPr>
              <a:t>†he</a:t>
            </a:r>
            <a:r>
              <a:rPr sz="22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2200" u="heavy" spc="-55" dirty="0">
                <a:solidFill>
                  <a:srgbClr val="111111"/>
                </a:solidFill>
                <a:uFill>
                  <a:solidFill>
                    <a:srgbClr val="1F341F"/>
                  </a:solidFill>
                </a:uFill>
                <a:latin typeface="Arial"/>
                <a:cs typeface="Arial"/>
              </a:rPr>
              <a:t>application</a:t>
            </a:r>
            <a:r>
              <a:rPr sz="2200" u="none" spc="-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200" u="none" spc="-30" dirty="0">
                <a:solidFill>
                  <a:srgbClr val="131313"/>
                </a:solidFill>
                <a:latin typeface="Arial"/>
                <a:cs typeface="Arial"/>
              </a:rPr>
              <a:t>level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350" spc="-75" dirty="0">
                <a:solidFill>
                  <a:srgbClr val="EB3B13"/>
                </a:solidFill>
                <a:latin typeface="Arial"/>
                <a:cs typeface="Arial"/>
              </a:rPr>
              <a:t>Peer-</a:t>
            </a:r>
            <a:r>
              <a:rPr sz="3350" dirty="0">
                <a:solidFill>
                  <a:srgbClr val="EB3B13"/>
                </a:solidFill>
                <a:latin typeface="Arial"/>
                <a:cs typeface="Arial"/>
              </a:rPr>
              <a:t>peer</a:t>
            </a:r>
            <a:r>
              <a:rPr sz="3350" spc="235" dirty="0">
                <a:solidFill>
                  <a:srgbClr val="EB3B13"/>
                </a:solidFill>
                <a:latin typeface="Arial"/>
                <a:cs typeface="Arial"/>
              </a:rPr>
              <a:t> </a:t>
            </a:r>
            <a:r>
              <a:rPr sz="3350" spc="-10" dirty="0">
                <a:solidFill>
                  <a:srgbClr val="ED3B16"/>
                </a:solidFill>
                <a:latin typeface="Arial"/>
                <a:cs typeface="Arial"/>
              </a:rPr>
              <a:t>networking</a:t>
            </a:r>
            <a:endParaRPr sz="33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1160" y="1208434"/>
            <a:ext cx="34550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45" dirty="0">
                <a:solidFill>
                  <a:srgbClr val="131313"/>
                </a:solidFill>
                <a:latin typeface="Arial"/>
                <a:cs typeface="Arial"/>
              </a:rPr>
              <a:t>Focus</a:t>
            </a:r>
            <a:r>
              <a:rPr sz="2200" spc="-10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200" spc="-285" dirty="0">
                <a:solidFill>
                  <a:srgbClr val="111111"/>
                </a:solidFill>
                <a:latin typeface="Arial"/>
                <a:cs typeface="Arial"/>
              </a:rPr>
              <a:t>a†</a:t>
            </a:r>
            <a:r>
              <a:rPr sz="220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200" spc="-175" dirty="0">
                <a:solidFill>
                  <a:srgbClr val="151515"/>
                </a:solidFill>
                <a:latin typeface="Arial"/>
                <a:cs typeface="Arial"/>
              </a:rPr>
              <a:t>†he</a:t>
            </a:r>
            <a:r>
              <a:rPr sz="22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2200" u="heavy" spc="-55" dirty="0">
                <a:solidFill>
                  <a:srgbClr val="111111"/>
                </a:solidFill>
                <a:uFill>
                  <a:solidFill>
                    <a:srgbClr val="1F341F"/>
                  </a:solidFill>
                </a:uFill>
                <a:latin typeface="Arial"/>
                <a:cs typeface="Arial"/>
              </a:rPr>
              <a:t>application</a:t>
            </a:r>
            <a:r>
              <a:rPr sz="2200" u="none" spc="-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200" u="none" spc="-30" dirty="0">
                <a:solidFill>
                  <a:srgbClr val="131313"/>
                </a:solidFill>
                <a:latin typeface="Arial"/>
                <a:cs typeface="Arial"/>
              </a:rPr>
              <a:t>level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17422" y="838844"/>
            <a:ext cx="3075305" cy="643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50" dirty="0">
                <a:solidFill>
                  <a:srgbClr val="E83A18"/>
                </a:solidFill>
                <a:latin typeface="Arial"/>
                <a:cs typeface="Arial"/>
              </a:rPr>
              <a:t>How</a:t>
            </a:r>
            <a:r>
              <a:rPr sz="4050" spc="35" dirty="0">
                <a:solidFill>
                  <a:srgbClr val="E83A18"/>
                </a:solidFill>
                <a:latin typeface="Arial"/>
                <a:cs typeface="Arial"/>
              </a:rPr>
              <a:t> </a:t>
            </a:r>
            <a:r>
              <a:rPr sz="4050" dirty="0">
                <a:solidFill>
                  <a:srgbClr val="E23F16"/>
                </a:solidFill>
                <a:latin typeface="Arial"/>
                <a:cs typeface="Arial"/>
              </a:rPr>
              <a:t>i†</a:t>
            </a:r>
            <a:r>
              <a:rPr sz="4050" spc="-30" dirty="0">
                <a:solidFill>
                  <a:srgbClr val="E23F16"/>
                </a:solidFill>
                <a:latin typeface="Arial"/>
                <a:cs typeface="Arial"/>
              </a:rPr>
              <a:t> </a:t>
            </a:r>
            <a:r>
              <a:rPr sz="4050" spc="-10" dirty="0">
                <a:solidFill>
                  <a:srgbClr val="ED3300"/>
                </a:solidFill>
                <a:latin typeface="Arial"/>
                <a:cs typeface="Arial"/>
              </a:rPr>
              <a:t>works</a:t>
            </a:r>
            <a:endParaRPr sz="405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3828" y="2053827"/>
            <a:ext cx="4125516" cy="335756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57387" y="443706"/>
            <a:ext cx="6379845" cy="576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spc="-80" dirty="0">
                <a:solidFill>
                  <a:srgbClr val="D64418"/>
                </a:solidFill>
                <a:latin typeface="Arial"/>
                <a:cs typeface="Arial"/>
              </a:rPr>
              <a:t>Classification</a:t>
            </a:r>
            <a:r>
              <a:rPr sz="3600" spc="-170" dirty="0">
                <a:solidFill>
                  <a:srgbClr val="D64418"/>
                </a:solidFill>
                <a:latin typeface="Arial"/>
                <a:cs typeface="Arial"/>
              </a:rPr>
              <a:t> </a:t>
            </a:r>
            <a:r>
              <a:rPr sz="5400" baseline="1543" dirty="0">
                <a:solidFill>
                  <a:srgbClr val="D44923"/>
                </a:solidFill>
                <a:latin typeface="Arial"/>
                <a:cs typeface="Arial"/>
              </a:rPr>
              <a:t>o</a:t>
            </a:r>
            <a:r>
              <a:rPr sz="5400" baseline="-1543" dirty="0">
                <a:solidFill>
                  <a:srgbClr val="D44923"/>
                </a:solidFill>
                <a:latin typeface="Arial"/>
                <a:cs typeface="Arial"/>
              </a:rPr>
              <a:t>f</a:t>
            </a:r>
            <a:r>
              <a:rPr sz="5400" spc="352" baseline="-1543" dirty="0">
                <a:solidFill>
                  <a:srgbClr val="D44923"/>
                </a:solidFill>
                <a:latin typeface="Arial"/>
                <a:cs typeface="Arial"/>
              </a:rPr>
              <a:t> </a:t>
            </a:r>
            <a:r>
              <a:rPr sz="3600" spc="-325" dirty="0">
                <a:solidFill>
                  <a:srgbClr val="F22F03"/>
                </a:solidFill>
                <a:latin typeface="Arial"/>
                <a:cs typeface="Arial"/>
              </a:rPr>
              <a:t>†he</a:t>
            </a:r>
            <a:r>
              <a:rPr sz="3600" spc="-95" dirty="0">
                <a:solidFill>
                  <a:srgbClr val="F22F03"/>
                </a:solidFill>
                <a:latin typeface="Arial"/>
                <a:cs typeface="Arial"/>
              </a:rPr>
              <a:t> </a:t>
            </a:r>
            <a:r>
              <a:rPr sz="3600" spc="-550" dirty="0">
                <a:solidFill>
                  <a:srgbClr val="C14B28"/>
                </a:solidFill>
                <a:latin typeface="Arial"/>
                <a:cs typeface="Arial"/>
              </a:rPr>
              <a:t>P2P</a:t>
            </a:r>
            <a:r>
              <a:rPr sz="3600" spc="250" dirty="0">
                <a:solidFill>
                  <a:srgbClr val="C14B28"/>
                </a:solidFill>
                <a:latin typeface="Arial"/>
                <a:cs typeface="Arial"/>
              </a:rPr>
              <a:t> </a:t>
            </a:r>
            <a:r>
              <a:rPr sz="3600" spc="-180" dirty="0">
                <a:solidFill>
                  <a:srgbClr val="C13B11"/>
                </a:solidFill>
                <a:latin typeface="Arial"/>
                <a:cs typeface="Arial"/>
              </a:rPr>
              <a:t>Systems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04422" y="5134570"/>
            <a:ext cx="732234" cy="108942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2836" y="1309389"/>
            <a:ext cx="8259445" cy="5097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95"/>
              </a:spcBef>
            </a:pPr>
            <a:r>
              <a:rPr sz="2250" spc="-70" dirty="0">
                <a:latin typeface="Arial"/>
                <a:cs typeface="Arial"/>
              </a:rPr>
              <a:t>Three</a:t>
            </a:r>
            <a:r>
              <a:rPr sz="2250" spc="-100" dirty="0">
                <a:latin typeface="Arial"/>
                <a:cs typeface="Arial"/>
              </a:rPr>
              <a:t> </a:t>
            </a:r>
            <a:r>
              <a:rPr sz="2250" spc="-180" dirty="0">
                <a:latin typeface="Arial"/>
                <a:cs typeface="Arial"/>
              </a:rPr>
              <a:t>main</a:t>
            </a:r>
            <a:r>
              <a:rPr sz="2250" spc="-20" dirty="0">
                <a:latin typeface="Arial"/>
                <a:cs typeface="Arial"/>
              </a:rPr>
              <a:t> </a:t>
            </a:r>
            <a:r>
              <a:rPr sz="2250" spc="-65" dirty="0">
                <a:latin typeface="Arial"/>
                <a:cs typeface="Arial"/>
              </a:rPr>
              <a:t>categories</a:t>
            </a:r>
            <a:r>
              <a:rPr sz="2250" spc="40" dirty="0">
                <a:latin typeface="Arial"/>
                <a:cs typeface="Arial"/>
              </a:rPr>
              <a:t> </a:t>
            </a:r>
            <a:r>
              <a:rPr sz="2250" dirty="0">
                <a:latin typeface="Arial"/>
                <a:cs typeface="Arial"/>
              </a:rPr>
              <a:t>of</a:t>
            </a:r>
            <a:r>
              <a:rPr sz="2250" spc="65" dirty="0">
                <a:latin typeface="Arial"/>
                <a:cs typeface="Arial"/>
              </a:rPr>
              <a:t> </a:t>
            </a:r>
            <a:r>
              <a:rPr sz="2250" spc="-10" dirty="0">
                <a:latin typeface="Arial"/>
                <a:cs typeface="Arial"/>
              </a:rPr>
              <a:t>systems</a:t>
            </a:r>
            <a:endParaRPr sz="2250">
              <a:latin typeface="Arial"/>
              <a:cs typeface="Arial"/>
            </a:endParaRPr>
          </a:p>
          <a:p>
            <a:pPr marL="194945" indent="-170180">
              <a:lnSpc>
                <a:spcPts val="2500"/>
              </a:lnSpc>
              <a:spcBef>
                <a:spcPts val="2230"/>
              </a:spcBef>
              <a:buClr>
                <a:srgbClr val="000000"/>
              </a:buClr>
              <a:buChar char="•"/>
              <a:tabLst>
                <a:tab pos="194945" algn="l"/>
              </a:tabLst>
            </a:pPr>
            <a:r>
              <a:rPr sz="2100" spc="-50" dirty="0">
                <a:solidFill>
                  <a:srgbClr val="3D3D75"/>
                </a:solidFill>
                <a:latin typeface="Arial"/>
                <a:cs typeface="Arial"/>
              </a:rPr>
              <a:t>Cen†ralixed</a:t>
            </a:r>
            <a:r>
              <a:rPr sz="2100" spc="-5" dirty="0">
                <a:solidFill>
                  <a:srgbClr val="3D3D75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443B87"/>
                </a:solidFill>
                <a:latin typeface="Arial"/>
                <a:cs typeface="Arial"/>
              </a:rPr>
              <a:t>systems›</a:t>
            </a:r>
            <a:r>
              <a:rPr sz="2100" spc="75" dirty="0">
                <a:solidFill>
                  <a:srgbClr val="443B87"/>
                </a:solidFill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peer</a:t>
            </a:r>
            <a:r>
              <a:rPr sz="2100" spc="75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connects</a:t>
            </a:r>
            <a:r>
              <a:rPr sz="2100" spc="10" dirty="0">
                <a:latin typeface="Arial"/>
                <a:cs typeface="Arial"/>
              </a:rPr>
              <a:t> </a:t>
            </a:r>
            <a:r>
              <a:rPr sz="2100" spc="-175" dirty="0">
                <a:latin typeface="Arial"/>
                <a:cs typeface="Arial"/>
              </a:rPr>
              <a:t>†o</a:t>
            </a:r>
            <a:r>
              <a:rPr sz="2100" spc="3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server</a:t>
            </a:r>
            <a:r>
              <a:rPr sz="2100" spc="11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which</a:t>
            </a:r>
            <a:endParaRPr sz="2100">
              <a:latin typeface="Arial"/>
              <a:cs typeface="Arial"/>
            </a:endParaRPr>
          </a:p>
          <a:p>
            <a:pPr marL="19050">
              <a:lnSpc>
                <a:spcPts val="2440"/>
              </a:lnSpc>
            </a:pPr>
            <a:r>
              <a:rPr sz="2050" dirty="0">
                <a:latin typeface="Arial"/>
                <a:cs typeface="Arial"/>
              </a:rPr>
              <a:t>coordinates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and</a:t>
            </a:r>
            <a:r>
              <a:rPr sz="2050" spc="-55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IT\anoges</a:t>
            </a:r>
            <a:r>
              <a:rPr sz="2050" spc="26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commUn‹Ca†ion.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-40" dirty="0">
                <a:latin typeface="Arial"/>
                <a:cs typeface="Arial"/>
              </a:rPr>
              <a:t>e.g.</a:t>
            </a:r>
            <a:r>
              <a:rPr sz="2050" spc="35" dirty="0">
                <a:latin typeface="Arial"/>
                <a:cs typeface="Arial"/>
              </a:rPr>
              <a:t> </a:t>
            </a:r>
            <a:r>
              <a:rPr sz="2050" spc="-10" dirty="0">
                <a:latin typeface="Arial"/>
                <a:cs typeface="Arial"/>
              </a:rPr>
              <a:t>SETZ@home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050">
              <a:latin typeface="Arial"/>
              <a:cs typeface="Arial"/>
            </a:endParaRPr>
          </a:p>
          <a:p>
            <a:pPr marL="12700" marR="1088390" indent="185420">
              <a:lnSpc>
                <a:spcPct val="91700"/>
              </a:lnSpc>
              <a:buClr>
                <a:srgbClr val="3B3693"/>
              </a:buClr>
              <a:buChar char="•"/>
              <a:tabLst>
                <a:tab pos="198120" algn="l"/>
              </a:tabLst>
            </a:pPr>
            <a:r>
              <a:rPr sz="2100" dirty="0">
                <a:solidFill>
                  <a:srgbClr val="3B3880"/>
                </a:solidFill>
                <a:latin typeface="Arial"/>
                <a:cs typeface="Arial"/>
              </a:rPr>
              <a:t>Brokered </a:t>
            </a:r>
            <a:r>
              <a:rPr sz="2100" spc="-30" dirty="0">
                <a:solidFill>
                  <a:srgbClr val="48418E"/>
                </a:solidFill>
                <a:latin typeface="Arial"/>
                <a:cs typeface="Arial"/>
              </a:rPr>
              <a:t>systems:</a:t>
            </a:r>
            <a:r>
              <a:rPr sz="2100" spc="120" dirty="0">
                <a:solidFill>
                  <a:srgbClr val="48418E"/>
                </a:solidFill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peers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spc="-90" dirty="0">
                <a:latin typeface="Arial"/>
                <a:cs typeface="Arial"/>
              </a:rPr>
              <a:t>conriec†</a:t>
            </a:r>
            <a:r>
              <a:rPr sz="2100" spc="95" dirty="0">
                <a:latin typeface="Arial"/>
                <a:cs typeface="Arial"/>
              </a:rPr>
              <a:t> </a:t>
            </a:r>
            <a:r>
              <a:rPr sz="2100" spc="-220" dirty="0">
                <a:latin typeface="Arial"/>
                <a:cs typeface="Arial"/>
              </a:rPr>
              <a:t>†o</a:t>
            </a:r>
            <a:r>
              <a:rPr sz="2100" spc="3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</a:t>
            </a:r>
            <a:r>
              <a:rPr sz="2100" spc="-13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server</a:t>
            </a:r>
            <a:r>
              <a:rPr sz="2100" spc="185" dirty="0">
                <a:latin typeface="Arial"/>
                <a:cs typeface="Arial"/>
              </a:rPr>
              <a:t> </a:t>
            </a:r>
            <a:r>
              <a:rPr sz="2100" spc="-180" dirty="0">
                <a:latin typeface="Arial"/>
                <a:cs typeface="Arial"/>
              </a:rPr>
              <a:t>†o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discover </a:t>
            </a:r>
            <a:r>
              <a:rPr sz="2150" dirty="0">
                <a:latin typeface="Arial"/>
                <a:cs typeface="Arial"/>
              </a:rPr>
              <a:t>other</a:t>
            </a:r>
            <a:r>
              <a:rPr sz="2150" spc="135" dirty="0">
                <a:latin typeface="Arial"/>
                <a:cs typeface="Arial"/>
              </a:rPr>
              <a:t> </a:t>
            </a:r>
            <a:r>
              <a:rPr sz="2150" spc="-25" dirty="0">
                <a:latin typeface="Arial"/>
                <a:cs typeface="Arial"/>
              </a:rPr>
              <a:t>peers,</a:t>
            </a:r>
            <a:r>
              <a:rPr sz="2150" spc="-20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but</a:t>
            </a:r>
            <a:r>
              <a:rPr sz="2150" spc="8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then</a:t>
            </a:r>
            <a:r>
              <a:rPr sz="2150" spc="5" dirty="0">
                <a:latin typeface="Arial"/>
                <a:cs typeface="Arial"/>
              </a:rPr>
              <a:t> </a:t>
            </a:r>
            <a:r>
              <a:rPr sz="2150" spc="-185" dirty="0">
                <a:latin typeface="Arial"/>
                <a:cs typeface="Arial"/>
              </a:rPr>
              <a:t>manage</a:t>
            </a:r>
            <a:r>
              <a:rPr sz="2150" spc="110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the</a:t>
            </a:r>
            <a:r>
              <a:rPr sz="2150" spc="20" dirty="0">
                <a:latin typeface="Arial"/>
                <a:cs typeface="Arial"/>
              </a:rPr>
              <a:t> </a:t>
            </a:r>
            <a:r>
              <a:rPr sz="2150" spc="-90" dirty="0">
                <a:latin typeface="Arial"/>
                <a:cs typeface="Arial"/>
              </a:rPr>
              <a:t>communication</a:t>
            </a:r>
            <a:r>
              <a:rPr sz="2150" spc="114" dirty="0">
                <a:latin typeface="Arial"/>
                <a:cs typeface="Arial"/>
              </a:rPr>
              <a:t> </a:t>
            </a:r>
            <a:r>
              <a:rPr sz="2150" spc="-30" dirty="0">
                <a:latin typeface="Arial"/>
                <a:cs typeface="Arial"/>
              </a:rPr>
              <a:t>themselves </a:t>
            </a:r>
            <a:r>
              <a:rPr sz="2250" spc="-140" dirty="0">
                <a:latin typeface="Arial"/>
                <a:cs typeface="Arial"/>
              </a:rPr>
              <a:t>(e.g.</a:t>
            </a:r>
            <a:r>
              <a:rPr sz="2250" spc="-30" dirty="0">
                <a:latin typeface="Arial"/>
                <a:cs typeface="Arial"/>
              </a:rPr>
              <a:t> Napster).</a:t>
            </a:r>
            <a:r>
              <a:rPr sz="2250" spc="-130" dirty="0">
                <a:latin typeface="Arial"/>
                <a:cs typeface="Arial"/>
              </a:rPr>
              <a:t> </a:t>
            </a:r>
            <a:r>
              <a:rPr sz="2250" spc="-55" dirty="0">
                <a:latin typeface="Arial"/>
                <a:cs typeface="Arial"/>
              </a:rPr>
              <a:t>This</a:t>
            </a:r>
            <a:r>
              <a:rPr sz="2250" spc="-100" dirty="0">
                <a:latin typeface="Arial"/>
                <a:cs typeface="Arial"/>
              </a:rPr>
              <a:t> </a:t>
            </a:r>
            <a:r>
              <a:rPr sz="2250" spc="-10" dirty="0">
                <a:latin typeface="Arial"/>
                <a:cs typeface="Arial"/>
              </a:rPr>
              <a:t>is</a:t>
            </a:r>
            <a:r>
              <a:rPr sz="2250" spc="-145" dirty="0">
                <a:latin typeface="Arial"/>
                <a:cs typeface="Arial"/>
              </a:rPr>
              <a:t> </a:t>
            </a:r>
            <a:r>
              <a:rPr sz="2250" spc="-155" dirty="0">
                <a:latin typeface="Arial"/>
                <a:cs typeface="Arial"/>
              </a:rPr>
              <a:t>also</a:t>
            </a:r>
            <a:r>
              <a:rPr sz="2250" dirty="0">
                <a:latin typeface="Arial"/>
                <a:cs typeface="Arial"/>
              </a:rPr>
              <a:t> </a:t>
            </a:r>
            <a:r>
              <a:rPr sz="2250" spc="-55" dirty="0">
                <a:latin typeface="Arial"/>
                <a:cs typeface="Arial"/>
              </a:rPr>
              <a:t>called</a:t>
            </a:r>
            <a:r>
              <a:rPr sz="2250" spc="-5" dirty="0">
                <a:latin typeface="Arial"/>
                <a:cs typeface="Arial"/>
              </a:rPr>
              <a:t> </a:t>
            </a:r>
            <a:r>
              <a:rPr sz="2250" i="1" spc="-80" dirty="0">
                <a:latin typeface="Arial"/>
                <a:cs typeface="Arial"/>
              </a:rPr>
              <a:t>Brokered</a:t>
            </a:r>
            <a:r>
              <a:rPr sz="2250" i="1" spc="35" dirty="0">
                <a:latin typeface="Arial"/>
                <a:cs typeface="Arial"/>
              </a:rPr>
              <a:t> </a:t>
            </a:r>
            <a:r>
              <a:rPr sz="2250" i="1" spc="-300" dirty="0">
                <a:latin typeface="Arial"/>
                <a:cs typeface="Arial"/>
              </a:rPr>
              <a:t>PzP.</a:t>
            </a:r>
            <a:endParaRPr sz="2250">
              <a:latin typeface="Arial"/>
              <a:cs typeface="Arial"/>
            </a:endParaRPr>
          </a:p>
          <a:p>
            <a:pPr marL="16510" marR="1179195" indent="178435">
              <a:lnSpc>
                <a:spcPts val="2390"/>
              </a:lnSpc>
              <a:spcBef>
                <a:spcPts val="2455"/>
              </a:spcBef>
              <a:buClr>
                <a:srgbClr val="3F3490"/>
              </a:buClr>
              <a:buChar char="•"/>
              <a:tabLst>
                <a:tab pos="194945" algn="l"/>
              </a:tabLst>
            </a:pPr>
            <a:r>
              <a:rPr sz="2200" spc="-95" dirty="0">
                <a:solidFill>
                  <a:srgbClr val="36367C"/>
                </a:solidFill>
                <a:latin typeface="Arial"/>
                <a:cs typeface="Arial"/>
              </a:rPr>
              <a:t>Decen†rolixed</a:t>
            </a:r>
            <a:r>
              <a:rPr sz="2200" spc="-35" dirty="0">
                <a:solidFill>
                  <a:srgbClr val="36367C"/>
                </a:solidFill>
                <a:latin typeface="Arial"/>
                <a:cs typeface="Arial"/>
              </a:rPr>
              <a:t> </a:t>
            </a:r>
            <a:r>
              <a:rPr sz="2200" spc="-85" dirty="0">
                <a:solidFill>
                  <a:srgbClr val="443F7C"/>
                </a:solidFill>
                <a:latin typeface="Arial"/>
                <a:cs typeface="Arial"/>
              </a:rPr>
              <a:t>systems:</a:t>
            </a:r>
            <a:r>
              <a:rPr sz="2200" spc="-10" dirty="0">
                <a:solidFill>
                  <a:srgbClr val="443F7C"/>
                </a:solidFill>
                <a:latin typeface="Arial"/>
                <a:cs typeface="Arial"/>
              </a:rPr>
              <a:t> </a:t>
            </a:r>
            <a:r>
              <a:rPr sz="2200" spc="-45" dirty="0">
                <a:latin typeface="Arial"/>
                <a:cs typeface="Arial"/>
              </a:rPr>
              <a:t>peers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run</a:t>
            </a:r>
            <a:r>
              <a:rPr sz="2200" spc="-130" dirty="0">
                <a:latin typeface="Arial"/>
                <a:cs typeface="Arial"/>
              </a:rPr>
              <a:t> </a:t>
            </a:r>
            <a:r>
              <a:rPr sz="2200" spc="-75" dirty="0">
                <a:latin typeface="Arial"/>
                <a:cs typeface="Arial"/>
              </a:rPr>
              <a:t>independently</a:t>
            </a:r>
            <a:r>
              <a:rPr sz="2200" spc="235" dirty="0">
                <a:latin typeface="Arial"/>
                <a:cs typeface="Arial"/>
              </a:rPr>
              <a:t> </a:t>
            </a:r>
            <a:r>
              <a:rPr sz="2200" spc="-170" dirty="0">
                <a:latin typeface="Arial"/>
                <a:cs typeface="Arial"/>
              </a:rPr>
              <a:t>wi†h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no </a:t>
            </a:r>
            <a:r>
              <a:rPr sz="2150" dirty="0">
                <a:latin typeface="Arial"/>
                <a:cs typeface="Arial"/>
              </a:rPr>
              <a:t>central</a:t>
            </a:r>
            <a:r>
              <a:rPr sz="2150" spc="-45" dirty="0">
                <a:latin typeface="Arial"/>
                <a:cs typeface="Arial"/>
              </a:rPr>
              <a:t> </a:t>
            </a:r>
            <a:r>
              <a:rPr sz="2150" spc="-40" dirty="0">
                <a:latin typeface="Arial"/>
                <a:cs typeface="Arial"/>
              </a:rPr>
              <a:t>services.</a:t>
            </a:r>
            <a:r>
              <a:rPr sz="2150" spc="60" dirty="0">
                <a:latin typeface="Arial"/>
                <a:cs typeface="Arial"/>
              </a:rPr>
              <a:t> </a:t>
            </a:r>
            <a:r>
              <a:rPr sz="2150" spc="-40" dirty="0">
                <a:latin typeface="Arial"/>
                <a:cs typeface="Arial"/>
              </a:rPr>
              <a:t>Discovery</a:t>
            </a:r>
            <a:r>
              <a:rPr sz="2150" spc="40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is</a:t>
            </a:r>
            <a:r>
              <a:rPr sz="2150" spc="-65" dirty="0">
                <a:latin typeface="Arial"/>
                <a:cs typeface="Arial"/>
              </a:rPr>
              <a:t> </a:t>
            </a:r>
            <a:r>
              <a:rPr sz="2150" spc="-20" dirty="0">
                <a:latin typeface="Arial"/>
                <a:cs typeface="Arial"/>
              </a:rPr>
              <a:t>decentralized</a:t>
            </a:r>
            <a:r>
              <a:rPr sz="2150" spc="95" dirty="0">
                <a:latin typeface="Arial"/>
                <a:cs typeface="Arial"/>
              </a:rPr>
              <a:t> </a:t>
            </a:r>
            <a:r>
              <a:rPr sz="2150" spc="-25" dirty="0">
                <a:latin typeface="Arial"/>
                <a:cs typeface="Arial"/>
              </a:rPr>
              <a:t>and </a:t>
            </a:r>
            <a:r>
              <a:rPr sz="2150" spc="-90" dirty="0">
                <a:latin typeface="Arial"/>
                <a:cs typeface="Arial"/>
              </a:rPr>
              <a:t>communication</a:t>
            </a:r>
            <a:r>
              <a:rPr sz="2150" spc="-60" dirty="0">
                <a:latin typeface="Arial"/>
                <a:cs typeface="Arial"/>
              </a:rPr>
              <a:t> </a:t>
            </a:r>
            <a:r>
              <a:rPr sz="2150" spc="-140" dirty="0">
                <a:latin typeface="Arial"/>
                <a:cs typeface="Arial"/>
              </a:rPr>
              <a:t>†akes</a:t>
            </a:r>
            <a:r>
              <a:rPr sz="2150" dirty="0">
                <a:latin typeface="Arial"/>
                <a:cs typeface="Arial"/>
              </a:rPr>
              <a:t> </a:t>
            </a:r>
            <a:r>
              <a:rPr sz="2150" spc="-80" dirty="0">
                <a:latin typeface="Arial"/>
                <a:cs typeface="Arial"/>
              </a:rPr>
              <a:t>place</a:t>
            </a:r>
            <a:r>
              <a:rPr sz="2150" spc="-35" dirty="0">
                <a:latin typeface="Arial"/>
                <a:cs typeface="Arial"/>
              </a:rPr>
              <a:t> </a:t>
            </a:r>
            <a:r>
              <a:rPr sz="2150" spc="-45" dirty="0">
                <a:latin typeface="Arial"/>
                <a:cs typeface="Arial"/>
              </a:rPr>
              <a:t>between</a:t>
            </a:r>
            <a:r>
              <a:rPr sz="2150" spc="-65" dirty="0">
                <a:latin typeface="Arial"/>
                <a:cs typeface="Arial"/>
              </a:rPr>
              <a:t> </a:t>
            </a:r>
            <a:r>
              <a:rPr sz="2150" spc="-140" dirty="0">
                <a:latin typeface="Arial"/>
                <a:cs typeface="Arial"/>
              </a:rPr>
              <a:t>†he</a:t>
            </a:r>
            <a:r>
              <a:rPr sz="2150" spc="-10" dirty="0">
                <a:latin typeface="Arial"/>
                <a:cs typeface="Arial"/>
              </a:rPr>
              <a:t> </a:t>
            </a:r>
            <a:r>
              <a:rPr sz="2150" spc="-45" dirty="0">
                <a:latin typeface="Arial"/>
                <a:cs typeface="Arial"/>
              </a:rPr>
              <a:t>peers.</a:t>
            </a:r>
            <a:r>
              <a:rPr sz="2150" spc="-50" dirty="0">
                <a:latin typeface="Arial"/>
                <a:cs typeface="Arial"/>
              </a:rPr>
              <a:t> </a:t>
            </a:r>
            <a:r>
              <a:rPr sz="2150" spc="-130" dirty="0">
                <a:latin typeface="Arial"/>
                <a:cs typeface="Arial"/>
              </a:rPr>
              <a:t>e,g.</a:t>
            </a:r>
            <a:r>
              <a:rPr sz="2150" spc="-20" dirty="0">
                <a:latin typeface="Arial"/>
                <a:cs typeface="Arial"/>
              </a:rPr>
              <a:t> </a:t>
            </a:r>
            <a:r>
              <a:rPr sz="2150" spc="-70" dirty="0">
                <a:latin typeface="Arial"/>
                <a:cs typeface="Arial"/>
              </a:rPr>
              <a:t>Gnu†ella, </a:t>
            </a:r>
            <a:r>
              <a:rPr sz="2150" spc="-10" dirty="0">
                <a:latin typeface="Arial"/>
                <a:cs typeface="Arial"/>
              </a:rPr>
              <a:t>Freenet</a:t>
            </a: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215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2600" dirty="0">
                <a:latin typeface="Arial"/>
                <a:cs typeface="Arial"/>
              </a:rPr>
              <a:t>True</a:t>
            </a:r>
            <a:r>
              <a:rPr sz="2600" spc="220" dirty="0">
                <a:latin typeface="Arial"/>
                <a:cs typeface="Arial"/>
              </a:rPr>
              <a:t> </a:t>
            </a:r>
            <a:r>
              <a:rPr sz="2600" spc="-330" dirty="0">
                <a:latin typeface="Arial"/>
                <a:cs typeface="Arial"/>
              </a:rPr>
              <a:t>P2P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926422" y="797173"/>
            <a:ext cx="4105275" cy="687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75230" algn="l"/>
              </a:tabLst>
            </a:pPr>
            <a:r>
              <a:rPr sz="4350" spc="45" dirty="0">
                <a:solidFill>
                  <a:srgbClr val="F63400"/>
                </a:solidFill>
                <a:latin typeface="Calibri"/>
                <a:cs typeface="Calibri"/>
              </a:rPr>
              <a:t>What</a:t>
            </a:r>
            <a:r>
              <a:rPr sz="4350" dirty="0">
                <a:solidFill>
                  <a:srgbClr val="F63400"/>
                </a:solidFill>
                <a:latin typeface="Calibri"/>
                <a:cs typeface="Calibri"/>
              </a:rPr>
              <a:t>	</a:t>
            </a:r>
            <a:r>
              <a:rPr sz="4350" spc="90" dirty="0">
                <a:solidFill>
                  <a:srgbClr val="E23F16"/>
                </a:solidFill>
                <a:latin typeface="Calibri"/>
                <a:cs typeface="Calibri"/>
              </a:rPr>
              <a:t>is</a:t>
            </a:r>
            <a:r>
              <a:rPr sz="4350" spc="275" dirty="0">
                <a:solidFill>
                  <a:srgbClr val="E23F16"/>
                </a:solidFill>
                <a:latin typeface="Calibri"/>
                <a:cs typeface="Calibri"/>
              </a:rPr>
              <a:t> </a:t>
            </a:r>
            <a:r>
              <a:rPr sz="4350" spc="-85" dirty="0">
                <a:solidFill>
                  <a:srgbClr val="F23608"/>
                </a:solidFill>
                <a:latin typeface="Calibri"/>
                <a:cs typeface="Calibri"/>
              </a:rPr>
              <a:t>good</a:t>
            </a:r>
            <a:endParaRPr sz="435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6133" y="964406"/>
            <a:ext cx="982265" cy="4286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2260" y="1915286"/>
            <a:ext cx="7588884" cy="461327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49250" indent="-335915">
              <a:lnSpc>
                <a:spcPct val="100000"/>
              </a:lnSpc>
              <a:spcBef>
                <a:spcPts val="535"/>
              </a:spcBef>
              <a:buChar char="•"/>
              <a:tabLst>
                <a:tab pos="349250" algn="l"/>
              </a:tabLst>
            </a:pPr>
            <a:r>
              <a:rPr sz="2700" dirty="0">
                <a:latin typeface="Times New Roman"/>
                <a:cs typeface="Times New Roman"/>
              </a:rPr>
              <a:t>Community</a:t>
            </a:r>
            <a:r>
              <a:rPr sz="2700" spc="29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Web</a:t>
            </a:r>
            <a:r>
              <a:rPr sz="2700" spc="14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network</a:t>
            </a:r>
            <a:endParaRPr sz="2700">
              <a:latin typeface="Times New Roman"/>
              <a:cs typeface="Times New Roman"/>
            </a:endParaRPr>
          </a:p>
          <a:p>
            <a:pPr marL="753110" marR="129539" indent="-281305">
              <a:lnSpc>
                <a:spcPts val="2600"/>
              </a:lnSpc>
              <a:spcBef>
                <a:spcPts val="615"/>
              </a:spcBef>
            </a:pPr>
            <a:r>
              <a:rPr sz="2350" spc="-1200" dirty="0">
                <a:solidFill>
                  <a:srgbClr val="4F4F4F"/>
                </a:solidFill>
                <a:latin typeface="Times New Roman"/>
                <a:cs typeface="Times New Roman"/>
              </a:rPr>
              <a:t>—</a:t>
            </a:r>
            <a:r>
              <a:rPr sz="2350" spc="509" dirty="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C0C46"/>
                </a:solidFill>
                <a:latin typeface="Times New Roman"/>
                <a:cs typeface="Times New Roman"/>
              </a:rPr>
              <a:t>Any</a:t>
            </a:r>
            <a:r>
              <a:rPr sz="2350" spc="60" dirty="0">
                <a:solidFill>
                  <a:srgbClr val="0C0C4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F0A42"/>
                </a:solidFill>
                <a:latin typeface="Times New Roman"/>
                <a:cs typeface="Times New Roman"/>
              </a:rPr>
              <a:t>group</a:t>
            </a:r>
            <a:r>
              <a:rPr sz="2350" spc="135" dirty="0">
                <a:solidFill>
                  <a:srgbClr val="0F0A42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110A49"/>
                </a:solidFill>
                <a:latin typeface="Times New Roman"/>
                <a:cs typeface="Times New Roman"/>
              </a:rPr>
              <a:t>with</a:t>
            </a:r>
            <a:r>
              <a:rPr sz="2350" spc="100" dirty="0">
                <a:solidFill>
                  <a:srgbClr val="110A49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E0841"/>
                </a:solidFill>
                <a:latin typeface="Times New Roman"/>
                <a:cs typeface="Times New Roman"/>
              </a:rPr>
              <a:t>specific</a:t>
            </a:r>
            <a:r>
              <a:rPr sz="2350" spc="70" dirty="0">
                <a:solidFill>
                  <a:srgbClr val="0E0841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7054D"/>
                </a:solidFill>
                <a:latin typeface="Times New Roman"/>
                <a:cs typeface="Times New Roman"/>
              </a:rPr>
              <a:t>common</a:t>
            </a:r>
            <a:r>
              <a:rPr sz="2350" spc="165" dirty="0">
                <a:solidFill>
                  <a:srgbClr val="07054D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1003F"/>
                </a:solidFill>
                <a:latin typeface="Times New Roman"/>
                <a:cs typeface="Times New Roman"/>
              </a:rPr>
              <a:t>interests,</a:t>
            </a:r>
            <a:r>
              <a:rPr sz="2350" spc="25" dirty="0">
                <a:solidFill>
                  <a:srgbClr val="01003F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F0546"/>
                </a:solidFill>
                <a:latin typeface="Times New Roman"/>
                <a:cs typeface="Times New Roman"/>
              </a:rPr>
              <a:t>including</a:t>
            </a:r>
            <a:r>
              <a:rPr sz="2350" spc="114" dirty="0">
                <a:solidFill>
                  <a:srgbClr val="0F0546"/>
                </a:solidFill>
                <a:latin typeface="Times New Roman"/>
                <a:cs typeface="Times New Roman"/>
              </a:rPr>
              <a:t> </a:t>
            </a:r>
            <a:r>
              <a:rPr sz="2350" spc="-50" dirty="0">
                <a:solidFill>
                  <a:srgbClr val="11084F"/>
                </a:solidFill>
                <a:latin typeface="Times New Roman"/>
                <a:cs typeface="Times New Roman"/>
              </a:rPr>
              <a:t>a </a:t>
            </a:r>
            <a:r>
              <a:rPr sz="2350" dirty="0">
                <a:solidFill>
                  <a:srgbClr val="130F4F"/>
                </a:solidFill>
                <a:latin typeface="Times New Roman"/>
                <a:cs typeface="Times New Roman"/>
              </a:rPr>
              <a:t>family</a:t>
            </a:r>
            <a:r>
              <a:rPr sz="2350" spc="114" dirty="0">
                <a:solidFill>
                  <a:srgbClr val="130F4F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C0544"/>
                </a:solidFill>
                <a:latin typeface="Times New Roman"/>
                <a:cs typeface="Times New Roman"/>
              </a:rPr>
              <a:t>or</a:t>
            </a:r>
            <a:r>
              <a:rPr sz="2350" spc="20" dirty="0">
                <a:solidFill>
                  <a:srgbClr val="0C0544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50044"/>
                </a:solidFill>
                <a:latin typeface="Times New Roman"/>
                <a:cs typeface="Times New Roman"/>
              </a:rPr>
              <a:t>hobbyists,</a:t>
            </a:r>
            <a:r>
              <a:rPr sz="2350" spc="114" dirty="0">
                <a:solidFill>
                  <a:srgbClr val="050044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50349"/>
                </a:solidFill>
                <a:latin typeface="Times New Roman"/>
                <a:cs typeface="Times New Roman"/>
              </a:rPr>
              <a:t>can</a:t>
            </a:r>
            <a:r>
              <a:rPr sz="2350" spc="80" dirty="0">
                <a:solidFill>
                  <a:srgbClr val="050349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00549"/>
                </a:solidFill>
                <a:latin typeface="Times New Roman"/>
                <a:cs typeface="Times New Roman"/>
              </a:rPr>
              <a:t>use</a:t>
            </a:r>
            <a:r>
              <a:rPr sz="2350" spc="-10" dirty="0">
                <a:solidFill>
                  <a:srgbClr val="000549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C0549"/>
                </a:solidFill>
                <a:latin typeface="Times New Roman"/>
                <a:cs typeface="Times New Roman"/>
              </a:rPr>
              <a:t>lists</a:t>
            </a:r>
            <a:r>
              <a:rPr sz="2350" spc="30" dirty="0">
                <a:solidFill>
                  <a:srgbClr val="0C0549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F0854"/>
                </a:solidFill>
                <a:latin typeface="Times New Roman"/>
                <a:cs typeface="Times New Roman"/>
              </a:rPr>
              <a:t>and</a:t>
            </a:r>
            <a:r>
              <a:rPr sz="2350" spc="110" dirty="0">
                <a:solidFill>
                  <a:srgbClr val="0F0854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50144"/>
                </a:solidFill>
                <a:latin typeface="Times New Roman"/>
                <a:cs typeface="Times New Roman"/>
              </a:rPr>
              <a:t>a</a:t>
            </a:r>
            <a:r>
              <a:rPr sz="2350" spc="-25" dirty="0">
                <a:solidFill>
                  <a:srgbClr val="050144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8076D"/>
                </a:solidFill>
                <a:latin typeface="Times New Roman"/>
                <a:cs typeface="Times New Roman"/>
              </a:rPr>
              <a:t>Web</a:t>
            </a:r>
            <a:r>
              <a:rPr sz="2350" spc="20" dirty="0">
                <a:solidFill>
                  <a:srgbClr val="08076D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110854"/>
                </a:solidFill>
                <a:latin typeface="Times New Roman"/>
                <a:cs typeface="Times New Roman"/>
              </a:rPr>
              <a:t>site</a:t>
            </a:r>
            <a:r>
              <a:rPr sz="2350" spc="30" dirty="0">
                <a:solidFill>
                  <a:srgbClr val="110854"/>
                </a:solidFill>
                <a:latin typeface="Times New Roman"/>
                <a:cs typeface="Times New Roman"/>
              </a:rPr>
              <a:t> </a:t>
            </a:r>
            <a:r>
              <a:rPr sz="2350" spc="-25" dirty="0">
                <a:solidFill>
                  <a:srgbClr val="110F56"/>
                </a:solidFill>
                <a:latin typeface="Times New Roman"/>
                <a:cs typeface="Times New Roman"/>
              </a:rPr>
              <a:t>to </a:t>
            </a:r>
            <a:r>
              <a:rPr sz="2350" dirty="0">
                <a:solidFill>
                  <a:srgbClr val="0F0854"/>
                </a:solidFill>
                <a:latin typeface="Times New Roman"/>
                <a:cs typeface="Times New Roman"/>
              </a:rPr>
              <a:t>create</a:t>
            </a:r>
            <a:r>
              <a:rPr sz="2350" spc="140" dirty="0">
                <a:solidFill>
                  <a:srgbClr val="0F0854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A0754"/>
                </a:solidFill>
                <a:latin typeface="Times New Roman"/>
                <a:cs typeface="Times New Roman"/>
              </a:rPr>
              <a:t>their</a:t>
            </a:r>
            <a:r>
              <a:rPr sz="2350" spc="35" dirty="0">
                <a:solidFill>
                  <a:srgbClr val="0A0754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F0C57"/>
                </a:solidFill>
                <a:latin typeface="Times New Roman"/>
                <a:cs typeface="Times New Roman"/>
              </a:rPr>
              <a:t>own</a:t>
            </a:r>
            <a:r>
              <a:rPr sz="2350" spc="75" dirty="0">
                <a:solidFill>
                  <a:srgbClr val="0F0C57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010333"/>
                </a:solidFill>
                <a:latin typeface="Times New Roman"/>
                <a:cs typeface="Times New Roman"/>
              </a:rPr>
              <a:t>intranet.</a:t>
            </a:r>
            <a:endParaRPr sz="2350">
              <a:latin typeface="Times New Roman"/>
              <a:cs typeface="Times New Roman"/>
            </a:endParaRPr>
          </a:p>
          <a:p>
            <a:pPr marL="349885" indent="-336550">
              <a:lnSpc>
                <a:spcPct val="100000"/>
              </a:lnSpc>
              <a:spcBef>
                <a:spcPts val="405"/>
              </a:spcBef>
              <a:buChar char="•"/>
              <a:tabLst>
                <a:tab pos="349885" algn="l"/>
              </a:tabLst>
            </a:pPr>
            <a:r>
              <a:rPr sz="2700" dirty="0">
                <a:latin typeface="Times New Roman"/>
                <a:cs typeface="Times New Roman"/>
              </a:rPr>
              <a:t>Search</a:t>
            </a:r>
            <a:r>
              <a:rPr sz="2700" spc="32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engines</a:t>
            </a:r>
            <a:endParaRPr sz="2700">
              <a:latin typeface="Times New Roman"/>
              <a:cs typeface="Times New Roman"/>
            </a:endParaRPr>
          </a:p>
          <a:p>
            <a:pPr marL="755015" marR="411480" indent="3810">
              <a:lnSpc>
                <a:spcPct val="89300"/>
              </a:lnSpc>
              <a:spcBef>
                <a:spcPts val="680"/>
              </a:spcBef>
            </a:pPr>
            <a:r>
              <a:rPr sz="2350" dirty="0">
                <a:solidFill>
                  <a:srgbClr val="0A0756"/>
                </a:solidFill>
                <a:latin typeface="Times New Roman"/>
                <a:cs typeface="Times New Roman"/>
              </a:rPr>
              <a:t>Fresh,</a:t>
            </a:r>
            <a:r>
              <a:rPr sz="2350" spc="105" dirty="0">
                <a:solidFill>
                  <a:srgbClr val="0A0756"/>
                </a:solidFill>
                <a:latin typeface="Times New Roman"/>
                <a:cs typeface="Times New Roman"/>
              </a:rPr>
              <a:t> </a:t>
            </a:r>
            <a:r>
              <a:rPr sz="2350" spc="-25" dirty="0">
                <a:solidFill>
                  <a:srgbClr val="151515"/>
                </a:solidFill>
                <a:latin typeface="Times New Roman"/>
                <a:cs typeface="Times New Roman"/>
              </a:rPr>
              <a:t>up-</a:t>
            </a:r>
            <a:r>
              <a:rPr sz="2350" spc="-20" dirty="0">
                <a:solidFill>
                  <a:srgbClr val="151515"/>
                </a:solidFill>
                <a:latin typeface="Times New Roman"/>
                <a:cs typeface="Times New Roman"/>
              </a:rPr>
              <a:t>to-</a:t>
            </a:r>
            <a:r>
              <a:rPr sz="2350" dirty="0">
                <a:solidFill>
                  <a:srgbClr val="151515"/>
                </a:solidFill>
                <a:latin typeface="Times New Roman"/>
                <a:cs typeface="Times New Roman"/>
              </a:rPr>
              <a:t>date</a:t>
            </a:r>
            <a:r>
              <a:rPr sz="2350" spc="125" dirty="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C0C52"/>
                </a:solidFill>
                <a:latin typeface="Times New Roman"/>
                <a:cs typeface="Times New Roman"/>
              </a:rPr>
              <a:t>information</a:t>
            </a:r>
            <a:r>
              <a:rPr sz="2350" spc="235" dirty="0">
                <a:solidFill>
                  <a:srgbClr val="0C0C52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F0748"/>
                </a:solidFill>
                <a:latin typeface="Times New Roman"/>
                <a:cs typeface="Times New Roman"/>
              </a:rPr>
              <a:t>can</a:t>
            </a:r>
            <a:r>
              <a:rPr sz="2350" spc="105" dirty="0">
                <a:solidFill>
                  <a:srgbClr val="0F0748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8084B"/>
                </a:solidFill>
                <a:latin typeface="Times New Roman"/>
                <a:cs typeface="Times New Roman"/>
              </a:rPr>
              <a:t>be</a:t>
            </a:r>
            <a:r>
              <a:rPr sz="2350" spc="15" dirty="0">
                <a:solidFill>
                  <a:srgbClr val="08084B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F0E4F"/>
                </a:solidFill>
                <a:latin typeface="Times New Roman"/>
                <a:cs typeface="Times New Roman"/>
              </a:rPr>
              <a:t>found</a:t>
            </a:r>
            <a:r>
              <a:rPr sz="2350" spc="85" dirty="0">
                <a:solidFill>
                  <a:srgbClr val="0F0E4F"/>
                </a:solidFill>
                <a:latin typeface="Times New Roman"/>
                <a:cs typeface="Times New Roman"/>
              </a:rPr>
              <a:t> </a:t>
            </a:r>
            <a:r>
              <a:rPr sz="2350" spc="-25" dirty="0">
                <a:solidFill>
                  <a:srgbClr val="0F0752"/>
                </a:solidFill>
                <a:latin typeface="Times New Roman"/>
                <a:cs typeface="Times New Roman"/>
              </a:rPr>
              <a:t>by </a:t>
            </a:r>
            <a:r>
              <a:rPr sz="2400" spc="-10" dirty="0">
                <a:solidFill>
                  <a:srgbClr val="11084B"/>
                </a:solidFill>
                <a:latin typeface="Times New Roman"/>
                <a:cs typeface="Times New Roman"/>
              </a:rPr>
              <a:t>searching</a:t>
            </a:r>
            <a:r>
              <a:rPr sz="2400" spc="-15" dirty="0">
                <a:solidFill>
                  <a:srgbClr val="11084B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A1857"/>
                </a:solidFill>
                <a:latin typeface="Times New Roman"/>
                <a:cs typeface="Times New Roman"/>
              </a:rPr>
              <a:t>directly</a:t>
            </a:r>
            <a:r>
              <a:rPr sz="2400" spc="-55" dirty="0">
                <a:solidFill>
                  <a:srgbClr val="1A1857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F0A49"/>
                </a:solidFill>
                <a:latin typeface="Times New Roman"/>
                <a:cs typeface="Times New Roman"/>
              </a:rPr>
              <a:t>across</a:t>
            </a:r>
            <a:r>
              <a:rPr sz="2400" spc="-70" dirty="0">
                <a:solidFill>
                  <a:srgbClr val="0F0A4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A0850"/>
                </a:solidFill>
                <a:latin typeface="Times New Roman"/>
                <a:cs typeface="Times New Roman"/>
              </a:rPr>
              <a:t>the</a:t>
            </a:r>
            <a:r>
              <a:rPr sz="2400" spc="-30" dirty="0">
                <a:solidFill>
                  <a:srgbClr val="0A08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A0338"/>
                </a:solidFill>
                <a:latin typeface="Times New Roman"/>
                <a:cs typeface="Times New Roman"/>
              </a:rPr>
              <a:t>space</a:t>
            </a:r>
            <a:r>
              <a:rPr sz="2400" spc="-30" dirty="0">
                <a:solidFill>
                  <a:srgbClr val="0A0338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A0849"/>
                </a:solidFill>
                <a:latin typeface="Times New Roman"/>
                <a:cs typeface="Times New Roman"/>
              </a:rPr>
              <a:t>where</a:t>
            </a:r>
            <a:r>
              <a:rPr sz="2400" spc="-30" dirty="0">
                <a:solidFill>
                  <a:srgbClr val="0A084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F0749"/>
                </a:solidFill>
                <a:latin typeface="Times New Roman"/>
                <a:cs typeface="Times New Roman"/>
              </a:rPr>
              <a:t>the</a:t>
            </a:r>
            <a:r>
              <a:rPr sz="2400" spc="-114" dirty="0">
                <a:solidFill>
                  <a:srgbClr val="0F074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80341"/>
                </a:solidFill>
                <a:latin typeface="Times New Roman"/>
                <a:cs typeface="Times New Roman"/>
              </a:rPr>
              <a:t>desired </a:t>
            </a:r>
            <a:r>
              <a:rPr sz="2400" dirty="0">
                <a:solidFill>
                  <a:srgbClr val="110C4F"/>
                </a:solidFill>
                <a:latin typeface="Times New Roman"/>
                <a:cs typeface="Times New Roman"/>
              </a:rPr>
              <a:t>item</a:t>
            </a:r>
            <a:r>
              <a:rPr sz="2400" spc="-15" dirty="0">
                <a:solidFill>
                  <a:srgbClr val="110C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60E5E"/>
                </a:solidFill>
                <a:latin typeface="Times New Roman"/>
                <a:cs typeface="Times New Roman"/>
              </a:rPr>
              <a:t>is</a:t>
            </a:r>
            <a:r>
              <a:rPr sz="2400" spc="-50" dirty="0">
                <a:solidFill>
                  <a:srgbClr val="160E5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50044"/>
                </a:solidFill>
                <a:latin typeface="Times New Roman"/>
                <a:cs typeface="Times New Roman"/>
              </a:rPr>
              <a:t>likely</a:t>
            </a:r>
            <a:r>
              <a:rPr sz="2400" spc="45" dirty="0">
                <a:solidFill>
                  <a:srgbClr val="05004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70349"/>
                </a:solidFill>
                <a:latin typeface="Times New Roman"/>
                <a:cs typeface="Times New Roman"/>
              </a:rPr>
              <a:t>to</a:t>
            </a:r>
            <a:r>
              <a:rPr sz="2400" spc="-55" dirty="0">
                <a:solidFill>
                  <a:srgbClr val="07034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E0550"/>
                </a:solidFill>
                <a:latin typeface="Times New Roman"/>
                <a:cs typeface="Times New Roman"/>
              </a:rPr>
              <a:t>reside</a:t>
            </a:r>
            <a:endParaRPr sz="2400">
              <a:latin typeface="Times New Roman"/>
              <a:cs typeface="Times New Roman"/>
            </a:endParaRPr>
          </a:p>
          <a:p>
            <a:pPr marL="438784" indent="-426084">
              <a:lnSpc>
                <a:spcPct val="100000"/>
              </a:lnSpc>
              <a:spcBef>
                <a:spcPts val="375"/>
              </a:spcBef>
              <a:buChar char="•"/>
              <a:tabLst>
                <a:tab pos="438784" algn="l"/>
              </a:tabLst>
            </a:pPr>
            <a:r>
              <a:rPr sz="2800" dirty="0">
                <a:latin typeface="Times New Roman"/>
                <a:cs typeface="Times New Roman"/>
              </a:rPr>
              <a:t>Collaborative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development</a:t>
            </a:r>
            <a:endParaRPr sz="2800">
              <a:latin typeface="Times New Roman"/>
              <a:cs typeface="Times New Roman"/>
            </a:endParaRPr>
          </a:p>
          <a:p>
            <a:pPr marL="755650" marR="5080" algn="just">
              <a:lnSpc>
                <a:spcPct val="91600"/>
              </a:lnSpc>
              <a:spcBef>
                <a:spcPts val="560"/>
              </a:spcBef>
            </a:pPr>
            <a:r>
              <a:rPr sz="2350" dirty="0">
                <a:solidFill>
                  <a:srgbClr val="080559"/>
                </a:solidFill>
                <a:latin typeface="Times New Roman"/>
                <a:cs typeface="Times New Roman"/>
              </a:rPr>
              <a:t>The</a:t>
            </a:r>
            <a:r>
              <a:rPr sz="2350" spc="55" dirty="0">
                <a:solidFill>
                  <a:srgbClr val="080559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A0356"/>
                </a:solidFill>
                <a:latin typeface="Times New Roman"/>
                <a:cs typeface="Times New Roman"/>
              </a:rPr>
              <a:t>scope</a:t>
            </a:r>
            <a:r>
              <a:rPr sz="2350" spc="125" dirty="0">
                <a:solidFill>
                  <a:srgbClr val="0A035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A0846"/>
                </a:solidFill>
                <a:latin typeface="Times New Roman"/>
                <a:cs typeface="Times New Roman"/>
              </a:rPr>
              <a:t>can</a:t>
            </a:r>
            <a:r>
              <a:rPr sz="2350" spc="25" dirty="0">
                <a:solidFill>
                  <a:srgbClr val="0A084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C084F"/>
                </a:solidFill>
                <a:latin typeface="Times New Roman"/>
                <a:cs typeface="Times New Roman"/>
              </a:rPr>
              <a:t>range</a:t>
            </a:r>
            <a:r>
              <a:rPr sz="2350" spc="35" dirty="0">
                <a:solidFill>
                  <a:srgbClr val="0C084F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F0A3F"/>
                </a:solidFill>
                <a:latin typeface="Times New Roman"/>
                <a:cs typeface="Times New Roman"/>
              </a:rPr>
              <a:t>from</a:t>
            </a:r>
            <a:r>
              <a:rPr sz="2350" spc="70" dirty="0">
                <a:solidFill>
                  <a:srgbClr val="0F0A3F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C0A59"/>
                </a:solidFill>
                <a:latin typeface="Times New Roman"/>
                <a:cs typeface="Times New Roman"/>
              </a:rPr>
              <a:t>developing</a:t>
            </a:r>
            <a:r>
              <a:rPr sz="2350" spc="135" dirty="0">
                <a:solidFill>
                  <a:srgbClr val="0C0A59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50050"/>
                </a:solidFill>
                <a:latin typeface="Times New Roman"/>
                <a:cs typeface="Times New Roman"/>
              </a:rPr>
              <a:t>software</a:t>
            </a:r>
            <a:r>
              <a:rPr sz="2350" spc="229" dirty="0">
                <a:solidFill>
                  <a:srgbClr val="050050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010044"/>
                </a:solidFill>
                <a:latin typeface="Times New Roman"/>
                <a:cs typeface="Times New Roman"/>
              </a:rPr>
              <a:t>products </a:t>
            </a:r>
            <a:r>
              <a:rPr sz="2350" dirty="0">
                <a:solidFill>
                  <a:srgbClr val="0C0C4F"/>
                </a:solidFill>
                <a:latin typeface="Times New Roman"/>
                <a:cs typeface="Times New Roman"/>
              </a:rPr>
              <a:t>to</a:t>
            </a:r>
            <a:r>
              <a:rPr sz="2350" spc="-50" dirty="0">
                <a:solidFill>
                  <a:srgbClr val="0C0C4F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F084F"/>
                </a:solidFill>
                <a:latin typeface="Times New Roman"/>
                <a:cs typeface="Times New Roman"/>
              </a:rPr>
              <a:t>composing</a:t>
            </a:r>
            <a:r>
              <a:rPr sz="2350" spc="265" dirty="0">
                <a:solidFill>
                  <a:srgbClr val="0F084F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E0C4F"/>
                </a:solidFill>
                <a:latin typeface="Times New Roman"/>
                <a:cs typeface="Times New Roman"/>
              </a:rPr>
              <a:t>a</a:t>
            </a:r>
            <a:r>
              <a:rPr sz="2350" spc="30" dirty="0">
                <a:solidFill>
                  <a:srgbClr val="0E0C4F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F0A57"/>
                </a:solidFill>
                <a:latin typeface="Times New Roman"/>
                <a:cs typeface="Times New Roman"/>
              </a:rPr>
              <a:t>document</a:t>
            </a:r>
            <a:r>
              <a:rPr sz="2350" spc="250" dirty="0">
                <a:solidFill>
                  <a:srgbClr val="0F0A57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E0864"/>
                </a:solidFill>
                <a:latin typeface="Times New Roman"/>
                <a:cs typeface="Times New Roman"/>
              </a:rPr>
              <a:t>to</a:t>
            </a:r>
            <a:r>
              <a:rPr sz="2350" spc="-40" dirty="0">
                <a:solidFill>
                  <a:srgbClr val="0E0864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C054F"/>
                </a:solidFill>
                <a:latin typeface="Times New Roman"/>
                <a:cs typeface="Times New Roman"/>
              </a:rPr>
              <a:t>applications</a:t>
            </a:r>
            <a:r>
              <a:rPr sz="2350" spc="120" dirty="0">
                <a:solidFill>
                  <a:srgbClr val="0C054F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80A3D"/>
                </a:solidFill>
                <a:latin typeface="Times New Roman"/>
                <a:cs typeface="Times New Roman"/>
              </a:rPr>
              <a:t>like</a:t>
            </a:r>
            <a:r>
              <a:rPr sz="2350" spc="10" dirty="0">
                <a:solidFill>
                  <a:srgbClr val="080A3D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1A1649"/>
                </a:solidFill>
                <a:latin typeface="Times New Roman"/>
                <a:cs typeface="Times New Roman"/>
              </a:rPr>
              <a:t>rendering </a:t>
            </a:r>
            <a:r>
              <a:rPr sz="2350" spc="-10" dirty="0">
                <a:solidFill>
                  <a:srgbClr val="0F083F"/>
                </a:solidFill>
                <a:latin typeface="Times New Roman"/>
                <a:cs typeface="Times New Roman"/>
              </a:rPr>
              <a:t>graphics.</a:t>
            </a:r>
            <a:endParaRPr sz="2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926540" y="510182"/>
            <a:ext cx="902969" cy="769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850" spc="-175" dirty="0">
                <a:solidFill>
                  <a:srgbClr val="EB4416"/>
                </a:solidFill>
                <a:latin typeface="Calibri"/>
                <a:cs typeface="Calibri"/>
              </a:rPr>
              <a:t>P2P</a:t>
            </a:r>
            <a:endParaRPr sz="485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9304" y="767952"/>
            <a:ext cx="294679" cy="36611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5366" y="767952"/>
            <a:ext cx="294679" cy="36611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307467" y="510182"/>
            <a:ext cx="3849370" cy="769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807335" algn="l"/>
              </a:tabLst>
            </a:pPr>
            <a:r>
              <a:rPr sz="4850" spc="-305" dirty="0">
                <a:solidFill>
                  <a:srgbClr val="EB3B0C"/>
                </a:solidFill>
                <a:latin typeface="Calibri"/>
                <a:cs typeface="Calibri"/>
              </a:rPr>
              <a:t>ppIica†ion</a:t>
            </a:r>
            <a:r>
              <a:rPr sz="4850" dirty="0">
                <a:solidFill>
                  <a:srgbClr val="EB3B0C"/>
                </a:solidFill>
                <a:latin typeface="Calibri"/>
                <a:cs typeface="Calibri"/>
              </a:rPr>
              <a:t>	</a:t>
            </a:r>
            <a:r>
              <a:rPr sz="4850" spc="-110" dirty="0">
                <a:solidFill>
                  <a:srgbClr val="F03F0F"/>
                </a:solidFill>
                <a:latin typeface="Calibri"/>
                <a:cs typeface="Calibri"/>
              </a:rPr>
              <a:t>reos</a:t>
            </a:r>
            <a:endParaRPr sz="48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5812" y="1571625"/>
            <a:ext cx="1902023" cy="1696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09116" y="2531566"/>
            <a:ext cx="482203" cy="1473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18047" y="3728144"/>
            <a:ext cx="517921" cy="12948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25382" y="1767532"/>
            <a:ext cx="7096125" cy="25603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790575" indent="-282575">
              <a:lnSpc>
                <a:spcPct val="100000"/>
              </a:lnSpc>
              <a:spcBef>
                <a:spcPts val="114"/>
              </a:spcBef>
              <a:buClr>
                <a:srgbClr val="777777"/>
              </a:buClr>
              <a:buChar char="—"/>
              <a:tabLst>
                <a:tab pos="790575" algn="l"/>
              </a:tabLst>
            </a:pPr>
            <a:r>
              <a:rPr sz="1400" dirty="0">
                <a:solidFill>
                  <a:srgbClr val="0A0338"/>
                </a:solidFill>
                <a:latin typeface="Times New Roman"/>
                <a:cs typeface="Times New Roman"/>
              </a:rPr>
              <a:t>AOL</a:t>
            </a:r>
            <a:r>
              <a:rPr sz="1400" spc="-10" dirty="0">
                <a:solidFill>
                  <a:srgbClr val="0A0338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Times New Roman"/>
                <a:cs typeface="Times New Roman"/>
              </a:rPr>
              <a:t>hiatant</a:t>
            </a:r>
            <a:r>
              <a:rPr sz="1400" spc="-4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131313"/>
                </a:solidFill>
                <a:latin typeface="Times New Roman"/>
                <a:cs typeface="Times New Roman"/>
              </a:rPr>
              <a:t>Messenger</a:t>
            </a:r>
            <a:endParaRPr sz="1400">
              <a:latin typeface="Times New Roman"/>
              <a:cs typeface="Times New Roman"/>
            </a:endParaRPr>
          </a:p>
          <a:p>
            <a:pPr marL="781685" indent="-283210">
              <a:lnSpc>
                <a:spcPts val="1610"/>
              </a:lnSpc>
              <a:spcBef>
                <a:spcPts val="5"/>
              </a:spcBef>
              <a:buClr>
                <a:srgbClr val="4B4B4B"/>
              </a:buClr>
              <a:buChar char="—"/>
              <a:tabLst>
                <a:tab pos="781685" algn="l"/>
              </a:tabLst>
            </a:pPr>
            <a:r>
              <a:rPr sz="1400" spc="-335" dirty="0">
                <a:solidFill>
                  <a:srgbClr val="0A082F"/>
                </a:solidFill>
                <a:latin typeface="Cambria"/>
                <a:cs typeface="Cambria"/>
              </a:rPr>
              <a:t>ICQ</a:t>
            </a:r>
            <a:endParaRPr sz="1400">
              <a:latin typeface="Cambria"/>
              <a:cs typeface="Cambria"/>
            </a:endParaRPr>
          </a:p>
          <a:p>
            <a:pPr marL="394970" indent="-347980">
              <a:lnSpc>
                <a:spcPts val="2210"/>
              </a:lnSpc>
              <a:buClr>
                <a:srgbClr val="5D0A0A"/>
              </a:buClr>
              <a:buChar char="•"/>
              <a:tabLst>
                <a:tab pos="394970" algn="l"/>
              </a:tabLst>
            </a:pPr>
            <a:r>
              <a:rPr sz="1900" spc="-10" dirty="0">
                <a:solidFill>
                  <a:srgbClr val="D8898E"/>
                </a:solidFill>
                <a:latin typeface="Times New Roman"/>
                <a:cs typeface="Times New Roman"/>
              </a:rPr>
              <a:t>Renmte</a:t>
            </a:r>
            <a:r>
              <a:rPr sz="1900" spc="-110" dirty="0">
                <a:solidFill>
                  <a:srgbClr val="D8898E"/>
                </a:solidFill>
                <a:latin typeface="Times New Roman"/>
                <a:cs typeface="Times New Roman"/>
              </a:rPr>
              <a:t> </a:t>
            </a:r>
            <a:r>
              <a:rPr sz="1900" spc="-30" dirty="0">
                <a:solidFill>
                  <a:srgbClr val="5D0C0F"/>
                </a:solidFill>
                <a:latin typeface="Times New Roman"/>
                <a:cs typeface="Times New Roman"/>
              </a:rPr>
              <a:t>CoReboentkm</a:t>
            </a:r>
            <a:r>
              <a:rPr sz="1900" spc="10" dirty="0">
                <a:solidFill>
                  <a:srgbClr val="5D0C0F"/>
                </a:solidFill>
                <a:latin typeface="Times New Roman"/>
                <a:cs typeface="Times New Roman"/>
              </a:rPr>
              <a:t> </a:t>
            </a:r>
            <a:r>
              <a:rPr sz="1900" spc="-45" dirty="0">
                <a:latin typeface="Times New Roman"/>
                <a:cs typeface="Times New Roman"/>
              </a:rPr>
              <a:t>(Shared</a:t>
            </a:r>
            <a:r>
              <a:rPr sz="1900" spc="-35" dirty="0">
                <a:latin typeface="Times New Roman"/>
                <a:cs typeface="Times New Roman"/>
              </a:rPr>
              <a:t> File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45" dirty="0">
                <a:latin typeface="Times New Roman"/>
                <a:cs typeface="Times New Roman"/>
              </a:rPr>
              <a:t>Editing,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-60" dirty="0">
                <a:latin typeface="Times New Roman"/>
                <a:cs typeface="Times New Roman"/>
              </a:rPr>
              <a:t>Audio-</a:t>
            </a:r>
            <a:r>
              <a:rPr sz="1900" spc="-25" dirty="0">
                <a:latin typeface="Times New Roman"/>
                <a:cs typeface="Times New Roman"/>
              </a:rPr>
              <a:t>video </a:t>
            </a:r>
            <a:r>
              <a:rPr sz="1900" spc="-40" dirty="0">
                <a:latin typeface="Times New Roman"/>
                <a:cs typeface="Times New Roman"/>
              </a:rPr>
              <a:t>Conferencing)</a:t>
            </a:r>
            <a:endParaRPr sz="1900">
              <a:latin typeface="Times New Roman"/>
              <a:cs typeface="Times New Roman"/>
            </a:endParaRPr>
          </a:p>
          <a:p>
            <a:pPr marL="776605">
              <a:lnSpc>
                <a:spcPts val="2060"/>
              </a:lnSpc>
              <a:spcBef>
                <a:spcPts val="1240"/>
              </a:spcBef>
            </a:pPr>
            <a:r>
              <a:rPr sz="1900" dirty="0">
                <a:solidFill>
                  <a:srgbClr val="181818"/>
                </a:solidFill>
                <a:latin typeface="Courier New"/>
                <a:cs typeface="Courier New"/>
              </a:rPr>
              <a:t>sme</a:t>
            </a:r>
            <a:r>
              <a:rPr sz="1900" spc="285" dirty="0">
                <a:solidFill>
                  <a:srgbClr val="181818"/>
                </a:solidFill>
                <a:latin typeface="Courier New"/>
                <a:cs typeface="Courier New"/>
              </a:rPr>
              <a:t> </a:t>
            </a:r>
            <a:r>
              <a:rPr sz="1900" spc="-370" dirty="0">
                <a:solidFill>
                  <a:srgbClr val="181818"/>
                </a:solidFill>
                <a:latin typeface="Courier New"/>
                <a:cs typeface="Courier New"/>
              </a:rPr>
              <a:t>|•ebw›d</a:t>
            </a:r>
            <a:endParaRPr sz="1900">
              <a:latin typeface="Courier New"/>
              <a:cs typeface="Courier New"/>
            </a:endParaRPr>
          </a:p>
          <a:p>
            <a:pPr marL="396240" indent="-383540">
              <a:lnSpc>
                <a:spcPts val="2270"/>
              </a:lnSpc>
              <a:buClr>
                <a:srgbClr val="590108"/>
              </a:buClr>
              <a:buChar char="•"/>
              <a:tabLst>
                <a:tab pos="396240" algn="l"/>
              </a:tabLst>
            </a:pPr>
            <a:r>
              <a:rPr sz="2100" spc="-285" dirty="0">
                <a:solidFill>
                  <a:srgbClr val="540F0C"/>
                </a:solidFill>
                <a:latin typeface="Courier New"/>
                <a:cs typeface="Courier New"/>
              </a:rPr>
              <a:t>MWdp4myerGssses</a:t>
            </a:r>
            <a:endParaRPr sz="2100">
              <a:latin typeface="Courier New"/>
              <a:cs typeface="Courier New"/>
            </a:endParaRPr>
          </a:p>
          <a:p>
            <a:pPr marL="784225" lvl="1" indent="-285750">
              <a:lnSpc>
                <a:spcPts val="1570"/>
              </a:lnSpc>
              <a:buClr>
                <a:srgbClr val="757575"/>
              </a:buClr>
              <a:buChar char="—"/>
              <a:tabLst>
                <a:tab pos="784225" algn="l"/>
              </a:tabLst>
            </a:pPr>
            <a:r>
              <a:rPr sz="1400" spc="-30" dirty="0">
                <a:solidFill>
                  <a:srgbClr val="1C1C1C"/>
                </a:solidFill>
                <a:latin typeface="Cambria"/>
                <a:cs typeface="Cambria"/>
              </a:rPr>
              <a:t>Unreal</a:t>
            </a:r>
            <a:r>
              <a:rPr sz="1400" spc="-40" dirty="0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sz="1400" spc="-75" dirty="0">
                <a:solidFill>
                  <a:srgbClr val="131313"/>
                </a:solidFill>
                <a:latin typeface="Cambria"/>
                <a:cs typeface="Cambria"/>
              </a:rPr>
              <a:t>Tournament,</a:t>
            </a:r>
            <a:r>
              <a:rPr sz="1400" spc="1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400" spc="114" dirty="0">
                <a:solidFill>
                  <a:srgbClr val="2A2D56"/>
                </a:solidFill>
                <a:latin typeface="Cambria"/>
                <a:cs typeface="Cambria"/>
              </a:rPr>
              <a:t>OCOM</a:t>
            </a:r>
            <a:endParaRPr sz="1400">
              <a:latin typeface="Cambria"/>
              <a:cs typeface="Cambria"/>
            </a:endParaRPr>
          </a:p>
          <a:p>
            <a:pPr marL="384175" indent="-337820">
              <a:lnSpc>
                <a:spcPts val="2260"/>
              </a:lnSpc>
              <a:buClr>
                <a:srgbClr val="671115"/>
              </a:buClr>
              <a:buChar char="•"/>
              <a:tabLst>
                <a:tab pos="384175" algn="l"/>
              </a:tabLst>
            </a:pPr>
            <a:r>
              <a:rPr sz="1950" dirty="0">
                <a:solidFill>
                  <a:srgbClr val="EDC6C1"/>
                </a:solidFill>
                <a:latin typeface="Times New Roman"/>
                <a:cs typeface="Times New Roman"/>
              </a:rPr>
              <a:t>Streaming</a:t>
            </a:r>
            <a:r>
              <a:rPr sz="1950" spc="114" dirty="0">
                <a:solidFill>
                  <a:srgbClr val="EDC6C1"/>
                </a:solidFill>
                <a:latin typeface="Times New Roman"/>
                <a:cs typeface="Times New Roman"/>
              </a:rPr>
              <a:t> </a:t>
            </a:r>
            <a:r>
              <a:rPr sz="1950" spc="-70" dirty="0">
                <a:latin typeface="Times New Roman"/>
                <a:cs typeface="Times New Roman"/>
              </a:rPr>
              <a:t>(Application-</a:t>
            </a:r>
            <a:r>
              <a:rPr sz="1950" spc="-65" dirty="0">
                <a:latin typeface="Times New Roman"/>
                <a:cs typeface="Times New Roman"/>
              </a:rPr>
              <a:t>level</a:t>
            </a:r>
            <a:r>
              <a:rPr sz="1950" spc="-16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Multicast)</a:t>
            </a:r>
            <a:endParaRPr sz="1950">
              <a:latin typeface="Times New Roman"/>
              <a:cs typeface="Times New Roman"/>
            </a:endParaRPr>
          </a:p>
          <a:p>
            <a:pPr marL="790575" lvl="1" indent="-292100">
              <a:lnSpc>
                <a:spcPts val="1639"/>
              </a:lnSpc>
              <a:spcBef>
                <a:spcPts val="1690"/>
              </a:spcBef>
              <a:buClr>
                <a:srgbClr val="525252"/>
              </a:buClr>
              <a:buChar char="—"/>
              <a:tabLst>
                <a:tab pos="790575" algn="l"/>
              </a:tabLst>
            </a:pPr>
            <a:r>
              <a:rPr sz="1400" spc="-20" dirty="0">
                <a:solidFill>
                  <a:srgbClr val="161616"/>
                </a:solidFill>
                <a:latin typeface="Cambria"/>
                <a:cs typeface="Cambria"/>
              </a:rPr>
              <a:t>Yoid</a:t>
            </a:r>
            <a:endParaRPr sz="1400">
              <a:latin typeface="Cambria"/>
              <a:cs typeface="Cambria"/>
            </a:endParaRPr>
          </a:p>
          <a:p>
            <a:pPr marL="781685" lvl="1" indent="-283210">
              <a:lnSpc>
                <a:spcPts val="1700"/>
              </a:lnSpc>
              <a:buClr>
                <a:srgbClr val="676767"/>
              </a:buClr>
              <a:buChar char="—"/>
              <a:tabLst>
                <a:tab pos="781685" algn="l"/>
              </a:tabLst>
            </a:pPr>
            <a:r>
              <a:rPr sz="1450" dirty="0">
                <a:solidFill>
                  <a:srgbClr val="1A1A1A"/>
                </a:solidFill>
                <a:latin typeface="Cambria"/>
                <a:cs typeface="Cambria"/>
              </a:rPr>
              <a:t>NICE,</a:t>
            </a:r>
            <a:r>
              <a:rPr sz="1450" spc="130" dirty="0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sz="1450" spc="-20" dirty="0">
                <a:solidFill>
                  <a:srgbClr val="111111"/>
                </a:solidFill>
                <a:latin typeface="Cambria"/>
                <a:cs typeface="Cambria"/>
              </a:rPr>
              <a:t>CAN-</a:t>
            </a:r>
            <a:r>
              <a:rPr sz="1450" spc="-10" dirty="0">
                <a:solidFill>
                  <a:srgbClr val="111111"/>
                </a:solidFill>
                <a:latin typeface="Cambria"/>
                <a:cs typeface="Cambria"/>
              </a:rPr>
              <a:t>Multicast,</a:t>
            </a:r>
            <a:r>
              <a:rPr sz="1450" spc="9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450" spc="-10" dirty="0">
                <a:solidFill>
                  <a:srgbClr val="181818"/>
                </a:solidFill>
                <a:latin typeface="Cambria"/>
                <a:cs typeface="Cambria"/>
              </a:rPr>
              <a:t>Scribe</a:t>
            </a:r>
            <a:endParaRPr sz="145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6211" y="4380011"/>
            <a:ext cx="2281534" cy="3973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25140" y="4862215"/>
            <a:ext cx="1192113" cy="21877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11692" y="5062587"/>
            <a:ext cx="2352675" cy="6699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4"/>
              </a:spcBef>
              <a:buClr>
                <a:srgbClr val="4D4D4D"/>
              </a:buClr>
              <a:buChar char="—"/>
              <a:tabLst>
                <a:tab pos="295910" algn="l"/>
              </a:tabLst>
            </a:pPr>
            <a:r>
              <a:rPr sz="1400" spc="-10" dirty="0">
                <a:solidFill>
                  <a:srgbClr val="161616"/>
                </a:solidFill>
                <a:latin typeface="Cambria"/>
                <a:cs typeface="Cambria"/>
              </a:rPr>
              <a:t>Napster</a:t>
            </a:r>
            <a:endParaRPr sz="1400">
              <a:latin typeface="Cambria"/>
              <a:cs typeface="Cambria"/>
            </a:endParaRPr>
          </a:p>
          <a:p>
            <a:pPr marL="295275" indent="-282575">
              <a:lnSpc>
                <a:spcPct val="100000"/>
              </a:lnSpc>
              <a:spcBef>
                <a:spcPts val="5"/>
              </a:spcBef>
              <a:buClr>
                <a:srgbClr val="4D4D4D"/>
              </a:buClr>
              <a:buChar char="—"/>
              <a:tabLst>
                <a:tab pos="295275" algn="l"/>
              </a:tabLst>
            </a:pPr>
            <a:r>
              <a:rPr sz="1400" spc="-10" dirty="0">
                <a:solidFill>
                  <a:srgbClr val="131313"/>
                </a:solidFill>
                <a:latin typeface="Cambria"/>
                <a:cs typeface="Cambria"/>
              </a:rPr>
              <a:t>Gnutella,</a:t>
            </a:r>
            <a:r>
              <a:rPr sz="1400" spc="-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400" spc="-55" dirty="0">
                <a:solidFill>
                  <a:srgbClr val="0E0E0E"/>
                </a:solidFill>
                <a:latin typeface="Cambria"/>
                <a:cs typeface="Cambria"/>
              </a:rPr>
              <a:t>Freenet.</a:t>
            </a:r>
            <a:r>
              <a:rPr sz="1400" spc="-40" dirty="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161616"/>
                </a:solidFill>
                <a:latin typeface="Cambria"/>
                <a:cs typeface="Cambria"/>
              </a:rPr>
              <a:t>LimeWire</a:t>
            </a:r>
            <a:endParaRPr sz="1400">
              <a:latin typeface="Cambria"/>
              <a:cs typeface="Cambria"/>
            </a:endParaRPr>
          </a:p>
          <a:p>
            <a:pPr marL="304165" indent="-291465">
              <a:lnSpc>
                <a:spcPct val="100000"/>
              </a:lnSpc>
              <a:spcBef>
                <a:spcPts val="10"/>
              </a:spcBef>
              <a:buClr>
                <a:srgbClr val="4F4F4F"/>
              </a:buClr>
              <a:buChar char="—"/>
              <a:tabLst>
                <a:tab pos="304165" algn="l"/>
              </a:tabLst>
            </a:pPr>
            <a:r>
              <a:rPr sz="1400" dirty="0">
                <a:solidFill>
                  <a:srgbClr val="111111"/>
                </a:solidFill>
                <a:latin typeface="Cambria"/>
                <a:cs typeface="Cambria"/>
              </a:rPr>
              <a:t>KazaA,</a:t>
            </a:r>
            <a:r>
              <a:rPr sz="1400" spc="18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mbria"/>
                <a:cs typeface="Cambria"/>
              </a:rPr>
              <a:t>Morpheus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5812" y="5781972"/>
            <a:ext cx="2009179" cy="16519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70008" y="518368"/>
            <a:ext cx="6152515" cy="658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50" spc="150" dirty="0">
                <a:solidFill>
                  <a:srgbClr val="F0360F"/>
                </a:solidFill>
                <a:latin typeface="Calibri"/>
                <a:cs typeface="Calibri"/>
              </a:rPr>
              <a:t>File-</a:t>
            </a:r>
            <a:r>
              <a:rPr sz="4150" spc="185" dirty="0">
                <a:solidFill>
                  <a:srgbClr val="F0360F"/>
                </a:solidFill>
                <a:latin typeface="Calibri"/>
                <a:cs typeface="Calibri"/>
              </a:rPr>
              <a:t>sharing</a:t>
            </a:r>
            <a:r>
              <a:rPr sz="4150" spc="835" dirty="0">
                <a:solidFill>
                  <a:srgbClr val="F0360F"/>
                </a:solidFill>
                <a:latin typeface="Calibri"/>
                <a:cs typeface="Calibri"/>
              </a:rPr>
              <a:t> </a:t>
            </a:r>
            <a:r>
              <a:rPr sz="4150" spc="70" dirty="0">
                <a:solidFill>
                  <a:srgbClr val="F73400"/>
                </a:solidFill>
                <a:latin typeface="Calibri"/>
                <a:cs typeface="Calibri"/>
              </a:rPr>
              <a:t>vs.</a:t>
            </a:r>
            <a:r>
              <a:rPr sz="4150" spc="455" dirty="0">
                <a:solidFill>
                  <a:srgbClr val="F73400"/>
                </a:solidFill>
                <a:latin typeface="Calibri"/>
                <a:cs typeface="Calibri"/>
              </a:rPr>
              <a:t> </a:t>
            </a:r>
            <a:r>
              <a:rPr sz="4150" spc="155" dirty="0">
                <a:solidFill>
                  <a:srgbClr val="EB441A"/>
                </a:solidFill>
                <a:latin typeface="Calibri"/>
                <a:cs typeface="Calibri"/>
              </a:rPr>
              <a:t>Streaming</a:t>
            </a:r>
            <a:endParaRPr sz="41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7260" y="1253984"/>
            <a:ext cx="7487920" cy="457390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1010"/>
              </a:spcBef>
              <a:buChar char="•"/>
              <a:tabLst>
                <a:tab pos="356235" algn="l"/>
              </a:tabLst>
            </a:pPr>
            <a:r>
              <a:rPr sz="2650" dirty="0">
                <a:latin typeface="Times New Roman"/>
                <a:cs typeface="Times New Roman"/>
              </a:rPr>
              <a:t>File-</a:t>
            </a:r>
            <a:r>
              <a:rPr sz="2650" spc="-10" dirty="0">
                <a:latin typeface="Times New Roman"/>
                <a:cs typeface="Times New Roman"/>
              </a:rPr>
              <a:t>sharing</a:t>
            </a:r>
            <a:endParaRPr sz="2650">
              <a:latin typeface="Times New Roman"/>
              <a:cs typeface="Times New Roman"/>
            </a:endParaRPr>
          </a:p>
          <a:p>
            <a:pPr marL="471170">
              <a:lnSpc>
                <a:spcPct val="100000"/>
              </a:lnSpc>
              <a:spcBef>
                <a:spcPts val="735"/>
              </a:spcBef>
            </a:pPr>
            <a:r>
              <a:rPr sz="2250" spc="-1150" dirty="0">
                <a:solidFill>
                  <a:srgbClr val="777487"/>
                </a:solidFill>
                <a:latin typeface="Times New Roman"/>
                <a:cs typeface="Times New Roman"/>
              </a:rPr>
              <a:t>—</a:t>
            </a:r>
            <a:r>
              <a:rPr sz="2250" spc="30" dirty="0">
                <a:solidFill>
                  <a:srgbClr val="777487"/>
                </a:solidFill>
                <a:latin typeface="Times New Roman"/>
                <a:cs typeface="Times New Roman"/>
              </a:rPr>
              <a:t>  </a:t>
            </a:r>
            <a:r>
              <a:rPr sz="2250" dirty="0">
                <a:solidFill>
                  <a:srgbClr val="110A6E"/>
                </a:solidFill>
                <a:latin typeface="Times New Roman"/>
                <a:cs typeface="Times New Roman"/>
              </a:rPr>
              <a:t>DownlOad</a:t>
            </a:r>
            <a:r>
              <a:rPr sz="2250" spc="280" dirty="0">
                <a:solidFill>
                  <a:srgbClr val="110A6E"/>
                </a:solidFill>
                <a:latin typeface="Times New Roman"/>
                <a:cs typeface="Times New Roman"/>
              </a:rPr>
              <a:t> </a:t>
            </a:r>
            <a:r>
              <a:rPr sz="2250" dirty="0">
                <a:solidFill>
                  <a:srgbClr val="0C0146"/>
                </a:solidFill>
                <a:latin typeface="Times New Roman"/>
                <a:cs typeface="Times New Roman"/>
              </a:rPr>
              <a:t>the</a:t>
            </a:r>
            <a:r>
              <a:rPr sz="2250" spc="165" dirty="0">
                <a:solidFill>
                  <a:srgbClr val="0C0146"/>
                </a:solidFill>
                <a:latin typeface="Times New Roman"/>
                <a:cs typeface="Times New Roman"/>
              </a:rPr>
              <a:t> </a:t>
            </a:r>
            <a:r>
              <a:rPr sz="2250" i="1" dirty="0">
                <a:solidFill>
                  <a:srgbClr val="080552"/>
                </a:solidFill>
                <a:latin typeface="Times New Roman"/>
                <a:cs typeface="Times New Roman"/>
              </a:rPr>
              <a:t>entire</a:t>
            </a:r>
            <a:r>
              <a:rPr sz="2250" i="1" spc="170" dirty="0">
                <a:solidFill>
                  <a:srgbClr val="080552"/>
                </a:solidFill>
                <a:latin typeface="Times New Roman"/>
                <a:cs typeface="Times New Roman"/>
              </a:rPr>
              <a:t> </a:t>
            </a:r>
            <a:r>
              <a:rPr sz="2250" dirty="0">
                <a:solidFill>
                  <a:srgbClr val="0F0E49"/>
                </a:solidFill>
                <a:latin typeface="Times New Roman"/>
                <a:cs typeface="Times New Roman"/>
              </a:rPr>
              <a:t>file</a:t>
            </a:r>
            <a:r>
              <a:rPr sz="2250" spc="70" dirty="0">
                <a:solidFill>
                  <a:srgbClr val="0F0E49"/>
                </a:solidFill>
                <a:latin typeface="Times New Roman"/>
                <a:cs typeface="Times New Roman"/>
              </a:rPr>
              <a:t> </a:t>
            </a:r>
            <a:r>
              <a:rPr sz="2250" dirty="0">
                <a:solidFill>
                  <a:srgbClr val="0C0144"/>
                </a:solidFill>
                <a:latin typeface="Times New Roman"/>
                <a:cs typeface="Times New Roman"/>
              </a:rPr>
              <a:t>first,</a:t>
            </a:r>
            <a:r>
              <a:rPr sz="2250" spc="170" dirty="0">
                <a:solidFill>
                  <a:srgbClr val="0C0144"/>
                </a:solidFill>
                <a:latin typeface="Times New Roman"/>
                <a:cs typeface="Times New Roman"/>
              </a:rPr>
              <a:t> </a:t>
            </a:r>
            <a:r>
              <a:rPr sz="2250" dirty="0">
                <a:solidFill>
                  <a:srgbClr val="0A084D"/>
                </a:solidFill>
                <a:latin typeface="Times New Roman"/>
                <a:cs typeface="Times New Roman"/>
              </a:rPr>
              <a:t>then</a:t>
            </a:r>
            <a:r>
              <a:rPr sz="2250" spc="300" dirty="0">
                <a:solidFill>
                  <a:srgbClr val="0A084D"/>
                </a:solidFill>
                <a:latin typeface="Times New Roman"/>
                <a:cs typeface="Times New Roman"/>
              </a:rPr>
              <a:t> </a:t>
            </a:r>
            <a:r>
              <a:rPr sz="2250" dirty="0">
                <a:solidFill>
                  <a:srgbClr val="0A0549"/>
                </a:solidFill>
                <a:latin typeface="Times New Roman"/>
                <a:cs typeface="Times New Roman"/>
              </a:rPr>
              <a:t>use</a:t>
            </a:r>
            <a:r>
              <a:rPr sz="2250" spc="185" dirty="0">
                <a:solidFill>
                  <a:srgbClr val="0A0549"/>
                </a:solidFill>
                <a:latin typeface="Times New Roman"/>
                <a:cs typeface="Times New Roman"/>
              </a:rPr>
              <a:t> </a:t>
            </a:r>
            <a:r>
              <a:rPr sz="2250" spc="-25" dirty="0">
                <a:solidFill>
                  <a:srgbClr val="150A57"/>
                </a:solidFill>
                <a:latin typeface="Times New Roman"/>
                <a:cs typeface="Times New Roman"/>
              </a:rPr>
              <a:t>it</a:t>
            </a:r>
            <a:endParaRPr sz="2250">
              <a:latin typeface="Times New Roman"/>
              <a:cs typeface="Times New Roman"/>
            </a:endParaRPr>
          </a:p>
          <a:p>
            <a:pPr marL="760730" marR="897255" indent="-16510">
              <a:lnSpc>
                <a:spcPct val="120900"/>
              </a:lnSpc>
              <a:spcBef>
                <a:spcPts val="195"/>
              </a:spcBef>
              <a:tabLst>
                <a:tab pos="4097654" algn="l"/>
              </a:tabLst>
            </a:pPr>
            <a:r>
              <a:rPr sz="2350" dirty="0">
                <a:solidFill>
                  <a:srgbClr val="110E52"/>
                </a:solidFill>
                <a:latin typeface="Times New Roman"/>
                <a:cs typeface="Times New Roman"/>
              </a:rPr>
              <a:t>Small</a:t>
            </a:r>
            <a:r>
              <a:rPr sz="2350" spc="55" dirty="0">
                <a:solidFill>
                  <a:srgbClr val="110E52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C0A56"/>
                </a:solidFill>
                <a:latin typeface="Times New Roman"/>
                <a:cs typeface="Times New Roman"/>
              </a:rPr>
              <a:t>files</a:t>
            </a:r>
            <a:r>
              <a:rPr sz="2350" spc="65" dirty="0">
                <a:solidFill>
                  <a:srgbClr val="0C0A5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C0549"/>
                </a:solidFill>
                <a:latin typeface="Times New Roman"/>
                <a:cs typeface="Times New Roman"/>
              </a:rPr>
              <a:t>(few</a:t>
            </a:r>
            <a:r>
              <a:rPr sz="2350" spc="135" dirty="0">
                <a:solidFill>
                  <a:srgbClr val="0C0549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0F0A60"/>
                </a:solidFill>
                <a:latin typeface="Times New Roman"/>
                <a:cs typeface="Times New Roman"/>
              </a:rPr>
              <a:t>Mbytes)</a:t>
            </a:r>
            <a:r>
              <a:rPr sz="2350" dirty="0">
                <a:solidFill>
                  <a:srgbClr val="0F0A60"/>
                </a:solidFill>
                <a:latin typeface="Times New Roman"/>
                <a:cs typeface="Times New Roman"/>
              </a:rPr>
              <a:t>	</a:t>
            </a:r>
            <a:r>
              <a:rPr sz="2350" dirty="0">
                <a:solidFill>
                  <a:srgbClr val="180F54"/>
                </a:solidFill>
                <a:latin typeface="Times New Roman"/>
                <a:cs typeface="Times New Roman"/>
              </a:rPr>
              <a:t>short</a:t>
            </a:r>
            <a:r>
              <a:rPr sz="2350" spc="55" dirty="0">
                <a:solidFill>
                  <a:srgbClr val="180F54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70F4D"/>
                </a:solidFill>
                <a:latin typeface="Times New Roman"/>
                <a:cs typeface="Times New Roman"/>
              </a:rPr>
              <a:t>download</a:t>
            </a:r>
            <a:r>
              <a:rPr sz="2350" spc="165" dirty="0">
                <a:solidFill>
                  <a:srgbClr val="070F4D"/>
                </a:solidFill>
                <a:latin typeface="Times New Roman"/>
                <a:cs typeface="Times New Roman"/>
              </a:rPr>
              <a:t> </a:t>
            </a:r>
            <a:r>
              <a:rPr sz="2350" spc="-20" dirty="0">
                <a:solidFill>
                  <a:srgbClr val="0F0E49"/>
                </a:solidFill>
                <a:latin typeface="Times New Roman"/>
                <a:cs typeface="Times New Roman"/>
              </a:rPr>
              <a:t>time </a:t>
            </a:r>
            <a:r>
              <a:rPr sz="2350" spc="-90" dirty="0">
                <a:solidFill>
                  <a:srgbClr val="0A0852"/>
                </a:solidFill>
                <a:latin typeface="Times New Roman"/>
                <a:cs typeface="Times New Roman"/>
              </a:rPr>
              <a:t>A</a:t>
            </a:r>
            <a:r>
              <a:rPr sz="2350" spc="-105" dirty="0">
                <a:solidFill>
                  <a:srgbClr val="0A0852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F0C3D"/>
                </a:solidFill>
                <a:latin typeface="Times New Roman"/>
                <a:cs typeface="Times New Roman"/>
              </a:rPr>
              <a:t>file</a:t>
            </a:r>
            <a:r>
              <a:rPr sz="2350" spc="-90" dirty="0">
                <a:solidFill>
                  <a:srgbClr val="0F0C3D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110E42"/>
                </a:solidFill>
                <a:latin typeface="Times New Roman"/>
                <a:cs typeface="Times New Roman"/>
              </a:rPr>
              <a:t>is</a:t>
            </a:r>
            <a:r>
              <a:rPr sz="2350" spc="45" dirty="0">
                <a:solidFill>
                  <a:srgbClr val="110E42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160E62"/>
                </a:solidFill>
                <a:latin typeface="Times New Roman"/>
                <a:cs typeface="Times New Roman"/>
              </a:rPr>
              <a:t>stored</a:t>
            </a:r>
            <a:r>
              <a:rPr sz="2350" spc="200" dirty="0">
                <a:solidFill>
                  <a:srgbClr val="160E62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C0552"/>
                </a:solidFill>
                <a:latin typeface="Times New Roman"/>
                <a:cs typeface="Times New Roman"/>
              </a:rPr>
              <a:t>by</a:t>
            </a:r>
            <a:r>
              <a:rPr sz="2350" spc="90" dirty="0">
                <a:solidFill>
                  <a:srgbClr val="0C0552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5053F"/>
                </a:solidFill>
                <a:latin typeface="Times New Roman"/>
                <a:cs typeface="Times New Roman"/>
              </a:rPr>
              <a:t>one</a:t>
            </a:r>
            <a:r>
              <a:rPr sz="2350" spc="80" dirty="0">
                <a:solidFill>
                  <a:srgbClr val="05053F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8084D"/>
                </a:solidFill>
                <a:latin typeface="Times New Roman"/>
                <a:cs typeface="Times New Roman"/>
              </a:rPr>
              <a:t>peer</a:t>
            </a:r>
            <a:r>
              <a:rPr sz="2350" spc="-50" dirty="0">
                <a:solidFill>
                  <a:srgbClr val="08084D"/>
                </a:solidFill>
                <a:latin typeface="Times New Roman"/>
                <a:cs typeface="Times New Roman"/>
              </a:rPr>
              <a:t> </a:t>
            </a:r>
            <a:r>
              <a:rPr sz="2350" spc="-580" dirty="0">
                <a:solidFill>
                  <a:srgbClr val="444444"/>
                </a:solidFill>
                <a:latin typeface="Times New Roman"/>
                <a:cs typeface="Times New Roman"/>
              </a:rPr>
              <a:t>O</a:t>
            </a:r>
            <a:r>
              <a:rPr sz="2350" spc="18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E084F"/>
                </a:solidFill>
                <a:latin typeface="Times New Roman"/>
                <a:cs typeface="Times New Roman"/>
              </a:rPr>
              <a:t>one</a:t>
            </a:r>
            <a:r>
              <a:rPr sz="2350" spc="-10" dirty="0">
                <a:solidFill>
                  <a:srgbClr val="0E084F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07004F"/>
                </a:solidFill>
                <a:latin typeface="Times New Roman"/>
                <a:cs typeface="Times New Roman"/>
              </a:rPr>
              <a:t>connection</a:t>
            </a:r>
            <a:r>
              <a:rPr sz="2350" spc="585" dirty="0">
                <a:solidFill>
                  <a:srgbClr val="07004F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8036E"/>
                </a:solidFill>
                <a:latin typeface="Times New Roman"/>
                <a:cs typeface="Times New Roman"/>
              </a:rPr>
              <a:t>No</a:t>
            </a:r>
            <a:r>
              <a:rPr sz="2350" spc="-40" dirty="0">
                <a:solidFill>
                  <a:srgbClr val="08036E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110C46"/>
                </a:solidFill>
                <a:latin typeface="Times New Roman"/>
                <a:cs typeface="Times New Roman"/>
              </a:rPr>
              <a:t>timing</a:t>
            </a:r>
            <a:r>
              <a:rPr sz="2350" spc="10" dirty="0">
                <a:solidFill>
                  <a:srgbClr val="110C46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030041"/>
                </a:solidFill>
                <a:latin typeface="Times New Roman"/>
                <a:cs typeface="Times New Roman"/>
              </a:rPr>
              <a:t>constraints</a:t>
            </a:r>
            <a:endParaRPr sz="2350">
              <a:latin typeface="Times New Roman"/>
              <a:cs typeface="Times New Roman"/>
            </a:endParaRPr>
          </a:p>
          <a:p>
            <a:pPr marL="349885" indent="-337185">
              <a:lnSpc>
                <a:spcPct val="100000"/>
              </a:lnSpc>
              <a:spcBef>
                <a:spcPts val="869"/>
              </a:spcBef>
              <a:buChar char="•"/>
              <a:tabLst>
                <a:tab pos="349885" algn="l"/>
              </a:tabLst>
            </a:pPr>
            <a:r>
              <a:rPr sz="2600" spc="45" dirty="0">
                <a:latin typeface="Times New Roman"/>
                <a:cs typeface="Times New Roman"/>
              </a:rPr>
              <a:t>Streaming</a:t>
            </a:r>
            <a:endParaRPr sz="2600">
              <a:latin typeface="Times New Roman"/>
              <a:cs typeface="Times New Roman"/>
            </a:endParaRPr>
          </a:p>
          <a:p>
            <a:pPr marL="752475">
              <a:lnSpc>
                <a:spcPct val="100000"/>
              </a:lnSpc>
              <a:spcBef>
                <a:spcPts val="680"/>
              </a:spcBef>
            </a:pPr>
            <a:r>
              <a:rPr sz="2350" dirty="0">
                <a:solidFill>
                  <a:srgbClr val="070569"/>
                </a:solidFill>
                <a:latin typeface="Times New Roman"/>
                <a:cs typeface="Times New Roman"/>
              </a:rPr>
              <a:t>Consume</a:t>
            </a:r>
            <a:r>
              <a:rPr sz="2350" spc="80" dirty="0">
                <a:solidFill>
                  <a:srgbClr val="070569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C0A46"/>
                </a:solidFill>
                <a:latin typeface="Times New Roman"/>
                <a:cs typeface="Times New Roman"/>
              </a:rPr>
              <a:t>(playback)</a:t>
            </a:r>
            <a:r>
              <a:rPr sz="2350" spc="125" dirty="0">
                <a:solidFill>
                  <a:srgbClr val="0C0A4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F0352"/>
                </a:solidFill>
                <a:latin typeface="Times New Roman"/>
                <a:cs typeface="Times New Roman"/>
              </a:rPr>
              <a:t>as</a:t>
            </a:r>
            <a:r>
              <a:rPr sz="2350" spc="50" dirty="0">
                <a:solidFill>
                  <a:srgbClr val="0F0352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8014F"/>
                </a:solidFill>
                <a:latin typeface="Times New Roman"/>
                <a:cs typeface="Times New Roman"/>
              </a:rPr>
              <a:t>you</a:t>
            </a:r>
            <a:r>
              <a:rPr sz="2350" spc="85" dirty="0">
                <a:solidFill>
                  <a:srgbClr val="08014F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080352"/>
                </a:solidFill>
                <a:latin typeface="Times New Roman"/>
                <a:cs typeface="Times New Roman"/>
              </a:rPr>
              <a:t>download</a:t>
            </a:r>
            <a:endParaRPr sz="2350">
              <a:latin typeface="Times New Roman"/>
              <a:cs typeface="Times New Roman"/>
            </a:endParaRPr>
          </a:p>
          <a:p>
            <a:pPr marL="757555">
              <a:lnSpc>
                <a:spcPct val="100000"/>
              </a:lnSpc>
              <a:spcBef>
                <a:spcPts val="730"/>
              </a:spcBef>
            </a:pPr>
            <a:r>
              <a:rPr sz="2350" dirty="0">
                <a:solidFill>
                  <a:srgbClr val="030860"/>
                </a:solidFill>
                <a:latin typeface="Times New Roman"/>
                <a:cs typeface="Times New Roman"/>
              </a:rPr>
              <a:t>Large</a:t>
            </a:r>
            <a:r>
              <a:rPr sz="2350" spc="-55" dirty="0">
                <a:solidFill>
                  <a:srgbClr val="03086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A0548"/>
                </a:solidFill>
                <a:latin typeface="Times New Roman"/>
                <a:cs typeface="Times New Roman"/>
              </a:rPr>
              <a:t>files</a:t>
            </a:r>
            <a:r>
              <a:rPr sz="2350" spc="15" dirty="0">
                <a:solidFill>
                  <a:srgbClr val="0A0548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C0C4B"/>
                </a:solidFill>
                <a:latin typeface="Times New Roman"/>
                <a:cs typeface="Times New Roman"/>
              </a:rPr>
              <a:t>(few</a:t>
            </a:r>
            <a:r>
              <a:rPr sz="2350" spc="100" dirty="0">
                <a:solidFill>
                  <a:srgbClr val="0C0C4B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C0E69"/>
                </a:solidFill>
                <a:latin typeface="Times New Roman"/>
                <a:cs typeface="Times New Roman"/>
              </a:rPr>
              <a:t>Gbytes)</a:t>
            </a:r>
            <a:r>
              <a:rPr sz="2350" spc="20" dirty="0">
                <a:solidFill>
                  <a:srgbClr val="0C0E69"/>
                </a:solidFill>
                <a:latin typeface="Times New Roman"/>
                <a:cs typeface="Times New Roman"/>
              </a:rPr>
              <a:t> </a:t>
            </a:r>
            <a:r>
              <a:rPr sz="2350" spc="-580" dirty="0">
                <a:solidFill>
                  <a:srgbClr val="525252"/>
                </a:solidFill>
                <a:latin typeface="Times New Roman"/>
                <a:cs typeface="Times New Roman"/>
              </a:rPr>
              <a:t>O</a:t>
            </a:r>
            <a:r>
              <a:rPr sz="2350" spc="185" dirty="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110F4F"/>
                </a:solidFill>
                <a:latin typeface="Times New Roman"/>
                <a:cs typeface="Times New Roman"/>
              </a:rPr>
              <a:t>long</a:t>
            </a:r>
            <a:r>
              <a:rPr sz="2350" spc="35" dirty="0">
                <a:solidFill>
                  <a:srgbClr val="110F4F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F084F"/>
                </a:solidFill>
                <a:latin typeface="Times New Roman"/>
                <a:cs typeface="Times New Roman"/>
              </a:rPr>
              <a:t>download</a:t>
            </a:r>
            <a:r>
              <a:rPr sz="2350" spc="200" dirty="0">
                <a:solidFill>
                  <a:srgbClr val="0F084F"/>
                </a:solidFill>
                <a:latin typeface="Times New Roman"/>
                <a:cs typeface="Times New Roman"/>
              </a:rPr>
              <a:t> </a:t>
            </a:r>
            <a:r>
              <a:rPr sz="2350" spc="-20" dirty="0">
                <a:solidFill>
                  <a:srgbClr val="05003A"/>
                </a:solidFill>
                <a:latin typeface="Times New Roman"/>
                <a:cs typeface="Times New Roman"/>
              </a:rPr>
              <a:t>time</a:t>
            </a:r>
            <a:endParaRPr sz="2350">
              <a:latin typeface="Times New Roman"/>
              <a:cs typeface="Times New Roman"/>
            </a:endParaRPr>
          </a:p>
          <a:p>
            <a:pPr marL="754380" marR="5080" indent="6350">
              <a:lnSpc>
                <a:spcPct val="119700"/>
              </a:lnSpc>
              <a:spcBef>
                <a:spcPts val="70"/>
              </a:spcBef>
            </a:pPr>
            <a:r>
              <a:rPr sz="2350" spc="-90" dirty="0">
                <a:solidFill>
                  <a:srgbClr val="160F54"/>
                </a:solidFill>
                <a:latin typeface="Times New Roman"/>
                <a:cs typeface="Times New Roman"/>
              </a:rPr>
              <a:t>A</a:t>
            </a:r>
            <a:r>
              <a:rPr sz="2350" spc="-105" dirty="0">
                <a:solidFill>
                  <a:srgbClr val="160F54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F0C3F"/>
                </a:solidFill>
                <a:latin typeface="Times New Roman"/>
                <a:cs typeface="Times New Roman"/>
              </a:rPr>
              <a:t>file</a:t>
            </a:r>
            <a:r>
              <a:rPr sz="2350" spc="-150" dirty="0">
                <a:solidFill>
                  <a:srgbClr val="0F0C3F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C0A3B"/>
                </a:solidFill>
                <a:latin typeface="Times New Roman"/>
                <a:cs typeface="Times New Roman"/>
              </a:rPr>
              <a:t>is</a:t>
            </a:r>
            <a:r>
              <a:rPr sz="2350" spc="20" dirty="0">
                <a:solidFill>
                  <a:srgbClr val="0C0A3B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161616"/>
                </a:solidFill>
                <a:latin typeface="Times New Roman"/>
                <a:cs typeface="Times New Roman"/>
              </a:rPr>
              <a:t>stored</a:t>
            </a:r>
            <a:r>
              <a:rPr sz="2350" spc="17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C074D"/>
                </a:solidFill>
                <a:latin typeface="Times New Roman"/>
                <a:cs typeface="Times New Roman"/>
              </a:rPr>
              <a:t>by</a:t>
            </a:r>
            <a:r>
              <a:rPr sz="2350" spc="120" dirty="0">
                <a:solidFill>
                  <a:srgbClr val="0C074D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C0842"/>
                </a:solidFill>
                <a:latin typeface="Times New Roman"/>
                <a:cs typeface="Times New Roman"/>
              </a:rPr>
              <a:t>multiple</a:t>
            </a:r>
            <a:r>
              <a:rPr sz="2350" spc="65" dirty="0">
                <a:solidFill>
                  <a:srgbClr val="0C0842"/>
                </a:solidFill>
                <a:latin typeface="Times New Roman"/>
                <a:cs typeface="Times New Roman"/>
              </a:rPr>
              <a:t>  </a:t>
            </a:r>
            <a:r>
              <a:rPr sz="2350" dirty="0">
                <a:solidFill>
                  <a:srgbClr val="0A0544"/>
                </a:solidFill>
                <a:latin typeface="Times New Roman"/>
                <a:cs typeface="Times New Roman"/>
              </a:rPr>
              <a:t>peers</a:t>
            </a:r>
            <a:r>
              <a:rPr sz="2350" spc="-20" dirty="0">
                <a:solidFill>
                  <a:srgbClr val="0A0544"/>
                </a:solidFill>
                <a:latin typeface="Times New Roman"/>
                <a:cs typeface="Times New Roman"/>
              </a:rPr>
              <a:t> </a:t>
            </a:r>
            <a:r>
              <a:rPr sz="2350" spc="-580" dirty="0">
                <a:solidFill>
                  <a:srgbClr val="4B4B4B"/>
                </a:solidFill>
                <a:latin typeface="Times New Roman"/>
                <a:cs typeface="Times New Roman"/>
              </a:rPr>
              <a:t>O</a:t>
            </a:r>
            <a:r>
              <a:rPr sz="2350" spc="215" dirty="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E0559"/>
                </a:solidFill>
                <a:latin typeface="Times New Roman"/>
                <a:cs typeface="Times New Roman"/>
              </a:rPr>
              <a:t>several</a:t>
            </a:r>
            <a:r>
              <a:rPr sz="2350" spc="-10" dirty="0">
                <a:solidFill>
                  <a:srgbClr val="0E0559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110856"/>
                </a:solidFill>
                <a:latin typeface="Times New Roman"/>
                <a:cs typeface="Times New Roman"/>
              </a:rPr>
              <a:t>connections </a:t>
            </a:r>
            <a:r>
              <a:rPr sz="2350" dirty="0">
                <a:solidFill>
                  <a:srgbClr val="0E0C4B"/>
                </a:solidFill>
                <a:latin typeface="Times New Roman"/>
                <a:cs typeface="Times New Roman"/>
              </a:rPr>
              <a:t>Timing</a:t>
            </a:r>
            <a:r>
              <a:rPr sz="2350" spc="50" dirty="0">
                <a:solidFill>
                  <a:srgbClr val="0E0C4B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F0A3A"/>
                </a:solidFill>
                <a:latin typeface="Times New Roman"/>
                <a:cs typeface="Times New Roman"/>
              </a:rPr>
              <a:t>is</a:t>
            </a:r>
            <a:r>
              <a:rPr sz="2350" spc="-10" dirty="0">
                <a:solidFill>
                  <a:srgbClr val="0F0A3A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0F084B"/>
                </a:solidFill>
                <a:latin typeface="Times New Roman"/>
                <a:cs typeface="Times New Roman"/>
              </a:rPr>
              <a:t>crucial</a:t>
            </a:r>
            <a:endParaRPr sz="2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8471" rIns="0" bIns="0" rtlCol="0">
            <a:spAutoFit/>
          </a:bodyPr>
          <a:lstStyle/>
          <a:p>
            <a:pPr marL="760095">
              <a:lnSpc>
                <a:spcPct val="100000"/>
              </a:lnSpc>
              <a:spcBef>
                <a:spcPts val="140"/>
              </a:spcBef>
            </a:pPr>
            <a:r>
              <a:rPr sz="4550" spc="-409" dirty="0">
                <a:solidFill>
                  <a:srgbClr val="F93303"/>
                </a:solidFill>
              </a:rPr>
              <a:t>i?xomp1e</a:t>
            </a:r>
            <a:r>
              <a:rPr sz="4550" spc="705" dirty="0">
                <a:solidFill>
                  <a:srgbClr val="F93303"/>
                </a:solidFill>
              </a:rPr>
              <a:t> </a:t>
            </a:r>
            <a:r>
              <a:rPr sz="4550" spc="-370" dirty="0">
                <a:solidFill>
                  <a:srgbClr val="E23F1A"/>
                </a:solidFill>
              </a:rPr>
              <a:t>P2P</a:t>
            </a:r>
            <a:r>
              <a:rPr sz="4550" spc="490" dirty="0">
                <a:solidFill>
                  <a:srgbClr val="E23F1A"/>
                </a:solidFill>
              </a:rPr>
              <a:t> </a:t>
            </a:r>
            <a:r>
              <a:rPr sz="4550" spc="-285" dirty="0">
                <a:solidFill>
                  <a:srgbClr val="F03100"/>
                </a:solidFill>
              </a:rPr>
              <a:t>AppJico†ioes</a:t>
            </a:r>
            <a:endParaRPr sz="4550"/>
          </a:p>
        </p:txBody>
      </p:sp>
      <p:sp>
        <p:nvSpPr>
          <p:cNvPr id="3" name="object 3"/>
          <p:cNvSpPr txBox="1"/>
          <p:nvPr/>
        </p:nvSpPr>
        <p:spPr>
          <a:xfrm>
            <a:off x="762942" y="2006400"/>
            <a:ext cx="7280275" cy="43853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0520" marR="5080" indent="-338455">
              <a:lnSpc>
                <a:spcPts val="3379"/>
              </a:lnSpc>
              <a:spcBef>
                <a:spcPts val="130"/>
              </a:spcBef>
              <a:buChar char="•"/>
              <a:tabLst>
                <a:tab pos="353695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1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following</a:t>
            </a:r>
            <a:r>
              <a:rPr sz="2700" spc="27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areas</a:t>
            </a:r>
            <a:r>
              <a:rPr sz="2700" spc="19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are</a:t>
            </a:r>
            <a:r>
              <a:rPr sz="2700" spc="1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detailed</a:t>
            </a:r>
            <a:r>
              <a:rPr sz="2700" spc="2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</a:t>
            </a:r>
            <a:r>
              <a:rPr sz="2700" spc="229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following 	slides:</a:t>
            </a:r>
            <a:endParaRPr sz="2700">
              <a:latin typeface="Times New Roman"/>
              <a:cs typeface="Times New Roman"/>
            </a:endParaRPr>
          </a:p>
          <a:p>
            <a:pPr marL="752475" marR="4307840" indent="3175">
              <a:lnSpc>
                <a:spcPts val="3450"/>
              </a:lnSpc>
              <a:spcBef>
                <a:spcPts val="110"/>
              </a:spcBef>
            </a:pPr>
            <a:r>
              <a:rPr sz="2350" dirty="0">
                <a:solidFill>
                  <a:srgbClr val="0F0760"/>
                </a:solidFill>
                <a:latin typeface="Times New Roman"/>
                <a:cs typeface="Times New Roman"/>
              </a:rPr>
              <a:t>Instant</a:t>
            </a:r>
            <a:r>
              <a:rPr sz="2350" spc="75" dirty="0">
                <a:solidFill>
                  <a:srgbClr val="0F0760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0F0566"/>
                </a:solidFill>
                <a:latin typeface="Times New Roman"/>
                <a:cs typeface="Times New Roman"/>
              </a:rPr>
              <a:t>Messaging </a:t>
            </a:r>
            <a:r>
              <a:rPr sz="2400" dirty="0">
                <a:solidFill>
                  <a:srgbClr val="030054"/>
                </a:solidFill>
                <a:latin typeface="Times New Roman"/>
                <a:cs typeface="Times New Roman"/>
              </a:rPr>
              <a:t>File</a:t>
            </a:r>
            <a:r>
              <a:rPr sz="2400" spc="-135" dirty="0">
                <a:solidFill>
                  <a:srgbClr val="030054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10A50"/>
                </a:solidFill>
                <a:latin typeface="Times New Roman"/>
                <a:cs typeface="Times New Roman"/>
              </a:rPr>
              <a:t>exchange </a:t>
            </a:r>
            <a:r>
              <a:rPr sz="2400" spc="-10" dirty="0">
                <a:solidFill>
                  <a:srgbClr val="080569"/>
                </a:solidFill>
                <a:latin typeface="Times New Roman"/>
                <a:cs typeface="Times New Roman"/>
              </a:rPr>
              <a:t>Collaboration</a:t>
            </a:r>
            <a:endParaRPr sz="2400">
              <a:latin typeface="Times New Roman"/>
              <a:cs typeface="Times New Roman"/>
            </a:endParaRPr>
          </a:p>
          <a:p>
            <a:pPr marL="758190" lvl="1" indent="-311150">
              <a:lnSpc>
                <a:spcPct val="100000"/>
              </a:lnSpc>
              <a:spcBef>
                <a:spcPts val="395"/>
              </a:spcBef>
              <a:buClr>
                <a:srgbClr val="777290"/>
              </a:buClr>
              <a:buChar char="—"/>
              <a:tabLst>
                <a:tab pos="758190" algn="l"/>
              </a:tabLst>
            </a:pPr>
            <a:r>
              <a:rPr sz="2350" dirty="0">
                <a:solidFill>
                  <a:srgbClr val="13155E"/>
                </a:solidFill>
                <a:latin typeface="Times New Roman"/>
                <a:cs typeface="Times New Roman"/>
              </a:rPr>
              <a:t>MIPS</a:t>
            </a:r>
            <a:r>
              <a:rPr sz="2350" spc="50" dirty="0">
                <a:solidFill>
                  <a:srgbClr val="13155E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130E4D"/>
                </a:solidFill>
                <a:latin typeface="Times New Roman"/>
                <a:cs typeface="Times New Roman"/>
              </a:rPr>
              <a:t>sharing</a:t>
            </a:r>
            <a:endParaRPr sz="2350">
              <a:latin typeface="Times New Roman"/>
              <a:cs typeface="Times New Roman"/>
            </a:endParaRPr>
          </a:p>
          <a:p>
            <a:pPr marL="756920" lvl="1" indent="-311150">
              <a:lnSpc>
                <a:spcPct val="100000"/>
              </a:lnSpc>
              <a:spcBef>
                <a:spcPts val="625"/>
              </a:spcBef>
              <a:buClr>
                <a:srgbClr val="626262"/>
              </a:buClr>
              <a:buChar char="—"/>
              <a:tabLst>
                <a:tab pos="756920" algn="l"/>
              </a:tabLst>
            </a:pPr>
            <a:r>
              <a:rPr sz="2350" dirty="0">
                <a:solidFill>
                  <a:srgbClr val="131164"/>
                </a:solidFill>
                <a:latin typeface="Times New Roman"/>
                <a:cs typeface="Times New Roman"/>
              </a:rPr>
              <a:t>Lookup</a:t>
            </a:r>
            <a:r>
              <a:rPr sz="2350" spc="130" dirty="0">
                <a:solidFill>
                  <a:srgbClr val="131164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0C083F"/>
                </a:solidFill>
                <a:latin typeface="Times New Roman"/>
                <a:cs typeface="Times New Roman"/>
              </a:rPr>
              <a:t>services</a:t>
            </a:r>
            <a:endParaRPr sz="2350">
              <a:latin typeface="Times New Roman"/>
              <a:cs typeface="Times New Roman"/>
            </a:endParaRPr>
          </a:p>
          <a:p>
            <a:pPr marL="752475" marR="2845435" indent="6350">
              <a:lnSpc>
                <a:spcPct val="119600"/>
              </a:lnSpc>
              <a:spcBef>
                <a:spcPts val="80"/>
              </a:spcBef>
            </a:pPr>
            <a:r>
              <a:rPr sz="2400" dirty="0">
                <a:solidFill>
                  <a:srgbClr val="08015B"/>
                </a:solidFill>
                <a:latin typeface="Times New Roman"/>
                <a:cs typeface="Times New Roman"/>
              </a:rPr>
              <a:t>Mobile</a:t>
            </a:r>
            <a:r>
              <a:rPr sz="2400" spc="-55" dirty="0">
                <a:solidFill>
                  <a:srgbClr val="08015B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80A5D"/>
                </a:solidFill>
                <a:latin typeface="Times New Roman"/>
                <a:cs typeface="Times New Roman"/>
              </a:rPr>
              <a:t>ad</a:t>
            </a:r>
            <a:r>
              <a:rPr sz="2400" spc="-30" dirty="0">
                <a:solidFill>
                  <a:srgbClr val="180A5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80554"/>
                </a:solidFill>
                <a:latin typeface="Times New Roman"/>
                <a:cs typeface="Times New Roman"/>
              </a:rPr>
              <a:t>hoc</a:t>
            </a:r>
            <a:r>
              <a:rPr sz="2400" spc="-60" dirty="0">
                <a:solidFill>
                  <a:srgbClr val="080554"/>
                </a:solidFill>
                <a:latin typeface="Times New Roman"/>
                <a:cs typeface="Times New Roman"/>
              </a:rPr>
              <a:t> </a:t>
            </a:r>
            <a:r>
              <a:rPr sz="2400" spc="-35" dirty="0">
                <a:solidFill>
                  <a:srgbClr val="0C0342"/>
                </a:solidFill>
                <a:latin typeface="Times New Roman"/>
                <a:cs typeface="Times New Roman"/>
              </a:rPr>
              <a:t>communication </a:t>
            </a:r>
            <a:r>
              <a:rPr sz="2400" dirty="0">
                <a:solidFill>
                  <a:srgbClr val="0F0A6B"/>
                </a:solidFill>
                <a:latin typeface="Times New Roman"/>
                <a:cs typeface="Times New Roman"/>
              </a:rPr>
              <a:t>Content</a:t>
            </a:r>
            <a:r>
              <a:rPr sz="2400" spc="-70" dirty="0">
                <a:solidFill>
                  <a:srgbClr val="0F0A6B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F0760"/>
                </a:solidFill>
                <a:latin typeface="Times New Roman"/>
                <a:cs typeface="Times New Roman"/>
              </a:rPr>
              <a:t>Distribution </a:t>
            </a:r>
            <a:r>
              <a:rPr sz="2400" spc="-10" dirty="0">
                <a:solidFill>
                  <a:srgbClr val="07015B"/>
                </a:solidFill>
                <a:latin typeface="Times New Roman"/>
                <a:cs typeface="Times New Roman"/>
              </a:rPr>
              <a:t>Middleware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2085" y="991195"/>
            <a:ext cx="1759148" cy="38397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5117" rIns="0" bIns="0" rtlCol="0">
            <a:spAutoFit/>
          </a:bodyPr>
          <a:lstStyle/>
          <a:p>
            <a:pPr marL="3490595">
              <a:lnSpc>
                <a:spcPct val="100000"/>
              </a:lnSpc>
              <a:spcBef>
                <a:spcPts val="114"/>
              </a:spcBef>
            </a:pPr>
            <a:r>
              <a:rPr sz="3500" spc="285" dirty="0">
                <a:solidFill>
                  <a:srgbClr val="F93408"/>
                </a:solidFill>
                <a:latin typeface="Calibri"/>
                <a:cs typeface="Calibri"/>
              </a:rPr>
              <a:t>MesSQging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676" y="1958776"/>
            <a:ext cx="7595234" cy="379857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8775" marR="5080" indent="-342900">
              <a:lnSpc>
                <a:spcPts val="1550"/>
              </a:lnSpc>
              <a:spcBef>
                <a:spcPts val="420"/>
              </a:spcBef>
              <a:buChar char="•"/>
              <a:tabLst>
                <a:tab pos="358775" algn="l"/>
                <a:tab pos="373380" algn="l"/>
              </a:tabLst>
            </a:pP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220" dirty="0">
                <a:latin typeface="Times New Roman"/>
                <a:cs typeface="Times New Roman"/>
              </a:rPr>
              <a:t>A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convenient</a:t>
            </a:r>
            <a:r>
              <a:rPr sz="1550" spc="20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way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communicating</a:t>
            </a:r>
            <a:r>
              <a:rPr sz="1550" spc="2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with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small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group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selected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people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(e.g.,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friends, </a:t>
            </a:r>
            <a:r>
              <a:rPr sz="1550" dirty="0">
                <a:latin typeface="Times New Roman"/>
                <a:cs typeface="Times New Roman"/>
              </a:rPr>
              <a:t>family</a:t>
            </a:r>
            <a:r>
              <a:rPr sz="1550" spc="2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members,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etc.)</a:t>
            </a:r>
            <a:endParaRPr sz="1550">
              <a:latin typeface="Times New Roman"/>
              <a:cs typeface="Times New Roman"/>
            </a:endParaRPr>
          </a:p>
          <a:p>
            <a:pPr marL="365760" marR="448309" indent="-351155">
              <a:lnSpc>
                <a:spcPct val="78100"/>
              </a:lnSpc>
              <a:spcBef>
                <a:spcPts val="405"/>
              </a:spcBef>
              <a:buChar char="•"/>
              <a:tabLst>
                <a:tab pos="365760" algn="l"/>
                <a:tab pos="374015" algn="l"/>
              </a:tabLst>
            </a:pP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55" dirty="0">
                <a:latin typeface="Times New Roman"/>
                <a:cs typeface="Times New Roman"/>
              </a:rPr>
              <a:t>Usually,</a:t>
            </a:r>
            <a:r>
              <a:rPr sz="1650" dirty="0">
                <a:latin typeface="Times New Roman"/>
                <a:cs typeface="Times New Roman"/>
              </a:rPr>
              <a:t> a</a:t>
            </a:r>
            <a:r>
              <a:rPr sz="1650" spc="-70" dirty="0">
                <a:latin typeface="Times New Roman"/>
                <a:cs typeface="Times New Roman"/>
              </a:rPr>
              <a:t> </a:t>
            </a:r>
            <a:r>
              <a:rPr sz="1650" spc="-30" dirty="0">
                <a:latin typeface="Times New Roman"/>
                <a:cs typeface="Times New Roman"/>
              </a:rPr>
              <a:t>central</a:t>
            </a:r>
            <a:r>
              <a:rPr sz="1650" spc="20" dirty="0">
                <a:latin typeface="Times New Roman"/>
                <a:cs typeface="Times New Roman"/>
              </a:rPr>
              <a:t> </a:t>
            </a:r>
            <a:r>
              <a:rPr sz="1650" spc="-25" dirty="0">
                <a:latin typeface="Times New Roman"/>
                <a:cs typeface="Times New Roman"/>
              </a:rPr>
              <a:t>scrvcr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is</a:t>
            </a:r>
            <a:r>
              <a:rPr sz="1650" spc="-65" dirty="0">
                <a:latin typeface="Times New Roman"/>
                <a:cs typeface="Times New Roman"/>
              </a:rPr>
              <a:t> </a:t>
            </a:r>
            <a:r>
              <a:rPr sz="1650" spc="-25" dirty="0">
                <a:latin typeface="Times New Roman"/>
                <a:cs typeface="Times New Roman"/>
              </a:rPr>
              <a:t>used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to</a:t>
            </a:r>
            <a:r>
              <a:rPr sz="1650" spc="-10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store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user</a:t>
            </a:r>
            <a:r>
              <a:rPr sz="1650" spc="20" dirty="0">
                <a:latin typeface="Times New Roman"/>
                <a:cs typeface="Times New Roman"/>
              </a:rPr>
              <a:t> </a:t>
            </a:r>
            <a:r>
              <a:rPr sz="1650" spc="-90" dirty="0">
                <a:latin typeface="Times New Roman"/>
                <a:cs typeface="Times New Roman"/>
              </a:rPr>
              <a:t>pi‘ofiles</a:t>
            </a:r>
            <a:r>
              <a:rPr sz="1650" spc="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and</a:t>
            </a:r>
            <a:r>
              <a:rPr sz="1650" spc="-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to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have</a:t>
            </a:r>
            <a:r>
              <a:rPr sz="1650" spc="-6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list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of </a:t>
            </a:r>
            <a:r>
              <a:rPr sz="1650" spc="-25" dirty="0">
                <a:latin typeface="Times New Roman"/>
                <a:cs typeface="Times New Roman"/>
              </a:rPr>
              <a:t>rcgistercd </a:t>
            </a:r>
            <a:r>
              <a:rPr sz="1650" spc="-10" dirty="0">
                <a:latin typeface="Times New Roman"/>
                <a:cs typeface="Times New Roman"/>
              </a:rPr>
              <a:t>uscrs</a:t>
            </a:r>
            <a:endParaRPr sz="1650">
              <a:latin typeface="Times New Roman"/>
              <a:cs typeface="Times New Roman"/>
            </a:endParaRPr>
          </a:p>
          <a:p>
            <a:pPr marL="363220" marR="96520" indent="-347980">
              <a:lnSpc>
                <a:spcPts val="1550"/>
              </a:lnSpc>
              <a:spcBef>
                <a:spcPts val="330"/>
              </a:spcBef>
              <a:buChar char="•"/>
              <a:tabLst>
                <a:tab pos="365760" algn="l"/>
              </a:tabLst>
            </a:pPr>
            <a:r>
              <a:rPr sz="1600" spc="-10" dirty="0">
                <a:latin typeface="Times New Roman"/>
                <a:cs typeface="Times New Roman"/>
              </a:rPr>
              <a:t>While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communication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takes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place</a:t>
            </a:r>
            <a:r>
              <a:rPr sz="1600" spc="-10" dirty="0">
                <a:latin typeface="Times New Roman"/>
                <a:cs typeface="Times New Roman"/>
              </a:rPr>
              <a:t> between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peers,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searching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220" dirty="0">
                <a:latin typeface="Times New Roman"/>
                <a:cs typeface="Times New Roman"/>
              </a:rPr>
              <a:t>1’or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oiher </a:t>
            </a:r>
            <a:r>
              <a:rPr sz="1600" spc="-10" dirty="0">
                <a:latin typeface="Times New Roman"/>
                <a:cs typeface="Times New Roman"/>
              </a:rPr>
              <a:t>people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done 	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thc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scrvcr</a:t>
            </a:r>
            <a:endParaRPr sz="1600">
              <a:latin typeface="Times New Roman"/>
              <a:cs typeface="Times New Roman"/>
            </a:endParaRPr>
          </a:p>
          <a:p>
            <a:pPr marL="354965" indent="-342265">
              <a:lnSpc>
                <a:spcPts val="1650"/>
              </a:lnSpc>
              <a:spcBef>
                <a:spcPts val="85"/>
              </a:spcBef>
              <a:buChar char="•"/>
              <a:tabLst>
                <a:tab pos="354965" algn="l"/>
              </a:tabLst>
            </a:pPr>
            <a:r>
              <a:rPr sz="1500" dirty="0">
                <a:latin typeface="Cambria"/>
                <a:cs typeface="Cambria"/>
              </a:rPr>
              <a:t>One </a:t>
            </a:r>
            <a:r>
              <a:rPr sz="1500" spc="-155" dirty="0">
                <a:latin typeface="Cambria"/>
                <a:cs typeface="Cambria"/>
              </a:rPr>
              <a:t>où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-25" dirty="0">
                <a:latin typeface="Cambria"/>
                <a:cs typeface="Cambria"/>
              </a:rPr>
              <a:t>the</a:t>
            </a:r>
            <a:r>
              <a:rPr sz="1500" spc="50" dirty="0">
                <a:latin typeface="Cambria"/>
                <a:cs typeface="Cambria"/>
              </a:rPr>
              <a:t> </a:t>
            </a:r>
            <a:r>
              <a:rPr sz="1500" spc="-25" dirty="0">
                <a:latin typeface="Cambria"/>
                <a:cs typeface="Cambria"/>
              </a:rPr>
              <a:t>rcasons</a:t>
            </a:r>
            <a:r>
              <a:rPr sz="1500" spc="114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why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a</a:t>
            </a:r>
            <a:r>
              <a:rPr sz="1500" spc="-15" dirty="0">
                <a:latin typeface="Cambria"/>
                <a:cs typeface="Cambria"/>
              </a:rPr>
              <a:t> </a:t>
            </a:r>
            <a:r>
              <a:rPr sz="1500" spc="-35" dirty="0">
                <a:latin typeface="Cambria"/>
                <a:cs typeface="Cambria"/>
              </a:rPr>
              <a:t>server</a:t>
            </a:r>
            <a:r>
              <a:rPr sz="1500" spc="2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is</a:t>
            </a:r>
            <a:r>
              <a:rPr sz="1500" spc="25" dirty="0">
                <a:latin typeface="Cambria"/>
                <a:cs typeface="Cambria"/>
              </a:rPr>
              <a:t> </a:t>
            </a:r>
            <a:r>
              <a:rPr sz="1500" spc="-20" dirty="0">
                <a:latin typeface="Cambria"/>
                <a:cs typeface="Cambria"/>
              </a:rPr>
              <a:t>necded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is</a:t>
            </a:r>
            <a:r>
              <a:rPr sz="1500" spc="-20" dirty="0">
                <a:latin typeface="Cambria"/>
                <a:cs typeface="Cambria"/>
              </a:rPr>
              <a:t> </a:t>
            </a:r>
            <a:r>
              <a:rPr sz="1500" spc="-25" dirty="0">
                <a:latin typeface="Cambria"/>
                <a:cs typeface="Cambria"/>
              </a:rPr>
              <a:t>the</a:t>
            </a:r>
            <a:r>
              <a:rPr sz="1500" spc="5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ability</a:t>
            </a:r>
            <a:r>
              <a:rPr sz="1500" spc="14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to</a:t>
            </a:r>
            <a:r>
              <a:rPr sz="1500" spc="20" dirty="0">
                <a:latin typeface="Cambria"/>
                <a:cs typeface="Cambria"/>
              </a:rPr>
              <a:t> </a:t>
            </a:r>
            <a:r>
              <a:rPr sz="1500" spc="-35" dirty="0">
                <a:latin typeface="Cambria"/>
                <a:cs typeface="Cambria"/>
              </a:rPr>
              <a:t>send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-25" dirty="0">
                <a:latin typeface="Cambria"/>
                <a:cs typeface="Cambria"/>
              </a:rPr>
              <a:t>messages</a:t>
            </a:r>
            <a:r>
              <a:rPr sz="1500" spc="175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to</a:t>
            </a:r>
            <a:r>
              <a:rPr sz="1500" spc="-35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otlier</a:t>
            </a:r>
            <a:endParaRPr sz="1500">
              <a:latin typeface="Cambria"/>
              <a:cs typeface="Cambria"/>
            </a:endParaRPr>
          </a:p>
          <a:p>
            <a:pPr marL="358775">
              <a:lnSpc>
                <a:spcPts val="1710"/>
              </a:lnSpc>
            </a:pPr>
            <a:r>
              <a:rPr sz="1550" spc="-65" dirty="0">
                <a:latin typeface="Cambria"/>
                <a:cs typeface="Cambria"/>
              </a:rPr>
              <a:t>parsons</a:t>
            </a:r>
            <a:r>
              <a:rPr sz="1550" spc="14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(i.e.,</a:t>
            </a:r>
            <a:r>
              <a:rPr sz="1550" spc="145" dirty="0">
                <a:latin typeface="Cambria"/>
                <a:cs typeface="Cambria"/>
              </a:rPr>
              <a:t> </a:t>
            </a:r>
            <a:r>
              <a:rPr sz="1550" spc="-65" dirty="0">
                <a:latin typeface="Cambria"/>
                <a:cs typeface="Cambria"/>
              </a:rPr>
              <a:t>peei</a:t>
            </a:r>
            <a:r>
              <a:rPr sz="1550" spc="-110" dirty="0">
                <a:latin typeface="Cambria"/>
                <a:cs typeface="Cambria"/>
              </a:rPr>
              <a:t> </a:t>
            </a:r>
            <a:r>
              <a:rPr sz="1550" spc="-35" dirty="0">
                <a:latin typeface="Cambria"/>
                <a:cs typeface="Cambria"/>
              </a:rPr>
              <a:t>s)</a:t>
            </a:r>
            <a:endParaRPr sz="1550">
              <a:latin typeface="Cambria"/>
              <a:cs typeface="Cambria"/>
            </a:endParaRPr>
          </a:p>
          <a:p>
            <a:pPr marL="354965" indent="-341630">
              <a:lnSpc>
                <a:spcPct val="100000"/>
              </a:lnSpc>
              <a:spcBef>
                <a:spcPts val="135"/>
              </a:spcBef>
              <a:buChar char="•"/>
              <a:tabLst>
                <a:tab pos="354965" algn="l"/>
              </a:tabLst>
            </a:pPr>
            <a:r>
              <a:rPr sz="1450" dirty="0">
                <a:latin typeface="Cambria"/>
                <a:cs typeface="Cambria"/>
              </a:rPr>
              <a:t>If</a:t>
            </a:r>
            <a:r>
              <a:rPr sz="1450" spc="14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the</a:t>
            </a:r>
            <a:r>
              <a:rPr sz="1450" spc="35" dirty="0">
                <a:latin typeface="Cambria"/>
                <a:cs typeface="Cambria"/>
              </a:rPr>
              <a:t> </a:t>
            </a:r>
            <a:r>
              <a:rPr sz="1450" spc="-10" dirty="0">
                <a:latin typeface="Cambria"/>
                <a:cs typeface="Cambria"/>
              </a:rPr>
              <a:t>target</a:t>
            </a:r>
            <a:r>
              <a:rPr sz="1450" spc="11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peei</a:t>
            </a:r>
            <a:r>
              <a:rPr sz="1450" spc="254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is</a:t>
            </a:r>
            <a:r>
              <a:rPr sz="1450" spc="50" dirty="0">
                <a:latin typeface="Cambria"/>
                <a:cs typeface="Cambria"/>
              </a:rPr>
              <a:t> </a:t>
            </a:r>
            <a:r>
              <a:rPr sz="1450" spc="-35" dirty="0">
                <a:latin typeface="Cambria"/>
                <a:cs typeface="Cambria"/>
              </a:rPr>
              <a:t>ntit</a:t>
            </a:r>
            <a:r>
              <a:rPr sz="1450" spc="12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online,</a:t>
            </a:r>
            <a:r>
              <a:rPr sz="1450" spc="13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the</a:t>
            </a:r>
            <a:r>
              <a:rPr sz="1450" spc="6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system</a:t>
            </a:r>
            <a:r>
              <a:rPr sz="1450" spc="114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has</a:t>
            </a:r>
            <a:r>
              <a:rPr sz="1450" spc="3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to</a:t>
            </a:r>
            <a:r>
              <a:rPr sz="1450" spc="40" dirty="0">
                <a:latin typeface="Cambria"/>
                <a:cs typeface="Cambria"/>
              </a:rPr>
              <a:t> </a:t>
            </a:r>
            <a:r>
              <a:rPr sz="1450" spc="-20" dirty="0">
                <a:latin typeface="Cambria"/>
                <a:cs typeface="Cambria"/>
              </a:rPr>
              <a:t>store</a:t>
            </a:r>
            <a:r>
              <a:rPr sz="1450" spc="8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the</a:t>
            </a:r>
            <a:r>
              <a:rPr sz="1450" spc="7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message</a:t>
            </a:r>
            <a:r>
              <a:rPr sz="1450" spc="13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uiitil</a:t>
            </a:r>
            <a:r>
              <a:rPr sz="1450" spc="105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the</a:t>
            </a:r>
            <a:r>
              <a:rPr sz="1450" spc="45" dirty="0">
                <a:latin typeface="Cambria"/>
                <a:cs typeface="Cambria"/>
              </a:rPr>
              <a:t> </a:t>
            </a:r>
            <a:r>
              <a:rPr sz="1450" spc="-10" dirty="0">
                <a:latin typeface="Cambria"/>
                <a:cs typeface="Cambria"/>
              </a:rPr>
              <a:t>target</a:t>
            </a:r>
            <a:endParaRPr sz="1450">
              <a:latin typeface="Cambria"/>
              <a:cs typeface="Cambria"/>
            </a:endParaRPr>
          </a:p>
          <a:p>
            <a:pPr marL="358775" indent="-346075">
              <a:lnSpc>
                <a:spcPts val="1830"/>
              </a:lnSpc>
              <a:spcBef>
                <a:spcPts val="130"/>
              </a:spcBef>
              <a:buChar char="•"/>
              <a:tabLst>
                <a:tab pos="358775" algn="l"/>
              </a:tabLst>
            </a:pPr>
            <a:r>
              <a:rPr sz="1550" spc="-45" dirty="0">
                <a:latin typeface="Cambria"/>
                <a:cs typeface="Cambria"/>
              </a:rPr>
              <a:t>peers</a:t>
            </a:r>
            <a:r>
              <a:rPr sz="1550" spc="5" dirty="0">
                <a:latin typeface="Cambria"/>
                <a:cs typeface="Cambria"/>
              </a:rPr>
              <a:t> </a:t>
            </a:r>
            <a:r>
              <a:rPr sz="1550" spc="-55" dirty="0">
                <a:latin typeface="Cambria"/>
                <a:cs typeface="Cambria"/>
              </a:rPr>
              <a:t>becotnes</a:t>
            </a:r>
            <a:r>
              <a:rPr sz="1550" spc="35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online</a:t>
            </a:r>
            <a:r>
              <a:rPr sz="1550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again</a:t>
            </a:r>
            <a:endParaRPr sz="1550">
              <a:latin typeface="Cambria"/>
              <a:cs typeface="Cambria"/>
            </a:endParaRPr>
          </a:p>
          <a:p>
            <a:pPr marL="360045" marR="422909" indent="-344805">
              <a:lnSpc>
                <a:spcPct val="78100"/>
              </a:lnSpc>
              <a:spcBef>
                <a:spcPts val="405"/>
              </a:spcBef>
              <a:buChar char="•"/>
              <a:tabLst>
                <a:tab pos="365125" algn="l"/>
              </a:tabLst>
            </a:pPr>
            <a:r>
              <a:rPr sz="1650" dirty="0">
                <a:latin typeface="Times New Roman"/>
                <a:cs typeface="Times New Roman"/>
              </a:rPr>
              <a:t>This</a:t>
            </a:r>
            <a:r>
              <a:rPr sz="1650" spc="-65" dirty="0">
                <a:latin typeface="Times New Roman"/>
                <a:cs typeface="Times New Roman"/>
              </a:rPr>
              <a:t> </a:t>
            </a:r>
            <a:r>
              <a:rPr sz="1650" spc="-45" dirty="0">
                <a:latin typeface="Times New Roman"/>
                <a:cs typeface="Times New Roman"/>
              </a:rPr>
              <a:t>would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be,</a:t>
            </a:r>
            <a:r>
              <a:rPr sz="1650" spc="-7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of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course, </a:t>
            </a:r>
            <a:r>
              <a:rPr sz="1650" dirty="0">
                <a:latin typeface="Times New Roman"/>
                <a:cs typeface="Times New Roman"/>
              </a:rPr>
              <a:t>also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spc="-30" dirty="0">
                <a:latin typeface="Times New Roman"/>
                <a:cs typeface="Times New Roman"/>
              </a:rPr>
              <a:t>possible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1650" spc="-35" dirty="0">
                <a:latin typeface="Times New Roman"/>
                <a:cs typeface="Times New Roman"/>
              </a:rPr>
              <a:t>with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spc="-175" dirty="0">
                <a:latin typeface="Times New Roman"/>
                <a:cs typeface="Times New Roman"/>
              </a:rPr>
              <a:t>server—</a:t>
            </a:r>
            <a:r>
              <a:rPr sz="1650" spc="-70" dirty="0">
                <a:latin typeface="Times New Roman"/>
                <a:cs typeface="Times New Roman"/>
              </a:rPr>
              <a:t>less</a:t>
            </a:r>
            <a:r>
              <a:rPr sz="1650" spc="130" dirty="0">
                <a:latin typeface="Times New Roman"/>
                <a:cs typeface="Times New Roman"/>
              </a:rPr>
              <a:t> </a:t>
            </a:r>
            <a:r>
              <a:rPr sz="1650" spc="-50" dirty="0">
                <a:latin typeface="Times New Roman"/>
                <a:cs typeface="Times New Roman"/>
              </a:rPr>
              <a:t>P2P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spc="-35" dirty="0">
                <a:latin typeface="Times New Roman"/>
                <a:cs typeface="Times New Roman"/>
              </a:rPr>
              <a:t>system,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but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the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price 	</a:t>
            </a:r>
            <a:r>
              <a:rPr sz="1650" spc="-30" dirty="0">
                <a:latin typeface="Times New Roman"/>
                <a:cs typeface="Times New Roman"/>
              </a:rPr>
              <a:t>would</a:t>
            </a:r>
            <a:r>
              <a:rPr sz="1650" spc="-7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be</a:t>
            </a:r>
            <a:r>
              <a:rPr sz="1650" spc="-10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</a:t>
            </a:r>
            <a:r>
              <a:rPr sz="1650" spc="-85" dirty="0">
                <a:latin typeface="Times New Roman"/>
                <a:cs typeface="Times New Roman"/>
              </a:rPr>
              <a:t> </a:t>
            </a:r>
            <a:r>
              <a:rPr sz="1650" spc="-30" dirty="0">
                <a:latin typeface="Times New Roman"/>
                <a:cs typeface="Times New Roman"/>
              </a:rPr>
              <a:t>increased</a:t>
            </a:r>
            <a:r>
              <a:rPr sz="1650" spc="65" dirty="0">
                <a:latin typeface="Times New Roman"/>
                <a:cs typeface="Times New Roman"/>
              </a:rPr>
              <a:t> </a:t>
            </a:r>
            <a:r>
              <a:rPr sz="1650" spc="-35" dirty="0">
                <a:latin typeface="Times New Roman"/>
                <a:cs typeface="Times New Roman"/>
              </a:rPr>
              <a:t>complcxity</a:t>
            </a:r>
            <a:r>
              <a:rPr sz="1650" spc="7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and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spc="-70" dirty="0">
                <a:latin typeface="Times New Roman"/>
                <a:cs typeface="Times New Roman"/>
              </a:rPr>
              <a:t>a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ccrtain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1650" spc="-30" dirty="0">
                <a:latin typeface="Times New Roman"/>
                <a:cs typeface="Times New Roman"/>
              </a:rPr>
              <a:t>probability</a:t>
            </a:r>
            <a:r>
              <a:rPr sz="1650" dirty="0">
                <a:latin typeface="Times New Roman"/>
                <a:cs typeface="Times New Roman"/>
              </a:rPr>
              <a:t> of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spc="-40" dirty="0">
                <a:latin typeface="Times New Roman"/>
                <a:cs typeface="Times New Roman"/>
              </a:rPr>
              <a:t>messagcs</a:t>
            </a:r>
            <a:r>
              <a:rPr sz="1650" spc="45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getting lost</a:t>
            </a:r>
            <a:endParaRPr sz="1650">
              <a:latin typeface="Times New Roman"/>
              <a:cs typeface="Times New Roman"/>
            </a:endParaRPr>
          </a:p>
          <a:p>
            <a:pPr marL="361950" indent="-345440">
              <a:lnSpc>
                <a:spcPts val="1755"/>
              </a:lnSpc>
              <a:spcBef>
                <a:spcPts val="65"/>
              </a:spcBef>
              <a:buChar char="•"/>
              <a:tabLst>
                <a:tab pos="361950" algn="l"/>
              </a:tabLst>
            </a:pPr>
            <a:r>
              <a:rPr sz="1500" dirty="0">
                <a:latin typeface="Times New Roman"/>
                <a:cs typeface="Times New Roman"/>
              </a:rPr>
              <a:t>Exemples</a:t>
            </a:r>
            <a:r>
              <a:rPr sz="1500" spc="270" dirty="0">
                <a:latin typeface="Times New Roman"/>
                <a:cs typeface="Times New Roman"/>
              </a:rPr>
              <a:t> </a:t>
            </a:r>
            <a:r>
              <a:rPr sz="1500" i="1" dirty="0">
                <a:latin typeface="Times New Roman"/>
                <a:cs typeface="Times New Roman"/>
              </a:rPr>
              <a:t>tvi</a:t>
            </a:r>
            <a:r>
              <a:rPr sz="1500" i="1" spc="60" dirty="0">
                <a:latin typeface="Times New Roman"/>
                <a:cs typeface="Times New Roman"/>
              </a:rPr>
              <a:t>  </a:t>
            </a:r>
            <a:r>
              <a:rPr sz="1500" i="1" dirty="0">
                <a:latin typeface="Times New Roman"/>
                <a:cs typeface="Times New Roman"/>
              </a:rPr>
              <a:t>su</a:t>
            </a:r>
            <a:r>
              <a:rPr sz="1500" dirty="0">
                <a:latin typeface="Times New Roman"/>
                <a:cs typeface="Times New Roman"/>
              </a:rPr>
              <a:t>ch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systems</a:t>
            </a:r>
            <a:r>
              <a:rPr sz="1500" spc="250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are:</a:t>
            </a:r>
            <a:endParaRPr sz="1500">
              <a:latin typeface="Times New Roman"/>
              <a:cs typeface="Times New Roman"/>
            </a:endParaRPr>
          </a:p>
          <a:p>
            <a:pPr marL="770890" lvl="1" indent="-295910">
              <a:lnSpc>
                <a:spcPts val="1814"/>
              </a:lnSpc>
              <a:buClr>
                <a:srgbClr val="494949"/>
              </a:buClr>
              <a:buChar char="—"/>
              <a:tabLst>
                <a:tab pos="770890" algn="l"/>
              </a:tabLst>
            </a:pPr>
            <a:r>
              <a:rPr sz="1550" spc="-10" dirty="0">
                <a:solidFill>
                  <a:srgbClr val="181818"/>
                </a:solidFill>
                <a:latin typeface="Times New Roman"/>
                <a:cs typeface="Times New Roman"/>
              </a:rPr>
              <a:t>Napsier</a:t>
            </a:r>
            <a:endParaRPr sz="1550">
              <a:latin typeface="Times New Roman"/>
              <a:cs typeface="Times New Roman"/>
            </a:endParaRPr>
          </a:p>
          <a:p>
            <a:pPr marL="763270" lvl="1" indent="-288290">
              <a:lnSpc>
                <a:spcPts val="1610"/>
              </a:lnSpc>
              <a:spcBef>
                <a:spcPts val="30"/>
              </a:spcBef>
              <a:buClr>
                <a:srgbClr val="494949"/>
              </a:buClr>
              <a:buChar char="—"/>
              <a:tabLst>
                <a:tab pos="763270" algn="l"/>
              </a:tabLst>
            </a:pPr>
            <a:r>
              <a:rPr sz="1350" spc="-25" dirty="0">
                <a:solidFill>
                  <a:srgbClr val="110E44"/>
                </a:solidFill>
                <a:latin typeface="Times New Roman"/>
                <a:cs typeface="Times New Roman"/>
              </a:rPr>
              <a:t>ICQ</a:t>
            </a:r>
            <a:endParaRPr sz="1350">
              <a:latin typeface="Times New Roman"/>
              <a:cs typeface="Times New Roman"/>
            </a:endParaRPr>
          </a:p>
          <a:p>
            <a:pPr marL="762635" lvl="1" indent="-287655">
              <a:lnSpc>
                <a:spcPts val="1670"/>
              </a:lnSpc>
              <a:buClr>
                <a:srgbClr val="494949"/>
              </a:buClr>
              <a:buChar char="—"/>
              <a:tabLst>
                <a:tab pos="762635" algn="l"/>
              </a:tabLst>
            </a:pPr>
            <a:r>
              <a:rPr sz="1400" spc="-10" dirty="0">
                <a:solidFill>
                  <a:srgbClr val="161616"/>
                </a:solidFill>
                <a:latin typeface="Times New Roman"/>
                <a:cs typeface="Times New Roman"/>
              </a:rPr>
              <a:t>ihreedegrees</a:t>
            </a:r>
            <a:endParaRPr sz="1400">
              <a:latin typeface="Times New Roman"/>
              <a:cs typeface="Times New Roman"/>
            </a:endParaRPr>
          </a:p>
          <a:p>
            <a:pPr marL="764540" lvl="1" indent="-290195">
              <a:lnSpc>
                <a:spcPct val="100000"/>
              </a:lnSpc>
              <a:spcBef>
                <a:spcPts val="70"/>
              </a:spcBef>
              <a:buClr>
                <a:srgbClr val="4D4D4D"/>
              </a:buClr>
              <a:buChar char="—"/>
              <a:tabLst>
                <a:tab pos="764540" algn="l"/>
              </a:tabLst>
            </a:pPr>
            <a:r>
              <a:rPr sz="1300" spc="-10" dirty="0">
                <a:solidFill>
                  <a:srgbClr val="504D79"/>
                </a:solidFill>
                <a:latin typeface="Times New Roman"/>
                <a:cs typeface="Times New Roman"/>
              </a:rPr>
              <a:t>Jahber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1215289" y="779560"/>
            <a:ext cx="3348990" cy="7251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550" spc="125" dirty="0">
                <a:solidFill>
                  <a:srgbClr val="FB340C"/>
                </a:solidFill>
                <a:latin typeface="Calibri"/>
                <a:cs typeface="Calibri"/>
              </a:rPr>
              <a:t>File</a:t>
            </a:r>
            <a:r>
              <a:rPr sz="4550" spc="640" dirty="0">
                <a:solidFill>
                  <a:srgbClr val="FB340C"/>
                </a:solidFill>
                <a:latin typeface="Calibri"/>
                <a:cs typeface="Calibri"/>
              </a:rPr>
              <a:t> </a:t>
            </a:r>
            <a:r>
              <a:rPr sz="4550" spc="-10" dirty="0">
                <a:solidFill>
                  <a:srgbClr val="FB2F00"/>
                </a:solidFill>
                <a:latin typeface="Calibri"/>
                <a:cs typeface="Calibri"/>
              </a:rPr>
              <a:t>exchange</a:t>
            </a:r>
            <a:endParaRPr sz="45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2491" y="1482327"/>
            <a:ext cx="401836" cy="892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467993" y="779560"/>
            <a:ext cx="2965450" cy="7251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550" spc="-110" dirty="0">
                <a:solidFill>
                  <a:srgbClr val="626262"/>
                </a:solidFill>
                <a:latin typeface="Calibri"/>
                <a:cs typeface="Calibri"/>
              </a:rPr>
              <a:t>(@BitTorrent</a:t>
            </a:r>
            <a:endParaRPr sz="45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7717" y="1936947"/>
            <a:ext cx="3581400" cy="3686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0" indent="-336550">
              <a:lnSpc>
                <a:spcPts val="2180"/>
              </a:lnSpc>
              <a:spcBef>
                <a:spcPts val="100"/>
              </a:spcBef>
              <a:buChar char="•"/>
              <a:tabLst>
                <a:tab pos="349250" algn="l"/>
              </a:tabLst>
            </a:pPr>
            <a:r>
              <a:rPr sz="2050" spc="-10" dirty="0">
                <a:latin typeface="Times New Roman"/>
                <a:cs typeface="Times New Roman"/>
              </a:rPr>
              <a:t>There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-114" dirty="0">
                <a:latin typeface="Times New Roman"/>
                <a:cs typeface="Times New Roman"/>
              </a:rPr>
              <a:t> </a:t>
            </a:r>
            <a:r>
              <a:rPr sz="2050" spc="-30" dirty="0">
                <a:latin typeface="Times New Roman"/>
                <a:cs typeface="Times New Roman"/>
              </a:rPr>
              <a:t>little</a:t>
            </a:r>
            <a:r>
              <a:rPr sz="2050" spc="-100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dispute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spc="-30" dirty="0">
                <a:latin typeface="Times New Roman"/>
                <a:cs typeface="Times New Roman"/>
              </a:rPr>
              <a:t>about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the</a:t>
            </a:r>
            <a:endParaRPr sz="2050">
              <a:latin typeface="Times New Roman"/>
              <a:cs typeface="Times New Roman"/>
            </a:endParaRPr>
          </a:p>
          <a:p>
            <a:pPr marL="347980" marR="233045" indent="8255">
              <a:lnSpc>
                <a:spcPct val="77200"/>
              </a:lnSpc>
              <a:spcBef>
                <a:spcPts val="280"/>
              </a:spcBef>
            </a:pPr>
            <a:r>
              <a:rPr sz="2050" spc="-40" dirty="0">
                <a:latin typeface="Times New Roman"/>
                <a:cs typeface="Times New Roman"/>
              </a:rPr>
              <a:t>usefulness</a:t>
            </a:r>
            <a:r>
              <a:rPr sz="2050" spc="-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of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spc="-40" dirty="0">
                <a:latin typeface="Times New Roman"/>
                <a:cs typeface="Times New Roman"/>
              </a:rPr>
              <a:t>P2P</a:t>
            </a:r>
            <a:r>
              <a:rPr sz="2050" spc="-11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file</a:t>
            </a:r>
            <a:r>
              <a:rPr sz="2050" spc="-11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sharing </a:t>
            </a:r>
            <a:r>
              <a:rPr sz="2050" spc="-10" dirty="0">
                <a:latin typeface="Times New Roman"/>
                <a:cs typeface="Times New Roman"/>
              </a:rPr>
              <a:t>applications</a:t>
            </a:r>
            <a:endParaRPr sz="2050">
              <a:latin typeface="Times New Roman"/>
              <a:cs typeface="Times New Roman"/>
            </a:endParaRPr>
          </a:p>
          <a:p>
            <a:pPr marL="353695" indent="-340995">
              <a:lnSpc>
                <a:spcPts val="2165"/>
              </a:lnSpc>
              <a:buChar char="•"/>
              <a:tabLst>
                <a:tab pos="353695" algn="l"/>
              </a:tabLst>
            </a:pPr>
            <a:r>
              <a:rPr sz="2050" spc="-30" dirty="0">
                <a:latin typeface="Times New Roman"/>
                <a:cs typeface="Times New Roman"/>
              </a:rPr>
              <a:t>While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spc="-35" dirty="0">
                <a:latin typeface="Times New Roman"/>
                <a:cs typeface="Times New Roman"/>
              </a:rPr>
              <a:t>downloading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files</a:t>
            </a:r>
            <a:r>
              <a:rPr sz="2050" spc="-95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is</a:t>
            </a:r>
            <a:endParaRPr sz="2050">
              <a:latin typeface="Times New Roman"/>
              <a:cs typeface="Times New Roman"/>
            </a:endParaRPr>
          </a:p>
          <a:p>
            <a:pPr marL="347980">
              <a:lnSpc>
                <a:spcPts val="1914"/>
              </a:lnSpc>
            </a:pPr>
            <a:r>
              <a:rPr sz="2050" spc="-25" dirty="0">
                <a:latin typeface="Times New Roman"/>
                <a:cs typeface="Times New Roman"/>
              </a:rPr>
              <a:t>always</a:t>
            </a:r>
            <a:r>
              <a:rPr sz="2050" spc="-9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done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directly</a:t>
            </a:r>
            <a:r>
              <a:rPr sz="2050" spc="-3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between</a:t>
            </a:r>
            <a:endParaRPr sz="2050">
              <a:latin typeface="Times New Roman"/>
              <a:cs typeface="Times New Roman"/>
            </a:endParaRPr>
          </a:p>
          <a:p>
            <a:pPr marL="347345" marR="147320" indent="10160">
              <a:lnSpc>
                <a:spcPct val="77200"/>
              </a:lnSpc>
              <a:spcBef>
                <a:spcPts val="280"/>
              </a:spcBef>
            </a:pPr>
            <a:r>
              <a:rPr sz="2050" spc="-25" dirty="0">
                <a:latin typeface="Times New Roman"/>
                <a:cs typeface="Times New Roman"/>
              </a:rPr>
              <a:t>peers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(or</a:t>
            </a:r>
            <a:r>
              <a:rPr sz="2050" spc="-100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via</a:t>
            </a:r>
            <a:r>
              <a:rPr sz="2050" spc="-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spc="-30" dirty="0">
                <a:latin typeface="Times New Roman"/>
                <a:cs typeface="Times New Roman"/>
              </a:rPr>
              <a:t>proxy</a:t>
            </a:r>
            <a:r>
              <a:rPr sz="2050" spc="-20" dirty="0">
                <a:latin typeface="Times New Roman"/>
                <a:cs typeface="Times New Roman"/>
              </a:rPr>
              <a:t> peer</a:t>
            </a:r>
            <a:r>
              <a:rPr sz="2050" spc="-85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to </a:t>
            </a:r>
            <a:r>
              <a:rPr sz="2050" spc="-20" dirty="0">
                <a:latin typeface="Times New Roman"/>
                <a:cs typeface="Times New Roman"/>
              </a:rPr>
              <a:t>enable</a:t>
            </a:r>
            <a:r>
              <a:rPr sz="2050" spc="-40" dirty="0">
                <a:latin typeface="Times New Roman"/>
                <a:cs typeface="Times New Roman"/>
              </a:rPr>
              <a:t> anonymity),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-12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way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of</a:t>
            </a:r>
            <a:endParaRPr sz="2050">
              <a:latin typeface="Times New Roman"/>
              <a:cs typeface="Times New Roman"/>
            </a:endParaRPr>
          </a:p>
          <a:p>
            <a:pPr marL="349250" marR="91440" indent="3810">
              <a:lnSpc>
                <a:spcPct val="77200"/>
              </a:lnSpc>
              <a:spcBef>
                <a:spcPts val="70"/>
              </a:spcBef>
            </a:pPr>
            <a:r>
              <a:rPr sz="2050" spc="-30" dirty="0">
                <a:latin typeface="Times New Roman"/>
                <a:cs typeface="Times New Roman"/>
              </a:rPr>
              <a:t>seiuching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for</a:t>
            </a:r>
            <a:r>
              <a:rPr sz="2050" spc="-95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these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files</a:t>
            </a:r>
            <a:r>
              <a:rPr sz="2050" spc="-10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differs </a:t>
            </a:r>
            <a:r>
              <a:rPr sz="2050" dirty="0">
                <a:latin typeface="Times New Roman"/>
                <a:cs typeface="Times New Roman"/>
              </a:rPr>
              <a:t>in</a:t>
            </a:r>
            <a:r>
              <a:rPr sz="2050" spc="-100" dirty="0">
                <a:latin typeface="Times New Roman"/>
                <a:cs typeface="Times New Roman"/>
              </a:rPr>
              <a:t> </a:t>
            </a:r>
            <a:r>
              <a:rPr sz="2050" spc="-40" dirty="0">
                <a:latin typeface="Times New Roman"/>
                <a:cs typeface="Times New Roman"/>
              </a:rPr>
              <a:t>many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P2P</a:t>
            </a:r>
            <a:r>
              <a:rPr sz="2050" spc="-12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applications</a:t>
            </a:r>
            <a:endParaRPr sz="2050">
              <a:latin typeface="Times New Roman"/>
              <a:cs typeface="Times New Roman"/>
            </a:endParaRPr>
          </a:p>
          <a:p>
            <a:pPr marL="349885" marR="144145" indent="-337820">
              <a:lnSpc>
                <a:spcPct val="77700"/>
              </a:lnSpc>
              <a:spcBef>
                <a:spcPts val="480"/>
              </a:spcBef>
              <a:buChar char="•"/>
              <a:tabLst>
                <a:tab pos="353060" algn="l"/>
              </a:tabLst>
            </a:pPr>
            <a:r>
              <a:rPr sz="2050" spc="-20" dirty="0">
                <a:latin typeface="Times New Roman"/>
                <a:cs typeface="Times New Roman"/>
              </a:rPr>
              <a:t>Some</a:t>
            </a:r>
            <a:r>
              <a:rPr sz="2050" spc="-40" dirty="0">
                <a:latin typeface="Times New Roman"/>
                <a:cs typeface="Times New Roman"/>
              </a:rPr>
              <a:t> use</a:t>
            </a:r>
            <a:r>
              <a:rPr sz="2050" spc="-9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central</a:t>
            </a:r>
            <a:r>
              <a:rPr sz="2050" spc="-35" dirty="0">
                <a:latin typeface="Times New Roman"/>
                <a:cs typeface="Times New Roman"/>
              </a:rPr>
              <a:t> </a:t>
            </a:r>
            <a:r>
              <a:rPr sz="2050" spc="-30" dirty="0">
                <a:latin typeface="Times New Roman"/>
                <a:cs typeface="Times New Roman"/>
              </a:rPr>
              <a:t>servers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(e.g., 	</a:t>
            </a:r>
            <a:r>
              <a:rPr sz="2100" spc="-55" dirty="0">
                <a:latin typeface="Times New Roman"/>
                <a:cs typeface="Times New Roman"/>
              </a:rPr>
              <a:t>Napster)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-85" dirty="0">
                <a:latin typeface="Times New Roman"/>
                <a:cs typeface="Times New Roman"/>
              </a:rPr>
              <a:t>while</a:t>
            </a:r>
            <a:r>
              <a:rPr sz="2100" spc="-45" dirty="0">
                <a:latin typeface="Times New Roman"/>
                <a:cs typeface="Times New Roman"/>
              </a:rPr>
              <a:t> others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send 	</a:t>
            </a:r>
            <a:r>
              <a:rPr sz="2050" spc="-25" dirty="0">
                <a:latin typeface="Times New Roman"/>
                <a:cs typeface="Times New Roman"/>
              </a:rPr>
              <a:t>search</a:t>
            </a:r>
            <a:r>
              <a:rPr sz="2050" spc="-8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requests</a:t>
            </a:r>
            <a:endParaRPr sz="2050">
              <a:latin typeface="Times New Roman"/>
              <a:cs typeface="Times New Roman"/>
            </a:endParaRPr>
          </a:p>
          <a:p>
            <a:pPr marL="347980" marR="5080" indent="-335915">
              <a:lnSpc>
                <a:spcPct val="77200"/>
              </a:lnSpc>
              <a:spcBef>
                <a:spcPts val="490"/>
              </a:spcBef>
              <a:buChar char="•"/>
              <a:tabLst>
                <a:tab pos="347980" algn="l"/>
              </a:tabLst>
            </a:pPr>
            <a:r>
              <a:rPr sz="2050" spc="-25" dirty="0">
                <a:latin typeface="Times New Roman"/>
                <a:cs typeface="Times New Roman"/>
              </a:rPr>
              <a:t>directly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to</a:t>
            </a:r>
            <a:r>
              <a:rPr sz="2050" spc="-11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other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peers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(e.g., </a:t>
            </a:r>
            <a:r>
              <a:rPr sz="2050" spc="-25" dirty="0">
                <a:latin typeface="Times New Roman"/>
                <a:cs typeface="Times New Roman"/>
              </a:rPr>
              <a:t>Gnutella,</a:t>
            </a:r>
            <a:r>
              <a:rPr sz="2050" spc="-20" dirty="0">
                <a:latin typeface="Times New Roman"/>
                <a:cs typeface="Times New Roman"/>
              </a:rPr>
              <a:t> </a:t>
            </a:r>
            <a:r>
              <a:rPr sz="2050" spc="-30" dirty="0">
                <a:latin typeface="Times New Roman"/>
                <a:cs typeface="Times New Roman"/>
              </a:rPr>
              <a:t>Freenet,</a:t>
            </a:r>
            <a:r>
              <a:rPr sz="2050" spc="-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&amp;</a:t>
            </a:r>
            <a:r>
              <a:rPr sz="2050" spc="-125" dirty="0">
                <a:latin typeface="Times New Roman"/>
                <a:cs typeface="Times New Roman"/>
              </a:rPr>
              <a:t> </a:t>
            </a:r>
            <a:r>
              <a:rPr sz="2050" spc="-45" dirty="0">
                <a:latin typeface="Times New Roman"/>
                <a:cs typeface="Times New Roman"/>
              </a:rPr>
              <a:t>FastTrack)</a:t>
            </a:r>
            <a:endParaRPr sz="205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29312" y="2116335"/>
            <a:ext cx="759023" cy="776882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719664" y="2005904"/>
            <a:ext cx="1235075" cy="769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850" spc="-290" dirty="0">
                <a:solidFill>
                  <a:srgbClr val="36912F"/>
                </a:solidFill>
                <a:latin typeface="Arial"/>
                <a:cs typeface="Arial"/>
              </a:rPr>
              <a:t>Lime</a:t>
            </a:r>
            <a:endParaRPr sz="48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61360" y="4259460"/>
            <a:ext cx="2571750" cy="43755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40266" y="4375546"/>
            <a:ext cx="205382" cy="20538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7831335" y="4375546"/>
            <a:ext cx="562610" cy="267970"/>
            <a:chOff x="7831335" y="4375546"/>
            <a:chExt cx="562610" cy="26797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79594" y="4411264"/>
              <a:ext cx="142875" cy="17859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31335" y="4375546"/>
              <a:ext cx="562570" cy="26789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40266" y="4375546"/>
              <a:ext cx="205382" cy="20538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79594" y="4411264"/>
              <a:ext cx="142875" cy="178593"/>
            </a:xfrm>
            <a:prstGeom prst="rect">
              <a:avLst/>
            </a:prstGeom>
          </p:spPr>
        </p:pic>
      </p:grpSp>
      <p:pic>
        <p:nvPicPr>
          <p:cNvPr id="2" name="object 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4007" y="5732859"/>
            <a:ext cx="1777008" cy="94654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43125" y="6094511"/>
            <a:ext cx="1031378" cy="3080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125516" y="5902523"/>
            <a:ext cx="223242" cy="4554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411266" y="5804296"/>
            <a:ext cx="2312789" cy="6518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018735" y="5581054"/>
            <a:ext cx="1589485" cy="95547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8989" rIns="0" bIns="0" rtlCol="0">
            <a:spAutoFit/>
          </a:bodyPr>
          <a:lstStyle/>
          <a:p>
            <a:pPr marL="2150110">
              <a:lnSpc>
                <a:spcPct val="100000"/>
              </a:lnSpc>
              <a:spcBef>
                <a:spcPts val="90"/>
              </a:spcBef>
            </a:pPr>
            <a:r>
              <a:rPr sz="4500" spc="-130" dirty="0">
                <a:solidFill>
                  <a:srgbClr val="F73A08"/>
                </a:solidFill>
              </a:rPr>
              <a:t>Colloboro†ioe</a:t>
            </a:r>
            <a:endParaRPr sz="4500"/>
          </a:p>
        </p:txBody>
      </p:sp>
      <p:sp>
        <p:nvSpPr>
          <p:cNvPr id="3" name="object 3"/>
          <p:cNvSpPr txBox="1"/>
          <p:nvPr/>
        </p:nvSpPr>
        <p:spPr>
          <a:xfrm>
            <a:off x="760493" y="1950094"/>
            <a:ext cx="7534275" cy="4001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7505" indent="-344805">
              <a:lnSpc>
                <a:spcPct val="100000"/>
              </a:lnSpc>
              <a:spcBef>
                <a:spcPts val="105"/>
              </a:spcBef>
              <a:buChar char="•"/>
              <a:tabLst>
                <a:tab pos="357505" algn="l"/>
              </a:tabLst>
            </a:pP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typical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example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usefulness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P2P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technology</a:t>
            </a:r>
            <a:endParaRPr sz="1800">
              <a:latin typeface="Times New Roman"/>
              <a:cs typeface="Times New Roman"/>
            </a:endParaRPr>
          </a:p>
          <a:p>
            <a:pPr marL="358775" indent="-346075">
              <a:lnSpc>
                <a:spcPts val="1905"/>
              </a:lnSpc>
              <a:buChar char="•"/>
              <a:tabLst>
                <a:tab pos="358775" algn="l"/>
              </a:tabLst>
            </a:pPr>
            <a:r>
              <a:rPr sz="1750" dirty="0">
                <a:latin typeface="Times New Roman"/>
                <a:cs typeface="Times New Roman"/>
              </a:rPr>
              <a:t>It</a:t>
            </a:r>
            <a:r>
              <a:rPr sz="1750" spc="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is</a:t>
            </a:r>
            <a:r>
              <a:rPr sz="1750" spc="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abt</a:t>
            </a:r>
            <a:r>
              <a:rPr sz="1750" spc="8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ut</a:t>
            </a:r>
            <a:r>
              <a:rPr sz="1750" spc="7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having</a:t>
            </a:r>
            <a:r>
              <a:rPr sz="1750" spc="10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people</a:t>
            </a:r>
            <a:r>
              <a:rPr sz="1750" spc="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having</a:t>
            </a:r>
            <a:r>
              <a:rPr sz="1750" spc="8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same</a:t>
            </a:r>
            <a:r>
              <a:rPr sz="1750" spc="1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view</a:t>
            </a:r>
            <a:r>
              <a:rPr sz="1750" spc="135" dirty="0">
                <a:latin typeface="Times New Roman"/>
                <a:cs typeface="Times New Roman"/>
              </a:rPr>
              <a:t> </a:t>
            </a:r>
            <a:r>
              <a:rPr sz="1750" spc="-165" dirty="0">
                <a:latin typeface="Times New Roman"/>
                <a:cs typeface="Times New Roman"/>
              </a:rPr>
              <a:t>ter</a:t>
            </a:r>
            <a:r>
              <a:rPr sz="1750" spc="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different</a:t>
            </a:r>
            <a:r>
              <a:rPr sz="1750" spc="204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views</a:t>
            </a:r>
            <a:r>
              <a:rPr sz="1750" spc="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on</a:t>
            </a:r>
            <a:r>
              <a:rPr sz="1750" spc="6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shared</a:t>
            </a:r>
            <a:endParaRPr sz="1750">
              <a:latin typeface="Times New Roman"/>
              <a:cs typeface="Times New Roman"/>
            </a:endParaRPr>
          </a:p>
          <a:p>
            <a:pPr marL="357505">
              <a:lnSpc>
                <a:spcPts val="1964"/>
              </a:lnSpc>
            </a:pPr>
            <a:r>
              <a:rPr sz="1800" spc="-10" dirty="0">
                <a:latin typeface="Times New Roman"/>
                <a:cs typeface="Times New Roman"/>
              </a:rPr>
              <a:t>information</a:t>
            </a:r>
            <a:endParaRPr sz="1800">
              <a:latin typeface="Times New Roman"/>
              <a:cs typeface="Times New Roman"/>
            </a:endParaRPr>
          </a:p>
          <a:p>
            <a:pPr marL="357505" indent="-344805">
              <a:lnSpc>
                <a:spcPct val="100000"/>
              </a:lnSpc>
              <a:spcBef>
                <a:spcPts val="20"/>
              </a:spcBef>
              <a:buChar char="•"/>
              <a:tabLst>
                <a:tab pos="357505" algn="l"/>
              </a:tabLst>
            </a:pP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would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typically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call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server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storing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information</a:t>
            </a:r>
            <a:endParaRPr sz="1800">
              <a:latin typeface="Times New Roman"/>
              <a:cs typeface="Times New Roman"/>
            </a:endParaRPr>
          </a:p>
          <a:p>
            <a:pPr marL="356870" marR="5080" indent="-343535">
              <a:lnSpc>
                <a:spcPct val="84300"/>
              </a:lnSpc>
              <a:spcBef>
                <a:spcPts val="409"/>
              </a:spcBef>
              <a:buChar char="•"/>
              <a:tabLst>
                <a:tab pos="356870" algn="l"/>
                <a:tab pos="358140" algn="l"/>
              </a:tabLst>
            </a:pPr>
            <a:r>
              <a:rPr sz="1650" dirty="0">
                <a:latin typeface="Times New Roman"/>
                <a:cs typeface="Times New Roman"/>
              </a:rPr>
              <a:t>	This</a:t>
            </a:r>
            <a:r>
              <a:rPr sz="1650" spc="19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way,</a:t>
            </a:r>
            <a:r>
              <a:rPr sz="1650" spc="16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2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inftirmatitiri</a:t>
            </a:r>
            <a:r>
              <a:rPr sz="1650" spc="2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is</a:t>
            </a:r>
            <a:r>
              <a:rPr sz="1650" spc="10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available</a:t>
            </a:r>
            <a:r>
              <a:rPr sz="1650" spc="26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to</a:t>
            </a:r>
            <a:r>
              <a:rPr sz="1650" spc="19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all</a:t>
            </a:r>
            <a:r>
              <a:rPr sz="1650" spc="280" dirty="0">
                <a:latin typeface="Times New Roman"/>
                <a:cs typeface="Times New Roman"/>
              </a:rPr>
              <a:t> </a:t>
            </a:r>
            <a:r>
              <a:rPr sz="1650" spc="45" dirty="0">
                <a:latin typeface="Times New Roman"/>
                <a:cs typeface="Times New Roman"/>
              </a:rPr>
              <a:t>members</a:t>
            </a:r>
            <a:r>
              <a:rPr sz="1650" spc="3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witht</a:t>
            </a:r>
            <a:r>
              <a:rPr sz="1650" spc="3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ut</a:t>
            </a:r>
            <a:r>
              <a:rPr sz="1650" spc="2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204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necessity</a:t>
            </a:r>
            <a:r>
              <a:rPr sz="1650" spc="30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</a:t>
            </a:r>
            <a:r>
              <a:rPr sz="1650" spc="165" dirty="0">
                <a:latin typeface="Times New Roman"/>
                <a:cs typeface="Times New Roman"/>
              </a:rPr>
              <a:t> </a:t>
            </a:r>
            <a:r>
              <a:rPr sz="1650" spc="-50" dirty="0">
                <a:latin typeface="Times New Roman"/>
                <a:cs typeface="Times New Roman"/>
              </a:rPr>
              <a:t>f </a:t>
            </a:r>
            <a:r>
              <a:rPr sz="1750" dirty="0">
                <a:latin typeface="Times New Roman"/>
                <a:cs typeface="Times New Roman"/>
              </a:rPr>
              <a:t>having</a:t>
            </a:r>
            <a:r>
              <a:rPr sz="1750" spc="1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information</a:t>
            </a:r>
            <a:r>
              <a:rPr sz="1750" spc="2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provider</a:t>
            </a:r>
            <a:r>
              <a:rPr sz="1750" spc="1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or</a:t>
            </a:r>
            <a:r>
              <a:rPr sz="1750" spc="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contributor</a:t>
            </a:r>
            <a:r>
              <a:rPr sz="1750" spc="18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online</a:t>
            </a:r>
            <a:r>
              <a:rPr sz="1750" spc="7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or</a:t>
            </a:r>
            <a:r>
              <a:rPr sz="1750" spc="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data</a:t>
            </a:r>
            <a:r>
              <a:rPr sz="1750" spc="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distributed</a:t>
            </a:r>
            <a:r>
              <a:rPr sz="1750" spc="225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to </a:t>
            </a:r>
            <a:r>
              <a:rPr sz="1700" dirty="0">
                <a:latin typeface="Times New Roman"/>
                <a:cs typeface="Times New Roman"/>
              </a:rPr>
              <a:t>all</a:t>
            </a:r>
            <a:r>
              <a:rPr sz="1700" spc="1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other</a:t>
            </a:r>
            <a:r>
              <a:rPr sz="1700" spc="18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participants</a:t>
            </a:r>
            <a:endParaRPr sz="1700">
              <a:latin typeface="Times New Roman"/>
              <a:cs typeface="Times New Roman"/>
            </a:endParaRPr>
          </a:p>
          <a:p>
            <a:pPr marL="360680" indent="-347980">
              <a:lnSpc>
                <a:spcPct val="100000"/>
              </a:lnSpc>
              <a:spcBef>
                <a:spcPts val="5"/>
              </a:spcBef>
              <a:buChar char="•"/>
              <a:tabLst>
                <a:tab pos="360680" algn="l"/>
              </a:tabLst>
            </a:pPr>
            <a:r>
              <a:rPr sz="1800" dirty="0">
                <a:latin typeface="Times New Roman"/>
                <a:cs typeface="Times New Roman"/>
              </a:rPr>
              <a:t>But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there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use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eases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where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P2P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techntilogy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ctimes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mobile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phones</a:t>
            </a:r>
            <a:endParaRPr sz="1800">
              <a:latin typeface="Times New Roman"/>
              <a:cs typeface="Times New Roman"/>
            </a:endParaRPr>
          </a:p>
          <a:p>
            <a:pPr marL="356235" indent="-343535">
              <a:lnSpc>
                <a:spcPts val="1935"/>
              </a:lnSpc>
              <a:spcBef>
                <a:spcPts val="70"/>
              </a:spcBef>
              <a:buChar char="•"/>
              <a:tabLst>
                <a:tab pos="356235" algn="l"/>
              </a:tabLst>
            </a:pPr>
            <a:r>
              <a:rPr sz="1750" dirty="0">
                <a:latin typeface="Times New Roman"/>
                <a:cs typeface="Times New Roman"/>
              </a:rPr>
              <a:t>One</a:t>
            </a:r>
            <a:r>
              <a:rPr sz="1750" spc="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example</a:t>
            </a:r>
            <a:r>
              <a:rPr sz="1750" spc="1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could</a:t>
            </a:r>
            <a:r>
              <a:rPr sz="1750" spc="10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be</a:t>
            </a:r>
            <a:r>
              <a:rPr sz="1750" spc="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ad</a:t>
            </a:r>
            <a:r>
              <a:rPr sz="1750" spc="10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hoc</a:t>
            </a:r>
            <a:r>
              <a:rPr sz="1750" spc="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collaboration</a:t>
            </a:r>
            <a:r>
              <a:rPr sz="1750" spc="2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of</a:t>
            </a:r>
            <a:r>
              <a:rPr sz="1750" spc="8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devices</a:t>
            </a:r>
            <a:r>
              <a:rPr sz="1750" spc="1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</a:t>
            </a:r>
            <a:r>
              <a:rPr sz="1750" spc="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</a:t>
            </a:r>
            <a:r>
              <a:rPr sz="1750" spc="5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environment</a:t>
            </a:r>
            <a:endParaRPr sz="1750">
              <a:latin typeface="Times New Roman"/>
              <a:cs typeface="Times New Roman"/>
            </a:endParaRPr>
          </a:p>
          <a:p>
            <a:pPr marL="363220">
              <a:lnSpc>
                <a:spcPts val="1875"/>
              </a:lnSpc>
            </a:pPr>
            <a:r>
              <a:rPr sz="1700" dirty="0">
                <a:latin typeface="Times New Roman"/>
                <a:cs typeface="Times New Roman"/>
              </a:rPr>
              <a:t>where</a:t>
            </a:r>
            <a:r>
              <a:rPr sz="1700" spc="2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</a:t>
            </a:r>
            <a:r>
              <a:rPr sz="1700" spc="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connection</a:t>
            </a:r>
            <a:r>
              <a:rPr sz="1700" spc="4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9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a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server</a:t>
            </a:r>
            <a:r>
              <a:rPr sz="1700" spc="17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exist</a:t>
            </a:r>
            <a:endParaRPr sz="1700">
              <a:latin typeface="Times New Roman"/>
              <a:cs typeface="Times New Roman"/>
            </a:endParaRPr>
          </a:p>
          <a:p>
            <a:pPr marL="754380">
              <a:lnSpc>
                <a:spcPct val="100000"/>
              </a:lnSpc>
              <a:spcBef>
                <a:spcPts val="115"/>
              </a:spcBef>
            </a:pPr>
            <a:r>
              <a:rPr sz="1550" spc="75" dirty="0">
                <a:solidFill>
                  <a:srgbClr val="111111"/>
                </a:solidFill>
                <a:latin typeface="Cambria"/>
                <a:cs typeface="Cambria"/>
              </a:rPr>
              <a:t>F.g.,</a:t>
            </a:r>
            <a:r>
              <a:rPr sz="155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550" spc="-45" dirty="0">
                <a:solidFill>
                  <a:srgbClr val="1C1C1C"/>
                </a:solidFill>
                <a:latin typeface="Cambria"/>
                <a:cs typeface="Cambria"/>
              </a:rPr>
              <a:t>people</a:t>
            </a:r>
            <a:r>
              <a:rPr sz="1550" spc="35" dirty="0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sz="1550" spc="-10" dirty="0">
                <a:solidFill>
                  <a:srgbClr val="4B4670"/>
                </a:solidFill>
                <a:latin typeface="Cambria"/>
                <a:cs typeface="Cambria"/>
              </a:rPr>
              <a:t>arc</a:t>
            </a:r>
            <a:r>
              <a:rPr sz="1550" spc="90" dirty="0">
                <a:solidFill>
                  <a:srgbClr val="4B4670"/>
                </a:solidFill>
                <a:latin typeface="Cambria"/>
                <a:cs typeface="Cambria"/>
              </a:rPr>
              <a:t> </a:t>
            </a:r>
            <a:r>
              <a:rPr sz="1550" spc="-50" dirty="0">
                <a:solidFill>
                  <a:srgbClr val="111111"/>
                </a:solidFill>
                <a:latin typeface="Cambria"/>
                <a:cs typeface="Cambria"/>
              </a:rPr>
              <a:t>meeting</a:t>
            </a:r>
            <a:r>
              <a:rPr sz="1550" spc="16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550" dirty="0">
                <a:solidFill>
                  <a:srgbClr val="0C0531"/>
                </a:solidFill>
                <a:latin typeface="Cambria"/>
                <a:cs typeface="Cambria"/>
              </a:rPr>
              <a:t>in</a:t>
            </a:r>
            <a:r>
              <a:rPr sz="1550" spc="30" dirty="0">
                <a:solidFill>
                  <a:srgbClr val="0C0531"/>
                </a:solidFill>
                <a:latin typeface="Cambria"/>
                <a:cs typeface="Cambria"/>
              </a:rPr>
              <a:t> </a:t>
            </a:r>
            <a:r>
              <a:rPr sz="1550" dirty="0">
                <a:solidFill>
                  <a:srgbClr val="38335B"/>
                </a:solidFill>
                <a:latin typeface="Cambria"/>
                <a:cs typeface="Cambria"/>
              </a:rPr>
              <a:t>a</a:t>
            </a:r>
            <a:r>
              <a:rPr sz="1550" spc="-80" dirty="0">
                <a:solidFill>
                  <a:srgbClr val="38335B"/>
                </a:solidFill>
                <a:latin typeface="Cambria"/>
                <a:cs typeface="Cambria"/>
              </a:rPr>
              <a:t> </a:t>
            </a:r>
            <a:r>
              <a:rPr sz="1550" dirty="0">
                <a:solidFill>
                  <a:srgbClr val="111111"/>
                </a:solidFill>
                <a:latin typeface="Cambria"/>
                <a:cs typeface="Cambria"/>
              </a:rPr>
              <a:t>place</a:t>
            </a:r>
            <a:r>
              <a:rPr sz="1550" spc="1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550" spc="-75" dirty="0">
                <a:solidFill>
                  <a:srgbClr val="131313"/>
                </a:solidFill>
                <a:latin typeface="Cambria"/>
                <a:cs typeface="Cambria"/>
              </a:rPr>
              <a:t>whei'e</a:t>
            </a:r>
            <a:r>
              <a:rPr sz="1550" spc="7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550" spc="-20" dirty="0">
                <a:solidFill>
                  <a:srgbClr val="807CAC"/>
                </a:solidFill>
                <a:latin typeface="Cambria"/>
                <a:cs typeface="Cambria"/>
              </a:rPr>
              <a:t>no</a:t>
            </a:r>
            <a:r>
              <a:rPr sz="1550" spc="-60" dirty="0">
                <a:solidFill>
                  <a:srgbClr val="807CAC"/>
                </a:solidFill>
                <a:latin typeface="Cambria"/>
                <a:cs typeface="Cambria"/>
              </a:rPr>
              <a:t> </a:t>
            </a:r>
            <a:r>
              <a:rPr sz="1550" spc="-45" dirty="0">
                <a:solidFill>
                  <a:srgbClr val="161616"/>
                </a:solidFill>
                <a:latin typeface="Cambria"/>
                <a:cs typeface="Cambria"/>
              </a:rPr>
              <a:t>connection</a:t>
            </a:r>
            <a:r>
              <a:rPr sz="1550" spc="90" dirty="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sz="1550" dirty="0">
                <a:solidFill>
                  <a:srgbClr val="827CAF"/>
                </a:solidFill>
                <a:latin typeface="Cambria"/>
                <a:cs typeface="Cambria"/>
              </a:rPr>
              <a:t>to</a:t>
            </a:r>
            <a:r>
              <a:rPr sz="1550" spc="-25" dirty="0">
                <a:solidFill>
                  <a:srgbClr val="827CAF"/>
                </a:solidFill>
                <a:latin typeface="Cambria"/>
                <a:cs typeface="Cambria"/>
              </a:rPr>
              <a:t> </a:t>
            </a:r>
            <a:r>
              <a:rPr sz="1550" spc="-45" dirty="0">
                <a:solidFill>
                  <a:srgbClr val="181818"/>
                </a:solidFill>
                <a:latin typeface="Cambria"/>
                <a:cs typeface="Cambria"/>
              </a:rPr>
              <a:t>the</a:t>
            </a:r>
            <a:r>
              <a:rPr sz="1550" spc="5" dirty="0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sz="1550" spc="-60" dirty="0">
                <a:solidFill>
                  <a:srgbClr val="161616"/>
                </a:solidFill>
                <a:latin typeface="Cambria"/>
                <a:cs typeface="Cambria"/>
              </a:rPr>
              <a:t>Internet</a:t>
            </a:r>
            <a:r>
              <a:rPr sz="1550" spc="130" dirty="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sz="1550" dirty="0">
                <a:solidFill>
                  <a:srgbClr val="5B5989"/>
                </a:solidFill>
                <a:latin typeface="Cambria"/>
                <a:cs typeface="Cambria"/>
              </a:rPr>
              <a:t>is</a:t>
            </a:r>
            <a:r>
              <a:rPr sz="1550" spc="-50" dirty="0">
                <a:solidFill>
                  <a:srgbClr val="5B5989"/>
                </a:solidFill>
                <a:latin typeface="Cambria"/>
                <a:cs typeface="Cambria"/>
              </a:rPr>
              <a:t> </a:t>
            </a:r>
            <a:r>
              <a:rPr sz="1550" spc="-10" dirty="0">
                <a:solidFill>
                  <a:srgbClr val="1A1A1A"/>
                </a:solidFill>
                <a:latin typeface="Cambria"/>
                <a:cs typeface="Cambria"/>
              </a:rPr>
              <a:t>available</a:t>
            </a:r>
            <a:endParaRPr sz="1550">
              <a:latin typeface="Cambria"/>
              <a:cs typeface="Cambria"/>
            </a:endParaRPr>
          </a:p>
          <a:p>
            <a:pPr marL="358775" marR="113030" indent="-346710">
              <a:lnSpc>
                <a:spcPct val="78100"/>
              </a:lnSpc>
              <a:spcBef>
                <a:spcPts val="470"/>
              </a:spcBef>
              <a:buChar char="•"/>
              <a:tabLst>
                <a:tab pos="360680" algn="l"/>
              </a:tabLst>
            </a:pP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scenario,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people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would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communicate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(and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collaborate)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server-</a:t>
            </a:r>
            <a:r>
              <a:rPr sz="1800" spc="-20" dirty="0">
                <a:latin typeface="Times New Roman"/>
                <a:cs typeface="Times New Roman"/>
              </a:rPr>
              <a:t>less 	</a:t>
            </a:r>
            <a:r>
              <a:rPr sz="1800" dirty="0">
                <a:latin typeface="Times New Roman"/>
                <a:cs typeface="Times New Roman"/>
              </a:rPr>
              <a:t>P2P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manner</a:t>
            </a:r>
            <a:endParaRPr sz="1800">
              <a:latin typeface="Times New Roman"/>
              <a:cs typeface="Times New Roman"/>
            </a:endParaRPr>
          </a:p>
          <a:p>
            <a:pPr marL="356235" indent="-343535">
              <a:lnSpc>
                <a:spcPct val="100000"/>
              </a:lnSpc>
              <a:spcBef>
                <a:spcPts val="20"/>
              </a:spcBef>
              <a:buChar char="•"/>
              <a:tabLst>
                <a:tab pos="356235" algn="l"/>
              </a:tabLst>
            </a:pPr>
            <a:r>
              <a:rPr sz="1800" dirty="0">
                <a:latin typeface="Times New Roman"/>
                <a:cs typeface="Times New Roman"/>
              </a:rPr>
              <a:t>One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perfect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example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case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Groove</a:t>
            </a:r>
            <a:endParaRPr sz="1800">
              <a:latin typeface="Times New Roman"/>
              <a:cs typeface="Times New Roman"/>
            </a:endParaRPr>
          </a:p>
          <a:p>
            <a:pPr marL="756285" marR="59690" indent="-283210">
              <a:lnSpc>
                <a:spcPts val="1550"/>
              </a:lnSpc>
              <a:spcBef>
                <a:spcPts val="370"/>
              </a:spcBef>
              <a:tabLst>
                <a:tab pos="760730" algn="l"/>
              </a:tabLst>
            </a:pPr>
            <a:r>
              <a:rPr sz="1600" spc="-819" dirty="0">
                <a:solidFill>
                  <a:srgbClr val="444444"/>
                </a:solidFill>
                <a:latin typeface="Times New Roman"/>
                <a:cs typeface="Times New Roman"/>
              </a:rPr>
              <a:t>—</a:t>
            </a:r>
            <a:r>
              <a:rPr sz="1600" dirty="0">
                <a:solidFill>
                  <a:srgbClr val="444444"/>
                </a:solidFill>
                <a:latin typeface="Times New Roman"/>
                <a:cs typeface="Times New Roman"/>
              </a:rPr>
              <a:t>		</a:t>
            </a:r>
            <a:r>
              <a:rPr sz="1600" dirty="0">
                <a:solidFill>
                  <a:srgbClr val="15183B"/>
                </a:solidFill>
                <a:latin typeface="Times New Roman"/>
                <a:cs typeface="Times New Roman"/>
              </a:rPr>
              <a:t>It</a:t>
            </a:r>
            <a:r>
              <a:rPr sz="1600" spc="-65" dirty="0">
                <a:solidFill>
                  <a:srgbClr val="15183B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807C9E"/>
                </a:solidFill>
                <a:latin typeface="Times New Roman"/>
                <a:cs typeface="Times New Roman"/>
              </a:rPr>
              <a:t>uses</a:t>
            </a:r>
            <a:r>
              <a:rPr sz="1600" spc="15" dirty="0">
                <a:solidFill>
                  <a:srgbClr val="807C9E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605D75"/>
                </a:solidFill>
                <a:latin typeface="Times New Roman"/>
                <a:cs typeface="Times New Roman"/>
              </a:rPr>
              <a:t>a</a:t>
            </a:r>
            <a:r>
              <a:rPr sz="1600" spc="-35" dirty="0">
                <a:solidFill>
                  <a:srgbClr val="605D75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31313"/>
                </a:solidFill>
                <a:latin typeface="Times New Roman"/>
                <a:cs typeface="Times New Roman"/>
              </a:rPr>
              <a:t>ser</a:t>
            </a:r>
            <a:r>
              <a:rPr sz="1600" spc="30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31313"/>
                </a:solidFill>
                <a:latin typeface="Times New Roman"/>
                <a:cs typeface="Times New Roman"/>
              </a:rPr>
              <a:t>er </a:t>
            </a:r>
            <a:r>
              <a:rPr sz="1600" dirty="0">
                <a:solidFill>
                  <a:srgbClr val="423B6E"/>
                </a:solidFill>
                <a:latin typeface="Times New Roman"/>
                <a:cs typeface="Times New Roman"/>
              </a:rPr>
              <a:t>io</a:t>
            </a:r>
            <a:r>
              <a:rPr sz="1600" spc="-25" dirty="0">
                <a:solidFill>
                  <a:srgbClr val="423B6E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F0F0F"/>
                </a:solidFill>
                <a:latin typeface="Times New Roman"/>
                <a:cs typeface="Times New Roman"/>
              </a:rPr>
              <a:t>store</a:t>
            </a:r>
            <a:r>
              <a:rPr sz="1600" spc="3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61616"/>
                </a:solidFill>
                <a:latin typeface="Times New Roman"/>
                <a:cs typeface="Times New Roman"/>
              </a:rPr>
              <a:t>shared</a:t>
            </a:r>
            <a:r>
              <a:rPr sz="1600" spc="4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600" spc="-30" dirty="0">
                <a:solidFill>
                  <a:srgbClr val="0C0C0C"/>
                </a:solidFill>
                <a:latin typeface="Times New Roman"/>
                <a:cs typeface="Times New Roman"/>
              </a:rPr>
              <a:t>inl'ormation</a:t>
            </a:r>
            <a:r>
              <a:rPr sz="1600" spc="2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600" spc="-145" dirty="0">
                <a:solidFill>
                  <a:srgbClr val="181818"/>
                </a:solidFill>
                <a:latin typeface="Times New Roman"/>
                <a:cs typeface="Times New Roman"/>
              </a:rPr>
              <a:t>bu1</a:t>
            </a:r>
            <a:r>
              <a:rPr sz="1600" dirty="0">
                <a:solidFill>
                  <a:srgbClr val="181818"/>
                </a:solidFill>
                <a:latin typeface="Times New Roman"/>
                <a:cs typeface="Times New Roman"/>
              </a:rPr>
              <a:t> is </a:t>
            </a:r>
            <a:r>
              <a:rPr sz="1600" dirty="0">
                <a:solidFill>
                  <a:srgbClr val="1D1D1D"/>
                </a:solidFill>
                <a:latin typeface="Times New Roman"/>
                <a:cs typeface="Times New Roman"/>
              </a:rPr>
              <a:t>also</a:t>
            </a:r>
            <a:r>
              <a:rPr sz="1600" spc="-30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61616"/>
                </a:solidFill>
                <a:latin typeface="Times New Roman"/>
                <a:cs typeface="Times New Roman"/>
              </a:rPr>
              <a:t>able</a:t>
            </a:r>
            <a:r>
              <a:rPr sz="1600" spc="4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B3464"/>
                </a:solidFill>
                <a:latin typeface="Times New Roman"/>
                <a:cs typeface="Times New Roman"/>
              </a:rPr>
              <a:t>io</a:t>
            </a:r>
            <a:r>
              <a:rPr sz="1600" spc="-10" dirty="0">
                <a:solidFill>
                  <a:srgbClr val="3B3464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131313"/>
                </a:solidFill>
                <a:latin typeface="Times New Roman"/>
                <a:cs typeface="Times New Roman"/>
              </a:rPr>
              <a:t>pro›</a:t>
            </a:r>
            <a:r>
              <a:rPr sz="1600" spc="-13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31313"/>
                </a:solidFill>
                <a:latin typeface="Times New Roman"/>
                <a:cs typeface="Times New Roman"/>
              </a:rPr>
              <a:t>ide</a:t>
            </a:r>
            <a:r>
              <a:rPr sz="1600" spc="2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F0F0F"/>
                </a:solidFill>
                <a:latin typeface="Times New Roman"/>
                <a:cs typeface="Times New Roman"/>
              </a:rPr>
              <a:t>collaboration </a:t>
            </a:r>
            <a:r>
              <a:rPr sz="1600" dirty="0">
                <a:solidFill>
                  <a:srgbClr val="111111"/>
                </a:solidFill>
                <a:latin typeface="Times New Roman"/>
                <a:cs typeface="Times New Roman"/>
              </a:rPr>
              <a:t>services</a:t>
            </a:r>
            <a:r>
              <a:rPr sz="1600" spc="3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61616"/>
                </a:solidFill>
                <a:latin typeface="Times New Roman"/>
                <a:cs typeface="Times New Roman"/>
              </a:rPr>
              <a:t>without</a:t>
            </a:r>
            <a:r>
              <a:rPr sz="1600" spc="1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81818"/>
                </a:solidFill>
                <a:latin typeface="Times New Roman"/>
                <a:cs typeface="Times New Roman"/>
              </a:rPr>
              <a:t>the</a:t>
            </a:r>
            <a:r>
              <a:rPr sz="1600" spc="-85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F0F0F"/>
                </a:solidFill>
                <a:latin typeface="Times New Roman"/>
                <a:cs typeface="Times New Roman"/>
              </a:rPr>
              <a:t>cxistcncc</a:t>
            </a:r>
            <a:r>
              <a:rPr sz="1600" spc="3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1A"/>
                </a:solidFill>
                <a:latin typeface="Times New Roman"/>
                <a:cs typeface="Times New Roman"/>
              </a:rPr>
              <a:t>of</a:t>
            </a:r>
            <a:r>
              <a:rPr sz="1600" spc="-1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61616"/>
                </a:solidFill>
                <a:latin typeface="Times New Roman"/>
                <a:cs typeface="Times New Roman"/>
              </a:rPr>
              <a:t>such</a:t>
            </a:r>
            <a:r>
              <a:rPr sz="1600" spc="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64646"/>
                </a:solidFill>
                <a:latin typeface="Times New Roman"/>
                <a:cs typeface="Times New Roman"/>
              </a:rPr>
              <a:t>a</a:t>
            </a:r>
            <a:r>
              <a:rPr sz="1600" spc="-85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1A1A1A"/>
                </a:solidFill>
                <a:latin typeface="Times New Roman"/>
                <a:cs typeface="Times New Roman"/>
              </a:rPr>
              <a:t>scrvcr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1516" y="1963240"/>
            <a:ext cx="7529195" cy="330707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235" indent="-342900">
              <a:lnSpc>
                <a:spcPct val="100000"/>
              </a:lnSpc>
              <a:spcBef>
                <a:spcPts val="110"/>
              </a:spcBef>
              <a:buChar char="•"/>
              <a:tabLst>
                <a:tab pos="356235" algn="l"/>
              </a:tabLst>
            </a:pPr>
            <a:r>
              <a:rPr sz="1550" dirty="0">
                <a:latin typeface="Times New Roman"/>
                <a:cs typeface="Times New Roman"/>
              </a:rPr>
              <a:t>One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major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assets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Internet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is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its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combined</a:t>
            </a:r>
            <a:r>
              <a:rPr sz="1550" spc="25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processing</a:t>
            </a:r>
            <a:r>
              <a:rPr sz="1550" spc="23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power</a:t>
            </a:r>
            <a:endParaRPr sz="1550">
              <a:latin typeface="Times New Roman"/>
              <a:cs typeface="Times New Roman"/>
            </a:endParaRPr>
          </a:p>
          <a:p>
            <a:pPr marL="763905" lvl="1" indent="-292100">
              <a:lnSpc>
                <a:spcPct val="100000"/>
              </a:lnSpc>
              <a:spcBef>
                <a:spcPts val="30"/>
              </a:spcBef>
              <a:buClr>
                <a:srgbClr val="6B6B6B"/>
              </a:buClr>
              <a:buChar char="—"/>
              <a:tabLst>
                <a:tab pos="763905" algn="l"/>
              </a:tabLst>
            </a:pPr>
            <a:r>
              <a:rPr sz="1350" dirty="0">
                <a:solidFill>
                  <a:srgbClr val="151515"/>
                </a:solidFill>
                <a:latin typeface="Times New Roman"/>
                <a:cs typeface="Times New Roman"/>
              </a:rPr>
              <a:t>which</a:t>
            </a:r>
            <a:r>
              <a:rPr sz="1350" spc="140" dirty="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D2D2D"/>
                </a:solidFill>
                <a:latin typeface="Times New Roman"/>
                <a:cs typeface="Times New Roman"/>
              </a:rPr>
              <a:t>is</a:t>
            </a:r>
            <a:r>
              <a:rPr sz="1350" spc="5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F0F0F"/>
                </a:solidFill>
                <a:latin typeface="Times New Roman"/>
                <a:cs typeface="Times New Roman"/>
              </a:rPr>
              <a:t>currently</a:t>
            </a:r>
            <a:r>
              <a:rPr sz="1350" spc="16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31313"/>
                </a:solidFill>
                <a:latin typeface="Times New Roman"/>
                <a:cs typeface="Times New Roman"/>
              </a:rPr>
              <a:t>vastly</a:t>
            </a:r>
            <a:r>
              <a:rPr sz="1350" spc="19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11111"/>
                </a:solidFill>
                <a:latin typeface="Times New Roman"/>
                <a:cs typeface="Times New Roman"/>
              </a:rPr>
              <a:t>under-</a:t>
            </a:r>
            <a:r>
              <a:rPr sz="1350" spc="-10" dirty="0">
                <a:solidFill>
                  <a:srgbClr val="111111"/>
                </a:solidFill>
                <a:latin typeface="Times New Roman"/>
                <a:cs typeface="Times New Roman"/>
              </a:rPr>
              <a:t>utilized</a:t>
            </a:r>
            <a:endParaRPr sz="1350">
              <a:latin typeface="Times New Roman"/>
              <a:cs typeface="Times New Roman"/>
            </a:endParaRPr>
          </a:p>
          <a:p>
            <a:pPr marL="356870" marR="33655" indent="-344170">
              <a:lnSpc>
                <a:spcPts val="1550"/>
              </a:lnSpc>
              <a:spcBef>
                <a:spcPts val="385"/>
              </a:spcBef>
              <a:buChar char="•"/>
              <a:tabLst>
                <a:tab pos="361315" algn="l"/>
              </a:tabLst>
            </a:pPr>
            <a:r>
              <a:rPr sz="1600" spc="-10" dirty="0">
                <a:latin typeface="Times New Roman"/>
                <a:cs typeface="Times New Roman"/>
              </a:rPr>
              <a:t>To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utilize these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resources,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user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asked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download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install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programs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able 	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small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part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complex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computation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while the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computer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used</a:t>
            </a:r>
            <a:endParaRPr sz="1600">
              <a:latin typeface="Times New Roman"/>
              <a:cs typeface="Times New Roman"/>
            </a:endParaRPr>
          </a:p>
          <a:p>
            <a:pPr marL="761365" lvl="1" indent="-289560">
              <a:lnSpc>
                <a:spcPct val="100000"/>
              </a:lnSpc>
              <a:spcBef>
                <a:spcPts val="25"/>
              </a:spcBef>
              <a:buClr>
                <a:srgbClr val="4D4D4D"/>
              </a:buClr>
              <a:buChar char="—"/>
              <a:tabLst>
                <a:tab pos="761365" algn="l"/>
              </a:tabLst>
            </a:pPr>
            <a:r>
              <a:rPr sz="1350" dirty="0">
                <a:solidFill>
                  <a:srgbClr val="111111"/>
                </a:solidFill>
                <a:latin typeface="Times New Roman"/>
                <a:cs typeface="Times New Roman"/>
              </a:rPr>
              <a:t>E.g.,</a:t>
            </a:r>
            <a:r>
              <a:rPr sz="1350" spc="14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C1C1C"/>
                </a:solidFill>
                <a:latin typeface="Times New Roman"/>
                <a:cs typeface="Times New Roman"/>
              </a:rPr>
              <a:t>while</a:t>
            </a:r>
            <a:r>
              <a:rPr sz="1350" spc="125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D1D1D"/>
                </a:solidFill>
                <a:latin typeface="Times New Roman"/>
                <a:cs typeface="Times New Roman"/>
              </a:rPr>
              <a:t>the</a:t>
            </a:r>
            <a:r>
              <a:rPr sz="1350" spc="35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11111"/>
                </a:solidFill>
                <a:latin typeface="Times New Roman"/>
                <a:cs typeface="Times New Roman"/>
              </a:rPr>
              <a:t>screen</a:t>
            </a:r>
            <a:r>
              <a:rPr sz="1350" spc="9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1F1F"/>
                </a:solidFill>
                <a:latin typeface="Times New Roman"/>
                <a:cs typeface="Times New Roman"/>
              </a:rPr>
              <a:t>saver</a:t>
            </a:r>
            <a:r>
              <a:rPr sz="1350" spc="4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1F1F"/>
                </a:solidFill>
                <a:latin typeface="Times New Roman"/>
                <a:cs typeface="Times New Roman"/>
              </a:rPr>
              <a:t>is</a:t>
            </a:r>
            <a:r>
              <a:rPr sz="1350" spc="13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61616"/>
                </a:solidFill>
                <a:latin typeface="Times New Roman"/>
                <a:cs typeface="Times New Roman"/>
              </a:rPr>
              <a:t>running</a:t>
            </a:r>
            <a:endParaRPr sz="1350">
              <a:latin typeface="Times New Roman"/>
              <a:cs typeface="Times New Roman"/>
            </a:endParaRPr>
          </a:p>
          <a:p>
            <a:pPr marL="359410" indent="-346075">
              <a:lnSpc>
                <a:spcPct val="100000"/>
              </a:lnSpc>
              <a:spcBef>
                <a:spcPts val="80"/>
              </a:spcBef>
              <a:buChar char="•"/>
              <a:tabLst>
                <a:tab pos="359410" algn="l"/>
              </a:tabLst>
            </a:pPr>
            <a:r>
              <a:rPr sz="1550" dirty="0">
                <a:latin typeface="Times New Roman"/>
                <a:cs typeface="Times New Roman"/>
              </a:rPr>
              <a:t>Examples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for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MIPS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sharing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systems</a:t>
            </a:r>
            <a:r>
              <a:rPr sz="1550" spc="20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are:</a:t>
            </a:r>
            <a:endParaRPr sz="1550">
              <a:latin typeface="Times New Roman"/>
              <a:cs typeface="Times New Roman"/>
            </a:endParaRPr>
          </a:p>
          <a:p>
            <a:pPr marL="753745" lvl="1" indent="-281940">
              <a:lnSpc>
                <a:spcPts val="1639"/>
              </a:lnSpc>
              <a:spcBef>
                <a:spcPts val="50"/>
              </a:spcBef>
              <a:buClr>
                <a:srgbClr val="494949"/>
              </a:buClr>
              <a:buChar char="—"/>
              <a:tabLst>
                <a:tab pos="753745" algn="l"/>
              </a:tabLst>
            </a:pPr>
            <a:r>
              <a:rPr sz="1400" spc="-30" dirty="0">
                <a:solidFill>
                  <a:srgbClr val="181818"/>
                </a:solidFill>
                <a:latin typeface="Times New Roman"/>
                <a:cs typeface="Times New Roman"/>
              </a:rPr>
              <a:t>Seti</a:t>
            </a:r>
            <a:r>
              <a:rPr sz="1400" spc="-65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64646"/>
                </a:solidFill>
                <a:latin typeface="Times New Roman"/>
                <a:cs typeface="Times New Roman"/>
              </a:rPr>
              <a:t>ié'HOME</a:t>
            </a:r>
            <a:endParaRPr sz="1400">
              <a:latin typeface="Times New Roman"/>
              <a:cs typeface="Times New Roman"/>
            </a:endParaRPr>
          </a:p>
          <a:p>
            <a:pPr marL="758825" lvl="1" indent="-287020">
              <a:lnSpc>
                <a:spcPts val="1700"/>
              </a:lnSpc>
              <a:buClr>
                <a:srgbClr val="494949"/>
              </a:buClr>
              <a:buChar char="—"/>
              <a:tabLst>
                <a:tab pos="758825" algn="l"/>
              </a:tabLst>
            </a:pPr>
            <a:r>
              <a:rPr sz="1450" spc="-60" dirty="0">
                <a:solidFill>
                  <a:srgbClr val="131313"/>
                </a:solidFill>
                <a:latin typeface="Times New Roman"/>
                <a:cs typeface="Times New Roman"/>
              </a:rPr>
              <a:t>Genome</a:t>
            </a:r>
            <a:r>
              <a:rPr sz="1450" spc="-12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909090"/>
                </a:solidFill>
                <a:latin typeface="Times New Roman"/>
                <a:cs typeface="Times New Roman"/>
              </a:rPr>
              <a:t>e</a:t>
            </a:r>
            <a:r>
              <a:rPr sz="1450" spc="254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1450" spc="-20" dirty="0">
                <a:solidFill>
                  <a:srgbClr val="00002F"/>
                </a:solidFill>
                <a:latin typeface="Times New Roman"/>
                <a:cs typeface="Times New Roman"/>
              </a:rPr>
              <a:t>HoME</a:t>
            </a:r>
            <a:endParaRPr sz="1450">
              <a:latin typeface="Times New Roman"/>
              <a:cs typeface="Times New Roman"/>
            </a:endParaRPr>
          </a:p>
          <a:p>
            <a:pPr marL="358140" indent="-344805">
              <a:lnSpc>
                <a:spcPts val="1845"/>
              </a:lnSpc>
              <a:spcBef>
                <a:spcPts val="20"/>
              </a:spcBef>
              <a:buChar char="•"/>
              <a:tabLst>
                <a:tab pos="358140" algn="l"/>
              </a:tabLst>
            </a:pPr>
            <a:r>
              <a:rPr sz="1550" dirty="0">
                <a:latin typeface="Times New Roman"/>
                <a:cs typeface="Times New Roman"/>
              </a:rPr>
              <a:t>In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this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category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P2P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applications,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social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aspect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is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very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important</a:t>
            </a:r>
            <a:endParaRPr sz="1550">
              <a:latin typeface="Times New Roman"/>
              <a:cs typeface="Times New Roman"/>
            </a:endParaRPr>
          </a:p>
          <a:p>
            <a:pPr marL="360045" marR="271145" indent="-347980">
              <a:lnSpc>
                <a:spcPct val="76300"/>
              </a:lnSpc>
              <a:spcBef>
                <a:spcPts val="455"/>
              </a:spcBef>
              <a:buChar char="•"/>
              <a:tabLst>
                <a:tab pos="361950" algn="l"/>
              </a:tabLst>
            </a:pPr>
            <a:r>
              <a:rPr sz="1650" spc="-55" dirty="0">
                <a:latin typeface="Times New Roman"/>
                <a:cs typeface="Times New Roman"/>
              </a:rPr>
              <a:t>Were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it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spc="-60" dirty="0">
                <a:latin typeface="Times New Roman"/>
                <a:cs typeface="Times New Roman"/>
              </a:rPr>
              <a:t>not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for</a:t>
            </a:r>
            <a:r>
              <a:rPr sz="1650" spc="-7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the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spc="-30" dirty="0">
                <a:latin typeface="Times New Roman"/>
                <a:cs typeface="Times New Roman"/>
              </a:rPr>
              <a:t>search </a:t>
            </a:r>
            <a:r>
              <a:rPr sz="1650" dirty="0">
                <a:latin typeface="Times New Roman"/>
                <a:cs typeface="Times New Roman"/>
              </a:rPr>
              <a:t>for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exaaterrestrial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life</a:t>
            </a:r>
            <a:r>
              <a:rPr sz="1650" spc="-8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or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spc="-25" dirty="0">
                <a:latin typeface="Times New Roman"/>
                <a:cs typeface="Times New Roman"/>
              </a:rPr>
              <a:t>cancer</a:t>
            </a:r>
            <a:r>
              <a:rPr sz="1650" spc="35" dirty="0">
                <a:latin typeface="Times New Roman"/>
                <a:cs typeface="Times New Roman"/>
              </a:rPr>
              <a:t> </a:t>
            </a:r>
            <a:r>
              <a:rPr sz="1650" spc="-30" dirty="0">
                <a:latin typeface="Times New Roman"/>
                <a:cs typeface="Times New Roman"/>
              </a:rPr>
              <a:t>research,</a:t>
            </a:r>
            <a:r>
              <a:rPr sz="1650" spc="3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not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spc="-30" dirty="0">
                <a:latin typeface="Times New Roman"/>
                <a:cs typeface="Times New Roman"/>
              </a:rPr>
              <a:t>many</a:t>
            </a:r>
            <a:r>
              <a:rPr sz="1650" spc="1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people 	</a:t>
            </a:r>
            <a:r>
              <a:rPr sz="1650" spc="-30" dirty="0">
                <a:latin typeface="Times New Roman"/>
                <a:cs typeface="Times New Roman"/>
              </a:rPr>
              <a:t>would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be</a:t>
            </a:r>
            <a:r>
              <a:rPr sz="1650" spc="-65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willing</a:t>
            </a:r>
            <a:r>
              <a:rPr sz="1650" spc="-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to</a:t>
            </a:r>
            <a:r>
              <a:rPr sz="1650" spc="-105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share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their</a:t>
            </a:r>
            <a:r>
              <a:rPr sz="1650" spc="15" dirty="0">
                <a:latin typeface="Times New Roman"/>
                <a:cs typeface="Times New Roman"/>
              </a:rPr>
              <a:t> </a:t>
            </a:r>
            <a:r>
              <a:rPr sz="1650" spc="-35" dirty="0">
                <a:latin typeface="Times New Roman"/>
                <a:cs typeface="Times New Roman"/>
              </a:rPr>
              <a:t>processing</a:t>
            </a:r>
            <a:r>
              <a:rPr sz="1650" spc="6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power</a:t>
            </a:r>
            <a:endParaRPr sz="1650">
              <a:latin typeface="Times New Roman"/>
              <a:cs typeface="Times New Roman"/>
            </a:endParaRPr>
          </a:p>
          <a:p>
            <a:pPr marL="757555" marR="5080" lvl="1" indent="-286385">
              <a:lnSpc>
                <a:spcPct val="74200"/>
              </a:lnSpc>
              <a:spcBef>
                <a:spcPts val="395"/>
              </a:spcBef>
              <a:buChar char="—"/>
              <a:tabLst>
                <a:tab pos="757555" algn="l"/>
                <a:tab pos="762000" algn="l"/>
              </a:tabLst>
            </a:pPr>
            <a:r>
              <a:rPr sz="1500" dirty="0">
                <a:solidFill>
                  <a:srgbClr val="7E7E7E"/>
                </a:solidFill>
                <a:latin typeface="Times New Roman"/>
                <a:cs typeface="Times New Roman"/>
              </a:rPr>
              <a:t>	</a:t>
            </a:r>
            <a:r>
              <a:rPr sz="1500" spc="-50" dirty="0">
                <a:solidFill>
                  <a:srgbClr val="131313"/>
                </a:solidFill>
                <a:latin typeface="Times New Roman"/>
                <a:cs typeface="Times New Roman"/>
              </a:rPr>
              <a:t>Hence,</a:t>
            </a:r>
            <a:r>
              <a:rPr sz="1500" spc="-4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500" spc="-35" dirty="0">
                <a:solidFill>
                  <a:srgbClr val="0E0E0E"/>
                </a:solidFill>
                <a:latin typeface="Times New Roman"/>
                <a:cs typeface="Times New Roman"/>
              </a:rPr>
              <a:t>there</a:t>
            </a:r>
            <a:r>
              <a:rPr sz="1500" spc="-60" dirty="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sz="1500" spc="-85" dirty="0">
                <a:solidFill>
                  <a:srgbClr val="282828"/>
                </a:solidFill>
                <a:latin typeface="Times New Roman"/>
                <a:cs typeface="Times New Roman"/>
              </a:rPr>
              <a:t>must</a:t>
            </a:r>
            <a:r>
              <a:rPr sz="15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31313"/>
                </a:solidFill>
                <a:latin typeface="Times New Roman"/>
                <a:cs typeface="Times New Roman"/>
              </a:rPr>
              <a:t>an</a:t>
            </a:r>
            <a:r>
              <a:rPr sz="1500" spc="-5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500" spc="-45" dirty="0">
                <a:solidFill>
                  <a:srgbClr val="0F0F0F"/>
                </a:solidFill>
                <a:latin typeface="Times New Roman"/>
                <a:cs typeface="Times New Roman"/>
              </a:rPr>
              <a:t>incentive</a:t>
            </a:r>
            <a:r>
              <a:rPr sz="1500" spc="-2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1F1F1F"/>
                </a:solidFill>
                <a:latin typeface="Times New Roman"/>
                <a:cs typeface="Times New Roman"/>
              </a:rPr>
              <a:t>for</a:t>
            </a:r>
            <a:r>
              <a:rPr sz="1500" spc="-4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500" spc="-55" dirty="0">
                <a:solidFill>
                  <a:srgbClr val="161616"/>
                </a:solidFill>
                <a:latin typeface="Times New Roman"/>
                <a:cs typeface="Times New Roman"/>
              </a:rPr>
              <a:t>users</a:t>
            </a:r>
            <a:r>
              <a:rPr sz="1500" spc="-35" dirty="0">
                <a:solidFill>
                  <a:srgbClr val="161616"/>
                </a:solidFill>
                <a:latin typeface="Times New Roman"/>
                <a:cs typeface="Times New Roman"/>
              </a:rPr>
              <a:t> to</a:t>
            </a:r>
            <a:r>
              <a:rPr sz="1500" spc="-6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500" spc="-65" dirty="0">
                <a:solidFill>
                  <a:srgbClr val="161616"/>
                </a:solidFill>
                <a:latin typeface="Times New Roman"/>
                <a:cs typeface="Times New Roman"/>
              </a:rPr>
              <a:t>share</a:t>
            </a:r>
            <a:r>
              <a:rPr sz="1500" spc="-3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500" spc="-45" dirty="0">
                <a:solidFill>
                  <a:srgbClr val="131313"/>
                </a:solidFill>
                <a:latin typeface="Times New Roman"/>
                <a:cs typeface="Times New Roman"/>
              </a:rPr>
              <a:t>computer</a:t>
            </a:r>
            <a:r>
              <a:rPr sz="1500" spc="1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500" spc="-40" dirty="0">
                <a:solidFill>
                  <a:srgbClr val="111111"/>
                </a:solidFill>
                <a:latin typeface="Times New Roman"/>
                <a:cs typeface="Times New Roman"/>
              </a:rPr>
              <a:t>resources,</a:t>
            </a:r>
            <a:r>
              <a:rPr sz="1500" spc="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500" spc="-65" dirty="0">
                <a:solidFill>
                  <a:srgbClr val="131313"/>
                </a:solidFill>
                <a:latin typeface="Times New Roman"/>
                <a:cs typeface="Times New Roman"/>
              </a:rPr>
              <a:t>be</a:t>
            </a:r>
            <a:r>
              <a:rPr sz="1500" spc="-3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500" spc="-35" dirty="0">
                <a:solidFill>
                  <a:srgbClr val="111111"/>
                </a:solidFill>
                <a:latin typeface="Times New Roman"/>
                <a:cs typeface="Times New Roman"/>
              </a:rPr>
              <a:t>it</a:t>
            </a:r>
            <a:r>
              <a:rPr sz="1500" spc="-6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500" spc="-75" dirty="0">
                <a:solidFill>
                  <a:srgbClr val="131313"/>
                </a:solidFill>
                <a:latin typeface="Times New Roman"/>
                <a:cs typeface="Times New Roman"/>
              </a:rPr>
              <a:t>money,</a:t>
            </a:r>
            <a:r>
              <a:rPr sz="150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500" spc="-40" dirty="0">
                <a:solidFill>
                  <a:srgbClr val="131313"/>
                </a:solidFill>
                <a:latin typeface="Times New Roman"/>
                <a:cs typeface="Times New Roman"/>
              </a:rPr>
              <a:t>public</a:t>
            </a:r>
            <a:r>
              <a:rPr sz="1500" spc="-1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151515"/>
                </a:solidFill>
                <a:latin typeface="Times New Roman"/>
                <a:cs typeface="Times New Roman"/>
              </a:rPr>
              <a:t>well-</a:t>
            </a:r>
            <a:r>
              <a:rPr sz="1500" spc="-45" dirty="0">
                <a:solidFill>
                  <a:srgbClr val="1D1D1D"/>
                </a:solidFill>
                <a:latin typeface="Times New Roman"/>
                <a:cs typeface="Times New Roman"/>
              </a:rPr>
              <a:t>fare</a:t>
            </a:r>
            <a:r>
              <a:rPr sz="1500" spc="-70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61616"/>
                </a:solidFill>
                <a:latin typeface="Times New Roman"/>
                <a:cs typeface="Times New Roman"/>
              </a:rPr>
              <a:t>or</a:t>
            </a:r>
            <a:r>
              <a:rPr sz="1500" spc="-5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500" spc="-65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15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110E3B"/>
                </a:solidFill>
                <a:latin typeface="Times New Roman"/>
                <a:cs typeface="Times New Roman"/>
              </a:rPr>
              <a:t>like</a:t>
            </a:r>
            <a:endParaRPr sz="1500">
              <a:latin typeface="Times New Roman"/>
              <a:cs typeface="Times New Roman"/>
            </a:endParaRPr>
          </a:p>
          <a:p>
            <a:pPr marL="356235" marR="81280" indent="-344170">
              <a:lnSpc>
                <a:spcPct val="76300"/>
              </a:lnSpc>
              <a:spcBef>
                <a:spcPts val="415"/>
              </a:spcBef>
              <a:buChar char="•"/>
              <a:tabLst>
                <a:tab pos="356235" algn="l"/>
                <a:tab pos="360045" algn="l"/>
              </a:tabLst>
            </a:pP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35" dirty="0">
                <a:latin typeface="Times New Roman"/>
                <a:cs typeface="Times New Roman"/>
              </a:rPr>
              <a:t>Furthermore,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this</a:t>
            </a:r>
            <a:r>
              <a:rPr sz="1650" spc="-105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type</a:t>
            </a:r>
            <a:r>
              <a:rPr sz="1650" spc="-8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of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spc="-45" dirty="0">
                <a:latin typeface="Times New Roman"/>
                <a:cs typeface="Times New Roman"/>
              </a:rPr>
              <a:t>P2P</a:t>
            </a:r>
            <a:r>
              <a:rPr sz="1650" spc="-135" dirty="0">
                <a:latin typeface="Times New Roman"/>
                <a:cs typeface="Times New Roman"/>
              </a:rPr>
              <a:t> </a:t>
            </a:r>
            <a:r>
              <a:rPr sz="1650" spc="-30" dirty="0">
                <a:latin typeface="Times New Roman"/>
                <a:cs typeface="Times New Roman"/>
              </a:rPr>
              <a:t>application</a:t>
            </a:r>
            <a:r>
              <a:rPr sz="1650" spc="5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can</a:t>
            </a:r>
            <a:r>
              <a:rPr sz="1650" spc="-9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only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function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with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spc="-70" dirty="0">
                <a:latin typeface="Times New Roman"/>
                <a:cs typeface="Times New Roman"/>
              </a:rPr>
              <a:t>a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central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server</a:t>
            </a:r>
            <a:r>
              <a:rPr sz="1650" spc="40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that</a:t>
            </a:r>
            <a:r>
              <a:rPr sz="1650" spc="-25" dirty="0">
                <a:latin typeface="Times New Roman"/>
                <a:cs typeface="Times New Roman"/>
              </a:rPr>
              <a:t> is coordinating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1650" spc="-40" dirty="0">
                <a:latin typeface="Times New Roman"/>
                <a:cs typeface="Times New Roman"/>
              </a:rPr>
              <a:t>the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spc="-25" dirty="0">
                <a:latin typeface="Times New Roman"/>
                <a:cs typeface="Times New Roman"/>
              </a:rPr>
              <a:t>distribution</a:t>
            </a:r>
            <a:r>
              <a:rPr sz="1650" spc="10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of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spc="-30" dirty="0">
                <a:latin typeface="Times New Roman"/>
                <a:cs typeface="Times New Roman"/>
              </a:rPr>
              <a:t>computation</a:t>
            </a:r>
            <a:r>
              <a:rPr sz="1650" spc="100" dirty="0">
                <a:latin typeface="Times New Roman"/>
                <a:cs typeface="Times New Roman"/>
              </a:rPr>
              <a:t> </a:t>
            </a:r>
            <a:r>
              <a:rPr sz="1650" spc="-30" dirty="0">
                <a:latin typeface="Times New Roman"/>
                <a:cs typeface="Times New Roman"/>
              </a:rPr>
              <a:t>tasks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and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the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spc="-30" dirty="0">
                <a:latin typeface="Times New Roman"/>
                <a:cs typeface="Times New Roman"/>
              </a:rPr>
              <a:t>validation</a:t>
            </a:r>
            <a:r>
              <a:rPr sz="1650" spc="-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of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results</a:t>
            </a:r>
            <a:endParaRPr sz="1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667" rIns="0" bIns="0" rtlCol="0">
            <a:spAutoFit/>
          </a:bodyPr>
          <a:lstStyle/>
          <a:p>
            <a:pPr marL="1805305">
              <a:lnSpc>
                <a:spcPct val="100000"/>
              </a:lnSpc>
              <a:spcBef>
                <a:spcPts val="100"/>
              </a:spcBef>
            </a:pPr>
            <a:r>
              <a:rPr sz="4150" spc="75" dirty="0">
                <a:solidFill>
                  <a:srgbClr val="F93405"/>
                </a:solidFill>
                <a:latin typeface="Calibri"/>
                <a:cs typeface="Calibri"/>
              </a:rPr>
              <a:t>Lookup</a:t>
            </a:r>
            <a:r>
              <a:rPr sz="4150" spc="950" dirty="0">
                <a:solidFill>
                  <a:srgbClr val="F93405"/>
                </a:solidFill>
                <a:latin typeface="Calibri"/>
                <a:cs typeface="Calibri"/>
              </a:rPr>
              <a:t> </a:t>
            </a:r>
            <a:r>
              <a:rPr sz="4150" spc="200" dirty="0">
                <a:solidFill>
                  <a:srgbClr val="F23401"/>
                </a:solidFill>
                <a:latin typeface="Calibri"/>
                <a:cs typeface="Calibri"/>
              </a:rPr>
              <a:t>services</a:t>
            </a:r>
            <a:endParaRPr sz="41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0152" y="1943893"/>
            <a:ext cx="7501255" cy="3474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1315" indent="-348615">
              <a:lnSpc>
                <a:spcPts val="2165"/>
              </a:lnSpc>
              <a:spcBef>
                <a:spcPts val="105"/>
              </a:spcBef>
              <a:buChar char="•"/>
              <a:tabLst>
                <a:tab pos="361315" algn="l"/>
              </a:tabLst>
            </a:pPr>
            <a:r>
              <a:rPr sz="1850" spc="-30" dirty="0">
                <a:latin typeface="Times New Roman"/>
                <a:cs typeface="Times New Roman"/>
              </a:rPr>
              <a:t>Most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scientific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Times New Roman"/>
                <a:cs typeface="Times New Roman"/>
              </a:rPr>
              <a:t>P2P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research</a:t>
            </a:r>
            <a:r>
              <a:rPr sz="1850" dirty="0">
                <a:latin typeface="Times New Roman"/>
                <a:cs typeface="Times New Roman"/>
              </a:rPr>
              <a:t> is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done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area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lookup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services</a:t>
            </a:r>
            <a:endParaRPr sz="1850">
              <a:latin typeface="Times New Roman"/>
              <a:cs typeface="Times New Roman"/>
            </a:endParaRPr>
          </a:p>
          <a:p>
            <a:pPr marL="357505" marR="5080" indent="-345440">
              <a:lnSpc>
                <a:spcPct val="79200"/>
              </a:lnSpc>
              <a:spcBef>
                <a:spcPts val="405"/>
              </a:spcBef>
              <a:buChar char="•"/>
              <a:tabLst>
                <a:tab pos="360680" algn="l"/>
              </a:tabLst>
            </a:pPr>
            <a:r>
              <a:rPr sz="1850" dirty="0">
                <a:latin typeface="Times New Roman"/>
                <a:cs typeface="Times New Roman"/>
              </a:rPr>
              <a:t>This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is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ntit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very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surprising</a:t>
            </a:r>
            <a:r>
              <a:rPr sz="1850" spc="4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because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searching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is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one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tif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the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majtir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challenges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in 	</a:t>
            </a:r>
            <a:r>
              <a:rPr sz="1850" spc="-20" dirty="0">
                <a:latin typeface="Times New Roman"/>
                <a:cs typeface="Times New Roman"/>
              </a:rPr>
              <a:t>P2P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networks</a:t>
            </a:r>
            <a:endParaRPr sz="1850">
              <a:latin typeface="Times New Roman"/>
              <a:cs typeface="Times New Roman"/>
            </a:endParaRPr>
          </a:p>
          <a:p>
            <a:pPr marL="356870" marR="491490" indent="-344805">
              <a:lnSpc>
                <a:spcPct val="76000"/>
              </a:lnSpc>
              <a:spcBef>
                <a:spcPts val="495"/>
              </a:spcBef>
              <a:buChar char="•"/>
              <a:tabLst>
                <a:tab pos="356870" algn="l"/>
                <a:tab pos="361315" algn="l"/>
              </a:tabLst>
            </a:pP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30" dirty="0">
                <a:latin typeface="Times New Roman"/>
                <a:cs typeface="Times New Roman"/>
              </a:rPr>
              <a:t>Most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the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P2P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systems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that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are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optimized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lookup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services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are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using distributed</a:t>
            </a:r>
            <a:r>
              <a:rPr sz="1850" spc="9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hashtables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(DHT)</a:t>
            </a:r>
            <a:endParaRPr sz="1850">
              <a:latin typeface="Times New Roman"/>
              <a:cs typeface="Times New Roman"/>
            </a:endParaRPr>
          </a:p>
          <a:p>
            <a:pPr marL="763905" lvl="1" indent="-300355">
              <a:lnSpc>
                <a:spcPct val="100000"/>
              </a:lnSpc>
              <a:spcBef>
                <a:spcPts val="145"/>
              </a:spcBef>
              <a:buClr>
                <a:srgbClr val="626262"/>
              </a:buClr>
              <a:buChar char="—"/>
              <a:tabLst>
                <a:tab pos="763905" algn="l"/>
              </a:tabLst>
            </a:pPr>
            <a:r>
              <a:rPr sz="1450" dirty="0">
                <a:solidFill>
                  <a:srgbClr val="1C1849"/>
                </a:solidFill>
                <a:latin typeface="Cambria"/>
                <a:cs typeface="Cambria"/>
              </a:rPr>
              <a:t>which</a:t>
            </a:r>
            <a:r>
              <a:rPr sz="1450" spc="55" dirty="0">
                <a:solidFill>
                  <a:srgbClr val="1C1849"/>
                </a:solidFill>
                <a:latin typeface="Cambria"/>
                <a:cs typeface="Cambria"/>
              </a:rPr>
              <a:t> </a:t>
            </a:r>
            <a:r>
              <a:rPr sz="1450" dirty="0">
                <a:solidFill>
                  <a:srgbClr val="1C1C1C"/>
                </a:solidFill>
                <a:latin typeface="Cambria"/>
                <a:cs typeface="Cambria"/>
              </a:rPr>
              <a:t>are</a:t>
            </a:r>
            <a:r>
              <a:rPr sz="1450" spc="114" dirty="0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sz="1450" dirty="0">
                <a:solidFill>
                  <a:srgbClr val="131313"/>
                </a:solidFill>
                <a:latin typeface="Cambria"/>
                <a:cs typeface="Cambria"/>
              </a:rPr>
              <a:t>capable</a:t>
            </a:r>
            <a:r>
              <a:rPr sz="1450" spc="11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450" dirty="0">
                <a:solidFill>
                  <a:srgbClr val="494870"/>
                </a:solidFill>
                <a:latin typeface="Cambria"/>
                <a:cs typeface="Cambria"/>
              </a:rPr>
              <a:t>of</a:t>
            </a:r>
            <a:r>
              <a:rPr sz="1450" spc="165" dirty="0">
                <a:solidFill>
                  <a:srgbClr val="494870"/>
                </a:solidFill>
                <a:latin typeface="Cambria"/>
                <a:cs typeface="Cambria"/>
              </a:rPr>
              <a:t> </a:t>
            </a:r>
            <a:r>
              <a:rPr sz="1450" spc="-95" dirty="0">
                <a:solidFill>
                  <a:srgbClr val="111111"/>
                </a:solidFill>
                <a:latin typeface="Cambria"/>
                <a:cs typeface="Cambria"/>
              </a:rPr>
              <a:t>searc1iiiip•</a:t>
            </a:r>
            <a:r>
              <a:rPr sz="1450" spc="22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450" dirty="0">
                <a:solidFill>
                  <a:srgbClr val="161616"/>
                </a:solidFill>
                <a:latin typeface="Cambria"/>
                <a:cs typeface="Cambria"/>
              </a:rPr>
              <a:t>with</a:t>
            </a:r>
            <a:r>
              <a:rPr sz="1450" spc="85" dirty="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sz="1450" spc="-85" dirty="0">
                <a:solidFill>
                  <a:srgbClr val="131313"/>
                </a:solidFill>
                <a:latin typeface="Cambria"/>
                <a:cs typeface="Cambria"/>
              </a:rPr>
              <a:t>lop•arit1imic</a:t>
            </a:r>
            <a:r>
              <a:rPr sz="1450" spc="22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450" spc="-20" dirty="0">
                <a:solidFill>
                  <a:srgbClr val="1A1A1A"/>
                </a:solidFill>
                <a:latin typeface="Cambria"/>
                <a:cs typeface="Cambria"/>
              </a:rPr>
              <a:t>ctimplex</a:t>
            </a:r>
            <a:r>
              <a:rPr sz="1450" spc="-95" dirty="0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sz="1450" spc="-25" dirty="0">
                <a:solidFill>
                  <a:srgbClr val="161616"/>
                </a:solidFill>
                <a:latin typeface="Cambria"/>
                <a:cs typeface="Cambria"/>
              </a:rPr>
              <a:t>ity</a:t>
            </a:r>
            <a:endParaRPr sz="1450">
              <a:latin typeface="Cambria"/>
              <a:cs typeface="Cambria"/>
            </a:endParaRPr>
          </a:p>
          <a:p>
            <a:pPr marL="358140" marR="255904" indent="-345440">
              <a:lnSpc>
                <a:spcPts val="1760"/>
              </a:lnSpc>
              <a:spcBef>
                <a:spcPts val="414"/>
              </a:spcBef>
              <a:buChar char="•"/>
              <a:tabLst>
                <a:tab pos="362585" algn="l"/>
              </a:tabLst>
            </a:pP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spc="-65" dirty="0">
                <a:latin typeface="Times New Roman"/>
                <a:cs typeface="Times New Roman"/>
              </a:rPr>
              <a:t>di</a:t>
            </a:r>
            <a:r>
              <a:rPr sz="1750" spc="-1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awback</a:t>
            </a:r>
            <a:r>
              <a:rPr sz="1750" spc="7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of</a:t>
            </a:r>
            <a:r>
              <a:rPr sz="1750" spc="90" dirty="0">
                <a:latin typeface="Times New Roman"/>
                <a:cs typeface="Times New Roman"/>
              </a:rPr>
              <a:t> </a:t>
            </a:r>
            <a:r>
              <a:rPr sz="1750" spc="-35" dirty="0">
                <a:latin typeface="Times New Roman"/>
                <a:cs typeface="Times New Roman"/>
              </a:rPr>
              <a:t>mom</a:t>
            </a:r>
            <a:r>
              <a:rPr sz="1750" spc="9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tif</a:t>
            </a:r>
            <a:r>
              <a:rPr sz="1750" spc="8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these systems</a:t>
            </a:r>
            <a:r>
              <a:rPr sz="1750" spc="8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is</a:t>
            </a:r>
            <a:r>
              <a:rPr sz="1750" spc="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fact</a:t>
            </a:r>
            <a:r>
              <a:rPr sz="1750" spc="7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that</a:t>
            </a:r>
            <a:r>
              <a:rPr sz="1750" spc="9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they</a:t>
            </a:r>
            <a:r>
              <a:rPr sz="1750" spc="8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are</a:t>
            </a:r>
            <a:r>
              <a:rPr sz="1750" spc="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tinly</a:t>
            </a:r>
            <a:r>
              <a:rPr sz="1750" spc="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able</a:t>
            </a:r>
            <a:r>
              <a:rPr sz="1750" spc="50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to 	</a:t>
            </a:r>
            <a:r>
              <a:rPr sz="1750" dirty="0">
                <a:latin typeface="Times New Roman"/>
                <a:cs typeface="Times New Roman"/>
              </a:rPr>
              <a:t>search</a:t>
            </a:r>
            <a:r>
              <a:rPr sz="1750" spc="9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for</a:t>
            </a:r>
            <a:r>
              <a:rPr sz="1750" spc="6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numbers</a:t>
            </a:r>
            <a:endParaRPr sz="1750">
              <a:latin typeface="Times New Roman"/>
              <a:cs typeface="Times New Roman"/>
            </a:endParaRPr>
          </a:p>
          <a:p>
            <a:pPr marL="761365" marR="1042035" lvl="1" indent="-288290">
              <a:lnSpc>
                <a:spcPct val="78100"/>
              </a:lnSpc>
              <a:spcBef>
                <a:spcPts val="395"/>
              </a:spcBef>
              <a:buClr>
                <a:srgbClr val="444444"/>
              </a:buClr>
              <a:buChar char="—"/>
              <a:tabLst>
                <a:tab pos="765175" algn="l"/>
              </a:tabLst>
            </a:pPr>
            <a:r>
              <a:rPr sz="1650" dirty="0">
                <a:solidFill>
                  <a:srgbClr val="212121"/>
                </a:solidFill>
                <a:latin typeface="Times New Roman"/>
                <a:cs typeface="Times New Roman"/>
              </a:rPr>
              <a:t>In</a:t>
            </a:r>
            <a:r>
              <a:rPr sz="1650" spc="-7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Times New Roman"/>
                <a:cs typeface="Times New Roman"/>
              </a:rPr>
              <a:t>case</a:t>
            </a:r>
            <a:r>
              <a:rPr sz="1650" spc="-3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650" spc="-30" dirty="0">
                <a:solidFill>
                  <a:srgbClr val="131313"/>
                </a:solidFill>
                <a:latin typeface="Times New Roman"/>
                <a:cs typeface="Times New Roman"/>
              </a:rPr>
              <a:t>they</a:t>
            </a:r>
            <a:r>
              <a:rPr sz="1650" spc="-1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C1C1C"/>
                </a:solidFill>
                <a:latin typeface="Times New Roman"/>
                <a:cs typeface="Times New Roman"/>
              </a:rPr>
              <a:t>are</a:t>
            </a:r>
            <a:r>
              <a:rPr sz="1650" spc="-65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1650" spc="-25" dirty="0">
                <a:solidFill>
                  <a:srgbClr val="111111"/>
                </a:solidFill>
                <a:latin typeface="Times New Roman"/>
                <a:cs typeface="Times New Roman"/>
              </a:rPr>
              <a:t>searching</a:t>
            </a:r>
            <a:r>
              <a:rPr sz="1650" spc="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spc="-80" dirty="0">
                <a:solidFill>
                  <a:srgbClr val="161616"/>
                </a:solidFill>
                <a:latin typeface="Times New Roman"/>
                <a:cs typeface="Times New Roman"/>
              </a:rPr>
              <a:t>l'or</a:t>
            </a:r>
            <a:r>
              <a:rPr sz="1650" spc="-2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650" spc="-20" dirty="0">
                <a:solidFill>
                  <a:srgbClr val="131313"/>
                </a:solidFill>
                <a:latin typeface="Times New Roman"/>
                <a:cs typeface="Times New Roman"/>
              </a:rPr>
              <a:t>strings,</a:t>
            </a:r>
            <a:r>
              <a:rPr sz="1650" spc="-2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650" spc="-25" dirty="0">
                <a:solidFill>
                  <a:srgbClr val="151515"/>
                </a:solidFill>
                <a:latin typeface="Times New Roman"/>
                <a:cs typeface="Times New Roman"/>
              </a:rPr>
              <a:t>lhey</a:t>
            </a:r>
            <a:r>
              <a:rPr sz="1650" spc="-15" dirty="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61616"/>
                </a:solidFill>
                <a:latin typeface="Times New Roman"/>
                <a:cs typeface="Times New Roman"/>
              </a:rPr>
              <a:t>are</a:t>
            </a:r>
            <a:r>
              <a:rPr sz="1650" spc="-6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650" spc="-25" dirty="0">
                <a:solidFill>
                  <a:srgbClr val="151515"/>
                </a:solidFill>
                <a:latin typeface="Times New Roman"/>
                <a:cs typeface="Times New Roman"/>
              </a:rPr>
              <a:t>searching</a:t>
            </a:r>
            <a:r>
              <a:rPr sz="1650" spc="15" dirty="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sz="1650" spc="-55" dirty="0">
                <a:solidFill>
                  <a:srgbClr val="131313"/>
                </a:solidFill>
                <a:latin typeface="Times New Roman"/>
                <a:cs typeface="Times New Roman"/>
              </a:rPr>
              <a:t>l'or</a:t>
            </a:r>
            <a:r>
              <a:rPr sz="1650" spc="-3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650" spc="-50" dirty="0">
                <a:solidFill>
                  <a:srgbClr val="161616"/>
                </a:solidFill>
                <a:latin typeface="Times New Roman"/>
                <a:cs typeface="Times New Roman"/>
              </a:rPr>
              <a:t>numerical 	</a:t>
            </a:r>
            <a:r>
              <a:rPr sz="1650" spc="-30" dirty="0">
                <a:solidFill>
                  <a:srgbClr val="131313"/>
                </a:solidFill>
                <a:latin typeface="Times New Roman"/>
                <a:cs typeface="Times New Roman"/>
              </a:rPr>
              <a:t>rcprescntations</a:t>
            </a:r>
            <a:r>
              <a:rPr sz="1650" spc="-7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C1C1C"/>
                </a:solidFill>
                <a:latin typeface="Times New Roman"/>
                <a:cs typeface="Times New Roman"/>
              </a:rPr>
              <a:t>of</a:t>
            </a:r>
            <a:r>
              <a:rPr sz="1650" spc="50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1650" spc="-25" dirty="0">
                <a:solidFill>
                  <a:srgbClr val="131313"/>
                </a:solidFill>
                <a:latin typeface="Times New Roman"/>
                <a:cs typeface="Times New Roman"/>
              </a:rPr>
              <a:t>thcsc</a:t>
            </a:r>
            <a:r>
              <a:rPr sz="1650" spc="-3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1D1D1D"/>
                </a:solidFill>
                <a:latin typeface="Times New Roman"/>
                <a:cs typeface="Times New Roman"/>
              </a:rPr>
              <a:t>strings</a:t>
            </a:r>
            <a:endParaRPr sz="1650">
              <a:latin typeface="Times New Roman"/>
              <a:cs typeface="Times New Roman"/>
            </a:endParaRPr>
          </a:p>
          <a:p>
            <a:pPr marL="360045" indent="-346710">
              <a:lnSpc>
                <a:spcPct val="100000"/>
              </a:lnSpc>
              <a:spcBef>
                <a:spcPts val="30"/>
              </a:spcBef>
              <a:buChar char="•"/>
              <a:tabLst>
                <a:tab pos="360045" algn="l"/>
              </a:tabLst>
            </a:pPr>
            <a:r>
              <a:rPr sz="1750" dirty="0">
                <a:latin typeface="Times New Roman"/>
                <a:cs typeface="Times New Roman"/>
              </a:rPr>
              <a:t>Examples</a:t>
            </a:r>
            <a:r>
              <a:rPr sz="1750" spc="1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for</a:t>
            </a:r>
            <a:r>
              <a:rPr sz="1750" spc="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such</a:t>
            </a:r>
            <a:r>
              <a:rPr sz="1750" spc="114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systems</a:t>
            </a:r>
            <a:r>
              <a:rPr sz="1750" spc="114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are:</a:t>
            </a:r>
            <a:endParaRPr sz="1750">
              <a:latin typeface="Times New Roman"/>
              <a:cs typeface="Times New Roman"/>
            </a:endParaRPr>
          </a:p>
          <a:p>
            <a:pPr marL="763270" lvl="1" indent="-289560">
              <a:lnSpc>
                <a:spcPct val="100000"/>
              </a:lnSpc>
              <a:spcBef>
                <a:spcPts val="70"/>
              </a:spcBef>
              <a:buClr>
                <a:srgbClr val="707070"/>
              </a:buClr>
              <a:buChar char="—"/>
              <a:tabLst>
                <a:tab pos="763270" algn="l"/>
              </a:tabLst>
            </a:pPr>
            <a:r>
              <a:rPr sz="1550" spc="-20" dirty="0">
                <a:solidFill>
                  <a:srgbClr val="1C1C1C"/>
                </a:solidFill>
                <a:latin typeface="Times New Roman"/>
                <a:cs typeface="Times New Roman"/>
              </a:rPr>
              <a:t>PAST</a:t>
            </a:r>
            <a:endParaRPr sz="1550">
              <a:latin typeface="Times New Roman"/>
              <a:cs typeface="Times New Roman"/>
            </a:endParaRPr>
          </a:p>
          <a:p>
            <a:pPr marL="759460" lvl="1" indent="-286385">
              <a:lnSpc>
                <a:spcPct val="100000"/>
              </a:lnSpc>
              <a:spcBef>
                <a:spcPts val="140"/>
              </a:spcBef>
              <a:buClr>
                <a:srgbClr val="3A3A3A"/>
              </a:buClr>
              <a:buChar char="—"/>
              <a:tabLst>
                <a:tab pos="759460" algn="l"/>
              </a:tabLst>
            </a:pPr>
            <a:r>
              <a:rPr sz="1450" spc="-10" dirty="0">
                <a:solidFill>
                  <a:srgbClr val="0E0E0E"/>
                </a:solidFill>
                <a:latin typeface="Times New Roman"/>
                <a:cs typeface="Times New Roman"/>
              </a:rPr>
              <a:t>Chord</a:t>
            </a:r>
            <a:endParaRPr sz="1450">
              <a:latin typeface="Times New Roman"/>
              <a:cs typeface="Times New Roman"/>
            </a:endParaRPr>
          </a:p>
          <a:p>
            <a:pPr marL="763270" lvl="1" indent="-290195">
              <a:lnSpc>
                <a:spcPct val="100000"/>
              </a:lnSpc>
              <a:spcBef>
                <a:spcPts val="140"/>
              </a:spcBef>
              <a:buClr>
                <a:srgbClr val="626262"/>
              </a:buClr>
              <a:buChar char="—"/>
              <a:tabLst>
                <a:tab pos="763270" algn="l"/>
              </a:tabLst>
            </a:pPr>
            <a:r>
              <a:rPr sz="1500" spc="-114" dirty="0">
                <a:solidFill>
                  <a:srgbClr val="494949"/>
                </a:solidFill>
                <a:latin typeface="Times New Roman"/>
                <a:cs typeface="Times New Roman"/>
              </a:rPr>
              <a:t>P-</a:t>
            </a:r>
            <a:r>
              <a:rPr sz="1500" spc="-105" dirty="0">
                <a:solidFill>
                  <a:srgbClr val="494949"/>
                </a:solidFill>
                <a:latin typeface="Times New Roman"/>
                <a:cs typeface="Times New Roman"/>
              </a:rPr>
              <a:t>Cir</a:t>
            </a:r>
            <a:r>
              <a:rPr sz="1500" spc="3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-25" dirty="0">
                <a:solidFill>
                  <a:srgbClr val="0E0538"/>
                </a:solidFill>
                <a:latin typeface="Times New Roman"/>
                <a:cs typeface="Times New Roman"/>
              </a:rPr>
              <a:t>id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063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95"/>
              </a:spcBef>
            </a:pPr>
            <a:r>
              <a:rPr sz="4250" dirty="0">
                <a:solidFill>
                  <a:srgbClr val="FF3105"/>
                </a:solidFill>
                <a:latin typeface="Calibri"/>
                <a:cs typeface="Calibri"/>
              </a:rPr>
              <a:t>Mobile</a:t>
            </a:r>
            <a:r>
              <a:rPr sz="4250" spc="985" dirty="0">
                <a:solidFill>
                  <a:srgbClr val="FF3105"/>
                </a:solidFill>
                <a:latin typeface="Calibri"/>
                <a:cs typeface="Calibri"/>
              </a:rPr>
              <a:t> </a:t>
            </a:r>
            <a:r>
              <a:rPr sz="4250" spc="185" dirty="0">
                <a:solidFill>
                  <a:srgbClr val="FD3605"/>
                </a:solidFill>
                <a:latin typeface="Calibri"/>
                <a:cs typeface="Calibri"/>
              </a:rPr>
              <a:t>ad</a:t>
            </a:r>
            <a:r>
              <a:rPr sz="4250" spc="700" dirty="0">
                <a:solidFill>
                  <a:srgbClr val="FD3605"/>
                </a:solidFill>
                <a:latin typeface="Calibri"/>
                <a:cs typeface="Calibri"/>
              </a:rPr>
              <a:t> </a:t>
            </a:r>
            <a:r>
              <a:rPr sz="4250" dirty="0">
                <a:solidFill>
                  <a:srgbClr val="F93403"/>
                </a:solidFill>
                <a:latin typeface="Calibri"/>
                <a:cs typeface="Calibri"/>
              </a:rPr>
              <a:t>hoc</a:t>
            </a:r>
            <a:r>
              <a:rPr sz="4250" spc="960" dirty="0">
                <a:solidFill>
                  <a:srgbClr val="F93403"/>
                </a:solidFill>
                <a:latin typeface="Calibri"/>
                <a:cs typeface="Calibri"/>
              </a:rPr>
              <a:t> </a:t>
            </a:r>
            <a:r>
              <a:rPr sz="4250" spc="-10" dirty="0">
                <a:solidFill>
                  <a:srgbClr val="F93F08"/>
                </a:solidFill>
                <a:latin typeface="Calibri"/>
                <a:cs typeface="Calibri"/>
              </a:rPr>
              <a:t>communication</a:t>
            </a:r>
            <a:endParaRPr sz="42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0152" y="1943893"/>
            <a:ext cx="7510145" cy="3801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2585" indent="-349885">
              <a:lnSpc>
                <a:spcPts val="2195"/>
              </a:lnSpc>
              <a:spcBef>
                <a:spcPts val="105"/>
              </a:spcBef>
              <a:buChar char="•"/>
              <a:tabLst>
                <a:tab pos="362585" algn="l"/>
              </a:tabLst>
            </a:pPr>
            <a:r>
              <a:rPr sz="1850" dirty="0">
                <a:latin typeface="Times New Roman"/>
                <a:cs typeface="Times New Roman"/>
              </a:rPr>
              <a:t>Ad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hoc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communication,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especially</a:t>
            </a:r>
            <a:r>
              <a:rPr sz="1850" spc="5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when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it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is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done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among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mobile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devices</a:t>
            </a:r>
            <a:endParaRPr sz="1850">
              <a:latin typeface="Times New Roman"/>
              <a:cs typeface="Times New Roman"/>
            </a:endParaRPr>
          </a:p>
          <a:p>
            <a:pPr marL="761365" lvl="1" indent="-287655">
              <a:lnSpc>
                <a:spcPts val="1939"/>
              </a:lnSpc>
              <a:buClr>
                <a:srgbClr val="696969"/>
              </a:buClr>
              <a:buChar char="—"/>
              <a:tabLst>
                <a:tab pos="761365" algn="l"/>
              </a:tabLst>
            </a:pPr>
            <a:r>
              <a:rPr sz="1650" spc="-10" dirty="0">
                <a:solidFill>
                  <a:srgbClr val="0A0A0A"/>
                </a:solidFill>
                <a:latin typeface="Times New Roman"/>
                <a:cs typeface="Times New Roman"/>
              </a:rPr>
              <a:t>I.c.,</a:t>
            </a:r>
            <a:r>
              <a:rPr sz="1650" spc="-70" dirty="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C1C1C"/>
                </a:solidFill>
                <a:latin typeface="Times New Roman"/>
                <a:cs typeface="Times New Roman"/>
              </a:rPr>
              <a:t>the</a:t>
            </a:r>
            <a:r>
              <a:rPr sz="1650" spc="-90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1650" spc="-30" dirty="0">
                <a:solidFill>
                  <a:srgbClr val="161616"/>
                </a:solidFill>
                <a:latin typeface="Times New Roman"/>
                <a:cs typeface="Times New Roman"/>
              </a:rPr>
              <a:t>devices</a:t>
            </a:r>
            <a:r>
              <a:rPr sz="1650" spc="-1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C1C1C"/>
                </a:solidFill>
                <a:latin typeface="Times New Roman"/>
                <a:cs typeface="Times New Roman"/>
              </a:rPr>
              <a:t>arc</a:t>
            </a:r>
            <a:r>
              <a:rPr sz="1650" spc="-45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1650" spc="-30" dirty="0">
                <a:solidFill>
                  <a:srgbClr val="1A1A1A"/>
                </a:solidFill>
                <a:latin typeface="Times New Roman"/>
                <a:cs typeface="Times New Roman"/>
              </a:rPr>
              <a:t>connected</a:t>
            </a:r>
            <a:r>
              <a:rPr sz="1650" spc="2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650" spc="-20" dirty="0">
                <a:solidFill>
                  <a:srgbClr val="504F74"/>
                </a:solidFill>
                <a:latin typeface="Times New Roman"/>
                <a:cs typeface="Times New Roman"/>
              </a:rPr>
              <a:t>dircctly</a:t>
            </a:r>
            <a:r>
              <a:rPr sz="1650" spc="5" dirty="0">
                <a:solidFill>
                  <a:srgbClr val="504F74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131313"/>
                </a:solidFill>
                <a:latin typeface="Times New Roman"/>
                <a:cs typeface="Times New Roman"/>
              </a:rPr>
              <a:t>via</a:t>
            </a:r>
            <a:r>
              <a:rPr sz="1650" spc="-4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423D64"/>
                </a:solidFill>
                <a:latin typeface="Times New Roman"/>
                <a:cs typeface="Times New Roman"/>
              </a:rPr>
              <a:t>a</a:t>
            </a:r>
            <a:r>
              <a:rPr sz="1650" spc="-40" dirty="0">
                <a:solidFill>
                  <a:srgbClr val="423D64"/>
                </a:solidFill>
                <a:latin typeface="Times New Roman"/>
                <a:cs typeface="Times New Roman"/>
              </a:rPr>
              <a:t> </a:t>
            </a:r>
            <a:r>
              <a:rPr sz="1650" spc="-40" dirty="0">
                <a:solidFill>
                  <a:srgbClr val="1A1A1A"/>
                </a:solidFill>
                <a:latin typeface="Times New Roman"/>
                <a:cs typeface="Times New Roman"/>
              </a:rPr>
              <a:t>wireless</a:t>
            </a:r>
            <a:r>
              <a:rPr sz="1650" spc="2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650" spc="-35" dirty="0">
                <a:solidFill>
                  <a:srgbClr val="161616"/>
                </a:solidFill>
                <a:latin typeface="Times New Roman"/>
                <a:cs typeface="Times New Roman"/>
              </a:rPr>
              <a:t>communication</a:t>
            </a:r>
            <a:r>
              <a:rPr sz="1650" spc="12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650" spc="-20" dirty="0">
                <a:solidFill>
                  <a:srgbClr val="131313"/>
                </a:solidFill>
                <a:latin typeface="Times New Roman"/>
                <a:cs typeface="Times New Roman"/>
              </a:rPr>
              <a:t>link</a:t>
            </a:r>
            <a:endParaRPr sz="1650">
              <a:latin typeface="Times New Roman"/>
              <a:cs typeface="Times New Roman"/>
            </a:endParaRPr>
          </a:p>
          <a:p>
            <a:pPr marL="760095" lvl="1" indent="-286385">
              <a:lnSpc>
                <a:spcPts val="1875"/>
              </a:lnSpc>
              <a:buClr>
                <a:srgbClr val="424242"/>
              </a:buClr>
              <a:buChar char="—"/>
              <a:tabLst>
                <a:tab pos="760095" algn="l"/>
              </a:tabLst>
            </a:pPr>
            <a:r>
              <a:rPr sz="1600" dirty="0">
                <a:solidFill>
                  <a:srgbClr val="1C1C1C"/>
                </a:solidFill>
                <a:latin typeface="Times New Roman"/>
                <a:cs typeface="Times New Roman"/>
              </a:rPr>
              <a:t>This</a:t>
            </a:r>
            <a:r>
              <a:rPr sz="1600" spc="-40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81818"/>
                </a:solidFill>
                <a:latin typeface="Times New Roman"/>
                <a:cs typeface="Times New Roman"/>
              </a:rPr>
              <a:t>is</a:t>
            </a:r>
            <a:r>
              <a:rPr sz="1600" spc="-55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31313"/>
                </a:solidFill>
                <a:latin typeface="Times New Roman"/>
                <a:cs typeface="Times New Roman"/>
              </a:rPr>
              <a:t>the</a:t>
            </a:r>
            <a:r>
              <a:rPr sz="1600" spc="-1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61616"/>
                </a:solidFill>
                <a:latin typeface="Times New Roman"/>
                <a:cs typeface="Times New Roman"/>
              </a:rPr>
              <a:t>best</a:t>
            </a:r>
            <a:r>
              <a:rPr sz="1600" spc="-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111111"/>
                </a:solidFill>
                <a:latin typeface="Times New Roman"/>
                <a:cs typeface="Times New Roman"/>
              </a:rPr>
              <a:t>exaiiiple</a:t>
            </a:r>
            <a:r>
              <a:rPr sz="1600" spc="6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31313"/>
                </a:solidFill>
                <a:latin typeface="Times New Roman"/>
                <a:cs typeface="Times New Roman"/>
              </a:rPr>
              <a:t>lor</a:t>
            </a:r>
            <a:r>
              <a:rPr sz="1600" spc="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1A"/>
                </a:solidFill>
                <a:latin typeface="Times New Roman"/>
                <a:cs typeface="Times New Roman"/>
              </a:rPr>
              <a:t>the</a:t>
            </a:r>
            <a:r>
              <a:rPr sz="1600" spc="-1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600" spc="-35" dirty="0">
                <a:solidFill>
                  <a:srgbClr val="111111"/>
                </a:solidFill>
                <a:latin typeface="Times New Roman"/>
                <a:cs typeface="Times New Roman"/>
              </a:rPr>
              <a:t>usel'ulness</a:t>
            </a:r>
            <a:r>
              <a:rPr sz="1600" spc="9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11C46"/>
                </a:solidFill>
                <a:latin typeface="Times New Roman"/>
                <a:cs typeface="Times New Roman"/>
              </a:rPr>
              <a:t>of</a:t>
            </a:r>
            <a:r>
              <a:rPr sz="1600" spc="10" dirty="0">
                <a:solidFill>
                  <a:srgbClr val="211C46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61616"/>
                </a:solidFill>
                <a:latin typeface="Times New Roman"/>
                <a:cs typeface="Times New Roman"/>
              </a:rPr>
              <a:t>the</a:t>
            </a:r>
            <a:r>
              <a:rPr sz="1600" spc="2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31313"/>
                </a:solidFill>
                <a:latin typeface="Times New Roman"/>
                <a:cs typeface="Times New Roman"/>
              </a:rPr>
              <a:t>P2P</a:t>
            </a:r>
            <a:r>
              <a:rPr sz="1600" spc="-6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161616"/>
                </a:solidFill>
                <a:latin typeface="Times New Roman"/>
                <a:cs typeface="Times New Roman"/>
              </a:rPr>
              <a:t>para‹iigm</a:t>
            </a:r>
            <a:endParaRPr sz="1600">
              <a:latin typeface="Times New Roman"/>
              <a:cs typeface="Times New Roman"/>
            </a:endParaRPr>
          </a:p>
          <a:p>
            <a:pPr marL="360680" indent="-347980">
              <a:lnSpc>
                <a:spcPts val="2170"/>
              </a:lnSpc>
              <a:buChar char="•"/>
              <a:tabLst>
                <a:tab pos="360680" algn="l"/>
              </a:tabLst>
            </a:pPr>
            <a:r>
              <a:rPr sz="1850" spc="-25" dirty="0">
                <a:latin typeface="Times New Roman"/>
                <a:cs typeface="Times New Roman"/>
              </a:rPr>
              <a:t>Devices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connect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to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each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other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ad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hoc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manner</a:t>
            </a:r>
            <a:endParaRPr sz="1850">
              <a:latin typeface="Times New Roman"/>
              <a:cs typeface="Times New Roman"/>
            </a:endParaRPr>
          </a:p>
          <a:p>
            <a:pPr marL="360680" marR="437515" indent="-348615">
              <a:lnSpc>
                <a:spcPct val="76000"/>
              </a:lnSpc>
              <a:spcBef>
                <a:spcPts val="509"/>
              </a:spcBef>
              <a:buChar char="•"/>
              <a:tabLst>
                <a:tab pos="362585" algn="l"/>
              </a:tabLst>
            </a:pPr>
            <a:r>
              <a:rPr sz="1850" spc="-10" dirty="0">
                <a:latin typeface="Times New Roman"/>
                <a:cs typeface="Times New Roman"/>
              </a:rPr>
              <a:t>Due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limited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communication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capabilities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mobile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devices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(such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as 	</a:t>
            </a:r>
            <a:r>
              <a:rPr sz="1850" spc="-20" dirty="0">
                <a:latin typeface="Times New Roman"/>
                <a:cs typeface="Times New Roman"/>
              </a:rPr>
              <a:t>mt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bile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phtines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or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45" dirty="0">
                <a:latin typeface="Times New Roman"/>
                <a:cs typeface="Times New Roman"/>
              </a:rPr>
              <a:t>handheld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devices),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frequent</a:t>
            </a:r>
            <a:r>
              <a:rPr sz="1850" spc="5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disctinnectitins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may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ticcur</a:t>
            </a:r>
            <a:endParaRPr sz="1850">
              <a:latin typeface="Times New Roman"/>
              <a:cs typeface="Times New Roman"/>
            </a:endParaRPr>
          </a:p>
          <a:p>
            <a:pPr marL="356870" marR="477520" indent="-344170">
              <a:lnSpc>
                <a:spcPts val="1760"/>
              </a:lnSpc>
              <a:spcBef>
                <a:spcPts val="405"/>
              </a:spcBef>
              <a:buChar char="•"/>
              <a:tabLst>
                <a:tab pos="356870" algn="l"/>
                <a:tab pos="361315" algn="l"/>
              </a:tabLst>
            </a:pPr>
            <a:r>
              <a:rPr sz="1750" dirty="0">
                <a:latin typeface="Times New Roman"/>
                <a:cs typeface="Times New Roman"/>
              </a:rPr>
              <a:t>	When</a:t>
            </a:r>
            <a:r>
              <a:rPr sz="1750" spc="1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mobile</a:t>
            </a:r>
            <a:r>
              <a:rPr sz="1750" spc="8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devices</a:t>
            </a:r>
            <a:r>
              <a:rPr sz="1750" spc="10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are</a:t>
            </a:r>
            <a:r>
              <a:rPr sz="1750" spc="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connected</a:t>
            </a:r>
            <a:r>
              <a:rPr sz="1750" spc="114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together,</a:t>
            </a:r>
            <a:r>
              <a:rPr sz="1750" spc="2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there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is</a:t>
            </a:r>
            <a:r>
              <a:rPr sz="1750" spc="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no</a:t>
            </a:r>
            <a:r>
              <a:rPr sz="1750" spc="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guarantee</a:t>
            </a:r>
            <a:r>
              <a:rPr sz="1750" spc="1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that</a:t>
            </a:r>
            <a:r>
              <a:rPr sz="1750" spc="110" dirty="0">
                <a:latin typeface="Times New Roman"/>
                <a:cs typeface="Times New Roman"/>
              </a:rPr>
              <a:t> </a:t>
            </a:r>
            <a:r>
              <a:rPr sz="1750" spc="-50" dirty="0">
                <a:latin typeface="Times New Roman"/>
                <a:cs typeface="Times New Roman"/>
              </a:rPr>
              <a:t>a </a:t>
            </a:r>
            <a:r>
              <a:rPr sz="1750" dirty="0">
                <a:latin typeface="Times New Roman"/>
                <a:cs typeface="Times New Roman"/>
              </a:rPr>
              <a:t>central</a:t>
            </a:r>
            <a:r>
              <a:rPr sz="1750" spc="1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server</a:t>
            </a:r>
            <a:r>
              <a:rPr sz="1750" spc="8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may</a:t>
            </a:r>
            <a:r>
              <a:rPr sz="1750" spc="1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be</a:t>
            </a:r>
            <a:r>
              <a:rPr sz="1750" spc="1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available</a:t>
            </a:r>
            <a:endParaRPr sz="1750">
              <a:latin typeface="Times New Roman"/>
              <a:cs typeface="Times New Roman"/>
            </a:endParaRPr>
          </a:p>
          <a:p>
            <a:pPr marL="360680" marR="5080" indent="-348615">
              <a:lnSpc>
                <a:spcPct val="79200"/>
              </a:lnSpc>
              <a:spcBef>
                <a:spcPts val="365"/>
              </a:spcBef>
              <a:buChar char="•"/>
              <a:tabLst>
                <a:tab pos="361950" algn="l"/>
              </a:tabLst>
            </a:pPr>
            <a:r>
              <a:rPr sz="1850" spc="-25" dirty="0">
                <a:latin typeface="Times New Roman"/>
                <a:cs typeface="Times New Roman"/>
              </a:rPr>
              <a:t>Hence,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ad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hoc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mobile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communication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must</a:t>
            </a:r>
            <a:r>
              <a:rPr sz="1850" spc="4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not </a:t>
            </a:r>
            <a:r>
              <a:rPr sz="1850" spc="-30" dirty="0">
                <a:latin typeface="Times New Roman"/>
                <a:cs typeface="Times New Roman"/>
              </a:rPr>
              <a:t>rely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Times New Roman"/>
                <a:cs typeface="Times New Roman"/>
              </a:rPr>
              <a:t>tin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existence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such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Times New Roman"/>
                <a:cs typeface="Times New Roman"/>
              </a:rPr>
              <a:t>a 	</a:t>
            </a:r>
            <a:r>
              <a:rPr sz="1850" spc="-10" dirty="0">
                <a:latin typeface="Times New Roman"/>
                <a:cs typeface="Times New Roman"/>
              </a:rPr>
              <a:t>server</a:t>
            </a:r>
            <a:endParaRPr sz="1850">
              <a:latin typeface="Times New Roman"/>
              <a:cs typeface="Times New Roman"/>
            </a:endParaRPr>
          </a:p>
          <a:p>
            <a:pPr marL="362585" indent="-349885">
              <a:lnSpc>
                <a:spcPts val="2125"/>
              </a:lnSpc>
              <a:buChar char="•"/>
              <a:tabLst>
                <a:tab pos="362585" algn="l"/>
              </a:tabLst>
            </a:pPr>
            <a:r>
              <a:rPr sz="1850" spc="-10" dirty="0">
                <a:latin typeface="Times New Roman"/>
                <a:cs typeface="Times New Roman"/>
              </a:rPr>
              <a:t>All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these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characteristics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also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apply</a:t>
            </a:r>
            <a:r>
              <a:rPr sz="1850" dirty="0">
                <a:latin typeface="Times New Roman"/>
                <a:cs typeface="Times New Roman"/>
              </a:rPr>
              <a:t> to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-45" dirty="0">
                <a:latin typeface="Times New Roman"/>
                <a:cs typeface="Times New Roman"/>
              </a:rPr>
              <a:t>P2P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paradigm</a:t>
            </a:r>
            <a:endParaRPr sz="1850">
              <a:latin typeface="Times New Roman"/>
              <a:cs typeface="Times New Roman"/>
            </a:endParaRPr>
          </a:p>
          <a:p>
            <a:pPr marL="356235" marR="916305" indent="-344170">
              <a:lnSpc>
                <a:spcPct val="79200"/>
              </a:lnSpc>
              <a:spcBef>
                <a:spcPts val="405"/>
              </a:spcBef>
              <a:buChar char="•"/>
              <a:tabLst>
                <a:tab pos="356235" algn="l"/>
                <a:tab pos="357505" algn="l"/>
              </a:tabLst>
            </a:pP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0" dirty="0">
                <a:latin typeface="Times New Roman"/>
                <a:cs typeface="Times New Roman"/>
              </a:rPr>
              <a:t>There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exists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tinly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small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number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tif </a:t>
            </a:r>
            <a:r>
              <a:rPr sz="1850" spc="-55" dirty="0">
                <a:latin typeface="Times New Roman"/>
                <a:cs typeface="Times New Roman"/>
              </a:rPr>
              <a:t>P2P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systems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that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can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45" dirty="0">
                <a:latin typeface="Times New Roman"/>
                <a:cs typeface="Times New Roman"/>
              </a:rPr>
              <a:t>used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in conjunction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with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small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devices:</a:t>
            </a:r>
            <a:endParaRPr sz="1850">
              <a:latin typeface="Times New Roman"/>
              <a:cs typeface="Times New Roman"/>
            </a:endParaRPr>
          </a:p>
          <a:p>
            <a:pPr marL="759460" lvl="1" indent="-285750">
              <a:lnSpc>
                <a:spcPct val="100000"/>
              </a:lnSpc>
              <a:spcBef>
                <a:spcPts val="50"/>
              </a:spcBef>
              <a:buClr>
                <a:srgbClr val="484848"/>
              </a:buClr>
              <a:buChar char="—"/>
              <a:tabLst>
                <a:tab pos="759460" algn="l"/>
              </a:tabLst>
            </a:pPr>
            <a:r>
              <a:rPr sz="1550" spc="-10" dirty="0">
                <a:solidFill>
                  <a:srgbClr val="161616"/>
                </a:solidFill>
                <a:latin typeface="Times New Roman"/>
                <a:cs typeface="Times New Roman"/>
              </a:rPr>
              <a:t>GnuNel</a:t>
            </a:r>
            <a:endParaRPr sz="1550">
              <a:latin typeface="Times New Roman"/>
              <a:cs typeface="Times New Roman"/>
            </a:endParaRPr>
          </a:p>
          <a:p>
            <a:pPr marL="762000" lvl="1" indent="-288290">
              <a:lnSpc>
                <a:spcPct val="100000"/>
              </a:lnSpc>
              <a:spcBef>
                <a:spcPts val="40"/>
              </a:spcBef>
              <a:buClr>
                <a:srgbClr val="676767"/>
              </a:buClr>
              <a:buChar char="—"/>
              <a:tabLst>
                <a:tab pos="762000" algn="l"/>
              </a:tabLst>
            </a:pPr>
            <a:r>
              <a:rPr sz="1550" dirty="0">
                <a:solidFill>
                  <a:srgbClr val="0F084D"/>
                </a:solidFill>
                <a:latin typeface="Times New Roman"/>
                <a:cs typeface="Times New Roman"/>
              </a:rPr>
              <a:t>JXME</a:t>
            </a:r>
            <a:r>
              <a:rPr sz="1550" spc="35" dirty="0">
                <a:solidFill>
                  <a:srgbClr val="0F084D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181818"/>
                </a:solidFill>
                <a:latin typeface="Times New Roman"/>
                <a:cs typeface="Times New Roman"/>
              </a:rPr>
              <a:t>(JXTA</a:t>
            </a:r>
            <a:r>
              <a:rPr sz="1550" spc="95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F1F1F"/>
                </a:solidFill>
                <a:latin typeface="Times New Roman"/>
                <a:cs typeface="Times New Roman"/>
              </a:rPr>
              <a:t>for</a:t>
            </a:r>
            <a:r>
              <a:rPr sz="1550" spc="7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F0A44"/>
                </a:solidFill>
                <a:latin typeface="Times New Roman"/>
                <a:cs typeface="Times New Roman"/>
              </a:rPr>
              <a:t>J2ME</a:t>
            </a:r>
            <a:r>
              <a:rPr sz="1550" spc="100" dirty="0">
                <a:solidFill>
                  <a:srgbClr val="0F0A44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646279"/>
                </a:solidFill>
                <a:latin typeface="Times New Roman"/>
                <a:cs typeface="Times New Roman"/>
              </a:rPr>
              <a:t>-</a:t>
            </a:r>
            <a:r>
              <a:rPr sz="1550" spc="15" dirty="0">
                <a:solidFill>
                  <a:srgbClr val="646279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81818"/>
                </a:solidFill>
                <a:latin typeface="Times New Roman"/>
                <a:cs typeface="Times New Roman"/>
              </a:rPr>
              <a:t>the</a:t>
            </a:r>
            <a:r>
              <a:rPr sz="1550" spc="20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A0538"/>
                </a:solidFill>
                <a:latin typeface="Times New Roman"/>
                <a:cs typeface="Times New Roman"/>
              </a:rPr>
              <a:t>Java</a:t>
            </a:r>
            <a:r>
              <a:rPr sz="1550" spc="75" dirty="0">
                <a:solidFill>
                  <a:srgbClr val="0A053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7977A0"/>
                </a:solidFill>
                <a:latin typeface="Times New Roman"/>
                <a:cs typeface="Times New Roman"/>
              </a:rPr>
              <a:t>2</a:t>
            </a:r>
            <a:r>
              <a:rPr sz="1550" spc="5" dirty="0">
                <a:solidFill>
                  <a:srgbClr val="7977A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81818"/>
                </a:solidFill>
                <a:latin typeface="Times New Roman"/>
                <a:cs typeface="Times New Roman"/>
              </a:rPr>
              <a:t>Mobile</a:t>
            </a:r>
            <a:r>
              <a:rPr sz="1550" spc="150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131313"/>
                </a:solidFill>
                <a:latin typeface="Times New Roman"/>
                <a:cs typeface="Times New Roman"/>
              </a:rPr>
              <a:t>Environiiient)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667" rIns="0" bIns="0" rtlCol="0">
            <a:spAutoFit/>
          </a:bodyPr>
          <a:lstStyle/>
          <a:p>
            <a:pPr marL="1243965">
              <a:lnSpc>
                <a:spcPct val="100000"/>
              </a:lnSpc>
              <a:spcBef>
                <a:spcPts val="100"/>
              </a:spcBef>
            </a:pPr>
            <a:r>
              <a:rPr sz="4150" dirty="0">
                <a:solidFill>
                  <a:srgbClr val="EF2F01"/>
                </a:solidFill>
                <a:latin typeface="Calibri"/>
                <a:cs typeface="Calibri"/>
              </a:rPr>
              <a:t>Coc†en†</a:t>
            </a:r>
            <a:r>
              <a:rPr sz="4150" spc="1000" dirty="0">
                <a:solidFill>
                  <a:srgbClr val="EF2F01"/>
                </a:solidFill>
                <a:latin typeface="Calibri"/>
                <a:cs typeface="Calibri"/>
              </a:rPr>
              <a:t> </a:t>
            </a:r>
            <a:r>
              <a:rPr sz="4150" spc="70" dirty="0">
                <a:solidFill>
                  <a:srgbClr val="F03105"/>
                </a:solidFill>
                <a:latin typeface="Calibri"/>
                <a:cs typeface="Calibri"/>
              </a:rPr>
              <a:t>Dis†ribu†ion</a:t>
            </a:r>
            <a:endParaRPr sz="41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9469" y="1936947"/>
            <a:ext cx="7600950" cy="3354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315" indent="-340995">
              <a:lnSpc>
                <a:spcPts val="2420"/>
              </a:lnSpc>
              <a:spcBef>
                <a:spcPts val="100"/>
              </a:spcBef>
              <a:buChar char="•"/>
              <a:tabLst>
                <a:tab pos="361315" algn="l"/>
              </a:tabLst>
            </a:pPr>
            <a:r>
              <a:rPr sz="2050" spc="-45" dirty="0">
                <a:latin typeface="Times New Roman"/>
                <a:cs typeface="Times New Roman"/>
              </a:rPr>
              <a:t>P2P</a:t>
            </a:r>
            <a:r>
              <a:rPr sz="2050" spc="-10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can</a:t>
            </a:r>
            <a:r>
              <a:rPr sz="2050" spc="-1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also</a:t>
            </a:r>
            <a:r>
              <a:rPr sz="2050" spc="-9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be</a:t>
            </a:r>
            <a:r>
              <a:rPr sz="2050" spc="-20" dirty="0">
                <a:latin typeface="Times New Roman"/>
                <a:cs typeface="Times New Roman"/>
              </a:rPr>
              <a:t> </a:t>
            </a:r>
            <a:r>
              <a:rPr sz="2050" spc="-65" dirty="0">
                <a:latin typeface="Times New Roman"/>
                <a:cs typeface="Times New Roman"/>
              </a:rPr>
              <a:t>used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for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the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35" dirty="0">
                <a:latin typeface="Times New Roman"/>
                <a:cs typeface="Times New Roman"/>
              </a:rPr>
              <a:t>distribution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of</a:t>
            </a:r>
            <a:r>
              <a:rPr sz="2050" spc="-35" dirty="0">
                <a:latin typeface="Times New Roman"/>
                <a:cs typeface="Times New Roman"/>
              </a:rPr>
              <a:t> </a:t>
            </a:r>
            <a:r>
              <a:rPr sz="2050" spc="-40" dirty="0">
                <a:latin typeface="Times New Roman"/>
                <a:cs typeface="Times New Roman"/>
              </a:rPr>
              <a:t>information</a:t>
            </a:r>
            <a:r>
              <a:rPr sz="2050" spc="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oi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files</a:t>
            </a:r>
            <a:endParaRPr sz="2050">
              <a:latin typeface="Times New Roman"/>
              <a:cs typeface="Times New Roman"/>
            </a:endParaRPr>
          </a:p>
          <a:p>
            <a:pPr marL="474345">
              <a:lnSpc>
                <a:spcPts val="2165"/>
              </a:lnSpc>
              <a:tabLst>
                <a:tab pos="755650" algn="l"/>
              </a:tabLst>
            </a:pPr>
            <a:r>
              <a:rPr sz="1850" spc="-965" dirty="0">
                <a:solidFill>
                  <a:srgbClr val="707070"/>
                </a:solidFill>
                <a:latin typeface="Times New Roman"/>
                <a:cs typeface="Times New Roman"/>
              </a:rPr>
              <a:t>—</a:t>
            </a:r>
            <a:r>
              <a:rPr sz="1850" dirty="0">
                <a:solidFill>
                  <a:srgbClr val="707070"/>
                </a:solidFill>
                <a:latin typeface="Times New Roman"/>
                <a:cs typeface="Times New Roman"/>
              </a:rPr>
              <a:t>	</a:t>
            </a:r>
            <a:r>
              <a:rPr sz="1850" spc="-25" dirty="0">
                <a:solidFill>
                  <a:srgbClr val="161616"/>
                </a:solidFill>
                <a:latin typeface="Times New Roman"/>
                <a:cs typeface="Times New Roman"/>
              </a:rPr>
              <a:t>sometimes</a:t>
            </a:r>
            <a:r>
              <a:rPr sz="1850" spc="-6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0E0E0E"/>
                </a:solidFill>
                <a:latin typeface="Times New Roman"/>
                <a:cs typeface="Times New Roman"/>
              </a:rPr>
              <a:t>called</a:t>
            </a:r>
            <a:r>
              <a:rPr sz="1850" spc="-75" dirty="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70138"/>
                </a:solidFill>
                <a:latin typeface="Times New Roman"/>
                <a:cs typeface="Times New Roman"/>
              </a:rPr>
              <a:t>ESD</a:t>
            </a:r>
            <a:r>
              <a:rPr sz="1850" spc="-40" dirty="0">
                <a:solidFill>
                  <a:srgbClr val="070138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75728E"/>
                </a:solidFill>
                <a:latin typeface="Times New Roman"/>
                <a:cs typeface="Times New Roman"/>
              </a:rPr>
              <a:t>-</a:t>
            </a:r>
            <a:r>
              <a:rPr sz="1850" spc="-114" dirty="0">
                <a:solidFill>
                  <a:srgbClr val="75728E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111111"/>
                </a:solidFill>
                <a:latin typeface="Times New Roman"/>
                <a:cs typeface="Times New Roman"/>
              </a:rPr>
              <a:t>electronic</a:t>
            </a:r>
            <a:r>
              <a:rPr sz="1850" spc="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111111"/>
                </a:solidFill>
                <a:latin typeface="Times New Roman"/>
                <a:cs typeface="Times New Roman"/>
              </a:rPr>
              <a:t>software</a:t>
            </a:r>
            <a:r>
              <a:rPr sz="1850" spc="-3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161616"/>
                </a:solidFill>
                <a:latin typeface="Times New Roman"/>
                <a:cs typeface="Times New Roman"/>
              </a:rPr>
              <a:t>di.stribution</a:t>
            </a:r>
            <a:endParaRPr sz="1850">
              <a:latin typeface="Times New Roman"/>
              <a:cs typeface="Times New Roman"/>
            </a:endParaRPr>
          </a:p>
          <a:p>
            <a:pPr marL="356235" marR="487045" indent="-335915">
              <a:lnSpc>
                <a:spcPct val="77200"/>
              </a:lnSpc>
              <a:spcBef>
                <a:spcPts val="545"/>
              </a:spcBef>
              <a:buChar char="•"/>
              <a:tabLst>
                <a:tab pos="356235" algn="l"/>
                <a:tab pos="358775" algn="l"/>
              </a:tabLst>
            </a:pP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-30" dirty="0">
                <a:latin typeface="Times New Roman"/>
                <a:cs typeface="Times New Roman"/>
              </a:rPr>
              <a:t>Instead</a:t>
            </a:r>
            <a:r>
              <a:rPr sz="2050" spc="-10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of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spc="-30" dirty="0">
                <a:latin typeface="Times New Roman"/>
                <a:cs typeface="Times New Roman"/>
              </a:rPr>
              <a:t>having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-125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central</a:t>
            </a:r>
            <a:r>
              <a:rPr sz="2050" spc="-1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source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that</a:t>
            </a:r>
            <a:r>
              <a:rPr sz="2050" spc="-9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emits</a:t>
            </a:r>
            <a:r>
              <a:rPr sz="2050" spc="-3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files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spc="-45" dirty="0">
                <a:latin typeface="Times New Roman"/>
                <a:cs typeface="Times New Roman"/>
              </a:rPr>
              <a:t>the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spc="-35" dirty="0">
                <a:latin typeface="Times New Roman"/>
                <a:cs typeface="Times New Roman"/>
              </a:rPr>
              <a:t>destinatiofl computers</a:t>
            </a:r>
            <a:r>
              <a:rPr sz="2050" spc="-95" dirty="0">
                <a:latin typeface="Times New Roman"/>
                <a:cs typeface="Times New Roman"/>
              </a:rPr>
              <a:t> </a:t>
            </a:r>
            <a:r>
              <a:rPr sz="2050" spc="-35" dirty="0">
                <a:latin typeface="Times New Roman"/>
                <a:cs typeface="Times New Roman"/>
              </a:rPr>
              <a:t>directly,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-100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P2P</a:t>
            </a:r>
            <a:r>
              <a:rPr sz="2050" spc="-110" dirty="0">
                <a:latin typeface="Times New Roman"/>
                <a:cs typeface="Times New Roman"/>
              </a:rPr>
              <a:t> </a:t>
            </a:r>
            <a:r>
              <a:rPr sz="2050" spc="-35" dirty="0">
                <a:latin typeface="Times New Roman"/>
                <a:cs typeface="Times New Roman"/>
              </a:rPr>
              <a:t>network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spc="-40" dirty="0">
                <a:latin typeface="Times New Roman"/>
                <a:cs typeface="Times New Roman"/>
              </a:rPr>
              <a:t>may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spc="-35" dirty="0">
                <a:latin typeface="Times New Roman"/>
                <a:cs typeface="Times New Roman"/>
              </a:rPr>
              <a:t>disseminate </a:t>
            </a:r>
            <a:r>
              <a:rPr sz="2050" dirty="0">
                <a:latin typeface="Times New Roman"/>
                <a:cs typeface="Times New Roman"/>
              </a:rPr>
              <a:t>files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while </a:t>
            </a:r>
            <a:r>
              <a:rPr sz="2050" spc="-25" dirty="0">
                <a:latin typeface="Times New Roman"/>
                <a:cs typeface="Times New Roman"/>
              </a:rPr>
              <a:t>avoiding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hot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35" dirty="0">
                <a:latin typeface="Times New Roman"/>
                <a:cs typeface="Times New Roman"/>
              </a:rPr>
              <a:t>spots</a:t>
            </a:r>
            <a:r>
              <a:rPr sz="2050" spc="-9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in</a:t>
            </a:r>
            <a:r>
              <a:rPr sz="2050" spc="-8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network</a:t>
            </a:r>
            <a:endParaRPr sz="2050">
              <a:latin typeface="Times New Roman"/>
              <a:cs typeface="Times New Roman"/>
            </a:endParaRPr>
          </a:p>
          <a:p>
            <a:pPr marL="356870" marR="962025" indent="-336550">
              <a:lnSpc>
                <a:spcPts val="1970"/>
              </a:lnSpc>
              <a:spcBef>
                <a:spcPts val="405"/>
              </a:spcBef>
              <a:buChar char="•"/>
              <a:tabLst>
                <a:tab pos="356870" algn="l"/>
              </a:tabLst>
            </a:pP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-105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load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(i,e.,</a:t>
            </a:r>
            <a:r>
              <a:rPr sz="2050" spc="-8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2050" spc="-40" dirty="0">
                <a:latin typeface="Times New Roman"/>
                <a:cs typeface="Times New Roman"/>
              </a:rPr>
              <a:t>bandwidth,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CPU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spc="-45" dirty="0">
                <a:latin typeface="Times New Roman"/>
                <a:cs typeface="Times New Roman"/>
              </a:rPr>
              <a:t>power,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2050" spc="-40" dirty="0">
                <a:latin typeface="Times New Roman"/>
                <a:cs typeface="Times New Roman"/>
              </a:rPr>
              <a:t>throughput,</a:t>
            </a:r>
            <a:r>
              <a:rPr sz="2050" spc="-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etc.)</a:t>
            </a:r>
            <a:r>
              <a:rPr sz="2050" spc="-114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is </a:t>
            </a:r>
            <a:r>
              <a:rPr sz="2050" spc="-30" dirty="0">
                <a:latin typeface="Times New Roman"/>
                <a:cs typeface="Times New Roman"/>
              </a:rPr>
              <a:t>distributed</a:t>
            </a:r>
            <a:r>
              <a:rPr sz="2050" spc="-8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over</a:t>
            </a:r>
            <a:r>
              <a:rPr sz="2050" spc="-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spc="-30" dirty="0">
                <a:latin typeface="Times New Roman"/>
                <a:cs typeface="Times New Roman"/>
              </a:rPr>
              <a:t>whole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network</a:t>
            </a:r>
            <a:endParaRPr sz="2050">
              <a:latin typeface="Times New Roman"/>
              <a:cs typeface="Times New Roman"/>
            </a:endParaRPr>
          </a:p>
          <a:p>
            <a:pPr marL="357505" marR="5080" indent="-337185">
              <a:lnSpc>
                <a:spcPct val="77200"/>
              </a:lnSpc>
              <a:spcBef>
                <a:spcPts val="505"/>
              </a:spcBef>
              <a:buChar char="•"/>
              <a:tabLst>
                <a:tab pos="357505" algn="l"/>
              </a:tabLst>
            </a:pPr>
            <a:r>
              <a:rPr sz="2050" spc="-30" dirty="0">
                <a:latin typeface="Times New Roman"/>
                <a:cs typeface="Times New Roman"/>
              </a:rPr>
              <a:t>This</a:t>
            </a:r>
            <a:r>
              <a:rPr sz="2050" spc="-10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concept</a:t>
            </a:r>
            <a:r>
              <a:rPr sz="2050" spc="-8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-85" dirty="0">
                <a:latin typeface="Times New Roman"/>
                <a:cs typeface="Times New Roman"/>
              </a:rPr>
              <a:t> </a:t>
            </a:r>
            <a:r>
              <a:rPr sz="2050" spc="-35" dirty="0">
                <a:latin typeface="Times New Roman"/>
                <a:cs typeface="Times New Roman"/>
              </a:rPr>
              <a:t>successfully</a:t>
            </a:r>
            <a:r>
              <a:rPr sz="2050" spc="75" dirty="0">
                <a:latin typeface="Times New Roman"/>
                <a:cs typeface="Times New Roman"/>
              </a:rPr>
              <a:t> </a:t>
            </a:r>
            <a:r>
              <a:rPr sz="2050" spc="-35" dirty="0">
                <a:latin typeface="Times New Roman"/>
                <a:cs typeface="Times New Roman"/>
              </a:rPr>
              <a:t>used,</a:t>
            </a:r>
            <a:r>
              <a:rPr sz="2050" spc="-9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for</a:t>
            </a:r>
            <a:r>
              <a:rPr sz="2050" spc="-13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example,</a:t>
            </a:r>
            <a:r>
              <a:rPr sz="2050" spc="-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by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Intel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where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software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-130" dirty="0">
                <a:latin typeface="Times New Roman"/>
                <a:cs typeface="Times New Roman"/>
              </a:rPr>
              <a:t> </a:t>
            </a:r>
            <a:r>
              <a:rPr sz="2050" spc="-30" dirty="0">
                <a:latin typeface="Times New Roman"/>
                <a:cs typeface="Times New Roman"/>
              </a:rPr>
              <a:t>distributed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40" dirty="0">
                <a:latin typeface="Times New Roman"/>
                <a:cs typeface="Times New Roman"/>
              </a:rPr>
              <a:t>international</a:t>
            </a:r>
            <a:r>
              <a:rPr sz="2050" spc="155" dirty="0">
                <a:latin typeface="Times New Roman"/>
                <a:cs typeface="Times New Roman"/>
              </a:rPr>
              <a:t> </a:t>
            </a:r>
            <a:r>
              <a:rPr sz="2050" spc="-40" dirty="0">
                <a:latin typeface="Times New Roman"/>
                <a:cs typeface="Times New Roman"/>
              </a:rPr>
              <a:t>branches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in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2050" spc="-45" dirty="0">
                <a:latin typeface="Times New Roman"/>
                <a:cs typeface="Times New Roman"/>
              </a:rPr>
              <a:t>P2P</a:t>
            </a:r>
            <a:r>
              <a:rPr sz="2050" spc="-13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style</a:t>
            </a:r>
            <a:endParaRPr sz="2050">
              <a:latin typeface="Times New Roman"/>
              <a:cs typeface="Times New Roman"/>
            </a:endParaRPr>
          </a:p>
          <a:p>
            <a:pPr marL="357505" indent="-337185">
              <a:lnSpc>
                <a:spcPts val="2390"/>
              </a:lnSpc>
              <a:buChar char="•"/>
              <a:tabLst>
                <a:tab pos="357505" algn="l"/>
              </a:tabLst>
            </a:pPr>
            <a:r>
              <a:rPr sz="2050" spc="-20" dirty="0">
                <a:latin typeface="Times New Roman"/>
                <a:cs typeface="Times New Roman"/>
              </a:rPr>
              <a:t>This</a:t>
            </a:r>
            <a:r>
              <a:rPr sz="2050" spc="-110" dirty="0">
                <a:latin typeface="Times New Roman"/>
                <a:cs typeface="Times New Roman"/>
              </a:rPr>
              <a:t> </a:t>
            </a:r>
            <a:r>
              <a:rPr sz="2050" spc="-35" dirty="0">
                <a:latin typeface="Times New Roman"/>
                <a:cs typeface="Times New Roman"/>
              </a:rPr>
              <a:t>system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can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spc="-35" dirty="0">
                <a:latin typeface="Times New Roman"/>
                <a:cs typeface="Times New Roman"/>
              </a:rPr>
              <a:t>be</a:t>
            </a:r>
            <a:r>
              <a:rPr sz="2050" spc="-95" dirty="0">
                <a:latin typeface="Times New Roman"/>
                <a:cs typeface="Times New Roman"/>
              </a:rPr>
              <a:t> </a:t>
            </a:r>
            <a:r>
              <a:rPr sz="2050" spc="-35" dirty="0">
                <a:latin typeface="Times New Roman"/>
                <a:cs typeface="Times New Roman"/>
              </a:rPr>
              <a:t>compared</a:t>
            </a:r>
            <a:r>
              <a:rPr sz="2050" spc="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-10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spc="-50" dirty="0">
                <a:latin typeface="Times New Roman"/>
                <a:cs typeface="Times New Roman"/>
              </a:rPr>
              <a:t>push</a:t>
            </a:r>
            <a:r>
              <a:rPr sz="2050" spc="-3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system</a:t>
            </a:r>
            <a:endParaRPr sz="2050">
              <a:latin typeface="Times New Roman"/>
              <a:cs typeface="Times New Roman"/>
            </a:endParaRPr>
          </a:p>
          <a:p>
            <a:pPr marL="358140" marR="145415" indent="-346075">
              <a:lnSpc>
                <a:spcPts val="1970"/>
              </a:lnSpc>
              <a:spcBef>
                <a:spcPts val="405"/>
              </a:spcBef>
              <a:buChar char="•"/>
              <a:tabLst>
                <a:tab pos="361950" algn="l"/>
              </a:tabLst>
            </a:pPr>
            <a:r>
              <a:rPr sz="1950" dirty="0">
                <a:latin typeface="Times New Roman"/>
                <a:cs typeface="Times New Roman"/>
              </a:rPr>
              <a:t>The</a:t>
            </a:r>
            <a:r>
              <a:rPr sz="1950" spc="7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advantage</a:t>
            </a:r>
            <a:r>
              <a:rPr sz="1950" spc="12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is</a:t>
            </a:r>
            <a:r>
              <a:rPr sz="1950" spc="8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that</a:t>
            </a:r>
            <a:r>
              <a:rPr sz="1950" spc="7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there</a:t>
            </a:r>
            <a:r>
              <a:rPr sz="1950" spc="4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is</a:t>
            </a:r>
            <a:r>
              <a:rPr sz="1950" spc="9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ne</a:t>
            </a:r>
            <a:r>
              <a:rPr sz="1950" spc="12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need</a:t>
            </a:r>
            <a:r>
              <a:rPr sz="1950" spc="17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for</a:t>
            </a:r>
            <a:r>
              <a:rPr sz="1950" spc="6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</a:t>
            </a:r>
            <a:r>
              <a:rPr sz="1950" spc="2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fixed</a:t>
            </a:r>
            <a:r>
              <a:rPr sz="1950" spc="11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environment</a:t>
            </a:r>
            <a:r>
              <a:rPr sz="1950" spc="11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ef</a:t>
            </a:r>
            <a:r>
              <a:rPr sz="1950" spc="190" dirty="0">
                <a:latin typeface="Times New Roman"/>
                <a:cs typeface="Times New Roman"/>
              </a:rPr>
              <a:t> </a:t>
            </a:r>
            <a:r>
              <a:rPr sz="1950" spc="-20" dirty="0">
                <a:latin typeface="Times New Roman"/>
                <a:cs typeface="Times New Roman"/>
              </a:rPr>
              <a:t>push 	</a:t>
            </a:r>
            <a:r>
              <a:rPr sz="1950" dirty="0">
                <a:latin typeface="Times New Roman"/>
                <a:cs typeface="Times New Roman"/>
              </a:rPr>
              <a:t>server</a:t>
            </a:r>
            <a:r>
              <a:rPr sz="1950" spc="10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and</a:t>
            </a:r>
            <a:r>
              <a:rPr sz="1950" spc="7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proxies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100" rIns="0" bIns="0" rtlCol="0">
            <a:spAutoFit/>
          </a:bodyPr>
          <a:lstStyle/>
          <a:p>
            <a:pPr marL="2361565">
              <a:lnSpc>
                <a:spcPct val="100000"/>
              </a:lnSpc>
              <a:spcBef>
                <a:spcPts val="135"/>
              </a:spcBef>
            </a:pPr>
            <a:r>
              <a:rPr sz="4600" spc="-55" dirty="0">
                <a:solidFill>
                  <a:srgbClr val="FF3105"/>
                </a:solidFill>
              </a:rPr>
              <a:t>Viddlewore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759128" y="1943149"/>
            <a:ext cx="7397750" cy="331851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6870" marR="12065" indent="-335915">
              <a:lnSpc>
                <a:spcPct val="79100"/>
              </a:lnSpc>
              <a:spcBef>
                <a:spcPts val="600"/>
              </a:spcBef>
              <a:buChar char="•"/>
              <a:tabLst>
                <a:tab pos="356870" algn="l"/>
                <a:tab pos="358140" algn="l"/>
              </a:tabLst>
            </a:pPr>
            <a:r>
              <a:rPr sz="2000" dirty="0">
                <a:latin typeface="Times New Roman"/>
                <a:cs typeface="Times New Roman"/>
              </a:rPr>
              <a:t>	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most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demanding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use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case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P2P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 is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50" dirty="0">
                <a:latin typeface="Times New Roman"/>
                <a:cs typeface="Times New Roman"/>
              </a:rPr>
              <a:t> a </a:t>
            </a:r>
            <a:r>
              <a:rPr sz="2000" dirty="0">
                <a:latin typeface="Times New Roman"/>
                <a:cs typeface="Times New Roman"/>
              </a:rPr>
              <a:t>middleware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platform.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P2P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middleware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provide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such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distributed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search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discovery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higher-</a:t>
            </a:r>
            <a:r>
              <a:rPr sz="2000" dirty="0">
                <a:latin typeface="Times New Roman"/>
                <a:cs typeface="Times New Roman"/>
              </a:rPr>
              <a:t>level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applications</a:t>
            </a:r>
            <a:endParaRPr sz="2000">
              <a:latin typeface="Times New Roman"/>
              <a:cs typeface="Times New Roman"/>
            </a:endParaRPr>
          </a:p>
          <a:p>
            <a:pPr marL="361315" indent="-340360">
              <a:lnSpc>
                <a:spcPts val="2125"/>
              </a:lnSpc>
              <a:buChar char="•"/>
              <a:tabLst>
                <a:tab pos="361315" algn="l"/>
              </a:tabLst>
            </a:pPr>
            <a:r>
              <a:rPr sz="2050" spc="-40" dirty="0">
                <a:latin typeface="Times New Roman"/>
                <a:cs typeface="Times New Roman"/>
              </a:rPr>
              <a:t>Different</a:t>
            </a:r>
            <a:r>
              <a:rPr sz="2050" spc="-90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kind</a:t>
            </a:r>
            <a:r>
              <a:rPr sz="2050" spc="-10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of</a:t>
            </a:r>
            <a:r>
              <a:rPr sz="2050" spc="-35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P2P</a:t>
            </a:r>
            <a:r>
              <a:rPr sz="2050" spc="-100" dirty="0">
                <a:latin typeface="Times New Roman"/>
                <a:cs typeface="Times New Roman"/>
              </a:rPr>
              <a:t> </a:t>
            </a:r>
            <a:r>
              <a:rPr sz="2050" spc="-35" dirty="0">
                <a:latin typeface="Times New Roman"/>
                <a:cs typeface="Times New Roman"/>
              </a:rPr>
              <a:t>systems</a:t>
            </a:r>
            <a:r>
              <a:rPr sz="205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have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-12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limited</a:t>
            </a:r>
            <a:r>
              <a:rPr sz="2050" spc="-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set</a:t>
            </a:r>
            <a:r>
              <a:rPr sz="2050" spc="-10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of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application</a:t>
            </a:r>
            <a:endParaRPr sz="2050">
              <a:latin typeface="Times New Roman"/>
              <a:cs typeface="Times New Roman"/>
            </a:endParaRPr>
          </a:p>
          <a:p>
            <a:pPr marL="356870">
              <a:lnSpc>
                <a:spcPts val="2245"/>
              </a:lnSpc>
            </a:pPr>
            <a:r>
              <a:rPr sz="2150" spc="-10" dirty="0">
                <a:latin typeface="Times New Roman"/>
                <a:cs typeface="Times New Roman"/>
              </a:rPr>
              <a:t>domains</a:t>
            </a:r>
            <a:endParaRPr sz="2150">
              <a:latin typeface="Times New Roman"/>
              <a:cs typeface="Times New Roman"/>
            </a:endParaRPr>
          </a:p>
          <a:p>
            <a:pPr marL="361315" marR="5080" indent="-340360">
              <a:lnSpc>
                <a:spcPct val="79100"/>
              </a:lnSpc>
              <a:spcBef>
                <a:spcPts val="484"/>
              </a:spcBef>
              <a:buChar char="•"/>
              <a:tabLst>
                <a:tab pos="365125" algn="l"/>
              </a:tabLst>
            </a:pPr>
            <a:r>
              <a:rPr sz="2000" dirty="0">
                <a:latin typeface="Times New Roman"/>
                <a:cs typeface="Times New Roman"/>
              </a:rPr>
              <a:t>Depending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structure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topology)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P2P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network,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various 	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cases may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become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feasible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impossible</a:t>
            </a:r>
            <a:endParaRPr sz="2000">
              <a:latin typeface="Times New Roman"/>
              <a:cs typeface="Times New Roman"/>
            </a:endParaRPr>
          </a:p>
          <a:p>
            <a:pPr marL="359410" marR="460375" indent="-338455">
              <a:lnSpc>
                <a:spcPts val="1970"/>
              </a:lnSpc>
              <a:spcBef>
                <a:spcPts val="415"/>
              </a:spcBef>
              <a:buChar char="•"/>
              <a:tabLst>
                <a:tab pos="366395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P2P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needed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middleware,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turns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latin typeface="Times New Roman"/>
                <a:cs typeface="Times New Roman"/>
              </a:rPr>
              <a:t>balance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P2P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best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fits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requirements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ts val="2385"/>
              </a:lnSpc>
              <a:buChar char="•"/>
              <a:tabLst>
                <a:tab pos="356870" algn="l"/>
              </a:tabLst>
            </a:pP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few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P2P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P2P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middleware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platform:</a:t>
            </a:r>
            <a:endParaRPr sz="2000">
              <a:latin typeface="Times New Roman"/>
              <a:cs typeface="Times New Roman"/>
            </a:endParaRPr>
          </a:p>
          <a:p>
            <a:pPr marL="762635" lvl="1" indent="-287655">
              <a:lnSpc>
                <a:spcPts val="2135"/>
              </a:lnSpc>
              <a:buClr>
                <a:srgbClr val="757575"/>
              </a:buClr>
              <a:buChar char="—"/>
              <a:tabLst>
                <a:tab pos="762635" algn="l"/>
              </a:tabLst>
            </a:pPr>
            <a:r>
              <a:rPr sz="1800" spc="-20" dirty="0">
                <a:solidFill>
                  <a:srgbClr val="67647C"/>
                </a:solidFill>
                <a:latin typeface="Times New Roman"/>
                <a:cs typeface="Times New Roman"/>
              </a:rPr>
              <a:t>JXTA</a:t>
            </a:r>
            <a:endParaRPr sz="1800">
              <a:latin typeface="Times New Roman"/>
              <a:cs typeface="Times New Roman"/>
            </a:endParaRPr>
          </a:p>
          <a:p>
            <a:pPr marL="759460" lvl="1" indent="-284480">
              <a:lnSpc>
                <a:spcPts val="2205"/>
              </a:lnSpc>
              <a:buClr>
                <a:srgbClr val="424242"/>
              </a:buClr>
              <a:buChar char="—"/>
              <a:tabLst>
                <a:tab pos="759460" algn="l"/>
              </a:tabLst>
            </a:pPr>
            <a:r>
              <a:rPr sz="1850" spc="-10" dirty="0">
                <a:solidFill>
                  <a:srgbClr val="1A1A1A"/>
                </a:solidFill>
                <a:latin typeface="Times New Roman"/>
                <a:cs typeface="Times New Roman"/>
              </a:rPr>
              <a:t>Omnix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75735" y="419695"/>
            <a:ext cx="1526976" cy="357187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30773" y="955476"/>
            <a:ext cx="875109" cy="48220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38083" y="180690"/>
            <a:ext cx="5026025" cy="12172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3950" spc="114" dirty="0">
                <a:solidFill>
                  <a:srgbClr val="E8380E"/>
                </a:solidFill>
                <a:latin typeface="Calibri"/>
                <a:cs typeface="Calibri"/>
              </a:rPr>
              <a:t>Port</a:t>
            </a:r>
            <a:r>
              <a:rPr sz="3950" spc="215" dirty="0">
                <a:solidFill>
                  <a:srgbClr val="E8380E"/>
                </a:solidFill>
                <a:latin typeface="Calibri"/>
                <a:cs typeface="Calibri"/>
              </a:rPr>
              <a:t> </a:t>
            </a:r>
            <a:r>
              <a:rPr sz="3950" dirty="0">
                <a:solidFill>
                  <a:srgbClr val="E8360C"/>
                </a:solidFill>
                <a:latin typeface="Calibri"/>
                <a:cs typeface="Calibri"/>
              </a:rPr>
              <a:t>Numbers</a:t>
            </a:r>
            <a:r>
              <a:rPr sz="3950" spc="515" dirty="0">
                <a:solidFill>
                  <a:srgbClr val="E8360C"/>
                </a:solidFill>
                <a:latin typeface="Calibri"/>
                <a:cs typeface="Calibri"/>
              </a:rPr>
              <a:t> </a:t>
            </a:r>
            <a:r>
              <a:rPr sz="3950" spc="75" dirty="0">
                <a:solidFill>
                  <a:srgbClr val="D64411"/>
                </a:solidFill>
                <a:latin typeface="Calibri"/>
                <a:cs typeface="Calibri"/>
              </a:rPr>
              <a:t>Used</a:t>
            </a:r>
            <a:endParaRPr sz="395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459"/>
              </a:spcBef>
            </a:pPr>
            <a:r>
              <a:rPr sz="3000" spc="60" dirty="0">
                <a:solidFill>
                  <a:srgbClr val="D34623"/>
                </a:solidFill>
                <a:latin typeface="Calibri"/>
                <a:cs typeface="Calibri"/>
              </a:rPr>
              <a:t>ÎCQÈÎO</a:t>
            </a:r>
            <a:r>
              <a:rPr sz="4500" spc="89" baseline="-1851" dirty="0">
                <a:solidFill>
                  <a:srgbClr val="D34623"/>
                </a:solidFill>
                <a:latin typeface="Calibri"/>
                <a:cs typeface="Calibri"/>
              </a:rPr>
              <a:t>RS</a:t>
            </a:r>
            <a:endParaRPr sz="4500" baseline="-1851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3872" y="1917600"/>
            <a:ext cx="1911350" cy="36258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indent="5715">
              <a:lnSpc>
                <a:spcPct val="89400"/>
              </a:lnSpc>
              <a:spcBef>
                <a:spcPts val="390"/>
              </a:spcBef>
            </a:pPr>
            <a:r>
              <a:rPr sz="2350" dirty="0">
                <a:latin typeface="Times New Roman"/>
                <a:cs typeface="Times New Roman"/>
              </a:rPr>
              <a:t>P2P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application </a:t>
            </a:r>
            <a:r>
              <a:rPr sz="2400" spc="-10" dirty="0">
                <a:latin typeface="Times New Roman"/>
                <a:cs typeface="Times New Roman"/>
              </a:rPr>
              <a:t>Bittorrent </a:t>
            </a:r>
            <a:r>
              <a:rPr sz="2350" spc="-10" dirty="0">
                <a:latin typeface="Times New Roman"/>
                <a:cs typeface="Times New Roman"/>
              </a:rPr>
              <a:t>edonkey </a:t>
            </a:r>
            <a:r>
              <a:rPr sz="2400" spc="-10" dirty="0">
                <a:latin typeface="Times New Roman"/>
                <a:cs typeface="Times New Roman"/>
              </a:rPr>
              <a:t>Guutella </a:t>
            </a:r>
            <a:r>
              <a:rPr sz="2350" spc="-10" dirty="0">
                <a:latin typeface="Times New Roman"/>
                <a:cs typeface="Times New Roman"/>
              </a:rPr>
              <a:t>Morpheus</a:t>
            </a:r>
            <a:endParaRPr sz="2350">
              <a:latin typeface="Times New Roman"/>
              <a:cs typeface="Times New Roman"/>
            </a:endParaRPr>
          </a:p>
          <a:p>
            <a:pPr marL="18415">
              <a:lnSpc>
                <a:spcPts val="2375"/>
              </a:lnSpc>
            </a:pPr>
            <a:r>
              <a:rPr sz="2350" spc="-10" dirty="0">
                <a:latin typeface="Times New Roman"/>
                <a:cs typeface="Times New Roman"/>
              </a:rPr>
              <a:t>Kazaa</a:t>
            </a:r>
            <a:endParaRPr sz="2350">
              <a:latin typeface="Times New Roman"/>
              <a:cs typeface="Times New Roman"/>
            </a:endParaRPr>
          </a:p>
          <a:p>
            <a:pPr marL="17145" marR="722630">
              <a:lnSpc>
                <a:spcPct val="91200"/>
              </a:lnSpc>
              <a:spcBef>
                <a:spcPts val="160"/>
              </a:spcBef>
            </a:pPr>
            <a:r>
              <a:rPr sz="2300" spc="-10" dirty="0">
                <a:latin typeface="Times New Roman"/>
                <a:cs typeface="Times New Roman"/>
              </a:rPr>
              <a:t>EMule </a:t>
            </a:r>
            <a:r>
              <a:rPr sz="2200" spc="-10" dirty="0">
                <a:solidFill>
                  <a:srgbClr val="1A1A1A"/>
                </a:solidFill>
                <a:latin typeface="Times New Roman"/>
                <a:cs typeface="Times New Roman"/>
              </a:rPr>
              <a:t>WinMx </a:t>
            </a:r>
            <a:r>
              <a:rPr sz="2400" spc="-30" dirty="0">
                <a:latin typeface="Times New Roman"/>
                <a:cs typeface="Times New Roman"/>
              </a:rPr>
              <a:t>Limewire </a:t>
            </a:r>
            <a:r>
              <a:rPr sz="2400" spc="-10" dirty="0">
                <a:latin typeface="Times New Roman"/>
                <a:cs typeface="Times New Roman"/>
              </a:rPr>
              <a:t>Napster </a:t>
            </a:r>
            <a:r>
              <a:rPr sz="2400" spc="-105" dirty="0">
                <a:latin typeface="Times New Roman"/>
                <a:cs typeface="Times New Roman"/>
              </a:rPr>
              <a:t>BearShare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99842" y="1930002"/>
            <a:ext cx="5636260" cy="3609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58519">
              <a:lnSpc>
                <a:spcPts val="2640"/>
              </a:lnSpc>
              <a:spcBef>
                <a:spcPts val="95"/>
              </a:spcBef>
            </a:pPr>
            <a:r>
              <a:rPr sz="2250" spc="-10" dirty="0">
                <a:latin typeface="Times New Roman"/>
                <a:cs typeface="Times New Roman"/>
              </a:rPr>
              <a:t>Poi•t</a:t>
            </a:r>
            <a:endParaRPr sz="2250">
              <a:latin typeface="Times New Roman"/>
              <a:cs typeface="Times New Roman"/>
            </a:endParaRPr>
          </a:p>
          <a:p>
            <a:pPr marL="13970">
              <a:lnSpc>
                <a:spcPts val="2485"/>
              </a:lnSpc>
            </a:pPr>
            <a:r>
              <a:rPr sz="2200" dirty="0">
                <a:latin typeface="Times New Roman"/>
                <a:cs typeface="Times New Roman"/>
              </a:rPr>
              <a:t>default </a:t>
            </a:r>
            <a:r>
              <a:rPr sz="2200" spc="-20" dirty="0">
                <a:latin typeface="Times New Roman"/>
                <a:cs typeface="Times New Roman"/>
              </a:rPr>
              <a:t>6881-</a:t>
            </a:r>
            <a:r>
              <a:rPr sz="2200" dirty="0">
                <a:latin typeface="Times New Roman"/>
                <a:cs typeface="Times New Roman"/>
              </a:rPr>
              <a:t>6889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TCP/UDP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560"/>
              </a:lnSpc>
            </a:pPr>
            <a:r>
              <a:rPr sz="2250" dirty="0">
                <a:latin typeface="Times New Roman"/>
                <a:cs typeface="Times New Roman"/>
              </a:rPr>
              <a:t>fully</a:t>
            </a:r>
            <a:r>
              <a:rPr sz="2250" spc="-155" dirty="0">
                <a:latin typeface="Times New Roman"/>
                <a:cs typeface="Times New Roman"/>
              </a:rPr>
              <a:t> </a:t>
            </a:r>
            <a:r>
              <a:rPr sz="2250" spc="-20" dirty="0">
                <a:latin typeface="Times New Roman"/>
                <a:cs typeface="Times New Roman"/>
              </a:rPr>
              <a:t>configurable</a:t>
            </a:r>
            <a:r>
              <a:rPr sz="2250" spc="-120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default</a:t>
            </a:r>
            <a:r>
              <a:rPr sz="2250" spc="-50" dirty="0">
                <a:latin typeface="Times New Roman"/>
                <a:cs typeface="Times New Roman"/>
              </a:rPr>
              <a:t> </a:t>
            </a:r>
            <a:r>
              <a:rPr sz="2250" spc="-35" dirty="0">
                <a:latin typeface="Times New Roman"/>
                <a:cs typeface="Times New Roman"/>
              </a:rPr>
              <a:t>4662fTCP,</a:t>
            </a:r>
            <a:r>
              <a:rPr sz="2250" spc="5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5737/UDP</a:t>
            </a:r>
            <a:endParaRPr sz="2250">
              <a:latin typeface="Times New Roman"/>
              <a:cs typeface="Times New Roman"/>
            </a:endParaRPr>
          </a:p>
          <a:p>
            <a:pPr marL="13970" marR="2351405" algn="just">
              <a:lnSpc>
                <a:spcPct val="95000"/>
              </a:lnSpc>
              <a:spcBef>
                <a:spcPts val="90"/>
              </a:spcBef>
            </a:pPr>
            <a:r>
              <a:rPr sz="2200" dirty="0">
                <a:latin typeface="Times New Roman"/>
                <a:cs typeface="Times New Roman"/>
              </a:rPr>
              <a:t>default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6346/6347 </a:t>
            </a:r>
            <a:r>
              <a:rPr sz="2200" spc="-10" dirty="0">
                <a:latin typeface="Times New Roman"/>
                <a:cs typeface="Times New Roman"/>
              </a:rPr>
              <a:t>TCP/UDP </a:t>
            </a:r>
            <a:r>
              <a:rPr sz="2200" dirty="0">
                <a:latin typeface="Times New Roman"/>
                <a:cs typeface="Times New Roman"/>
              </a:rPr>
              <a:t>default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6346/6347 </a:t>
            </a:r>
            <a:r>
              <a:rPr sz="2200" spc="-10" dirty="0">
                <a:latin typeface="Times New Roman"/>
                <a:cs typeface="Times New Roman"/>
              </a:rPr>
              <a:t>TCP/UDP </a:t>
            </a:r>
            <a:r>
              <a:rPr sz="2250" spc="-10" dirty="0">
                <a:latin typeface="Times New Roman"/>
                <a:cs typeface="Times New Roman"/>
              </a:rPr>
              <a:t>default</a:t>
            </a:r>
            <a:r>
              <a:rPr sz="2250" spc="-40" dirty="0">
                <a:latin typeface="Times New Roman"/>
                <a:cs typeface="Times New Roman"/>
              </a:rPr>
              <a:t> </a:t>
            </a:r>
            <a:r>
              <a:rPr sz="2250" spc="-20" dirty="0">
                <a:latin typeface="Times New Roman"/>
                <a:cs typeface="Times New Roman"/>
              </a:rPr>
              <a:t>1214</a:t>
            </a:r>
            <a:r>
              <a:rPr sz="2250" spc="-120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TCP/UDP</a:t>
            </a:r>
            <a:endParaRPr sz="2250">
              <a:latin typeface="Times New Roman"/>
              <a:cs typeface="Times New Roman"/>
            </a:endParaRPr>
          </a:p>
          <a:p>
            <a:pPr marL="12700" marR="253365" algn="just">
              <a:lnSpc>
                <a:spcPts val="2600"/>
              </a:lnSpc>
              <a:spcBef>
                <a:spcPts val="70"/>
              </a:spcBef>
            </a:pPr>
            <a:r>
              <a:rPr sz="2300" spc="-25" dirty="0">
                <a:latin typeface="Times New Roman"/>
                <a:cs typeface="Times New Roman"/>
              </a:rPr>
              <a:t>fully</a:t>
            </a:r>
            <a:r>
              <a:rPr sz="2300" spc="-120" dirty="0">
                <a:latin typeface="Times New Roman"/>
                <a:cs typeface="Times New Roman"/>
              </a:rPr>
              <a:t> </a:t>
            </a:r>
            <a:r>
              <a:rPr sz="2300" spc="-45" dirty="0">
                <a:latin typeface="Times New Roman"/>
                <a:cs typeface="Times New Roman"/>
              </a:rPr>
              <a:t>configurable</a:t>
            </a:r>
            <a:r>
              <a:rPr sz="2300" spc="-100" dirty="0">
                <a:latin typeface="Times New Roman"/>
                <a:cs typeface="Times New Roman"/>
              </a:rPr>
              <a:t> </a:t>
            </a:r>
            <a:r>
              <a:rPr sz="2300" spc="-30" dirty="0">
                <a:latin typeface="Times New Roman"/>
                <a:cs typeface="Times New Roman"/>
              </a:rPr>
              <a:t>default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300" spc="-45" dirty="0">
                <a:latin typeface="Times New Roman"/>
                <a:cs typeface="Times New Roman"/>
              </a:rPr>
              <a:t>4662/TCP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-30" dirty="0">
                <a:latin typeface="Times New Roman"/>
                <a:cs typeface="Times New Roman"/>
              </a:rPr>
              <a:t>4672/UDP </a:t>
            </a:r>
            <a:r>
              <a:rPr sz="2300" spc="-25" dirty="0">
                <a:latin typeface="Times New Roman"/>
                <a:cs typeface="Times New Roman"/>
              </a:rPr>
              <a:t>fully</a:t>
            </a:r>
            <a:r>
              <a:rPr sz="2300" spc="-120" dirty="0">
                <a:latin typeface="Times New Roman"/>
                <a:cs typeface="Times New Roman"/>
              </a:rPr>
              <a:t> </a:t>
            </a:r>
            <a:r>
              <a:rPr sz="2300" spc="-35" dirty="0">
                <a:latin typeface="Times New Roman"/>
                <a:cs typeface="Times New Roman"/>
              </a:rPr>
              <a:t>coofipmable</a:t>
            </a:r>
            <a:r>
              <a:rPr sz="2300" spc="-110" dirty="0">
                <a:latin typeface="Times New Roman"/>
                <a:cs typeface="Times New Roman"/>
              </a:rPr>
              <a:t> </a:t>
            </a:r>
            <a:r>
              <a:rPr sz="2300" spc="-30" dirty="0">
                <a:latin typeface="Times New Roman"/>
                <a:cs typeface="Times New Roman"/>
              </a:rPr>
              <a:t>default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spc="-45" dirty="0">
                <a:latin typeface="Times New Roman"/>
                <a:cs typeface="Times New Roman"/>
              </a:rPr>
              <a:t>6699/TCP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spc="-35" dirty="0">
                <a:latin typeface="Times New Roman"/>
                <a:cs typeface="Times New Roman"/>
              </a:rPr>
              <a:t>6257/UDP </a:t>
            </a:r>
            <a:r>
              <a:rPr sz="2250" spc="-25" dirty="0">
                <a:latin typeface="Times New Roman"/>
                <a:cs typeface="Times New Roman"/>
              </a:rPr>
              <a:t>default</a:t>
            </a:r>
            <a:r>
              <a:rPr sz="2250" spc="-75" dirty="0">
                <a:latin typeface="Times New Roman"/>
                <a:cs typeface="Times New Roman"/>
              </a:rPr>
              <a:t> </a:t>
            </a:r>
            <a:r>
              <a:rPr sz="2250" spc="-20" dirty="0">
                <a:latin typeface="Times New Roman"/>
                <a:cs typeface="Times New Roman"/>
              </a:rPr>
              <a:t>6346/6347</a:t>
            </a:r>
            <a:r>
              <a:rPr sz="2250" spc="10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TCP/UDP</a:t>
            </a:r>
            <a:endParaRPr sz="2250">
              <a:latin typeface="Times New Roman"/>
              <a:cs typeface="Times New Roman"/>
            </a:endParaRPr>
          </a:p>
          <a:p>
            <a:pPr marL="13335" algn="just">
              <a:lnSpc>
                <a:spcPts val="2350"/>
              </a:lnSpc>
            </a:pPr>
            <a:r>
              <a:rPr sz="2300" spc="-25" dirty="0">
                <a:latin typeface="Times New Roman"/>
                <a:cs typeface="Times New Roman"/>
              </a:rPr>
              <a:t>client</a:t>
            </a:r>
            <a:r>
              <a:rPr sz="2300" spc="-120" dirty="0">
                <a:latin typeface="Times New Roman"/>
                <a:cs typeface="Times New Roman"/>
              </a:rPr>
              <a:t> </a:t>
            </a:r>
            <a:r>
              <a:rPr sz="2300" spc="-30" dirty="0">
                <a:latin typeface="Times New Roman"/>
                <a:cs typeface="Times New Roman"/>
              </a:rPr>
              <a:t>default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300" spc="-45" dirty="0">
                <a:solidFill>
                  <a:srgbClr val="0C0C0C"/>
                </a:solidFill>
                <a:latin typeface="Times New Roman"/>
                <a:cs typeface="Times New Roman"/>
              </a:rPr>
              <a:t>6699</a:t>
            </a:r>
            <a:r>
              <a:rPr sz="2300" spc="-1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300" spc="-40" dirty="0">
                <a:latin typeface="Times New Roman"/>
                <a:cs typeface="Times New Roman"/>
              </a:rPr>
              <a:t>TCP</a:t>
            </a:r>
            <a:r>
              <a:rPr sz="2300" spc="-10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altemate</a:t>
            </a:r>
            <a:r>
              <a:rPr sz="2300" spc="-75" dirty="0">
                <a:latin typeface="Times New Roman"/>
                <a:cs typeface="Times New Roman"/>
              </a:rPr>
              <a:t> </a:t>
            </a:r>
            <a:r>
              <a:rPr sz="2300" spc="-80" dirty="0">
                <a:latin typeface="Times New Roman"/>
                <a:cs typeface="Times New Roman"/>
              </a:rPr>
              <a:t>fi600-</a:t>
            </a:r>
            <a:r>
              <a:rPr sz="2300" spc="-55" dirty="0">
                <a:latin typeface="Times New Roman"/>
                <a:cs typeface="Times New Roman"/>
              </a:rPr>
              <a:t>6699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TCP</a:t>
            </a:r>
            <a:endParaRPr sz="2300">
              <a:latin typeface="Times New Roman"/>
              <a:cs typeface="Times New Roman"/>
            </a:endParaRPr>
          </a:p>
          <a:p>
            <a:pPr marL="13970" algn="just">
              <a:lnSpc>
                <a:spcPts val="2645"/>
              </a:lnSpc>
            </a:pPr>
            <a:r>
              <a:rPr sz="2250" spc="-25" dirty="0">
                <a:latin typeface="Times New Roman"/>
                <a:cs typeface="Times New Roman"/>
              </a:rPr>
              <a:t>default </a:t>
            </a:r>
            <a:r>
              <a:rPr sz="2250" dirty="0">
                <a:latin typeface="Times New Roman"/>
                <a:cs typeface="Times New Roman"/>
              </a:rPr>
              <a:t>6346</a:t>
            </a:r>
            <a:r>
              <a:rPr sz="2250" spc="-110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TCP/UDP</a:t>
            </a:r>
            <a:endParaRPr sz="2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551863" y="562768"/>
            <a:ext cx="5960110" cy="1172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4450"/>
              </a:lnSpc>
              <a:spcBef>
                <a:spcPts val="105"/>
              </a:spcBef>
              <a:tabLst>
                <a:tab pos="3647440" algn="l"/>
              </a:tabLst>
            </a:pPr>
            <a:r>
              <a:rPr sz="3900" spc="-25" dirty="0">
                <a:solidFill>
                  <a:srgbClr val="F2360A"/>
                </a:solidFill>
                <a:latin typeface="Cambria"/>
                <a:cs typeface="Cambria"/>
              </a:rPr>
              <a:t>Timeline</a:t>
            </a:r>
            <a:r>
              <a:rPr sz="3900" spc="355" dirty="0">
                <a:solidFill>
                  <a:srgbClr val="F2360A"/>
                </a:solidFill>
                <a:latin typeface="Cambria"/>
                <a:cs typeface="Cambria"/>
              </a:rPr>
              <a:t> </a:t>
            </a:r>
            <a:r>
              <a:rPr sz="3900" spc="50" dirty="0">
                <a:solidFill>
                  <a:srgbClr val="EF3A0A"/>
                </a:solidFill>
                <a:latin typeface="Cambria"/>
                <a:cs typeface="Cambria"/>
              </a:rPr>
              <a:t>of</a:t>
            </a:r>
            <a:r>
              <a:rPr sz="3900" dirty="0">
                <a:solidFill>
                  <a:srgbClr val="EF3A0A"/>
                </a:solidFill>
                <a:latin typeface="Cambria"/>
                <a:cs typeface="Cambria"/>
              </a:rPr>
              <a:t>	</a:t>
            </a:r>
            <a:r>
              <a:rPr sz="3900" spc="-170" dirty="0">
                <a:solidFill>
                  <a:srgbClr val="F93405"/>
                </a:solidFill>
                <a:latin typeface="Cambria"/>
                <a:cs typeface="Cambria"/>
              </a:rPr>
              <a:t>ne†workieg</a:t>
            </a:r>
            <a:endParaRPr sz="3900">
              <a:latin typeface="Cambria"/>
              <a:cs typeface="Cambria"/>
            </a:endParaRPr>
          </a:p>
          <a:p>
            <a:pPr marL="30480" algn="ctr">
              <a:lnSpc>
                <a:spcPts val="4570"/>
              </a:lnSpc>
            </a:pPr>
            <a:r>
              <a:rPr sz="4000" spc="-50" dirty="0">
                <a:solidFill>
                  <a:srgbClr val="EF3600"/>
                </a:solidFill>
                <a:latin typeface="Cambria"/>
                <a:cs typeface="Cambria"/>
              </a:rPr>
              <a:t>evolution</a:t>
            </a:r>
            <a:endParaRPr sz="4000">
              <a:latin typeface="Cambria"/>
              <a:cs typeface="Cambri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35880" y="1970377"/>
          <a:ext cx="8014334" cy="1851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3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0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8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4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7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4150">
                <a:tc rowSpan="3"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350"/>
                        </a:lnSpc>
                      </a:pPr>
                      <a:r>
                        <a:rPr sz="1250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P2P</a:t>
                      </a:r>
                      <a:r>
                        <a:rPr sz="1250" spc="-15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dirty="0">
                          <a:solidFill>
                            <a:srgbClr val="343434"/>
                          </a:solidFill>
                          <a:latin typeface="Arial"/>
                          <a:cs typeface="Arial"/>
                        </a:rPr>
                        <a:t>net</a:t>
                      </a:r>
                      <a:r>
                        <a:rPr sz="1250" spc="90" dirty="0">
                          <a:solidFill>
                            <a:srgbClr val="343434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sz="1250" spc="-10" dirty="0">
                          <a:solidFill>
                            <a:srgbClr val="343434"/>
                          </a:solidFill>
                          <a:latin typeface="Arial"/>
                          <a:cs typeface="Arial"/>
                        </a:rPr>
                        <a:t>¢x1dng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69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ts val="1370"/>
                        </a:lnSpc>
                      </a:pPr>
                      <a:r>
                        <a:rPr sz="1200" dirty="0">
                          <a:solidFill>
                            <a:srgbClr val="484848"/>
                          </a:solidFill>
                          <a:latin typeface="Arial"/>
                          <a:cs typeface="Arial"/>
                        </a:rPr>
                        <a:t>attra</a:t>
                      </a:r>
                      <a:r>
                        <a:rPr sz="1200" spc="-180" dirty="0">
                          <a:solidFill>
                            <a:srgbClr val="4848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cts</a:t>
                      </a:r>
                      <a:r>
                        <a:rPr sz="1200" spc="3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20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nenllc</a:t>
                      </a:r>
                      <a:r>
                        <a:rPr sz="1200" spc="-9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69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ts val="1370"/>
                        </a:lnSpc>
                      </a:pPr>
                      <a:r>
                        <a:rPr sz="12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dua</a:t>
                      </a:r>
                      <a:r>
                        <a:rPr sz="1200" spc="7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200" spc="-2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90" dirty="0">
                          <a:solidFill>
                            <a:srgbClr val="0C0C0C"/>
                          </a:solidFill>
                          <a:latin typeface="Arial"/>
                          <a:cs typeface="Arial"/>
                        </a:rPr>
                        <a:t>Napser</a:t>
                      </a:r>
                      <a:r>
                        <a:rPr sz="1200" spc="90" dirty="0">
                          <a:solidFill>
                            <a:srgbClr val="5E5E5E"/>
                          </a:solidFill>
                          <a:latin typeface="Arial"/>
                          <a:cs typeface="Arial"/>
                        </a:rPr>
                        <a:t>;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450"/>
                        </a:lnSpc>
                      </a:pPr>
                      <a:r>
                        <a:rPr sz="1300" spc="-40" dirty="0">
                          <a:solidFill>
                            <a:srgbClr val="575757"/>
                          </a:solidFill>
                          <a:latin typeface="Arial"/>
                          <a:cs typeface="Arial"/>
                        </a:rPr>
                        <a:t>Concept</a:t>
                      </a:r>
                      <a:r>
                        <a:rPr sz="1300" spc="-35" dirty="0">
                          <a:solidFill>
                            <a:srgbClr val="57575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solidFill>
                            <a:srgbClr val="3D3D3D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300" spc="-45" dirty="0">
                          <a:solidFill>
                            <a:srgbClr val="3D3D3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35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an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R="635" algn="ctr">
                        <a:lnSpc>
                          <a:spcPts val="1450"/>
                        </a:lnSpc>
                      </a:pPr>
                      <a:r>
                        <a:rPr sz="1300" spc="-7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\NWW</a:t>
                      </a:r>
                      <a:r>
                        <a:rPr sz="1300" spc="-1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10" dirty="0">
                          <a:solidFill>
                            <a:srgbClr val="2A2A2A"/>
                          </a:solidFill>
                          <a:latin typeface="Arial"/>
                          <a:cs typeface="Arial"/>
                        </a:rPr>
                        <a:t>released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 marR="24130" indent="1270" algn="ctr">
                        <a:lnSpc>
                          <a:spcPct val="91700"/>
                        </a:lnSpc>
                      </a:pPr>
                      <a:r>
                        <a:rPr sz="1250" spc="-10" dirty="0">
                          <a:solidFill>
                            <a:srgbClr val="313131"/>
                          </a:solidFill>
                          <a:latin typeface="Arial"/>
                          <a:cs typeface="Arial"/>
                        </a:rPr>
                        <a:t>several</a:t>
                      </a:r>
                      <a:r>
                        <a:rPr sz="1250" spc="-50" dirty="0">
                          <a:solidFill>
                            <a:srgbClr val="31313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1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netwot8s </a:t>
                      </a:r>
                      <a:r>
                        <a:rPr sz="1400" spc="-85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launched</a:t>
                      </a:r>
                      <a:r>
                        <a:rPr sz="1400" spc="25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solidFill>
                            <a:srgbClr val="34343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400" spc="-40" dirty="0">
                          <a:solidFill>
                            <a:srgbClr val="3434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35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dads. </a:t>
                      </a:r>
                      <a:r>
                        <a:rPr sz="1300" dirty="0">
                          <a:solidFill>
                            <a:srgbClr val="808080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1300" spc="-80" dirty="0">
                          <a:solidFill>
                            <a:srgbClr val="80808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solidFill>
                            <a:srgbClr val="363636"/>
                          </a:solidFill>
                          <a:latin typeface="Arial"/>
                          <a:cs typeface="Arial"/>
                        </a:rPr>
                        <a:t>wcil</a:t>
                      </a:r>
                      <a:r>
                        <a:rPr sz="1300" spc="-70" dirty="0">
                          <a:solidFill>
                            <a:srgbClr val="36363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solidFill>
                            <a:srgbClr val="919191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1300" spc="-25" dirty="0">
                          <a:solidFill>
                            <a:srgbClr val="91919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25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300" dirty="0">
                          <a:solidFill>
                            <a:srgbClr val="3A3A3A"/>
                          </a:solidFill>
                          <a:latin typeface="Arial"/>
                          <a:cs typeface="Arial"/>
                        </a:rPr>
                        <a:t>JXTq</a:t>
                      </a:r>
                      <a:r>
                        <a:rPr sz="1300" spc="-60" dirty="0">
                          <a:solidFill>
                            <a:srgbClr val="3A3A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25" dirty="0">
                          <a:solidFill>
                            <a:srgbClr val="757575"/>
                          </a:solidFill>
                          <a:latin typeface="Arial"/>
                          <a:cs typeface="Arial"/>
                        </a:rPr>
                        <a:t>ano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44780">
                        <a:lnSpc>
                          <a:spcPts val="1405"/>
                        </a:lnSpc>
                      </a:pPr>
                      <a:r>
                        <a:rPr sz="1250" spc="-10" dirty="0">
                          <a:solidFill>
                            <a:srgbClr val="181818"/>
                          </a:solidFill>
                          <a:latin typeface="Arial"/>
                          <a:cs typeface="Arial"/>
                        </a:rPr>
                        <a:t>ARPANET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1440"/>
                        </a:lnSpc>
                      </a:pPr>
                      <a:r>
                        <a:rPr sz="1875" baseline="2222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TCPflP</a:t>
                      </a:r>
                      <a:r>
                        <a:rPr sz="1875" spc="-67" baseline="2222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75" spc="-15" baseline="4444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protoc</a:t>
                      </a:r>
                      <a:r>
                        <a:rPr sz="1250" spc="-10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ol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5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1250" spc="-65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250" spc="6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1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introduced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ts val="1405"/>
                        </a:lnSpc>
                      </a:pPr>
                      <a:r>
                        <a:rPr sz="1250" dirty="0">
                          <a:solidFill>
                            <a:srgbClr val="4D4D4D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sz="1250" spc="25" dirty="0">
                          <a:solidFill>
                            <a:srgbClr val="4D4D4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10" dirty="0">
                          <a:latin typeface="Arial"/>
                          <a:cs typeface="Arial"/>
                        </a:rPr>
                        <a:t>CERN: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ts val="1405"/>
                        </a:lnSpc>
                      </a:pPr>
                      <a:r>
                        <a:rPr sz="1250" spc="-10" dirty="0">
                          <a:solidFill>
                            <a:srgbClr val="161616"/>
                          </a:solidFill>
                          <a:latin typeface="Arial"/>
                          <a:cs typeface="Arial"/>
                        </a:rPr>
                        <a:t>J4Dber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R="115570" algn="ctr">
                        <a:lnSpc>
                          <a:spcPts val="1220"/>
                        </a:lnSpc>
                      </a:pPr>
                      <a:r>
                        <a:rPr sz="1100" spc="-35" dirty="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§IfOgfDlTt</a:t>
                      </a:r>
                      <a:r>
                        <a:rPr sz="1100" spc="55" dirty="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SC6S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R="123189" algn="ctr">
                        <a:lnSpc>
                          <a:spcPts val="1380"/>
                        </a:lnSpc>
                        <a:tabLst>
                          <a:tab pos="546735" algn="l"/>
                        </a:tabLst>
                      </a:pPr>
                      <a:r>
                        <a:rPr sz="1200" spc="-25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COW</a:t>
                      </a:r>
                      <a:r>
                        <a:rPr sz="12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200" spc="-2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ION.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1280"/>
                        </a:lnSpc>
                      </a:pPr>
                      <a:r>
                        <a:rPr sz="1100" spc="75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suite</a:t>
                      </a:r>
                      <a:r>
                        <a:rPr sz="1100" spc="2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is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45085" algn="ctr">
                        <a:lnSpc>
                          <a:spcPts val="1360"/>
                        </a:lnSpc>
                        <a:spcBef>
                          <a:spcPts val="90"/>
                        </a:spcBef>
                      </a:pPr>
                      <a:r>
                        <a:rPr sz="1200" spc="-10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staridudised.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</a:pPr>
                      <a:r>
                        <a:rPr sz="1100" spc="55" dirty="0">
                          <a:solidFill>
                            <a:srgbClr val="424242"/>
                          </a:solidFill>
                          <a:latin typeface="Arial"/>
                          <a:cs typeface="Arial"/>
                        </a:rPr>
                        <a:t>far</a:t>
                      </a:r>
                      <a:r>
                        <a:rPr sz="1100" spc="110" dirty="0">
                          <a:solidFill>
                            <a:srgbClr val="42424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natwcal‹</a:t>
                      </a:r>
                      <a:r>
                        <a:rPr sz="1100" spc="34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3D3D3D"/>
                          </a:solidFill>
                          <a:latin typeface="Arial"/>
                          <a:cs typeface="Arial"/>
                        </a:rPr>
                        <a:t>layar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360"/>
                        </a:lnSpc>
                        <a:spcBef>
                          <a:spcPts val="90"/>
                        </a:spcBef>
                      </a:pPr>
                      <a:r>
                        <a:rPr sz="1200" dirty="0">
                          <a:solidFill>
                            <a:srgbClr val="424242"/>
                          </a:solidFill>
                          <a:latin typeface="Arial"/>
                          <a:cs typeface="Arial"/>
                        </a:rPr>
                        <a:t>routing</a:t>
                      </a:r>
                      <a:r>
                        <a:rPr sz="1200" spc="-50" dirty="0">
                          <a:solidFill>
                            <a:srgbClr val="42424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0" dirty="0">
                          <a:solidFill>
                            <a:srgbClr val="8C8C8C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1280"/>
                        </a:lnSpc>
                      </a:pPr>
                      <a:r>
                        <a:rPr sz="1100" spc="50" dirty="0">
                          <a:solidFill>
                            <a:srgbClr val="2F2F2F"/>
                          </a:solidFill>
                          <a:latin typeface="Arial"/>
                          <a:cs typeface="Arial"/>
                        </a:rPr>
                        <a:t>irkand</a:t>
                      </a:r>
                      <a:r>
                        <a:rPr sz="1100" spc="-160" dirty="0">
                          <a:solidFill>
                            <a:srgbClr val="2F2F2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70" dirty="0">
                          <a:solidFill>
                            <a:srgbClr val="727272"/>
                          </a:solidFill>
                          <a:latin typeface="Arial"/>
                          <a:cs typeface="Arial"/>
                        </a:rPr>
                        <a:t>ad</a:t>
                      </a:r>
                      <a:r>
                        <a:rPr sz="1100" spc="10" dirty="0">
                          <a:solidFill>
                            <a:srgbClr val="72727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65" dirty="0">
                          <a:solidFill>
                            <a:srgbClr val="4F4F4F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1100" spc="15" dirty="0">
                          <a:solidFill>
                            <a:srgbClr val="4F4F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solidFill>
                            <a:srgbClr val="343434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ts val="1360"/>
                        </a:lnSpc>
                        <a:spcBef>
                          <a:spcPts val="90"/>
                        </a:spcBef>
                      </a:pPr>
                      <a:r>
                        <a:rPr sz="120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P2P</a:t>
                      </a:r>
                      <a:r>
                        <a:rPr sz="1200" spc="45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solidFill>
                            <a:srgbClr val="313131"/>
                          </a:solidFill>
                          <a:latin typeface="Arial"/>
                          <a:cs typeface="Arial"/>
                        </a:rPr>
                        <a:t>zp{dlCatjm,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360"/>
                        </a:lnSpc>
                        <a:spcBef>
                          <a:spcPts val="1370"/>
                        </a:spcBef>
                      </a:pPr>
                      <a:r>
                        <a:rPr sz="1200" spc="-25" dirty="0">
                          <a:solidFill>
                            <a:srgbClr val="424242"/>
                          </a:solidFill>
                          <a:latin typeface="Arial"/>
                          <a:cs typeface="Arial"/>
                        </a:rPr>
                        <a:t>IN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7399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360"/>
                        </a:lnSpc>
                        <a:spcBef>
                          <a:spcPts val="1370"/>
                        </a:spcBef>
                      </a:pPr>
                      <a:r>
                        <a:rPr sz="1200" spc="-70" dirty="0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e.</a:t>
                      </a:r>
                      <a:r>
                        <a:rPr sz="1200" spc="-45" dirty="0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solidFill>
                            <a:srgbClr val="2A2A2A"/>
                          </a:solidFill>
                          <a:latin typeface="Arial"/>
                          <a:cs typeface="Arial"/>
                        </a:rPr>
                        <a:t>launched.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73990" marB="0"/>
                </a:tc>
                <a:tc>
                  <a:txBody>
                    <a:bodyPr/>
                    <a:lstStyle/>
                    <a:p>
                      <a:pPr marL="56515" algn="ctr">
                        <a:lnSpc>
                          <a:spcPts val="1280"/>
                        </a:lnSpc>
                      </a:pPr>
                      <a:r>
                        <a:rPr sz="1100" spc="30" dirty="0">
                          <a:solidFill>
                            <a:srgbClr val="4D4D4D"/>
                          </a:solidFill>
                          <a:latin typeface="Arial"/>
                          <a:cs typeface="Arial"/>
                        </a:rPr>
                        <a:t>gtarxl</a:t>
                      </a:r>
                      <a:r>
                        <a:rPr sz="1100" spc="-120" dirty="0">
                          <a:solidFill>
                            <a:srgbClr val="4D4D4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55" dirty="0">
                          <a:solidFill>
                            <a:srgbClr val="161616"/>
                          </a:solidFill>
                          <a:latin typeface="Arial"/>
                          <a:cs typeface="Arial"/>
                        </a:rPr>
                        <a:t>srdis</a:t>
                      </a:r>
                      <a:r>
                        <a:rPr sz="1100" spc="55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SiOn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ts val="1360"/>
                        </a:lnSpc>
                        <a:spcBef>
                          <a:spcPts val="90"/>
                        </a:spcBef>
                      </a:pPr>
                      <a:r>
                        <a:rPr sz="1200" dirty="0">
                          <a:solidFill>
                            <a:srgbClr val="959595"/>
                          </a:solidFill>
                          <a:latin typeface="Arial"/>
                          <a:cs typeface="Arial"/>
                        </a:rPr>
                        <a:t>*</a:t>
                      </a:r>
                      <a:r>
                        <a:rPr sz="1200" spc="110" dirty="0">
                          <a:solidFill>
                            <a:srgbClr val="959595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sz="1200" spc="-10" dirty="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itialives.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" name="object 2"/>
          <p:cNvGrpSpPr/>
          <p:nvPr/>
        </p:nvGrpSpPr>
        <p:grpSpPr>
          <a:xfrm>
            <a:off x="339328" y="3884414"/>
            <a:ext cx="8358505" cy="1518285"/>
            <a:chOff x="339328" y="3884414"/>
            <a:chExt cx="8358505" cy="15182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9328" y="3884414"/>
              <a:ext cx="8358187" cy="151804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3507" y="5134570"/>
              <a:ext cx="339328" cy="1071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97016" y="4036218"/>
              <a:ext cx="321468" cy="9822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66741" y="5134570"/>
              <a:ext cx="330398" cy="10715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15125" y="5134570"/>
              <a:ext cx="330398" cy="10715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864638" y="3974653"/>
            <a:ext cx="454025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solidFill>
                  <a:srgbClr val="9EBAA1"/>
                </a:solidFill>
                <a:latin typeface="Arial"/>
                <a:cs typeface="Arial"/>
              </a:rPr>
              <a:t>-</a:t>
            </a:r>
            <a:r>
              <a:rPr sz="1100" spc="180" dirty="0">
                <a:solidFill>
                  <a:srgbClr val="9EBAA1"/>
                </a:solidFill>
                <a:latin typeface="Arial"/>
                <a:cs typeface="Arial"/>
              </a:rPr>
              <a:t>  </a:t>
            </a:r>
            <a:r>
              <a:rPr sz="1100" spc="-25" dirty="0">
                <a:solidFill>
                  <a:srgbClr val="26561F"/>
                </a:solidFill>
                <a:latin typeface="Arial"/>
                <a:cs typeface="Arial"/>
              </a:rPr>
              <a:t>97F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2874" y="5410020"/>
            <a:ext cx="819150" cy="39370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r>
              <a:rPr sz="1050" spc="100" dirty="0">
                <a:solidFill>
                  <a:srgbClr val="343434"/>
                </a:solidFill>
                <a:latin typeface="Arial"/>
                <a:cs typeface="Arial"/>
              </a:rPr>
              <a:t>ARPANE</a:t>
            </a:r>
            <a:r>
              <a:rPr sz="1050" spc="-85" dirty="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sz="1050" spc="-50" dirty="0">
                <a:solidFill>
                  <a:srgbClr val="3D3D3D"/>
                </a:solidFill>
                <a:latin typeface="Arial"/>
                <a:cs typeface="Arial"/>
              </a:rPr>
              <a:t>T</a:t>
            </a:r>
            <a:endParaRPr sz="1050">
              <a:latin typeface="Arial"/>
              <a:cs typeface="Arial"/>
            </a:endParaRPr>
          </a:p>
          <a:p>
            <a:pPr marL="99060">
              <a:lnSpc>
                <a:spcPct val="100000"/>
              </a:lnSpc>
              <a:spcBef>
                <a:spcPts val="100"/>
              </a:spcBef>
            </a:pPr>
            <a:r>
              <a:rPr sz="1200" spc="55" dirty="0">
                <a:solidFill>
                  <a:srgbClr val="181818"/>
                </a:solidFill>
                <a:latin typeface="Arial"/>
                <a:cs typeface="Arial"/>
              </a:rPr>
              <a:t>pro</a:t>
            </a:r>
            <a:r>
              <a:rPr sz="1050" spc="82" baseline="-19841" dirty="0">
                <a:solidFill>
                  <a:srgbClr val="181818"/>
                </a:solidFill>
                <a:latin typeface="Arial"/>
                <a:cs typeface="Arial"/>
              </a:rPr>
              <a:t>e</a:t>
            </a:r>
            <a:r>
              <a:rPr sz="1200" spc="55" dirty="0">
                <a:solidFill>
                  <a:srgbClr val="181818"/>
                </a:solidFill>
                <a:latin typeface="Arial"/>
                <a:cs typeface="Arial"/>
              </a:rPr>
              <a:t>ram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71668" y="5410020"/>
            <a:ext cx="1138555" cy="39370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90"/>
              </a:spcBef>
            </a:pPr>
            <a:r>
              <a:rPr sz="1050" dirty="0">
                <a:solidFill>
                  <a:srgbClr val="424242"/>
                </a:solidFill>
                <a:latin typeface="Arial"/>
                <a:cs typeface="Arial"/>
              </a:rPr>
              <a:t>LIST</a:t>
            </a:r>
            <a:r>
              <a:rPr sz="1050" spc="24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050" spc="114" dirty="0">
                <a:solidFill>
                  <a:srgbClr val="3B3B3B"/>
                </a:solidFill>
                <a:latin typeface="Arial"/>
                <a:cs typeface="Arial"/>
              </a:rPr>
              <a:t>frrmal</a:t>
            </a:r>
            <a:r>
              <a:rPr sz="1050" spc="105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343434"/>
                </a:solidFill>
                <a:latin typeface="Arial"/>
                <a:cs typeface="Arial"/>
              </a:rPr>
              <a:t>USA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84848"/>
                </a:solidFill>
                <a:latin typeface="Arial"/>
                <a:cs typeface="Arial"/>
              </a:rPr>
              <a:t>of</a:t>
            </a:r>
            <a:r>
              <a:rPr sz="1200" spc="95" dirty="0">
                <a:solidFill>
                  <a:srgbClr val="48484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A2A2A"/>
                </a:solidFill>
                <a:latin typeface="Arial"/>
                <a:cs typeface="Arial"/>
              </a:rPr>
              <a:t>TCP.</a:t>
            </a:r>
            <a:r>
              <a:rPr sz="1200" spc="6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F3F3F"/>
                </a:solidFill>
                <a:latin typeface="Arial"/>
                <a:cs typeface="Arial"/>
              </a:rPr>
              <a:t>Applied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35274" y="5410020"/>
            <a:ext cx="1109980" cy="39370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sz="1050" spc="60" dirty="0">
                <a:solidFill>
                  <a:srgbClr val="676767"/>
                </a:solidFill>
                <a:latin typeface="Arial"/>
                <a:cs typeface="Arial"/>
              </a:rPr>
              <a:t>AR</a:t>
            </a:r>
            <a:r>
              <a:rPr sz="1050" spc="-14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050" spc="70" dirty="0">
                <a:solidFill>
                  <a:srgbClr val="343434"/>
                </a:solidFill>
                <a:latin typeface="Arial"/>
                <a:cs typeface="Arial"/>
              </a:rPr>
              <a:t>PM</a:t>
            </a:r>
            <a:r>
              <a:rPr sz="1050" spc="145" dirty="0">
                <a:solidFill>
                  <a:srgbClr val="343434"/>
                </a:solidFill>
                <a:latin typeface="Arial"/>
                <a:cs typeface="Arial"/>
              </a:rPr>
              <a:t>  </a:t>
            </a:r>
            <a:r>
              <a:rPr sz="1050" spc="40" dirty="0">
                <a:solidFill>
                  <a:srgbClr val="5B5B5B"/>
                </a:solidFill>
                <a:latin typeface="Arial"/>
                <a:cs typeface="Arial"/>
              </a:rPr>
              <a:t>ET</a:t>
            </a:r>
            <a:endParaRPr sz="10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94949"/>
                </a:solidFill>
                <a:latin typeface="Arial"/>
                <a:cs typeface="Arial"/>
              </a:rPr>
              <a:t>C›cJalIy</a:t>
            </a:r>
            <a:r>
              <a:rPr sz="1200" spc="10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62626"/>
                </a:solidFill>
                <a:latin typeface="Arial"/>
                <a:cs typeface="Arial"/>
              </a:rPr>
              <a:t>adopfs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61282" y="5410020"/>
            <a:ext cx="765810" cy="39370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sz="1050" spc="105" dirty="0">
                <a:solidFill>
                  <a:srgbClr val="232323"/>
                </a:solidFill>
                <a:latin typeface="Arial"/>
                <a:cs typeface="Arial"/>
              </a:rPr>
              <a:t>ARPANET</a:t>
            </a:r>
            <a:endParaRPr sz="10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488950" algn="l"/>
              </a:tabLst>
            </a:pPr>
            <a:r>
              <a:rPr sz="1200" spc="-25" dirty="0">
                <a:solidFill>
                  <a:srgbClr val="232323"/>
                </a:solidFill>
                <a:latin typeface="Arial"/>
                <a:cs typeface="Arial"/>
              </a:rPr>
              <a:t>wcl</a:t>
            </a:r>
            <a:r>
              <a:rPr sz="1200" dirty="0">
                <a:solidFill>
                  <a:srgbClr val="232323"/>
                </a:solidFill>
                <a:latin typeface="Arial"/>
                <a:cs typeface="Arial"/>
              </a:rPr>
              <a:t>	</a:t>
            </a:r>
            <a:r>
              <a:rPr sz="1200" spc="-50" dirty="0">
                <a:solidFill>
                  <a:srgbClr val="232323"/>
                </a:solidFill>
                <a:latin typeface="Arial"/>
                <a:cs typeface="Arial"/>
              </a:rPr>
              <a:t>y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15731" y="5410020"/>
            <a:ext cx="1177290" cy="39370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R="13335" algn="ctr">
              <a:lnSpc>
                <a:spcPct val="100000"/>
              </a:lnSpc>
              <a:spcBef>
                <a:spcPts val="190"/>
              </a:spcBef>
            </a:pPr>
            <a:r>
              <a:rPr sz="1050" spc="-10" dirty="0">
                <a:solidFill>
                  <a:srgbClr val="282828"/>
                </a:solidFill>
                <a:latin typeface="Arial"/>
                <a:cs typeface="Arial"/>
              </a:rPr>
              <a:t>âD&amp;CPGt</a:t>
            </a:r>
            <a:endParaRPr sz="10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3B3B3B"/>
                </a:solidFill>
                <a:latin typeface="Arial"/>
                <a:cs typeface="Arial"/>
              </a:rPr>
              <a:t>commercialilsd.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49969" y="5410020"/>
            <a:ext cx="802640" cy="39370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190"/>
              </a:spcBef>
              <a:tabLst>
                <a:tab pos="648970" algn="l"/>
              </a:tabLst>
            </a:pPr>
            <a:r>
              <a:rPr sz="1050" spc="-10" dirty="0">
                <a:solidFill>
                  <a:srgbClr val="4F4F4F"/>
                </a:solidFill>
                <a:latin typeface="Arial"/>
                <a:cs typeface="Arial"/>
              </a:rPr>
              <a:t>fdjgptlt</a:t>
            </a:r>
            <a:r>
              <a:rPr sz="1050" dirty="0">
                <a:solidFill>
                  <a:srgbClr val="4F4F4F"/>
                </a:solidFill>
                <a:latin typeface="Arial"/>
                <a:cs typeface="Arial"/>
              </a:rPr>
              <a:t>	</a:t>
            </a:r>
            <a:r>
              <a:rPr sz="1050" spc="-25" dirty="0">
                <a:solidFill>
                  <a:srgbClr val="626262"/>
                </a:solidFill>
                <a:latin typeface="Arial"/>
                <a:cs typeface="Arial"/>
              </a:rPr>
              <a:t>§g</a:t>
            </a:r>
            <a:endParaRPr sz="10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82828"/>
                </a:solidFill>
                <a:latin typeface="Arial"/>
                <a:cs typeface="Arial"/>
              </a:rPr>
              <a:t>Ia</a:t>
            </a:r>
            <a:r>
              <a:rPr sz="1350" spc="-15" baseline="-6172" dirty="0">
                <a:solidFill>
                  <a:srgbClr val="282828"/>
                </a:solidFill>
                <a:latin typeface="Arial"/>
                <a:cs typeface="Arial"/>
              </a:rPr>
              <a:t>U</a:t>
            </a:r>
            <a:r>
              <a:rPr sz="1200" spc="-10" dirty="0">
                <a:solidFill>
                  <a:srgbClr val="444444"/>
                </a:solidFill>
                <a:latin typeface="Arial"/>
                <a:cs typeface="Arial"/>
              </a:rPr>
              <a:t>nchsd.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29939" y="5815757"/>
          <a:ext cx="6530340" cy="71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5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4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395">
                <a:tc>
                  <a:txBody>
                    <a:bodyPr/>
                    <a:lstStyle/>
                    <a:p>
                      <a:pPr marR="119380" algn="ctr">
                        <a:lnSpc>
                          <a:spcPts val="1340"/>
                        </a:lnSpc>
                      </a:pPr>
                      <a:r>
                        <a:rPr sz="1200" spc="1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corr</a:t>
                      </a:r>
                      <a:r>
                        <a:rPr sz="1200" spc="-1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solidFill>
                            <a:srgbClr val="2A2A2A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1200" spc="-1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is6ioned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R="109855" algn="ctr">
                        <a:lnSpc>
                          <a:spcPts val="1450"/>
                        </a:lnSpc>
                      </a:pPr>
                      <a:r>
                        <a:rPr sz="125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sz="1250" spc="3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dirty="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US</a:t>
                      </a:r>
                      <a:r>
                        <a:rPr sz="1250" spc="-25" dirty="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2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DoD.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355" algn="ctr">
                        <a:lnSpc>
                          <a:spcPts val="1340"/>
                        </a:lnSpc>
                      </a:pPr>
                      <a:r>
                        <a:rPr sz="1200" spc="-25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tO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5400" algn="ctr">
                        <a:lnSpc>
                          <a:spcPts val="1450"/>
                        </a:lnSpc>
                      </a:pPr>
                      <a:r>
                        <a:rPr sz="125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in\ernaworkng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424242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95" dirty="0">
                          <a:solidFill>
                            <a:srgbClr val="42424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use</a:t>
                      </a:r>
                      <a:r>
                        <a:rPr sz="1200" spc="7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2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3D3D3D"/>
                          </a:solidFill>
                          <a:latin typeface="Arial"/>
                          <a:cs typeface="Arial"/>
                        </a:rPr>
                        <a:t>TCP/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4765" algn="ctr">
                        <a:lnSpc>
                          <a:spcPts val="1450"/>
                        </a:lnSpc>
                      </a:pPr>
                      <a:r>
                        <a:rPr sz="1250" spc="-25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IP.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340"/>
                        </a:lnSpc>
                      </a:pPr>
                      <a:r>
                        <a:rPr sz="1200" spc="10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disbanded</a:t>
                      </a:r>
                      <a:r>
                        <a:rPr sz="1200" spc="10" dirty="0">
                          <a:solidFill>
                            <a:srgbClr val="626262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200" spc="65" dirty="0">
                          <a:solidFill>
                            <a:srgbClr val="62626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1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200" spc="125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25" dirty="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be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R="66675" algn="ctr">
                        <a:lnSpc>
                          <a:spcPts val="1450"/>
                        </a:lnSpc>
                      </a:pPr>
                      <a:r>
                        <a:rPr sz="1250" dirty="0">
                          <a:solidFill>
                            <a:srgbClr val="0C0C0C"/>
                          </a:solidFill>
                          <a:latin typeface="Arial"/>
                          <a:cs typeface="Arial"/>
                        </a:rPr>
                        <a:t>replaced</a:t>
                      </a:r>
                      <a:r>
                        <a:rPr sz="1250" spc="-5" dirty="0">
                          <a:solidFill>
                            <a:srgbClr val="0C0C0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35" dirty="0">
                          <a:solidFill>
                            <a:srgbClr val="131313"/>
                          </a:solidFill>
                          <a:latin typeface="Arial"/>
                          <a:cs typeface="Arial"/>
                        </a:rPr>
                        <a:t>b›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0" algn="ctr">
                        <a:lnSpc>
                          <a:spcPts val="1340"/>
                        </a:lnSpc>
                      </a:pPr>
                      <a:r>
                        <a:rPr sz="1200" spc="-3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0hi'it</a:t>
                      </a:r>
                      <a:r>
                        <a:rPr sz="1200" spc="-5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90" dirty="0">
                          <a:solidFill>
                            <a:srgbClr val="2F2F2F"/>
                          </a:solidFill>
                          <a:latin typeface="Arial"/>
                          <a:cs typeface="Arial"/>
                        </a:rPr>
                        <a:t>IO</a:t>
                      </a:r>
                      <a:r>
                        <a:rPr sz="1200" spc="5" dirty="0">
                          <a:solidFill>
                            <a:srgbClr val="2F2F2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1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C¥I6OU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13030" algn="ctr">
                        <a:lnSpc>
                          <a:spcPts val="1450"/>
                        </a:lnSpc>
                      </a:pPr>
                      <a:r>
                        <a:rPr sz="1250" spc="-10" dirty="0">
                          <a:solidFill>
                            <a:srgbClr val="3D3D3D"/>
                          </a:solidFill>
                          <a:latin typeface="Arial"/>
                          <a:cs typeface="Arial"/>
                        </a:rPr>
                        <a:t>server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8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3530" marR="235585" indent="-29845">
                        <a:lnSpc>
                          <a:spcPts val="1370"/>
                        </a:lnSpc>
                      </a:pPr>
                      <a:r>
                        <a:rPr sz="11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PRNET</a:t>
                      </a:r>
                      <a:r>
                        <a:rPr sz="1150" spc="315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50" spc="-25" dirty="0">
                          <a:solidFill>
                            <a:srgbClr val="505050"/>
                          </a:solidFill>
                          <a:latin typeface="Arial"/>
                          <a:cs typeface="Arial"/>
                        </a:rPr>
                        <a:t>gM </a:t>
                      </a:r>
                      <a:r>
                        <a:rPr sz="1150" spc="45" dirty="0">
                          <a:latin typeface="Arial"/>
                          <a:cs typeface="Arial"/>
                        </a:rPr>
                        <a:t>ARPAhlET</a:t>
                      </a:r>
                      <a:r>
                        <a:rPr sz="1150" spc="45" dirty="0">
                          <a:solidFill>
                            <a:srgbClr val="BDBDBD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ts val="1330"/>
                        </a:lnSpc>
                      </a:pPr>
                      <a:r>
                        <a:rPr sz="1150" dirty="0">
                          <a:solidFill>
                            <a:srgbClr val="1C1C1C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1150" spc="-140" dirty="0">
                          <a:solidFill>
                            <a:srgbClr val="1C1C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50" spc="-10" dirty="0">
                          <a:solidFill>
                            <a:srgbClr val="131313"/>
                          </a:solidFill>
                          <a:latin typeface="Arial"/>
                          <a:cs typeface="Arial"/>
                        </a:rPr>
                        <a:t>SFMET.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ts val="1330"/>
                        </a:lnSpc>
                      </a:pPr>
                      <a:r>
                        <a:rPr sz="1150" dirty="0">
                          <a:solidFill>
                            <a:srgbClr val="464646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1150" spc="-200" dirty="0">
                          <a:solidFill>
                            <a:srgbClr val="46464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50" spc="-1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BtWOrkin§.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026" rIns="0" bIns="0" rtlCol="0">
            <a:spAutoFit/>
          </a:bodyPr>
          <a:lstStyle/>
          <a:p>
            <a:pPr marL="1805939">
              <a:lnSpc>
                <a:spcPct val="100000"/>
              </a:lnSpc>
              <a:spcBef>
                <a:spcPts val="95"/>
              </a:spcBef>
            </a:pPr>
            <a:r>
              <a:rPr spc="-310" dirty="0"/>
              <a:t>TechniCQl</a:t>
            </a:r>
            <a:r>
              <a:rPr spc="760" dirty="0"/>
              <a:t> </a:t>
            </a:r>
            <a:r>
              <a:rPr spc="-45" dirty="0">
                <a:solidFill>
                  <a:srgbClr val="ED3B11"/>
                </a:solidFill>
              </a:rPr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601" y="1917352"/>
            <a:ext cx="5934075" cy="378523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356870" indent="-343535">
              <a:lnSpc>
                <a:spcPct val="100000"/>
              </a:lnSpc>
              <a:spcBef>
                <a:spcPts val="640"/>
              </a:spcBef>
              <a:buChar char="•"/>
              <a:tabLst>
                <a:tab pos="356870" algn="l"/>
              </a:tabLst>
            </a:pPr>
            <a:r>
              <a:rPr sz="2650" dirty="0">
                <a:latin typeface="Times New Roman"/>
                <a:cs typeface="Times New Roman"/>
              </a:rPr>
              <a:t>Peer</a:t>
            </a:r>
            <a:r>
              <a:rPr sz="2650" spc="265" dirty="0">
                <a:latin typeface="Times New Roman"/>
                <a:cs typeface="Times New Roman"/>
              </a:rPr>
              <a:t> </a:t>
            </a:r>
            <a:r>
              <a:rPr sz="2650" spc="40" dirty="0">
                <a:latin typeface="Times New Roman"/>
                <a:cs typeface="Times New Roman"/>
              </a:rPr>
              <a:t>identification</a:t>
            </a:r>
            <a:endParaRPr sz="2650">
              <a:latin typeface="Times New Roman"/>
              <a:cs typeface="Times New Roman"/>
            </a:endParaRPr>
          </a:p>
          <a:p>
            <a:pPr marL="356235" indent="-342900">
              <a:lnSpc>
                <a:spcPct val="100000"/>
              </a:lnSpc>
              <a:spcBef>
                <a:spcPts val="545"/>
              </a:spcBef>
              <a:buChar char="•"/>
              <a:tabLst>
                <a:tab pos="356235" algn="l"/>
              </a:tabLst>
            </a:pPr>
            <a:r>
              <a:rPr sz="2650" dirty="0">
                <a:latin typeface="Times New Roman"/>
                <a:cs typeface="Times New Roman"/>
              </a:rPr>
              <a:t>Routing</a:t>
            </a:r>
            <a:r>
              <a:rPr sz="2650" spc="5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protocols</a:t>
            </a:r>
            <a:endParaRPr sz="265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425"/>
              </a:spcBef>
              <a:buChar char="•"/>
              <a:tabLst>
                <a:tab pos="367030" algn="l"/>
              </a:tabLst>
            </a:pPr>
            <a:r>
              <a:rPr sz="2700" dirty="0">
                <a:latin typeface="Times New Roman"/>
                <a:cs typeface="Times New Roman"/>
              </a:rPr>
              <a:t>Network</a:t>
            </a:r>
            <a:r>
              <a:rPr sz="2700" spc="33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topologies</a:t>
            </a:r>
            <a:endParaRPr sz="27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484"/>
              </a:spcBef>
              <a:buChar char="•"/>
              <a:tabLst>
                <a:tab pos="356870" algn="l"/>
              </a:tabLst>
            </a:pPr>
            <a:r>
              <a:rPr sz="2700" dirty="0">
                <a:latin typeface="Times New Roman"/>
                <a:cs typeface="Times New Roman"/>
              </a:rPr>
              <a:t>Peer</a:t>
            </a:r>
            <a:r>
              <a:rPr sz="2700" spc="16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discovery</a:t>
            </a:r>
            <a:endParaRPr sz="2700">
              <a:latin typeface="Times New Roman"/>
              <a:cs typeface="Times New Roman"/>
            </a:endParaRPr>
          </a:p>
          <a:p>
            <a:pPr marL="348615" indent="-335915">
              <a:lnSpc>
                <a:spcPct val="100000"/>
              </a:lnSpc>
              <a:spcBef>
                <a:spcPts val="405"/>
              </a:spcBef>
              <a:buChar char="•"/>
              <a:tabLst>
                <a:tab pos="348615" algn="l"/>
              </a:tabLst>
            </a:pPr>
            <a:r>
              <a:rPr sz="2750" spc="10" dirty="0">
                <a:latin typeface="Times New Roman"/>
                <a:cs typeface="Times New Roman"/>
              </a:rPr>
              <a:t>Communication/coordination</a:t>
            </a:r>
            <a:r>
              <a:rPr sz="2750" spc="31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protocols</a:t>
            </a:r>
            <a:endParaRPr sz="2750">
              <a:latin typeface="Times New Roman"/>
              <a:cs typeface="Times New Roman"/>
            </a:endParaRPr>
          </a:p>
          <a:p>
            <a:pPr marL="358775" indent="-346075">
              <a:lnSpc>
                <a:spcPct val="100000"/>
              </a:lnSpc>
              <a:spcBef>
                <a:spcPts val="440"/>
              </a:spcBef>
              <a:buChar char="•"/>
              <a:tabLst>
                <a:tab pos="358775" algn="l"/>
              </a:tabLst>
            </a:pPr>
            <a:r>
              <a:rPr sz="2700" dirty="0">
                <a:latin typeface="Times New Roman"/>
                <a:cs typeface="Times New Roman"/>
              </a:rPr>
              <a:t>Quality</a:t>
            </a:r>
            <a:r>
              <a:rPr sz="2700" spc="18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21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service</a:t>
            </a:r>
            <a:endParaRPr sz="2700">
              <a:latin typeface="Times New Roman"/>
              <a:cs typeface="Times New Roman"/>
            </a:endParaRPr>
          </a:p>
          <a:p>
            <a:pPr marL="349885" indent="-336550">
              <a:lnSpc>
                <a:spcPct val="100000"/>
              </a:lnSpc>
              <a:spcBef>
                <a:spcPts val="535"/>
              </a:spcBef>
              <a:buChar char="•"/>
              <a:tabLst>
                <a:tab pos="349885" algn="l"/>
              </a:tabLst>
            </a:pPr>
            <a:r>
              <a:rPr sz="2650" spc="-10" dirty="0">
                <a:latin typeface="Times New Roman"/>
                <a:cs typeface="Times New Roman"/>
              </a:rPr>
              <a:t>Security</a:t>
            </a:r>
            <a:endParaRPr sz="2650">
              <a:latin typeface="Times New Roman"/>
              <a:cs typeface="Times New Roman"/>
            </a:endParaRPr>
          </a:p>
          <a:p>
            <a:pPr marL="356870" indent="-343535">
              <a:lnSpc>
                <a:spcPct val="100000"/>
              </a:lnSpc>
              <a:spcBef>
                <a:spcPts val="480"/>
              </a:spcBef>
              <a:buChar char="•"/>
              <a:tabLst>
                <a:tab pos="356870" algn="l"/>
              </a:tabLst>
            </a:pPr>
            <a:r>
              <a:rPr sz="2650" dirty="0">
                <a:latin typeface="Times New Roman"/>
                <a:cs typeface="Times New Roman"/>
              </a:rPr>
              <a:t>Fine-grained</a:t>
            </a:r>
            <a:r>
              <a:rPr sz="2650" spc="25" dirty="0">
                <a:latin typeface="Times New Roman"/>
                <a:cs typeface="Times New Roman"/>
              </a:rPr>
              <a:t>  </a:t>
            </a:r>
            <a:r>
              <a:rPr sz="2650" dirty="0">
                <a:latin typeface="Times New Roman"/>
                <a:cs typeface="Times New Roman"/>
              </a:rPr>
              <a:t>resource</a:t>
            </a:r>
            <a:r>
              <a:rPr sz="2650" spc="509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management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3093</Words>
  <Application>Microsoft Office PowerPoint</Application>
  <PresentationFormat>全屏显示(4:3)</PresentationFormat>
  <Paragraphs>487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7" baseType="lpstr">
      <vt:lpstr>Arial</vt:lpstr>
      <vt:lpstr>Calibri</vt:lpstr>
      <vt:lpstr>Cambria</vt:lpstr>
      <vt:lpstr>Courier New</vt:lpstr>
      <vt:lpstr>Times New Roman</vt:lpstr>
      <vt:lpstr>Office Theme</vt:lpstr>
      <vt:lpstr>PowerPoint 演示文稿</vt:lpstr>
      <vt:lpstr>Application-level overla</vt:lpstr>
      <vt:lpstr>Clien†/Server i†a†ioxs</vt:lpstr>
      <vt:lpstr>Client-Server  Versus Peer-to- Peer Network Architecture</vt:lpstr>
      <vt:lpstr>Who† is P2P?</vt:lpstr>
      <vt:lpstr>PowerPoint 演示文稿</vt:lpstr>
      <vt:lpstr>l?le†work Feo†ures</vt:lpstr>
      <vt:lpstr>FeQtures the P2P</vt:lpstr>
      <vt:lpstr>Archi†ec†ure</vt:lpstr>
      <vt:lpstr>Network ChQrQc†eris†ics</vt:lpstr>
      <vt:lpstr>ient-Server vs. Peer-to-Peer £xomple</vt:lpstr>
      <vt:lpstr>Large-Scale</vt:lpstr>
      <vt:lpstr>P2P History: 1969 1995</vt:lpstr>
      <vt:lpstr>P2P 1995 1999</vt:lpstr>
      <vt:lpstr>History: 1999 †oday</vt:lpstr>
      <vt:lpstr>p2p \pin too pir\ n. o virtuol network of (unctionolly zimilor nodes created using an olternate, often private, namespace</vt:lpstr>
      <vt:lpstr>P2P 8enefi†s</vt:lpstr>
      <vt:lpstr>The trQdítional network archi†ec†ure</vt:lpstr>
      <vt:lpstr>PowerPoint 演示文稿</vt:lpstr>
      <vt:lpstr>mus† be disruptive...</vt:lpstr>
      <vt:lpstr>Bandwidth and Storage Growth</vt:lpstr>
      <vt:lpstr>Voore's Law</vt:lpstr>
      <vt:lpstr>Peer-peer networking</vt:lpstr>
      <vt:lpstr>Peer-peer networking</vt:lpstr>
      <vt:lpstr>How i† works</vt:lpstr>
      <vt:lpstr>Classification of †he P2P Systems</vt:lpstr>
      <vt:lpstr>What is good</vt:lpstr>
      <vt:lpstr>P2P</vt:lpstr>
      <vt:lpstr>File-sharing vs. Streaming</vt:lpstr>
      <vt:lpstr>i?xomp1e P2P AppJico†ioes</vt:lpstr>
      <vt:lpstr>MesSQging</vt:lpstr>
      <vt:lpstr>File exchange</vt:lpstr>
      <vt:lpstr>Colloboro†ioe</vt:lpstr>
      <vt:lpstr>PowerPoint 演示文稿</vt:lpstr>
      <vt:lpstr>Lookup services</vt:lpstr>
      <vt:lpstr>Mobile ad hoc communication</vt:lpstr>
      <vt:lpstr>Coc†en† Dis†ribu†ion</vt:lpstr>
      <vt:lpstr>Viddlewore</vt:lpstr>
      <vt:lpstr>Port Numbers Used ÎCQÈÎORS</vt:lpstr>
      <vt:lpstr>Timeline of ne†workieg evolution</vt:lpstr>
      <vt:lpstr>TechniCQl Challenges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Yeh-Ching Chung</cp:lastModifiedBy>
  <cp:revision>1</cp:revision>
  <dcterms:created xsi:type="dcterms:W3CDTF">2026-09-25T07:22:31Z</dcterms:created>
  <dcterms:modified xsi:type="dcterms:W3CDTF">2026-09-25T07:25:37Z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2026-09-25T00:00:00Z</vt:filetime>
  </property>
  <property fmtid="{D5CDD505-2E9C-101B-9397-08002B2CF9AE}" pid="4" name="Producer">
    <vt:lpwstr>jsPDF 1.3.2 2016-09-30T20:33:17.116Z:jameshall</vt:lpwstr>
  </property>
  <property fmtid="{D5CDD505-2E9C-101B-9397-08002B2CF9AE}" pid="5" name="LastSaved">
    <vt:filetime>2026-09-25T00:00:00Z</vt:filetime>
  </property>
</Properties>
</file>