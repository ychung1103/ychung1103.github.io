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8"/>
  </p:notesMasterIdLst>
  <p:handoutMasterIdLst>
    <p:handoutMasterId r:id="rId129"/>
  </p:handoutMasterIdLst>
  <p:sldIdLst>
    <p:sldId id="256" r:id="rId2"/>
    <p:sldId id="257" r:id="rId3"/>
    <p:sldId id="272" r:id="rId4"/>
    <p:sldId id="267" r:id="rId5"/>
    <p:sldId id="263" r:id="rId6"/>
    <p:sldId id="264" r:id="rId7"/>
    <p:sldId id="269" r:id="rId8"/>
    <p:sldId id="397" r:id="rId9"/>
    <p:sldId id="268" r:id="rId10"/>
    <p:sldId id="270" r:id="rId11"/>
    <p:sldId id="293" r:id="rId12"/>
    <p:sldId id="300" r:id="rId13"/>
    <p:sldId id="402" r:id="rId14"/>
    <p:sldId id="401" r:id="rId15"/>
    <p:sldId id="301" r:id="rId16"/>
    <p:sldId id="309" r:id="rId17"/>
    <p:sldId id="302" r:id="rId18"/>
    <p:sldId id="308" r:id="rId19"/>
    <p:sldId id="311" r:id="rId20"/>
    <p:sldId id="312" r:id="rId21"/>
    <p:sldId id="314" r:id="rId22"/>
    <p:sldId id="320" r:id="rId23"/>
    <p:sldId id="321" r:id="rId24"/>
    <p:sldId id="313" r:id="rId25"/>
    <p:sldId id="303" r:id="rId26"/>
    <p:sldId id="353" r:id="rId27"/>
    <p:sldId id="354" r:id="rId28"/>
    <p:sldId id="317" r:id="rId29"/>
    <p:sldId id="318" r:id="rId30"/>
    <p:sldId id="322" r:id="rId31"/>
    <p:sldId id="355" r:id="rId32"/>
    <p:sldId id="305" r:id="rId33"/>
    <p:sldId id="325" r:id="rId34"/>
    <p:sldId id="331" r:id="rId35"/>
    <p:sldId id="334" r:id="rId36"/>
    <p:sldId id="335" r:id="rId37"/>
    <p:sldId id="336" r:id="rId38"/>
    <p:sldId id="332" r:id="rId39"/>
    <p:sldId id="338" r:id="rId40"/>
    <p:sldId id="333" r:id="rId41"/>
    <p:sldId id="340" r:id="rId42"/>
    <p:sldId id="304" r:id="rId43"/>
    <p:sldId id="326" r:id="rId44"/>
    <p:sldId id="341" r:id="rId45"/>
    <p:sldId id="343" r:id="rId46"/>
    <p:sldId id="342" r:id="rId47"/>
    <p:sldId id="347" r:id="rId48"/>
    <p:sldId id="307" r:id="rId49"/>
    <p:sldId id="327" r:id="rId50"/>
    <p:sldId id="351" r:id="rId51"/>
    <p:sldId id="356" r:id="rId52"/>
    <p:sldId id="349" r:id="rId53"/>
    <p:sldId id="352" r:id="rId54"/>
    <p:sldId id="306" r:id="rId55"/>
    <p:sldId id="328" r:id="rId56"/>
    <p:sldId id="357" r:id="rId57"/>
    <p:sldId id="346" r:id="rId58"/>
    <p:sldId id="273" r:id="rId59"/>
    <p:sldId id="274" r:id="rId60"/>
    <p:sldId id="289" r:id="rId61"/>
    <p:sldId id="275" r:id="rId62"/>
    <p:sldId id="276" r:id="rId63"/>
    <p:sldId id="279" r:id="rId64"/>
    <p:sldId id="278" r:id="rId65"/>
    <p:sldId id="281" r:id="rId66"/>
    <p:sldId id="280" r:id="rId67"/>
    <p:sldId id="282" r:id="rId68"/>
    <p:sldId id="283" r:id="rId69"/>
    <p:sldId id="284" r:id="rId70"/>
    <p:sldId id="286" r:id="rId71"/>
    <p:sldId id="287" r:id="rId72"/>
    <p:sldId id="285" r:id="rId73"/>
    <p:sldId id="290" r:id="rId74"/>
    <p:sldId id="288" r:id="rId75"/>
    <p:sldId id="291" r:id="rId76"/>
    <p:sldId id="292" r:id="rId77"/>
    <p:sldId id="294" r:id="rId78"/>
    <p:sldId id="295" r:id="rId79"/>
    <p:sldId id="296" r:id="rId80"/>
    <p:sldId id="297" r:id="rId81"/>
    <p:sldId id="298" r:id="rId82"/>
    <p:sldId id="299" r:id="rId83"/>
    <p:sldId id="396" r:id="rId84"/>
    <p:sldId id="329" r:id="rId85"/>
    <p:sldId id="403" r:id="rId86"/>
    <p:sldId id="359" r:id="rId87"/>
    <p:sldId id="361" r:id="rId88"/>
    <p:sldId id="360" r:id="rId89"/>
    <p:sldId id="362" r:id="rId90"/>
    <p:sldId id="364" r:id="rId91"/>
    <p:sldId id="363" r:id="rId92"/>
    <p:sldId id="404" r:id="rId93"/>
    <p:sldId id="405" r:id="rId94"/>
    <p:sldId id="368" r:id="rId95"/>
    <p:sldId id="374" r:id="rId96"/>
    <p:sldId id="365" r:id="rId97"/>
    <p:sldId id="369" r:id="rId98"/>
    <p:sldId id="370" r:id="rId99"/>
    <p:sldId id="380" r:id="rId100"/>
    <p:sldId id="371" r:id="rId101"/>
    <p:sldId id="372" r:id="rId102"/>
    <p:sldId id="373" r:id="rId103"/>
    <p:sldId id="375" r:id="rId104"/>
    <p:sldId id="366" r:id="rId105"/>
    <p:sldId id="377" r:id="rId106"/>
    <p:sldId id="378" r:id="rId107"/>
    <p:sldId id="379" r:id="rId108"/>
    <p:sldId id="382" r:id="rId109"/>
    <p:sldId id="383" r:id="rId110"/>
    <p:sldId id="376" r:id="rId111"/>
    <p:sldId id="367" r:id="rId112"/>
    <p:sldId id="384" r:id="rId113"/>
    <p:sldId id="381" r:id="rId114"/>
    <p:sldId id="385" r:id="rId115"/>
    <p:sldId id="386" r:id="rId116"/>
    <p:sldId id="387" r:id="rId117"/>
    <p:sldId id="388" r:id="rId118"/>
    <p:sldId id="398" r:id="rId119"/>
    <p:sldId id="389" r:id="rId120"/>
    <p:sldId id="390" r:id="rId121"/>
    <p:sldId id="393" r:id="rId122"/>
    <p:sldId id="392" r:id="rId123"/>
    <p:sldId id="391" r:id="rId124"/>
    <p:sldId id="399" r:id="rId125"/>
    <p:sldId id="400" r:id="rId126"/>
    <p:sldId id="319" r:id="rId127"/>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2" y="116"/>
      </p:cViewPr>
      <p:guideLst>
        <p:guide orient="horz" pos="2160"/>
        <p:guide pos="2880"/>
        <p:guide orient="horz" pos="1620"/>
      </p:guideLst>
    </p:cSldViewPr>
  </p:slideViewPr>
  <p:notesTextViewPr>
    <p:cViewPr>
      <p:scale>
        <a:sx n="1" d="1"/>
        <a:sy n="1" d="1"/>
      </p:scale>
      <p:origin x="0" y="0"/>
    </p:cViewPr>
  </p:notesTextViewPr>
  <p:sorterViewPr>
    <p:cViewPr>
      <p:scale>
        <a:sx n="50" d="100"/>
        <a:sy n="50" d="100"/>
      </p:scale>
      <p:origin x="0" y="-8024"/>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2026/9/30</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2026/9/30</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D923E61B-9923-41E8-A048-1B57D195D0C6}" type="slidenum">
              <a:rPr lang="en-US" smtClean="0"/>
              <a:pPr/>
              <a:t>59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www.buyya.com/photos/albacete_2006.jpg" TargetMode="External"/><Relationship Id="rId2" Type="http://schemas.openxmlformats.org/officeDocument/2006/relationships/image" Target="../media/image13.jpe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9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br>
              <a:rPr lang="en-US" altLang="zh-TW" sz="3600" dirty="0">
                <a:effectLst>
                  <a:outerShdw blurRad="38100" dist="38100" dir="2700000" algn="tl">
                    <a:srgbClr val="000000">
                      <a:alpha val="43137"/>
                    </a:srgbClr>
                  </a:outerShdw>
                </a:effectLst>
              </a:rPr>
            </a:br>
            <a:r>
              <a:rPr lang="en-US" altLang="zh-CN" sz="3600" dirty="0">
                <a:effectLst>
                  <a:outerShdw blurRad="38100" dist="38100" dir="2700000" algn="tl">
                    <a:srgbClr val="000000">
                      <a:alpha val="43137"/>
                    </a:srgbClr>
                  </a:outerShdw>
                </a:effectLst>
              </a:rPr>
              <a:t>Cloud Computing</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E0988C7A-F935-D4B0-8A52-9D5BCEEE80E8}"/>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492" y="108349"/>
            <a:ext cx="7753198" cy="519113"/>
          </a:xfrm>
        </p:spPr>
        <p:txBody>
          <a:bodyPr/>
          <a:lstStyle/>
          <a:p>
            <a:r>
              <a:rPr lang="en-US" dirty="0"/>
              <a:t>Agenda</a:t>
            </a:r>
          </a:p>
        </p:txBody>
      </p:sp>
      <p:sp>
        <p:nvSpPr>
          <p:cNvPr id="3" name="Content Placeholder 2"/>
          <p:cNvSpPr>
            <a:spLocks noGrp="1"/>
          </p:cNvSpPr>
          <p:nvPr>
            <p:ph idx="1"/>
          </p:nvPr>
        </p:nvSpPr>
        <p:spPr>
          <a:xfrm>
            <a:off x="1019596" y="844153"/>
            <a:ext cx="5955739" cy="2975288"/>
          </a:xfrm>
        </p:spPr>
        <p:txBody>
          <a:bodyPr/>
          <a:lstStyle/>
          <a:p>
            <a:r>
              <a:rPr lang="en-US" sz="2000" dirty="0"/>
              <a:t>What is Cloud Computing ?</a:t>
            </a:r>
          </a:p>
          <a:p>
            <a:pPr lvl="1"/>
            <a:r>
              <a:rPr lang="en-US" sz="2000" dirty="0"/>
              <a:t>Different perspectives</a:t>
            </a:r>
          </a:p>
          <a:p>
            <a:pPr lvl="1"/>
            <a:r>
              <a:rPr lang="en-US" sz="2000" dirty="0"/>
              <a:t>Properties and characteristics</a:t>
            </a:r>
          </a:p>
          <a:p>
            <a:pPr lvl="1"/>
            <a:r>
              <a:rPr lang="en-US" sz="2000" dirty="0"/>
              <a:t>Benefits from cloud computing</a:t>
            </a:r>
          </a:p>
          <a:p>
            <a:endParaRPr lang="en-US" sz="2000" dirty="0"/>
          </a:p>
          <a:p>
            <a:r>
              <a:rPr lang="en-US" sz="2000" dirty="0"/>
              <a:t>Service and deployment models</a:t>
            </a:r>
          </a:p>
          <a:p>
            <a:pPr lvl="1"/>
            <a:r>
              <a:rPr lang="en-US" sz="2000" dirty="0"/>
              <a:t>Three service models</a:t>
            </a:r>
          </a:p>
          <a:p>
            <a:pPr lvl="1"/>
            <a:r>
              <a:rPr lang="en-US" sz="2000" dirty="0"/>
              <a:t>Four deployment models</a:t>
            </a:r>
          </a:p>
        </p:txBody>
      </p:sp>
      <p:sp>
        <p:nvSpPr>
          <p:cNvPr id="4" name="灯片编号占位符 3">
            <a:extLst>
              <a:ext uri="{FF2B5EF4-FFF2-40B4-BE49-F238E27FC236}">
                <a16:creationId xmlns:a16="http://schemas.microsoft.com/office/drawing/2014/main" id="{46134E72-FB3D-02C6-3FB8-8EBC62CC31E4}"/>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What do they say ?</a:t>
            </a:r>
          </a:p>
        </p:txBody>
      </p:sp>
      <p:pic>
        <p:nvPicPr>
          <p:cNvPr id="4" name="Picture 2" descr="C:\Users\Andy\AppData\Local\Microsoft\Windows\Temporary Internet Files\Content.IE5\OQIHRKSF\MPj04385260000[1].jpg"/>
          <p:cNvPicPr>
            <a:picLocks noChangeAspect="1" noChangeArrowheads="1"/>
          </p:cNvPicPr>
          <p:nvPr/>
        </p:nvPicPr>
        <p:blipFill>
          <a:blip r:embed="rId2" cstate="print"/>
          <a:srcRect/>
          <a:stretch>
            <a:fillRect/>
          </a:stretch>
        </p:blipFill>
        <p:spPr bwMode="auto">
          <a:xfrm>
            <a:off x="5397918" y="968724"/>
            <a:ext cx="3628748" cy="2422622"/>
          </a:xfrm>
          <a:prstGeom prst="rect">
            <a:avLst/>
          </a:prstGeom>
          <a:noFill/>
        </p:spPr>
      </p:pic>
      <p:sp>
        <p:nvSpPr>
          <p:cNvPr id="5" name="灯片编号占位符 4">
            <a:extLst>
              <a:ext uri="{FF2B5EF4-FFF2-40B4-BE49-F238E27FC236}">
                <a16:creationId xmlns:a16="http://schemas.microsoft.com/office/drawing/2014/main" id="{53D6B7D1-5772-D133-29A5-5AA0185B476B}"/>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308" y="108349"/>
            <a:ext cx="7769382" cy="519113"/>
          </a:xfrm>
        </p:spPr>
        <p:txBody>
          <a:bodyPr/>
          <a:lstStyle/>
          <a:p>
            <a:r>
              <a:rPr lang="en-US" dirty="0"/>
              <a:t>Cloud Disclaimers</a:t>
            </a:r>
          </a:p>
        </p:txBody>
      </p:sp>
      <p:sp>
        <p:nvSpPr>
          <p:cNvPr id="3" name="Content Placeholder 2"/>
          <p:cNvSpPr>
            <a:spLocks noGrp="1"/>
          </p:cNvSpPr>
          <p:nvPr>
            <p:ph idx="1"/>
          </p:nvPr>
        </p:nvSpPr>
        <p:spPr>
          <a:xfrm>
            <a:off x="1035781" y="800100"/>
            <a:ext cx="4337331" cy="3731439"/>
          </a:xfrm>
        </p:spPr>
        <p:txBody>
          <a:bodyPr/>
          <a:lstStyle/>
          <a:p>
            <a:pPr>
              <a:spcBef>
                <a:spcPts val="0"/>
              </a:spcBef>
            </a:pPr>
            <a:r>
              <a:rPr lang="en-US" sz="2000" dirty="0"/>
              <a:t>Talk from Oracle CEO </a:t>
            </a:r>
            <a:r>
              <a:rPr lang="en-US" sz="2000" b="1" i="1" dirty="0"/>
              <a:t>Larry Ellison</a:t>
            </a:r>
          </a:p>
          <a:p>
            <a:pPr lvl="1">
              <a:spcBef>
                <a:spcPts val="0"/>
              </a:spcBef>
            </a:pPr>
            <a:r>
              <a:rPr lang="en-US" sz="1600" dirty="0"/>
              <a:t>We’ve redefined Cloud Computing to include everything that we already do. I don’t understand what we would do differently other than change the wording of some of our ads.</a:t>
            </a:r>
          </a:p>
          <a:p>
            <a:pPr lvl="1">
              <a:spcBef>
                <a:spcPts val="0"/>
              </a:spcBef>
            </a:pPr>
            <a:endParaRPr lang="en-US" sz="1600" dirty="0"/>
          </a:p>
          <a:p>
            <a:pPr>
              <a:spcBef>
                <a:spcPts val="0"/>
              </a:spcBef>
            </a:pPr>
            <a:r>
              <a:rPr lang="en-US" sz="2000" dirty="0"/>
              <a:t>Talk from </a:t>
            </a:r>
            <a:r>
              <a:rPr lang="en-US" sz="2000" b="1" i="1" dirty="0"/>
              <a:t>Rich Stallman</a:t>
            </a:r>
          </a:p>
          <a:p>
            <a:pPr lvl="1">
              <a:spcBef>
                <a:spcPts val="0"/>
              </a:spcBef>
            </a:pPr>
            <a:r>
              <a:rPr lang="en-US" sz="1600" dirty="0"/>
              <a:t>It's stupidity. It's worse than stupidity: it's a marketing hype campaign. Somebody is saying this is inevitable – and whenever you hear somebody saying that, it's very likely to be a set of businesses campaigning to make it true.</a:t>
            </a:r>
          </a:p>
        </p:txBody>
      </p:sp>
      <p:pic>
        <p:nvPicPr>
          <p:cNvPr id="1032" name="Picture 8" descr="http://si.wsj.net/public/resources/images/OB-DN021_0420el_G_20090420094228.jpg"/>
          <p:cNvPicPr>
            <a:picLocks noChangeAspect="1" noChangeArrowheads="1"/>
          </p:cNvPicPr>
          <p:nvPr/>
        </p:nvPicPr>
        <p:blipFill>
          <a:blip r:embed="rId2" cstate="print"/>
          <a:srcRect/>
          <a:stretch>
            <a:fillRect/>
          </a:stretch>
        </p:blipFill>
        <p:spPr bwMode="auto">
          <a:xfrm>
            <a:off x="6145042" y="892622"/>
            <a:ext cx="2264076" cy="1510749"/>
          </a:xfrm>
          <a:prstGeom prst="roundRect">
            <a:avLst>
              <a:gd name="adj" fmla="val 4253"/>
            </a:avLst>
          </a:prstGeom>
          <a:noFill/>
          <a:effectLst>
            <a:outerShdw blurRad="63500" sx="102000" sy="102000" algn="ctr" rotWithShape="0">
              <a:prstClr val="black">
                <a:alpha val="40000"/>
              </a:prstClr>
            </a:outerShdw>
          </a:effectLst>
        </p:spPr>
      </p:pic>
      <p:pic>
        <p:nvPicPr>
          <p:cNvPr id="1036" name="Picture 12" descr="http://www.zdnet.com.au/story_media/339304541/stallman_1.jpg"/>
          <p:cNvPicPr>
            <a:picLocks noChangeAspect="1" noChangeArrowheads="1"/>
          </p:cNvPicPr>
          <p:nvPr/>
        </p:nvPicPr>
        <p:blipFill>
          <a:blip r:embed="rId3" cstate="print"/>
          <a:srcRect l="1744" t="7529" r="4244"/>
          <a:stretch>
            <a:fillRect/>
          </a:stretch>
        </p:blipFill>
        <p:spPr bwMode="auto">
          <a:xfrm>
            <a:off x="6145042" y="2826756"/>
            <a:ext cx="2264076" cy="1478843"/>
          </a:xfrm>
          <a:prstGeom prst="roundRect">
            <a:avLst>
              <a:gd name="adj" fmla="val 3872"/>
            </a:avLst>
          </a:prstGeom>
          <a:noFill/>
          <a:effectLst>
            <a:outerShdw blurRad="63500" sx="102000" sy="102000" algn="ctr" rotWithShape="0">
              <a:prstClr val="black">
                <a:alpha val="40000"/>
              </a:prstClr>
            </a:outerShdw>
          </a:effectLst>
        </p:spPr>
      </p:pic>
      <p:sp>
        <p:nvSpPr>
          <p:cNvPr id="4" name="灯片编号占位符 3">
            <a:extLst>
              <a:ext uri="{FF2B5EF4-FFF2-40B4-BE49-F238E27FC236}">
                <a16:creationId xmlns:a16="http://schemas.microsoft.com/office/drawing/2014/main" id="{FA9D3C1D-ACB5-881B-1736-CBCF4B78F833}"/>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124" y="108349"/>
            <a:ext cx="7785566" cy="519113"/>
          </a:xfrm>
        </p:spPr>
        <p:txBody>
          <a:bodyPr/>
          <a:lstStyle/>
          <a:p>
            <a:r>
              <a:rPr lang="en-US" dirty="0"/>
              <a:t>Cloud Definitions (1)</a:t>
            </a:r>
          </a:p>
        </p:txBody>
      </p:sp>
      <p:sp>
        <p:nvSpPr>
          <p:cNvPr id="3" name="Content Placeholder 2"/>
          <p:cNvSpPr>
            <a:spLocks noGrp="1"/>
          </p:cNvSpPr>
          <p:nvPr>
            <p:ph idx="1"/>
          </p:nvPr>
        </p:nvSpPr>
        <p:spPr>
          <a:xfrm>
            <a:off x="727639" y="847168"/>
            <a:ext cx="7948051" cy="2242541"/>
          </a:xfrm>
        </p:spPr>
        <p:txBody>
          <a:bodyPr/>
          <a:lstStyle/>
          <a:p>
            <a:r>
              <a:rPr lang="en-US" sz="2000" dirty="0"/>
              <a:t>Definition from </a:t>
            </a:r>
            <a:r>
              <a:rPr lang="en-US" sz="2000" dirty="0">
                <a:solidFill>
                  <a:srgbClr val="FF0000"/>
                </a:solidFill>
              </a:rPr>
              <a:t>NIST (National Institute of Standards and Technology)</a:t>
            </a:r>
          </a:p>
          <a:p>
            <a:pPr lvl="1"/>
            <a:r>
              <a:rPr lang="en-US" sz="1800" dirty="0"/>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a:p>
            <a:pPr lvl="1"/>
            <a:r>
              <a:rPr lang="en-US" sz="1800" dirty="0"/>
              <a:t>This cloud model promotes availability and is composed of five essential characteristics, three service models, and four deployment models.</a:t>
            </a:r>
          </a:p>
        </p:txBody>
      </p:sp>
      <p:pic>
        <p:nvPicPr>
          <p:cNvPr id="5122" name="Picture 2" descr="http://www.biometrics.org/bc2005/images/exhibitor_logos/NIST_logo_new.jpg"/>
          <p:cNvPicPr>
            <a:picLocks noChangeAspect="1" noChangeArrowheads="1"/>
          </p:cNvPicPr>
          <p:nvPr/>
        </p:nvPicPr>
        <p:blipFill>
          <a:blip r:embed="rId2" cstate="print"/>
          <a:srcRect l="1021" t="1905"/>
          <a:stretch>
            <a:fillRect/>
          </a:stretch>
        </p:blipFill>
        <p:spPr bwMode="auto">
          <a:xfrm>
            <a:off x="2282935" y="3484346"/>
            <a:ext cx="4578129" cy="937115"/>
          </a:xfrm>
          <a:prstGeom prst="rect">
            <a:avLst/>
          </a:prstGeom>
          <a:noFill/>
        </p:spPr>
      </p:pic>
      <p:sp>
        <p:nvSpPr>
          <p:cNvPr id="4" name="灯片编号占位符 3">
            <a:extLst>
              <a:ext uri="{FF2B5EF4-FFF2-40B4-BE49-F238E27FC236}">
                <a16:creationId xmlns:a16="http://schemas.microsoft.com/office/drawing/2014/main" id="{5417D3A4-B97B-275B-8A82-5D11E029180D}"/>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768" y="108349"/>
            <a:ext cx="7728922" cy="519113"/>
          </a:xfrm>
        </p:spPr>
        <p:txBody>
          <a:bodyPr/>
          <a:lstStyle/>
          <a:p>
            <a:r>
              <a:rPr lang="en-US" dirty="0"/>
              <a:t>Cloud Definitions (2)</a:t>
            </a:r>
          </a:p>
        </p:txBody>
      </p:sp>
      <p:sp>
        <p:nvSpPr>
          <p:cNvPr id="3" name="Content Placeholder 2"/>
          <p:cNvSpPr>
            <a:spLocks noGrp="1"/>
          </p:cNvSpPr>
          <p:nvPr>
            <p:ph idx="1"/>
          </p:nvPr>
        </p:nvSpPr>
        <p:spPr>
          <a:xfrm>
            <a:off x="1082816" y="808630"/>
            <a:ext cx="7343538" cy="2245170"/>
          </a:xfrm>
        </p:spPr>
        <p:txBody>
          <a:bodyPr/>
          <a:lstStyle/>
          <a:p>
            <a:pPr>
              <a:spcBef>
                <a:spcPts val="0"/>
              </a:spcBef>
            </a:pPr>
            <a:r>
              <a:rPr lang="en-US" sz="2000" dirty="0"/>
              <a:t>Definition from </a:t>
            </a:r>
            <a:r>
              <a:rPr lang="en-US" sz="2000" dirty="0">
                <a:solidFill>
                  <a:srgbClr val="FF0000"/>
                </a:solidFill>
              </a:rPr>
              <a:t>Wikipedia</a:t>
            </a:r>
          </a:p>
          <a:p>
            <a:pPr lvl="1">
              <a:spcBef>
                <a:spcPts val="0"/>
              </a:spcBef>
            </a:pPr>
            <a:r>
              <a:rPr lang="en-US" sz="2000" dirty="0"/>
              <a:t>Cloud computing is Internet-based computing, whereby shared resources, software, and information are provided to computers and other devices on demand, like the electricity grid.</a:t>
            </a:r>
          </a:p>
          <a:p>
            <a:pPr lvl="1">
              <a:spcBef>
                <a:spcPts val="0"/>
              </a:spcBef>
            </a:pPr>
            <a:r>
              <a:rPr lang="en-US" sz="2000" dirty="0"/>
              <a:t>Cloud computing is a style of computing in which dynamically scalable and often virtualized resources are provided as a service over the Internet.</a:t>
            </a:r>
          </a:p>
        </p:txBody>
      </p:sp>
      <p:pic>
        <p:nvPicPr>
          <p:cNvPr id="4098" name="Picture 2" descr="http://blogs.toonboom.com/professional/wp-content/uploads/2008/05/wikipedia-logo.png"/>
          <p:cNvPicPr>
            <a:picLocks noChangeAspect="1" noChangeArrowheads="1"/>
          </p:cNvPicPr>
          <p:nvPr/>
        </p:nvPicPr>
        <p:blipFill>
          <a:blip r:embed="rId2" cstate="print"/>
          <a:srcRect/>
          <a:stretch>
            <a:fillRect/>
          </a:stretch>
        </p:blipFill>
        <p:spPr bwMode="auto">
          <a:xfrm>
            <a:off x="6036882" y="3053800"/>
            <a:ext cx="1230144" cy="1510108"/>
          </a:xfrm>
          <a:prstGeom prst="rect">
            <a:avLst/>
          </a:prstGeom>
          <a:noFill/>
        </p:spPr>
      </p:pic>
      <p:pic>
        <p:nvPicPr>
          <p:cNvPr id="4100" name="Picture 4" descr="government datacentres"/>
          <p:cNvPicPr>
            <a:picLocks noChangeAspect="1" noChangeArrowheads="1"/>
          </p:cNvPicPr>
          <p:nvPr/>
        </p:nvPicPr>
        <p:blipFill>
          <a:blip r:embed="rId3" cstate="print"/>
          <a:srcRect/>
          <a:stretch>
            <a:fillRect/>
          </a:stretch>
        </p:blipFill>
        <p:spPr bwMode="auto">
          <a:xfrm>
            <a:off x="2997765" y="3134720"/>
            <a:ext cx="2426574" cy="1364451"/>
          </a:xfrm>
          <a:prstGeom prst="roundRect">
            <a:avLst>
              <a:gd name="adj" fmla="val 3412"/>
            </a:avLst>
          </a:prstGeom>
          <a:noFill/>
          <a:ln>
            <a:solidFill>
              <a:schemeClr val="accent1"/>
            </a:solidFill>
          </a:ln>
          <a:effectLst>
            <a:outerShdw blurRad="63500" sx="102000" sy="102000" algn="ctr" rotWithShape="0">
              <a:prstClr val="black">
                <a:alpha val="40000"/>
              </a:prstClr>
            </a:outerShdw>
          </a:effectLst>
        </p:spPr>
      </p:pic>
      <p:sp>
        <p:nvSpPr>
          <p:cNvPr id="4" name="灯片编号占位符 3">
            <a:extLst>
              <a:ext uri="{FF2B5EF4-FFF2-40B4-BE49-F238E27FC236}">
                <a16:creationId xmlns:a16="http://schemas.microsoft.com/office/drawing/2014/main" id="{3737A359-7471-F7BE-F999-27F8393FB82F}"/>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000" y="108349"/>
            <a:ext cx="7786690" cy="519113"/>
          </a:xfrm>
        </p:spPr>
        <p:txBody>
          <a:bodyPr/>
          <a:lstStyle/>
          <a:p>
            <a:r>
              <a:rPr lang="en-US" dirty="0"/>
              <a:t>Cloud Definitions (3)</a:t>
            </a:r>
          </a:p>
        </p:txBody>
      </p:sp>
      <p:grpSp>
        <p:nvGrpSpPr>
          <p:cNvPr id="8" name="组合 7">
            <a:extLst>
              <a:ext uri="{FF2B5EF4-FFF2-40B4-BE49-F238E27FC236}">
                <a16:creationId xmlns:a16="http://schemas.microsoft.com/office/drawing/2014/main" id="{B11F69C8-DBF0-43DB-B07F-02386F0DDE4D}"/>
              </a:ext>
            </a:extLst>
          </p:cNvPr>
          <p:cNvGrpSpPr/>
          <p:nvPr/>
        </p:nvGrpSpPr>
        <p:grpSpPr>
          <a:xfrm>
            <a:off x="2133599" y="2624069"/>
            <a:ext cx="4368801" cy="1804527"/>
            <a:chOff x="1943100" y="2800350"/>
            <a:chExt cx="5183394" cy="1971147"/>
          </a:xfrm>
        </p:grpSpPr>
        <p:pic>
          <p:nvPicPr>
            <p:cNvPr id="26626" name="Picture 2" descr="http://www.cs.brandeis.edu/~rshaull/cs33b/Internet-cartoon.png"/>
            <p:cNvPicPr>
              <a:picLocks noChangeAspect="1" noChangeArrowheads="1"/>
            </p:cNvPicPr>
            <p:nvPr/>
          </p:nvPicPr>
          <p:blipFill>
            <a:blip r:embed="rId2" cstate="print"/>
            <a:srcRect t="11667" b="13333"/>
            <a:stretch>
              <a:fillRect/>
            </a:stretch>
          </p:blipFill>
          <p:spPr bwMode="auto">
            <a:xfrm>
              <a:off x="1943100" y="2800350"/>
              <a:ext cx="2571750" cy="1928813"/>
            </a:xfrm>
            <a:prstGeom prst="rect">
              <a:avLst/>
            </a:prstGeom>
            <a:noFill/>
          </p:spPr>
        </p:pic>
        <p:pic>
          <p:nvPicPr>
            <p:cNvPr id="26628" name="Picture 4" descr="http://cloudcomputingserver.net/wp-content/uploads/2010/06/cloud-computing-server-001.jpg"/>
            <p:cNvPicPr>
              <a:picLocks noChangeAspect="1" noChangeArrowheads="1"/>
            </p:cNvPicPr>
            <p:nvPr/>
          </p:nvPicPr>
          <p:blipFill>
            <a:blip r:embed="rId3" cstate="print"/>
            <a:srcRect/>
            <a:stretch>
              <a:fillRect/>
            </a:stretch>
          </p:blipFill>
          <p:spPr bwMode="auto">
            <a:xfrm>
              <a:off x="5144029" y="2930483"/>
              <a:ext cx="1982465" cy="1841014"/>
            </a:xfrm>
            <a:prstGeom prst="rect">
              <a:avLst/>
            </a:prstGeom>
            <a:noFill/>
          </p:spPr>
        </p:pic>
        <p:sp>
          <p:nvSpPr>
            <p:cNvPr id="6" name="Right Arrow 5"/>
            <p:cNvSpPr/>
            <p:nvPr/>
          </p:nvSpPr>
          <p:spPr>
            <a:xfrm>
              <a:off x="4343400" y="3600450"/>
              <a:ext cx="457200" cy="400050"/>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350"/>
            </a:p>
          </p:txBody>
        </p:sp>
      </p:grpSp>
      <p:sp>
        <p:nvSpPr>
          <p:cNvPr id="7" name="Content Placeholder 2"/>
          <p:cNvSpPr txBox="1">
            <a:spLocks/>
          </p:cNvSpPr>
          <p:nvPr/>
        </p:nvSpPr>
        <p:spPr>
          <a:xfrm>
            <a:off x="1003302" y="800099"/>
            <a:ext cx="7251699" cy="1719331"/>
          </a:xfrm>
          <a:prstGeom prst="rect">
            <a:avLst/>
          </a:prstGeom>
        </p:spPr>
        <p:txBody>
          <a:bodyPr vert="horz" lIns="68580" tIns="34290" rIns="68580" bIns="34290" rtlCol="0">
            <a:noAutofit/>
          </a:bodyPr>
          <a:lstStyle/>
          <a:p>
            <a:pPr marL="342900" indent="-342900" defTabSz="685800">
              <a:spcBef>
                <a:spcPts val="300"/>
              </a:spcBef>
              <a:buClr>
                <a:srgbClr val="0000FF"/>
              </a:buClr>
              <a:buSzPct val="80000"/>
              <a:buFont typeface="Wingdings" panose="05000000000000000000" pitchFamily="2" charset="2"/>
              <a:buChar char="l"/>
              <a:defRPr/>
            </a:pPr>
            <a:r>
              <a:rPr lang="en-US" sz="2000" dirty="0">
                <a:latin typeface="Times New Roman" panose="02020603050405020304" pitchFamily="18" charset="0"/>
                <a:cs typeface="Times New Roman" panose="02020603050405020304" pitchFamily="18" charset="0"/>
              </a:rPr>
              <a:t>Definition from </a:t>
            </a:r>
            <a:r>
              <a:rPr lang="en-US" sz="2000" i="1" dirty="0">
                <a:solidFill>
                  <a:srgbClr val="FF0000"/>
                </a:solidFill>
                <a:latin typeface="Times New Roman" panose="02020603050405020304" pitchFamily="18" charset="0"/>
                <a:cs typeface="Times New Roman" panose="02020603050405020304" pitchFamily="18" charset="0"/>
              </a:rPr>
              <a:t>Whatis.com</a:t>
            </a:r>
          </a:p>
          <a:p>
            <a:pPr marL="800100" lvl="1" indent="-342900" defTabSz="685800">
              <a:spcBef>
                <a:spcPts val="300"/>
              </a:spcBef>
              <a:buClr>
                <a:srgbClr val="0000FF"/>
              </a:buClr>
              <a:buSzPct val="80000"/>
              <a:buFont typeface="Symbol" panose="05050102010706020507" pitchFamily="18" charset="2"/>
              <a:buChar char="-"/>
              <a:defRPr/>
            </a:pPr>
            <a:r>
              <a:rPr lang="en-US" sz="2000" dirty="0">
                <a:latin typeface="Times New Roman" panose="02020603050405020304" pitchFamily="18" charset="0"/>
                <a:cs typeface="Times New Roman" panose="02020603050405020304" pitchFamily="18" charset="0"/>
              </a:rPr>
              <a:t>The name cloud computing was inspired by the cloud symbol that's often used to represent the Internet in flowcharts and diagrams. Cloud computing is a general term for anything that involves </a:t>
            </a:r>
            <a:r>
              <a:rPr lang="en-US" sz="2000" dirty="0">
                <a:solidFill>
                  <a:srgbClr val="FF0000"/>
                </a:solidFill>
                <a:latin typeface="Times New Roman" panose="02020603050405020304" pitchFamily="18" charset="0"/>
                <a:cs typeface="Times New Roman" panose="02020603050405020304" pitchFamily="18" charset="0"/>
              </a:rPr>
              <a:t>delivering hosted services over the Internet. </a:t>
            </a:r>
          </a:p>
        </p:txBody>
      </p:sp>
      <p:sp>
        <p:nvSpPr>
          <p:cNvPr id="9" name="灯片编号占位符 8">
            <a:extLst>
              <a:ext uri="{FF2B5EF4-FFF2-40B4-BE49-F238E27FC236}">
                <a16:creationId xmlns:a16="http://schemas.microsoft.com/office/drawing/2014/main" id="{3B137FD5-8AAC-8E2E-6921-7A0E0DD6ED01}"/>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6063" y="797512"/>
            <a:ext cx="7378666" cy="3394472"/>
          </a:xfrm>
        </p:spPr>
        <p:txBody>
          <a:bodyPr>
            <a:noAutofit/>
          </a:bodyPr>
          <a:lstStyle/>
          <a:p>
            <a:pPr>
              <a:spcBef>
                <a:spcPts val="0"/>
              </a:spcBef>
            </a:pPr>
            <a:r>
              <a:rPr lang="en-US" sz="2000" dirty="0"/>
              <a:t>Definition from </a:t>
            </a:r>
            <a:r>
              <a:rPr lang="en-US" sz="2000" b="1" i="1" dirty="0"/>
              <a:t>Berkeley</a:t>
            </a:r>
          </a:p>
          <a:p>
            <a:pPr lvl="1">
              <a:spcBef>
                <a:spcPts val="0"/>
              </a:spcBef>
            </a:pPr>
            <a:r>
              <a:rPr lang="en-US" sz="2000" dirty="0"/>
              <a:t>Cloud Computing refers to both the applications delivered as services over the Internet and the hardware and systems software in the datacenters that provide those services.</a:t>
            </a:r>
          </a:p>
          <a:p>
            <a:pPr lvl="1">
              <a:spcBef>
                <a:spcPts val="0"/>
              </a:spcBef>
            </a:pPr>
            <a:r>
              <a:rPr lang="en-US" sz="2000" dirty="0"/>
              <a:t>The services themselves have long been referred to as Software as a Service (</a:t>
            </a:r>
            <a:r>
              <a:rPr lang="en-US" sz="2000" dirty="0" err="1"/>
              <a:t>SaaS</a:t>
            </a:r>
            <a:r>
              <a:rPr lang="en-US" sz="2000" dirty="0"/>
              <a:t>), so we use that term. The datacenter hardware and software is what we will call a Cloud.</a:t>
            </a:r>
          </a:p>
          <a:p>
            <a:pPr lvl="1">
              <a:spcBef>
                <a:spcPts val="0"/>
              </a:spcBef>
            </a:pPr>
            <a:r>
              <a:rPr lang="en-US" sz="2000" dirty="0"/>
              <a:t>When a Cloud is made available </a:t>
            </a:r>
            <a:br>
              <a:rPr lang="en-US" sz="2000" dirty="0"/>
            </a:br>
            <a:r>
              <a:rPr lang="en-US" sz="2000" dirty="0"/>
              <a:t> in a pay-as-you-go manner to the</a:t>
            </a:r>
            <a:br>
              <a:rPr lang="en-US" sz="2000" dirty="0"/>
            </a:br>
            <a:r>
              <a:rPr lang="en-US" sz="2000" dirty="0"/>
              <a:t>public, the service being sold is</a:t>
            </a:r>
            <a:br>
              <a:rPr lang="en-US" sz="2000" dirty="0"/>
            </a:br>
            <a:r>
              <a:rPr lang="en-US" sz="2000" dirty="0"/>
              <a:t>Utility Computing.</a:t>
            </a:r>
          </a:p>
        </p:txBody>
      </p:sp>
      <p:sp>
        <p:nvSpPr>
          <p:cNvPr id="2" name="Title 1"/>
          <p:cNvSpPr>
            <a:spLocks noGrp="1"/>
          </p:cNvSpPr>
          <p:nvPr>
            <p:ph type="title"/>
          </p:nvPr>
        </p:nvSpPr>
        <p:spPr>
          <a:xfrm>
            <a:off x="976062" y="108349"/>
            <a:ext cx="7699627" cy="519113"/>
          </a:xfrm>
        </p:spPr>
        <p:txBody>
          <a:bodyPr/>
          <a:lstStyle/>
          <a:p>
            <a:r>
              <a:rPr lang="en-US" dirty="0"/>
              <a:t>Cloud Definitions (4)</a:t>
            </a:r>
          </a:p>
        </p:txBody>
      </p:sp>
      <p:pic>
        <p:nvPicPr>
          <p:cNvPr id="2052" name="Picture 4" descr="http://cloudtp.com/images/Crossing%20Bridge%20to%20Cloud%20Computing.jpg"/>
          <p:cNvPicPr>
            <a:picLocks noChangeAspect="1" noChangeArrowheads="1"/>
          </p:cNvPicPr>
          <p:nvPr/>
        </p:nvPicPr>
        <p:blipFill>
          <a:blip r:embed="rId2" cstate="print"/>
          <a:srcRect/>
          <a:stretch>
            <a:fillRect/>
          </a:stretch>
        </p:blipFill>
        <p:spPr bwMode="auto">
          <a:xfrm>
            <a:off x="6941938" y="3019024"/>
            <a:ext cx="2070637" cy="1552978"/>
          </a:xfrm>
          <a:prstGeom prst="roundRect">
            <a:avLst>
              <a:gd name="adj" fmla="val 4096"/>
            </a:avLst>
          </a:prstGeom>
          <a:noFill/>
          <a:effectLst>
            <a:outerShdw blurRad="63500" sx="102000" sy="102000" algn="ctr" rotWithShape="0">
              <a:prstClr val="black">
                <a:alpha val="40000"/>
              </a:prstClr>
            </a:outerShdw>
          </a:effectLst>
        </p:spPr>
      </p:pic>
      <p:sp>
        <p:nvSpPr>
          <p:cNvPr id="4" name="灯片编号占位符 3">
            <a:extLst>
              <a:ext uri="{FF2B5EF4-FFF2-40B4-BE49-F238E27FC236}">
                <a16:creationId xmlns:a16="http://schemas.microsoft.com/office/drawing/2014/main" id="{A99F9246-96C9-76CF-2711-4EDFC2A4409C}"/>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276" y="108349"/>
            <a:ext cx="7732414" cy="519113"/>
          </a:xfrm>
        </p:spPr>
        <p:txBody>
          <a:bodyPr/>
          <a:lstStyle/>
          <a:p>
            <a:r>
              <a:rPr lang="en-US" dirty="0"/>
              <a:t>Cloud Definitions (5)</a:t>
            </a:r>
          </a:p>
        </p:txBody>
      </p:sp>
      <p:sp>
        <p:nvSpPr>
          <p:cNvPr id="3" name="Content Placeholder 2"/>
          <p:cNvSpPr>
            <a:spLocks noGrp="1"/>
          </p:cNvSpPr>
          <p:nvPr>
            <p:ph idx="1"/>
          </p:nvPr>
        </p:nvSpPr>
        <p:spPr>
          <a:xfrm>
            <a:off x="1072014" y="835820"/>
            <a:ext cx="7732414" cy="2090260"/>
          </a:xfrm>
        </p:spPr>
        <p:txBody>
          <a:bodyPr/>
          <a:lstStyle/>
          <a:p>
            <a:r>
              <a:rPr lang="en-US" sz="2000" dirty="0"/>
              <a:t>Definition from </a:t>
            </a:r>
            <a:r>
              <a:rPr lang="en-US" sz="2000" b="1" i="1" dirty="0" err="1"/>
              <a:t>Buyya</a:t>
            </a:r>
            <a:endParaRPr lang="en-US" sz="2000" b="1" i="1" dirty="0"/>
          </a:p>
          <a:p>
            <a:pPr lvl="1"/>
            <a:r>
              <a:rPr lang="en-US" sz="2000" dirty="0"/>
              <a:t>A Cloud is a type of parallel and distributed system consisting of a collection of interconnected and virtualized computers that are dynamically provisioned and presented as one or more unified computing resources based on service-level agreements established through negotiation between the service provider and consumers.</a:t>
            </a:r>
          </a:p>
        </p:txBody>
      </p:sp>
      <p:pic>
        <p:nvPicPr>
          <p:cNvPr id="25602" name="Picture 2" descr="http://www.amaxit.net/corporatesolutions/images/cloud-computing.jpg"/>
          <p:cNvPicPr>
            <a:picLocks noChangeAspect="1" noChangeArrowheads="1"/>
          </p:cNvPicPr>
          <p:nvPr/>
        </p:nvPicPr>
        <p:blipFill>
          <a:blip r:embed="rId2" cstate="print"/>
          <a:srcRect/>
          <a:stretch>
            <a:fillRect/>
          </a:stretch>
        </p:blipFill>
        <p:spPr bwMode="auto">
          <a:xfrm>
            <a:off x="3883944" y="3124091"/>
            <a:ext cx="3659856" cy="1438284"/>
          </a:xfrm>
          <a:prstGeom prst="rect">
            <a:avLst/>
          </a:prstGeom>
          <a:noFill/>
        </p:spPr>
      </p:pic>
      <p:pic>
        <p:nvPicPr>
          <p:cNvPr id="25606" name="Picture 6" descr="http://www.buyya.com/photos/rajkumar4.jpg">
            <a:hlinkClick r:id="rId3"/>
          </p:cNvPr>
          <p:cNvPicPr>
            <a:picLocks noChangeAspect="1" noChangeArrowheads="1"/>
          </p:cNvPicPr>
          <p:nvPr/>
        </p:nvPicPr>
        <p:blipFill>
          <a:blip r:embed="rId4" cstate="print"/>
          <a:srcRect/>
          <a:stretch>
            <a:fillRect/>
          </a:stretch>
        </p:blipFill>
        <p:spPr bwMode="auto">
          <a:xfrm>
            <a:off x="2596626" y="3134438"/>
            <a:ext cx="1027074" cy="1312645"/>
          </a:xfrm>
          <a:prstGeom prst="roundRect">
            <a:avLst>
              <a:gd name="adj" fmla="val 2990"/>
            </a:avLst>
          </a:prstGeom>
          <a:noFill/>
          <a:effectLst>
            <a:outerShdw blurRad="63500" sx="102000" sy="102000" algn="ctr" rotWithShape="0">
              <a:prstClr val="black">
                <a:alpha val="40000"/>
              </a:prstClr>
            </a:outerShdw>
          </a:effectLst>
        </p:spPr>
      </p:pic>
      <p:sp>
        <p:nvSpPr>
          <p:cNvPr id="5" name="灯片编号占位符 4">
            <a:extLst>
              <a:ext uri="{FF2B5EF4-FFF2-40B4-BE49-F238E27FC236}">
                <a16:creationId xmlns:a16="http://schemas.microsoft.com/office/drawing/2014/main" id="{7F4C8576-69C6-98E8-D9C7-EC3D722AB298}"/>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dy\AppData\Local\Microsoft\Windows\Temporary Internet Files\Content.IE5\6G0SQY1U\MPj04422320000[1].jpg"/>
          <p:cNvPicPr>
            <a:picLocks noChangeAspect="1" noChangeArrowheads="1"/>
          </p:cNvPicPr>
          <p:nvPr/>
        </p:nvPicPr>
        <p:blipFill>
          <a:blip r:embed="rId2" cstate="print"/>
          <a:srcRect/>
          <a:stretch>
            <a:fillRect/>
          </a:stretch>
        </p:blipFill>
        <p:spPr bwMode="auto">
          <a:xfrm>
            <a:off x="1257300" y="2226829"/>
            <a:ext cx="6629400" cy="1945121"/>
          </a:xfrm>
          <a:prstGeom prst="roundRect">
            <a:avLst>
              <a:gd name="adj" fmla="val 1137"/>
            </a:avLst>
          </a:prstGeom>
          <a:noFill/>
          <a:effectLst>
            <a:outerShdw blurRad="63500" sx="102000" sy="102000" algn="ctr" rotWithShape="0">
              <a:prstClr val="black">
                <a:alpha val="40000"/>
              </a:prstClr>
            </a:outerShdw>
          </a:effectLst>
        </p:spPr>
      </p:pic>
      <p:sp>
        <p:nvSpPr>
          <p:cNvPr id="3" name="Rectangle 2"/>
          <p:cNvSpPr/>
          <p:nvPr/>
        </p:nvSpPr>
        <p:spPr>
          <a:xfrm>
            <a:off x="1104388" y="1314450"/>
            <a:ext cx="6935232" cy="761747"/>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5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Even More Confusing ??</a:t>
            </a:r>
          </a:p>
        </p:txBody>
      </p:sp>
      <p:sp>
        <p:nvSpPr>
          <p:cNvPr id="4" name="灯片编号占位符 3">
            <a:extLst>
              <a:ext uri="{FF2B5EF4-FFF2-40B4-BE49-F238E27FC236}">
                <a16:creationId xmlns:a16="http://schemas.microsoft.com/office/drawing/2014/main" id="{F7E54E00-17FA-5CD9-8607-CC8BB39FBCEB}"/>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Properties and characteristics</a:t>
            </a:r>
          </a:p>
        </p:txBody>
      </p:sp>
      <p:grpSp>
        <p:nvGrpSpPr>
          <p:cNvPr id="7" name="组合 6">
            <a:extLst>
              <a:ext uri="{FF2B5EF4-FFF2-40B4-BE49-F238E27FC236}">
                <a16:creationId xmlns:a16="http://schemas.microsoft.com/office/drawing/2014/main" id="{8CFDA6F9-9612-99A1-7073-45CF70DE2A6C}"/>
              </a:ext>
            </a:extLst>
          </p:cNvPr>
          <p:cNvGrpSpPr/>
          <p:nvPr/>
        </p:nvGrpSpPr>
        <p:grpSpPr>
          <a:xfrm>
            <a:off x="5942970" y="1102468"/>
            <a:ext cx="3201030" cy="1968968"/>
            <a:chOff x="2914650" y="306833"/>
            <a:chExt cx="5031635" cy="2836417"/>
          </a:xfrm>
        </p:grpSpPr>
        <p:pic>
          <p:nvPicPr>
            <p:cNvPr id="4" name="Picture 7" descr="http://www.ipadrblog.com/BlindMenandElephant.jpg"/>
            <p:cNvPicPr>
              <a:picLocks noChangeAspect="1" noChangeArrowheads="1"/>
            </p:cNvPicPr>
            <p:nvPr/>
          </p:nvPicPr>
          <p:blipFill>
            <a:blip r:embed="rId2" cstate="print"/>
            <a:srcRect/>
            <a:stretch>
              <a:fillRect/>
            </a:stretch>
          </p:blipFill>
          <p:spPr bwMode="auto">
            <a:xfrm>
              <a:off x="4296145" y="597277"/>
              <a:ext cx="3650140" cy="2545973"/>
            </a:xfrm>
            <a:prstGeom prst="rect">
              <a:avLst/>
            </a:prstGeom>
            <a:noFill/>
          </p:spPr>
        </p:pic>
        <p:pic>
          <p:nvPicPr>
            <p:cNvPr id="5" name="Picture 8" descr="C:\Users\Andy\AppData\Local\Microsoft\Windows\Temporary Internet Files\Content.IE5\OQIHRKSF\MCj04418090000[1].png"/>
            <p:cNvPicPr>
              <a:picLocks noChangeAspect="1" noChangeArrowheads="1"/>
            </p:cNvPicPr>
            <p:nvPr/>
          </p:nvPicPr>
          <p:blipFill>
            <a:blip r:embed="rId3" cstate="print"/>
            <a:srcRect t="19444" b="22222"/>
            <a:stretch>
              <a:fillRect/>
            </a:stretch>
          </p:blipFill>
          <p:spPr bwMode="auto">
            <a:xfrm>
              <a:off x="2914650" y="306833"/>
              <a:ext cx="2057400" cy="1200150"/>
            </a:xfrm>
            <a:prstGeom prst="rect">
              <a:avLst/>
            </a:prstGeom>
            <a:noFill/>
          </p:spPr>
        </p:pic>
      </p:grpSp>
      <p:sp>
        <p:nvSpPr>
          <p:cNvPr id="6" name="灯片编号占位符 5">
            <a:extLst>
              <a:ext uri="{FF2B5EF4-FFF2-40B4-BE49-F238E27FC236}">
                <a16:creationId xmlns:a16="http://schemas.microsoft.com/office/drawing/2014/main" id="{56684607-867C-D716-9286-63F4361A37F1}"/>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dy\AppData\Local\Microsoft\Windows\Temporary Internet Files\Content.IE5\OHTRCXWF\MPj03992210000[1].jpg"/>
          <p:cNvPicPr>
            <a:picLocks noChangeAspect="1" noChangeArrowheads="1"/>
          </p:cNvPicPr>
          <p:nvPr/>
        </p:nvPicPr>
        <p:blipFill>
          <a:blip r:embed="rId2" cstate="print"/>
          <a:srcRect l="15830" r="13702"/>
          <a:stretch>
            <a:fillRect/>
          </a:stretch>
        </p:blipFill>
        <p:spPr bwMode="auto">
          <a:xfrm>
            <a:off x="7211422" y="1953927"/>
            <a:ext cx="1739038" cy="2467859"/>
          </a:xfrm>
          <a:prstGeom prst="rect">
            <a:avLst/>
          </a:prstGeom>
          <a:noFill/>
        </p:spPr>
      </p:pic>
      <p:sp>
        <p:nvSpPr>
          <p:cNvPr id="2" name="Title 1"/>
          <p:cNvSpPr>
            <a:spLocks noGrp="1"/>
          </p:cNvSpPr>
          <p:nvPr>
            <p:ph type="title"/>
          </p:nvPr>
        </p:nvSpPr>
        <p:spPr>
          <a:xfrm>
            <a:off x="904774" y="108349"/>
            <a:ext cx="7770915" cy="519113"/>
          </a:xfrm>
        </p:spPr>
        <p:txBody>
          <a:bodyPr/>
          <a:lstStyle/>
          <a:p>
            <a:r>
              <a:rPr lang="en-US" dirty="0"/>
              <a:t>In Our Humble Opinion (1)</a:t>
            </a:r>
          </a:p>
        </p:txBody>
      </p:sp>
      <p:sp>
        <p:nvSpPr>
          <p:cNvPr id="5" name="灯片编号占位符 4">
            <a:extLst>
              <a:ext uri="{FF2B5EF4-FFF2-40B4-BE49-F238E27FC236}">
                <a16:creationId xmlns:a16="http://schemas.microsoft.com/office/drawing/2014/main" id="{BA35679E-52EE-A56C-56AA-FD2C46DC7B00}"/>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3" name="Content Placeholder 2"/>
          <p:cNvSpPr>
            <a:spLocks noGrp="1"/>
          </p:cNvSpPr>
          <p:nvPr>
            <p:ph idx="1"/>
          </p:nvPr>
        </p:nvSpPr>
        <p:spPr>
          <a:xfrm>
            <a:off x="904774" y="830650"/>
            <a:ext cx="7238200" cy="2076179"/>
          </a:xfrm>
        </p:spPr>
        <p:txBody>
          <a:bodyPr>
            <a:noAutofit/>
          </a:bodyPr>
          <a:lstStyle/>
          <a:p>
            <a:pPr>
              <a:spcBef>
                <a:spcPts val="0"/>
              </a:spcBef>
            </a:pPr>
            <a:r>
              <a:rPr lang="en-US" sz="2000" dirty="0"/>
              <a:t>Cloud computing is a paradigm of computing, a new way of thinking about IT industry but not any specific technology.</a:t>
            </a:r>
          </a:p>
          <a:p>
            <a:pPr lvl="1">
              <a:spcBef>
                <a:spcPts val="0"/>
              </a:spcBef>
            </a:pPr>
            <a:r>
              <a:rPr lang="en-US" sz="2000" dirty="0"/>
              <a:t>Central ideas</a:t>
            </a:r>
          </a:p>
          <a:p>
            <a:pPr lvl="2">
              <a:spcBef>
                <a:spcPts val="0"/>
              </a:spcBef>
            </a:pPr>
            <a:r>
              <a:rPr lang="en-US" dirty="0">
                <a:latin typeface="Times New Roman" panose="02020603050405020304" pitchFamily="18" charset="0"/>
                <a:cs typeface="Times New Roman" panose="02020603050405020304" pitchFamily="18" charset="0"/>
              </a:rPr>
              <a:t>Utility Computing</a:t>
            </a:r>
          </a:p>
          <a:p>
            <a:pPr lvl="2">
              <a:spcBef>
                <a:spcPts val="0"/>
              </a:spcBef>
            </a:pPr>
            <a:r>
              <a:rPr lang="en-US" dirty="0">
                <a:latin typeface="Times New Roman" panose="02020603050405020304" pitchFamily="18" charset="0"/>
                <a:cs typeface="Times New Roman" panose="02020603050405020304" pitchFamily="18" charset="0"/>
              </a:rPr>
              <a:t>SOA - Service Oriented Architecture</a:t>
            </a:r>
          </a:p>
          <a:p>
            <a:pPr lvl="2">
              <a:spcBef>
                <a:spcPts val="0"/>
              </a:spcBef>
            </a:pPr>
            <a:r>
              <a:rPr lang="en-US" dirty="0">
                <a:latin typeface="Times New Roman" panose="02020603050405020304" pitchFamily="18" charset="0"/>
                <a:cs typeface="Times New Roman" panose="02020603050405020304" pitchFamily="18" charset="0"/>
              </a:rPr>
              <a:t>SLA - Service Level Agreement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4" y="108349"/>
            <a:ext cx="7770915" cy="519113"/>
          </a:xfrm>
        </p:spPr>
        <p:txBody>
          <a:bodyPr/>
          <a:lstStyle/>
          <a:p>
            <a:r>
              <a:rPr lang="en-US" dirty="0"/>
              <a:t>In Our Humble Opinion (2)</a:t>
            </a:r>
          </a:p>
        </p:txBody>
      </p:sp>
      <p:sp>
        <p:nvSpPr>
          <p:cNvPr id="5" name="灯片编号占位符 4">
            <a:extLst>
              <a:ext uri="{FF2B5EF4-FFF2-40B4-BE49-F238E27FC236}">
                <a16:creationId xmlns:a16="http://schemas.microsoft.com/office/drawing/2014/main" id="{BA35679E-52EE-A56C-56AA-FD2C46DC7B00}"/>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3" name="Content Placeholder 2"/>
          <p:cNvSpPr>
            <a:spLocks noGrp="1"/>
          </p:cNvSpPr>
          <p:nvPr>
            <p:ph idx="1"/>
          </p:nvPr>
        </p:nvSpPr>
        <p:spPr>
          <a:xfrm>
            <a:off x="981776" y="878776"/>
            <a:ext cx="7026443" cy="2653695"/>
          </a:xfrm>
        </p:spPr>
        <p:txBody>
          <a:bodyPr>
            <a:noAutofit/>
          </a:bodyPr>
          <a:lstStyle/>
          <a:p>
            <a:pPr>
              <a:spcBef>
                <a:spcPts val="0"/>
              </a:spcBef>
            </a:pPr>
            <a:r>
              <a:rPr lang="en-US" sz="2000" dirty="0"/>
              <a:t>Cloud computing is a paradigm of computing, a new way of thinking about IT industry but not any specific technology</a:t>
            </a:r>
          </a:p>
          <a:p>
            <a:pPr lvl="1">
              <a:spcBef>
                <a:spcPts val="0"/>
              </a:spcBef>
            </a:pPr>
            <a:r>
              <a:rPr lang="en-US" sz="2000" dirty="0"/>
              <a:t>Properties and characteristics</a:t>
            </a:r>
          </a:p>
          <a:p>
            <a:pPr lvl="2">
              <a:spcBef>
                <a:spcPts val="0"/>
              </a:spcBef>
            </a:pPr>
            <a:r>
              <a:rPr lang="en-US" dirty="0">
                <a:latin typeface="Times New Roman" panose="02020603050405020304" pitchFamily="18" charset="0"/>
                <a:cs typeface="Times New Roman" panose="02020603050405020304" pitchFamily="18" charset="0"/>
              </a:rPr>
              <a:t>High scalability and elasticity</a:t>
            </a:r>
          </a:p>
          <a:p>
            <a:pPr lvl="2">
              <a:spcBef>
                <a:spcPts val="0"/>
              </a:spcBef>
            </a:pPr>
            <a:r>
              <a:rPr lang="en-US" dirty="0">
                <a:latin typeface="Times New Roman" panose="02020603050405020304" pitchFamily="18" charset="0"/>
                <a:cs typeface="Times New Roman" panose="02020603050405020304" pitchFamily="18" charset="0"/>
              </a:rPr>
              <a:t>High availability and reliability</a:t>
            </a:r>
          </a:p>
          <a:p>
            <a:pPr lvl="2">
              <a:spcBef>
                <a:spcPts val="0"/>
              </a:spcBef>
            </a:pPr>
            <a:r>
              <a:rPr lang="en-US" dirty="0">
                <a:latin typeface="Times New Roman" panose="02020603050405020304" pitchFamily="18" charset="0"/>
                <a:cs typeface="Times New Roman" panose="02020603050405020304" pitchFamily="18" charset="0"/>
              </a:rPr>
              <a:t>High manageability and interoperability</a:t>
            </a:r>
          </a:p>
          <a:p>
            <a:pPr lvl="2">
              <a:spcBef>
                <a:spcPts val="0"/>
              </a:spcBef>
            </a:pPr>
            <a:r>
              <a:rPr lang="en-US" dirty="0">
                <a:latin typeface="Times New Roman" panose="02020603050405020304" pitchFamily="18" charset="0"/>
                <a:cs typeface="Times New Roman" panose="02020603050405020304" pitchFamily="18" charset="0"/>
              </a:rPr>
              <a:t>High accessibility and portability</a:t>
            </a:r>
          </a:p>
          <a:p>
            <a:pPr lvl="2">
              <a:spcBef>
                <a:spcPts val="0"/>
              </a:spcBef>
            </a:pPr>
            <a:r>
              <a:rPr lang="en-US" dirty="0">
                <a:latin typeface="Times New Roman" panose="02020603050405020304" pitchFamily="18" charset="0"/>
                <a:cs typeface="Times New Roman" panose="02020603050405020304" pitchFamily="18" charset="0"/>
              </a:rPr>
              <a:t>High performance and optimization</a:t>
            </a:r>
          </a:p>
        </p:txBody>
      </p:sp>
      <p:pic>
        <p:nvPicPr>
          <p:cNvPr id="6" name="Picture 2" descr="C:\Users\Andy\AppData\Local\Microsoft\Windows\Temporary Internet Files\Content.IE5\OHTRCXWF\MPj03992210000[1].jpg">
            <a:extLst>
              <a:ext uri="{FF2B5EF4-FFF2-40B4-BE49-F238E27FC236}">
                <a16:creationId xmlns:a16="http://schemas.microsoft.com/office/drawing/2014/main" id="{62520A9D-0AA9-C1F9-6D6C-D7FA14AE98BD}"/>
              </a:ext>
            </a:extLst>
          </p:cNvPr>
          <p:cNvPicPr>
            <a:picLocks noChangeAspect="1" noChangeArrowheads="1"/>
          </p:cNvPicPr>
          <p:nvPr/>
        </p:nvPicPr>
        <p:blipFill>
          <a:blip r:embed="rId2" cstate="print"/>
          <a:srcRect l="15830" r="13702"/>
          <a:stretch>
            <a:fillRect/>
          </a:stretch>
        </p:blipFill>
        <p:spPr bwMode="auto">
          <a:xfrm>
            <a:off x="7211422" y="1953927"/>
            <a:ext cx="1739038" cy="2467859"/>
          </a:xfrm>
          <a:prstGeom prst="rect">
            <a:avLst/>
          </a:prstGeom>
          <a:noFill/>
        </p:spPr>
      </p:pic>
    </p:spTree>
    <p:extLst>
      <p:ext uri="{BB962C8B-B14F-4D97-AF65-F5344CB8AC3E}">
        <p14:creationId xmlns:p14="http://schemas.microsoft.com/office/powerpoint/2010/main" val="4006111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4" y="108349"/>
            <a:ext cx="7770915" cy="519113"/>
          </a:xfrm>
        </p:spPr>
        <p:txBody>
          <a:bodyPr/>
          <a:lstStyle/>
          <a:p>
            <a:r>
              <a:rPr lang="en-US" dirty="0"/>
              <a:t>In Our Humble Opinion (3)</a:t>
            </a:r>
          </a:p>
        </p:txBody>
      </p:sp>
      <p:sp>
        <p:nvSpPr>
          <p:cNvPr id="5" name="灯片编号占位符 4">
            <a:extLst>
              <a:ext uri="{FF2B5EF4-FFF2-40B4-BE49-F238E27FC236}">
                <a16:creationId xmlns:a16="http://schemas.microsoft.com/office/drawing/2014/main" id="{BA35679E-52EE-A56C-56AA-FD2C46DC7B00}"/>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
        <p:nvSpPr>
          <p:cNvPr id="3" name="Content Placeholder 2"/>
          <p:cNvSpPr>
            <a:spLocks noGrp="1"/>
          </p:cNvSpPr>
          <p:nvPr>
            <p:ph idx="1"/>
          </p:nvPr>
        </p:nvSpPr>
        <p:spPr>
          <a:xfrm>
            <a:off x="972151" y="830651"/>
            <a:ext cx="6728060" cy="2037678"/>
          </a:xfrm>
        </p:spPr>
        <p:txBody>
          <a:bodyPr>
            <a:noAutofit/>
          </a:bodyPr>
          <a:lstStyle/>
          <a:p>
            <a:pPr>
              <a:spcBef>
                <a:spcPts val="0"/>
              </a:spcBef>
            </a:pPr>
            <a:r>
              <a:rPr lang="en-US" sz="2000" dirty="0"/>
              <a:t>Cloud computing is a paradigm of computing, a new way of thinking about IT industry but not any specific technology.</a:t>
            </a:r>
          </a:p>
          <a:p>
            <a:pPr lvl="1">
              <a:spcBef>
                <a:spcPts val="0"/>
              </a:spcBef>
            </a:pPr>
            <a:r>
              <a:rPr lang="en-US" sz="2000" dirty="0"/>
              <a:t>Enabling techniques</a:t>
            </a:r>
          </a:p>
          <a:p>
            <a:pPr lvl="2">
              <a:spcBef>
                <a:spcPts val="0"/>
              </a:spcBef>
            </a:pPr>
            <a:r>
              <a:rPr lang="en-US" dirty="0">
                <a:latin typeface="Times New Roman" panose="02020603050405020304" pitchFamily="18" charset="0"/>
                <a:cs typeface="Times New Roman" panose="02020603050405020304" pitchFamily="18" charset="0"/>
              </a:rPr>
              <a:t>Hardware virtualization</a:t>
            </a:r>
          </a:p>
          <a:p>
            <a:pPr lvl="2">
              <a:spcBef>
                <a:spcPts val="0"/>
              </a:spcBef>
            </a:pPr>
            <a:r>
              <a:rPr lang="en-US" dirty="0">
                <a:latin typeface="Times New Roman" panose="02020603050405020304" pitchFamily="18" charset="0"/>
                <a:cs typeface="Times New Roman" panose="02020603050405020304" pitchFamily="18" charset="0"/>
              </a:rPr>
              <a:t>Parallelized and distributed computing</a:t>
            </a:r>
          </a:p>
          <a:p>
            <a:pPr lvl="2">
              <a:spcBef>
                <a:spcPts val="0"/>
              </a:spcBef>
            </a:pPr>
            <a:r>
              <a:rPr lang="en-US" dirty="0">
                <a:latin typeface="Times New Roman" panose="02020603050405020304" pitchFamily="18" charset="0"/>
                <a:cs typeface="Times New Roman" panose="02020603050405020304" pitchFamily="18" charset="0"/>
              </a:rPr>
              <a:t>Web service</a:t>
            </a:r>
          </a:p>
        </p:txBody>
      </p:sp>
      <p:pic>
        <p:nvPicPr>
          <p:cNvPr id="6" name="Picture 2" descr="C:\Users\Andy\AppData\Local\Microsoft\Windows\Temporary Internet Files\Content.IE5\OHTRCXWF\MPj03992210000[1].jpg">
            <a:extLst>
              <a:ext uri="{FF2B5EF4-FFF2-40B4-BE49-F238E27FC236}">
                <a16:creationId xmlns:a16="http://schemas.microsoft.com/office/drawing/2014/main" id="{DC65DAB6-0AD8-F3D8-09A3-4DF25DC10674}"/>
              </a:ext>
            </a:extLst>
          </p:cNvPr>
          <p:cNvPicPr>
            <a:picLocks noChangeAspect="1" noChangeArrowheads="1"/>
          </p:cNvPicPr>
          <p:nvPr/>
        </p:nvPicPr>
        <p:blipFill>
          <a:blip r:embed="rId2" cstate="print"/>
          <a:srcRect l="15830" r="13702"/>
          <a:stretch>
            <a:fillRect/>
          </a:stretch>
        </p:blipFill>
        <p:spPr bwMode="auto">
          <a:xfrm>
            <a:off x="7211422" y="1953927"/>
            <a:ext cx="1739038" cy="2467859"/>
          </a:xfrm>
          <a:prstGeom prst="rect">
            <a:avLst/>
          </a:prstGeom>
          <a:noFill/>
        </p:spPr>
      </p:pic>
    </p:spTree>
    <p:extLst>
      <p:ext uri="{BB962C8B-B14F-4D97-AF65-F5344CB8AC3E}">
        <p14:creationId xmlns:p14="http://schemas.microsoft.com/office/powerpoint/2010/main" val="4037148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4156469-50DF-EDA3-6CA5-16FA3D1FF0D3}"/>
              </a:ext>
            </a:extLst>
          </p:cNvPr>
          <p:cNvGrpSpPr/>
          <p:nvPr/>
        </p:nvGrpSpPr>
        <p:grpSpPr>
          <a:xfrm>
            <a:off x="2311400" y="897012"/>
            <a:ext cx="4605867" cy="3657325"/>
            <a:chOff x="2311400" y="897012"/>
            <a:chExt cx="4605867" cy="3657325"/>
          </a:xfrm>
        </p:grpSpPr>
        <p:pic>
          <p:nvPicPr>
            <p:cNvPr id="1029" name="Picture 5" descr="http://upload.wikimedia.org/wikipedia/commons/9/94/Cloud.jpg"/>
            <p:cNvPicPr>
              <a:picLocks noChangeAspect="1" noChangeArrowheads="1"/>
            </p:cNvPicPr>
            <p:nvPr/>
          </p:nvPicPr>
          <p:blipFill>
            <a:blip r:embed="rId2" cstate="print">
              <a:duotone>
                <a:schemeClr val="accent1">
                  <a:shade val="45000"/>
                  <a:satMod val="135000"/>
                </a:schemeClr>
                <a:prstClr val="white"/>
              </a:duotone>
            </a:blip>
            <a:srcRect b="6604"/>
            <a:stretch>
              <a:fillRect/>
            </a:stretch>
          </p:blipFill>
          <p:spPr bwMode="auto">
            <a:xfrm>
              <a:off x="2311400" y="897012"/>
              <a:ext cx="4605867" cy="3657325"/>
            </a:xfrm>
            <a:prstGeom prst="ellipse">
              <a:avLst/>
            </a:prstGeom>
            <a:ln>
              <a:noFill/>
            </a:ln>
            <a:effectLst>
              <a:softEdge rad="317500"/>
            </a:effectLst>
          </p:spPr>
        </p:pic>
        <p:pic>
          <p:nvPicPr>
            <p:cNvPr id="24580" name="Picture 4"/>
            <p:cNvPicPr>
              <a:picLocks noChangeAspect="1" noChangeArrowheads="1"/>
            </p:cNvPicPr>
            <p:nvPr/>
          </p:nvPicPr>
          <p:blipFill>
            <a:blip r:embed="rId3" cstate="print"/>
            <a:srcRect/>
            <a:stretch>
              <a:fillRect/>
            </a:stretch>
          </p:blipFill>
          <p:spPr bwMode="auto">
            <a:xfrm>
              <a:off x="2663436" y="1207198"/>
              <a:ext cx="4034487" cy="2979363"/>
            </a:xfrm>
            <a:prstGeom prst="rect">
              <a:avLst/>
            </a:prstGeom>
            <a:noFill/>
            <a:ln w="9525">
              <a:noFill/>
              <a:miter lim="800000"/>
              <a:headEnd/>
              <a:tailEnd/>
            </a:ln>
            <a:effectLst/>
          </p:spPr>
        </p:pic>
      </p:grpSp>
      <p:sp>
        <p:nvSpPr>
          <p:cNvPr id="2" name="Title 1"/>
          <p:cNvSpPr>
            <a:spLocks noGrp="1"/>
          </p:cNvSpPr>
          <p:nvPr>
            <p:ph type="title"/>
          </p:nvPr>
        </p:nvSpPr>
        <p:spPr>
          <a:xfrm>
            <a:off x="1001027" y="108349"/>
            <a:ext cx="7674663" cy="519113"/>
          </a:xfrm>
        </p:spPr>
        <p:txBody>
          <a:bodyPr/>
          <a:lstStyle/>
          <a:p>
            <a:r>
              <a:rPr lang="en-US" dirty="0"/>
              <a:t>Properties and Characteristics</a:t>
            </a:r>
          </a:p>
        </p:txBody>
      </p:sp>
      <p:sp>
        <p:nvSpPr>
          <p:cNvPr id="3" name="灯片编号占位符 2">
            <a:extLst>
              <a:ext uri="{FF2B5EF4-FFF2-40B4-BE49-F238E27FC236}">
                <a16:creationId xmlns:a16="http://schemas.microsoft.com/office/drawing/2014/main" id="{60938826-2F8A-CA19-671A-FCB5B8E9B973}"/>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558" y="86629"/>
            <a:ext cx="5143500" cy="522064"/>
          </a:xfrm>
        </p:spPr>
        <p:txBody>
          <a:bodyPr/>
          <a:lstStyle/>
          <a:p>
            <a:r>
              <a:rPr lang="en-US" dirty="0"/>
              <a:t>Central Ideas (1)</a:t>
            </a:r>
          </a:p>
        </p:txBody>
      </p:sp>
      <p:grpSp>
        <p:nvGrpSpPr>
          <p:cNvPr id="4" name="组合 3">
            <a:extLst>
              <a:ext uri="{FF2B5EF4-FFF2-40B4-BE49-F238E27FC236}">
                <a16:creationId xmlns:a16="http://schemas.microsoft.com/office/drawing/2014/main" id="{60023892-2F1C-305E-3267-668A8CDAE83F}"/>
              </a:ext>
            </a:extLst>
          </p:cNvPr>
          <p:cNvGrpSpPr/>
          <p:nvPr/>
        </p:nvGrpSpPr>
        <p:grpSpPr>
          <a:xfrm>
            <a:off x="592716" y="1587832"/>
            <a:ext cx="7922325" cy="2857500"/>
            <a:chOff x="654518" y="2057400"/>
            <a:chExt cx="7922325" cy="2857500"/>
          </a:xfrm>
        </p:grpSpPr>
        <p:sp>
          <p:nvSpPr>
            <p:cNvPr id="8" name="Rectangle 7"/>
            <p:cNvSpPr/>
            <p:nvPr/>
          </p:nvSpPr>
          <p:spPr>
            <a:xfrm>
              <a:off x="1143000" y="2057400"/>
              <a:ext cx="6858000" cy="2857500"/>
            </a:xfrm>
            <a:prstGeom prst="rect">
              <a:avLst/>
            </a:prstGeom>
            <a:gradFill flip="none" rotWithShape="1">
              <a:gsLst>
                <a:gs pos="0">
                  <a:schemeClr val="accent2">
                    <a:lumMod val="75000"/>
                  </a:schemeClr>
                </a:gs>
                <a:gs pos="70000">
                  <a:schemeClr val="accent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p:nvSpPr>
          <p:spPr>
            <a:xfrm>
              <a:off x="654518" y="3656306"/>
              <a:ext cx="7922325" cy="1054135"/>
            </a:xfrm>
            <a:prstGeom prst="rect">
              <a:avLst/>
            </a:prstGeom>
            <a:noFill/>
          </p:spPr>
          <p:txBody>
            <a:bodyPr wrap="square" lIns="68580" tIns="34290" rIns="68580" bIns="34290">
              <a:spAutoFit/>
            </a:bodyPr>
            <a:lstStyle/>
            <a:p>
              <a:pPr algn="ctr"/>
              <a:r>
                <a:rPr lang="en-US" sz="32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Don’t tell me details!!</a:t>
              </a:r>
            </a:p>
            <a:p>
              <a:pPr algn="ctr"/>
              <a:r>
                <a:rPr lang="en-US" sz="32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 DON’T CARE!!</a:t>
              </a:r>
            </a:p>
          </p:txBody>
        </p:sp>
      </p:grpSp>
      <p:sp>
        <p:nvSpPr>
          <p:cNvPr id="3" name="灯片编号占位符 2">
            <a:extLst>
              <a:ext uri="{FF2B5EF4-FFF2-40B4-BE49-F238E27FC236}">
                <a16:creationId xmlns:a16="http://schemas.microsoft.com/office/drawing/2014/main" id="{1E65D926-1B9A-F648-8A50-4FECBA17F82B}"/>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pic>
        <p:nvPicPr>
          <p:cNvPr id="9" name="Picture 8" descr="C:\Users\Andy\AppData\Local\Microsoft\Windows\Temporary Internet Files\Content.IE5\6G0SQY1U\MPj01788450000[1].jpg"/>
          <p:cNvPicPr>
            <a:picLocks noChangeAspect="1" noChangeArrowheads="1"/>
          </p:cNvPicPr>
          <p:nvPr/>
        </p:nvPicPr>
        <p:blipFill>
          <a:blip r:embed="rId2" cstate="print"/>
          <a:srcRect/>
          <a:stretch>
            <a:fillRect/>
          </a:stretch>
        </p:blipFill>
        <p:spPr bwMode="auto">
          <a:xfrm>
            <a:off x="3041990" y="1191431"/>
            <a:ext cx="2686272" cy="179084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7783" y="96254"/>
            <a:ext cx="5200650" cy="512130"/>
          </a:xfrm>
        </p:spPr>
        <p:txBody>
          <a:bodyPr/>
          <a:lstStyle/>
          <a:p>
            <a:r>
              <a:rPr lang="en-US" dirty="0"/>
              <a:t>Central Ideas (2)</a:t>
            </a:r>
          </a:p>
        </p:txBody>
      </p:sp>
      <p:sp>
        <p:nvSpPr>
          <p:cNvPr id="3" name="Content Placeholder 2"/>
          <p:cNvSpPr>
            <a:spLocks noGrp="1"/>
          </p:cNvSpPr>
          <p:nvPr>
            <p:ph idx="1"/>
          </p:nvPr>
        </p:nvSpPr>
        <p:spPr>
          <a:xfrm>
            <a:off x="1106905" y="805652"/>
            <a:ext cx="6930189" cy="3310420"/>
          </a:xfrm>
        </p:spPr>
        <p:txBody>
          <a:bodyPr/>
          <a:lstStyle/>
          <a:p>
            <a:pPr>
              <a:spcBef>
                <a:spcPts val="0"/>
              </a:spcBef>
            </a:pPr>
            <a:r>
              <a:rPr lang="en-US" sz="2000" dirty="0"/>
              <a:t>Perspective from user </a:t>
            </a:r>
          </a:p>
          <a:p>
            <a:pPr lvl="1">
              <a:spcBef>
                <a:spcPts val="0"/>
              </a:spcBef>
            </a:pPr>
            <a:r>
              <a:rPr lang="en-US" sz="2000" dirty="0"/>
              <a:t>Users do not care about how the works are done</a:t>
            </a:r>
          </a:p>
          <a:p>
            <a:pPr lvl="2">
              <a:spcBef>
                <a:spcPts val="0"/>
              </a:spcBef>
            </a:pPr>
            <a:r>
              <a:rPr lang="en-US" dirty="0">
                <a:latin typeface="Times New Roman" panose="02020603050405020304" pitchFamily="18" charset="0"/>
                <a:cs typeface="Times New Roman" panose="02020603050405020304" pitchFamily="18" charset="0"/>
              </a:rPr>
              <a:t>Instead, they only concern about what they </a:t>
            </a:r>
            <a:r>
              <a:rPr lang="en-US" altLang="zh-TW" dirty="0">
                <a:latin typeface="Times New Roman" panose="02020603050405020304" pitchFamily="18" charset="0"/>
                <a:cs typeface="Times New Roman" panose="02020603050405020304" pitchFamily="18" charset="0"/>
              </a:rPr>
              <a:t>can </a:t>
            </a:r>
            <a:r>
              <a:rPr lang="en-US" dirty="0">
                <a:latin typeface="Times New Roman" panose="02020603050405020304" pitchFamily="18" charset="0"/>
                <a:cs typeface="Times New Roman" panose="02020603050405020304" pitchFamily="18" charset="0"/>
              </a:rPr>
              <a:t>get</a:t>
            </a:r>
          </a:p>
          <a:p>
            <a:pPr lvl="1">
              <a:spcBef>
                <a:spcPts val="0"/>
              </a:spcBef>
            </a:pPr>
            <a:r>
              <a:rPr lang="en-US" sz="2000" dirty="0"/>
              <a:t>Users do not care about what the provider actually did</a:t>
            </a:r>
          </a:p>
          <a:p>
            <a:pPr lvl="2">
              <a:spcBef>
                <a:spcPts val="0"/>
              </a:spcBef>
            </a:pPr>
            <a:r>
              <a:rPr lang="en-US" dirty="0">
                <a:latin typeface="Times New Roman" panose="02020603050405020304" pitchFamily="18" charset="0"/>
                <a:cs typeface="Times New Roman" panose="02020603050405020304" pitchFamily="18" charset="0"/>
              </a:rPr>
              <a:t>Instead, they only concern about their quality of service</a:t>
            </a:r>
          </a:p>
          <a:p>
            <a:pPr lvl="1">
              <a:spcBef>
                <a:spcPts val="0"/>
              </a:spcBef>
            </a:pPr>
            <a:r>
              <a:rPr lang="en-US" sz="2000" dirty="0"/>
              <a:t>Users do not want to own the physical infrastructure</a:t>
            </a:r>
          </a:p>
          <a:p>
            <a:pPr lvl="2">
              <a:spcBef>
                <a:spcPts val="0"/>
              </a:spcBef>
            </a:pPr>
            <a:r>
              <a:rPr lang="en-US" dirty="0">
                <a:latin typeface="Times New Roman" panose="02020603050405020304" pitchFamily="18" charset="0"/>
                <a:cs typeface="Times New Roman" panose="02020603050405020304" pitchFamily="18" charset="0"/>
              </a:rPr>
              <a:t>Instead, they only want to pay as many as they used</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spcBef>
                <a:spcPts val="0"/>
              </a:spcBef>
            </a:pPr>
            <a:r>
              <a:rPr lang="en-US" sz="2000" dirty="0"/>
              <a:t>What dose user really care ?</a:t>
            </a:r>
          </a:p>
          <a:p>
            <a:pPr lvl="1">
              <a:spcBef>
                <a:spcPts val="0"/>
              </a:spcBef>
            </a:pPr>
            <a:r>
              <a:rPr lang="en-US" sz="2000" dirty="0"/>
              <a:t>They only care about their “Service”</a:t>
            </a:r>
          </a:p>
        </p:txBody>
      </p:sp>
      <p:pic>
        <p:nvPicPr>
          <p:cNvPr id="8" name="Picture 7" descr="cloud_comp-resized-600.jpg"/>
          <p:cNvPicPr>
            <a:picLocks noChangeAspect="1"/>
          </p:cNvPicPr>
          <p:nvPr/>
        </p:nvPicPr>
        <p:blipFill>
          <a:blip r:embed="rId2" cstate="print"/>
          <a:srcRect t="10709" r="6631"/>
          <a:stretch>
            <a:fillRect/>
          </a:stretch>
        </p:blipFill>
        <p:spPr>
          <a:xfrm>
            <a:off x="6800850" y="3128211"/>
            <a:ext cx="1946279" cy="13878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灯片编号占位符 6">
            <a:extLst>
              <a:ext uri="{FF2B5EF4-FFF2-40B4-BE49-F238E27FC236}">
                <a16:creationId xmlns:a16="http://schemas.microsoft.com/office/drawing/2014/main" id="{6EEFC65B-F784-B34B-6956-786F490197B9}"/>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Users\Andy\AppData\Local\Microsoft\Windows\Temporary Internet Files\Content.IE5\VM829XVI\MPj04028620000[1].jpg"/>
          <p:cNvPicPr>
            <a:picLocks noChangeAspect="1" noChangeArrowheads="1"/>
          </p:cNvPicPr>
          <p:nvPr/>
        </p:nvPicPr>
        <p:blipFill>
          <a:blip r:embed="rId2" cstate="print"/>
          <a:srcRect r="41115" b="11503"/>
          <a:stretch/>
        </p:blipFill>
        <p:spPr bwMode="auto">
          <a:xfrm>
            <a:off x="7271957" y="2093115"/>
            <a:ext cx="1813018" cy="2321721"/>
          </a:xfrm>
          <a:prstGeom prst="rect">
            <a:avLst/>
          </a:prstGeom>
          <a:noFill/>
        </p:spPr>
      </p:pic>
      <p:sp>
        <p:nvSpPr>
          <p:cNvPr id="2" name="Title 1"/>
          <p:cNvSpPr>
            <a:spLocks noGrp="1"/>
          </p:cNvSpPr>
          <p:nvPr>
            <p:ph type="title"/>
          </p:nvPr>
        </p:nvSpPr>
        <p:spPr>
          <a:xfrm>
            <a:off x="965534" y="105878"/>
            <a:ext cx="5200650" cy="487643"/>
          </a:xfrm>
        </p:spPr>
        <p:txBody>
          <a:bodyPr/>
          <a:lstStyle/>
          <a:p>
            <a:r>
              <a:rPr lang="en-US" dirty="0"/>
              <a:t>Utility Computing</a:t>
            </a:r>
          </a:p>
        </p:txBody>
      </p:sp>
      <p:sp>
        <p:nvSpPr>
          <p:cNvPr id="3" name="Content Placeholder 2"/>
          <p:cNvSpPr>
            <a:spLocks noGrp="1"/>
          </p:cNvSpPr>
          <p:nvPr>
            <p:ph idx="1"/>
          </p:nvPr>
        </p:nvSpPr>
        <p:spPr>
          <a:xfrm>
            <a:off x="965534" y="796527"/>
            <a:ext cx="6760544" cy="2457449"/>
          </a:xfrm>
        </p:spPr>
        <p:txBody>
          <a:bodyPr/>
          <a:lstStyle/>
          <a:p>
            <a:r>
              <a:rPr lang="en-US" sz="2000" dirty="0"/>
              <a:t>One service provisioning model</a:t>
            </a:r>
          </a:p>
          <a:p>
            <a:pPr lvl="1"/>
            <a:r>
              <a:rPr lang="en-US" sz="2000" dirty="0"/>
              <a:t>Service provider makes computing resources and infrastructure management available to the customer as needed, and charges them for specific usage rather than a flat rate.</a:t>
            </a:r>
          </a:p>
          <a:p>
            <a:pPr lvl="1"/>
            <a:r>
              <a:rPr lang="en-US" sz="2000" dirty="0"/>
              <a:t>Like other types of on-demand computing , the utility model seeks to maximize the efficient use of resources and/or minimize associated costs.</a:t>
            </a:r>
          </a:p>
        </p:txBody>
      </p:sp>
      <p:sp>
        <p:nvSpPr>
          <p:cNvPr id="8" name="灯片编号占位符 7">
            <a:extLst>
              <a:ext uri="{FF2B5EF4-FFF2-40B4-BE49-F238E27FC236}">
                <a16:creationId xmlns:a16="http://schemas.microsoft.com/office/drawing/2014/main" id="{C98B955B-48FC-F29A-930C-696F2DA1672A}"/>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198" y="154006"/>
            <a:ext cx="5200650" cy="439516"/>
          </a:xfrm>
        </p:spPr>
        <p:txBody>
          <a:bodyPr/>
          <a:lstStyle/>
          <a:p>
            <a:r>
              <a:rPr lang="en-US" dirty="0"/>
              <a:t>What Is Service?</a:t>
            </a:r>
          </a:p>
        </p:txBody>
      </p:sp>
      <p:sp>
        <p:nvSpPr>
          <p:cNvPr id="3" name="Content Placeholder 2"/>
          <p:cNvSpPr>
            <a:spLocks noGrp="1"/>
          </p:cNvSpPr>
          <p:nvPr>
            <p:ph idx="1"/>
          </p:nvPr>
        </p:nvSpPr>
        <p:spPr>
          <a:xfrm>
            <a:off x="964198" y="857473"/>
            <a:ext cx="4878337" cy="2954956"/>
          </a:xfrm>
        </p:spPr>
        <p:txBody>
          <a:bodyPr/>
          <a:lstStyle/>
          <a:p>
            <a:r>
              <a:rPr lang="en-US" sz="2000" dirty="0"/>
              <a:t>Service is what you connect together using Web Services.</a:t>
            </a:r>
          </a:p>
          <a:p>
            <a:r>
              <a:rPr lang="en-US" sz="2000" dirty="0"/>
              <a:t>Service is the endpoint of a connection.</a:t>
            </a:r>
          </a:p>
          <a:p>
            <a:r>
              <a:rPr lang="en-US" sz="2000" dirty="0"/>
              <a:t>Functionalities of service :</a:t>
            </a:r>
          </a:p>
          <a:p>
            <a:pPr lvl="1"/>
            <a:r>
              <a:rPr lang="en-US" sz="2000" dirty="0"/>
              <a:t>A service should be well-defined</a:t>
            </a:r>
          </a:p>
          <a:p>
            <a:pPr lvl="1"/>
            <a:r>
              <a:rPr lang="en-US" sz="2000" dirty="0"/>
              <a:t>A service should be self-contained</a:t>
            </a:r>
          </a:p>
          <a:p>
            <a:pPr lvl="1"/>
            <a:r>
              <a:rPr lang="en-US" sz="2000" dirty="0"/>
              <a:t>A service should not depend on the context or state of other services.</a:t>
            </a:r>
          </a:p>
          <a:p>
            <a:pPr lvl="1"/>
            <a:endParaRPr lang="en-US" sz="2000" dirty="0"/>
          </a:p>
        </p:txBody>
      </p:sp>
      <p:pic>
        <p:nvPicPr>
          <p:cNvPr id="70658" name="Picture 2" descr="http://www.gtseng.com/images/service_photo_e3mh.jpg"/>
          <p:cNvPicPr>
            <a:picLocks noChangeAspect="1" noChangeArrowheads="1"/>
          </p:cNvPicPr>
          <p:nvPr/>
        </p:nvPicPr>
        <p:blipFill>
          <a:blip r:embed="rId2" cstate="print"/>
          <a:srcRect t="11667" b="20000"/>
          <a:stretch>
            <a:fillRect/>
          </a:stretch>
        </p:blipFill>
        <p:spPr bwMode="auto">
          <a:xfrm>
            <a:off x="5624909" y="2571750"/>
            <a:ext cx="3339704" cy="17142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灯片编号占位符 6">
            <a:extLst>
              <a:ext uri="{FF2B5EF4-FFF2-40B4-BE49-F238E27FC236}">
                <a16:creationId xmlns:a16="http://schemas.microsoft.com/office/drawing/2014/main" id="{4AE5CE5F-95E2-F9D4-AE5A-961F0F5D6F91}"/>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658" y="113700"/>
            <a:ext cx="5200650" cy="479822"/>
          </a:xfrm>
        </p:spPr>
        <p:txBody>
          <a:bodyPr/>
          <a:lstStyle/>
          <a:p>
            <a:r>
              <a:rPr lang="en-US" dirty="0"/>
              <a:t>What Is Web Service?</a:t>
            </a:r>
          </a:p>
        </p:txBody>
      </p:sp>
      <p:sp>
        <p:nvSpPr>
          <p:cNvPr id="3" name="Content Placeholder 2"/>
          <p:cNvSpPr>
            <a:spLocks noGrp="1"/>
          </p:cNvSpPr>
          <p:nvPr>
            <p:ph idx="1"/>
          </p:nvPr>
        </p:nvSpPr>
        <p:spPr>
          <a:xfrm>
            <a:off x="975158" y="815141"/>
            <a:ext cx="7729086" cy="3771900"/>
          </a:xfrm>
        </p:spPr>
        <p:txBody>
          <a:bodyPr>
            <a:noAutofit/>
          </a:bodyPr>
          <a:lstStyle/>
          <a:p>
            <a:pPr>
              <a:spcBef>
                <a:spcPts val="0"/>
              </a:spcBef>
            </a:pPr>
            <a:r>
              <a:rPr lang="en-US" sz="2000" dirty="0"/>
              <a:t>Definition </a:t>
            </a:r>
          </a:p>
          <a:p>
            <a:pPr lvl="1">
              <a:spcBef>
                <a:spcPts val="0"/>
              </a:spcBef>
            </a:pPr>
            <a:r>
              <a:rPr lang="en-US" sz="1800" dirty="0"/>
              <a:t>Web service is self-describing and stateless modules that perform discrete units of work and are available over the network</a:t>
            </a:r>
          </a:p>
          <a:p>
            <a:pPr lvl="1">
              <a:spcBef>
                <a:spcPts val="0"/>
              </a:spcBef>
            </a:pPr>
            <a:r>
              <a:rPr lang="en-US" sz="1800" dirty="0"/>
              <a:t>Web service providers offer APIs that enable developers to exploit functionality over the Internet, rather than delivering full-blown applications</a:t>
            </a:r>
          </a:p>
          <a:p>
            <a:pPr>
              <a:spcBef>
                <a:spcPts val="0"/>
              </a:spcBef>
            </a:pPr>
            <a:r>
              <a:rPr lang="en-US" sz="2000" dirty="0"/>
              <a:t>Web Services Description Language (WSDL) </a:t>
            </a:r>
          </a:p>
          <a:p>
            <a:pPr lvl="1">
              <a:spcBef>
                <a:spcPts val="0"/>
              </a:spcBef>
            </a:pPr>
            <a:r>
              <a:rPr lang="en-US" sz="1800" dirty="0"/>
              <a:t>Expressed in XML which include both data type and messages</a:t>
            </a:r>
          </a:p>
          <a:p>
            <a:pPr lvl="1">
              <a:spcBef>
                <a:spcPts val="0"/>
              </a:spcBef>
            </a:pPr>
            <a:r>
              <a:rPr lang="en-US" sz="1800" dirty="0"/>
              <a:t>Four types of operations :</a:t>
            </a:r>
          </a:p>
          <a:p>
            <a:pPr lvl="2">
              <a:spcBef>
                <a:spcPts val="0"/>
              </a:spcBef>
            </a:pPr>
            <a:r>
              <a:rPr lang="en-US" sz="1800" dirty="0">
                <a:latin typeface="Times New Roman" panose="02020603050405020304" pitchFamily="18" charset="0"/>
                <a:cs typeface="Times New Roman" panose="02020603050405020304" pitchFamily="18" charset="0"/>
              </a:rPr>
              <a:t>One-way - Messages sent without a reply required</a:t>
            </a:r>
          </a:p>
          <a:p>
            <a:pPr lvl="2">
              <a:spcBef>
                <a:spcPts val="0"/>
              </a:spcBef>
            </a:pPr>
            <a:r>
              <a:rPr lang="en-US" sz="1800" dirty="0">
                <a:latin typeface="Times New Roman" panose="02020603050405020304" pitchFamily="18" charset="0"/>
                <a:cs typeface="Times New Roman" panose="02020603050405020304" pitchFamily="18" charset="0"/>
              </a:rPr>
              <a:t>Request &amp; response - Sending and replying messages</a:t>
            </a:r>
          </a:p>
          <a:p>
            <a:pPr lvl="2">
              <a:spcBef>
                <a:spcPts val="0"/>
              </a:spcBef>
            </a:pPr>
            <a:r>
              <a:rPr lang="en-US" sz="1800" dirty="0">
                <a:latin typeface="Times New Roman" panose="02020603050405020304" pitchFamily="18" charset="0"/>
                <a:cs typeface="Times New Roman" panose="02020603050405020304" pitchFamily="18" charset="0"/>
              </a:rPr>
              <a:t>Solicit response - A request for a response</a:t>
            </a:r>
          </a:p>
          <a:p>
            <a:pPr lvl="2">
              <a:spcBef>
                <a:spcPts val="0"/>
              </a:spcBef>
            </a:pPr>
            <a:r>
              <a:rPr lang="en-US" sz="1800" dirty="0">
                <a:latin typeface="Times New Roman" panose="02020603050405020304" pitchFamily="18" charset="0"/>
                <a:cs typeface="Times New Roman" panose="02020603050405020304" pitchFamily="18" charset="0"/>
              </a:rPr>
              <a:t>Notification - Messages sent to multiple receivers</a:t>
            </a:r>
          </a:p>
        </p:txBody>
      </p:sp>
      <p:sp>
        <p:nvSpPr>
          <p:cNvPr id="7" name="灯片编号占位符 6">
            <a:extLst>
              <a:ext uri="{FF2B5EF4-FFF2-40B4-BE49-F238E27FC236}">
                <a16:creationId xmlns:a16="http://schemas.microsoft.com/office/drawing/2014/main" id="{52513CBE-F9EC-7802-63D9-A39FF0B66A50}"/>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244" y="86628"/>
            <a:ext cx="6672714" cy="523559"/>
          </a:xfrm>
        </p:spPr>
        <p:txBody>
          <a:bodyPr>
            <a:noAutofit/>
          </a:bodyPr>
          <a:lstStyle/>
          <a:p>
            <a:r>
              <a:rPr lang="en-US" dirty="0"/>
              <a:t>Service Oriented Architecture</a:t>
            </a:r>
          </a:p>
        </p:txBody>
      </p:sp>
      <p:sp>
        <p:nvSpPr>
          <p:cNvPr id="3" name="Content Placeholder 2"/>
          <p:cNvSpPr>
            <a:spLocks noGrp="1"/>
          </p:cNvSpPr>
          <p:nvPr>
            <p:ph idx="1"/>
          </p:nvPr>
        </p:nvSpPr>
        <p:spPr>
          <a:xfrm>
            <a:off x="1001027" y="790868"/>
            <a:ext cx="7803762" cy="2635726"/>
          </a:xfrm>
        </p:spPr>
        <p:txBody>
          <a:bodyPr/>
          <a:lstStyle/>
          <a:p>
            <a:pPr>
              <a:spcBef>
                <a:spcPts val="0"/>
              </a:spcBef>
            </a:pPr>
            <a:r>
              <a:rPr lang="en-US" sz="2000" dirty="0"/>
              <a:t>Definition</a:t>
            </a:r>
          </a:p>
          <a:p>
            <a:pPr lvl="1">
              <a:spcBef>
                <a:spcPts val="0"/>
              </a:spcBef>
            </a:pPr>
            <a:r>
              <a:rPr lang="en-US" sz="1800" dirty="0"/>
              <a:t>Service Oriented Architecture (SOA) is essentially a collection of services which communicate with each other</a:t>
            </a:r>
          </a:p>
          <a:p>
            <a:pPr lvl="1">
              <a:spcBef>
                <a:spcPts val="0"/>
              </a:spcBef>
            </a:pPr>
            <a:r>
              <a:rPr lang="en-US" sz="1800" dirty="0"/>
              <a:t>Contain a flexible set of design principles used during the phases of systems development and integration</a:t>
            </a:r>
          </a:p>
          <a:p>
            <a:pPr lvl="1">
              <a:spcBef>
                <a:spcPts val="0"/>
              </a:spcBef>
            </a:pPr>
            <a:r>
              <a:rPr lang="en-US" sz="1800" dirty="0"/>
              <a:t>Provide a loosely-integrated suite of services that can be used within multiple business domains</a:t>
            </a:r>
          </a:p>
          <a:p>
            <a:pPr>
              <a:spcBef>
                <a:spcPts val="0"/>
              </a:spcBef>
            </a:pPr>
            <a:r>
              <a:rPr lang="en-US" sz="2000" dirty="0"/>
              <a:t>Approach</a:t>
            </a:r>
          </a:p>
          <a:p>
            <a:pPr lvl="1">
              <a:spcBef>
                <a:spcPts val="0"/>
              </a:spcBef>
            </a:pPr>
            <a:r>
              <a:rPr lang="en-US" sz="1800" dirty="0"/>
              <a:t>Usually implemented by Web Service model</a:t>
            </a:r>
          </a:p>
        </p:txBody>
      </p:sp>
      <p:pic>
        <p:nvPicPr>
          <p:cNvPr id="10" name="Picture 9" descr="service-oriented_architecture_basics.jpg"/>
          <p:cNvPicPr>
            <a:picLocks noChangeAspect="1"/>
          </p:cNvPicPr>
          <p:nvPr/>
        </p:nvPicPr>
        <p:blipFill>
          <a:blip r:embed="rId2" cstate="print"/>
          <a:stretch>
            <a:fillRect/>
          </a:stretch>
        </p:blipFill>
        <p:spPr>
          <a:xfrm>
            <a:off x="2248258" y="3542095"/>
            <a:ext cx="5124091" cy="1028700"/>
          </a:xfrm>
          <a:prstGeom prst="rect">
            <a:avLst/>
          </a:prstGeom>
        </p:spPr>
      </p:pic>
      <p:sp>
        <p:nvSpPr>
          <p:cNvPr id="7" name="灯片编号占位符 6">
            <a:extLst>
              <a:ext uri="{FF2B5EF4-FFF2-40B4-BE49-F238E27FC236}">
                <a16:creationId xmlns:a16="http://schemas.microsoft.com/office/drawing/2014/main" id="{D68B8AA5-334E-0D8C-765D-096A3AA5BE77}"/>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http://www.nanophase.com/UserFiles/image/Web%20-%20Quality%201.jpg"/>
          <p:cNvPicPr>
            <a:picLocks noChangeAspect="1" noChangeArrowheads="1"/>
          </p:cNvPicPr>
          <p:nvPr/>
        </p:nvPicPr>
        <p:blipFill>
          <a:blip r:embed="rId2" cstate="print"/>
          <a:srcRect l="9543" r="-9"/>
          <a:stretch/>
        </p:blipFill>
        <p:spPr bwMode="auto">
          <a:xfrm>
            <a:off x="6831013" y="2266135"/>
            <a:ext cx="2133600" cy="2376264"/>
          </a:xfrm>
          <a:prstGeom prst="roundRect">
            <a:avLst>
              <a:gd name="adj" fmla="val 19358"/>
            </a:avLst>
          </a:prstGeom>
          <a:noFill/>
          <a:effectLst>
            <a:softEdge rad="317500"/>
          </a:effectLst>
        </p:spPr>
      </p:pic>
      <p:sp>
        <p:nvSpPr>
          <p:cNvPr id="2" name="Title 1"/>
          <p:cNvSpPr>
            <a:spLocks noGrp="1"/>
          </p:cNvSpPr>
          <p:nvPr>
            <p:ph type="title"/>
          </p:nvPr>
        </p:nvSpPr>
        <p:spPr>
          <a:xfrm>
            <a:off x="917407" y="125129"/>
            <a:ext cx="5200650" cy="458767"/>
          </a:xfrm>
        </p:spPr>
        <p:txBody>
          <a:bodyPr/>
          <a:lstStyle/>
          <a:p>
            <a:r>
              <a:rPr lang="en-US" dirty="0"/>
              <a:t>Quality of Service (1)</a:t>
            </a:r>
          </a:p>
        </p:txBody>
      </p:sp>
      <p:sp>
        <p:nvSpPr>
          <p:cNvPr id="3" name="Content Placeholder 2"/>
          <p:cNvSpPr>
            <a:spLocks noGrp="1"/>
          </p:cNvSpPr>
          <p:nvPr>
            <p:ph idx="1"/>
          </p:nvPr>
        </p:nvSpPr>
        <p:spPr>
          <a:xfrm>
            <a:off x="1052762" y="882517"/>
            <a:ext cx="7667725" cy="3208220"/>
          </a:xfrm>
        </p:spPr>
        <p:txBody>
          <a:bodyPr/>
          <a:lstStyle/>
          <a:p>
            <a:r>
              <a:rPr lang="en-US" sz="2000" dirty="0"/>
              <a:t>Original definition</a:t>
            </a:r>
          </a:p>
          <a:p>
            <a:pPr lvl="1"/>
            <a:r>
              <a:rPr lang="en-US" sz="2000" dirty="0"/>
              <a:t>Quality of Service (</a:t>
            </a:r>
            <a:r>
              <a:rPr lang="en-US" sz="2000" dirty="0" err="1"/>
              <a:t>QoS</a:t>
            </a:r>
            <a:r>
              <a:rPr lang="en-US" sz="2000" dirty="0"/>
              <a:t>) is a set of technologies for managing network traffic in a cost effective manner to enhance user experiences for home and enterprise environments. </a:t>
            </a:r>
            <a:br>
              <a:rPr lang="en-US" sz="2000" dirty="0"/>
            </a:br>
            <a:endParaRPr lang="en-US" sz="2000" dirty="0"/>
          </a:p>
          <a:p>
            <a:r>
              <a:rPr lang="en-US" sz="2000" dirty="0"/>
              <a:t>Now </a:t>
            </a:r>
            <a:r>
              <a:rPr lang="en-US" sz="2000" dirty="0" err="1"/>
              <a:t>QoS</a:t>
            </a:r>
            <a:r>
              <a:rPr lang="en-US" sz="2000" dirty="0"/>
              <a:t> becomes to a broad term </a:t>
            </a:r>
            <a:br>
              <a:rPr lang="en-US" sz="2000" dirty="0"/>
            </a:br>
            <a:r>
              <a:rPr lang="en-US" sz="2000" dirty="0"/>
              <a:t>that is used following areas :</a:t>
            </a:r>
          </a:p>
          <a:p>
            <a:pPr lvl="1"/>
            <a:r>
              <a:rPr lang="en-US" sz="2000" dirty="0"/>
              <a:t>Customer care evaluations </a:t>
            </a:r>
          </a:p>
          <a:p>
            <a:pPr lvl="1"/>
            <a:r>
              <a:rPr lang="en-US" sz="2000" dirty="0"/>
              <a:t>Technological evaluations</a:t>
            </a:r>
          </a:p>
        </p:txBody>
      </p:sp>
      <p:sp>
        <p:nvSpPr>
          <p:cNvPr id="7" name="灯片编号占位符 6">
            <a:extLst>
              <a:ext uri="{FF2B5EF4-FFF2-40B4-BE49-F238E27FC236}">
                <a16:creationId xmlns:a16="http://schemas.microsoft.com/office/drawing/2014/main" id="{3478D652-8D03-760B-1DC6-5B09A32B8851}"/>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408" y="105878"/>
            <a:ext cx="5200650" cy="487643"/>
          </a:xfrm>
        </p:spPr>
        <p:txBody>
          <a:bodyPr/>
          <a:lstStyle/>
          <a:p>
            <a:r>
              <a:rPr lang="en-US" dirty="0"/>
              <a:t>Quality of Service (2)</a:t>
            </a:r>
          </a:p>
        </p:txBody>
      </p:sp>
      <p:sp>
        <p:nvSpPr>
          <p:cNvPr id="3" name="Content Placeholder 2"/>
          <p:cNvSpPr>
            <a:spLocks noGrp="1"/>
          </p:cNvSpPr>
          <p:nvPr>
            <p:ph idx="1"/>
          </p:nvPr>
        </p:nvSpPr>
        <p:spPr>
          <a:xfrm>
            <a:off x="917408" y="844153"/>
            <a:ext cx="7446946" cy="3458340"/>
          </a:xfrm>
        </p:spPr>
        <p:txBody>
          <a:bodyPr/>
          <a:lstStyle/>
          <a:p>
            <a:pPr>
              <a:spcBef>
                <a:spcPts val="0"/>
              </a:spcBef>
            </a:pPr>
            <a:r>
              <a:rPr lang="en-US" sz="2000" dirty="0"/>
              <a:t>Customer care evaluations</a:t>
            </a:r>
          </a:p>
          <a:p>
            <a:pPr lvl="1">
              <a:spcBef>
                <a:spcPts val="0"/>
              </a:spcBef>
            </a:pPr>
            <a:r>
              <a:rPr lang="en-US" sz="2000" dirty="0" err="1"/>
              <a:t>QoS</a:t>
            </a:r>
            <a:r>
              <a:rPr lang="en-US" sz="2000" dirty="0"/>
              <a:t> is usually measured in terms of issues that have a direct </a:t>
            </a:r>
            <a:br>
              <a:rPr lang="en-US" sz="2000" dirty="0"/>
            </a:br>
            <a:r>
              <a:rPr lang="en-US" sz="2000" dirty="0"/>
              <a:t>impact on the experience of the customer</a:t>
            </a:r>
          </a:p>
          <a:p>
            <a:pPr lvl="1">
              <a:spcBef>
                <a:spcPts val="0"/>
              </a:spcBef>
            </a:pPr>
            <a:r>
              <a:rPr lang="en-US" sz="2000" dirty="0"/>
              <a:t>Only issues that produce a negative effect on the goods and </a:t>
            </a:r>
            <a:br>
              <a:rPr lang="en-US" sz="2000" dirty="0"/>
            </a:br>
            <a:r>
              <a:rPr lang="en-US" sz="2000" dirty="0"/>
              <a:t>services received by the customer come under scrutiny</a:t>
            </a:r>
            <a:br>
              <a:rPr lang="en-US" sz="2000" dirty="0"/>
            </a:br>
            <a:endParaRPr lang="en-US" sz="2000" dirty="0"/>
          </a:p>
          <a:p>
            <a:pPr>
              <a:spcBef>
                <a:spcPts val="0"/>
              </a:spcBef>
            </a:pPr>
            <a:r>
              <a:rPr lang="en-US" sz="2000" dirty="0"/>
              <a:t>Technological evaluations</a:t>
            </a:r>
          </a:p>
          <a:p>
            <a:pPr lvl="1">
              <a:spcBef>
                <a:spcPts val="0"/>
              </a:spcBef>
            </a:pPr>
            <a:r>
              <a:rPr lang="en-US" sz="2000" dirty="0" err="1"/>
              <a:t>QoS</a:t>
            </a:r>
            <a:r>
              <a:rPr lang="en-US" sz="2000" dirty="0"/>
              <a:t> has to do with the efficient operation of various systems</a:t>
            </a:r>
          </a:p>
          <a:p>
            <a:pPr lvl="1">
              <a:spcBef>
                <a:spcPts val="0"/>
              </a:spcBef>
            </a:pPr>
            <a:r>
              <a:rPr lang="en-US" sz="2000" dirty="0"/>
              <a:t>This can lead to adjusting procedures or adapting software programs and code to achieve the desired effect while making a more efficient use of available resources</a:t>
            </a:r>
          </a:p>
        </p:txBody>
      </p:sp>
      <p:sp>
        <p:nvSpPr>
          <p:cNvPr id="7" name="灯片编号占位符 6">
            <a:extLst>
              <a:ext uri="{FF2B5EF4-FFF2-40B4-BE49-F238E27FC236}">
                <a16:creationId xmlns:a16="http://schemas.microsoft.com/office/drawing/2014/main" id="{603832D4-4DE3-79DF-33F5-71492216D70C}"/>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651" y="106554"/>
            <a:ext cx="5136280" cy="486967"/>
          </a:xfrm>
        </p:spPr>
        <p:txBody>
          <a:bodyPr/>
          <a:lstStyle/>
          <a:p>
            <a:r>
              <a:rPr lang="en-US" dirty="0"/>
              <a:t>Service Level Agreement</a:t>
            </a:r>
          </a:p>
        </p:txBody>
      </p:sp>
      <p:sp>
        <p:nvSpPr>
          <p:cNvPr id="3" name="Content Placeholder 2"/>
          <p:cNvSpPr>
            <a:spLocks noGrp="1"/>
          </p:cNvSpPr>
          <p:nvPr>
            <p:ph idx="1"/>
          </p:nvPr>
        </p:nvSpPr>
        <p:spPr>
          <a:xfrm>
            <a:off x="1008062" y="844015"/>
            <a:ext cx="7539172" cy="3714750"/>
          </a:xfrm>
        </p:spPr>
        <p:txBody>
          <a:bodyPr/>
          <a:lstStyle/>
          <a:p>
            <a:pPr>
              <a:spcBef>
                <a:spcPts val="0"/>
              </a:spcBef>
            </a:pPr>
            <a:r>
              <a:rPr lang="en-US" sz="2000" dirty="0"/>
              <a:t>Definition</a:t>
            </a:r>
          </a:p>
          <a:p>
            <a:pPr lvl="1">
              <a:spcBef>
                <a:spcPts val="0"/>
              </a:spcBef>
            </a:pPr>
            <a:r>
              <a:rPr lang="en-US" sz="1800" dirty="0"/>
              <a:t>A service-level agreement (SLA) is a contract between a network service provider and a customer that specifies, usually in measurable terms (QoS), what services the network service provider will furnish</a:t>
            </a:r>
          </a:p>
          <a:p>
            <a:pPr>
              <a:spcBef>
                <a:spcPts val="0"/>
              </a:spcBef>
            </a:pPr>
            <a:endParaRPr lang="en-US" sz="2000" dirty="0"/>
          </a:p>
          <a:p>
            <a:pPr>
              <a:spcBef>
                <a:spcPts val="0"/>
              </a:spcBef>
            </a:pPr>
            <a:r>
              <a:rPr lang="en-US" sz="2000" dirty="0"/>
              <a:t>Common content in contract</a:t>
            </a:r>
          </a:p>
          <a:p>
            <a:pPr lvl="1">
              <a:spcBef>
                <a:spcPts val="0"/>
              </a:spcBef>
            </a:pPr>
            <a:r>
              <a:rPr lang="en-US" sz="1800" dirty="0"/>
              <a:t>Performance guarantee metrics</a:t>
            </a:r>
          </a:p>
          <a:p>
            <a:pPr lvl="2">
              <a:spcBef>
                <a:spcPts val="0"/>
              </a:spcBef>
            </a:pPr>
            <a:r>
              <a:rPr lang="en-US" sz="1800" dirty="0">
                <a:latin typeface="Times New Roman" panose="02020603050405020304" pitchFamily="18" charset="0"/>
                <a:cs typeface="Times New Roman" panose="02020603050405020304" pitchFamily="18" charset="0"/>
              </a:rPr>
              <a:t>Up-time and down-time ratio</a:t>
            </a:r>
          </a:p>
          <a:p>
            <a:pPr lvl="2">
              <a:spcBef>
                <a:spcPts val="0"/>
              </a:spcBef>
            </a:pPr>
            <a:r>
              <a:rPr lang="en-US" sz="1800" dirty="0">
                <a:latin typeface="Times New Roman" panose="02020603050405020304" pitchFamily="18" charset="0"/>
                <a:cs typeface="Times New Roman" panose="02020603050405020304" pitchFamily="18" charset="0"/>
              </a:rPr>
              <a:t>System throughput</a:t>
            </a:r>
          </a:p>
          <a:p>
            <a:pPr lvl="2">
              <a:spcBef>
                <a:spcPts val="0"/>
              </a:spcBef>
            </a:pPr>
            <a:r>
              <a:rPr lang="en-US" sz="1800" dirty="0">
                <a:latin typeface="Times New Roman" panose="02020603050405020304" pitchFamily="18" charset="0"/>
                <a:cs typeface="Times New Roman" panose="02020603050405020304" pitchFamily="18" charset="0"/>
              </a:rPr>
              <a:t>Response time</a:t>
            </a:r>
          </a:p>
          <a:p>
            <a:pPr lvl="1">
              <a:spcBef>
                <a:spcPts val="0"/>
              </a:spcBef>
            </a:pPr>
            <a:r>
              <a:rPr lang="en-US" sz="1800" dirty="0"/>
              <a:t>Problem management detail</a:t>
            </a:r>
          </a:p>
          <a:p>
            <a:pPr lvl="1">
              <a:spcBef>
                <a:spcPts val="0"/>
              </a:spcBef>
            </a:pPr>
            <a:r>
              <a:rPr lang="en-US" sz="1800" dirty="0"/>
              <a:t>Penalties for non-performance</a:t>
            </a:r>
          </a:p>
          <a:p>
            <a:pPr lvl="1">
              <a:spcBef>
                <a:spcPts val="0"/>
              </a:spcBef>
            </a:pPr>
            <a:r>
              <a:rPr lang="en-US" sz="1800" dirty="0"/>
              <a:t>Documented security capabilities</a:t>
            </a:r>
          </a:p>
        </p:txBody>
      </p:sp>
      <p:pic>
        <p:nvPicPr>
          <p:cNvPr id="68610" name="Picture 2" descr="http://www.lma.org.za/wordpress/wp-content/uploads/2010/Feb/sign_contract.jpg"/>
          <p:cNvPicPr>
            <a:picLocks noChangeAspect="1" noChangeArrowheads="1"/>
          </p:cNvPicPr>
          <p:nvPr/>
        </p:nvPicPr>
        <p:blipFill>
          <a:blip r:embed="rId2" cstate="print"/>
          <a:srcRect/>
          <a:stretch>
            <a:fillRect/>
          </a:stretch>
        </p:blipFill>
        <p:spPr bwMode="auto">
          <a:xfrm>
            <a:off x="6508590" y="2204185"/>
            <a:ext cx="2456023" cy="23545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灯片编号占位符 6">
            <a:extLst>
              <a:ext uri="{FF2B5EF4-FFF2-40B4-BE49-F238E27FC236}">
                <a16:creationId xmlns:a16="http://schemas.microsoft.com/office/drawing/2014/main" id="{FA442813-592B-2655-686E-EA0EEB610FD1}"/>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777" y="108349"/>
            <a:ext cx="7693913" cy="519113"/>
          </a:xfrm>
        </p:spPr>
        <p:txBody>
          <a:bodyPr/>
          <a:lstStyle/>
          <a:p>
            <a:r>
              <a:rPr lang="en-US" dirty="0"/>
              <a:t>Scalability &amp; Elasticity</a:t>
            </a:r>
          </a:p>
        </p:txBody>
      </p:sp>
      <p:sp>
        <p:nvSpPr>
          <p:cNvPr id="8" name="Rectangle 7"/>
          <p:cNvSpPr/>
          <p:nvPr/>
        </p:nvSpPr>
        <p:spPr>
          <a:xfrm>
            <a:off x="1143000" y="2057400"/>
            <a:ext cx="6858000" cy="28575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52" name="Picture 4" descr="http://posterous.com/getfile/files.posterous.com/thefearlessleader/RFYJrEIAZ0YxXJYRwrADxRp1EtYeqbrbUw82VNOR5GBYX8ubDnpGhwgW84j5/Earth_puzzle.jpg"/>
          <p:cNvPicPr>
            <a:picLocks noChangeAspect="1" noChangeArrowheads="1"/>
          </p:cNvPicPr>
          <p:nvPr/>
        </p:nvPicPr>
        <p:blipFill>
          <a:blip r:embed="rId2" cstate="print"/>
          <a:srcRect/>
          <a:stretch>
            <a:fillRect/>
          </a:stretch>
        </p:blipFill>
        <p:spPr bwMode="auto">
          <a:xfrm flipV="1">
            <a:off x="2267649" y="1099246"/>
            <a:ext cx="1692321" cy="210881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3113810" y="3284830"/>
            <a:ext cx="4784003" cy="1315745"/>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Give me the world</a:t>
            </a:r>
            <a:b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without limitation!!</a:t>
            </a:r>
          </a:p>
        </p:txBody>
      </p:sp>
      <p:sp>
        <p:nvSpPr>
          <p:cNvPr id="3" name="灯片编号占位符 2">
            <a:extLst>
              <a:ext uri="{FF2B5EF4-FFF2-40B4-BE49-F238E27FC236}">
                <a16:creationId xmlns:a16="http://schemas.microsoft.com/office/drawing/2014/main" id="{8EDA5662-5273-9EA7-9153-C9C490EE4BE7}"/>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108349"/>
            <a:ext cx="7770915" cy="519113"/>
          </a:xfrm>
        </p:spPr>
        <p:txBody>
          <a:bodyPr/>
          <a:lstStyle/>
          <a:p>
            <a:r>
              <a:rPr lang="en-US" dirty="0"/>
              <a:t>Scalability &amp; Elasticity</a:t>
            </a:r>
          </a:p>
        </p:txBody>
      </p:sp>
      <p:sp>
        <p:nvSpPr>
          <p:cNvPr id="7" name="Content Placeholder 2"/>
          <p:cNvSpPr>
            <a:spLocks noGrp="1"/>
          </p:cNvSpPr>
          <p:nvPr>
            <p:ph idx="1"/>
          </p:nvPr>
        </p:nvSpPr>
        <p:spPr>
          <a:xfrm>
            <a:off x="1039529" y="824614"/>
            <a:ext cx="7295949" cy="3494271"/>
          </a:xfrm>
        </p:spPr>
        <p:txBody>
          <a:bodyPr/>
          <a:lstStyle/>
          <a:p>
            <a:pPr>
              <a:spcBef>
                <a:spcPts val="0"/>
              </a:spcBef>
            </a:pPr>
            <a:r>
              <a:rPr lang="en-US" sz="2000" dirty="0"/>
              <a:t>What is scalability ?</a:t>
            </a:r>
          </a:p>
          <a:p>
            <a:pPr lvl="1">
              <a:spcBef>
                <a:spcPts val="0"/>
              </a:spcBef>
            </a:pPr>
            <a:r>
              <a:rPr lang="en-US" sz="2000" dirty="0"/>
              <a:t>A desirable property of a system, a network, or a process, which indicates its ability to either handle growing amounts of work in a graceful manner or to be readily enlarged.</a:t>
            </a:r>
          </a:p>
          <a:p>
            <a:pPr>
              <a:spcBef>
                <a:spcPts val="0"/>
              </a:spcBef>
            </a:pPr>
            <a:r>
              <a:rPr lang="en-US" sz="2000" dirty="0"/>
              <a:t>What is elasticity ?</a:t>
            </a:r>
          </a:p>
          <a:p>
            <a:pPr lvl="1">
              <a:spcBef>
                <a:spcPts val="0"/>
              </a:spcBef>
            </a:pPr>
            <a:r>
              <a:rPr lang="en-US" sz="2000" dirty="0"/>
              <a:t>The ability to apply a quantifiable methodology that allows for the basis of an adaptive introspection with in a real time infrastructure.</a:t>
            </a:r>
          </a:p>
          <a:p>
            <a:pPr>
              <a:spcBef>
                <a:spcPts val="0"/>
              </a:spcBef>
            </a:pPr>
            <a:r>
              <a:rPr lang="en-US" sz="2000" dirty="0"/>
              <a:t>But how to achieve these properties ?</a:t>
            </a:r>
          </a:p>
          <a:p>
            <a:pPr lvl="1">
              <a:spcBef>
                <a:spcPts val="0"/>
              </a:spcBef>
            </a:pPr>
            <a:r>
              <a:rPr lang="en-US" sz="2000" dirty="0"/>
              <a:t>Dynamic provisioning</a:t>
            </a:r>
          </a:p>
          <a:p>
            <a:pPr lvl="1">
              <a:spcBef>
                <a:spcPts val="0"/>
              </a:spcBef>
            </a:pPr>
            <a:r>
              <a:rPr lang="en-US" sz="2000" dirty="0"/>
              <a:t>Multi-tenant design</a:t>
            </a:r>
          </a:p>
        </p:txBody>
      </p:sp>
      <p:sp>
        <p:nvSpPr>
          <p:cNvPr id="3" name="灯片编号占位符 2">
            <a:extLst>
              <a:ext uri="{FF2B5EF4-FFF2-40B4-BE49-F238E27FC236}">
                <a16:creationId xmlns:a16="http://schemas.microsoft.com/office/drawing/2014/main" id="{00EF123B-17C0-FB31-ADD6-C078FF06921E}"/>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917408" y="86821"/>
            <a:ext cx="5200650" cy="514341"/>
          </a:xfrm>
        </p:spPr>
        <p:txBody>
          <a:bodyPr/>
          <a:lstStyle/>
          <a:p>
            <a:r>
              <a:rPr lang="en-US" dirty="0"/>
              <a:t>Dynamic Provisioning (1)</a:t>
            </a:r>
          </a:p>
        </p:txBody>
      </p:sp>
      <p:sp>
        <p:nvSpPr>
          <p:cNvPr id="9" name="Content Placeholder 2"/>
          <p:cNvSpPr>
            <a:spLocks noGrp="1"/>
          </p:cNvSpPr>
          <p:nvPr>
            <p:ph idx="1"/>
          </p:nvPr>
        </p:nvSpPr>
        <p:spPr>
          <a:xfrm>
            <a:off x="1011855" y="815372"/>
            <a:ext cx="7605161" cy="1975956"/>
          </a:xfrm>
        </p:spPr>
        <p:txBody>
          <a:bodyPr/>
          <a:lstStyle/>
          <a:p>
            <a:r>
              <a:rPr lang="en-US" sz="2000" dirty="0"/>
              <a:t>What is dynamic provisioning ?</a:t>
            </a:r>
          </a:p>
          <a:p>
            <a:pPr lvl="1"/>
            <a:r>
              <a:rPr lang="en-US" sz="2000" dirty="0"/>
              <a:t>Dynamic Provisioning is a simplified way to explain a complex networked server computing environment where server computing instances are provisioned or deployed from a administrative console or client application by the server administrator, network administrator, or any other enabled user.</a:t>
            </a:r>
          </a:p>
        </p:txBody>
      </p:sp>
      <p:pic>
        <p:nvPicPr>
          <p:cNvPr id="10" name="Picture 2" descr="http://www.bangshift.com/assets/images/news/2010/Jun/house%20truck2.jpg"/>
          <p:cNvPicPr>
            <a:picLocks noChangeAspect="1" noChangeArrowheads="1"/>
          </p:cNvPicPr>
          <p:nvPr/>
        </p:nvPicPr>
        <p:blipFill>
          <a:blip r:embed="rId2" cstate="print"/>
          <a:srcRect t="9143" b="6551"/>
          <a:stretch>
            <a:fillRect/>
          </a:stretch>
        </p:blipFill>
        <p:spPr bwMode="auto">
          <a:xfrm>
            <a:off x="5962729" y="2791328"/>
            <a:ext cx="3001884" cy="16765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灯片编号占位符 1">
            <a:extLst>
              <a:ext uri="{FF2B5EF4-FFF2-40B4-BE49-F238E27FC236}">
                <a16:creationId xmlns:a16="http://schemas.microsoft.com/office/drawing/2014/main" id="{7CCE43B1-999F-953B-03ED-CC51E4932CC6}"/>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401" y="859175"/>
            <a:ext cx="7961963" cy="914400"/>
          </a:xfrm>
        </p:spPr>
        <p:txBody>
          <a:bodyPr/>
          <a:lstStyle/>
          <a:p>
            <a:pPr>
              <a:spcBef>
                <a:spcPts val="0"/>
              </a:spcBef>
            </a:pPr>
            <a:r>
              <a:rPr lang="en-US" sz="2000" dirty="0"/>
              <a:t>In traditional computing model, two common problems </a:t>
            </a:r>
          </a:p>
          <a:p>
            <a:pPr lvl="1">
              <a:spcBef>
                <a:spcPts val="0"/>
              </a:spcBef>
            </a:pPr>
            <a:r>
              <a:rPr lang="en-US" sz="2000" dirty="0"/>
              <a:t>Underestimate system utilization which result in under provision</a:t>
            </a:r>
          </a:p>
        </p:txBody>
      </p:sp>
      <p:grpSp>
        <p:nvGrpSpPr>
          <p:cNvPr id="19" name="组合 18">
            <a:extLst>
              <a:ext uri="{FF2B5EF4-FFF2-40B4-BE49-F238E27FC236}">
                <a16:creationId xmlns:a16="http://schemas.microsoft.com/office/drawing/2014/main" id="{14C52456-23B3-7157-8274-468F8EB9E75E}"/>
              </a:ext>
            </a:extLst>
          </p:cNvPr>
          <p:cNvGrpSpPr/>
          <p:nvPr/>
        </p:nvGrpSpPr>
        <p:grpSpPr>
          <a:xfrm>
            <a:off x="1309036" y="1773575"/>
            <a:ext cx="6355899" cy="2721423"/>
            <a:chOff x="1257300" y="2057400"/>
            <a:chExt cx="6484637" cy="2849456"/>
          </a:xfrm>
        </p:grpSpPr>
        <p:sp>
          <p:nvSpPr>
            <p:cNvPr id="7" name="Up Arrow 6"/>
            <p:cNvSpPr/>
            <p:nvPr/>
          </p:nvSpPr>
          <p:spPr>
            <a:xfrm rot="3513410">
              <a:off x="4111908" y="2674838"/>
              <a:ext cx="571500" cy="715565"/>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sz="1350">
                <a:solidFill>
                  <a:srgbClr val="000000"/>
                </a:solidFill>
                <a:ea typeface="ＭＳ Ｐゴシック" pitchFamily="34" charset="-128"/>
              </a:endParaRPr>
            </a:p>
          </p:txBody>
        </p:sp>
        <p:sp>
          <p:nvSpPr>
            <p:cNvPr id="8" name="Up Arrow 7"/>
            <p:cNvSpPr/>
            <p:nvPr/>
          </p:nvSpPr>
          <p:spPr>
            <a:xfrm rot="6949103">
              <a:off x="4125481" y="3515419"/>
              <a:ext cx="571500" cy="715566"/>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sz="1350" dirty="0">
                <a:solidFill>
                  <a:srgbClr val="000000"/>
                </a:solidFill>
                <a:ea typeface="ＭＳ Ｐゴシック" pitchFamily="34" charset="-128"/>
              </a:endParaRPr>
            </a:p>
          </p:txBody>
        </p:sp>
        <p:grpSp>
          <p:nvGrpSpPr>
            <p:cNvPr id="9" name="Group 62"/>
            <p:cNvGrpSpPr>
              <a:grpSpLocks/>
            </p:cNvGrpSpPr>
            <p:nvPr/>
          </p:nvGrpSpPr>
          <p:grpSpPr bwMode="auto">
            <a:xfrm>
              <a:off x="4743450" y="3534013"/>
              <a:ext cx="2995080" cy="1372843"/>
              <a:chOff x="1143000" y="2362201"/>
              <a:chExt cx="5991196" cy="2786754"/>
            </a:xfrm>
          </p:grpSpPr>
          <p:sp>
            <p:nvSpPr>
              <p:cNvPr id="10" name="Freeform 9"/>
              <p:cNvSpPr/>
              <p:nvPr/>
            </p:nvSpPr>
            <p:spPr>
              <a:xfrm>
                <a:off x="1663352" y="2909041"/>
                <a:ext cx="4581984" cy="1370711"/>
              </a:xfrm>
              <a:custGeom>
                <a:avLst/>
                <a:gdLst>
                  <a:gd name="connsiteX0" fmla="*/ 0 w 4800600"/>
                  <a:gd name="connsiteY0" fmla="*/ 1746955 h 1761066"/>
                  <a:gd name="connsiteX1" fmla="*/ 7027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2477"/>
                  <a:gd name="connsiteX1" fmla="*/ 778934 w 4800600"/>
                  <a:gd name="connsiteY1" fmla="*/ 104422 h 1762477"/>
                  <a:gd name="connsiteX2" fmla="*/ 1608667 w 4800600"/>
                  <a:gd name="connsiteY2" fmla="*/ 1738488 h 1762477"/>
                  <a:gd name="connsiteX3" fmla="*/ 2404940 w 4800600"/>
                  <a:gd name="connsiteY3" fmla="*/ 95954 h 1762477"/>
                  <a:gd name="connsiteX4" fmla="*/ 3200400 w 4800600"/>
                  <a:gd name="connsiteY4" fmla="*/ 1746955 h 1762477"/>
                  <a:gd name="connsiteX5" fmla="*/ 4030134 w 4800600"/>
                  <a:gd name="connsiteY5" fmla="*/ 2822 h 1762477"/>
                  <a:gd name="connsiteX6" fmla="*/ 4800600 w 4800600"/>
                  <a:gd name="connsiteY6" fmla="*/ 1730022 h 17624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48926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1851"/>
                  <a:gd name="connsiteX1" fmla="*/ 796681 w 4800600"/>
                  <a:gd name="connsiteY1" fmla="*/ 7517 h 1671851"/>
                  <a:gd name="connsiteX2" fmla="*/ 1608667 w 4800600"/>
                  <a:gd name="connsiteY2" fmla="*/ 1662288 h 1671851"/>
                  <a:gd name="connsiteX3" fmla="*/ 2387192 w 4800600"/>
                  <a:gd name="connsiteY3" fmla="*/ 9401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0" h="1671851">
                    <a:moveTo>
                      <a:pt x="0" y="1670755"/>
                    </a:moveTo>
                    <a:cubicBezTo>
                      <a:pt x="410902" y="1340416"/>
                      <a:pt x="528570" y="8928"/>
                      <a:pt x="796681" y="7517"/>
                    </a:cubicBezTo>
                    <a:cubicBezTo>
                      <a:pt x="1064792" y="6106"/>
                      <a:pt x="1339145" y="1661974"/>
                      <a:pt x="1608667" y="1662288"/>
                    </a:cubicBezTo>
                    <a:cubicBezTo>
                      <a:pt x="1878189" y="1662602"/>
                      <a:pt x="2148524" y="7989"/>
                      <a:pt x="2413813" y="9400"/>
                    </a:cubicBezTo>
                    <a:cubicBezTo>
                      <a:pt x="2679102" y="10811"/>
                      <a:pt x="2931013" y="1671851"/>
                      <a:pt x="3200400" y="1670755"/>
                    </a:cubicBezTo>
                    <a:cubicBezTo>
                      <a:pt x="3469787" y="1669659"/>
                      <a:pt x="3763434" y="5644"/>
                      <a:pt x="4030134" y="2822"/>
                    </a:cubicBezTo>
                    <a:cubicBezTo>
                      <a:pt x="4296834" y="0"/>
                      <a:pt x="4501610" y="1417669"/>
                      <a:pt x="4800600" y="1653822"/>
                    </a:cubicBezTo>
                  </a:path>
                </a:pathLst>
              </a:custGeom>
              <a:solidFill>
                <a:srgbClr val="FFFFFF"/>
              </a:solidFill>
              <a:ln w="12700" cap="flat" cmpd="sng" algn="ctr">
                <a:solidFill>
                  <a:schemeClr val="accent4">
                    <a:shade val="95000"/>
                    <a:satMod val="105000"/>
                  </a:schemeClr>
                </a:solidFill>
                <a:prstDash val="dash"/>
                <a:round/>
                <a:headEnd type="none" w="med" len="med"/>
                <a:tailEnd type="none" w="med" len="med"/>
              </a:ln>
              <a:effectLst/>
            </p:spPr>
            <p:style>
              <a:lnRef idx="1">
                <a:schemeClr val="accent4"/>
              </a:lnRef>
              <a:fillRef idx="2">
                <a:schemeClr val="accent4"/>
              </a:fillRef>
              <a:effectRef idx="1">
                <a:schemeClr val="accent4"/>
              </a:effectRef>
              <a:fontRef idx="minor">
                <a:schemeClr val="dk1"/>
              </a:fontRef>
            </p:style>
            <p:txBody>
              <a:bodyPr anchor="ctr"/>
              <a:lstStyle/>
              <a:p>
                <a:pPr algn="ctr"/>
                <a:endParaRPr lang="en-US" sz="1350">
                  <a:solidFill>
                    <a:srgbClr val="000000"/>
                  </a:solidFill>
                  <a:ea typeface="ＭＳ Ｐゴシック" pitchFamily="34" charset="-128"/>
                </a:endParaRPr>
              </a:p>
            </p:txBody>
          </p:sp>
          <p:cxnSp>
            <p:nvCxnSpPr>
              <p:cNvPr id="11" name="Straight Arrow Connector 10"/>
              <p:cNvCxnSpPr/>
              <p:nvPr/>
            </p:nvCxnSpPr>
            <p:spPr bwMode="auto">
              <a:xfrm>
                <a:off x="1627217" y="4568831"/>
                <a:ext cx="4801206"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TextBox 11"/>
              <p:cNvSpPr txBox="1"/>
              <p:nvPr/>
            </p:nvSpPr>
            <p:spPr bwMode="auto">
              <a:xfrm>
                <a:off x="1143000" y="2723840"/>
                <a:ext cx="715704" cy="1576870"/>
              </a:xfrm>
              <a:prstGeom prst="rect">
                <a:avLst/>
              </a:prstGeom>
              <a:noFill/>
            </p:spPr>
            <p:txBody>
              <a:bodyPr vert="vert270" wrap="none">
                <a:spAutoFit/>
              </a:bodyPr>
              <a:lstStyle/>
              <a:p>
                <a:pPr algn="ctr">
                  <a:defRPr/>
                </a:pPr>
                <a:r>
                  <a:rPr lang="en-US" sz="1125" b="1" dirty="0">
                    <a:latin typeface="Cambria" pitchFamily="18" charset="0"/>
                    <a:ea typeface="ＭＳ Ｐゴシック" pitchFamily="-65" charset="-128"/>
                    <a:cs typeface="ＭＳ Ｐゴシック" pitchFamily="-65" charset="-128"/>
                  </a:rPr>
                  <a:t>Resources</a:t>
                </a:r>
              </a:p>
            </p:txBody>
          </p:sp>
          <p:cxnSp>
            <p:nvCxnSpPr>
              <p:cNvPr id="13" name="Straight Arrow Connector 12"/>
              <p:cNvCxnSpPr/>
              <p:nvPr/>
            </p:nvCxnSpPr>
            <p:spPr bwMode="auto">
              <a:xfrm rot="5400000" flipH="1" flipV="1">
                <a:off x="521492" y="3465516"/>
                <a:ext cx="2209039" cy="241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TextBox 22"/>
              <p:cNvSpPr txBox="1">
                <a:spLocks noChangeArrowheads="1"/>
              </p:cNvSpPr>
              <p:nvPr/>
            </p:nvSpPr>
            <p:spPr bwMode="auto">
              <a:xfrm>
                <a:off x="5643768" y="4120397"/>
                <a:ext cx="1459628" cy="538855"/>
              </a:xfrm>
              <a:prstGeom prst="rect">
                <a:avLst/>
              </a:prstGeom>
              <a:noFill/>
              <a:ln w="9525">
                <a:noFill/>
                <a:miter lim="800000"/>
                <a:headEnd/>
                <a:tailEnd/>
              </a:ln>
            </p:spPr>
            <p:txBody>
              <a:bodyPr wrap="none">
                <a:spAutoFit/>
              </a:bodyPr>
              <a:lstStyle/>
              <a:p>
                <a:pPr algn="ctr"/>
                <a:r>
                  <a:rPr lang="en-US" sz="1125" dirty="0"/>
                  <a:t>Demand</a:t>
                </a:r>
              </a:p>
            </p:txBody>
          </p:sp>
          <p:sp>
            <p:nvSpPr>
              <p:cNvPr id="15" name="TextBox 22"/>
              <p:cNvSpPr txBox="1">
                <a:spLocks noChangeArrowheads="1"/>
              </p:cNvSpPr>
              <p:nvPr/>
            </p:nvSpPr>
            <p:spPr bwMode="auto">
              <a:xfrm>
                <a:off x="5642504" y="2940357"/>
                <a:ext cx="1491692" cy="538855"/>
              </a:xfrm>
              <a:prstGeom prst="rect">
                <a:avLst/>
              </a:prstGeom>
              <a:noFill/>
              <a:ln w="9525">
                <a:noFill/>
                <a:miter lim="800000"/>
                <a:headEnd/>
                <a:tailEnd/>
              </a:ln>
            </p:spPr>
            <p:txBody>
              <a:bodyPr wrap="none">
                <a:spAutoFit/>
              </a:bodyPr>
              <a:lstStyle/>
              <a:p>
                <a:pPr algn="ctr"/>
                <a:r>
                  <a:rPr lang="en-US" sz="1125" dirty="0">
                    <a:solidFill>
                      <a:srgbClr val="FF0000"/>
                    </a:solidFill>
                  </a:rPr>
                  <a:t>Capacity</a:t>
                </a:r>
              </a:p>
            </p:txBody>
          </p:sp>
          <p:pic>
            <p:nvPicPr>
              <p:cNvPr id="16" name="Picture 52" descr="temp-1.png"/>
              <p:cNvPicPr>
                <a:picLocks noChangeAspect="1"/>
              </p:cNvPicPr>
              <p:nvPr/>
            </p:nvPicPr>
            <p:blipFill>
              <a:blip r:embed="rId2" cstate="print"/>
              <a:srcRect b="61111"/>
              <a:stretch>
                <a:fillRect/>
              </a:stretch>
            </p:blipFill>
            <p:spPr bwMode="auto">
              <a:xfrm>
                <a:off x="1647824" y="2895601"/>
                <a:ext cx="4600576" cy="533399"/>
              </a:xfrm>
              <a:prstGeom prst="rect">
                <a:avLst/>
              </a:prstGeom>
              <a:noFill/>
              <a:ln w="9525">
                <a:noFill/>
                <a:miter lim="800000"/>
                <a:headEnd/>
                <a:tailEnd/>
              </a:ln>
            </p:spPr>
          </p:pic>
          <p:pic>
            <p:nvPicPr>
              <p:cNvPr id="17" name="Picture 53" descr="temp-4.png"/>
              <p:cNvPicPr>
                <a:picLocks noChangeAspect="1"/>
              </p:cNvPicPr>
              <p:nvPr/>
            </p:nvPicPr>
            <p:blipFill>
              <a:blip r:embed="rId3" cstate="print"/>
              <a:srcRect t="38773"/>
              <a:stretch>
                <a:fillRect/>
              </a:stretch>
            </p:blipFill>
            <p:spPr bwMode="auto">
              <a:xfrm>
                <a:off x="1635124" y="3440112"/>
                <a:ext cx="4600576" cy="839789"/>
              </a:xfrm>
              <a:prstGeom prst="rect">
                <a:avLst/>
              </a:prstGeom>
              <a:noFill/>
              <a:ln w="9525">
                <a:noFill/>
                <a:miter lim="800000"/>
                <a:headEnd/>
                <a:tailEnd/>
              </a:ln>
            </p:spPr>
          </p:pic>
          <p:cxnSp>
            <p:nvCxnSpPr>
              <p:cNvPr id="18" name="Straight Arrow Connector 17"/>
              <p:cNvCxnSpPr/>
              <p:nvPr/>
            </p:nvCxnSpPr>
            <p:spPr bwMode="auto">
              <a:xfrm>
                <a:off x="1627217" y="3426972"/>
                <a:ext cx="4601256" cy="2410"/>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0" name="Straight Arrow Connector 19"/>
              <p:cNvCxnSpPr/>
              <p:nvPr/>
            </p:nvCxnSpPr>
            <p:spPr bwMode="auto">
              <a:xfrm rot="5400000" flipH="1" flipV="1">
                <a:off x="3138887" y="4610987"/>
                <a:ext cx="91541" cy="7228"/>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1" name="Straight Arrow Connector 20"/>
              <p:cNvCxnSpPr/>
              <p:nvPr/>
            </p:nvCxnSpPr>
            <p:spPr bwMode="auto">
              <a:xfrm rot="5400000" flipH="1" flipV="1">
                <a:off x="4657782" y="4609784"/>
                <a:ext cx="81905" cy="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bwMode="auto">
              <a:xfrm rot="5400000" flipH="1" flipV="1">
                <a:off x="6185110" y="4609784"/>
                <a:ext cx="74679" cy="241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3" name="TextBox 22"/>
              <p:cNvSpPr txBox="1">
                <a:spLocks noChangeArrowheads="1"/>
              </p:cNvSpPr>
              <p:nvPr/>
            </p:nvSpPr>
            <p:spPr bwMode="auto">
              <a:xfrm>
                <a:off x="2978149" y="4610100"/>
                <a:ext cx="367850" cy="538855"/>
              </a:xfrm>
              <a:prstGeom prst="rect">
                <a:avLst/>
              </a:prstGeom>
              <a:noFill/>
              <a:ln w="9525">
                <a:noFill/>
                <a:miter lim="800000"/>
                <a:headEnd/>
                <a:tailEnd/>
              </a:ln>
            </p:spPr>
            <p:txBody>
              <a:bodyPr>
                <a:spAutoFit/>
              </a:bodyPr>
              <a:lstStyle/>
              <a:p>
                <a:pPr algn="ctr"/>
                <a:r>
                  <a:rPr lang="en-US" sz="1125" dirty="0"/>
                  <a:t>1</a:t>
                </a:r>
              </a:p>
            </p:txBody>
          </p:sp>
          <p:sp>
            <p:nvSpPr>
              <p:cNvPr id="24" name="TextBox 60"/>
              <p:cNvSpPr txBox="1">
                <a:spLocks noChangeArrowheads="1"/>
              </p:cNvSpPr>
              <p:nvPr/>
            </p:nvSpPr>
            <p:spPr bwMode="auto">
              <a:xfrm>
                <a:off x="4552017" y="4572001"/>
                <a:ext cx="331133" cy="538855"/>
              </a:xfrm>
              <a:prstGeom prst="rect">
                <a:avLst/>
              </a:prstGeom>
              <a:noFill/>
              <a:ln w="9525">
                <a:noFill/>
                <a:miter lim="800000"/>
                <a:headEnd/>
                <a:tailEnd/>
              </a:ln>
            </p:spPr>
            <p:txBody>
              <a:bodyPr>
                <a:spAutoFit/>
              </a:bodyPr>
              <a:lstStyle/>
              <a:p>
                <a:pPr algn="ctr"/>
                <a:r>
                  <a:rPr lang="en-US" sz="1125"/>
                  <a:t>2</a:t>
                </a:r>
              </a:p>
            </p:txBody>
          </p:sp>
          <p:sp>
            <p:nvSpPr>
              <p:cNvPr id="25" name="TextBox 22"/>
              <p:cNvSpPr txBox="1">
                <a:spLocks noChangeArrowheads="1"/>
              </p:cNvSpPr>
              <p:nvPr/>
            </p:nvSpPr>
            <p:spPr bwMode="auto">
              <a:xfrm>
                <a:off x="6026150" y="4572001"/>
                <a:ext cx="381000" cy="538855"/>
              </a:xfrm>
              <a:prstGeom prst="rect">
                <a:avLst/>
              </a:prstGeom>
              <a:noFill/>
              <a:ln w="9525">
                <a:noFill/>
                <a:miter lim="800000"/>
                <a:headEnd/>
                <a:tailEnd/>
              </a:ln>
            </p:spPr>
            <p:txBody>
              <a:bodyPr>
                <a:spAutoFit/>
              </a:bodyPr>
              <a:lstStyle/>
              <a:p>
                <a:pPr algn="ctr"/>
                <a:r>
                  <a:rPr lang="en-US" sz="1125"/>
                  <a:t>3</a:t>
                </a:r>
              </a:p>
            </p:txBody>
          </p:sp>
        </p:grpSp>
        <p:grpSp>
          <p:nvGrpSpPr>
            <p:cNvPr id="26" name="Group 99"/>
            <p:cNvGrpSpPr>
              <a:grpSpLocks/>
            </p:cNvGrpSpPr>
            <p:nvPr/>
          </p:nvGrpSpPr>
          <p:grpSpPr bwMode="auto">
            <a:xfrm>
              <a:off x="4743450" y="2117586"/>
              <a:ext cx="2998487" cy="1312102"/>
              <a:chOff x="1143000" y="2362201"/>
              <a:chExt cx="6026741" cy="2818025"/>
            </a:xfrm>
          </p:grpSpPr>
          <p:cxnSp>
            <p:nvCxnSpPr>
              <p:cNvPr id="27" name="Straight Arrow Connector 26"/>
              <p:cNvCxnSpPr/>
              <p:nvPr/>
            </p:nvCxnSpPr>
            <p:spPr bwMode="auto">
              <a:xfrm>
                <a:off x="1628012" y="4567682"/>
                <a:ext cx="4799439"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8" name="TextBox 27"/>
              <p:cNvSpPr txBox="1"/>
              <p:nvPr/>
            </p:nvSpPr>
            <p:spPr bwMode="auto">
              <a:xfrm>
                <a:off x="1143000" y="2678085"/>
                <a:ext cx="719132" cy="1668382"/>
              </a:xfrm>
              <a:prstGeom prst="rect">
                <a:avLst/>
              </a:prstGeom>
              <a:noFill/>
            </p:spPr>
            <p:txBody>
              <a:bodyPr vert="vert270" wrap="none">
                <a:spAutoFit/>
              </a:bodyPr>
              <a:lstStyle/>
              <a:p>
                <a:pPr algn="ctr">
                  <a:defRPr/>
                </a:pPr>
                <a:r>
                  <a:rPr lang="en-US" sz="1125" b="1" dirty="0">
                    <a:latin typeface="Cambria" pitchFamily="18" charset="0"/>
                    <a:ea typeface="ＭＳ Ｐゴシック" pitchFamily="-65" charset="-128"/>
                    <a:cs typeface="ＭＳ Ｐゴシック" pitchFamily="-65" charset="-128"/>
                  </a:rPr>
                  <a:t>Resources</a:t>
                </a:r>
              </a:p>
            </p:txBody>
          </p:sp>
          <p:cxnSp>
            <p:nvCxnSpPr>
              <p:cNvPr id="29" name="Straight Arrow Connector 28"/>
              <p:cNvCxnSpPr/>
              <p:nvPr/>
            </p:nvCxnSpPr>
            <p:spPr bwMode="auto">
              <a:xfrm rot="5400000" flipH="1" flipV="1">
                <a:off x="521652"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30" name="Picture 71" descr="temp-3.png"/>
              <p:cNvPicPr>
                <a:picLocks noChangeAspect="1"/>
              </p:cNvPicPr>
              <p:nvPr/>
            </p:nvPicPr>
            <p:blipFill>
              <a:blip r:embed="rId4" cstate="print"/>
              <a:srcRect t="38773"/>
              <a:stretch>
                <a:fillRect/>
              </a:stretch>
            </p:blipFill>
            <p:spPr bwMode="auto">
              <a:xfrm>
                <a:off x="1625600" y="3429000"/>
                <a:ext cx="4600575" cy="839789"/>
              </a:xfrm>
              <a:prstGeom prst="rect">
                <a:avLst/>
              </a:prstGeom>
              <a:noFill/>
              <a:ln w="9525">
                <a:noFill/>
                <a:miter lim="800000"/>
                <a:headEnd/>
                <a:tailEnd/>
              </a:ln>
            </p:spPr>
          </p:pic>
          <p:sp>
            <p:nvSpPr>
              <p:cNvPr id="31" name="TextBox 22"/>
              <p:cNvSpPr txBox="1">
                <a:spLocks noChangeArrowheads="1"/>
              </p:cNvSpPr>
              <p:nvPr/>
            </p:nvSpPr>
            <p:spPr bwMode="auto">
              <a:xfrm>
                <a:off x="5672242" y="4038598"/>
                <a:ext cx="1466620" cy="570127"/>
              </a:xfrm>
              <a:prstGeom prst="rect">
                <a:avLst/>
              </a:prstGeom>
              <a:noFill/>
              <a:ln w="9525">
                <a:noFill/>
                <a:miter lim="800000"/>
                <a:headEnd/>
                <a:tailEnd/>
              </a:ln>
            </p:spPr>
            <p:txBody>
              <a:bodyPr wrap="none">
                <a:spAutoFit/>
              </a:bodyPr>
              <a:lstStyle/>
              <a:p>
                <a:pPr algn="ctr"/>
                <a:r>
                  <a:rPr lang="en-US" sz="1125" dirty="0"/>
                  <a:t>Demand</a:t>
                </a:r>
              </a:p>
            </p:txBody>
          </p:sp>
          <p:sp>
            <p:nvSpPr>
              <p:cNvPr id="32" name="TextBox 22"/>
              <p:cNvSpPr txBox="1">
                <a:spLocks noChangeArrowheads="1"/>
              </p:cNvSpPr>
              <p:nvPr/>
            </p:nvSpPr>
            <p:spPr bwMode="auto">
              <a:xfrm>
                <a:off x="5670904" y="2941322"/>
                <a:ext cx="1498837" cy="570127"/>
              </a:xfrm>
              <a:prstGeom prst="rect">
                <a:avLst/>
              </a:prstGeom>
              <a:noFill/>
              <a:ln w="9525">
                <a:noFill/>
                <a:miter lim="800000"/>
                <a:headEnd/>
                <a:tailEnd/>
              </a:ln>
            </p:spPr>
            <p:txBody>
              <a:bodyPr wrap="none">
                <a:spAutoFit/>
              </a:bodyPr>
              <a:lstStyle/>
              <a:p>
                <a:pPr algn="ctr"/>
                <a:r>
                  <a:rPr lang="en-US" sz="1125" dirty="0">
                    <a:solidFill>
                      <a:srgbClr val="FF0000"/>
                    </a:solidFill>
                  </a:rPr>
                  <a:t>Capacity</a:t>
                </a:r>
              </a:p>
            </p:txBody>
          </p:sp>
          <p:pic>
            <p:nvPicPr>
              <p:cNvPr id="33" name="Picture 80" descr="temp-2.png"/>
              <p:cNvPicPr>
                <a:picLocks noChangeAspect="1"/>
              </p:cNvPicPr>
              <p:nvPr/>
            </p:nvPicPr>
            <p:blipFill>
              <a:blip r:embed="rId5" cstate="print"/>
              <a:srcRect b="61227"/>
              <a:stretch>
                <a:fillRect/>
              </a:stretch>
            </p:blipFill>
            <p:spPr bwMode="auto">
              <a:xfrm>
                <a:off x="1616663" y="2895600"/>
                <a:ext cx="4600575" cy="531812"/>
              </a:xfrm>
              <a:prstGeom prst="rect">
                <a:avLst/>
              </a:prstGeom>
              <a:noFill/>
              <a:ln w="9525">
                <a:noFill/>
                <a:miter lim="800000"/>
                <a:headEnd/>
                <a:tailEnd/>
              </a:ln>
            </p:spPr>
          </p:pic>
          <p:cxnSp>
            <p:nvCxnSpPr>
              <p:cNvPr id="34" name="Straight Arrow Connector 33"/>
              <p:cNvCxnSpPr/>
              <p:nvPr/>
            </p:nvCxnSpPr>
            <p:spPr bwMode="auto">
              <a:xfrm>
                <a:off x="1628012" y="3426334"/>
                <a:ext cx="4599162"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6" name="Straight Arrow Connector 35"/>
              <p:cNvCxnSpPr/>
              <p:nvPr/>
            </p:nvCxnSpPr>
            <p:spPr bwMode="auto">
              <a:xfrm rot="5400000" flipH="1" flipV="1">
                <a:off x="3137338"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7" name="Straight Arrow Connector 36"/>
              <p:cNvCxnSpPr/>
              <p:nvPr/>
            </p:nvCxnSpPr>
            <p:spPr bwMode="auto">
              <a:xfrm rot="5400000" flipH="1" flipV="1">
                <a:off x="4657522"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8" name="Straight Arrow Connector 37"/>
              <p:cNvCxnSpPr/>
              <p:nvPr/>
            </p:nvCxnSpPr>
            <p:spPr bwMode="auto">
              <a:xfrm rot="5400000" flipH="1" flipV="1">
                <a:off x="6184947"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39" name="TextBox 22"/>
              <p:cNvSpPr txBox="1">
                <a:spLocks noChangeArrowheads="1"/>
              </p:cNvSpPr>
              <p:nvPr/>
            </p:nvSpPr>
            <p:spPr bwMode="auto">
              <a:xfrm>
                <a:off x="2978150" y="4610099"/>
                <a:ext cx="367849" cy="570127"/>
              </a:xfrm>
              <a:prstGeom prst="rect">
                <a:avLst/>
              </a:prstGeom>
              <a:noFill/>
              <a:ln w="9525">
                <a:noFill/>
                <a:miter lim="800000"/>
                <a:headEnd/>
                <a:tailEnd/>
              </a:ln>
            </p:spPr>
            <p:txBody>
              <a:bodyPr>
                <a:spAutoFit/>
              </a:bodyPr>
              <a:lstStyle/>
              <a:p>
                <a:pPr algn="ctr"/>
                <a:r>
                  <a:rPr lang="en-US" sz="1125"/>
                  <a:t>1</a:t>
                </a:r>
              </a:p>
            </p:txBody>
          </p:sp>
          <p:sp>
            <p:nvSpPr>
              <p:cNvPr id="40" name="TextBox 22"/>
              <p:cNvSpPr txBox="1">
                <a:spLocks noChangeArrowheads="1"/>
              </p:cNvSpPr>
              <p:nvPr/>
            </p:nvSpPr>
            <p:spPr bwMode="auto">
              <a:xfrm>
                <a:off x="4552018" y="4572001"/>
                <a:ext cx="331134" cy="570127"/>
              </a:xfrm>
              <a:prstGeom prst="rect">
                <a:avLst/>
              </a:prstGeom>
              <a:noFill/>
              <a:ln w="9525">
                <a:noFill/>
                <a:miter lim="800000"/>
                <a:headEnd/>
                <a:tailEnd/>
              </a:ln>
            </p:spPr>
            <p:txBody>
              <a:bodyPr>
                <a:spAutoFit/>
              </a:bodyPr>
              <a:lstStyle/>
              <a:p>
                <a:pPr algn="ctr"/>
                <a:r>
                  <a:rPr lang="en-US" sz="1125"/>
                  <a:t>2</a:t>
                </a:r>
              </a:p>
            </p:txBody>
          </p:sp>
          <p:sp>
            <p:nvSpPr>
              <p:cNvPr id="41" name="TextBox 95"/>
              <p:cNvSpPr txBox="1">
                <a:spLocks noChangeArrowheads="1"/>
              </p:cNvSpPr>
              <p:nvPr/>
            </p:nvSpPr>
            <p:spPr bwMode="auto">
              <a:xfrm>
                <a:off x="6026151" y="4572001"/>
                <a:ext cx="381000" cy="570127"/>
              </a:xfrm>
              <a:prstGeom prst="rect">
                <a:avLst/>
              </a:prstGeom>
              <a:noFill/>
              <a:ln w="9525">
                <a:noFill/>
                <a:miter lim="800000"/>
                <a:headEnd/>
                <a:tailEnd/>
              </a:ln>
            </p:spPr>
            <p:txBody>
              <a:bodyPr>
                <a:spAutoFit/>
              </a:bodyPr>
              <a:lstStyle/>
              <a:p>
                <a:pPr algn="ctr"/>
                <a:r>
                  <a:rPr lang="en-US" sz="1125"/>
                  <a:t>3</a:t>
                </a:r>
              </a:p>
            </p:txBody>
          </p:sp>
        </p:grpSp>
        <p:grpSp>
          <p:nvGrpSpPr>
            <p:cNvPr id="42" name="Group 100"/>
            <p:cNvGrpSpPr>
              <a:grpSpLocks/>
            </p:cNvGrpSpPr>
            <p:nvPr/>
          </p:nvGrpSpPr>
          <p:grpSpPr bwMode="auto">
            <a:xfrm>
              <a:off x="1257300" y="2800350"/>
              <a:ext cx="2792957" cy="1465128"/>
              <a:chOff x="1090563" y="2362201"/>
              <a:chExt cx="6084084" cy="3141648"/>
            </a:xfrm>
          </p:grpSpPr>
          <p:cxnSp>
            <p:nvCxnSpPr>
              <p:cNvPr id="43" name="Straight Arrow Connector 42"/>
              <p:cNvCxnSpPr/>
              <p:nvPr/>
            </p:nvCxnSpPr>
            <p:spPr bwMode="auto">
              <a:xfrm>
                <a:off x="1628014" y="4567682"/>
                <a:ext cx="4799454"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44" name="TextBox 43"/>
              <p:cNvSpPr txBox="1"/>
              <p:nvPr/>
            </p:nvSpPr>
            <p:spPr bwMode="auto">
              <a:xfrm>
                <a:off x="1090563" y="2703729"/>
                <a:ext cx="779398" cy="1665712"/>
              </a:xfrm>
              <a:prstGeom prst="rect">
                <a:avLst/>
              </a:prstGeom>
              <a:noFill/>
            </p:spPr>
            <p:txBody>
              <a:bodyPr vert="vert270" wrap="none">
                <a:spAutoFit/>
              </a:bodyPr>
              <a:lstStyle/>
              <a:p>
                <a:pPr algn="ctr">
                  <a:defRPr/>
                </a:pPr>
                <a:r>
                  <a:rPr lang="en-US" sz="1125" b="1" dirty="0">
                    <a:latin typeface="Cambria" pitchFamily="18" charset="0"/>
                    <a:ea typeface="ＭＳ Ｐゴシック" pitchFamily="-65" charset="-128"/>
                    <a:cs typeface="ＭＳ Ｐゴシック" pitchFamily="-65" charset="-128"/>
                  </a:rPr>
                  <a:t>Resources</a:t>
                </a:r>
              </a:p>
            </p:txBody>
          </p:sp>
          <p:cxnSp>
            <p:nvCxnSpPr>
              <p:cNvPr id="45" name="Straight Arrow Connector 44"/>
              <p:cNvCxnSpPr/>
              <p:nvPr/>
            </p:nvCxnSpPr>
            <p:spPr bwMode="auto">
              <a:xfrm rot="5400000" flipH="1" flipV="1">
                <a:off x="521653"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46" name="Picture 104" descr="temp-3.png"/>
              <p:cNvPicPr>
                <a:picLocks noChangeAspect="1"/>
              </p:cNvPicPr>
              <p:nvPr/>
            </p:nvPicPr>
            <p:blipFill>
              <a:blip r:embed="rId4" cstate="print"/>
              <a:srcRect t="-5228"/>
              <a:stretch>
                <a:fillRect/>
              </a:stretch>
            </p:blipFill>
            <p:spPr bwMode="auto">
              <a:xfrm>
                <a:off x="1625600" y="2825497"/>
                <a:ext cx="4600576" cy="1443293"/>
              </a:xfrm>
              <a:prstGeom prst="rect">
                <a:avLst/>
              </a:prstGeom>
              <a:noFill/>
              <a:ln w="9525">
                <a:noFill/>
                <a:miter lim="800000"/>
                <a:headEnd/>
                <a:tailEnd/>
              </a:ln>
            </p:spPr>
          </p:pic>
          <p:sp>
            <p:nvSpPr>
              <p:cNvPr id="47" name="TextBox 22"/>
              <p:cNvSpPr txBox="1">
                <a:spLocks noChangeArrowheads="1"/>
              </p:cNvSpPr>
              <p:nvPr/>
            </p:nvSpPr>
            <p:spPr bwMode="auto">
              <a:xfrm>
                <a:off x="5552890" y="4038600"/>
                <a:ext cx="1589528" cy="569215"/>
              </a:xfrm>
              <a:prstGeom prst="rect">
                <a:avLst/>
              </a:prstGeom>
              <a:noFill/>
              <a:ln w="9525">
                <a:noFill/>
                <a:miter lim="800000"/>
                <a:headEnd/>
                <a:tailEnd/>
              </a:ln>
            </p:spPr>
            <p:txBody>
              <a:bodyPr wrap="none">
                <a:spAutoFit/>
              </a:bodyPr>
              <a:lstStyle/>
              <a:p>
                <a:pPr algn="ctr"/>
                <a:r>
                  <a:rPr lang="en-US" sz="1125" dirty="0"/>
                  <a:t>Demand</a:t>
                </a:r>
              </a:p>
            </p:txBody>
          </p:sp>
          <p:sp>
            <p:nvSpPr>
              <p:cNvPr id="48" name="TextBox 22"/>
              <p:cNvSpPr txBox="1">
                <a:spLocks noChangeArrowheads="1"/>
              </p:cNvSpPr>
              <p:nvPr/>
            </p:nvSpPr>
            <p:spPr bwMode="auto">
              <a:xfrm>
                <a:off x="5550202" y="2941320"/>
                <a:ext cx="1624445" cy="569215"/>
              </a:xfrm>
              <a:prstGeom prst="rect">
                <a:avLst/>
              </a:prstGeom>
              <a:noFill/>
              <a:ln w="9525">
                <a:noFill/>
                <a:miter lim="800000"/>
                <a:headEnd/>
                <a:tailEnd/>
              </a:ln>
            </p:spPr>
            <p:txBody>
              <a:bodyPr wrap="none">
                <a:spAutoFit/>
              </a:bodyPr>
              <a:lstStyle/>
              <a:p>
                <a:pPr algn="ctr"/>
                <a:r>
                  <a:rPr lang="en-US" sz="1125" dirty="0">
                    <a:solidFill>
                      <a:srgbClr val="FF0000"/>
                    </a:solidFill>
                  </a:rPr>
                  <a:t>Capacity</a:t>
                </a:r>
              </a:p>
            </p:txBody>
          </p:sp>
          <p:cxnSp>
            <p:nvCxnSpPr>
              <p:cNvPr id="49" name="Straight Arrow Connector 48"/>
              <p:cNvCxnSpPr/>
              <p:nvPr/>
            </p:nvCxnSpPr>
            <p:spPr bwMode="auto">
              <a:xfrm>
                <a:off x="1628014" y="3426334"/>
                <a:ext cx="4599176"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0" name="TextBox 22"/>
              <p:cNvSpPr txBox="1">
                <a:spLocks noChangeArrowheads="1"/>
              </p:cNvSpPr>
              <p:nvPr/>
            </p:nvSpPr>
            <p:spPr bwMode="auto">
              <a:xfrm>
                <a:off x="2876861" y="4934634"/>
                <a:ext cx="2144743" cy="569215"/>
              </a:xfrm>
              <a:prstGeom prst="rect">
                <a:avLst/>
              </a:prstGeom>
              <a:noFill/>
              <a:ln w="9525">
                <a:noFill/>
                <a:miter lim="800000"/>
                <a:headEnd/>
                <a:tailEnd/>
              </a:ln>
            </p:spPr>
            <p:txBody>
              <a:bodyPr wrap="none">
                <a:spAutoFit/>
              </a:bodyPr>
              <a:lstStyle/>
              <a:p>
                <a:pPr algn="ctr"/>
                <a:r>
                  <a:rPr lang="en-US" sz="1125" b="1" dirty="0">
                    <a:latin typeface="Cambria" pitchFamily="18" charset="0"/>
                  </a:rPr>
                  <a:t>Time (days)</a:t>
                </a:r>
              </a:p>
            </p:txBody>
          </p:sp>
          <p:cxnSp>
            <p:nvCxnSpPr>
              <p:cNvPr id="51" name="Straight Arrow Connector 50"/>
              <p:cNvCxnSpPr/>
              <p:nvPr/>
            </p:nvCxnSpPr>
            <p:spPr bwMode="auto">
              <a:xfrm rot="5400000" flipH="1" flipV="1">
                <a:off x="3137344"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2" name="Straight Arrow Connector 51"/>
              <p:cNvCxnSpPr/>
              <p:nvPr/>
            </p:nvCxnSpPr>
            <p:spPr bwMode="auto">
              <a:xfrm rot="5400000" flipH="1" flipV="1">
                <a:off x="4657533"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3" name="Straight Arrow Connector 52"/>
              <p:cNvCxnSpPr/>
              <p:nvPr/>
            </p:nvCxnSpPr>
            <p:spPr bwMode="auto">
              <a:xfrm rot="5400000" flipH="1" flipV="1">
                <a:off x="6184962"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4" name="TextBox 22"/>
              <p:cNvSpPr txBox="1">
                <a:spLocks noChangeArrowheads="1"/>
              </p:cNvSpPr>
              <p:nvPr/>
            </p:nvSpPr>
            <p:spPr bwMode="auto">
              <a:xfrm>
                <a:off x="2978150" y="4610099"/>
                <a:ext cx="367848" cy="569215"/>
              </a:xfrm>
              <a:prstGeom prst="rect">
                <a:avLst/>
              </a:prstGeom>
              <a:noFill/>
              <a:ln w="9525">
                <a:noFill/>
                <a:miter lim="800000"/>
                <a:headEnd/>
                <a:tailEnd/>
              </a:ln>
            </p:spPr>
            <p:txBody>
              <a:bodyPr>
                <a:spAutoFit/>
              </a:bodyPr>
              <a:lstStyle/>
              <a:p>
                <a:pPr algn="ctr"/>
                <a:r>
                  <a:rPr lang="en-US" sz="1125"/>
                  <a:t>1</a:t>
                </a:r>
              </a:p>
            </p:txBody>
          </p:sp>
          <p:sp>
            <p:nvSpPr>
              <p:cNvPr id="55" name="TextBox 22"/>
              <p:cNvSpPr txBox="1">
                <a:spLocks noChangeArrowheads="1"/>
              </p:cNvSpPr>
              <p:nvPr/>
            </p:nvSpPr>
            <p:spPr bwMode="auto">
              <a:xfrm>
                <a:off x="4552018" y="4572000"/>
                <a:ext cx="331133" cy="569215"/>
              </a:xfrm>
              <a:prstGeom prst="rect">
                <a:avLst/>
              </a:prstGeom>
              <a:noFill/>
              <a:ln w="9525">
                <a:noFill/>
                <a:miter lim="800000"/>
                <a:headEnd/>
                <a:tailEnd/>
              </a:ln>
            </p:spPr>
            <p:txBody>
              <a:bodyPr>
                <a:spAutoFit/>
              </a:bodyPr>
              <a:lstStyle/>
              <a:p>
                <a:pPr algn="ctr"/>
                <a:r>
                  <a:rPr lang="en-US" sz="1125"/>
                  <a:t>2</a:t>
                </a:r>
              </a:p>
            </p:txBody>
          </p:sp>
          <p:sp>
            <p:nvSpPr>
              <p:cNvPr id="56" name="TextBox 120"/>
              <p:cNvSpPr txBox="1">
                <a:spLocks noChangeArrowheads="1"/>
              </p:cNvSpPr>
              <p:nvPr/>
            </p:nvSpPr>
            <p:spPr bwMode="auto">
              <a:xfrm>
                <a:off x="6026149" y="4572000"/>
                <a:ext cx="381001" cy="569215"/>
              </a:xfrm>
              <a:prstGeom prst="rect">
                <a:avLst/>
              </a:prstGeom>
              <a:noFill/>
              <a:ln w="9525">
                <a:noFill/>
                <a:miter lim="800000"/>
                <a:headEnd/>
                <a:tailEnd/>
              </a:ln>
            </p:spPr>
            <p:txBody>
              <a:bodyPr>
                <a:spAutoFit/>
              </a:bodyPr>
              <a:lstStyle/>
              <a:p>
                <a:pPr algn="ctr"/>
                <a:r>
                  <a:rPr lang="en-US" sz="1125"/>
                  <a:t>3</a:t>
                </a:r>
              </a:p>
            </p:txBody>
          </p:sp>
        </p:grpSp>
        <p:sp>
          <p:nvSpPr>
            <p:cNvPr id="57" name="TextBox 56"/>
            <p:cNvSpPr txBox="1"/>
            <p:nvPr/>
          </p:nvSpPr>
          <p:spPr>
            <a:xfrm>
              <a:off x="5701111" y="3543300"/>
              <a:ext cx="1117614" cy="300082"/>
            </a:xfrm>
            <a:prstGeom prst="rect">
              <a:avLst/>
            </a:prstGeom>
            <a:noFill/>
          </p:spPr>
          <p:txBody>
            <a:bodyPr wrap="none" rtlCol="0">
              <a:spAutoFit/>
            </a:bodyPr>
            <a:lstStyle/>
            <a:p>
              <a:r>
                <a:rPr lang="en-US" sz="1350" b="1" i="1" dirty="0">
                  <a:solidFill>
                    <a:schemeClr val="tx2">
                      <a:lumMod val="75000"/>
                    </a:schemeClr>
                  </a:solidFill>
                </a:rPr>
                <a:t>Loss Users</a:t>
              </a:r>
            </a:p>
          </p:txBody>
        </p:sp>
        <p:sp>
          <p:nvSpPr>
            <p:cNvPr id="58" name="TextBox 57"/>
            <p:cNvSpPr txBox="1"/>
            <p:nvPr/>
          </p:nvSpPr>
          <p:spPr>
            <a:xfrm>
              <a:off x="5592644" y="2057400"/>
              <a:ext cx="1358064" cy="300082"/>
            </a:xfrm>
            <a:prstGeom prst="rect">
              <a:avLst/>
            </a:prstGeom>
            <a:noFill/>
          </p:spPr>
          <p:txBody>
            <a:bodyPr wrap="none" rtlCol="0">
              <a:spAutoFit/>
            </a:bodyPr>
            <a:lstStyle/>
            <a:p>
              <a:r>
                <a:rPr lang="en-US" sz="1350" b="1" i="1" dirty="0">
                  <a:solidFill>
                    <a:schemeClr val="tx2">
                      <a:lumMod val="75000"/>
                    </a:schemeClr>
                  </a:solidFill>
                </a:rPr>
                <a:t>Loss Revenue</a:t>
              </a:r>
            </a:p>
          </p:txBody>
        </p:sp>
      </p:grpSp>
      <p:sp>
        <p:nvSpPr>
          <p:cNvPr id="4" name="灯片编号占位符 3">
            <a:extLst>
              <a:ext uri="{FF2B5EF4-FFF2-40B4-BE49-F238E27FC236}">
                <a16:creationId xmlns:a16="http://schemas.microsoft.com/office/drawing/2014/main" id="{3CEA861F-CE82-A48F-EFEE-3AB9B808669A}"/>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6" name="标题 5">
            <a:extLst>
              <a:ext uri="{FF2B5EF4-FFF2-40B4-BE49-F238E27FC236}">
                <a16:creationId xmlns:a16="http://schemas.microsoft.com/office/drawing/2014/main" id="{B1130FCE-496B-1C4B-8C87-1F880B102FB3}"/>
              </a:ext>
            </a:extLst>
          </p:cNvPr>
          <p:cNvSpPr>
            <a:spLocks noGrp="1"/>
          </p:cNvSpPr>
          <p:nvPr>
            <p:ph type="title"/>
          </p:nvPr>
        </p:nvSpPr>
        <p:spPr>
          <a:xfrm>
            <a:off x="933651" y="89099"/>
            <a:ext cx="7742039" cy="519113"/>
          </a:xfrm>
        </p:spPr>
        <p:txBody>
          <a:bodyPr/>
          <a:lstStyle/>
          <a:p>
            <a:r>
              <a:rPr lang="en-US" altLang="zh-CN" dirty="0"/>
              <a:t>Dynamic Provisioning (2)</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108349"/>
            <a:ext cx="7722789" cy="519113"/>
          </a:xfrm>
        </p:spPr>
        <p:txBody>
          <a:bodyPr/>
          <a:lstStyle/>
          <a:p>
            <a:r>
              <a:rPr lang="en-US" dirty="0"/>
              <a:t>Dynamic Provisioning (3)</a:t>
            </a:r>
          </a:p>
        </p:txBody>
      </p:sp>
      <p:sp>
        <p:nvSpPr>
          <p:cNvPr id="3" name="Content Placeholder 2"/>
          <p:cNvSpPr>
            <a:spLocks noGrp="1"/>
          </p:cNvSpPr>
          <p:nvPr>
            <p:ph idx="1"/>
          </p:nvPr>
        </p:nvSpPr>
        <p:spPr>
          <a:xfrm>
            <a:off x="952901" y="874999"/>
            <a:ext cx="6172200" cy="3611575"/>
          </a:xfrm>
        </p:spPr>
        <p:txBody>
          <a:bodyPr/>
          <a:lstStyle/>
          <a:p>
            <a:pPr marL="355600" lvl="1" indent="-268288">
              <a:buFont typeface="Wingdings" panose="05000000000000000000" pitchFamily="2" charset="2"/>
              <a:buChar char="l"/>
            </a:pPr>
            <a:r>
              <a:rPr lang="en-US" sz="2000" dirty="0"/>
              <a:t>Overestimate system utilization which result in low utilization</a:t>
            </a: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a:p>
            <a:r>
              <a:rPr lang="en-US" sz="2000" dirty="0"/>
              <a:t>How to solve this problem ??</a:t>
            </a:r>
          </a:p>
          <a:p>
            <a:pPr lvl="1"/>
            <a:r>
              <a:rPr lang="en-US" sz="2000" dirty="0"/>
              <a:t>Dynamically provision resources</a:t>
            </a:r>
          </a:p>
        </p:txBody>
      </p:sp>
      <p:sp>
        <p:nvSpPr>
          <p:cNvPr id="5" name="Rectangle 4"/>
          <p:cNvSpPr/>
          <p:nvPr/>
        </p:nvSpPr>
        <p:spPr bwMode="auto">
          <a:xfrm>
            <a:off x="2286000" y="2113880"/>
            <a:ext cx="2743200" cy="1222772"/>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1350">
              <a:solidFill>
                <a:srgbClr val="FFFFFF"/>
              </a:solidFill>
              <a:ea typeface="ＭＳ Ｐゴシック" pitchFamily="34" charset="-128"/>
            </a:endParaRPr>
          </a:p>
        </p:txBody>
      </p:sp>
      <p:sp>
        <p:nvSpPr>
          <p:cNvPr id="6" name="TextBox 36"/>
          <p:cNvSpPr txBox="1">
            <a:spLocks noChangeArrowheads="1"/>
          </p:cNvSpPr>
          <p:nvPr/>
        </p:nvSpPr>
        <p:spPr bwMode="auto">
          <a:xfrm>
            <a:off x="6084748" y="2516981"/>
            <a:ext cx="1547218" cy="323165"/>
          </a:xfrm>
          <a:prstGeom prst="rect">
            <a:avLst/>
          </a:prstGeom>
          <a:noFill/>
          <a:ln w="9525">
            <a:noFill/>
            <a:miter lim="800000"/>
            <a:headEnd/>
            <a:tailEnd/>
          </a:ln>
        </p:spPr>
        <p:txBody>
          <a:bodyPr wrap="none">
            <a:spAutoFit/>
          </a:bodyPr>
          <a:lstStyle/>
          <a:p>
            <a:pPr algn="ctr"/>
            <a:r>
              <a:rPr lang="en-US" sz="1500" dirty="0">
                <a:solidFill>
                  <a:srgbClr val="FF0000"/>
                </a:solidFill>
                <a:latin typeface="Times New Roman" panose="02020603050405020304" pitchFamily="18" charset="0"/>
                <a:cs typeface="Times New Roman" panose="02020603050405020304" pitchFamily="18" charset="0"/>
              </a:rPr>
              <a:t>Unused resources</a:t>
            </a:r>
          </a:p>
        </p:txBody>
      </p:sp>
      <p:sp>
        <p:nvSpPr>
          <p:cNvPr id="7" name="Rectangle 6"/>
          <p:cNvSpPr>
            <a:spLocks noChangeArrowheads="1"/>
          </p:cNvSpPr>
          <p:nvPr/>
        </p:nvSpPr>
        <p:spPr bwMode="auto">
          <a:xfrm>
            <a:off x="5551885" y="2531313"/>
            <a:ext cx="400050" cy="285750"/>
          </a:xfrm>
          <a:prstGeom prst="rect">
            <a:avLst/>
          </a:prstGeom>
          <a:solidFill>
            <a:srgbClr val="D9D9D9"/>
          </a:solidFill>
          <a:ln w="12700">
            <a:noFill/>
            <a:round/>
            <a:headEnd/>
            <a:tailEnd/>
          </a:ln>
          <a:effectLst>
            <a:outerShdw dist="25401" dir="2700000" rotWithShape="0">
              <a:srgbClr val="161645">
                <a:alpha val="42999"/>
              </a:srgbClr>
            </a:outerShdw>
          </a:effectLst>
        </p:spPr>
        <p:txBody>
          <a:bodyPr anchor="ctr"/>
          <a:lstStyle/>
          <a:p>
            <a:pPr algn="ctr"/>
            <a:endParaRPr lang="en-US" sz="1350">
              <a:solidFill>
                <a:srgbClr val="FFFFFF"/>
              </a:solidFill>
              <a:latin typeface="Helvetica" charset="0"/>
            </a:endParaRPr>
          </a:p>
        </p:txBody>
      </p:sp>
      <p:grpSp>
        <p:nvGrpSpPr>
          <p:cNvPr id="9" name="Group 36"/>
          <p:cNvGrpSpPr>
            <a:grpSpLocks/>
          </p:cNvGrpSpPr>
          <p:nvPr/>
        </p:nvGrpSpPr>
        <p:grpSpPr bwMode="auto">
          <a:xfrm>
            <a:off x="1954685" y="1828392"/>
            <a:ext cx="3875578" cy="1864148"/>
            <a:chOff x="829311" y="3048572"/>
            <a:chExt cx="3711041" cy="2505297"/>
          </a:xfrm>
        </p:grpSpPr>
        <p:cxnSp>
          <p:nvCxnSpPr>
            <p:cNvPr id="10" name="Straight Arrow Connector 9"/>
            <p:cNvCxnSpPr/>
            <p:nvPr/>
          </p:nvCxnSpPr>
          <p:spPr>
            <a:xfrm rot="5400000" flipH="1" flipV="1">
              <a:off x="76178" y="4115046"/>
              <a:ext cx="2134568" cy="1619"/>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 name="Straight Arrow Connector 10"/>
            <p:cNvCxnSpPr/>
            <p:nvPr/>
          </p:nvCxnSpPr>
          <p:spPr>
            <a:xfrm>
              <a:off x="1142652" y="5181540"/>
              <a:ext cx="3124745"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Freeform 11"/>
            <p:cNvSpPr/>
            <p:nvPr/>
          </p:nvSpPr>
          <p:spPr>
            <a:xfrm>
              <a:off x="1142652" y="3973087"/>
              <a:ext cx="2667939" cy="990477"/>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sz="1350">
                <a:solidFill>
                  <a:srgbClr val="000000"/>
                </a:solidFill>
                <a:ea typeface="ＭＳ Ｐゴシック" pitchFamily="34" charset="-128"/>
              </a:endParaRPr>
            </a:p>
          </p:txBody>
        </p:sp>
        <p:sp>
          <p:nvSpPr>
            <p:cNvPr id="13" name="TextBox 17"/>
            <p:cNvSpPr txBox="1">
              <a:spLocks noChangeArrowheads="1"/>
            </p:cNvSpPr>
            <p:nvPr/>
          </p:nvSpPr>
          <p:spPr bwMode="auto">
            <a:xfrm>
              <a:off x="3737266" y="4753265"/>
              <a:ext cx="803086" cy="403291"/>
            </a:xfrm>
            <a:prstGeom prst="rect">
              <a:avLst/>
            </a:prstGeom>
            <a:noFill/>
            <a:ln w="9525">
              <a:noFill/>
              <a:miter lim="800000"/>
              <a:headEnd/>
              <a:tailEnd/>
            </a:ln>
          </p:spPr>
          <p:txBody>
            <a:bodyPr wrap="none">
              <a:spAutoFit/>
            </a:bodyPr>
            <a:lstStyle/>
            <a:p>
              <a:pPr algn="ctr"/>
              <a:r>
                <a:rPr lang="en-US" sz="1350" dirty="0"/>
                <a:t>Demand</a:t>
              </a:r>
              <a:endParaRPr lang="en-US" sz="1200" dirty="0"/>
            </a:p>
          </p:txBody>
        </p:sp>
        <p:cxnSp>
          <p:nvCxnSpPr>
            <p:cNvPr id="14" name="Straight Arrow Connector 13"/>
            <p:cNvCxnSpPr/>
            <p:nvPr/>
          </p:nvCxnSpPr>
          <p:spPr>
            <a:xfrm>
              <a:off x="1142652" y="3277390"/>
              <a:ext cx="2744074"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5" name="TextBox 19"/>
            <p:cNvSpPr txBox="1">
              <a:spLocks noChangeArrowheads="1"/>
            </p:cNvSpPr>
            <p:nvPr/>
          </p:nvSpPr>
          <p:spPr bwMode="auto">
            <a:xfrm>
              <a:off x="3671877" y="3217145"/>
              <a:ext cx="821505" cy="403291"/>
            </a:xfrm>
            <a:prstGeom prst="rect">
              <a:avLst/>
            </a:prstGeom>
            <a:noFill/>
            <a:ln w="9525">
              <a:noFill/>
              <a:miter lim="800000"/>
              <a:headEnd/>
              <a:tailEnd/>
            </a:ln>
          </p:spPr>
          <p:txBody>
            <a:bodyPr wrap="none">
              <a:spAutoFit/>
            </a:bodyPr>
            <a:lstStyle/>
            <a:p>
              <a:pPr algn="ctr"/>
              <a:r>
                <a:rPr lang="en-US" sz="1350" dirty="0">
                  <a:solidFill>
                    <a:srgbClr val="FF0000"/>
                  </a:solidFill>
                </a:rPr>
                <a:t>Capacity</a:t>
              </a:r>
            </a:p>
          </p:txBody>
        </p:sp>
        <p:sp>
          <p:nvSpPr>
            <p:cNvPr id="16" name="TextBox 22"/>
            <p:cNvSpPr txBox="1">
              <a:spLocks noChangeArrowheads="1"/>
            </p:cNvSpPr>
            <p:nvPr/>
          </p:nvSpPr>
          <p:spPr bwMode="auto">
            <a:xfrm>
              <a:off x="2482879" y="5181600"/>
              <a:ext cx="525259" cy="372269"/>
            </a:xfrm>
            <a:prstGeom prst="rect">
              <a:avLst/>
            </a:prstGeom>
            <a:noFill/>
            <a:ln w="9525">
              <a:noFill/>
              <a:miter lim="800000"/>
              <a:headEnd/>
              <a:tailEnd/>
            </a:ln>
          </p:spPr>
          <p:txBody>
            <a:bodyPr wrap="none">
              <a:spAutoFit/>
            </a:bodyPr>
            <a:lstStyle/>
            <a:p>
              <a:pPr algn="ctr"/>
              <a:r>
                <a:rPr lang="en-US" sz="1200" b="1" dirty="0">
                  <a:latin typeface="Cambria" pitchFamily="18" charset="0"/>
                </a:rPr>
                <a:t>Time</a:t>
              </a:r>
            </a:p>
          </p:txBody>
        </p:sp>
        <p:sp>
          <p:nvSpPr>
            <p:cNvPr id="17" name="TextBox 16"/>
            <p:cNvSpPr txBox="1"/>
            <p:nvPr/>
          </p:nvSpPr>
          <p:spPr>
            <a:xfrm>
              <a:off x="829311" y="3616133"/>
              <a:ext cx="353652" cy="1096299"/>
            </a:xfrm>
            <a:prstGeom prst="rect">
              <a:avLst/>
            </a:prstGeom>
            <a:noFill/>
          </p:spPr>
          <p:txBody>
            <a:bodyPr vert="vert270" wrap="none">
              <a:spAutoFit/>
            </a:bodyPr>
            <a:lstStyle/>
            <a:p>
              <a:pPr algn="ctr">
                <a:defRPr/>
              </a:pPr>
              <a:r>
                <a:rPr lang="en-US" sz="1200" b="1" dirty="0">
                  <a:latin typeface="Cambria" pitchFamily="18" charset="0"/>
                  <a:ea typeface="ＭＳ Ｐゴシック" pitchFamily="-110" charset="-128"/>
                  <a:cs typeface="ＭＳ Ｐゴシック" pitchFamily="-110" charset="-128"/>
                </a:rPr>
                <a:t>Resources</a:t>
              </a:r>
            </a:p>
          </p:txBody>
        </p:sp>
      </p:grpSp>
      <p:sp>
        <p:nvSpPr>
          <p:cNvPr id="4" name="灯片编号占位符 3">
            <a:extLst>
              <a:ext uri="{FF2B5EF4-FFF2-40B4-BE49-F238E27FC236}">
                <a16:creationId xmlns:a16="http://schemas.microsoft.com/office/drawing/2014/main" id="{CF816AC8-7387-95C2-9003-17AA54EC87CC}"/>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89099"/>
            <a:ext cx="7770915" cy="519113"/>
          </a:xfrm>
        </p:spPr>
        <p:txBody>
          <a:bodyPr/>
          <a:lstStyle/>
          <a:p>
            <a:r>
              <a:rPr lang="en-US" dirty="0"/>
              <a:t>Dynamic Provisioning (4)</a:t>
            </a:r>
          </a:p>
        </p:txBody>
      </p:sp>
      <p:sp>
        <p:nvSpPr>
          <p:cNvPr id="3" name="Content Placeholder 2"/>
          <p:cNvSpPr>
            <a:spLocks noGrp="1"/>
          </p:cNvSpPr>
          <p:nvPr>
            <p:ph idx="1"/>
          </p:nvPr>
        </p:nvSpPr>
        <p:spPr>
          <a:xfrm>
            <a:off x="1091231" y="883824"/>
            <a:ext cx="6395419" cy="1714499"/>
          </a:xfrm>
        </p:spPr>
        <p:txBody>
          <a:bodyPr/>
          <a:lstStyle/>
          <a:p>
            <a:r>
              <a:rPr lang="en-US" sz="2000" dirty="0"/>
              <a:t>Cloud resources should be provisioned dynamically</a:t>
            </a:r>
          </a:p>
          <a:p>
            <a:pPr lvl="1"/>
            <a:r>
              <a:rPr lang="en-US" sz="2000" dirty="0"/>
              <a:t>Meet seasonal demand variations</a:t>
            </a:r>
          </a:p>
          <a:p>
            <a:pPr lvl="1"/>
            <a:r>
              <a:rPr lang="en-US" sz="2000" dirty="0"/>
              <a:t>Meet demand variations between different industries</a:t>
            </a:r>
          </a:p>
          <a:p>
            <a:pPr lvl="1"/>
            <a:r>
              <a:rPr lang="en-US" sz="2000" dirty="0"/>
              <a:t>Meet burst demand for some extraordinary events</a:t>
            </a:r>
          </a:p>
        </p:txBody>
      </p:sp>
      <p:grpSp>
        <p:nvGrpSpPr>
          <p:cNvPr id="9" name="组合 8">
            <a:extLst>
              <a:ext uri="{FF2B5EF4-FFF2-40B4-BE49-F238E27FC236}">
                <a16:creationId xmlns:a16="http://schemas.microsoft.com/office/drawing/2014/main" id="{0C307963-60F3-019B-B7FB-9F34CC8190E2}"/>
              </a:ext>
            </a:extLst>
          </p:cNvPr>
          <p:cNvGrpSpPr/>
          <p:nvPr/>
        </p:nvGrpSpPr>
        <p:grpSpPr>
          <a:xfrm>
            <a:off x="1468143" y="2571750"/>
            <a:ext cx="6429670" cy="1853773"/>
            <a:chOff x="1314450" y="2686051"/>
            <a:chExt cx="6429670" cy="1853773"/>
          </a:xfrm>
        </p:grpSpPr>
        <p:grpSp>
          <p:nvGrpSpPr>
            <p:cNvPr id="5" name="Group 37"/>
            <p:cNvGrpSpPr>
              <a:grpSpLocks/>
            </p:cNvGrpSpPr>
            <p:nvPr/>
          </p:nvGrpSpPr>
          <p:grpSpPr bwMode="auto">
            <a:xfrm>
              <a:off x="1638300" y="3257551"/>
              <a:ext cx="5410200" cy="822722"/>
              <a:chOff x="1142999" y="3581400"/>
              <a:chExt cx="7213547" cy="1096963"/>
            </a:xfrm>
          </p:grpSpPr>
          <p:sp>
            <p:nvSpPr>
              <p:cNvPr id="6" name="Rectangle 5"/>
              <p:cNvSpPr/>
              <p:nvPr/>
            </p:nvSpPr>
            <p:spPr>
              <a:xfrm>
                <a:off x="5740365" y="4460875"/>
                <a:ext cx="2613006" cy="2174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1350">
                  <a:solidFill>
                    <a:srgbClr val="FFFFFF"/>
                  </a:solidFill>
                  <a:ea typeface="ＭＳ Ｐゴシック" pitchFamily="34" charset="-128"/>
                </a:endParaRPr>
              </a:p>
            </p:txBody>
          </p:sp>
          <p:sp>
            <p:nvSpPr>
              <p:cNvPr id="7" name="Freeform 6"/>
              <p:cNvSpPr/>
              <p:nvPr/>
            </p:nvSpPr>
            <p:spPr>
              <a:xfrm>
                <a:off x="5740365" y="3581400"/>
                <a:ext cx="2616181" cy="908050"/>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solidFill>
                <a:srgbClr val="D9D9D9"/>
              </a:solidFill>
              <a:ln w="19050" cap="flat" cmpd="sng" algn="ctr">
                <a:no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sz="1350">
                  <a:solidFill>
                    <a:srgbClr val="000000"/>
                  </a:solidFill>
                  <a:ea typeface="ＭＳ Ｐゴシック" pitchFamily="34" charset="-128"/>
                </a:endParaRPr>
              </a:p>
            </p:txBody>
          </p:sp>
          <p:sp>
            <p:nvSpPr>
              <p:cNvPr id="8" name="Rectangle 7"/>
              <p:cNvSpPr/>
              <p:nvPr/>
            </p:nvSpPr>
            <p:spPr>
              <a:xfrm>
                <a:off x="1142999" y="3581400"/>
                <a:ext cx="2613007" cy="10969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sz="1350">
                  <a:solidFill>
                    <a:srgbClr val="FFFFFF"/>
                  </a:solidFill>
                  <a:ea typeface="ＭＳ Ｐゴシック" pitchFamily="34" charset="-128"/>
                </a:endParaRPr>
              </a:p>
            </p:txBody>
          </p:sp>
        </p:grpSp>
        <p:grpSp>
          <p:nvGrpSpPr>
            <p:cNvPr id="11" name="Group 36"/>
            <p:cNvGrpSpPr>
              <a:grpSpLocks/>
            </p:cNvGrpSpPr>
            <p:nvPr/>
          </p:nvGrpSpPr>
          <p:grpSpPr bwMode="auto">
            <a:xfrm>
              <a:off x="1314450" y="2687241"/>
              <a:ext cx="2976047" cy="1852583"/>
              <a:chOff x="719863" y="3048794"/>
              <a:chExt cx="4048994" cy="2489531"/>
            </a:xfrm>
          </p:grpSpPr>
          <p:cxnSp>
            <p:nvCxnSpPr>
              <p:cNvPr id="12" name="Straight Arrow Connector 11"/>
              <p:cNvCxnSpPr/>
              <p:nvPr/>
            </p:nvCxnSpPr>
            <p:spPr>
              <a:xfrm rot="5400000" flipH="1" flipV="1">
                <a:off x="76273" y="4115172"/>
                <a:ext cx="2134375" cy="162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3" name="Straight Arrow Connector 12"/>
              <p:cNvCxnSpPr/>
              <p:nvPr/>
            </p:nvCxnSpPr>
            <p:spPr>
              <a:xfrm>
                <a:off x="1142651" y="5181569"/>
                <a:ext cx="3124747"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Freeform 13"/>
              <p:cNvSpPr/>
              <p:nvPr/>
            </p:nvSpPr>
            <p:spPr>
              <a:xfrm>
                <a:off x="1142651" y="3959061"/>
                <a:ext cx="2667941" cy="990389"/>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sz="1350">
                  <a:solidFill>
                    <a:srgbClr val="000000"/>
                  </a:solidFill>
                  <a:ea typeface="ＭＳ Ｐゴシック" pitchFamily="34" charset="-128"/>
                </a:endParaRPr>
              </a:p>
            </p:txBody>
          </p:sp>
          <p:sp>
            <p:nvSpPr>
              <p:cNvPr id="15" name="TextBox 17"/>
              <p:cNvSpPr txBox="1">
                <a:spLocks noChangeArrowheads="1"/>
              </p:cNvSpPr>
              <p:nvPr/>
            </p:nvSpPr>
            <p:spPr bwMode="auto">
              <a:xfrm>
                <a:off x="3677958" y="4779554"/>
                <a:ext cx="1038560" cy="372236"/>
              </a:xfrm>
              <a:prstGeom prst="rect">
                <a:avLst/>
              </a:prstGeom>
              <a:noFill/>
              <a:ln w="9525">
                <a:noFill/>
                <a:miter lim="800000"/>
                <a:headEnd/>
                <a:tailEnd/>
              </a:ln>
            </p:spPr>
            <p:txBody>
              <a:bodyPr wrap="none">
                <a:spAutoFit/>
              </a:bodyPr>
              <a:lstStyle/>
              <a:p>
                <a:pPr algn="ctr"/>
                <a:r>
                  <a:rPr lang="en-US" sz="1200" dirty="0"/>
                  <a:t>Demand</a:t>
                </a:r>
              </a:p>
            </p:txBody>
          </p:sp>
          <p:cxnSp>
            <p:nvCxnSpPr>
              <p:cNvPr id="16" name="Straight Arrow Connector 15"/>
              <p:cNvCxnSpPr/>
              <p:nvPr/>
            </p:nvCxnSpPr>
            <p:spPr>
              <a:xfrm>
                <a:off x="1142651" y="3815185"/>
                <a:ext cx="2744075"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7" name="TextBox 19"/>
              <p:cNvSpPr txBox="1">
                <a:spLocks noChangeArrowheads="1"/>
              </p:cNvSpPr>
              <p:nvPr/>
            </p:nvSpPr>
            <p:spPr bwMode="auto">
              <a:xfrm>
                <a:off x="3706307" y="3630230"/>
                <a:ext cx="1062550" cy="372236"/>
              </a:xfrm>
              <a:prstGeom prst="rect">
                <a:avLst/>
              </a:prstGeom>
              <a:noFill/>
              <a:ln w="9525">
                <a:noFill/>
                <a:miter lim="800000"/>
                <a:headEnd/>
                <a:tailEnd/>
              </a:ln>
            </p:spPr>
            <p:txBody>
              <a:bodyPr wrap="none">
                <a:spAutoFit/>
              </a:bodyPr>
              <a:lstStyle/>
              <a:p>
                <a:pPr algn="ctr"/>
                <a:r>
                  <a:rPr lang="en-US" sz="1200" dirty="0">
                    <a:solidFill>
                      <a:srgbClr val="FF0000"/>
                    </a:solidFill>
                  </a:rPr>
                  <a:t>Capacity</a:t>
                </a:r>
              </a:p>
            </p:txBody>
          </p:sp>
          <p:sp>
            <p:nvSpPr>
              <p:cNvPr id="18" name="TextBox 22"/>
              <p:cNvSpPr txBox="1">
                <a:spLocks noChangeArrowheads="1"/>
              </p:cNvSpPr>
              <p:nvPr/>
            </p:nvSpPr>
            <p:spPr bwMode="auto">
              <a:xfrm>
                <a:off x="2386527" y="5181600"/>
                <a:ext cx="717963" cy="356725"/>
              </a:xfrm>
              <a:prstGeom prst="rect">
                <a:avLst/>
              </a:prstGeom>
              <a:noFill/>
              <a:ln w="9525">
                <a:noFill/>
                <a:miter lim="800000"/>
                <a:headEnd/>
                <a:tailEnd/>
              </a:ln>
            </p:spPr>
            <p:txBody>
              <a:bodyPr wrap="none">
                <a:spAutoFit/>
              </a:bodyPr>
              <a:lstStyle/>
              <a:p>
                <a:pPr algn="ctr"/>
                <a:r>
                  <a:rPr lang="en-US" sz="1125" b="1" dirty="0">
                    <a:latin typeface="Cambria" pitchFamily="18" charset="0"/>
                  </a:rPr>
                  <a:t>Time</a:t>
                </a:r>
              </a:p>
            </p:txBody>
          </p:sp>
          <p:sp>
            <p:nvSpPr>
              <p:cNvPr id="19" name="TextBox 18"/>
              <p:cNvSpPr txBox="1"/>
              <p:nvPr/>
            </p:nvSpPr>
            <p:spPr>
              <a:xfrm>
                <a:off x="719863" y="3597844"/>
                <a:ext cx="486783" cy="1043898"/>
              </a:xfrm>
              <a:prstGeom prst="rect">
                <a:avLst/>
              </a:prstGeom>
              <a:noFill/>
            </p:spPr>
            <p:txBody>
              <a:bodyPr vert="vert270" wrap="none">
                <a:spAutoFit/>
              </a:bodyPr>
              <a:lstStyle/>
              <a:p>
                <a:pPr algn="ctr">
                  <a:defRPr/>
                </a:pPr>
                <a:r>
                  <a:rPr lang="en-US" sz="1125" b="1" dirty="0">
                    <a:latin typeface="Cambria" pitchFamily="18" charset="0"/>
                  </a:rPr>
                  <a:t>Resources</a:t>
                </a:r>
              </a:p>
            </p:txBody>
          </p:sp>
        </p:grpSp>
        <p:grpSp>
          <p:nvGrpSpPr>
            <p:cNvPr id="20" name="Group 37"/>
            <p:cNvGrpSpPr>
              <a:grpSpLocks/>
            </p:cNvGrpSpPr>
            <p:nvPr/>
          </p:nvGrpSpPr>
          <p:grpSpPr bwMode="auto">
            <a:xfrm>
              <a:off x="4774407" y="2686051"/>
              <a:ext cx="2969713" cy="1853616"/>
              <a:chOff x="4766102" y="3048003"/>
              <a:chExt cx="4036135" cy="2489296"/>
            </a:xfrm>
          </p:grpSpPr>
          <p:cxnSp>
            <p:nvCxnSpPr>
              <p:cNvPr id="21" name="Straight Arrow Connector 20"/>
              <p:cNvCxnSpPr/>
              <p:nvPr/>
            </p:nvCxnSpPr>
            <p:spPr>
              <a:xfrm rot="16200000" flipV="1">
                <a:off x="4118718" y="4111258"/>
                <a:ext cx="2132983" cy="6473"/>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a:xfrm>
                <a:off x="5188447" y="5179387"/>
                <a:ext cx="3124700" cy="1598"/>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3" name="Freeform 22"/>
              <p:cNvSpPr/>
              <p:nvPr/>
            </p:nvSpPr>
            <p:spPr>
              <a:xfrm>
                <a:off x="5188447" y="3960996"/>
                <a:ext cx="2668374" cy="991342"/>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sz="1350">
                  <a:solidFill>
                    <a:srgbClr val="000000"/>
                  </a:solidFill>
                  <a:ea typeface="ＭＳ Ｐゴシック" pitchFamily="34" charset="-128"/>
                </a:endParaRPr>
              </a:p>
            </p:txBody>
          </p:sp>
          <p:sp>
            <p:nvSpPr>
              <p:cNvPr id="24" name="TextBox 28"/>
              <p:cNvSpPr txBox="1">
                <a:spLocks noChangeArrowheads="1"/>
              </p:cNvSpPr>
              <p:nvPr/>
            </p:nvSpPr>
            <p:spPr bwMode="auto">
              <a:xfrm>
                <a:off x="7764476" y="4766861"/>
                <a:ext cx="1037470" cy="371993"/>
              </a:xfrm>
              <a:prstGeom prst="rect">
                <a:avLst/>
              </a:prstGeom>
              <a:noFill/>
              <a:ln w="9525">
                <a:noFill/>
                <a:miter lim="800000"/>
                <a:headEnd/>
                <a:tailEnd/>
              </a:ln>
            </p:spPr>
            <p:txBody>
              <a:bodyPr wrap="none">
                <a:spAutoFit/>
              </a:bodyPr>
              <a:lstStyle/>
              <a:p>
                <a:pPr algn="ctr"/>
                <a:r>
                  <a:rPr lang="en-US" sz="1200" dirty="0"/>
                  <a:t>Demand</a:t>
                </a:r>
              </a:p>
            </p:txBody>
          </p:sp>
          <p:sp>
            <p:nvSpPr>
              <p:cNvPr id="25" name="TextBox 30"/>
              <p:cNvSpPr txBox="1">
                <a:spLocks noChangeArrowheads="1"/>
              </p:cNvSpPr>
              <p:nvPr/>
            </p:nvSpPr>
            <p:spPr bwMode="auto">
              <a:xfrm>
                <a:off x="7740802" y="4474676"/>
                <a:ext cx="1061435" cy="371993"/>
              </a:xfrm>
              <a:prstGeom prst="rect">
                <a:avLst/>
              </a:prstGeom>
              <a:noFill/>
              <a:ln w="9525">
                <a:noFill/>
                <a:miter lim="800000"/>
                <a:headEnd/>
                <a:tailEnd/>
              </a:ln>
            </p:spPr>
            <p:txBody>
              <a:bodyPr wrap="none">
                <a:spAutoFit/>
              </a:bodyPr>
              <a:lstStyle/>
              <a:p>
                <a:pPr algn="ctr"/>
                <a:r>
                  <a:rPr lang="en-US" sz="1200" dirty="0">
                    <a:solidFill>
                      <a:srgbClr val="FF0000"/>
                    </a:solidFill>
                  </a:rPr>
                  <a:t>Capacity</a:t>
                </a:r>
              </a:p>
            </p:txBody>
          </p:sp>
          <p:sp>
            <p:nvSpPr>
              <p:cNvPr id="26" name="TextBox 31"/>
              <p:cNvSpPr txBox="1">
                <a:spLocks noChangeArrowheads="1"/>
              </p:cNvSpPr>
              <p:nvPr/>
            </p:nvSpPr>
            <p:spPr bwMode="auto">
              <a:xfrm>
                <a:off x="6433143" y="5180806"/>
                <a:ext cx="717209" cy="356493"/>
              </a:xfrm>
              <a:prstGeom prst="rect">
                <a:avLst/>
              </a:prstGeom>
              <a:noFill/>
              <a:ln w="9525">
                <a:noFill/>
                <a:miter lim="800000"/>
                <a:headEnd/>
                <a:tailEnd/>
              </a:ln>
            </p:spPr>
            <p:txBody>
              <a:bodyPr wrap="none">
                <a:spAutoFit/>
              </a:bodyPr>
              <a:lstStyle/>
              <a:p>
                <a:pPr algn="ctr">
                  <a:defRPr/>
                </a:pPr>
                <a:r>
                  <a:rPr lang="en-US" sz="1125" b="1" dirty="0">
                    <a:latin typeface="Cambria" pitchFamily="18" charset="0"/>
                  </a:rPr>
                  <a:t>Time</a:t>
                </a:r>
              </a:p>
            </p:txBody>
          </p:sp>
          <p:sp>
            <p:nvSpPr>
              <p:cNvPr id="27" name="TextBox 26"/>
              <p:cNvSpPr txBox="1"/>
              <p:nvPr/>
            </p:nvSpPr>
            <p:spPr>
              <a:xfrm>
                <a:off x="4766102" y="3713619"/>
                <a:ext cx="486272" cy="1043218"/>
              </a:xfrm>
              <a:prstGeom prst="rect">
                <a:avLst/>
              </a:prstGeom>
              <a:noFill/>
            </p:spPr>
            <p:txBody>
              <a:bodyPr vert="vert270" wrap="none">
                <a:spAutoFit/>
              </a:bodyPr>
              <a:lstStyle/>
              <a:p>
                <a:pPr algn="ctr">
                  <a:defRPr/>
                </a:pPr>
                <a:r>
                  <a:rPr lang="en-US" sz="1125" b="1" dirty="0">
                    <a:latin typeface="Cambria" pitchFamily="18" charset="0"/>
                  </a:rPr>
                  <a:t>Resources</a:t>
                </a:r>
              </a:p>
            </p:txBody>
          </p:sp>
          <p:sp>
            <p:nvSpPr>
              <p:cNvPr id="28" name="Freeform 27"/>
              <p:cNvSpPr/>
              <p:nvPr/>
            </p:nvSpPr>
            <p:spPr>
              <a:xfrm>
                <a:off x="5181974" y="3810696"/>
                <a:ext cx="2666756" cy="912993"/>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noFill/>
              <a:ln w="19050" cap="flat" cmpd="sng" algn="ctr">
                <a:solidFill>
                  <a:srgbClr val="FF0000"/>
                </a:solid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sz="1350">
                  <a:solidFill>
                    <a:srgbClr val="000000"/>
                  </a:solidFill>
                  <a:ea typeface="ＭＳ Ｐゴシック" pitchFamily="34" charset="-128"/>
                </a:endParaRPr>
              </a:p>
            </p:txBody>
          </p:sp>
        </p:grpSp>
        <p:sp>
          <p:nvSpPr>
            <p:cNvPr id="29" name="Right Arrow 28"/>
            <p:cNvSpPr/>
            <p:nvPr/>
          </p:nvSpPr>
          <p:spPr>
            <a:xfrm>
              <a:off x="4229100" y="3428999"/>
              <a:ext cx="571500" cy="400050"/>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350"/>
            </a:p>
          </p:txBody>
        </p:sp>
      </p:grpSp>
      <p:sp>
        <p:nvSpPr>
          <p:cNvPr id="4" name="灯片编号占位符 3">
            <a:extLst>
              <a:ext uri="{FF2B5EF4-FFF2-40B4-BE49-F238E27FC236}">
                <a16:creationId xmlns:a16="http://schemas.microsoft.com/office/drawing/2014/main" id="{93D5B7D7-3ECC-4E1C-3EC2-DB042F6B7C74}"/>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025" y="108349"/>
            <a:ext cx="7751665" cy="519113"/>
          </a:xfrm>
        </p:spPr>
        <p:txBody>
          <a:bodyPr/>
          <a:lstStyle/>
          <a:p>
            <a:r>
              <a:rPr lang="en-US" dirty="0"/>
              <a:t>Multi-Tenant Design</a:t>
            </a:r>
          </a:p>
        </p:txBody>
      </p:sp>
      <p:sp>
        <p:nvSpPr>
          <p:cNvPr id="3" name="Content Placeholder 2"/>
          <p:cNvSpPr>
            <a:spLocks noGrp="1"/>
          </p:cNvSpPr>
          <p:nvPr>
            <p:ph idx="1"/>
          </p:nvPr>
        </p:nvSpPr>
        <p:spPr>
          <a:xfrm>
            <a:off x="1037166" y="778205"/>
            <a:ext cx="7395634" cy="3829050"/>
          </a:xfrm>
        </p:spPr>
        <p:txBody>
          <a:bodyPr>
            <a:noAutofit/>
          </a:bodyPr>
          <a:lstStyle/>
          <a:p>
            <a:pPr>
              <a:spcBef>
                <a:spcPts val="0"/>
              </a:spcBef>
            </a:pPr>
            <a:r>
              <a:rPr lang="en-US" sz="2000" dirty="0"/>
              <a:t>What is multi-tenant design ?</a:t>
            </a:r>
          </a:p>
          <a:p>
            <a:pPr lvl="1">
              <a:spcBef>
                <a:spcPts val="0"/>
              </a:spcBef>
            </a:pPr>
            <a:r>
              <a:rPr lang="en-US" sz="1800" dirty="0"/>
              <a:t>Multi-tenant refers to a principle in software architecture where a single instance of the software runs on a server, serving multiple client organizations.</a:t>
            </a:r>
          </a:p>
          <a:p>
            <a:pPr lvl="1">
              <a:spcBef>
                <a:spcPts val="0"/>
              </a:spcBef>
            </a:pPr>
            <a:r>
              <a:rPr lang="en-US" sz="1800" dirty="0"/>
              <a:t>With a multi-tenant architecture, a software application is designed to virtually partition its data and configuration thus each client organization works with a customized virtual application instance.</a:t>
            </a:r>
          </a:p>
          <a:p>
            <a:pPr>
              <a:spcBef>
                <a:spcPts val="0"/>
              </a:spcBef>
            </a:pPr>
            <a:r>
              <a:rPr lang="en-US" sz="2000" dirty="0"/>
              <a:t>Client oriented requirements :</a:t>
            </a:r>
          </a:p>
          <a:p>
            <a:pPr lvl="1">
              <a:spcBef>
                <a:spcPts val="0"/>
              </a:spcBef>
            </a:pPr>
            <a:r>
              <a:rPr lang="en-US" sz="1800" dirty="0"/>
              <a:t>Customization</a:t>
            </a:r>
          </a:p>
          <a:p>
            <a:pPr lvl="2">
              <a:spcBef>
                <a:spcPts val="0"/>
              </a:spcBef>
            </a:pPr>
            <a:r>
              <a:rPr lang="en-US" sz="1600" dirty="0">
                <a:latin typeface="Times New Roman" panose="02020603050405020304" pitchFamily="18" charset="0"/>
                <a:cs typeface="Times New Roman" panose="02020603050405020304" pitchFamily="18" charset="0"/>
              </a:rPr>
              <a:t>Multi-tenant applications are typically required to provide a high degree of customization to support each target organization's needs.</a:t>
            </a:r>
          </a:p>
          <a:p>
            <a:pPr lvl="1">
              <a:spcBef>
                <a:spcPts val="0"/>
              </a:spcBef>
            </a:pPr>
            <a:r>
              <a:rPr lang="en-US" sz="1800" dirty="0"/>
              <a:t>Quality of service</a:t>
            </a:r>
          </a:p>
          <a:p>
            <a:pPr lvl="2">
              <a:spcBef>
                <a:spcPts val="0"/>
              </a:spcBef>
            </a:pPr>
            <a:r>
              <a:rPr lang="en-US" sz="1600" dirty="0">
                <a:latin typeface="Times New Roman" panose="02020603050405020304" pitchFamily="18" charset="0"/>
                <a:cs typeface="Times New Roman" panose="02020603050405020304" pitchFamily="18" charset="0"/>
              </a:rPr>
              <a:t>Multi-tenant applications are expected to provide adequate levels of security and robustness.</a:t>
            </a:r>
          </a:p>
        </p:txBody>
      </p:sp>
      <p:sp>
        <p:nvSpPr>
          <p:cNvPr id="4" name="灯片编号占位符 3">
            <a:extLst>
              <a:ext uri="{FF2B5EF4-FFF2-40B4-BE49-F238E27FC236}">
                <a16:creationId xmlns:a16="http://schemas.microsoft.com/office/drawing/2014/main" id="{0897F487-EE52-8B2A-96EB-90C72C661359}"/>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933" y="108349"/>
            <a:ext cx="7769757" cy="519113"/>
          </a:xfrm>
        </p:spPr>
        <p:txBody>
          <a:bodyPr/>
          <a:lstStyle/>
          <a:p>
            <a:r>
              <a:rPr lang="en-US" dirty="0"/>
              <a:t>Availability &amp; Reliability</a:t>
            </a:r>
          </a:p>
        </p:txBody>
      </p:sp>
      <p:sp>
        <p:nvSpPr>
          <p:cNvPr id="5" name="Rectangle 4"/>
          <p:cNvSpPr/>
          <p:nvPr/>
        </p:nvSpPr>
        <p:spPr>
          <a:xfrm>
            <a:off x="1347403" y="1557867"/>
            <a:ext cx="6858000" cy="28575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222" name="Picture 6" descr="http://geekswithblogs.net/images/geekswithblogs_net/starr/Green-Traffic-Light.jpg"/>
          <p:cNvPicPr>
            <a:picLocks noChangeAspect="1" noChangeArrowheads="1"/>
          </p:cNvPicPr>
          <p:nvPr/>
        </p:nvPicPr>
        <p:blipFill>
          <a:blip r:embed="rId2" cstate="print"/>
          <a:srcRect t="5333" b="6667"/>
          <a:stretch>
            <a:fillRect/>
          </a:stretch>
        </p:blipFill>
        <p:spPr bwMode="auto">
          <a:xfrm>
            <a:off x="2073655" y="1109230"/>
            <a:ext cx="1605111" cy="211874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888352" y="3227975"/>
            <a:ext cx="4319131" cy="1177245"/>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Data Never Loss</a:t>
            </a:r>
            <a:br>
              <a:rPr 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Machine Never Fail</a:t>
            </a:r>
          </a:p>
        </p:txBody>
      </p:sp>
      <p:sp>
        <p:nvSpPr>
          <p:cNvPr id="3" name="灯片编号占位符 2">
            <a:extLst>
              <a:ext uri="{FF2B5EF4-FFF2-40B4-BE49-F238E27FC236}">
                <a16:creationId xmlns:a16="http://schemas.microsoft.com/office/drawing/2014/main" id="{27C977CF-A654-8DFE-03AD-A508234A6CF7}"/>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108349"/>
            <a:ext cx="7770915" cy="519113"/>
          </a:xfrm>
        </p:spPr>
        <p:txBody>
          <a:bodyPr/>
          <a:lstStyle/>
          <a:p>
            <a:r>
              <a:rPr lang="en-US" dirty="0"/>
              <a:t>Availability &amp; Reliability</a:t>
            </a:r>
          </a:p>
        </p:txBody>
      </p:sp>
      <p:sp>
        <p:nvSpPr>
          <p:cNvPr id="3" name="Content Placeholder 2"/>
          <p:cNvSpPr>
            <a:spLocks noGrp="1"/>
          </p:cNvSpPr>
          <p:nvPr>
            <p:ph idx="1"/>
          </p:nvPr>
        </p:nvSpPr>
        <p:spPr>
          <a:xfrm>
            <a:off x="995012" y="835714"/>
            <a:ext cx="7427094" cy="3714750"/>
          </a:xfrm>
        </p:spPr>
        <p:txBody>
          <a:bodyPr>
            <a:noAutofit/>
          </a:bodyPr>
          <a:lstStyle/>
          <a:p>
            <a:pPr>
              <a:spcBef>
                <a:spcPts val="0"/>
              </a:spcBef>
            </a:pPr>
            <a:r>
              <a:rPr lang="en-US" sz="2000" dirty="0"/>
              <a:t>What is availability ?</a:t>
            </a:r>
          </a:p>
          <a:p>
            <a:pPr lvl="1">
              <a:spcBef>
                <a:spcPts val="0"/>
              </a:spcBef>
            </a:pPr>
            <a:r>
              <a:rPr lang="en-US" sz="1800" dirty="0"/>
              <a:t>The degree to which a system, subsystem, or equipment is in a specified operable and committable state at the start of a mission, when the mission is called for at an unknown time. </a:t>
            </a:r>
          </a:p>
          <a:p>
            <a:pPr lvl="1">
              <a:spcBef>
                <a:spcPts val="0"/>
              </a:spcBef>
            </a:pPr>
            <a:r>
              <a:rPr lang="en-US" sz="1800" dirty="0"/>
              <a:t>Cloud system usually require high availability</a:t>
            </a:r>
          </a:p>
          <a:p>
            <a:pPr lvl="2">
              <a:spcBef>
                <a:spcPts val="0"/>
              </a:spcBef>
            </a:pPr>
            <a:r>
              <a:rPr lang="en-US" sz="1600" dirty="0">
                <a:latin typeface="Times New Roman" panose="02020603050405020304" pitchFamily="18" charset="0"/>
                <a:cs typeface="Times New Roman" panose="02020603050405020304" pitchFamily="18" charset="0"/>
              </a:rPr>
              <a:t>Ex. “Five Nines” system would statistically provide 99.999% availability</a:t>
            </a:r>
          </a:p>
          <a:p>
            <a:pPr>
              <a:spcBef>
                <a:spcPts val="0"/>
              </a:spcBef>
            </a:pPr>
            <a:r>
              <a:rPr lang="en-US" sz="2000" dirty="0"/>
              <a:t>What is reliability ?</a:t>
            </a:r>
          </a:p>
          <a:p>
            <a:pPr lvl="1">
              <a:spcBef>
                <a:spcPts val="0"/>
              </a:spcBef>
            </a:pPr>
            <a:r>
              <a:rPr lang="en-US" sz="1800" dirty="0"/>
              <a:t>The ability of a system or component to perform its required functions under stated conditions for a specified period of time. </a:t>
            </a:r>
          </a:p>
          <a:p>
            <a:pPr>
              <a:spcBef>
                <a:spcPts val="0"/>
              </a:spcBef>
            </a:pPr>
            <a:r>
              <a:rPr lang="en-US" sz="2000" dirty="0"/>
              <a:t>But how to achieve these properties ?</a:t>
            </a:r>
          </a:p>
          <a:p>
            <a:pPr lvl="1">
              <a:spcBef>
                <a:spcPts val="0"/>
              </a:spcBef>
            </a:pPr>
            <a:r>
              <a:rPr lang="en-US" sz="1800" dirty="0"/>
              <a:t>Fault tolerance system</a:t>
            </a:r>
          </a:p>
          <a:p>
            <a:pPr lvl="1">
              <a:spcBef>
                <a:spcPts val="0"/>
              </a:spcBef>
            </a:pPr>
            <a:r>
              <a:rPr lang="en-US" sz="1800" dirty="0"/>
              <a:t>Require system resilience</a:t>
            </a:r>
          </a:p>
          <a:p>
            <a:pPr lvl="1">
              <a:spcBef>
                <a:spcPts val="0"/>
              </a:spcBef>
            </a:pPr>
            <a:r>
              <a:rPr lang="en-US" sz="1800" dirty="0"/>
              <a:t>Reliable system security</a:t>
            </a:r>
          </a:p>
        </p:txBody>
      </p:sp>
      <p:sp>
        <p:nvSpPr>
          <p:cNvPr id="4" name="灯片编号占位符 3">
            <a:extLst>
              <a:ext uri="{FF2B5EF4-FFF2-40B4-BE49-F238E27FC236}">
                <a16:creationId xmlns:a16="http://schemas.microsoft.com/office/drawing/2014/main" id="{CB4E0A69-8170-B9F0-9040-AC0AEE073A93}"/>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238" y="86628"/>
            <a:ext cx="5314950" cy="524157"/>
          </a:xfrm>
        </p:spPr>
        <p:txBody>
          <a:bodyPr/>
          <a:lstStyle/>
          <a:p>
            <a:r>
              <a:rPr lang="en-US" dirty="0"/>
              <a:t>Fault Tolerance (1)</a:t>
            </a:r>
          </a:p>
        </p:txBody>
      </p:sp>
      <p:sp>
        <p:nvSpPr>
          <p:cNvPr id="3" name="Content Placeholder 2"/>
          <p:cNvSpPr>
            <a:spLocks noGrp="1"/>
          </p:cNvSpPr>
          <p:nvPr>
            <p:ph idx="1"/>
          </p:nvPr>
        </p:nvSpPr>
        <p:spPr>
          <a:xfrm>
            <a:off x="1005238" y="901767"/>
            <a:ext cx="7368741" cy="3600450"/>
          </a:xfrm>
        </p:spPr>
        <p:txBody>
          <a:bodyPr/>
          <a:lstStyle/>
          <a:p>
            <a:pPr>
              <a:spcBef>
                <a:spcPts val="0"/>
              </a:spcBef>
            </a:pPr>
            <a:r>
              <a:rPr lang="en-US" sz="2000" dirty="0"/>
              <a:t>What is fault tolerant system ?</a:t>
            </a:r>
          </a:p>
          <a:p>
            <a:pPr lvl="1">
              <a:spcBef>
                <a:spcPts val="0"/>
              </a:spcBef>
            </a:pPr>
            <a:r>
              <a:rPr lang="en-US" sz="1800" dirty="0"/>
              <a:t>Fault-tolerance is the property that enables a system to continue operating properly in the event of the failure of some of its components.</a:t>
            </a:r>
          </a:p>
          <a:p>
            <a:pPr lvl="1">
              <a:spcBef>
                <a:spcPts val="0"/>
              </a:spcBef>
            </a:pPr>
            <a:r>
              <a:rPr lang="en-US" sz="1800" dirty="0"/>
              <a:t>If its operating quality decreases at all, the decrease is proportional to the severity of the failure, as compared to a naively-designed system in which even a small failure can cause total breakdown.</a:t>
            </a:r>
          </a:p>
          <a:p>
            <a:pPr>
              <a:spcBef>
                <a:spcPts val="0"/>
              </a:spcBef>
            </a:pPr>
            <a:endParaRPr lang="en-US" sz="2000" dirty="0"/>
          </a:p>
          <a:p>
            <a:pPr>
              <a:spcBef>
                <a:spcPts val="0"/>
              </a:spcBef>
            </a:pPr>
            <a:r>
              <a:rPr lang="en-US" sz="2000" dirty="0"/>
              <a:t>Four basic characteristics </a:t>
            </a:r>
          </a:p>
          <a:p>
            <a:pPr lvl="1">
              <a:spcBef>
                <a:spcPts val="0"/>
              </a:spcBef>
            </a:pPr>
            <a:r>
              <a:rPr lang="en-US" sz="1800" dirty="0"/>
              <a:t>No single point of failure</a:t>
            </a:r>
          </a:p>
          <a:p>
            <a:pPr lvl="1">
              <a:spcBef>
                <a:spcPts val="0"/>
              </a:spcBef>
            </a:pPr>
            <a:r>
              <a:rPr lang="en-US" sz="1800" dirty="0"/>
              <a:t>Fault detection and isolation to the failing component</a:t>
            </a:r>
          </a:p>
          <a:p>
            <a:pPr lvl="1">
              <a:spcBef>
                <a:spcPts val="0"/>
              </a:spcBef>
            </a:pPr>
            <a:r>
              <a:rPr lang="en-US" sz="1800" dirty="0"/>
              <a:t>Fault containment to prevent propagation of the failure</a:t>
            </a:r>
          </a:p>
          <a:p>
            <a:pPr lvl="1">
              <a:spcBef>
                <a:spcPts val="0"/>
              </a:spcBef>
            </a:pPr>
            <a:r>
              <a:rPr lang="en-US" sz="1800" dirty="0"/>
              <a:t>Availability of reversion modes</a:t>
            </a:r>
          </a:p>
        </p:txBody>
      </p:sp>
      <p:sp>
        <p:nvSpPr>
          <p:cNvPr id="4" name="灯片编号占位符 3">
            <a:extLst>
              <a:ext uri="{FF2B5EF4-FFF2-40B4-BE49-F238E27FC236}">
                <a16:creationId xmlns:a16="http://schemas.microsoft.com/office/drawing/2014/main" id="{D251582B-D2E5-3546-15D2-345DA000900C}"/>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descr="http://gautamlulla.files.wordpress.com/2010/07/spf.jpg"/>
          <p:cNvPicPr>
            <a:picLocks noChangeAspect="1" noChangeArrowheads="1"/>
          </p:cNvPicPr>
          <p:nvPr/>
        </p:nvPicPr>
        <p:blipFill>
          <a:blip r:embed="rId2" cstate="print"/>
          <a:srcRect l="26936" r="21208"/>
          <a:stretch/>
        </p:blipFill>
        <p:spPr bwMode="auto">
          <a:xfrm>
            <a:off x="7960979" y="938253"/>
            <a:ext cx="1126157" cy="3266993"/>
          </a:xfrm>
          <a:prstGeom prst="rect">
            <a:avLst/>
          </a:prstGeom>
          <a:noFill/>
        </p:spPr>
      </p:pic>
      <p:sp>
        <p:nvSpPr>
          <p:cNvPr id="3" name="Content Placeholder 2"/>
          <p:cNvSpPr>
            <a:spLocks noGrp="1"/>
          </p:cNvSpPr>
          <p:nvPr>
            <p:ph idx="1"/>
          </p:nvPr>
        </p:nvSpPr>
        <p:spPr>
          <a:xfrm>
            <a:off x="1025375" y="874513"/>
            <a:ext cx="6955741" cy="3394472"/>
          </a:xfrm>
        </p:spPr>
        <p:txBody>
          <a:bodyPr/>
          <a:lstStyle/>
          <a:p>
            <a:r>
              <a:rPr lang="en-US" sz="2000" dirty="0"/>
              <a:t>Single Point Of Failure (SPOF)</a:t>
            </a:r>
          </a:p>
          <a:p>
            <a:pPr lvl="1"/>
            <a:r>
              <a:rPr lang="en-US" sz="2000" dirty="0"/>
              <a:t>A part of a system which, if it fails, will stop the entire system from working.</a:t>
            </a:r>
          </a:p>
          <a:p>
            <a:pPr lvl="1"/>
            <a:r>
              <a:rPr lang="en-US" sz="2000" dirty="0"/>
              <a:t>The assessment of a potentially single location of failure identifies the critical components of a complex system that would provoke a total systems failure in case of malfunction.</a:t>
            </a:r>
          </a:p>
          <a:p>
            <a:r>
              <a:rPr lang="en-US" sz="2000" dirty="0"/>
              <a:t>Preventing single point of failure</a:t>
            </a:r>
          </a:p>
          <a:p>
            <a:pPr lvl="1"/>
            <a:r>
              <a:rPr lang="en-US" sz="2000" dirty="0"/>
              <a:t>If a system experiences a failure, it must continue to operate without interruption during the repair process.</a:t>
            </a:r>
          </a:p>
        </p:txBody>
      </p:sp>
      <p:sp>
        <p:nvSpPr>
          <p:cNvPr id="4" name="灯片编号占位符 3">
            <a:extLst>
              <a:ext uri="{FF2B5EF4-FFF2-40B4-BE49-F238E27FC236}">
                <a16:creationId xmlns:a16="http://schemas.microsoft.com/office/drawing/2014/main" id="{20BC2DC7-2D21-31D5-D3B1-423E7318FF4C}"/>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
        <p:nvSpPr>
          <p:cNvPr id="7" name="Title 1">
            <a:extLst>
              <a:ext uri="{FF2B5EF4-FFF2-40B4-BE49-F238E27FC236}">
                <a16:creationId xmlns:a16="http://schemas.microsoft.com/office/drawing/2014/main" id="{DD254595-CD4F-0782-249B-5AC0FB02F096}"/>
              </a:ext>
            </a:extLst>
          </p:cNvPr>
          <p:cNvSpPr>
            <a:spLocks noGrp="1"/>
          </p:cNvSpPr>
          <p:nvPr>
            <p:ph type="title"/>
          </p:nvPr>
        </p:nvSpPr>
        <p:spPr>
          <a:xfrm>
            <a:off x="1005238" y="86628"/>
            <a:ext cx="5314950" cy="524157"/>
          </a:xfrm>
        </p:spPr>
        <p:txBody>
          <a:bodyPr/>
          <a:lstStyle/>
          <a:p>
            <a:r>
              <a:rPr lang="en-US" dirty="0"/>
              <a:t>Fault Tolerance (2)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5238" y="844153"/>
            <a:ext cx="7681562" cy="3063704"/>
          </a:xfrm>
        </p:spPr>
        <p:txBody>
          <a:bodyPr/>
          <a:lstStyle/>
          <a:p>
            <a:r>
              <a:rPr lang="en-US" sz="2000" dirty="0"/>
              <a:t>Fault Detection and Isolation (FDI)</a:t>
            </a:r>
          </a:p>
          <a:p>
            <a:pPr lvl="1"/>
            <a:r>
              <a:rPr lang="en-US" sz="2000" dirty="0"/>
              <a:t>A subfield of control engineering which concerns itself with monitoring a system, identifying when a fault has occurred and pinpoint the type of fault and its location.</a:t>
            </a:r>
            <a:br>
              <a:rPr lang="en-US" sz="2000" dirty="0"/>
            </a:br>
            <a:endParaRPr lang="en-US" sz="2000" dirty="0"/>
          </a:p>
          <a:p>
            <a:r>
              <a:rPr lang="en-US" sz="2000" dirty="0"/>
              <a:t>Isolate failing component</a:t>
            </a:r>
          </a:p>
          <a:p>
            <a:pPr lvl="1"/>
            <a:r>
              <a:rPr lang="en-US" sz="2000" dirty="0"/>
              <a:t>When a failure occurs, the system</a:t>
            </a:r>
            <a:br>
              <a:rPr lang="en-US" sz="2000" dirty="0"/>
            </a:br>
            <a:r>
              <a:rPr lang="en-US" sz="2000" dirty="0"/>
              <a:t>must be able to isolate the failure</a:t>
            </a:r>
            <a:br>
              <a:rPr lang="en-US" sz="2000" dirty="0"/>
            </a:br>
            <a:r>
              <a:rPr lang="en-US" sz="2000" dirty="0"/>
              <a:t>to the offending component. </a:t>
            </a:r>
          </a:p>
        </p:txBody>
      </p:sp>
      <p:pic>
        <p:nvPicPr>
          <p:cNvPr id="93186" name="Picture 2" descr="http://www.adelicatebalance.com.au/gallery/images/people/doctor.jpg"/>
          <p:cNvPicPr>
            <a:picLocks noChangeAspect="1" noChangeArrowheads="1"/>
          </p:cNvPicPr>
          <p:nvPr/>
        </p:nvPicPr>
        <p:blipFill>
          <a:blip r:embed="rId2" cstate="print"/>
          <a:srcRect/>
          <a:stretch>
            <a:fillRect/>
          </a:stretch>
        </p:blipFill>
        <p:spPr bwMode="auto">
          <a:xfrm>
            <a:off x="6030528" y="2311340"/>
            <a:ext cx="2828925" cy="21216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2D8BF464-9F6F-6BB9-5A4D-0861E607063E}"/>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8" name="Title 1">
            <a:extLst>
              <a:ext uri="{FF2B5EF4-FFF2-40B4-BE49-F238E27FC236}">
                <a16:creationId xmlns:a16="http://schemas.microsoft.com/office/drawing/2014/main" id="{37D36DF9-4F36-7AF8-1C6B-B746FA216328}"/>
              </a:ext>
            </a:extLst>
          </p:cNvPr>
          <p:cNvSpPr>
            <a:spLocks noGrp="1"/>
          </p:cNvSpPr>
          <p:nvPr>
            <p:ph type="title"/>
          </p:nvPr>
        </p:nvSpPr>
        <p:spPr>
          <a:xfrm>
            <a:off x="1005238" y="86628"/>
            <a:ext cx="5314950" cy="524157"/>
          </a:xfrm>
        </p:spPr>
        <p:txBody>
          <a:bodyPr/>
          <a:lstStyle/>
          <a:p>
            <a:r>
              <a:rPr lang="en-US" dirty="0"/>
              <a:t>Fault Tolerance (3)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844153"/>
            <a:ext cx="7589519" cy="3671888"/>
          </a:xfrm>
        </p:spPr>
        <p:txBody>
          <a:bodyPr/>
          <a:lstStyle/>
          <a:p>
            <a:r>
              <a:rPr lang="en-US" sz="2000" dirty="0"/>
              <a:t>Fault Containment</a:t>
            </a:r>
          </a:p>
          <a:p>
            <a:pPr lvl="1"/>
            <a:r>
              <a:rPr lang="en-US" sz="2000" dirty="0"/>
              <a:t>Some failure mechanisms can cause a system to fail by propagating the failure to the rest of the system.</a:t>
            </a:r>
          </a:p>
          <a:p>
            <a:pPr lvl="1"/>
            <a:r>
              <a:rPr lang="en-US" sz="2000" dirty="0"/>
              <a:t>Mechanisms that isolate a rogue transmitter or failing component to protect the system are required.</a:t>
            </a:r>
            <a:br>
              <a:rPr lang="en-US" sz="2000" dirty="0"/>
            </a:br>
            <a:endParaRPr lang="en-US" sz="2000" dirty="0"/>
          </a:p>
          <a:p>
            <a:r>
              <a:rPr lang="en-US" sz="2000" dirty="0"/>
              <a:t>Available of reversion modes</a:t>
            </a:r>
          </a:p>
          <a:p>
            <a:pPr lvl="1"/>
            <a:r>
              <a:rPr lang="en-US" sz="2000" dirty="0"/>
              <a:t>System should be able to maintain some check points which can be used in managing the state changes.</a:t>
            </a:r>
          </a:p>
        </p:txBody>
      </p:sp>
      <p:sp>
        <p:nvSpPr>
          <p:cNvPr id="4" name="灯片编号占位符 3">
            <a:extLst>
              <a:ext uri="{FF2B5EF4-FFF2-40B4-BE49-F238E27FC236}">
                <a16:creationId xmlns:a16="http://schemas.microsoft.com/office/drawing/2014/main" id="{DCF55990-E2FA-6F5B-9E2B-2FE9F6134693}"/>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
        <p:nvSpPr>
          <p:cNvPr id="7" name="Title 1">
            <a:extLst>
              <a:ext uri="{FF2B5EF4-FFF2-40B4-BE49-F238E27FC236}">
                <a16:creationId xmlns:a16="http://schemas.microsoft.com/office/drawing/2014/main" id="{4D977CD5-89F8-5B3D-4C07-5DB3E1027442}"/>
              </a:ext>
            </a:extLst>
          </p:cNvPr>
          <p:cNvSpPr>
            <a:spLocks noGrp="1"/>
          </p:cNvSpPr>
          <p:nvPr>
            <p:ph type="title"/>
          </p:nvPr>
        </p:nvSpPr>
        <p:spPr>
          <a:xfrm>
            <a:off x="1005238" y="86628"/>
            <a:ext cx="5314950" cy="524157"/>
          </a:xfrm>
        </p:spPr>
        <p:txBody>
          <a:bodyPr/>
          <a:lstStyle/>
          <a:p>
            <a:r>
              <a:rPr lang="en-US" dirty="0"/>
              <a:t>Fault Tolerance (4)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8986" y="96254"/>
            <a:ext cx="5314950" cy="497268"/>
          </a:xfrm>
        </p:spPr>
        <p:txBody>
          <a:bodyPr/>
          <a:lstStyle/>
          <a:p>
            <a:r>
              <a:rPr lang="en-US" dirty="0"/>
              <a:t>System Resilience (1)</a:t>
            </a:r>
          </a:p>
        </p:txBody>
      </p:sp>
      <p:sp>
        <p:nvSpPr>
          <p:cNvPr id="3" name="Content Placeholder 2"/>
          <p:cNvSpPr>
            <a:spLocks noGrp="1"/>
          </p:cNvSpPr>
          <p:nvPr>
            <p:ph idx="1"/>
          </p:nvPr>
        </p:nvSpPr>
        <p:spPr>
          <a:xfrm>
            <a:off x="908986" y="844153"/>
            <a:ext cx="7599747" cy="3671888"/>
          </a:xfrm>
        </p:spPr>
        <p:txBody>
          <a:bodyPr/>
          <a:lstStyle/>
          <a:p>
            <a:pPr>
              <a:spcBef>
                <a:spcPts val="0"/>
              </a:spcBef>
            </a:pPr>
            <a:r>
              <a:rPr lang="en-US" sz="2000" dirty="0"/>
              <a:t>What is resilience ?</a:t>
            </a:r>
          </a:p>
          <a:p>
            <a:pPr lvl="1">
              <a:spcBef>
                <a:spcPts val="0"/>
              </a:spcBef>
            </a:pPr>
            <a:r>
              <a:rPr lang="en-US" sz="2000" dirty="0"/>
              <a:t>Resilience is the ability to provide and maintain an acceptable level of service in the face of faults and challenges to normal operation.</a:t>
            </a:r>
          </a:p>
          <a:p>
            <a:pPr lvl="1">
              <a:spcBef>
                <a:spcPts val="0"/>
              </a:spcBef>
            </a:pPr>
            <a:r>
              <a:rPr lang="en-US" sz="2000" dirty="0"/>
              <a:t>Resiliency pertains to the system's ability to return to its original state after encountering trouble. In other words, if a risk event knocks a system offline, a highly resilient system will return back to work and function as planned as soon as possible. </a:t>
            </a:r>
            <a:br>
              <a:rPr lang="en-US" sz="2000" dirty="0"/>
            </a:br>
            <a:endParaRPr lang="en-US" sz="2000" dirty="0"/>
          </a:p>
          <a:p>
            <a:pPr>
              <a:spcBef>
                <a:spcPts val="0"/>
              </a:spcBef>
            </a:pPr>
            <a:r>
              <a:rPr lang="en-US" sz="2000" dirty="0"/>
              <a:t>Some risk events</a:t>
            </a:r>
          </a:p>
          <a:p>
            <a:pPr lvl="1">
              <a:spcBef>
                <a:spcPts val="0"/>
              </a:spcBef>
            </a:pPr>
            <a:r>
              <a:rPr lang="en-US" sz="2000" dirty="0"/>
              <a:t>If power is lost at a plant for two days, can our system recover ?</a:t>
            </a:r>
          </a:p>
          <a:p>
            <a:pPr lvl="1">
              <a:spcBef>
                <a:spcPts val="0"/>
              </a:spcBef>
            </a:pPr>
            <a:r>
              <a:rPr lang="en-US" sz="2000" dirty="0"/>
              <a:t>If a key service is lost because a database corruption, can the business recover ?</a:t>
            </a:r>
          </a:p>
        </p:txBody>
      </p:sp>
      <p:sp>
        <p:nvSpPr>
          <p:cNvPr id="4" name="灯片编号占位符 3">
            <a:extLst>
              <a:ext uri="{FF2B5EF4-FFF2-40B4-BE49-F238E27FC236}">
                <a16:creationId xmlns:a16="http://schemas.microsoft.com/office/drawing/2014/main" id="{87983C84-7791-5614-0CDF-FDC67288EE2B}"/>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1402" y="816567"/>
            <a:ext cx="7584707" cy="3771900"/>
          </a:xfrm>
        </p:spPr>
        <p:txBody>
          <a:bodyPr/>
          <a:lstStyle/>
          <a:p>
            <a:pPr>
              <a:spcBef>
                <a:spcPts val="0"/>
              </a:spcBef>
            </a:pPr>
            <a:r>
              <a:rPr lang="en-US" sz="2000" dirty="0"/>
              <a:t>Disaster Recovery</a:t>
            </a:r>
          </a:p>
          <a:p>
            <a:pPr lvl="1">
              <a:spcBef>
                <a:spcPts val="0"/>
              </a:spcBef>
            </a:pPr>
            <a:r>
              <a:rPr lang="en-US" sz="1800" dirty="0"/>
              <a:t>Disaster recovery is the process, policies and procedures related to preparing for recovery or continuation of technology infrastructure critical to an organization after a natural or human-induced disaster.</a:t>
            </a:r>
          </a:p>
          <a:p>
            <a:pPr>
              <a:spcBef>
                <a:spcPts val="0"/>
              </a:spcBef>
            </a:pPr>
            <a:r>
              <a:rPr lang="en-US" sz="2000" dirty="0"/>
              <a:t>Some common strategies :</a:t>
            </a:r>
          </a:p>
          <a:p>
            <a:pPr lvl="1">
              <a:spcBef>
                <a:spcPts val="0"/>
              </a:spcBef>
            </a:pPr>
            <a:r>
              <a:rPr lang="en-US" sz="1800" dirty="0"/>
              <a:t>Backup</a:t>
            </a:r>
          </a:p>
          <a:p>
            <a:pPr lvl="2">
              <a:spcBef>
                <a:spcPts val="0"/>
              </a:spcBef>
            </a:pPr>
            <a:r>
              <a:rPr lang="en-US" sz="1800" dirty="0">
                <a:latin typeface="Times New Roman" panose="02020603050405020304" pitchFamily="18" charset="0"/>
                <a:cs typeface="Times New Roman" panose="02020603050405020304" pitchFamily="18" charset="0"/>
              </a:rPr>
              <a:t>Make data off-site at regular interval</a:t>
            </a:r>
          </a:p>
          <a:p>
            <a:pPr lvl="2">
              <a:spcBef>
                <a:spcPts val="0"/>
              </a:spcBef>
            </a:pPr>
            <a:r>
              <a:rPr lang="en-US" sz="1800" dirty="0">
                <a:latin typeface="Times New Roman" panose="02020603050405020304" pitchFamily="18" charset="0"/>
                <a:cs typeface="Times New Roman" panose="02020603050405020304" pitchFamily="18" charset="0"/>
              </a:rPr>
              <a:t>Replicate data to an off-site location</a:t>
            </a:r>
          </a:p>
          <a:p>
            <a:pPr lvl="2">
              <a:spcBef>
                <a:spcPts val="0"/>
              </a:spcBef>
            </a:pPr>
            <a:r>
              <a:rPr lang="en-US" sz="1800" dirty="0">
                <a:latin typeface="Times New Roman" panose="02020603050405020304" pitchFamily="18" charset="0"/>
                <a:cs typeface="Times New Roman" panose="02020603050405020304" pitchFamily="18" charset="0"/>
              </a:rPr>
              <a:t>Replicate whole system</a:t>
            </a:r>
          </a:p>
          <a:p>
            <a:pPr lvl="1">
              <a:spcBef>
                <a:spcPts val="0"/>
              </a:spcBef>
            </a:pPr>
            <a:r>
              <a:rPr lang="en-US" sz="1800" dirty="0"/>
              <a:t>Preparing</a:t>
            </a:r>
          </a:p>
          <a:p>
            <a:pPr lvl="2">
              <a:spcBef>
                <a:spcPts val="0"/>
              </a:spcBef>
            </a:pPr>
            <a:r>
              <a:rPr lang="en-US" sz="1800" dirty="0">
                <a:latin typeface="Times New Roman" panose="02020603050405020304" pitchFamily="18" charset="0"/>
                <a:cs typeface="Times New Roman" panose="02020603050405020304" pitchFamily="18" charset="0"/>
              </a:rPr>
              <a:t>Local mirror systems</a:t>
            </a:r>
          </a:p>
          <a:p>
            <a:pPr lvl="2">
              <a:spcBef>
                <a:spcPts val="0"/>
              </a:spcBef>
            </a:pPr>
            <a:r>
              <a:rPr lang="en-US" sz="1800" dirty="0">
                <a:latin typeface="Times New Roman" panose="02020603050405020304" pitchFamily="18" charset="0"/>
                <a:cs typeface="Times New Roman" panose="02020603050405020304" pitchFamily="18" charset="0"/>
              </a:rPr>
              <a:t>Surge protector</a:t>
            </a:r>
          </a:p>
          <a:p>
            <a:pPr lvl="2">
              <a:spcBef>
                <a:spcPts val="0"/>
              </a:spcBef>
            </a:pPr>
            <a:r>
              <a:rPr lang="en-US" sz="1800" dirty="0">
                <a:latin typeface="Times New Roman" panose="02020603050405020304" pitchFamily="18" charset="0"/>
                <a:cs typeface="Times New Roman" panose="02020603050405020304" pitchFamily="18" charset="0"/>
              </a:rPr>
              <a:t>Uninterruptible Power Supply (UPS)</a:t>
            </a:r>
          </a:p>
        </p:txBody>
      </p:sp>
      <p:pic>
        <p:nvPicPr>
          <p:cNvPr id="94212" name="Picture 4" descr="http://www.newsbiscuit.com/wp-content/uploads/2009/12/374-bandage-man.jpg"/>
          <p:cNvPicPr>
            <a:picLocks noChangeAspect="1" noChangeArrowheads="1"/>
          </p:cNvPicPr>
          <p:nvPr/>
        </p:nvPicPr>
        <p:blipFill>
          <a:blip r:embed="rId2" cstate="print"/>
          <a:srcRect/>
          <a:stretch>
            <a:fillRect/>
          </a:stretch>
        </p:blipFill>
        <p:spPr bwMode="auto">
          <a:xfrm>
            <a:off x="6062079" y="2484671"/>
            <a:ext cx="2678906" cy="19002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A76F31A4-A47B-8F14-2DE2-CE237410EDEF}"/>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7" name="Title 1">
            <a:extLst>
              <a:ext uri="{FF2B5EF4-FFF2-40B4-BE49-F238E27FC236}">
                <a16:creationId xmlns:a16="http://schemas.microsoft.com/office/drawing/2014/main" id="{4476D30D-ED78-D596-CF23-0463A105CFCE}"/>
              </a:ext>
            </a:extLst>
          </p:cNvPr>
          <p:cNvSpPr>
            <a:spLocks noGrp="1"/>
          </p:cNvSpPr>
          <p:nvPr>
            <p:ph type="title"/>
          </p:nvPr>
        </p:nvSpPr>
        <p:spPr>
          <a:xfrm>
            <a:off x="924024" y="88700"/>
            <a:ext cx="7751663" cy="519113"/>
          </a:xfrm>
        </p:spPr>
        <p:txBody>
          <a:bodyPr/>
          <a:lstStyle/>
          <a:p>
            <a:r>
              <a:rPr lang="en-US" dirty="0"/>
              <a:t>System Resilience (1)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5136" y="844153"/>
            <a:ext cx="7265588" cy="2171081"/>
          </a:xfrm>
        </p:spPr>
        <p:txBody>
          <a:bodyPr/>
          <a:lstStyle/>
          <a:p>
            <a:r>
              <a:rPr lang="en-US" sz="2000" dirty="0"/>
              <a:t>Security issue in Cloud Computing :</a:t>
            </a:r>
          </a:p>
          <a:p>
            <a:pPr lvl="1"/>
            <a:r>
              <a:rPr lang="en-US" sz="2000" dirty="0"/>
              <a:t>Cloud security is an evolving sub-domain of computer security, network security, and, more broadly, information security.</a:t>
            </a:r>
          </a:p>
          <a:p>
            <a:pPr lvl="1"/>
            <a:r>
              <a:rPr lang="en-US" sz="2000" dirty="0"/>
              <a:t>It refers to a broad set of policies, technologies, and controls deployed to protect data, applications, and the associated infrastructure of cloud computing.</a:t>
            </a:r>
          </a:p>
        </p:txBody>
      </p:sp>
      <p:pic>
        <p:nvPicPr>
          <p:cNvPr id="5" name="Picture 4" descr="cloud_security_password_610.jpg"/>
          <p:cNvPicPr>
            <a:picLocks noChangeAspect="1"/>
          </p:cNvPicPr>
          <p:nvPr/>
        </p:nvPicPr>
        <p:blipFill>
          <a:blip r:embed="rId2" cstate="print"/>
          <a:srcRect t="14446"/>
          <a:stretch>
            <a:fillRect/>
          </a:stretch>
        </p:blipFill>
        <p:spPr>
          <a:xfrm>
            <a:off x="5902063" y="2704699"/>
            <a:ext cx="3062550" cy="17481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F7FE767D-4594-F451-EB81-64F50560177B}"/>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
        <p:nvSpPr>
          <p:cNvPr id="9" name="Title 1">
            <a:extLst>
              <a:ext uri="{FF2B5EF4-FFF2-40B4-BE49-F238E27FC236}">
                <a16:creationId xmlns:a16="http://schemas.microsoft.com/office/drawing/2014/main" id="{87D4B74E-2C1D-BCF6-7061-EB4E71EC72A8}"/>
              </a:ext>
            </a:extLst>
          </p:cNvPr>
          <p:cNvSpPr>
            <a:spLocks noGrp="1"/>
          </p:cNvSpPr>
          <p:nvPr>
            <p:ph type="title"/>
          </p:nvPr>
        </p:nvSpPr>
        <p:spPr>
          <a:xfrm>
            <a:off x="924024" y="88700"/>
            <a:ext cx="7751663" cy="519113"/>
          </a:xfrm>
        </p:spPr>
        <p:txBody>
          <a:bodyPr/>
          <a:lstStyle/>
          <a:p>
            <a:r>
              <a:rPr lang="en-US" dirty="0"/>
              <a:t>System Resilience (2)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863" y="134755"/>
            <a:ext cx="5314950" cy="447155"/>
          </a:xfrm>
        </p:spPr>
        <p:txBody>
          <a:bodyPr/>
          <a:lstStyle/>
          <a:p>
            <a:r>
              <a:rPr lang="en-US" dirty="0"/>
              <a:t>System Security</a:t>
            </a:r>
          </a:p>
        </p:txBody>
      </p:sp>
      <p:sp>
        <p:nvSpPr>
          <p:cNvPr id="3" name="Content Placeholder 2"/>
          <p:cNvSpPr>
            <a:spLocks noGrp="1"/>
          </p:cNvSpPr>
          <p:nvPr>
            <p:ph idx="1"/>
          </p:nvPr>
        </p:nvSpPr>
        <p:spPr>
          <a:xfrm>
            <a:off x="1104198" y="829577"/>
            <a:ext cx="7539289" cy="3657600"/>
          </a:xfrm>
        </p:spPr>
        <p:txBody>
          <a:bodyPr>
            <a:noAutofit/>
          </a:bodyPr>
          <a:lstStyle/>
          <a:p>
            <a:pPr>
              <a:spcBef>
                <a:spcPts val="0"/>
              </a:spcBef>
            </a:pPr>
            <a:r>
              <a:rPr lang="en-US" sz="2000" dirty="0"/>
              <a:t>Important security and privacy issues :</a:t>
            </a:r>
          </a:p>
          <a:p>
            <a:pPr lvl="1">
              <a:spcBef>
                <a:spcPts val="0"/>
              </a:spcBef>
            </a:pPr>
            <a:r>
              <a:rPr lang="en-US" sz="2000" dirty="0"/>
              <a:t>Data Protection</a:t>
            </a:r>
          </a:p>
          <a:p>
            <a:pPr lvl="2">
              <a:spcBef>
                <a:spcPts val="0"/>
              </a:spcBef>
            </a:pPr>
            <a:r>
              <a:rPr lang="en-US" sz="1600" dirty="0">
                <a:latin typeface="Times New Roman" panose="02020603050405020304" pitchFamily="18" charset="0"/>
                <a:cs typeface="Times New Roman" panose="02020603050405020304" pitchFamily="18" charset="0"/>
              </a:rPr>
              <a:t>To be considered protected, data from one customer must be properly segregated from that of another.</a:t>
            </a:r>
          </a:p>
          <a:p>
            <a:pPr lvl="1">
              <a:spcBef>
                <a:spcPts val="0"/>
              </a:spcBef>
            </a:pPr>
            <a:r>
              <a:rPr lang="en-US" sz="2000" dirty="0"/>
              <a:t>Identity Management</a:t>
            </a:r>
          </a:p>
          <a:p>
            <a:pPr lvl="2">
              <a:spcBef>
                <a:spcPts val="0"/>
              </a:spcBef>
            </a:pPr>
            <a:r>
              <a:rPr lang="en-US" sz="1600" dirty="0">
                <a:latin typeface="Times New Roman" panose="02020603050405020304" pitchFamily="18" charset="0"/>
                <a:cs typeface="Times New Roman" panose="02020603050405020304" pitchFamily="18" charset="0"/>
              </a:rPr>
              <a:t>Every enterprise will have its own identity management system to control access to information and computing resources.</a:t>
            </a:r>
          </a:p>
          <a:p>
            <a:pPr lvl="1">
              <a:spcBef>
                <a:spcPts val="0"/>
              </a:spcBef>
            </a:pPr>
            <a:r>
              <a:rPr lang="en-US" sz="2000" dirty="0"/>
              <a:t>Application Security</a:t>
            </a:r>
          </a:p>
          <a:p>
            <a:pPr lvl="2">
              <a:spcBef>
                <a:spcPts val="0"/>
              </a:spcBef>
            </a:pPr>
            <a:r>
              <a:rPr lang="en-US" sz="1600" dirty="0">
                <a:latin typeface="Times New Roman" panose="02020603050405020304" pitchFamily="18" charset="0"/>
                <a:cs typeface="Times New Roman" panose="02020603050405020304" pitchFamily="18" charset="0"/>
              </a:rPr>
              <a:t>Cloud providers should ensure that applications available as a service via the cloud are secure.</a:t>
            </a:r>
          </a:p>
          <a:p>
            <a:pPr lvl="1">
              <a:spcBef>
                <a:spcPts val="0"/>
              </a:spcBef>
            </a:pPr>
            <a:r>
              <a:rPr lang="en-US" sz="2000" dirty="0"/>
              <a:t>Privacy</a:t>
            </a:r>
          </a:p>
          <a:p>
            <a:pPr lvl="2">
              <a:spcBef>
                <a:spcPts val="0"/>
              </a:spcBef>
            </a:pPr>
            <a:r>
              <a:rPr lang="en-US" sz="1600" dirty="0">
                <a:latin typeface="Times New Roman" panose="02020603050405020304" pitchFamily="18" charset="0"/>
                <a:cs typeface="Times New Roman" panose="02020603050405020304" pitchFamily="18" charset="0"/>
              </a:rPr>
              <a:t>Providers ensure that all critical data are masked and that only authorized users have access to data in its entirety.</a:t>
            </a:r>
          </a:p>
        </p:txBody>
      </p:sp>
      <p:sp>
        <p:nvSpPr>
          <p:cNvPr id="4" name="灯片编号占位符 3">
            <a:extLst>
              <a:ext uri="{FF2B5EF4-FFF2-40B4-BE49-F238E27FC236}">
                <a16:creationId xmlns:a16="http://schemas.microsoft.com/office/drawing/2014/main" id="{E9D3367E-5A68-EA76-4343-B8AB6FC58F60}"/>
              </a:ext>
            </a:extLst>
          </p:cNvPr>
          <p:cNvSpPr>
            <a:spLocks noGrp="1"/>
          </p:cNvSpPr>
          <p:nvPr>
            <p:ph type="sldNum" sz="quarter" idx="10"/>
          </p:nvPr>
        </p:nvSpPr>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651" y="108349"/>
            <a:ext cx="7742039" cy="519113"/>
          </a:xfrm>
        </p:spPr>
        <p:txBody>
          <a:bodyPr>
            <a:noAutofit/>
          </a:bodyPr>
          <a:lstStyle/>
          <a:p>
            <a:r>
              <a:rPr lang="en-US" dirty="0"/>
              <a:t>Manageability &amp; Interoperability</a:t>
            </a:r>
          </a:p>
        </p:txBody>
      </p:sp>
      <p:sp>
        <p:nvSpPr>
          <p:cNvPr id="5" name="Rectangle 4"/>
          <p:cNvSpPr/>
          <p:nvPr/>
        </p:nvSpPr>
        <p:spPr>
          <a:xfrm>
            <a:off x="1188795" y="1641157"/>
            <a:ext cx="6858000" cy="28575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4" descr="C:\Users\Andy\AppData\Local\Microsoft\Windows\Temporary Internet Files\Content.IE5\VM829XVI\MPj03414180000[1].jpg"/>
          <p:cNvPicPr>
            <a:picLocks noChangeAspect="1" noChangeArrowheads="1"/>
          </p:cNvPicPr>
          <p:nvPr/>
        </p:nvPicPr>
        <p:blipFill>
          <a:blip r:embed="rId2" cstate="print"/>
          <a:srcRect t="3239"/>
          <a:stretch>
            <a:fillRect/>
          </a:stretch>
        </p:blipFill>
        <p:spPr bwMode="auto">
          <a:xfrm>
            <a:off x="2580642" y="1100806"/>
            <a:ext cx="1650743" cy="223916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2774633" y="3696445"/>
            <a:ext cx="5226367" cy="692497"/>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 Want Full Control !!</a:t>
            </a:r>
          </a:p>
        </p:txBody>
      </p:sp>
      <p:sp>
        <p:nvSpPr>
          <p:cNvPr id="3" name="灯片编号占位符 2">
            <a:extLst>
              <a:ext uri="{FF2B5EF4-FFF2-40B4-BE49-F238E27FC236}">
                <a16:creationId xmlns:a16="http://schemas.microsoft.com/office/drawing/2014/main" id="{6F5BC563-8E42-3A2D-953C-BF759C9FD624}"/>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651" y="108349"/>
            <a:ext cx="7742039" cy="519113"/>
          </a:xfrm>
        </p:spPr>
        <p:txBody>
          <a:bodyPr>
            <a:noAutofit/>
          </a:bodyPr>
          <a:lstStyle/>
          <a:p>
            <a:r>
              <a:rPr lang="en-US" dirty="0"/>
              <a:t>Manageability &amp; Interoperability </a:t>
            </a:r>
          </a:p>
        </p:txBody>
      </p:sp>
      <p:sp>
        <p:nvSpPr>
          <p:cNvPr id="3" name="Content Placeholder 2"/>
          <p:cNvSpPr>
            <a:spLocks noGrp="1"/>
          </p:cNvSpPr>
          <p:nvPr>
            <p:ph idx="1"/>
          </p:nvPr>
        </p:nvSpPr>
        <p:spPr>
          <a:xfrm>
            <a:off x="1092200" y="816766"/>
            <a:ext cx="7583490" cy="3771900"/>
          </a:xfrm>
        </p:spPr>
        <p:txBody>
          <a:bodyPr>
            <a:noAutofit/>
          </a:bodyPr>
          <a:lstStyle/>
          <a:p>
            <a:pPr>
              <a:spcBef>
                <a:spcPts val="0"/>
              </a:spcBef>
            </a:pPr>
            <a:r>
              <a:rPr lang="en-US" sz="2000" dirty="0"/>
              <a:t>What is manageability ?</a:t>
            </a:r>
          </a:p>
          <a:p>
            <a:pPr lvl="1">
              <a:spcBef>
                <a:spcPts val="0"/>
              </a:spcBef>
            </a:pPr>
            <a:r>
              <a:rPr lang="en-US" sz="2000" dirty="0"/>
              <a:t>Enterprise-wide administration of  cloud computing systems. Systems manageability is strongly influenced by network management initiatives in telecommunications.</a:t>
            </a:r>
          </a:p>
          <a:p>
            <a:pPr>
              <a:spcBef>
                <a:spcPts val="0"/>
              </a:spcBef>
            </a:pPr>
            <a:r>
              <a:rPr lang="en-US" sz="2000" dirty="0"/>
              <a:t>What is interoperability ?</a:t>
            </a:r>
          </a:p>
          <a:p>
            <a:pPr lvl="1">
              <a:spcBef>
                <a:spcPts val="0"/>
              </a:spcBef>
            </a:pPr>
            <a:r>
              <a:rPr lang="en-US" sz="2000" dirty="0"/>
              <a:t>Interoperability is a property of a product or system, whose interfaces are completely understood, to work with other products or systems, present or future, without any restricted access or implementation. </a:t>
            </a:r>
          </a:p>
          <a:p>
            <a:pPr>
              <a:spcBef>
                <a:spcPts val="0"/>
              </a:spcBef>
            </a:pPr>
            <a:r>
              <a:rPr lang="en-US" sz="2000" dirty="0"/>
              <a:t>But how to achieve these properties ?</a:t>
            </a:r>
          </a:p>
          <a:p>
            <a:pPr lvl="1">
              <a:spcBef>
                <a:spcPts val="0"/>
              </a:spcBef>
            </a:pPr>
            <a:r>
              <a:rPr lang="en-US" sz="2000" dirty="0"/>
              <a:t>System control automation</a:t>
            </a:r>
          </a:p>
          <a:p>
            <a:pPr lvl="1">
              <a:spcBef>
                <a:spcPts val="0"/>
              </a:spcBef>
            </a:pPr>
            <a:r>
              <a:rPr lang="en-US" sz="2000" dirty="0"/>
              <a:t>System state monitoring</a:t>
            </a:r>
          </a:p>
        </p:txBody>
      </p:sp>
      <p:sp>
        <p:nvSpPr>
          <p:cNvPr id="4" name="灯片编号占位符 3">
            <a:extLst>
              <a:ext uri="{FF2B5EF4-FFF2-40B4-BE49-F238E27FC236}">
                <a16:creationId xmlns:a16="http://schemas.microsoft.com/office/drawing/2014/main" id="{A5235E30-E8A5-F14D-72BF-28CEDC262171}"/>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108349"/>
            <a:ext cx="7722789" cy="519113"/>
          </a:xfrm>
        </p:spPr>
        <p:txBody>
          <a:bodyPr>
            <a:noAutofit/>
          </a:bodyPr>
          <a:lstStyle/>
          <a:p>
            <a:r>
              <a:rPr lang="en-US" dirty="0"/>
              <a:t>Control Automation (1)</a:t>
            </a:r>
          </a:p>
        </p:txBody>
      </p:sp>
      <p:sp>
        <p:nvSpPr>
          <p:cNvPr id="3" name="Content Placeholder 2"/>
          <p:cNvSpPr>
            <a:spLocks noGrp="1"/>
          </p:cNvSpPr>
          <p:nvPr>
            <p:ph idx="1"/>
          </p:nvPr>
        </p:nvSpPr>
        <p:spPr>
          <a:xfrm>
            <a:off x="1049153" y="817366"/>
            <a:ext cx="7190072" cy="3725758"/>
          </a:xfrm>
        </p:spPr>
        <p:txBody>
          <a:bodyPr>
            <a:noAutofit/>
          </a:bodyPr>
          <a:lstStyle/>
          <a:p>
            <a:pPr>
              <a:spcBef>
                <a:spcPts val="0"/>
              </a:spcBef>
            </a:pPr>
            <a:r>
              <a:rPr lang="en-US" sz="2000" dirty="0"/>
              <a:t>What is Autonomic Computing ?</a:t>
            </a:r>
          </a:p>
          <a:p>
            <a:pPr lvl="1">
              <a:spcBef>
                <a:spcPts val="0"/>
              </a:spcBef>
            </a:pPr>
            <a:r>
              <a:rPr lang="en-US" sz="1800" dirty="0"/>
              <a:t>Its ultimate aim is to develop computer systems capable of self-management, to overcome the rapidly growing complexity of computing systems management, and to reduce the barrier that complexity poses to further growth.</a:t>
            </a:r>
            <a:br>
              <a:rPr lang="en-US" sz="1800" dirty="0"/>
            </a:br>
            <a:endParaRPr lang="en-US" sz="1800" dirty="0"/>
          </a:p>
          <a:p>
            <a:pPr>
              <a:spcBef>
                <a:spcPts val="0"/>
              </a:spcBef>
            </a:pPr>
            <a:r>
              <a:rPr lang="en-US" sz="2000" dirty="0"/>
              <a:t>Architectural framework :</a:t>
            </a:r>
          </a:p>
          <a:p>
            <a:pPr lvl="1">
              <a:spcBef>
                <a:spcPts val="0"/>
              </a:spcBef>
            </a:pPr>
            <a:r>
              <a:rPr lang="en-US" sz="1800" dirty="0"/>
              <a:t>Composed by Autonomic Components (AC) which will interact with each other.</a:t>
            </a:r>
          </a:p>
          <a:p>
            <a:pPr lvl="1">
              <a:spcBef>
                <a:spcPts val="0"/>
              </a:spcBef>
            </a:pPr>
            <a:r>
              <a:rPr lang="en-US" sz="1800" dirty="0"/>
              <a:t>An AC can be modeled in terms of two main control loops (local and global) with sensors (for self-monitoring), effectors (for self-adjustment), knowledge and planer/adapter for exploiting policies based on self- and environment awareness.</a:t>
            </a:r>
          </a:p>
        </p:txBody>
      </p:sp>
      <p:sp>
        <p:nvSpPr>
          <p:cNvPr id="4" name="灯片编号占位符 3">
            <a:extLst>
              <a:ext uri="{FF2B5EF4-FFF2-40B4-BE49-F238E27FC236}">
                <a16:creationId xmlns:a16="http://schemas.microsoft.com/office/drawing/2014/main" id="{1A68A74D-CD81-0268-0E8B-403F7C86DC99}"/>
              </a:ext>
            </a:extLst>
          </p:cNvPr>
          <p:cNvSpPr>
            <a:spLocks noGrp="1"/>
          </p:cNvSpPr>
          <p:nvPr>
            <p:ph type="sldNum" sz="quarter" idx="10"/>
          </p:nvPr>
        </p:nvSpPr>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1263" y="794385"/>
            <a:ext cx="7340467" cy="3623611"/>
          </a:xfrm>
        </p:spPr>
        <p:txBody>
          <a:bodyPr>
            <a:noAutofit/>
          </a:bodyPr>
          <a:lstStyle/>
          <a:p>
            <a:r>
              <a:rPr lang="en-US" sz="2000" dirty="0"/>
              <a:t>Four functional areas :</a:t>
            </a:r>
          </a:p>
          <a:p>
            <a:pPr lvl="1"/>
            <a:r>
              <a:rPr lang="en-US" sz="2000" dirty="0"/>
              <a:t>Self-Configuration</a:t>
            </a:r>
          </a:p>
          <a:p>
            <a:pPr lvl="2"/>
            <a:r>
              <a:rPr lang="en-US" dirty="0">
                <a:latin typeface="Times New Roman" panose="02020603050405020304" pitchFamily="18" charset="0"/>
                <a:cs typeface="Times New Roman" panose="02020603050405020304" pitchFamily="18" charset="0"/>
              </a:rPr>
              <a:t>Automatic configuration of components.</a:t>
            </a:r>
          </a:p>
          <a:p>
            <a:pPr lvl="1"/>
            <a:r>
              <a:rPr lang="en-US" sz="2000" dirty="0"/>
              <a:t>Self-Healing</a:t>
            </a:r>
          </a:p>
          <a:p>
            <a:pPr lvl="2"/>
            <a:r>
              <a:rPr lang="en-US" dirty="0">
                <a:latin typeface="Times New Roman" panose="02020603050405020304" pitchFamily="18" charset="0"/>
                <a:cs typeface="Times New Roman" panose="02020603050405020304" pitchFamily="18" charset="0"/>
              </a:rPr>
              <a:t>Automatic discovery, and correction of faults.</a:t>
            </a:r>
          </a:p>
          <a:p>
            <a:pPr lvl="1"/>
            <a:r>
              <a:rPr lang="en-US" sz="2000" dirty="0"/>
              <a:t>Self-Optimization</a:t>
            </a:r>
          </a:p>
          <a:p>
            <a:pPr lvl="2"/>
            <a:r>
              <a:rPr lang="en-US" dirty="0">
                <a:latin typeface="Times New Roman" panose="02020603050405020304" pitchFamily="18" charset="0"/>
                <a:cs typeface="Times New Roman" panose="02020603050405020304" pitchFamily="18" charset="0"/>
              </a:rPr>
              <a:t>Automatic monitoring and control of resources to ensure the optimal functioning with respect to the defined requirements.</a:t>
            </a:r>
          </a:p>
          <a:p>
            <a:pPr lvl="1"/>
            <a:r>
              <a:rPr lang="en-US" sz="2000" dirty="0"/>
              <a:t>Self-Protection</a:t>
            </a:r>
          </a:p>
          <a:p>
            <a:pPr lvl="2"/>
            <a:r>
              <a:rPr lang="en-US" dirty="0">
                <a:latin typeface="Times New Roman" panose="02020603050405020304" pitchFamily="18" charset="0"/>
                <a:cs typeface="Times New Roman" panose="02020603050405020304" pitchFamily="18" charset="0"/>
              </a:rPr>
              <a:t>Proactive identification and protection from arbitrary attacks.</a:t>
            </a:r>
          </a:p>
        </p:txBody>
      </p:sp>
      <p:sp>
        <p:nvSpPr>
          <p:cNvPr id="4" name="灯片编号占位符 3">
            <a:extLst>
              <a:ext uri="{FF2B5EF4-FFF2-40B4-BE49-F238E27FC236}">
                <a16:creationId xmlns:a16="http://schemas.microsoft.com/office/drawing/2014/main" id="{C8E3B6C0-A7A0-C403-F167-41F687B0BBD5}"/>
              </a:ext>
            </a:extLst>
          </p:cNvPr>
          <p:cNvSpPr>
            <a:spLocks noGrp="1"/>
          </p:cNvSpPr>
          <p:nvPr>
            <p:ph type="sldNum" sz="quarter" idx="10"/>
          </p:nvPr>
        </p:nvSpPr>
        <p:spPr/>
        <p:txBody>
          <a:bodyPr/>
          <a:lstStyle/>
          <a:p>
            <a:fld id="{D9B6BDF2-6896-4B98-8776-C18582F63BA5}" type="slidenum">
              <a:rPr lang="zh-TW" altLang="en-US" smtClean="0"/>
              <a:pPr/>
              <a:t>45</a:t>
            </a:fld>
            <a:endParaRPr lang="zh-TW" altLang="en-US"/>
          </a:p>
        </p:txBody>
      </p:sp>
      <p:sp>
        <p:nvSpPr>
          <p:cNvPr id="7" name="Title 1">
            <a:extLst>
              <a:ext uri="{FF2B5EF4-FFF2-40B4-BE49-F238E27FC236}">
                <a16:creationId xmlns:a16="http://schemas.microsoft.com/office/drawing/2014/main" id="{414FB2DC-5793-D251-A987-575841BD188F}"/>
              </a:ext>
            </a:extLst>
          </p:cNvPr>
          <p:cNvSpPr>
            <a:spLocks noGrp="1"/>
          </p:cNvSpPr>
          <p:nvPr>
            <p:ph type="title"/>
          </p:nvPr>
        </p:nvSpPr>
        <p:spPr>
          <a:xfrm>
            <a:off x="952901" y="108349"/>
            <a:ext cx="7722789" cy="519113"/>
          </a:xfrm>
        </p:spPr>
        <p:txBody>
          <a:bodyPr>
            <a:noAutofit/>
          </a:bodyPr>
          <a:lstStyle/>
          <a:p>
            <a:r>
              <a:rPr lang="en-US" dirty="0"/>
              <a:t>Control Automation (2)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0" y="132949"/>
            <a:ext cx="5372100" cy="468511"/>
          </a:xfrm>
        </p:spPr>
        <p:txBody>
          <a:bodyPr>
            <a:normAutofit fontScale="90000"/>
          </a:bodyPr>
          <a:lstStyle/>
          <a:p>
            <a:r>
              <a:rPr lang="en-US" dirty="0"/>
              <a:t>System Monitoring</a:t>
            </a:r>
          </a:p>
        </p:txBody>
      </p:sp>
      <p:sp>
        <p:nvSpPr>
          <p:cNvPr id="3" name="Content Placeholder 2"/>
          <p:cNvSpPr>
            <a:spLocks noGrp="1"/>
          </p:cNvSpPr>
          <p:nvPr>
            <p:ph idx="1"/>
          </p:nvPr>
        </p:nvSpPr>
        <p:spPr>
          <a:xfrm>
            <a:off x="1005839" y="844015"/>
            <a:ext cx="7310387" cy="3564356"/>
          </a:xfrm>
        </p:spPr>
        <p:txBody>
          <a:bodyPr>
            <a:noAutofit/>
          </a:bodyPr>
          <a:lstStyle/>
          <a:p>
            <a:pPr>
              <a:spcBef>
                <a:spcPts val="0"/>
              </a:spcBef>
            </a:pPr>
            <a:r>
              <a:rPr lang="en-US" sz="2000" dirty="0"/>
              <a:t>What is system monitor ?</a:t>
            </a:r>
          </a:p>
          <a:p>
            <a:pPr lvl="1">
              <a:spcBef>
                <a:spcPts val="0"/>
              </a:spcBef>
            </a:pPr>
            <a:r>
              <a:rPr lang="en-US" sz="2000" dirty="0"/>
              <a:t>A System Monitor in systems engineering is a process within a distributed system for collecting and storing state data.</a:t>
            </a:r>
          </a:p>
          <a:p>
            <a:pPr>
              <a:spcBef>
                <a:spcPts val="0"/>
              </a:spcBef>
            </a:pPr>
            <a:r>
              <a:rPr lang="en-US" sz="2000" dirty="0"/>
              <a:t>What should be monitored in the Cloud ?</a:t>
            </a:r>
          </a:p>
          <a:p>
            <a:pPr lvl="1">
              <a:spcBef>
                <a:spcPts val="0"/>
              </a:spcBef>
            </a:pPr>
            <a:r>
              <a:rPr lang="en-US" sz="2000" dirty="0"/>
              <a:t>Physical and virtual hardware state</a:t>
            </a:r>
          </a:p>
          <a:p>
            <a:pPr lvl="1">
              <a:spcBef>
                <a:spcPts val="0"/>
              </a:spcBef>
            </a:pPr>
            <a:r>
              <a:rPr lang="en-US" sz="2000" dirty="0"/>
              <a:t>Resource performance metrics</a:t>
            </a:r>
          </a:p>
          <a:p>
            <a:pPr lvl="1">
              <a:spcBef>
                <a:spcPts val="0"/>
              </a:spcBef>
            </a:pPr>
            <a:r>
              <a:rPr lang="en-US" sz="2000" dirty="0"/>
              <a:t>Network access patterns</a:t>
            </a:r>
          </a:p>
          <a:p>
            <a:pPr lvl="1">
              <a:spcBef>
                <a:spcPts val="0"/>
              </a:spcBef>
            </a:pPr>
            <a:r>
              <a:rPr lang="en-US" sz="2000" dirty="0"/>
              <a:t>System logs</a:t>
            </a:r>
          </a:p>
          <a:p>
            <a:pPr lvl="1">
              <a:spcBef>
                <a:spcPts val="0"/>
              </a:spcBef>
            </a:pPr>
            <a:r>
              <a:rPr lang="en-US" sz="2000" dirty="0"/>
              <a:t>… </a:t>
            </a:r>
            <a:r>
              <a:rPr lang="en-US" sz="2000" dirty="0" err="1"/>
              <a:t>etc</a:t>
            </a:r>
            <a:endParaRPr lang="en-US" sz="2000" dirty="0"/>
          </a:p>
          <a:p>
            <a:pPr>
              <a:spcBef>
                <a:spcPts val="0"/>
              </a:spcBef>
            </a:pPr>
            <a:r>
              <a:rPr lang="en-US" sz="2000" dirty="0"/>
              <a:t>Anything more ?</a:t>
            </a:r>
          </a:p>
          <a:p>
            <a:pPr lvl="1">
              <a:spcBef>
                <a:spcPts val="0"/>
              </a:spcBef>
            </a:pPr>
            <a:r>
              <a:rPr lang="en-US" sz="2000" dirty="0"/>
              <a:t>Billing system</a:t>
            </a:r>
          </a:p>
        </p:txBody>
      </p:sp>
      <p:pic>
        <p:nvPicPr>
          <p:cNvPr id="98306" name="Picture 2" descr="http://farm1.static.flickr.com/1/3035796_37df2c6d12.jpg"/>
          <p:cNvPicPr>
            <a:picLocks noChangeAspect="1" noChangeArrowheads="1"/>
          </p:cNvPicPr>
          <p:nvPr/>
        </p:nvPicPr>
        <p:blipFill>
          <a:blip r:embed="rId2" cstate="print"/>
          <a:srcRect/>
          <a:stretch>
            <a:fillRect/>
          </a:stretch>
        </p:blipFill>
        <p:spPr bwMode="auto">
          <a:xfrm>
            <a:off x="6039251" y="2242085"/>
            <a:ext cx="2743200" cy="2057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D7946FF0-EF4A-6860-FC00-B3E87D408833}"/>
              </a:ext>
            </a:extLst>
          </p:cNvPr>
          <p:cNvSpPr>
            <a:spLocks noGrp="1"/>
          </p:cNvSpPr>
          <p:nvPr>
            <p:ph type="sldNum" sz="quarter" idx="10"/>
          </p:nvPr>
        </p:nvSpPr>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25" y="144382"/>
            <a:ext cx="5319161" cy="442760"/>
          </a:xfrm>
        </p:spPr>
        <p:txBody>
          <a:bodyPr>
            <a:noAutofit/>
          </a:bodyPr>
          <a:lstStyle/>
          <a:p>
            <a:r>
              <a:rPr lang="en-US" dirty="0"/>
              <a:t>Billing System</a:t>
            </a:r>
          </a:p>
        </p:txBody>
      </p:sp>
      <p:sp>
        <p:nvSpPr>
          <p:cNvPr id="3" name="Content Placeholder 2"/>
          <p:cNvSpPr>
            <a:spLocks noGrp="1"/>
          </p:cNvSpPr>
          <p:nvPr>
            <p:ph idx="1"/>
          </p:nvPr>
        </p:nvSpPr>
        <p:spPr>
          <a:xfrm>
            <a:off x="1049154" y="838901"/>
            <a:ext cx="7729086" cy="3673640"/>
          </a:xfrm>
        </p:spPr>
        <p:txBody>
          <a:bodyPr>
            <a:noAutofit/>
          </a:bodyPr>
          <a:lstStyle/>
          <a:p>
            <a:pPr>
              <a:spcBef>
                <a:spcPts val="0"/>
              </a:spcBef>
            </a:pPr>
            <a:r>
              <a:rPr lang="en-US" sz="2000" dirty="0"/>
              <a:t>Billing System in Cloud</a:t>
            </a:r>
          </a:p>
          <a:p>
            <a:pPr lvl="1">
              <a:spcBef>
                <a:spcPts val="0"/>
              </a:spcBef>
            </a:pPr>
            <a:r>
              <a:rPr lang="en-US" sz="2000" dirty="0"/>
              <a:t>Users pay as many as they used.</a:t>
            </a:r>
          </a:p>
          <a:p>
            <a:pPr lvl="1">
              <a:spcBef>
                <a:spcPts val="0"/>
              </a:spcBef>
            </a:pPr>
            <a:r>
              <a:rPr lang="en-US" sz="2000" dirty="0"/>
              <a:t>Cloud provider must first determine the list of service usage price.</a:t>
            </a:r>
          </a:p>
          <a:p>
            <a:pPr lvl="1">
              <a:spcBef>
                <a:spcPts val="0"/>
              </a:spcBef>
            </a:pPr>
            <a:r>
              <a:rPr lang="en-US" sz="2000" dirty="0"/>
              <a:t>Cloud provider have to record the resource or service usage of each user, and then charge users by these records.</a:t>
            </a:r>
          </a:p>
          <a:p>
            <a:pPr>
              <a:spcBef>
                <a:spcPts val="0"/>
              </a:spcBef>
            </a:pPr>
            <a:r>
              <a:rPr lang="en-US" sz="2000" dirty="0"/>
              <a:t>How can cloud provider know users’ usage ?</a:t>
            </a:r>
          </a:p>
          <a:p>
            <a:pPr lvl="1">
              <a:spcBef>
                <a:spcPts val="0"/>
              </a:spcBef>
            </a:pPr>
            <a:r>
              <a:rPr lang="en-US" sz="2000" dirty="0"/>
              <a:t>Get those information by means of monitoring system.</a:t>
            </a:r>
          </a:p>
          <a:p>
            <a:pPr lvl="1">
              <a:spcBef>
                <a:spcPts val="0"/>
              </a:spcBef>
            </a:pPr>
            <a:r>
              <a:rPr lang="en-US" sz="2000" dirty="0"/>
              <a:t>Automatically calculate the total</a:t>
            </a:r>
            <a:br>
              <a:rPr lang="en-US" sz="2000" dirty="0"/>
            </a:br>
            <a:r>
              <a:rPr lang="en-US" sz="2000" dirty="0"/>
              <a:t>amount of money which user</a:t>
            </a:r>
            <a:br>
              <a:rPr lang="en-US" sz="2000" dirty="0"/>
            </a:br>
            <a:r>
              <a:rPr lang="en-US" sz="2000" dirty="0"/>
              <a:t>should pay. And automatically</a:t>
            </a:r>
            <a:br>
              <a:rPr lang="en-US" sz="2000" dirty="0"/>
            </a:br>
            <a:r>
              <a:rPr lang="en-US" sz="2000" dirty="0"/>
              <a:t>request money from use’s banking</a:t>
            </a:r>
            <a:br>
              <a:rPr lang="en-US" sz="2000" dirty="0"/>
            </a:br>
            <a:r>
              <a:rPr lang="en-US" sz="2000" dirty="0"/>
              <a:t>account.</a:t>
            </a:r>
          </a:p>
        </p:txBody>
      </p:sp>
      <p:pic>
        <p:nvPicPr>
          <p:cNvPr id="101378" name="Picture 2" descr="http://www.pmtechweb.com/images/billing.png"/>
          <p:cNvPicPr>
            <a:picLocks noChangeAspect="1" noChangeArrowheads="1"/>
          </p:cNvPicPr>
          <p:nvPr/>
        </p:nvPicPr>
        <p:blipFill>
          <a:blip r:embed="rId2" cstate="print"/>
          <a:srcRect b="11765"/>
          <a:stretch>
            <a:fillRect/>
          </a:stretch>
        </p:blipFill>
        <p:spPr bwMode="auto">
          <a:xfrm>
            <a:off x="6916369" y="3128210"/>
            <a:ext cx="2048244" cy="13554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7CEC3967-987B-00A9-D457-B6C6534DDE3A}"/>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777" y="108349"/>
            <a:ext cx="7693913" cy="519113"/>
          </a:xfrm>
        </p:spPr>
        <p:txBody>
          <a:bodyPr/>
          <a:lstStyle/>
          <a:p>
            <a:r>
              <a:rPr lang="en-US" dirty="0"/>
              <a:t>Performance &amp; Optimization</a:t>
            </a:r>
          </a:p>
        </p:txBody>
      </p:sp>
      <p:sp>
        <p:nvSpPr>
          <p:cNvPr id="5" name="Rectangle 4"/>
          <p:cNvSpPr/>
          <p:nvPr/>
        </p:nvSpPr>
        <p:spPr>
          <a:xfrm>
            <a:off x="1143000" y="2057400"/>
            <a:ext cx="6858000" cy="28575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170" name="Picture 2" descr="http://capernaumfoundation.org/images/Upward_Arrow.jpg"/>
          <p:cNvPicPr>
            <a:picLocks noChangeAspect="1" noChangeArrowheads="1"/>
          </p:cNvPicPr>
          <p:nvPr/>
        </p:nvPicPr>
        <p:blipFill>
          <a:blip r:embed="rId2" cstate="print"/>
          <a:srcRect/>
          <a:stretch>
            <a:fillRect/>
          </a:stretch>
        </p:blipFill>
        <p:spPr bwMode="auto">
          <a:xfrm>
            <a:off x="1714500" y="1271587"/>
            <a:ext cx="3790950" cy="284321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520126" y="3313406"/>
            <a:ext cx="4610878" cy="1315745"/>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High Performance</a:t>
            </a:r>
            <a:b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Improvement</a:t>
            </a:r>
          </a:p>
        </p:txBody>
      </p:sp>
      <p:sp>
        <p:nvSpPr>
          <p:cNvPr id="3" name="灯片编号占位符 2">
            <a:extLst>
              <a:ext uri="{FF2B5EF4-FFF2-40B4-BE49-F238E27FC236}">
                <a16:creationId xmlns:a16="http://schemas.microsoft.com/office/drawing/2014/main" id="{F95897FE-F3E9-2CDB-C468-D5B7218B3517}"/>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26" y="79474"/>
            <a:ext cx="7713164" cy="519113"/>
          </a:xfrm>
        </p:spPr>
        <p:txBody>
          <a:bodyPr/>
          <a:lstStyle/>
          <a:p>
            <a:r>
              <a:rPr lang="en-US" dirty="0"/>
              <a:t>Performance &amp; Optimization</a:t>
            </a:r>
          </a:p>
        </p:txBody>
      </p:sp>
      <p:sp>
        <p:nvSpPr>
          <p:cNvPr id="3" name="Content Placeholder 2"/>
          <p:cNvSpPr>
            <a:spLocks noGrp="1"/>
          </p:cNvSpPr>
          <p:nvPr>
            <p:ph idx="1"/>
          </p:nvPr>
        </p:nvSpPr>
        <p:spPr>
          <a:xfrm>
            <a:off x="1050638" y="805652"/>
            <a:ext cx="7265589" cy="3737472"/>
          </a:xfrm>
        </p:spPr>
        <p:txBody>
          <a:bodyPr/>
          <a:lstStyle/>
          <a:p>
            <a:pPr>
              <a:spcBef>
                <a:spcPts val="0"/>
              </a:spcBef>
            </a:pPr>
            <a:r>
              <a:rPr lang="en-US" sz="2000" dirty="0"/>
              <a:t>Performance guarantees ??</a:t>
            </a:r>
          </a:p>
          <a:p>
            <a:pPr lvl="1">
              <a:spcBef>
                <a:spcPts val="0"/>
              </a:spcBef>
            </a:pPr>
            <a:r>
              <a:rPr lang="en-US" sz="2000" dirty="0"/>
              <a:t>As the great computing power in cloud, application performance should be guaranteed.</a:t>
            </a:r>
          </a:p>
          <a:p>
            <a:pPr lvl="1">
              <a:spcBef>
                <a:spcPts val="0"/>
              </a:spcBef>
            </a:pPr>
            <a:r>
              <a:rPr lang="en-US" sz="2000" dirty="0"/>
              <a:t>Cloud providers make use of powerful infrastructure or other underlining resources to build up a highly performed and highly optimized environment, and then deliver the complete services to cloud users.</a:t>
            </a:r>
            <a:br>
              <a:rPr lang="en-US" sz="2000" dirty="0"/>
            </a:br>
            <a:endParaRPr lang="en-US" sz="2000" dirty="0"/>
          </a:p>
          <a:p>
            <a:pPr>
              <a:spcBef>
                <a:spcPts val="0"/>
              </a:spcBef>
            </a:pPr>
            <a:r>
              <a:rPr lang="en-US" sz="2000" dirty="0"/>
              <a:t>But how to achieve this property ?</a:t>
            </a:r>
          </a:p>
          <a:p>
            <a:pPr lvl="1">
              <a:spcBef>
                <a:spcPts val="0"/>
              </a:spcBef>
            </a:pPr>
            <a:r>
              <a:rPr lang="en-US" sz="2000" dirty="0"/>
              <a:t>Parallel computing</a:t>
            </a:r>
          </a:p>
          <a:p>
            <a:pPr lvl="1">
              <a:spcBef>
                <a:spcPts val="0"/>
              </a:spcBef>
            </a:pPr>
            <a:r>
              <a:rPr lang="en-US" sz="2000" dirty="0"/>
              <a:t>Load balancing</a:t>
            </a:r>
          </a:p>
          <a:p>
            <a:pPr lvl="1">
              <a:spcBef>
                <a:spcPts val="0"/>
              </a:spcBef>
            </a:pPr>
            <a:r>
              <a:rPr lang="en-US" sz="2000" dirty="0"/>
              <a:t>Job scheduling</a:t>
            </a:r>
          </a:p>
        </p:txBody>
      </p:sp>
      <p:sp>
        <p:nvSpPr>
          <p:cNvPr id="4" name="灯片编号占位符 3">
            <a:extLst>
              <a:ext uri="{FF2B5EF4-FFF2-40B4-BE49-F238E27FC236}">
                <a16:creationId xmlns:a16="http://schemas.microsoft.com/office/drawing/2014/main" id="{5B1AE357-CDC0-2604-6953-6934D4C0847B}"/>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89099"/>
            <a:ext cx="7722789" cy="519113"/>
          </a:xfrm>
        </p:spPr>
        <p:txBody>
          <a:bodyPr/>
          <a:lstStyle/>
          <a:p>
            <a:r>
              <a:rPr lang="en-US" dirty="0"/>
              <a:t>Parallel Processing (1)</a:t>
            </a:r>
          </a:p>
        </p:txBody>
      </p:sp>
      <p:sp>
        <p:nvSpPr>
          <p:cNvPr id="3" name="Content Placeholder 2"/>
          <p:cNvSpPr>
            <a:spLocks noGrp="1"/>
          </p:cNvSpPr>
          <p:nvPr>
            <p:ph idx="1"/>
          </p:nvPr>
        </p:nvSpPr>
        <p:spPr>
          <a:xfrm>
            <a:off x="1033512" y="847323"/>
            <a:ext cx="6907330" cy="3448853"/>
          </a:xfrm>
        </p:spPr>
        <p:txBody>
          <a:bodyPr>
            <a:noAutofit/>
          </a:bodyPr>
          <a:lstStyle/>
          <a:p>
            <a:pPr>
              <a:spcBef>
                <a:spcPts val="0"/>
              </a:spcBef>
            </a:pPr>
            <a:r>
              <a:rPr lang="en-US" sz="2000" dirty="0"/>
              <a:t>Parallel Processing</a:t>
            </a:r>
          </a:p>
          <a:p>
            <a:pPr lvl="1">
              <a:spcBef>
                <a:spcPts val="0"/>
              </a:spcBef>
            </a:pPr>
            <a:r>
              <a:rPr lang="en-US" sz="2000" dirty="0"/>
              <a:t>Parallel processing is a form of computation in which many calculations are carried out simultaneously, operating on the principle that large problems can often be divided into smaller ones, which are then solved concurrently.</a:t>
            </a:r>
            <a:br>
              <a:rPr lang="en-US" sz="2000" dirty="0"/>
            </a:br>
            <a:endParaRPr lang="en-US" sz="2000" dirty="0"/>
          </a:p>
          <a:p>
            <a:pPr>
              <a:spcBef>
                <a:spcPts val="0"/>
              </a:spcBef>
            </a:pPr>
            <a:r>
              <a:rPr lang="en-US" sz="2000" dirty="0"/>
              <a:t>Parallelism in different levels :</a:t>
            </a:r>
          </a:p>
          <a:p>
            <a:pPr lvl="1">
              <a:spcBef>
                <a:spcPts val="0"/>
              </a:spcBef>
            </a:pPr>
            <a:r>
              <a:rPr lang="en-US" sz="2000" dirty="0"/>
              <a:t>Bit level parallelism</a:t>
            </a:r>
          </a:p>
          <a:p>
            <a:pPr lvl="1">
              <a:spcBef>
                <a:spcPts val="0"/>
              </a:spcBef>
            </a:pPr>
            <a:r>
              <a:rPr lang="en-US" sz="2000" dirty="0"/>
              <a:t>Instruction level parallelism</a:t>
            </a:r>
          </a:p>
          <a:p>
            <a:pPr lvl="1">
              <a:spcBef>
                <a:spcPts val="0"/>
              </a:spcBef>
            </a:pPr>
            <a:r>
              <a:rPr lang="en-US" sz="2000" dirty="0"/>
              <a:t>Data level parallelism</a:t>
            </a:r>
          </a:p>
          <a:p>
            <a:pPr lvl="1">
              <a:spcBef>
                <a:spcPts val="0"/>
              </a:spcBef>
            </a:pPr>
            <a:r>
              <a:rPr lang="en-US" sz="2000" dirty="0"/>
              <a:t>Task level parallelism</a:t>
            </a:r>
          </a:p>
        </p:txBody>
      </p:sp>
      <p:sp>
        <p:nvSpPr>
          <p:cNvPr id="4" name="灯片编号占位符 3">
            <a:extLst>
              <a:ext uri="{FF2B5EF4-FFF2-40B4-BE49-F238E27FC236}">
                <a16:creationId xmlns:a16="http://schemas.microsoft.com/office/drawing/2014/main" id="{0DA9FECB-84A2-36A3-0662-ACEDA75F669D}"/>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9099"/>
            <a:ext cx="7761290" cy="519113"/>
          </a:xfrm>
        </p:spPr>
        <p:txBody>
          <a:bodyPr/>
          <a:lstStyle/>
          <a:p>
            <a:r>
              <a:rPr lang="en-US" dirty="0"/>
              <a:t>Parallel Processing (2)</a:t>
            </a:r>
          </a:p>
        </p:txBody>
      </p:sp>
      <p:sp>
        <p:nvSpPr>
          <p:cNvPr id="3" name="Content Placeholder 2"/>
          <p:cNvSpPr>
            <a:spLocks noGrp="1"/>
          </p:cNvSpPr>
          <p:nvPr>
            <p:ph idx="1"/>
          </p:nvPr>
        </p:nvSpPr>
        <p:spPr>
          <a:xfrm>
            <a:off x="1005840" y="895393"/>
            <a:ext cx="8229600" cy="3671888"/>
          </a:xfrm>
        </p:spPr>
        <p:txBody>
          <a:bodyPr/>
          <a:lstStyle/>
          <a:p>
            <a:pPr>
              <a:spcBef>
                <a:spcPts val="0"/>
              </a:spcBef>
            </a:pPr>
            <a:r>
              <a:rPr lang="en-US" sz="2000" dirty="0"/>
              <a:t>Hardware approaches</a:t>
            </a:r>
          </a:p>
          <a:p>
            <a:pPr lvl="1">
              <a:spcBef>
                <a:spcPts val="0"/>
              </a:spcBef>
            </a:pPr>
            <a:r>
              <a:rPr lang="en-US" sz="2000" dirty="0"/>
              <a:t>Multi-core computer</a:t>
            </a:r>
          </a:p>
          <a:p>
            <a:pPr lvl="1">
              <a:spcBef>
                <a:spcPts val="0"/>
              </a:spcBef>
            </a:pPr>
            <a:r>
              <a:rPr lang="en-US" sz="2000" dirty="0"/>
              <a:t>Symmetric multi-processor</a:t>
            </a:r>
          </a:p>
          <a:p>
            <a:pPr lvl="1">
              <a:spcBef>
                <a:spcPts val="0"/>
              </a:spcBef>
            </a:pPr>
            <a:r>
              <a:rPr lang="en-US" sz="2000" dirty="0"/>
              <a:t>General purpose graphic processing unit</a:t>
            </a:r>
          </a:p>
          <a:p>
            <a:pPr lvl="1">
              <a:spcBef>
                <a:spcPts val="0"/>
              </a:spcBef>
            </a:pPr>
            <a:r>
              <a:rPr lang="en-US" sz="2000" dirty="0"/>
              <a:t>Vector processor</a:t>
            </a:r>
          </a:p>
          <a:p>
            <a:pPr lvl="1">
              <a:spcBef>
                <a:spcPts val="0"/>
              </a:spcBef>
            </a:pPr>
            <a:r>
              <a:rPr lang="en-US" sz="2000" dirty="0"/>
              <a:t>Distributed computing</a:t>
            </a:r>
          </a:p>
          <a:p>
            <a:pPr lvl="2">
              <a:spcBef>
                <a:spcPts val="0"/>
              </a:spcBef>
            </a:pPr>
            <a:r>
              <a:rPr lang="en-US" dirty="0"/>
              <a:t>Cluster computing</a:t>
            </a:r>
          </a:p>
          <a:p>
            <a:pPr lvl="2">
              <a:spcBef>
                <a:spcPts val="0"/>
              </a:spcBef>
            </a:pPr>
            <a:r>
              <a:rPr lang="en-US" dirty="0"/>
              <a:t>Grid computing</a:t>
            </a:r>
          </a:p>
          <a:p>
            <a:pPr>
              <a:spcBef>
                <a:spcPts val="0"/>
              </a:spcBef>
            </a:pPr>
            <a:r>
              <a:rPr lang="en-US" sz="2000" dirty="0"/>
              <a:t>Software approaches</a:t>
            </a:r>
          </a:p>
          <a:p>
            <a:pPr lvl="1">
              <a:spcBef>
                <a:spcPts val="0"/>
              </a:spcBef>
            </a:pPr>
            <a:r>
              <a:rPr lang="en-US" sz="2000" dirty="0"/>
              <a:t>Parallel programming language</a:t>
            </a:r>
          </a:p>
          <a:p>
            <a:pPr lvl="1">
              <a:spcBef>
                <a:spcPts val="0"/>
              </a:spcBef>
            </a:pPr>
            <a:r>
              <a:rPr lang="en-US" sz="2000" dirty="0"/>
              <a:t>Automatic parallelization</a:t>
            </a:r>
          </a:p>
        </p:txBody>
      </p:sp>
      <p:pic>
        <p:nvPicPr>
          <p:cNvPr id="104450" name="Picture 2" descr="http://www.engadget.com/media/2007/08/8-11-07-warhawk-servers.jpg"/>
          <p:cNvPicPr>
            <a:picLocks noChangeAspect="1" noChangeArrowheads="1"/>
          </p:cNvPicPr>
          <p:nvPr/>
        </p:nvPicPr>
        <p:blipFill>
          <a:blip r:embed="rId2" cstate="print"/>
          <a:srcRect b="4972"/>
          <a:stretch>
            <a:fillRect/>
          </a:stretch>
        </p:blipFill>
        <p:spPr bwMode="auto">
          <a:xfrm>
            <a:off x="6481412" y="1975585"/>
            <a:ext cx="2407444" cy="24574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06741B70-305D-0A59-1022-273ED1E51E22}"/>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Load Balancing</a:t>
            </a:r>
          </a:p>
        </p:txBody>
      </p:sp>
      <p:sp>
        <p:nvSpPr>
          <p:cNvPr id="3" name="Content Placeholder 2"/>
          <p:cNvSpPr>
            <a:spLocks noGrp="1"/>
          </p:cNvSpPr>
          <p:nvPr>
            <p:ph idx="1"/>
          </p:nvPr>
        </p:nvSpPr>
        <p:spPr>
          <a:xfrm>
            <a:off x="914400" y="780289"/>
            <a:ext cx="8229600" cy="2938451"/>
          </a:xfrm>
        </p:spPr>
        <p:txBody>
          <a:bodyPr/>
          <a:lstStyle/>
          <a:p>
            <a:pPr>
              <a:spcBef>
                <a:spcPts val="0"/>
              </a:spcBef>
            </a:pPr>
            <a:r>
              <a:rPr lang="en-US" sz="2000" dirty="0"/>
              <a:t>What is load balancing ?</a:t>
            </a:r>
          </a:p>
          <a:p>
            <a:pPr lvl="1">
              <a:spcBef>
                <a:spcPts val="0"/>
              </a:spcBef>
            </a:pPr>
            <a:r>
              <a:rPr lang="en-US" sz="2000" dirty="0"/>
              <a:t>Load balancing is a technique to distribute workload evenly across two or more computers, network links, CPUs, hard drives, or other resources, in order to get optimal resource utilization, maximize throughput, minimize response time, and avoid overload.</a:t>
            </a:r>
          </a:p>
          <a:p>
            <a:pPr>
              <a:spcBef>
                <a:spcPts val="0"/>
              </a:spcBef>
            </a:pPr>
            <a:r>
              <a:rPr lang="en-US" sz="2000" dirty="0"/>
              <a:t>Why should be load balanced ?</a:t>
            </a:r>
          </a:p>
          <a:p>
            <a:pPr lvl="1">
              <a:spcBef>
                <a:spcPts val="0"/>
              </a:spcBef>
            </a:pPr>
            <a:r>
              <a:rPr lang="en-US" sz="2000" dirty="0"/>
              <a:t>Improve resource utilization</a:t>
            </a:r>
          </a:p>
          <a:p>
            <a:pPr lvl="1">
              <a:spcBef>
                <a:spcPts val="0"/>
              </a:spcBef>
            </a:pPr>
            <a:r>
              <a:rPr lang="en-US" sz="2000" dirty="0"/>
              <a:t>Improve system performance</a:t>
            </a:r>
          </a:p>
          <a:p>
            <a:pPr lvl="1">
              <a:spcBef>
                <a:spcPts val="0"/>
              </a:spcBef>
            </a:pPr>
            <a:r>
              <a:rPr lang="en-US" sz="2000" dirty="0"/>
              <a:t>Improve energy efficiency</a:t>
            </a:r>
          </a:p>
        </p:txBody>
      </p:sp>
      <p:grpSp>
        <p:nvGrpSpPr>
          <p:cNvPr id="9" name="组合 8">
            <a:extLst>
              <a:ext uri="{FF2B5EF4-FFF2-40B4-BE49-F238E27FC236}">
                <a16:creationId xmlns:a16="http://schemas.microsoft.com/office/drawing/2014/main" id="{0D0098D9-F907-5138-00C9-C1055E29B24F}"/>
              </a:ext>
            </a:extLst>
          </p:cNvPr>
          <p:cNvGrpSpPr/>
          <p:nvPr/>
        </p:nvGrpSpPr>
        <p:grpSpPr>
          <a:xfrm>
            <a:off x="4831487" y="2869503"/>
            <a:ext cx="4133126" cy="1493708"/>
            <a:chOff x="4075801" y="2626945"/>
            <a:chExt cx="4888812" cy="1889096"/>
          </a:xfrm>
        </p:grpSpPr>
        <p:pic>
          <p:nvPicPr>
            <p:cNvPr id="6" name="Picture 2" descr="http://www.newsbiscuit.com/wp-content/uploads/2010/04/fat-guy-on-sinking-boat.jpg"/>
            <p:cNvPicPr>
              <a:picLocks noChangeAspect="1" noChangeArrowheads="1"/>
            </p:cNvPicPr>
            <p:nvPr/>
          </p:nvPicPr>
          <p:blipFill>
            <a:blip r:embed="rId2" cstate="print"/>
            <a:srcRect/>
            <a:stretch>
              <a:fillRect/>
            </a:stretch>
          </p:blipFill>
          <p:spPr bwMode="auto">
            <a:xfrm>
              <a:off x="6390911" y="2626945"/>
              <a:ext cx="2573702" cy="18890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p:cNvSpPr/>
            <p:nvPr/>
          </p:nvSpPr>
          <p:spPr>
            <a:xfrm>
              <a:off x="4075801" y="3476325"/>
              <a:ext cx="1711032" cy="437902"/>
            </a:xfrm>
            <a:prstGeom prst="rect">
              <a:avLst/>
            </a:prstGeom>
            <a:noFill/>
          </p:spPr>
          <p:txBody>
            <a:bodyPr wrap="none" lIns="68580" tIns="34290" rIns="68580" bIns="34290">
              <a:spAutoFit/>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Unbalanced</a:t>
              </a:r>
            </a:p>
          </p:txBody>
        </p:sp>
        <p:sp>
          <p:nvSpPr>
            <p:cNvPr id="8" name="Right Arrow 7"/>
            <p:cNvSpPr/>
            <p:nvPr/>
          </p:nvSpPr>
          <p:spPr>
            <a:xfrm>
              <a:off x="5828042" y="3611154"/>
              <a:ext cx="342900" cy="17145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350"/>
            </a:p>
          </p:txBody>
        </p:sp>
      </p:grpSp>
      <p:sp>
        <p:nvSpPr>
          <p:cNvPr id="4" name="灯片编号占位符 3">
            <a:extLst>
              <a:ext uri="{FF2B5EF4-FFF2-40B4-BE49-F238E27FC236}">
                <a16:creationId xmlns:a16="http://schemas.microsoft.com/office/drawing/2014/main" id="{94EAE752-9E4B-2E00-940B-B844C01854E2}"/>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26" y="108349"/>
            <a:ext cx="7713164" cy="519113"/>
          </a:xfrm>
        </p:spPr>
        <p:txBody>
          <a:bodyPr/>
          <a:lstStyle/>
          <a:p>
            <a:r>
              <a:rPr lang="en-US" dirty="0"/>
              <a:t>Job Scheduling</a:t>
            </a:r>
          </a:p>
        </p:txBody>
      </p:sp>
      <p:sp>
        <p:nvSpPr>
          <p:cNvPr id="3" name="Content Placeholder 2"/>
          <p:cNvSpPr>
            <a:spLocks noGrp="1"/>
          </p:cNvSpPr>
          <p:nvPr>
            <p:ph idx="1"/>
          </p:nvPr>
        </p:nvSpPr>
        <p:spPr>
          <a:xfrm>
            <a:off x="1007587" y="816465"/>
            <a:ext cx="7128825" cy="3476402"/>
          </a:xfrm>
        </p:spPr>
        <p:txBody>
          <a:bodyPr/>
          <a:lstStyle/>
          <a:p>
            <a:pPr>
              <a:spcBef>
                <a:spcPts val="0"/>
              </a:spcBef>
            </a:pPr>
            <a:r>
              <a:rPr lang="en-US" sz="2000" dirty="0"/>
              <a:t>What is job scheduler ?</a:t>
            </a:r>
          </a:p>
          <a:p>
            <a:pPr lvl="1">
              <a:spcBef>
                <a:spcPts val="0"/>
              </a:spcBef>
            </a:pPr>
            <a:r>
              <a:rPr lang="en-US" sz="2000" dirty="0"/>
              <a:t>A job scheduler is a software application that is in charge of unattended background executions, commonly known for historical reasons as batch processing.</a:t>
            </a:r>
          </a:p>
          <a:p>
            <a:pPr>
              <a:spcBef>
                <a:spcPts val="0"/>
              </a:spcBef>
            </a:pPr>
            <a:r>
              <a:rPr lang="en-US" sz="2000" dirty="0"/>
              <a:t>What should be scheduled in Cloud ?</a:t>
            </a:r>
          </a:p>
          <a:p>
            <a:pPr lvl="1">
              <a:spcBef>
                <a:spcPts val="0"/>
              </a:spcBef>
            </a:pPr>
            <a:r>
              <a:rPr lang="en-US" sz="2000" dirty="0"/>
              <a:t>Computation intensive tasks</a:t>
            </a:r>
          </a:p>
          <a:p>
            <a:pPr lvl="1">
              <a:spcBef>
                <a:spcPts val="0"/>
              </a:spcBef>
            </a:pPr>
            <a:r>
              <a:rPr lang="en-US" sz="2000" dirty="0"/>
              <a:t>Dynamic growing and shrinking tasks</a:t>
            </a:r>
          </a:p>
          <a:p>
            <a:pPr lvl="1">
              <a:spcBef>
                <a:spcPts val="0"/>
              </a:spcBef>
            </a:pPr>
            <a:r>
              <a:rPr lang="en-US" sz="2000" dirty="0"/>
              <a:t>Tasks with complex processing dependency</a:t>
            </a:r>
          </a:p>
          <a:p>
            <a:pPr>
              <a:spcBef>
                <a:spcPts val="0"/>
              </a:spcBef>
            </a:pPr>
            <a:r>
              <a:rPr lang="en-US" sz="2000" dirty="0"/>
              <a:t>How to approach ?</a:t>
            </a:r>
          </a:p>
          <a:p>
            <a:pPr lvl="1">
              <a:spcBef>
                <a:spcPts val="0"/>
              </a:spcBef>
            </a:pPr>
            <a:r>
              <a:rPr lang="en-US" sz="2000" dirty="0"/>
              <a:t>Use pre-defined workflow</a:t>
            </a:r>
          </a:p>
          <a:p>
            <a:pPr lvl="1">
              <a:spcBef>
                <a:spcPts val="0"/>
              </a:spcBef>
            </a:pPr>
            <a:r>
              <a:rPr lang="en-US" sz="2000" dirty="0"/>
              <a:t>System automatic configuration</a:t>
            </a:r>
          </a:p>
        </p:txBody>
      </p:sp>
      <p:sp>
        <p:nvSpPr>
          <p:cNvPr id="4" name="灯片编号占位符 3">
            <a:extLst>
              <a:ext uri="{FF2B5EF4-FFF2-40B4-BE49-F238E27FC236}">
                <a16:creationId xmlns:a16="http://schemas.microsoft.com/office/drawing/2014/main" id="{DD47B82E-1B0A-D3D3-7B06-BDA21A0D7130}"/>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779" y="108349"/>
            <a:ext cx="7616911" cy="519113"/>
          </a:xfrm>
        </p:spPr>
        <p:txBody>
          <a:bodyPr/>
          <a:lstStyle/>
          <a:p>
            <a:r>
              <a:rPr lang="en-US" dirty="0"/>
              <a:t>Accessibility &amp; Portability</a:t>
            </a:r>
          </a:p>
        </p:txBody>
      </p:sp>
      <p:sp>
        <p:nvSpPr>
          <p:cNvPr id="5" name="Rectangle 4"/>
          <p:cNvSpPr/>
          <p:nvPr/>
        </p:nvSpPr>
        <p:spPr>
          <a:xfrm>
            <a:off x="1143000" y="2057400"/>
            <a:ext cx="6858000" cy="28575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2" descr="C:\Users\Andy\AppData\Local\Microsoft\Windows\Temporary Internet Files\Content.IE5\OHTRCXWF\MPj04422470000[1].jpg"/>
          <p:cNvPicPr>
            <a:picLocks noChangeAspect="1" noChangeArrowheads="1"/>
          </p:cNvPicPr>
          <p:nvPr/>
        </p:nvPicPr>
        <p:blipFill>
          <a:blip r:embed="rId2" cstate="print"/>
          <a:srcRect/>
          <a:stretch>
            <a:fillRect/>
          </a:stretch>
        </p:blipFill>
        <p:spPr bwMode="auto">
          <a:xfrm>
            <a:off x="2254638" y="1139572"/>
            <a:ext cx="2031612" cy="304741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5063657" y="2505940"/>
            <a:ext cx="2937343" cy="1938992"/>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Anyone !</a:t>
            </a:r>
          </a:p>
          <a:p>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Anytime !</a:t>
            </a:r>
          </a:p>
          <a:p>
            <a:r>
              <a:rPr lang="en-US" sz="405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Anywhere !</a:t>
            </a:r>
          </a:p>
        </p:txBody>
      </p:sp>
      <p:sp>
        <p:nvSpPr>
          <p:cNvPr id="3" name="灯片编号占位符 2">
            <a:extLst>
              <a:ext uri="{FF2B5EF4-FFF2-40B4-BE49-F238E27FC236}">
                <a16:creationId xmlns:a16="http://schemas.microsoft.com/office/drawing/2014/main" id="{3D6E712F-63F7-4A2E-6BD0-20246F773DA8}"/>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3697" y="863266"/>
            <a:ext cx="7207659" cy="3657600"/>
          </a:xfrm>
        </p:spPr>
        <p:txBody>
          <a:bodyPr/>
          <a:lstStyle/>
          <a:p>
            <a:pPr>
              <a:spcBef>
                <a:spcPts val="0"/>
              </a:spcBef>
            </a:pPr>
            <a:r>
              <a:rPr lang="en-US" sz="2000" dirty="0"/>
              <a:t>What is accessibility ?</a:t>
            </a:r>
          </a:p>
          <a:p>
            <a:pPr lvl="1">
              <a:spcBef>
                <a:spcPts val="0"/>
              </a:spcBef>
            </a:pPr>
            <a:r>
              <a:rPr lang="en-US" sz="2000" dirty="0"/>
              <a:t>Accessibility is a general term used to describe the degree to which a product, device, service, or environment is accessible by as many people as possible.</a:t>
            </a:r>
          </a:p>
          <a:p>
            <a:pPr>
              <a:spcBef>
                <a:spcPts val="300"/>
              </a:spcBef>
            </a:pPr>
            <a:r>
              <a:rPr lang="en-US" sz="2000" dirty="0"/>
              <a:t>What is service portability ?</a:t>
            </a:r>
          </a:p>
          <a:p>
            <a:pPr lvl="1">
              <a:spcBef>
                <a:spcPts val="0"/>
              </a:spcBef>
            </a:pPr>
            <a:r>
              <a:rPr lang="en-US" sz="2000" dirty="0"/>
              <a:t>Service portability is the ability to access services using any devices, anywhere, continuously with mobility support and dynamic adaptation to resource variations.</a:t>
            </a:r>
          </a:p>
          <a:p>
            <a:pPr>
              <a:spcBef>
                <a:spcPts val="300"/>
              </a:spcBef>
            </a:pPr>
            <a:r>
              <a:rPr lang="en-US" sz="2000" dirty="0"/>
              <a:t>But how to achieve these properties ?</a:t>
            </a:r>
          </a:p>
          <a:p>
            <a:pPr lvl="1">
              <a:spcBef>
                <a:spcPts val="0"/>
              </a:spcBef>
            </a:pPr>
            <a:r>
              <a:rPr lang="en-US" sz="2000" dirty="0"/>
              <a:t>Uniform access</a:t>
            </a:r>
          </a:p>
          <a:p>
            <a:pPr lvl="1">
              <a:spcBef>
                <a:spcPts val="0"/>
              </a:spcBef>
            </a:pPr>
            <a:r>
              <a:rPr lang="en-US" sz="2000" dirty="0"/>
              <a:t>Thin client</a:t>
            </a:r>
          </a:p>
        </p:txBody>
      </p:sp>
      <p:sp>
        <p:nvSpPr>
          <p:cNvPr id="5" name="灯片编号占位符 4">
            <a:extLst>
              <a:ext uri="{FF2B5EF4-FFF2-40B4-BE49-F238E27FC236}">
                <a16:creationId xmlns:a16="http://schemas.microsoft.com/office/drawing/2014/main" id="{9FB4E1B8-9727-0E88-DCD7-E0FFF8E476EA}"/>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
        <p:nvSpPr>
          <p:cNvPr id="8" name="Title 1">
            <a:extLst>
              <a:ext uri="{FF2B5EF4-FFF2-40B4-BE49-F238E27FC236}">
                <a16:creationId xmlns:a16="http://schemas.microsoft.com/office/drawing/2014/main" id="{2B52C54A-C502-2034-F032-46278BD05B14}"/>
              </a:ext>
            </a:extLst>
          </p:cNvPr>
          <p:cNvSpPr>
            <a:spLocks noGrp="1"/>
          </p:cNvSpPr>
          <p:nvPr>
            <p:ph type="title"/>
          </p:nvPr>
        </p:nvSpPr>
        <p:spPr>
          <a:xfrm>
            <a:off x="962527" y="108349"/>
            <a:ext cx="7713164" cy="519113"/>
          </a:xfrm>
        </p:spPr>
        <p:txBody>
          <a:bodyPr/>
          <a:lstStyle/>
          <a:p>
            <a:r>
              <a:rPr lang="en-US" dirty="0"/>
              <a:t>Accessibility &amp; Portability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587" y="130067"/>
            <a:ext cx="5372100" cy="434579"/>
          </a:xfrm>
        </p:spPr>
        <p:txBody>
          <a:bodyPr/>
          <a:lstStyle/>
          <a:p>
            <a:r>
              <a:rPr lang="en-US" dirty="0"/>
              <a:t>Uniform Access</a:t>
            </a:r>
          </a:p>
        </p:txBody>
      </p:sp>
      <p:sp>
        <p:nvSpPr>
          <p:cNvPr id="3" name="Content Placeholder 2"/>
          <p:cNvSpPr>
            <a:spLocks noGrp="1"/>
          </p:cNvSpPr>
          <p:nvPr>
            <p:ph idx="1"/>
          </p:nvPr>
        </p:nvSpPr>
        <p:spPr>
          <a:xfrm>
            <a:off x="909586" y="844153"/>
            <a:ext cx="7695399" cy="2466938"/>
          </a:xfrm>
        </p:spPr>
        <p:txBody>
          <a:bodyPr/>
          <a:lstStyle/>
          <a:p>
            <a:r>
              <a:rPr lang="en-US" sz="2000" dirty="0"/>
              <a:t>How do users access cloud services ?</a:t>
            </a:r>
          </a:p>
          <a:p>
            <a:pPr lvl="1"/>
            <a:r>
              <a:rPr lang="en-US" sz="1800" dirty="0"/>
              <a:t>Cloud provider should provide their cloud service by means of widespread accessing media. In other word, users from different operating systems or other accessing platforms should be able to directly be served.</a:t>
            </a:r>
          </a:p>
          <a:p>
            <a:pPr lvl="1"/>
            <a:r>
              <a:rPr lang="en-US" sz="1800" dirty="0"/>
              <a:t>Nowadays, web browser technique is one of the most widespread platform in almost any intelligent electronic devices. Cloud service take this into concern, and delivery their services with web-based interface through the Internet.</a:t>
            </a:r>
          </a:p>
        </p:txBody>
      </p:sp>
      <p:pic>
        <p:nvPicPr>
          <p:cNvPr id="111618" name="Picture 2" descr="http://www.solidblogger.com/wp-content/uploads/2009/03/firefox-ie-chrome-safari.jpg"/>
          <p:cNvPicPr>
            <a:picLocks noChangeAspect="1" noChangeArrowheads="1"/>
          </p:cNvPicPr>
          <p:nvPr/>
        </p:nvPicPr>
        <p:blipFill>
          <a:blip r:embed="rId2" cstate="print"/>
          <a:srcRect b="6734"/>
          <a:stretch>
            <a:fillRect/>
          </a:stretch>
        </p:blipFill>
        <p:spPr bwMode="auto">
          <a:xfrm>
            <a:off x="2810576" y="3224463"/>
            <a:ext cx="3728887" cy="1244484"/>
          </a:xfrm>
          <a:prstGeom prst="rect">
            <a:avLst/>
          </a:prstGeom>
          <a:noFill/>
        </p:spPr>
      </p:pic>
      <p:sp>
        <p:nvSpPr>
          <p:cNvPr id="5" name="灯片编号占位符 4">
            <a:extLst>
              <a:ext uri="{FF2B5EF4-FFF2-40B4-BE49-F238E27FC236}">
                <a16:creationId xmlns:a16="http://schemas.microsoft.com/office/drawing/2014/main" id="{001B3E2C-D475-940B-FE6F-1D8F014698C3}"/>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5986" y="103474"/>
            <a:ext cx="5314950" cy="493293"/>
          </a:xfrm>
        </p:spPr>
        <p:txBody>
          <a:bodyPr/>
          <a:lstStyle/>
          <a:p>
            <a:r>
              <a:rPr lang="en-US" dirty="0"/>
              <a:t>Thin Client</a:t>
            </a:r>
          </a:p>
        </p:txBody>
      </p:sp>
      <p:sp>
        <p:nvSpPr>
          <p:cNvPr id="3" name="Content Placeholder 2"/>
          <p:cNvSpPr>
            <a:spLocks noGrp="1"/>
          </p:cNvSpPr>
          <p:nvPr>
            <p:ph idx="1"/>
          </p:nvPr>
        </p:nvSpPr>
        <p:spPr>
          <a:xfrm>
            <a:off x="1078029" y="795888"/>
            <a:ext cx="7526956" cy="3824238"/>
          </a:xfrm>
        </p:spPr>
        <p:txBody>
          <a:bodyPr>
            <a:noAutofit/>
          </a:bodyPr>
          <a:lstStyle/>
          <a:p>
            <a:pPr>
              <a:spcBef>
                <a:spcPts val="0"/>
              </a:spcBef>
            </a:pPr>
            <a:r>
              <a:rPr lang="en-US" sz="2000" dirty="0"/>
              <a:t>What is thin client ?</a:t>
            </a:r>
          </a:p>
          <a:p>
            <a:pPr lvl="1">
              <a:spcBef>
                <a:spcPts val="0"/>
              </a:spcBef>
            </a:pPr>
            <a:r>
              <a:rPr lang="en-US" sz="1800" dirty="0"/>
              <a:t>Thin client is a computer or a computer program which depends heavily on some other computer to fulfill its traditional computational roles. This stands in contrast to the traditional fat client, a computer designed to take on these roles by itself.</a:t>
            </a:r>
          </a:p>
          <a:p>
            <a:pPr>
              <a:spcBef>
                <a:spcPts val="0"/>
              </a:spcBef>
            </a:pPr>
            <a:r>
              <a:rPr lang="en-US" sz="2000" dirty="0"/>
              <a:t>Characteristics :</a:t>
            </a:r>
          </a:p>
          <a:p>
            <a:pPr lvl="1">
              <a:spcBef>
                <a:spcPts val="0"/>
              </a:spcBef>
            </a:pPr>
            <a:r>
              <a:rPr lang="en-US" sz="1800" dirty="0"/>
              <a:t>Cheap client hardware</a:t>
            </a:r>
          </a:p>
          <a:p>
            <a:pPr lvl="2">
              <a:spcBef>
                <a:spcPts val="0"/>
              </a:spcBef>
            </a:pPr>
            <a:r>
              <a:rPr lang="en-US" sz="1600" dirty="0">
                <a:latin typeface="Times New Roman" panose="02020603050405020304" pitchFamily="18" charset="0"/>
                <a:cs typeface="Times New Roman" panose="02020603050405020304" pitchFamily="18" charset="0"/>
              </a:rPr>
              <a:t>While the cloud providers handle several client sessions at once, the clients can be made out of much cheaper hardware.</a:t>
            </a:r>
          </a:p>
          <a:p>
            <a:pPr lvl="1">
              <a:spcBef>
                <a:spcPts val="0"/>
              </a:spcBef>
            </a:pPr>
            <a:r>
              <a:rPr lang="en-US" sz="1800" dirty="0"/>
              <a:t>Diversity of end devices</a:t>
            </a:r>
          </a:p>
          <a:p>
            <a:pPr lvl="2">
              <a:spcBef>
                <a:spcPts val="0"/>
              </a:spcBef>
            </a:pPr>
            <a:r>
              <a:rPr lang="en-US" sz="1600" dirty="0">
                <a:latin typeface="Times New Roman" panose="02020603050405020304" pitchFamily="18" charset="0"/>
                <a:cs typeface="Times New Roman" panose="02020603050405020304" pitchFamily="18" charset="0"/>
              </a:rPr>
              <a:t>End user can access cloud service via plenty of various electronic devices, which include mobile phones and smart TV. </a:t>
            </a:r>
          </a:p>
          <a:p>
            <a:pPr lvl="1">
              <a:spcBef>
                <a:spcPts val="0"/>
              </a:spcBef>
            </a:pPr>
            <a:r>
              <a:rPr lang="en-US" sz="1800" dirty="0"/>
              <a:t>Client simplicity</a:t>
            </a:r>
          </a:p>
          <a:p>
            <a:pPr lvl="2">
              <a:spcBef>
                <a:spcPts val="0"/>
              </a:spcBef>
            </a:pPr>
            <a:r>
              <a:rPr lang="en-US" sz="1600" dirty="0">
                <a:latin typeface="Times New Roman" panose="02020603050405020304" pitchFamily="18" charset="0"/>
                <a:cs typeface="Times New Roman" panose="02020603050405020304" pitchFamily="18" charset="0"/>
              </a:rPr>
              <a:t>Client local system do not need complete operational functionalities.</a:t>
            </a:r>
          </a:p>
        </p:txBody>
      </p:sp>
      <p:sp>
        <p:nvSpPr>
          <p:cNvPr id="5" name="灯片编号占位符 4">
            <a:extLst>
              <a:ext uri="{FF2B5EF4-FFF2-40B4-BE49-F238E27FC236}">
                <a16:creationId xmlns:a16="http://schemas.microsoft.com/office/drawing/2014/main" id="{BE51DCF3-0246-FE5A-38E0-43401172460D}"/>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Users\Andy\AppData\Local\Microsoft\Windows\Temporary Internet Files\Content.IE5\PQCBMZKS\MPj04422350000[1].jpg"/>
          <p:cNvPicPr>
            <a:picLocks noChangeAspect="1" noChangeArrowheads="1"/>
          </p:cNvPicPr>
          <p:nvPr/>
        </p:nvPicPr>
        <p:blipFill>
          <a:blip r:embed="rId2" cstate="print"/>
          <a:srcRect t="23170" b="3601"/>
          <a:stretch>
            <a:fillRect/>
          </a:stretch>
        </p:blipFill>
        <p:spPr bwMode="auto">
          <a:xfrm flipH="1">
            <a:off x="5565089" y="999203"/>
            <a:ext cx="3116898" cy="2816752"/>
          </a:xfrm>
          <a:prstGeom prst="rect">
            <a:avLst/>
          </a:prstGeom>
          <a:noFill/>
        </p:spPr>
      </p:pic>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What can we gain from cloud ?</a:t>
            </a:r>
          </a:p>
        </p:txBody>
      </p:sp>
      <p:sp>
        <p:nvSpPr>
          <p:cNvPr id="5" name="灯片编号占位符 4">
            <a:extLst>
              <a:ext uri="{FF2B5EF4-FFF2-40B4-BE49-F238E27FC236}">
                <a16:creationId xmlns:a16="http://schemas.microsoft.com/office/drawing/2014/main" id="{F671A8BF-8897-7598-6F3C-5F292BC6A2B8}"/>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http://seewhy.com/blog/wp-content/uploads/2010/07/Facebook-like-thumbs-up-symbol.jpg"/>
          <p:cNvPicPr>
            <a:picLocks noChangeAspect="1" noChangeArrowheads="1"/>
          </p:cNvPicPr>
          <p:nvPr/>
        </p:nvPicPr>
        <p:blipFill>
          <a:blip r:embed="rId3" cstate="print"/>
          <a:srcRect l="6916" t="7692"/>
          <a:stretch>
            <a:fillRect/>
          </a:stretch>
        </p:blipFill>
        <p:spPr bwMode="auto">
          <a:xfrm>
            <a:off x="6442841" y="1886551"/>
            <a:ext cx="2521771" cy="2493545"/>
          </a:xfrm>
          <a:prstGeom prst="rect">
            <a:avLst/>
          </a:prstGeom>
          <a:noFill/>
        </p:spPr>
      </p:pic>
      <p:sp>
        <p:nvSpPr>
          <p:cNvPr id="2" name="Title 1"/>
          <p:cNvSpPr>
            <a:spLocks noGrp="1"/>
          </p:cNvSpPr>
          <p:nvPr>
            <p:ph type="title"/>
          </p:nvPr>
        </p:nvSpPr>
        <p:spPr>
          <a:xfrm>
            <a:off x="914400" y="108349"/>
            <a:ext cx="7761290" cy="519113"/>
          </a:xfrm>
        </p:spPr>
        <p:txBody>
          <a:bodyPr/>
          <a:lstStyle/>
          <a:p>
            <a:r>
              <a:rPr lang="en-US" dirty="0"/>
              <a:t>Benefits From Cloud</a:t>
            </a:r>
          </a:p>
        </p:txBody>
      </p:sp>
      <p:sp>
        <p:nvSpPr>
          <p:cNvPr id="3" name="Content Placeholder 2"/>
          <p:cNvSpPr>
            <a:spLocks noGrp="1"/>
          </p:cNvSpPr>
          <p:nvPr>
            <p:ph idx="1"/>
          </p:nvPr>
        </p:nvSpPr>
        <p:spPr>
          <a:xfrm>
            <a:off x="905059" y="839768"/>
            <a:ext cx="6992754" cy="3260594"/>
          </a:xfrm>
        </p:spPr>
        <p:txBody>
          <a:bodyPr/>
          <a:lstStyle/>
          <a:p>
            <a:pPr>
              <a:spcBef>
                <a:spcPts val="0"/>
              </a:spcBef>
            </a:pPr>
            <a:r>
              <a:rPr lang="en-US" sz="2000" dirty="0"/>
              <a:t>Cloud computing brings many benefits :</a:t>
            </a:r>
          </a:p>
          <a:p>
            <a:pPr lvl="1">
              <a:spcBef>
                <a:spcPts val="0"/>
              </a:spcBef>
            </a:pPr>
            <a:r>
              <a:rPr lang="en-US" sz="2000" dirty="0"/>
              <a:t>For the market and enterprises</a:t>
            </a:r>
          </a:p>
          <a:p>
            <a:pPr lvl="2">
              <a:spcBef>
                <a:spcPts val="0"/>
              </a:spcBef>
            </a:pPr>
            <a:r>
              <a:rPr lang="en-US" dirty="0">
                <a:latin typeface="Times New Roman" panose="02020603050405020304" pitchFamily="18" charset="0"/>
                <a:cs typeface="Times New Roman" panose="02020603050405020304" pitchFamily="18" charset="0"/>
              </a:rPr>
              <a:t>Reduce initial investment</a:t>
            </a:r>
          </a:p>
          <a:p>
            <a:pPr lvl="2">
              <a:spcBef>
                <a:spcPts val="0"/>
              </a:spcBef>
            </a:pPr>
            <a:r>
              <a:rPr lang="en-US" dirty="0">
                <a:latin typeface="Times New Roman" panose="02020603050405020304" pitchFamily="18" charset="0"/>
                <a:cs typeface="Times New Roman" panose="02020603050405020304" pitchFamily="18" charset="0"/>
              </a:rPr>
              <a:t>Reduce capital expenditure</a:t>
            </a:r>
          </a:p>
          <a:p>
            <a:pPr lvl="2">
              <a:spcBef>
                <a:spcPts val="0"/>
              </a:spcBef>
            </a:pPr>
            <a:r>
              <a:rPr lang="en-US" dirty="0">
                <a:latin typeface="Times New Roman" panose="02020603050405020304" pitchFamily="18" charset="0"/>
                <a:cs typeface="Times New Roman" panose="02020603050405020304" pitchFamily="18" charset="0"/>
              </a:rPr>
              <a:t>Improve industrial specialization</a:t>
            </a:r>
          </a:p>
          <a:p>
            <a:pPr lvl="2">
              <a:spcBef>
                <a:spcPts val="0"/>
              </a:spcBef>
            </a:pPr>
            <a:r>
              <a:rPr lang="en-US" dirty="0">
                <a:latin typeface="Times New Roman" panose="02020603050405020304" pitchFamily="18" charset="0"/>
                <a:cs typeface="Times New Roman" panose="02020603050405020304" pitchFamily="18" charset="0"/>
              </a:rPr>
              <a:t>Improve resource utilization</a:t>
            </a:r>
          </a:p>
          <a:p>
            <a:pPr lvl="1">
              <a:spcBef>
                <a:spcPts val="0"/>
              </a:spcBef>
            </a:pPr>
            <a:r>
              <a:rPr lang="en-US" sz="2000" dirty="0"/>
              <a:t>For the end user and individuals</a:t>
            </a:r>
          </a:p>
          <a:p>
            <a:pPr lvl="2">
              <a:spcBef>
                <a:spcPts val="0"/>
              </a:spcBef>
            </a:pPr>
            <a:r>
              <a:rPr lang="en-US" dirty="0">
                <a:latin typeface="Times New Roman" panose="02020603050405020304" pitchFamily="18" charset="0"/>
                <a:cs typeface="Times New Roman" panose="02020603050405020304" pitchFamily="18" charset="0"/>
              </a:rPr>
              <a:t>Reduce local computing power</a:t>
            </a:r>
          </a:p>
          <a:p>
            <a:pPr lvl="2">
              <a:spcBef>
                <a:spcPts val="0"/>
              </a:spcBef>
            </a:pPr>
            <a:r>
              <a:rPr lang="en-US" dirty="0">
                <a:latin typeface="Times New Roman" panose="02020603050405020304" pitchFamily="18" charset="0"/>
                <a:cs typeface="Times New Roman" panose="02020603050405020304" pitchFamily="18" charset="0"/>
              </a:rPr>
              <a:t>Reduce local storage power</a:t>
            </a:r>
          </a:p>
          <a:p>
            <a:pPr lvl="2">
              <a:spcBef>
                <a:spcPts val="0"/>
              </a:spcBef>
            </a:pPr>
            <a:r>
              <a:rPr lang="en-US" dirty="0">
                <a:latin typeface="Times New Roman" panose="02020603050405020304" pitchFamily="18" charset="0"/>
                <a:cs typeface="Times New Roman" panose="02020603050405020304" pitchFamily="18" charset="0"/>
              </a:rPr>
              <a:t>Variety of thin client devices in daily life</a:t>
            </a:r>
          </a:p>
        </p:txBody>
      </p:sp>
      <p:sp>
        <p:nvSpPr>
          <p:cNvPr id="4" name="灯片编号占位符 3">
            <a:extLst>
              <a:ext uri="{FF2B5EF4-FFF2-40B4-BE49-F238E27FC236}">
                <a16:creationId xmlns:a16="http://schemas.microsoft.com/office/drawing/2014/main" id="{A7EF5BD5-1FE2-0E24-9D17-BF4C7720DDFF}"/>
              </a:ext>
            </a:extLst>
          </p:cNvPr>
          <p:cNvSpPr>
            <a:spLocks noGrp="1"/>
          </p:cNvSpPr>
          <p:nvPr>
            <p:ph type="sldNum" sz="quarter" idx="10"/>
          </p:nvPr>
        </p:nvSpPr>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C:\Users\Andy\AppData\Local\Microsoft\Windows\Temporary Internet Files\Content.IE5\VM829XVI\MPj04392880000[1].jpg"/>
          <p:cNvPicPr>
            <a:picLocks noChangeAspect="1" noChangeArrowheads="1"/>
          </p:cNvPicPr>
          <p:nvPr/>
        </p:nvPicPr>
        <p:blipFill>
          <a:blip r:embed="rId2" cstate="print"/>
          <a:srcRect t="12089"/>
          <a:stretch>
            <a:fillRect/>
          </a:stretch>
        </p:blipFill>
        <p:spPr bwMode="auto">
          <a:xfrm>
            <a:off x="3312520" y="1689234"/>
            <a:ext cx="3150522" cy="2769669"/>
          </a:xfrm>
          <a:prstGeom prst="roundRect">
            <a:avLst>
              <a:gd name="adj" fmla="val 2425"/>
            </a:avLst>
          </a:prstGeom>
          <a:noFill/>
          <a:effectLst>
            <a:outerShdw blurRad="63500" sx="102000" sy="102000" algn="ctr" rotWithShape="0">
              <a:prstClr val="black">
                <a:alpha val="40000"/>
              </a:prstClr>
            </a:outerShdw>
          </a:effectLst>
        </p:spPr>
      </p:pic>
      <p:sp>
        <p:nvSpPr>
          <p:cNvPr id="4" name="Rectangle 3"/>
          <p:cNvSpPr/>
          <p:nvPr/>
        </p:nvSpPr>
        <p:spPr>
          <a:xfrm>
            <a:off x="1083534" y="782654"/>
            <a:ext cx="7608493" cy="761747"/>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5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For Market and Enterprises</a:t>
            </a:r>
          </a:p>
        </p:txBody>
      </p:sp>
      <p:sp>
        <p:nvSpPr>
          <p:cNvPr id="2" name="灯片编号占位符 1">
            <a:extLst>
              <a:ext uri="{FF2B5EF4-FFF2-40B4-BE49-F238E27FC236}">
                <a16:creationId xmlns:a16="http://schemas.microsoft.com/office/drawing/2014/main" id="{7684E8AD-8FD6-57E9-5630-70167119937E}"/>
              </a:ext>
            </a:extLst>
          </p:cNvPr>
          <p:cNvSpPr>
            <a:spLocks noGrp="1"/>
          </p:cNvSpPr>
          <p:nvPr>
            <p:ph type="sldNum" sz="quarter" idx="10"/>
          </p:nvPr>
        </p:nvSpPr>
        <p:spPr/>
        <p:txBody>
          <a:bodyPr/>
          <a:lstStyle/>
          <a:p>
            <a:fld id="{D9B6BDF2-6896-4B98-8776-C18582F63BA5}" type="slidenum">
              <a:rPr lang="zh-TW" altLang="en-US" smtClean="0"/>
              <a:pPr/>
              <a:t>60</a:t>
            </a:fld>
            <a:endParaRPr lang="zh-TW"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025" y="108349"/>
            <a:ext cx="7751665" cy="519113"/>
          </a:xfrm>
        </p:spPr>
        <p:txBody>
          <a:bodyPr/>
          <a:lstStyle/>
          <a:p>
            <a:r>
              <a:rPr lang="en-US" dirty="0"/>
              <a:t>Reduce Initial Investment (1)</a:t>
            </a:r>
          </a:p>
        </p:txBody>
      </p:sp>
      <p:sp>
        <p:nvSpPr>
          <p:cNvPr id="3" name="Content Placeholder 2"/>
          <p:cNvSpPr>
            <a:spLocks noGrp="1"/>
          </p:cNvSpPr>
          <p:nvPr>
            <p:ph idx="1"/>
          </p:nvPr>
        </p:nvSpPr>
        <p:spPr>
          <a:xfrm>
            <a:off x="933650" y="819261"/>
            <a:ext cx="7751665" cy="3504977"/>
          </a:xfrm>
        </p:spPr>
        <p:txBody>
          <a:bodyPr/>
          <a:lstStyle/>
          <a:p>
            <a:pPr>
              <a:spcBef>
                <a:spcPts val="0"/>
              </a:spcBef>
            </a:pPr>
            <a:r>
              <a:rPr lang="en-US" sz="2000" dirty="0"/>
              <a:t>Traditional process of enterprises to initiate business </a:t>
            </a:r>
          </a:p>
          <a:p>
            <a:pPr lvl="1">
              <a:spcBef>
                <a:spcPts val="0"/>
              </a:spcBef>
            </a:pPr>
            <a:r>
              <a:rPr lang="en-US" sz="2000" dirty="0"/>
              <a:t>Survey and analysis the industry and market</a:t>
            </a:r>
          </a:p>
          <a:p>
            <a:pPr lvl="1">
              <a:spcBef>
                <a:spcPts val="0"/>
              </a:spcBef>
            </a:pPr>
            <a:r>
              <a:rPr lang="en-US" sz="2000" dirty="0"/>
              <a:t>Estimate the quantity of supply and demand</a:t>
            </a:r>
          </a:p>
          <a:p>
            <a:pPr lvl="1">
              <a:spcBef>
                <a:spcPts val="0"/>
              </a:spcBef>
            </a:pPr>
            <a:r>
              <a:rPr lang="en-US" sz="2000" dirty="0"/>
              <a:t>Purchase and deploy IT infrastructure</a:t>
            </a:r>
          </a:p>
          <a:p>
            <a:pPr lvl="1">
              <a:spcBef>
                <a:spcPts val="0"/>
              </a:spcBef>
            </a:pPr>
            <a:r>
              <a:rPr lang="en-US" sz="2000" dirty="0"/>
              <a:t>Install and test the software system</a:t>
            </a:r>
          </a:p>
          <a:p>
            <a:pPr lvl="1">
              <a:spcBef>
                <a:spcPts val="0"/>
              </a:spcBef>
            </a:pPr>
            <a:r>
              <a:rPr lang="en-US" sz="2000" dirty="0"/>
              <a:t>Design and develop enterprise specific business service</a:t>
            </a:r>
          </a:p>
          <a:p>
            <a:pPr lvl="1">
              <a:spcBef>
                <a:spcPts val="0"/>
              </a:spcBef>
            </a:pPr>
            <a:r>
              <a:rPr lang="en-US" sz="2000" dirty="0"/>
              <a:t>Announce the business service to clients</a:t>
            </a:r>
          </a:p>
          <a:p>
            <a:pPr>
              <a:spcBef>
                <a:spcPts val="300"/>
              </a:spcBef>
            </a:pPr>
            <a:r>
              <a:rPr lang="en-US" sz="2000" dirty="0"/>
              <a:t>Some drawbacks </a:t>
            </a:r>
          </a:p>
          <a:p>
            <a:pPr lvl="1">
              <a:spcBef>
                <a:spcPts val="0"/>
              </a:spcBef>
            </a:pPr>
            <a:r>
              <a:rPr lang="en-US" sz="2000" dirty="0"/>
              <a:t>The survey, analysis and estimation may not 100% correct</a:t>
            </a:r>
          </a:p>
          <a:p>
            <a:pPr lvl="1">
              <a:spcBef>
                <a:spcPts val="0"/>
              </a:spcBef>
            </a:pPr>
            <a:r>
              <a:rPr lang="en-US" sz="2000" dirty="0"/>
              <a:t>Infrastructure deployment is time consuming</a:t>
            </a:r>
          </a:p>
          <a:p>
            <a:pPr lvl="1">
              <a:spcBef>
                <a:spcPts val="0"/>
              </a:spcBef>
            </a:pPr>
            <a:r>
              <a:rPr lang="en-US" sz="2000" dirty="0"/>
              <a:t>Enterprises should take the risk of wrong investment</a:t>
            </a:r>
          </a:p>
        </p:txBody>
      </p:sp>
      <p:sp>
        <p:nvSpPr>
          <p:cNvPr id="4" name="灯片编号占位符 3">
            <a:extLst>
              <a:ext uri="{FF2B5EF4-FFF2-40B4-BE49-F238E27FC236}">
                <a16:creationId xmlns:a16="http://schemas.microsoft.com/office/drawing/2014/main" id="{0929A173-0A24-8F95-EDFF-EDC9F2608491}"/>
              </a:ext>
            </a:extLst>
          </p:cNvPr>
          <p:cNvSpPr>
            <a:spLocks noGrp="1"/>
          </p:cNvSpPr>
          <p:nvPr>
            <p:ph type="sldNum" sz="quarter" idx="10"/>
          </p:nvPr>
        </p:nvSpPr>
        <p:spPr/>
        <p:txBody>
          <a:bodyPr/>
          <a:lstStyle/>
          <a:p>
            <a:fld id="{D9B6BDF2-6896-4B98-8776-C18582F63BA5}" type="slidenum">
              <a:rPr lang="zh-TW" altLang="en-US" smtClean="0"/>
              <a:pPr/>
              <a:t>61</a:t>
            </a:fld>
            <a:endParaRPr lang="zh-TW"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4024" y="844153"/>
            <a:ext cx="7762775" cy="2957826"/>
          </a:xfrm>
        </p:spPr>
        <p:txBody>
          <a:bodyPr/>
          <a:lstStyle/>
          <a:p>
            <a:pPr>
              <a:spcBef>
                <a:spcPts val="0"/>
              </a:spcBef>
            </a:pPr>
            <a:r>
              <a:rPr lang="en-US" sz="2000" dirty="0"/>
              <a:t>Initiate business with Cloud Computing services :</a:t>
            </a:r>
          </a:p>
          <a:p>
            <a:pPr lvl="1">
              <a:spcBef>
                <a:spcPts val="0"/>
              </a:spcBef>
            </a:pPr>
            <a:r>
              <a:rPr lang="en-US" sz="2000" dirty="0"/>
              <a:t>Survey and analysis the industry and market</a:t>
            </a:r>
          </a:p>
          <a:p>
            <a:pPr lvl="1">
              <a:spcBef>
                <a:spcPts val="0"/>
              </a:spcBef>
            </a:pPr>
            <a:r>
              <a:rPr lang="en-US" sz="2000" dirty="0"/>
              <a:t>Chose one cloud provider for enterprise deployment</a:t>
            </a:r>
          </a:p>
          <a:p>
            <a:pPr lvl="1">
              <a:spcBef>
                <a:spcPts val="0"/>
              </a:spcBef>
            </a:pPr>
            <a:r>
              <a:rPr lang="en-US" sz="2000" dirty="0"/>
              <a:t>Design and develop business service upon cloud environment</a:t>
            </a:r>
          </a:p>
          <a:p>
            <a:pPr lvl="1">
              <a:spcBef>
                <a:spcPts val="0"/>
              </a:spcBef>
            </a:pPr>
            <a:r>
              <a:rPr lang="en-US" sz="2000" dirty="0"/>
              <a:t>Announce the business service to clients</a:t>
            </a:r>
          </a:p>
          <a:p>
            <a:pPr>
              <a:spcBef>
                <a:spcPts val="300"/>
              </a:spcBef>
            </a:pPr>
            <a:r>
              <a:rPr lang="en-US" sz="2000" dirty="0"/>
              <a:t>Some benefits :</a:t>
            </a:r>
          </a:p>
          <a:p>
            <a:pPr lvl="1">
              <a:spcBef>
                <a:spcPts val="0"/>
              </a:spcBef>
            </a:pPr>
            <a:r>
              <a:rPr lang="en-US" sz="2000" dirty="0"/>
              <a:t>Enterprise do not need to own the infrastructure</a:t>
            </a:r>
          </a:p>
          <a:p>
            <a:pPr lvl="1">
              <a:spcBef>
                <a:spcPts val="0"/>
              </a:spcBef>
            </a:pPr>
            <a:r>
              <a:rPr lang="en-US" sz="2000" dirty="0"/>
              <a:t>Enterprise can develop and deploy business service in short time</a:t>
            </a:r>
          </a:p>
          <a:p>
            <a:pPr lvl="1">
              <a:spcBef>
                <a:spcPts val="0"/>
              </a:spcBef>
            </a:pPr>
            <a:r>
              <a:rPr lang="en-US" sz="2000" dirty="0"/>
              <a:t>Enterprise can reduce the business loss of wrong investment</a:t>
            </a:r>
          </a:p>
        </p:txBody>
      </p:sp>
      <p:sp>
        <p:nvSpPr>
          <p:cNvPr id="4" name="灯片编号占位符 3">
            <a:extLst>
              <a:ext uri="{FF2B5EF4-FFF2-40B4-BE49-F238E27FC236}">
                <a16:creationId xmlns:a16="http://schemas.microsoft.com/office/drawing/2014/main" id="{911441CF-446D-18AB-AED3-F02E8C5E7FB0}"/>
              </a:ext>
            </a:extLst>
          </p:cNvPr>
          <p:cNvSpPr>
            <a:spLocks noGrp="1"/>
          </p:cNvSpPr>
          <p:nvPr>
            <p:ph type="sldNum" sz="quarter" idx="10"/>
          </p:nvPr>
        </p:nvSpPr>
        <p:spPr/>
        <p:txBody>
          <a:bodyPr/>
          <a:lstStyle/>
          <a:p>
            <a:fld id="{D9B6BDF2-6896-4B98-8776-C18582F63BA5}" type="slidenum">
              <a:rPr lang="zh-TW" altLang="en-US" smtClean="0"/>
              <a:pPr/>
              <a:t>62</a:t>
            </a:fld>
            <a:endParaRPr lang="zh-TW" altLang="en-US"/>
          </a:p>
        </p:txBody>
      </p:sp>
      <p:sp>
        <p:nvSpPr>
          <p:cNvPr id="10" name="Title 1">
            <a:extLst>
              <a:ext uri="{FF2B5EF4-FFF2-40B4-BE49-F238E27FC236}">
                <a16:creationId xmlns:a16="http://schemas.microsoft.com/office/drawing/2014/main" id="{B8B565AE-0532-C84F-F130-F8B8C2DE3517}"/>
              </a:ext>
            </a:extLst>
          </p:cNvPr>
          <p:cNvSpPr>
            <a:spLocks noGrp="1"/>
          </p:cNvSpPr>
          <p:nvPr>
            <p:ph type="title"/>
          </p:nvPr>
        </p:nvSpPr>
        <p:spPr>
          <a:xfrm>
            <a:off x="924025" y="108349"/>
            <a:ext cx="7751665" cy="519113"/>
          </a:xfrm>
        </p:spPr>
        <p:txBody>
          <a:bodyPr/>
          <a:lstStyle/>
          <a:p>
            <a:r>
              <a:rPr lang="en-US" dirty="0"/>
              <a:t>Reduce Initial Investment (3)</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2763" y="901590"/>
            <a:ext cx="6172200" cy="400050"/>
          </a:xfrm>
        </p:spPr>
        <p:txBody>
          <a:bodyPr/>
          <a:lstStyle/>
          <a:p>
            <a:r>
              <a:rPr lang="en-US" sz="2000" dirty="0"/>
              <a:t>What dose cloud computing achieve ?</a:t>
            </a:r>
          </a:p>
        </p:txBody>
      </p:sp>
      <p:graphicFrame>
        <p:nvGraphicFramePr>
          <p:cNvPr id="5" name="Table 4"/>
          <p:cNvGraphicFramePr>
            <a:graphicFrameLocks noGrp="1"/>
          </p:cNvGraphicFramePr>
          <p:nvPr>
            <p:extLst>
              <p:ext uri="{D42A27DB-BD31-4B8C-83A1-F6EECF244321}">
                <p14:modId xmlns:p14="http://schemas.microsoft.com/office/powerpoint/2010/main" val="3637979901"/>
              </p:ext>
            </p:extLst>
          </p:nvPr>
        </p:nvGraphicFramePr>
        <p:xfrm>
          <a:off x="1999081" y="1385436"/>
          <a:ext cx="5351010" cy="1432058"/>
        </p:xfrm>
        <a:graphic>
          <a:graphicData uri="http://schemas.openxmlformats.org/drawingml/2006/table">
            <a:tbl>
              <a:tblPr firstRow="1" bandRow="1">
                <a:tableStyleId>{7DF18680-E054-41AD-8BC1-D1AEF772440D}</a:tableStyleId>
              </a:tblPr>
              <a:tblGrid>
                <a:gridCol w="1447920">
                  <a:extLst>
                    <a:ext uri="{9D8B030D-6E8A-4147-A177-3AD203B41FA5}">
                      <a16:colId xmlns:a16="http://schemas.microsoft.com/office/drawing/2014/main" val="20000"/>
                    </a:ext>
                  </a:extLst>
                </a:gridCol>
                <a:gridCol w="1951545">
                  <a:extLst>
                    <a:ext uri="{9D8B030D-6E8A-4147-A177-3AD203B41FA5}">
                      <a16:colId xmlns:a16="http://schemas.microsoft.com/office/drawing/2014/main" val="20001"/>
                    </a:ext>
                  </a:extLst>
                </a:gridCol>
                <a:gridCol w="1951545">
                  <a:extLst>
                    <a:ext uri="{9D8B030D-6E8A-4147-A177-3AD203B41FA5}">
                      <a16:colId xmlns:a16="http://schemas.microsoft.com/office/drawing/2014/main" val="20002"/>
                    </a:ext>
                  </a:extLst>
                </a:gridCol>
              </a:tblGrid>
              <a:tr h="328691">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28691">
                <a:tc>
                  <a:txBody>
                    <a:bodyPr/>
                    <a:lstStyle/>
                    <a:p>
                      <a:r>
                        <a:rPr lang="en-US" sz="1000" b="1" i="1" dirty="0"/>
                        <a:t>Invest</a:t>
                      </a:r>
                      <a:r>
                        <a:rPr lang="en-US" sz="1000" b="1" i="1" baseline="0" dirty="0"/>
                        <a:t>ment Risk</a:t>
                      </a:r>
                      <a:endParaRPr lang="en-US" sz="1000" b="1" i="1" dirty="0"/>
                    </a:p>
                  </a:txBody>
                  <a:tcPr marL="68580" marR="68580" marT="34290" marB="34290" anchor="ctr"/>
                </a:tc>
                <a:tc>
                  <a:txBody>
                    <a:bodyPr/>
                    <a:lstStyle/>
                    <a:p>
                      <a:pPr algn="l"/>
                      <a:r>
                        <a:rPr lang="en-US" sz="1000" i="1" dirty="0">
                          <a:solidFill>
                            <a:schemeClr val="tx1"/>
                          </a:solidFill>
                        </a:rPr>
                        <a:t>Enterprise</a:t>
                      </a:r>
                      <a:r>
                        <a:rPr lang="en-US" sz="1000" i="1" baseline="0" dirty="0">
                          <a:solidFill>
                            <a:schemeClr val="tx1"/>
                          </a:solidFill>
                        </a:rPr>
                        <a:t> takes the risk</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Cloud reduces the risk</a:t>
                      </a:r>
                    </a:p>
                  </a:txBody>
                  <a:tcPr marL="68580" marR="68580" marT="34290" marB="34290" anchor="ctr"/>
                </a:tc>
                <a:extLst>
                  <a:ext uri="{0D108BD9-81ED-4DB2-BD59-A6C34878D82A}">
                    <a16:rowId xmlns:a16="http://schemas.microsoft.com/office/drawing/2014/main" val="10001"/>
                  </a:ext>
                </a:extLst>
              </a:tr>
              <a:tr h="445985">
                <a:tc>
                  <a:txBody>
                    <a:bodyPr/>
                    <a:lstStyle/>
                    <a:p>
                      <a:r>
                        <a:rPr lang="en-US" sz="1000" b="1" i="1" dirty="0"/>
                        <a:t>Infrastructure</a:t>
                      </a:r>
                    </a:p>
                  </a:txBody>
                  <a:tcPr marL="68580" marR="68580" marT="34290" marB="34290" anchor="ctr"/>
                </a:tc>
                <a:tc>
                  <a:txBody>
                    <a:bodyPr/>
                    <a:lstStyle/>
                    <a:p>
                      <a:pPr algn="l"/>
                      <a:r>
                        <a:rPr lang="en-US" sz="1000" i="1" dirty="0">
                          <a:solidFill>
                            <a:schemeClr val="tx1"/>
                          </a:solidFill>
                        </a:rPr>
                        <a:t>Enterprise</a:t>
                      </a:r>
                      <a:r>
                        <a:rPr lang="en-US" sz="1000" i="1" baseline="0" dirty="0">
                          <a:solidFill>
                            <a:schemeClr val="tx1"/>
                          </a:solidFill>
                        </a:rPr>
                        <a:t> owns the infrastructure</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Cloud provider owns the infrastructure</a:t>
                      </a:r>
                    </a:p>
                  </a:txBody>
                  <a:tcPr marL="68580" marR="68580" marT="34290" marB="34290" anchor="ctr"/>
                </a:tc>
                <a:extLst>
                  <a:ext uri="{0D108BD9-81ED-4DB2-BD59-A6C34878D82A}">
                    <a16:rowId xmlns:a16="http://schemas.microsoft.com/office/drawing/2014/main" val="10002"/>
                  </a:ext>
                </a:extLst>
              </a:tr>
              <a:tr h="328691">
                <a:tc>
                  <a:txBody>
                    <a:bodyPr/>
                    <a:lstStyle/>
                    <a:p>
                      <a:r>
                        <a:rPr lang="en-US" sz="1000" b="1" i="1" dirty="0"/>
                        <a:t>Time duration</a:t>
                      </a:r>
                    </a:p>
                  </a:txBody>
                  <a:tcPr marL="68580" marR="68580" marT="34290" marB="34290" anchor="ctr"/>
                </a:tc>
                <a:tc>
                  <a:txBody>
                    <a:bodyPr/>
                    <a:lstStyle/>
                    <a:p>
                      <a:pPr algn="l"/>
                      <a:r>
                        <a:rPr lang="en-US" sz="1000" i="1" dirty="0">
                          <a:solidFill>
                            <a:schemeClr val="tx1"/>
                          </a:solidFill>
                        </a:rPr>
                        <a:t>Long deployment time</a:t>
                      </a:r>
                    </a:p>
                  </a:txBody>
                  <a:tcPr marL="68580" marR="68580" marT="34290" marB="34290" anchor="ctr"/>
                </a:tc>
                <a:tc>
                  <a:txBody>
                    <a:bodyPr/>
                    <a:lstStyle/>
                    <a:p>
                      <a:pPr algn="l"/>
                      <a:r>
                        <a:rPr lang="en-US" sz="1000" i="1" dirty="0">
                          <a:solidFill>
                            <a:schemeClr val="tx1"/>
                          </a:solidFill>
                        </a:rPr>
                        <a:t>Fast to business ready</a:t>
                      </a:r>
                    </a:p>
                  </a:txBody>
                  <a:tcPr marL="68580" marR="68580" marT="34290" marB="34290" anchor="ctr"/>
                </a:tc>
                <a:extLst>
                  <a:ext uri="{0D108BD9-81ED-4DB2-BD59-A6C34878D82A}">
                    <a16:rowId xmlns:a16="http://schemas.microsoft.com/office/drawing/2014/main" val="10003"/>
                  </a:ext>
                </a:extLst>
              </a:tr>
            </a:tbl>
          </a:graphicData>
        </a:graphic>
      </p:graphicFrame>
      <p:pic>
        <p:nvPicPr>
          <p:cNvPr id="33798" name="Picture 6" descr="http://www.boltonpartners.com/_images/images/Investment.jpg"/>
          <p:cNvPicPr>
            <a:picLocks noChangeAspect="1" noChangeArrowheads="1"/>
          </p:cNvPicPr>
          <p:nvPr/>
        </p:nvPicPr>
        <p:blipFill>
          <a:blip r:embed="rId2" cstate="print"/>
          <a:srcRect t="33508"/>
          <a:stretch>
            <a:fillRect/>
          </a:stretch>
        </p:blipFill>
        <p:spPr bwMode="auto">
          <a:xfrm>
            <a:off x="3368841" y="3042035"/>
            <a:ext cx="2153727" cy="1432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C14867D0-61C0-1073-BF34-E1CFD3C54F73}"/>
              </a:ext>
            </a:extLst>
          </p:cNvPr>
          <p:cNvSpPr>
            <a:spLocks noGrp="1"/>
          </p:cNvSpPr>
          <p:nvPr>
            <p:ph type="sldNum" sz="quarter" idx="10"/>
          </p:nvPr>
        </p:nvSpPr>
        <p:spPr/>
        <p:txBody>
          <a:bodyPr/>
          <a:lstStyle/>
          <a:p>
            <a:fld id="{D9B6BDF2-6896-4B98-8776-C18582F63BA5}" type="slidenum">
              <a:rPr lang="zh-TW" altLang="en-US" smtClean="0"/>
              <a:pPr/>
              <a:t>63</a:t>
            </a:fld>
            <a:endParaRPr lang="zh-TW" altLang="en-US"/>
          </a:p>
        </p:txBody>
      </p:sp>
      <p:sp>
        <p:nvSpPr>
          <p:cNvPr id="8" name="Title 1">
            <a:extLst>
              <a:ext uri="{FF2B5EF4-FFF2-40B4-BE49-F238E27FC236}">
                <a16:creationId xmlns:a16="http://schemas.microsoft.com/office/drawing/2014/main" id="{8B3B8161-C11A-33B9-416F-C0CE604DC0D4}"/>
              </a:ext>
            </a:extLst>
          </p:cNvPr>
          <p:cNvSpPr>
            <a:spLocks noGrp="1"/>
          </p:cNvSpPr>
          <p:nvPr>
            <p:ph type="title"/>
          </p:nvPr>
        </p:nvSpPr>
        <p:spPr>
          <a:xfrm>
            <a:off x="924025" y="108349"/>
            <a:ext cx="7751665" cy="519113"/>
          </a:xfrm>
        </p:spPr>
        <p:txBody>
          <a:bodyPr/>
          <a:lstStyle/>
          <a:p>
            <a:r>
              <a:rPr lang="en-US" dirty="0"/>
              <a:t>Reduce Initial Investment (4)</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9099"/>
            <a:ext cx="7761290" cy="519113"/>
          </a:xfrm>
        </p:spPr>
        <p:txBody>
          <a:bodyPr/>
          <a:lstStyle/>
          <a:p>
            <a:r>
              <a:rPr lang="en-US" dirty="0"/>
              <a:t>Reduce Capital Expenditure (1)</a:t>
            </a:r>
          </a:p>
        </p:txBody>
      </p:sp>
      <p:sp>
        <p:nvSpPr>
          <p:cNvPr id="3" name="Content Placeholder 2"/>
          <p:cNvSpPr>
            <a:spLocks noGrp="1"/>
          </p:cNvSpPr>
          <p:nvPr>
            <p:ph idx="1"/>
          </p:nvPr>
        </p:nvSpPr>
        <p:spPr>
          <a:xfrm>
            <a:off x="993025" y="864891"/>
            <a:ext cx="7971588" cy="3524229"/>
          </a:xfrm>
        </p:spPr>
        <p:txBody>
          <a:bodyPr/>
          <a:lstStyle/>
          <a:p>
            <a:pPr>
              <a:spcBef>
                <a:spcPts val="0"/>
              </a:spcBef>
            </a:pPr>
            <a:r>
              <a:rPr lang="en-US" sz="2000" dirty="0"/>
              <a:t>Traditional capital expenditure of enterprises :</a:t>
            </a:r>
          </a:p>
          <a:p>
            <a:pPr lvl="1">
              <a:spcBef>
                <a:spcPts val="0"/>
              </a:spcBef>
            </a:pPr>
            <a:r>
              <a:rPr lang="en-US" sz="2000" dirty="0"/>
              <a:t>Each enterprise should establish its own IT department</a:t>
            </a:r>
          </a:p>
          <a:p>
            <a:pPr lvl="1">
              <a:spcBef>
                <a:spcPts val="0"/>
              </a:spcBef>
            </a:pPr>
            <a:r>
              <a:rPr lang="en-US" sz="2000" dirty="0"/>
              <a:t>IT department should handle the listing jobs</a:t>
            </a:r>
          </a:p>
          <a:p>
            <a:pPr lvl="2">
              <a:spcBef>
                <a:spcPts val="0"/>
              </a:spcBef>
            </a:pPr>
            <a:r>
              <a:rPr lang="en-US" dirty="0">
                <a:latin typeface="Times New Roman" panose="02020603050405020304" pitchFamily="18" charset="0"/>
                <a:cs typeface="Times New Roman" panose="02020603050405020304" pitchFamily="18" charset="0"/>
              </a:rPr>
              <a:t>Manage and administrate hardware and software</a:t>
            </a:r>
          </a:p>
          <a:p>
            <a:pPr lvl="2">
              <a:spcBef>
                <a:spcPts val="0"/>
              </a:spcBef>
            </a:pPr>
            <a:r>
              <a:rPr lang="en-US" dirty="0">
                <a:latin typeface="Times New Roman" panose="02020603050405020304" pitchFamily="18" charset="0"/>
                <a:cs typeface="Times New Roman" panose="02020603050405020304" pitchFamily="18" charset="0"/>
              </a:rPr>
              <a:t>Apply regular data backup and check point process</a:t>
            </a:r>
          </a:p>
          <a:p>
            <a:pPr lvl="2">
              <a:spcBef>
                <a:spcPts val="0"/>
              </a:spcBef>
            </a:pPr>
            <a:r>
              <a:rPr lang="en-US" dirty="0">
                <a:latin typeface="Times New Roman" panose="02020603050405020304" pitchFamily="18" charset="0"/>
                <a:cs typeface="Times New Roman" panose="02020603050405020304" pitchFamily="18" charset="0"/>
              </a:rPr>
              <a:t>Purchase new infrastructure and eliminate outdated one</a:t>
            </a:r>
          </a:p>
          <a:p>
            <a:pPr lvl="2">
              <a:spcBef>
                <a:spcPts val="0"/>
              </a:spcBef>
            </a:pPr>
            <a:r>
              <a:rPr lang="en-US" dirty="0">
                <a:latin typeface="Times New Roman" panose="02020603050405020304" pitchFamily="18" charset="0"/>
                <a:cs typeface="Times New Roman" panose="02020603050405020304" pitchFamily="18" charset="0"/>
              </a:rPr>
              <a:t>Always standby for any unexpected IT problems</a:t>
            </a:r>
          </a:p>
          <a:p>
            <a:pPr>
              <a:spcBef>
                <a:spcPts val="300"/>
              </a:spcBef>
            </a:pPr>
            <a:r>
              <a:rPr lang="en-US" sz="2000" dirty="0"/>
              <a:t>Some drawbacks :</a:t>
            </a:r>
          </a:p>
          <a:p>
            <a:pPr lvl="1">
              <a:spcBef>
                <a:spcPts val="0"/>
              </a:spcBef>
            </a:pPr>
            <a:r>
              <a:rPr lang="en-US" sz="2000" dirty="0"/>
              <a:t>Enterprise pays for IT investment which is not its business focus</a:t>
            </a:r>
          </a:p>
          <a:p>
            <a:pPr lvl="1">
              <a:spcBef>
                <a:spcPts val="0"/>
              </a:spcBef>
            </a:pPr>
            <a:r>
              <a:rPr lang="en-US" sz="2000" dirty="0"/>
              <a:t>Enterprise should take the risk of hardware/software malfunction</a:t>
            </a:r>
          </a:p>
          <a:p>
            <a:pPr lvl="1">
              <a:spcBef>
                <a:spcPts val="0"/>
              </a:spcBef>
            </a:pPr>
            <a:r>
              <a:rPr lang="en-US" sz="2000" dirty="0"/>
              <a:t>Replacing and updating infrastructure is time consuming and risky</a:t>
            </a:r>
          </a:p>
        </p:txBody>
      </p:sp>
      <p:sp>
        <p:nvSpPr>
          <p:cNvPr id="4" name="灯片编号占位符 3">
            <a:extLst>
              <a:ext uri="{FF2B5EF4-FFF2-40B4-BE49-F238E27FC236}">
                <a16:creationId xmlns:a16="http://schemas.microsoft.com/office/drawing/2014/main" id="{0B256493-3021-42B7-F55E-2A875B3BEB64}"/>
              </a:ext>
            </a:extLst>
          </p:cNvPr>
          <p:cNvSpPr>
            <a:spLocks noGrp="1"/>
          </p:cNvSpPr>
          <p:nvPr>
            <p:ph type="sldNum" sz="quarter" idx="10"/>
          </p:nvPr>
        </p:nvSpPr>
        <p:spPr/>
        <p:txBody>
          <a:bodyPr/>
          <a:lstStyle/>
          <a:p>
            <a:fld id="{D9B6BDF2-6896-4B98-8776-C18582F63BA5}" type="slidenum">
              <a:rPr lang="zh-TW" altLang="en-US" smtClean="0"/>
              <a:pPr/>
              <a:t>64</a:t>
            </a:fld>
            <a:endParaRPr lang="zh-TW"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5244" y="903091"/>
            <a:ext cx="7629225" cy="3505280"/>
          </a:xfrm>
        </p:spPr>
        <p:txBody>
          <a:bodyPr/>
          <a:lstStyle/>
          <a:p>
            <a:pPr>
              <a:spcBef>
                <a:spcPts val="0"/>
              </a:spcBef>
            </a:pPr>
            <a:r>
              <a:rPr lang="en-US" sz="2000" dirty="0"/>
              <a:t>Capital expenditure with Cloud Computing service </a:t>
            </a:r>
          </a:p>
          <a:p>
            <a:pPr lvl="1">
              <a:spcBef>
                <a:spcPts val="0"/>
              </a:spcBef>
            </a:pPr>
            <a:r>
              <a:rPr lang="en-US" sz="2000" dirty="0"/>
              <a:t>Enterprise can almost dismiss its IT department</a:t>
            </a:r>
          </a:p>
          <a:p>
            <a:pPr lvl="1">
              <a:spcBef>
                <a:spcPts val="0"/>
              </a:spcBef>
            </a:pPr>
            <a:r>
              <a:rPr lang="en-US" sz="2000" dirty="0"/>
              <a:t>The jobs of IT department can be achieved by cloud provider</a:t>
            </a:r>
          </a:p>
          <a:p>
            <a:pPr lvl="2">
              <a:spcBef>
                <a:spcPts val="0"/>
              </a:spcBef>
            </a:pPr>
            <a:r>
              <a:rPr lang="en-US" dirty="0">
                <a:latin typeface="Times New Roman" panose="02020603050405020304" pitchFamily="18" charset="0"/>
                <a:cs typeface="Times New Roman" panose="02020603050405020304" pitchFamily="18" charset="0"/>
              </a:rPr>
              <a:t>Dynamically update and upgrade hardware or software</a:t>
            </a:r>
          </a:p>
          <a:p>
            <a:pPr lvl="2">
              <a:spcBef>
                <a:spcPts val="0"/>
              </a:spcBef>
            </a:pPr>
            <a:r>
              <a:rPr lang="en-US" dirty="0">
                <a:latin typeface="Times New Roman" panose="02020603050405020304" pitchFamily="18" charset="0"/>
                <a:cs typeface="Times New Roman" panose="02020603050405020304" pitchFamily="18" charset="0"/>
              </a:rPr>
              <a:t>Dynamically provision and deploy infrastructure for enterprise</a:t>
            </a:r>
          </a:p>
          <a:p>
            <a:pPr lvl="2">
              <a:spcBef>
                <a:spcPts val="0"/>
              </a:spcBef>
            </a:pPr>
            <a:r>
              <a:rPr lang="en-US" dirty="0">
                <a:latin typeface="Times New Roman" panose="02020603050405020304" pitchFamily="18" charset="0"/>
                <a:cs typeface="Times New Roman" panose="02020603050405020304" pitchFamily="18" charset="0"/>
              </a:rPr>
              <a:t>Automatically backup data and check consistency</a:t>
            </a:r>
          </a:p>
          <a:p>
            <a:pPr lvl="2">
              <a:spcBef>
                <a:spcPts val="0"/>
              </a:spcBef>
            </a:pPr>
            <a:r>
              <a:rPr lang="en-US" dirty="0">
                <a:latin typeface="Times New Roman" panose="02020603050405020304" pitchFamily="18" charset="0"/>
                <a:cs typeface="Times New Roman" panose="02020603050405020304" pitchFamily="18" charset="0"/>
              </a:rPr>
              <a:t>Self-recover from disaster or system malfunction</a:t>
            </a:r>
            <a:endParaRPr lang="en-US" sz="2000" dirty="0"/>
          </a:p>
          <a:p>
            <a:pPr>
              <a:spcBef>
                <a:spcPts val="0"/>
              </a:spcBef>
            </a:pPr>
            <a:r>
              <a:rPr lang="en-US" sz="2000" dirty="0"/>
              <a:t>Some benefits </a:t>
            </a:r>
          </a:p>
          <a:p>
            <a:pPr lvl="1">
              <a:spcBef>
                <a:spcPts val="0"/>
              </a:spcBef>
            </a:pPr>
            <a:r>
              <a:rPr lang="en-US" sz="2000" dirty="0"/>
              <a:t>Enterprise can shift effort to its business focus</a:t>
            </a:r>
          </a:p>
          <a:p>
            <a:pPr lvl="1">
              <a:spcBef>
                <a:spcPts val="0"/>
              </a:spcBef>
            </a:pPr>
            <a:r>
              <a:rPr lang="en-US" sz="2000" dirty="0"/>
              <a:t>Enterprise can reconfigure its IT services in short time</a:t>
            </a:r>
          </a:p>
          <a:p>
            <a:pPr lvl="1">
              <a:spcBef>
                <a:spcPts val="0"/>
              </a:spcBef>
            </a:pPr>
            <a:r>
              <a:rPr lang="en-US" sz="2000" dirty="0"/>
              <a:t>Enterprise pays to cloud provider as many as the service used</a:t>
            </a:r>
          </a:p>
        </p:txBody>
      </p:sp>
      <p:sp>
        <p:nvSpPr>
          <p:cNvPr id="4" name="灯片编号占位符 3">
            <a:extLst>
              <a:ext uri="{FF2B5EF4-FFF2-40B4-BE49-F238E27FC236}">
                <a16:creationId xmlns:a16="http://schemas.microsoft.com/office/drawing/2014/main" id="{3A0C9FF8-F071-AAA4-B87F-8DD387212833}"/>
              </a:ext>
            </a:extLst>
          </p:cNvPr>
          <p:cNvSpPr>
            <a:spLocks noGrp="1"/>
          </p:cNvSpPr>
          <p:nvPr>
            <p:ph type="sldNum" sz="quarter" idx="10"/>
          </p:nvPr>
        </p:nvSpPr>
        <p:spPr/>
        <p:txBody>
          <a:bodyPr/>
          <a:lstStyle/>
          <a:p>
            <a:fld id="{D9B6BDF2-6896-4B98-8776-C18582F63BA5}" type="slidenum">
              <a:rPr lang="zh-TW" altLang="en-US" smtClean="0"/>
              <a:pPr/>
              <a:t>65</a:t>
            </a:fld>
            <a:endParaRPr lang="zh-TW" altLang="en-US"/>
          </a:p>
        </p:txBody>
      </p:sp>
      <p:sp>
        <p:nvSpPr>
          <p:cNvPr id="7" name="Title 1">
            <a:extLst>
              <a:ext uri="{FF2B5EF4-FFF2-40B4-BE49-F238E27FC236}">
                <a16:creationId xmlns:a16="http://schemas.microsoft.com/office/drawing/2014/main" id="{2E4A9CB2-1BAA-ADA8-6A10-C66764855638}"/>
              </a:ext>
            </a:extLst>
          </p:cNvPr>
          <p:cNvSpPr>
            <a:spLocks noGrp="1"/>
          </p:cNvSpPr>
          <p:nvPr>
            <p:ph type="title"/>
          </p:nvPr>
        </p:nvSpPr>
        <p:spPr>
          <a:xfrm>
            <a:off x="924025" y="108349"/>
            <a:ext cx="7751665" cy="519113"/>
          </a:xfrm>
        </p:spPr>
        <p:txBody>
          <a:bodyPr/>
          <a:lstStyle/>
          <a:p>
            <a:r>
              <a:rPr lang="en-US" dirty="0"/>
              <a:t>Reduce Initial Investment (2)</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777" y="108349"/>
            <a:ext cx="7693913" cy="519113"/>
          </a:xfrm>
        </p:spPr>
        <p:txBody>
          <a:bodyPr/>
          <a:lstStyle/>
          <a:p>
            <a:r>
              <a:rPr lang="en-US" dirty="0"/>
              <a:t>Reduce Capital Expenditure</a:t>
            </a:r>
          </a:p>
        </p:txBody>
      </p:sp>
      <p:sp>
        <p:nvSpPr>
          <p:cNvPr id="3" name="Content Placeholder 2"/>
          <p:cNvSpPr>
            <a:spLocks noGrp="1"/>
          </p:cNvSpPr>
          <p:nvPr>
            <p:ph idx="1"/>
          </p:nvPr>
        </p:nvSpPr>
        <p:spPr>
          <a:xfrm>
            <a:off x="1129765" y="942381"/>
            <a:ext cx="6172200" cy="342900"/>
          </a:xfrm>
        </p:spPr>
        <p:txBody>
          <a:bodyPr/>
          <a:lstStyle/>
          <a:p>
            <a:r>
              <a:rPr lang="en-US" sz="2000" dirty="0"/>
              <a:t>What dose cloud computing achieve ?</a:t>
            </a:r>
          </a:p>
        </p:txBody>
      </p:sp>
      <p:pic>
        <p:nvPicPr>
          <p:cNvPr id="40962" name="Picture 2" descr="http://www.candangroup.com/images/spot/investment.jpg"/>
          <p:cNvPicPr>
            <a:picLocks noChangeAspect="1" noChangeArrowheads="1"/>
          </p:cNvPicPr>
          <p:nvPr/>
        </p:nvPicPr>
        <p:blipFill>
          <a:blip r:embed="rId2" cstate="print"/>
          <a:srcRect/>
          <a:stretch>
            <a:fillRect/>
          </a:stretch>
        </p:blipFill>
        <p:spPr bwMode="auto">
          <a:xfrm>
            <a:off x="3088355" y="3057051"/>
            <a:ext cx="2967290" cy="13307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extLst>
              <p:ext uri="{D42A27DB-BD31-4B8C-83A1-F6EECF244321}">
                <p14:modId xmlns:p14="http://schemas.microsoft.com/office/powerpoint/2010/main" val="2146444115"/>
              </p:ext>
            </p:extLst>
          </p:nvPr>
        </p:nvGraphicFramePr>
        <p:xfrm>
          <a:off x="2143124" y="1489186"/>
          <a:ext cx="4857751" cy="1311022"/>
        </p:xfrm>
        <a:graphic>
          <a:graphicData uri="http://schemas.openxmlformats.org/drawingml/2006/table">
            <a:tbl>
              <a:tblPr firstRow="1" bandRow="1">
                <a:tableStyleId>{7DF18680-E054-41AD-8BC1-D1AEF772440D}</a:tableStyleId>
              </a:tblPr>
              <a:tblGrid>
                <a:gridCol w="1314451">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tblGrid>
              <a:tr h="278130">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77381">
                <a:tc>
                  <a:txBody>
                    <a:bodyPr/>
                    <a:lstStyle/>
                    <a:p>
                      <a:r>
                        <a:rPr lang="en-US" sz="1000" b="1" i="1" dirty="0"/>
                        <a:t>Business focus</a:t>
                      </a:r>
                    </a:p>
                  </a:txBody>
                  <a:tcPr marL="68580" marR="68580" marT="34290" marB="34290" anchor="ctr"/>
                </a:tc>
                <a:tc>
                  <a:txBody>
                    <a:bodyPr/>
                    <a:lstStyle/>
                    <a:p>
                      <a:pPr algn="l"/>
                      <a:r>
                        <a:rPr lang="en-US" sz="1000" i="1" dirty="0">
                          <a:solidFill>
                            <a:schemeClr val="tx1"/>
                          </a:solidFill>
                        </a:rPr>
                        <a:t>Need to own its </a:t>
                      </a:r>
                      <a:r>
                        <a:rPr lang="en-US" sz="1000" i="1" baseline="0" dirty="0">
                          <a:solidFill>
                            <a:schemeClr val="tx1"/>
                          </a:solidFill>
                        </a:rPr>
                        <a:t>IT department</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Cloud provider takes care everything</a:t>
                      </a:r>
                    </a:p>
                  </a:txBody>
                  <a:tcPr marL="68580" marR="68580" marT="34290" marB="34290" anchor="ctr"/>
                </a:tc>
                <a:extLst>
                  <a:ext uri="{0D108BD9-81ED-4DB2-BD59-A6C34878D82A}">
                    <a16:rowId xmlns:a16="http://schemas.microsoft.com/office/drawing/2014/main" val="10001"/>
                  </a:ext>
                </a:extLst>
              </a:tr>
              <a:tr h="377381">
                <a:tc>
                  <a:txBody>
                    <a:bodyPr/>
                    <a:lstStyle/>
                    <a:p>
                      <a:r>
                        <a:rPr lang="en-US" sz="1000" b="1" i="1" dirty="0"/>
                        <a:t>Payment</a:t>
                      </a:r>
                    </a:p>
                  </a:txBody>
                  <a:tcPr marL="68580" marR="68580" marT="34290" marB="34290" anchor="ctr"/>
                </a:tc>
                <a:tc>
                  <a:txBody>
                    <a:bodyPr/>
                    <a:lstStyle/>
                    <a:p>
                      <a:pPr algn="l"/>
                      <a:r>
                        <a:rPr lang="en-US" sz="1000" i="1" dirty="0">
                          <a:solidFill>
                            <a:schemeClr val="tx1"/>
                          </a:solidFill>
                        </a:rPr>
                        <a:t>Pay for all investment</a:t>
                      </a:r>
                      <a:r>
                        <a:rPr lang="en-US" sz="1000" i="1" baseline="0" dirty="0">
                          <a:solidFill>
                            <a:schemeClr val="tx1"/>
                          </a:solidFill>
                        </a:rPr>
                        <a:t> and human resource</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Enterprise pays as the</a:t>
                      </a:r>
                      <a:r>
                        <a:rPr lang="en-US" sz="1000" i="1" baseline="0" dirty="0">
                          <a:solidFill>
                            <a:schemeClr val="tx1"/>
                          </a:solidFill>
                        </a:rPr>
                        <a:t> service used</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2"/>
                  </a:ext>
                </a:extLst>
              </a:tr>
              <a:tr h="278130">
                <a:tc>
                  <a:txBody>
                    <a:bodyPr/>
                    <a:lstStyle/>
                    <a:p>
                      <a:r>
                        <a:rPr lang="en-US" sz="1000" b="1" i="1" dirty="0"/>
                        <a:t>Time duration</a:t>
                      </a:r>
                    </a:p>
                  </a:txBody>
                  <a:tcPr marL="68580" marR="68580" marT="34290" marB="34290" anchor="ctr"/>
                </a:tc>
                <a:tc>
                  <a:txBody>
                    <a:bodyPr/>
                    <a:lstStyle/>
                    <a:p>
                      <a:pPr algn="l"/>
                      <a:r>
                        <a:rPr lang="en-US" sz="1000" i="1" dirty="0">
                          <a:solidFill>
                            <a:schemeClr val="tx1"/>
                          </a:solidFill>
                        </a:rPr>
                        <a:t>Long establish</a:t>
                      </a:r>
                      <a:r>
                        <a:rPr lang="en-US" sz="1000" i="1" baseline="0" dirty="0">
                          <a:solidFill>
                            <a:schemeClr val="tx1"/>
                          </a:solidFill>
                        </a:rPr>
                        <a:t> </a:t>
                      </a:r>
                      <a:r>
                        <a:rPr lang="en-US" sz="1000" i="1" dirty="0">
                          <a:solidFill>
                            <a:schemeClr val="tx1"/>
                          </a:solidFill>
                        </a:rPr>
                        <a:t>time</a:t>
                      </a:r>
                    </a:p>
                  </a:txBody>
                  <a:tcPr marL="68580" marR="68580" marT="34290" marB="34290" anchor="ctr"/>
                </a:tc>
                <a:tc>
                  <a:txBody>
                    <a:bodyPr/>
                    <a:lstStyle/>
                    <a:p>
                      <a:pPr algn="l"/>
                      <a:r>
                        <a:rPr lang="en-US" sz="1000" i="1" dirty="0">
                          <a:solidFill>
                            <a:schemeClr val="tx1"/>
                          </a:solidFill>
                        </a:rPr>
                        <a:t>Fast to business ready</a:t>
                      </a:r>
                    </a:p>
                  </a:txBody>
                  <a:tcPr marL="68580" marR="68580" marT="34290" marB="34290" anchor="ctr"/>
                </a:tc>
                <a:extLst>
                  <a:ext uri="{0D108BD9-81ED-4DB2-BD59-A6C34878D82A}">
                    <a16:rowId xmlns:a16="http://schemas.microsoft.com/office/drawing/2014/main" val="10003"/>
                  </a:ext>
                </a:extLst>
              </a:tr>
            </a:tbl>
          </a:graphicData>
        </a:graphic>
      </p:graphicFrame>
      <p:sp>
        <p:nvSpPr>
          <p:cNvPr id="4" name="灯片编号占位符 3">
            <a:extLst>
              <a:ext uri="{FF2B5EF4-FFF2-40B4-BE49-F238E27FC236}">
                <a16:creationId xmlns:a16="http://schemas.microsoft.com/office/drawing/2014/main" id="{E3E61DFC-57AD-E5C1-6F23-292929FCC574}"/>
              </a:ext>
            </a:extLst>
          </p:cNvPr>
          <p:cNvSpPr>
            <a:spLocks noGrp="1"/>
          </p:cNvSpPr>
          <p:nvPr>
            <p:ph type="sldNum" sz="quarter" idx="10"/>
          </p:nvPr>
        </p:nvSpPr>
        <p:spPr/>
        <p:txBody>
          <a:bodyPr/>
          <a:lstStyle/>
          <a:p>
            <a:fld id="{D9B6BDF2-6896-4B98-8776-C18582F63BA5}" type="slidenum">
              <a:rPr lang="zh-TW" altLang="en-US" smtClean="0"/>
              <a:pPr/>
              <a:t>66</a:t>
            </a:fld>
            <a:endParaRPr lang="zh-TW"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026" y="79474"/>
            <a:ext cx="7888289" cy="519113"/>
          </a:xfrm>
        </p:spPr>
        <p:txBody>
          <a:bodyPr/>
          <a:lstStyle/>
          <a:p>
            <a:r>
              <a:rPr lang="en-US" dirty="0"/>
              <a:t>Improve Industrial Specialization (1)</a:t>
            </a:r>
          </a:p>
        </p:txBody>
      </p:sp>
      <p:sp>
        <p:nvSpPr>
          <p:cNvPr id="3" name="Content Placeholder 2"/>
          <p:cNvSpPr>
            <a:spLocks noGrp="1"/>
          </p:cNvSpPr>
          <p:nvPr>
            <p:ph idx="1"/>
          </p:nvPr>
        </p:nvSpPr>
        <p:spPr>
          <a:xfrm>
            <a:off x="1001027" y="844153"/>
            <a:ext cx="7594334" cy="3121455"/>
          </a:xfrm>
        </p:spPr>
        <p:txBody>
          <a:bodyPr/>
          <a:lstStyle/>
          <a:p>
            <a:pPr>
              <a:spcBef>
                <a:spcPts val="0"/>
              </a:spcBef>
            </a:pPr>
            <a:r>
              <a:rPr lang="en-US" sz="2000" dirty="0"/>
              <a:t>Traditional industry and market :</a:t>
            </a:r>
          </a:p>
          <a:p>
            <a:pPr lvl="1">
              <a:spcBef>
                <a:spcPts val="0"/>
              </a:spcBef>
            </a:pPr>
            <a:r>
              <a:rPr lang="en-US" sz="2000" dirty="0"/>
              <a:t>Every enterprise has to own its IT department</a:t>
            </a:r>
          </a:p>
          <a:p>
            <a:pPr lvl="1">
              <a:spcBef>
                <a:spcPts val="0"/>
              </a:spcBef>
            </a:pPr>
            <a:r>
              <a:rPr lang="en-US" sz="2000" dirty="0"/>
              <a:t>IT resource is managed by enterprise themselves</a:t>
            </a:r>
          </a:p>
          <a:p>
            <a:pPr lvl="1">
              <a:spcBef>
                <a:spcPts val="0"/>
              </a:spcBef>
            </a:pPr>
            <a:r>
              <a:rPr lang="en-US" sz="2000" dirty="0"/>
              <a:t>IT complexity should be well taken care by enterprise themselves</a:t>
            </a:r>
            <a:br>
              <a:rPr lang="en-US" sz="2000" dirty="0"/>
            </a:br>
            <a:endParaRPr lang="en-US" sz="2000" dirty="0"/>
          </a:p>
          <a:p>
            <a:pPr>
              <a:spcBef>
                <a:spcPts val="0"/>
              </a:spcBef>
            </a:pPr>
            <a:r>
              <a:rPr lang="en-US" sz="2000" dirty="0"/>
              <a:t>Some drawbacks :</a:t>
            </a:r>
          </a:p>
          <a:p>
            <a:pPr lvl="1">
              <a:spcBef>
                <a:spcPts val="0"/>
              </a:spcBef>
            </a:pPr>
            <a:r>
              <a:rPr lang="en-US" sz="2000" dirty="0"/>
              <a:t>IT department is not the business focus of enterprise</a:t>
            </a:r>
          </a:p>
          <a:p>
            <a:pPr lvl="1">
              <a:spcBef>
                <a:spcPts val="0"/>
              </a:spcBef>
            </a:pPr>
            <a:r>
              <a:rPr lang="en-US" sz="2000" dirty="0"/>
              <a:t>Most of enterprises do not well maintain their IT resources</a:t>
            </a:r>
          </a:p>
          <a:p>
            <a:pPr lvl="1">
              <a:spcBef>
                <a:spcPts val="0"/>
              </a:spcBef>
            </a:pPr>
            <a:r>
              <a:rPr lang="en-US" sz="2000" dirty="0"/>
              <a:t>Enterprise seldom optimizes their IT resource usage</a:t>
            </a:r>
          </a:p>
        </p:txBody>
      </p:sp>
      <p:sp>
        <p:nvSpPr>
          <p:cNvPr id="4" name="灯片编号占位符 3">
            <a:extLst>
              <a:ext uri="{FF2B5EF4-FFF2-40B4-BE49-F238E27FC236}">
                <a16:creationId xmlns:a16="http://schemas.microsoft.com/office/drawing/2014/main" id="{E1E04E83-17D1-ECB9-03B1-B1881C289E4F}"/>
              </a:ext>
            </a:extLst>
          </p:cNvPr>
          <p:cNvSpPr>
            <a:spLocks noGrp="1"/>
          </p:cNvSpPr>
          <p:nvPr>
            <p:ph type="sldNum" sz="quarter" idx="10"/>
          </p:nvPr>
        </p:nvSpPr>
        <p:spPr/>
        <p:txBody>
          <a:bodyPr/>
          <a:lstStyle/>
          <a:p>
            <a:fld id="{D9B6BDF2-6896-4B98-8776-C18582F63BA5}" type="slidenum">
              <a:rPr lang="zh-TW" altLang="en-US" smtClean="0"/>
              <a:pPr/>
              <a:t>67</a:t>
            </a:fld>
            <a:endParaRPr lang="zh-TW"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4026" y="874514"/>
            <a:ext cx="7442201" cy="3745612"/>
          </a:xfrm>
        </p:spPr>
        <p:txBody>
          <a:bodyPr/>
          <a:lstStyle/>
          <a:p>
            <a:pPr>
              <a:spcBef>
                <a:spcPts val="0"/>
              </a:spcBef>
            </a:pPr>
            <a:r>
              <a:rPr lang="en-US" sz="2000" dirty="0"/>
              <a:t>Collaboration with Cloud providers :</a:t>
            </a:r>
          </a:p>
          <a:p>
            <a:pPr lvl="1">
              <a:spcBef>
                <a:spcPts val="0"/>
              </a:spcBef>
            </a:pPr>
            <a:r>
              <a:rPr lang="en-US" sz="2000" dirty="0"/>
              <a:t>Cloud providers centrally maintain IT infrastructure for clients</a:t>
            </a:r>
          </a:p>
          <a:p>
            <a:pPr lvl="1">
              <a:spcBef>
                <a:spcPts val="0"/>
              </a:spcBef>
            </a:pPr>
            <a:r>
              <a:rPr lang="en-US" sz="2000" dirty="0"/>
              <a:t>Cloud providers employ experts for management and administration</a:t>
            </a:r>
          </a:p>
          <a:p>
            <a:pPr lvl="1">
              <a:spcBef>
                <a:spcPts val="0"/>
              </a:spcBef>
            </a:pPr>
            <a:r>
              <a:rPr lang="en-US" sz="2000" dirty="0"/>
              <a:t>Cloud providers focus on providing reliable IT services</a:t>
            </a:r>
          </a:p>
          <a:p>
            <a:pPr lvl="1">
              <a:spcBef>
                <a:spcPts val="0"/>
              </a:spcBef>
            </a:pPr>
            <a:r>
              <a:rPr lang="en-US" sz="2000" dirty="0"/>
              <a:t>Enterprises only rent the service they need and care</a:t>
            </a:r>
            <a:br>
              <a:rPr lang="en-US" sz="2000" dirty="0"/>
            </a:br>
            <a:endParaRPr lang="en-US" sz="2000" dirty="0"/>
          </a:p>
          <a:p>
            <a:pPr>
              <a:spcBef>
                <a:spcPts val="0"/>
              </a:spcBef>
            </a:pPr>
            <a:r>
              <a:rPr lang="en-US" sz="2000" dirty="0"/>
              <a:t>Some benefits :</a:t>
            </a:r>
          </a:p>
          <a:p>
            <a:pPr lvl="1">
              <a:spcBef>
                <a:spcPts val="0"/>
              </a:spcBef>
            </a:pPr>
            <a:r>
              <a:rPr lang="en-US" sz="2000" dirty="0"/>
              <a:t>Industrial specialization will be improved</a:t>
            </a:r>
          </a:p>
          <a:p>
            <a:pPr lvl="1">
              <a:spcBef>
                <a:spcPts val="0"/>
              </a:spcBef>
            </a:pPr>
            <a:r>
              <a:rPr lang="en-US" sz="2000" dirty="0"/>
              <a:t>IT service performance will be optimized</a:t>
            </a:r>
          </a:p>
          <a:p>
            <a:pPr lvl="1">
              <a:spcBef>
                <a:spcPts val="0"/>
              </a:spcBef>
            </a:pPr>
            <a:r>
              <a:rPr lang="en-US" sz="2000" dirty="0"/>
              <a:t>Enterprise business focus will be enhanced</a:t>
            </a:r>
          </a:p>
          <a:p>
            <a:pPr lvl="1">
              <a:spcBef>
                <a:spcPts val="0"/>
              </a:spcBef>
            </a:pPr>
            <a:r>
              <a:rPr lang="en-US" sz="2000" dirty="0"/>
              <a:t>IT resource waste will be reduced</a:t>
            </a:r>
          </a:p>
        </p:txBody>
      </p:sp>
      <p:sp>
        <p:nvSpPr>
          <p:cNvPr id="4" name="灯片编号占位符 3">
            <a:extLst>
              <a:ext uri="{FF2B5EF4-FFF2-40B4-BE49-F238E27FC236}">
                <a16:creationId xmlns:a16="http://schemas.microsoft.com/office/drawing/2014/main" id="{F439388F-A1FC-353C-8B3A-274997726FC6}"/>
              </a:ext>
            </a:extLst>
          </p:cNvPr>
          <p:cNvSpPr>
            <a:spLocks noGrp="1"/>
          </p:cNvSpPr>
          <p:nvPr>
            <p:ph type="sldNum" sz="quarter" idx="10"/>
          </p:nvPr>
        </p:nvSpPr>
        <p:spPr/>
        <p:txBody>
          <a:bodyPr/>
          <a:lstStyle/>
          <a:p>
            <a:fld id="{D9B6BDF2-6896-4B98-8776-C18582F63BA5}" type="slidenum">
              <a:rPr lang="zh-TW" altLang="en-US" smtClean="0"/>
              <a:pPr/>
              <a:t>68</a:t>
            </a:fld>
            <a:endParaRPr lang="zh-TW" altLang="en-US"/>
          </a:p>
        </p:txBody>
      </p:sp>
      <p:sp>
        <p:nvSpPr>
          <p:cNvPr id="7" name="Title 1">
            <a:extLst>
              <a:ext uri="{FF2B5EF4-FFF2-40B4-BE49-F238E27FC236}">
                <a16:creationId xmlns:a16="http://schemas.microsoft.com/office/drawing/2014/main" id="{D6679760-B7C3-73A5-0DF8-C3A70107A21F}"/>
              </a:ext>
            </a:extLst>
          </p:cNvPr>
          <p:cNvSpPr>
            <a:spLocks noGrp="1"/>
          </p:cNvSpPr>
          <p:nvPr>
            <p:ph type="title"/>
          </p:nvPr>
        </p:nvSpPr>
        <p:spPr>
          <a:xfrm>
            <a:off x="874026" y="79474"/>
            <a:ext cx="7888289" cy="519113"/>
          </a:xfrm>
        </p:spPr>
        <p:txBody>
          <a:bodyPr/>
          <a:lstStyle/>
          <a:p>
            <a:r>
              <a:rPr lang="en-US" dirty="0"/>
              <a:t>Improve Industrial Specialization (2)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551" y="910972"/>
            <a:ext cx="6172200" cy="342900"/>
          </a:xfrm>
        </p:spPr>
        <p:txBody>
          <a:bodyPr/>
          <a:lstStyle/>
          <a:p>
            <a:r>
              <a:rPr lang="en-US" sz="2000" dirty="0"/>
              <a:t>What dose cloud computing achieve ?</a:t>
            </a:r>
          </a:p>
        </p:txBody>
      </p:sp>
      <p:pic>
        <p:nvPicPr>
          <p:cNvPr id="41986" name="Picture 2" descr="http://www.srlab.com.cn/images/ShakeHands.jpg"/>
          <p:cNvPicPr>
            <a:picLocks noChangeAspect="1" noChangeArrowheads="1"/>
          </p:cNvPicPr>
          <p:nvPr/>
        </p:nvPicPr>
        <p:blipFill>
          <a:blip r:embed="rId2" cstate="print"/>
          <a:srcRect t="5530" b="9677"/>
          <a:stretch>
            <a:fillRect/>
          </a:stretch>
        </p:blipFill>
        <p:spPr bwMode="auto">
          <a:xfrm>
            <a:off x="3382137" y="2997667"/>
            <a:ext cx="2554468" cy="14395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extLst>
              <p:ext uri="{D42A27DB-BD31-4B8C-83A1-F6EECF244321}">
                <p14:modId xmlns:p14="http://schemas.microsoft.com/office/powerpoint/2010/main" val="940324814"/>
              </p:ext>
            </p:extLst>
          </p:nvPr>
        </p:nvGraphicFramePr>
        <p:xfrm>
          <a:off x="2000250" y="1419471"/>
          <a:ext cx="5143501" cy="1311022"/>
        </p:xfrm>
        <a:graphic>
          <a:graphicData uri="http://schemas.openxmlformats.org/drawingml/2006/table">
            <a:tbl>
              <a:tblPr firstRow="1" bandRow="1">
                <a:tableStyleId>{7DF18680-E054-41AD-8BC1-D1AEF772440D}</a:tableStyleId>
              </a:tblPr>
              <a:tblGrid>
                <a:gridCol w="1391771">
                  <a:extLst>
                    <a:ext uri="{9D8B030D-6E8A-4147-A177-3AD203B41FA5}">
                      <a16:colId xmlns:a16="http://schemas.microsoft.com/office/drawing/2014/main" val="20000"/>
                    </a:ext>
                  </a:extLst>
                </a:gridCol>
                <a:gridCol w="1875865">
                  <a:extLst>
                    <a:ext uri="{9D8B030D-6E8A-4147-A177-3AD203B41FA5}">
                      <a16:colId xmlns:a16="http://schemas.microsoft.com/office/drawing/2014/main" val="20001"/>
                    </a:ext>
                  </a:extLst>
                </a:gridCol>
                <a:gridCol w="1875865">
                  <a:extLst>
                    <a:ext uri="{9D8B030D-6E8A-4147-A177-3AD203B41FA5}">
                      <a16:colId xmlns:a16="http://schemas.microsoft.com/office/drawing/2014/main" val="20002"/>
                    </a:ext>
                  </a:extLst>
                </a:gridCol>
              </a:tblGrid>
              <a:tr h="278130">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77381">
                <a:tc>
                  <a:txBody>
                    <a:bodyPr/>
                    <a:lstStyle/>
                    <a:p>
                      <a:r>
                        <a:rPr lang="en-US" sz="1000" b="1" i="1" dirty="0"/>
                        <a:t>Collaboration</a:t>
                      </a:r>
                    </a:p>
                  </a:txBody>
                  <a:tcPr marL="68580" marR="68580" marT="34290" marB="34290" anchor="ctr"/>
                </a:tc>
                <a:tc>
                  <a:txBody>
                    <a:bodyPr/>
                    <a:lstStyle/>
                    <a:p>
                      <a:pPr algn="l"/>
                      <a:r>
                        <a:rPr lang="en-US" sz="1000" i="1" dirty="0">
                          <a:solidFill>
                            <a:schemeClr val="tx1"/>
                          </a:solidFill>
                        </a:rPr>
                        <a:t>Enterprise needs</a:t>
                      </a:r>
                      <a:r>
                        <a:rPr lang="en-US" sz="1000" i="1" baseline="0" dirty="0">
                          <a:solidFill>
                            <a:schemeClr val="tx1"/>
                          </a:solidFill>
                        </a:rPr>
                        <a:t> to take care everything</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Enterprise</a:t>
                      </a:r>
                      <a:r>
                        <a:rPr lang="en-US" sz="1000" i="1" baseline="0" dirty="0">
                          <a:solidFill>
                            <a:schemeClr val="tx1"/>
                          </a:solidFill>
                        </a:rPr>
                        <a:t> focuses on its own business</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1"/>
                  </a:ext>
                </a:extLst>
              </a:tr>
              <a:tr h="377381">
                <a:tc>
                  <a:txBody>
                    <a:bodyPr/>
                    <a:lstStyle/>
                    <a:p>
                      <a:r>
                        <a:rPr lang="en-US" sz="1000" b="1" i="1" dirty="0"/>
                        <a:t>Management</a:t>
                      </a:r>
                    </a:p>
                  </a:txBody>
                  <a:tcPr marL="68580" marR="68580" marT="34290" marB="34290" anchor="ctr"/>
                </a:tc>
                <a:tc>
                  <a:txBody>
                    <a:bodyPr/>
                    <a:lstStyle/>
                    <a:p>
                      <a:pPr algn="l"/>
                      <a:r>
                        <a:rPr lang="en-US" sz="1000" i="1" dirty="0">
                          <a:solidFill>
                            <a:schemeClr val="tx1"/>
                          </a:solidFill>
                        </a:rPr>
                        <a:t>Enterprise works with poor manageability</a:t>
                      </a:r>
                    </a:p>
                  </a:txBody>
                  <a:tcPr marL="68580" marR="68580" marT="34290" marB="34290" anchor="ctr"/>
                </a:tc>
                <a:tc>
                  <a:txBody>
                    <a:bodyPr/>
                    <a:lstStyle/>
                    <a:p>
                      <a:pPr algn="l"/>
                      <a:r>
                        <a:rPr lang="en-US" sz="1000" i="1" dirty="0">
                          <a:solidFill>
                            <a:schemeClr val="tx1"/>
                          </a:solidFill>
                        </a:rPr>
                        <a:t>Cloud</a:t>
                      </a:r>
                      <a:r>
                        <a:rPr lang="en-US" sz="1000" i="1" baseline="0" dirty="0">
                          <a:solidFill>
                            <a:schemeClr val="tx1"/>
                          </a:solidFill>
                        </a:rPr>
                        <a:t> provider applies professional control</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2"/>
                  </a:ext>
                </a:extLst>
              </a:tr>
              <a:tr h="278130">
                <a:tc>
                  <a:txBody>
                    <a:bodyPr/>
                    <a:lstStyle/>
                    <a:p>
                      <a:r>
                        <a:rPr lang="en-US" sz="1000" b="1" i="1" dirty="0"/>
                        <a:t>Relationship</a:t>
                      </a:r>
                    </a:p>
                  </a:txBody>
                  <a:tcPr marL="68580" marR="68580" marT="34290" marB="34290" anchor="ctr"/>
                </a:tc>
                <a:tc>
                  <a:txBody>
                    <a:bodyPr/>
                    <a:lstStyle/>
                    <a:p>
                      <a:pPr algn="l"/>
                      <a:r>
                        <a:rPr lang="en-US" sz="1000" i="1" dirty="0">
                          <a:solidFill>
                            <a:schemeClr val="tx1"/>
                          </a:solidFill>
                        </a:rPr>
                        <a:t>Stand alone enterprise</a:t>
                      </a:r>
                    </a:p>
                  </a:txBody>
                  <a:tcPr marL="68580" marR="68580" marT="34290" marB="34290" anchor="ctr"/>
                </a:tc>
                <a:tc>
                  <a:txBody>
                    <a:bodyPr/>
                    <a:lstStyle/>
                    <a:p>
                      <a:pPr algn="l"/>
                      <a:r>
                        <a:rPr lang="en-US" sz="1000" i="1" dirty="0">
                          <a:solidFill>
                            <a:schemeClr val="tx1"/>
                          </a:solidFill>
                        </a:rPr>
                        <a:t>Win-Win partnership</a:t>
                      </a:r>
                    </a:p>
                  </a:txBody>
                  <a:tcPr marL="68580" marR="68580" marT="34290" marB="34290" anchor="ctr"/>
                </a:tc>
                <a:extLst>
                  <a:ext uri="{0D108BD9-81ED-4DB2-BD59-A6C34878D82A}">
                    <a16:rowId xmlns:a16="http://schemas.microsoft.com/office/drawing/2014/main" val="10003"/>
                  </a:ext>
                </a:extLst>
              </a:tr>
            </a:tbl>
          </a:graphicData>
        </a:graphic>
      </p:graphicFrame>
      <p:sp>
        <p:nvSpPr>
          <p:cNvPr id="4" name="灯片编号占位符 3">
            <a:extLst>
              <a:ext uri="{FF2B5EF4-FFF2-40B4-BE49-F238E27FC236}">
                <a16:creationId xmlns:a16="http://schemas.microsoft.com/office/drawing/2014/main" id="{60FBBD86-219E-E8B1-B7F9-349070274226}"/>
              </a:ext>
            </a:extLst>
          </p:cNvPr>
          <p:cNvSpPr>
            <a:spLocks noGrp="1"/>
          </p:cNvSpPr>
          <p:nvPr>
            <p:ph type="sldNum" sz="quarter" idx="10"/>
          </p:nvPr>
        </p:nvSpPr>
        <p:spPr/>
        <p:txBody>
          <a:bodyPr/>
          <a:lstStyle/>
          <a:p>
            <a:fld id="{D9B6BDF2-6896-4B98-8776-C18582F63BA5}" type="slidenum">
              <a:rPr lang="zh-TW" altLang="en-US" smtClean="0"/>
              <a:pPr/>
              <a:t>69</a:t>
            </a:fld>
            <a:endParaRPr lang="zh-TW" altLang="en-US"/>
          </a:p>
        </p:txBody>
      </p:sp>
      <p:sp>
        <p:nvSpPr>
          <p:cNvPr id="8" name="Title 1">
            <a:extLst>
              <a:ext uri="{FF2B5EF4-FFF2-40B4-BE49-F238E27FC236}">
                <a16:creationId xmlns:a16="http://schemas.microsoft.com/office/drawing/2014/main" id="{D3F99EE0-3E0E-D97C-E9AD-A303F60FA894}"/>
              </a:ext>
            </a:extLst>
          </p:cNvPr>
          <p:cNvSpPr>
            <a:spLocks noGrp="1"/>
          </p:cNvSpPr>
          <p:nvPr>
            <p:ph type="title"/>
          </p:nvPr>
        </p:nvSpPr>
        <p:spPr>
          <a:xfrm>
            <a:off x="874026" y="79474"/>
            <a:ext cx="7888289" cy="519113"/>
          </a:xfrm>
        </p:spPr>
        <p:txBody>
          <a:bodyPr/>
          <a:lstStyle/>
          <a:p>
            <a:r>
              <a:rPr lang="en-US" dirty="0"/>
              <a:t>Improve Industrial Specialization (3)</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Improve Resource Utilization (1)</a:t>
            </a:r>
          </a:p>
        </p:txBody>
      </p:sp>
      <p:sp>
        <p:nvSpPr>
          <p:cNvPr id="3" name="Content Placeholder 2"/>
          <p:cNvSpPr>
            <a:spLocks noGrp="1"/>
          </p:cNvSpPr>
          <p:nvPr>
            <p:ph idx="1"/>
          </p:nvPr>
        </p:nvSpPr>
        <p:spPr>
          <a:xfrm>
            <a:off x="925510" y="844153"/>
            <a:ext cx="7761290" cy="3671888"/>
          </a:xfrm>
        </p:spPr>
        <p:txBody>
          <a:bodyPr/>
          <a:lstStyle/>
          <a:p>
            <a:r>
              <a:rPr lang="en-US" sz="2000" dirty="0"/>
              <a:t>Traditional industry and market :</a:t>
            </a:r>
          </a:p>
          <a:p>
            <a:pPr lvl="1"/>
            <a:r>
              <a:rPr lang="en-US" sz="2000" dirty="0"/>
              <a:t>Enterprise seldom takes care about IT resource utilization</a:t>
            </a:r>
          </a:p>
          <a:p>
            <a:pPr lvl="1"/>
            <a:r>
              <a:rPr lang="en-US" sz="2000" dirty="0"/>
              <a:t>Enterprise owns their IT resource without well management</a:t>
            </a:r>
          </a:p>
          <a:p>
            <a:pPr lvl="1"/>
            <a:r>
              <a:rPr lang="en-US" sz="2000" dirty="0"/>
              <a:t>IT resource usually over invested for peak demand</a:t>
            </a:r>
            <a:br>
              <a:rPr lang="en-US" sz="2000" dirty="0"/>
            </a:br>
            <a:endParaRPr lang="en-US" sz="2000" dirty="0"/>
          </a:p>
          <a:p>
            <a:r>
              <a:rPr lang="en-US" sz="2000" dirty="0"/>
              <a:t>Some drawbacks :</a:t>
            </a:r>
          </a:p>
          <a:p>
            <a:pPr lvl="1"/>
            <a:r>
              <a:rPr lang="en-US" sz="2000" dirty="0"/>
              <a:t>Power and space utilization among enterprises are wasted</a:t>
            </a:r>
          </a:p>
          <a:p>
            <a:pPr lvl="1"/>
            <a:r>
              <a:rPr lang="en-US" sz="2000" dirty="0"/>
              <a:t>IT resources across enterprises cannot be shared</a:t>
            </a:r>
          </a:p>
          <a:p>
            <a:pPr lvl="1"/>
            <a:endParaRPr lang="en-US" sz="2000" dirty="0"/>
          </a:p>
        </p:txBody>
      </p:sp>
      <p:sp>
        <p:nvSpPr>
          <p:cNvPr id="4" name="灯片编号占位符 3">
            <a:extLst>
              <a:ext uri="{FF2B5EF4-FFF2-40B4-BE49-F238E27FC236}">
                <a16:creationId xmlns:a16="http://schemas.microsoft.com/office/drawing/2014/main" id="{A5139D0A-2074-DCAC-21C6-DEF06D984FBE}"/>
              </a:ext>
            </a:extLst>
          </p:cNvPr>
          <p:cNvSpPr>
            <a:spLocks noGrp="1"/>
          </p:cNvSpPr>
          <p:nvPr>
            <p:ph type="sldNum" sz="quarter" idx="10"/>
          </p:nvPr>
        </p:nvSpPr>
        <p:spPr/>
        <p:txBody>
          <a:bodyPr/>
          <a:lstStyle/>
          <a:p>
            <a:fld id="{D9B6BDF2-6896-4B98-8776-C18582F63BA5}" type="slidenum">
              <a:rPr lang="zh-TW" altLang="en-US" smtClean="0"/>
              <a:pPr/>
              <a:t>70</a:t>
            </a:fld>
            <a:endParaRPr lang="zh-TW"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5510" y="844153"/>
            <a:ext cx="7429218" cy="3671888"/>
          </a:xfrm>
        </p:spPr>
        <p:txBody>
          <a:bodyPr/>
          <a:lstStyle/>
          <a:p>
            <a:pPr>
              <a:spcBef>
                <a:spcPts val="0"/>
              </a:spcBef>
            </a:pPr>
            <a:r>
              <a:rPr lang="en-US" sz="2000" dirty="0"/>
              <a:t>Collaboration with Cloud providers </a:t>
            </a:r>
          </a:p>
          <a:p>
            <a:pPr lvl="1">
              <a:spcBef>
                <a:spcPts val="0"/>
              </a:spcBef>
            </a:pPr>
            <a:r>
              <a:rPr lang="en-US" sz="2000" dirty="0"/>
              <a:t>IT resources are centrically managed and optimized</a:t>
            </a:r>
          </a:p>
          <a:p>
            <a:pPr lvl="2">
              <a:spcBef>
                <a:spcPts val="0"/>
              </a:spcBef>
            </a:pPr>
            <a:r>
              <a:rPr lang="en-US" dirty="0">
                <a:latin typeface="Times New Roman" panose="02020603050405020304" pitchFamily="18" charset="0"/>
                <a:cs typeface="Times New Roman" panose="02020603050405020304" pitchFamily="18" charset="0"/>
              </a:rPr>
              <a:t>Cloud provider builds performance optimized hardware</a:t>
            </a:r>
          </a:p>
          <a:p>
            <a:pPr lvl="2">
              <a:spcBef>
                <a:spcPts val="0"/>
              </a:spcBef>
            </a:pPr>
            <a:r>
              <a:rPr lang="en-US" dirty="0">
                <a:latin typeface="Times New Roman" panose="02020603050405020304" pitchFamily="18" charset="0"/>
                <a:cs typeface="Times New Roman" panose="02020603050405020304" pitchFamily="18" charset="0"/>
              </a:rPr>
              <a:t>Cloud provider builds consolidated cooling system</a:t>
            </a:r>
          </a:p>
          <a:p>
            <a:pPr lvl="2">
              <a:spcBef>
                <a:spcPts val="0"/>
              </a:spcBef>
            </a:pPr>
            <a:r>
              <a:rPr lang="en-US" dirty="0">
                <a:latin typeface="Times New Roman" panose="02020603050405020304" pitchFamily="18" charset="0"/>
                <a:cs typeface="Times New Roman" panose="02020603050405020304" pitchFamily="18" charset="0"/>
              </a:rPr>
              <a:t>Cloud provider will consider the geographic issues</a:t>
            </a:r>
          </a:p>
          <a:p>
            <a:pPr lvl="2">
              <a:spcBef>
                <a:spcPts val="0"/>
              </a:spcBef>
            </a:pPr>
            <a:r>
              <a:rPr lang="en-US" dirty="0">
                <a:latin typeface="Times New Roman" panose="02020603050405020304" pitchFamily="18" charset="0"/>
                <a:cs typeface="Times New Roman" panose="02020603050405020304" pitchFamily="18" charset="0"/>
              </a:rPr>
              <a:t>Cloud provider will consider legal policy issues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spcBef>
                <a:spcPts val="0"/>
              </a:spcBef>
            </a:pPr>
            <a:r>
              <a:rPr lang="en-US" sz="2000" dirty="0"/>
              <a:t>Some benefits </a:t>
            </a:r>
          </a:p>
          <a:p>
            <a:pPr lvl="1">
              <a:spcBef>
                <a:spcPts val="0"/>
              </a:spcBef>
            </a:pPr>
            <a:r>
              <a:rPr lang="en-US" sz="2000" dirty="0"/>
              <a:t>IT infrastructure can be shared among enterprises</a:t>
            </a:r>
          </a:p>
          <a:p>
            <a:pPr lvl="1">
              <a:spcBef>
                <a:spcPts val="0"/>
              </a:spcBef>
            </a:pPr>
            <a:r>
              <a:rPr lang="en-US" sz="2000" dirty="0"/>
              <a:t>IT infrastructure performance and utilization can be optimized</a:t>
            </a:r>
          </a:p>
          <a:p>
            <a:pPr lvl="1">
              <a:spcBef>
                <a:spcPts val="0"/>
              </a:spcBef>
            </a:pPr>
            <a:r>
              <a:rPr lang="en-US" sz="2000" dirty="0"/>
              <a:t>Large-scale integrated optimization can be applied</a:t>
            </a:r>
          </a:p>
        </p:txBody>
      </p:sp>
      <p:sp>
        <p:nvSpPr>
          <p:cNvPr id="4" name="灯片编号占位符 3">
            <a:extLst>
              <a:ext uri="{FF2B5EF4-FFF2-40B4-BE49-F238E27FC236}">
                <a16:creationId xmlns:a16="http://schemas.microsoft.com/office/drawing/2014/main" id="{377091B4-E48C-C444-276C-3B5EF8B0C20C}"/>
              </a:ext>
            </a:extLst>
          </p:cNvPr>
          <p:cNvSpPr>
            <a:spLocks noGrp="1"/>
          </p:cNvSpPr>
          <p:nvPr>
            <p:ph type="sldNum" sz="quarter" idx="10"/>
          </p:nvPr>
        </p:nvSpPr>
        <p:spPr/>
        <p:txBody>
          <a:bodyPr/>
          <a:lstStyle/>
          <a:p>
            <a:fld id="{D9B6BDF2-6896-4B98-8776-C18582F63BA5}" type="slidenum">
              <a:rPr lang="zh-TW" altLang="en-US" smtClean="0"/>
              <a:pPr/>
              <a:t>71</a:t>
            </a:fld>
            <a:endParaRPr lang="zh-TW" altLang="en-US"/>
          </a:p>
        </p:txBody>
      </p:sp>
      <p:sp>
        <p:nvSpPr>
          <p:cNvPr id="7" name="Title 1">
            <a:extLst>
              <a:ext uri="{FF2B5EF4-FFF2-40B4-BE49-F238E27FC236}">
                <a16:creationId xmlns:a16="http://schemas.microsoft.com/office/drawing/2014/main" id="{6F300D66-8EA4-CD5E-BE42-17D51260B63C}"/>
              </a:ext>
            </a:extLst>
          </p:cNvPr>
          <p:cNvSpPr>
            <a:spLocks noGrp="1"/>
          </p:cNvSpPr>
          <p:nvPr>
            <p:ph type="title"/>
          </p:nvPr>
        </p:nvSpPr>
        <p:spPr>
          <a:xfrm>
            <a:off x="914400" y="108349"/>
            <a:ext cx="7761290" cy="519113"/>
          </a:xfrm>
        </p:spPr>
        <p:txBody>
          <a:bodyPr/>
          <a:lstStyle/>
          <a:p>
            <a:r>
              <a:rPr lang="en-US" dirty="0"/>
              <a:t>Improve Resource Utilization (2)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4" name="Picture 4" descr="http://achieving-your-potential.com/tree%20in%20hand.jpg"/>
          <p:cNvPicPr>
            <a:picLocks noChangeAspect="1" noChangeArrowheads="1"/>
          </p:cNvPicPr>
          <p:nvPr/>
        </p:nvPicPr>
        <p:blipFill>
          <a:blip r:embed="rId2" cstate="print"/>
          <a:srcRect t="20593" b="14455"/>
          <a:stretch>
            <a:fillRect/>
          </a:stretch>
        </p:blipFill>
        <p:spPr bwMode="auto">
          <a:xfrm>
            <a:off x="3212719" y="2752110"/>
            <a:ext cx="3147488" cy="17007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p:cNvSpPr>
            <a:spLocks noGrp="1"/>
          </p:cNvSpPr>
          <p:nvPr>
            <p:ph idx="1"/>
          </p:nvPr>
        </p:nvSpPr>
        <p:spPr>
          <a:xfrm>
            <a:off x="1062389" y="838796"/>
            <a:ext cx="6172200" cy="342900"/>
          </a:xfrm>
        </p:spPr>
        <p:txBody>
          <a:bodyPr/>
          <a:lstStyle/>
          <a:p>
            <a:r>
              <a:rPr lang="en-US" sz="2000" dirty="0"/>
              <a:t>What dose cloud computing achieve ?</a:t>
            </a:r>
          </a:p>
        </p:txBody>
      </p:sp>
      <p:graphicFrame>
        <p:nvGraphicFramePr>
          <p:cNvPr id="7" name="Table 6"/>
          <p:cNvGraphicFramePr>
            <a:graphicFrameLocks noGrp="1"/>
          </p:cNvGraphicFramePr>
          <p:nvPr>
            <p:extLst>
              <p:ext uri="{D42A27DB-BD31-4B8C-83A1-F6EECF244321}">
                <p14:modId xmlns:p14="http://schemas.microsoft.com/office/powerpoint/2010/main" val="1611802974"/>
              </p:ext>
            </p:extLst>
          </p:nvPr>
        </p:nvGraphicFramePr>
        <p:xfrm>
          <a:off x="2357588" y="1450457"/>
          <a:ext cx="4857751" cy="1032892"/>
        </p:xfrm>
        <a:graphic>
          <a:graphicData uri="http://schemas.openxmlformats.org/drawingml/2006/table">
            <a:tbl>
              <a:tblPr firstRow="1" bandRow="1">
                <a:tableStyleId>{7DF18680-E054-41AD-8BC1-D1AEF772440D}</a:tableStyleId>
              </a:tblPr>
              <a:tblGrid>
                <a:gridCol w="1314451">
                  <a:extLst>
                    <a:ext uri="{9D8B030D-6E8A-4147-A177-3AD203B41FA5}">
                      <a16:colId xmlns:a16="http://schemas.microsoft.com/office/drawing/2014/main" val="20000"/>
                    </a:ext>
                  </a:extLst>
                </a:gridCol>
                <a:gridCol w="1685924">
                  <a:extLst>
                    <a:ext uri="{9D8B030D-6E8A-4147-A177-3AD203B41FA5}">
                      <a16:colId xmlns:a16="http://schemas.microsoft.com/office/drawing/2014/main" val="20001"/>
                    </a:ext>
                  </a:extLst>
                </a:gridCol>
                <a:gridCol w="1857376">
                  <a:extLst>
                    <a:ext uri="{9D8B030D-6E8A-4147-A177-3AD203B41FA5}">
                      <a16:colId xmlns:a16="http://schemas.microsoft.com/office/drawing/2014/main" val="20002"/>
                    </a:ext>
                  </a:extLst>
                </a:gridCol>
              </a:tblGrid>
              <a:tr h="278130">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77381">
                <a:tc>
                  <a:txBody>
                    <a:bodyPr/>
                    <a:lstStyle/>
                    <a:p>
                      <a:r>
                        <a:rPr lang="en-US" sz="1000" b="1" i="1" dirty="0"/>
                        <a:t>IT Resource Utilization</a:t>
                      </a:r>
                    </a:p>
                  </a:txBody>
                  <a:tcPr marL="68580" marR="68580" marT="34290" marB="34290" anchor="ctr"/>
                </a:tc>
                <a:tc>
                  <a:txBody>
                    <a:bodyPr/>
                    <a:lstStyle/>
                    <a:p>
                      <a:pPr algn="l"/>
                      <a:r>
                        <a:rPr lang="en-US" sz="1000" i="1" dirty="0">
                          <a:solidFill>
                            <a:schemeClr val="tx1"/>
                          </a:solidFill>
                        </a:rPr>
                        <a:t>IT</a:t>
                      </a:r>
                      <a:r>
                        <a:rPr lang="en-US" sz="1000" i="1" baseline="0" dirty="0">
                          <a:solidFill>
                            <a:schemeClr val="tx1"/>
                          </a:solidFill>
                        </a:rPr>
                        <a:t> resource under utilized most of time</a:t>
                      </a:r>
                      <a:endParaRPr lang="en-US" sz="1000" i="1" dirty="0">
                        <a:solidFill>
                          <a:schemeClr val="tx1"/>
                        </a:solidFill>
                      </a:endParaRPr>
                    </a:p>
                  </a:txBody>
                  <a:tcPr marL="68580" marR="68580" marT="34290" marB="34290" anchor="ctr"/>
                </a:tc>
                <a:tc>
                  <a:txBody>
                    <a:bodyPr/>
                    <a:lstStyle/>
                    <a:p>
                      <a:pPr algn="l"/>
                      <a:r>
                        <a:rPr lang="en-US" sz="1000" i="1" baseline="0" dirty="0">
                          <a:solidFill>
                            <a:schemeClr val="tx1"/>
                          </a:solidFill>
                        </a:rPr>
                        <a:t>Share to improve utilization of IT resource</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1"/>
                  </a:ext>
                </a:extLst>
              </a:tr>
              <a:tr h="377381">
                <a:tc>
                  <a:txBody>
                    <a:bodyPr/>
                    <a:lstStyle/>
                    <a:p>
                      <a:r>
                        <a:rPr lang="en-US" sz="1000" b="1" i="1" dirty="0"/>
                        <a:t>Power</a:t>
                      </a:r>
                      <a:r>
                        <a:rPr lang="en-US" sz="1000" b="1" i="1" baseline="0" dirty="0"/>
                        <a:t> </a:t>
                      </a:r>
                      <a:r>
                        <a:rPr lang="en-US" sz="1000" b="1" i="1" dirty="0"/>
                        <a:t>Consumption</a:t>
                      </a:r>
                    </a:p>
                  </a:txBody>
                  <a:tcPr marL="68580" marR="68580" marT="34290" marB="34290" anchor="ctr"/>
                </a:tc>
                <a:tc>
                  <a:txBody>
                    <a:bodyPr/>
                    <a:lstStyle/>
                    <a:p>
                      <a:pPr algn="l"/>
                      <a:r>
                        <a:rPr lang="en-US" sz="1000" i="1" dirty="0">
                          <a:solidFill>
                            <a:schemeClr val="tx1"/>
                          </a:solidFill>
                        </a:rPr>
                        <a:t>Waste power and cooling</a:t>
                      </a:r>
                      <a:r>
                        <a:rPr lang="en-US" sz="1000" i="1" baseline="0" dirty="0">
                          <a:solidFill>
                            <a:schemeClr val="tx1"/>
                          </a:solidFill>
                        </a:rPr>
                        <a:t> system</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Cloud system should be global optimized</a:t>
                      </a:r>
                    </a:p>
                  </a:txBody>
                  <a:tcPr marL="68580" marR="68580" marT="34290" marB="34290" anchor="ctr"/>
                </a:tc>
                <a:extLst>
                  <a:ext uri="{0D108BD9-81ED-4DB2-BD59-A6C34878D82A}">
                    <a16:rowId xmlns:a16="http://schemas.microsoft.com/office/drawing/2014/main" val="10002"/>
                  </a:ext>
                </a:extLst>
              </a:tr>
            </a:tbl>
          </a:graphicData>
        </a:graphic>
      </p:graphicFrame>
      <p:sp>
        <p:nvSpPr>
          <p:cNvPr id="3" name="灯片编号占位符 2">
            <a:extLst>
              <a:ext uri="{FF2B5EF4-FFF2-40B4-BE49-F238E27FC236}">
                <a16:creationId xmlns:a16="http://schemas.microsoft.com/office/drawing/2014/main" id="{781F35BA-40E1-F2E6-D9F1-7E930AD9DE68}"/>
              </a:ext>
            </a:extLst>
          </p:cNvPr>
          <p:cNvSpPr>
            <a:spLocks noGrp="1"/>
          </p:cNvSpPr>
          <p:nvPr>
            <p:ph type="sldNum" sz="quarter" idx="10"/>
          </p:nvPr>
        </p:nvSpPr>
        <p:spPr/>
        <p:txBody>
          <a:bodyPr/>
          <a:lstStyle/>
          <a:p>
            <a:fld id="{D9B6BDF2-6896-4B98-8776-C18582F63BA5}" type="slidenum">
              <a:rPr lang="zh-TW" altLang="en-US" smtClean="0"/>
              <a:pPr/>
              <a:t>72</a:t>
            </a:fld>
            <a:endParaRPr lang="zh-TW" altLang="en-US"/>
          </a:p>
        </p:txBody>
      </p:sp>
      <p:sp>
        <p:nvSpPr>
          <p:cNvPr id="8" name="Title 1">
            <a:extLst>
              <a:ext uri="{FF2B5EF4-FFF2-40B4-BE49-F238E27FC236}">
                <a16:creationId xmlns:a16="http://schemas.microsoft.com/office/drawing/2014/main" id="{ECED3F19-66FA-C16E-BFA8-10F10DD08D50}"/>
              </a:ext>
            </a:extLst>
          </p:cNvPr>
          <p:cNvSpPr>
            <a:spLocks noGrp="1"/>
          </p:cNvSpPr>
          <p:nvPr>
            <p:ph type="title"/>
          </p:nvPr>
        </p:nvSpPr>
        <p:spPr>
          <a:xfrm>
            <a:off x="914400" y="108349"/>
            <a:ext cx="7761290" cy="519113"/>
          </a:xfrm>
        </p:spPr>
        <p:txBody>
          <a:bodyPr/>
          <a:lstStyle/>
          <a:p>
            <a:r>
              <a:rPr lang="en-US" dirty="0"/>
              <a:t>Improve Resource Utilization (3)</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1580" y="838453"/>
            <a:ext cx="7800853" cy="761747"/>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5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For End User and Individual</a:t>
            </a:r>
          </a:p>
        </p:txBody>
      </p:sp>
      <p:pic>
        <p:nvPicPr>
          <p:cNvPr id="3" name="Picture 2" descr="C:\Users\Andy\AppData\Local\Microsoft\Windows\Temporary Internet Files\Content.IE5\AKOK3RTZ\MPj04276710000[1].jpg"/>
          <p:cNvPicPr>
            <a:picLocks noChangeAspect="1" noChangeArrowheads="1"/>
          </p:cNvPicPr>
          <p:nvPr/>
        </p:nvPicPr>
        <p:blipFill>
          <a:blip r:embed="rId2" cstate="print"/>
          <a:srcRect t="14858" b="4246"/>
          <a:stretch>
            <a:fillRect/>
          </a:stretch>
        </p:blipFill>
        <p:spPr bwMode="auto">
          <a:xfrm>
            <a:off x="2425565" y="1828800"/>
            <a:ext cx="4746759" cy="2555947"/>
          </a:xfrm>
          <a:prstGeom prst="roundRect">
            <a:avLst>
              <a:gd name="adj" fmla="val 4422"/>
            </a:avLst>
          </a:prstGeom>
          <a:noFill/>
          <a:effectLst>
            <a:outerShdw blurRad="63500" sx="102000" sy="102000" algn="ctr" rotWithShape="0">
              <a:prstClr val="black">
                <a:alpha val="40000"/>
              </a:prstClr>
            </a:outerShdw>
          </a:effectLst>
        </p:spPr>
      </p:pic>
      <p:sp>
        <p:nvSpPr>
          <p:cNvPr id="4" name="灯片编号占位符 3">
            <a:extLst>
              <a:ext uri="{FF2B5EF4-FFF2-40B4-BE49-F238E27FC236}">
                <a16:creationId xmlns:a16="http://schemas.microsoft.com/office/drawing/2014/main" id="{DB0524E2-043A-7C58-7B08-8A9469550F46}"/>
              </a:ext>
            </a:extLst>
          </p:cNvPr>
          <p:cNvSpPr>
            <a:spLocks noGrp="1"/>
          </p:cNvSpPr>
          <p:nvPr>
            <p:ph type="sldNum" sz="quarter" idx="10"/>
          </p:nvPr>
        </p:nvSpPr>
        <p:spPr/>
        <p:txBody>
          <a:bodyPr/>
          <a:lstStyle/>
          <a:p>
            <a:fld id="{D9B6BDF2-6896-4B98-8776-C18582F63BA5}" type="slidenum">
              <a:rPr lang="zh-TW" altLang="en-US" smtClean="0"/>
              <a:pPr/>
              <a:t>73</a:t>
            </a:fld>
            <a:endParaRPr lang="zh-TW"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416" y="108349"/>
            <a:ext cx="7724274" cy="519113"/>
          </a:xfrm>
        </p:spPr>
        <p:txBody>
          <a:bodyPr>
            <a:noAutofit/>
          </a:bodyPr>
          <a:lstStyle/>
          <a:p>
            <a:r>
              <a:rPr lang="en-US" dirty="0"/>
              <a:t>Reduce Local Computing Power (1)</a:t>
            </a:r>
          </a:p>
        </p:txBody>
      </p:sp>
      <p:sp>
        <p:nvSpPr>
          <p:cNvPr id="3" name="Content Placeholder 2"/>
          <p:cNvSpPr>
            <a:spLocks noGrp="1"/>
          </p:cNvSpPr>
          <p:nvPr>
            <p:ph idx="1"/>
          </p:nvPr>
        </p:nvSpPr>
        <p:spPr>
          <a:xfrm>
            <a:off x="962526" y="844153"/>
            <a:ext cx="7724274" cy="3671888"/>
          </a:xfrm>
        </p:spPr>
        <p:txBody>
          <a:bodyPr/>
          <a:lstStyle/>
          <a:p>
            <a:pPr>
              <a:spcBef>
                <a:spcPts val="0"/>
              </a:spcBef>
            </a:pPr>
            <a:r>
              <a:rPr lang="en-US" sz="2000" dirty="0"/>
              <a:t>Traditional local computing power requirement :</a:t>
            </a:r>
          </a:p>
          <a:p>
            <a:pPr lvl="1">
              <a:spcBef>
                <a:spcPts val="0"/>
              </a:spcBef>
            </a:pPr>
            <a:r>
              <a:rPr lang="en-US" sz="2000" dirty="0"/>
              <a:t>One need to buy your own personal computer</a:t>
            </a:r>
          </a:p>
          <a:p>
            <a:pPr lvl="1">
              <a:spcBef>
                <a:spcPts val="0"/>
              </a:spcBef>
            </a:pPr>
            <a:r>
              <a:rPr lang="en-US" sz="2000" dirty="0"/>
              <a:t>Buy powerful processor if you need intensive computing</a:t>
            </a:r>
          </a:p>
          <a:p>
            <a:pPr lvl="1">
              <a:spcBef>
                <a:spcPts val="0"/>
              </a:spcBef>
            </a:pPr>
            <a:r>
              <a:rPr lang="en-US" sz="2000" dirty="0"/>
              <a:t>Buy large memory to meet application requirement</a:t>
            </a:r>
          </a:p>
          <a:p>
            <a:pPr lvl="1">
              <a:spcBef>
                <a:spcPts val="0"/>
              </a:spcBef>
            </a:pPr>
            <a:r>
              <a:rPr lang="en-US" sz="2000" dirty="0"/>
              <a:t>Install plenty of applications in need</a:t>
            </a:r>
            <a:br>
              <a:rPr lang="en-US" sz="2000" dirty="0"/>
            </a:br>
            <a:endParaRPr lang="en-US" sz="2000" dirty="0"/>
          </a:p>
          <a:p>
            <a:pPr>
              <a:spcBef>
                <a:spcPts val="0"/>
              </a:spcBef>
            </a:pPr>
            <a:r>
              <a:rPr lang="en-US" sz="2000" dirty="0"/>
              <a:t>Some drawbacks :</a:t>
            </a:r>
          </a:p>
          <a:p>
            <a:pPr lvl="1">
              <a:spcBef>
                <a:spcPts val="0"/>
              </a:spcBef>
            </a:pPr>
            <a:r>
              <a:rPr lang="en-US" sz="2000" dirty="0"/>
              <a:t>One can hardly replicate the same system environment</a:t>
            </a:r>
          </a:p>
          <a:p>
            <a:pPr lvl="1">
              <a:spcBef>
                <a:spcPts val="0"/>
              </a:spcBef>
            </a:pPr>
            <a:r>
              <a:rPr lang="en-US" sz="2000" dirty="0"/>
              <a:t>One needs to regularly update or upgrade software and hardware</a:t>
            </a:r>
          </a:p>
          <a:p>
            <a:pPr lvl="1">
              <a:spcBef>
                <a:spcPts val="0"/>
              </a:spcBef>
            </a:pPr>
            <a:r>
              <a:rPr lang="en-US" sz="2000" dirty="0"/>
              <a:t>One needs to reinstall all applications if you reinstall the OS</a:t>
            </a:r>
          </a:p>
        </p:txBody>
      </p:sp>
      <p:sp>
        <p:nvSpPr>
          <p:cNvPr id="4" name="灯片编号占位符 3">
            <a:extLst>
              <a:ext uri="{FF2B5EF4-FFF2-40B4-BE49-F238E27FC236}">
                <a16:creationId xmlns:a16="http://schemas.microsoft.com/office/drawing/2014/main" id="{96286A45-AA87-934A-8F59-D5B12B89B6AC}"/>
              </a:ext>
            </a:extLst>
          </p:cNvPr>
          <p:cNvSpPr>
            <a:spLocks noGrp="1"/>
          </p:cNvSpPr>
          <p:nvPr>
            <p:ph type="sldNum" sz="quarter" idx="10"/>
          </p:nvPr>
        </p:nvSpPr>
        <p:spPr/>
        <p:txBody>
          <a:bodyPr/>
          <a:lstStyle/>
          <a:p>
            <a:fld id="{D9B6BDF2-6896-4B98-8776-C18582F63BA5}" type="slidenum">
              <a:rPr lang="zh-TW" altLang="en-US" smtClean="0"/>
              <a:pPr/>
              <a:t>74</a:t>
            </a:fld>
            <a:endParaRPr lang="zh-TW"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2526" y="844153"/>
            <a:ext cx="7724274" cy="3015578"/>
          </a:xfrm>
        </p:spPr>
        <p:txBody>
          <a:bodyPr/>
          <a:lstStyle/>
          <a:p>
            <a:pPr>
              <a:spcBef>
                <a:spcPts val="0"/>
              </a:spcBef>
            </a:pPr>
            <a:r>
              <a:rPr lang="en-US" sz="2000" dirty="0"/>
              <a:t>Using Cloud Computing services :</a:t>
            </a:r>
          </a:p>
          <a:p>
            <a:pPr lvl="1">
              <a:spcBef>
                <a:spcPts val="0"/>
              </a:spcBef>
            </a:pPr>
            <a:r>
              <a:rPr lang="en-US" sz="2000" dirty="0"/>
              <a:t>One can utilize the remote computing power in the cloud</a:t>
            </a:r>
          </a:p>
          <a:p>
            <a:pPr lvl="1">
              <a:spcBef>
                <a:spcPts val="0"/>
              </a:spcBef>
            </a:pPr>
            <a:r>
              <a:rPr lang="en-US" sz="2000" dirty="0"/>
              <a:t>One needs only basic computing power to connect to internet</a:t>
            </a:r>
          </a:p>
          <a:p>
            <a:pPr lvl="1">
              <a:spcBef>
                <a:spcPts val="0"/>
              </a:spcBef>
            </a:pPr>
            <a:r>
              <a:rPr lang="en-US" sz="2000" dirty="0"/>
              <a:t>Application in the cloud will automatically upgrade</a:t>
            </a:r>
            <a:br>
              <a:rPr lang="en-US" sz="2000" dirty="0"/>
            </a:br>
            <a:endParaRPr lang="en-US" sz="2000" dirty="0"/>
          </a:p>
          <a:p>
            <a:pPr>
              <a:spcBef>
                <a:spcPts val="0"/>
              </a:spcBef>
            </a:pPr>
            <a:r>
              <a:rPr lang="en-US" sz="2000" dirty="0"/>
              <a:t>Some benefits :</a:t>
            </a:r>
          </a:p>
          <a:p>
            <a:pPr lvl="1">
              <a:spcBef>
                <a:spcPts val="0"/>
              </a:spcBef>
            </a:pPr>
            <a:r>
              <a:rPr lang="en-US" sz="2000" dirty="0"/>
              <a:t>One can access his/her applications anywhere through the Internet</a:t>
            </a:r>
          </a:p>
          <a:p>
            <a:pPr lvl="1">
              <a:spcBef>
                <a:spcPts val="0"/>
              </a:spcBef>
            </a:pPr>
            <a:r>
              <a:rPr lang="en-US" sz="2000" dirty="0"/>
              <a:t>One can dynamically request for computing power on demand</a:t>
            </a:r>
          </a:p>
          <a:p>
            <a:pPr lvl="1">
              <a:spcBef>
                <a:spcPts val="0"/>
              </a:spcBef>
            </a:pPr>
            <a:r>
              <a:rPr lang="en-US" sz="2000" dirty="0"/>
              <a:t>Application may need not to be reinstalled even reinstall the OS</a:t>
            </a:r>
          </a:p>
        </p:txBody>
      </p:sp>
      <p:sp>
        <p:nvSpPr>
          <p:cNvPr id="4" name="灯片编号占位符 3">
            <a:extLst>
              <a:ext uri="{FF2B5EF4-FFF2-40B4-BE49-F238E27FC236}">
                <a16:creationId xmlns:a16="http://schemas.microsoft.com/office/drawing/2014/main" id="{6D8334FD-DB12-7B43-B522-15FC7D7534B0}"/>
              </a:ext>
            </a:extLst>
          </p:cNvPr>
          <p:cNvSpPr>
            <a:spLocks noGrp="1"/>
          </p:cNvSpPr>
          <p:nvPr>
            <p:ph type="sldNum" sz="quarter" idx="10"/>
          </p:nvPr>
        </p:nvSpPr>
        <p:spPr/>
        <p:txBody>
          <a:bodyPr/>
          <a:lstStyle/>
          <a:p>
            <a:fld id="{D9B6BDF2-6896-4B98-8776-C18582F63BA5}" type="slidenum">
              <a:rPr lang="zh-TW" altLang="en-US" smtClean="0"/>
              <a:pPr/>
              <a:t>75</a:t>
            </a:fld>
            <a:endParaRPr lang="zh-TW" altLang="en-US"/>
          </a:p>
        </p:txBody>
      </p:sp>
      <p:sp>
        <p:nvSpPr>
          <p:cNvPr id="7" name="Title 1">
            <a:extLst>
              <a:ext uri="{FF2B5EF4-FFF2-40B4-BE49-F238E27FC236}">
                <a16:creationId xmlns:a16="http://schemas.microsoft.com/office/drawing/2014/main" id="{AAC633F7-20C2-DF2A-1FE7-A9E787BA1FFE}"/>
              </a:ext>
            </a:extLst>
          </p:cNvPr>
          <p:cNvSpPr>
            <a:spLocks noGrp="1"/>
          </p:cNvSpPr>
          <p:nvPr>
            <p:ph type="title"/>
          </p:nvPr>
        </p:nvSpPr>
        <p:spPr>
          <a:xfrm>
            <a:off x="951416" y="108349"/>
            <a:ext cx="7724274" cy="519113"/>
          </a:xfrm>
        </p:spPr>
        <p:txBody>
          <a:bodyPr>
            <a:noAutofit/>
          </a:bodyPr>
          <a:lstStyle/>
          <a:p>
            <a:r>
              <a:rPr lang="en-US" dirty="0"/>
              <a:t>Reduce Local Computing Power (2)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524" y="108349"/>
            <a:ext cx="7790166" cy="519113"/>
          </a:xfrm>
        </p:spPr>
        <p:txBody>
          <a:bodyPr>
            <a:noAutofit/>
          </a:bodyPr>
          <a:lstStyle/>
          <a:p>
            <a:r>
              <a:rPr lang="en-US" dirty="0"/>
              <a:t>Reduce Local Computing Power (1)</a:t>
            </a:r>
          </a:p>
        </p:txBody>
      </p:sp>
      <p:sp>
        <p:nvSpPr>
          <p:cNvPr id="3" name="Content Placeholder 2"/>
          <p:cNvSpPr>
            <a:spLocks noGrp="1"/>
          </p:cNvSpPr>
          <p:nvPr>
            <p:ph idx="1"/>
          </p:nvPr>
        </p:nvSpPr>
        <p:spPr>
          <a:xfrm>
            <a:off x="1014262" y="853822"/>
            <a:ext cx="6172200" cy="400050"/>
          </a:xfrm>
        </p:spPr>
        <p:txBody>
          <a:bodyPr/>
          <a:lstStyle/>
          <a:p>
            <a:r>
              <a:rPr lang="en-US" sz="2000" dirty="0"/>
              <a:t>What dose cloud computing achieve ?</a:t>
            </a:r>
          </a:p>
        </p:txBody>
      </p:sp>
      <p:graphicFrame>
        <p:nvGraphicFramePr>
          <p:cNvPr id="5" name="Table 4"/>
          <p:cNvGraphicFramePr>
            <a:graphicFrameLocks noGrp="1"/>
          </p:cNvGraphicFramePr>
          <p:nvPr>
            <p:extLst>
              <p:ext uri="{D42A27DB-BD31-4B8C-83A1-F6EECF244321}">
                <p14:modId xmlns:p14="http://schemas.microsoft.com/office/powerpoint/2010/main" val="361532458"/>
              </p:ext>
            </p:extLst>
          </p:nvPr>
        </p:nvGraphicFramePr>
        <p:xfrm>
          <a:off x="2239376" y="1396011"/>
          <a:ext cx="4857751" cy="1311022"/>
        </p:xfrm>
        <a:graphic>
          <a:graphicData uri="http://schemas.openxmlformats.org/drawingml/2006/table">
            <a:tbl>
              <a:tblPr firstRow="1" bandRow="1">
                <a:tableStyleId>{7DF18680-E054-41AD-8BC1-D1AEF772440D}</a:tableStyleId>
              </a:tblPr>
              <a:tblGrid>
                <a:gridCol w="1314451">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tblGrid>
              <a:tr h="278130">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77381">
                <a:tc>
                  <a:txBody>
                    <a:bodyPr/>
                    <a:lstStyle/>
                    <a:p>
                      <a:r>
                        <a:rPr lang="en-US" sz="1000" b="1" i="1" dirty="0"/>
                        <a:t>Hardware</a:t>
                      </a:r>
                      <a:r>
                        <a:rPr lang="en-US" sz="1000" b="1" i="1" baseline="0" dirty="0"/>
                        <a:t> Requirement</a:t>
                      </a:r>
                      <a:endParaRPr lang="en-US" sz="1000" b="1" i="1" dirty="0"/>
                    </a:p>
                  </a:txBody>
                  <a:tcPr marL="68580" marR="68580" marT="34290" marB="34290" anchor="ctr"/>
                </a:tc>
                <a:tc>
                  <a:txBody>
                    <a:bodyPr/>
                    <a:lstStyle/>
                    <a:p>
                      <a:pPr algn="l"/>
                      <a:r>
                        <a:rPr lang="en-US" sz="1000" i="1" dirty="0">
                          <a:solidFill>
                            <a:schemeClr val="tx1"/>
                          </a:solidFill>
                        </a:rPr>
                        <a:t>User needs to</a:t>
                      </a:r>
                      <a:r>
                        <a:rPr lang="en-US" sz="1000" i="1" baseline="0" dirty="0">
                          <a:solidFill>
                            <a:schemeClr val="tx1"/>
                          </a:solidFill>
                        </a:rPr>
                        <a:t> buy powerful hardware</a:t>
                      </a:r>
                      <a:endParaRPr lang="en-US" sz="1000" i="1" dirty="0">
                        <a:solidFill>
                          <a:schemeClr val="tx1"/>
                        </a:solidFill>
                      </a:endParaRPr>
                    </a:p>
                  </a:txBody>
                  <a:tcPr marL="68580" marR="68580" marT="34290" marB="34290" anchor="ctr"/>
                </a:tc>
                <a:tc>
                  <a:txBody>
                    <a:bodyPr/>
                    <a:lstStyle/>
                    <a:p>
                      <a:pPr algn="l"/>
                      <a:r>
                        <a:rPr lang="en-US" sz="1000" i="1" baseline="0" dirty="0">
                          <a:solidFill>
                            <a:schemeClr val="tx1"/>
                          </a:solidFill>
                        </a:rPr>
                        <a:t>Only basic hardware to connect to internet</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1"/>
                  </a:ext>
                </a:extLst>
              </a:tr>
              <a:tr h="377381">
                <a:tc>
                  <a:txBody>
                    <a:bodyPr/>
                    <a:lstStyle/>
                    <a:p>
                      <a:r>
                        <a:rPr lang="en-US" sz="1000" b="1" i="1" dirty="0"/>
                        <a:t>Software Requirement</a:t>
                      </a:r>
                    </a:p>
                  </a:txBody>
                  <a:tcPr marL="68580" marR="68580" marT="34290" marB="34290" anchor="ctr"/>
                </a:tc>
                <a:tc>
                  <a:txBody>
                    <a:bodyPr/>
                    <a:lstStyle/>
                    <a:p>
                      <a:pPr algn="l"/>
                      <a:r>
                        <a:rPr lang="en-US" sz="1000" i="1" dirty="0">
                          <a:solidFill>
                            <a:schemeClr val="tx1"/>
                          </a:solidFill>
                        </a:rPr>
                        <a:t>Install application</a:t>
                      </a:r>
                      <a:r>
                        <a:rPr lang="en-US" sz="1000" i="1" baseline="0" dirty="0">
                          <a:solidFill>
                            <a:schemeClr val="tx1"/>
                          </a:solidFill>
                        </a:rPr>
                        <a:t> in local computer</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No local installation</a:t>
                      </a:r>
                      <a:r>
                        <a:rPr lang="en-US" sz="1000" i="1" baseline="0" dirty="0">
                          <a:solidFill>
                            <a:schemeClr val="tx1"/>
                          </a:solidFill>
                        </a:rPr>
                        <a:t> requirement</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2"/>
                  </a:ext>
                </a:extLst>
              </a:tr>
              <a:tr h="278130">
                <a:tc>
                  <a:txBody>
                    <a:bodyPr/>
                    <a:lstStyle/>
                    <a:p>
                      <a:r>
                        <a:rPr lang="en-US" sz="1000" b="1" i="1" dirty="0"/>
                        <a:t>Portability</a:t>
                      </a:r>
                    </a:p>
                  </a:txBody>
                  <a:tcPr marL="68580" marR="68580" marT="34290" marB="34290" anchor="ctr"/>
                </a:tc>
                <a:tc>
                  <a:txBody>
                    <a:bodyPr/>
                    <a:lstStyle/>
                    <a:p>
                      <a:pPr algn="l"/>
                      <a:r>
                        <a:rPr lang="en-US" sz="1000" i="1" dirty="0">
                          <a:solidFill>
                            <a:schemeClr val="tx1"/>
                          </a:solidFill>
                        </a:rPr>
                        <a:t>Hard to</a:t>
                      </a:r>
                      <a:r>
                        <a:rPr lang="en-US" sz="1000" i="1" baseline="0" dirty="0">
                          <a:solidFill>
                            <a:schemeClr val="tx1"/>
                          </a:solidFill>
                        </a:rPr>
                        <a:t> be portable</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Natively</a:t>
                      </a:r>
                      <a:r>
                        <a:rPr lang="en-US" sz="1000" i="1" baseline="0" dirty="0">
                          <a:solidFill>
                            <a:schemeClr val="tx1"/>
                          </a:solidFill>
                        </a:rPr>
                        <a:t> portable</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3"/>
                  </a:ext>
                </a:extLst>
              </a:tr>
            </a:tbl>
          </a:graphicData>
        </a:graphic>
      </p:graphicFrame>
      <p:pic>
        <p:nvPicPr>
          <p:cNvPr id="50178" name="Picture 2" descr="http://www.cloudtopweb.com/images/cloud-computing.jpg"/>
          <p:cNvPicPr>
            <a:picLocks noChangeAspect="1" noChangeArrowheads="1"/>
          </p:cNvPicPr>
          <p:nvPr/>
        </p:nvPicPr>
        <p:blipFill>
          <a:blip r:embed="rId2" cstate="print"/>
          <a:srcRect/>
          <a:stretch>
            <a:fillRect/>
          </a:stretch>
        </p:blipFill>
        <p:spPr bwMode="auto">
          <a:xfrm>
            <a:off x="3443688" y="2814788"/>
            <a:ext cx="2449129" cy="17007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780C80A8-1BD0-7075-D18D-3C69AEE53008}"/>
              </a:ext>
            </a:extLst>
          </p:cNvPr>
          <p:cNvSpPr>
            <a:spLocks noGrp="1"/>
          </p:cNvSpPr>
          <p:nvPr>
            <p:ph type="sldNum" sz="quarter" idx="10"/>
          </p:nvPr>
        </p:nvSpPr>
        <p:spPr/>
        <p:txBody>
          <a:bodyPr/>
          <a:lstStyle/>
          <a:p>
            <a:fld id="{D9B6BDF2-6896-4B98-8776-C18582F63BA5}" type="slidenum">
              <a:rPr lang="zh-TW" altLang="en-US" smtClean="0"/>
              <a:pPr/>
              <a:t>76</a:t>
            </a:fld>
            <a:endParaRPr lang="zh-TW"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2152" y="844153"/>
            <a:ext cx="7714648" cy="3054079"/>
          </a:xfrm>
        </p:spPr>
        <p:txBody>
          <a:bodyPr/>
          <a:lstStyle/>
          <a:p>
            <a:pPr>
              <a:spcBef>
                <a:spcPts val="0"/>
              </a:spcBef>
            </a:pPr>
            <a:r>
              <a:rPr lang="en-US" sz="2000" dirty="0"/>
              <a:t>Traditional local storage power requirement :</a:t>
            </a:r>
          </a:p>
          <a:p>
            <a:pPr lvl="1">
              <a:spcBef>
                <a:spcPts val="0"/>
              </a:spcBef>
            </a:pPr>
            <a:r>
              <a:rPr lang="en-US" sz="2000" dirty="0"/>
              <a:t>User programs and data files are stored in local devices</a:t>
            </a:r>
          </a:p>
          <a:p>
            <a:pPr lvl="1">
              <a:spcBef>
                <a:spcPts val="0"/>
              </a:spcBef>
            </a:pPr>
            <a:r>
              <a:rPr lang="en-US" sz="2000" dirty="0"/>
              <a:t>User has to backup data regularly preventing hardware damage</a:t>
            </a:r>
            <a:br>
              <a:rPr lang="en-US" sz="2000" dirty="0"/>
            </a:br>
            <a:endParaRPr lang="en-US" sz="2000" dirty="0"/>
          </a:p>
          <a:p>
            <a:pPr>
              <a:spcBef>
                <a:spcPts val="0"/>
              </a:spcBef>
            </a:pPr>
            <a:r>
              <a:rPr lang="en-US" sz="2000" dirty="0"/>
              <a:t>Some drawbacks :</a:t>
            </a:r>
          </a:p>
          <a:p>
            <a:pPr lvl="1">
              <a:spcBef>
                <a:spcPts val="0"/>
              </a:spcBef>
            </a:pPr>
            <a:r>
              <a:rPr lang="en-US" sz="2000" dirty="0"/>
              <a:t>Storage space may not enough for burst data requirement</a:t>
            </a:r>
          </a:p>
          <a:p>
            <a:pPr lvl="1">
              <a:spcBef>
                <a:spcPts val="0"/>
              </a:spcBef>
            </a:pPr>
            <a:r>
              <a:rPr lang="en-US" sz="2000" dirty="0"/>
              <a:t>Storage space may be over needed which result in resource waste</a:t>
            </a:r>
          </a:p>
          <a:p>
            <a:pPr lvl="1">
              <a:spcBef>
                <a:spcPts val="0"/>
              </a:spcBef>
            </a:pPr>
            <a:r>
              <a:rPr lang="en-US" sz="2000" dirty="0"/>
              <a:t>Data consistency is hard to maintain between computers</a:t>
            </a:r>
          </a:p>
          <a:p>
            <a:pPr lvl="1">
              <a:spcBef>
                <a:spcPts val="0"/>
              </a:spcBef>
            </a:pPr>
            <a:r>
              <a:rPr lang="en-US" sz="2000" dirty="0"/>
              <a:t>Need to sacrifice part of storage space for data backup</a:t>
            </a:r>
          </a:p>
        </p:txBody>
      </p:sp>
      <p:sp>
        <p:nvSpPr>
          <p:cNvPr id="4" name="灯片编号占位符 3">
            <a:extLst>
              <a:ext uri="{FF2B5EF4-FFF2-40B4-BE49-F238E27FC236}">
                <a16:creationId xmlns:a16="http://schemas.microsoft.com/office/drawing/2014/main" id="{E5CA58D7-1689-8D87-EA8E-6D8EA63EDE66}"/>
              </a:ext>
            </a:extLst>
          </p:cNvPr>
          <p:cNvSpPr>
            <a:spLocks noGrp="1"/>
          </p:cNvSpPr>
          <p:nvPr>
            <p:ph type="sldNum" sz="quarter" idx="10"/>
          </p:nvPr>
        </p:nvSpPr>
        <p:spPr/>
        <p:txBody>
          <a:bodyPr/>
          <a:lstStyle/>
          <a:p>
            <a:fld id="{D9B6BDF2-6896-4B98-8776-C18582F63BA5}" type="slidenum">
              <a:rPr lang="zh-TW" altLang="en-US" smtClean="0"/>
              <a:pPr/>
              <a:t>77</a:t>
            </a:fld>
            <a:endParaRPr lang="zh-TW" altLang="en-US"/>
          </a:p>
        </p:txBody>
      </p:sp>
      <p:sp>
        <p:nvSpPr>
          <p:cNvPr id="7" name="Title 1">
            <a:extLst>
              <a:ext uri="{FF2B5EF4-FFF2-40B4-BE49-F238E27FC236}">
                <a16:creationId xmlns:a16="http://schemas.microsoft.com/office/drawing/2014/main" id="{483ABC89-756D-0267-3443-CE6A2B16FECF}"/>
              </a:ext>
            </a:extLst>
          </p:cNvPr>
          <p:cNvSpPr>
            <a:spLocks noGrp="1"/>
          </p:cNvSpPr>
          <p:nvPr>
            <p:ph type="title"/>
          </p:nvPr>
        </p:nvSpPr>
        <p:spPr>
          <a:xfrm>
            <a:off x="885524" y="108349"/>
            <a:ext cx="7790166" cy="519113"/>
          </a:xfrm>
        </p:spPr>
        <p:txBody>
          <a:bodyPr>
            <a:noAutofit/>
          </a:bodyPr>
          <a:lstStyle/>
          <a:p>
            <a:r>
              <a:rPr lang="en-US" dirty="0"/>
              <a:t>Reduce Local Computing Power (2)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1027" y="844153"/>
            <a:ext cx="7103446" cy="3671888"/>
          </a:xfrm>
        </p:spPr>
        <p:txBody>
          <a:bodyPr/>
          <a:lstStyle/>
          <a:p>
            <a:pPr>
              <a:spcBef>
                <a:spcPts val="0"/>
              </a:spcBef>
            </a:pPr>
            <a:r>
              <a:rPr lang="en-US" sz="2000" dirty="0"/>
              <a:t>Using Cloud Computing services </a:t>
            </a:r>
          </a:p>
          <a:p>
            <a:pPr lvl="1">
              <a:spcBef>
                <a:spcPts val="0"/>
              </a:spcBef>
            </a:pPr>
            <a:r>
              <a:rPr lang="en-US" sz="2000" dirty="0"/>
              <a:t>User programs and data files are stored in the cloud</a:t>
            </a:r>
          </a:p>
          <a:p>
            <a:pPr lvl="1">
              <a:spcBef>
                <a:spcPts val="0"/>
              </a:spcBef>
            </a:pPr>
            <a:r>
              <a:rPr lang="en-US" sz="2000" dirty="0"/>
              <a:t>Cloud service provider will guarantee the data availability</a:t>
            </a:r>
            <a:br>
              <a:rPr lang="en-US" sz="2000" dirty="0"/>
            </a:br>
            <a:endParaRPr lang="en-US" sz="2000" dirty="0"/>
          </a:p>
          <a:p>
            <a:pPr>
              <a:spcBef>
                <a:spcPts val="0"/>
              </a:spcBef>
            </a:pPr>
            <a:r>
              <a:rPr lang="en-US" sz="2000" dirty="0"/>
              <a:t>Some benefits </a:t>
            </a:r>
          </a:p>
          <a:p>
            <a:pPr lvl="1">
              <a:spcBef>
                <a:spcPts val="0"/>
              </a:spcBef>
            </a:pPr>
            <a:r>
              <a:rPr lang="en-US" sz="2000" dirty="0"/>
              <a:t>One can dynamically allocate storage space on demand</a:t>
            </a:r>
          </a:p>
          <a:p>
            <a:pPr lvl="1">
              <a:spcBef>
                <a:spcPts val="0"/>
              </a:spcBef>
            </a:pPr>
            <a:r>
              <a:rPr lang="en-US" sz="2000" dirty="0"/>
              <a:t>One can access data anywhere through the Internet</a:t>
            </a:r>
          </a:p>
          <a:p>
            <a:pPr lvl="1">
              <a:spcBef>
                <a:spcPts val="0"/>
              </a:spcBef>
            </a:pPr>
            <a:r>
              <a:rPr lang="en-US" sz="2000" dirty="0"/>
              <a:t>No need to care about data consistency between computers</a:t>
            </a:r>
          </a:p>
          <a:p>
            <a:pPr lvl="1">
              <a:spcBef>
                <a:spcPts val="0"/>
              </a:spcBef>
            </a:pPr>
            <a:r>
              <a:rPr lang="en-US" sz="2000" dirty="0"/>
              <a:t>No need to care about data loss due to hardware damage</a:t>
            </a:r>
          </a:p>
        </p:txBody>
      </p:sp>
      <p:sp>
        <p:nvSpPr>
          <p:cNvPr id="4" name="灯片编号占位符 3">
            <a:extLst>
              <a:ext uri="{FF2B5EF4-FFF2-40B4-BE49-F238E27FC236}">
                <a16:creationId xmlns:a16="http://schemas.microsoft.com/office/drawing/2014/main" id="{CE190711-2855-DA3F-8B32-C1C30DAE30A8}"/>
              </a:ext>
            </a:extLst>
          </p:cNvPr>
          <p:cNvSpPr>
            <a:spLocks noGrp="1"/>
          </p:cNvSpPr>
          <p:nvPr>
            <p:ph type="sldNum" sz="quarter" idx="10"/>
          </p:nvPr>
        </p:nvSpPr>
        <p:spPr/>
        <p:txBody>
          <a:bodyPr/>
          <a:lstStyle/>
          <a:p>
            <a:fld id="{D9B6BDF2-6896-4B98-8776-C18582F63BA5}" type="slidenum">
              <a:rPr lang="zh-TW" altLang="en-US" smtClean="0"/>
              <a:pPr/>
              <a:t>78</a:t>
            </a:fld>
            <a:endParaRPr lang="zh-TW" altLang="en-US"/>
          </a:p>
        </p:txBody>
      </p:sp>
      <p:sp>
        <p:nvSpPr>
          <p:cNvPr id="7" name="Title 1">
            <a:extLst>
              <a:ext uri="{FF2B5EF4-FFF2-40B4-BE49-F238E27FC236}">
                <a16:creationId xmlns:a16="http://schemas.microsoft.com/office/drawing/2014/main" id="{49A2ED8E-F714-5422-D71F-673968E6238D}"/>
              </a:ext>
            </a:extLst>
          </p:cNvPr>
          <p:cNvSpPr>
            <a:spLocks noGrp="1"/>
          </p:cNvSpPr>
          <p:nvPr>
            <p:ph type="title"/>
          </p:nvPr>
        </p:nvSpPr>
        <p:spPr>
          <a:xfrm>
            <a:off x="885524" y="108349"/>
            <a:ext cx="7790166" cy="519113"/>
          </a:xfrm>
        </p:spPr>
        <p:txBody>
          <a:bodyPr>
            <a:noAutofit/>
          </a:bodyPr>
          <a:lstStyle/>
          <a:p>
            <a:r>
              <a:rPr lang="en-US" dirty="0"/>
              <a:t>Reduce Local Computing Power (3)</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651" y="79474"/>
            <a:ext cx="7742039" cy="519113"/>
          </a:xfrm>
        </p:spPr>
        <p:txBody>
          <a:bodyPr/>
          <a:lstStyle/>
          <a:p>
            <a:r>
              <a:rPr lang="en-US" dirty="0"/>
              <a:t>Reduce Local Storage Power</a:t>
            </a:r>
          </a:p>
        </p:txBody>
      </p:sp>
      <p:pic>
        <p:nvPicPr>
          <p:cNvPr id="55298" name="Picture 2" descr="http://storageeffect.media.seagate.com/files/2010/07/digital_lockers_in_the_sky.jpg"/>
          <p:cNvPicPr>
            <a:picLocks noChangeAspect="1" noChangeArrowheads="1"/>
          </p:cNvPicPr>
          <p:nvPr/>
        </p:nvPicPr>
        <p:blipFill>
          <a:blip r:embed="rId2" cstate="print"/>
          <a:srcRect t="13333" b="8333"/>
          <a:stretch>
            <a:fillRect/>
          </a:stretch>
        </p:blipFill>
        <p:spPr bwMode="auto">
          <a:xfrm>
            <a:off x="3203788" y="2799628"/>
            <a:ext cx="2890428" cy="17007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extLst>
              <p:ext uri="{D42A27DB-BD31-4B8C-83A1-F6EECF244321}">
                <p14:modId xmlns:p14="http://schemas.microsoft.com/office/powerpoint/2010/main" val="2290693965"/>
              </p:ext>
            </p:extLst>
          </p:nvPr>
        </p:nvGraphicFramePr>
        <p:xfrm>
          <a:off x="2143125" y="1369196"/>
          <a:ext cx="4857751" cy="1311022"/>
        </p:xfrm>
        <a:graphic>
          <a:graphicData uri="http://schemas.openxmlformats.org/drawingml/2006/table">
            <a:tbl>
              <a:tblPr firstRow="1" bandRow="1">
                <a:tableStyleId>{7DF18680-E054-41AD-8BC1-D1AEF772440D}</a:tableStyleId>
              </a:tblPr>
              <a:tblGrid>
                <a:gridCol w="1285875">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857376">
                  <a:extLst>
                    <a:ext uri="{9D8B030D-6E8A-4147-A177-3AD203B41FA5}">
                      <a16:colId xmlns:a16="http://schemas.microsoft.com/office/drawing/2014/main" val="20002"/>
                    </a:ext>
                  </a:extLst>
                </a:gridCol>
              </a:tblGrid>
              <a:tr h="278130">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77381">
                <a:tc>
                  <a:txBody>
                    <a:bodyPr/>
                    <a:lstStyle/>
                    <a:p>
                      <a:r>
                        <a:rPr lang="en-US" sz="1000" b="1" i="1" dirty="0"/>
                        <a:t>Storage Space</a:t>
                      </a:r>
                    </a:p>
                  </a:txBody>
                  <a:tcPr marL="68580" marR="68580" marT="34290" marB="34290" anchor="ctr"/>
                </a:tc>
                <a:tc>
                  <a:txBody>
                    <a:bodyPr/>
                    <a:lstStyle/>
                    <a:p>
                      <a:pPr algn="l"/>
                      <a:r>
                        <a:rPr lang="en-US" sz="1000" i="1" dirty="0">
                          <a:solidFill>
                            <a:schemeClr val="tx1"/>
                          </a:solidFill>
                        </a:rPr>
                        <a:t>Limited to local disk</a:t>
                      </a:r>
                      <a:r>
                        <a:rPr lang="en-US" sz="1000" i="1" baseline="0" dirty="0">
                          <a:solidFill>
                            <a:schemeClr val="tx1"/>
                          </a:solidFill>
                        </a:rPr>
                        <a:t>, may be under utilized</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Dynamically allocated on demand</a:t>
                      </a:r>
                    </a:p>
                  </a:txBody>
                  <a:tcPr marL="68580" marR="68580" marT="34290" marB="34290" anchor="ctr"/>
                </a:tc>
                <a:extLst>
                  <a:ext uri="{0D108BD9-81ED-4DB2-BD59-A6C34878D82A}">
                    <a16:rowId xmlns:a16="http://schemas.microsoft.com/office/drawing/2014/main" val="10001"/>
                  </a:ext>
                </a:extLst>
              </a:tr>
              <a:tr h="377381">
                <a:tc>
                  <a:txBody>
                    <a:bodyPr/>
                    <a:lstStyle/>
                    <a:p>
                      <a:r>
                        <a:rPr lang="en-US" sz="1000" b="1" i="1" dirty="0"/>
                        <a:t>Storage Data Consistency</a:t>
                      </a:r>
                    </a:p>
                  </a:txBody>
                  <a:tcPr marL="68580" marR="68580" marT="34290" marB="34290" anchor="ctr"/>
                </a:tc>
                <a:tc>
                  <a:txBody>
                    <a:bodyPr/>
                    <a:lstStyle/>
                    <a:p>
                      <a:pPr algn="l"/>
                      <a:r>
                        <a:rPr lang="en-US" sz="1000" i="1" dirty="0">
                          <a:solidFill>
                            <a:schemeClr val="tx1"/>
                          </a:solidFill>
                        </a:rPr>
                        <a:t>Difficult to</a:t>
                      </a:r>
                      <a:r>
                        <a:rPr lang="en-US" sz="1000" i="1" baseline="0" dirty="0">
                          <a:solidFill>
                            <a:schemeClr val="tx1"/>
                          </a:solidFill>
                        </a:rPr>
                        <a:t> maintain data consistency</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Data consistency maintained by cloud</a:t>
                      </a:r>
                    </a:p>
                  </a:txBody>
                  <a:tcPr marL="68580" marR="68580" marT="34290" marB="34290" anchor="ctr"/>
                </a:tc>
                <a:extLst>
                  <a:ext uri="{0D108BD9-81ED-4DB2-BD59-A6C34878D82A}">
                    <a16:rowId xmlns:a16="http://schemas.microsoft.com/office/drawing/2014/main" val="10002"/>
                  </a:ext>
                </a:extLst>
              </a:tr>
              <a:tr h="278130">
                <a:tc>
                  <a:txBody>
                    <a:bodyPr/>
                    <a:lstStyle/>
                    <a:p>
                      <a:r>
                        <a:rPr lang="en-US" sz="1000" b="1" i="1" dirty="0"/>
                        <a:t>Availability</a:t>
                      </a:r>
                    </a:p>
                  </a:txBody>
                  <a:tcPr marL="68580" marR="68580" marT="34290" marB="34290" anchor="ctr"/>
                </a:tc>
                <a:tc>
                  <a:txBody>
                    <a:bodyPr/>
                    <a:lstStyle/>
                    <a:p>
                      <a:pPr algn="l"/>
                      <a:r>
                        <a:rPr lang="en-US" sz="1000" i="1" dirty="0">
                          <a:solidFill>
                            <a:schemeClr val="tx1"/>
                          </a:solidFill>
                        </a:rPr>
                        <a:t>Regular user</a:t>
                      </a:r>
                      <a:r>
                        <a:rPr lang="en-US" sz="1000" i="1" baseline="0" dirty="0">
                          <a:solidFill>
                            <a:schemeClr val="tx1"/>
                          </a:solidFill>
                        </a:rPr>
                        <a:t> </a:t>
                      </a:r>
                      <a:r>
                        <a:rPr lang="en-US" sz="1000" i="1" dirty="0">
                          <a:solidFill>
                            <a:schemeClr val="tx1"/>
                          </a:solidFill>
                        </a:rPr>
                        <a:t>backup</a:t>
                      </a:r>
                    </a:p>
                  </a:txBody>
                  <a:tcPr marL="68580" marR="68580" marT="34290" marB="34290" anchor="ctr"/>
                </a:tc>
                <a:tc>
                  <a:txBody>
                    <a:bodyPr/>
                    <a:lstStyle/>
                    <a:p>
                      <a:pPr algn="l"/>
                      <a:r>
                        <a:rPr lang="en-US" sz="1000" i="1" dirty="0">
                          <a:solidFill>
                            <a:schemeClr val="tx1"/>
                          </a:solidFill>
                        </a:rPr>
                        <a:t>Cloud service guarantee</a:t>
                      </a:r>
                    </a:p>
                  </a:txBody>
                  <a:tcPr marL="68580" marR="68580" marT="34290" marB="34290" anchor="ctr"/>
                </a:tc>
                <a:extLst>
                  <a:ext uri="{0D108BD9-81ED-4DB2-BD59-A6C34878D82A}">
                    <a16:rowId xmlns:a16="http://schemas.microsoft.com/office/drawing/2014/main" val="10003"/>
                  </a:ext>
                </a:extLst>
              </a:tr>
            </a:tbl>
          </a:graphicData>
        </a:graphic>
      </p:graphicFrame>
      <p:sp>
        <p:nvSpPr>
          <p:cNvPr id="6" name="Content Placeholder 2"/>
          <p:cNvSpPr>
            <a:spLocks noGrp="1"/>
          </p:cNvSpPr>
          <p:nvPr>
            <p:ph idx="1"/>
          </p:nvPr>
        </p:nvSpPr>
        <p:spPr>
          <a:xfrm>
            <a:off x="1078029" y="820103"/>
            <a:ext cx="6027822" cy="400050"/>
          </a:xfrm>
        </p:spPr>
        <p:txBody>
          <a:bodyPr/>
          <a:lstStyle/>
          <a:p>
            <a:r>
              <a:rPr lang="en-US" sz="2000" dirty="0"/>
              <a:t>What dose cloud computing achieve ?</a:t>
            </a:r>
          </a:p>
        </p:txBody>
      </p:sp>
      <p:sp>
        <p:nvSpPr>
          <p:cNvPr id="3" name="灯片编号占位符 2">
            <a:extLst>
              <a:ext uri="{FF2B5EF4-FFF2-40B4-BE49-F238E27FC236}">
                <a16:creationId xmlns:a16="http://schemas.microsoft.com/office/drawing/2014/main" id="{979E8F67-CCA7-7A68-192A-A16CE49D1D97}"/>
              </a:ext>
            </a:extLst>
          </p:cNvPr>
          <p:cNvSpPr>
            <a:spLocks noGrp="1"/>
          </p:cNvSpPr>
          <p:nvPr>
            <p:ph type="sldNum" sz="quarter" idx="10"/>
          </p:nvPr>
        </p:nvSpPr>
        <p:spPr/>
        <p:txBody>
          <a:bodyPr/>
          <a:lstStyle/>
          <a:p>
            <a:fld id="{D9B6BDF2-6896-4B98-8776-C18582F63BA5}" type="slidenum">
              <a:rPr lang="zh-TW" altLang="en-US" smtClean="0"/>
              <a:pPr/>
              <a:t>79</a:t>
            </a:fld>
            <a:endParaRPr lang="zh-TW"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26" y="108349"/>
            <a:ext cx="7713164" cy="519113"/>
          </a:xfrm>
        </p:spPr>
        <p:txBody>
          <a:bodyPr/>
          <a:lstStyle/>
          <a:p>
            <a:r>
              <a:rPr lang="en-US" dirty="0"/>
              <a:t>Variety of End Devices (1)</a:t>
            </a:r>
          </a:p>
        </p:txBody>
      </p:sp>
      <p:sp>
        <p:nvSpPr>
          <p:cNvPr id="3" name="Content Placeholder 2"/>
          <p:cNvSpPr>
            <a:spLocks noGrp="1"/>
          </p:cNvSpPr>
          <p:nvPr>
            <p:ph idx="1"/>
          </p:nvPr>
        </p:nvSpPr>
        <p:spPr>
          <a:xfrm>
            <a:off x="973636" y="844153"/>
            <a:ext cx="7713164" cy="3671888"/>
          </a:xfrm>
        </p:spPr>
        <p:txBody>
          <a:bodyPr/>
          <a:lstStyle/>
          <a:p>
            <a:pPr>
              <a:spcBef>
                <a:spcPts val="0"/>
              </a:spcBef>
            </a:pPr>
            <a:r>
              <a:rPr lang="en-US" sz="2000" dirty="0"/>
              <a:t>Traditional computing resource :</a:t>
            </a:r>
          </a:p>
          <a:p>
            <a:pPr lvl="1">
              <a:spcBef>
                <a:spcPts val="0"/>
              </a:spcBef>
            </a:pPr>
            <a:r>
              <a:rPr lang="en-US" sz="2000" dirty="0"/>
              <a:t>One can connect to the Internet by personal computer</a:t>
            </a:r>
          </a:p>
          <a:p>
            <a:pPr lvl="1">
              <a:spcBef>
                <a:spcPts val="0"/>
              </a:spcBef>
            </a:pPr>
            <a:r>
              <a:rPr lang="en-US" sz="2000" dirty="0"/>
              <a:t>Only personal computer can deliver reasonable computing power</a:t>
            </a:r>
          </a:p>
          <a:p>
            <a:pPr lvl="1">
              <a:spcBef>
                <a:spcPts val="0"/>
              </a:spcBef>
            </a:pPr>
            <a:r>
              <a:rPr lang="en-US" sz="2000" dirty="0"/>
              <a:t>Small devices cannot perform incentive computation due to their power and hardware limitation</a:t>
            </a:r>
            <a:br>
              <a:rPr lang="en-US" sz="2000" dirty="0"/>
            </a:br>
            <a:endParaRPr lang="en-US" sz="2000" dirty="0"/>
          </a:p>
          <a:p>
            <a:pPr>
              <a:spcBef>
                <a:spcPts val="0"/>
              </a:spcBef>
            </a:pPr>
            <a:r>
              <a:rPr lang="en-US" sz="2000" dirty="0"/>
              <a:t>Some drawbacks :</a:t>
            </a:r>
          </a:p>
          <a:p>
            <a:pPr lvl="1">
              <a:spcBef>
                <a:spcPts val="0"/>
              </a:spcBef>
            </a:pPr>
            <a:r>
              <a:rPr lang="en-US" sz="2000" dirty="0"/>
              <a:t>Computing power is not portable</a:t>
            </a:r>
          </a:p>
          <a:p>
            <a:pPr lvl="1">
              <a:spcBef>
                <a:spcPts val="0"/>
              </a:spcBef>
            </a:pPr>
            <a:r>
              <a:rPr lang="en-US" sz="2000" dirty="0"/>
              <a:t>Small devices can only perform simplified works</a:t>
            </a:r>
          </a:p>
        </p:txBody>
      </p:sp>
      <p:sp>
        <p:nvSpPr>
          <p:cNvPr id="4" name="灯片编号占位符 3">
            <a:extLst>
              <a:ext uri="{FF2B5EF4-FFF2-40B4-BE49-F238E27FC236}">
                <a16:creationId xmlns:a16="http://schemas.microsoft.com/office/drawing/2014/main" id="{EF86B21F-8E03-4C15-EE4F-23488E52311F}"/>
              </a:ext>
            </a:extLst>
          </p:cNvPr>
          <p:cNvSpPr>
            <a:spLocks noGrp="1"/>
          </p:cNvSpPr>
          <p:nvPr>
            <p:ph type="sldNum" sz="quarter" idx="10"/>
          </p:nvPr>
        </p:nvSpPr>
        <p:spPr/>
        <p:txBody>
          <a:bodyPr/>
          <a:lstStyle/>
          <a:p>
            <a:fld id="{D9B6BDF2-6896-4B98-8776-C18582F63BA5}" type="slidenum">
              <a:rPr lang="zh-TW" altLang="en-US" smtClean="0"/>
              <a:pPr/>
              <a:t>80</a:t>
            </a:fld>
            <a:endParaRPr lang="zh-TW"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7143" y="874514"/>
            <a:ext cx="7042082" cy="3394472"/>
          </a:xfrm>
        </p:spPr>
        <p:txBody>
          <a:bodyPr/>
          <a:lstStyle/>
          <a:p>
            <a:pPr>
              <a:spcBef>
                <a:spcPts val="0"/>
              </a:spcBef>
            </a:pPr>
            <a:r>
              <a:rPr lang="en-US" sz="2000" dirty="0"/>
              <a:t>Devices collaborate with Cloud services </a:t>
            </a:r>
          </a:p>
          <a:p>
            <a:pPr lvl="1">
              <a:spcBef>
                <a:spcPts val="0"/>
              </a:spcBef>
            </a:pPr>
            <a:r>
              <a:rPr lang="en-US" sz="2000" dirty="0"/>
              <a:t>Device connects to the Internet through wireless network</a:t>
            </a:r>
          </a:p>
          <a:p>
            <a:pPr lvl="1">
              <a:spcBef>
                <a:spcPts val="0"/>
              </a:spcBef>
            </a:pPr>
            <a:r>
              <a:rPr lang="en-US" sz="2000" dirty="0"/>
              <a:t>Device accesses cloud services through web service interface</a:t>
            </a:r>
          </a:p>
          <a:p>
            <a:pPr lvl="1">
              <a:spcBef>
                <a:spcPts val="0"/>
              </a:spcBef>
            </a:pPr>
            <a:r>
              <a:rPr lang="en-US" sz="2000" dirty="0"/>
              <a:t>Device sends computing incentive jobs into cloud and wait for results</a:t>
            </a:r>
            <a:br>
              <a:rPr lang="en-US" sz="2000" dirty="0"/>
            </a:br>
            <a:endParaRPr lang="en-US" sz="2000" dirty="0"/>
          </a:p>
          <a:p>
            <a:pPr>
              <a:spcBef>
                <a:spcPts val="0"/>
              </a:spcBef>
            </a:pPr>
            <a:r>
              <a:rPr lang="en-US" sz="2000" dirty="0"/>
              <a:t>Some benefits </a:t>
            </a:r>
          </a:p>
          <a:p>
            <a:pPr lvl="1">
              <a:spcBef>
                <a:spcPts val="0"/>
              </a:spcBef>
            </a:pPr>
            <a:r>
              <a:rPr lang="en-US" sz="2000" dirty="0"/>
              <a:t>User can easily access cloud service through small devices</a:t>
            </a:r>
          </a:p>
          <a:p>
            <a:pPr lvl="1">
              <a:spcBef>
                <a:spcPts val="0"/>
              </a:spcBef>
            </a:pPr>
            <a:r>
              <a:rPr lang="en-US" sz="2000" dirty="0"/>
              <a:t>User can access almost unlimited computing power anywhere</a:t>
            </a:r>
          </a:p>
          <a:p>
            <a:pPr lvl="1">
              <a:spcBef>
                <a:spcPts val="0"/>
              </a:spcBef>
            </a:pPr>
            <a:r>
              <a:rPr lang="en-US" sz="2000" dirty="0"/>
              <a:t>Small devices can be intelligently managed through cloud</a:t>
            </a:r>
          </a:p>
        </p:txBody>
      </p:sp>
      <p:sp>
        <p:nvSpPr>
          <p:cNvPr id="4" name="灯片编号占位符 3">
            <a:extLst>
              <a:ext uri="{FF2B5EF4-FFF2-40B4-BE49-F238E27FC236}">
                <a16:creationId xmlns:a16="http://schemas.microsoft.com/office/drawing/2014/main" id="{67AAB0C3-63C7-1249-098B-6E09010DE620}"/>
              </a:ext>
            </a:extLst>
          </p:cNvPr>
          <p:cNvSpPr>
            <a:spLocks noGrp="1"/>
          </p:cNvSpPr>
          <p:nvPr>
            <p:ph type="sldNum" sz="quarter" idx="10"/>
          </p:nvPr>
        </p:nvSpPr>
        <p:spPr/>
        <p:txBody>
          <a:bodyPr/>
          <a:lstStyle/>
          <a:p>
            <a:fld id="{D9B6BDF2-6896-4B98-8776-C18582F63BA5}" type="slidenum">
              <a:rPr lang="zh-TW" altLang="en-US" smtClean="0"/>
              <a:pPr/>
              <a:t>81</a:t>
            </a:fld>
            <a:endParaRPr lang="zh-TW" altLang="en-US"/>
          </a:p>
        </p:txBody>
      </p:sp>
      <p:sp>
        <p:nvSpPr>
          <p:cNvPr id="7" name="Title 1">
            <a:extLst>
              <a:ext uri="{FF2B5EF4-FFF2-40B4-BE49-F238E27FC236}">
                <a16:creationId xmlns:a16="http://schemas.microsoft.com/office/drawing/2014/main" id="{245A50D2-B2A2-FF5C-2D91-B82D92ED2AD7}"/>
              </a:ext>
            </a:extLst>
          </p:cNvPr>
          <p:cNvSpPr>
            <a:spLocks noGrp="1"/>
          </p:cNvSpPr>
          <p:nvPr>
            <p:ph type="title"/>
          </p:nvPr>
        </p:nvSpPr>
        <p:spPr>
          <a:xfrm>
            <a:off x="943276" y="107950"/>
            <a:ext cx="7732412" cy="519113"/>
          </a:xfrm>
        </p:spPr>
        <p:txBody>
          <a:bodyPr/>
          <a:lstStyle/>
          <a:p>
            <a:r>
              <a:rPr lang="en-US" dirty="0"/>
              <a:t>Variety of End Devices (2)</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2" name="Picture 4" descr="http://farm3.static.flickr.com/2501/4123373317_52a5f28d48_z.jpg?zz=1"/>
          <p:cNvPicPr>
            <a:picLocks noChangeAspect="1" noChangeArrowheads="1"/>
          </p:cNvPicPr>
          <p:nvPr/>
        </p:nvPicPr>
        <p:blipFill>
          <a:blip r:embed="rId2" cstate="print"/>
          <a:srcRect t="34999" b="3333"/>
          <a:stretch>
            <a:fillRect/>
          </a:stretch>
        </p:blipFill>
        <p:spPr bwMode="auto">
          <a:xfrm>
            <a:off x="2669059" y="2701278"/>
            <a:ext cx="3805881" cy="17602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6" name="Table 5"/>
          <p:cNvGraphicFramePr>
            <a:graphicFrameLocks noGrp="1"/>
          </p:cNvGraphicFramePr>
          <p:nvPr>
            <p:extLst>
              <p:ext uri="{D42A27DB-BD31-4B8C-83A1-F6EECF244321}">
                <p14:modId xmlns:p14="http://schemas.microsoft.com/office/powerpoint/2010/main" val="1784493085"/>
              </p:ext>
            </p:extLst>
          </p:nvPr>
        </p:nvGraphicFramePr>
        <p:xfrm>
          <a:off x="2143123" y="1421238"/>
          <a:ext cx="4857751" cy="1187292"/>
        </p:xfrm>
        <a:graphic>
          <a:graphicData uri="http://schemas.openxmlformats.org/drawingml/2006/table">
            <a:tbl>
              <a:tblPr firstRow="1" bandRow="1">
                <a:tableStyleId>{7DF18680-E054-41AD-8BC1-D1AEF772440D}</a:tableStyleId>
              </a:tblPr>
              <a:tblGrid>
                <a:gridCol w="1228725">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914526">
                  <a:extLst>
                    <a:ext uri="{9D8B030D-6E8A-4147-A177-3AD203B41FA5}">
                      <a16:colId xmlns:a16="http://schemas.microsoft.com/office/drawing/2014/main" val="20002"/>
                    </a:ext>
                  </a:extLst>
                </a:gridCol>
              </a:tblGrid>
              <a:tr h="278130">
                <a:tc>
                  <a:txBody>
                    <a:bodyPr/>
                    <a:lstStyle/>
                    <a:p>
                      <a:endParaRPr lang="en-US" sz="1000" dirty="0"/>
                    </a:p>
                  </a:txBody>
                  <a:tcPr marL="68580" marR="68580" marT="34290" marB="34290"/>
                </a:tc>
                <a:tc>
                  <a:txBody>
                    <a:bodyPr/>
                    <a:lstStyle/>
                    <a:p>
                      <a:r>
                        <a:rPr lang="en-US" sz="1000" dirty="0"/>
                        <a:t>Traditional</a:t>
                      </a:r>
                    </a:p>
                  </a:txBody>
                  <a:tcPr marL="68580" marR="68580" marT="34290" marB="34290"/>
                </a:tc>
                <a:tc>
                  <a:txBody>
                    <a:bodyPr/>
                    <a:lstStyle/>
                    <a:p>
                      <a:r>
                        <a:rPr lang="en-US" sz="1000" dirty="0"/>
                        <a:t>With</a:t>
                      </a:r>
                      <a:r>
                        <a:rPr lang="en-US" sz="1000" baseline="0" dirty="0"/>
                        <a:t> Cloud Computing</a:t>
                      </a:r>
                      <a:endParaRPr lang="en-US" sz="1000" dirty="0"/>
                    </a:p>
                  </a:txBody>
                  <a:tcPr marL="68580" marR="68580" marT="34290" marB="34290"/>
                </a:tc>
                <a:extLst>
                  <a:ext uri="{0D108BD9-81ED-4DB2-BD59-A6C34878D82A}">
                    <a16:rowId xmlns:a16="http://schemas.microsoft.com/office/drawing/2014/main" val="10000"/>
                  </a:ext>
                </a:extLst>
              </a:tr>
              <a:tr h="377381">
                <a:tc>
                  <a:txBody>
                    <a:bodyPr/>
                    <a:lstStyle/>
                    <a:p>
                      <a:r>
                        <a:rPr lang="en-US" sz="1000" b="1" i="1" dirty="0"/>
                        <a:t>Computing Power</a:t>
                      </a:r>
                    </a:p>
                  </a:txBody>
                  <a:tcPr marL="68580" marR="68580" marT="34290" marB="34290" anchor="ctr"/>
                </a:tc>
                <a:tc>
                  <a:txBody>
                    <a:bodyPr/>
                    <a:lstStyle/>
                    <a:p>
                      <a:pPr algn="l"/>
                      <a:r>
                        <a:rPr lang="en-US" sz="1000" i="1" dirty="0">
                          <a:solidFill>
                            <a:schemeClr val="tx1"/>
                          </a:solidFill>
                        </a:rPr>
                        <a:t>Only</a:t>
                      </a:r>
                      <a:r>
                        <a:rPr lang="en-US" sz="1000" i="1" baseline="0" dirty="0">
                          <a:solidFill>
                            <a:schemeClr val="tx1"/>
                          </a:solidFill>
                        </a:rPr>
                        <a:t> accessed through desktop computer</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Accessed</a:t>
                      </a:r>
                      <a:r>
                        <a:rPr lang="en-US" sz="1000" i="1" baseline="0" dirty="0">
                          <a:solidFill>
                            <a:schemeClr val="tx1"/>
                          </a:solidFill>
                        </a:rPr>
                        <a:t> through small smart devices</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1"/>
                  </a:ext>
                </a:extLst>
              </a:tr>
              <a:tr h="531781">
                <a:tc>
                  <a:txBody>
                    <a:bodyPr/>
                    <a:lstStyle/>
                    <a:p>
                      <a:r>
                        <a:rPr lang="en-US" sz="1000" b="1" i="1" dirty="0"/>
                        <a:t>Small</a:t>
                      </a:r>
                      <a:r>
                        <a:rPr lang="en-US" sz="1000" b="1" i="1" baseline="0" dirty="0"/>
                        <a:t> Device Intelligence</a:t>
                      </a:r>
                      <a:endParaRPr lang="en-US" sz="1000" b="1" i="1" dirty="0"/>
                    </a:p>
                  </a:txBody>
                  <a:tcPr marL="68580" marR="68580" marT="34290" marB="34290" anchor="ctr"/>
                </a:tc>
                <a:tc>
                  <a:txBody>
                    <a:bodyPr/>
                    <a:lstStyle/>
                    <a:p>
                      <a:pPr algn="l"/>
                      <a:r>
                        <a:rPr lang="en-US" sz="1000" i="1" dirty="0">
                          <a:solidFill>
                            <a:schemeClr val="tx1"/>
                          </a:solidFill>
                        </a:rPr>
                        <a:t>Functionalities</a:t>
                      </a:r>
                      <a:r>
                        <a:rPr lang="en-US" sz="1000" i="1" baseline="0" dirty="0">
                          <a:solidFill>
                            <a:schemeClr val="tx1"/>
                          </a:solidFill>
                        </a:rPr>
                        <a:t> was limited due to their power consumption</a:t>
                      </a:r>
                      <a:endParaRPr lang="en-US" sz="1000" i="1" dirty="0">
                        <a:solidFill>
                          <a:schemeClr val="tx1"/>
                        </a:solidFill>
                      </a:endParaRPr>
                    </a:p>
                  </a:txBody>
                  <a:tcPr marL="68580" marR="68580" marT="34290" marB="34290" anchor="ctr"/>
                </a:tc>
                <a:tc>
                  <a:txBody>
                    <a:bodyPr/>
                    <a:lstStyle/>
                    <a:p>
                      <a:pPr algn="l"/>
                      <a:r>
                        <a:rPr lang="en-US" sz="1000" i="1" dirty="0">
                          <a:solidFill>
                            <a:schemeClr val="tx1"/>
                          </a:solidFill>
                        </a:rPr>
                        <a:t>Shift</a:t>
                      </a:r>
                      <a:r>
                        <a:rPr lang="en-US" sz="1000" i="1" baseline="0" dirty="0">
                          <a:solidFill>
                            <a:schemeClr val="tx1"/>
                          </a:solidFill>
                        </a:rPr>
                        <a:t> computing incentive jobs into cloud, and then wait for results</a:t>
                      </a:r>
                      <a:endParaRPr lang="en-US" sz="1000" i="1" dirty="0">
                        <a:solidFill>
                          <a:schemeClr val="tx1"/>
                        </a:solidFill>
                      </a:endParaRPr>
                    </a:p>
                  </a:txBody>
                  <a:tcPr marL="68580" marR="68580" marT="34290" marB="34290" anchor="ctr"/>
                </a:tc>
                <a:extLst>
                  <a:ext uri="{0D108BD9-81ED-4DB2-BD59-A6C34878D82A}">
                    <a16:rowId xmlns:a16="http://schemas.microsoft.com/office/drawing/2014/main" val="10002"/>
                  </a:ext>
                </a:extLst>
              </a:tr>
            </a:tbl>
          </a:graphicData>
        </a:graphic>
      </p:graphicFrame>
      <p:sp>
        <p:nvSpPr>
          <p:cNvPr id="7" name="Content Placeholder 2"/>
          <p:cNvSpPr>
            <a:spLocks noGrp="1"/>
          </p:cNvSpPr>
          <p:nvPr>
            <p:ph idx="1"/>
          </p:nvPr>
        </p:nvSpPr>
        <p:spPr>
          <a:xfrm>
            <a:off x="1072013" y="913806"/>
            <a:ext cx="6172200" cy="400050"/>
          </a:xfrm>
        </p:spPr>
        <p:txBody>
          <a:bodyPr/>
          <a:lstStyle/>
          <a:p>
            <a:r>
              <a:rPr lang="en-US" sz="2000" dirty="0"/>
              <a:t>What dose cloud computing achieve ?</a:t>
            </a:r>
          </a:p>
        </p:txBody>
      </p:sp>
      <p:sp>
        <p:nvSpPr>
          <p:cNvPr id="3" name="灯片编号占位符 2">
            <a:extLst>
              <a:ext uri="{FF2B5EF4-FFF2-40B4-BE49-F238E27FC236}">
                <a16:creationId xmlns:a16="http://schemas.microsoft.com/office/drawing/2014/main" id="{DE9C15AF-51A4-C921-6BCB-2618D5A23359}"/>
              </a:ext>
            </a:extLst>
          </p:cNvPr>
          <p:cNvSpPr>
            <a:spLocks noGrp="1"/>
          </p:cNvSpPr>
          <p:nvPr>
            <p:ph type="sldNum" sz="quarter" idx="10"/>
          </p:nvPr>
        </p:nvSpPr>
        <p:spPr/>
        <p:txBody>
          <a:bodyPr/>
          <a:lstStyle/>
          <a:p>
            <a:fld id="{D9B6BDF2-6896-4B98-8776-C18582F63BA5}" type="slidenum">
              <a:rPr lang="zh-TW" altLang="en-US" smtClean="0"/>
              <a:pPr/>
              <a:t>82</a:t>
            </a:fld>
            <a:endParaRPr lang="zh-TW" altLang="en-US"/>
          </a:p>
        </p:txBody>
      </p:sp>
      <p:sp>
        <p:nvSpPr>
          <p:cNvPr id="8" name="Title 1">
            <a:extLst>
              <a:ext uri="{FF2B5EF4-FFF2-40B4-BE49-F238E27FC236}">
                <a16:creationId xmlns:a16="http://schemas.microsoft.com/office/drawing/2014/main" id="{8CEA6AFF-7782-F1EC-C224-99741F3ACFF0}"/>
              </a:ext>
            </a:extLst>
          </p:cNvPr>
          <p:cNvSpPr>
            <a:spLocks noGrp="1"/>
          </p:cNvSpPr>
          <p:nvPr>
            <p:ph type="title"/>
          </p:nvPr>
        </p:nvSpPr>
        <p:spPr>
          <a:xfrm>
            <a:off x="924025" y="108349"/>
            <a:ext cx="7751665" cy="519113"/>
          </a:xfrm>
        </p:spPr>
        <p:txBody>
          <a:bodyPr/>
          <a:lstStyle/>
          <a:p>
            <a:r>
              <a:rPr lang="en-US" dirty="0"/>
              <a:t>Variety of End Devices (3)</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108349"/>
            <a:ext cx="7722789" cy="519113"/>
          </a:xfrm>
        </p:spPr>
        <p:txBody>
          <a:bodyPr/>
          <a:lstStyle/>
          <a:p>
            <a:r>
              <a:rPr lang="en-US" dirty="0"/>
              <a:t>Agenda</a:t>
            </a:r>
          </a:p>
        </p:txBody>
      </p:sp>
      <p:sp>
        <p:nvSpPr>
          <p:cNvPr id="3" name="Content Placeholder 2"/>
          <p:cNvSpPr>
            <a:spLocks noGrp="1"/>
          </p:cNvSpPr>
          <p:nvPr>
            <p:ph idx="1"/>
          </p:nvPr>
        </p:nvSpPr>
        <p:spPr>
          <a:xfrm>
            <a:off x="964010" y="844153"/>
            <a:ext cx="7722790" cy="3208083"/>
          </a:xfrm>
        </p:spPr>
        <p:txBody>
          <a:bodyPr/>
          <a:lstStyle/>
          <a:p>
            <a:pPr>
              <a:buClr>
                <a:schemeClr val="bg1">
                  <a:lumMod val="75000"/>
                </a:schemeClr>
              </a:buClr>
            </a:pPr>
            <a:r>
              <a:rPr lang="en-US" sz="2000" dirty="0">
                <a:solidFill>
                  <a:schemeClr val="bg1">
                    <a:lumMod val="75000"/>
                  </a:schemeClr>
                </a:solidFill>
              </a:rPr>
              <a:t>What is Cloud Computing ?</a:t>
            </a:r>
          </a:p>
          <a:p>
            <a:pPr lvl="1">
              <a:buClr>
                <a:schemeClr val="bg1">
                  <a:lumMod val="75000"/>
                </a:schemeClr>
              </a:buClr>
            </a:pPr>
            <a:r>
              <a:rPr lang="en-US" sz="2000" dirty="0">
                <a:solidFill>
                  <a:schemeClr val="bg1">
                    <a:lumMod val="75000"/>
                  </a:schemeClr>
                </a:solidFill>
              </a:rPr>
              <a:t>Different perspectives</a:t>
            </a:r>
          </a:p>
          <a:p>
            <a:pPr lvl="1">
              <a:buClr>
                <a:schemeClr val="bg1">
                  <a:lumMod val="75000"/>
                </a:schemeClr>
              </a:buClr>
            </a:pPr>
            <a:r>
              <a:rPr lang="en-US" sz="2000" dirty="0">
                <a:solidFill>
                  <a:schemeClr val="bg1">
                    <a:lumMod val="75000"/>
                  </a:schemeClr>
                </a:solidFill>
              </a:rPr>
              <a:t>Properties and characteristics</a:t>
            </a:r>
          </a:p>
          <a:p>
            <a:pPr lvl="1">
              <a:buClr>
                <a:schemeClr val="bg1">
                  <a:lumMod val="75000"/>
                </a:schemeClr>
              </a:buClr>
            </a:pPr>
            <a:r>
              <a:rPr lang="en-US" sz="2000" dirty="0">
                <a:solidFill>
                  <a:schemeClr val="bg1">
                    <a:lumMod val="75000"/>
                  </a:schemeClr>
                </a:solidFill>
              </a:rPr>
              <a:t>Benefits from cloud computing</a:t>
            </a:r>
          </a:p>
          <a:p>
            <a:endParaRPr lang="en-US" sz="2000" dirty="0"/>
          </a:p>
          <a:p>
            <a:r>
              <a:rPr lang="en-US" sz="2000" dirty="0"/>
              <a:t>Service and deployment models</a:t>
            </a:r>
          </a:p>
          <a:p>
            <a:pPr lvl="1"/>
            <a:r>
              <a:rPr lang="en-US" sz="2000" dirty="0"/>
              <a:t>Three service models</a:t>
            </a:r>
          </a:p>
          <a:p>
            <a:pPr lvl="1"/>
            <a:r>
              <a:rPr lang="en-US" sz="2000" dirty="0"/>
              <a:t>Four deployment models</a:t>
            </a:r>
          </a:p>
        </p:txBody>
      </p:sp>
      <p:sp>
        <p:nvSpPr>
          <p:cNvPr id="4" name="灯片编号占位符 3">
            <a:extLst>
              <a:ext uri="{FF2B5EF4-FFF2-40B4-BE49-F238E27FC236}">
                <a16:creationId xmlns:a16="http://schemas.microsoft.com/office/drawing/2014/main" id="{43F997E6-DC84-3956-7500-2B699D8E3631}"/>
              </a:ext>
            </a:extLst>
          </p:cNvPr>
          <p:cNvSpPr>
            <a:spLocks noGrp="1"/>
          </p:cNvSpPr>
          <p:nvPr>
            <p:ph type="sldNum" sz="quarter" idx="10"/>
          </p:nvPr>
        </p:nvSpPr>
        <p:spPr/>
        <p:txBody>
          <a:bodyPr/>
          <a:lstStyle/>
          <a:p>
            <a:fld id="{D9B6BDF2-6896-4B98-8776-C18582F63BA5}" type="slidenum">
              <a:rPr lang="zh-TW" altLang="en-US" smtClean="0"/>
              <a:pPr/>
              <a:t>83</a:t>
            </a:fld>
            <a:endParaRPr lang="zh-TW"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Choose the service you need</a:t>
            </a:r>
          </a:p>
        </p:txBody>
      </p:sp>
      <p:pic>
        <p:nvPicPr>
          <p:cNvPr id="84996" name="Picture 4" descr="http://www.wexla.com/images/service_concierge.jpg"/>
          <p:cNvPicPr>
            <a:picLocks noChangeAspect="1" noChangeArrowheads="1"/>
          </p:cNvPicPr>
          <p:nvPr/>
        </p:nvPicPr>
        <p:blipFill>
          <a:blip r:embed="rId2" cstate="print"/>
          <a:srcRect r="7570"/>
          <a:stretch>
            <a:fillRect/>
          </a:stretch>
        </p:blipFill>
        <p:spPr bwMode="auto">
          <a:xfrm flipH="1">
            <a:off x="5228782" y="1120192"/>
            <a:ext cx="3192905" cy="16182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1008E4AA-1388-3E20-8E0F-D333D998948A}"/>
              </a:ext>
            </a:extLst>
          </p:cNvPr>
          <p:cNvSpPr>
            <a:spLocks noGrp="1"/>
          </p:cNvSpPr>
          <p:nvPr>
            <p:ph type="sldNum" sz="quarter" idx="10"/>
          </p:nvPr>
        </p:nvSpPr>
        <p:spPr/>
        <p:txBody>
          <a:bodyPr/>
          <a:lstStyle/>
          <a:p>
            <a:fld id="{D9B6BDF2-6896-4B98-8776-C18582F63BA5}" type="slidenum">
              <a:rPr lang="zh-TW" altLang="en-US" smtClean="0"/>
              <a:pPr/>
              <a:t>84</a:t>
            </a:fld>
            <a:endParaRPr lang="zh-TW"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E9C15AF-51A4-C921-6BCB-2618D5A23359}"/>
              </a:ext>
            </a:extLst>
          </p:cNvPr>
          <p:cNvSpPr>
            <a:spLocks noGrp="1"/>
          </p:cNvSpPr>
          <p:nvPr>
            <p:ph type="sldNum" sz="quarter" idx="10"/>
          </p:nvPr>
        </p:nvSpPr>
        <p:spPr/>
        <p:txBody>
          <a:bodyPr/>
          <a:lstStyle/>
          <a:p>
            <a:fld id="{D9B6BDF2-6896-4B98-8776-C18582F63BA5}" type="slidenum">
              <a:rPr lang="zh-TW" altLang="en-US" smtClean="0"/>
              <a:pPr/>
              <a:t>85</a:t>
            </a:fld>
            <a:endParaRPr lang="zh-TW" altLang="en-US"/>
          </a:p>
        </p:txBody>
      </p:sp>
      <p:sp>
        <p:nvSpPr>
          <p:cNvPr id="8" name="Title 1">
            <a:extLst>
              <a:ext uri="{FF2B5EF4-FFF2-40B4-BE49-F238E27FC236}">
                <a16:creationId xmlns:a16="http://schemas.microsoft.com/office/drawing/2014/main" id="{8CEA6AFF-7782-F1EC-C224-99741F3ACFF0}"/>
              </a:ext>
            </a:extLst>
          </p:cNvPr>
          <p:cNvSpPr>
            <a:spLocks noGrp="1"/>
          </p:cNvSpPr>
          <p:nvPr>
            <p:ph type="title"/>
          </p:nvPr>
        </p:nvSpPr>
        <p:spPr>
          <a:xfrm>
            <a:off x="922867" y="108349"/>
            <a:ext cx="7752823" cy="519113"/>
          </a:xfrm>
        </p:spPr>
        <p:txBody>
          <a:bodyPr/>
          <a:lstStyle/>
          <a:p>
            <a:r>
              <a:rPr lang="en-US" altLang="zh-CN" sz="3600" b="1" dirty="0">
                <a:ln w="11430"/>
              </a:rPr>
              <a:t>A Simple Analogy (1)</a:t>
            </a:r>
            <a:endParaRPr lang="en-US" altLang="zh-CN" sz="3600" b="1" cap="none" spc="0" dirty="0">
              <a:ln w="11430"/>
            </a:endParaRPr>
          </a:p>
        </p:txBody>
      </p:sp>
      <p:pic>
        <p:nvPicPr>
          <p:cNvPr id="2" name="Picture 8" descr="C:\Users\Andy\AppData\Local\Microsoft\Windows\Temporary Internet Files\Content.IE5\IBKPY4TO\MPj04422330000[1].jpg">
            <a:extLst>
              <a:ext uri="{FF2B5EF4-FFF2-40B4-BE49-F238E27FC236}">
                <a16:creationId xmlns:a16="http://schemas.microsoft.com/office/drawing/2014/main" id="{C5BB25E8-45C0-160C-3082-77F15EF35B6C}"/>
              </a:ext>
            </a:extLst>
          </p:cNvPr>
          <p:cNvPicPr>
            <a:picLocks noChangeAspect="1" noChangeArrowheads="1"/>
          </p:cNvPicPr>
          <p:nvPr/>
        </p:nvPicPr>
        <p:blipFill>
          <a:blip r:embed="rId2" cstate="print"/>
          <a:srcRect r="6587" b="6666"/>
          <a:stretch>
            <a:fillRect/>
          </a:stretch>
        </p:blipFill>
        <p:spPr bwMode="auto">
          <a:xfrm>
            <a:off x="6507928" y="970948"/>
            <a:ext cx="2456685" cy="3514424"/>
          </a:xfrm>
          <a:prstGeom prst="roundRect">
            <a:avLst>
              <a:gd name="adj" fmla="val 603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Rectangle 3">
            <a:extLst>
              <a:ext uri="{FF2B5EF4-FFF2-40B4-BE49-F238E27FC236}">
                <a16:creationId xmlns:a16="http://schemas.microsoft.com/office/drawing/2014/main" id="{1794E063-BB4C-6E9E-5F87-9C7775D77FB8}"/>
              </a:ext>
            </a:extLst>
          </p:cNvPr>
          <p:cNvSpPr/>
          <p:nvPr/>
        </p:nvSpPr>
        <p:spPr>
          <a:xfrm>
            <a:off x="1099864" y="1798461"/>
            <a:ext cx="4552384" cy="1546577"/>
          </a:xfrm>
          <a:prstGeom prst="rect">
            <a:avLst/>
          </a:prstGeom>
          <a:noFill/>
        </p:spPr>
        <p:txBody>
          <a:bodyPr wrap="squar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a:ln w="11430"/>
                <a:solidFill>
                  <a:srgbClr val="0000FF"/>
                </a:solidFill>
                <a:latin typeface="Times New Roman" panose="02020603050405020304" pitchFamily="18" charset="0"/>
                <a:cs typeface="Times New Roman" panose="02020603050405020304" pitchFamily="18" charset="0"/>
              </a:rPr>
              <a:t>Say you just moved to a </a:t>
            </a:r>
          </a:p>
          <a:p>
            <a:pPr algn="ctr"/>
            <a:r>
              <a:rPr lang="en-US" sz="3200" b="1" dirty="0">
                <a:ln w="11430"/>
                <a:solidFill>
                  <a:srgbClr val="0000FF"/>
                </a:solidFill>
                <a:latin typeface="Times New Roman" panose="02020603050405020304" pitchFamily="18" charset="0"/>
                <a:cs typeface="Times New Roman" panose="02020603050405020304" pitchFamily="18" charset="0"/>
              </a:rPr>
              <a:t>City and you are looking </a:t>
            </a:r>
          </a:p>
          <a:p>
            <a:pPr algn="ctr"/>
            <a:r>
              <a:rPr lang="en-US" sz="3200" b="1" dirty="0">
                <a:ln w="11430"/>
                <a:solidFill>
                  <a:srgbClr val="0000FF"/>
                </a:solidFill>
                <a:latin typeface="Times New Roman" panose="02020603050405020304" pitchFamily="18" charset="0"/>
                <a:cs typeface="Times New Roman" panose="02020603050405020304" pitchFamily="18" charset="0"/>
              </a:rPr>
              <a:t>For a place to live</a:t>
            </a:r>
          </a:p>
        </p:txBody>
      </p:sp>
    </p:spTree>
    <p:extLst>
      <p:ext uri="{BB962C8B-B14F-4D97-AF65-F5344CB8AC3E}">
        <p14:creationId xmlns:p14="http://schemas.microsoft.com/office/powerpoint/2010/main" val="18006787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Andy\AppData\Local\Microsoft\Windows\Temporary Internet Files\Content.IE5\T087QNPU\MPj04225340000[1].jpg"/>
          <p:cNvPicPr>
            <a:picLocks noChangeAspect="1" noChangeArrowheads="1"/>
          </p:cNvPicPr>
          <p:nvPr/>
        </p:nvPicPr>
        <p:blipFill>
          <a:blip r:embed="rId2" cstate="print"/>
          <a:srcRect b="6836"/>
          <a:stretch>
            <a:fillRect/>
          </a:stretch>
        </p:blipFill>
        <p:spPr bwMode="auto">
          <a:xfrm>
            <a:off x="5278299" y="1257312"/>
            <a:ext cx="3539051" cy="2654288"/>
          </a:xfrm>
          <a:prstGeom prst="roundRect">
            <a:avLst>
              <a:gd name="adj" fmla="val 501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灯片编号占位符 4">
            <a:extLst>
              <a:ext uri="{FF2B5EF4-FFF2-40B4-BE49-F238E27FC236}">
                <a16:creationId xmlns:a16="http://schemas.microsoft.com/office/drawing/2014/main" id="{04D365DB-D892-A4F3-1F9B-4C9B095170CB}"/>
              </a:ext>
            </a:extLst>
          </p:cNvPr>
          <p:cNvSpPr>
            <a:spLocks noGrp="1"/>
          </p:cNvSpPr>
          <p:nvPr>
            <p:ph type="sldNum" sz="quarter" idx="10"/>
          </p:nvPr>
        </p:nvSpPr>
        <p:spPr/>
        <p:txBody>
          <a:bodyPr/>
          <a:lstStyle/>
          <a:p>
            <a:fld id="{D9B6BDF2-6896-4B98-8776-C18582F63BA5}" type="slidenum">
              <a:rPr lang="zh-TW" altLang="en-US" smtClean="0"/>
              <a:pPr/>
              <a:t>86</a:t>
            </a:fld>
            <a:endParaRPr lang="zh-TW" altLang="en-US"/>
          </a:p>
        </p:txBody>
      </p:sp>
      <p:sp>
        <p:nvSpPr>
          <p:cNvPr id="8" name="Rectangle 3">
            <a:extLst>
              <a:ext uri="{FF2B5EF4-FFF2-40B4-BE49-F238E27FC236}">
                <a16:creationId xmlns:a16="http://schemas.microsoft.com/office/drawing/2014/main" id="{1CF690F0-3F2B-1857-44F0-F3DB019ADB49}"/>
              </a:ext>
            </a:extLst>
          </p:cNvPr>
          <p:cNvSpPr/>
          <p:nvPr/>
        </p:nvSpPr>
        <p:spPr>
          <a:xfrm>
            <a:off x="433241" y="1798461"/>
            <a:ext cx="4552384" cy="1546577"/>
          </a:xfrm>
          <a:prstGeom prst="rect">
            <a:avLst/>
          </a:prstGeom>
          <a:noFill/>
        </p:spPr>
        <p:txBody>
          <a:bodyPr wrap="squar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a:ln w="11430"/>
                <a:solidFill>
                  <a:srgbClr val="0000FF"/>
                </a:solidFill>
                <a:latin typeface="Times New Roman" panose="02020603050405020304" pitchFamily="18" charset="0"/>
                <a:cs typeface="Times New Roman" panose="02020603050405020304" pitchFamily="18" charset="0"/>
              </a:rPr>
              <a:t>Build a new house?</a:t>
            </a:r>
          </a:p>
          <a:p>
            <a:pPr algn="ctr"/>
            <a:r>
              <a:rPr lang="en-US" sz="3200" b="1" dirty="0">
                <a:ln w="11430"/>
                <a:solidFill>
                  <a:srgbClr val="0000FF"/>
                </a:solidFill>
                <a:latin typeface="Times New Roman" panose="02020603050405020304" pitchFamily="18" charset="0"/>
                <a:cs typeface="Times New Roman" panose="02020603050405020304" pitchFamily="18" charset="0"/>
              </a:rPr>
              <a:t>Buy an empty house?</a:t>
            </a:r>
          </a:p>
          <a:p>
            <a:pPr algn="ctr"/>
            <a:r>
              <a:rPr lang="en-US" sz="3200" b="1" dirty="0">
                <a:ln w="11430"/>
                <a:solidFill>
                  <a:srgbClr val="0000FF"/>
                </a:solidFill>
                <a:latin typeface="Times New Roman" panose="02020603050405020304" pitchFamily="18" charset="0"/>
                <a:cs typeface="Times New Roman" panose="02020603050405020304" pitchFamily="18" charset="0"/>
              </a:rPr>
              <a:t>Live in a hotel?</a:t>
            </a:r>
          </a:p>
        </p:txBody>
      </p:sp>
      <p:sp>
        <p:nvSpPr>
          <p:cNvPr id="9" name="Title 1">
            <a:extLst>
              <a:ext uri="{FF2B5EF4-FFF2-40B4-BE49-F238E27FC236}">
                <a16:creationId xmlns:a16="http://schemas.microsoft.com/office/drawing/2014/main" id="{E15F9A65-8966-C1E9-5801-944AA0FD1562}"/>
              </a:ext>
            </a:extLst>
          </p:cNvPr>
          <p:cNvSpPr txBox="1">
            <a:spLocks/>
          </p:cNvSpPr>
          <p:nvPr/>
        </p:nvSpPr>
        <p:spPr>
          <a:xfrm>
            <a:off x="922867" y="28877"/>
            <a:ext cx="7752823" cy="625641"/>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kern="0" dirty="0">
                <a:ln w="11430"/>
              </a:rPr>
              <a:t>A Simple Analogy (2)</a:t>
            </a:r>
          </a:p>
        </p:txBody>
      </p:sp>
      <p:sp>
        <p:nvSpPr>
          <p:cNvPr id="11" name="Title 1">
            <a:extLst>
              <a:ext uri="{FF2B5EF4-FFF2-40B4-BE49-F238E27FC236}">
                <a16:creationId xmlns:a16="http://schemas.microsoft.com/office/drawing/2014/main" id="{4C635B90-B1AF-156A-3EDE-D811FDF6FC50}"/>
              </a:ext>
            </a:extLst>
          </p:cNvPr>
          <p:cNvSpPr txBox="1">
            <a:spLocks/>
          </p:cNvSpPr>
          <p:nvPr/>
        </p:nvSpPr>
        <p:spPr>
          <a:xfrm>
            <a:off x="1259450" y="1095818"/>
            <a:ext cx="2899966" cy="625641"/>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u="sng" kern="0" dirty="0">
                <a:ln w="11430"/>
              </a:rPr>
              <a:t>Your Choice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Andy\AppData\Local\Microsoft\Windows\Temporary Internet Files\Content.IE5\PQCBMZKS\MPj04393130000[1].jpg"/>
          <p:cNvPicPr>
            <a:picLocks noChangeAspect="1" noChangeArrowheads="1"/>
          </p:cNvPicPr>
          <p:nvPr/>
        </p:nvPicPr>
        <p:blipFill>
          <a:blip r:embed="rId2" cstate="print"/>
          <a:srcRect/>
          <a:stretch>
            <a:fillRect/>
          </a:stretch>
        </p:blipFill>
        <p:spPr bwMode="auto">
          <a:xfrm>
            <a:off x="5239503" y="1275009"/>
            <a:ext cx="3725110" cy="2793833"/>
          </a:xfrm>
          <a:prstGeom prst="roundRect">
            <a:avLst>
              <a:gd name="adj" fmla="val 401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灯片编号占位符 4">
            <a:extLst>
              <a:ext uri="{FF2B5EF4-FFF2-40B4-BE49-F238E27FC236}">
                <a16:creationId xmlns:a16="http://schemas.microsoft.com/office/drawing/2014/main" id="{FC3115B8-FFC5-63C2-E660-A57946121654}"/>
              </a:ext>
            </a:extLst>
          </p:cNvPr>
          <p:cNvSpPr>
            <a:spLocks noGrp="1"/>
          </p:cNvSpPr>
          <p:nvPr>
            <p:ph type="sldNum" sz="quarter" idx="10"/>
          </p:nvPr>
        </p:nvSpPr>
        <p:spPr/>
        <p:txBody>
          <a:bodyPr/>
          <a:lstStyle/>
          <a:p>
            <a:fld id="{D9B6BDF2-6896-4B98-8776-C18582F63BA5}" type="slidenum">
              <a:rPr lang="zh-TW" altLang="en-US" smtClean="0"/>
              <a:pPr/>
              <a:t>87</a:t>
            </a:fld>
            <a:endParaRPr lang="zh-TW" altLang="en-US"/>
          </a:p>
        </p:txBody>
      </p:sp>
      <p:sp>
        <p:nvSpPr>
          <p:cNvPr id="7" name="Title 1">
            <a:extLst>
              <a:ext uri="{FF2B5EF4-FFF2-40B4-BE49-F238E27FC236}">
                <a16:creationId xmlns:a16="http://schemas.microsoft.com/office/drawing/2014/main" id="{05141E9A-90C6-DDFD-034E-7A9505BEC629}"/>
              </a:ext>
            </a:extLst>
          </p:cNvPr>
          <p:cNvSpPr txBox="1">
            <a:spLocks/>
          </p:cNvSpPr>
          <p:nvPr/>
        </p:nvSpPr>
        <p:spPr>
          <a:xfrm>
            <a:off x="451810" y="755896"/>
            <a:ext cx="4347468" cy="519113"/>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u="sng" kern="0" dirty="0">
                <a:ln w="11430"/>
              </a:rPr>
              <a:t>Build a New House</a:t>
            </a:r>
          </a:p>
        </p:txBody>
      </p:sp>
      <p:sp>
        <p:nvSpPr>
          <p:cNvPr id="8" name="Rectangle 3">
            <a:extLst>
              <a:ext uri="{FF2B5EF4-FFF2-40B4-BE49-F238E27FC236}">
                <a16:creationId xmlns:a16="http://schemas.microsoft.com/office/drawing/2014/main" id="{8B50CEEB-9458-A8C8-6B97-88E5F4B89B61}"/>
              </a:ext>
            </a:extLst>
          </p:cNvPr>
          <p:cNvSpPr/>
          <p:nvPr/>
        </p:nvSpPr>
        <p:spPr>
          <a:xfrm>
            <a:off x="349352" y="1552240"/>
            <a:ext cx="4552384" cy="2039020"/>
          </a:xfrm>
          <a:prstGeom prst="rect">
            <a:avLst/>
          </a:prstGeom>
          <a:noFill/>
        </p:spPr>
        <p:txBody>
          <a:bodyPr wrap="squar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a:ln w="11430"/>
                <a:solidFill>
                  <a:srgbClr val="0000FF"/>
                </a:solidFill>
                <a:latin typeface="Times New Roman" panose="02020603050405020304" pitchFamily="18" charset="0"/>
                <a:cs typeface="Times New Roman" panose="02020603050405020304" pitchFamily="18" charset="0"/>
              </a:rPr>
              <a:t>You can fully control everything your new house to have. But that is a hard work … </a:t>
            </a:r>
          </a:p>
        </p:txBody>
      </p:sp>
      <p:sp>
        <p:nvSpPr>
          <p:cNvPr id="9" name="Title 1">
            <a:extLst>
              <a:ext uri="{FF2B5EF4-FFF2-40B4-BE49-F238E27FC236}">
                <a16:creationId xmlns:a16="http://schemas.microsoft.com/office/drawing/2014/main" id="{990C2E1D-D721-EB75-B13E-AF767B210FFA}"/>
              </a:ext>
            </a:extLst>
          </p:cNvPr>
          <p:cNvSpPr txBox="1">
            <a:spLocks/>
          </p:cNvSpPr>
          <p:nvPr/>
        </p:nvSpPr>
        <p:spPr>
          <a:xfrm>
            <a:off x="922867" y="28877"/>
            <a:ext cx="7752823" cy="625641"/>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kern="0" dirty="0">
                <a:ln w="11430"/>
              </a:rPr>
              <a:t>A Simple Analogy (3)</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Andy\AppData\Local\Microsoft\Windows\Temporary Internet Files\Content.IE5\T087QNPU\MPj04410350000[1].jpg"/>
          <p:cNvPicPr>
            <a:picLocks noChangeAspect="1" noChangeArrowheads="1"/>
          </p:cNvPicPr>
          <p:nvPr/>
        </p:nvPicPr>
        <p:blipFill>
          <a:blip r:embed="rId2" cstate="print"/>
          <a:srcRect b="16246"/>
          <a:stretch>
            <a:fillRect/>
          </a:stretch>
        </p:blipFill>
        <p:spPr bwMode="auto">
          <a:xfrm>
            <a:off x="5553776" y="1722922"/>
            <a:ext cx="3480583" cy="2186874"/>
          </a:xfrm>
          <a:prstGeom prst="roundRect">
            <a:avLst>
              <a:gd name="adj" fmla="val 580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灯片编号占位符 4">
            <a:extLst>
              <a:ext uri="{FF2B5EF4-FFF2-40B4-BE49-F238E27FC236}">
                <a16:creationId xmlns:a16="http://schemas.microsoft.com/office/drawing/2014/main" id="{58E1919E-EA57-6CB5-70EC-A06A3382032E}"/>
              </a:ext>
            </a:extLst>
          </p:cNvPr>
          <p:cNvSpPr>
            <a:spLocks noGrp="1"/>
          </p:cNvSpPr>
          <p:nvPr>
            <p:ph type="sldNum" sz="quarter" idx="10"/>
          </p:nvPr>
        </p:nvSpPr>
        <p:spPr/>
        <p:txBody>
          <a:bodyPr/>
          <a:lstStyle/>
          <a:p>
            <a:fld id="{D9B6BDF2-6896-4B98-8776-C18582F63BA5}" type="slidenum">
              <a:rPr lang="zh-TW" altLang="en-US" smtClean="0"/>
              <a:pPr/>
              <a:t>88</a:t>
            </a:fld>
            <a:endParaRPr lang="zh-TW" altLang="en-US"/>
          </a:p>
        </p:txBody>
      </p:sp>
      <p:sp>
        <p:nvSpPr>
          <p:cNvPr id="6" name="Title 1">
            <a:extLst>
              <a:ext uri="{FF2B5EF4-FFF2-40B4-BE49-F238E27FC236}">
                <a16:creationId xmlns:a16="http://schemas.microsoft.com/office/drawing/2014/main" id="{57DCD7B9-81D2-23BA-4ABF-9123842ED558}"/>
              </a:ext>
            </a:extLst>
          </p:cNvPr>
          <p:cNvSpPr txBox="1">
            <a:spLocks/>
          </p:cNvSpPr>
          <p:nvPr/>
        </p:nvSpPr>
        <p:spPr>
          <a:xfrm>
            <a:off x="922867" y="28877"/>
            <a:ext cx="7752823" cy="625641"/>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kern="0" dirty="0">
                <a:ln w="11430"/>
              </a:rPr>
              <a:t>A Simple Analogy (4)</a:t>
            </a:r>
          </a:p>
        </p:txBody>
      </p:sp>
      <p:sp>
        <p:nvSpPr>
          <p:cNvPr id="7" name="Title 1">
            <a:extLst>
              <a:ext uri="{FF2B5EF4-FFF2-40B4-BE49-F238E27FC236}">
                <a16:creationId xmlns:a16="http://schemas.microsoft.com/office/drawing/2014/main" id="{4E94472F-E2DA-E285-358C-DBF2AEF05158}"/>
              </a:ext>
            </a:extLst>
          </p:cNvPr>
          <p:cNvSpPr txBox="1">
            <a:spLocks/>
          </p:cNvSpPr>
          <p:nvPr/>
        </p:nvSpPr>
        <p:spPr>
          <a:xfrm>
            <a:off x="451810" y="755896"/>
            <a:ext cx="4347468" cy="519113"/>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u="sng" kern="0" dirty="0">
                <a:ln w="11430"/>
              </a:rPr>
              <a:t>Buy an Empty House</a:t>
            </a:r>
          </a:p>
        </p:txBody>
      </p:sp>
      <p:sp>
        <p:nvSpPr>
          <p:cNvPr id="8" name="Rectangle 3">
            <a:extLst>
              <a:ext uri="{FF2B5EF4-FFF2-40B4-BE49-F238E27FC236}">
                <a16:creationId xmlns:a16="http://schemas.microsoft.com/office/drawing/2014/main" id="{C4723D9F-43DE-60DC-CB94-DF87F73A96A3}"/>
              </a:ext>
            </a:extLst>
          </p:cNvPr>
          <p:cNvSpPr/>
          <p:nvPr/>
        </p:nvSpPr>
        <p:spPr>
          <a:xfrm>
            <a:off x="246894" y="1552240"/>
            <a:ext cx="5046008" cy="2039020"/>
          </a:xfrm>
          <a:prstGeom prst="rect">
            <a:avLst/>
          </a:prstGeom>
          <a:noFill/>
        </p:spPr>
        <p:txBody>
          <a:bodyPr wrap="squar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a:ln w="11430"/>
                <a:solidFill>
                  <a:srgbClr val="0000FF"/>
                </a:solidFill>
                <a:latin typeface="Times New Roman" panose="02020603050405020304" pitchFamily="18" charset="0"/>
                <a:cs typeface="Times New Roman" panose="02020603050405020304" pitchFamily="18" charset="0"/>
              </a:rPr>
              <a:t>You can customize some part of your house. But never change the original architecture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Andy\AppData\Local\Microsoft\Windows\Temporary Internet Files\Content.IE5\01OK34JN\MPj04424560000[1].jpg"/>
          <p:cNvPicPr>
            <a:picLocks noChangeAspect="1" noChangeArrowheads="1"/>
          </p:cNvPicPr>
          <p:nvPr/>
        </p:nvPicPr>
        <p:blipFill>
          <a:blip r:embed="rId2" cstate="print"/>
          <a:srcRect/>
          <a:stretch>
            <a:fillRect/>
          </a:stretch>
        </p:blipFill>
        <p:spPr bwMode="auto">
          <a:xfrm>
            <a:off x="5987846" y="1992429"/>
            <a:ext cx="3114468" cy="1636296"/>
          </a:xfrm>
          <a:prstGeom prst="roundRect">
            <a:avLst>
              <a:gd name="adj" fmla="val 547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灯片编号占位符 4">
            <a:extLst>
              <a:ext uri="{FF2B5EF4-FFF2-40B4-BE49-F238E27FC236}">
                <a16:creationId xmlns:a16="http://schemas.microsoft.com/office/drawing/2014/main" id="{287542AF-01CA-4A83-ABD1-1162B0291DA4}"/>
              </a:ext>
            </a:extLst>
          </p:cNvPr>
          <p:cNvSpPr>
            <a:spLocks noGrp="1"/>
          </p:cNvSpPr>
          <p:nvPr>
            <p:ph type="sldNum" sz="quarter" idx="10"/>
          </p:nvPr>
        </p:nvSpPr>
        <p:spPr/>
        <p:txBody>
          <a:bodyPr/>
          <a:lstStyle/>
          <a:p>
            <a:fld id="{D9B6BDF2-6896-4B98-8776-C18582F63BA5}" type="slidenum">
              <a:rPr lang="zh-TW" altLang="en-US" smtClean="0"/>
              <a:pPr/>
              <a:t>89</a:t>
            </a:fld>
            <a:endParaRPr lang="zh-TW" altLang="en-US"/>
          </a:p>
        </p:txBody>
      </p:sp>
      <p:sp>
        <p:nvSpPr>
          <p:cNvPr id="6" name="Title 1">
            <a:extLst>
              <a:ext uri="{FF2B5EF4-FFF2-40B4-BE49-F238E27FC236}">
                <a16:creationId xmlns:a16="http://schemas.microsoft.com/office/drawing/2014/main" id="{711BB34F-70D0-BC65-F20B-715026F00FE8}"/>
              </a:ext>
            </a:extLst>
          </p:cNvPr>
          <p:cNvSpPr txBox="1">
            <a:spLocks/>
          </p:cNvSpPr>
          <p:nvPr/>
        </p:nvSpPr>
        <p:spPr>
          <a:xfrm>
            <a:off x="922867" y="28877"/>
            <a:ext cx="7752823" cy="625641"/>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kern="0" dirty="0">
                <a:ln w="11430"/>
              </a:rPr>
              <a:t>A Simple Analogy (5)</a:t>
            </a:r>
          </a:p>
        </p:txBody>
      </p:sp>
      <p:sp>
        <p:nvSpPr>
          <p:cNvPr id="7" name="Title 1">
            <a:extLst>
              <a:ext uri="{FF2B5EF4-FFF2-40B4-BE49-F238E27FC236}">
                <a16:creationId xmlns:a16="http://schemas.microsoft.com/office/drawing/2014/main" id="{290401B0-03A6-7C53-38C0-EAC07BEC340B}"/>
              </a:ext>
            </a:extLst>
          </p:cNvPr>
          <p:cNvSpPr txBox="1">
            <a:spLocks/>
          </p:cNvSpPr>
          <p:nvPr/>
        </p:nvSpPr>
        <p:spPr>
          <a:xfrm>
            <a:off x="1263464" y="798967"/>
            <a:ext cx="3186539" cy="625641"/>
          </a:xfrm>
          <a:prstGeom prst="rect">
            <a:avLst/>
          </a:prstGeom>
        </p:spPr>
        <p:txBody>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zh-CN" u="sng" kern="0" dirty="0">
                <a:ln w="11430"/>
              </a:rPr>
              <a:t>Live in a Hotel</a:t>
            </a:r>
          </a:p>
        </p:txBody>
      </p:sp>
      <p:sp>
        <p:nvSpPr>
          <p:cNvPr id="8" name="Rectangle 3">
            <a:extLst>
              <a:ext uri="{FF2B5EF4-FFF2-40B4-BE49-F238E27FC236}">
                <a16:creationId xmlns:a16="http://schemas.microsoft.com/office/drawing/2014/main" id="{5272A4A7-312B-C43C-018F-D275AFB3A59A}"/>
              </a:ext>
            </a:extLst>
          </p:cNvPr>
          <p:cNvSpPr/>
          <p:nvPr/>
        </p:nvSpPr>
        <p:spPr>
          <a:xfrm>
            <a:off x="179387" y="1569057"/>
            <a:ext cx="5354695" cy="2531462"/>
          </a:xfrm>
          <a:prstGeom prst="rect">
            <a:avLst/>
          </a:prstGeom>
          <a:noFill/>
        </p:spPr>
        <p:txBody>
          <a:bodyPr wrap="squar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a:ln w="11430"/>
                <a:solidFill>
                  <a:srgbClr val="0000FF"/>
                </a:solidFill>
                <a:latin typeface="Times New Roman" panose="02020603050405020304" pitchFamily="18" charset="0"/>
                <a:cs typeface="Times New Roman" panose="02020603050405020304" pitchFamily="18" charset="0"/>
              </a:rPr>
              <a:t>Live in a hotel will be a good idea if the only thing your care is enjoy your life! There is nothing you can do with house except living in it.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CCB0C5A-7974-953A-9AE0-AE3AD74EB7D6}"/>
              </a:ext>
            </a:extLst>
          </p:cNvPr>
          <p:cNvSpPr>
            <a:spLocks noGrp="1"/>
          </p:cNvSpPr>
          <p:nvPr>
            <p:ph type="sldNum" sz="quarter" idx="10"/>
          </p:nvPr>
        </p:nvSpPr>
        <p:spPr/>
        <p:txBody>
          <a:bodyPr/>
          <a:lstStyle/>
          <a:p>
            <a:fld id="{D9B6BDF2-6896-4B98-8776-C18582F63BA5}" type="slidenum">
              <a:rPr lang="zh-TW" altLang="en-US" smtClean="0"/>
              <a:pPr/>
              <a:t>90</a:t>
            </a:fld>
            <a:endParaRPr lang="zh-TW" altLang="en-US"/>
          </a:p>
        </p:txBody>
      </p:sp>
      <p:sp>
        <p:nvSpPr>
          <p:cNvPr id="5" name="Content Placeholder 2">
            <a:extLst>
              <a:ext uri="{FF2B5EF4-FFF2-40B4-BE49-F238E27FC236}">
                <a16:creationId xmlns:a16="http://schemas.microsoft.com/office/drawing/2014/main" id="{942C8F84-9C67-602A-DDE6-179677C48DE5}"/>
              </a:ext>
            </a:extLst>
          </p:cNvPr>
          <p:cNvSpPr txBox="1">
            <a:spLocks/>
          </p:cNvSpPr>
          <p:nvPr/>
        </p:nvSpPr>
        <p:spPr>
          <a:xfrm>
            <a:off x="1722277" y="1737037"/>
            <a:ext cx="5194990" cy="1480295"/>
          </a:xfrm>
          <a:prstGeom prst="rect">
            <a:avLst/>
          </a:prstGeom>
        </p:spPr>
        <p:txBody>
          <a:bodyPr>
            <a:no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342891" lvl="1" indent="0" algn="ctr">
              <a:spcBef>
                <a:spcPts val="0"/>
              </a:spcBef>
              <a:buFont typeface="Arial" charset="0"/>
              <a:buNone/>
            </a:pPr>
            <a:r>
              <a:rPr lang="en-US" sz="4000" b="1" kern="0" dirty="0">
                <a:solidFill>
                  <a:srgbClr val="FF0000"/>
                </a:solidFill>
              </a:rPr>
              <a:t>Let’s translate to </a:t>
            </a:r>
          </a:p>
          <a:p>
            <a:pPr marL="342891" lvl="1" indent="0" algn="ctr">
              <a:spcBef>
                <a:spcPts val="0"/>
              </a:spcBef>
              <a:buFont typeface="Arial" charset="0"/>
              <a:buNone/>
            </a:pPr>
            <a:r>
              <a:rPr lang="en-US" sz="4000" b="1" kern="0" dirty="0">
                <a:solidFill>
                  <a:srgbClr val="FF0000"/>
                </a:solidFill>
              </a:rPr>
              <a:t>Cloud Computing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952" y="77885"/>
            <a:ext cx="7769382" cy="519113"/>
          </a:xfrm>
        </p:spPr>
        <p:txBody>
          <a:bodyPr/>
          <a:lstStyle/>
          <a:p>
            <a:r>
              <a:rPr lang="en-US" dirty="0"/>
              <a:t>Service Models Overview</a:t>
            </a:r>
            <a:r>
              <a:rPr lang="zh-CN" altLang="en-US" dirty="0"/>
              <a:t> </a:t>
            </a:r>
            <a:r>
              <a:rPr lang="en-US" altLang="zh-CN" dirty="0"/>
              <a:t>(1)</a:t>
            </a:r>
            <a:endParaRPr lang="en-US" dirty="0"/>
          </a:p>
        </p:txBody>
      </p:sp>
      <p:sp>
        <p:nvSpPr>
          <p:cNvPr id="3" name="Content Placeholder 2"/>
          <p:cNvSpPr>
            <a:spLocks noGrp="1"/>
          </p:cNvSpPr>
          <p:nvPr>
            <p:ph idx="1"/>
          </p:nvPr>
        </p:nvSpPr>
        <p:spPr>
          <a:xfrm>
            <a:off x="1011077" y="864972"/>
            <a:ext cx="6958181" cy="3042886"/>
          </a:xfrm>
        </p:spPr>
        <p:txBody>
          <a:bodyPr>
            <a:noAutofit/>
          </a:bodyPr>
          <a:lstStyle/>
          <a:p>
            <a:pPr>
              <a:spcBef>
                <a:spcPts val="0"/>
              </a:spcBef>
            </a:pPr>
            <a:r>
              <a:rPr lang="en-US" sz="2400" dirty="0"/>
              <a:t>What if you want to have an IT department similar to </a:t>
            </a:r>
            <a:r>
              <a:rPr lang="en-US" sz="2400" i="1" dirty="0"/>
              <a:t>build a new house </a:t>
            </a:r>
            <a:r>
              <a:rPr lang="en-US" sz="2400" dirty="0"/>
              <a:t>in previous analogy</a:t>
            </a:r>
          </a:p>
          <a:p>
            <a:pPr lvl="1">
              <a:spcBef>
                <a:spcPts val="0"/>
              </a:spcBef>
            </a:pPr>
            <a:r>
              <a:rPr lang="en-US" dirty="0">
                <a:latin typeface="Times New Roman" panose="02020603050405020304" pitchFamily="18" charset="0"/>
                <a:cs typeface="Times New Roman" panose="02020603050405020304" pitchFamily="18" charset="0"/>
              </a:rPr>
              <a:t>You can rent some virtualized infrastructure and build up your own IT system among those resources, which may be fully controlled.</a:t>
            </a:r>
          </a:p>
          <a:p>
            <a:pPr lvl="1">
              <a:spcBef>
                <a:spcPts val="0"/>
              </a:spcBef>
            </a:pPr>
            <a:r>
              <a:rPr lang="en-US" dirty="0">
                <a:latin typeface="Times New Roman" panose="02020603050405020304" pitchFamily="18" charset="0"/>
                <a:cs typeface="Times New Roman" panose="02020603050405020304" pitchFamily="18" charset="0"/>
              </a:rPr>
              <a:t>Technical speaking, use the </a:t>
            </a:r>
            <a:r>
              <a:rPr lang="en-US" i="1" dirty="0">
                <a:latin typeface="Times New Roman" panose="02020603050405020304" pitchFamily="18" charset="0"/>
                <a:cs typeface="Times New Roman" panose="02020603050405020304" pitchFamily="18" charset="0"/>
              </a:rPr>
              <a:t>Infrastructure as a Service (IaaS)</a:t>
            </a:r>
            <a:r>
              <a:rPr lang="en-US" dirty="0">
                <a:latin typeface="Times New Roman" panose="02020603050405020304" pitchFamily="18" charset="0"/>
                <a:cs typeface="Times New Roman" panose="02020603050405020304" pitchFamily="18" charset="0"/>
              </a:rPr>
              <a:t> solution.</a:t>
            </a:r>
          </a:p>
          <a:p>
            <a:pPr marL="342891" lvl="1" indent="0">
              <a:spcBef>
                <a:spcPts val="0"/>
              </a:spcBef>
              <a:buNone/>
            </a:pPr>
            <a:endParaRPr lang="en-US"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A697F03C-8EFA-7F2E-12CD-1F07DCD801C1}"/>
              </a:ext>
            </a:extLst>
          </p:cNvPr>
          <p:cNvSpPr>
            <a:spLocks noGrp="1"/>
          </p:cNvSpPr>
          <p:nvPr>
            <p:ph type="sldNum" sz="quarter" idx="10"/>
          </p:nvPr>
        </p:nvSpPr>
        <p:spPr/>
        <p:txBody>
          <a:bodyPr/>
          <a:lstStyle/>
          <a:p>
            <a:fld id="{D9B6BDF2-6896-4B98-8776-C18582F63BA5}" type="slidenum">
              <a:rPr lang="zh-TW" altLang="en-US" smtClean="0"/>
              <a:pPr/>
              <a:t>91</a:t>
            </a:fld>
            <a:endParaRPr lang="zh-TW"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952" y="77885"/>
            <a:ext cx="7769382" cy="519113"/>
          </a:xfrm>
        </p:spPr>
        <p:txBody>
          <a:bodyPr/>
          <a:lstStyle/>
          <a:p>
            <a:r>
              <a:rPr lang="en-US" dirty="0"/>
              <a:t>Service Models Overview</a:t>
            </a:r>
            <a:r>
              <a:rPr lang="zh-CN" altLang="en-US" dirty="0"/>
              <a:t> </a:t>
            </a:r>
            <a:r>
              <a:rPr lang="en-US" altLang="zh-CN" dirty="0"/>
              <a:t>(2)</a:t>
            </a:r>
            <a:endParaRPr lang="en-US" dirty="0"/>
          </a:p>
        </p:txBody>
      </p:sp>
      <p:sp>
        <p:nvSpPr>
          <p:cNvPr id="3" name="Content Placeholder 2"/>
          <p:cNvSpPr>
            <a:spLocks noGrp="1"/>
          </p:cNvSpPr>
          <p:nvPr>
            <p:ph idx="1"/>
          </p:nvPr>
        </p:nvSpPr>
        <p:spPr>
          <a:xfrm>
            <a:off x="1018080" y="855346"/>
            <a:ext cx="6961264" cy="3139139"/>
          </a:xfrm>
        </p:spPr>
        <p:txBody>
          <a:bodyPr>
            <a:noAutofit/>
          </a:bodyPr>
          <a:lstStyle/>
          <a:p>
            <a:pPr>
              <a:spcBef>
                <a:spcPts val="0"/>
              </a:spcBef>
            </a:pPr>
            <a:r>
              <a:rPr lang="en-US" sz="2400" dirty="0"/>
              <a:t>What if you want to have an IT department similar to </a:t>
            </a:r>
            <a:r>
              <a:rPr lang="en-US" sz="2400" i="1" dirty="0"/>
              <a:t>buy an empty house </a:t>
            </a:r>
            <a:r>
              <a:rPr lang="en-US" sz="2400" dirty="0"/>
              <a:t>in previous analogy</a:t>
            </a:r>
          </a:p>
          <a:p>
            <a:pPr lvl="1">
              <a:spcBef>
                <a:spcPts val="0"/>
              </a:spcBef>
            </a:pPr>
            <a:r>
              <a:rPr lang="en-US" dirty="0">
                <a:latin typeface="Times New Roman" panose="02020603050405020304" pitchFamily="18" charset="0"/>
                <a:cs typeface="Times New Roman" panose="02020603050405020304" pitchFamily="18" charset="0"/>
              </a:rPr>
              <a:t>You can directly develop your IT system through one cloud platform, and do not care about any lower level resource management.</a:t>
            </a:r>
          </a:p>
          <a:p>
            <a:pPr lvl="1">
              <a:spcBef>
                <a:spcPts val="0"/>
              </a:spcBef>
            </a:pPr>
            <a:r>
              <a:rPr lang="en-US" dirty="0">
                <a:latin typeface="Times New Roman" panose="02020603050405020304" pitchFamily="18" charset="0"/>
                <a:cs typeface="Times New Roman" panose="02020603050405020304" pitchFamily="18" charset="0"/>
              </a:rPr>
              <a:t>Technical speaking, use the </a:t>
            </a:r>
            <a:r>
              <a:rPr lang="en-US" i="1" dirty="0">
                <a:latin typeface="Times New Roman" panose="02020603050405020304" pitchFamily="18" charset="0"/>
                <a:cs typeface="Times New Roman" panose="02020603050405020304" pitchFamily="18" charset="0"/>
              </a:rPr>
              <a:t>Platform as a Service (PaaS)</a:t>
            </a:r>
            <a:r>
              <a:rPr lang="en-US" dirty="0">
                <a:latin typeface="Times New Roman" panose="02020603050405020304" pitchFamily="18" charset="0"/>
                <a:cs typeface="Times New Roman" panose="02020603050405020304" pitchFamily="18" charset="0"/>
              </a:rPr>
              <a:t> solution.</a:t>
            </a:r>
          </a:p>
        </p:txBody>
      </p:sp>
      <p:sp>
        <p:nvSpPr>
          <p:cNvPr id="4" name="灯片编号占位符 3">
            <a:extLst>
              <a:ext uri="{FF2B5EF4-FFF2-40B4-BE49-F238E27FC236}">
                <a16:creationId xmlns:a16="http://schemas.microsoft.com/office/drawing/2014/main" id="{A697F03C-8EFA-7F2E-12CD-1F07DCD801C1}"/>
              </a:ext>
            </a:extLst>
          </p:cNvPr>
          <p:cNvSpPr>
            <a:spLocks noGrp="1"/>
          </p:cNvSpPr>
          <p:nvPr>
            <p:ph type="sldNum" sz="quarter" idx="10"/>
          </p:nvPr>
        </p:nvSpPr>
        <p:spPr/>
        <p:txBody>
          <a:bodyPr/>
          <a:lstStyle/>
          <a:p>
            <a:fld id="{D9B6BDF2-6896-4B98-8776-C18582F63BA5}" type="slidenum">
              <a:rPr lang="zh-TW" altLang="en-US" smtClean="0"/>
              <a:pPr/>
              <a:t>92</a:t>
            </a:fld>
            <a:endParaRPr lang="zh-TW" altLang="en-US"/>
          </a:p>
        </p:txBody>
      </p:sp>
    </p:spTree>
    <p:extLst>
      <p:ext uri="{BB962C8B-B14F-4D97-AF65-F5344CB8AC3E}">
        <p14:creationId xmlns:p14="http://schemas.microsoft.com/office/powerpoint/2010/main" val="24780688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952" y="77885"/>
            <a:ext cx="7769382" cy="519113"/>
          </a:xfrm>
        </p:spPr>
        <p:txBody>
          <a:bodyPr/>
          <a:lstStyle/>
          <a:p>
            <a:r>
              <a:rPr lang="en-US" dirty="0"/>
              <a:t>Service Models Overview</a:t>
            </a:r>
            <a:r>
              <a:rPr lang="zh-CN" altLang="en-US" dirty="0"/>
              <a:t> </a:t>
            </a:r>
            <a:r>
              <a:rPr lang="en-US" altLang="zh-CN" dirty="0"/>
              <a:t>(3)</a:t>
            </a:r>
            <a:endParaRPr lang="en-US" dirty="0"/>
          </a:p>
        </p:txBody>
      </p:sp>
      <p:sp>
        <p:nvSpPr>
          <p:cNvPr id="3" name="Content Placeholder 2"/>
          <p:cNvSpPr>
            <a:spLocks noGrp="1"/>
          </p:cNvSpPr>
          <p:nvPr>
            <p:ph idx="1"/>
          </p:nvPr>
        </p:nvSpPr>
        <p:spPr>
          <a:xfrm>
            <a:off x="1040411" y="826470"/>
            <a:ext cx="7107841" cy="3648426"/>
          </a:xfrm>
        </p:spPr>
        <p:txBody>
          <a:bodyPr>
            <a:noAutofit/>
          </a:bodyPr>
          <a:lstStyle/>
          <a:p>
            <a:pPr>
              <a:spcBef>
                <a:spcPts val="0"/>
              </a:spcBef>
            </a:pPr>
            <a:r>
              <a:rPr lang="en-US" sz="2400" dirty="0"/>
              <a:t>What if you want to have an IT department similar to </a:t>
            </a:r>
            <a:r>
              <a:rPr lang="en-US" sz="2400" i="1" dirty="0"/>
              <a:t>live in a hotel </a:t>
            </a:r>
            <a:r>
              <a:rPr lang="en-US" sz="2400" dirty="0"/>
              <a:t>in previous analogy</a:t>
            </a:r>
          </a:p>
          <a:p>
            <a:pPr lvl="1">
              <a:spcBef>
                <a:spcPts val="0"/>
              </a:spcBef>
            </a:pPr>
            <a:r>
              <a:rPr lang="en-US" dirty="0">
                <a:latin typeface="Times New Roman" panose="02020603050405020304" pitchFamily="18" charset="0"/>
                <a:cs typeface="Times New Roman" panose="02020603050405020304" pitchFamily="18" charset="0"/>
              </a:rPr>
              <a:t>You can directly use some existed IT system solutions, which were provided by some cloud application service provider, without knowing any detail technique about how these service was achieved.</a:t>
            </a:r>
          </a:p>
          <a:p>
            <a:pPr lvl="1">
              <a:spcBef>
                <a:spcPts val="0"/>
              </a:spcBef>
            </a:pPr>
            <a:r>
              <a:rPr lang="en-US" dirty="0">
                <a:latin typeface="Times New Roman" panose="02020603050405020304" pitchFamily="18" charset="0"/>
                <a:cs typeface="Times New Roman" panose="02020603050405020304" pitchFamily="18" charset="0"/>
              </a:rPr>
              <a:t>Technical speaking, use the </a:t>
            </a:r>
            <a:r>
              <a:rPr lang="en-US" i="1" dirty="0">
                <a:latin typeface="Times New Roman" panose="02020603050405020304" pitchFamily="18" charset="0"/>
                <a:cs typeface="Times New Roman" panose="02020603050405020304" pitchFamily="18" charset="0"/>
              </a:rPr>
              <a:t>Software as a Service (</a:t>
            </a:r>
            <a:r>
              <a:rPr lang="en-US" i="1" dirty="0" err="1">
                <a:latin typeface="Times New Roman" panose="02020603050405020304" pitchFamily="18" charset="0"/>
                <a:cs typeface="Times New Roman" panose="02020603050405020304" pitchFamily="18" charset="0"/>
              </a:rPr>
              <a:t>SaaS</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solution.</a:t>
            </a:r>
          </a:p>
        </p:txBody>
      </p:sp>
      <p:sp>
        <p:nvSpPr>
          <p:cNvPr id="4" name="灯片编号占位符 3">
            <a:extLst>
              <a:ext uri="{FF2B5EF4-FFF2-40B4-BE49-F238E27FC236}">
                <a16:creationId xmlns:a16="http://schemas.microsoft.com/office/drawing/2014/main" id="{A697F03C-8EFA-7F2E-12CD-1F07DCD801C1}"/>
              </a:ext>
            </a:extLst>
          </p:cNvPr>
          <p:cNvSpPr>
            <a:spLocks noGrp="1"/>
          </p:cNvSpPr>
          <p:nvPr>
            <p:ph type="sldNum" sz="quarter" idx="10"/>
          </p:nvPr>
        </p:nvSpPr>
        <p:spPr/>
        <p:txBody>
          <a:bodyPr/>
          <a:lstStyle/>
          <a:p>
            <a:fld id="{D9B6BDF2-6896-4B98-8776-C18582F63BA5}" type="slidenum">
              <a:rPr lang="zh-TW" altLang="en-US" smtClean="0"/>
              <a:pPr/>
              <a:t>93</a:t>
            </a:fld>
            <a:endParaRPr lang="zh-TW" altLang="en-US"/>
          </a:p>
        </p:txBody>
      </p:sp>
    </p:spTree>
    <p:extLst>
      <p:ext uri="{BB962C8B-B14F-4D97-AF65-F5344CB8AC3E}">
        <p14:creationId xmlns:p14="http://schemas.microsoft.com/office/powerpoint/2010/main" val="9011267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1925904" y="896521"/>
            <a:ext cx="5746061" cy="3619037"/>
          </a:xfrm>
          <a:prstGeom prst="rect">
            <a:avLst/>
          </a:prstGeom>
          <a:noFill/>
          <a:ln w="9525">
            <a:noFill/>
            <a:miter lim="800000"/>
            <a:headEnd/>
            <a:tailEnd/>
          </a:ln>
          <a:effectLst/>
        </p:spPr>
      </p:pic>
      <p:sp>
        <p:nvSpPr>
          <p:cNvPr id="2" name="Title 1"/>
          <p:cNvSpPr>
            <a:spLocks noGrp="1"/>
          </p:cNvSpPr>
          <p:nvPr>
            <p:ph type="title"/>
          </p:nvPr>
        </p:nvSpPr>
        <p:spPr>
          <a:xfrm>
            <a:off x="938676" y="92165"/>
            <a:ext cx="7737014" cy="519113"/>
          </a:xfrm>
        </p:spPr>
        <p:txBody>
          <a:bodyPr/>
          <a:lstStyle/>
          <a:p>
            <a:r>
              <a:rPr lang="en-US" dirty="0"/>
              <a:t>Service Model Overview </a:t>
            </a:r>
            <a:r>
              <a:rPr lang="en-US" altLang="zh-CN" dirty="0"/>
              <a:t>(4)</a:t>
            </a:r>
            <a:endParaRPr lang="en-US" dirty="0"/>
          </a:p>
        </p:txBody>
      </p:sp>
      <p:sp>
        <p:nvSpPr>
          <p:cNvPr id="3" name="灯片编号占位符 2">
            <a:extLst>
              <a:ext uri="{FF2B5EF4-FFF2-40B4-BE49-F238E27FC236}">
                <a16:creationId xmlns:a16="http://schemas.microsoft.com/office/drawing/2014/main" id="{1F1B57DD-2C50-7D06-324A-C6D8B3F6C1AC}"/>
              </a:ext>
            </a:extLst>
          </p:cNvPr>
          <p:cNvSpPr>
            <a:spLocks noGrp="1"/>
          </p:cNvSpPr>
          <p:nvPr>
            <p:ph type="sldNum" sz="quarter" idx="10"/>
          </p:nvPr>
        </p:nvSpPr>
        <p:spPr/>
        <p:txBody>
          <a:bodyPr/>
          <a:lstStyle/>
          <a:p>
            <a:fld id="{D9B6BDF2-6896-4B98-8776-C18582F63BA5}" type="slidenum">
              <a:rPr lang="zh-TW" altLang="en-US" smtClean="0"/>
              <a:pPr/>
              <a:t>94</a:t>
            </a:fld>
            <a:endParaRPr lang="zh-TW"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solidFill>
                  <a:srgbClr val="C00000"/>
                </a:solidFill>
              </a:rPr>
              <a:t>Infrastructure as a Service</a:t>
            </a:r>
          </a:p>
          <a:p>
            <a:r>
              <a:rPr lang="en-US" dirty="0"/>
              <a:t>Platform as a Service</a:t>
            </a:r>
          </a:p>
          <a:p>
            <a:r>
              <a:rPr lang="en-US" dirty="0"/>
              <a:t>Software as a Service</a:t>
            </a:r>
          </a:p>
        </p:txBody>
      </p:sp>
      <p:sp>
        <p:nvSpPr>
          <p:cNvPr id="4" name="灯片编号占位符 3">
            <a:extLst>
              <a:ext uri="{FF2B5EF4-FFF2-40B4-BE49-F238E27FC236}">
                <a16:creationId xmlns:a16="http://schemas.microsoft.com/office/drawing/2014/main" id="{7BE55B03-8989-7BC6-9E9E-EC8C852BE220}"/>
              </a:ext>
            </a:extLst>
          </p:cNvPr>
          <p:cNvSpPr>
            <a:spLocks noGrp="1"/>
          </p:cNvSpPr>
          <p:nvPr>
            <p:ph type="sldNum" sz="quarter" idx="10"/>
          </p:nvPr>
        </p:nvSpPr>
        <p:spPr/>
        <p:txBody>
          <a:bodyPr/>
          <a:lstStyle/>
          <a:p>
            <a:fld id="{D9B6BDF2-6896-4B98-8776-C18582F63BA5}" type="slidenum">
              <a:rPr lang="zh-TW" altLang="en-US" smtClean="0"/>
              <a:pPr/>
              <a:t>95</a:t>
            </a:fld>
            <a:endParaRPr lang="zh-TW"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933" y="82948"/>
            <a:ext cx="7769757" cy="519113"/>
          </a:xfrm>
        </p:spPr>
        <p:txBody>
          <a:bodyPr/>
          <a:lstStyle/>
          <a:p>
            <a:r>
              <a:rPr lang="en-US" dirty="0"/>
              <a:t>Infrastructure as a Service (1)</a:t>
            </a:r>
          </a:p>
        </p:txBody>
      </p:sp>
      <p:sp>
        <p:nvSpPr>
          <p:cNvPr id="3" name="Content Placeholder 2"/>
          <p:cNvSpPr>
            <a:spLocks noGrp="1"/>
          </p:cNvSpPr>
          <p:nvPr>
            <p:ph idx="1"/>
          </p:nvPr>
        </p:nvSpPr>
        <p:spPr>
          <a:xfrm>
            <a:off x="1020233" y="839258"/>
            <a:ext cx="7122740" cy="3809744"/>
          </a:xfrm>
        </p:spPr>
        <p:txBody>
          <a:bodyPr>
            <a:noAutofit/>
          </a:bodyPr>
          <a:lstStyle/>
          <a:p>
            <a:pPr>
              <a:spcBef>
                <a:spcPts val="0"/>
              </a:spcBef>
            </a:pPr>
            <a:r>
              <a:rPr lang="en-US" sz="2000" dirty="0"/>
              <a:t>Infrastructure as a Service - </a:t>
            </a:r>
            <a:r>
              <a:rPr lang="en-US" sz="2000" dirty="0" err="1"/>
              <a:t>IaaS</a:t>
            </a:r>
            <a:endParaRPr lang="en-US" sz="2000" dirty="0"/>
          </a:p>
          <a:p>
            <a:pPr lvl="1">
              <a:spcBef>
                <a:spcPts val="0"/>
              </a:spcBef>
            </a:pPr>
            <a:r>
              <a:rPr lang="en-US" sz="1700" dirty="0"/>
              <a:t>The capability provided to the consumer is to provision processing, storage, networks, and other fundamental computing resources where the consumer is able to deploy and run arbitrary software, which can include operating systems and applications.</a:t>
            </a:r>
          </a:p>
          <a:p>
            <a:pPr lvl="1">
              <a:spcBef>
                <a:spcPts val="0"/>
              </a:spcBef>
            </a:pPr>
            <a:r>
              <a:rPr lang="en-US" sz="1700" dirty="0"/>
              <a:t>The consumer does not manage or control the underlying cloud infrastructure but has control over operating systems, storage, deployed applications, and possibly limited control of select networking components .</a:t>
            </a:r>
          </a:p>
          <a:p>
            <a:pPr>
              <a:spcBef>
                <a:spcPts val="0"/>
              </a:spcBef>
            </a:pPr>
            <a:r>
              <a:rPr lang="en-US" sz="2000" dirty="0"/>
              <a:t>Examples </a:t>
            </a:r>
          </a:p>
          <a:p>
            <a:pPr lvl="1">
              <a:spcBef>
                <a:spcPts val="0"/>
              </a:spcBef>
            </a:pPr>
            <a:r>
              <a:rPr lang="en-US" sz="1700" dirty="0"/>
              <a:t>Amazon EC2</a:t>
            </a:r>
          </a:p>
          <a:p>
            <a:pPr lvl="1">
              <a:spcBef>
                <a:spcPts val="0"/>
              </a:spcBef>
            </a:pPr>
            <a:r>
              <a:rPr lang="en-US" sz="1700" dirty="0" err="1"/>
              <a:t>Eucalyputs</a:t>
            </a:r>
            <a:endParaRPr lang="en-US" sz="1700" dirty="0"/>
          </a:p>
          <a:p>
            <a:pPr lvl="1">
              <a:spcBef>
                <a:spcPts val="0"/>
              </a:spcBef>
            </a:pPr>
            <a:r>
              <a:rPr lang="en-US" sz="1700" dirty="0" err="1"/>
              <a:t>OpenNebula</a:t>
            </a:r>
            <a:endParaRPr lang="en-US" sz="1700" dirty="0"/>
          </a:p>
          <a:p>
            <a:pPr lvl="1">
              <a:spcBef>
                <a:spcPts val="0"/>
              </a:spcBef>
            </a:pPr>
            <a:r>
              <a:rPr lang="en-US" sz="1700" dirty="0"/>
              <a:t>… etc</a:t>
            </a:r>
          </a:p>
        </p:txBody>
      </p:sp>
      <p:sp>
        <p:nvSpPr>
          <p:cNvPr id="4" name="灯片编号占位符 3">
            <a:extLst>
              <a:ext uri="{FF2B5EF4-FFF2-40B4-BE49-F238E27FC236}">
                <a16:creationId xmlns:a16="http://schemas.microsoft.com/office/drawing/2014/main" id="{80464E86-049E-65E3-A64A-E053FB818510}"/>
              </a:ext>
            </a:extLst>
          </p:cNvPr>
          <p:cNvSpPr>
            <a:spLocks noGrp="1"/>
          </p:cNvSpPr>
          <p:nvPr>
            <p:ph type="sldNum" sz="quarter" idx="10"/>
          </p:nvPr>
        </p:nvSpPr>
        <p:spPr/>
        <p:txBody>
          <a:bodyPr/>
          <a:lstStyle/>
          <a:p>
            <a:fld id="{D9B6BDF2-6896-4B98-8776-C18582F63BA5}" type="slidenum">
              <a:rPr lang="zh-TW" altLang="en-US" smtClean="0"/>
              <a:pPr/>
              <a:t>96</a:t>
            </a:fld>
            <a:endParaRPr lang="zh-TW"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cstate="print"/>
          <a:srcRect/>
          <a:stretch>
            <a:fillRect/>
          </a:stretch>
        </p:blipFill>
        <p:spPr bwMode="auto">
          <a:xfrm>
            <a:off x="1902883" y="1126067"/>
            <a:ext cx="5486400" cy="3446638"/>
          </a:xfrm>
          <a:prstGeom prst="rect">
            <a:avLst/>
          </a:prstGeom>
          <a:noFill/>
          <a:ln w="9525">
            <a:noFill/>
            <a:miter lim="800000"/>
            <a:headEnd/>
            <a:tailEnd/>
          </a:ln>
          <a:effectLst/>
        </p:spPr>
      </p:pic>
      <p:sp>
        <p:nvSpPr>
          <p:cNvPr id="25" name="Content Placeholder 2"/>
          <p:cNvSpPr>
            <a:spLocks noGrp="1"/>
          </p:cNvSpPr>
          <p:nvPr>
            <p:ph idx="1"/>
          </p:nvPr>
        </p:nvSpPr>
        <p:spPr>
          <a:xfrm>
            <a:off x="994834" y="827618"/>
            <a:ext cx="6172200" cy="400049"/>
          </a:xfrm>
        </p:spPr>
        <p:txBody>
          <a:bodyPr/>
          <a:lstStyle/>
          <a:p>
            <a:r>
              <a:rPr lang="en-US" sz="2400" dirty="0"/>
              <a:t>System architecture </a:t>
            </a:r>
          </a:p>
        </p:txBody>
      </p:sp>
      <p:sp>
        <p:nvSpPr>
          <p:cNvPr id="3" name="灯片编号占位符 2">
            <a:extLst>
              <a:ext uri="{FF2B5EF4-FFF2-40B4-BE49-F238E27FC236}">
                <a16:creationId xmlns:a16="http://schemas.microsoft.com/office/drawing/2014/main" id="{B6871E63-31D7-DCAB-EF49-282B2CD7B980}"/>
              </a:ext>
            </a:extLst>
          </p:cNvPr>
          <p:cNvSpPr>
            <a:spLocks noGrp="1"/>
          </p:cNvSpPr>
          <p:nvPr>
            <p:ph type="sldNum" sz="quarter" idx="10"/>
          </p:nvPr>
        </p:nvSpPr>
        <p:spPr/>
        <p:txBody>
          <a:bodyPr/>
          <a:lstStyle/>
          <a:p>
            <a:fld id="{D9B6BDF2-6896-4B98-8776-C18582F63BA5}" type="slidenum">
              <a:rPr lang="zh-TW" altLang="en-US" smtClean="0"/>
              <a:pPr/>
              <a:t>97</a:t>
            </a:fld>
            <a:endParaRPr lang="zh-TW" altLang="en-US"/>
          </a:p>
        </p:txBody>
      </p:sp>
      <p:sp>
        <p:nvSpPr>
          <p:cNvPr id="6" name="Title 1">
            <a:extLst>
              <a:ext uri="{FF2B5EF4-FFF2-40B4-BE49-F238E27FC236}">
                <a16:creationId xmlns:a16="http://schemas.microsoft.com/office/drawing/2014/main" id="{68F0ED2D-1B22-AF5C-C36E-CD35F6628A0E}"/>
              </a:ext>
            </a:extLst>
          </p:cNvPr>
          <p:cNvSpPr>
            <a:spLocks noGrp="1"/>
          </p:cNvSpPr>
          <p:nvPr>
            <p:ph type="title"/>
          </p:nvPr>
        </p:nvSpPr>
        <p:spPr>
          <a:xfrm>
            <a:off x="905933" y="82948"/>
            <a:ext cx="7769757" cy="519113"/>
          </a:xfrm>
        </p:spPr>
        <p:txBody>
          <a:bodyPr/>
          <a:lstStyle/>
          <a:p>
            <a:r>
              <a:rPr lang="en-US" dirty="0"/>
              <a:t>Infrastructure as a Service (2)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2932" y="836279"/>
            <a:ext cx="7230533" cy="1622822"/>
          </a:xfrm>
        </p:spPr>
        <p:txBody>
          <a:bodyPr/>
          <a:lstStyle/>
          <a:p>
            <a:r>
              <a:rPr lang="en-US" sz="2000" dirty="0"/>
              <a:t>Enabling technique - </a:t>
            </a:r>
            <a:r>
              <a:rPr lang="en-US" sz="2000" dirty="0">
                <a:solidFill>
                  <a:srgbClr val="FF0000"/>
                </a:solidFill>
              </a:rPr>
              <a:t>Virtualization</a:t>
            </a:r>
          </a:p>
          <a:p>
            <a:pPr lvl="1">
              <a:spcBef>
                <a:spcPts val="0"/>
              </a:spcBef>
            </a:pPr>
            <a:r>
              <a:rPr lang="en-US" sz="1600" dirty="0"/>
              <a:t>Virtualization is an abstraction of logical resources away from underlying physical resources.</a:t>
            </a:r>
          </a:p>
          <a:p>
            <a:pPr lvl="2">
              <a:spcBef>
                <a:spcPts val="0"/>
              </a:spcBef>
            </a:pPr>
            <a:r>
              <a:rPr lang="en-US" sz="1600" dirty="0">
                <a:latin typeface="Times New Roman" panose="02020603050405020304" pitchFamily="18" charset="0"/>
                <a:cs typeface="Times New Roman" panose="02020603050405020304" pitchFamily="18" charset="0"/>
              </a:rPr>
              <a:t>Virtualization technique shift OS onto hypervisor.</a:t>
            </a:r>
          </a:p>
          <a:p>
            <a:pPr lvl="2">
              <a:spcBef>
                <a:spcPts val="0"/>
              </a:spcBef>
            </a:pPr>
            <a:r>
              <a:rPr lang="en-US" sz="1600" dirty="0">
                <a:latin typeface="Times New Roman" panose="02020603050405020304" pitchFamily="18" charset="0"/>
                <a:cs typeface="Times New Roman" panose="02020603050405020304" pitchFamily="18" charset="0"/>
              </a:rPr>
              <a:t>Multiple OS share the physical hardware and provide different services.</a:t>
            </a:r>
          </a:p>
          <a:p>
            <a:pPr lvl="2">
              <a:spcBef>
                <a:spcPts val="0"/>
              </a:spcBef>
            </a:pPr>
            <a:r>
              <a:rPr lang="en-US" sz="1600" dirty="0">
                <a:latin typeface="Times New Roman" panose="02020603050405020304" pitchFamily="18" charset="0"/>
                <a:cs typeface="Times New Roman" panose="02020603050405020304" pitchFamily="18" charset="0"/>
              </a:rPr>
              <a:t>Improve utilization, availability, security and convenience.</a:t>
            </a:r>
          </a:p>
        </p:txBody>
      </p:sp>
      <p:pic>
        <p:nvPicPr>
          <p:cNvPr id="5" name="Picture 3"/>
          <p:cNvPicPr>
            <a:picLocks noChangeAspect="1" noChangeArrowheads="1"/>
          </p:cNvPicPr>
          <p:nvPr/>
        </p:nvPicPr>
        <p:blipFill>
          <a:blip r:embed="rId3" cstate="print"/>
          <a:srcRect/>
          <a:stretch>
            <a:fillRect/>
          </a:stretch>
        </p:blipFill>
        <p:spPr bwMode="auto">
          <a:xfrm>
            <a:off x="2137835" y="2930525"/>
            <a:ext cx="1965722" cy="1527572"/>
          </a:xfrm>
          <a:prstGeom prst="rect">
            <a:avLst/>
          </a:prstGeom>
          <a:noFill/>
          <a:ln w="9525">
            <a:noFill/>
            <a:miter lim="800000"/>
            <a:headEnd/>
            <a:tailEnd/>
          </a:ln>
          <a:effectLst/>
        </p:spPr>
      </p:pic>
      <p:grpSp>
        <p:nvGrpSpPr>
          <p:cNvPr id="15" name="组合 14">
            <a:extLst>
              <a:ext uri="{FF2B5EF4-FFF2-40B4-BE49-F238E27FC236}">
                <a16:creationId xmlns:a16="http://schemas.microsoft.com/office/drawing/2014/main" id="{5D4DA1E9-0498-4E62-FEBB-2C186D112C11}"/>
              </a:ext>
            </a:extLst>
          </p:cNvPr>
          <p:cNvGrpSpPr/>
          <p:nvPr/>
        </p:nvGrpSpPr>
        <p:grpSpPr>
          <a:xfrm>
            <a:off x="4571999" y="2571750"/>
            <a:ext cx="2142067" cy="1873248"/>
            <a:chOff x="4514850" y="2444748"/>
            <a:chExt cx="2457450" cy="2228850"/>
          </a:xfrm>
        </p:grpSpPr>
        <p:pic>
          <p:nvPicPr>
            <p:cNvPr id="4" name="Picture 2"/>
            <p:cNvPicPr>
              <a:picLocks noChangeAspect="1" noChangeArrowheads="1"/>
            </p:cNvPicPr>
            <p:nvPr/>
          </p:nvPicPr>
          <p:blipFill>
            <a:blip r:embed="rId4" cstate="print"/>
            <a:srcRect/>
            <a:stretch>
              <a:fillRect/>
            </a:stretch>
          </p:blipFill>
          <p:spPr bwMode="auto">
            <a:xfrm>
              <a:off x="4514850" y="2740023"/>
              <a:ext cx="2457450" cy="1933575"/>
            </a:xfrm>
            <a:prstGeom prst="rect">
              <a:avLst/>
            </a:prstGeom>
            <a:noFill/>
            <a:ln w="9525">
              <a:noFill/>
              <a:miter lim="800000"/>
              <a:headEnd/>
              <a:tailEnd/>
            </a:ln>
            <a:effectLst/>
          </p:spPr>
        </p:pic>
        <p:grpSp>
          <p:nvGrpSpPr>
            <p:cNvPr id="14" name="组合 13">
              <a:extLst>
                <a:ext uri="{FF2B5EF4-FFF2-40B4-BE49-F238E27FC236}">
                  <a16:creationId xmlns:a16="http://schemas.microsoft.com/office/drawing/2014/main" id="{793DE229-126E-AB52-661A-86CCD2926C52}"/>
                </a:ext>
              </a:extLst>
            </p:cNvPr>
            <p:cNvGrpSpPr/>
            <p:nvPr/>
          </p:nvGrpSpPr>
          <p:grpSpPr>
            <a:xfrm>
              <a:off x="4514850" y="2444748"/>
              <a:ext cx="2447791" cy="1076190"/>
              <a:chOff x="4514850" y="2800350"/>
              <a:chExt cx="2447791" cy="1076190"/>
            </a:xfrm>
          </p:grpSpPr>
          <p:sp>
            <p:nvSpPr>
              <p:cNvPr id="6" name="Rounded Rectangle 5"/>
              <p:cNvSpPr/>
              <p:nvPr/>
            </p:nvSpPr>
            <p:spPr bwMode="auto">
              <a:xfrm>
                <a:off x="4514850" y="2800350"/>
                <a:ext cx="800100" cy="107619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68580" tIns="34290" rIns="68580" bIns="34290" numCol="1" rtlCol="0" anchor="t" anchorCtr="0" compatLnSpc="1">
                <a:prstTxWarp prst="textNoShape">
                  <a:avLst/>
                </a:prstTxWarp>
              </a:bodyPr>
              <a:lstStyle/>
              <a:p>
                <a:pPr algn="ctr" defTabSz="685800" eaLnBrk="0" fontAlgn="base" hangingPunct="0">
                  <a:spcBef>
                    <a:spcPct val="0"/>
                  </a:spcBef>
                  <a:spcAft>
                    <a:spcPct val="0"/>
                  </a:spcAft>
                </a:pPr>
                <a:r>
                  <a:rPr lang="en-US" sz="1500" b="1" dirty="0">
                    <a:solidFill>
                      <a:srgbClr val="C00000"/>
                    </a:solidFill>
                    <a:latin typeface="Cambria" pitchFamily="18" charset="0"/>
                  </a:rPr>
                  <a:t>VM1</a:t>
                </a:r>
              </a:p>
            </p:txBody>
          </p:sp>
          <p:sp>
            <p:nvSpPr>
              <p:cNvPr id="7" name="Rounded Rectangle 6"/>
              <p:cNvSpPr/>
              <p:nvPr/>
            </p:nvSpPr>
            <p:spPr bwMode="auto">
              <a:xfrm>
                <a:off x="5334269" y="2800350"/>
                <a:ext cx="800100" cy="107619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68580" tIns="34290" rIns="68580" bIns="34290" numCol="1" rtlCol="0" anchor="t" anchorCtr="0" compatLnSpc="1">
                <a:prstTxWarp prst="textNoShape">
                  <a:avLst/>
                </a:prstTxWarp>
              </a:bodyPr>
              <a:lstStyle/>
              <a:p>
                <a:pPr algn="ctr" eaLnBrk="0" fontAlgn="base" hangingPunct="0">
                  <a:spcBef>
                    <a:spcPct val="0"/>
                  </a:spcBef>
                  <a:spcAft>
                    <a:spcPct val="0"/>
                  </a:spcAft>
                </a:pPr>
                <a:r>
                  <a:rPr lang="en-US" sz="1350" b="1" dirty="0">
                    <a:solidFill>
                      <a:srgbClr val="C00000"/>
                    </a:solidFill>
                    <a:latin typeface="Cambria" pitchFamily="18" charset="0"/>
                  </a:rPr>
                  <a:t>VM2</a:t>
                </a:r>
              </a:p>
            </p:txBody>
          </p:sp>
          <p:sp>
            <p:nvSpPr>
              <p:cNvPr id="8" name="Rounded Rectangle 7"/>
              <p:cNvSpPr/>
              <p:nvPr/>
            </p:nvSpPr>
            <p:spPr bwMode="auto">
              <a:xfrm>
                <a:off x="6162541" y="2800350"/>
                <a:ext cx="800100" cy="107619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68580" tIns="34290" rIns="68580" bIns="34290" numCol="1" rtlCol="0" anchor="t" anchorCtr="0" compatLnSpc="1">
                <a:prstTxWarp prst="textNoShape">
                  <a:avLst/>
                </a:prstTxWarp>
              </a:bodyPr>
              <a:lstStyle/>
              <a:p>
                <a:pPr algn="ctr" eaLnBrk="0" fontAlgn="base" hangingPunct="0">
                  <a:spcBef>
                    <a:spcPct val="0"/>
                  </a:spcBef>
                  <a:spcAft>
                    <a:spcPct val="0"/>
                  </a:spcAft>
                </a:pPr>
                <a:r>
                  <a:rPr lang="en-US" sz="1350" b="1" dirty="0">
                    <a:solidFill>
                      <a:srgbClr val="C00000"/>
                    </a:solidFill>
                    <a:latin typeface="Cambria" pitchFamily="18" charset="0"/>
                  </a:rPr>
                  <a:t>VM3</a:t>
                </a:r>
              </a:p>
            </p:txBody>
          </p:sp>
        </p:grpSp>
      </p:grpSp>
      <p:sp>
        <p:nvSpPr>
          <p:cNvPr id="9" name="灯片编号占位符 8">
            <a:extLst>
              <a:ext uri="{FF2B5EF4-FFF2-40B4-BE49-F238E27FC236}">
                <a16:creationId xmlns:a16="http://schemas.microsoft.com/office/drawing/2014/main" id="{513A3067-D2AC-B37A-1EA3-DE525339A014}"/>
              </a:ext>
            </a:extLst>
          </p:cNvPr>
          <p:cNvSpPr>
            <a:spLocks noGrp="1"/>
          </p:cNvSpPr>
          <p:nvPr>
            <p:ph type="sldNum" sz="quarter" idx="10"/>
          </p:nvPr>
        </p:nvSpPr>
        <p:spPr/>
        <p:txBody>
          <a:bodyPr/>
          <a:lstStyle/>
          <a:p>
            <a:fld id="{D9B6BDF2-6896-4B98-8776-C18582F63BA5}" type="slidenum">
              <a:rPr lang="zh-TW" altLang="en-US" smtClean="0"/>
              <a:pPr/>
              <a:t>98</a:t>
            </a:fld>
            <a:endParaRPr lang="zh-TW" altLang="en-US"/>
          </a:p>
        </p:txBody>
      </p:sp>
      <p:sp>
        <p:nvSpPr>
          <p:cNvPr id="12" name="Title 1">
            <a:extLst>
              <a:ext uri="{FF2B5EF4-FFF2-40B4-BE49-F238E27FC236}">
                <a16:creationId xmlns:a16="http://schemas.microsoft.com/office/drawing/2014/main" id="{E0366543-91E9-F7A6-7612-63D70A4A26B3}"/>
              </a:ext>
            </a:extLst>
          </p:cNvPr>
          <p:cNvSpPr>
            <a:spLocks noGrp="1"/>
          </p:cNvSpPr>
          <p:nvPr>
            <p:ph type="title"/>
          </p:nvPr>
        </p:nvSpPr>
        <p:spPr>
          <a:xfrm>
            <a:off x="939800" y="82549"/>
            <a:ext cx="7735888" cy="519113"/>
          </a:xfrm>
        </p:spPr>
        <p:txBody>
          <a:bodyPr/>
          <a:lstStyle/>
          <a:p>
            <a:r>
              <a:rPr lang="en-US" dirty="0"/>
              <a:t>Infrastructure as a Service (3)</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8700" y="843955"/>
            <a:ext cx="6172200" cy="1314450"/>
          </a:xfrm>
        </p:spPr>
        <p:txBody>
          <a:bodyPr/>
          <a:lstStyle/>
          <a:p>
            <a:pPr>
              <a:spcBef>
                <a:spcPts val="0"/>
              </a:spcBef>
            </a:pPr>
            <a:r>
              <a:rPr lang="en-US" sz="2000" dirty="0"/>
              <a:t>Properties supported by virtualization technique :</a:t>
            </a:r>
          </a:p>
          <a:p>
            <a:pPr lvl="1">
              <a:spcBef>
                <a:spcPts val="0"/>
              </a:spcBef>
            </a:pPr>
            <a:r>
              <a:rPr lang="en-US" sz="2000" dirty="0"/>
              <a:t>Manageability and Interoperability</a:t>
            </a:r>
          </a:p>
          <a:p>
            <a:pPr lvl="1">
              <a:spcBef>
                <a:spcPts val="0"/>
              </a:spcBef>
            </a:pPr>
            <a:r>
              <a:rPr lang="en-US" sz="2000" dirty="0"/>
              <a:t>Availability and Reliability</a:t>
            </a:r>
          </a:p>
          <a:p>
            <a:pPr lvl="1">
              <a:spcBef>
                <a:spcPts val="0"/>
              </a:spcBef>
            </a:pPr>
            <a:r>
              <a:rPr lang="en-US" sz="2000" dirty="0"/>
              <a:t>Scalability and Elasticity</a:t>
            </a:r>
          </a:p>
        </p:txBody>
      </p:sp>
      <p:pic>
        <p:nvPicPr>
          <p:cNvPr id="5122" name="Picture 2"/>
          <p:cNvPicPr>
            <a:picLocks noChangeAspect="1" noChangeArrowheads="1"/>
          </p:cNvPicPr>
          <p:nvPr/>
        </p:nvPicPr>
        <p:blipFill>
          <a:blip r:embed="rId2" cstate="print"/>
          <a:srcRect/>
          <a:stretch>
            <a:fillRect/>
          </a:stretch>
        </p:blipFill>
        <p:spPr bwMode="auto">
          <a:xfrm>
            <a:off x="4732866" y="1883833"/>
            <a:ext cx="3525012" cy="2614016"/>
          </a:xfrm>
          <a:prstGeom prst="rect">
            <a:avLst/>
          </a:prstGeom>
          <a:noFill/>
          <a:ln w="9525">
            <a:noFill/>
            <a:miter lim="800000"/>
            <a:headEnd/>
            <a:tailEnd/>
          </a:ln>
          <a:effectLst/>
        </p:spPr>
      </p:pic>
      <p:sp>
        <p:nvSpPr>
          <p:cNvPr id="4" name="灯片编号占位符 3">
            <a:extLst>
              <a:ext uri="{FF2B5EF4-FFF2-40B4-BE49-F238E27FC236}">
                <a16:creationId xmlns:a16="http://schemas.microsoft.com/office/drawing/2014/main" id="{71D2C3D7-68C4-EF42-BF9B-37994E2EA5D5}"/>
              </a:ext>
            </a:extLst>
          </p:cNvPr>
          <p:cNvSpPr>
            <a:spLocks noGrp="1"/>
          </p:cNvSpPr>
          <p:nvPr>
            <p:ph type="sldNum" sz="quarter" idx="10"/>
          </p:nvPr>
        </p:nvSpPr>
        <p:spPr/>
        <p:txBody>
          <a:bodyPr/>
          <a:lstStyle/>
          <a:p>
            <a:fld id="{D9B6BDF2-6896-4B98-8776-C18582F63BA5}" type="slidenum">
              <a:rPr lang="zh-TW" altLang="en-US" smtClean="0"/>
              <a:pPr/>
              <a:t>99</a:t>
            </a:fld>
            <a:endParaRPr lang="zh-TW" altLang="en-US"/>
          </a:p>
        </p:txBody>
      </p:sp>
      <p:sp>
        <p:nvSpPr>
          <p:cNvPr id="8" name="Title 1">
            <a:extLst>
              <a:ext uri="{FF2B5EF4-FFF2-40B4-BE49-F238E27FC236}">
                <a16:creationId xmlns:a16="http://schemas.microsoft.com/office/drawing/2014/main" id="{C9F037B7-9848-7424-EE5E-AB623CABFFC3}"/>
              </a:ext>
            </a:extLst>
          </p:cNvPr>
          <p:cNvSpPr>
            <a:spLocks noGrp="1"/>
          </p:cNvSpPr>
          <p:nvPr>
            <p:ph type="title"/>
          </p:nvPr>
        </p:nvSpPr>
        <p:spPr>
          <a:xfrm>
            <a:off x="922867" y="82948"/>
            <a:ext cx="7752823" cy="519113"/>
          </a:xfrm>
        </p:spPr>
        <p:txBody>
          <a:bodyPr/>
          <a:lstStyle/>
          <a:p>
            <a:r>
              <a:rPr lang="en-US" dirty="0"/>
              <a:t>Infrastructure as a Service (4)</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6366" y="874514"/>
            <a:ext cx="7285567" cy="3394472"/>
          </a:xfrm>
        </p:spPr>
        <p:txBody>
          <a:bodyPr/>
          <a:lstStyle/>
          <a:p>
            <a:pPr>
              <a:spcBef>
                <a:spcPts val="0"/>
              </a:spcBef>
            </a:pPr>
            <a:r>
              <a:rPr lang="en-US" sz="2000" dirty="0"/>
              <a:t>Provide service – </a:t>
            </a:r>
            <a:r>
              <a:rPr lang="en-US" sz="2000" dirty="0">
                <a:solidFill>
                  <a:srgbClr val="FF0000"/>
                </a:solidFill>
              </a:rPr>
              <a:t>Resource Management Interface</a:t>
            </a:r>
          </a:p>
          <a:p>
            <a:pPr lvl="1">
              <a:spcBef>
                <a:spcPts val="0"/>
              </a:spcBef>
            </a:pPr>
            <a:r>
              <a:rPr lang="en-US" sz="1800" dirty="0"/>
              <a:t>Several types of virtualized resource :</a:t>
            </a:r>
          </a:p>
          <a:p>
            <a:pPr lvl="2">
              <a:spcBef>
                <a:spcPts val="0"/>
              </a:spcBef>
            </a:pPr>
            <a:r>
              <a:rPr lang="en-US" sz="1800" dirty="0">
                <a:latin typeface="Times New Roman" panose="02020603050405020304" pitchFamily="18" charset="0"/>
                <a:cs typeface="Times New Roman" panose="02020603050405020304" pitchFamily="18" charset="0"/>
              </a:rPr>
              <a:t>Virtual Machine – As an </a:t>
            </a:r>
            <a:r>
              <a:rPr lang="en-US" sz="1800" dirty="0" err="1">
                <a:latin typeface="Times New Roman" panose="02020603050405020304" pitchFamily="18" charset="0"/>
                <a:cs typeface="Times New Roman" panose="02020603050405020304" pitchFamily="18" charset="0"/>
              </a:rPr>
              <a:t>IaaS</a:t>
            </a:r>
            <a:r>
              <a:rPr lang="en-US" sz="1800" dirty="0">
                <a:latin typeface="Times New Roman" panose="02020603050405020304" pitchFamily="18" charset="0"/>
                <a:cs typeface="Times New Roman" panose="02020603050405020304" pitchFamily="18" charset="0"/>
              </a:rPr>
              <a:t> provider, we should be able to provide the basic virtual machine operations, such as </a:t>
            </a:r>
            <a:r>
              <a:rPr lang="en-US" sz="1800" dirty="0">
                <a:solidFill>
                  <a:srgbClr val="C00000"/>
                </a:solidFill>
                <a:latin typeface="Times New Roman" panose="02020603050405020304" pitchFamily="18" charset="0"/>
                <a:cs typeface="Times New Roman" panose="02020603050405020304" pitchFamily="18" charset="0"/>
              </a:rPr>
              <a:t>creation</a:t>
            </a:r>
            <a:r>
              <a:rPr lang="en-US" sz="1800" dirty="0">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suspension</a:t>
            </a:r>
            <a:r>
              <a:rPr lang="en-US" sz="1800" dirty="0">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resumption</a:t>
            </a:r>
            <a:r>
              <a:rPr lang="en-US" sz="1800" dirty="0">
                <a:latin typeface="Times New Roman" panose="02020603050405020304" pitchFamily="18" charset="0"/>
                <a:cs typeface="Times New Roman" panose="02020603050405020304" pitchFamily="18" charset="0"/>
              </a:rPr>
              <a:t> and </a:t>
            </a:r>
            <a:r>
              <a:rPr lang="en-US" sz="1800" dirty="0">
                <a:solidFill>
                  <a:srgbClr val="C00000"/>
                </a:solidFill>
                <a:latin typeface="Times New Roman" panose="02020603050405020304" pitchFamily="18" charset="0"/>
                <a:cs typeface="Times New Roman" panose="02020603050405020304" pitchFamily="18" charset="0"/>
              </a:rPr>
              <a:t>termination</a:t>
            </a:r>
            <a:r>
              <a:rPr lang="en-US" sz="1800" dirty="0">
                <a:latin typeface="Times New Roman" panose="02020603050405020304" pitchFamily="18" charset="0"/>
                <a:cs typeface="Times New Roman" panose="02020603050405020304" pitchFamily="18" charset="0"/>
              </a:rPr>
              <a:t>, …etc.</a:t>
            </a:r>
          </a:p>
          <a:p>
            <a:pPr lvl="2">
              <a:spcBef>
                <a:spcPts val="0"/>
              </a:spcBef>
            </a:pPr>
            <a:r>
              <a:rPr lang="en-US" sz="1800" dirty="0">
                <a:latin typeface="Times New Roman" panose="02020603050405020304" pitchFamily="18" charset="0"/>
                <a:cs typeface="Times New Roman" panose="02020603050405020304" pitchFamily="18" charset="0"/>
              </a:rPr>
              <a:t>Virtual Storage – As an </a:t>
            </a:r>
            <a:r>
              <a:rPr lang="en-US" sz="1800" dirty="0" err="1">
                <a:latin typeface="Times New Roman" panose="02020603050405020304" pitchFamily="18" charset="0"/>
                <a:cs typeface="Times New Roman" panose="02020603050405020304" pitchFamily="18" charset="0"/>
              </a:rPr>
              <a:t>IaaS</a:t>
            </a:r>
            <a:r>
              <a:rPr lang="en-US" sz="1800" dirty="0">
                <a:latin typeface="Times New Roman" panose="02020603050405020304" pitchFamily="18" charset="0"/>
                <a:cs typeface="Times New Roman" panose="02020603050405020304" pitchFamily="18" charset="0"/>
              </a:rPr>
              <a:t> provider, we should be able to provide the basic virtual storage operations, such as </a:t>
            </a:r>
            <a:r>
              <a:rPr lang="en-US" sz="1800" dirty="0">
                <a:solidFill>
                  <a:srgbClr val="C00000"/>
                </a:solidFill>
                <a:latin typeface="Times New Roman" panose="02020603050405020304" pitchFamily="18" charset="0"/>
                <a:cs typeface="Times New Roman" panose="02020603050405020304" pitchFamily="18" charset="0"/>
              </a:rPr>
              <a:t>space allocation</a:t>
            </a:r>
            <a:r>
              <a:rPr lang="en-US" sz="1800" dirty="0">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space release</a:t>
            </a:r>
            <a:r>
              <a:rPr lang="en-US" sz="1800" dirty="0">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data writing </a:t>
            </a:r>
            <a:r>
              <a:rPr lang="en-US" sz="1800" dirty="0">
                <a:latin typeface="Times New Roman" panose="02020603050405020304" pitchFamily="18" charset="0"/>
                <a:cs typeface="Times New Roman" panose="02020603050405020304" pitchFamily="18" charset="0"/>
              </a:rPr>
              <a:t>and </a:t>
            </a:r>
            <a:r>
              <a:rPr lang="en-US" sz="1800" dirty="0">
                <a:solidFill>
                  <a:srgbClr val="C00000"/>
                </a:solidFill>
                <a:latin typeface="Times New Roman" panose="02020603050405020304" pitchFamily="18" charset="0"/>
                <a:cs typeface="Times New Roman" panose="02020603050405020304" pitchFamily="18" charset="0"/>
              </a:rPr>
              <a:t>data reading</a:t>
            </a:r>
            <a:r>
              <a:rPr lang="en-US" sz="1800" dirty="0">
                <a:latin typeface="Times New Roman" panose="02020603050405020304" pitchFamily="18" charset="0"/>
                <a:cs typeface="Times New Roman" panose="02020603050405020304" pitchFamily="18" charset="0"/>
              </a:rPr>
              <a:t>, …etc.</a:t>
            </a:r>
          </a:p>
          <a:p>
            <a:pPr lvl="2">
              <a:spcBef>
                <a:spcPts val="0"/>
              </a:spcBef>
            </a:pPr>
            <a:r>
              <a:rPr lang="en-US" sz="1800" dirty="0">
                <a:latin typeface="Times New Roman" panose="02020603050405020304" pitchFamily="18" charset="0"/>
                <a:cs typeface="Times New Roman" panose="02020603050405020304" pitchFamily="18" charset="0"/>
              </a:rPr>
              <a:t>Virtual Network – As an </a:t>
            </a:r>
            <a:r>
              <a:rPr lang="en-US" sz="1800" dirty="0" err="1">
                <a:latin typeface="Times New Roman" panose="02020603050405020304" pitchFamily="18" charset="0"/>
                <a:cs typeface="Times New Roman" panose="02020603050405020304" pitchFamily="18" charset="0"/>
              </a:rPr>
              <a:t>IaaS</a:t>
            </a:r>
            <a:r>
              <a:rPr lang="en-US" sz="1800" dirty="0">
                <a:latin typeface="Times New Roman" panose="02020603050405020304" pitchFamily="18" charset="0"/>
                <a:cs typeface="Times New Roman" panose="02020603050405020304" pitchFamily="18" charset="0"/>
              </a:rPr>
              <a:t> provider, we should be able to provide the basic virtual network operations, such as </a:t>
            </a:r>
            <a:r>
              <a:rPr lang="en-US" sz="1800" dirty="0">
                <a:solidFill>
                  <a:srgbClr val="C00000"/>
                </a:solidFill>
                <a:latin typeface="Times New Roman" panose="02020603050405020304" pitchFamily="18" charset="0"/>
                <a:cs typeface="Times New Roman" panose="02020603050405020304" pitchFamily="18" charset="0"/>
              </a:rPr>
              <a:t>IP address allocation</a:t>
            </a:r>
            <a:r>
              <a:rPr lang="en-US" sz="1800" dirty="0">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domain name register</a:t>
            </a:r>
            <a:r>
              <a:rPr lang="en-US" sz="1800" dirty="0">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connection establishment </a:t>
            </a:r>
            <a:r>
              <a:rPr lang="en-US" sz="1800" dirty="0">
                <a:latin typeface="Times New Roman" panose="02020603050405020304" pitchFamily="18" charset="0"/>
                <a:cs typeface="Times New Roman" panose="02020603050405020304" pitchFamily="18" charset="0"/>
              </a:rPr>
              <a:t>and </a:t>
            </a:r>
            <a:r>
              <a:rPr lang="en-US" sz="1800" dirty="0">
                <a:solidFill>
                  <a:srgbClr val="C00000"/>
                </a:solidFill>
                <a:latin typeface="Times New Roman" panose="02020603050405020304" pitchFamily="18" charset="0"/>
                <a:cs typeface="Times New Roman" panose="02020603050405020304" pitchFamily="18" charset="0"/>
              </a:rPr>
              <a:t>bandwidth provision</a:t>
            </a:r>
            <a:r>
              <a:rPr lang="en-US" sz="1800" dirty="0">
                <a:latin typeface="Times New Roman" panose="02020603050405020304" pitchFamily="18" charset="0"/>
                <a:cs typeface="Times New Roman" panose="02020603050405020304" pitchFamily="18" charset="0"/>
              </a:rPr>
              <a:t>, …etc.</a:t>
            </a:r>
          </a:p>
        </p:txBody>
      </p:sp>
      <p:sp>
        <p:nvSpPr>
          <p:cNvPr id="4" name="灯片编号占位符 3">
            <a:extLst>
              <a:ext uri="{FF2B5EF4-FFF2-40B4-BE49-F238E27FC236}">
                <a16:creationId xmlns:a16="http://schemas.microsoft.com/office/drawing/2014/main" id="{BA61ABA5-77E1-256D-D2F1-55EA604C6DC9}"/>
              </a:ext>
            </a:extLst>
          </p:cNvPr>
          <p:cNvSpPr>
            <a:spLocks noGrp="1"/>
          </p:cNvSpPr>
          <p:nvPr>
            <p:ph type="sldNum" sz="quarter" idx="10"/>
          </p:nvPr>
        </p:nvSpPr>
        <p:spPr/>
        <p:txBody>
          <a:bodyPr/>
          <a:lstStyle/>
          <a:p>
            <a:fld id="{D9B6BDF2-6896-4B98-8776-C18582F63BA5}" type="slidenum">
              <a:rPr lang="zh-TW" altLang="en-US" smtClean="0"/>
              <a:pPr/>
              <a:t>100</a:t>
            </a:fld>
            <a:endParaRPr lang="zh-TW" altLang="en-US"/>
          </a:p>
        </p:txBody>
      </p:sp>
      <p:sp>
        <p:nvSpPr>
          <p:cNvPr id="7" name="Title 1">
            <a:extLst>
              <a:ext uri="{FF2B5EF4-FFF2-40B4-BE49-F238E27FC236}">
                <a16:creationId xmlns:a16="http://schemas.microsoft.com/office/drawing/2014/main" id="{D10E3552-EC11-E646-58EE-BCE7DE936126}"/>
              </a:ext>
            </a:extLst>
          </p:cNvPr>
          <p:cNvSpPr>
            <a:spLocks noGrp="1"/>
          </p:cNvSpPr>
          <p:nvPr>
            <p:ph type="title"/>
          </p:nvPr>
        </p:nvSpPr>
        <p:spPr>
          <a:xfrm>
            <a:off x="905933" y="82948"/>
            <a:ext cx="7769757" cy="519113"/>
          </a:xfrm>
        </p:spPr>
        <p:txBody>
          <a:bodyPr/>
          <a:lstStyle/>
          <a:p>
            <a:r>
              <a:rPr lang="en-US" dirty="0"/>
              <a:t>Infrastructure as a Service (5)</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5933" y="835687"/>
            <a:ext cx="7518401" cy="3533113"/>
          </a:xfrm>
        </p:spPr>
        <p:txBody>
          <a:bodyPr/>
          <a:lstStyle/>
          <a:p>
            <a:pPr>
              <a:spcBef>
                <a:spcPts val="0"/>
              </a:spcBef>
            </a:pPr>
            <a:r>
              <a:rPr lang="en-US" sz="2000" dirty="0"/>
              <a:t>Provide service – </a:t>
            </a:r>
            <a:r>
              <a:rPr lang="en-US" sz="2000" dirty="0">
                <a:solidFill>
                  <a:srgbClr val="FF0000"/>
                </a:solidFill>
              </a:rPr>
              <a:t>System Monitoring Interface</a:t>
            </a:r>
          </a:p>
          <a:p>
            <a:pPr lvl="1">
              <a:spcBef>
                <a:spcPts val="0"/>
              </a:spcBef>
            </a:pPr>
            <a:r>
              <a:rPr lang="en-US" sz="1800" dirty="0"/>
              <a:t>Several types of monitoring metrics :</a:t>
            </a:r>
          </a:p>
          <a:p>
            <a:pPr lvl="2">
              <a:spcBef>
                <a:spcPts val="0"/>
              </a:spcBef>
            </a:pPr>
            <a:r>
              <a:rPr lang="en-US" sz="1800" dirty="0">
                <a:latin typeface="Times New Roman" panose="02020603050405020304" pitchFamily="18" charset="0"/>
                <a:cs typeface="Times New Roman" panose="02020603050405020304" pitchFamily="18" charset="0"/>
              </a:rPr>
              <a:t>Virtual Machine – As an </a:t>
            </a:r>
            <a:r>
              <a:rPr lang="en-US" sz="1800" dirty="0" err="1">
                <a:latin typeface="Times New Roman" panose="02020603050405020304" pitchFamily="18" charset="0"/>
                <a:cs typeface="Times New Roman" panose="02020603050405020304" pitchFamily="18" charset="0"/>
              </a:rPr>
              <a:t>IaaS</a:t>
            </a:r>
            <a:r>
              <a:rPr lang="en-US" sz="1800" dirty="0">
                <a:latin typeface="Times New Roman" panose="02020603050405020304" pitchFamily="18" charset="0"/>
                <a:cs typeface="Times New Roman" panose="02020603050405020304" pitchFamily="18" charset="0"/>
              </a:rPr>
              <a:t> provider, we should be able to monitor some system states of each virtual machine, such as </a:t>
            </a:r>
            <a:r>
              <a:rPr lang="en-US" sz="1800" dirty="0">
                <a:solidFill>
                  <a:srgbClr val="FF0000"/>
                </a:solidFill>
                <a:latin typeface="Times New Roman" panose="02020603050405020304" pitchFamily="18" charset="0"/>
                <a:cs typeface="Times New Roman" panose="02020603050405020304" pitchFamily="18" charset="0"/>
              </a:rPr>
              <a:t>CPU loading</a:t>
            </a:r>
            <a:r>
              <a:rPr lang="en-US" sz="1800" dirty="0">
                <a:latin typeface="Times New Roman" panose="02020603050405020304" pitchFamily="18" charset="0"/>
                <a:cs typeface="Times New Roman" panose="02020603050405020304" pitchFamily="18" charset="0"/>
              </a:rPr>
              <a:t>, </a:t>
            </a:r>
            <a:r>
              <a:rPr lang="en-US" sz="1800" dirty="0">
                <a:solidFill>
                  <a:srgbClr val="FF0000"/>
                </a:solidFill>
                <a:latin typeface="Times New Roman" panose="02020603050405020304" pitchFamily="18" charset="0"/>
                <a:cs typeface="Times New Roman" panose="02020603050405020304" pitchFamily="18" charset="0"/>
              </a:rPr>
              <a:t>memory utilization, IO loading </a:t>
            </a:r>
            <a:r>
              <a:rPr lang="en-US" sz="1800" dirty="0">
                <a:latin typeface="Times New Roman" panose="02020603050405020304" pitchFamily="18" charset="0"/>
                <a:cs typeface="Times New Roman" panose="02020603050405020304" pitchFamily="18" charset="0"/>
              </a:rPr>
              <a:t>and </a:t>
            </a:r>
            <a:r>
              <a:rPr lang="en-US" sz="1800" dirty="0">
                <a:solidFill>
                  <a:srgbClr val="FF0000"/>
                </a:solidFill>
                <a:latin typeface="Times New Roman" panose="02020603050405020304" pitchFamily="18" charset="0"/>
                <a:cs typeface="Times New Roman" panose="02020603050405020304" pitchFamily="18" charset="0"/>
              </a:rPr>
              <a:t>internal network loading</a:t>
            </a:r>
            <a:r>
              <a:rPr lang="en-US" sz="1800" dirty="0">
                <a:latin typeface="Times New Roman" panose="02020603050405020304" pitchFamily="18" charset="0"/>
                <a:cs typeface="Times New Roman" panose="02020603050405020304" pitchFamily="18" charset="0"/>
              </a:rPr>
              <a:t>, …etc.</a:t>
            </a:r>
          </a:p>
          <a:p>
            <a:pPr lvl="2">
              <a:spcBef>
                <a:spcPts val="0"/>
              </a:spcBef>
            </a:pPr>
            <a:r>
              <a:rPr lang="en-US" sz="1800" dirty="0">
                <a:latin typeface="Times New Roman" panose="02020603050405020304" pitchFamily="18" charset="0"/>
                <a:cs typeface="Times New Roman" panose="02020603050405020304" pitchFamily="18" charset="0"/>
              </a:rPr>
              <a:t>Virtual Storage – As an </a:t>
            </a:r>
            <a:r>
              <a:rPr lang="en-US" sz="1800" dirty="0" err="1">
                <a:latin typeface="Times New Roman" panose="02020603050405020304" pitchFamily="18" charset="0"/>
                <a:cs typeface="Times New Roman" panose="02020603050405020304" pitchFamily="18" charset="0"/>
              </a:rPr>
              <a:t>IaaS</a:t>
            </a:r>
            <a:r>
              <a:rPr lang="en-US" sz="1800" dirty="0">
                <a:latin typeface="Times New Roman" panose="02020603050405020304" pitchFamily="18" charset="0"/>
                <a:cs typeface="Times New Roman" panose="02020603050405020304" pitchFamily="18" charset="0"/>
              </a:rPr>
              <a:t> provider, we should be able to monitor some storage states of each virtual storage, such as </a:t>
            </a:r>
            <a:r>
              <a:rPr lang="en-US" sz="1800" dirty="0">
                <a:solidFill>
                  <a:srgbClr val="FF0000"/>
                </a:solidFill>
                <a:latin typeface="Times New Roman" panose="02020603050405020304" pitchFamily="18" charset="0"/>
                <a:cs typeface="Times New Roman" panose="02020603050405020304" pitchFamily="18" charset="0"/>
              </a:rPr>
              <a:t>virtual space utilization, data duplication</a:t>
            </a:r>
            <a:r>
              <a:rPr lang="en-US" sz="1800" dirty="0">
                <a:latin typeface="Times New Roman" panose="02020603050405020304" pitchFamily="18" charset="0"/>
                <a:cs typeface="Times New Roman" panose="02020603050405020304" pitchFamily="18" charset="0"/>
              </a:rPr>
              <a:t> and </a:t>
            </a:r>
            <a:r>
              <a:rPr lang="en-US" sz="1800" dirty="0">
                <a:solidFill>
                  <a:srgbClr val="FF0000"/>
                </a:solidFill>
                <a:latin typeface="Times New Roman" panose="02020603050405020304" pitchFamily="18" charset="0"/>
                <a:cs typeface="Times New Roman" panose="02020603050405020304" pitchFamily="18" charset="0"/>
              </a:rPr>
              <a:t>storage device access bandwidth</a:t>
            </a:r>
            <a:r>
              <a:rPr lang="en-US" sz="1800" dirty="0">
                <a:latin typeface="Times New Roman" panose="02020603050405020304" pitchFamily="18" charset="0"/>
                <a:cs typeface="Times New Roman" panose="02020603050405020304" pitchFamily="18" charset="0"/>
              </a:rPr>
              <a:t>, …etc.</a:t>
            </a:r>
          </a:p>
          <a:p>
            <a:pPr lvl="2">
              <a:spcBef>
                <a:spcPts val="0"/>
              </a:spcBef>
            </a:pPr>
            <a:r>
              <a:rPr lang="en-US" sz="1800" dirty="0">
                <a:latin typeface="Times New Roman" panose="02020603050405020304" pitchFamily="18" charset="0"/>
                <a:cs typeface="Times New Roman" panose="02020603050405020304" pitchFamily="18" charset="0"/>
              </a:rPr>
              <a:t>Virtual Network – As an </a:t>
            </a:r>
            <a:r>
              <a:rPr lang="en-US" sz="1800" dirty="0" err="1">
                <a:latin typeface="Times New Roman" panose="02020603050405020304" pitchFamily="18" charset="0"/>
                <a:cs typeface="Times New Roman" panose="02020603050405020304" pitchFamily="18" charset="0"/>
              </a:rPr>
              <a:t>IaaS</a:t>
            </a:r>
            <a:r>
              <a:rPr lang="en-US" sz="1800" dirty="0">
                <a:latin typeface="Times New Roman" panose="02020603050405020304" pitchFamily="18" charset="0"/>
                <a:cs typeface="Times New Roman" panose="02020603050405020304" pitchFamily="18" charset="0"/>
              </a:rPr>
              <a:t> provider, we should be able to monitor some network states of each virtual network, such as </a:t>
            </a:r>
            <a:r>
              <a:rPr lang="en-US" sz="1800" dirty="0">
                <a:solidFill>
                  <a:srgbClr val="FF0000"/>
                </a:solidFill>
                <a:latin typeface="Times New Roman" panose="02020603050405020304" pitchFamily="18" charset="0"/>
                <a:cs typeface="Times New Roman" panose="02020603050405020304" pitchFamily="18" charset="0"/>
              </a:rPr>
              <a:t>virtual network bandwidth</a:t>
            </a:r>
            <a:r>
              <a:rPr lang="en-US" sz="1800" dirty="0">
                <a:latin typeface="Times New Roman" panose="02020603050405020304" pitchFamily="18" charset="0"/>
                <a:cs typeface="Times New Roman" panose="02020603050405020304" pitchFamily="18" charset="0"/>
              </a:rPr>
              <a:t>, </a:t>
            </a:r>
            <a:r>
              <a:rPr lang="en-US" sz="1800" dirty="0">
                <a:solidFill>
                  <a:srgbClr val="FF0000"/>
                </a:solidFill>
                <a:latin typeface="Times New Roman" panose="02020603050405020304" pitchFamily="18" charset="0"/>
                <a:cs typeface="Times New Roman" panose="02020603050405020304" pitchFamily="18" charset="0"/>
              </a:rPr>
              <a:t>network connectivity </a:t>
            </a:r>
            <a:r>
              <a:rPr lang="en-US" sz="1800" dirty="0">
                <a:latin typeface="Times New Roman" panose="02020603050405020304" pitchFamily="18" charset="0"/>
                <a:cs typeface="Times New Roman" panose="02020603050405020304" pitchFamily="18" charset="0"/>
              </a:rPr>
              <a:t>and </a:t>
            </a:r>
            <a:r>
              <a:rPr lang="en-US" sz="1800" dirty="0">
                <a:solidFill>
                  <a:srgbClr val="FF0000"/>
                </a:solidFill>
                <a:latin typeface="Times New Roman" panose="02020603050405020304" pitchFamily="18" charset="0"/>
                <a:cs typeface="Times New Roman" panose="02020603050405020304" pitchFamily="18" charset="0"/>
              </a:rPr>
              <a:t>network load balancing</a:t>
            </a:r>
            <a:r>
              <a:rPr lang="en-US" sz="1800" dirty="0">
                <a:latin typeface="Times New Roman" panose="02020603050405020304" pitchFamily="18" charset="0"/>
                <a:cs typeface="Times New Roman" panose="02020603050405020304" pitchFamily="18" charset="0"/>
              </a:rPr>
              <a:t>, …etc.</a:t>
            </a:r>
          </a:p>
        </p:txBody>
      </p:sp>
      <p:sp>
        <p:nvSpPr>
          <p:cNvPr id="4" name="灯片编号占位符 3">
            <a:extLst>
              <a:ext uri="{FF2B5EF4-FFF2-40B4-BE49-F238E27FC236}">
                <a16:creationId xmlns:a16="http://schemas.microsoft.com/office/drawing/2014/main" id="{0F0BBB21-41AC-2EC8-D8AB-01D48A526A0A}"/>
              </a:ext>
            </a:extLst>
          </p:cNvPr>
          <p:cNvSpPr>
            <a:spLocks noGrp="1"/>
          </p:cNvSpPr>
          <p:nvPr>
            <p:ph type="sldNum" sz="quarter" idx="10"/>
          </p:nvPr>
        </p:nvSpPr>
        <p:spPr/>
        <p:txBody>
          <a:bodyPr/>
          <a:lstStyle/>
          <a:p>
            <a:fld id="{D9B6BDF2-6896-4B98-8776-C18582F63BA5}" type="slidenum">
              <a:rPr lang="zh-TW" altLang="en-US" smtClean="0"/>
              <a:pPr/>
              <a:t>101</a:t>
            </a:fld>
            <a:endParaRPr lang="zh-TW" altLang="en-US"/>
          </a:p>
        </p:txBody>
      </p:sp>
      <p:sp>
        <p:nvSpPr>
          <p:cNvPr id="7" name="Title 1">
            <a:extLst>
              <a:ext uri="{FF2B5EF4-FFF2-40B4-BE49-F238E27FC236}">
                <a16:creationId xmlns:a16="http://schemas.microsoft.com/office/drawing/2014/main" id="{4057A31D-4C3B-E72A-673E-9052838CF5F7}"/>
              </a:ext>
            </a:extLst>
          </p:cNvPr>
          <p:cNvSpPr>
            <a:spLocks noGrp="1"/>
          </p:cNvSpPr>
          <p:nvPr>
            <p:ph type="title"/>
          </p:nvPr>
        </p:nvSpPr>
        <p:spPr>
          <a:xfrm>
            <a:off x="905933" y="82948"/>
            <a:ext cx="7769757" cy="519113"/>
          </a:xfrm>
        </p:spPr>
        <p:txBody>
          <a:bodyPr/>
          <a:lstStyle/>
          <a:p>
            <a:r>
              <a:rPr lang="en-US" dirty="0"/>
              <a:t>Infrastructure as a Service (6)</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82948"/>
            <a:ext cx="7693557" cy="519113"/>
          </a:xfrm>
        </p:spPr>
        <p:txBody>
          <a:bodyPr/>
          <a:lstStyle/>
          <a:p>
            <a:r>
              <a:rPr lang="en-US" dirty="0" err="1"/>
              <a:t>IaaS</a:t>
            </a:r>
            <a:r>
              <a:rPr lang="en-US" dirty="0"/>
              <a:t> - Summary</a:t>
            </a:r>
          </a:p>
        </p:txBody>
      </p:sp>
      <p:sp>
        <p:nvSpPr>
          <p:cNvPr id="3" name="Content Placeholder 2"/>
          <p:cNvSpPr>
            <a:spLocks noGrp="1"/>
          </p:cNvSpPr>
          <p:nvPr>
            <p:ph idx="1"/>
          </p:nvPr>
        </p:nvSpPr>
        <p:spPr>
          <a:xfrm>
            <a:off x="993242" y="844153"/>
            <a:ext cx="6973891" cy="3671888"/>
          </a:xfrm>
        </p:spPr>
        <p:txBody>
          <a:bodyPr/>
          <a:lstStyle/>
          <a:p>
            <a:pPr>
              <a:spcBef>
                <a:spcPts val="0"/>
              </a:spcBef>
            </a:pPr>
            <a:r>
              <a:rPr lang="en-US" sz="2000" dirty="0" err="1"/>
              <a:t>IaaS</a:t>
            </a:r>
            <a:r>
              <a:rPr lang="en-US" sz="2000" dirty="0"/>
              <a:t> is the deployment platform that abstract the infrastructure.</a:t>
            </a:r>
            <a:br>
              <a:rPr lang="en-US" sz="2000" dirty="0"/>
            </a:br>
            <a:endParaRPr lang="en-US" sz="2000" dirty="0"/>
          </a:p>
          <a:p>
            <a:pPr>
              <a:spcBef>
                <a:spcPts val="0"/>
              </a:spcBef>
            </a:pPr>
            <a:r>
              <a:rPr lang="en-US" sz="2000" dirty="0" err="1"/>
              <a:t>IaaS</a:t>
            </a:r>
            <a:r>
              <a:rPr lang="en-US" sz="2000" dirty="0"/>
              <a:t> enabling technique</a:t>
            </a:r>
          </a:p>
          <a:p>
            <a:pPr lvl="1">
              <a:spcBef>
                <a:spcPts val="0"/>
              </a:spcBef>
            </a:pPr>
            <a:r>
              <a:rPr lang="en-US" sz="2000" dirty="0"/>
              <a:t>Virtualization</a:t>
            </a:r>
          </a:p>
          <a:p>
            <a:pPr lvl="2">
              <a:spcBef>
                <a:spcPts val="0"/>
              </a:spcBef>
            </a:pPr>
            <a:r>
              <a:rPr lang="en-US" dirty="0">
                <a:latin typeface="Times New Roman" panose="02020603050405020304" pitchFamily="18" charset="0"/>
                <a:cs typeface="Times New Roman" panose="02020603050405020304" pitchFamily="18" charset="0"/>
              </a:rPr>
              <a:t>Server Virtualization</a:t>
            </a:r>
          </a:p>
          <a:p>
            <a:pPr lvl="2">
              <a:spcBef>
                <a:spcPts val="0"/>
              </a:spcBef>
            </a:pPr>
            <a:r>
              <a:rPr lang="en-US" dirty="0">
                <a:latin typeface="Times New Roman" panose="02020603050405020304" pitchFamily="18" charset="0"/>
                <a:cs typeface="Times New Roman" panose="02020603050405020304" pitchFamily="18" charset="0"/>
              </a:rPr>
              <a:t>Storage Virtualization</a:t>
            </a:r>
          </a:p>
          <a:p>
            <a:pPr lvl="2">
              <a:spcBef>
                <a:spcPts val="0"/>
              </a:spcBef>
            </a:pPr>
            <a:r>
              <a:rPr lang="en-US" dirty="0">
                <a:latin typeface="Times New Roman" panose="02020603050405020304" pitchFamily="18" charset="0"/>
                <a:cs typeface="Times New Roman" panose="02020603050405020304" pitchFamily="18" charset="0"/>
              </a:rPr>
              <a:t>Network Virtualization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spcBef>
                <a:spcPts val="0"/>
              </a:spcBef>
            </a:pPr>
            <a:r>
              <a:rPr lang="en-US" sz="2000" dirty="0" err="1"/>
              <a:t>IaaS</a:t>
            </a:r>
            <a:r>
              <a:rPr lang="en-US" sz="2000" dirty="0"/>
              <a:t> provided services</a:t>
            </a:r>
          </a:p>
          <a:p>
            <a:pPr lvl="1">
              <a:spcBef>
                <a:spcPts val="0"/>
              </a:spcBef>
            </a:pPr>
            <a:r>
              <a:rPr lang="en-US" sz="2000" dirty="0"/>
              <a:t>Resource Management Interface</a:t>
            </a:r>
          </a:p>
          <a:p>
            <a:pPr lvl="1">
              <a:spcBef>
                <a:spcPts val="0"/>
              </a:spcBef>
            </a:pPr>
            <a:r>
              <a:rPr lang="en-US" sz="2000" dirty="0"/>
              <a:t>System Monitoring Interface</a:t>
            </a:r>
          </a:p>
        </p:txBody>
      </p:sp>
      <p:sp>
        <p:nvSpPr>
          <p:cNvPr id="4" name="灯片编号占位符 3">
            <a:extLst>
              <a:ext uri="{FF2B5EF4-FFF2-40B4-BE49-F238E27FC236}">
                <a16:creationId xmlns:a16="http://schemas.microsoft.com/office/drawing/2014/main" id="{69A4BE3E-A144-9A98-015E-BA60F8C4A244}"/>
              </a:ext>
            </a:extLst>
          </p:cNvPr>
          <p:cNvSpPr>
            <a:spLocks noGrp="1"/>
          </p:cNvSpPr>
          <p:nvPr>
            <p:ph type="sldNum" sz="quarter" idx="10"/>
          </p:nvPr>
        </p:nvSpPr>
        <p:spPr/>
        <p:txBody>
          <a:bodyPr/>
          <a:lstStyle/>
          <a:p>
            <a:fld id="{D9B6BDF2-6896-4B98-8776-C18582F63BA5}" type="slidenum">
              <a:rPr lang="zh-TW" altLang="en-US" smtClean="0"/>
              <a:pPr/>
              <a:t>102</a:t>
            </a:fld>
            <a:endParaRPr lang="zh-TW"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solidFill>
                  <a:srgbClr val="FF0000"/>
                </a:solidFill>
              </a:rPr>
              <a:t>Platform as a Service</a:t>
            </a:r>
          </a:p>
          <a:p>
            <a:r>
              <a:rPr lang="en-US" dirty="0"/>
              <a:t>Software as a Service</a:t>
            </a:r>
          </a:p>
        </p:txBody>
      </p:sp>
      <p:sp>
        <p:nvSpPr>
          <p:cNvPr id="4" name="灯片编号占位符 3">
            <a:extLst>
              <a:ext uri="{FF2B5EF4-FFF2-40B4-BE49-F238E27FC236}">
                <a16:creationId xmlns:a16="http://schemas.microsoft.com/office/drawing/2014/main" id="{6A7C979D-830D-0B19-0FE1-82CFA3EE8C8C}"/>
              </a:ext>
            </a:extLst>
          </p:cNvPr>
          <p:cNvSpPr>
            <a:spLocks noGrp="1"/>
          </p:cNvSpPr>
          <p:nvPr>
            <p:ph type="sldNum" sz="quarter" idx="10"/>
          </p:nvPr>
        </p:nvSpPr>
        <p:spPr/>
        <p:txBody>
          <a:bodyPr/>
          <a:lstStyle/>
          <a:p>
            <a:fld id="{D9B6BDF2-6896-4B98-8776-C18582F63BA5}" type="slidenum">
              <a:rPr lang="zh-TW" altLang="en-US" smtClean="0"/>
              <a:pPr/>
              <a:t>103</a:t>
            </a:fld>
            <a:endParaRPr lang="zh-TW"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533" y="82948"/>
            <a:ext cx="7795157" cy="519113"/>
          </a:xfrm>
        </p:spPr>
        <p:txBody>
          <a:bodyPr/>
          <a:lstStyle/>
          <a:p>
            <a:r>
              <a:rPr lang="en-US" dirty="0"/>
              <a:t>Platform as a Service (1)</a:t>
            </a:r>
          </a:p>
        </p:txBody>
      </p:sp>
      <p:sp>
        <p:nvSpPr>
          <p:cNvPr id="3" name="Content Placeholder 2"/>
          <p:cNvSpPr>
            <a:spLocks noGrp="1"/>
          </p:cNvSpPr>
          <p:nvPr>
            <p:ph idx="1"/>
          </p:nvPr>
        </p:nvSpPr>
        <p:spPr>
          <a:xfrm>
            <a:off x="1003299" y="833241"/>
            <a:ext cx="7217833" cy="3747226"/>
          </a:xfrm>
        </p:spPr>
        <p:txBody>
          <a:bodyPr>
            <a:noAutofit/>
          </a:bodyPr>
          <a:lstStyle/>
          <a:p>
            <a:pPr>
              <a:spcBef>
                <a:spcPts val="0"/>
              </a:spcBef>
            </a:pPr>
            <a:r>
              <a:rPr lang="en-US" sz="2000" dirty="0"/>
              <a:t>Platform as a Service - </a:t>
            </a:r>
            <a:r>
              <a:rPr lang="en-US" sz="2000" dirty="0" err="1"/>
              <a:t>PaaS</a:t>
            </a:r>
            <a:endParaRPr lang="en-US" sz="2000" dirty="0"/>
          </a:p>
          <a:p>
            <a:pPr lvl="1">
              <a:spcBef>
                <a:spcPts val="0"/>
              </a:spcBef>
            </a:pPr>
            <a:r>
              <a:rPr lang="en-US" sz="1800" dirty="0"/>
              <a:t>The capability provided to the consumer is to deploy onto the cloud infrastructure consumer-created or acquired applications created using programming languages and tools supported by the provider.</a:t>
            </a:r>
          </a:p>
          <a:p>
            <a:pPr lvl="1">
              <a:spcBef>
                <a:spcPts val="0"/>
              </a:spcBef>
            </a:pPr>
            <a:r>
              <a:rPr lang="en-US" sz="1800" dirty="0"/>
              <a:t>The consumer does not manage or control the underlying cloud infrastructure including network, servers, operating systems, or storage, but has control over the deployed applications and possibly application hosting environment configurations.</a:t>
            </a:r>
          </a:p>
          <a:p>
            <a:pPr>
              <a:spcBef>
                <a:spcPts val="0"/>
              </a:spcBef>
            </a:pPr>
            <a:r>
              <a:rPr lang="en-US" sz="2000" dirty="0"/>
              <a:t>Examples :</a:t>
            </a:r>
          </a:p>
          <a:p>
            <a:pPr lvl="1">
              <a:spcBef>
                <a:spcPts val="0"/>
              </a:spcBef>
            </a:pPr>
            <a:r>
              <a:rPr lang="en-US" sz="1800" dirty="0"/>
              <a:t>Microsoft Windows Azure</a:t>
            </a:r>
          </a:p>
          <a:p>
            <a:pPr lvl="1">
              <a:spcBef>
                <a:spcPts val="0"/>
              </a:spcBef>
            </a:pPr>
            <a:r>
              <a:rPr lang="en-US" sz="1800" dirty="0"/>
              <a:t>Google App Engine</a:t>
            </a:r>
          </a:p>
          <a:p>
            <a:pPr lvl="1">
              <a:spcBef>
                <a:spcPts val="0"/>
              </a:spcBef>
            </a:pPr>
            <a:r>
              <a:rPr lang="en-US" sz="1800" dirty="0" err="1"/>
              <a:t>Hadoop</a:t>
            </a:r>
            <a:endParaRPr lang="en-US" sz="1800" dirty="0"/>
          </a:p>
          <a:p>
            <a:pPr lvl="1">
              <a:spcBef>
                <a:spcPts val="0"/>
              </a:spcBef>
            </a:pPr>
            <a:r>
              <a:rPr lang="en-US" altLang="zh-TW" sz="1800" dirty="0"/>
              <a:t>… etc</a:t>
            </a:r>
            <a:endParaRPr lang="en-US" sz="1800" dirty="0"/>
          </a:p>
        </p:txBody>
      </p:sp>
      <p:sp>
        <p:nvSpPr>
          <p:cNvPr id="4" name="灯片编号占位符 3">
            <a:extLst>
              <a:ext uri="{FF2B5EF4-FFF2-40B4-BE49-F238E27FC236}">
                <a16:creationId xmlns:a16="http://schemas.microsoft.com/office/drawing/2014/main" id="{916FC3D8-494D-9CEA-0709-2A223C6D0A72}"/>
              </a:ext>
            </a:extLst>
          </p:cNvPr>
          <p:cNvSpPr>
            <a:spLocks noGrp="1"/>
          </p:cNvSpPr>
          <p:nvPr>
            <p:ph type="sldNum" sz="quarter" idx="10"/>
          </p:nvPr>
        </p:nvSpPr>
        <p:spPr/>
        <p:txBody>
          <a:bodyPr/>
          <a:lstStyle/>
          <a:p>
            <a:fld id="{D9B6BDF2-6896-4B98-8776-C18582F63BA5}" type="slidenum">
              <a:rPr lang="zh-TW" altLang="en-US" smtClean="0"/>
              <a:pPr/>
              <a:t>104</a:t>
            </a:fld>
            <a:endParaRPr lang="zh-TW"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2200575" y="1354826"/>
            <a:ext cx="5218909" cy="3169047"/>
          </a:xfrm>
          <a:prstGeom prst="rect">
            <a:avLst/>
          </a:prstGeom>
          <a:noFill/>
          <a:ln w="9525">
            <a:noFill/>
            <a:miter lim="800000"/>
            <a:headEnd/>
            <a:tailEnd/>
          </a:ln>
          <a:effectLst/>
        </p:spPr>
      </p:pic>
      <p:sp>
        <p:nvSpPr>
          <p:cNvPr id="4" name="Content Placeholder 2"/>
          <p:cNvSpPr>
            <a:spLocks noGrp="1"/>
          </p:cNvSpPr>
          <p:nvPr>
            <p:ph idx="1"/>
          </p:nvPr>
        </p:nvSpPr>
        <p:spPr>
          <a:xfrm>
            <a:off x="975761" y="853642"/>
            <a:ext cx="6172200" cy="400050"/>
          </a:xfrm>
        </p:spPr>
        <p:txBody>
          <a:bodyPr/>
          <a:lstStyle/>
          <a:p>
            <a:r>
              <a:rPr lang="en-US" sz="2400" dirty="0"/>
              <a:t>System architecture </a:t>
            </a:r>
          </a:p>
        </p:txBody>
      </p:sp>
      <p:sp>
        <p:nvSpPr>
          <p:cNvPr id="3" name="灯片编号占位符 2">
            <a:extLst>
              <a:ext uri="{FF2B5EF4-FFF2-40B4-BE49-F238E27FC236}">
                <a16:creationId xmlns:a16="http://schemas.microsoft.com/office/drawing/2014/main" id="{B0EE8CDA-CF83-F09C-1DCF-3AEEA2F0269D}"/>
              </a:ext>
            </a:extLst>
          </p:cNvPr>
          <p:cNvSpPr>
            <a:spLocks noGrp="1"/>
          </p:cNvSpPr>
          <p:nvPr>
            <p:ph type="sldNum" sz="quarter" idx="10"/>
          </p:nvPr>
        </p:nvSpPr>
        <p:spPr/>
        <p:txBody>
          <a:bodyPr/>
          <a:lstStyle/>
          <a:p>
            <a:fld id="{D9B6BDF2-6896-4B98-8776-C18582F63BA5}" type="slidenum">
              <a:rPr lang="zh-TW" altLang="en-US" smtClean="0"/>
              <a:pPr/>
              <a:t>105</a:t>
            </a:fld>
            <a:endParaRPr lang="zh-TW" altLang="en-US"/>
          </a:p>
        </p:txBody>
      </p:sp>
      <p:sp>
        <p:nvSpPr>
          <p:cNvPr id="7" name="Title 1">
            <a:extLst>
              <a:ext uri="{FF2B5EF4-FFF2-40B4-BE49-F238E27FC236}">
                <a16:creationId xmlns:a16="http://schemas.microsoft.com/office/drawing/2014/main" id="{44D4B8CA-DC0D-A7FF-13FA-DA2B6B8547D5}"/>
              </a:ext>
            </a:extLst>
          </p:cNvPr>
          <p:cNvSpPr>
            <a:spLocks noGrp="1"/>
          </p:cNvSpPr>
          <p:nvPr>
            <p:ph type="title"/>
          </p:nvPr>
        </p:nvSpPr>
        <p:spPr>
          <a:xfrm>
            <a:off x="880533" y="82948"/>
            <a:ext cx="7795157" cy="519113"/>
          </a:xfrm>
        </p:spPr>
        <p:txBody>
          <a:bodyPr/>
          <a:lstStyle/>
          <a:p>
            <a:r>
              <a:rPr lang="en-US" dirty="0"/>
              <a:t>Platform as a Service (2)</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5898469" y="2087663"/>
            <a:ext cx="3143146" cy="2359209"/>
          </a:xfrm>
          <a:prstGeom prst="rect">
            <a:avLst/>
          </a:prstGeom>
          <a:noFill/>
          <a:ln w="9525">
            <a:noFill/>
            <a:miter lim="800000"/>
            <a:headEnd/>
            <a:tailEnd/>
          </a:ln>
          <a:effectLst/>
        </p:spPr>
      </p:pic>
      <p:sp>
        <p:nvSpPr>
          <p:cNvPr id="3" name="Content Placeholder 2"/>
          <p:cNvSpPr>
            <a:spLocks noGrp="1"/>
          </p:cNvSpPr>
          <p:nvPr>
            <p:ph idx="1"/>
          </p:nvPr>
        </p:nvSpPr>
        <p:spPr>
          <a:xfrm>
            <a:off x="1014262" y="874514"/>
            <a:ext cx="6223936" cy="3394472"/>
          </a:xfrm>
        </p:spPr>
        <p:txBody>
          <a:bodyPr>
            <a:noAutofit/>
          </a:bodyPr>
          <a:lstStyle/>
          <a:p>
            <a:r>
              <a:rPr lang="en-US" sz="2000" dirty="0"/>
              <a:t>Enabling technique – </a:t>
            </a:r>
            <a:r>
              <a:rPr lang="en-US" sz="2000" dirty="0">
                <a:solidFill>
                  <a:srgbClr val="FF0000"/>
                </a:solidFill>
              </a:rPr>
              <a:t>Runtime Environment Design</a:t>
            </a:r>
          </a:p>
          <a:p>
            <a:pPr lvl="1"/>
            <a:r>
              <a:rPr lang="en-US" sz="2000" dirty="0"/>
              <a:t>Runtime environment refers to collection of software services available. Usually implemented by a collection of program libraries.</a:t>
            </a:r>
          </a:p>
          <a:p>
            <a:r>
              <a:rPr lang="en-US" sz="2000" dirty="0"/>
              <a:t>Common properties in Runtime Environment </a:t>
            </a:r>
          </a:p>
          <a:p>
            <a:pPr lvl="1"/>
            <a:r>
              <a:rPr lang="en-US" sz="2000" dirty="0"/>
              <a:t>Manageability and Interoperability</a:t>
            </a:r>
          </a:p>
          <a:p>
            <a:pPr lvl="1"/>
            <a:r>
              <a:rPr lang="en-US" sz="2000" dirty="0"/>
              <a:t>Performance and Optimization</a:t>
            </a:r>
          </a:p>
          <a:p>
            <a:pPr lvl="1"/>
            <a:r>
              <a:rPr lang="en-US" sz="2000" dirty="0"/>
              <a:t>Availability and Reliability</a:t>
            </a:r>
          </a:p>
          <a:p>
            <a:pPr lvl="1"/>
            <a:r>
              <a:rPr lang="en-US" sz="2000" dirty="0"/>
              <a:t>Scalability and Elasticity</a:t>
            </a:r>
          </a:p>
        </p:txBody>
      </p:sp>
      <p:sp>
        <p:nvSpPr>
          <p:cNvPr id="4" name="灯片编号占位符 3">
            <a:extLst>
              <a:ext uri="{FF2B5EF4-FFF2-40B4-BE49-F238E27FC236}">
                <a16:creationId xmlns:a16="http://schemas.microsoft.com/office/drawing/2014/main" id="{6DA4C9E8-31C0-300B-E1CB-2338F833E7BD}"/>
              </a:ext>
            </a:extLst>
          </p:cNvPr>
          <p:cNvSpPr>
            <a:spLocks noGrp="1"/>
          </p:cNvSpPr>
          <p:nvPr>
            <p:ph type="sldNum" sz="quarter" idx="10"/>
          </p:nvPr>
        </p:nvSpPr>
        <p:spPr/>
        <p:txBody>
          <a:bodyPr/>
          <a:lstStyle/>
          <a:p>
            <a:fld id="{D9B6BDF2-6896-4B98-8776-C18582F63BA5}" type="slidenum">
              <a:rPr lang="zh-TW" altLang="en-US" smtClean="0"/>
              <a:pPr/>
              <a:t>106</a:t>
            </a:fld>
            <a:endParaRPr lang="zh-TW" altLang="en-US"/>
          </a:p>
        </p:txBody>
      </p:sp>
      <p:sp>
        <p:nvSpPr>
          <p:cNvPr id="7" name="Title 1">
            <a:extLst>
              <a:ext uri="{FF2B5EF4-FFF2-40B4-BE49-F238E27FC236}">
                <a16:creationId xmlns:a16="http://schemas.microsoft.com/office/drawing/2014/main" id="{9CE125AD-95C4-51D9-9AB8-763E5D928825}"/>
              </a:ext>
            </a:extLst>
          </p:cNvPr>
          <p:cNvSpPr>
            <a:spLocks noGrp="1"/>
          </p:cNvSpPr>
          <p:nvPr>
            <p:ph type="title"/>
          </p:nvPr>
        </p:nvSpPr>
        <p:spPr>
          <a:xfrm>
            <a:off x="880533" y="82948"/>
            <a:ext cx="7795157" cy="519113"/>
          </a:xfrm>
        </p:spPr>
        <p:txBody>
          <a:bodyPr/>
          <a:lstStyle/>
          <a:p>
            <a:r>
              <a:rPr lang="en-US" dirty="0"/>
              <a:t>Platform as a Service (3)</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0532" y="844153"/>
            <a:ext cx="7628201" cy="3448714"/>
          </a:xfrm>
        </p:spPr>
        <p:txBody>
          <a:bodyPr/>
          <a:lstStyle/>
          <a:p>
            <a:pPr>
              <a:spcBef>
                <a:spcPts val="0"/>
              </a:spcBef>
            </a:pPr>
            <a:r>
              <a:rPr lang="en-US" sz="2000" dirty="0"/>
              <a:t>Provide service – </a:t>
            </a:r>
            <a:r>
              <a:rPr lang="en-US" sz="2000" dirty="0">
                <a:solidFill>
                  <a:srgbClr val="FF0000"/>
                </a:solidFill>
              </a:rPr>
              <a:t>Programming IDE</a:t>
            </a:r>
          </a:p>
          <a:p>
            <a:pPr lvl="1">
              <a:spcBef>
                <a:spcPts val="0"/>
              </a:spcBef>
            </a:pPr>
            <a:r>
              <a:rPr lang="en-US" sz="2000" dirty="0"/>
              <a:t>Users make use of programming IDE to develop their service among </a:t>
            </a:r>
            <a:r>
              <a:rPr lang="en-US" sz="2000" dirty="0" err="1"/>
              <a:t>PaaS</a:t>
            </a:r>
            <a:r>
              <a:rPr lang="en-US" sz="2000" dirty="0"/>
              <a:t>.</a:t>
            </a:r>
          </a:p>
          <a:p>
            <a:pPr lvl="2">
              <a:spcBef>
                <a:spcPts val="0"/>
              </a:spcBef>
            </a:pPr>
            <a:r>
              <a:rPr lang="en-US" dirty="0">
                <a:latin typeface="Times New Roman" panose="02020603050405020304" pitchFamily="18" charset="0"/>
                <a:cs typeface="Times New Roman" panose="02020603050405020304" pitchFamily="18" charset="0"/>
              </a:rPr>
              <a:t>This IDE should integrate the full functionalities which supported from the underling runtime environment.</a:t>
            </a:r>
          </a:p>
          <a:p>
            <a:pPr lvl="2">
              <a:spcBef>
                <a:spcPts val="0"/>
              </a:spcBef>
            </a:pPr>
            <a:r>
              <a:rPr lang="en-US" dirty="0">
                <a:latin typeface="Times New Roman" panose="02020603050405020304" pitchFamily="18" charset="0"/>
                <a:cs typeface="Times New Roman" panose="02020603050405020304" pitchFamily="18" charset="0"/>
              </a:rPr>
              <a:t>This IDE should also provide some development tools, such as profiler, debugger and testing environment.</a:t>
            </a:r>
          </a:p>
          <a:p>
            <a:pPr lvl="1">
              <a:spcBef>
                <a:spcPts val="0"/>
              </a:spcBef>
            </a:pPr>
            <a:r>
              <a:rPr lang="en-US" sz="2000" dirty="0"/>
              <a:t>The programming APIs supported from runtime environment may be various between different cloud providers, but there are still some common operating functions.</a:t>
            </a:r>
          </a:p>
          <a:p>
            <a:pPr lvl="2">
              <a:spcBef>
                <a:spcPts val="0"/>
              </a:spcBef>
            </a:pPr>
            <a:r>
              <a:rPr lang="en-US" dirty="0">
                <a:latin typeface="Times New Roman" panose="02020603050405020304" pitchFamily="18" charset="0"/>
                <a:cs typeface="Times New Roman" panose="02020603050405020304" pitchFamily="18" charset="0"/>
              </a:rPr>
              <a:t>Computation, storage and communication resource operation</a:t>
            </a:r>
          </a:p>
        </p:txBody>
      </p:sp>
      <p:sp>
        <p:nvSpPr>
          <p:cNvPr id="4" name="灯片编号占位符 3">
            <a:extLst>
              <a:ext uri="{FF2B5EF4-FFF2-40B4-BE49-F238E27FC236}">
                <a16:creationId xmlns:a16="http://schemas.microsoft.com/office/drawing/2014/main" id="{4095A8CE-DE03-04E5-7211-4E9BA73AA7DC}"/>
              </a:ext>
            </a:extLst>
          </p:cNvPr>
          <p:cNvSpPr>
            <a:spLocks noGrp="1"/>
          </p:cNvSpPr>
          <p:nvPr>
            <p:ph type="sldNum" sz="quarter" idx="10"/>
          </p:nvPr>
        </p:nvSpPr>
        <p:spPr/>
        <p:txBody>
          <a:bodyPr/>
          <a:lstStyle/>
          <a:p>
            <a:fld id="{D9B6BDF2-6896-4B98-8776-C18582F63BA5}" type="slidenum">
              <a:rPr lang="zh-TW" altLang="en-US" smtClean="0"/>
              <a:pPr/>
              <a:t>107</a:t>
            </a:fld>
            <a:endParaRPr lang="zh-TW" altLang="en-US"/>
          </a:p>
        </p:txBody>
      </p:sp>
      <p:sp>
        <p:nvSpPr>
          <p:cNvPr id="7" name="Title 1">
            <a:extLst>
              <a:ext uri="{FF2B5EF4-FFF2-40B4-BE49-F238E27FC236}">
                <a16:creationId xmlns:a16="http://schemas.microsoft.com/office/drawing/2014/main" id="{8C5EDCD0-5311-E3C1-3D0B-31ECDC0C34FF}"/>
              </a:ext>
            </a:extLst>
          </p:cNvPr>
          <p:cNvSpPr>
            <a:spLocks noGrp="1"/>
          </p:cNvSpPr>
          <p:nvPr>
            <p:ph type="title"/>
          </p:nvPr>
        </p:nvSpPr>
        <p:spPr>
          <a:xfrm>
            <a:off x="880533" y="82948"/>
            <a:ext cx="7795157" cy="519113"/>
          </a:xfrm>
        </p:spPr>
        <p:txBody>
          <a:bodyPr/>
          <a:lstStyle/>
          <a:p>
            <a:r>
              <a:rPr lang="en-US" dirty="0"/>
              <a:t>Platform as a Service (4)</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0532" y="844153"/>
            <a:ext cx="7806267" cy="3323586"/>
          </a:xfrm>
        </p:spPr>
        <p:txBody>
          <a:bodyPr/>
          <a:lstStyle/>
          <a:p>
            <a:r>
              <a:rPr lang="en-US" sz="2000" dirty="0"/>
              <a:t>Provide service – </a:t>
            </a:r>
            <a:r>
              <a:rPr lang="en-US" sz="2000" dirty="0">
                <a:solidFill>
                  <a:srgbClr val="FF0000"/>
                </a:solidFill>
              </a:rPr>
              <a:t>System Control Interface</a:t>
            </a:r>
          </a:p>
          <a:p>
            <a:pPr lvl="1"/>
            <a:r>
              <a:rPr lang="en-US" sz="2000" dirty="0"/>
              <a:t>Police-Based Control</a:t>
            </a:r>
          </a:p>
          <a:p>
            <a:pPr lvl="2"/>
            <a:r>
              <a:rPr lang="en-US" dirty="0">
                <a:latin typeface="Times New Roman" panose="02020603050405020304" pitchFamily="18" charset="0"/>
                <a:cs typeface="Times New Roman" panose="02020603050405020304" pitchFamily="18" charset="0"/>
              </a:rPr>
              <a:t>Typically described as a principle or rule to guide decisions and achieve rational outcome(s)</a:t>
            </a:r>
          </a:p>
          <a:p>
            <a:pPr lvl="2"/>
            <a:r>
              <a:rPr lang="en-US" dirty="0">
                <a:latin typeface="Times New Roman" panose="02020603050405020304" pitchFamily="18" charset="0"/>
                <a:cs typeface="Times New Roman" panose="02020603050405020304" pitchFamily="18" charset="0"/>
              </a:rPr>
              <a:t>Make the decision according to some requirements</a:t>
            </a:r>
          </a:p>
          <a:p>
            <a:pPr lvl="1"/>
            <a:r>
              <a:rPr lang="en-US" sz="2000" dirty="0"/>
              <a:t>Workflow Control</a:t>
            </a:r>
          </a:p>
          <a:p>
            <a:pPr lvl="2"/>
            <a:r>
              <a:rPr lang="en-US" dirty="0">
                <a:latin typeface="Times New Roman" panose="02020603050405020304" pitchFamily="18" charset="0"/>
                <a:cs typeface="Times New Roman" panose="02020603050405020304" pitchFamily="18" charset="0"/>
              </a:rPr>
              <a:t>Describe the flow of installation and configuration of resources</a:t>
            </a:r>
          </a:p>
          <a:p>
            <a:pPr lvl="2"/>
            <a:r>
              <a:rPr lang="en-US" dirty="0">
                <a:latin typeface="Times New Roman" panose="02020603050405020304" pitchFamily="18" charset="0"/>
                <a:cs typeface="Times New Roman" panose="02020603050405020304" pitchFamily="18" charset="0"/>
              </a:rPr>
              <a:t>Workflow processing daemon delivers speedy and efficient construction and management of cloud resources</a:t>
            </a:r>
          </a:p>
          <a:p>
            <a:pPr lvl="2"/>
            <a:endParaRPr lang="en-US"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BEAED8D0-4153-177B-98A2-1C52155A14F2}"/>
              </a:ext>
            </a:extLst>
          </p:cNvPr>
          <p:cNvSpPr>
            <a:spLocks noGrp="1"/>
          </p:cNvSpPr>
          <p:nvPr>
            <p:ph type="sldNum" sz="quarter" idx="10"/>
          </p:nvPr>
        </p:nvSpPr>
        <p:spPr/>
        <p:txBody>
          <a:bodyPr/>
          <a:lstStyle/>
          <a:p>
            <a:fld id="{D9B6BDF2-6896-4B98-8776-C18582F63BA5}" type="slidenum">
              <a:rPr lang="zh-TW" altLang="en-US" smtClean="0"/>
              <a:pPr/>
              <a:t>108</a:t>
            </a:fld>
            <a:endParaRPr lang="zh-TW" altLang="en-US"/>
          </a:p>
        </p:txBody>
      </p:sp>
      <p:sp>
        <p:nvSpPr>
          <p:cNvPr id="7" name="Title 1">
            <a:extLst>
              <a:ext uri="{FF2B5EF4-FFF2-40B4-BE49-F238E27FC236}">
                <a16:creationId xmlns:a16="http://schemas.microsoft.com/office/drawing/2014/main" id="{41B1132B-623F-EC59-75F8-7B011C227C10}"/>
              </a:ext>
            </a:extLst>
          </p:cNvPr>
          <p:cNvSpPr>
            <a:spLocks noGrp="1"/>
          </p:cNvSpPr>
          <p:nvPr>
            <p:ph type="title"/>
          </p:nvPr>
        </p:nvSpPr>
        <p:spPr>
          <a:xfrm>
            <a:off x="880533" y="82948"/>
            <a:ext cx="7795157" cy="519113"/>
          </a:xfrm>
        </p:spPr>
        <p:txBody>
          <a:bodyPr/>
          <a:lstStyle/>
          <a:p>
            <a:r>
              <a:rPr lang="en-US" dirty="0"/>
              <a:t>Platform as a Service (5)</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79474"/>
            <a:ext cx="7770915" cy="519113"/>
          </a:xfrm>
        </p:spPr>
        <p:txBody>
          <a:bodyPr/>
          <a:lstStyle/>
          <a:p>
            <a:r>
              <a:rPr lang="en-US" dirty="0" err="1"/>
              <a:t>PaaS</a:t>
            </a:r>
            <a:r>
              <a:rPr lang="en-US" dirty="0"/>
              <a:t> - Summary</a:t>
            </a:r>
          </a:p>
        </p:txBody>
      </p:sp>
      <p:sp>
        <p:nvSpPr>
          <p:cNvPr id="3" name="Content Placeholder 2"/>
          <p:cNvSpPr>
            <a:spLocks noGrp="1"/>
          </p:cNvSpPr>
          <p:nvPr>
            <p:ph idx="1"/>
          </p:nvPr>
        </p:nvSpPr>
        <p:spPr>
          <a:xfrm>
            <a:off x="975760" y="800100"/>
            <a:ext cx="7388593" cy="3543300"/>
          </a:xfrm>
        </p:spPr>
        <p:txBody>
          <a:bodyPr/>
          <a:lstStyle/>
          <a:p>
            <a:pPr>
              <a:spcBef>
                <a:spcPts val="0"/>
              </a:spcBef>
            </a:pPr>
            <a:r>
              <a:rPr lang="en-US" sz="2000" dirty="0"/>
              <a:t>PaaS is the development platform that abstract the infrastructure, OS, and middleware to drive developer productivity.</a:t>
            </a:r>
          </a:p>
          <a:p>
            <a:pPr>
              <a:spcBef>
                <a:spcPts val="600"/>
              </a:spcBef>
            </a:pPr>
            <a:r>
              <a:rPr lang="en-US" sz="2000" dirty="0" err="1"/>
              <a:t>PaaS</a:t>
            </a:r>
            <a:r>
              <a:rPr lang="en-US" sz="2000" dirty="0"/>
              <a:t> enabling technique</a:t>
            </a:r>
          </a:p>
          <a:p>
            <a:pPr lvl="1">
              <a:spcBef>
                <a:spcPts val="0"/>
              </a:spcBef>
            </a:pPr>
            <a:r>
              <a:rPr lang="en-US" sz="2000" dirty="0"/>
              <a:t>Runtime Environment</a:t>
            </a:r>
          </a:p>
          <a:p>
            <a:pPr>
              <a:spcBef>
                <a:spcPts val="600"/>
              </a:spcBef>
            </a:pPr>
            <a:r>
              <a:rPr lang="en-US" sz="2000" dirty="0" err="1"/>
              <a:t>PaaS</a:t>
            </a:r>
            <a:r>
              <a:rPr lang="en-US" sz="2000" dirty="0"/>
              <a:t> provide services</a:t>
            </a:r>
          </a:p>
          <a:p>
            <a:pPr lvl="1">
              <a:spcBef>
                <a:spcPts val="0"/>
              </a:spcBef>
            </a:pPr>
            <a:r>
              <a:rPr lang="en-US" sz="2000" dirty="0"/>
              <a:t>Programming IDE</a:t>
            </a:r>
          </a:p>
          <a:p>
            <a:pPr lvl="2">
              <a:spcBef>
                <a:spcPts val="0"/>
              </a:spcBef>
            </a:pPr>
            <a:r>
              <a:rPr lang="en-US" dirty="0">
                <a:latin typeface="Times New Roman" panose="02020603050405020304" pitchFamily="18" charset="0"/>
                <a:cs typeface="Times New Roman" panose="02020603050405020304" pitchFamily="18" charset="0"/>
              </a:rPr>
              <a:t>Programming APIs</a:t>
            </a:r>
          </a:p>
          <a:p>
            <a:pPr lvl="2">
              <a:spcBef>
                <a:spcPts val="0"/>
              </a:spcBef>
            </a:pPr>
            <a:r>
              <a:rPr lang="en-US" dirty="0">
                <a:latin typeface="Times New Roman" panose="02020603050405020304" pitchFamily="18" charset="0"/>
                <a:cs typeface="Times New Roman" panose="02020603050405020304" pitchFamily="18" charset="0"/>
              </a:rPr>
              <a:t>Development tools</a:t>
            </a:r>
          </a:p>
          <a:p>
            <a:pPr lvl="1">
              <a:spcBef>
                <a:spcPts val="0"/>
              </a:spcBef>
            </a:pPr>
            <a:r>
              <a:rPr lang="en-US" sz="2000" dirty="0"/>
              <a:t>System Control Interface</a:t>
            </a:r>
          </a:p>
          <a:p>
            <a:pPr lvl="2">
              <a:spcBef>
                <a:spcPts val="0"/>
              </a:spcBef>
            </a:pPr>
            <a:r>
              <a:rPr lang="en-US" dirty="0">
                <a:latin typeface="Times New Roman" panose="02020603050405020304" pitchFamily="18" charset="0"/>
                <a:cs typeface="Times New Roman" panose="02020603050405020304" pitchFamily="18" charset="0"/>
              </a:rPr>
              <a:t>Policy based approach</a:t>
            </a:r>
          </a:p>
          <a:p>
            <a:pPr lvl="2">
              <a:spcBef>
                <a:spcPts val="0"/>
              </a:spcBef>
            </a:pPr>
            <a:r>
              <a:rPr lang="en-US" dirty="0">
                <a:latin typeface="Times New Roman" panose="02020603050405020304" pitchFamily="18" charset="0"/>
                <a:cs typeface="Times New Roman" panose="02020603050405020304" pitchFamily="18" charset="0"/>
              </a:rPr>
              <a:t>Workflow based approach</a:t>
            </a:r>
          </a:p>
        </p:txBody>
      </p:sp>
      <p:sp>
        <p:nvSpPr>
          <p:cNvPr id="4" name="灯片编号占位符 3">
            <a:extLst>
              <a:ext uri="{FF2B5EF4-FFF2-40B4-BE49-F238E27FC236}">
                <a16:creationId xmlns:a16="http://schemas.microsoft.com/office/drawing/2014/main" id="{864274F3-B335-C4B3-B62A-AF1B392C223B}"/>
              </a:ext>
            </a:extLst>
          </p:cNvPr>
          <p:cNvSpPr>
            <a:spLocks noGrp="1"/>
          </p:cNvSpPr>
          <p:nvPr>
            <p:ph type="sldNum" sz="quarter" idx="10"/>
          </p:nvPr>
        </p:nvSpPr>
        <p:spPr/>
        <p:txBody>
          <a:bodyPr/>
          <a:lstStyle/>
          <a:p>
            <a:fld id="{D9B6BDF2-6896-4B98-8776-C18582F63BA5}" type="slidenum">
              <a:rPr lang="zh-TW" altLang="en-US" smtClean="0"/>
              <a:pPr/>
              <a:t>109</a:t>
            </a:fld>
            <a:endParaRPr lang="zh-TW"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Models</a:t>
            </a:r>
          </a:p>
        </p:txBody>
      </p:sp>
      <p:sp>
        <p:nvSpPr>
          <p:cNvPr id="3" name="Text Placeholder 2"/>
          <p:cNvSpPr>
            <a:spLocks noGrp="1"/>
          </p:cNvSpPr>
          <p:nvPr>
            <p:ph type="body" idx="1"/>
          </p:nvPr>
        </p:nvSpPr>
        <p:spPr/>
        <p:txBody>
          <a:bodyPr/>
          <a:lstStyle/>
          <a:p>
            <a:r>
              <a:rPr lang="en-US" dirty="0"/>
              <a:t>Infrastructure as a Service</a:t>
            </a:r>
          </a:p>
          <a:p>
            <a:r>
              <a:rPr lang="en-US" dirty="0"/>
              <a:t>Platform as a Service</a:t>
            </a:r>
          </a:p>
          <a:p>
            <a:r>
              <a:rPr lang="en-US" dirty="0">
                <a:solidFill>
                  <a:srgbClr val="FF0000"/>
                </a:solidFill>
              </a:rPr>
              <a:t>Software as a Service</a:t>
            </a:r>
          </a:p>
        </p:txBody>
      </p:sp>
      <p:sp>
        <p:nvSpPr>
          <p:cNvPr id="4" name="灯片编号占位符 3">
            <a:extLst>
              <a:ext uri="{FF2B5EF4-FFF2-40B4-BE49-F238E27FC236}">
                <a16:creationId xmlns:a16="http://schemas.microsoft.com/office/drawing/2014/main" id="{659F655F-BFDB-61C4-9A5E-586D9DACA516}"/>
              </a:ext>
            </a:extLst>
          </p:cNvPr>
          <p:cNvSpPr>
            <a:spLocks noGrp="1"/>
          </p:cNvSpPr>
          <p:nvPr>
            <p:ph type="sldNum" sz="quarter" idx="10"/>
          </p:nvPr>
        </p:nvSpPr>
        <p:spPr/>
        <p:txBody>
          <a:bodyPr/>
          <a:lstStyle/>
          <a:p>
            <a:fld id="{D9B6BDF2-6896-4B98-8776-C18582F63BA5}" type="slidenum">
              <a:rPr lang="zh-TW" altLang="en-US" smtClean="0"/>
              <a:pPr/>
              <a:t>110</a:t>
            </a:fld>
            <a:endParaRPr lang="zh-TW"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79474"/>
            <a:ext cx="7770915" cy="519113"/>
          </a:xfrm>
        </p:spPr>
        <p:txBody>
          <a:bodyPr/>
          <a:lstStyle/>
          <a:p>
            <a:r>
              <a:rPr lang="en-US" dirty="0"/>
              <a:t>Software as a Service (1)</a:t>
            </a:r>
          </a:p>
        </p:txBody>
      </p:sp>
      <p:sp>
        <p:nvSpPr>
          <p:cNvPr id="3" name="Content Placeholder 2"/>
          <p:cNvSpPr>
            <a:spLocks noGrp="1"/>
          </p:cNvSpPr>
          <p:nvPr>
            <p:ph idx="1"/>
          </p:nvPr>
        </p:nvSpPr>
        <p:spPr>
          <a:xfrm>
            <a:off x="967622" y="774354"/>
            <a:ext cx="7367855" cy="3759145"/>
          </a:xfrm>
        </p:spPr>
        <p:txBody>
          <a:bodyPr>
            <a:noAutofit/>
          </a:bodyPr>
          <a:lstStyle/>
          <a:p>
            <a:pPr>
              <a:spcBef>
                <a:spcPts val="0"/>
              </a:spcBef>
            </a:pPr>
            <a:r>
              <a:rPr lang="en-US" sz="2000" dirty="0"/>
              <a:t>Software as a Service - </a:t>
            </a:r>
            <a:r>
              <a:rPr lang="en-US" sz="2000" dirty="0" err="1">
                <a:solidFill>
                  <a:srgbClr val="FF0000"/>
                </a:solidFill>
              </a:rPr>
              <a:t>SaaS</a:t>
            </a:r>
            <a:endParaRPr lang="en-US" sz="2000" dirty="0">
              <a:solidFill>
                <a:srgbClr val="FF0000"/>
              </a:solidFill>
            </a:endParaRPr>
          </a:p>
          <a:p>
            <a:pPr lvl="1">
              <a:spcBef>
                <a:spcPts val="0"/>
              </a:spcBef>
            </a:pPr>
            <a:r>
              <a:rPr lang="en-US" sz="1800" dirty="0"/>
              <a:t>The capability provided to the consumer is to use the provider’s applications running on a cloud infrastructure. The applications are accessible from various client devices through a thin client interface such as a web browser (e.g., web-based email).</a:t>
            </a:r>
          </a:p>
          <a:p>
            <a:pPr lvl="1">
              <a:spcBef>
                <a:spcPts val="0"/>
              </a:spcBef>
            </a:pPr>
            <a:r>
              <a:rPr lang="en-US" sz="1800" dirty="0"/>
              <a:t>The consumer does not manage or control the underlying cloud infrastructure including network, servers, operating systems, storage, or even individual application capabilities, with the possible exception of limited user-specific application configuration settings.</a:t>
            </a:r>
          </a:p>
          <a:p>
            <a:pPr>
              <a:spcBef>
                <a:spcPts val="0"/>
              </a:spcBef>
            </a:pPr>
            <a:r>
              <a:rPr lang="en-US" sz="2000" dirty="0"/>
              <a:t>Examples :</a:t>
            </a:r>
          </a:p>
          <a:p>
            <a:pPr lvl="1">
              <a:spcBef>
                <a:spcPts val="0"/>
              </a:spcBef>
            </a:pPr>
            <a:r>
              <a:rPr lang="en-US" sz="1800" dirty="0"/>
              <a:t>Google Apps (e.g., Gmail, Google Docs, Google sites, …etc)</a:t>
            </a:r>
          </a:p>
          <a:p>
            <a:pPr lvl="1">
              <a:spcBef>
                <a:spcPts val="0"/>
              </a:spcBef>
            </a:pPr>
            <a:r>
              <a:rPr lang="en-US" sz="1800" dirty="0"/>
              <a:t>SalesForce.com</a:t>
            </a:r>
          </a:p>
          <a:p>
            <a:pPr lvl="1">
              <a:spcBef>
                <a:spcPts val="0"/>
              </a:spcBef>
            </a:pPr>
            <a:r>
              <a:rPr lang="en-US" sz="1800" dirty="0" err="1"/>
              <a:t>EyeOS</a:t>
            </a:r>
            <a:endParaRPr lang="en-US" sz="1800" dirty="0"/>
          </a:p>
        </p:txBody>
      </p:sp>
      <p:sp>
        <p:nvSpPr>
          <p:cNvPr id="4" name="灯片编号占位符 3">
            <a:extLst>
              <a:ext uri="{FF2B5EF4-FFF2-40B4-BE49-F238E27FC236}">
                <a16:creationId xmlns:a16="http://schemas.microsoft.com/office/drawing/2014/main" id="{27A00DC4-D418-FD9A-C9B2-50D651681099}"/>
              </a:ext>
            </a:extLst>
          </p:cNvPr>
          <p:cNvSpPr>
            <a:spLocks noGrp="1"/>
          </p:cNvSpPr>
          <p:nvPr>
            <p:ph type="sldNum" sz="quarter" idx="10"/>
          </p:nvPr>
        </p:nvSpPr>
        <p:spPr/>
        <p:txBody>
          <a:bodyPr/>
          <a:lstStyle/>
          <a:p>
            <a:fld id="{D9B6BDF2-6896-4B98-8776-C18582F63BA5}" type="slidenum">
              <a:rPr lang="zh-TW" altLang="en-US" smtClean="0"/>
              <a:pPr/>
              <a:t>111</a:t>
            </a:fld>
            <a:endParaRPr lang="zh-TW"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2503053" y="859478"/>
            <a:ext cx="4648034" cy="3696101"/>
          </a:xfrm>
          <a:prstGeom prst="rect">
            <a:avLst/>
          </a:prstGeom>
          <a:noFill/>
          <a:ln w="9525">
            <a:noFill/>
            <a:miter lim="800000"/>
            <a:headEnd/>
            <a:tailEnd/>
          </a:ln>
          <a:effectLst/>
        </p:spPr>
      </p:pic>
      <p:sp>
        <p:nvSpPr>
          <p:cNvPr id="3" name="灯片编号占位符 2">
            <a:extLst>
              <a:ext uri="{FF2B5EF4-FFF2-40B4-BE49-F238E27FC236}">
                <a16:creationId xmlns:a16="http://schemas.microsoft.com/office/drawing/2014/main" id="{F7E8303B-4320-A1AE-B6FF-65FF7237EF9F}"/>
              </a:ext>
            </a:extLst>
          </p:cNvPr>
          <p:cNvSpPr>
            <a:spLocks noGrp="1"/>
          </p:cNvSpPr>
          <p:nvPr>
            <p:ph type="sldNum" sz="quarter" idx="10"/>
          </p:nvPr>
        </p:nvSpPr>
        <p:spPr/>
        <p:txBody>
          <a:bodyPr/>
          <a:lstStyle/>
          <a:p>
            <a:fld id="{D9B6BDF2-6896-4B98-8776-C18582F63BA5}" type="slidenum">
              <a:rPr lang="zh-TW" altLang="en-US" smtClean="0"/>
              <a:pPr/>
              <a:t>112</a:t>
            </a:fld>
            <a:endParaRPr lang="zh-TW" altLang="en-US"/>
          </a:p>
        </p:txBody>
      </p:sp>
      <p:sp>
        <p:nvSpPr>
          <p:cNvPr id="6" name="Title 1">
            <a:extLst>
              <a:ext uri="{FF2B5EF4-FFF2-40B4-BE49-F238E27FC236}">
                <a16:creationId xmlns:a16="http://schemas.microsoft.com/office/drawing/2014/main" id="{48119C97-9DE7-C38B-D789-8FBDD68D8A11}"/>
              </a:ext>
            </a:extLst>
          </p:cNvPr>
          <p:cNvSpPr>
            <a:spLocks noGrp="1"/>
          </p:cNvSpPr>
          <p:nvPr>
            <p:ph type="title"/>
          </p:nvPr>
        </p:nvSpPr>
        <p:spPr>
          <a:xfrm>
            <a:off x="904775" y="79474"/>
            <a:ext cx="7921591" cy="519113"/>
          </a:xfrm>
        </p:spPr>
        <p:txBody>
          <a:bodyPr/>
          <a:lstStyle/>
          <a:p>
            <a:r>
              <a:rPr lang="en-US" dirty="0"/>
              <a:t>Software as a Service (2)</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4775" y="840583"/>
            <a:ext cx="6897704" cy="2665595"/>
          </a:xfrm>
        </p:spPr>
        <p:txBody>
          <a:bodyPr/>
          <a:lstStyle/>
          <a:p>
            <a:pPr>
              <a:spcBef>
                <a:spcPts val="0"/>
              </a:spcBef>
            </a:pPr>
            <a:r>
              <a:rPr lang="en-US" sz="2000" dirty="0"/>
              <a:t>Enabling Technique – </a:t>
            </a:r>
            <a:r>
              <a:rPr lang="en-US" sz="2000" dirty="0">
                <a:solidFill>
                  <a:srgbClr val="FF0000"/>
                </a:solidFill>
              </a:rPr>
              <a:t>Web Service</a:t>
            </a:r>
          </a:p>
          <a:p>
            <a:pPr lvl="1">
              <a:spcBef>
                <a:spcPts val="0"/>
              </a:spcBef>
            </a:pPr>
            <a:r>
              <a:rPr lang="en-US" sz="2000" dirty="0"/>
              <a:t>Web 2.0 is the trend of using the full potential of the web</a:t>
            </a:r>
          </a:p>
          <a:p>
            <a:pPr lvl="2">
              <a:spcBef>
                <a:spcPts val="0"/>
              </a:spcBef>
            </a:pPr>
            <a:r>
              <a:rPr lang="en-US" dirty="0">
                <a:latin typeface="Times New Roman" panose="02020603050405020304" pitchFamily="18" charset="0"/>
                <a:cs typeface="Times New Roman" panose="02020603050405020304" pitchFamily="18" charset="0"/>
              </a:rPr>
              <a:t>Viewing the Internet as a computing platform</a:t>
            </a:r>
          </a:p>
          <a:p>
            <a:pPr lvl="2">
              <a:spcBef>
                <a:spcPts val="0"/>
              </a:spcBef>
            </a:pPr>
            <a:r>
              <a:rPr lang="en-US" dirty="0">
                <a:latin typeface="Times New Roman" panose="02020603050405020304" pitchFamily="18" charset="0"/>
                <a:cs typeface="Times New Roman" panose="02020603050405020304" pitchFamily="18" charset="0"/>
              </a:rPr>
              <a:t>Running interactive applications through a web browser</a:t>
            </a:r>
          </a:p>
          <a:p>
            <a:pPr lvl="2">
              <a:spcBef>
                <a:spcPts val="0"/>
              </a:spcBef>
            </a:pPr>
            <a:r>
              <a:rPr lang="en-US" dirty="0">
                <a:latin typeface="Times New Roman" panose="02020603050405020304" pitchFamily="18" charset="0"/>
                <a:cs typeface="Times New Roman" panose="02020603050405020304" pitchFamily="18" charset="0"/>
              </a:rPr>
              <a:t>Leveraging interconnectivity and mobility of devices</a:t>
            </a:r>
          </a:p>
          <a:p>
            <a:pPr lvl="2">
              <a:spcBef>
                <a:spcPts val="0"/>
              </a:spcBef>
            </a:pPr>
            <a:r>
              <a:rPr lang="en-US" dirty="0">
                <a:latin typeface="Times New Roman" panose="02020603050405020304" pitchFamily="18" charset="0"/>
                <a:cs typeface="Times New Roman" panose="02020603050405020304" pitchFamily="18" charset="0"/>
              </a:rPr>
              <a:t>Enhanced effectiveness with greater human participation</a:t>
            </a:r>
          </a:p>
          <a:p>
            <a:pPr>
              <a:spcBef>
                <a:spcPts val="0"/>
              </a:spcBef>
            </a:pPr>
            <a:r>
              <a:rPr lang="en-US" sz="2000" dirty="0"/>
              <a:t>Properties provided by Internet :</a:t>
            </a:r>
          </a:p>
          <a:p>
            <a:pPr lvl="1">
              <a:spcBef>
                <a:spcPts val="0"/>
              </a:spcBef>
            </a:pPr>
            <a:r>
              <a:rPr lang="en-US" sz="2000" dirty="0"/>
              <a:t>Accessibility and Portability</a:t>
            </a:r>
          </a:p>
        </p:txBody>
      </p:sp>
      <p:pic>
        <p:nvPicPr>
          <p:cNvPr id="7170" name="Picture 2"/>
          <p:cNvPicPr>
            <a:picLocks noChangeAspect="1" noChangeArrowheads="1"/>
          </p:cNvPicPr>
          <p:nvPr/>
        </p:nvPicPr>
        <p:blipFill>
          <a:blip r:embed="rId2" cstate="print"/>
          <a:srcRect/>
          <a:stretch>
            <a:fillRect/>
          </a:stretch>
        </p:blipFill>
        <p:spPr bwMode="auto">
          <a:xfrm>
            <a:off x="6560669" y="2887578"/>
            <a:ext cx="2191702" cy="1645067"/>
          </a:xfrm>
          <a:prstGeom prst="rect">
            <a:avLst/>
          </a:prstGeom>
          <a:noFill/>
          <a:ln w="9525">
            <a:noFill/>
            <a:miter lim="800000"/>
            <a:headEnd/>
            <a:tailEnd/>
          </a:ln>
          <a:effectLst/>
        </p:spPr>
      </p:pic>
      <p:sp>
        <p:nvSpPr>
          <p:cNvPr id="4" name="灯片编号占位符 3">
            <a:extLst>
              <a:ext uri="{FF2B5EF4-FFF2-40B4-BE49-F238E27FC236}">
                <a16:creationId xmlns:a16="http://schemas.microsoft.com/office/drawing/2014/main" id="{77190A06-0BBF-BDA4-061A-04DA8E911045}"/>
              </a:ext>
            </a:extLst>
          </p:cNvPr>
          <p:cNvSpPr>
            <a:spLocks noGrp="1"/>
          </p:cNvSpPr>
          <p:nvPr>
            <p:ph type="sldNum" sz="quarter" idx="10"/>
          </p:nvPr>
        </p:nvSpPr>
        <p:spPr/>
        <p:txBody>
          <a:bodyPr/>
          <a:lstStyle/>
          <a:p>
            <a:fld id="{D9B6BDF2-6896-4B98-8776-C18582F63BA5}" type="slidenum">
              <a:rPr lang="zh-TW" altLang="en-US" smtClean="0"/>
              <a:pPr/>
              <a:t>113</a:t>
            </a:fld>
            <a:endParaRPr lang="zh-TW" altLang="en-US"/>
          </a:p>
        </p:txBody>
      </p:sp>
      <p:sp>
        <p:nvSpPr>
          <p:cNvPr id="7" name="Title 1">
            <a:extLst>
              <a:ext uri="{FF2B5EF4-FFF2-40B4-BE49-F238E27FC236}">
                <a16:creationId xmlns:a16="http://schemas.microsoft.com/office/drawing/2014/main" id="{64900236-ABF1-6689-D04B-1712283003AA}"/>
              </a:ext>
            </a:extLst>
          </p:cNvPr>
          <p:cNvSpPr>
            <a:spLocks noGrp="1"/>
          </p:cNvSpPr>
          <p:nvPr>
            <p:ph type="title"/>
          </p:nvPr>
        </p:nvSpPr>
        <p:spPr>
          <a:xfrm>
            <a:off x="904775" y="79474"/>
            <a:ext cx="7770915" cy="519113"/>
          </a:xfrm>
        </p:spPr>
        <p:txBody>
          <a:bodyPr/>
          <a:lstStyle/>
          <a:p>
            <a:r>
              <a:rPr lang="en-US" dirty="0"/>
              <a:t>Software as a Service (3)</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4775" y="866643"/>
            <a:ext cx="7507707" cy="3410213"/>
          </a:xfrm>
        </p:spPr>
        <p:txBody>
          <a:bodyPr/>
          <a:lstStyle/>
          <a:p>
            <a:pPr>
              <a:spcBef>
                <a:spcPts val="0"/>
              </a:spcBef>
            </a:pPr>
            <a:r>
              <a:rPr lang="en-US" sz="2000" dirty="0"/>
              <a:t>Provide service – </a:t>
            </a:r>
            <a:r>
              <a:rPr lang="en-US" sz="2000" dirty="0">
                <a:solidFill>
                  <a:srgbClr val="FF0000"/>
                </a:solidFill>
              </a:rPr>
              <a:t>Web-based Applications</a:t>
            </a:r>
          </a:p>
          <a:p>
            <a:pPr lvl="1">
              <a:spcBef>
                <a:spcPts val="0"/>
              </a:spcBef>
            </a:pPr>
            <a:r>
              <a:rPr lang="en-US" sz="1800" dirty="0"/>
              <a:t>Conventional applications should translate their access interface onto web-based platform.</a:t>
            </a:r>
          </a:p>
          <a:p>
            <a:pPr lvl="1">
              <a:spcBef>
                <a:spcPts val="0"/>
              </a:spcBef>
            </a:pPr>
            <a:r>
              <a:rPr lang="en-US" sz="1800" dirty="0"/>
              <a:t>Applications in different domains</a:t>
            </a:r>
          </a:p>
          <a:p>
            <a:pPr lvl="2">
              <a:spcBef>
                <a:spcPts val="0"/>
              </a:spcBef>
            </a:pPr>
            <a:r>
              <a:rPr lang="en-US" sz="1600" dirty="0"/>
              <a:t>General Applications – Applications which are designed for general propose, such as </a:t>
            </a:r>
            <a:r>
              <a:rPr lang="en-US" sz="1600" dirty="0">
                <a:solidFill>
                  <a:srgbClr val="FF0000"/>
                </a:solidFill>
              </a:rPr>
              <a:t>office suit</a:t>
            </a:r>
            <a:r>
              <a:rPr lang="en-US" sz="1600" dirty="0"/>
              <a:t>, </a:t>
            </a:r>
            <a:r>
              <a:rPr lang="en-US" sz="1600" dirty="0">
                <a:solidFill>
                  <a:srgbClr val="FF0000"/>
                </a:solidFill>
              </a:rPr>
              <a:t>multimedia</a:t>
            </a:r>
            <a:r>
              <a:rPr lang="en-US" sz="1600" dirty="0"/>
              <a:t> and </a:t>
            </a:r>
            <a:r>
              <a:rPr lang="en-US" sz="1600" dirty="0">
                <a:solidFill>
                  <a:srgbClr val="FF0000"/>
                </a:solidFill>
              </a:rPr>
              <a:t>instant message</a:t>
            </a:r>
            <a:r>
              <a:rPr lang="en-US" sz="1600" dirty="0"/>
              <a:t>, …etc.</a:t>
            </a:r>
          </a:p>
          <a:p>
            <a:pPr lvl="2">
              <a:spcBef>
                <a:spcPts val="0"/>
              </a:spcBef>
            </a:pPr>
            <a:r>
              <a:rPr lang="en-US" sz="1600" dirty="0"/>
              <a:t>Business Applications – Application which are designed for business propose, such as </a:t>
            </a:r>
            <a:r>
              <a:rPr lang="en-US" sz="1600" dirty="0">
                <a:solidFill>
                  <a:srgbClr val="FF0000"/>
                </a:solidFill>
              </a:rPr>
              <a:t>ERP</a:t>
            </a:r>
            <a:r>
              <a:rPr lang="en-US" sz="1600" dirty="0"/>
              <a:t>, </a:t>
            </a:r>
            <a:r>
              <a:rPr lang="en-US" sz="1600" dirty="0">
                <a:solidFill>
                  <a:srgbClr val="FF0000"/>
                </a:solidFill>
              </a:rPr>
              <a:t>CRM</a:t>
            </a:r>
            <a:r>
              <a:rPr lang="en-US" sz="1600" dirty="0"/>
              <a:t> and </a:t>
            </a:r>
            <a:r>
              <a:rPr lang="en-US" sz="1600" dirty="0">
                <a:solidFill>
                  <a:srgbClr val="FF0000"/>
                </a:solidFill>
              </a:rPr>
              <a:t>market trading system</a:t>
            </a:r>
            <a:r>
              <a:rPr lang="en-US" sz="1600" dirty="0"/>
              <a:t>, …etc.</a:t>
            </a:r>
          </a:p>
          <a:p>
            <a:pPr lvl="2">
              <a:spcBef>
                <a:spcPts val="0"/>
              </a:spcBef>
            </a:pPr>
            <a:r>
              <a:rPr lang="en-US" sz="1600" dirty="0"/>
              <a:t>Scientific Applications – Application which are designed for scientific propose, such as </a:t>
            </a:r>
            <a:r>
              <a:rPr lang="en-US" sz="1600" dirty="0">
                <a:solidFill>
                  <a:srgbClr val="FF0000"/>
                </a:solidFill>
              </a:rPr>
              <a:t>aerospace simulation </a:t>
            </a:r>
            <a:r>
              <a:rPr lang="en-US" sz="1600" dirty="0"/>
              <a:t>and </a:t>
            </a:r>
            <a:r>
              <a:rPr lang="en-US" sz="1600" dirty="0">
                <a:solidFill>
                  <a:srgbClr val="FF0000"/>
                </a:solidFill>
              </a:rPr>
              <a:t>biochemistry simulation</a:t>
            </a:r>
            <a:r>
              <a:rPr lang="en-US" sz="1600" dirty="0"/>
              <a:t>, …etc.</a:t>
            </a:r>
          </a:p>
          <a:p>
            <a:pPr lvl="2">
              <a:spcBef>
                <a:spcPts val="0"/>
              </a:spcBef>
            </a:pPr>
            <a:r>
              <a:rPr lang="en-US" sz="1600" dirty="0"/>
              <a:t>Government Applications – Applications which are designed for government propose, such as </a:t>
            </a:r>
            <a:r>
              <a:rPr lang="en-US" sz="1600" dirty="0">
                <a:solidFill>
                  <a:srgbClr val="FF0000"/>
                </a:solidFill>
              </a:rPr>
              <a:t>national medical system </a:t>
            </a:r>
            <a:r>
              <a:rPr lang="en-US" sz="1600" dirty="0"/>
              <a:t>and </a:t>
            </a:r>
            <a:r>
              <a:rPr lang="en-US" sz="1600" dirty="0">
                <a:solidFill>
                  <a:srgbClr val="FF0000"/>
                </a:solidFill>
              </a:rPr>
              <a:t>public transportation system service</a:t>
            </a:r>
            <a:r>
              <a:rPr lang="en-US" sz="1600" dirty="0"/>
              <a:t>, …etc.</a:t>
            </a:r>
          </a:p>
        </p:txBody>
      </p:sp>
      <p:sp>
        <p:nvSpPr>
          <p:cNvPr id="4" name="灯片编号占位符 3">
            <a:extLst>
              <a:ext uri="{FF2B5EF4-FFF2-40B4-BE49-F238E27FC236}">
                <a16:creationId xmlns:a16="http://schemas.microsoft.com/office/drawing/2014/main" id="{AEDCE666-F99D-5DE5-712F-330B4E3CCD3D}"/>
              </a:ext>
            </a:extLst>
          </p:cNvPr>
          <p:cNvSpPr>
            <a:spLocks noGrp="1"/>
          </p:cNvSpPr>
          <p:nvPr>
            <p:ph type="sldNum" sz="quarter" idx="10"/>
          </p:nvPr>
        </p:nvSpPr>
        <p:spPr/>
        <p:txBody>
          <a:bodyPr/>
          <a:lstStyle/>
          <a:p>
            <a:fld id="{D9B6BDF2-6896-4B98-8776-C18582F63BA5}" type="slidenum">
              <a:rPr lang="zh-TW" altLang="en-US" smtClean="0"/>
              <a:pPr/>
              <a:t>114</a:t>
            </a:fld>
            <a:endParaRPr lang="zh-TW" altLang="en-US"/>
          </a:p>
        </p:txBody>
      </p:sp>
      <p:sp>
        <p:nvSpPr>
          <p:cNvPr id="7" name="Title 1">
            <a:extLst>
              <a:ext uri="{FF2B5EF4-FFF2-40B4-BE49-F238E27FC236}">
                <a16:creationId xmlns:a16="http://schemas.microsoft.com/office/drawing/2014/main" id="{C4E7497B-5CD8-4594-E5EF-2E24AC95DDDA}"/>
              </a:ext>
            </a:extLst>
          </p:cNvPr>
          <p:cNvSpPr>
            <a:spLocks noGrp="1"/>
          </p:cNvSpPr>
          <p:nvPr>
            <p:ph type="title"/>
          </p:nvPr>
        </p:nvSpPr>
        <p:spPr>
          <a:xfrm>
            <a:off x="904775" y="79474"/>
            <a:ext cx="7770915" cy="519113"/>
          </a:xfrm>
        </p:spPr>
        <p:txBody>
          <a:bodyPr/>
          <a:lstStyle/>
          <a:p>
            <a:r>
              <a:rPr lang="en-US" dirty="0"/>
              <a:t>Software as a Service (4)</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0278" y="844152"/>
            <a:ext cx="7401827" cy="3698972"/>
          </a:xfrm>
        </p:spPr>
        <p:txBody>
          <a:bodyPr/>
          <a:lstStyle/>
          <a:p>
            <a:pPr>
              <a:spcBef>
                <a:spcPts val="0"/>
              </a:spcBef>
            </a:pPr>
            <a:r>
              <a:rPr lang="en-US" sz="2000" dirty="0"/>
              <a:t>Provide service – </a:t>
            </a:r>
            <a:r>
              <a:rPr lang="en-US" sz="2000" dirty="0">
                <a:solidFill>
                  <a:srgbClr val="FF0000"/>
                </a:solidFill>
              </a:rPr>
              <a:t>Web Portal</a:t>
            </a:r>
          </a:p>
          <a:p>
            <a:pPr lvl="1">
              <a:spcBef>
                <a:spcPts val="0"/>
              </a:spcBef>
            </a:pPr>
            <a:r>
              <a:rPr lang="en-US" sz="1800" dirty="0"/>
              <a:t>Apart from the standard search engine feature, web portals offer other services such as e-mail, news, stock prices, information, databases and entertainment.</a:t>
            </a:r>
          </a:p>
          <a:p>
            <a:pPr lvl="1">
              <a:spcBef>
                <a:spcPts val="0"/>
              </a:spcBef>
            </a:pPr>
            <a:r>
              <a:rPr lang="en-US" sz="1800" dirty="0"/>
              <a:t>Portals provide a way for enterprises to provide a consistent look and feel with access control and procedures for multiple applications and databases, which otherwise would have been different entities altogether.</a:t>
            </a:r>
          </a:p>
          <a:p>
            <a:pPr lvl="1">
              <a:spcBef>
                <a:spcPts val="0"/>
              </a:spcBef>
            </a:pPr>
            <a:r>
              <a:rPr lang="en-US" sz="1800" dirty="0"/>
              <a:t>Some examples :</a:t>
            </a:r>
          </a:p>
          <a:p>
            <a:pPr lvl="2">
              <a:spcBef>
                <a:spcPts val="0"/>
              </a:spcBef>
            </a:pPr>
            <a:r>
              <a:rPr lang="en-US" sz="1800" dirty="0" err="1">
                <a:latin typeface="Times New Roman" panose="02020603050405020304" pitchFamily="18" charset="0"/>
                <a:cs typeface="Times New Roman" panose="02020603050405020304" pitchFamily="18" charset="0"/>
              </a:rPr>
              <a:t>iGoogle</a:t>
            </a:r>
            <a:endParaRPr lang="en-US" sz="1800" dirty="0">
              <a:latin typeface="Times New Roman" panose="02020603050405020304" pitchFamily="18" charset="0"/>
              <a:cs typeface="Times New Roman" panose="02020603050405020304" pitchFamily="18" charset="0"/>
            </a:endParaRPr>
          </a:p>
          <a:p>
            <a:pPr lvl="2">
              <a:spcBef>
                <a:spcPts val="0"/>
              </a:spcBef>
            </a:pPr>
            <a:r>
              <a:rPr lang="en-US" sz="1800" dirty="0">
                <a:latin typeface="Times New Roman" panose="02020603050405020304" pitchFamily="18" charset="0"/>
                <a:cs typeface="Times New Roman" panose="02020603050405020304" pitchFamily="18" charset="0"/>
              </a:rPr>
              <a:t>MSNBC</a:t>
            </a:r>
          </a:p>
          <a:p>
            <a:pPr lvl="2">
              <a:spcBef>
                <a:spcPts val="0"/>
              </a:spcBef>
            </a:pPr>
            <a:r>
              <a:rPr lang="en-US" sz="1800" dirty="0" err="1">
                <a:latin typeface="Times New Roman" panose="02020603050405020304" pitchFamily="18" charset="0"/>
                <a:cs typeface="Times New Roman" panose="02020603050405020304" pitchFamily="18" charset="0"/>
              </a:rPr>
              <a:t>Netvibes</a:t>
            </a:r>
            <a:endParaRPr lang="en-US" sz="1800" dirty="0">
              <a:latin typeface="Times New Roman" panose="02020603050405020304" pitchFamily="18" charset="0"/>
              <a:cs typeface="Times New Roman" panose="02020603050405020304" pitchFamily="18" charset="0"/>
            </a:endParaRPr>
          </a:p>
          <a:p>
            <a:pPr lvl="2">
              <a:spcBef>
                <a:spcPts val="0"/>
              </a:spcBef>
            </a:pPr>
            <a:r>
              <a:rPr lang="en-US" sz="1800" dirty="0">
                <a:latin typeface="Times New Roman" panose="02020603050405020304" pitchFamily="18" charset="0"/>
                <a:cs typeface="Times New Roman" panose="02020603050405020304" pitchFamily="18" charset="0"/>
              </a:rPr>
              <a:t>Yahoo!</a:t>
            </a:r>
          </a:p>
        </p:txBody>
      </p:sp>
      <p:sp>
        <p:nvSpPr>
          <p:cNvPr id="4" name="灯片编号占位符 3">
            <a:extLst>
              <a:ext uri="{FF2B5EF4-FFF2-40B4-BE49-F238E27FC236}">
                <a16:creationId xmlns:a16="http://schemas.microsoft.com/office/drawing/2014/main" id="{21945588-300A-DF37-A8CD-1D0B37BE5F98}"/>
              </a:ext>
            </a:extLst>
          </p:cNvPr>
          <p:cNvSpPr>
            <a:spLocks noGrp="1"/>
          </p:cNvSpPr>
          <p:nvPr>
            <p:ph type="sldNum" sz="quarter" idx="10"/>
          </p:nvPr>
        </p:nvSpPr>
        <p:spPr/>
        <p:txBody>
          <a:bodyPr/>
          <a:lstStyle/>
          <a:p>
            <a:fld id="{D9B6BDF2-6896-4B98-8776-C18582F63BA5}" type="slidenum">
              <a:rPr lang="zh-TW" altLang="en-US" smtClean="0"/>
              <a:pPr/>
              <a:t>115</a:t>
            </a:fld>
            <a:endParaRPr lang="zh-TW" altLang="en-US"/>
          </a:p>
        </p:txBody>
      </p:sp>
      <p:sp>
        <p:nvSpPr>
          <p:cNvPr id="7" name="Title 1">
            <a:extLst>
              <a:ext uri="{FF2B5EF4-FFF2-40B4-BE49-F238E27FC236}">
                <a16:creationId xmlns:a16="http://schemas.microsoft.com/office/drawing/2014/main" id="{2CD9608F-4A54-B013-1286-9A0DBDC5006A}"/>
              </a:ext>
            </a:extLst>
          </p:cNvPr>
          <p:cNvSpPr>
            <a:spLocks noGrp="1"/>
          </p:cNvSpPr>
          <p:nvPr>
            <p:ph type="title"/>
          </p:nvPr>
        </p:nvSpPr>
        <p:spPr>
          <a:xfrm>
            <a:off x="914400" y="107950"/>
            <a:ext cx="7761288" cy="519113"/>
          </a:xfrm>
        </p:spPr>
        <p:txBody>
          <a:bodyPr/>
          <a:lstStyle/>
          <a:p>
            <a:r>
              <a:rPr lang="en-US" dirty="0"/>
              <a:t>Software as a Service (5)</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79474"/>
            <a:ext cx="7722789" cy="519113"/>
          </a:xfrm>
        </p:spPr>
        <p:txBody>
          <a:bodyPr/>
          <a:lstStyle/>
          <a:p>
            <a:r>
              <a:rPr lang="en-US" dirty="0" err="1"/>
              <a:t>SaaS</a:t>
            </a:r>
            <a:r>
              <a:rPr lang="en-US" dirty="0"/>
              <a:t> - Summary</a:t>
            </a:r>
          </a:p>
        </p:txBody>
      </p:sp>
      <p:sp>
        <p:nvSpPr>
          <p:cNvPr id="3" name="Content Placeholder 2"/>
          <p:cNvSpPr>
            <a:spLocks noGrp="1"/>
          </p:cNvSpPr>
          <p:nvPr>
            <p:ph idx="1"/>
          </p:nvPr>
        </p:nvSpPr>
        <p:spPr>
          <a:xfrm>
            <a:off x="952900" y="844153"/>
            <a:ext cx="7733899" cy="3294710"/>
          </a:xfrm>
        </p:spPr>
        <p:txBody>
          <a:bodyPr>
            <a:noAutofit/>
          </a:bodyPr>
          <a:lstStyle/>
          <a:p>
            <a:pPr>
              <a:spcBef>
                <a:spcPts val="0"/>
              </a:spcBef>
            </a:pPr>
            <a:r>
              <a:rPr lang="en-US" sz="2000" dirty="0"/>
              <a:t>SaaS is the finished applications that you rent and customize.</a:t>
            </a:r>
          </a:p>
          <a:p>
            <a:pPr>
              <a:spcBef>
                <a:spcPts val="600"/>
              </a:spcBef>
            </a:pPr>
            <a:r>
              <a:rPr lang="en-US" sz="2000" dirty="0" err="1"/>
              <a:t>SaaS</a:t>
            </a:r>
            <a:r>
              <a:rPr lang="en-US" sz="2000" dirty="0"/>
              <a:t> enabling technique</a:t>
            </a:r>
          </a:p>
          <a:p>
            <a:pPr lvl="1">
              <a:spcBef>
                <a:spcPts val="0"/>
              </a:spcBef>
            </a:pPr>
            <a:r>
              <a:rPr lang="en-US" sz="2000" dirty="0"/>
              <a:t>Web Service</a:t>
            </a:r>
          </a:p>
          <a:p>
            <a:pPr>
              <a:spcBef>
                <a:spcPts val="600"/>
              </a:spcBef>
            </a:pPr>
            <a:r>
              <a:rPr lang="en-US" sz="2000" dirty="0" err="1"/>
              <a:t>SaaS</a:t>
            </a:r>
            <a:r>
              <a:rPr lang="en-US" sz="2000" dirty="0"/>
              <a:t> provide services</a:t>
            </a:r>
          </a:p>
          <a:p>
            <a:pPr lvl="1">
              <a:spcBef>
                <a:spcPts val="0"/>
              </a:spcBef>
            </a:pPr>
            <a:r>
              <a:rPr lang="en-US" sz="2000" dirty="0"/>
              <a:t>Web-based Applications</a:t>
            </a:r>
          </a:p>
          <a:p>
            <a:pPr lvl="2">
              <a:spcBef>
                <a:spcPts val="0"/>
              </a:spcBef>
            </a:pPr>
            <a:r>
              <a:rPr lang="en-US" dirty="0">
                <a:latin typeface="Times New Roman" panose="02020603050405020304" pitchFamily="18" charset="0"/>
                <a:cs typeface="Times New Roman" panose="02020603050405020304" pitchFamily="18" charset="0"/>
              </a:rPr>
              <a:t>General applications</a:t>
            </a:r>
          </a:p>
          <a:p>
            <a:pPr lvl="2">
              <a:spcBef>
                <a:spcPts val="0"/>
              </a:spcBef>
            </a:pPr>
            <a:r>
              <a:rPr lang="en-US" dirty="0">
                <a:latin typeface="Times New Roman" panose="02020603050405020304" pitchFamily="18" charset="0"/>
                <a:cs typeface="Times New Roman" panose="02020603050405020304" pitchFamily="18" charset="0"/>
              </a:rPr>
              <a:t>Business applications</a:t>
            </a:r>
          </a:p>
          <a:p>
            <a:pPr lvl="2">
              <a:spcBef>
                <a:spcPts val="0"/>
              </a:spcBef>
            </a:pPr>
            <a:r>
              <a:rPr lang="en-US" dirty="0">
                <a:latin typeface="Times New Roman" panose="02020603050405020304" pitchFamily="18" charset="0"/>
                <a:cs typeface="Times New Roman" panose="02020603050405020304" pitchFamily="18" charset="0"/>
              </a:rPr>
              <a:t>Scientific applications</a:t>
            </a:r>
          </a:p>
          <a:p>
            <a:pPr lvl="2">
              <a:spcBef>
                <a:spcPts val="0"/>
              </a:spcBef>
            </a:pPr>
            <a:r>
              <a:rPr lang="en-US" dirty="0">
                <a:latin typeface="Times New Roman" panose="02020603050405020304" pitchFamily="18" charset="0"/>
                <a:cs typeface="Times New Roman" panose="02020603050405020304" pitchFamily="18" charset="0"/>
              </a:rPr>
              <a:t>Government applications</a:t>
            </a:r>
          </a:p>
          <a:p>
            <a:pPr lvl="1">
              <a:spcBef>
                <a:spcPts val="0"/>
              </a:spcBef>
            </a:pPr>
            <a:r>
              <a:rPr lang="en-US" sz="2000" dirty="0"/>
              <a:t>Web Portal</a:t>
            </a:r>
          </a:p>
        </p:txBody>
      </p:sp>
      <p:sp>
        <p:nvSpPr>
          <p:cNvPr id="4" name="灯片编号占位符 3">
            <a:extLst>
              <a:ext uri="{FF2B5EF4-FFF2-40B4-BE49-F238E27FC236}">
                <a16:creationId xmlns:a16="http://schemas.microsoft.com/office/drawing/2014/main" id="{1E6218DF-D4F7-216D-B3B8-F293A77FB697}"/>
              </a:ext>
            </a:extLst>
          </p:cNvPr>
          <p:cNvSpPr>
            <a:spLocks noGrp="1"/>
          </p:cNvSpPr>
          <p:nvPr>
            <p:ph type="sldNum" sz="quarter" idx="10"/>
          </p:nvPr>
        </p:nvSpPr>
        <p:spPr/>
        <p:txBody>
          <a:bodyPr/>
          <a:lstStyle/>
          <a:p>
            <a:fld id="{D9B6BDF2-6896-4B98-8776-C18582F63BA5}" type="slidenum">
              <a:rPr lang="zh-TW" altLang="en-US" smtClean="0"/>
              <a:pPr/>
              <a:t>116</a:t>
            </a:fld>
            <a:endParaRPr lang="zh-TW"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models</a:t>
            </a:r>
          </a:p>
        </p:txBody>
      </p:sp>
      <p:sp>
        <p:nvSpPr>
          <p:cNvPr id="3" name="Text Placeholder 2"/>
          <p:cNvSpPr>
            <a:spLocks noGrp="1"/>
          </p:cNvSpPr>
          <p:nvPr>
            <p:ph type="body" idx="1"/>
          </p:nvPr>
        </p:nvSpPr>
        <p:spPr/>
        <p:txBody>
          <a:bodyPr/>
          <a:lstStyle/>
          <a:p>
            <a:r>
              <a:rPr lang="en-US" dirty="0">
                <a:solidFill>
                  <a:srgbClr val="C00000"/>
                </a:solidFill>
              </a:rPr>
              <a:t>How to deploy a cloud system ?</a:t>
            </a:r>
          </a:p>
        </p:txBody>
      </p:sp>
      <p:pic>
        <p:nvPicPr>
          <p:cNvPr id="4" name="Picture 6" descr="C:\Users\Andy\AppData\Local\Microsoft\Windows\Temporary Internet Files\Content.IE5\OHTRCXWF\MPj04308910000[1].jpg"/>
          <p:cNvPicPr>
            <a:picLocks noChangeAspect="1" noChangeArrowheads="1"/>
          </p:cNvPicPr>
          <p:nvPr/>
        </p:nvPicPr>
        <p:blipFill>
          <a:blip r:embed="rId2" cstate="print"/>
          <a:srcRect/>
          <a:stretch>
            <a:fillRect/>
          </a:stretch>
        </p:blipFill>
        <p:spPr bwMode="auto">
          <a:xfrm>
            <a:off x="6393369" y="1069183"/>
            <a:ext cx="2389082" cy="32575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灯片编号占位符 4">
            <a:extLst>
              <a:ext uri="{FF2B5EF4-FFF2-40B4-BE49-F238E27FC236}">
                <a16:creationId xmlns:a16="http://schemas.microsoft.com/office/drawing/2014/main" id="{498210FB-3A56-A998-B081-D2B3D3D54F3B}"/>
              </a:ext>
            </a:extLst>
          </p:cNvPr>
          <p:cNvSpPr>
            <a:spLocks noGrp="1"/>
          </p:cNvSpPr>
          <p:nvPr>
            <p:ph type="sldNum" sz="quarter" idx="10"/>
          </p:nvPr>
        </p:nvSpPr>
        <p:spPr/>
        <p:txBody>
          <a:bodyPr/>
          <a:lstStyle/>
          <a:p>
            <a:fld id="{D9B6BDF2-6896-4B98-8776-C18582F63BA5}" type="slidenum">
              <a:rPr lang="zh-TW" altLang="en-US" smtClean="0"/>
              <a:pPr/>
              <a:t>117</a:t>
            </a:fld>
            <a:endParaRPr lang="zh-TW"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024" y="79474"/>
            <a:ext cx="7751665" cy="519113"/>
          </a:xfrm>
        </p:spPr>
        <p:txBody>
          <a:bodyPr/>
          <a:lstStyle/>
          <a:p>
            <a:r>
              <a:rPr lang="en-US" dirty="0"/>
              <a:t>Deployment Model</a:t>
            </a:r>
          </a:p>
        </p:txBody>
      </p:sp>
      <p:sp>
        <p:nvSpPr>
          <p:cNvPr id="3" name="Content Placeholder 2"/>
          <p:cNvSpPr>
            <a:spLocks noGrp="1"/>
          </p:cNvSpPr>
          <p:nvPr>
            <p:ph idx="1"/>
          </p:nvPr>
        </p:nvSpPr>
        <p:spPr>
          <a:xfrm>
            <a:off x="924024" y="844153"/>
            <a:ext cx="7372953" cy="3304335"/>
          </a:xfrm>
        </p:spPr>
        <p:txBody>
          <a:bodyPr/>
          <a:lstStyle/>
          <a:p>
            <a:r>
              <a:rPr lang="en-US" sz="2000" dirty="0"/>
              <a:t>There are four primary cloud deployment models :</a:t>
            </a:r>
          </a:p>
          <a:p>
            <a:pPr lvl="1"/>
            <a:r>
              <a:rPr lang="en-US" sz="2000" dirty="0"/>
              <a:t>Public Cloud</a:t>
            </a:r>
          </a:p>
          <a:p>
            <a:pPr lvl="1"/>
            <a:r>
              <a:rPr lang="en-US" sz="2000" dirty="0"/>
              <a:t>Private Cloud</a:t>
            </a:r>
          </a:p>
          <a:p>
            <a:pPr lvl="1"/>
            <a:r>
              <a:rPr lang="en-US" sz="2000" dirty="0"/>
              <a:t>Community Cloud</a:t>
            </a:r>
          </a:p>
          <a:p>
            <a:pPr lvl="1"/>
            <a:r>
              <a:rPr lang="en-US" sz="2000" dirty="0"/>
              <a:t>Hybrid Cloud</a:t>
            </a:r>
            <a:br>
              <a:rPr lang="en-US" sz="2000" dirty="0"/>
            </a:br>
            <a:endParaRPr lang="en-US" sz="2000" dirty="0"/>
          </a:p>
          <a:p>
            <a:r>
              <a:rPr lang="en-US" sz="2000" dirty="0"/>
              <a:t>Each can exhibit the previously discussed characteristics; their differences lie primarily in the scope and access of published cloud services, as they are made available to service consumers.</a:t>
            </a:r>
          </a:p>
        </p:txBody>
      </p:sp>
      <p:sp>
        <p:nvSpPr>
          <p:cNvPr id="4" name="灯片编号占位符 3">
            <a:extLst>
              <a:ext uri="{FF2B5EF4-FFF2-40B4-BE49-F238E27FC236}">
                <a16:creationId xmlns:a16="http://schemas.microsoft.com/office/drawing/2014/main" id="{F8FFD6B8-83A6-EAD0-EDB0-F9473A5C8D2F}"/>
              </a:ext>
            </a:extLst>
          </p:cNvPr>
          <p:cNvSpPr>
            <a:spLocks noGrp="1"/>
          </p:cNvSpPr>
          <p:nvPr>
            <p:ph type="sldNum" sz="quarter" idx="10"/>
          </p:nvPr>
        </p:nvSpPr>
        <p:spPr/>
        <p:txBody>
          <a:bodyPr/>
          <a:lstStyle/>
          <a:p>
            <a:fld id="{D9B6BDF2-6896-4B98-8776-C18582F63BA5}" type="slidenum">
              <a:rPr lang="zh-TW" altLang="en-US" smtClean="0"/>
              <a:pPr/>
              <a:t>118</a:t>
            </a:fld>
            <a:endParaRPr lang="zh-TW"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775" y="79474"/>
            <a:ext cx="7770915" cy="519113"/>
          </a:xfrm>
        </p:spPr>
        <p:txBody>
          <a:bodyPr/>
          <a:lstStyle/>
          <a:p>
            <a:r>
              <a:rPr lang="en-US" dirty="0"/>
              <a:t>Public Cloud</a:t>
            </a:r>
          </a:p>
        </p:txBody>
      </p:sp>
      <p:sp>
        <p:nvSpPr>
          <p:cNvPr id="3" name="Content Placeholder 2"/>
          <p:cNvSpPr>
            <a:spLocks noGrp="1"/>
          </p:cNvSpPr>
          <p:nvPr>
            <p:ph idx="1"/>
          </p:nvPr>
        </p:nvSpPr>
        <p:spPr>
          <a:xfrm>
            <a:off x="977106" y="826389"/>
            <a:ext cx="7688959" cy="3394472"/>
          </a:xfrm>
        </p:spPr>
        <p:txBody>
          <a:bodyPr/>
          <a:lstStyle/>
          <a:p>
            <a:pPr>
              <a:spcBef>
                <a:spcPts val="0"/>
              </a:spcBef>
            </a:pPr>
            <a:r>
              <a:rPr lang="en-US" sz="2000" dirty="0"/>
              <a:t>Public cloud definition</a:t>
            </a:r>
          </a:p>
          <a:p>
            <a:pPr lvl="1">
              <a:spcBef>
                <a:spcPts val="0"/>
              </a:spcBef>
            </a:pPr>
            <a:r>
              <a:rPr lang="en-US" sz="1800" dirty="0"/>
              <a:t>The cloud infrastructure is made available to the general public or a large industry group and is owned by an organization selling cloud services.</a:t>
            </a:r>
          </a:p>
          <a:p>
            <a:pPr lvl="1">
              <a:spcBef>
                <a:spcPts val="0"/>
              </a:spcBef>
            </a:pPr>
            <a:r>
              <a:rPr lang="en-US" sz="1800" dirty="0"/>
              <a:t>Also known as external cloud or multi-tenant cloud, this model essentially represents a cloud environment that is openly accessible.</a:t>
            </a:r>
          </a:p>
          <a:p>
            <a:pPr lvl="1">
              <a:spcBef>
                <a:spcPts val="0"/>
              </a:spcBef>
            </a:pPr>
            <a:r>
              <a:rPr lang="en-US" sz="1800" dirty="0"/>
              <a:t>Basic characteristics :</a:t>
            </a:r>
          </a:p>
          <a:p>
            <a:pPr lvl="2">
              <a:spcBef>
                <a:spcPts val="0"/>
              </a:spcBef>
            </a:pPr>
            <a:r>
              <a:rPr lang="en-US" sz="1800" dirty="0">
                <a:latin typeface="Times New Roman" panose="02020603050405020304" pitchFamily="18" charset="0"/>
                <a:cs typeface="Times New Roman" panose="02020603050405020304" pitchFamily="18" charset="0"/>
              </a:rPr>
              <a:t>Homogeneous infrastructure</a:t>
            </a:r>
          </a:p>
          <a:p>
            <a:pPr lvl="2">
              <a:spcBef>
                <a:spcPts val="0"/>
              </a:spcBef>
            </a:pPr>
            <a:r>
              <a:rPr lang="en-US" sz="1800" dirty="0">
                <a:latin typeface="Times New Roman" panose="02020603050405020304" pitchFamily="18" charset="0"/>
                <a:cs typeface="Times New Roman" panose="02020603050405020304" pitchFamily="18" charset="0"/>
              </a:rPr>
              <a:t>Common policies</a:t>
            </a:r>
          </a:p>
          <a:p>
            <a:pPr lvl="2">
              <a:spcBef>
                <a:spcPts val="0"/>
              </a:spcBef>
            </a:pPr>
            <a:r>
              <a:rPr lang="en-US" sz="1800" dirty="0">
                <a:latin typeface="Times New Roman" panose="02020603050405020304" pitchFamily="18" charset="0"/>
                <a:cs typeface="Times New Roman" panose="02020603050405020304" pitchFamily="18" charset="0"/>
              </a:rPr>
              <a:t>Shared resources and multi-tenant</a:t>
            </a:r>
          </a:p>
          <a:p>
            <a:pPr lvl="2">
              <a:spcBef>
                <a:spcPts val="0"/>
              </a:spcBef>
            </a:pPr>
            <a:r>
              <a:rPr lang="en-US" sz="1800" dirty="0">
                <a:latin typeface="Times New Roman" panose="02020603050405020304" pitchFamily="18" charset="0"/>
                <a:cs typeface="Times New Roman" panose="02020603050405020304" pitchFamily="18" charset="0"/>
              </a:rPr>
              <a:t>Leased or rented infrastructure</a:t>
            </a:r>
          </a:p>
          <a:p>
            <a:pPr lvl="2">
              <a:spcBef>
                <a:spcPts val="0"/>
              </a:spcBef>
            </a:pPr>
            <a:r>
              <a:rPr lang="en-US" sz="1800" dirty="0">
                <a:latin typeface="Times New Roman" panose="02020603050405020304" pitchFamily="18" charset="0"/>
                <a:cs typeface="Times New Roman" panose="02020603050405020304" pitchFamily="18" charset="0"/>
              </a:rPr>
              <a:t>Economies of scale</a:t>
            </a:r>
          </a:p>
        </p:txBody>
      </p:sp>
      <p:pic>
        <p:nvPicPr>
          <p:cNvPr id="1026" name="Picture 2"/>
          <p:cNvPicPr>
            <a:picLocks noChangeAspect="1" noChangeArrowheads="1"/>
          </p:cNvPicPr>
          <p:nvPr/>
        </p:nvPicPr>
        <p:blipFill>
          <a:blip r:embed="rId2" cstate="print"/>
          <a:srcRect/>
          <a:stretch>
            <a:fillRect/>
          </a:stretch>
        </p:blipFill>
        <p:spPr bwMode="auto">
          <a:xfrm>
            <a:off x="6757999" y="2276963"/>
            <a:ext cx="2279627" cy="2171700"/>
          </a:xfrm>
          <a:prstGeom prst="rect">
            <a:avLst/>
          </a:prstGeom>
          <a:noFill/>
          <a:ln w="9525">
            <a:noFill/>
            <a:miter lim="800000"/>
            <a:headEnd/>
            <a:tailEnd/>
          </a:ln>
        </p:spPr>
      </p:pic>
      <p:sp>
        <p:nvSpPr>
          <p:cNvPr id="4" name="灯片编号占位符 3">
            <a:extLst>
              <a:ext uri="{FF2B5EF4-FFF2-40B4-BE49-F238E27FC236}">
                <a16:creationId xmlns:a16="http://schemas.microsoft.com/office/drawing/2014/main" id="{1733836F-5E60-DCCF-3EB8-634F7EE7FA60}"/>
              </a:ext>
            </a:extLst>
          </p:cNvPr>
          <p:cNvSpPr>
            <a:spLocks noGrp="1"/>
          </p:cNvSpPr>
          <p:nvPr>
            <p:ph type="sldNum" sz="quarter" idx="10"/>
          </p:nvPr>
        </p:nvSpPr>
        <p:spPr/>
        <p:txBody>
          <a:bodyPr/>
          <a:lstStyle/>
          <a:p>
            <a:fld id="{D9B6BDF2-6896-4B98-8776-C18582F63BA5}" type="slidenum">
              <a:rPr lang="zh-TW" altLang="en-US" smtClean="0"/>
              <a:pPr/>
              <a:t>119</a:t>
            </a:fld>
            <a:endParaRPr lang="zh-TW"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9474"/>
            <a:ext cx="7761290" cy="519113"/>
          </a:xfrm>
        </p:spPr>
        <p:txBody>
          <a:bodyPr/>
          <a:lstStyle/>
          <a:p>
            <a:r>
              <a:rPr lang="en-US" dirty="0"/>
              <a:t>Private Cloud</a:t>
            </a:r>
          </a:p>
        </p:txBody>
      </p:sp>
      <p:sp>
        <p:nvSpPr>
          <p:cNvPr id="3" name="Content Placeholder 2"/>
          <p:cNvSpPr>
            <a:spLocks noGrp="1"/>
          </p:cNvSpPr>
          <p:nvPr>
            <p:ph idx="1"/>
          </p:nvPr>
        </p:nvSpPr>
        <p:spPr>
          <a:xfrm>
            <a:off x="976964" y="834333"/>
            <a:ext cx="7190072" cy="3600450"/>
          </a:xfrm>
        </p:spPr>
        <p:txBody>
          <a:bodyPr>
            <a:noAutofit/>
          </a:bodyPr>
          <a:lstStyle/>
          <a:p>
            <a:r>
              <a:rPr lang="en-US" sz="2000" dirty="0"/>
              <a:t>Private cloud definition</a:t>
            </a:r>
          </a:p>
          <a:p>
            <a:pPr lvl="1">
              <a:spcBef>
                <a:spcPts val="0"/>
              </a:spcBef>
            </a:pPr>
            <a:r>
              <a:rPr lang="en-US" sz="1800" dirty="0"/>
              <a:t>The cloud infrastructure is operated solely for an organization. It may be managed by the organization or a third party and may exist on premise or off premise.</a:t>
            </a:r>
          </a:p>
          <a:p>
            <a:pPr lvl="1">
              <a:spcBef>
                <a:spcPts val="0"/>
              </a:spcBef>
            </a:pPr>
            <a:r>
              <a:rPr lang="en-US" sz="1800" dirty="0"/>
              <a:t>Also referred to as internal cloud or on-premise cloud, a private cloud intentionally limits access to its resources to service consumers that belong to the same organization that owns the cloud.</a:t>
            </a:r>
          </a:p>
          <a:p>
            <a:pPr lvl="1">
              <a:spcBef>
                <a:spcPts val="0"/>
              </a:spcBef>
            </a:pPr>
            <a:r>
              <a:rPr lang="en-US" sz="1800" dirty="0"/>
              <a:t>Basic characteristics :</a:t>
            </a:r>
          </a:p>
          <a:p>
            <a:pPr lvl="2">
              <a:spcBef>
                <a:spcPts val="0"/>
              </a:spcBef>
            </a:pPr>
            <a:r>
              <a:rPr lang="en-US" sz="1800" dirty="0"/>
              <a:t>Heterogeneous infrastructure</a:t>
            </a:r>
          </a:p>
          <a:p>
            <a:pPr lvl="2">
              <a:spcBef>
                <a:spcPts val="0"/>
              </a:spcBef>
            </a:pPr>
            <a:r>
              <a:rPr lang="en-US" sz="1800" dirty="0"/>
              <a:t>Customized and tailored policies</a:t>
            </a:r>
          </a:p>
          <a:p>
            <a:pPr lvl="2">
              <a:spcBef>
                <a:spcPts val="0"/>
              </a:spcBef>
            </a:pPr>
            <a:r>
              <a:rPr lang="en-US" sz="1800" dirty="0"/>
              <a:t>Dedicated resources</a:t>
            </a:r>
          </a:p>
          <a:p>
            <a:pPr lvl="2">
              <a:spcBef>
                <a:spcPts val="0"/>
              </a:spcBef>
            </a:pPr>
            <a:r>
              <a:rPr lang="en-US" sz="1800" dirty="0"/>
              <a:t>In-house infrastructure</a:t>
            </a:r>
          </a:p>
          <a:p>
            <a:pPr lvl="2">
              <a:spcBef>
                <a:spcPts val="0"/>
              </a:spcBef>
            </a:pPr>
            <a:r>
              <a:rPr lang="en-US" sz="1800" dirty="0"/>
              <a:t>End-to-end control </a:t>
            </a:r>
          </a:p>
        </p:txBody>
      </p:sp>
      <p:pic>
        <p:nvPicPr>
          <p:cNvPr id="2050" name="Picture 2"/>
          <p:cNvPicPr>
            <a:picLocks noChangeAspect="1" noChangeArrowheads="1"/>
          </p:cNvPicPr>
          <p:nvPr/>
        </p:nvPicPr>
        <p:blipFill>
          <a:blip r:embed="rId2" cstate="print"/>
          <a:srcRect/>
          <a:stretch>
            <a:fillRect/>
          </a:stretch>
        </p:blipFill>
        <p:spPr bwMode="auto">
          <a:xfrm>
            <a:off x="7064944" y="2634558"/>
            <a:ext cx="1992248" cy="1842887"/>
          </a:xfrm>
          <a:prstGeom prst="rect">
            <a:avLst/>
          </a:prstGeom>
          <a:noFill/>
          <a:ln w="9525">
            <a:noFill/>
            <a:miter lim="800000"/>
            <a:headEnd/>
            <a:tailEnd/>
          </a:ln>
        </p:spPr>
      </p:pic>
      <p:sp>
        <p:nvSpPr>
          <p:cNvPr id="4" name="灯片编号占位符 3">
            <a:extLst>
              <a:ext uri="{FF2B5EF4-FFF2-40B4-BE49-F238E27FC236}">
                <a16:creationId xmlns:a16="http://schemas.microsoft.com/office/drawing/2014/main" id="{E37EAB26-9A7E-8725-C061-121BAEDCEFBF}"/>
              </a:ext>
            </a:extLst>
          </p:cNvPr>
          <p:cNvSpPr>
            <a:spLocks noGrp="1"/>
          </p:cNvSpPr>
          <p:nvPr>
            <p:ph type="sldNum" sz="quarter" idx="10"/>
          </p:nvPr>
        </p:nvSpPr>
        <p:spPr/>
        <p:txBody>
          <a:bodyPr/>
          <a:lstStyle/>
          <a:p>
            <a:fld id="{D9B6BDF2-6896-4B98-8776-C18582F63BA5}" type="slidenum">
              <a:rPr lang="zh-TW" altLang="en-US" smtClean="0"/>
              <a:pPr/>
              <a:t>120</a:t>
            </a:fld>
            <a:endParaRPr lang="zh-TW"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79474"/>
            <a:ext cx="7722789" cy="519113"/>
          </a:xfrm>
        </p:spPr>
        <p:txBody>
          <a:bodyPr/>
          <a:lstStyle/>
          <a:p>
            <a:r>
              <a:rPr lang="en-US" dirty="0"/>
              <a:t>Public vs. Private</a:t>
            </a:r>
          </a:p>
        </p:txBody>
      </p:sp>
      <p:sp>
        <p:nvSpPr>
          <p:cNvPr id="3" name="Content Placeholder 2"/>
          <p:cNvSpPr>
            <a:spLocks noGrp="1"/>
          </p:cNvSpPr>
          <p:nvPr>
            <p:ph idx="1"/>
          </p:nvPr>
        </p:nvSpPr>
        <p:spPr>
          <a:xfrm>
            <a:off x="1085850" y="855819"/>
            <a:ext cx="6172200" cy="457200"/>
          </a:xfrm>
        </p:spPr>
        <p:txBody>
          <a:bodyPr/>
          <a:lstStyle/>
          <a:p>
            <a:r>
              <a:rPr lang="en-US" sz="2400" dirty="0"/>
              <a:t>Comparison </a:t>
            </a:r>
          </a:p>
        </p:txBody>
      </p:sp>
      <p:graphicFrame>
        <p:nvGraphicFramePr>
          <p:cNvPr id="5" name="Table 4"/>
          <p:cNvGraphicFramePr>
            <a:graphicFrameLocks noGrp="1"/>
          </p:cNvGraphicFramePr>
          <p:nvPr>
            <p:extLst>
              <p:ext uri="{D42A27DB-BD31-4B8C-83A1-F6EECF244321}">
                <p14:modId xmlns:p14="http://schemas.microsoft.com/office/powerpoint/2010/main" val="2007203778"/>
              </p:ext>
            </p:extLst>
          </p:nvPr>
        </p:nvGraphicFramePr>
        <p:xfrm>
          <a:off x="1652095" y="1443789"/>
          <a:ext cx="6324399" cy="2979256"/>
        </p:xfrm>
        <a:graphic>
          <a:graphicData uri="http://schemas.openxmlformats.org/drawingml/2006/table">
            <a:tbl>
              <a:tblPr firstRow="1" bandRow="1">
                <a:tableStyleId>{7DF18680-E054-41AD-8BC1-D1AEF772440D}</a:tableStyleId>
              </a:tblPr>
              <a:tblGrid>
                <a:gridCol w="1547459">
                  <a:extLst>
                    <a:ext uri="{9D8B030D-6E8A-4147-A177-3AD203B41FA5}">
                      <a16:colId xmlns:a16="http://schemas.microsoft.com/office/drawing/2014/main" val="20000"/>
                    </a:ext>
                  </a:extLst>
                </a:gridCol>
                <a:gridCol w="2354829">
                  <a:extLst>
                    <a:ext uri="{9D8B030D-6E8A-4147-A177-3AD203B41FA5}">
                      <a16:colId xmlns:a16="http://schemas.microsoft.com/office/drawing/2014/main" val="20001"/>
                    </a:ext>
                  </a:extLst>
                </a:gridCol>
                <a:gridCol w="2422111">
                  <a:extLst>
                    <a:ext uri="{9D8B030D-6E8A-4147-A177-3AD203B41FA5}">
                      <a16:colId xmlns:a16="http://schemas.microsoft.com/office/drawing/2014/main" val="20002"/>
                    </a:ext>
                  </a:extLst>
                </a:gridCol>
              </a:tblGrid>
              <a:tr h="367732">
                <a:tc>
                  <a:txBody>
                    <a:bodyPr/>
                    <a:lstStyle/>
                    <a:p>
                      <a:pPr algn="ctr"/>
                      <a:endParaRPr lang="en-US" sz="1600" b="0" i="0" dirty="0"/>
                    </a:p>
                  </a:txBody>
                  <a:tcPr marL="68580" marR="68580" marT="34290" marB="34290"/>
                </a:tc>
                <a:tc>
                  <a:txBody>
                    <a:bodyPr/>
                    <a:lstStyle/>
                    <a:p>
                      <a:pPr algn="ctr"/>
                      <a:r>
                        <a:rPr lang="en-US" sz="1600" b="0" i="0" dirty="0"/>
                        <a:t>Public Cloud</a:t>
                      </a:r>
                    </a:p>
                  </a:txBody>
                  <a:tcPr marL="68580" marR="68580" marT="34290" marB="34290"/>
                </a:tc>
                <a:tc>
                  <a:txBody>
                    <a:bodyPr/>
                    <a:lstStyle/>
                    <a:p>
                      <a:pPr algn="ctr"/>
                      <a:r>
                        <a:rPr lang="en-US" sz="1600" b="0" i="0" dirty="0"/>
                        <a:t>Private Cloud</a:t>
                      </a:r>
                    </a:p>
                  </a:txBody>
                  <a:tcPr marL="68580" marR="68580" marT="34290" marB="34290"/>
                </a:tc>
                <a:extLst>
                  <a:ext uri="{0D108BD9-81ED-4DB2-BD59-A6C34878D82A}">
                    <a16:rowId xmlns:a16="http://schemas.microsoft.com/office/drawing/2014/main" val="10000"/>
                  </a:ext>
                </a:extLst>
              </a:tr>
              <a:tr h="372769">
                <a:tc>
                  <a:txBody>
                    <a:bodyPr/>
                    <a:lstStyle/>
                    <a:p>
                      <a:pPr algn="ctr"/>
                      <a:r>
                        <a:rPr lang="en-US" sz="1600" b="0" i="0" dirty="0"/>
                        <a:t>Infrastructure</a:t>
                      </a:r>
                    </a:p>
                  </a:txBody>
                  <a:tcPr marL="68580" marR="68580" marT="34290" marB="34290" anchor="ctr"/>
                </a:tc>
                <a:tc>
                  <a:txBody>
                    <a:bodyPr/>
                    <a:lstStyle/>
                    <a:p>
                      <a:pPr algn="ctr"/>
                      <a:r>
                        <a:rPr lang="en-US" sz="1600" b="0" i="0" kern="1200" dirty="0">
                          <a:solidFill>
                            <a:schemeClr val="tx1"/>
                          </a:solidFill>
                          <a:latin typeface="+mn-lt"/>
                          <a:ea typeface="+mn-ea"/>
                          <a:cs typeface="+mn-cs"/>
                        </a:rPr>
                        <a:t>Homogeneous </a:t>
                      </a:r>
                    </a:p>
                  </a:txBody>
                  <a:tcPr marL="68580" marR="68580" marT="34290" marB="34290" anchor="ctr"/>
                </a:tc>
                <a:tc>
                  <a:txBody>
                    <a:bodyPr/>
                    <a:lstStyle/>
                    <a:p>
                      <a:pPr algn="ctr"/>
                      <a:r>
                        <a:rPr lang="en-US" sz="1600" b="0" i="0" kern="1200" dirty="0">
                          <a:solidFill>
                            <a:schemeClr val="tx1"/>
                          </a:solidFill>
                          <a:latin typeface="+mn-lt"/>
                          <a:ea typeface="+mn-ea"/>
                          <a:cs typeface="+mn-cs"/>
                        </a:rPr>
                        <a:t>Heterogeneous</a:t>
                      </a:r>
                    </a:p>
                  </a:txBody>
                  <a:tcPr marL="68580" marR="68580" marT="34290" marB="34290" anchor="ctr"/>
                </a:tc>
                <a:extLst>
                  <a:ext uri="{0D108BD9-81ED-4DB2-BD59-A6C34878D82A}">
                    <a16:rowId xmlns:a16="http://schemas.microsoft.com/office/drawing/2014/main" val="10001"/>
                  </a:ext>
                </a:extLst>
              </a:tr>
              <a:tr h="372769">
                <a:tc>
                  <a:txBody>
                    <a:bodyPr/>
                    <a:lstStyle/>
                    <a:p>
                      <a:pPr algn="ctr"/>
                      <a:r>
                        <a:rPr lang="en-US" sz="1600" b="0" i="0" dirty="0"/>
                        <a:t>Policy Model</a:t>
                      </a:r>
                    </a:p>
                  </a:txBody>
                  <a:tcPr marL="68580" marR="68580"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latin typeface="+mn-lt"/>
                          <a:ea typeface="+mn-ea"/>
                          <a:cs typeface="+mn-cs"/>
                        </a:rPr>
                        <a:t>Common defined</a:t>
                      </a:r>
                    </a:p>
                  </a:txBody>
                  <a:tcPr marL="68580" marR="68580"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latin typeface="+mn-lt"/>
                          <a:ea typeface="+mn-ea"/>
                          <a:cs typeface="+mn-cs"/>
                        </a:rPr>
                        <a:t>Customized &amp; Tailored </a:t>
                      </a:r>
                    </a:p>
                  </a:txBody>
                  <a:tcPr marL="68580" marR="68580" marT="34290" marB="34290" anchor="ctr"/>
                </a:tc>
                <a:extLst>
                  <a:ext uri="{0D108BD9-81ED-4DB2-BD59-A6C34878D82A}">
                    <a16:rowId xmlns:a16="http://schemas.microsoft.com/office/drawing/2014/main" val="10002"/>
                  </a:ext>
                </a:extLst>
              </a:tr>
              <a:tr h="372769">
                <a:tc>
                  <a:txBody>
                    <a:bodyPr/>
                    <a:lstStyle/>
                    <a:p>
                      <a:pPr algn="ctr"/>
                      <a:r>
                        <a:rPr lang="en-US" sz="1600" b="0" i="0" dirty="0"/>
                        <a:t>Resource Model</a:t>
                      </a:r>
                    </a:p>
                  </a:txBody>
                  <a:tcPr marL="68580" marR="68580" marT="34290" marB="34290" anchor="ctr"/>
                </a:tc>
                <a:tc>
                  <a:txBody>
                    <a:bodyPr/>
                    <a:lstStyle/>
                    <a:p>
                      <a:pPr algn="ctr"/>
                      <a:r>
                        <a:rPr lang="en-US" sz="1600" b="0" i="0" kern="1200" dirty="0">
                          <a:solidFill>
                            <a:schemeClr val="tx1"/>
                          </a:solidFill>
                          <a:latin typeface="+mn-lt"/>
                          <a:ea typeface="+mn-ea"/>
                          <a:cs typeface="+mn-cs"/>
                        </a:rPr>
                        <a:t>Shared &amp; Multi-tenant</a:t>
                      </a:r>
                    </a:p>
                  </a:txBody>
                  <a:tcPr marL="68580" marR="68580" marT="34290" marB="34290" anchor="ctr"/>
                </a:tc>
                <a:tc>
                  <a:txBody>
                    <a:bodyPr/>
                    <a:lstStyle/>
                    <a:p>
                      <a:pPr algn="ctr"/>
                      <a:r>
                        <a:rPr lang="en-US" sz="1600" b="0" i="0" kern="1200" dirty="0">
                          <a:solidFill>
                            <a:schemeClr val="tx1"/>
                          </a:solidFill>
                          <a:latin typeface="+mn-lt"/>
                          <a:ea typeface="+mn-ea"/>
                          <a:cs typeface="+mn-cs"/>
                        </a:rPr>
                        <a:t>Dedicated</a:t>
                      </a:r>
                    </a:p>
                  </a:txBody>
                  <a:tcPr marL="68580" marR="68580" marT="34290" marB="34290" anchor="ctr"/>
                </a:tc>
                <a:extLst>
                  <a:ext uri="{0D108BD9-81ED-4DB2-BD59-A6C34878D82A}">
                    <a16:rowId xmlns:a16="http://schemas.microsoft.com/office/drawing/2014/main" val="10003"/>
                  </a:ext>
                </a:extLst>
              </a:tr>
              <a:tr h="654863">
                <a:tc>
                  <a:txBody>
                    <a:bodyPr/>
                    <a:lstStyle/>
                    <a:p>
                      <a:pPr algn="ctr"/>
                      <a:r>
                        <a:rPr lang="en-US" sz="1600" b="0" i="0" dirty="0"/>
                        <a:t>Cost Model</a:t>
                      </a:r>
                    </a:p>
                  </a:txBody>
                  <a:tcPr marL="68580" marR="68580" marT="34290" marB="34290" anchor="ctr"/>
                </a:tc>
                <a:tc>
                  <a:txBody>
                    <a:bodyPr/>
                    <a:lstStyle/>
                    <a:p>
                      <a:pPr algn="ctr"/>
                      <a:r>
                        <a:rPr lang="en-US" sz="1600" b="0" i="0" kern="1200" dirty="0">
                          <a:solidFill>
                            <a:schemeClr val="tx1"/>
                          </a:solidFill>
                          <a:latin typeface="+mn-lt"/>
                          <a:ea typeface="+mn-ea"/>
                          <a:cs typeface="+mn-cs"/>
                        </a:rPr>
                        <a:t>Operational</a:t>
                      </a:r>
                      <a:r>
                        <a:rPr lang="en-US" sz="1600" b="0" i="0" kern="1200" baseline="0" dirty="0">
                          <a:solidFill>
                            <a:schemeClr val="tx1"/>
                          </a:solidFill>
                          <a:latin typeface="+mn-lt"/>
                          <a:ea typeface="+mn-ea"/>
                          <a:cs typeface="+mn-cs"/>
                        </a:rPr>
                        <a:t> expenditure</a:t>
                      </a:r>
                      <a:endParaRPr lang="en-US" sz="1600" b="0" i="0" kern="1200" dirty="0">
                        <a:solidFill>
                          <a:schemeClr val="tx1"/>
                        </a:solidFill>
                        <a:latin typeface="+mn-lt"/>
                        <a:ea typeface="+mn-ea"/>
                        <a:cs typeface="+mn-cs"/>
                      </a:endParaRPr>
                    </a:p>
                  </a:txBody>
                  <a:tcPr marL="68580" marR="68580" marT="34290" marB="34290" anchor="ctr"/>
                </a:tc>
                <a:tc>
                  <a:txBody>
                    <a:bodyPr/>
                    <a:lstStyle/>
                    <a:p>
                      <a:pPr algn="ctr"/>
                      <a:r>
                        <a:rPr lang="en-US" sz="1600" b="0" i="0" kern="1200" dirty="0">
                          <a:solidFill>
                            <a:schemeClr val="tx1"/>
                          </a:solidFill>
                          <a:latin typeface="+mn-lt"/>
                          <a:ea typeface="+mn-ea"/>
                          <a:cs typeface="+mn-cs"/>
                        </a:rPr>
                        <a:t>Capital</a:t>
                      </a:r>
                      <a:r>
                        <a:rPr lang="en-US" sz="1600" b="0" i="0" kern="1200" baseline="0" dirty="0">
                          <a:solidFill>
                            <a:schemeClr val="tx1"/>
                          </a:solidFill>
                          <a:latin typeface="+mn-lt"/>
                          <a:ea typeface="+mn-ea"/>
                          <a:cs typeface="+mn-cs"/>
                        </a:rPr>
                        <a:t> expenditure</a:t>
                      </a:r>
                      <a:endParaRPr lang="en-US" sz="1600" b="0" i="0" kern="1200" dirty="0">
                        <a:solidFill>
                          <a:schemeClr val="tx1"/>
                        </a:solidFill>
                        <a:latin typeface="+mn-lt"/>
                        <a:ea typeface="+mn-ea"/>
                        <a:cs typeface="+mn-cs"/>
                      </a:endParaRPr>
                    </a:p>
                  </a:txBody>
                  <a:tcPr marL="68580" marR="68580" marT="34290" marB="34290" anchor="ctr"/>
                </a:tc>
                <a:extLst>
                  <a:ext uri="{0D108BD9-81ED-4DB2-BD59-A6C34878D82A}">
                    <a16:rowId xmlns:a16="http://schemas.microsoft.com/office/drawing/2014/main" val="10004"/>
                  </a:ext>
                </a:extLst>
              </a:tr>
              <a:tr h="654863">
                <a:tc>
                  <a:txBody>
                    <a:bodyPr/>
                    <a:lstStyle/>
                    <a:p>
                      <a:pPr algn="ctr"/>
                      <a:r>
                        <a:rPr lang="en-US" sz="1600" b="0" i="0" dirty="0"/>
                        <a:t>Economy</a:t>
                      </a:r>
                      <a:r>
                        <a:rPr lang="en-US" sz="1600" b="0" i="0" baseline="0" dirty="0"/>
                        <a:t> Model</a:t>
                      </a:r>
                      <a:endParaRPr lang="en-US" sz="1600" b="0" i="0" dirty="0"/>
                    </a:p>
                  </a:txBody>
                  <a:tcPr marL="68580" marR="68580" marT="34290" marB="34290" anchor="ctr"/>
                </a:tc>
                <a:tc>
                  <a:txBody>
                    <a:bodyPr/>
                    <a:lstStyle/>
                    <a:p>
                      <a:pPr algn="ctr"/>
                      <a:r>
                        <a:rPr lang="en-US" sz="1600" b="0" i="0" kern="1200" dirty="0">
                          <a:solidFill>
                            <a:schemeClr val="tx1"/>
                          </a:solidFill>
                          <a:latin typeface="+mn-lt"/>
                          <a:ea typeface="+mn-ea"/>
                          <a:cs typeface="+mn-cs"/>
                        </a:rPr>
                        <a:t>Large</a:t>
                      </a:r>
                      <a:r>
                        <a:rPr lang="en-US" sz="1600" b="0" i="0" kern="1200" baseline="0" dirty="0">
                          <a:solidFill>
                            <a:schemeClr val="tx1"/>
                          </a:solidFill>
                          <a:latin typeface="+mn-lt"/>
                          <a:ea typeface="+mn-ea"/>
                          <a:cs typeface="+mn-cs"/>
                        </a:rPr>
                        <a:t> economy of scale</a:t>
                      </a:r>
                      <a:endParaRPr lang="en-US" sz="1600" b="0" i="0" kern="1200" dirty="0">
                        <a:solidFill>
                          <a:schemeClr val="tx1"/>
                        </a:solidFill>
                        <a:latin typeface="+mn-lt"/>
                        <a:ea typeface="+mn-ea"/>
                        <a:cs typeface="+mn-cs"/>
                      </a:endParaRPr>
                    </a:p>
                  </a:txBody>
                  <a:tcPr marL="68580" marR="68580" marT="34290" marB="34290" anchor="ctr"/>
                </a:tc>
                <a:tc>
                  <a:txBody>
                    <a:bodyPr/>
                    <a:lstStyle/>
                    <a:p>
                      <a:pPr algn="ctr"/>
                      <a:r>
                        <a:rPr lang="en-US" sz="1600" b="0" i="0" kern="1200" dirty="0">
                          <a:solidFill>
                            <a:schemeClr val="tx1"/>
                          </a:solidFill>
                          <a:latin typeface="+mn-lt"/>
                          <a:ea typeface="+mn-ea"/>
                          <a:cs typeface="+mn-cs"/>
                        </a:rPr>
                        <a:t>End-to-end</a:t>
                      </a:r>
                      <a:r>
                        <a:rPr lang="en-US" sz="1600" b="0" i="0" kern="1200" baseline="0" dirty="0">
                          <a:solidFill>
                            <a:schemeClr val="tx1"/>
                          </a:solidFill>
                          <a:latin typeface="+mn-lt"/>
                          <a:ea typeface="+mn-ea"/>
                          <a:cs typeface="+mn-cs"/>
                        </a:rPr>
                        <a:t> control</a:t>
                      </a:r>
                      <a:endParaRPr lang="en-US" sz="1600" b="0" i="0" kern="1200" dirty="0">
                        <a:solidFill>
                          <a:schemeClr val="tx1"/>
                        </a:solidFill>
                        <a:latin typeface="+mn-lt"/>
                        <a:ea typeface="+mn-ea"/>
                        <a:cs typeface="+mn-cs"/>
                      </a:endParaRPr>
                    </a:p>
                  </a:txBody>
                  <a:tcPr marL="68580" marR="68580" marT="34290" marB="34290" anchor="ctr"/>
                </a:tc>
                <a:extLst>
                  <a:ext uri="{0D108BD9-81ED-4DB2-BD59-A6C34878D82A}">
                    <a16:rowId xmlns:a16="http://schemas.microsoft.com/office/drawing/2014/main" val="10005"/>
                  </a:ext>
                </a:extLst>
              </a:tr>
            </a:tbl>
          </a:graphicData>
        </a:graphic>
      </p:graphicFrame>
      <p:sp>
        <p:nvSpPr>
          <p:cNvPr id="4" name="灯片编号占位符 3">
            <a:extLst>
              <a:ext uri="{FF2B5EF4-FFF2-40B4-BE49-F238E27FC236}">
                <a16:creationId xmlns:a16="http://schemas.microsoft.com/office/drawing/2014/main" id="{72E0CEE0-94C0-D34B-3896-4DA205BCEC2D}"/>
              </a:ext>
            </a:extLst>
          </p:cNvPr>
          <p:cNvSpPr>
            <a:spLocks noGrp="1"/>
          </p:cNvSpPr>
          <p:nvPr>
            <p:ph type="sldNum" sz="quarter" idx="10"/>
          </p:nvPr>
        </p:nvSpPr>
        <p:spPr/>
        <p:txBody>
          <a:bodyPr/>
          <a:lstStyle/>
          <a:p>
            <a:fld id="{D9B6BDF2-6896-4B98-8776-C18582F63BA5}" type="slidenum">
              <a:rPr lang="zh-TW" altLang="en-US" smtClean="0"/>
              <a:pPr/>
              <a:t>121</a:t>
            </a:fld>
            <a:endParaRPr lang="zh-TW"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276" y="79474"/>
            <a:ext cx="7732414" cy="519113"/>
          </a:xfrm>
        </p:spPr>
        <p:txBody>
          <a:bodyPr>
            <a:noAutofit/>
          </a:bodyPr>
          <a:lstStyle/>
          <a:p>
            <a:r>
              <a:rPr lang="en-US" dirty="0"/>
              <a:t>Community Cloud</a:t>
            </a:r>
          </a:p>
        </p:txBody>
      </p:sp>
      <p:sp>
        <p:nvSpPr>
          <p:cNvPr id="3" name="Content Placeholder 2"/>
          <p:cNvSpPr>
            <a:spLocks noGrp="1"/>
          </p:cNvSpPr>
          <p:nvPr>
            <p:ph idx="1"/>
          </p:nvPr>
        </p:nvSpPr>
        <p:spPr>
          <a:xfrm>
            <a:off x="943276" y="844152"/>
            <a:ext cx="7743524" cy="1727597"/>
          </a:xfrm>
        </p:spPr>
        <p:txBody>
          <a:bodyPr/>
          <a:lstStyle/>
          <a:p>
            <a:pPr>
              <a:spcBef>
                <a:spcPts val="600"/>
              </a:spcBef>
            </a:pPr>
            <a:r>
              <a:rPr lang="en-US" sz="2000" dirty="0"/>
              <a:t>Community cloud definition</a:t>
            </a:r>
          </a:p>
          <a:p>
            <a:pPr lvl="1">
              <a:spcBef>
                <a:spcPts val="600"/>
              </a:spcBef>
            </a:pPr>
            <a:r>
              <a:rPr lang="en-US" sz="2000" dirty="0"/>
              <a:t>The cloud infrastructure is shared by several organizations and supports a specific community that has shared concerns (e.g., mission, security requirements, policy, and compliance considerations). </a:t>
            </a:r>
          </a:p>
        </p:txBody>
      </p:sp>
      <p:pic>
        <p:nvPicPr>
          <p:cNvPr id="10244" name="Picture 4" descr="[14.PNG]"/>
          <p:cNvPicPr>
            <a:picLocks noChangeAspect="1" noChangeArrowheads="1"/>
          </p:cNvPicPr>
          <p:nvPr/>
        </p:nvPicPr>
        <p:blipFill>
          <a:blip r:embed="rId2" cstate="print"/>
          <a:srcRect/>
          <a:stretch>
            <a:fillRect/>
          </a:stretch>
        </p:blipFill>
        <p:spPr bwMode="auto">
          <a:xfrm>
            <a:off x="5820118" y="2318533"/>
            <a:ext cx="3144495" cy="2171700"/>
          </a:xfrm>
          <a:prstGeom prst="rect">
            <a:avLst/>
          </a:prstGeom>
          <a:noFill/>
        </p:spPr>
      </p:pic>
      <p:sp>
        <p:nvSpPr>
          <p:cNvPr id="4" name="灯片编号占位符 3">
            <a:extLst>
              <a:ext uri="{FF2B5EF4-FFF2-40B4-BE49-F238E27FC236}">
                <a16:creationId xmlns:a16="http://schemas.microsoft.com/office/drawing/2014/main" id="{D3F646A9-D53A-2DDD-FB06-13FE5FA1AA2C}"/>
              </a:ext>
            </a:extLst>
          </p:cNvPr>
          <p:cNvSpPr>
            <a:spLocks noGrp="1"/>
          </p:cNvSpPr>
          <p:nvPr>
            <p:ph type="sldNum" sz="quarter" idx="10"/>
          </p:nvPr>
        </p:nvSpPr>
        <p:spPr/>
        <p:txBody>
          <a:bodyPr/>
          <a:lstStyle/>
          <a:p>
            <a:fld id="{D9B6BDF2-6896-4B98-8776-C18582F63BA5}" type="slidenum">
              <a:rPr lang="zh-TW" altLang="en-US" smtClean="0"/>
              <a:pPr/>
              <a:t>122</a:t>
            </a:fld>
            <a:endParaRPr lang="zh-TW"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152" y="79474"/>
            <a:ext cx="7703538" cy="519113"/>
          </a:xfrm>
        </p:spPr>
        <p:txBody>
          <a:bodyPr/>
          <a:lstStyle/>
          <a:p>
            <a:r>
              <a:rPr lang="en-US" dirty="0"/>
              <a:t>Hybrid Cloud</a:t>
            </a:r>
          </a:p>
        </p:txBody>
      </p:sp>
      <p:sp>
        <p:nvSpPr>
          <p:cNvPr id="3" name="Content Placeholder 2"/>
          <p:cNvSpPr>
            <a:spLocks noGrp="1"/>
          </p:cNvSpPr>
          <p:nvPr>
            <p:ph idx="1"/>
          </p:nvPr>
        </p:nvSpPr>
        <p:spPr>
          <a:xfrm>
            <a:off x="1044340" y="873030"/>
            <a:ext cx="7271887" cy="2091552"/>
          </a:xfrm>
        </p:spPr>
        <p:txBody>
          <a:bodyPr/>
          <a:lstStyle/>
          <a:p>
            <a:pPr>
              <a:spcBef>
                <a:spcPts val="0"/>
              </a:spcBef>
            </a:pPr>
            <a:r>
              <a:rPr lang="en-US" sz="2000" dirty="0"/>
              <a:t>Hybrid cloud definition</a:t>
            </a:r>
          </a:p>
          <a:p>
            <a:pPr lvl="1">
              <a:spcBef>
                <a:spcPts val="0"/>
              </a:spcBef>
            </a:pPr>
            <a:r>
              <a:rPr lang="en-US" sz="2000" dirty="0"/>
              <a:t>The cloud infrastructure is a composition of two or more clouds (private, community, or public) that remain unique entities but are bound together by standardized or proprietary technology that enables data and application portability (e.g., cloud bursting</a:t>
            </a:r>
            <a:br>
              <a:rPr lang="en-US" sz="2000" dirty="0"/>
            </a:br>
            <a:r>
              <a:rPr lang="en-US" sz="2000" dirty="0"/>
              <a:t>for load-balancing between clouds).</a:t>
            </a:r>
          </a:p>
        </p:txBody>
      </p:sp>
      <p:pic>
        <p:nvPicPr>
          <p:cNvPr id="11268" name="Picture 4" descr="[13.PNG]"/>
          <p:cNvPicPr>
            <a:picLocks noChangeAspect="1" noChangeArrowheads="1"/>
          </p:cNvPicPr>
          <p:nvPr/>
        </p:nvPicPr>
        <p:blipFill>
          <a:blip r:embed="rId2" cstate="print"/>
          <a:srcRect/>
          <a:stretch>
            <a:fillRect/>
          </a:stretch>
        </p:blipFill>
        <p:spPr bwMode="auto">
          <a:xfrm>
            <a:off x="6985710" y="2685448"/>
            <a:ext cx="1978903" cy="1841850"/>
          </a:xfrm>
          <a:prstGeom prst="rect">
            <a:avLst/>
          </a:prstGeom>
          <a:noFill/>
        </p:spPr>
      </p:pic>
      <p:sp>
        <p:nvSpPr>
          <p:cNvPr id="4" name="灯片编号占位符 3">
            <a:extLst>
              <a:ext uri="{FF2B5EF4-FFF2-40B4-BE49-F238E27FC236}">
                <a16:creationId xmlns:a16="http://schemas.microsoft.com/office/drawing/2014/main" id="{617D7BB4-398B-7EDC-74B1-90A73AE3B9A4}"/>
              </a:ext>
            </a:extLst>
          </p:cNvPr>
          <p:cNvSpPr>
            <a:spLocks noGrp="1"/>
          </p:cNvSpPr>
          <p:nvPr>
            <p:ph type="sldNum" sz="quarter" idx="10"/>
          </p:nvPr>
        </p:nvSpPr>
        <p:spPr/>
        <p:txBody>
          <a:bodyPr/>
          <a:lstStyle/>
          <a:p>
            <a:fld id="{D9B6BDF2-6896-4B98-8776-C18582F63BA5}" type="slidenum">
              <a:rPr lang="zh-TW" altLang="en-US" smtClean="0"/>
              <a:pPr/>
              <a:t>123</a:t>
            </a:fld>
            <a:endParaRPr lang="zh-TW" alt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5524" y="79474"/>
            <a:ext cx="7790166" cy="519113"/>
          </a:xfrm>
        </p:spPr>
        <p:txBody>
          <a:bodyPr/>
          <a:lstStyle/>
          <a:p>
            <a:r>
              <a:rPr lang="en-US" altLang="zh-TW" dirty="0"/>
              <a:t>Cloud Ecosystem</a:t>
            </a:r>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2396089" y="940745"/>
            <a:ext cx="4351822" cy="3610568"/>
          </a:xfrm>
          <a:prstGeom prst="rect">
            <a:avLst/>
          </a:prstGeom>
          <a:noFill/>
          <a:ln w="9525">
            <a:noFill/>
            <a:miter lim="800000"/>
            <a:headEnd/>
            <a:tailEnd/>
          </a:ln>
          <a:effectLst/>
        </p:spPr>
      </p:pic>
      <p:sp>
        <p:nvSpPr>
          <p:cNvPr id="3" name="灯片编号占位符 2">
            <a:extLst>
              <a:ext uri="{FF2B5EF4-FFF2-40B4-BE49-F238E27FC236}">
                <a16:creationId xmlns:a16="http://schemas.microsoft.com/office/drawing/2014/main" id="{DC771F4D-ACCE-A966-AE7A-6818893CFF02}"/>
              </a:ext>
            </a:extLst>
          </p:cNvPr>
          <p:cNvSpPr>
            <a:spLocks noGrp="1"/>
          </p:cNvSpPr>
          <p:nvPr>
            <p:ph type="sldNum" sz="quarter" idx="10"/>
          </p:nvPr>
        </p:nvSpPr>
        <p:spPr/>
        <p:txBody>
          <a:bodyPr/>
          <a:lstStyle/>
          <a:p>
            <a:fld id="{D9B6BDF2-6896-4B98-8776-C18582F63BA5}" type="slidenum">
              <a:rPr lang="zh-TW" altLang="en-US" smtClean="0"/>
              <a:pPr/>
              <a:t>124</a:t>
            </a:fld>
            <a:endParaRPr lang="zh-TW"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4025" y="79474"/>
            <a:ext cx="7751665" cy="519113"/>
          </a:xfrm>
        </p:spPr>
        <p:txBody>
          <a:bodyPr/>
          <a:lstStyle/>
          <a:p>
            <a:r>
              <a:rPr lang="en-US" altLang="zh-TW" dirty="0"/>
              <a:t>Summary </a:t>
            </a:r>
            <a:endParaRPr lang="zh-TW" altLang="en-US" dirty="0"/>
          </a:p>
        </p:txBody>
      </p:sp>
      <p:sp>
        <p:nvSpPr>
          <p:cNvPr id="3" name="內容版面配置區 2"/>
          <p:cNvSpPr>
            <a:spLocks noGrp="1"/>
          </p:cNvSpPr>
          <p:nvPr>
            <p:ph idx="1"/>
          </p:nvPr>
        </p:nvSpPr>
        <p:spPr>
          <a:xfrm>
            <a:off x="1043138" y="860079"/>
            <a:ext cx="7157586" cy="3394287"/>
          </a:xfrm>
        </p:spPr>
        <p:txBody>
          <a:bodyPr>
            <a:noAutofit/>
          </a:bodyPr>
          <a:lstStyle/>
          <a:p>
            <a:pPr>
              <a:spcBef>
                <a:spcPts val="0"/>
              </a:spcBef>
            </a:pPr>
            <a:r>
              <a:rPr lang="en-US" altLang="zh-TW" sz="2000" dirty="0"/>
              <a:t>What is cloud computing in your mind</a:t>
            </a:r>
          </a:p>
          <a:p>
            <a:pPr lvl="1">
              <a:spcBef>
                <a:spcPts val="0"/>
              </a:spcBef>
            </a:pPr>
            <a:r>
              <a:rPr lang="en-US" altLang="zh-TW" sz="2000" dirty="0"/>
              <a:t>Clear or Cloudy?</a:t>
            </a:r>
          </a:p>
          <a:p>
            <a:pPr>
              <a:spcBef>
                <a:spcPts val="0"/>
              </a:spcBef>
            </a:pPr>
            <a:r>
              <a:rPr lang="en-US" altLang="zh-TW" sz="2000" dirty="0"/>
              <a:t>Cloud computing is a new paradigm shift of computing </a:t>
            </a:r>
          </a:p>
          <a:p>
            <a:pPr>
              <a:spcBef>
                <a:spcPts val="0"/>
              </a:spcBef>
            </a:pPr>
            <a:r>
              <a:rPr lang="en-US" altLang="zh-TW" sz="2000" dirty="0"/>
              <a:t>Cloud computing can provide high quality of properties and characteristics based on essentially central ideas</a:t>
            </a:r>
          </a:p>
          <a:p>
            <a:pPr>
              <a:spcBef>
                <a:spcPts val="0"/>
              </a:spcBef>
            </a:pPr>
            <a:r>
              <a:rPr lang="en-US" altLang="zh-TW" sz="2000" dirty="0"/>
              <a:t>Service models and deployment models provide services that can be used to</a:t>
            </a:r>
          </a:p>
          <a:p>
            <a:pPr lvl="1">
              <a:spcBef>
                <a:spcPts val="0"/>
              </a:spcBef>
            </a:pPr>
            <a:r>
              <a:rPr lang="en-US" altLang="zh-TW" sz="2000" dirty="0"/>
              <a:t>Rent fundamental computing resources</a:t>
            </a:r>
          </a:p>
          <a:p>
            <a:pPr lvl="1">
              <a:spcBef>
                <a:spcPts val="0"/>
              </a:spcBef>
            </a:pPr>
            <a:r>
              <a:rPr lang="en-US" altLang="ja-JP" sz="2000" dirty="0">
                <a:ea typeface="ＭＳ Ｐゴシック" pitchFamily="34" charset="-128"/>
              </a:rPr>
              <a:t>Deploy and develop </a:t>
            </a:r>
            <a:r>
              <a:rPr lang="en-US" altLang="zh-TW" sz="2000" dirty="0">
                <a:ea typeface="新細明體" pitchFamily="18" charset="-120"/>
              </a:rPr>
              <a:t>customer-created applications on clouds </a:t>
            </a:r>
            <a:endParaRPr lang="en-US" altLang="ja-JP" sz="2000" dirty="0">
              <a:ea typeface="ＭＳ Ｐゴシック" pitchFamily="34" charset="-128"/>
            </a:endParaRPr>
          </a:p>
          <a:p>
            <a:pPr lvl="1">
              <a:spcBef>
                <a:spcPts val="0"/>
              </a:spcBef>
            </a:pPr>
            <a:r>
              <a:rPr lang="en-US" altLang="ja-JP" sz="2000" dirty="0">
                <a:ea typeface="ＭＳ Ｐゴシック" pitchFamily="34" charset="-128"/>
              </a:rPr>
              <a:t>Access provider’s applications over network (wired or wireless)</a:t>
            </a:r>
            <a:endParaRPr lang="en-US" altLang="zh-TW" sz="2000" dirty="0"/>
          </a:p>
          <a:p>
            <a:pPr>
              <a:spcBef>
                <a:spcPts val="0"/>
              </a:spcBef>
            </a:pPr>
            <a:endParaRPr lang="en-US" altLang="zh-TW" sz="2000" dirty="0"/>
          </a:p>
          <a:p>
            <a:pPr>
              <a:spcBef>
                <a:spcPts val="0"/>
              </a:spcBef>
            </a:pPr>
            <a:endParaRPr lang="en-US" altLang="zh-TW" sz="2000" dirty="0"/>
          </a:p>
          <a:p>
            <a:pPr>
              <a:spcBef>
                <a:spcPts val="0"/>
              </a:spcBef>
            </a:pPr>
            <a:endParaRPr lang="en-US" altLang="zh-TW" sz="2000" dirty="0"/>
          </a:p>
          <a:p>
            <a:pPr>
              <a:spcBef>
                <a:spcPts val="0"/>
              </a:spcBef>
            </a:pPr>
            <a:endParaRPr lang="zh-TW" altLang="en-US" sz="2000" dirty="0"/>
          </a:p>
        </p:txBody>
      </p:sp>
      <p:sp>
        <p:nvSpPr>
          <p:cNvPr id="4" name="灯片编号占位符 3">
            <a:extLst>
              <a:ext uri="{FF2B5EF4-FFF2-40B4-BE49-F238E27FC236}">
                <a16:creationId xmlns:a16="http://schemas.microsoft.com/office/drawing/2014/main" id="{0DDD38B4-606E-C6CC-3F5E-0FDB8D6BD42A}"/>
              </a:ext>
            </a:extLst>
          </p:cNvPr>
          <p:cNvSpPr>
            <a:spLocks noGrp="1"/>
          </p:cNvSpPr>
          <p:nvPr>
            <p:ph type="sldNum" sz="quarter" idx="10"/>
          </p:nvPr>
        </p:nvSpPr>
        <p:spPr/>
        <p:txBody>
          <a:bodyPr/>
          <a:lstStyle/>
          <a:p>
            <a:fld id="{D9B6BDF2-6896-4B98-8776-C18582F63BA5}" type="slidenum">
              <a:rPr lang="zh-TW" altLang="en-US" smtClean="0"/>
              <a:pPr/>
              <a:t>125</a:t>
            </a:fld>
            <a:endParaRPr lang="zh-TW"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1" y="79474"/>
            <a:ext cx="7722789" cy="519113"/>
          </a:xfrm>
        </p:spPr>
        <p:txBody>
          <a:bodyPr/>
          <a:lstStyle/>
          <a:p>
            <a:r>
              <a:rPr lang="en-US" dirty="0"/>
              <a:t>References</a:t>
            </a:r>
          </a:p>
        </p:txBody>
      </p:sp>
      <p:sp>
        <p:nvSpPr>
          <p:cNvPr id="3" name="Content Placeholder 2"/>
          <p:cNvSpPr>
            <a:spLocks noGrp="1"/>
          </p:cNvSpPr>
          <p:nvPr>
            <p:ph idx="1"/>
          </p:nvPr>
        </p:nvSpPr>
        <p:spPr>
          <a:xfrm>
            <a:off x="712270" y="905077"/>
            <a:ext cx="7963420" cy="3474417"/>
          </a:xfrm>
        </p:spPr>
        <p:txBody>
          <a:bodyPr>
            <a:noAutofit/>
          </a:bodyPr>
          <a:lstStyle/>
          <a:p>
            <a:pPr>
              <a:spcBef>
                <a:spcPts val="0"/>
              </a:spcBef>
            </a:pPr>
            <a:r>
              <a:rPr lang="en-US" sz="1700" dirty="0"/>
              <a:t>NIST (National Institute of Standards and Technology). http://csrc.nist.gov/groups/SNS/cloud-computing/</a:t>
            </a:r>
          </a:p>
          <a:p>
            <a:pPr>
              <a:spcBef>
                <a:spcPts val="0"/>
              </a:spcBef>
            </a:pPr>
            <a:r>
              <a:rPr lang="en-US" altLang="zh-TW" sz="1700" dirty="0"/>
              <a:t>M. </a:t>
            </a:r>
            <a:r>
              <a:rPr lang="en-US" altLang="zh-TW" sz="1700" dirty="0" err="1"/>
              <a:t>Armbrust</a:t>
            </a:r>
            <a:r>
              <a:rPr lang="en-US" altLang="zh-TW" sz="1700" dirty="0"/>
              <a:t> et. al., “Above the Clouds: A Berkeley View of Cloud Computing,” Technical Report No. UCB/EECS-2009-28, University of California at Berkeley, 2009. </a:t>
            </a:r>
          </a:p>
          <a:p>
            <a:pPr>
              <a:spcBef>
                <a:spcPts val="0"/>
              </a:spcBef>
            </a:pPr>
            <a:r>
              <a:rPr lang="en-US" altLang="zh-TW" sz="1700" dirty="0"/>
              <a:t>R. </a:t>
            </a:r>
            <a:r>
              <a:rPr lang="en-US" altLang="zh-TW" sz="1700" dirty="0" err="1"/>
              <a:t>Buyya</a:t>
            </a:r>
            <a:r>
              <a:rPr lang="en-US" altLang="zh-TW" sz="1700" dirty="0"/>
              <a:t> et. al., “Cloud computing and emerging IT platforms: Vision, hype, and reality for delivering computing as the 5th utility,” Future Generation Computer Systems, 2009.</a:t>
            </a:r>
          </a:p>
          <a:p>
            <a:pPr>
              <a:spcBef>
                <a:spcPts val="0"/>
              </a:spcBef>
            </a:pPr>
            <a:r>
              <a:rPr lang="en-US" sz="1700" dirty="0"/>
              <a:t>Cloud Computing Use Cases. http://groups.google.com/group/cloud-computing-use-cases</a:t>
            </a:r>
          </a:p>
          <a:p>
            <a:pPr>
              <a:spcBef>
                <a:spcPts val="0"/>
              </a:spcBef>
            </a:pPr>
            <a:r>
              <a:rPr lang="en-US" sz="1700" dirty="0"/>
              <a:t>Cloud Computing Explained. http://www.andyharjanto.com/2009/11/wanted-cloud-computing-explained-in.html</a:t>
            </a:r>
          </a:p>
          <a:p>
            <a:pPr>
              <a:spcBef>
                <a:spcPts val="0"/>
              </a:spcBef>
            </a:pPr>
            <a:r>
              <a:rPr lang="en-US" altLang="zh-TW" sz="1700" dirty="0"/>
              <a:t>From Wikipedia, the free encyclopedia</a:t>
            </a:r>
          </a:p>
          <a:p>
            <a:pPr>
              <a:spcBef>
                <a:spcPts val="0"/>
              </a:spcBef>
            </a:pPr>
            <a:r>
              <a:rPr lang="en-US" sz="1700" dirty="0"/>
              <a:t>All resources of the materials and pictures were partially retrieved from the Internet.</a:t>
            </a:r>
          </a:p>
        </p:txBody>
      </p:sp>
      <p:sp>
        <p:nvSpPr>
          <p:cNvPr id="4" name="灯片编号占位符 3">
            <a:extLst>
              <a:ext uri="{FF2B5EF4-FFF2-40B4-BE49-F238E27FC236}">
                <a16:creationId xmlns:a16="http://schemas.microsoft.com/office/drawing/2014/main" id="{A5FCCF64-9AA5-84C4-F5A9-BB0CAF793DDF}"/>
              </a:ext>
            </a:extLst>
          </p:cNvPr>
          <p:cNvSpPr>
            <a:spLocks noGrp="1"/>
          </p:cNvSpPr>
          <p:nvPr>
            <p:ph type="sldNum" sz="quarter" idx="10"/>
          </p:nvPr>
        </p:nvSpPr>
        <p:spPr/>
        <p:txBody>
          <a:bodyPr/>
          <a:lstStyle/>
          <a:p>
            <a:fld id="{D9B6BDF2-6896-4B98-8776-C18582F63BA5}" type="slidenum">
              <a:rPr lang="zh-TW" altLang="en-US" smtClean="0"/>
              <a:pPr/>
              <a:t>126</a:t>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2775</TotalTime>
  <Words>7063</Words>
  <Application>Microsoft Office PowerPoint</Application>
  <PresentationFormat>全屏显示(16:9)</PresentationFormat>
  <Paragraphs>1027</Paragraphs>
  <Slides>126</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126</vt:i4>
      </vt:variant>
    </vt:vector>
  </HeadingPairs>
  <TitlesOfParts>
    <vt:vector size="137" baseType="lpstr">
      <vt:lpstr>ＭＳ Ｐゴシック</vt:lpstr>
      <vt:lpstr>MS Sans Serif</vt:lpstr>
      <vt:lpstr>新細明體</vt:lpstr>
      <vt:lpstr>Arial</vt:lpstr>
      <vt:lpstr>Calibri</vt:lpstr>
      <vt:lpstr>Cambria</vt:lpstr>
      <vt:lpstr>Helvetica</vt:lpstr>
      <vt:lpstr>Symbol</vt:lpstr>
      <vt:lpstr>Times New Roman</vt:lpstr>
      <vt:lpstr>Wingdings</vt:lpstr>
      <vt:lpstr>NTHU UniCloud</vt:lpstr>
      <vt:lpstr>CSC6032 – Advanced Operating Systems Cloud Computing</vt:lpstr>
      <vt:lpstr>Agenda</vt:lpstr>
      <vt:lpstr>What is Cloud Computing ?</vt:lpstr>
      <vt:lpstr>Cloud Disclaimers</vt:lpstr>
      <vt:lpstr>Cloud Definitions (1)</vt:lpstr>
      <vt:lpstr>Cloud Definitions (2)</vt:lpstr>
      <vt:lpstr>Cloud Definitions (3)</vt:lpstr>
      <vt:lpstr>Cloud Definitions (4)</vt:lpstr>
      <vt:lpstr>Cloud Definitions (5)</vt:lpstr>
      <vt:lpstr>PowerPoint 演示文稿</vt:lpstr>
      <vt:lpstr>What is Cloud computing ?</vt:lpstr>
      <vt:lpstr>In Our Humble Opinion (1)</vt:lpstr>
      <vt:lpstr>In Our Humble Opinion (2)</vt:lpstr>
      <vt:lpstr>In Our Humble Opinion (3)</vt:lpstr>
      <vt:lpstr>Properties and Characteristics</vt:lpstr>
      <vt:lpstr>Central Ideas (1)</vt:lpstr>
      <vt:lpstr>Central Ideas (2)</vt:lpstr>
      <vt:lpstr>Utility Computing</vt:lpstr>
      <vt:lpstr>What Is Service?</vt:lpstr>
      <vt:lpstr>What Is Web Service?</vt:lpstr>
      <vt:lpstr>Service Oriented Architecture</vt:lpstr>
      <vt:lpstr>Quality of Service (1)</vt:lpstr>
      <vt:lpstr>Quality of Service (2)</vt:lpstr>
      <vt:lpstr>Service Level Agreement</vt:lpstr>
      <vt:lpstr>Scalability &amp; Elasticity</vt:lpstr>
      <vt:lpstr>Scalability &amp; Elasticity</vt:lpstr>
      <vt:lpstr>Dynamic Provisioning (1)</vt:lpstr>
      <vt:lpstr>Dynamic Provisioning (2)</vt:lpstr>
      <vt:lpstr>Dynamic Provisioning (3)</vt:lpstr>
      <vt:lpstr>Dynamic Provisioning (4)</vt:lpstr>
      <vt:lpstr>Multi-Tenant Design</vt:lpstr>
      <vt:lpstr>Availability &amp; Reliability</vt:lpstr>
      <vt:lpstr>Availability &amp; Reliability</vt:lpstr>
      <vt:lpstr>Fault Tolerance (1)</vt:lpstr>
      <vt:lpstr>Fault Tolerance (2)</vt:lpstr>
      <vt:lpstr>Fault Tolerance (3)</vt:lpstr>
      <vt:lpstr>Fault Tolerance (4)</vt:lpstr>
      <vt:lpstr>System Resilience (1)</vt:lpstr>
      <vt:lpstr>System Resilience (1)</vt:lpstr>
      <vt:lpstr>System Resilience (2)</vt:lpstr>
      <vt:lpstr>System Security</vt:lpstr>
      <vt:lpstr>Manageability &amp; Interoperability</vt:lpstr>
      <vt:lpstr>Manageability &amp; Interoperability </vt:lpstr>
      <vt:lpstr>Control Automation (1)</vt:lpstr>
      <vt:lpstr>Control Automation (2)</vt:lpstr>
      <vt:lpstr>System Monitoring</vt:lpstr>
      <vt:lpstr>Billing System</vt:lpstr>
      <vt:lpstr>Performance &amp; Optimization</vt:lpstr>
      <vt:lpstr>Performance &amp; Optimization</vt:lpstr>
      <vt:lpstr>Parallel Processing (1)</vt:lpstr>
      <vt:lpstr>Parallel Processing (2)</vt:lpstr>
      <vt:lpstr>Load Balancing</vt:lpstr>
      <vt:lpstr>Job Scheduling</vt:lpstr>
      <vt:lpstr>Accessibility &amp; Portability</vt:lpstr>
      <vt:lpstr>Accessibility &amp; Portability</vt:lpstr>
      <vt:lpstr>Uniform Access</vt:lpstr>
      <vt:lpstr>Thin Client</vt:lpstr>
      <vt:lpstr>What is cloud computing ?</vt:lpstr>
      <vt:lpstr>Benefits From Cloud</vt:lpstr>
      <vt:lpstr>PowerPoint 演示文稿</vt:lpstr>
      <vt:lpstr>Reduce Initial Investment (1)</vt:lpstr>
      <vt:lpstr>Reduce Initial Investment (3)</vt:lpstr>
      <vt:lpstr>Reduce Initial Investment (4)</vt:lpstr>
      <vt:lpstr>Reduce Capital Expenditure (1)</vt:lpstr>
      <vt:lpstr>Reduce Initial Investment (2)</vt:lpstr>
      <vt:lpstr>Reduce Capital Expenditure</vt:lpstr>
      <vt:lpstr>Improve Industrial Specialization (1)</vt:lpstr>
      <vt:lpstr>Improve Industrial Specialization (2)</vt:lpstr>
      <vt:lpstr>Improve Industrial Specialization (3)</vt:lpstr>
      <vt:lpstr>Improve Resource Utilization (1)</vt:lpstr>
      <vt:lpstr>Improve Resource Utilization (2)</vt:lpstr>
      <vt:lpstr>Improve Resource Utilization (3)</vt:lpstr>
      <vt:lpstr>PowerPoint 演示文稿</vt:lpstr>
      <vt:lpstr>Reduce Local Computing Power (1)</vt:lpstr>
      <vt:lpstr>Reduce Local Computing Power (2)</vt:lpstr>
      <vt:lpstr>Reduce Local Computing Power (1)</vt:lpstr>
      <vt:lpstr>Reduce Local Computing Power (2)</vt:lpstr>
      <vt:lpstr>Reduce Local Computing Power (3)</vt:lpstr>
      <vt:lpstr>Reduce Local Storage Power</vt:lpstr>
      <vt:lpstr>Variety of End Devices (1)</vt:lpstr>
      <vt:lpstr>Variety of End Devices (2)</vt:lpstr>
      <vt:lpstr>Variety of End Devices (3)</vt:lpstr>
      <vt:lpstr>Agenda</vt:lpstr>
      <vt:lpstr>Service Models</vt:lpstr>
      <vt:lpstr>A Simple Analogy (1)</vt:lpstr>
      <vt:lpstr>PowerPoint 演示文稿</vt:lpstr>
      <vt:lpstr>PowerPoint 演示文稿</vt:lpstr>
      <vt:lpstr>PowerPoint 演示文稿</vt:lpstr>
      <vt:lpstr>PowerPoint 演示文稿</vt:lpstr>
      <vt:lpstr>PowerPoint 演示文稿</vt:lpstr>
      <vt:lpstr>Service Models Overview (1)</vt:lpstr>
      <vt:lpstr>Service Models Overview (2)</vt:lpstr>
      <vt:lpstr>Service Models Overview (3)</vt:lpstr>
      <vt:lpstr>Service Model Overview (4)</vt:lpstr>
      <vt:lpstr>Service Models</vt:lpstr>
      <vt:lpstr>Infrastructure as a Service (1)</vt:lpstr>
      <vt:lpstr>Infrastructure as a Service (2)</vt:lpstr>
      <vt:lpstr>Infrastructure as a Service (3)</vt:lpstr>
      <vt:lpstr>Infrastructure as a Service (4)</vt:lpstr>
      <vt:lpstr>Infrastructure as a Service (5)</vt:lpstr>
      <vt:lpstr>Infrastructure as a Service (6)</vt:lpstr>
      <vt:lpstr>IaaS - Summary</vt:lpstr>
      <vt:lpstr>Service Models</vt:lpstr>
      <vt:lpstr>Platform as a Service (1)</vt:lpstr>
      <vt:lpstr>Platform as a Service (2)</vt:lpstr>
      <vt:lpstr>Platform as a Service (3)</vt:lpstr>
      <vt:lpstr>Platform as a Service (4)</vt:lpstr>
      <vt:lpstr>Platform as a Service (5)</vt:lpstr>
      <vt:lpstr>PaaS - Summary</vt:lpstr>
      <vt:lpstr>Service Models</vt:lpstr>
      <vt:lpstr>Software as a Service (1)</vt:lpstr>
      <vt:lpstr>Software as a Service (2)</vt:lpstr>
      <vt:lpstr>Software as a Service (3)</vt:lpstr>
      <vt:lpstr>Software as a Service (4)</vt:lpstr>
      <vt:lpstr>Software as a Service (5)</vt:lpstr>
      <vt:lpstr>SaaS - Summary</vt:lpstr>
      <vt:lpstr>Deployment models</vt:lpstr>
      <vt:lpstr>Deployment Model</vt:lpstr>
      <vt:lpstr>Public Cloud</vt:lpstr>
      <vt:lpstr>Private Cloud</vt:lpstr>
      <vt:lpstr>Public vs. Private</vt:lpstr>
      <vt:lpstr>Community Cloud</vt:lpstr>
      <vt:lpstr>Hybrid Cloud</vt:lpstr>
      <vt:lpstr>Cloud Ecosystem</vt:lpstr>
      <vt:lpstr>Summary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303</cp:revision>
  <dcterms:created xsi:type="dcterms:W3CDTF">2015-06-05T07:23:35Z</dcterms:created>
  <dcterms:modified xsi:type="dcterms:W3CDTF">2026-09-30T10:57:37Z</dcterms:modified>
</cp:coreProperties>
</file>