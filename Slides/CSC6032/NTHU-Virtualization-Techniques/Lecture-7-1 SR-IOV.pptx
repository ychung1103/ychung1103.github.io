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8"/>
  </p:notesMasterIdLst>
  <p:sldIdLst>
    <p:sldId id="453" r:id="rId2"/>
    <p:sldId id="454" r:id="rId3"/>
    <p:sldId id="499" r:id="rId4"/>
    <p:sldId id="455" r:id="rId5"/>
    <p:sldId id="456" r:id="rId6"/>
    <p:sldId id="457" r:id="rId7"/>
    <p:sldId id="471" r:id="rId8"/>
    <p:sldId id="473" r:id="rId9"/>
    <p:sldId id="472" r:id="rId10"/>
    <p:sldId id="474" r:id="rId11"/>
    <p:sldId id="477" r:id="rId12"/>
    <p:sldId id="476" r:id="rId13"/>
    <p:sldId id="475" r:id="rId14"/>
    <p:sldId id="478" r:id="rId15"/>
    <p:sldId id="479" r:id="rId16"/>
    <p:sldId id="480" r:id="rId17"/>
    <p:sldId id="481" r:id="rId18"/>
    <p:sldId id="482" r:id="rId19"/>
    <p:sldId id="483" r:id="rId20"/>
    <p:sldId id="484" r:id="rId21"/>
    <p:sldId id="485" r:id="rId22"/>
    <p:sldId id="486" r:id="rId23"/>
    <p:sldId id="501" r:id="rId24"/>
    <p:sldId id="502" r:id="rId25"/>
    <p:sldId id="452" r:id="rId26"/>
    <p:sldId id="460" r:id="rId27"/>
    <p:sldId id="461" r:id="rId28"/>
    <p:sldId id="462" r:id="rId29"/>
    <p:sldId id="487" r:id="rId30"/>
    <p:sldId id="464" r:id="rId31"/>
    <p:sldId id="490" r:id="rId32"/>
    <p:sldId id="488" r:id="rId33"/>
    <p:sldId id="465" r:id="rId34"/>
    <p:sldId id="491" r:id="rId35"/>
    <p:sldId id="466" r:id="rId36"/>
    <p:sldId id="467" r:id="rId37"/>
    <p:sldId id="468" r:id="rId38"/>
    <p:sldId id="469" r:id="rId39"/>
    <p:sldId id="500" r:id="rId40"/>
    <p:sldId id="470" r:id="rId41"/>
    <p:sldId id="493" r:id="rId42"/>
    <p:sldId id="494" r:id="rId43"/>
    <p:sldId id="492" r:id="rId44"/>
    <p:sldId id="495" r:id="rId45"/>
    <p:sldId id="496" r:id="rId46"/>
    <p:sldId id="497" r:id="rId4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5678095F-AB9F-4C18-A3B2-7038A2C3DED4}">
          <p14:sldIdLst>
            <p14:sldId id="453"/>
            <p14:sldId id="454"/>
            <p14:sldId id="499"/>
            <p14:sldId id="455"/>
            <p14:sldId id="456"/>
            <p14:sldId id="457"/>
            <p14:sldId id="471"/>
            <p14:sldId id="473"/>
            <p14:sldId id="472"/>
            <p14:sldId id="474"/>
            <p14:sldId id="477"/>
            <p14:sldId id="476"/>
            <p14:sldId id="475"/>
            <p14:sldId id="478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501"/>
            <p14:sldId id="502"/>
            <p14:sldId id="452"/>
            <p14:sldId id="460"/>
            <p14:sldId id="461"/>
            <p14:sldId id="462"/>
            <p14:sldId id="487"/>
            <p14:sldId id="464"/>
            <p14:sldId id="490"/>
            <p14:sldId id="488"/>
            <p14:sldId id="465"/>
            <p14:sldId id="491"/>
            <p14:sldId id="466"/>
            <p14:sldId id="467"/>
            <p14:sldId id="468"/>
            <p14:sldId id="469"/>
            <p14:sldId id="500"/>
            <p14:sldId id="470"/>
            <p14:sldId id="493"/>
            <p14:sldId id="494"/>
            <p14:sldId id="492"/>
            <p14:sldId id="495"/>
            <p14:sldId id="496"/>
            <p14:sldId id="49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3" autoAdjust="0"/>
    <p:restoredTop sz="91531" autoAdjust="0"/>
  </p:normalViewPr>
  <p:slideViewPr>
    <p:cSldViewPr>
      <p:cViewPr>
        <p:scale>
          <a:sx n="66" d="100"/>
          <a:sy n="66" d="100"/>
        </p:scale>
        <p:origin x="-840" y="-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88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3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7DD20-92F8-4282-BDE4-0E24C1A0D45F}" type="datetimeFigureOut">
              <a:rPr lang="zh-TW" altLang="en-US" smtClean="0"/>
              <a:pPr/>
              <a:t>2013/2/4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0D120-4707-426F-9B85-873E256A66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97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393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8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12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25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29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32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34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39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2013/2/4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2013/2/4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2013/2/4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2013/2/4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cisig.com/developers/main/training_materials/get_document?doc_id=4717c70ea2fe2f92dcbc4560a39cba8129af32c1" TargetMode="External"/><Relationship Id="rId2" Type="http://schemas.openxmlformats.org/officeDocument/2006/relationships/hyperlink" Target="http://www.mindshare.com/files/ebooks/PCI%20System%20Architecture%20(4th%20Edition)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ieeexplore.ieee.org/xpls/abs_all.jsp?arnumber=5416637&amp;tag=1" TargetMode="External"/><Relationship Id="rId4" Type="http://schemas.openxmlformats.org/officeDocument/2006/relationships/hyperlink" Target="http://www.intel.com/content/dam/doc/application-note/pci-sig-sr-iov-primer-sr-iov-technology-paper.pdf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虛擬化技術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Techniques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7624" y="3200400"/>
            <a:ext cx="6584776" cy="2362200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Hardware Support Virtualization</a:t>
            </a:r>
          </a:p>
          <a:p>
            <a:pPr algn="ctr"/>
            <a:r>
              <a:rPr lang="en-US" altLang="zh-TW" sz="24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SR-IOV</a:t>
            </a:r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altLang="zh-TW" sz="16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6199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51520" y="1628800"/>
            <a:ext cx="4032448" cy="4525963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Overview</a:t>
            </a:r>
          </a:p>
          <a:p>
            <a:pPr lvl="1"/>
            <a:r>
              <a:rPr lang="en-US" altLang="zh-TW" dirty="0" smtClean="0"/>
              <a:t>Introduction</a:t>
            </a:r>
          </a:p>
          <a:p>
            <a:pPr lvl="2"/>
            <a:r>
              <a:rPr lang="en-US" altLang="zh-TW" dirty="0" smtClean="0"/>
              <a:t>Memory Virtualization</a:t>
            </a:r>
          </a:p>
          <a:p>
            <a:pPr lvl="2"/>
            <a:r>
              <a:rPr lang="en-US" altLang="zh-TW" dirty="0" smtClean="0"/>
              <a:t>Storage Virtualization</a:t>
            </a:r>
          </a:p>
          <a:p>
            <a:pPr lvl="2"/>
            <a:r>
              <a:rPr lang="en-US" altLang="zh-TW" dirty="0" smtClean="0"/>
              <a:t>Servers Virtualization</a:t>
            </a:r>
          </a:p>
          <a:p>
            <a:pPr lvl="2"/>
            <a:r>
              <a:rPr lang="en-US" altLang="zh-TW" dirty="0" smtClean="0"/>
              <a:t>I/O Virtualization</a:t>
            </a:r>
          </a:p>
          <a:p>
            <a:pPr lvl="2"/>
            <a:endParaRPr lang="en-US" altLang="zh-TW" dirty="0" smtClean="0"/>
          </a:p>
          <a:p>
            <a:r>
              <a:rPr lang="en-US" altLang="zh-TW" dirty="0" err="1" smtClean="0"/>
              <a:t>PCIe</a:t>
            </a:r>
            <a:r>
              <a:rPr lang="en-US" altLang="zh-TW" dirty="0" smtClean="0"/>
              <a:t> Virtualization</a:t>
            </a:r>
          </a:p>
          <a:p>
            <a:pPr lvl="1"/>
            <a:r>
              <a:rPr lang="en-US" altLang="zh-TW" dirty="0" smtClean="0"/>
              <a:t>Motivation</a:t>
            </a:r>
          </a:p>
          <a:p>
            <a:pPr lvl="1"/>
            <a:r>
              <a:rPr lang="en-US" altLang="zh-TW" dirty="0" smtClean="0"/>
              <a:t>Directed I/O</a:t>
            </a:r>
          </a:p>
          <a:p>
            <a:pPr lvl="1"/>
            <a:r>
              <a:rPr lang="en-US" altLang="zh-TW" dirty="0" err="1"/>
              <a:t>PCIe</a:t>
            </a:r>
            <a:r>
              <a:rPr lang="en-US" altLang="zh-TW" dirty="0"/>
              <a:t> Architecture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half" idx="2"/>
          </p:nvPr>
        </p:nvSpPr>
        <p:spPr>
          <a:xfrm>
            <a:off x="3779912" y="1600200"/>
            <a:ext cx="5364088" cy="4525963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SR-IOV</a:t>
            </a:r>
          </a:p>
          <a:p>
            <a:pPr lvl="1"/>
            <a:r>
              <a:rPr lang="en-US" altLang="zh-TW" dirty="0" smtClean="0"/>
              <a:t>Architecture Supporting SR-IOV Capability</a:t>
            </a:r>
          </a:p>
          <a:p>
            <a:pPr lvl="1"/>
            <a:r>
              <a:rPr lang="en-US" altLang="zh-TW" dirty="0" smtClean="0"/>
              <a:t>ARI – Alternative Routing ID Interpretation</a:t>
            </a:r>
          </a:p>
          <a:p>
            <a:pPr lvl="1"/>
            <a:r>
              <a:rPr lang="en-US" altLang="zh-TW" dirty="0" smtClean="0"/>
              <a:t>ACS Access Control Services</a:t>
            </a:r>
          </a:p>
          <a:p>
            <a:pPr lvl="1"/>
            <a:r>
              <a:rPr lang="en-US" altLang="zh-TW" dirty="0" smtClean="0"/>
              <a:t>ATS - Address Translation Service</a:t>
            </a:r>
          </a:p>
          <a:p>
            <a:pPr lvl="1"/>
            <a:r>
              <a:rPr lang="en-US" altLang="zh-TW" dirty="0" smtClean="0"/>
              <a:t>Theory of Operations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7576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</a:t>
            </a:r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Memory Virtualization</a:t>
            </a:r>
            <a:endParaRPr lang="en-US" altLang="zh-TW" dirty="0" smtClean="0"/>
          </a:p>
          <a:p>
            <a:r>
              <a:rPr lang="en-US" altLang="zh-TW" dirty="0" smtClean="0"/>
              <a:t>Storage</a:t>
            </a:r>
            <a:r>
              <a:rPr lang="en-US" altLang="zh-TW" dirty="0"/>
              <a:t> Virtualization</a:t>
            </a:r>
            <a:endParaRPr lang="en-US" altLang="zh-TW" dirty="0" smtClean="0"/>
          </a:p>
          <a:p>
            <a:r>
              <a:rPr lang="en-US" altLang="zh-TW" dirty="0" smtClean="0"/>
              <a:t>Servers Virtualization</a:t>
            </a:r>
          </a:p>
          <a:p>
            <a:r>
              <a:rPr lang="en-US" altLang="zh-TW" dirty="0" smtClean="0"/>
              <a:t>I/O Virtualization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021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19256" cy="5069160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Memory Virtualization</a:t>
            </a:r>
          </a:p>
          <a:p>
            <a:pPr lvl="1"/>
            <a:r>
              <a:rPr lang="en-US" altLang="zh-TW" dirty="0"/>
              <a:t>Uses memory more effectively</a:t>
            </a:r>
          </a:p>
          <a:p>
            <a:pPr lvl="1"/>
            <a:r>
              <a:rPr lang="en-US" altLang="zh-TW" dirty="0"/>
              <a:t>Was revolutionary, but now is assumed </a:t>
            </a:r>
            <a:endParaRPr lang="en-US" altLang="zh-TW" dirty="0" smtClean="0"/>
          </a:p>
          <a:p>
            <a:pPr lvl="1"/>
            <a:endParaRPr lang="zh-TW" altLang="en-US" dirty="0"/>
          </a:p>
          <a:p>
            <a:r>
              <a:rPr lang="en-US" altLang="zh-TW" dirty="0" smtClean="0"/>
              <a:t>Storage Virtualization</a:t>
            </a:r>
          </a:p>
          <a:p>
            <a:pPr lvl="1"/>
            <a:r>
              <a:rPr lang="en-US" altLang="zh-TW" dirty="0" smtClean="0"/>
              <a:t>Presents storage resources in ways not bound to the underlying hardware characteristics</a:t>
            </a:r>
          </a:p>
          <a:p>
            <a:pPr lvl="1"/>
            <a:r>
              <a:rPr lang="en-US" altLang="zh-TW" dirty="0" smtClean="0"/>
              <a:t>Fairly common now </a:t>
            </a:r>
          </a:p>
          <a:p>
            <a:pPr lvl="1"/>
            <a:endParaRPr lang="en-US" altLang="zh-TW" dirty="0"/>
          </a:p>
          <a:p>
            <a:r>
              <a:rPr lang="en-US" altLang="zh-TW" dirty="0" smtClean="0"/>
              <a:t>Servers Virtualization</a:t>
            </a:r>
          </a:p>
          <a:p>
            <a:pPr lvl="1"/>
            <a:r>
              <a:rPr lang="en-US" altLang="zh-TW" dirty="0" smtClean="0"/>
              <a:t>Increases typically under-utilized CPU resources</a:t>
            </a:r>
          </a:p>
          <a:p>
            <a:pPr lvl="1"/>
            <a:r>
              <a:rPr lang="en-US" altLang="zh-TW" dirty="0" smtClean="0"/>
              <a:t>Becoming more common</a:t>
            </a:r>
          </a:p>
        </p:txBody>
      </p:sp>
    </p:spTree>
    <p:extLst>
      <p:ext uri="{BB962C8B-B14F-4D97-AF65-F5344CB8AC3E}">
        <p14:creationId xmlns:p14="http://schemas.microsoft.com/office/powerpoint/2010/main" val="345790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I/O Virtualization</a:t>
            </a:r>
          </a:p>
          <a:p>
            <a:pPr lvl="1"/>
            <a:r>
              <a:rPr lang="en-US" altLang="zh-TW" dirty="0" smtClean="0"/>
              <a:t>Virtualizing the I/O path between a server and an external device</a:t>
            </a:r>
          </a:p>
          <a:p>
            <a:pPr lvl="1"/>
            <a:r>
              <a:rPr lang="en-US" altLang="zh-TW" dirty="0" smtClean="0"/>
              <a:t>Can apply to anything that uses an adapter in a server, such as:</a:t>
            </a:r>
          </a:p>
          <a:p>
            <a:pPr lvl="2"/>
            <a:r>
              <a:rPr lang="en-US" altLang="zh-TW" dirty="0" smtClean="0"/>
              <a:t>Ethernet Network Interface Cards (NICs)</a:t>
            </a:r>
          </a:p>
          <a:p>
            <a:pPr lvl="2"/>
            <a:r>
              <a:rPr lang="en-US" altLang="zh-TW" dirty="0" smtClean="0"/>
              <a:t>Disk Controllers (including RAID controllers)</a:t>
            </a:r>
          </a:p>
          <a:p>
            <a:pPr lvl="2"/>
            <a:r>
              <a:rPr lang="en-US" altLang="zh-TW" dirty="0" err="1" smtClean="0"/>
              <a:t>Fibre</a:t>
            </a:r>
            <a:r>
              <a:rPr lang="en-US" altLang="zh-TW" dirty="0" smtClean="0"/>
              <a:t> Channel Host Bus Adapters (HBAs)</a:t>
            </a:r>
          </a:p>
          <a:p>
            <a:pPr lvl="2"/>
            <a:r>
              <a:rPr lang="en-US" altLang="zh-TW" dirty="0" smtClean="0"/>
              <a:t>Graphics/Video cards or co-processors</a:t>
            </a:r>
          </a:p>
          <a:p>
            <a:pPr lvl="2"/>
            <a:r>
              <a:rPr lang="en-US" altLang="zh-TW" dirty="0" smtClean="0"/>
              <a:t>SSDs mounted on internal cards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855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PCIe</a:t>
            </a:r>
            <a:r>
              <a:rPr lang="en-US" altLang="zh-TW" dirty="0" smtClean="0"/>
              <a:t> </a:t>
            </a:r>
            <a:r>
              <a:rPr lang="en-US" altLang="zh-TW" dirty="0"/>
              <a:t>I/O Virtualization</a:t>
            </a:r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Motivation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Directed I/O</a:t>
            </a:r>
          </a:p>
          <a:p>
            <a:r>
              <a:rPr lang="en-US" altLang="zh-TW" dirty="0" err="1" smtClean="0">
                <a:solidFill>
                  <a:schemeClr val="bg1">
                    <a:lumMod val="75000"/>
                  </a:schemeClr>
                </a:solidFill>
              </a:rPr>
              <a:t>PCIe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TW" dirty="0" err="1" smtClean="0">
                <a:solidFill>
                  <a:schemeClr val="bg1">
                    <a:lumMod val="75000"/>
                  </a:schemeClr>
                </a:solidFill>
              </a:rPr>
              <a:t>Architecuture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019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Motivation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/>
          <a:lstStyle/>
          <a:p>
            <a:r>
              <a:rPr lang="en-US" altLang="zh-TW" dirty="0" smtClean="0"/>
              <a:t>I/O Virtualization Solutions</a:t>
            </a:r>
          </a:p>
          <a:p>
            <a:pPr lvl="1"/>
            <a:r>
              <a:rPr lang="en-US" altLang="zh-TW" dirty="0" smtClean="0"/>
              <a:t>A - Software only </a:t>
            </a:r>
          </a:p>
          <a:p>
            <a:pPr lvl="1"/>
            <a:r>
              <a:rPr lang="en-US" altLang="zh-TW" dirty="0" smtClean="0"/>
              <a:t>B - Directed  I/O </a:t>
            </a:r>
            <a:r>
              <a:rPr lang="en-US" altLang="zh-TW" b="1" dirty="0" smtClean="0"/>
              <a:t>(enhance performance)</a:t>
            </a:r>
          </a:p>
          <a:p>
            <a:pPr lvl="1"/>
            <a:r>
              <a:rPr lang="en-US" altLang="zh-TW" dirty="0" smtClean="0"/>
              <a:t>C – Directed I/O and Device Sharing </a:t>
            </a:r>
            <a:r>
              <a:rPr lang="en-US" altLang="zh-TW" b="1" dirty="0" smtClean="0"/>
              <a:t>(resource saving)</a:t>
            </a:r>
            <a:endParaRPr lang="zh-TW" altLang="en-US" b="1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5818241" y="3286590"/>
            <a:ext cx="1351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>
                <a:solidFill>
                  <a:schemeClr val="bg1"/>
                </a:solidFill>
              </a:rPr>
              <a:t>Virtual Machine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grpSp>
        <p:nvGrpSpPr>
          <p:cNvPr id="136" name="群組 135"/>
          <p:cNvGrpSpPr/>
          <p:nvPr/>
        </p:nvGrpSpPr>
        <p:grpSpPr>
          <a:xfrm>
            <a:off x="245644" y="3170592"/>
            <a:ext cx="2769153" cy="2531156"/>
            <a:chOff x="323528" y="3243356"/>
            <a:chExt cx="2769153" cy="2882167"/>
          </a:xfrm>
        </p:grpSpPr>
        <p:grpSp>
          <p:nvGrpSpPr>
            <p:cNvPr id="8" name="群組 7"/>
            <p:cNvGrpSpPr/>
            <p:nvPr/>
          </p:nvGrpSpPr>
          <p:grpSpPr>
            <a:xfrm>
              <a:off x="323528" y="3243356"/>
              <a:ext cx="1359606" cy="774786"/>
              <a:chOff x="827584" y="3784638"/>
              <a:chExt cx="1512168" cy="774786"/>
            </a:xfrm>
          </p:grpSpPr>
          <p:sp>
            <p:nvSpPr>
              <p:cNvPr id="4" name="圓角矩形 3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5" name="文字方塊 4"/>
              <p:cNvSpPr txBox="1"/>
              <p:nvPr/>
            </p:nvSpPr>
            <p:spPr>
              <a:xfrm>
                <a:off x="827584" y="3862135"/>
                <a:ext cx="13516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 dirty="0" smtClean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圓角矩形 6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 smtClean="0"/>
                  <a:t>I/O Driver</a:t>
                </a:r>
                <a:endParaRPr lang="zh-TW" altLang="en-US" sz="1400" dirty="0"/>
              </a:p>
            </p:txBody>
          </p:sp>
        </p:grpSp>
        <p:grpSp>
          <p:nvGrpSpPr>
            <p:cNvPr id="21" name="群組 20"/>
            <p:cNvGrpSpPr/>
            <p:nvPr/>
          </p:nvGrpSpPr>
          <p:grpSpPr>
            <a:xfrm>
              <a:off x="1733075" y="3243356"/>
              <a:ext cx="1359606" cy="774786"/>
              <a:chOff x="827584" y="3784638"/>
              <a:chExt cx="1512168" cy="774786"/>
            </a:xfrm>
          </p:grpSpPr>
          <p:sp>
            <p:nvSpPr>
              <p:cNvPr id="22" name="圓角矩形 21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3" name="文字方塊 22"/>
              <p:cNvSpPr txBox="1"/>
              <p:nvPr/>
            </p:nvSpPr>
            <p:spPr>
              <a:xfrm>
                <a:off x="827584" y="3862135"/>
                <a:ext cx="13516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 dirty="0" smtClean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圓角矩形 23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 smtClean="0"/>
                  <a:t>I/O Driver</a:t>
                </a:r>
                <a:endParaRPr lang="zh-TW" altLang="en-US" sz="1400" dirty="0"/>
              </a:p>
            </p:txBody>
          </p:sp>
        </p:grpSp>
        <p:sp>
          <p:nvSpPr>
            <p:cNvPr id="49" name="矩形 48"/>
            <p:cNvSpPr/>
            <p:nvPr/>
          </p:nvSpPr>
          <p:spPr>
            <a:xfrm>
              <a:off x="373640" y="4293096"/>
              <a:ext cx="2719041" cy="72008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Virtual Machine Monitor</a:t>
              </a:r>
              <a:endParaRPr lang="zh-TW" altLang="en-US" dirty="0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9530" y="5275225"/>
              <a:ext cx="1167089" cy="850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6" name="直線單箭頭接點 55"/>
            <p:cNvCxnSpPr>
              <a:stCxn id="7" idx="2"/>
            </p:cNvCxnSpPr>
            <p:nvPr/>
          </p:nvCxnSpPr>
          <p:spPr>
            <a:xfrm>
              <a:off x="973033" y="3995742"/>
              <a:ext cx="15149" cy="2973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單箭頭接點 64"/>
            <p:cNvCxnSpPr/>
            <p:nvPr/>
          </p:nvCxnSpPr>
          <p:spPr>
            <a:xfrm>
              <a:off x="2412878" y="3983879"/>
              <a:ext cx="15149" cy="30921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單箭頭接點 67"/>
            <p:cNvCxnSpPr>
              <a:stCxn id="49" idx="2"/>
            </p:cNvCxnSpPr>
            <p:nvPr/>
          </p:nvCxnSpPr>
          <p:spPr>
            <a:xfrm>
              <a:off x="1733161" y="5013176"/>
              <a:ext cx="0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群組 136"/>
          <p:cNvGrpSpPr/>
          <p:nvPr/>
        </p:nvGrpSpPr>
        <p:grpSpPr>
          <a:xfrm>
            <a:off x="3341362" y="3170592"/>
            <a:ext cx="2769153" cy="2601929"/>
            <a:chOff x="3341362" y="3243356"/>
            <a:chExt cx="2769153" cy="2915049"/>
          </a:xfrm>
        </p:grpSpPr>
        <p:grpSp>
          <p:nvGrpSpPr>
            <p:cNvPr id="33" name="群組 32"/>
            <p:cNvGrpSpPr/>
            <p:nvPr/>
          </p:nvGrpSpPr>
          <p:grpSpPr>
            <a:xfrm>
              <a:off x="3341362" y="3243356"/>
              <a:ext cx="1359606" cy="774786"/>
              <a:chOff x="827584" y="3784638"/>
              <a:chExt cx="1512168" cy="774786"/>
            </a:xfrm>
          </p:grpSpPr>
          <p:sp>
            <p:nvSpPr>
              <p:cNvPr id="34" name="圓角矩形 33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5" name="文字方塊 34"/>
              <p:cNvSpPr txBox="1"/>
              <p:nvPr/>
            </p:nvSpPr>
            <p:spPr>
              <a:xfrm>
                <a:off x="827584" y="3862135"/>
                <a:ext cx="13516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 dirty="0" smtClean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圓角矩形 35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 smtClean="0"/>
                  <a:t>I/O Driver</a:t>
                </a:r>
                <a:endParaRPr lang="zh-TW" altLang="en-US" sz="1400" dirty="0"/>
              </a:p>
            </p:txBody>
          </p:sp>
        </p:grpSp>
        <p:grpSp>
          <p:nvGrpSpPr>
            <p:cNvPr id="37" name="群組 36"/>
            <p:cNvGrpSpPr/>
            <p:nvPr/>
          </p:nvGrpSpPr>
          <p:grpSpPr>
            <a:xfrm>
              <a:off x="4750909" y="3243356"/>
              <a:ext cx="1359606" cy="774786"/>
              <a:chOff x="827584" y="3784638"/>
              <a:chExt cx="1512168" cy="774786"/>
            </a:xfrm>
          </p:grpSpPr>
          <p:sp>
            <p:nvSpPr>
              <p:cNvPr id="38" name="圓角矩形 37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9" name="文字方塊 38"/>
              <p:cNvSpPr txBox="1"/>
              <p:nvPr/>
            </p:nvSpPr>
            <p:spPr>
              <a:xfrm>
                <a:off x="827584" y="3862135"/>
                <a:ext cx="13516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 dirty="0" smtClean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圓角矩形 39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 smtClean="0"/>
                  <a:t>I/O Driver</a:t>
                </a:r>
                <a:endParaRPr lang="zh-TW" altLang="en-US" sz="1400" dirty="0"/>
              </a:p>
            </p:txBody>
          </p:sp>
        </p:grpSp>
        <p:sp>
          <p:nvSpPr>
            <p:cNvPr id="51" name="矩形 50"/>
            <p:cNvSpPr/>
            <p:nvPr/>
          </p:nvSpPr>
          <p:spPr>
            <a:xfrm>
              <a:off x="3924304" y="4293096"/>
              <a:ext cx="1703116" cy="72008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Virtual Machine Monitor</a:t>
              </a:r>
              <a:endParaRPr lang="zh-TW" altLang="en-US" dirty="0"/>
            </a:p>
          </p:txBody>
        </p:sp>
        <p:pic>
          <p:nvPicPr>
            <p:cNvPr id="52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865" y="5308107"/>
              <a:ext cx="1167089" cy="850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3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3426" y="5287385"/>
              <a:ext cx="1167089" cy="850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83" name="直線單箭頭接點 82"/>
            <p:cNvCxnSpPr/>
            <p:nvPr/>
          </p:nvCxnSpPr>
          <p:spPr>
            <a:xfrm>
              <a:off x="3707904" y="4018142"/>
              <a:ext cx="0" cy="14990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>
              <a:off x="5818241" y="3951191"/>
              <a:ext cx="0" cy="15660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8" name="群組 137"/>
          <p:cNvGrpSpPr/>
          <p:nvPr/>
        </p:nvGrpSpPr>
        <p:grpSpPr>
          <a:xfrm>
            <a:off x="6399817" y="3170592"/>
            <a:ext cx="2769153" cy="2671218"/>
            <a:chOff x="6374847" y="3209093"/>
            <a:chExt cx="2769153" cy="3056492"/>
          </a:xfrm>
        </p:grpSpPr>
        <p:grpSp>
          <p:nvGrpSpPr>
            <p:cNvPr id="41" name="群組 40"/>
            <p:cNvGrpSpPr/>
            <p:nvPr/>
          </p:nvGrpSpPr>
          <p:grpSpPr>
            <a:xfrm>
              <a:off x="6374847" y="3209093"/>
              <a:ext cx="1359606" cy="774786"/>
              <a:chOff x="827584" y="3784638"/>
              <a:chExt cx="1512168" cy="774786"/>
            </a:xfrm>
          </p:grpSpPr>
          <p:sp>
            <p:nvSpPr>
              <p:cNvPr id="42" name="圓角矩形 41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43" name="文字方塊 42"/>
              <p:cNvSpPr txBox="1"/>
              <p:nvPr/>
            </p:nvSpPr>
            <p:spPr>
              <a:xfrm>
                <a:off x="827584" y="3862135"/>
                <a:ext cx="13516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 dirty="0" smtClean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圓角矩形 43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 smtClean="0"/>
                  <a:t>I/O Driver</a:t>
                </a:r>
                <a:endParaRPr lang="zh-TW" altLang="en-US" sz="1400" dirty="0"/>
              </a:p>
            </p:txBody>
          </p:sp>
        </p:grpSp>
        <p:grpSp>
          <p:nvGrpSpPr>
            <p:cNvPr id="45" name="群組 44"/>
            <p:cNvGrpSpPr/>
            <p:nvPr/>
          </p:nvGrpSpPr>
          <p:grpSpPr>
            <a:xfrm>
              <a:off x="7784394" y="3209093"/>
              <a:ext cx="1359606" cy="774786"/>
              <a:chOff x="827584" y="3784638"/>
              <a:chExt cx="1512168" cy="774786"/>
            </a:xfrm>
          </p:grpSpPr>
          <p:sp>
            <p:nvSpPr>
              <p:cNvPr id="46" name="圓角矩形 45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47" name="文字方塊 46"/>
              <p:cNvSpPr txBox="1"/>
              <p:nvPr/>
            </p:nvSpPr>
            <p:spPr>
              <a:xfrm>
                <a:off x="827584" y="3862135"/>
                <a:ext cx="13516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 dirty="0" smtClean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圓角矩形 47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 smtClean="0"/>
                  <a:t>I/O Driver</a:t>
                </a:r>
                <a:endParaRPr lang="zh-TW" altLang="en-US" sz="1400" dirty="0"/>
              </a:p>
            </p:txBody>
          </p:sp>
        </p:grpSp>
        <p:pic>
          <p:nvPicPr>
            <p:cNvPr id="54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0176" y="5159482"/>
              <a:ext cx="1409547" cy="1106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5" name="矩形 54"/>
            <p:cNvSpPr/>
            <p:nvPr/>
          </p:nvSpPr>
          <p:spPr>
            <a:xfrm>
              <a:off x="6882895" y="4293096"/>
              <a:ext cx="1703116" cy="72008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Virtual Machine Monitor</a:t>
              </a:r>
              <a:endParaRPr lang="zh-TW" altLang="en-US" dirty="0"/>
            </a:p>
          </p:txBody>
        </p:sp>
        <p:cxnSp>
          <p:nvCxnSpPr>
            <p:cNvPr id="88" name="肘形接點 87"/>
            <p:cNvCxnSpPr/>
            <p:nvPr/>
          </p:nvCxnSpPr>
          <p:spPr>
            <a:xfrm rot="5400000">
              <a:off x="7764660" y="4286925"/>
              <a:ext cx="1391548" cy="720082"/>
            </a:xfrm>
            <a:prstGeom prst="bentConnector3">
              <a:avLst>
                <a:gd name="adj1" fmla="val 85842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肘形接點 92"/>
            <p:cNvCxnSpPr/>
            <p:nvPr/>
          </p:nvCxnSpPr>
          <p:spPr>
            <a:xfrm rot="16200000" flipH="1">
              <a:off x="6426377" y="4171832"/>
              <a:ext cx="1347003" cy="994816"/>
            </a:xfrm>
            <a:prstGeom prst="bentConnector3">
              <a:avLst>
                <a:gd name="adj1" fmla="val 83942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矩形 1046"/>
            <p:cNvSpPr/>
            <p:nvPr/>
          </p:nvSpPr>
          <p:spPr>
            <a:xfrm>
              <a:off x="7319356" y="5342741"/>
              <a:ext cx="1072680" cy="17449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Virtual Function</a:t>
              </a:r>
              <a:endParaRPr lang="zh-TW" altLang="en-US" sz="1000" dirty="0"/>
            </a:p>
          </p:txBody>
        </p:sp>
        <p:sp>
          <p:nvSpPr>
            <p:cNvPr id="128" name="矩形 127"/>
            <p:cNvSpPr/>
            <p:nvPr/>
          </p:nvSpPr>
          <p:spPr>
            <a:xfrm>
              <a:off x="7308813" y="5643847"/>
              <a:ext cx="1083223" cy="1788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Physical Function</a:t>
              </a:r>
              <a:endParaRPr lang="zh-TW" altLang="en-US" sz="1000" dirty="0"/>
            </a:p>
          </p:txBody>
        </p:sp>
        <p:cxnSp>
          <p:nvCxnSpPr>
            <p:cNvPr id="132" name="肘形接點 131"/>
            <p:cNvCxnSpPr>
              <a:stCxn id="55" idx="3"/>
              <a:endCxn id="128" idx="3"/>
            </p:cNvCxnSpPr>
            <p:nvPr/>
          </p:nvCxnSpPr>
          <p:spPr>
            <a:xfrm flipH="1">
              <a:off x="8392036" y="4653136"/>
              <a:ext cx="193975" cy="1080120"/>
            </a:xfrm>
            <a:prstGeom prst="bentConnector3">
              <a:avLst>
                <a:gd name="adj1" fmla="val -206238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文字方塊 138"/>
          <p:cNvSpPr txBox="1"/>
          <p:nvPr/>
        </p:nvSpPr>
        <p:spPr>
          <a:xfrm>
            <a:off x="576694" y="6089831"/>
            <a:ext cx="2438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A – Software only</a:t>
            </a:r>
            <a:endParaRPr lang="zh-TW" altLang="en-US" sz="2400" b="1" dirty="0"/>
          </a:p>
        </p:txBody>
      </p:sp>
      <p:sp>
        <p:nvSpPr>
          <p:cNvPr id="142" name="文字方塊 141"/>
          <p:cNvSpPr txBox="1"/>
          <p:nvPr/>
        </p:nvSpPr>
        <p:spPr>
          <a:xfrm>
            <a:off x="3556810" y="6078791"/>
            <a:ext cx="2224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B – Directed I/O</a:t>
            </a:r>
            <a:endParaRPr lang="zh-TW" altLang="en-US" sz="2400" b="1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6629194" y="5911005"/>
            <a:ext cx="25691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b="1" dirty="0" smtClean="0"/>
              <a:t>C – Directed I/O &amp; </a:t>
            </a:r>
            <a:br>
              <a:rPr lang="en-US" altLang="zh-TW" sz="2400" b="1" dirty="0" smtClean="0"/>
            </a:br>
            <a:r>
              <a:rPr lang="en-US" altLang="zh-TW" sz="2400" b="1" dirty="0" smtClean="0"/>
              <a:t>Device Sharing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2105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PCIe</a:t>
            </a:r>
            <a:r>
              <a:rPr lang="en-US" altLang="zh-TW" dirty="0" smtClean="0"/>
              <a:t> </a:t>
            </a:r>
            <a:r>
              <a:rPr lang="en-US" altLang="zh-TW" dirty="0"/>
              <a:t>I/O Virtualization</a:t>
            </a:r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Motivation</a:t>
            </a:r>
          </a:p>
          <a:p>
            <a:r>
              <a:rPr lang="en-US" altLang="zh-TW" dirty="0" smtClean="0"/>
              <a:t>Directed I/O</a:t>
            </a:r>
          </a:p>
          <a:p>
            <a:r>
              <a:rPr lang="en-US" altLang="zh-TW" dirty="0" err="1" smtClean="0">
                <a:solidFill>
                  <a:schemeClr val="bg1">
                    <a:lumMod val="75000"/>
                  </a:schemeClr>
                </a:solidFill>
              </a:rPr>
              <a:t>PCIe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 Architecture</a:t>
            </a:r>
          </a:p>
        </p:txBody>
      </p:sp>
    </p:spTree>
    <p:extLst>
      <p:ext uri="{BB962C8B-B14F-4D97-AF65-F5344CB8AC3E}">
        <p14:creationId xmlns:p14="http://schemas.microsoft.com/office/powerpoint/2010/main" val="65984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Directed I/O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5805264"/>
          </a:xfrm>
        </p:spPr>
        <p:txBody>
          <a:bodyPr/>
          <a:lstStyle/>
          <a:p>
            <a:r>
              <a:rPr lang="en-US" altLang="zh-TW" dirty="0" smtClean="0"/>
              <a:t>Software-based sharing  adds overhead to each I/O due to emulation layer</a:t>
            </a:r>
          </a:p>
          <a:p>
            <a:pPr lvl="1"/>
            <a:r>
              <a:rPr lang="en-US" altLang="zh-TW" dirty="0" smtClean="0"/>
              <a:t>This indirection has the additional affect of eliminating the use of hardware acceleration that may be available in the physical device.</a:t>
            </a:r>
          </a:p>
          <a:p>
            <a:r>
              <a:rPr lang="en-US" altLang="zh-TW" dirty="0" smtClean="0"/>
              <a:t>Directed I/O has added enhancements to facilitate memory translation and ensure protection of memory that enables a device to directly DMA to/form host memory.</a:t>
            </a:r>
            <a:endParaRPr lang="en-US" altLang="zh-TW" dirty="0"/>
          </a:p>
          <a:p>
            <a:pPr lvl="1"/>
            <a:r>
              <a:rPr lang="en-US" altLang="zh-TW" dirty="0" smtClean="0"/>
              <a:t>Bypass the VMM’s I/O emulation layer</a:t>
            </a:r>
          </a:p>
          <a:p>
            <a:pPr lvl="1"/>
            <a:r>
              <a:rPr lang="en-US" altLang="zh-TW" dirty="0" smtClean="0"/>
              <a:t>Throughput improvement for the VMs</a:t>
            </a:r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2050" name="圖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027" y="4592242"/>
            <a:ext cx="2376263" cy="2060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722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Drawbacks to Directed I/O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r>
              <a:rPr lang="en-US" altLang="zh-TW" dirty="0" smtClean="0"/>
              <a:t>One concern with direct assignment is that it has limited scalability</a:t>
            </a:r>
          </a:p>
          <a:p>
            <a:pPr lvl="1"/>
            <a:r>
              <a:rPr lang="en-US" altLang="zh-TW" dirty="0" smtClean="0"/>
              <a:t>A physical device can only be assigned to one VM.</a:t>
            </a:r>
          </a:p>
          <a:p>
            <a:pPr lvl="1"/>
            <a:r>
              <a:rPr lang="en-US" altLang="zh-TW" dirty="0" smtClean="0"/>
              <a:t>For example, a dual port NIC allows for direct assignment to two VMs. (one port per VM)</a:t>
            </a:r>
          </a:p>
          <a:p>
            <a:pPr lvl="1"/>
            <a:r>
              <a:rPr lang="en-US" altLang="zh-TW" dirty="0" smtClean="0"/>
              <a:t>Consider for a moment a fairly substantial server of the very near future</a:t>
            </a:r>
            <a:endParaRPr lang="en-US" altLang="zh-TW" dirty="0"/>
          </a:p>
          <a:p>
            <a:pPr lvl="2"/>
            <a:r>
              <a:rPr lang="en-US" altLang="zh-TW" dirty="0" smtClean="0"/>
              <a:t>4 physical CPU’s</a:t>
            </a:r>
          </a:p>
          <a:p>
            <a:pPr lvl="2"/>
            <a:r>
              <a:rPr lang="en-US" altLang="zh-TW" dirty="0" smtClean="0"/>
              <a:t>12 cores per CPU</a:t>
            </a:r>
          </a:p>
          <a:p>
            <a:pPr lvl="2"/>
            <a:r>
              <a:rPr lang="en-US" altLang="zh-TW" dirty="0" smtClean="0"/>
              <a:t>If we use the rule that one VM per core, it would need 48 physical ports.</a:t>
            </a:r>
          </a:p>
        </p:txBody>
      </p:sp>
    </p:spTree>
    <p:extLst>
      <p:ext uri="{BB962C8B-B14F-4D97-AF65-F5344CB8AC3E}">
        <p14:creationId xmlns:p14="http://schemas.microsoft.com/office/powerpoint/2010/main" val="323514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Terminology relating to Directed I/O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5059260"/>
              </p:ext>
            </p:extLst>
          </p:nvPr>
        </p:nvGraphicFramePr>
        <p:xfrm>
          <a:off x="611560" y="1340768"/>
          <a:ext cx="7517905" cy="5153818"/>
        </p:xfrm>
        <a:graphic>
          <a:graphicData uri="http://schemas.openxmlformats.org/drawingml/2006/table">
            <a:tbl>
              <a:tblPr firstRow="1" bandRow="1"/>
              <a:tblGrid>
                <a:gridCol w="923251"/>
                <a:gridCol w="1450824"/>
                <a:gridCol w="1450824"/>
                <a:gridCol w="3693006"/>
              </a:tblGrid>
              <a:tr h="4628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Acronym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Expansion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Defined By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What is it?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/>
                    </a:solidFill>
                  </a:tcPr>
                </a:tc>
              </a:tr>
              <a:tr h="12007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I/O MMU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I/O Memory</a:t>
                      </a:r>
                      <a:r>
                        <a:rPr lang="en-US" sz="1400" baseline="0" dirty="0" smtClean="0">
                          <a:latin typeface="Trebuchet MS" pitchFamily="34" charset="0"/>
                        </a:rPr>
                        <a:t> Management Unit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Common</a:t>
                      </a:r>
                      <a:r>
                        <a:rPr lang="en-US" sz="1400" baseline="0" dirty="0" smtClean="0">
                          <a:latin typeface="Trebuchet MS" pitchFamily="34" charset="0"/>
                        </a:rPr>
                        <a:t> parlance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Translation</a:t>
                      </a:r>
                      <a:r>
                        <a:rPr lang="en-US" sz="1400" baseline="0" dirty="0" smtClean="0">
                          <a:latin typeface="Trebuchet MS" pitchFamily="34" charset="0"/>
                        </a:rPr>
                        <a:t> mechanism in the system memory controller (North Bridge) that allows a device or set of devices to use translated addresses when accessing main memory.  In many cases, it also translates interrupts coming from the devices </a:t>
                      </a:r>
                      <a:br>
                        <a:rPr lang="en-US" sz="1400" baseline="0" dirty="0" smtClean="0">
                          <a:latin typeface="Trebuchet MS" pitchFamily="34" charset="0"/>
                        </a:rPr>
                      </a:br>
                      <a:r>
                        <a:rPr lang="en-US" sz="1400" baseline="0" dirty="0" smtClean="0">
                          <a:latin typeface="Trebuchet MS" pitchFamily="34" charset="0"/>
                        </a:rPr>
                        <a:t>as messages.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</a:tr>
              <a:tr h="7109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ATPT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Address Translation and Protection Table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PCI SIG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I/O MMU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</a:tr>
              <a:tr h="7109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VT-d</a:t>
                      </a:r>
                      <a:r>
                        <a:rPr lang="en-US" sz="1400" smtClean="0">
                          <a:latin typeface="Trebuchet MS" pitchFamily="34" charset="0"/>
                        </a:rPr>
                        <a:t>, </a:t>
                      </a:r>
                    </a:p>
                    <a:p>
                      <a:r>
                        <a:rPr lang="en-US" sz="1400" smtClean="0">
                          <a:latin typeface="Trebuchet MS" pitchFamily="34" charset="0"/>
                        </a:rPr>
                        <a:t>VT-d2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Virtualization</a:t>
                      </a:r>
                      <a:r>
                        <a:rPr lang="en-US" sz="1400" baseline="0" dirty="0" smtClean="0">
                          <a:latin typeface="Trebuchet MS" pitchFamily="34" charset="0"/>
                        </a:rPr>
                        <a:t> Technology for Directed I/O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Intel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I/O MMU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</a:tr>
              <a:tr h="7109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err="1" smtClean="0">
                          <a:latin typeface="Trebuchet MS" pitchFamily="34" charset="0"/>
                        </a:rPr>
                        <a:t>DMAr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DMA Remapping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Intel, Microsoft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I/O MMU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</a:tr>
              <a:tr h="7109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IOMMU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I/O</a:t>
                      </a:r>
                      <a:r>
                        <a:rPr lang="en-US" sz="1400" baseline="0" dirty="0" smtClean="0">
                          <a:latin typeface="Trebuchet MS" pitchFamily="34" charset="0"/>
                        </a:rPr>
                        <a:t> Memory Management Unit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AMD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rebuchet MS" pitchFamily="34" charset="0"/>
                        </a:rPr>
                        <a:t>I/O MMU</a:t>
                      </a:r>
                      <a:endParaRPr lang="en-US" sz="1400" dirty="0">
                        <a:latin typeface="Trebuchet MS" pitchFamily="34" charset="0"/>
                      </a:endParaRPr>
                    </a:p>
                  </a:txBody>
                  <a:tcPr marL="88232" marR="88232" marT="44116" marB="44116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01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PCIe</a:t>
            </a:r>
            <a:r>
              <a:rPr lang="en-US" altLang="zh-TW" dirty="0" smtClean="0"/>
              <a:t> </a:t>
            </a:r>
            <a:r>
              <a:rPr lang="en-US" altLang="zh-TW" dirty="0"/>
              <a:t>I/O Virtualization</a:t>
            </a:r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Motivation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Directed I/O</a:t>
            </a:r>
          </a:p>
          <a:p>
            <a:r>
              <a:rPr lang="en-US" altLang="zh-TW" dirty="0" err="1" smtClean="0">
                <a:solidFill>
                  <a:srgbClr val="C00000"/>
                </a:solidFill>
              </a:rPr>
              <a:t>PCIe</a:t>
            </a:r>
            <a:r>
              <a:rPr lang="en-US" altLang="zh-TW" dirty="0" smtClean="0">
                <a:solidFill>
                  <a:srgbClr val="C00000"/>
                </a:solidFill>
              </a:rPr>
              <a:t>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5182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Generic Platform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975939" y="2113524"/>
            <a:ext cx="4168061" cy="4744476"/>
          </a:xfrm>
        </p:spPr>
        <p:txBody>
          <a:bodyPr/>
          <a:lstStyle/>
          <a:p>
            <a:r>
              <a:rPr lang="en-US" altLang="zh-TW" dirty="0" smtClean="0"/>
              <a:t>System Image(SI)</a:t>
            </a:r>
          </a:p>
          <a:p>
            <a:pPr lvl="1"/>
            <a:r>
              <a:rPr lang="en-US" altLang="zh-TW" dirty="0" smtClean="0"/>
              <a:t>SW</a:t>
            </a:r>
            <a:r>
              <a:rPr lang="en-US" altLang="zh-TW" dirty="0"/>
              <a:t>, e.g., a guest OS, to which virtual and physical devices can be </a:t>
            </a:r>
            <a:r>
              <a:rPr lang="en-US" altLang="zh-TW" dirty="0" smtClean="0"/>
              <a:t>assigned</a:t>
            </a:r>
          </a:p>
          <a:p>
            <a:pPr lvl="1"/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81623" y="404664"/>
            <a:ext cx="1037259" cy="607535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System Image (SI)</a:t>
            </a:r>
            <a:endParaRPr lang="zh-TW" altLang="en-US" sz="1200" dirty="0"/>
          </a:p>
        </p:txBody>
      </p:sp>
      <p:sp>
        <p:nvSpPr>
          <p:cNvPr id="5" name="矩形 4"/>
          <p:cNvSpPr/>
          <p:nvPr/>
        </p:nvSpPr>
        <p:spPr>
          <a:xfrm>
            <a:off x="81623" y="1897500"/>
            <a:ext cx="4443464" cy="43204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Processor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81623" y="2329548"/>
            <a:ext cx="4443464" cy="43204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Memory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121116" y="3105451"/>
            <a:ext cx="4443464" cy="7920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Root Complex (RC)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557415" y="3717032"/>
            <a:ext cx="561467" cy="7920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Root</a:t>
            </a:r>
          </a:p>
          <a:p>
            <a:pPr algn="ctr"/>
            <a:r>
              <a:rPr lang="en-US" altLang="zh-TW" sz="1400" dirty="0" smtClean="0"/>
              <a:t>Port (RP)</a:t>
            </a:r>
            <a:endParaRPr lang="zh-TW" altLang="en-US" sz="1400" dirty="0"/>
          </a:p>
        </p:txBody>
      </p:sp>
      <p:sp>
        <p:nvSpPr>
          <p:cNvPr id="9" name="矩形 8"/>
          <p:cNvSpPr/>
          <p:nvPr/>
        </p:nvSpPr>
        <p:spPr>
          <a:xfrm>
            <a:off x="3260846" y="3717032"/>
            <a:ext cx="597404" cy="7920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Root</a:t>
            </a:r>
          </a:p>
          <a:p>
            <a:pPr algn="ctr"/>
            <a:r>
              <a:rPr lang="en-US" altLang="zh-TW" sz="1400" dirty="0" smtClean="0"/>
              <a:t>Port (RP)</a:t>
            </a:r>
            <a:endParaRPr lang="zh-TW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380949" y="5135519"/>
            <a:ext cx="914400" cy="76683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PCIe</a:t>
            </a:r>
            <a:r>
              <a:rPr lang="en-US" altLang="zh-TW" dirty="0" smtClean="0"/>
              <a:t> Device</a:t>
            </a:r>
            <a:endParaRPr lang="zh-TW" altLang="en-US" dirty="0"/>
          </a:p>
        </p:txBody>
      </p:sp>
      <p:sp>
        <p:nvSpPr>
          <p:cNvPr id="11" name="六邊形 10"/>
          <p:cNvSpPr/>
          <p:nvPr/>
        </p:nvSpPr>
        <p:spPr>
          <a:xfrm>
            <a:off x="3011763" y="4952007"/>
            <a:ext cx="1141458" cy="766830"/>
          </a:xfrm>
          <a:prstGeom prst="hex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Switch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595878" y="5949280"/>
            <a:ext cx="914400" cy="76683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PCIe</a:t>
            </a:r>
            <a:r>
              <a:rPr lang="en-US" altLang="zh-TW" dirty="0" smtClean="0"/>
              <a:t> Device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125292" y="5949280"/>
            <a:ext cx="914400" cy="76683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PCIe</a:t>
            </a:r>
            <a:r>
              <a:rPr lang="en-US" altLang="zh-TW" dirty="0" smtClean="0"/>
              <a:t> Device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518739" y="5949279"/>
            <a:ext cx="914400" cy="76683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PCIe</a:t>
            </a:r>
            <a:r>
              <a:rPr lang="en-US" altLang="zh-TW" dirty="0" smtClean="0"/>
              <a:t> Device</a:t>
            </a:r>
            <a:endParaRPr lang="zh-TW" altLang="en-US" dirty="0"/>
          </a:p>
        </p:txBody>
      </p:sp>
      <p:cxnSp>
        <p:nvCxnSpPr>
          <p:cNvPr id="22" name="直線單箭頭接點 21"/>
          <p:cNvCxnSpPr>
            <a:stCxn id="6" idx="2"/>
            <a:endCxn id="7" idx="0"/>
          </p:cNvCxnSpPr>
          <p:nvPr/>
        </p:nvCxnSpPr>
        <p:spPr>
          <a:xfrm>
            <a:off x="2303355" y="2761596"/>
            <a:ext cx="39493" cy="343855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8" idx="2"/>
            <a:endCxn id="10" idx="0"/>
          </p:cNvCxnSpPr>
          <p:nvPr/>
        </p:nvCxnSpPr>
        <p:spPr>
          <a:xfrm>
            <a:off x="838149" y="4509120"/>
            <a:ext cx="0" cy="626399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9" idx="2"/>
          </p:cNvCxnSpPr>
          <p:nvPr/>
        </p:nvCxnSpPr>
        <p:spPr>
          <a:xfrm>
            <a:off x="3559548" y="4509120"/>
            <a:ext cx="20632" cy="457835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肘形接點 31"/>
          <p:cNvCxnSpPr>
            <a:stCxn id="11" idx="3"/>
            <a:endCxn id="12" idx="0"/>
          </p:cNvCxnSpPr>
          <p:nvPr/>
        </p:nvCxnSpPr>
        <p:spPr>
          <a:xfrm rot="10800000" flipV="1">
            <a:off x="2053079" y="5335422"/>
            <a:ext cx="958685" cy="613858"/>
          </a:xfrm>
          <a:prstGeom prst="bentConnector2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接點 34"/>
          <p:cNvCxnSpPr>
            <a:stCxn id="11" idx="0"/>
            <a:endCxn id="14" idx="0"/>
          </p:cNvCxnSpPr>
          <p:nvPr/>
        </p:nvCxnSpPr>
        <p:spPr>
          <a:xfrm>
            <a:off x="4153221" y="5335422"/>
            <a:ext cx="822718" cy="613857"/>
          </a:xfrm>
          <a:prstGeom prst="bentConnector2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endCxn id="13" idx="0"/>
          </p:cNvCxnSpPr>
          <p:nvPr/>
        </p:nvCxnSpPr>
        <p:spPr>
          <a:xfrm>
            <a:off x="3582492" y="5642350"/>
            <a:ext cx="0" cy="30693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橢圓 43"/>
          <p:cNvSpPr/>
          <p:nvPr/>
        </p:nvSpPr>
        <p:spPr>
          <a:xfrm>
            <a:off x="1206813" y="404664"/>
            <a:ext cx="1037259" cy="607535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System Image (SI)</a:t>
            </a:r>
            <a:endParaRPr lang="zh-TW" altLang="en-US" sz="1200" dirty="0"/>
          </a:p>
        </p:txBody>
      </p:sp>
      <p:sp>
        <p:nvSpPr>
          <p:cNvPr id="45" name="橢圓 44"/>
          <p:cNvSpPr/>
          <p:nvPr/>
        </p:nvSpPr>
        <p:spPr>
          <a:xfrm>
            <a:off x="2343717" y="425700"/>
            <a:ext cx="1037259" cy="607535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System Image (SI)</a:t>
            </a:r>
            <a:endParaRPr lang="zh-TW" altLang="en-US" sz="1200" dirty="0"/>
          </a:p>
        </p:txBody>
      </p:sp>
      <p:sp>
        <p:nvSpPr>
          <p:cNvPr id="46" name="橢圓 45"/>
          <p:cNvSpPr/>
          <p:nvPr/>
        </p:nvSpPr>
        <p:spPr>
          <a:xfrm>
            <a:off x="3481480" y="425700"/>
            <a:ext cx="1037259" cy="607535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System Image (SI)</a:t>
            </a:r>
            <a:endParaRPr lang="zh-TW" altLang="en-US" sz="1200" dirty="0"/>
          </a:p>
        </p:txBody>
      </p:sp>
      <p:sp>
        <p:nvSpPr>
          <p:cNvPr id="65" name="橢圓 64"/>
          <p:cNvSpPr/>
          <p:nvPr/>
        </p:nvSpPr>
        <p:spPr>
          <a:xfrm>
            <a:off x="81623" y="1268760"/>
            <a:ext cx="4463165" cy="43204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Virtualization Intermediary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74709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PCIe</a:t>
            </a:r>
            <a:r>
              <a:rPr lang="en-US" altLang="zh-TW" dirty="0" smtClean="0"/>
              <a:t>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5001419"/>
          </a:xfrm>
        </p:spPr>
        <p:txBody>
          <a:bodyPr/>
          <a:lstStyle/>
          <a:p>
            <a:r>
              <a:rPr lang="en-US" altLang="zh-TW" dirty="0" smtClean="0"/>
              <a:t>Root Complex</a:t>
            </a:r>
          </a:p>
          <a:p>
            <a:pPr lvl="1"/>
            <a:r>
              <a:rPr lang="en-US" altLang="zh-TW" dirty="0" smtClean="0"/>
              <a:t>A root complex connects the processor and memory subsystem to the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switch fabric composed of one or more switch devices</a:t>
            </a:r>
          </a:p>
          <a:p>
            <a:pPr lvl="1"/>
            <a:r>
              <a:rPr lang="en-US" altLang="zh-TW" dirty="0" smtClean="0"/>
              <a:t>Similar to a </a:t>
            </a:r>
            <a:r>
              <a:rPr lang="en-US" altLang="zh-TW" dirty="0" smtClean="0">
                <a:solidFill>
                  <a:srgbClr val="FF0000"/>
                </a:solidFill>
              </a:rPr>
              <a:t>host bridge </a:t>
            </a:r>
            <a:r>
              <a:rPr lang="en-US" altLang="zh-TW" dirty="0" smtClean="0"/>
              <a:t>in a PCI system</a:t>
            </a:r>
          </a:p>
          <a:p>
            <a:pPr lvl="2"/>
            <a:r>
              <a:rPr lang="en-US" altLang="zh-TW" dirty="0" smtClean="0"/>
              <a:t>Generate transaction requests on </a:t>
            </a:r>
          </a:p>
          <a:p>
            <a:pPr marL="914400" lvl="2" indent="0">
              <a:buNone/>
            </a:pPr>
            <a:r>
              <a:rPr lang="en-US" altLang="zh-TW" dirty="0" smtClean="0"/>
              <a:t>behalf of the processor, which is</a:t>
            </a:r>
          </a:p>
          <a:p>
            <a:pPr marL="914400" lvl="2" indent="0">
              <a:buNone/>
            </a:pPr>
            <a:r>
              <a:rPr lang="en-US" altLang="zh-TW" dirty="0" smtClean="0"/>
              <a:t>interconnected through a local bus.</a:t>
            </a:r>
          </a:p>
          <a:p>
            <a:pPr lvl="2"/>
            <a:r>
              <a:rPr lang="en-US" altLang="zh-TW" dirty="0" smtClean="0"/>
              <a:t>May contain more than one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port</a:t>
            </a:r>
          </a:p>
          <a:p>
            <a:pPr marL="914400" lvl="2" indent="0">
              <a:buNone/>
            </a:pPr>
            <a:r>
              <a:rPr lang="en-US" altLang="zh-TW" dirty="0" smtClean="0"/>
              <a:t>and multiple switch devices.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297" y="3284984"/>
            <a:ext cx="3520703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3263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268760"/>
            <a:ext cx="9144000" cy="4857403"/>
          </a:xfrm>
        </p:spPr>
        <p:txBody>
          <a:bodyPr/>
          <a:lstStyle/>
          <a:p>
            <a:r>
              <a:rPr lang="en-US" altLang="zh-TW" dirty="0" smtClean="0"/>
              <a:t>Root Port (RP)</a:t>
            </a:r>
          </a:p>
          <a:p>
            <a:pPr lvl="1"/>
            <a:r>
              <a:rPr lang="en-US" altLang="zh-TW" dirty="0" smtClean="0"/>
              <a:t>The portion of the motherboard that  contains the host bridge. The host bridge allows the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ports to talk to the rest of the computer 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140968"/>
            <a:ext cx="4333255" cy="3006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82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PCIe</a:t>
            </a:r>
            <a:r>
              <a:rPr lang="en-US" altLang="zh-TW" dirty="0" smtClean="0"/>
              <a:t> Device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Device</a:t>
            </a:r>
          </a:p>
          <a:p>
            <a:pPr lvl="1"/>
            <a:r>
              <a:rPr lang="en-US" altLang="zh-TW" dirty="0"/>
              <a:t>Unique PCI Function Address</a:t>
            </a:r>
          </a:p>
          <a:p>
            <a:pPr lvl="2"/>
            <a:r>
              <a:rPr lang="en-US" altLang="zh-TW" dirty="0"/>
              <a:t>Bus / </a:t>
            </a:r>
            <a:r>
              <a:rPr lang="en-US" altLang="zh-TW" dirty="0" err="1"/>
              <a:t>Dev</a:t>
            </a:r>
            <a:r>
              <a:rPr lang="en-US" altLang="zh-TW" dirty="0"/>
              <a:t> / </a:t>
            </a:r>
            <a:r>
              <a:rPr lang="en-US" altLang="zh-TW" b="1" dirty="0">
                <a:solidFill>
                  <a:srgbClr val="FF0000"/>
                </a:solidFill>
              </a:rPr>
              <a:t>Function</a:t>
            </a:r>
          </a:p>
          <a:p>
            <a:pPr lvl="2"/>
            <a:r>
              <a:rPr lang="en-US" altLang="zh-TW" dirty="0" smtClean="0"/>
              <a:t>Command, </a:t>
            </a:r>
            <a:r>
              <a:rPr lang="en-US" altLang="zh-TW" dirty="0" err="1" smtClean="0"/>
              <a:t>lspci</a:t>
            </a:r>
            <a:r>
              <a:rPr lang="en-US" altLang="zh-TW" dirty="0" smtClean="0"/>
              <a:t> -v,  can get PCI device information on </a:t>
            </a:r>
            <a:r>
              <a:rPr lang="en-US" altLang="zh-TW" dirty="0" err="1" smtClean="0"/>
              <a:t>linux</a:t>
            </a:r>
            <a:r>
              <a:rPr lang="en-US" altLang="zh-TW" dirty="0" smtClean="0"/>
              <a:t> 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244740" y="3047270"/>
            <a:ext cx="5407379" cy="3226723"/>
            <a:chOff x="81314" y="3487990"/>
            <a:chExt cx="6362893" cy="3226723"/>
          </a:xfrm>
        </p:grpSpPr>
        <p:pic>
          <p:nvPicPr>
            <p:cNvPr id="5124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314" y="3487990"/>
              <a:ext cx="6362893" cy="32267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" name="直線接點 4"/>
            <p:cNvCxnSpPr/>
            <p:nvPr/>
          </p:nvCxnSpPr>
          <p:spPr>
            <a:xfrm>
              <a:off x="81314" y="3789040"/>
              <a:ext cx="53024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414" y="3574421"/>
            <a:ext cx="2454920" cy="2059601"/>
          </a:xfrm>
          <a:prstGeom prst="rect">
            <a:avLst/>
          </a:prstGeom>
        </p:spPr>
      </p:pic>
      <p:cxnSp>
        <p:nvCxnSpPr>
          <p:cNvPr id="12" name="直線單箭頭接點 11"/>
          <p:cNvCxnSpPr>
            <a:endCxn id="15" idx="2"/>
          </p:cNvCxnSpPr>
          <p:nvPr/>
        </p:nvCxnSpPr>
        <p:spPr>
          <a:xfrm flipV="1">
            <a:off x="7668344" y="3624115"/>
            <a:ext cx="369485" cy="9801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7541874" y="3224005"/>
            <a:ext cx="991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/>
              <a:t>Device</a:t>
            </a:r>
            <a:endParaRPr lang="zh-TW" altLang="en-US" sz="2000" b="1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796136" y="6117050"/>
            <a:ext cx="1457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/>
              <a:t>Function1</a:t>
            </a:r>
            <a:endParaRPr lang="zh-TW" altLang="en-US" sz="2000" b="1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7614204" y="5701160"/>
            <a:ext cx="1529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/>
              <a:t>Function2</a:t>
            </a:r>
            <a:endParaRPr lang="zh-TW" altLang="en-US" sz="2000" b="1" dirty="0"/>
          </a:p>
        </p:txBody>
      </p:sp>
      <p:cxnSp>
        <p:nvCxnSpPr>
          <p:cNvPr id="21" name="直線單箭頭接點 20"/>
          <p:cNvCxnSpPr>
            <a:endCxn id="24" idx="0"/>
          </p:cNvCxnSpPr>
          <p:nvPr/>
        </p:nvCxnSpPr>
        <p:spPr>
          <a:xfrm>
            <a:off x="6973572" y="4604221"/>
            <a:ext cx="1405530" cy="10969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endCxn id="23" idx="0"/>
          </p:cNvCxnSpPr>
          <p:nvPr/>
        </p:nvCxnSpPr>
        <p:spPr>
          <a:xfrm flipH="1">
            <a:off x="6524990" y="4956948"/>
            <a:ext cx="279258" cy="11601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41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Example: Multi-Function Device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r>
              <a:rPr lang="en-US" altLang="zh-TW" dirty="0" smtClean="0"/>
              <a:t>The link and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functionality shared by all functions is </a:t>
            </a:r>
            <a:r>
              <a:rPr lang="en-US" altLang="zh-TW" dirty="0" smtClean="0">
                <a:solidFill>
                  <a:srgbClr val="FF0000"/>
                </a:solidFill>
              </a:rPr>
              <a:t>managed through </a:t>
            </a:r>
            <a:r>
              <a:rPr lang="en-US" altLang="zh-TW" b="1" dirty="0" smtClean="0">
                <a:solidFill>
                  <a:srgbClr val="FF0000"/>
                </a:solidFill>
              </a:rPr>
              <a:t>Function 0</a:t>
            </a:r>
          </a:p>
          <a:p>
            <a:r>
              <a:rPr lang="en-US" altLang="zh-TW" dirty="0" smtClean="0"/>
              <a:t>All functions use a single Bus Number captured through the PCI enumeration process</a:t>
            </a:r>
            <a:endParaRPr lang="en-US" altLang="zh-TW" dirty="0"/>
          </a:p>
          <a:p>
            <a:r>
              <a:rPr lang="en-US" altLang="zh-TW" dirty="0" smtClean="0">
                <a:solidFill>
                  <a:srgbClr val="FF0000"/>
                </a:solidFill>
              </a:rPr>
              <a:t>Each function can be assigned to an SI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grpSp>
        <p:nvGrpSpPr>
          <p:cNvPr id="19" name="群組 18"/>
          <p:cNvGrpSpPr/>
          <p:nvPr/>
        </p:nvGrpSpPr>
        <p:grpSpPr>
          <a:xfrm>
            <a:off x="1206739" y="3841660"/>
            <a:ext cx="6516216" cy="2787880"/>
            <a:chOff x="1972086" y="2348880"/>
            <a:chExt cx="6632361" cy="2952328"/>
          </a:xfrm>
        </p:grpSpPr>
        <p:grpSp>
          <p:nvGrpSpPr>
            <p:cNvPr id="20" name="群組 19"/>
            <p:cNvGrpSpPr/>
            <p:nvPr/>
          </p:nvGrpSpPr>
          <p:grpSpPr>
            <a:xfrm>
              <a:off x="1972086" y="2348880"/>
              <a:ext cx="6632361" cy="2952328"/>
              <a:chOff x="1024106" y="2348880"/>
              <a:chExt cx="7580342" cy="2952328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1403648" y="2348880"/>
                <a:ext cx="7200800" cy="295232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grpSp>
            <p:nvGrpSpPr>
              <p:cNvPr id="23" name="群組 22"/>
              <p:cNvGrpSpPr/>
              <p:nvPr/>
            </p:nvGrpSpPr>
            <p:grpSpPr>
              <a:xfrm>
                <a:off x="5289829" y="2513328"/>
                <a:ext cx="3314618" cy="655222"/>
                <a:chOff x="5868143" y="1988840"/>
                <a:chExt cx="3314618" cy="655222"/>
              </a:xfrm>
            </p:grpSpPr>
            <p:sp>
              <p:nvSpPr>
                <p:cNvPr id="44" name="矩形 43"/>
                <p:cNvSpPr/>
                <p:nvPr/>
              </p:nvSpPr>
              <p:spPr>
                <a:xfrm>
                  <a:off x="5868143" y="1988840"/>
                  <a:ext cx="3314618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dirty="0" smtClean="0"/>
                    <a:t>Function 0 </a:t>
                  </a:r>
                  <a:endParaRPr lang="zh-TW" altLang="en-US" dirty="0"/>
                </a:p>
              </p:txBody>
            </p:sp>
            <p:sp>
              <p:nvSpPr>
                <p:cNvPr id="45" name="矩形 44"/>
                <p:cNvSpPr/>
                <p:nvPr/>
              </p:nvSpPr>
              <p:spPr>
                <a:xfrm>
                  <a:off x="7413609" y="2073271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ATC1</a:t>
                  </a:r>
                  <a:endParaRPr lang="zh-TW" altLang="en-US" sz="1200" dirty="0"/>
                </a:p>
              </p:txBody>
            </p:sp>
            <p:sp>
              <p:nvSpPr>
                <p:cNvPr id="46" name="矩形 45"/>
                <p:cNvSpPr/>
                <p:nvPr/>
              </p:nvSpPr>
              <p:spPr>
                <a:xfrm>
                  <a:off x="8158903" y="2073271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Physical Resources1</a:t>
                  </a:r>
                  <a:endParaRPr lang="zh-TW" altLang="en-US" sz="1200" dirty="0"/>
                </a:p>
              </p:txBody>
            </p:sp>
          </p:grpSp>
          <p:grpSp>
            <p:nvGrpSpPr>
              <p:cNvPr id="24" name="群組 23"/>
              <p:cNvGrpSpPr/>
              <p:nvPr/>
            </p:nvGrpSpPr>
            <p:grpSpPr>
              <a:xfrm>
                <a:off x="5289830" y="3450529"/>
                <a:ext cx="3291611" cy="655222"/>
                <a:chOff x="5868144" y="1988840"/>
                <a:chExt cx="3291611" cy="655222"/>
              </a:xfrm>
            </p:grpSpPr>
            <p:sp>
              <p:nvSpPr>
                <p:cNvPr id="41" name="矩形 40"/>
                <p:cNvSpPr/>
                <p:nvPr/>
              </p:nvSpPr>
              <p:spPr>
                <a:xfrm>
                  <a:off x="5868144" y="1988840"/>
                  <a:ext cx="3291611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dirty="0" smtClean="0"/>
                    <a:t>Function 1 </a:t>
                  </a:r>
                  <a:endParaRPr lang="zh-TW" altLang="en-US" dirty="0"/>
                </a:p>
              </p:txBody>
            </p:sp>
            <p:sp>
              <p:nvSpPr>
                <p:cNvPr id="42" name="矩形 41"/>
                <p:cNvSpPr/>
                <p:nvPr/>
              </p:nvSpPr>
              <p:spPr>
                <a:xfrm>
                  <a:off x="7413609" y="2088605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ATC2</a:t>
                  </a:r>
                  <a:endParaRPr lang="zh-TW" altLang="en-US" sz="1200" dirty="0"/>
                </a:p>
              </p:txBody>
            </p:sp>
            <p:sp>
              <p:nvSpPr>
                <p:cNvPr id="43" name="矩形 42"/>
                <p:cNvSpPr/>
                <p:nvPr/>
              </p:nvSpPr>
              <p:spPr>
                <a:xfrm>
                  <a:off x="8133689" y="2088605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Physical Resources2</a:t>
                  </a:r>
                  <a:endParaRPr lang="zh-TW" altLang="en-US" sz="1200" dirty="0"/>
                </a:p>
              </p:txBody>
            </p:sp>
          </p:grpSp>
          <p:grpSp>
            <p:nvGrpSpPr>
              <p:cNvPr id="25" name="群組 24"/>
              <p:cNvGrpSpPr/>
              <p:nvPr/>
            </p:nvGrpSpPr>
            <p:grpSpPr>
              <a:xfrm>
                <a:off x="5289830" y="4295355"/>
                <a:ext cx="3291611" cy="655222"/>
                <a:chOff x="5868144" y="1988840"/>
                <a:chExt cx="3291611" cy="655222"/>
              </a:xfrm>
            </p:grpSpPr>
            <p:sp>
              <p:nvSpPr>
                <p:cNvPr id="38" name="矩形 37"/>
                <p:cNvSpPr/>
                <p:nvPr/>
              </p:nvSpPr>
              <p:spPr>
                <a:xfrm>
                  <a:off x="5868144" y="1988840"/>
                  <a:ext cx="3291611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dirty="0" smtClean="0"/>
                    <a:t>Function 2 </a:t>
                  </a:r>
                  <a:endParaRPr lang="zh-TW" altLang="en-US" dirty="0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7438823" y="2088605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ATC3</a:t>
                  </a:r>
                  <a:endParaRPr lang="zh-TW" altLang="en-US" sz="1200" dirty="0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>
                  <a:off x="8158902" y="2088605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Physical Resources3</a:t>
                  </a:r>
                  <a:endParaRPr lang="zh-TW" altLang="en-US" sz="1200" dirty="0"/>
                </a:p>
              </p:txBody>
            </p:sp>
          </p:grpSp>
          <p:sp>
            <p:nvSpPr>
              <p:cNvPr id="26" name="六邊形 25"/>
              <p:cNvSpPr/>
              <p:nvPr/>
            </p:nvSpPr>
            <p:spPr>
              <a:xfrm>
                <a:off x="3159494" y="3406285"/>
                <a:ext cx="1152128" cy="753479"/>
              </a:xfrm>
              <a:prstGeom prst="hexagon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Internal Routing</a:t>
                </a:r>
                <a:endParaRPr lang="zh-TW" altLang="en-US" sz="1200" dirty="0"/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514887" y="2573048"/>
                <a:ext cx="1656184" cy="586789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Configuration Resources</a:t>
                </a:r>
                <a:endParaRPr lang="zh-TW" altLang="en-US" sz="1200" dirty="0"/>
              </a:p>
            </p:txBody>
          </p:sp>
          <p:cxnSp>
            <p:nvCxnSpPr>
              <p:cNvPr id="28" name="肘形接點 27"/>
              <p:cNvCxnSpPr>
                <a:stCxn id="44" idx="1"/>
                <a:endCxn id="26" idx="5"/>
              </p:cNvCxnSpPr>
              <p:nvPr/>
            </p:nvCxnSpPr>
            <p:spPr>
              <a:xfrm rot="10800000" flipV="1">
                <a:off x="4099523" y="2840939"/>
                <a:ext cx="1190307" cy="565346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肘形接點 28"/>
              <p:cNvCxnSpPr>
                <a:stCxn id="41" idx="1"/>
                <a:endCxn id="26" idx="0"/>
              </p:cNvCxnSpPr>
              <p:nvPr/>
            </p:nvCxnSpPr>
            <p:spPr>
              <a:xfrm rot="10800000" flipV="1">
                <a:off x="4311622" y="3778139"/>
                <a:ext cx="978208" cy="4885"/>
              </a:xfrm>
              <a:prstGeom prst="bentConnector3">
                <a:avLst>
                  <a:gd name="adj1" fmla="val 50000"/>
                </a:avLst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肘形接點 29"/>
              <p:cNvCxnSpPr>
                <a:stCxn id="38" idx="1"/>
                <a:endCxn id="26" idx="1"/>
              </p:cNvCxnSpPr>
              <p:nvPr/>
            </p:nvCxnSpPr>
            <p:spPr>
              <a:xfrm rot="10800000">
                <a:off x="4099522" y="4159764"/>
                <a:ext cx="1190308" cy="463202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肘形接點 30"/>
              <p:cNvCxnSpPr>
                <a:stCxn id="27" idx="3"/>
                <a:endCxn id="26" idx="4"/>
              </p:cNvCxnSpPr>
              <p:nvPr/>
            </p:nvCxnSpPr>
            <p:spPr>
              <a:xfrm>
                <a:off x="3171071" y="2866443"/>
                <a:ext cx="176793" cy="539842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矩形 31"/>
              <p:cNvSpPr/>
              <p:nvPr/>
            </p:nvSpPr>
            <p:spPr>
              <a:xfrm>
                <a:off x="1024106" y="3331168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err="1" smtClean="0"/>
                  <a:t>PCIe</a:t>
                </a:r>
                <a:endParaRPr lang="en-US" altLang="zh-TW" dirty="0" smtClean="0"/>
              </a:p>
              <a:p>
                <a:pPr algn="ctr"/>
                <a:r>
                  <a:rPr lang="en-US" altLang="zh-TW" dirty="0" smtClean="0"/>
                  <a:t>Port</a:t>
                </a:r>
                <a:endParaRPr lang="zh-TW" altLang="en-US" dirty="0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057687" y="4054350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err="1" smtClean="0"/>
                  <a:t>PCIe</a:t>
                </a:r>
                <a:endParaRPr lang="en-US" altLang="zh-TW" dirty="0" smtClean="0"/>
              </a:p>
              <a:p>
                <a:pPr algn="ctr"/>
                <a:r>
                  <a:rPr lang="en-US" altLang="zh-TW" dirty="0" smtClean="0"/>
                  <a:t>Port</a:t>
                </a:r>
                <a:endParaRPr lang="zh-TW" altLang="en-US" dirty="0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1057687" y="4749471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err="1" smtClean="0"/>
                  <a:t>PCIe</a:t>
                </a:r>
                <a:endParaRPr lang="en-US" altLang="zh-TW" dirty="0" smtClean="0"/>
              </a:p>
              <a:p>
                <a:pPr algn="ctr"/>
                <a:r>
                  <a:rPr lang="en-US" altLang="zh-TW" dirty="0" smtClean="0"/>
                  <a:t>Port</a:t>
                </a:r>
                <a:endParaRPr lang="zh-TW" altLang="en-US" dirty="0"/>
              </a:p>
            </p:txBody>
          </p:sp>
          <p:cxnSp>
            <p:nvCxnSpPr>
              <p:cNvPr id="35" name="肘形接點 34"/>
              <p:cNvCxnSpPr>
                <a:stCxn id="32" idx="3"/>
                <a:endCxn id="26" idx="3"/>
              </p:cNvCxnSpPr>
              <p:nvPr/>
            </p:nvCxnSpPr>
            <p:spPr>
              <a:xfrm>
                <a:off x="1938506" y="3583196"/>
                <a:ext cx="1220988" cy="199829"/>
              </a:xfrm>
              <a:prstGeom prst="bentConnector3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肘形接點 35"/>
              <p:cNvCxnSpPr>
                <a:stCxn id="33" idx="3"/>
                <a:endCxn id="26" idx="2"/>
              </p:cNvCxnSpPr>
              <p:nvPr/>
            </p:nvCxnSpPr>
            <p:spPr>
              <a:xfrm flipV="1">
                <a:off x="1972087" y="4159764"/>
                <a:ext cx="1375777" cy="146614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肘形接點 36"/>
              <p:cNvCxnSpPr>
                <a:stCxn id="34" idx="3"/>
                <a:endCxn id="26" idx="2"/>
              </p:cNvCxnSpPr>
              <p:nvPr/>
            </p:nvCxnSpPr>
            <p:spPr>
              <a:xfrm flipV="1">
                <a:off x="1972087" y="4159764"/>
                <a:ext cx="1375777" cy="841735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文字方塊 20"/>
            <p:cNvSpPr txBox="1"/>
            <p:nvPr/>
          </p:nvSpPr>
          <p:spPr>
            <a:xfrm>
              <a:off x="4135616" y="4895276"/>
              <a:ext cx="14257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err="1" smtClean="0"/>
                <a:t>PCIe</a:t>
              </a:r>
              <a:r>
                <a:rPr lang="en-US" altLang="zh-TW" sz="2000" b="1" dirty="0" smtClean="0"/>
                <a:t> Device</a:t>
              </a:r>
              <a:endParaRPr lang="zh-TW" alt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00894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Components in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Device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89054" y="2132856"/>
            <a:ext cx="4254946" cy="4295403"/>
          </a:xfrm>
        </p:spPr>
        <p:txBody>
          <a:bodyPr/>
          <a:lstStyle/>
          <a:p>
            <a:r>
              <a:rPr lang="en-US" altLang="zh-TW" dirty="0" smtClean="0"/>
              <a:t>Configuration Space</a:t>
            </a:r>
          </a:p>
          <a:p>
            <a:pPr lvl="1"/>
            <a:r>
              <a:rPr lang="en-US" altLang="zh-TW" dirty="0" smtClean="0"/>
              <a:t>Devices will </a:t>
            </a:r>
            <a:r>
              <a:rPr lang="en-US" altLang="zh-TW" b="1" dirty="0" smtClean="0">
                <a:solidFill>
                  <a:srgbClr val="FF0000"/>
                </a:solidFill>
              </a:rPr>
              <a:t>allocate resource such as memory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/>
              <a:t>and record the address into this configuration space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 smtClean="0"/>
              <a:t>Reference:</a:t>
            </a:r>
          </a:p>
          <a:p>
            <a:pPr lvl="2"/>
            <a:r>
              <a:rPr lang="en-US" altLang="zh-TW" dirty="0" smtClean="0"/>
              <a:t>PCI Local Bus Specification ver.2.3 Chap 6</a:t>
            </a:r>
            <a:endParaRPr lang="zh-TW" altLang="en-US" dirty="0"/>
          </a:p>
        </p:txBody>
      </p:sp>
      <p:sp>
        <p:nvSpPr>
          <p:cNvPr id="85" name="矩形 84"/>
          <p:cNvSpPr/>
          <p:nvPr/>
        </p:nvSpPr>
        <p:spPr>
          <a:xfrm>
            <a:off x="5868144" y="1340768"/>
            <a:ext cx="1423689" cy="55410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Configuration Resources</a:t>
            </a:r>
            <a:endParaRPr lang="zh-TW" altLang="en-US" sz="12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0768"/>
            <a:ext cx="4781550" cy="494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5282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Components in </a:t>
            </a:r>
            <a:r>
              <a:rPr lang="en-US" altLang="zh-TW" dirty="0" err="1"/>
              <a:t>PCIe</a:t>
            </a:r>
            <a:r>
              <a:rPr lang="en-US" altLang="zh-TW" dirty="0"/>
              <a:t> Device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52736"/>
            <a:ext cx="8686800" cy="5805264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ARI – </a:t>
            </a:r>
            <a:r>
              <a:rPr lang="en-US" altLang="zh-TW" b="1" dirty="0" smtClean="0"/>
              <a:t>A</a:t>
            </a:r>
            <a:r>
              <a:rPr lang="en-US" altLang="zh-TW" dirty="0" smtClean="0"/>
              <a:t>lternative </a:t>
            </a:r>
            <a:r>
              <a:rPr lang="en-US" altLang="zh-TW" b="1" dirty="0" smtClean="0"/>
              <a:t>R</a:t>
            </a:r>
            <a:r>
              <a:rPr lang="en-US" altLang="zh-TW" dirty="0" smtClean="0"/>
              <a:t>outing Id </a:t>
            </a:r>
            <a:r>
              <a:rPr lang="en-US" altLang="zh-TW" b="1" dirty="0" smtClean="0"/>
              <a:t>I</a:t>
            </a:r>
            <a:r>
              <a:rPr lang="en-US" altLang="zh-TW" dirty="0" smtClean="0"/>
              <a:t>nterpretation</a:t>
            </a:r>
          </a:p>
          <a:p>
            <a:pPr lvl="1"/>
            <a:r>
              <a:rPr lang="en-US" altLang="zh-TW" dirty="0" smtClean="0"/>
              <a:t>Alternative </a:t>
            </a:r>
            <a:r>
              <a:rPr lang="en-US" altLang="zh-TW" dirty="0"/>
              <a:t>Routing ID Interpretation as </a:t>
            </a:r>
            <a:r>
              <a:rPr lang="en-US" altLang="zh-TW" dirty="0" smtClean="0"/>
              <a:t>per the </a:t>
            </a:r>
            <a:r>
              <a:rPr lang="en-US" altLang="zh-TW" dirty="0" err="1"/>
              <a:t>PCIe</a:t>
            </a:r>
            <a:r>
              <a:rPr lang="en-US" altLang="zh-TW" dirty="0"/>
              <a:t> Base </a:t>
            </a:r>
            <a:r>
              <a:rPr lang="en-US" altLang="zh-TW" dirty="0" smtClean="0"/>
              <a:t>Specification</a:t>
            </a:r>
            <a:endParaRPr lang="zh-TW" altLang="en-US" dirty="0"/>
          </a:p>
          <a:p>
            <a:r>
              <a:rPr lang="en-US" altLang="zh-TW" dirty="0" smtClean="0"/>
              <a:t>Physical Resources</a:t>
            </a:r>
          </a:p>
          <a:p>
            <a:pPr lvl="1"/>
            <a:r>
              <a:rPr lang="en-US" altLang="zh-TW" dirty="0" smtClean="0"/>
              <a:t>Memory </a:t>
            </a:r>
            <a:r>
              <a:rPr lang="en-US" altLang="zh-TW" dirty="0"/>
              <a:t>which allocated from physical </a:t>
            </a:r>
            <a:r>
              <a:rPr lang="en-US" altLang="zh-TW" dirty="0" smtClean="0"/>
              <a:t>memory</a:t>
            </a:r>
          </a:p>
          <a:p>
            <a:pPr lvl="1"/>
            <a:endParaRPr lang="en-US" altLang="zh-TW" dirty="0"/>
          </a:p>
          <a:p>
            <a:r>
              <a:rPr lang="en-US" altLang="zh-TW" dirty="0" smtClean="0"/>
              <a:t>ATC - </a:t>
            </a:r>
            <a:r>
              <a:rPr lang="en-US" altLang="zh-TW" b="1" dirty="0" smtClean="0"/>
              <a:t>A</a:t>
            </a:r>
            <a:r>
              <a:rPr lang="en-US" altLang="zh-TW" dirty="0" smtClean="0"/>
              <a:t>ddress </a:t>
            </a:r>
            <a:r>
              <a:rPr lang="en-US" altLang="zh-TW" b="1" dirty="0" smtClean="0"/>
              <a:t>T</a:t>
            </a:r>
            <a:r>
              <a:rPr lang="en-US" altLang="zh-TW" dirty="0" smtClean="0"/>
              <a:t>ranslation </a:t>
            </a:r>
            <a:r>
              <a:rPr lang="en-US" altLang="zh-TW" b="1" dirty="0" smtClean="0"/>
              <a:t>C</a:t>
            </a:r>
            <a:r>
              <a:rPr lang="en-US" altLang="zh-TW" dirty="0" smtClean="0"/>
              <a:t>ache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b="1" dirty="0" smtClean="0"/>
              <a:t>hardware</a:t>
            </a:r>
            <a:r>
              <a:rPr lang="en-US" altLang="zh-TW" dirty="0" smtClean="0"/>
              <a:t> stores recently </a:t>
            </a:r>
          </a:p>
          <a:p>
            <a:pPr marL="457200" lvl="1" indent="0">
              <a:buNone/>
            </a:pPr>
            <a:r>
              <a:rPr lang="en-US" altLang="zh-TW" dirty="0" smtClean="0"/>
              <a:t>    used address translations.</a:t>
            </a:r>
          </a:p>
          <a:p>
            <a:pPr lvl="1"/>
            <a:r>
              <a:rPr lang="en-US" altLang="zh-TW" dirty="0" smtClean="0"/>
              <a:t>This term is used instead of </a:t>
            </a:r>
          </a:p>
          <a:p>
            <a:pPr marL="457200" lvl="1" indent="0">
              <a:buNone/>
            </a:pPr>
            <a:r>
              <a:rPr lang="en-US" altLang="zh-TW" dirty="0" smtClean="0"/>
              <a:t>     TLB buffer</a:t>
            </a:r>
            <a:endParaRPr lang="en-US" altLang="zh-TW" dirty="0"/>
          </a:p>
          <a:p>
            <a:pPr lvl="1"/>
            <a:r>
              <a:rPr lang="en-US" altLang="zh-TW" dirty="0" smtClean="0"/>
              <a:t>To differentiate the</a:t>
            </a:r>
            <a:r>
              <a:rPr lang="en-US" altLang="zh-TW" b="1" dirty="0" smtClean="0"/>
              <a:t> TLB used </a:t>
            </a:r>
          </a:p>
          <a:p>
            <a:pPr marL="457200" lvl="1" indent="0">
              <a:buNone/>
            </a:pPr>
            <a:r>
              <a:rPr lang="en-US" altLang="zh-TW" b="1" dirty="0"/>
              <a:t> </a:t>
            </a:r>
            <a:r>
              <a:rPr lang="en-US" altLang="zh-TW" b="1" dirty="0" smtClean="0"/>
              <a:t>    for I/O</a:t>
            </a:r>
            <a:r>
              <a:rPr lang="en-US" altLang="zh-TW" dirty="0" smtClean="0"/>
              <a:t> from the </a:t>
            </a:r>
            <a:r>
              <a:rPr lang="en-US" altLang="zh-TW" b="1" dirty="0" smtClean="0"/>
              <a:t>TLB used by </a:t>
            </a:r>
          </a:p>
          <a:p>
            <a:pPr marL="457200" lvl="1" indent="0">
              <a:buNone/>
            </a:pPr>
            <a:r>
              <a:rPr lang="en-US" altLang="zh-TW" b="1" dirty="0"/>
              <a:t> </a:t>
            </a:r>
            <a:r>
              <a:rPr lang="en-US" altLang="zh-TW" b="1" dirty="0" smtClean="0"/>
              <a:t>    the CPU</a:t>
            </a:r>
            <a:endParaRPr lang="en-US" altLang="zh-TW" b="1" dirty="0"/>
          </a:p>
        </p:txBody>
      </p:sp>
      <p:grpSp>
        <p:nvGrpSpPr>
          <p:cNvPr id="48" name="群組 47"/>
          <p:cNvGrpSpPr/>
          <p:nvPr/>
        </p:nvGrpSpPr>
        <p:grpSpPr>
          <a:xfrm>
            <a:off x="4892801" y="4082853"/>
            <a:ext cx="4185397" cy="2301491"/>
            <a:chOff x="3537557" y="3996948"/>
            <a:chExt cx="4185397" cy="2301491"/>
          </a:xfrm>
        </p:grpSpPr>
        <p:grpSp>
          <p:nvGrpSpPr>
            <p:cNvPr id="21" name="群組 20"/>
            <p:cNvGrpSpPr/>
            <p:nvPr/>
          </p:nvGrpSpPr>
          <p:grpSpPr>
            <a:xfrm>
              <a:off x="4873641" y="3996948"/>
              <a:ext cx="2849313" cy="618725"/>
              <a:chOff x="5868143" y="1988840"/>
              <a:chExt cx="3314618" cy="655222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5868143" y="1988840"/>
                <a:ext cx="3314618" cy="655222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TW" dirty="0" smtClean="0"/>
                  <a:t>Function 0 </a:t>
                </a:r>
                <a:endParaRPr lang="zh-TW" altLang="en-US" dirty="0"/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7413609" y="2073271"/>
                <a:ext cx="720080" cy="504056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ATC1</a:t>
                </a:r>
                <a:endParaRPr lang="zh-TW" altLang="en-US" sz="1200" dirty="0"/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8158903" y="2073271"/>
                <a:ext cx="1000852" cy="50405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Physical Resources1</a:t>
                </a:r>
                <a:endParaRPr lang="zh-TW" altLang="en-US" sz="1200" dirty="0"/>
              </a:p>
            </p:txBody>
          </p:sp>
        </p:grpSp>
        <p:grpSp>
          <p:nvGrpSpPr>
            <p:cNvPr id="22" name="群組 21"/>
            <p:cNvGrpSpPr/>
            <p:nvPr/>
          </p:nvGrpSpPr>
          <p:grpSpPr>
            <a:xfrm>
              <a:off x="4873642" y="4881946"/>
              <a:ext cx="2829536" cy="618725"/>
              <a:chOff x="5868144" y="1988840"/>
              <a:chExt cx="3291611" cy="655222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5868144" y="1988840"/>
                <a:ext cx="3291611" cy="655222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TW" dirty="0" smtClean="0"/>
                  <a:t>Function 1 </a:t>
                </a:r>
                <a:endParaRPr lang="zh-TW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7413609" y="2088605"/>
                <a:ext cx="720080" cy="504056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ATC2</a:t>
                </a:r>
                <a:endParaRPr lang="zh-TW" altLang="en-US" sz="1200" dirty="0"/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8133689" y="2088605"/>
                <a:ext cx="1000852" cy="50405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Physical Resources2</a:t>
                </a:r>
                <a:endParaRPr lang="zh-TW" altLang="en-US" sz="1200" dirty="0"/>
              </a:p>
            </p:txBody>
          </p:sp>
        </p:grpSp>
        <p:grpSp>
          <p:nvGrpSpPr>
            <p:cNvPr id="23" name="群組 22"/>
            <p:cNvGrpSpPr/>
            <p:nvPr/>
          </p:nvGrpSpPr>
          <p:grpSpPr>
            <a:xfrm>
              <a:off x="4873642" y="5679714"/>
              <a:ext cx="2829536" cy="618725"/>
              <a:chOff x="5868144" y="1988840"/>
              <a:chExt cx="3291611" cy="655222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5868144" y="1988840"/>
                <a:ext cx="3291611" cy="655222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TW" dirty="0" smtClean="0"/>
                  <a:t>Function 2 </a:t>
                </a:r>
                <a:endParaRPr lang="zh-TW" altLang="en-US" dirty="0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7438823" y="2088605"/>
                <a:ext cx="720080" cy="504056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ATC3</a:t>
                </a:r>
                <a:endParaRPr lang="zh-TW" altLang="en-US" sz="1200" dirty="0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8158902" y="2088605"/>
                <a:ext cx="1000852" cy="50405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Physical Resources3</a:t>
                </a:r>
                <a:endParaRPr lang="zh-TW" altLang="en-US" sz="1200" dirty="0"/>
              </a:p>
            </p:txBody>
          </p:sp>
        </p:grpSp>
        <p:sp>
          <p:nvSpPr>
            <p:cNvPr id="24" name="六邊形 23"/>
            <p:cNvSpPr/>
            <p:nvPr/>
          </p:nvSpPr>
          <p:spPr>
            <a:xfrm>
              <a:off x="3537557" y="4835553"/>
              <a:ext cx="990393" cy="711509"/>
            </a:xfrm>
            <a:prstGeom prst="hexagon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Internal Routing</a:t>
              </a:r>
              <a:endParaRPr lang="zh-TW" altLang="en-US" sz="1200" dirty="0"/>
            </a:p>
          </p:txBody>
        </p:sp>
        <p:cxnSp>
          <p:nvCxnSpPr>
            <p:cNvPr id="26" name="肘形接點 25"/>
            <p:cNvCxnSpPr>
              <a:stCxn id="42" idx="1"/>
              <a:endCxn id="24" idx="5"/>
            </p:cNvCxnSpPr>
            <p:nvPr/>
          </p:nvCxnSpPr>
          <p:spPr>
            <a:xfrm rot="10800000" flipV="1">
              <a:off x="4350073" y="4306311"/>
              <a:ext cx="523568" cy="529242"/>
            </a:xfrm>
            <a:prstGeom prst="bentConnector2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肘形接點 26"/>
            <p:cNvCxnSpPr>
              <a:stCxn id="39" idx="1"/>
              <a:endCxn id="24" idx="0"/>
            </p:cNvCxnSpPr>
            <p:nvPr/>
          </p:nvCxnSpPr>
          <p:spPr>
            <a:xfrm rot="10800000">
              <a:off x="4527950" y="5191309"/>
              <a:ext cx="345692" cy="1"/>
            </a:xfrm>
            <a:prstGeom prst="bentConnector3">
              <a:avLst>
                <a:gd name="adj1" fmla="val 50000"/>
              </a:avLst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肘形接點 27"/>
            <p:cNvCxnSpPr>
              <a:stCxn id="36" idx="1"/>
              <a:endCxn id="24" idx="1"/>
            </p:cNvCxnSpPr>
            <p:nvPr/>
          </p:nvCxnSpPr>
          <p:spPr>
            <a:xfrm rot="10800000">
              <a:off x="4350074" y="5547063"/>
              <a:ext cx="523569" cy="442015"/>
            </a:xfrm>
            <a:prstGeom prst="bentConnector2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9691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Physical V.S. Virtual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379968" y="1138823"/>
            <a:ext cx="6516216" cy="2552864"/>
            <a:chOff x="1972086" y="2348880"/>
            <a:chExt cx="6632361" cy="2952328"/>
          </a:xfrm>
        </p:grpSpPr>
        <p:grpSp>
          <p:nvGrpSpPr>
            <p:cNvPr id="5" name="群組 4"/>
            <p:cNvGrpSpPr/>
            <p:nvPr/>
          </p:nvGrpSpPr>
          <p:grpSpPr>
            <a:xfrm>
              <a:off x="1972086" y="2348880"/>
              <a:ext cx="6632361" cy="2952328"/>
              <a:chOff x="1024106" y="2348880"/>
              <a:chExt cx="7580342" cy="2952328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403648" y="2348880"/>
                <a:ext cx="7200800" cy="295232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grpSp>
            <p:nvGrpSpPr>
              <p:cNvPr id="8" name="群組 7"/>
              <p:cNvGrpSpPr/>
              <p:nvPr/>
            </p:nvGrpSpPr>
            <p:grpSpPr>
              <a:xfrm>
                <a:off x="5289829" y="2513328"/>
                <a:ext cx="3314618" cy="655222"/>
                <a:chOff x="5868143" y="1988840"/>
                <a:chExt cx="3314618" cy="655222"/>
              </a:xfrm>
            </p:grpSpPr>
            <p:sp>
              <p:nvSpPr>
                <p:cNvPr id="29" name="矩形 28"/>
                <p:cNvSpPr/>
                <p:nvPr/>
              </p:nvSpPr>
              <p:spPr>
                <a:xfrm>
                  <a:off x="5868143" y="1988840"/>
                  <a:ext cx="3314618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dirty="0" smtClean="0"/>
                    <a:t>Function 0 </a:t>
                  </a:r>
                  <a:endParaRPr lang="zh-TW" altLang="en-US" dirty="0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>
                  <a:off x="7413609" y="2073271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ATC1</a:t>
                  </a:r>
                  <a:endParaRPr lang="zh-TW" altLang="en-US" sz="1200" dirty="0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8158903" y="2073271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Physical Resources1</a:t>
                  </a:r>
                  <a:endParaRPr lang="zh-TW" altLang="en-US" sz="1200" dirty="0"/>
                </a:p>
              </p:txBody>
            </p:sp>
          </p:grpSp>
          <p:grpSp>
            <p:nvGrpSpPr>
              <p:cNvPr id="9" name="群組 8"/>
              <p:cNvGrpSpPr/>
              <p:nvPr/>
            </p:nvGrpSpPr>
            <p:grpSpPr>
              <a:xfrm>
                <a:off x="5289830" y="3450529"/>
                <a:ext cx="3291611" cy="655222"/>
                <a:chOff x="5868144" y="1988840"/>
                <a:chExt cx="3291611" cy="655222"/>
              </a:xfrm>
            </p:grpSpPr>
            <p:sp>
              <p:nvSpPr>
                <p:cNvPr id="26" name="矩形 25"/>
                <p:cNvSpPr/>
                <p:nvPr/>
              </p:nvSpPr>
              <p:spPr>
                <a:xfrm>
                  <a:off x="5868144" y="1988840"/>
                  <a:ext cx="3291611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dirty="0" smtClean="0"/>
                    <a:t>Function 1 </a:t>
                  </a:r>
                  <a:endParaRPr lang="zh-TW" altLang="en-US" dirty="0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7413609" y="2088605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ATC2</a:t>
                  </a:r>
                  <a:endParaRPr lang="zh-TW" altLang="en-US" sz="1200" dirty="0"/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>
                  <a:off x="8133689" y="2088605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Physical Resources2</a:t>
                  </a:r>
                  <a:endParaRPr lang="zh-TW" altLang="en-US" sz="1200" dirty="0"/>
                </a:p>
              </p:txBody>
            </p:sp>
          </p:grpSp>
          <p:grpSp>
            <p:nvGrpSpPr>
              <p:cNvPr id="10" name="群組 9"/>
              <p:cNvGrpSpPr/>
              <p:nvPr/>
            </p:nvGrpSpPr>
            <p:grpSpPr>
              <a:xfrm>
                <a:off x="5289830" y="4295355"/>
                <a:ext cx="3291611" cy="655222"/>
                <a:chOff x="5868144" y="1988840"/>
                <a:chExt cx="3291611" cy="655222"/>
              </a:xfrm>
            </p:grpSpPr>
            <p:sp>
              <p:nvSpPr>
                <p:cNvPr id="23" name="矩形 22"/>
                <p:cNvSpPr/>
                <p:nvPr/>
              </p:nvSpPr>
              <p:spPr>
                <a:xfrm>
                  <a:off x="5868144" y="1988840"/>
                  <a:ext cx="3291611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dirty="0" smtClean="0"/>
                    <a:t>Function 2 </a:t>
                  </a:r>
                  <a:endParaRPr lang="zh-TW" altLang="en-US" dirty="0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7438823" y="2088605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ATC3</a:t>
                  </a:r>
                  <a:endParaRPr lang="zh-TW" altLang="en-US" sz="1200" dirty="0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8158902" y="2088605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Physical Resources3</a:t>
                  </a:r>
                  <a:endParaRPr lang="zh-TW" altLang="en-US" sz="1200" dirty="0"/>
                </a:p>
              </p:txBody>
            </p:sp>
          </p:grpSp>
          <p:sp>
            <p:nvSpPr>
              <p:cNvPr id="11" name="六邊形 10"/>
              <p:cNvSpPr/>
              <p:nvPr/>
            </p:nvSpPr>
            <p:spPr>
              <a:xfrm>
                <a:off x="3159494" y="3406285"/>
                <a:ext cx="1152128" cy="753479"/>
              </a:xfrm>
              <a:prstGeom prst="hexagon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Internal Routing</a:t>
                </a:r>
                <a:endParaRPr lang="zh-TW" altLang="en-US" sz="1200" dirty="0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1514887" y="2573048"/>
                <a:ext cx="1656184" cy="586789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Configuration Resources</a:t>
                </a:r>
                <a:endParaRPr lang="zh-TW" altLang="en-US" sz="1200" dirty="0"/>
              </a:p>
            </p:txBody>
          </p:sp>
          <p:cxnSp>
            <p:nvCxnSpPr>
              <p:cNvPr id="13" name="肘形接點 12"/>
              <p:cNvCxnSpPr>
                <a:stCxn id="29" idx="1"/>
                <a:endCxn id="11" idx="5"/>
              </p:cNvCxnSpPr>
              <p:nvPr/>
            </p:nvCxnSpPr>
            <p:spPr>
              <a:xfrm rot="10800000" flipV="1">
                <a:off x="4099523" y="2840939"/>
                <a:ext cx="1190307" cy="565346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肘形接點 13"/>
              <p:cNvCxnSpPr>
                <a:stCxn id="26" idx="1"/>
                <a:endCxn id="11" idx="0"/>
              </p:cNvCxnSpPr>
              <p:nvPr/>
            </p:nvCxnSpPr>
            <p:spPr>
              <a:xfrm rot="10800000" flipV="1">
                <a:off x="4311622" y="3778139"/>
                <a:ext cx="978208" cy="4885"/>
              </a:xfrm>
              <a:prstGeom prst="bentConnector3">
                <a:avLst>
                  <a:gd name="adj1" fmla="val 50000"/>
                </a:avLst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肘形接點 14"/>
              <p:cNvCxnSpPr>
                <a:stCxn id="23" idx="1"/>
                <a:endCxn id="11" idx="1"/>
              </p:cNvCxnSpPr>
              <p:nvPr/>
            </p:nvCxnSpPr>
            <p:spPr>
              <a:xfrm rot="10800000">
                <a:off x="4099522" y="4159764"/>
                <a:ext cx="1190308" cy="463202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肘形接點 15"/>
              <p:cNvCxnSpPr>
                <a:stCxn id="12" idx="3"/>
                <a:endCxn id="11" idx="4"/>
              </p:cNvCxnSpPr>
              <p:nvPr/>
            </p:nvCxnSpPr>
            <p:spPr>
              <a:xfrm>
                <a:off x="3171071" y="2866443"/>
                <a:ext cx="176793" cy="539842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矩形 16"/>
              <p:cNvSpPr/>
              <p:nvPr/>
            </p:nvSpPr>
            <p:spPr>
              <a:xfrm>
                <a:off x="1024106" y="3331168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err="1" smtClean="0"/>
                  <a:t>PCIe</a:t>
                </a:r>
                <a:endParaRPr lang="en-US" altLang="zh-TW" dirty="0" smtClean="0"/>
              </a:p>
              <a:p>
                <a:pPr algn="ctr"/>
                <a:r>
                  <a:rPr lang="en-US" altLang="zh-TW" dirty="0" smtClean="0"/>
                  <a:t>Port</a:t>
                </a:r>
                <a:endParaRPr lang="zh-TW" altLang="en-US" dirty="0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057687" y="4054350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err="1" smtClean="0"/>
                  <a:t>PCIe</a:t>
                </a:r>
                <a:endParaRPr lang="en-US" altLang="zh-TW" dirty="0" smtClean="0"/>
              </a:p>
              <a:p>
                <a:pPr algn="ctr"/>
                <a:r>
                  <a:rPr lang="en-US" altLang="zh-TW" dirty="0" smtClean="0"/>
                  <a:t>Port</a:t>
                </a:r>
                <a:endParaRPr lang="zh-TW" altLang="en-US" dirty="0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1057687" y="4749471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err="1" smtClean="0"/>
                  <a:t>PCIe</a:t>
                </a:r>
                <a:endParaRPr lang="en-US" altLang="zh-TW" dirty="0" smtClean="0"/>
              </a:p>
              <a:p>
                <a:pPr algn="ctr"/>
                <a:r>
                  <a:rPr lang="en-US" altLang="zh-TW" dirty="0" smtClean="0"/>
                  <a:t>Port</a:t>
                </a:r>
                <a:endParaRPr lang="zh-TW" altLang="en-US" dirty="0"/>
              </a:p>
            </p:txBody>
          </p:sp>
          <p:cxnSp>
            <p:nvCxnSpPr>
              <p:cNvPr id="20" name="肘形接點 19"/>
              <p:cNvCxnSpPr>
                <a:stCxn id="17" idx="3"/>
                <a:endCxn id="11" idx="3"/>
              </p:cNvCxnSpPr>
              <p:nvPr/>
            </p:nvCxnSpPr>
            <p:spPr>
              <a:xfrm>
                <a:off x="1938506" y="3583196"/>
                <a:ext cx="1220988" cy="199829"/>
              </a:xfrm>
              <a:prstGeom prst="bentConnector3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肘形接點 20"/>
              <p:cNvCxnSpPr>
                <a:stCxn id="18" idx="3"/>
                <a:endCxn id="11" idx="2"/>
              </p:cNvCxnSpPr>
              <p:nvPr/>
            </p:nvCxnSpPr>
            <p:spPr>
              <a:xfrm flipV="1">
                <a:off x="1972087" y="4159764"/>
                <a:ext cx="1375777" cy="146614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肘形接點 21"/>
              <p:cNvCxnSpPr>
                <a:stCxn id="19" idx="3"/>
                <a:endCxn id="11" idx="2"/>
              </p:cNvCxnSpPr>
              <p:nvPr/>
            </p:nvCxnSpPr>
            <p:spPr>
              <a:xfrm flipV="1">
                <a:off x="1972087" y="4159764"/>
                <a:ext cx="1375777" cy="841735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字方塊 5"/>
            <p:cNvSpPr txBox="1"/>
            <p:nvPr/>
          </p:nvSpPr>
          <p:spPr>
            <a:xfrm>
              <a:off x="4135616" y="4895276"/>
              <a:ext cx="14257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err="1" smtClean="0"/>
                <a:t>PCIe</a:t>
              </a:r>
              <a:r>
                <a:rPr lang="en-US" altLang="zh-TW" sz="2000" b="1" dirty="0" smtClean="0"/>
                <a:t> Device</a:t>
              </a:r>
              <a:endParaRPr lang="zh-TW" altLang="en-US" sz="2000" b="1" dirty="0"/>
            </a:p>
          </p:txBody>
        </p:sp>
      </p:grpSp>
      <p:grpSp>
        <p:nvGrpSpPr>
          <p:cNvPr id="70" name="群組 69"/>
          <p:cNvGrpSpPr/>
          <p:nvPr/>
        </p:nvGrpSpPr>
        <p:grpSpPr>
          <a:xfrm>
            <a:off x="323528" y="4027094"/>
            <a:ext cx="6516216" cy="2821732"/>
            <a:chOff x="323528" y="4027094"/>
            <a:chExt cx="6516216" cy="2821732"/>
          </a:xfrm>
        </p:grpSpPr>
        <p:grpSp>
          <p:nvGrpSpPr>
            <p:cNvPr id="33" name="群組 32"/>
            <p:cNvGrpSpPr/>
            <p:nvPr/>
          </p:nvGrpSpPr>
          <p:grpSpPr>
            <a:xfrm>
              <a:off x="323528" y="4027094"/>
              <a:ext cx="6516216" cy="2821732"/>
              <a:chOff x="1972086" y="2348880"/>
              <a:chExt cx="6632361" cy="2952328"/>
            </a:xfrm>
          </p:grpSpPr>
          <p:grpSp>
            <p:nvGrpSpPr>
              <p:cNvPr id="34" name="群組 33"/>
              <p:cNvGrpSpPr/>
              <p:nvPr/>
            </p:nvGrpSpPr>
            <p:grpSpPr>
              <a:xfrm>
                <a:off x="1972086" y="2348880"/>
                <a:ext cx="6632361" cy="2952328"/>
                <a:chOff x="1024106" y="2348880"/>
                <a:chExt cx="7580342" cy="2952328"/>
              </a:xfrm>
            </p:grpSpPr>
            <p:sp>
              <p:nvSpPr>
                <p:cNvPr id="36" name="矩形 35"/>
                <p:cNvSpPr/>
                <p:nvPr/>
              </p:nvSpPr>
              <p:spPr>
                <a:xfrm>
                  <a:off x="1403648" y="2348880"/>
                  <a:ext cx="7200800" cy="2952328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grpSp>
              <p:nvGrpSpPr>
                <p:cNvPr id="37" name="群組 36"/>
                <p:cNvGrpSpPr/>
                <p:nvPr/>
              </p:nvGrpSpPr>
              <p:grpSpPr>
                <a:xfrm>
                  <a:off x="5289829" y="2513327"/>
                  <a:ext cx="3314618" cy="1017669"/>
                  <a:chOff x="5868143" y="1988839"/>
                  <a:chExt cx="3314618" cy="1017669"/>
                </a:xfrm>
              </p:grpSpPr>
              <p:sp>
                <p:nvSpPr>
                  <p:cNvPr id="58" name="矩形 57"/>
                  <p:cNvSpPr/>
                  <p:nvPr/>
                </p:nvSpPr>
                <p:spPr>
                  <a:xfrm>
                    <a:off x="5868143" y="1988839"/>
                    <a:ext cx="3314618" cy="1017669"/>
                  </a:xfrm>
                  <a:prstGeom prst="rect">
                    <a:avLst/>
                  </a:prstGeom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zh-TW" dirty="0" smtClean="0"/>
                      <a:t>PF 0 </a:t>
                    </a:r>
                    <a:endParaRPr lang="zh-TW" altLang="en-US" dirty="0"/>
                  </a:p>
                </p:txBody>
              </p:sp>
              <p:sp>
                <p:nvSpPr>
                  <p:cNvPr id="59" name="矩形 58"/>
                  <p:cNvSpPr/>
                  <p:nvPr/>
                </p:nvSpPr>
                <p:spPr>
                  <a:xfrm>
                    <a:off x="7461829" y="2490141"/>
                    <a:ext cx="720080" cy="504056"/>
                  </a:xfrm>
                  <a:prstGeom prst="rect">
                    <a:avLst/>
                  </a:prstGeom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200" dirty="0" smtClean="0"/>
                      <a:t>ATC1</a:t>
                    </a:r>
                    <a:endParaRPr lang="zh-TW" altLang="en-US" sz="1200" dirty="0"/>
                  </a:p>
                </p:txBody>
              </p:sp>
              <p:sp>
                <p:nvSpPr>
                  <p:cNvPr id="60" name="矩形 59"/>
                  <p:cNvSpPr/>
                  <p:nvPr/>
                </p:nvSpPr>
                <p:spPr>
                  <a:xfrm>
                    <a:off x="8181909" y="2502452"/>
                    <a:ext cx="1000852" cy="504056"/>
                  </a:xfrm>
                  <a:prstGeom prst="rect">
                    <a:avLst/>
                  </a:prstGeom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200" dirty="0" smtClean="0"/>
                      <a:t>Physical Resources</a:t>
                    </a:r>
                    <a:endParaRPr lang="zh-TW" altLang="en-US" sz="1200" dirty="0"/>
                  </a:p>
                </p:txBody>
              </p:sp>
            </p:grpSp>
            <p:grpSp>
              <p:nvGrpSpPr>
                <p:cNvPr id="38" name="群組 37"/>
                <p:cNvGrpSpPr/>
                <p:nvPr/>
              </p:nvGrpSpPr>
              <p:grpSpPr>
                <a:xfrm>
                  <a:off x="5289830" y="3802321"/>
                  <a:ext cx="3291611" cy="655222"/>
                  <a:chOff x="5868144" y="2340632"/>
                  <a:chExt cx="3291611" cy="655222"/>
                </a:xfrm>
              </p:grpSpPr>
              <p:sp>
                <p:nvSpPr>
                  <p:cNvPr id="55" name="矩形 54"/>
                  <p:cNvSpPr/>
                  <p:nvPr/>
                </p:nvSpPr>
                <p:spPr>
                  <a:xfrm>
                    <a:off x="5868144" y="2340632"/>
                    <a:ext cx="3291611" cy="655222"/>
                  </a:xfrm>
                  <a:prstGeom prst="rect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zh-TW" dirty="0" smtClean="0"/>
                      <a:t>VF 0,1 </a:t>
                    </a:r>
                    <a:endParaRPr lang="zh-TW" altLang="en-US" dirty="0"/>
                  </a:p>
                </p:txBody>
              </p:sp>
              <p:sp>
                <p:nvSpPr>
                  <p:cNvPr id="57" name="矩形 56"/>
                  <p:cNvSpPr/>
                  <p:nvPr/>
                </p:nvSpPr>
                <p:spPr>
                  <a:xfrm>
                    <a:off x="8124094" y="2446047"/>
                    <a:ext cx="1000852" cy="504056"/>
                  </a:xfrm>
                  <a:prstGeom prst="rect">
                    <a:avLst/>
                  </a:prstGeom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200" dirty="0" smtClean="0"/>
                      <a:t>Physical Resources</a:t>
                    </a:r>
                    <a:endParaRPr lang="zh-TW" altLang="en-US" sz="1200" dirty="0"/>
                  </a:p>
                </p:txBody>
              </p:sp>
            </p:grpSp>
            <p:grpSp>
              <p:nvGrpSpPr>
                <p:cNvPr id="39" name="群組 38"/>
                <p:cNvGrpSpPr/>
                <p:nvPr/>
              </p:nvGrpSpPr>
              <p:grpSpPr>
                <a:xfrm>
                  <a:off x="5312836" y="4558406"/>
                  <a:ext cx="3291611" cy="655222"/>
                  <a:chOff x="5891150" y="2251891"/>
                  <a:chExt cx="3291611" cy="655222"/>
                </a:xfrm>
              </p:grpSpPr>
              <p:sp>
                <p:nvSpPr>
                  <p:cNvPr id="52" name="矩形 51"/>
                  <p:cNvSpPr/>
                  <p:nvPr/>
                </p:nvSpPr>
                <p:spPr>
                  <a:xfrm>
                    <a:off x="5891150" y="2251891"/>
                    <a:ext cx="3291611" cy="655222"/>
                  </a:xfrm>
                  <a:prstGeom prst="rect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zh-TW" dirty="0" smtClean="0"/>
                      <a:t>VF 0,2</a:t>
                    </a:r>
                    <a:endParaRPr lang="zh-TW" altLang="en-US" dirty="0"/>
                  </a:p>
                </p:txBody>
              </p:sp>
              <p:sp>
                <p:nvSpPr>
                  <p:cNvPr id="54" name="矩形 53"/>
                  <p:cNvSpPr/>
                  <p:nvPr/>
                </p:nvSpPr>
                <p:spPr>
                  <a:xfrm>
                    <a:off x="8158902" y="2340633"/>
                    <a:ext cx="1000852" cy="504056"/>
                  </a:xfrm>
                  <a:prstGeom prst="rect">
                    <a:avLst/>
                  </a:prstGeom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200" dirty="0" smtClean="0"/>
                      <a:t>Physical Resources</a:t>
                    </a:r>
                    <a:endParaRPr lang="zh-TW" altLang="en-US" sz="1200" dirty="0"/>
                  </a:p>
                </p:txBody>
              </p:sp>
            </p:grpSp>
            <p:sp>
              <p:nvSpPr>
                <p:cNvPr id="40" name="六邊形 39"/>
                <p:cNvSpPr/>
                <p:nvPr/>
              </p:nvSpPr>
              <p:spPr>
                <a:xfrm>
                  <a:off x="3159494" y="3406285"/>
                  <a:ext cx="1152128" cy="753479"/>
                </a:xfrm>
                <a:prstGeom prst="hexagon">
                  <a:avLst/>
                </a:prstGeom>
              </p:spPr>
              <p:style>
                <a:lnRef idx="0">
                  <a:schemeClr val="accent4"/>
                </a:lnRef>
                <a:fillRef idx="3">
                  <a:schemeClr val="accent4"/>
                </a:fillRef>
                <a:effectRef idx="3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Internal Routing</a:t>
                  </a:r>
                  <a:endParaRPr lang="zh-TW" altLang="en-US" sz="1200" dirty="0"/>
                </a:p>
              </p:txBody>
            </p:sp>
            <p:cxnSp>
              <p:nvCxnSpPr>
                <p:cNvPr id="42" name="肘形接點 41"/>
                <p:cNvCxnSpPr>
                  <a:stCxn id="58" idx="1"/>
                  <a:endCxn id="40" idx="5"/>
                </p:cNvCxnSpPr>
                <p:nvPr/>
              </p:nvCxnSpPr>
              <p:spPr>
                <a:xfrm rot="10800000" flipV="1">
                  <a:off x="4102186" y="3022162"/>
                  <a:ext cx="1187644" cy="384124"/>
                </a:xfrm>
                <a:prstGeom prst="bentConnector2">
                  <a:avLst/>
                </a:prstGeom>
                <a:ln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肘形接點 42"/>
                <p:cNvCxnSpPr>
                  <a:stCxn id="55" idx="1"/>
                  <a:endCxn id="40" idx="0"/>
                </p:cNvCxnSpPr>
                <p:nvPr/>
              </p:nvCxnSpPr>
              <p:spPr>
                <a:xfrm rot="10800000">
                  <a:off x="4311624" y="3783025"/>
                  <a:ext cx="978207" cy="346907"/>
                </a:xfrm>
                <a:prstGeom prst="bentConnector3">
                  <a:avLst>
                    <a:gd name="adj1" fmla="val 50000"/>
                  </a:avLst>
                </a:prstGeom>
                <a:ln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肘形接點 43"/>
                <p:cNvCxnSpPr>
                  <a:stCxn id="52" idx="1"/>
                  <a:endCxn id="40" idx="1"/>
                </p:cNvCxnSpPr>
                <p:nvPr/>
              </p:nvCxnSpPr>
              <p:spPr>
                <a:xfrm rot="10800000">
                  <a:off x="4102185" y="4159765"/>
                  <a:ext cx="1210651" cy="726253"/>
                </a:xfrm>
                <a:prstGeom prst="bentConnector2">
                  <a:avLst/>
                </a:prstGeom>
                <a:ln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矩形 45"/>
                <p:cNvSpPr/>
                <p:nvPr/>
              </p:nvSpPr>
              <p:spPr>
                <a:xfrm>
                  <a:off x="1024106" y="3530996"/>
                  <a:ext cx="914400" cy="504056"/>
                </a:xfrm>
                <a:prstGeom prst="rect">
                  <a:avLst/>
                </a:prstGeom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 err="1" smtClean="0"/>
                    <a:t>PCIe</a:t>
                  </a:r>
                  <a:endParaRPr lang="en-US" altLang="zh-TW" dirty="0" smtClean="0"/>
                </a:p>
                <a:p>
                  <a:pPr algn="ctr"/>
                  <a:r>
                    <a:rPr lang="en-US" altLang="zh-TW" dirty="0" smtClean="0"/>
                    <a:t>Port</a:t>
                  </a:r>
                  <a:endParaRPr lang="zh-TW" altLang="en-US" dirty="0"/>
                </a:p>
              </p:txBody>
            </p:sp>
            <p:cxnSp>
              <p:nvCxnSpPr>
                <p:cNvPr id="49" name="肘形接點 48"/>
                <p:cNvCxnSpPr>
                  <a:stCxn id="46" idx="3"/>
                  <a:endCxn id="40" idx="3"/>
                </p:cNvCxnSpPr>
                <p:nvPr/>
              </p:nvCxnSpPr>
              <p:spPr>
                <a:xfrm>
                  <a:off x="1938506" y="3783024"/>
                  <a:ext cx="1220988" cy="1"/>
                </a:xfrm>
                <a:prstGeom prst="bentConnector3">
                  <a:avLst/>
                </a:prstGeom>
                <a:ln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文字方塊 34"/>
              <p:cNvSpPr txBox="1"/>
              <p:nvPr/>
            </p:nvSpPr>
            <p:spPr>
              <a:xfrm>
                <a:off x="2457030" y="4494618"/>
                <a:ext cx="1844333" cy="7406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2000" b="1" dirty="0" err="1" smtClean="0"/>
                  <a:t>PCIe</a:t>
                </a:r>
                <a:r>
                  <a:rPr lang="en-US" altLang="zh-TW" sz="2000" b="1" dirty="0" smtClean="0"/>
                  <a:t> SR-IOV </a:t>
                </a:r>
              </a:p>
              <a:p>
                <a:pPr algn="ctr"/>
                <a:r>
                  <a:rPr lang="en-US" altLang="zh-TW" sz="2000" b="1" dirty="0" smtClean="0"/>
                  <a:t>Capable Device</a:t>
                </a:r>
                <a:endParaRPr lang="zh-TW" altLang="en-US" sz="2000" b="1" dirty="0"/>
              </a:p>
            </p:txBody>
          </p:sp>
        </p:grpSp>
        <p:sp>
          <p:nvSpPr>
            <p:cNvPr id="67" name="矩形 66"/>
            <p:cNvSpPr/>
            <p:nvPr/>
          </p:nvSpPr>
          <p:spPr>
            <a:xfrm>
              <a:off x="4776597" y="4241346"/>
              <a:ext cx="2043370" cy="280417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Configuration </a:t>
              </a:r>
              <a:r>
                <a:rPr lang="en-US" altLang="zh-TW" sz="1200" dirty="0" smtClean="0"/>
                <a:t>Resources</a:t>
              </a:r>
              <a:endParaRPr lang="zh-TW" altLang="en-US" sz="1200" dirty="0"/>
            </a:p>
          </p:txBody>
        </p:sp>
      </p:grpSp>
      <p:sp>
        <p:nvSpPr>
          <p:cNvPr id="71" name="文字方塊 70"/>
          <p:cNvSpPr txBox="1"/>
          <p:nvPr/>
        </p:nvSpPr>
        <p:spPr>
          <a:xfrm>
            <a:off x="7051592" y="3250348"/>
            <a:ext cx="1034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/>
              <a:t>Physical</a:t>
            </a:r>
            <a:endParaRPr lang="zh-TW" altLang="en-US" sz="2000" b="1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7025674" y="6392360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/>
              <a:t>Virtual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19695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PCIe</a:t>
            </a:r>
            <a:r>
              <a:rPr lang="en-US" altLang="zh-TW" dirty="0" smtClean="0"/>
              <a:t> SR-IOV Capable Device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52736"/>
            <a:ext cx="8686800" cy="5805264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SR-IOV</a:t>
            </a:r>
          </a:p>
          <a:p>
            <a:pPr lvl="1"/>
            <a:r>
              <a:rPr lang="en-US" altLang="zh-TW" dirty="0" smtClean="0"/>
              <a:t>A technique performs and manages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Virtualization.</a:t>
            </a:r>
            <a:endParaRPr lang="en-US" altLang="zh-TW" dirty="0"/>
          </a:p>
          <a:p>
            <a:r>
              <a:rPr lang="en-US" altLang="zh-TW" dirty="0" smtClean="0"/>
              <a:t>PF – physical Function</a:t>
            </a:r>
          </a:p>
          <a:p>
            <a:pPr lvl="1"/>
            <a:r>
              <a:rPr lang="en-US" altLang="zh-TW" dirty="0" smtClean="0"/>
              <a:t>Provide full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functionality, including the SR-IOV capabilities </a:t>
            </a:r>
          </a:p>
          <a:p>
            <a:pPr lvl="1"/>
            <a:r>
              <a:rPr lang="en-US" altLang="zh-TW" dirty="0" smtClean="0"/>
              <a:t>Discover the </a:t>
            </a:r>
            <a:r>
              <a:rPr lang="en-US" altLang="zh-TW" b="1" dirty="0" smtClean="0">
                <a:solidFill>
                  <a:srgbClr val="FF0000"/>
                </a:solidFill>
              </a:rPr>
              <a:t>page sizes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/>
              <a:t>supported by a PF and its associated VF</a:t>
            </a:r>
          </a:p>
          <a:p>
            <a:r>
              <a:rPr lang="en-US" altLang="zh-TW" dirty="0" smtClean="0"/>
              <a:t>VF</a:t>
            </a:r>
            <a:r>
              <a:rPr lang="en-US" altLang="zh-TW" dirty="0"/>
              <a:t> </a:t>
            </a:r>
            <a:r>
              <a:rPr lang="en-US" altLang="zh-TW" dirty="0" smtClean="0"/>
              <a:t>– virtual Function 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b="1" dirty="0" smtClean="0">
                <a:solidFill>
                  <a:srgbClr val="FF0000"/>
                </a:solidFill>
              </a:rPr>
              <a:t>“light-weight</a:t>
            </a:r>
            <a:r>
              <a:rPr lang="en-US" altLang="zh-TW" dirty="0" smtClean="0"/>
              <a:t>”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function that</a:t>
            </a:r>
          </a:p>
          <a:p>
            <a:pPr marL="457200" lvl="1" indent="0">
              <a:buNone/>
            </a:pPr>
            <a:r>
              <a:rPr lang="en-US" altLang="zh-TW" dirty="0" smtClean="0"/>
              <a:t>    is </a:t>
            </a:r>
            <a:r>
              <a:rPr lang="en-US" altLang="zh-TW" b="1" dirty="0" smtClean="0">
                <a:solidFill>
                  <a:srgbClr val="FF0000"/>
                </a:solidFill>
              </a:rPr>
              <a:t>directly accessible by an SI, </a:t>
            </a:r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FF0000"/>
                </a:solidFill>
              </a:rPr>
              <a:t> </a:t>
            </a:r>
            <a:r>
              <a:rPr lang="en-US" altLang="zh-TW" b="1" dirty="0" smtClean="0">
                <a:solidFill>
                  <a:srgbClr val="FF0000"/>
                </a:solidFill>
              </a:rPr>
              <a:t>   </a:t>
            </a:r>
            <a:r>
              <a:rPr lang="en-US" altLang="zh-TW" dirty="0" smtClean="0"/>
              <a:t>including </a:t>
            </a:r>
            <a:r>
              <a:rPr lang="en-US" altLang="zh-TW" u="sng" dirty="0"/>
              <a:t>an isolated memory </a:t>
            </a:r>
          </a:p>
          <a:p>
            <a:pPr marL="457200" lvl="1" indent="0">
              <a:buNone/>
            </a:pPr>
            <a:r>
              <a:rPr lang="en-US" altLang="zh-TW" dirty="0"/>
              <a:t>    </a:t>
            </a:r>
            <a:r>
              <a:rPr lang="en-US" altLang="zh-TW" u="sng" dirty="0"/>
              <a:t>space</a:t>
            </a:r>
            <a:r>
              <a:rPr lang="en-US" altLang="zh-TW" dirty="0"/>
              <a:t>, </a:t>
            </a:r>
            <a:r>
              <a:rPr lang="en-US" altLang="zh-TW" u="sng" dirty="0"/>
              <a:t>a work queue</a:t>
            </a:r>
            <a:r>
              <a:rPr lang="en-US" altLang="zh-TW" dirty="0"/>
              <a:t>, </a:t>
            </a:r>
            <a:r>
              <a:rPr lang="en-US" altLang="zh-TW" u="sng" dirty="0"/>
              <a:t>interrupts </a:t>
            </a:r>
            <a:endParaRPr lang="en-US" altLang="zh-TW" u="sng" dirty="0" smtClean="0"/>
          </a:p>
          <a:p>
            <a:pPr marL="457200" lvl="1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and </a:t>
            </a:r>
            <a:r>
              <a:rPr lang="en-US" altLang="zh-TW" u="sng" dirty="0" smtClean="0"/>
              <a:t>command </a:t>
            </a:r>
            <a:r>
              <a:rPr lang="en-US" altLang="zh-TW" u="sng" dirty="0"/>
              <a:t>processing</a:t>
            </a:r>
            <a:r>
              <a:rPr lang="en-US" altLang="zh-TW" dirty="0"/>
              <a:t>.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For data movement</a:t>
            </a:r>
          </a:p>
          <a:p>
            <a:pPr lvl="1"/>
            <a:r>
              <a:rPr lang="en-US" altLang="zh-TW" dirty="0" smtClean="0"/>
              <a:t>Can be optionally migrated form </a:t>
            </a:r>
          </a:p>
          <a:p>
            <a:pPr marL="457200" lvl="1" indent="0">
              <a:buNone/>
            </a:pPr>
            <a:r>
              <a:rPr lang="en-US" altLang="zh-TW" dirty="0" smtClean="0"/>
              <a:t>    one PF to another PF </a:t>
            </a:r>
            <a:endParaRPr lang="en-US" altLang="zh-TW" dirty="0"/>
          </a:p>
          <a:p>
            <a:pPr lvl="1"/>
            <a:r>
              <a:rPr lang="en-US" altLang="zh-TW" dirty="0" smtClean="0"/>
              <a:t>Can be serially shared by different </a:t>
            </a:r>
          </a:p>
          <a:p>
            <a:pPr marL="457200" lvl="1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SI</a:t>
            </a:r>
          </a:p>
        </p:txBody>
      </p:sp>
      <p:grpSp>
        <p:nvGrpSpPr>
          <p:cNvPr id="4" name="群組 3"/>
          <p:cNvGrpSpPr/>
          <p:nvPr/>
        </p:nvGrpSpPr>
        <p:grpSpPr>
          <a:xfrm>
            <a:off x="5104160" y="4143360"/>
            <a:ext cx="3935877" cy="2450313"/>
            <a:chOff x="3561359" y="2306860"/>
            <a:chExt cx="5063327" cy="2952328"/>
          </a:xfrm>
        </p:grpSpPr>
        <p:grpSp>
          <p:nvGrpSpPr>
            <p:cNvPr id="5" name="群組 4"/>
            <p:cNvGrpSpPr/>
            <p:nvPr/>
          </p:nvGrpSpPr>
          <p:grpSpPr>
            <a:xfrm>
              <a:off x="3561359" y="2306860"/>
              <a:ext cx="5063327" cy="2952328"/>
              <a:chOff x="2840537" y="2306860"/>
              <a:chExt cx="5787040" cy="2952328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3297736" y="2306860"/>
                <a:ext cx="5309959" cy="295232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grpSp>
            <p:nvGrpSpPr>
              <p:cNvPr id="8" name="群組 7"/>
              <p:cNvGrpSpPr/>
              <p:nvPr/>
            </p:nvGrpSpPr>
            <p:grpSpPr>
              <a:xfrm>
                <a:off x="6120824" y="2695469"/>
                <a:ext cx="2506753" cy="1028859"/>
                <a:chOff x="6699138" y="2170981"/>
                <a:chExt cx="2506753" cy="1028859"/>
              </a:xfrm>
            </p:grpSpPr>
            <p:sp>
              <p:nvSpPr>
                <p:cNvPr id="21" name="矩形 20"/>
                <p:cNvSpPr/>
                <p:nvPr/>
              </p:nvSpPr>
              <p:spPr>
                <a:xfrm>
                  <a:off x="6699138" y="2170981"/>
                  <a:ext cx="2506753" cy="1028859"/>
                </a:xfrm>
                <a:prstGeom prst="rect">
                  <a:avLst/>
                </a:prstGeom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dirty="0" smtClean="0"/>
                    <a:t>PF 0 </a:t>
                  </a:r>
                  <a:endParaRPr lang="zh-TW" altLang="en-US" dirty="0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7461829" y="2490141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ATC1</a:t>
                  </a:r>
                  <a:endParaRPr lang="zh-TW" altLang="en-US" sz="1200" dirty="0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8181909" y="2502452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Physical Resources</a:t>
                  </a:r>
                  <a:endParaRPr lang="zh-TW" altLang="en-US" sz="1200" dirty="0"/>
                </a:p>
              </p:txBody>
            </p:sp>
          </p:grpSp>
          <p:grpSp>
            <p:nvGrpSpPr>
              <p:cNvPr id="9" name="群組 8"/>
              <p:cNvGrpSpPr/>
              <p:nvPr/>
            </p:nvGrpSpPr>
            <p:grpSpPr>
              <a:xfrm>
                <a:off x="6097691" y="3802321"/>
                <a:ext cx="2483748" cy="655222"/>
                <a:chOff x="6676005" y="2340632"/>
                <a:chExt cx="2483748" cy="655222"/>
              </a:xfrm>
            </p:grpSpPr>
            <p:sp>
              <p:nvSpPr>
                <p:cNvPr id="19" name="矩形 18"/>
                <p:cNvSpPr/>
                <p:nvPr/>
              </p:nvSpPr>
              <p:spPr>
                <a:xfrm>
                  <a:off x="6676005" y="2340632"/>
                  <a:ext cx="2483748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dirty="0" smtClean="0"/>
                    <a:t>VF 0,1 </a:t>
                  </a:r>
                  <a:endParaRPr lang="zh-TW" altLang="en-US" dirty="0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8124094" y="2446047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Physical Resources</a:t>
                  </a:r>
                  <a:endParaRPr lang="zh-TW" altLang="en-US" sz="1200" dirty="0"/>
                </a:p>
              </p:txBody>
            </p:sp>
          </p:grpSp>
          <p:grpSp>
            <p:nvGrpSpPr>
              <p:cNvPr id="10" name="群組 9"/>
              <p:cNvGrpSpPr/>
              <p:nvPr/>
            </p:nvGrpSpPr>
            <p:grpSpPr>
              <a:xfrm>
                <a:off x="6097692" y="4558406"/>
                <a:ext cx="2506753" cy="655222"/>
                <a:chOff x="6676006" y="2251891"/>
                <a:chExt cx="2506753" cy="655222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6676006" y="2251891"/>
                  <a:ext cx="2506753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dirty="0" smtClean="0"/>
                    <a:t>VF 0,2</a:t>
                  </a:r>
                  <a:endParaRPr lang="zh-TW" altLang="en-US" dirty="0"/>
                </a:p>
              </p:txBody>
            </p:sp>
            <p:sp>
              <p:nvSpPr>
                <p:cNvPr id="18" name="矩形 17"/>
                <p:cNvSpPr/>
                <p:nvPr/>
              </p:nvSpPr>
              <p:spPr>
                <a:xfrm>
                  <a:off x="8158902" y="2340633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 smtClean="0"/>
                    <a:t>Physical Resources</a:t>
                  </a:r>
                  <a:endParaRPr lang="zh-TW" altLang="en-US" sz="1200" dirty="0"/>
                </a:p>
              </p:txBody>
            </p:sp>
          </p:grpSp>
          <p:sp>
            <p:nvSpPr>
              <p:cNvPr id="11" name="六邊形 10"/>
              <p:cNvSpPr/>
              <p:nvPr/>
            </p:nvSpPr>
            <p:spPr>
              <a:xfrm>
                <a:off x="4110896" y="3753192"/>
                <a:ext cx="1560143" cy="753479"/>
              </a:xfrm>
              <a:prstGeom prst="hexagon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Internal Routing</a:t>
                </a:r>
                <a:endParaRPr lang="zh-TW" altLang="en-US" sz="1200" dirty="0"/>
              </a:p>
            </p:txBody>
          </p:sp>
          <p:cxnSp>
            <p:nvCxnSpPr>
              <p:cNvPr id="12" name="肘形接點 11"/>
              <p:cNvCxnSpPr>
                <a:stCxn id="21" idx="1"/>
                <a:endCxn id="11" idx="5"/>
              </p:cNvCxnSpPr>
              <p:nvPr/>
            </p:nvCxnSpPr>
            <p:spPr>
              <a:xfrm rot="10800000" flipV="1">
                <a:off x="5406325" y="3209898"/>
                <a:ext cx="714498" cy="543294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肘形接點 12"/>
              <p:cNvCxnSpPr>
                <a:stCxn id="19" idx="1"/>
                <a:endCxn id="11" idx="0"/>
              </p:cNvCxnSpPr>
              <p:nvPr/>
            </p:nvCxnSpPr>
            <p:spPr>
              <a:xfrm rot="10800000">
                <a:off x="5671039" y="4129932"/>
                <a:ext cx="426652" cy="13288"/>
              </a:xfrm>
              <a:prstGeom prst="bentConnector3">
                <a:avLst>
                  <a:gd name="adj1" fmla="val 50000"/>
                </a:avLst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肘形接點 13"/>
              <p:cNvCxnSpPr>
                <a:stCxn id="17" idx="1"/>
                <a:endCxn id="11" idx="1"/>
              </p:cNvCxnSpPr>
              <p:nvPr/>
            </p:nvCxnSpPr>
            <p:spPr>
              <a:xfrm rot="10800000">
                <a:off x="5406325" y="4506671"/>
                <a:ext cx="691367" cy="379346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矩形 14"/>
              <p:cNvSpPr/>
              <p:nvPr/>
            </p:nvSpPr>
            <p:spPr>
              <a:xfrm>
                <a:off x="2840537" y="3877903"/>
                <a:ext cx="914399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err="1" smtClean="0"/>
                  <a:t>PCIe</a:t>
                </a:r>
                <a:endParaRPr lang="en-US" altLang="zh-TW" dirty="0" smtClean="0"/>
              </a:p>
              <a:p>
                <a:pPr algn="ctr"/>
                <a:r>
                  <a:rPr lang="en-US" altLang="zh-TW" dirty="0" smtClean="0"/>
                  <a:t>Port</a:t>
                </a:r>
                <a:endParaRPr lang="zh-TW" altLang="en-US" dirty="0"/>
              </a:p>
            </p:txBody>
          </p:sp>
          <p:cxnSp>
            <p:nvCxnSpPr>
              <p:cNvPr id="16" name="肘形接點 15"/>
              <p:cNvCxnSpPr>
                <a:stCxn id="15" idx="3"/>
                <a:endCxn id="11" idx="3"/>
              </p:cNvCxnSpPr>
              <p:nvPr/>
            </p:nvCxnSpPr>
            <p:spPr>
              <a:xfrm>
                <a:off x="3754935" y="4129931"/>
                <a:ext cx="355961" cy="1"/>
              </a:xfrm>
              <a:prstGeom prst="bentConnector3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字方塊 5"/>
            <p:cNvSpPr txBox="1"/>
            <p:nvPr/>
          </p:nvSpPr>
          <p:spPr>
            <a:xfrm>
              <a:off x="4074695" y="2375051"/>
              <a:ext cx="1844332" cy="740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 err="1" smtClean="0"/>
                <a:t>PCIe</a:t>
              </a:r>
              <a:r>
                <a:rPr lang="en-US" altLang="zh-TW" sz="2000" b="1" dirty="0" smtClean="0"/>
                <a:t> SR-IOV </a:t>
              </a:r>
            </a:p>
            <a:p>
              <a:pPr algn="ctr"/>
              <a:r>
                <a:rPr lang="en-US" altLang="zh-TW" sz="2000" b="1" dirty="0" smtClean="0"/>
                <a:t>Capable Device</a:t>
              </a:r>
              <a:endParaRPr lang="zh-TW" altLang="en-US" sz="2000" b="1" dirty="0"/>
            </a:p>
          </p:txBody>
        </p:sp>
      </p:grpSp>
      <p:sp>
        <p:nvSpPr>
          <p:cNvPr id="54" name="矩形 53"/>
          <p:cNvSpPr/>
          <p:nvPr/>
        </p:nvSpPr>
        <p:spPr>
          <a:xfrm>
            <a:off x="7335146" y="4465890"/>
            <a:ext cx="1714798" cy="25097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Configuration </a:t>
            </a:r>
            <a:r>
              <a:rPr lang="en-US" altLang="zh-TW" sz="1200" dirty="0" smtClean="0"/>
              <a:t>Resources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7046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Directly and Software Shared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84784"/>
            <a:ext cx="7236761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2539641" y="6196662"/>
            <a:ext cx="3956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Figure from Inter PCI-SIG SR-IOV Primer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82565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Extended Capabilities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2" y="1700807"/>
            <a:ext cx="4032448" cy="494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988840"/>
            <a:ext cx="3924300" cy="4655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2843808" y="5229200"/>
            <a:ext cx="129346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肘形接點 6"/>
          <p:cNvCxnSpPr>
            <a:endCxn id="1027" idx="0"/>
          </p:cNvCxnSpPr>
          <p:nvPr/>
        </p:nvCxnSpPr>
        <p:spPr>
          <a:xfrm rot="5400000" flipH="1" flipV="1">
            <a:off x="3787538" y="2338572"/>
            <a:ext cx="3384376" cy="2684912"/>
          </a:xfrm>
          <a:prstGeom prst="bentConnector3">
            <a:avLst>
              <a:gd name="adj1" fmla="val 10675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96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SR-IOV Extended Capabilities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3" y="1556791"/>
            <a:ext cx="3988787" cy="4727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661323"/>
            <a:ext cx="3924300" cy="4655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892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SR-IOV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>
                <a:solidFill>
                  <a:srgbClr val="C00000"/>
                </a:solidFill>
              </a:rPr>
              <a:t>Architecture Supporting SR-IOV Capability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ARI – Alternative Routing ID Interpretation 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ACS – Access Control Services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ATS – Address Translation Service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Data Path for Incoming Packets</a:t>
            </a:r>
          </a:p>
        </p:txBody>
      </p:sp>
    </p:spTree>
    <p:extLst>
      <p:ext uri="{BB962C8B-B14F-4D97-AF65-F5344CB8AC3E}">
        <p14:creationId xmlns:p14="http://schemas.microsoft.com/office/powerpoint/2010/main" val="65627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868362"/>
          </a:xfrm>
        </p:spPr>
        <p:txBody>
          <a:bodyPr>
            <a:normAutofit/>
          </a:bodyPr>
          <a:lstStyle/>
          <a:p>
            <a:r>
              <a:rPr lang="en-US" altLang="zh-TW" sz="3600" dirty="0" smtClean="0"/>
              <a:t>Platform with SR-IOV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64580" y="1600200"/>
            <a:ext cx="4579420" cy="5257800"/>
          </a:xfrm>
        </p:spPr>
        <p:txBody>
          <a:bodyPr/>
          <a:lstStyle/>
          <a:p>
            <a:r>
              <a:rPr lang="en-US" altLang="zh-TW" dirty="0" smtClean="0"/>
              <a:t>SR-PCIM</a:t>
            </a:r>
          </a:p>
          <a:p>
            <a:pPr lvl="1"/>
            <a:r>
              <a:rPr lang="en-US" altLang="zh-TW" dirty="0" smtClean="0"/>
              <a:t>Configure SR-IOV Capability</a:t>
            </a:r>
            <a:endParaRPr lang="en-US" altLang="zh-TW" dirty="0"/>
          </a:p>
          <a:p>
            <a:pPr lvl="1"/>
            <a:r>
              <a:rPr lang="en-US" altLang="zh-TW" dirty="0" smtClean="0"/>
              <a:t>Management of PFs and VFs</a:t>
            </a:r>
          </a:p>
          <a:p>
            <a:pPr lvl="1"/>
            <a:r>
              <a:rPr lang="en-US" altLang="zh-TW" dirty="0" smtClean="0"/>
              <a:t>Processing of error events</a:t>
            </a:r>
          </a:p>
          <a:p>
            <a:pPr lvl="1"/>
            <a:r>
              <a:rPr lang="en-US" altLang="zh-TW" dirty="0" smtClean="0"/>
              <a:t>Device controls</a:t>
            </a:r>
          </a:p>
          <a:p>
            <a:pPr lvl="2"/>
            <a:r>
              <a:rPr lang="en-US" altLang="zh-TW" dirty="0" smtClean="0"/>
              <a:t>Power management</a:t>
            </a:r>
          </a:p>
          <a:p>
            <a:pPr lvl="2"/>
            <a:r>
              <a:rPr lang="en-US" altLang="zh-TW" dirty="0" smtClean="0"/>
              <a:t>Hot-plug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99653" y="115644"/>
            <a:ext cx="1037259" cy="607535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System Image (SI)</a:t>
            </a:r>
            <a:endParaRPr lang="zh-TW" altLang="en-US" sz="1200" dirty="0"/>
          </a:p>
        </p:txBody>
      </p:sp>
      <p:sp>
        <p:nvSpPr>
          <p:cNvPr id="5" name="矩形 4"/>
          <p:cNvSpPr/>
          <p:nvPr/>
        </p:nvSpPr>
        <p:spPr>
          <a:xfrm>
            <a:off x="40370" y="1897500"/>
            <a:ext cx="4443464" cy="21602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Processor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51016" y="2113524"/>
            <a:ext cx="4443464" cy="21602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Memory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121116" y="3669419"/>
            <a:ext cx="4443464" cy="6376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Root Complex (RC)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557414" y="3988230"/>
            <a:ext cx="561467" cy="7920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Root</a:t>
            </a:r>
          </a:p>
          <a:p>
            <a:pPr algn="ctr"/>
            <a:r>
              <a:rPr lang="en-US" altLang="zh-TW" sz="1400" dirty="0" smtClean="0"/>
              <a:t>Port (RP)</a:t>
            </a:r>
            <a:endParaRPr lang="zh-TW" altLang="en-US" sz="1400" dirty="0"/>
          </a:p>
        </p:txBody>
      </p:sp>
      <p:sp>
        <p:nvSpPr>
          <p:cNvPr id="9" name="矩形 8"/>
          <p:cNvSpPr/>
          <p:nvPr/>
        </p:nvSpPr>
        <p:spPr>
          <a:xfrm>
            <a:off x="3283790" y="3910997"/>
            <a:ext cx="597404" cy="7920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Root</a:t>
            </a:r>
          </a:p>
          <a:p>
            <a:pPr algn="ctr"/>
            <a:r>
              <a:rPr lang="en-US" altLang="zh-TW" sz="1400" dirty="0" smtClean="0"/>
              <a:t>Port (RP)</a:t>
            </a:r>
            <a:endParaRPr lang="zh-TW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380947" y="5949280"/>
            <a:ext cx="914400" cy="76683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PCIe</a:t>
            </a:r>
            <a:r>
              <a:rPr lang="en-US" altLang="zh-TW" dirty="0" smtClean="0"/>
              <a:t> Device</a:t>
            </a:r>
            <a:endParaRPr lang="zh-TW" altLang="en-US" dirty="0"/>
          </a:p>
        </p:txBody>
      </p:sp>
      <p:sp>
        <p:nvSpPr>
          <p:cNvPr id="11" name="六邊形 10"/>
          <p:cNvSpPr/>
          <p:nvPr/>
        </p:nvSpPr>
        <p:spPr>
          <a:xfrm>
            <a:off x="3011763" y="4952007"/>
            <a:ext cx="1141458" cy="766830"/>
          </a:xfrm>
          <a:prstGeom prst="hex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Switch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595878" y="5949280"/>
            <a:ext cx="914400" cy="76683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PCIe</a:t>
            </a:r>
            <a:r>
              <a:rPr lang="en-US" altLang="zh-TW" dirty="0" smtClean="0"/>
              <a:t> Device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125292" y="5949280"/>
            <a:ext cx="914400" cy="76683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PCIe</a:t>
            </a:r>
            <a:r>
              <a:rPr lang="en-US" altLang="zh-TW" dirty="0" smtClean="0"/>
              <a:t> Device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518739" y="5949279"/>
            <a:ext cx="914400" cy="76683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PCIe</a:t>
            </a:r>
            <a:r>
              <a:rPr lang="en-US" altLang="zh-TW" dirty="0" smtClean="0"/>
              <a:t> Device</a:t>
            </a:r>
            <a:endParaRPr lang="zh-TW" altLang="en-US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667998" y="2329548"/>
            <a:ext cx="0" cy="1339871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8" idx="2"/>
            <a:endCxn id="10" idx="0"/>
          </p:cNvCxnSpPr>
          <p:nvPr/>
        </p:nvCxnSpPr>
        <p:spPr>
          <a:xfrm flipH="1">
            <a:off x="838147" y="4780318"/>
            <a:ext cx="1" cy="1168962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9" idx="2"/>
          </p:cNvCxnSpPr>
          <p:nvPr/>
        </p:nvCxnSpPr>
        <p:spPr>
          <a:xfrm>
            <a:off x="3582492" y="4703085"/>
            <a:ext cx="0" cy="263869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接點 17"/>
          <p:cNvCxnSpPr>
            <a:stCxn id="11" idx="3"/>
            <a:endCxn id="12" idx="0"/>
          </p:cNvCxnSpPr>
          <p:nvPr/>
        </p:nvCxnSpPr>
        <p:spPr>
          <a:xfrm rot="10800000" flipV="1">
            <a:off x="2053079" y="5335422"/>
            <a:ext cx="958685" cy="613858"/>
          </a:xfrm>
          <a:prstGeom prst="bentConnector2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接點 18"/>
          <p:cNvCxnSpPr>
            <a:stCxn id="11" idx="0"/>
            <a:endCxn id="14" idx="0"/>
          </p:cNvCxnSpPr>
          <p:nvPr/>
        </p:nvCxnSpPr>
        <p:spPr>
          <a:xfrm>
            <a:off x="4153221" y="5335422"/>
            <a:ext cx="822718" cy="613857"/>
          </a:xfrm>
          <a:prstGeom prst="bentConnector2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endCxn id="13" idx="0"/>
          </p:cNvCxnSpPr>
          <p:nvPr/>
        </p:nvCxnSpPr>
        <p:spPr>
          <a:xfrm>
            <a:off x="3582492" y="5642350"/>
            <a:ext cx="0" cy="30693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1224843" y="115644"/>
            <a:ext cx="1037259" cy="607535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System Image (SI)</a:t>
            </a:r>
            <a:endParaRPr lang="zh-TW" altLang="en-US" sz="1200" dirty="0"/>
          </a:p>
        </p:txBody>
      </p:sp>
      <p:sp>
        <p:nvSpPr>
          <p:cNvPr id="22" name="橢圓 21"/>
          <p:cNvSpPr/>
          <p:nvPr/>
        </p:nvSpPr>
        <p:spPr>
          <a:xfrm>
            <a:off x="2361747" y="136680"/>
            <a:ext cx="1037259" cy="607535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System Image (SI)</a:t>
            </a:r>
            <a:endParaRPr lang="zh-TW" altLang="en-US" sz="1200" dirty="0"/>
          </a:p>
        </p:txBody>
      </p:sp>
      <p:sp>
        <p:nvSpPr>
          <p:cNvPr id="23" name="橢圓 22"/>
          <p:cNvSpPr/>
          <p:nvPr/>
        </p:nvSpPr>
        <p:spPr>
          <a:xfrm>
            <a:off x="3499510" y="136680"/>
            <a:ext cx="1037259" cy="607535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System Image (SI)</a:t>
            </a:r>
            <a:endParaRPr lang="zh-TW" altLang="en-US" sz="1200" dirty="0"/>
          </a:p>
        </p:txBody>
      </p:sp>
      <p:sp>
        <p:nvSpPr>
          <p:cNvPr id="24" name="橢圓 23"/>
          <p:cNvSpPr/>
          <p:nvPr/>
        </p:nvSpPr>
        <p:spPr>
          <a:xfrm>
            <a:off x="81623" y="849880"/>
            <a:ext cx="4463165" cy="85092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 smtClean="0"/>
              <a:t>Virtualization Intermediary</a:t>
            </a:r>
          </a:p>
          <a:p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073692" y="2769132"/>
            <a:ext cx="914400" cy="47086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Translation Agent (TA)</a:t>
            </a:r>
            <a:endParaRPr lang="zh-TW" altLang="en-US" sz="1200" dirty="0"/>
          </a:p>
        </p:txBody>
      </p:sp>
      <p:sp>
        <p:nvSpPr>
          <p:cNvPr id="36" name="矩形 35"/>
          <p:cNvSpPr/>
          <p:nvPr/>
        </p:nvSpPr>
        <p:spPr>
          <a:xfrm>
            <a:off x="2560451" y="2764049"/>
            <a:ext cx="2004129" cy="47086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Address Translation and Protection Table (ATPT)</a:t>
            </a:r>
            <a:endParaRPr lang="zh-TW" altLang="en-US" sz="1200" dirty="0"/>
          </a:p>
        </p:txBody>
      </p:sp>
      <p:cxnSp>
        <p:nvCxnSpPr>
          <p:cNvPr id="39" name="直線單箭頭接點 38"/>
          <p:cNvCxnSpPr>
            <a:endCxn id="34" idx="0"/>
          </p:cNvCxnSpPr>
          <p:nvPr/>
        </p:nvCxnSpPr>
        <p:spPr>
          <a:xfrm>
            <a:off x="1530892" y="2329548"/>
            <a:ext cx="0" cy="439584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34" idx="2"/>
          </p:cNvCxnSpPr>
          <p:nvPr/>
        </p:nvCxnSpPr>
        <p:spPr>
          <a:xfrm>
            <a:off x="1530892" y="3239999"/>
            <a:ext cx="0" cy="434503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6" idx="1"/>
            <a:endCxn id="34" idx="3"/>
          </p:cNvCxnSpPr>
          <p:nvPr/>
        </p:nvCxnSpPr>
        <p:spPr>
          <a:xfrm flipH="1">
            <a:off x="1988092" y="2999483"/>
            <a:ext cx="572359" cy="5083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橢圓 56"/>
          <p:cNvSpPr/>
          <p:nvPr/>
        </p:nvSpPr>
        <p:spPr>
          <a:xfrm>
            <a:off x="1719569" y="1275343"/>
            <a:ext cx="1292193" cy="42546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SR-PCIM</a:t>
            </a:r>
            <a:endParaRPr lang="zh-TW" altLang="en-US" sz="1400" dirty="0"/>
          </a:p>
        </p:txBody>
      </p:sp>
      <p:sp>
        <p:nvSpPr>
          <p:cNvPr id="59" name="橢圓 58"/>
          <p:cNvSpPr/>
          <p:nvPr/>
        </p:nvSpPr>
        <p:spPr>
          <a:xfrm>
            <a:off x="7092280" y="1612440"/>
            <a:ext cx="1292193" cy="42546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SR-PCIM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2105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868362"/>
          </a:xfrm>
        </p:spPr>
        <p:txBody>
          <a:bodyPr/>
          <a:lstStyle/>
          <a:p>
            <a:r>
              <a:rPr lang="en-US" altLang="zh-TW" dirty="0" smtClean="0"/>
              <a:t>Components of SR-IOV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en-US" altLang="zh-TW" dirty="0" smtClean="0"/>
              <a:t>TA – Translation Agent</a:t>
            </a:r>
          </a:p>
          <a:p>
            <a:pPr lvl="1"/>
            <a:r>
              <a:rPr lang="en-US" altLang="zh-TW" b="1" dirty="0" smtClean="0"/>
              <a:t>Translate address </a:t>
            </a:r>
            <a:r>
              <a:rPr lang="en-US" altLang="zh-TW" dirty="0" smtClean="0"/>
              <a:t>within a </a:t>
            </a:r>
            <a:r>
              <a:rPr lang="en-US" altLang="zh-TW" b="1" dirty="0" err="1" smtClean="0"/>
              <a:t>PCIe</a:t>
            </a:r>
            <a:r>
              <a:rPr lang="en-US" altLang="zh-TW" b="1" dirty="0" smtClean="0"/>
              <a:t> transaction </a:t>
            </a:r>
            <a:r>
              <a:rPr lang="en-US" altLang="zh-TW" dirty="0" smtClean="0"/>
              <a:t>into the associated platform </a:t>
            </a:r>
            <a:r>
              <a:rPr lang="en-US" altLang="zh-TW" b="1" dirty="0" smtClean="0"/>
              <a:t>physical address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Hardware or combination of hardware and software</a:t>
            </a:r>
          </a:p>
          <a:p>
            <a:pPr lvl="1"/>
            <a:r>
              <a:rPr lang="en-US" altLang="zh-TW" dirty="0" smtClean="0"/>
              <a:t>A TA may also support to enable a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function to obtain address translations </a:t>
            </a:r>
            <a:r>
              <a:rPr lang="en-US" altLang="zh-TW" b="1" dirty="0" smtClean="0"/>
              <a:t>a priori to DMA access </a:t>
            </a:r>
            <a:r>
              <a:rPr lang="en-US" altLang="zh-TW" dirty="0" smtClean="0"/>
              <a:t>to the associated memory.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71269" y="5046365"/>
            <a:ext cx="914400" cy="47086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Translation Agent (TA)</a:t>
            </a:r>
            <a:endParaRPr lang="zh-TW" altLang="en-US" sz="1200" dirty="0"/>
          </a:p>
        </p:txBody>
      </p:sp>
      <p:sp>
        <p:nvSpPr>
          <p:cNvPr id="5" name="矩形 4"/>
          <p:cNvSpPr/>
          <p:nvPr/>
        </p:nvSpPr>
        <p:spPr>
          <a:xfrm>
            <a:off x="6158028" y="5046365"/>
            <a:ext cx="2004129" cy="47086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Address Translation and Protection Table (ATPT)</a:t>
            </a:r>
            <a:endParaRPr lang="zh-TW" altLang="en-US" sz="1200" dirty="0"/>
          </a:p>
        </p:txBody>
      </p:sp>
      <p:cxnSp>
        <p:nvCxnSpPr>
          <p:cNvPr id="6" name="直線單箭頭接點 5"/>
          <p:cNvCxnSpPr>
            <a:stCxn id="5" idx="1"/>
            <a:endCxn id="4" idx="3"/>
          </p:cNvCxnSpPr>
          <p:nvPr/>
        </p:nvCxnSpPr>
        <p:spPr>
          <a:xfrm flipH="1">
            <a:off x="5585669" y="5281799"/>
            <a:ext cx="572359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05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Components of SR-IOV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5107979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ATPT – </a:t>
            </a:r>
            <a:r>
              <a:rPr lang="en-US" altLang="zh-TW" b="1" dirty="0" smtClean="0"/>
              <a:t>A</a:t>
            </a:r>
            <a:r>
              <a:rPr lang="en-US" altLang="zh-TW" dirty="0" smtClean="0"/>
              <a:t>ddress </a:t>
            </a:r>
            <a:r>
              <a:rPr lang="en-US" altLang="zh-TW" b="1" dirty="0" smtClean="0"/>
              <a:t>T</a:t>
            </a:r>
            <a:r>
              <a:rPr lang="en-US" altLang="zh-TW" dirty="0" smtClean="0"/>
              <a:t>ranslation and </a:t>
            </a:r>
            <a:r>
              <a:rPr lang="en-US" altLang="zh-TW" b="1" dirty="0" smtClean="0"/>
              <a:t>P</a:t>
            </a:r>
            <a:r>
              <a:rPr lang="en-US" altLang="zh-TW" dirty="0" smtClean="0"/>
              <a:t>rotection </a:t>
            </a:r>
            <a:r>
              <a:rPr lang="en-US" altLang="zh-TW" b="1" dirty="0" smtClean="0"/>
              <a:t>T</a:t>
            </a:r>
            <a:r>
              <a:rPr lang="en-US" altLang="zh-TW" dirty="0" smtClean="0"/>
              <a:t>able</a:t>
            </a:r>
            <a:endParaRPr lang="en-US" altLang="zh-TW" dirty="0"/>
          </a:p>
          <a:p>
            <a:pPr lvl="1"/>
            <a:r>
              <a:rPr lang="en-US" altLang="zh-TW" dirty="0" smtClean="0"/>
              <a:t>Contain the set of address translations accessed by a TA to Process </a:t>
            </a:r>
            <a:r>
              <a:rPr lang="en-US" altLang="zh-TW" dirty="0" err="1" smtClean="0"/>
              <a:t>PCEe</a:t>
            </a:r>
            <a:r>
              <a:rPr lang="en-US" altLang="zh-TW" dirty="0" smtClean="0"/>
              <a:t> requests</a:t>
            </a:r>
          </a:p>
          <a:p>
            <a:pPr lvl="2"/>
            <a:r>
              <a:rPr lang="en-US" altLang="zh-TW" dirty="0" smtClean="0"/>
              <a:t>DMA Read/Write</a:t>
            </a:r>
          </a:p>
          <a:p>
            <a:pPr lvl="2"/>
            <a:r>
              <a:rPr lang="en-US" altLang="zh-TW" dirty="0" smtClean="0"/>
              <a:t>Interrupt requests</a:t>
            </a:r>
          </a:p>
          <a:p>
            <a:pPr lvl="1"/>
            <a:r>
              <a:rPr lang="en-US" altLang="zh-TW" dirty="0" smtClean="0"/>
              <a:t>DMA Read/Write requests are translated through a combination of the </a:t>
            </a:r>
            <a:r>
              <a:rPr lang="en-US" altLang="zh-TW" b="1" dirty="0" smtClean="0">
                <a:solidFill>
                  <a:srgbClr val="FF0000"/>
                </a:solidFill>
              </a:rPr>
              <a:t>Routing ID</a:t>
            </a:r>
            <a:r>
              <a:rPr lang="en-US" altLang="zh-TW" dirty="0" smtClean="0"/>
              <a:t> and </a:t>
            </a:r>
            <a:r>
              <a:rPr lang="en-US" altLang="zh-TW" b="1" dirty="0" smtClean="0">
                <a:solidFill>
                  <a:srgbClr val="FF0000"/>
                </a:solidFill>
              </a:rPr>
              <a:t>the address contained within a </a:t>
            </a:r>
            <a:r>
              <a:rPr lang="en-US" altLang="zh-TW" b="1" dirty="0" err="1" smtClean="0">
                <a:solidFill>
                  <a:srgbClr val="FF0000"/>
                </a:solidFill>
              </a:rPr>
              <a:t>PCIe</a:t>
            </a:r>
            <a:r>
              <a:rPr lang="en-US" altLang="zh-TW" b="1" dirty="0" smtClean="0">
                <a:solidFill>
                  <a:srgbClr val="FF0000"/>
                </a:solidFill>
              </a:rPr>
              <a:t> transaction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/>
            <a:r>
              <a:rPr lang="en-US" altLang="zh-TW" dirty="0" smtClean="0"/>
              <a:t>In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, interrupts are treated as memory write operations. </a:t>
            </a:r>
          </a:p>
          <a:p>
            <a:pPr lvl="2"/>
            <a:r>
              <a:rPr lang="en-US" altLang="zh-TW" dirty="0" smtClean="0"/>
              <a:t>Though the combination of the Routing ID and the address contained within a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transaction as well</a:t>
            </a:r>
          </a:p>
          <a:p>
            <a:endParaRPr lang="en-US" altLang="zh-TW" dirty="0" smtClean="0"/>
          </a:p>
        </p:txBody>
      </p:sp>
      <p:sp>
        <p:nvSpPr>
          <p:cNvPr id="7" name="矩形 6"/>
          <p:cNvSpPr/>
          <p:nvPr/>
        </p:nvSpPr>
        <p:spPr>
          <a:xfrm>
            <a:off x="5042303" y="6093296"/>
            <a:ext cx="914400" cy="47086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Translation Agent (TA)</a:t>
            </a:r>
            <a:endParaRPr lang="zh-TW" altLang="en-US" sz="1200" dirty="0"/>
          </a:p>
        </p:txBody>
      </p:sp>
      <p:sp>
        <p:nvSpPr>
          <p:cNvPr id="8" name="矩形 7"/>
          <p:cNvSpPr/>
          <p:nvPr/>
        </p:nvSpPr>
        <p:spPr>
          <a:xfrm>
            <a:off x="6529062" y="6093296"/>
            <a:ext cx="2004129" cy="47086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Address Translation and Protection Table (ATPT)</a:t>
            </a:r>
            <a:endParaRPr lang="zh-TW" altLang="en-US" sz="1200" dirty="0"/>
          </a:p>
        </p:txBody>
      </p:sp>
      <p:cxnSp>
        <p:nvCxnSpPr>
          <p:cNvPr id="9" name="直線單箭頭接點 8"/>
          <p:cNvCxnSpPr>
            <a:stCxn id="8" idx="1"/>
            <a:endCxn id="7" idx="3"/>
          </p:cNvCxnSpPr>
          <p:nvPr/>
        </p:nvCxnSpPr>
        <p:spPr>
          <a:xfrm flipH="1">
            <a:off x="5956703" y="6328730"/>
            <a:ext cx="572359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05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SR-IOV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Architecture Supporting SR-IOV Capability</a:t>
            </a:r>
          </a:p>
          <a:p>
            <a:r>
              <a:rPr lang="en-US" altLang="zh-TW" dirty="0" smtClean="0">
                <a:solidFill>
                  <a:srgbClr val="C00000"/>
                </a:solidFill>
              </a:rPr>
              <a:t>ARI – Alternative Routing ID Interpretation 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ACS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– Access Control Services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ATS – Address Translation Service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Data Path for Incoming Packets</a:t>
            </a:r>
          </a:p>
        </p:txBody>
      </p:sp>
    </p:spTree>
    <p:extLst>
      <p:ext uri="{BB962C8B-B14F-4D97-AF65-F5344CB8AC3E}">
        <p14:creationId xmlns:p14="http://schemas.microsoft.com/office/powerpoint/2010/main" val="416856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ARI – Alternative Routing ID Interpretation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4929411"/>
          </a:xfrm>
        </p:spPr>
        <p:txBody>
          <a:bodyPr/>
          <a:lstStyle/>
          <a:p>
            <a:r>
              <a:rPr lang="en-US" altLang="zh-TW" dirty="0" smtClean="0"/>
              <a:t>Routing ID is used to forward  requests to the corresponding PFs and VFs</a:t>
            </a:r>
          </a:p>
          <a:p>
            <a:r>
              <a:rPr lang="en-US" altLang="zh-TW" dirty="0" smtClean="0"/>
              <a:t>All VFs and PFs must have distinct Routing IDs</a:t>
            </a:r>
          </a:p>
          <a:p>
            <a:r>
              <a:rPr lang="en-US" altLang="zh-TW" dirty="0" smtClean="0"/>
              <a:t>ARI provides a mechanism to allow single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component to support </a:t>
            </a:r>
            <a:r>
              <a:rPr lang="en-US" altLang="zh-TW" b="1" dirty="0" smtClean="0"/>
              <a:t>up to 256 functions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Originally there are </a:t>
            </a:r>
            <a:r>
              <a:rPr lang="en-US" altLang="zh-TW" b="1" dirty="0" smtClean="0"/>
              <a:t>8 functions </a:t>
            </a:r>
            <a:r>
              <a:rPr lang="en-US" altLang="zh-TW" dirty="0" smtClean="0"/>
              <a:t>at most in a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. </a:t>
            </a:r>
            <a:endParaRPr lang="zh-TW" altLang="en-US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221088"/>
            <a:ext cx="6143625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84" y="5513348"/>
            <a:ext cx="6124575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5362630" y="6394648"/>
            <a:ext cx="377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Figure from Intel PCI-SIG SR_IOV prim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42105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ARI – Alternative Routing ID Interpretation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564904"/>
            <a:ext cx="4464496" cy="3307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99514" y="5939737"/>
            <a:ext cx="4480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Figure from  SR-IOV Specification revision 1.1</a:t>
            </a:r>
            <a:endParaRPr lang="zh-TW" altLang="en-US" b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153" y="2167588"/>
            <a:ext cx="3948801" cy="4013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5026459" y="6337237"/>
            <a:ext cx="37787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Figure from Intel PCI-SIG SR_IOV prim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37900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SR-IOV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Architecture Supporting SR-IOV Capability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ARI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– Alternative Routing ID Interpretation </a:t>
            </a:r>
          </a:p>
          <a:p>
            <a:r>
              <a:rPr lang="en-US" altLang="zh-TW" dirty="0">
                <a:solidFill>
                  <a:srgbClr val="C00000"/>
                </a:solidFill>
              </a:rPr>
              <a:t>ACS – Access Control Services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ATS – Address Translation Service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Data Path for Incoming Packets</a:t>
            </a:r>
          </a:p>
        </p:txBody>
      </p:sp>
    </p:spTree>
    <p:extLst>
      <p:ext uri="{BB962C8B-B14F-4D97-AF65-F5344CB8AC3E}">
        <p14:creationId xmlns:p14="http://schemas.microsoft.com/office/powerpoint/2010/main" val="37612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111"/>
            <a:ext cx="8229600" cy="868362"/>
          </a:xfrm>
        </p:spPr>
        <p:txBody>
          <a:bodyPr/>
          <a:lstStyle/>
          <a:p>
            <a:r>
              <a:rPr lang="en-US" altLang="zh-TW" dirty="0" smtClean="0"/>
              <a:t>ACS – Access Control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908721"/>
            <a:ext cx="9144000" cy="4896544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The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specification allows for P2P transactions.</a:t>
            </a:r>
          </a:p>
          <a:p>
            <a:pPr lvl="1"/>
            <a:r>
              <a:rPr lang="en-US" altLang="zh-TW" dirty="0" smtClean="0"/>
              <a:t>This </a:t>
            </a:r>
            <a:r>
              <a:rPr lang="en-US" altLang="zh-TW" dirty="0"/>
              <a:t>means that it is possible and even desirable in some cases for one </a:t>
            </a:r>
            <a:r>
              <a:rPr lang="en-US" altLang="zh-TW" dirty="0" err="1"/>
              <a:t>PCIe</a:t>
            </a:r>
            <a:r>
              <a:rPr lang="en-US" altLang="zh-TW" dirty="0"/>
              <a:t> endpoint to send data directly to another endpoint without having to go through the Root Complex</a:t>
            </a:r>
            <a:r>
              <a:rPr lang="en-US" altLang="zh-TW" dirty="0" smtClean="0"/>
              <a:t>.</a:t>
            </a:r>
          </a:p>
          <a:p>
            <a:pPr lvl="1"/>
            <a:endParaRPr lang="en-US" altLang="zh-TW" dirty="0"/>
          </a:p>
          <a:p>
            <a:r>
              <a:rPr lang="en-US" altLang="zh-TW" dirty="0" smtClean="0"/>
              <a:t>However, in a virtualized environment it is generally not desirable to have P2P transactions. </a:t>
            </a:r>
          </a:p>
          <a:p>
            <a:pPr lvl="1"/>
            <a:r>
              <a:rPr lang="en-US" altLang="zh-TW" dirty="0" smtClean="0"/>
              <a:t>With </a:t>
            </a:r>
            <a:r>
              <a:rPr lang="en-US" altLang="zh-TW" dirty="0"/>
              <a:t>both direct assignment and SR-IOV, the </a:t>
            </a:r>
            <a:r>
              <a:rPr lang="en-US" altLang="zh-TW" dirty="0" err="1"/>
              <a:t>PCIe</a:t>
            </a:r>
            <a:r>
              <a:rPr lang="en-US" altLang="zh-TW" dirty="0"/>
              <a:t> transactions should go through the Root Complex in order for the ATS to be utilized</a:t>
            </a:r>
            <a:r>
              <a:rPr lang="en-US" altLang="zh-TW" dirty="0" smtClean="0"/>
              <a:t>.</a:t>
            </a:r>
          </a:p>
          <a:p>
            <a:pPr lvl="1"/>
            <a:endParaRPr lang="en-US" altLang="zh-TW" dirty="0"/>
          </a:p>
          <a:p>
            <a:r>
              <a:rPr lang="en-US" altLang="zh-TW" dirty="0" smtClean="0"/>
              <a:t>ACS provides a mechanism by</a:t>
            </a:r>
          </a:p>
          <a:p>
            <a:pPr marL="0" indent="0">
              <a:buNone/>
            </a:pPr>
            <a:r>
              <a:rPr lang="en-US" altLang="zh-TW" dirty="0" smtClean="0"/>
              <a:t>     which  a P2P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transaction </a:t>
            </a:r>
          </a:p>
          <a:p>
            <a:pPr marL="0" indent="0">
              <a:buNone/>
            </a:pPr>
            <a:r>
              <a:rPr lang="en-US" altLang="zh-TW" dirty="0" smtClean="0"/>
              <a:t>     can be </a:t>
            </a:r>
            <a:r>
              <a:rPr lang="en-US" altLang="zh-TW" b="1" dirty="0" smtClean="0"/>
              <a:t>forced to go up through </a:t>
            </a:r>
          </a:p>
          <a:p>
            <a:pPr marL="0" indent="0">
              <a:buNone/>
            </a:pPr>
            <a:r>
              <a:rPr lang="en-US" altLang="zh-TW" b="1" dirty="0" smtClean="0"/>
              <a:t>     the RC</a:t>
            </a:r>
            <a:endParaRPr lang="en-US" altLang="zh-TW" b="1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861048"/>
            <a:ext cx="3275856" cy="2692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1657369" y="6183987"/>
            <a:ext cx="37787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Figure from Intel PCI-SIG SR_IOV prim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42105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SR-IOV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Architecture Supporting SR-IOV Capability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ARI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– Alternative Routing ID Interpretation 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ACS – Access Control Services</a:t>
            </a:r>
          </a:p>
          <a:p>
            <a:r>
              <a:rPr lang="en-US" altLang="zh-TW" dirty="0">
                <a:solidFill>
                  <a:srgbClr val="C00000"/>
                </a:solidFill>
              </a:rPr>
              <a:t>ATS – Address Translation Service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Data Path for Incoming Packets</a:t>
            </a:r>
          </a:p>
        </p:txBody>
      </p:sp>
    </p:spTree>
    <p:extLst>
      <p:ext uri="{BB962C8B-B14F-4D97-AF65-F5344CB8AC3E}">
        <p14:creationId xmlns:p14="http://schemas.microsoft.com/office/powerpoint/2010/main" val="79706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ATS – Address Translation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r>
              <a:rPr lang="en-US" altLang="zh-TW" dirty="0" smtClean="0"/>
              <a:t>ATS provides a mechanism allowing a  virtual machine to perform DMA transaction directly to and from a </a:t>
            </a:r>
            <a:r>
              <a:rPr lang="en-US" altLang="zh-TW" dirty="0" err="1" smtClean="0"/>
              <a:t>PCIe</a:t>
            </a:r>
            <a:r>
              <a:rPr lang="en-US" altLang="zh-TW" dirty="0" smtClean="0"/>
              <a:t> endpoint.</a:t>
            </a:r>
          </a:p>
          <a:p>
            <a:endParaRPr lang="zh-TW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996952"/>
            <a:ext cx="6324600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6103639"/>
            <a:ext cx="385286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105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ATS – Address Translation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ATS uses a </a:t>
            </a:r>
            <a:r>
              <a:rPr lang="en-US" altLang="zh-TW" b="1" dirty="0" smtClean="0">
                <a:solidFill>
                  <a:srgbClr val="FF0000"/>
                </a:solidFill>
              </a:rPr>
              <a:t>request-completion</a:t>
            </a:r>
            <a:r>
              <a:rPr lang="en-US" altLang="zh-TW" dirty="0" smtClean="0"/>
              <a:t> protocol between a Device and a Root Complex (RC)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850109"/>
            <a:ext cx="4320480" cy="3674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105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ATS – Address Translation </a:t>
            </a:r>
            <a:r>
              <a:rPr lang="en-US" altLang="zh-TW" dirty="0" smtClean="0"/>
              <a:t>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268760"/>
            <a:ext cx="9144000" cy="5589240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Upon receipt of an ATS Translation Request, the TA performs the following Requests</a:t>
            </a:r>
            <a:endParaRPr lang="en-US" altLang="zh-TW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Validates that the Function has been configured to issue </a:t>
            </a:r>
            <a:r>
              <a:rPr lang="en-US" altLang="zh-TW" u="sng" dirty="0" smtClean="0"/>
              <a:t>ATS Translation Requests</a:t>
            </a:r>
            <a:r>
              <a:rPr lang="en-US" altLang="zh-TW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Determines whether the Function may access the memory indicated by the </a:t>
            </a:r>
            <a:r>
              <a:rPr lang="en-US" altLang="zh-TW" u="sng" dirty="0" smtClean="0"/>
              <a:t>ATS Translation Request </a:t>
            </a:r>
            <a:r>
              <a:rPr lang="en-US" altLang="zh-TW" dirty="0" smtClean="0"/>
              <a:t>and has the associated access rights.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Determines whether a translation can be provided to the Function. If yes, the TA issues a translation to the Function.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The TA communicates the success or failure of the request to the RC which generates an </a:t>
            </a:r>
            <a:r>
              <a:rPr lang="en-US" altLang="zh-TW" u="sng" dirty="0" smtClean="0"/>
              <a:t>ATS Translation Completion and transmits</a:t>
            </a:r>
            <a:r>
              <a:rPr lang="en-US" altLang="zh-TW" dirty="0" smtClean="0"/>
              <a:t> via a Response TLP through a RP to the Function.</a:t>
            </a:r>
          </a:p>
          <a:p>
            <a:r>
              <a:rPr lang="en-US" altLang="zh-TW" dirty="0" smtClean="0"/>
              <a:t>Path</a:t>
            </a:r>
            <a:endParaRPr lang="en-US" altLang="zh-TW" dirty="0"/>
          </a:p>
          <a:p>
            <a:pPr lvl="1"/>
            <a:r>
              <a:rPr lang="en-US" altLang="zh-TW" dirty="0"/>
              <a:t>Function(Request)=&gt;TA=&gt;RC(Completion)=&gt;Function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zh-TW" dirty="0" smtClean="0"/>
          </a:p>
          <a:p>
            <a:pPr lvl="1"/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42105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ATS – Address Translation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600200"/>
            <a:ext cx="9396536" cy="4525963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When the Function receives the ATS Translation Completion  </a:t>
            </a:r>
          </a:p>
          <a:p>
            <a:pPr lvl="1"/>
            <a:r>
              <a:rPr lang="en-US" altLang="zh-TW" dirty="0" smtClean="0"/>
              <a:t>Either updates its ATC to reflect the translation </a:t>
            </a:r>
          </a:p>
          <a:p>
            <a:pPr lvl="1"/>
            <a:r>
              <a:rPr lang="en-US" altLang="zh-TW" dirty="0" smtClean="0"/>
              <a:t>Or notes that a translation does not exist.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The Function generates subsequent requests using </a:t>
            </a:r>
          </a:p>
          <a:p>
            <a:pPr lvl="1"/>
            <a:r>
              <a:rPr lang="en-US" altLang="zh-TW" dirty="0" smtClean="0"/>
              <a:t>either a translated address </a:t>
            </a:r>
          </a:p>
          <a:p>
            <a:pPr lvl="1"/>
            <a:r>
              <a:rPr lang="en-US" altLang="zh-TW" dirty="0" smtClean="0"/>
              <a:t>or an un-translated address based on the results of the Completion.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105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SR-IOV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Architecture Supporting SR-IOV Capability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ARI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– Alternative Routing ID Interpretation 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ACS – Access Control Services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ATS – Address Translation Service</a:t>
            </a:r>
          </a:p>
          <a:p>
            <a:r>
              <a:rPr lang="en-US" altLang="zh-TW" dirty="0">
                <a:solidFill>
                  <a:srgbClr val="C00000"/>
                </a:solidFill>
              </a:rPr>
              <a:t>Data Path for Incoming Packets</a:t>
            </a:r>
          </a:p>
        </p:txBody>
      </p:sp>
    </p:spTree>
    <p:extLst>
      <p:ext uri="{BB962C8B-B14F-4D97-AF65-F5344CB8AC3E}">
        <p14:creationId xmlns:p14="http://schemas.microsoft.com/office/powerpoint/2010/main" val="639179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0" y="1772816"/>
            <a:ext cx="3695700" cy="499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24165"/>
            <a:ext cx="8229600" cy="868362"/>
          </a:xfrm>
        </p:spPr>
        <p:txBody>
          <a:bodyPr/>
          <a:lstStyle/>
          <a:p>
            <a:r>
              <a:rPr lang="en-US" altLang="zh-TW" dirty="0" smtClean="0"/>
              <a:t>Data Path for incoming packets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196752"/>
            <a:ext cx="5448300" cy="566124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The Ethernet packet arrives at the Ethernet NIC</a:t>
            </a:r>
          </a:p>
          <a:p>
            <a:pPr marL="514350" indent="-514350">
              <a:buFont typeface="+mj-lt"/>
              <a:buAutoNum type="arabicPeriod"/>
            </a:pP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The packet is sent to the Layer 2 sorter/switch/classifier</a:t>
            </a:r>
          </a:p>
          <a:p>
            <a:pPr marL="914400" lvl="1" indent="-514350"/>
            <a:r>
              <a:rPr lang="en-US" altLang="zh-TW" dirty="0" smtClean="0"/>
              <a:t>This </a:t>
            </a:r>
            <a:r>
              <a:rPr lang="en-US" altLang="zh-TW" dirty="0"/>
              <a:t>Layer 2 sorter is configured by the Master Driver. When either the MD or the VF Driver configure a </a:t>
            </a:r>
            <a:r>
              <a:rPr lang="en-US" altLang="zh-TW" b="1" dirty="0"/>
              <a:t>MAC address </a:t>
            </a:r>
            <a:r>
              <a:rPr lang="en-US" altLang="zh-TW" dirty="0"/>
              <a:t>or </a:t>
            </a:r>
            <a:r>
              <a:rPr lang="en-US" altLang="zh-TW" b="1" dirty="0"/>
              <a:t>VLAN</a:t>
            </a:r>
            <a:r>
              <a:rPr lang="en-US" altLang="zh-TW" dirty="0"/>
              <a:t>, this Layer 2 sorter is configured</a:t>
            </a:r>
            <a:r>
              <a:rPr lang="en-US" altLang="zh-TW" dirty="0" smtClean="0"/>
              <a:t>.</a:t>
            </a:r>
          </a:p>
          <a:p>
            <a:pPr marL="914400" lvl="1" indent="-514350"/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42105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Path for incoming packets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600200"/>
            <a:ext cx="5076056" cy="5257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dirty="0" smtClean="0"/>
              <a:t>3. After </a:t>
            </a:r>
            <a:r>
              <a:rPr lang="en-US" altLang="zh-TW" dirty="0"/>
              <a:t>being sorted by </a:t>
            </a:r>
            <a:r>
              <a:rPr lang="en-US" altLang="zh-TW" dirty="0" smtClean="0"/>
              <a:t>the</a:t>
            </a:r>
          </a:p>
          <a:p>
            <a:pPr marL="0" indent="0">
              <a:buNone/>
            </a:pPr>
            <a:r>
              <a:rPr lang="en-US" altLang="zh-TW" dirty="0" smtClean="0"/>
              <a:t>    Layer </a:t>
            </a:r>
            <a:r>
              <a:rPr lang="en-US" altLang="zh-TW" dirty="0"/>
              <a:t>2 Switch, the packet is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placed </a:t>
            </a:r>
            <a:r>
              <a:rPr lang="en-US" altLang="zh-TW" dirty="0"/>
              <a:t>into a receive queue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dedicated </a:t>
            </a:r>
            <a:r>
              <a:rPr lang="en-US" altLang="zh-TW" dirty="0"/>
              <a:t>to the target VF.</a:t>
            </a:r>
          </a:p>
          <a:p>
            <a:pPr marL="514350" indent="-514350">
              <a:buFont typeface="+mj-lt"/>
              <a:buAutoNum type="arabicPeriod"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4. The </a:t>
            </a:r>
            <a:r>
              <a:rPr lang="en-US" altLang="zh-TW" dirty="0"/>
              <a:t>DMA operation is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 initiated</a:t>
            </a:r>
            <a:r>
              <a:rPr lang="en-US" altLang="zh-TW" dirty="0"/>
              <a:t>. The target memory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 address </a:t>
            </a:r>
            <a:r>
              <a:rPr lang="en-US" altLang="zh-TW" dirty="0"/>
              <a:t>for the DMA operation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 is </a:t>
            </a:r>
            <a:r>
              <a:rPr lang="en-US" altLang="zh-TW" dirty="0"/>
              <a:t>defined within the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descriptors </a:t>
            </a:r>
            <a:r>
              <a:rPr lang="en-US" altLang="zh-TW" dirty="0"/>
              <a:t>in the VF, which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have </a:t>
            </a:r>
            <a:r>
              <a:rPr lang="en-US" altLang="zh-TW" dirty="0"/>
              <a:t>been configured by the VF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driver </a:t>
            </a:r>
            <a:r>
              <a:rPr lang="en-US" altLang="zh-TW" dirty="0"/>
              <a:t>within the VM.</a:t>
            </a:r>
          </a:p>
          <a:p>
            <a:pPr marL="514350" indent="-514350">
              <a:buFont typeface="+mj-lt"/>
              <a:buAutoNum type="arabicPeriod"/>
            </a:pP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0" y="1772816"/>
            <a:ext cx="3695700" cy="499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81513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0" y="1772816"/>
            <a:ext cx="3695700" cy="499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Path for incoming packets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196752"/>
            <a:ext cx="5292080" cy="566124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TW" dirty="0" smtClean="0"/>
              <a:t>5</a:t>
            </a:r>
            <a:r>
              <a:rPr lang="en-US" altLang="zh-TW" dirty="0"/>
              <a:t>. The DMA Operation </a:t>
            </a:r>
            <a:r>
              <a:rPr lang="en-US" altLang="zh-TW" dirty="0" smtClean="0"/>
              <a:t>has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 reached </a:t>
            </a:r>
            <a:r>
              <a:rPr lang="en-US" altLang="zh-TW" dirty="0"/>
              <a:t>the chipset.  </a:t>
            </a:r>
            <a:r>
              <a:rPr lang="en-US" altLang="zh-TW" dirty="0" smtClean="0"/>
              <a:t>Intel VT-d,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 which </a:t>
            </a:r>
            <a:r>
              <a:rPr lang="en-US" altLang="zh-TW" dirty="0"/>
              <a:t>has been configured by 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 the </a:t>
            </a:r>
            <a:r>
              <a:rPr lang="en-US" altLang="zh-TW" b="1" dirty="0"/>
              <a:t>VMM then remaps the target </a:t>
            </a:r>
            <a:r>
              <a:rPr lang="en-US" altLang="zh-TW" b="1" dirty="0" smtClean="0"/>
              <a:t>  </a:t>
            </a:r>
          </a:p>
          <a:p>
            <a:pPr marL="0" indent="0">
              <a:buNone/>
            </a:pPr>
            <a:r>
              <a:rPr lang="en-US" altLang="zh-TW" b="1" dirty="0"/>
              <a:t> </a:t>
            </a:r>
            <a:r>
              <a:rPr lang="en-US" altLang="zh-TW" b="1" dirty="0" smtClean="0"/>
              <a:t>    DMA </a:t>
            </a:r>
            <a:r>
              <a:rPr lang="en-US" altLang="zh-TW" b="1" dirty="0"/>
              <a:t>address from a virtual host </a:t>
            </a:r>
            <a:endParaRPr lang="en-US" altLang="zh-TW" b="1" dirty="0" smtClean="0"/>
          </a:p>
          <a:p>
            <a:pPr marL="0" indent="0">
              <a:buNone/>
            </a:pPr>
            <a:r>
              <a:rPr lang="en-US" altLang="zh-TW" b="1" dirty="0"/>
              <a:t> </a:t>
            </a:r>
            <a:r>
              <a:rPr lang="en-US" altLang="zh-TW" b="1" dirty="0" smtClean="0"/>
              <a:t>    address </a:t>
            </a:r>
            <a:r>
              <a:rPr lang="en-US" altLang="zh-TW" b="1" dirty="0"/>
              <a:t>to a physical </a:t>
            </a:r>
            <a:r>
              <a:rPr lang="en-US" altLang="zh-TW" b="1" dirty="0" smtClean="0"/>
              <a:t>host </a:t>
            </a:r>
            <a:r>
              <a:rPr lang="en-US" altLang="zh-TW" b="1" dirty="0"/>
              <a:t>address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 The </a:t>
            </a:r>
            <a:r>
              <a:rPr lang="en-US" altLang="zh-TW" dirty="0"/>
              <a:t>DMA operation is completed; </a:t>
            </a:r>
            <a:r>
              <a:rPr lang="en-US" altLang="zh-TW" dirty="0" smtClean="0"/>
              <a:t> 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 the </a:t>
            </a:r>
            <a:r>
              <a:rPr lang="en-US" altLang="zh-TW" dirty="0"/>
              <a:t>Ethernet packet is now in the 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  memory </a:t>
            </a:r>
            <a:r>
              <a:rPr lang="en-US" altLang="zh-TW" dirty="0"/>
              <a:t>space of the </a:t>
            </a:r>
            <a:r>
              <a:rPr lang="en-US" altLang="zh-TW" dirty="0" smtClean="0"/>
              <a:t>VM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6. The </a:t>
            </a:r>
            <a:r>
              <a:rPr lang="en-US" altLang="zh-TW" dirty="0"/>
              <a:t>NIC </a:t>
            </a:r>
            <a:r>
              <a:rPr lang="en-US" altLang="zh-TW" b="1" dirty="0"/>
              <a:t>fires </a:t>
            </a:r>
            <a:r>
              <a:rPr lang="en-US" altLang="zh-TW" b="1" dirty="0" smtClean="0"/>
              <a:t>interrupt</a:t>
            </a:r>
            <a:r>
              <a:rPr lang="en-US" altLang="zh-TW" dirty="0"/>
              <a:t>,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     indicating </a:t>
            </a:r>
            <a:r>
              <a:rPr lang="en-US" altLang="zh-TW" dirty="0"/>
              <a:t>a packet has </a:t>
            </a:r>
            <a:r>
              <a:rPr lang="en-US" altLang="zh-TW" dirty="0" smtClean="0"/>
              <a:t>  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 arrived</a:t>
            </a:r>
            <a:r>
              <a:rPr lang="en-US" altLang="zh-TW" dirty="0"/>
              <a:t>. This interrupt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 is </a:t>
            </a:r>
            <a:r>
              <a:rPr lang="en-US" altLang="zh-TW" dirty="0"/>
              <a:t>handled by the </a:t>
            </a:r>
            <a:r>
              <a:rPr lang="en-US" altLang="zh-TW" dirty="0" smtClean="0"/>
              <a:t>VMM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188274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Path for incoming packets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600200"/>
            <a:ext cx="4427984" cy="52578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7. </a:t>
            </a:r>
            <a:r>
              <a:rPr lang="en-US" altLang="zh-TW" dirty="0"/>
              <a:t>The VMM fires a virtual </a:t>
            </a:r>
          </a:p>
          <a:p>
            <a:pPr marL="0" indent="0">
              <a:buNone/>
            </a:pPr>
            <a:r>
              <a:rPr lang="en-US" altLang="zh-TW" dirty="0"/>
              <a:t>     interrupt to the VM, so </a:t>
            </a:r>
          </a:p>
          <a:p>
            <a:pPr marL="0" indent="0">
              <a:buNone/>
            </a:pPr>
            <a:r>
              <a:rPr lang="en-US" altLang="zh-TW" dirty="0"/>
              <a:t>     that it is informed that </a:t>
            </a:r>
          </a:p>
          <a:p>
            <a:pPr marL="0" indent="0">
              <a:buNone/>
            </a:pPr>
            <a:r>
              <a:rPr lang="en-US" altLang="zh-TW" dirty="0"/>
              <a:t>     the packet has arrived</a:t>
            </a:r>
          </a:p>
          <a:p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628800"/>
            <a:ext cx="3695700" cy="499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70014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5733256"/>
          </a:xfrm>
        </p:spPr>
        <p:txBody>
          <a:bodyPr/>
          <a:lstStyle/>
          <a:p>
            <a:r>
              <a:rPr lang="en-US" altLang="zh-TW" sz="2400" dirty="0" smtClean="0"/>
              <a:t>SR-IOV creates </a:t>
            </a:r>
            <a:r>
              <a:rPr lang="en-US" altLang="zh-TW" sz="2400" dirty="0" smtClean="0">
                <a:solidFill>
                  <a:srgbClr val="FF0000"/>
                </a:solidFill>
              </a:rPr>
              <a:t>Virtual Function</a:t>
            </a:r>
            <a:r>
              <a:rPr lang="en-US" altLang="zh-TW" sz="2400" dirty="0" smtClean="0"/>
              <a:t>, which records the information of the virtual </a:t>
            </a:r>
            <a:r>
              <a:rPr lang="en-US" altLang="zh-TW" sz="2400" dirty="0" err="1" smtClean="0"/>
              <a:t>PCIe</a:t>
            </a:r>
            <a:r>
              <a:rPr lang="en-US" altLang="zh-TW" sz="2400" dirty="0" smtClean="0"/>
              <a:t> device and be directly mapped to a system image.</a:t>
            </a:r>
          </a:p>
          <a:p>
            <a:r>
              <a:rPr lang="en-US" altLang="zh-TW" sz="2400" dirty="0" smtClean="0"/>
              <a:t>Virtual Function is a “light weight” function just for data movement. The management is controlled by Physical Function.</a:t>
            </a:r>
          </a:p>
          <a:p>
            <a:r>
              <a:rPr lang="en-US" altLang="zh-TW" sz="2400" b="1" dirty="0" smtClean="0"/>
              <a:t>ATC</a:t>
            </a:r>
            <a:r>
              <a:rPr lang="en-US" altLang="zh-TW" sz="2400" dirty="0" smtClean="0"/>
              <a:t>, a hardware stores recently used address translations</a:t>
            </a:r>
          </a:p>
          <a:p>
            <a:r>
              <a:rPr lang="en-US" altLang="zh-TW" sz="2400" b="1" dirty="0" smtClean="0"/>
              <a:t>ARI</a:t>
            </a:r>
            <a:r>
              <a:rPr lang="en-US" altLang="zh-TW" sz="2400" dirty="0" smtClean="0"/>
              <a:t>,  </a:t>
            </a:r>
            <a:r>
              <a:rPr lang="en-US" altLang="zh-TW" sz="2400" dirty="0"/>
              <a:t>a mechanism to allow single </a:t>
            </a:r>
            <a:r>
              <a:rPr lang="en-US" altLang="zh-TW" sz="2400" dirty="0" err="1"/>
              <a:t>PCIe</a:t>
            </a:r>
            <a:r>
              <a:rPr lang="en-US" altLang="zh-TW" sz="2400" dirty="0"/>
              <a:t> component to support up to 256 </a:t>
            </a:r>
            <a:r>
              <a:rPr lang="en-US" altLang="zh-TW" sz="2400" dirty="0" smtClean="0"/>
              <a:t>functions. And Routing </a:t>
            </a:r>
            <a:r>
              <a:rPr lang="en-US" altLang="zh-TW" sz="2400" dirty="0"/>
              <a:t>ID is used to forward  requests to the corresponding PFs and </a:t>
            </a:r>
            <a:r>
              <a:rPr lang="en-US" altLang="zh-TW" sz="2400" dirty="0" smtClean="0"/>
              <a:t>VFs. </a:t>
            </a:r>
          </a:p>
          <a:p>
            <a:r>
              <a:rPr lang="en-US" altLang="zh-TW" sz="2400" b="1" dirty="0" smtClean="0"/>
              <a:t>ATS</a:t>
            </a:r>
            <a:r>
              <a:rPr lang="en-US" altLang="zh-TW" sz="2400" dirty="0" smtClean="0"/>
              <a:t>, </a:t>
            </a:r>
            <a:r>
              <a:rPr lang="en-US" altLang="zh-TW" sz="2400" dirty="0"/>
              <a:t>a mechanism allowing a  virtual machine to perform DMA transaction directly to and </a:t>
            </a:r>
            <a:r>
              <a:rPr lang="en-US" altLang="zh-TW" sz="2400" dirty="0" smtClean="0"/>
              <a:t>from </a:t>
            </a:r>
            <a:r>
              <a:rPr lang="en-US" altLang="zh-TW" sz="2400" dirty="0"/>
              <a:t>a </a:t>
            </a:r>
            <a:r>
              <a:rPr lang="en-US" altLang="zh-TW" sz="2400" dirty="0" err="1"/>
              <a:t>PCIe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endpoint</a:t>
            </a:r>
          </a:p>
          <a:p>
            <a:r>
              <a:rPr lang="en-US" altLang="zh-TW" sz="2400" dirty="0" smtClean="0"/>
              <a:t>In the end, a example show up the data path for the incoming packets.</a:t>
            </a:r>
          </a:p>
        </p:txBody>
      </p:sp>
    </p:spTree>
    <p:extLst>
      <p:ext uri="{BB962C8B-B14F-4D97-AF65-F5344CB8AC3E}">
        <p14:creationId xmlns:p14="http://schemas.microsoft.com/office/powerpoint/2010/main" val="13061540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r>
              <a:rPr lang="en-US" altLang="zh-TW" sz="2000" dirty="0" smtClean="0"/>
              <a:t>Intel PCI-SIG SR-IOV Primer</a:t>
            </a:r>
          </a:p>
          <a:p>
            <a:r>
              <a:rPr lang="en-US" altLang="zh-TW" sz="2000" dirty="0"/>
              <a:t>“SR-IOV Networking in </a:t>
            </a:r>
            <a:r>
              <a:rPr lang="en-US" altLang="zh-TW" sz="2000" dirty="0" err="1"/>
              <a:t>Xen</a:t>
            </a:r>
            <a:r>
              <a:rPr lang="en-US" altLang="zh-TW" sz="2000" dirty="0"/>
              <a:t>: Architecture, Design and Implementation” </a:t>
            </a:r>
            <a:r>
              <a:rPr lang="en-US" altLang="zh-TW" sz="1200" dirty="0" err="1"/>
              <a:t>Yaozu</a:t>
            </a:r>
            <a:r>
              <a:rPr lang="en-US" altLang="zh-TW" sz="1200" dirty="0"/>
              <a:t> Dong, Zhao Yu and Greg Rose</a:t>
            </a:r>
            <a:endParaRPr lang="zh-TW" altLang="en-US" sz="1200" dirty="0"/>
          </a:p>
          <a:p>
            <a:r>
              <a:rPr lang="en-US" altLang="zh-TW" sz="2000" dirty="0"/>
              <a:t>Single Root I/O Virtualization and </a:t>
            </a:r>
            <a:r>
              <a:rPr lang="en-US" altLang="zh-TW" sz="2000" dirty="0" smtClean="0"/>
              <a:t>Sharing </a:t>
            </a:r>
            <a:r>
              <a:rPr lang="en-US" altLang="zh-TW" sz="2000" dirty="0"/>
              <a:t>Specification </a:t>
            </a:r>
            <a:r>
              <a:rPr lang="en-US" altLang="zh-TW" sz="2000" dirty="0" smtClean="0"/>
              <a:t>Revision 1.1</a:t>
            </a:r>
          </a:p>
          <a:p>
            <a:r>
              <a:rPr lang="en-US" altLang="zh-TW" sz="2000" dirty="0"/>
              <a:t>Address Translation Services </a:t>
            </a:r>
            <a:r>
              <a:rPr lang="en-US" altLang="zh-TW" sz="2000" dirty="0" smtClean="0"/>
              <a:t>Revision 1.1</a:t>
            </a:r>
          </a:p>
          <a:p>
            <a:r>
              <a:rPr lang="en-US" altLang="zh-TW" sz="2000" dirty="0" smtClean="0"/>
              <a:t>“Implementing </a:t>
            </a:r>
            <a:r>
              <a:rPr lang="en-US" altLang="zh-TW" sz="2000" dirty="0"/>
              <a:t>PCI I/O Virtualization </a:t>
            </a:r>
            <a:r>
              <a:rPr lang="en-US" altLang="zh-TW" sz="2000" dirty="0" smtClean="0"/>
              <a:t>Standards”, </a:t>
            </a:r>
            <a:r>
              <a:rPr lang="en-US" altLang="zh-TW" sz="1200" dirty="0"/>
              <a:t>Mike Krause and Renato </a:t>
            </a:r>
            <a:r>
              <a:rPr lang="en-US" altLang="zh-TW" sz="1200" dirty="0" err="1"/>
              <a:t>Recio</a:t>
            </a:r>
            <a:endParaRPr lang="en-US" altLang="zh-TW" sz="1200" dirty="0"/>
          </a:p>
          <a:p>
            <a:r>
              <a:rPr lang="en-US" altLang="zh-TW" sz="1200" dirty="0"/>
              <a:t>PCI SIG IOV Work Group </a:t>
            </a:r>
            <a:r>
              <a:rPr lang="en-US" altLang="zh-TW" sz="1200" dirty="0" smtClean="0"/>
              <a:t>Co-chairs</a:t>
            </a:r>
            <a:endParaRPr lang="zh-TW" altLang="en-US" sz="2000" dirty="0"/>
          </a:p>
          <a:p>
            <a:r>
              <a:rPr lang="en-US" altLang="zh-TW" sz="2000" dirty="0">
                <a:hlinkClick r:id="rId2"/>
              </a:rPr>
              <a:t>http://www.mindshare.com/files/ebooks/PCI%20System%20Architecture%20(4th%20Edition).</a:t>
            </a:r>
            <a:r>
              <a:rPr lang="en-US" altLang="zh-TW" sz="2000" dirty="0" smtClean="0">
                <a:hlinkClick r:id="rId2"/>
              </a:rPr>
              <a:t>pdf</a:t>
            </a:r>
            <a:endParaRPr lang="en-US" altLang="zh-TW" sz="2000" dirty="0" smtClean="0"/>
          </a:p>
          <a:p>
            <a:r>
              <a:rPr lang="en-US" altLang="zh-TW" sz="2000" dirty="0">
                <a:hlinkClick r:id="rId3"/>
              </a:rPr>
              <a:t>http://</a:t>
            </a:r>
            <a:r>
              <a:rPr lang="en-US" altLang="zh-TW" sz="2000" dirty="0" smtClean="0">
                <a:hlinkClick r:id="rId3"/>
              </a:rPr>
              <a:t>www.pcisig.com/developers/main/training_materials/get_document?doc_id=4717c70ea2fe2f92dcbc4560a39cba8129af32c1</a:t>
            </a:r>
            <a:endParaRPr lang="en-US" altLang="zh-TW" sz="2000" dirty="0" smtClean="0"/>
          </a:p>
          <a:p>
            <a:r>
              <a:rPr lang="en-US" altLang="zh-TW" sz="2000" dirty="0">
                <a:hlinkClick r:id="rId4"/>
              </a:rPr>
              <a:t>http://</a:t>
            </a:r>
            <a:r>
              <a:rPr lang="en-US" altLang="zh-TW" sz="2000" dirty="0" smtClean="0">
                <a:hlinkClick r:id="rId4"/>
              </a:rPr>
              <a:t>www.intel.com/content/dam/doc/application-note/pci-sig-sr-iov-primer-sr-iov-technology-paper.pdf</a:t>
            </a:r>
            <a:endParaRPr lang="en-US" altLang="zh-TW" sz="2000" dirty="0" smtClean="0"/>
          </a:p>
          <a:p>
            <a:r>
              <a:rPr lang="en-US" altLang="zh-TW" sz="2000" dirty="0">
                <a:hlinkClick r:id="rId5"/>
              </a:rPr>
              <a:t>http://</a:t>
            </a:r>
            <a:r>
              <a:rPr lang="en-US" altLang="zh-TW" sz="2000" dirty="0" smtClean="0">
                <a:hlinkClick r:id="rId5"/>
              </a:rPr>
              <a:t>ieeexplore.ieee.org/xpls/abs_all.jsp?arnumber=5416637&amp;tag=1</a:t>
            </a:r>
            <a:endParaRPr lang="en-US" altLang="zh-TW" sz="2000" dirty="0" smtClean="0"/>
          </a:p>
          <a:p>
            <a:endParaRPr lang="en-US" altLang="zh-TW" sz="2000" dirty="0" smtClean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265572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 &amp; 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1870380"/>
      </p:ext>
    </p:extLst>
  </p:cSld>
  <p:clrMapOvr>
    <a:masterClrMapping/>
  </p:clrMapOvr>
</p:sld>
</file>

<file path=ppt/theme/theme1.xml><?xml version="1.0" encoding="utf-8"?>
<a:theme xmlns:a="http://schemas.openxmlformats.org/drawingml/2006/main" name="Course Themes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Themes</Template>
  <TotalTime>25994</TotalTime>
  <Words>2314</Words>
  <Application>Microsoft Office PowerPoint</Application>
  <PresentationFormat>如螢幕大小 (4:3)</PresentationFormat>
  <Paragraphs>478</Paragraphs>
  <Slides>46</Slides>
  <Notes>11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46</vt:i4>
      </vt:variant>
    </vt:vector>
  </HeadingPairs>
  <TitlesOfParts>
    <vt:vector size="47" baseType="lpstr">
      <vt:lpstr>Course Themes</vt:lpstr>
      <vt:lpstr>虛擬化技術 Virtualization Techniques</vt:lpstr>
      <vt:lpstr>Agenda</vt:lpstr>
      <vt:lpstr>Overview</vt:lpstr>
      <vt:lpstr>Overview</vt:lpstr>
      <vt:lpstr>Overview</vt:lpstr>
      <vt:lpstr>PCIe I/O Virtualization</vt:lpstr>
      <vt:lpstr>Motivation</vt:lpstr>
      <vt:lpstr>PCIe I/O Virtualization</vt:lpstr>
      <vt:lpstr>Directed I/O</vt:lpstr>
      <vt:lpstr>Drawbacks to Directed I/O</vt:lpstr>
      <vt:lpstr>Terminology relating to Directed I/O</vt:lpstr>
      <vt:lpstr>PCIe I/O Virtualization</vt:lpstr>
      <vt:lpstr>Generic Platform </vt:lpstr>
      <vt:lpstr>PCIe components</vt:lpstr>
      <vt:lpstr>PCIe components</vt:lpstr>
      <vt:lpstr>PCIe Device</vt:lpstr>
      <vt:lpstr>Example: Multi-Function Device </vt:lpstr>
      <vt:lpstr>Components in PCIe Device </vt:lpstr>
      <vt:lpstr>Components in PCIe Device </vt:lpstr>
      <vt:lpstr>Physical V.S. Virtual</vt:lpstr>
      <vt:lpstr>PCIe SR-IOV Capable Device</vt:lpstr>
      <vt:lpstr>Directly and Software Shared</vt:lpstr>
      <vt:lpstr>Extended Capabilities</vt:lpstr>
      <vt:lpstr>SR-IOV Extended Capabilities</vt:lpstr>
      <vt:lpstr>SR-IOV</vt:lpstr>
      <vt:lpstr>Platform with SR-IOV</vt:lpstr>
      <vt:lpstr>Components of SR-IOV</vt:lpstr>
      <vt:lpstr>Components of SR-IOV</vt:lpstr>
      <vt:lpstr>SR-IOV</vt:lpstr>
      <vt:lpstr>ARI – Alternative Routing ID Interpretation</vt:lpstr>
      <vt:lpstr>ARI – Alternative Routing ID Interpretation</vt:lpstr>
      <vt:lpstr>SR-IOV</vt:lpstr>
      <vt:lpstr>ACS – Access Control Services</vt:lpstr>
      <vt:lpstr>SR-IOV</vt:lpstr>
      <vt:lpstr>ATS – Address Translation Services</vt:lpstr>
      <vt:lpstr>ATS – Address Translation Services</vt:lpstr>
      <vt:lpstr>ATS – Address Translation Services</vt:lpstr>
      <vt:lpstr>ATS – Address Translation Services</vt:lpstr>
      <vt:lpstr>SR-IOV</vt:lpstr>
      <vt:lpstr>Data Path for incoming packets</vt:lpstr>
      <vt:lpstr>Data Path for incoming packets</vt:lpstr>
      <vt:lpstr>Data Path for incoming packets</vt:lpstr>
      <vt:lpstr>Data Path for incoming packets</vt:lpstr>
      <vt:lpstr>Summary</vt:lpstr>
      <vt:lpstr>Reference</vt:lpstr>
      <vt:lpstr>Q &amp; 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tlcsmall3</dc:creator>
  <cp:lastModifiedBy>Pekoe</cp:lastModifiedBy>
  <cp:revision>1501</cp:revision>
  <dcterms:created xsi:type="dcterms:W3CDTF">2010-08-10T05:14:29Z</dcterms:created>
  <dcterms:modified xsi:type="dcterms:W3CDTF">2013-02-04T03:54:16Z</dcterms:modified>
</cp:coreProperties>
</file>