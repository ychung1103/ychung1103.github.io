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8"/>
  </p:notesMasterIdLst>
  <p:sldIdLst>
    <p:sldId id="459" r:id="rId2"/>
    <p:sldId id="460" r:id="rId3"/>
    <p:sldId id="289" r:id="rId4"/>
    <p:sldId id="434" r:id="rId5"/>
    <p:sldId id="435" r:id="rId6"/>
    <p:sldId id="436" r:id="rId7"/>
    <p:sldId id="461" r:id="rId8"/>
    <p:sldId id="437" r:id="rId9"/>
    <p:sldId id="438" r:id="rId10"/>
    <p:sldId id="439" r:id="rId11"/>
    <p:sldId id="440" r:id="rId12"/>
    <p:sldId id="462" r:id="rId13"/>
    <p:sldId id="441" r:id="rId14"/>
    <p:sldId id="447" r:id="rId15"/>
    <p:sldId id="446" r:id="rId16"/>
    <p:sldId id="443" r:id="rId17"/>
    <p:sldId id="463" r:id="rId18"/>
    <p:sldId id="458" r:id="rId19"/>
    <p:sldId id="418" r:id="rId20"/>
    <p:sldId id="414" r:id="rId21"/>
    <p:sldId id="428" r:id="rId22"/>
    <p:sldId id="420" r:id="rId23"/>
    <p:sldId id="415" r:id="rId24"/>
    <p:sldId id="416" r:id="rId25"/>
    <p:sldId id="469" r:id="rId26"/>
    <p:sldId id="421" r:id="rId27"/>
    <p:sldId id="422" r:id="rId28"/>
    <p:sldId id="423" r:id="rId29"/>
    <p:sldId id="424" r:id="rId30"/>
    <p:sldId id="425" r:id="rId31"/>
    <p:sldId id="432" r:id="rId32"/>
    <p:sldId id="419" r:id="rId33"/>
    <p:sldId id="455" r:id="rId34"/>
    <p:sldId id="470" r:id="rId35"/>
    <p:sldId id="464" r:id="rId36"/>
    <p:sldId id="465" r:id="rId37"/>
    <p:sldId id="466" r:id="rId38"/>
    <p:sldId id="471" r:id="rId39"/>
    <p:sldId id="490" r:id="rId40"/>
    <p:sldId id="467" r:id="rId41"/>
    <p:sldId id="468" r:id="rId42"/>
    <p:sldId id="522" r:id="rId43"/>
    <p:sldId id="521" r:id="rId44"/>
    <p:sldId id="523" r:id="rId45"/>
    <p:sldId id="472" r:id="rId46"/>
    <p:sldId id="473" r:id="rId47"/>
    <p:sldId id="474" r:id="rId48"/>
    <p:sldId id="475" r:id="rId49"/>
    <p:sldId id="476" r:id="rId50"/>
    <p:sldId id="477" r:id="rId51"/>
    <p:sldId id="487" r:id="rId52"/>
    <p:sldId id="488" r:id="rId53"/>
    <p:sldId id="478" r:id="rId54"/>
    <p:sldId id="479" r:id="rId55"/>
    <p:sldId id="480" r:id="rId56"/>
    <p:sldId id="524" r:id="rId57"/>
    <p:sldId id="481" r:id="rId58"/>
    <p:sldId id="482" r:id="rId59"/>
    <p:sldId id="483" r:id="rId60"/>
    <p:sldId id="484" r:id="rId61"/>
    <p:sldId id="525" r:id="rId62"/>
    <p:sldId id="493" r:id="rId63"/>
    <p:sldId id="494" r:id="rId64"/>
    <p:sldId id="495" r:id="rId65"/>
    <p:sldId id="496" r:id="rId66"/>
    <p:sldId id="526" r:id="rId67"/>
    <p:sldId id="503" r:id="rId68"/>
    <p:sldId id="497" r:id="rId69"/>
    <p:sldId id="498" r:id="rId70"/>
    <p:sldId id="504" r:id="rId71"/>
    <p:sldId id="505" r:id="rId72"/>
    <p:sldId id="506" r:id="rId73"/>
    <p:sldId id="507" r:id="rId74"/>
    <p:sldId id="499" r:id="rId75"/>
    <p:sldId id="508" r:id="rId76"/>
    <p:sldId id="509" r:id="rId77"/>
    <p:sldId id="500" r:id="rId78"/>
    <p:sldId id="527" r:id="rId79"/>
    <p:sldId id="485" r:id="rId80"/>
    <p:sldId id="489" r:id="rId81"/>
    <p:sldId id="514" r:id="rId82"/>
    <p:sldId id="517" r:id="rId83"/>
    <p:sldId id="516" r:id="rId84"/>
    <p:sldId id="518" r:id="rId85"/>
    <p:sldId id="519" r:id="rId86"/>
    <p:sldId id="448" r:id="rId8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71" autoAdjust="0"/>
    <p:restoredTop sz="92721" autoAdjust="0"/>
  </p:normalViewPr>
  <p:slideViewPr>
    <p:cSldViewPr>
      <p:cViewPr varScale="1">
        <p:scale>
          <a:sx n="112" d="100"/>
          <a:sy n="112" d="100"/>
        </p:scale>
        <p:origin x="99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46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A7DD20-92F8-4282-BDE4-0E24C1A0D45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0D120-4707-426F-9B85-873E256A663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603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3785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9619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655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備忘稿版面配置區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en-US" smtClean="0"/>
          </a:p>
        </p:txBody>
      </p:sp>
      <p:sp>
        <p:nvSpPr>
          <p:cNvPr id="3072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66244D0-A7D0-482B-AB94-BD450D7C1C75}" type="slidenum">
              <a:rPr lang="en-US" altLang="zh-TW"/>
              <a:pPr eaLnBrk="1" hangingPunct="1"/>
              <a:t>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36007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719332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3562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4670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29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7715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5327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BFA5A3-E274-4694-B6A5-D346393E3593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14047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99648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75858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29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838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734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415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11095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ED7375EC-47A7-420E-A369-D4D05721E2EE}" type="slidenum">
              <a:rPr lang="en-US" altLang="zh-TW"/>
              <a:pPr eaLnBrk="1" hangingPunct="1"/>
              <a:t>59</a:t>
            </a:fld>
            <a:endParaRPr lang="en-US" altLang="zh-TW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zh-TW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45890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3384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14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>
                <a:latin typeface="Arial" charset="0"/>
              </a:rPr>
              <a:t>Hidden slide  (just for backup reasons)</a:t>
            </a: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>
                <a:latin typeface="Arial" charset="0"/>
              </a:rPr>
              <a:t>Shows how far along we can go in opening up the network</a:t>
            </a:r>
          </a:p>
        </p:txBody>
      </p:sp>
      <p:sp>
        <p:nvSpPr>
          <p:cNvPr id="231428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>
            <a:prstTxWarp prst="textNoShape">
              <a:avLst/>
            </a:prstTxWarp>
          </a:bodyPr>
          <a:lstStyle/>
          <a:p>
            <a:pPr algn="r"/>
            <a:fld id="{6A919B76-E7A6-614B-82F7-1DFA7B31EA65}" type="slidenum">
              <a:rPr lang="en-US" sz="1200">
                <a:latin typeface="Calibri" charset="0"/>
                <a:ea typeface="ＭＳ Ｐゴシック" charset="-128"/>
                <a:cs typeface="ＭＳ Ｐゴシック" charset="-128"/>
              </a:rPr>
              <a:pPr algn="r"/>
              <a:t>63</a:t>
            </a:fld>
            <a:endParaRPr lang="en-US" sz="1200"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610775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58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6258" name="Rectangle 2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57150" eaLnBrk="1" hangingPunct="1"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Experiments running on </a:t>
            </a:r>
            <a:r>
              <a:rPr lang="en-US" sz="1600" b="1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PRODUCTION</a:t>
            </a:r>
            <a:r>
              <a:rPr lang="en-US" sz="16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 infrastructure</a:t>
            </a:r>
          </a:p>
          <a:p>
            <a:pPr marL="57150" eaLnBrk="1" hangingPunct="1"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Key to get scale, key to get traffic on the network</a:t>
            </a:r>
          </a:p>
          <a:p>
            <a:pPr marL="57150" eaLnBrk="1" hangingPunct="1"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  <a:sym typeface="Arial" charset="0"/>
              </a:rPr>
              <a:t>(e.g. can’t just do a reset...)</a:t>
            </a:r>
          </a:p>
          <a:p>
            <a:pPr marL="57150" eaLnBrk="1" hangingPunct="1">
              <a:spcBef>
                <a:spcPct val="0"/>
              </a:spcBef>
            </a:pPr>
            <a:endParaRPr lang="en-US" sz="1600">
              <a:solidFill>
                <a:srgbClr val="000000"/>
              </a:solidFill>
              <a:latin typeface="Arial" charset="0"/>
              <a:ea typeface="Arial" charset="0"/>
              <a:cs typeface="Arial" charset="0"/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791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60783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02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925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Carves Network into “Slices”</a:t>
            </a:r>
            <a:r>
              <a:rPr lang="en-US" baseline="0" dirty="0" smtClean="0"/>
              <a:t> and </a:t>
            </a:r>
            <a:r>
              <a:rPr lang="en-US" dirty="0" smtClean="0"/>
              <a:t>Assigns hardware resources</a:t>
            </a:r>
            <a:r>
              <a:rPr lang="en-US" baseline="0" dirty="0" smtClean="0"/>
              <a:t> to each slice.</a:t>
            </a:r>
            <a:r>
              <a:rPr lang="en-US" dirty="0" smtClean="0"/>
              <a:t> Switch DPID, Port.</a:t>
            </a:r>
          </a:p>
          <a:p>
            <a:pPr lvl="2"/>
            <a:endParaRPr lang="en-US" dirty="0" smtClean="0"/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51D007-90AC-C949-AF99-50B9CB862B58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354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7975"/>
          </a:xfrm>
          <a:noFill/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076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4124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033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buFontTx/>
              <a:buChar char="•"/>
            </a:pPr>
            <a:r>
              <a:rPr lang="en-US" dirty="0"/>
              <a:t>There are components at different levels that work together in making it work</a:t>
            </a:r>
          </a:p>
          <a:p>
            <a:pPr>
              <a:buFontTx/>
              <a:buChar char="•"/>
            </a:pPr>
            <a:r>
              <a:rPr lang="en-US" dirty="0"/>
              <a:t>The commercial switch details will follow in next slide</a:t>
            </a:r>
          </a:p>
          <a:p>
            <a:pPr>
              <a:buFontTx/>
              <a:buChar char="•"/>
            </a:pPr>
            <a:r>
              <a:rPr lang="en-US" dirty="0"/>
              <a:t>There are a plethora of applications possible. I only list those available at Stanford</a:t>
            </a:r>
          </a:p>
        </p:txBody>
      </p:sp>
    </p:spTree>
    <p:extLst>
      <p:ext uri="{BB962C8B-B14F-4D97-AF65-F5344CB8AC3E}">
        <p14:creationId xmlns:p14="http://schemas.microsoft.com/office/powerpoint/2010/main" val="22587323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467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All support </a:t>
            </a:r>
            <a:r>
              <a:rPr lang="en-US" dirty="0" err="1"/>
              <a:t>ver</a:t>
            </a:r>
            <a:r>
              <a:rPr lang="en-US" dirty="0"/>
              <a:t> 1.0</a:t>
            </a:r>
          </a:p>
          <a:p>
            <a:r>
              <a:rPr lang="en-US" dirty="0"/>
              <a:t>All have </a:t>
            </a:r>
            <a:r>
              <a:rPr lang="en-US" dirty="0" err="1"/>
              <a:t>approx</a:t>
            </a:r>
            <a:r>
              <a:rPr lang="en-US" dirty="0"/>
              <a:t> 1500 flow table entry limit</a:t>
            </a:r>
          </a:p>
        </p:txBody>
      </p:sp>
    </p:spTree>
    <p:extLst>
      <p:ext uri="{BB962C8B-B14F-4D97-AF65-F5344CB8AC3E}">
        <p14:creationId xmlns:p14="http://schemas.microsoft.com/office/powerpoint/2010/main" val="36570731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Language open-source</a:t>
            </a:r>
            <a:r>
              <a:rPr lang="en-US" baseline="0" dirty="0" smtClean="0"/>
              <a:t> </a:t>
            </a:r>
            <a:r>
              <a:rPr lang="en-US" dirty="0" smtClean="0"/>
              <a:t>Performance cross-platform   runtime</a:t>
            </a:r>
            <a:r>
              <a:rPr lang="en-US" baseline="0" dirty="0" smtClean="0"/>
              <a:t> modular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B48EE0-52B5-5E4F-BBA7-60F48B59AEE3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89872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86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796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9238"/>
            <a:ext cx="8229600" cy="9112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>
            <a:lvl1pPr>
              <a:defRPr smtClean="0"/>
            </a:lvl1pPr>
          </a:lstStyle>
          <a:p>
            <a:fld id="{AADD78D7-B24C-EB43-A7B4-822EA3004832}" type="datetime1">
              <a:rPr lang="en-US"/>
              <a:pPr/>
              <a:t>1/26/2013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 smtClean="0"/>
            </a:lvl1pPr>
          </a:lstStyle>
          <a:p>
            <a:fld id="{9A7A9302-7AE5-3A4C-96A6-735D01120C9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2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2013/1/26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w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jpeg"/><Relationship Id="rId4" Type="http://schemas.openxmlformats.org/officeDocument/2006/relationships/image" Target="../media/image19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1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19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hyperlink" Target="http://openflowswitch.org/" TargetMode="Externa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34.jpe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3.png"/><Relationship Id="rId17" Type="http://schemas.openxmlformats.org/officeDocument/2006/relationships/image" Target="../media/image38.png"/><Relationship Id="rId2" Type="http://schemas.openxmlformats.org/officeDocument/2006/relationships/tags" Target="../tags/tag2.xml"/><Relationship Id="rId16" Type="http://schemas.openxmlformats.org/officeDocument/2006/relationships/image" Target="../media/image37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32.png"/><Relationship Id="rId5" Type="http://schemas.openxmlformats.org/officeDocument/2006/relationships/tags" Target="../tags/tag5.xml"/><Relationship Id="rId15" Type="http://schemas.openxmlformats.org/officeDocument/2006/relationships/image" Target="../media/image36.jpeg"/><Relationship Id="rId10" Type="http://schemas.openxmlformats.org/officeDocument/2006/relationships/image" Target="../media/image31.jpe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6.xml"/><Relationship Id="rId14" Type="http://schemas.openxmlformats.org/officeDocument/2006/relationships/image" Target="../media/image3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://noxrepo.org/wp/" TargetMode="External"/><Relationship Id="rId7" Type="http://schemas.openxmlformats.org/officeDocument/2006/relationships/hyperlink" Target="https://sites.google.com/site/routeflow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trema.github.com/trema/" TargetMode="External"/><Relationship Id="rId5" Type="http://schemas.openxmlformats.org/officeDocument/2006/relationships/hyperlink" Target="http://code.google.com/p/maestro-platform/" TargetMode="External"/><Relationship Id="rId4" Type="http://schemas.openxmlformats.org/officeDocument/2006/relationships/hyperlink" Target="http://www.beaconcontroller.net" TargetMode="Externa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13" Type="http://schemas.openxmlformats.org/officeDocument/2006/relationships/image" Target="../media/image51.png"/><Relationship Id="rId18" Type="http://schemas.openxmlformats.org/officeDocument/2006/relationships/image" Target="../media/image56.png"/><Relationship Id="rId26" Type="http://schemas.openxmlformats.org/officeDocument/2006/relationships/image" Target="../media/image64.png"/><Relationship Id="rId3" Type="http://schemas.openxmlformats.org/officeDocument/2006/relationships/slideLayout" Target="../slideLayouts/slideLayout2.xml"/><Relationship Id="rId21" Type="http://schemas.openxmlformats.org/officeDocument/2006/relationships/image" Target="../media/image59.png"/><Relationship Id="rId7" Type="http://schemas.openxmlformats.org/officeDocument/2006/relationships/image" Target="../media/image45.jpe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5" Type="http://schemas.openxmlformats.org/officeDocument/2006/relationships/image" Target="../media/image63.jpeg"/><Relationship Id="rId2" Type="http://schemas.openxmlformats.org/officeDocument/2006/relationships/tags" Target="../tags/tag10.xml"/><Relationship Id="rId16" Type="http://schemas.openxmlformats.org/officeDocument/2006/relationships/image" Target="../media/image54.png"/><Relationship Id="rId20" Type="http://schemas.openxmlformats.org/officeDocument/2006/relationships/image" Target="../media/image58.png"/><Relationship Id="rId1" Type="http://schemas.openxmlformats.org/officeDocument/2006/relationships/tags" Target="../tags/tag9.xml"/><Relationship Id="rId6" Type="http://schemas.openxmlformats.org/officeDocument/2006/relationships/image" Target="../media/image44.jpeg"/><Relationship Id="rId11" Type="http://schemas.openxmlformats.org/officeDocument/2006/relationships/image" Target="../media/image49.jpeg"/><Relationship Id="rId24" Type="http://schemas.openxmlformats.org/officeDocument/2006/relationships/image" Target="../media/image62.jpeg"/><Relationship Id="rId5" Type="http://schemas.openxmlformats.org/officeDocument/2006/relationships/image" Target="../media/image43.jpeg"/><Relationship Id="rId15" Type="http://schemas.openxmlformats.org/officeDocument/2006/relationships/image" Target="../media/image53.png"/><Relationship Id="rId23" Type="http://schemas.openxmlformats.org/officeDocument/2006/relationships/image" Target="../media/image61.jpeg"/><Relationship Id="rId28" Type="http://schemas.openxmlformats.org/officeDocument/2006/relationships/image" Target="../media/image66.jpeg"/><Relationship Id="rId10" Type="http://schemas.openxmlformats.org/officeDocument/2006/relationships/image" Target="../media/image48.jpeg"/><Relationship Id="rId19" Type="http://schemas.openxmlformats.org/officeDocument/2006/relationships/image" Target="../media/image57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Relationship Id="rId22" Type="http://schemas.openxmlformats.org/officeDocument/2006/relationships/image" Target="../media/image60.png"/><Relationship Id="rId27" Type="http://schemas.openxmlformats.org/officeDocument/2006/relationships/image" Target="../media/image65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openflow.org/wk/index.php/OpenFlow_Tutorial" TargetMode="External"/><Relationship Id="rId3" Type="http://schemas.openxmlformats.org/officeDocument/2006/relationships/hyperlink" Target="http://ieeexplore.ieee.org/xpls/abs_all.jsp?arnumber=6121394&amp;tag=1" TargetMode="External"/><Relationship Id="rId7" Type="http://schemas.openxmlformats.org/officeDocument/2006/relationships/hyperlink" Target="http://www.definethecloud.net/access-layer-network-virtualization-vn-tag-and-vepa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openvswitch.org/slides/OVS-Overview-110303.pdf" TargetMode="External"/><Relationship Id="rId5" Type="http://schemas.openxmlformats.org/officeDocument/2006/relationships/hyperlink" Target="http://openvswitch.org/slides/LinuxSummit-2011.pdf" TargetMode="External"/><Relationship Id="rId4" Type="http://schemas.openxmlformats.org/officeDocument/2006/relationships/hyperlink" Target="http://openvswitch.org/slides/openvswitch.en-2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00400"/>
            <a:ext cx="6400800" cy="2362200"/>
          </a:xfrm>
        </p:spPr>
        <p:txBody>
          <a:bodyPr>
            <a:normAutofit/>
          </a:bodyPr>
          <a:lstStyle/>
          <a:p>
            <a:pPr lvl="0" algn="ctr"/>
            <a:r>
              <a:rPr lang="en-US" altLang="zh-TW" sz="3200" dirty="0"/>
              <a:t>Network Virtualization</a:t>
            </a:r>
            <a:endParaRPr lang="zh-TW" altLang="zh-TW" sz="3200" dirty="0"/>
          </a:p>
          <a:p>
            <a:pPr algn="ctr"/>
            <a:r>
              <a:rPr lang="en-US" altLang="zh-TW" sz="24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Open </a:t>
            </a:r>
            <a:r>
              <a:rPr lang="en-US" altLang="zh-TW" sz="2400" i="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vSwitch</a:t>
            </a:r>
            <a:r>
              <a:rPr lang="en-US" altLang="zh-TW" sz="2400" i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 </a:t>
            </a:r>
            <a:endParaRPr lang="en-US" altLang="zh-TW" sz="16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6452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latin typeface="+mj-lt"/>
              </a:rPr>
              <a:t>Virtual Switch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vSwitch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architecture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2459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 Switch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2276873"/>
            <a:ext cx="7772400" cy="2130028"/>
          </a:xfrm>
        </p:spPr>
        <p:txBody>
          <a:bodyPr>
            <a:normAutofit/>
          </a:bodyPr>
          <a:lstStyle/>
          <a:p>
            <a:r>
              <a:rPr lang="en-US" altLang="zh-TW" dirty="0"/>
              <a:t>SOFTWARE-BASED VIRTAUL SWITCH 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HARDWARE-BASED VIRTAUL SWITCH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VN-Tag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smtClean="0"/>
              <a:t>             INTRODUCTION</a:t>
            </a:r>
            <a:endParaRPr lang="zh-TW" altLang="en-US" smtClean="0"/>
          </a:p>
        </p:txBody>
      </p:sp>
      <p:sp>
        <p:nvSpPr>
          <p:cNvPr id="4099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altLang="zh-TW" b="0" dirty="0" smtClean="0"/>
              <a:t>Owing to the emergence of cloud computing service, the number of virtual switches begins to dramatically expand</a:t>
            </a:r>
          </a:p>
          <a:p>
            <a:pPr lvl="1"/>
            <a:r>
              <a:rPr lang="en-US" altLang="zh-TW" dirty="0" smtClean="0"/>
              <a:t>Management complexity</a:t>
            </a:r>
            <a:r>
              <a:rPr lang="en-US" altLang="zh-TW" b="0" dirty="0" smtClean="0"/>
              <a:t>, </a:t>
            </a:r>
            <a:r>
              <a:rPr lang="en-US" altLang="zh-TW" dirty="0" smtClean="0"/>
              <a:t>security issues </a:t>
            </a:r>
            <a:r>
              <a:rPr lang="en-US" altLang="zh-TW" b="0" dirty="0" smtClean="0"/>
              <a:t>and even </a:t>
            </a:r>
            <a:r>
              <a:rPr lang="en-US" altLang="zh-TW" dirty="0" smtClean="0"/>
              <a:t>performance degradation</a:t>
            </a:r>
            <a:endParaRPr lang="en-US" altLang="zh-TW" b="0" dirty="0" smtClean="0"/>
          </a:p>
          <a:p>
            <a:r>
              <a:rPr lang="en-US" altLang="zh-TW" dirty="0"/>
              <a:t>S</a:t>
            </a:r>
            <a:r>
              <a:rPr lang="en-US" altLang="zh-TW" b="0" dirty="0" smtClean="0"/>
              <a:t>oftware/hardware based virtual switch as well as integration of open-source hypervisor with virtual switch technology is exhibited</a:t>
            </a:r>
            <a:endParaRPr lang="zh-TW" altLang="en-US" b="0" dirty="0" smtClean="0"/>
          </a:p>
        </p:txBody>
      </p:sp>
      <p:sp>
        <p:nvSpPr>
          <p:cNvPr id="4100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E9EEB70-2FF1-47A5-A4D5-7CF81F5946AE}" type="slidenum">
              <a:rPr lang="en-US" altLang="zh-TW"/>
              <a:pPr eaLnBrk="1" hangingPunct="1"/>
              <a:t>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7599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 smtClean="0"/>
              <a:t>   SOFTWARE-BASED VIRTAUL SWITCH</a:t>
            </a:r>
            <a:endParaRPr lang="zh-TW" altLang="en-US" dirty="0" smtClean="0"/>
          </a:p>
        </p:txBody>
      </p:sp>
      <p:sp>
        <p:nvSpPr>
          <p:cNvPr id="5123" name="內容版面配置區 2"/>
          <p:cNvSpPr>
            <a:spLocks noGrp="1"/>
          </p:cNvSpPr>
          <p:nvPr>
            <p:ph idx="1"/>
          </p:nvPr>
        </p:nvSpPr>
        <p:spPr>
          <a:xfrm>
            <a:off x="4644008" y="1371599"/>
            <a:ext cx="4411092" cy="5349875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b="0" dirty="0" smtClean="0"/>
              <a:t>The 80x86 hypervisors implemented </a:t>
            </a:r>
            <a:r>
              <a:rPr lang="en-US" altLang="zh-TW" b="0" dirty="0" err="1" smtClean="0"/>
              <a:t>vSwitch</a:t>
            </a:r>
            <a:endParaRPr lang="en-US" altLang="zh-TW" b="0" dirty="0" smtClean="0"/>
          </a:p>
          <a:p>
            <a:r>
              <a:rPr lang="en-US" altLang="zh-TW" b="0" dirty="0" smtClean="0"/>
              <a:t>Each VM has at least one virtual network interface cards (</a:t>
            </a:r>
            <a:r>
              <a:rPr lang="en-US" altLang="zh-TW" b="0" dirty="0" err="1" smtClean="0"/>
              <a:t>vNICs</a:t>
            </a:r>
            <a:r>
              <a:rPr lang="en-US" altLang="zh-TW" b="0" dirty="0" smtClean="0"/>
              <a:t>) that are sharing physical network interface cards (</a:t>
            </a:r>
            <a:r>
              <a:rPr lang="en-US" altLang="zh-TW" b="0" dirty="0" err="1" smtClean="0"/>
              <a:t>pNICs</a:t>
            </a:r>
            <a:r>
              <a:rPr lang="en-US" altLang="zh-TW" b="0" dirty="0" smtClean="0"/>
              <a:t>) on the physical host through </a:t>
            </a:r>
            <a:r>
              <a:rPr lang="en-US" altLang="zh-TW" b="0" dirty="0" err="1" smtClean="0"/>
              <a:t>vSwitch</a:t>
            </a:r>
            <a:endParaRPr lang="en-US" altLang="zh-TW" b="0" dirty="0" smtClean="0"/>
          </a:p>
          <a:p>
            <a:r>
              <a:rPr lang="en-US" altLang="zh-TW" b="0" dirty="0" smtClean="0"/>
              <a:t>Administrator don’t have effective solution to separate packets from different VM users</a:t>
            </a:r>
          </a:p>
          <a:p>
            <a:r>
              <a:rPr lang="en-US" altLang="zh-TW" b="0" dirty="0" smtClean="0"/>
              <a:t>For VMs reside in the same physical machine, their traffic visibility is a big issue</a:t>
            </a:r>
          </a:p>
        </p:txBody>
      </p:sp>
      <p:sp>
        <p:nvSpPr>
          <p:cNvPr id="5124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9073295-BFED-4AE4-9568-7F36820CF1F5}" type="slidenum">
              <a:rPr lang="en-US" altLang="zh-TW"/>
              <a:pPr eaLnBrk="1" hangingPunct="1"/>
              <a:t>5</a:t>
            </a:fld>
            <a:endParaRPr lang="en-US" altLang="zh-TW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639888"/>
            <a:ext cx="4051176" cy="52068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829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dirty="0" smtClean="0"/>
              <a:t>Problems of original </a:t>
            </a:r>
            <a:r>
              <a:rPr lang="en-US" altLang="zh-TW" dirty="0" err="1" smtClean="0"/>
              <a:t>vSwitch</a:t>
            </a:r>
            <a:endParaRPr lang="zh-TW" altLang="en-US" dirty="0" smtClean="0"/>
          </a:p>
        </p:txBody>
      </p:sp>
      <p:sp>
        <p:nvSpPr>
          <p:cNvPr id="6147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dirty="0"/>
              <a:t>The original </a:t>
            </a:r>
            <a:r>
              <a:rPr lang="en-US" altLang="zh-TW" dirty="0" err="1" smtClean="0"/>
              <a:t>vSwitchs</a:t>
            </a:r>
            <a:r>
              <a:rPr lang="en-US" altLang="zh-TW" dirty="0" smtClean="0"/>
              <a:t> lack </a:t>
            </a:r>
            <a:r>
              <a:rPr lang="en-US" altLang="zh-TW" dirty="0"/>
              <a:t>of advanced networking features such as VLAN, port mirror and port channel etc.</a:t>
            </a:r>
          </a:p>
          <a:p>
            <a:pPr>
              <a:defRPr/>
            </a:pPr>
            <a:r>
              <a:rPr lang="en-US" altLang="zh-TW" dirty="0"/>
              <a:t>Nowadays, some hypervisor </a:t>
            </a:r>
            <a:r>
              <a:rPr lang="en-US" altLang="zh-TW" dirty="0" err="1"/>
              <a:t>vSwitch</a:t>
            </a:r>
            <a:r>
              <a:rPr lang="en-US" altLang="zh-TW" dirty="0"/>
              <a:t> vendors provide technologies to fix the above </a:t>
            </a:r>
            <a:r>
              <a:rPr lang="en-US" altLang="zh-TW" dirty="0" smtClean="0"/>
              <a:t>problems</a:t>
            </a:r>
          </a:p>
          <a:p>
            <a:pPr lvl="1">
              <a:defRPr/>
            </a:pPr>
            <a:r>
              <a:rPr lang="en-US" altLang="zh-TW" dirty="0" err="1" smtClean="0"/>
              <a:t>OpenvSwitch</a:t>
            </a:r>
            <a:r>
              <a:rPr lang="en-US" altLang="zh-TW" dirty="0" smtClean="0"/>
              <a:t> </a:t>
            </a:r>
            <a:r>
              <a:rPr lang="en-US" altLang="zh-TW" dirty="0"/>
              <a:t>may be superior in quality for the reasons</a:t>
            </a:r>
          </a:p>
        </p:txBody>
      </p:sp>
      <p:sp>
        <p:nvSpPr>
          <p:cNvPr id="6148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A0E188D6-97F3-43C7-870F-B18A09AC13DE}" type="slidenum">
              <a:rPr lang="en-US" altLang="zh-TW"/>
              <a:pPr eaLnBrk="1" hangingPunct="1"/>
              <a:t>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335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 Switch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2276873"/>
            <a:ext cx="7772400" cy="2130028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SOFTWARE-BASED VIRTAUL SWITCH </a:t>
            </a:r>
          </a:p>
          <a:p>
            <a:r>
              <a:rPr lang="en-US" altLang="zh-TW" dirty="0"/>
              <a:t>HARDWARE-BASED VIRTAUL SWITCH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VN-Tag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9760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 smtClean="0"/>
              <a:t>HARDWARE-BASED VIRTAUL SWITCH</a:t>
            </a:r>
            <a:endParaRPr lang="zh-TW" altLang="en-US" dirty="0" smtClean="0"/>
          </a:p>
        </p:txBody>
      </p:sp>
      <p:sp>
        <p:nvSpPr>
          <p:cNvPr id="7171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sz="3000" dirty="0"/>
              <a:t>Why hardware-based</a:t>
            </a:r>
            <a:r>
              <a:rPr lang="en-US" altLang="zh-TW" sz="3000" dirty="0" smtClean="0"/>
              <a:t>?</a:t>
            </a:r>
            <a:endParaRPr lang="en-US" altLang="zh-TW" b="0" dirty="0" smtClean="0"/>
          </a:p>
          <a:p>
            <a:pPr lvl="1">
              <a:defRPr/>
            </a:pPr>
            <a:r>
              <a:rPr lang="en-US" altLang="zh-TW" b="0" dirty="0" smtClean="0"/>
              <a:t>Software virtual switches consume CPU and memory usage</a:t>
            </a:r>
          </a:p>
          <a:p>
            <a:pPr lvl="1">
              <a:defRPr/>
            </a:pPr>
            <a:r>
              <a:rPr lang="en-US" altLang="zh-TW" b="0" dirty="0" smtClean="0"/>
              <a:t>Possible inconsistence of network and server configurations may cause errors and is very hard to troubleshooting and </a:t>
            </a:r>
            <a:r>
              <a:rPr lang="en-US" altLang="zh-TW" b="0" dirty="0" smtClean="0"/>
              <a:t>maintenance</a:t>
            </a:r>
            <a:endParaRPr lang="en-US" altLang="zh-TW" b="0" dirty="0"/>
          </a:p>
          <a:p>
            <a:pPr>
              <a:defRPr/>
            </a:pPr>
            <a:r>
              <a:rPr lang="en-US" altLang="zh-TW" sz="3000" dirty="0"/>
              <a:t>Hardware-based virtual switch solution emerges for better resource utilization and configuration consistence</a:t>
            </a:r>
          </a:p>
          <a:p>
            <a:pPr>
              <a:defRPr/>
            </a:pPr>
            <a:endParaRPr lang="zh-TW" altLang="en-US" dirty="0" smtClean="0"/>
          </a:p>
        </p:txBody>
      </p:sp>
      <p:sp>
        <p:nvSpPr>
          <p:cNvPr id="7172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D178C35-D6AF-4E61-BEFF-E711C0892B5C}" type="slidenum">
              <a:rPr lang="en-US" altLang="zh-TW"/>
              <a:pPr eaLnBrk="1" hangingPunct="1"/>
              <a:t>8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83093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標題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3255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Virtual Ethernet Port Aggregator </a:t>
            </a:r>
            <a:r>
              <a:rPr lang="en-US" altLang="zh-TW" dirty="0" smtClean="0"/>
              <a:t>(1/2)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 smtClean="0"/>
          </a:p>
        </p:txBody>
      </p:sp>
      <p:sp>
        <p:nvSpPr>
          <p:cNvPr id="8195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A </a:t>
            </a:r>
            <a:r>
              <a:rPr lang="en-US" altLang="zh-TW" dirty="0"/>
              <a:t>standardization led by HP, Extreme, IBM, Brocade and Juniper etc.</a:t>
            </a:r>
          </a:p>
          <a:p>
            <a:pPr>
              <a:defRPr/>
            </a:pPr>
            <a:r>
              <a:rPr lang="en-US" altLang="zh-TW" dirty="0"/>
              <a:t>An emerging technology as part of IEEE 802.1Qbg Edge Virtual Bridge (EVB) standard</a:t>
            </a:r>
          </a:p>
          <a:p>
            <a:pPr>
              <a:defRPr/>
            </a:pPr>
            <a:r>
              <a:rPr lang="en-US" altLang="zh-TW" dirty="0"/>
              <a:t>The main goal of VEPA is to allow traffic of VM to exit and re-enter the same server physical port to enable switching among VMs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TW" dirty="0" smtClean="0"/>
          </a:p>
          <a:p>
            <a:pPr>
              <a:defRPr/>
            </a:pPr>
            <a:endParaRPr lang="zh-TW" altLang="en-US" b="0" dirty="0" smtClean="0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59A12AB-E1C8-4E54-81F8-571826689146}" type="slidenum">
              <a:rPr lang="en-US" altLang="zh-TW"/>
              <a:pPr eaLnBrk="1" hangingPunct="1"/>
              <a:t>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1547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752599"/>
            <a:ext cx="4289859" cy="4603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18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Virtual Ethernet Port Aggregator </a:t>
            </a:r>
            <a:r>
              <a:rPr lang="en-US" altLang="zh-TW" dirty="0" smtClean="0"/>
              <a:t>(2/2)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 smtClean="0"/>
          </a:p>
        </p:txBody>
      </p:sp>
      <p:sp>
        <p:nvSpPr>
          <p:cNvPr id="9219" name="內容版面配置區 2"/>
          <p:cNvSpPr>
            <a:spLocks noGrp="1"/>
          </p:cNvSpPr>
          <p:nvPr>
            <p:ph idx="1"/>
          </p:nvPr>
        </p:nvSpPr>
        <p:spPr>
          <a:xfrm>
            <a:off x="4283968" y="1600722"/>
            <a:ext cx="4860032" cy="5120753"/>
          </a:xfrm>
        </p:spPr>
        <p:txBody>
          <a:bodyPr>
            <a:normAutofit fontScale="92500"/>
          </a:bodyPr>
          <a:lstStyle/>
          <a:p>
            <a:r>
              <a:rPr lang="en-US" altLang="zh-TW" sz="2600" b="0" dirty="0" smtClean="0"/>
              <a:t>VEPA software update is required for host servers in order to force packets to be transmitted to external switches</a:t>
            </a:r>
          </a:p>
          <a:p>
            <a:r>
              <a:rPr lang="en-US" altLang="zh-TW" sz="2600" b="0" dirty="0" smtClean="0"/>
              <a:t>An external VEPA enabled switch is required for communications between VMs in the same server</a:t>
            </a:r>
          </a:p>
          <a:p>
            <a:r>
              <a:rPr lang="en-US" altLang="zh-TW" sz="2600" b="0" dirty="0" smtClean="0"/>
              <a:t>VEPA supports “hairpin” mode which allows traffic to “hairpin” back out the same port it just received it from--- requires firmware update to existing switches</a:t>
            </a:r>
          </a:p>
          <a:p>
            <a:endParaRPr lang="zh-TW" altLang="en-US" b="0" dirty="0" smtClean="0"/>
          </a:p>
        </p:txBody>
      </p:sp>
      <p:sp>
        <p:nvSpPr>
          <p:cNvPr id="9220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C591742B-7375-4E4D-A0FD-C0A55D535139}" type="slidenum">
              <a:rPr lang="en-US" altLang="zh-TW"/>
              <a:pPr eaLnBrk="1" hangingPunct="1"/>
              <a:t>10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8720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Pros. and Cons. for VEPA</a:t>
            </a:r>
            <a:br>
              <a:rPr lang="en-US" altLang="zh-TW" dirty="0"/>
            </a:b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Pros</a:t>
            </a:r>
            <a:endParaRPr lang="en-US" altLang="zh-TW" dirty="0"/>
          </a:p>
          <a:p>
            <a:pPr lvl="1">
              <a:defRPr/>
            </a:pPr>
            <a:r>
              <a:rPr lang="en-US" altLang="zh-TW" dirty="0"/>
              <a:t>Minor software/firmware update , network configuration maintained by external switches</a:t>
            </a:r>
          </a:p>
          <a:p>
            <a:pPr>
              <a:defRPr/>
            </a:pPr>
            <a:r>
              <a:rPr lang="en-US" altLang="zh-TW" dirty="0"/>
              <a:t>Cons</a:t>
            </a:r>
          </a:p>
          <a:p>
            <a:pPr lvl="1">
              <a:defRPr/>
            </a:pPr>
            <a:r>
              <a:rPr lang="en-US" altLang="zh-TW" dirty="0"/>
              <a:t>VEPA still consumes server resources in order to perform forwarding table lookup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TW" b="0" dirty="0" smtClean="0"/>
          </a:p>
          <a:p>
            <a:pPr>
              <a:defRPr/>
            </a:pPr>
            <a:endParaRPr lang="zh-TW" altLang="en-US" dirty="0"/>
          </a:p>
        </p:txBody>
      </p:sp>
      <p:sp>
        <p:nvSpPr>
          <p:cNvPr id="10244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FAA88CB-F7AE-4CFC-9383-01E65F8F8967}" type="slidenum">
              <a:rPr lang="en-US" altLang="zh-TW"/>
              <a:pPr eaLnBrk="1" hangingPunct="1"/>
              <a:t>11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4822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Virtual Switch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2276873"/>
            <a:ext cx="7772400" cy="2130028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SOFTWARE-BASED VIRTAUL SWITCH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HARDWARE-BASED VIRTAUL SWITCH</a:t>
            </a:r>
          </a:p>
          <a:p>
            <a:r>
              <a:rPr lang="en-US" altLang="zh-TW" dirty="0"/>
              <a:t>VN-Tag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653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 smtClean="0"/>
              <a:t>VN-Tag(1/3)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 smtClean="0"/>
          </a:p>
        </p:txBody>
      </p:sp>
      <p:sp>
        <p:nvSpPr>
          <p:cNvPr id="1024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zh-TW" b="0" dirty="0" smtClean="0"/>
              <a:t>Proposed by Cisco, adopted by the IEEE as the basis for 802.1Qbh ‘Bridge Port Extension’</a:t>
            </a:r>
          </a:p>
          <a:p>
            <a:pPr>
              <a:defRPr/>
            </a:pPr>
            <a:r>
              <a:rPr lang="en-US" altLang="zh-TW" b="0" dirty="0" smtClean="0"/>
              <a:t>A VN-Tag between Layer2 and 802.1Q header is inserted to indicate what path the frame should travel on its way to another VM</a:t>
            </a:r>
          </a:p>
          <a:p>
            <a:pPr>
              <a:defRPr/>
            </a:pPr>
            <a:r>
              <a:rPr lang="en-US" altLang="zh-TW" b="0" dirty="0" smtClean="0"/>
              <a:t>The VN-Tag contains two essential fields: the source virtual interface identifier (SVIF_ID) of the sending host and the destination virtual interface identifier (DVIF_ID) of the receiving host</a:t>
            </a:r>
          </a:p>
          <a:p>
            <a:pPr>
              <a:defRPr/>
            </a:pPr>
            <a:endParaRPr lang="zh-TW" altLang="en-US" dirty="0" smtClean="0"/>
          </a:p>
        </p:txBody>
      </p:sp>
      <p:sp>
        <p:nvSpPr>
          <p:cNvPr id="11268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7CFEE07A-121F-49AD-828B-9DE5EA5D2E4A}" type="slidenum">
              <a:rPr lang="en-US" altLang="zh-TW"/>
              <a:pPr eaLnBrk="1" hangingPunct="1"/>
              <a:t>13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4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VN-Tag(2/3</a:t>
            </a:r>
            <a:r>
              <a:rPr lang="en-US" altLang="zh-TW" dirty="0"/>
              <a:t>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503510"/>
              </p:ext>
            </p:extLst>
          </p:nvPr>
        </p:nvGraphicFramePr>
        <p:xfrm>
          <a:off x="4611360" y="1340766"/>
          <a:ext cx="4437215" cy="4995396"/>
        </p:xfrm>
        <a:graphic>
          <a:graphicData uri="http://schemas.openxmlformats.org/drawingml/2006/table">
            <a:tbl>
              <a:tblPr/>
              <a:tblGrid>
                <a:gridCol w="827415"/>
                <a:gridCol w="3609800"/>
              </a:tblGrid>
              <a:tr h="502736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 err="1">
                          <a:effectLst/>
                        </a:rPr>
                        <a:t>Ethertype</a:t>
                      </a:r>
                      <a:endParaRPr lang="en-US" sz="1500" dirty="0">
                        <a:effectLst/>
                      </a:endParaRP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Identifies the VN tag</a:t>
                      </a: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8122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effectLst/>
                        </a:rPr>
                        <a:t>D</a:t>
                      </a:r>
                      <a:endParaRPr lang="en-US" sz="1500">
                        <a:effectLst/>
                      </a:endParaRP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Direction, 1 indicates that the frame is traveling from the bridge to the interface virtualizer (IV.)</a:t>
                      </a: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736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effectLst/>
                        </a:rPr>
                        <a:t>P</a:t>
                      </a:r>
                      <a:endParaRPr lang="en-US" sz="1500">
                        <a:effectLst/>
                      </a:endParaRP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Pointer, 1 indicates that a vif_list_id is included in the tag.</a:t>
                      </a: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8122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 err="1">
                          <a:effectLst/>
                        </a:rPr>
                        <a:t>vif_list_id</a:t>
                      </a:r>
                      <a:endParaRPr lang="en-US" sz="1500" dirty="0">
                        <a:effectLst/>
                      </a:endParaRP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A list of downlink ports to which this frame is to be forwarded (replicated). (multicast/broadcast operation)</a:t>
                      </a: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736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effectLst/>
                        </a:rPr>
                        <a:t>Dvif_id</a:t>
                      </a:r>
                      <a:endParaRPr lang="en-US" sz="1500">
                        <a:effectLst/>
                      </a:endParaRP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Destination </a:t>
                      </a:r>
                      <a:r>
                        <a:rPr lang="en-US" sz="1500" dirty="0" err="1"/>
                        <a:t>vif_id</a:t>
                      </a:r>
                      <a:r>
                        <a:rPr lang="en-US" sz="1500" dirty="0"/>
                        <a:t> of the port to which this frame is to be forwarded.</a:t>
                      </a: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208894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effectLst/>
                        </a:rPr>
                        <a:t>L</a:t>
                      </a:r>
                      <a:endParaRPr lang="en-US" sz="1500">
                        <a:effectLst/>
                      </a:endParaRP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Looped, 1 indicates that this is a multicast frame that was forwarded out the bridge port on which it was received. In this case, the IV must check the </a:t>
                      </a:r>
                      <a:r>
                        <a:rPr lang="en-US" sz="1500" dirty="0" err="1"/>
                        <a:t>Svif_id</a:t>
                      </a:r>
                      <a:r>
                        <a:rPr lang="en-US" sz="1500" dirty="0"/>
                        <a:t> and filter the frame from the corresponding port.</a:t>
                      </a: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735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effectLst/>
                        </a:rPr>
                        <a:t>R</a:t>
                      </a:r>
                      <a:endParaRPr lang="en-US" sz="1500">
                        <a:effectLst/>
                      </a:endParaRP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Reserved</a:t>
                      </a: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735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effectLst/>
                        </a:rPr>
                        <a:t>VER</a:t>
                      </a:r>
                      <a:endParaRPr lang="en-US" sz="1500">
                        <a:effectLst/>
                      </a:endParaRP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Version of the tag</a:t>
                      </a: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6735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effectLst/>
                        </a:rPr>
                        <a:t>SVIF_ID</a:t>
                      </a:r>
                      <a:endParaRPr lang="en-US" sz="1500">
                        <a:effectLst/>
                      </a:endParaRP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The </a:t>
                      </a:r>
                      <a:r>
                        <a:rPr lang="en-US" sz="1500" dirty="0" err="1"/>
                        <a:t>vif_id</a:t>
                      </a:r>
                      <a:r>
                        <a:rPr lang="en-US" sz="1500" dirty="0"/>
                        <a:t> of the source of the frame</a:t>
                      </a:r>
                    </a:p>
                  </a:txBody>
                  <a:tcPr marL="15521" marR="15521" marT="15521" marB="15521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32" name="Picture 8" descr="http://www.definethecloud.net/wp-content/uploads/2010/09/image6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1" y="1340769"/>
            <a:ext cx="4584999" cy="2808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351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 smtClean="0"/>
              <a:t>VN-Tag(3/3</a:t>
            </a:r>
            <a:r>
              <a:rPr lang="en-US" altLang="zh-TW" dirty="0"/>
              <a:t>)</a:t>
            </a:r>
            <a:br>
              <a:rPr lang="en-US" altLang="zh-TW" dirty="0"/>
            </a:br>
            <a:endParaRPr lang="zh-TW" altLang="en-US" dirty="0" smtClean="0"/>
          </a:p>
        </p:txBody>
      </p:sp>
      <p:sp>
        <p:nvSpPr>
          <p:cNvPr id="12291" name="內容版面配置區 2"/>
          <p:cNvSpPr>
            <a:spLocks noGrp="1"/>
          </p:cNvSpPr>
          <p:nvPr>
            <p:ph idx="1"/>
          </p:nvPr>
        </p:nvSpPr>
        <p:spPr>
          <a:xfrm>
            <a:off x="4499991" y="1142999"/>
            <a:ext cx="4145533" cy="5578475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sz="3100" b="0" dirty="0" smtClean="0"/>
              <a:t>The VN-Tag capable NIC and the VN-Tag aware switch are the necessary</a:t>
            </a:r>
          </a:p>
          <a:p>
            <a:r>
              <a:rPr lang="en-US" altLang="zh-TW" sz="3100" dirty="0"/>
              <a:t>VN-Tag capable </a:t>
            </a:r>
            <a:r>
              <a:rPr lang="en-US" altLang="zh-TW" sz="3100" dirty="0" smtClean="0"/>
              <a:t>physical NIC</a:t>
            </a:r>
          </a:p>
          <a:p>
            <a:pPr lvl="1"/>
            <a:r>
              <a:rPr lang="en-US" altLang="zh-TW" sz="2600" dirty="0" smtClean="0"/>
              <a:t>Insert Tag </a:t>
            </a:r>
            <a:r>
              <a:rPr lang="en-US" altLang="zh-TW" sz="2600" dirty="0"/>
              <a:t>at layer2 of the data frame that identify a network packet as part of a specified </a:t>
            </a:r>
            <a:r>
              <a:rPr lang="en-US" altLang="zh-TW" sz="2600" dirty="0" smtClean="0"/>
              <a:t>VM</a:t>
            </a:r>
          </a:p>
          <a:p>
            <a:r>
              <a:rPr lang="en-US" altLang="zh-TW" sz="3100" dirty="0"/>
              <a:t>VN-Tag aware </a:t>
            </a:r>
            <a:r>
              <a:rPr lang="en-US" altLang="zh-TW" sz="3100" dirty="0" smtClean="0"/>
              <a:t>switch</a:t>
            </a:r>
          </a:p>
          <a:p>
            <a:pPr lvl="1"/>
            <a:r>
              <a:rPr lang="en-US" altLang="zh-TW" sz="2600" dirty="0" smtClean="0"/>
              <a:t>Strip </a:t>
            </a:r>
            <a:r>
              <a:rPr lang="en-US" altLang="zh-TW" sz="2600" dirty="0"/>
              <a:t>the tag from the frame header at the stage of forwarding to normal </a:t>
            </a:r>
            <a:r>
              <a:rPr lang="en-US" altLang="zh-TW" sz="2600" dirty="0" smtClean="0"/>
              <a:t>switch</a:t>
            </a:r>
          </a:p>
          <a:p>
            <a:pPr lvl="1"/>
            <a:r>
              <a:rPr lang="en-US" altLang="zh-TW" sz="2600" dirty="0"/>
              <a:t>C</a:t>
            </a:r>
            <a:r>
              <a:rPr lang="en-US" altLang="zh-TW" sz="2600" dirty="0" smtClean="0"/>
              <a:t>onvert </a:t>
            </a:r>
            <a:r>
              <a:rPr lang="en-US" altLang="zh-TW" sz="2600" dirty="0"/>
              <a:t>a stripped or untagged frame, if the packet is to be transmitted to a VM destination via a VIF port</a:t>
            </a:r>
            <a:endParaRPr lang="en-US" altLang="zh-TW" sz="2600" b="0" dirty="0" smtClean="0"/>
          </a:p>
        </p:txBody>
      </p:sp>
      <p:sp>
        <p:nvSpPr>
          <p:cNvPr id="12292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4BD5395-285B-497A-96B2-42561FD91BBF}" type="slidenum">
              <a:rPr lang="en-US" altLang="zh-TW"/>
              <a:pPr eaLnBrk="1" hangingPunct="1"/>
              <a:t>15</a:t>
            </a:fld>
            <a:endParaRPr lang="en-US" altLang="zh-TW"/>
          </a:p>
        </p:txBody>
      </p:sp>
      <p:pic>
        <p:nvPicPr>
          <p:cNvPr id="1229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168296"/>
            <a:ext cx="4275584" cy="5467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617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0000"/>
          </a:bodyPr>
          <a:lstStyle/>
          <a:p>
            <a:r>
              <a:rPr lang="en-US" altLang="zh-TW" dirty="0"/>
              <a:t>Pros. and Cons. for VN-Tag</a:t>
            </a:r>
            <a:br>
              <a:rPr lang="en-US" altLang="zh-TW" dirty="0"/>
            </a:br>
            <a:endParaRPr lang="zh-TW" altLang="en-US" dirty="0" smtClean="0"/>
          </a:p>
        </p:txBody>
      </p:sp>
      <p:sp>
        <p:nvSpPr>
          <p:cNvPr id="12291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 smtClean="0"/>
              <a:t>Pros</a:t>
            </a:r>
          </a:p>
          <a:p>
            <a:pPr lvl="1">
              <a:defRPr/>
            </a:pPr>
            <a:r>
              <a:rPr lang="en-US" altLang="zh-TW" dirty="0" smtClean="0"/>
              <a:t>With </a:t>
            </a:r>
            <a:r>
              <a:rPr lang="en-US" altLang="zh-TW" dirty="0"/>
              <a:t>VN-Tag technique, the switching will be totally performed by external VN-Tag aware </a:t>
            </a:r>
            <a:r>
              <a:rPr lang="en-US" altLang="zh-TW" dirty="0" smtClean="0"/>
              <a:t>switches</a:t>
            </a:r>
          </a:p>
          <a:p>
            <a:pPr lvl="1">
              <a:defRPr/>
            </a:pPr>
            <a:r>
              <a:rPr lang="en-US" altLang="zh-TW" dirty="0" smtClean="0"/>
              <a:t>No </a:t>
            </a:r>
            <a:r>
              <a:rPr lang="en-US" altLang="zh-TW" dirty="0"/>
              <a:t>forwarding decision table will be left in host </a:t>
            </a:r>
            <a:r>
              <a:rPr lang="en-US" altLang="zh-TW" dirty="0" smtClean="0"/>
              <a:t>servers</a:t>
            </a:r>
            <a:endParaRPr lang="en-US" altLang="zh-TW" dirty="0"/>
          </a:p>
          <a:p>
            <a:pPr>
              <a:defRPr/>
            </a:pPr>
            <a:r>
              <a:rPr lang="en-US" altLang="zh-TW" dirty="0" smtClean="0"/>
              <a:t>Cons</a:t>
            </a:r>
          </a:p>
          <a:p>
            <a:pPr lvl="1">
              <a:defRPr/>
            </a:pPr>
            <a:r>
              <a:rPr lang="en-US" altLang="zh-TW" dirty="0"/>
              <a:t>T</a:t>
            </a:r>
            <a:r>
              <a:rPr lang="en-US" altLang="zh-TW" dirty="0" smtClean="0"/>
              <a:t>he </a:t>
            </a:r>
            <a:r>
              <a:rPr lang="en-US" altLang="zh-TW" dirty="0"/>
              <a:t>Ethernet frame format is </a:t>
            </a:r>
            <a:r>
              <a:rPr lang="en-US" altLang="zh-TW" dirty="0" smtClean="0"/>
              <a:t>modified</a:t>
            </a:r>
          </a:p>
          <a:p>
            <a:pPr lvl="1">
              <a:defRPr/>
            </a:pPr>
            <a:r>
              <a:rPr lang="en-US" altLang="zh-TW" dirty="0" smtClean="0"/>
              <a:t>We have to </a:t>
            </a:r>
            <a:r>
              <a:rPr lang="en-US" altLang="zh-TW" dirty="0"/>
              <a:t>invest new host NICs and external switches </a:t>
            </a:r>
            <a:r>
              <a:rPr lang="en-US" altLang="zh-TW" dirty="0" smtClean="0"/>
              <a:t>in order to </a:t>
            </a:r>
            <a:r>
              <a:rPr lang="en-US" altLang="zh-TW" dirty="0"/>
              <a:t>recognize </a:t>
            </a:r>
            <a:r>
              <a:rPr lang="en-US" altLang="zh-TW" dirty="0" smtClean="0"/>
              <a:t>VN-Tag</a:t>
            </a:r>
            <a:endParaRPr lang="zh-TW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TW" b="0" dirty="0"/>
          </a:p>
        </p:txBody>
      </p:sp>
      <p:sp>
        <p:nvSpPr>
          <p:cNvPr id="13316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983A26A-BBCA-416D-8399-A1C71026C035}" type="slidenum">
              <a:rPr lang="en-US" altLang="zh-TW"/>
              <a:pPr eaLnBrk="1" hangingPunct="1"/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4129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Virtual Switch</a:t>
            </a:r>
          </a:p>
          <a:p>
            <a:r>
              <a:rPr lang="en-US" altLang="zh-TW" dirty="0">
                <a:latin typeface="+mj-lt"/>
              </a:rPr>
              <a:t>Open </a:t>
            </a:r>
            <a:r>
              <a:rPr lang="en-US" altLang="zh-TW" dirty="0" err="1">
                <a:latin typeface="+mj-lt"/>
              </a:rPr>
              <a:t>vSwitch</a:t>
            </a:r>
            <a:r>
              <a:rPr lang="en-US" altLang="zh-TW" dirty="0">
                <a:latin typeface="+mj-lt"/>
              </a:rPr>
              <a:t> architecture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314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architecture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2276873"/>
            <a:ext cx="7772400" cy="2130028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Introduction to Open </a:t>
            </a:r>
            <a:r>
              <a:rPr lang="en-US" altLang="zh-TW" dirty="0" err="1" smtClean="0"/>
              <a:t>vSwitch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Main components of Open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vSwitch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Open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vSwitch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Testing Case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74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51582"/>
          </a:xfrm>
        </p:spPr>
        <p:txBody>
          <a:bodyPr/>
          <a:lstStyle/>
          <a:p>
            <a:r>
              <a:rPr lang="en-US" altLang="zh-TW" dirty="0"/>
              <a:t>A</a:t>
            </a:r>
            <a:r>
              <a:rPr lang="en-US" altLang="zh-TW" dirty="0" smtClean="0"/>
              <a:t> </a:t>
            </a:r>
            <a:r>
              <a:rPr lang="en-US" altLang="zh-TW" dirty="0"/>
              <a:t>software-based </a:t>
            </a:r>
            <a:r>
              <a:rPr lang="en-US" altLang="zh-TW" dirty="0" smtClean="0"/>
              <a:t>solution</a:t>
            </a:r>
          </a:p>
          <a:p>
            <a:pPr lvl="1"/>
            <a:r>
              <a:rPr lang="en-US" altLang="zh-TW" dirty="0" smtClean="0"/>
              <a:t>Resolve </a:t>
            </a:r>
            <a:r>
              <a:rPr lang="en-US" altLang="zh-TW" dirty="0"/>
              <a:t>the problems of network separation and traffic </a:t>
            </a:r>
            <a:r>
              <a:rPr lang="en-US" altLang="zh-TW" dirty="0" smtClean="0"/>
              <a:t>visibility, </a:t>
            </a:r>
            <a:r>
              <a:rPr lang="en-US" altLang="zh-TW" dirty="0"/>
              <a:t>so the cloud users can be assigned VMs with elastic and secure network </a:t>
            </a:r>
            <a:r>
              <a:rPr lang="en-US" altLang="zh-TW" dirty="0" smtClean="0"/>
              <a:t>configurations </a:t>
            </a:r>
            <a:endParaRPr lang="en-US" altLang="zh-TW" dirty="0"/>
          </a:p>
          <a:p>
            <a:r>
              <a:rPr lang="en-US" altLang="zh-TW" dirty="0" smtClean="0"/>
              <a:t>Flexible </a:t>
            </a:r>
            <a:r>
              <a:rPr lang="en-US" altLang="zh-TW" dirty="0"/>
              <a:t>Controller in </a:t>
            </a:r>
            <a:r>
              <a:rPr lang="en-US" altLang="zh-TW" dirty="0" smtClean="0"/>
              <a:t>User-Space</a:t>
            </a:r>
          </a:p>
          <a:p>
            <a:r>
              <a:rPr lang="en-US" altLang="zh-TW" dirty="0"/>
              <a:t>Fast </a:t>
            </a:r>
            <a:r>
              <a:rPr lang="en-US" altLang="zh-TW" dirty="0" err="1"/>
              <a:t>Datapath</a:t>
            </a:r>
            <a:r>
              <a:rPr lang="en-US" altLang="zh-TW" dirty="0"/>
              <a:t> in </a:t>
            </a:r>
            <a:r>
              <a:rPr lang="en-US" altLang="zh-TW" dirty="0" smtClean="0"/>
              <a:t>Kernel</a:t>
            </a:r>
          </a:p>
          <a:p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03848" y="4437113"/>
            <a:ext cx="5328592" cy="2341666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3260486" y="4444574"/>
            <a:ext cx="1184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Server</a:t>
            </a:r>
            <a:endParaRPr lang="zh-TW" altLang="en-US" sz="2800" dirty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033459" y="4922694"/>
            <a:ext cx="3744417" cy="14309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zh-TW" altLang="en-US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4210106" y="5735001"/>
            <a:ext cx="3779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buClr>
                <a:schemeClr val="accent1">
                  <a:lumMod val="75000"/>
                </a:schemeClr>
              </a:buClr>
            </a:pPr>
            <a:r>
              <a:rPr lang="en-US" altLang="zh-TW" sz="24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Open </a:t>
            </a:r>
            <a:r>
              <a:rPr lang="en-US" altLang="zh-TW" sz="2400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vSwitch</a:t>
            </a:r>
            <a:r>
              <a:rPr lang="en-US" altLang="zh-TW" sz="24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 </a:t>
            </a:r>
            <a:r>
              <a:rPr lang="en-US" altLang="zh-TW" sz="2400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Datapath</a:t>
            </a:r>
            <a:endParaRPr lang="zh-TW" altLang="en-US" sz="2400" dirty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210106" y="5008740"/>
            <a:ext cx="33911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ct val="20000"/>
              </a:spcBef>
              <a:buClr>
                <a:schemeClr val="accent1">
                  <a:lumMod val="75000"/>
                </a:schemeClr>
              </a:buClr>
            </a:pPr>
            <a:r>
              <a:rPr lang="en-US" altLang="zh-TW" sz="24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Open </a:t>
            </a:r>
            <a:r>
              <a:rPr lang="en-US" altLang="zh-TW" sz="2400" dirty="0" err="1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vSwitch</a:t>
            </a:r>
            <a:r>
              <a:rPr lang="en-US" altLang="zh-TW" sz="24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</a:rPr>
              <a:t> Controller</a:t>
            </a:r>
            <a:endParaRPr lang="zh-TW" altLang="en-US" sz="2400" dirty="0">
              <a:solidFill>
                <a:schemeClr val="tx2">
                  <a:lumMod val="75000"/>
                </a:schemeClr>
              </a:solidFill>
              <a:latin typeface="Cambria" pitchFamily="18" charset="0"/>
            </a:endParaRPr>
          </a:p>
        </p:txBody>
      </p:sp>
      <p:cxnSp>
        <p:nvCxnSpPr>
          <p:cNvPr id="11" name="直線接點 10"/>
          <p:cNvCxnSpPr>
            <a:stCxn id="7" idx="1"/>
            <a:endCxn id="7" idx="3"/>
          </p:cNvCxnSpPr>
          <p:nvPr/>
        </p:nvCxnSpPr>
        <p:spPr>
          <a:xfrm>
            <a:off x="4033459" y="5638153"/>
            <a:ext cx="3744417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867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 smtClean="0"/>
              <a:t>Open </a:t>
            </a:r>
            <a:r>
              <a:rPr lang="en-US" altLang="zh-TW" dirty="0" err="1" smtClean="0"/>
              <a:t>vSwitch</a:t>
            </a:r>
            <a:r>
              <a:rPr lang="en-US" altLang="zh-TW" dirty="0" smtClean="0"/>
              <a:t> Concepts(1/2)</a:t>
            </a:r>
            <a:endParaRPr lang="en-US" altLang="zh-TW" b="1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6790" y="1515836"/>
            <a:ext cx="8229600" cy="54415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  <a:normAutofit lnSpcReduction="10000"/>
          </a:bodyPr>
          <a:lstStyle/>
          <a:p>
            <a:r>
              <a:rPr lang="en-US" altLang="zh-TW" dirty="0"/>
              <a:t>Multiple ports to physical switches</a:t>
            </a:r>
          </a:p>
          <a:p>
            <a:pPr lvl="1"/>
            <a:r>
              <a:rPr lang="en-US" altLang="zh-TW" dirty="0" smtClean="0"/>
              <a:t>A port may have one or more interfaces</a:t>
            </a:r>
          </a:p>
          <a:p>
            <a:pPr lvl="2"/>
            <a:r>
              <a:rPr lang="en-US" altLang="zh-TW" dirty="0" smtClean="0"/>
              <a:t>Bonding </a:t>
            </a:r>
            <a:r>
              <a:rPr lang="en-US" altLang="zh-TW" dirty="0"/>
              <a:t>allows more than once interface per port</a:t>
            </a:r>
          </a:p>
          <a:p>
            <a:r>
              <a:rPr lang="en-US" altLang="zh-TW" dirty="0"/>
              <a:t>Packets are </a:t>
            </a:r>
            <a:r>
              <a:rPr lang="en-US" altLang="zh-TW" dirty="0" smtClean="0"/>
              <a:t>forwarded </a:t>
            </a:r>
            <a:r>
              <a:rPr lang="en-US" altLang="zh-TW" dirty="0"/>
              <a:t>by </a:t>
            </a:r>
            <a:r>
              <a:rPr lang="en-US" altLang="zh-TW" dirty="0" smtClean="0"/>
              <a:t>flow</a:t>
            </a:r>
          </a:p>
          <a:p>
            <a:r>
              <a:rPr lang="en-US" altLang="zh-TW" dirty="0"/>
              <a:t>Visibility 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NetFlow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sFlow</a:t>
            </a:r>
            <a:endParaRPr lang="en-US" altLang="zh-TW" dirty="0" smtClean="0"/>
          </a:p>
          <a:p>
            <a:pPr lvl="1"/>
            <a:r>
              <a:rPr lang="en-US" altLang="zh-TW" dirty="0"/>
              <a:t>Mirroring (SPAN/RSPAN/ERSPAN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IEEE </a:t>
            </a:r>
            <a:r>
              <a:rPr lang="en-US" altLang="zh-TW" dirty="0"/>
              <a:t>802.1Q </a:t>
            </a:r>
            <a:r>
              <a:rPr lang="en-US" altLang="zh-TW" dirty="0" smtClean="0"/>
              <a:t>Support</a:t>
            </a:r>
          </a:p>
          <a:p>
            <a:pPr lvl="1"/>
            <a:r>
              <a:rPr lang="en-US" altLang="zh-TW" dirty="0" smtClean="0"/>
              <a:t>Enable </a:t>
            </a:r>
            <a:r>
              <a:rPr lang="en-US" altLang="zh-TW" dirty="0"/>
              <a:t>virtual LAN </a:t>
            </a:r>
            <a:r>
              <a:rPr lang="en-US" altLang="zh-TW" dirty="0" smtClean="0"/>
              <a:t>function</a:t>
            </a:r>
          </a:p>
          <a:p>
            <a:pPr lvl="1"/>
            <a:r>
              <a:rPr lang="en-US" altLang="zh-TW" dirty="0" smtClean="0"/>
              <a:t>By </a:t>
            </a:r>
            <a:r>
              <a:rPr lang="en-US" altLang="zh-TW" dirty="0"/>
              <a:t>attaching VLAN ID to Linux virtual interfaces, each user will have its own LAN environment separated from other users</a:t>
            </a:r>
          </a:p>
          <a:p>
            <a:pPr marL="0" indent="0">
              <a:buNone/>
            </a:pPr>
            <a:endParaRPr lang="en-US" altLang="zh-TW" sz="2400" dirty="0" smtClean="0"/>
          </a:p>
          <a:p>
            <a:endParaRPr lang="zh-TW" altLang="zh-TW" sz="2400" dirty="0"/>
          </a:p>
        </p:txBody>
      </p:sp>
    </p:spTree>
    <p:extLst>
      <p:ext uri="{BB962C8B-B14F-4D97-AF65-F5344CB8AC3E}">
        <p14:creationId xmlns:p14="http://schemas.microsoft.com/office/powerpoint/2010/main" val="2507336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</a:t>
            </a:r>
            <a:r>
              <a:rPr lang="en-US" altLang="zh-TW" dirty="0" smtClean="0"/>
              <a:t>Concepts(2/2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en-US" altLang="zh-TW" dirty="0"/>
              <a:t>Fine-grained ACLs and </a:t>
            </a:r>
            <a:r>
              <a:rPr lang="en-US" altLang="zh-TW" dirty="0" err="1"/>
              <a:t>QoS</a:t>
            </a:r>
            <a:r>
              <a:rPr lang="en-US" altLang="zh-TW" dirty="0"/>
              <a:t> policies</a:t>
            </a:r>
          </a:p>
          <a:p>
            <a:pPr lvl="1"/>
            <a:r>
              <a:rPr lang="en-US" altLang="zh-TW" dirty="0"/>
              <a:t>L2-­‐L4 matching</a:t>
            </a:r>
          </a:p>
          <a:p>
            <a:pPr lvl="1"/>
            <a:r>
              <a:rPr lang="en-US" altLang="zh-TW" dirty="0" smtClean="0"/>
              <a:t>Actions </a:t>
            </a:r>
            <a:r>
              <a:rPr lang="en-US" altLang="zh-TW" dirty="0"/>
              <a:t>to forward, drop, modify, and queue</a:t>
            </a:r>
          </a:p>
          <a:p>
            <a:pPr lvl="1"/>
            <a:r>
              <a:rPr lang="en-US" altLang="zh-TW" dirty="0"/>
              <a:t>HTB and HFSC queuing </a:t>
            </a:r>
            <a:r>
              <a:rPr lang="en-US" altLang="zh-TW" dirty="0" smtClean="0"/>
              <a:t>disciplines</a:t>
            </a:r>
          </a:p>
          <a:p>
            <a:r>
              <a:rPr lang="en-US" altLang="zh-TW" dirty="0" smtClean="0"/>
              <a:t>Centralized </a:t>
            </a:r>
            <a:r>
              <a:rPr lang="en-US" altLang="zh-TW" dirty="0"/>
              <a:t>control through </a:t>
            </a:r>
            <a:r>
              <a:rPr lang="en-US" altLang="zh-TW" dirty="0" err="1"/>
              <a:t>OpenFlow</a:t>
            </a:r>
            <a:endParaRPr lang="en-US" altLang="zh-TW" dirty="0"/>
          </a:p>
          <a:p>
            <a:r>
              <a:rPr lang="en-US" altLang="zh-TW" dirty="0"/>
              <a:t>Works on Linux-based hypervisors: 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Xen</a:t>
            </a:r>
            <a:endParaRPr lang="en-US" altLang="zh-TW" dirty="0" smtClean="0"/>
          </a:p>
          <a:p>
            <a:pPr lvl="1"/>
            <a:r>
              <a:rPr lang="en-US" altLang="zh-TW" dirty="0" err="1" smtClean="0"/>
              <a:t>XenServer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KVM</a:t>
            </a:r>
          </a:p>
          <a:p>
            <a:pPr lvl="1"/>
            <a:r>
              <a:rPr lang="en-US" altLang="zh-TW" dirty="0" err="1" smtClean="0"/>
              <a:t>VirtualBox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873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</a:t>
            </a:r>
            <a:r>
              <a:rPr lang="en-US" altLang="zh-TW" dirty="0" smtClean="0"/>
              <a:t>Contributors(Partial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0597" y="1600200"/>
            <a:ext cx="7002805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235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9512" y="281668"/>
            <a:ext cx="8960407" cy="104911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 smtClean="0"/>
              <a:t>Packets are Managed as Flows(1/2)</a:t>
            </a:r>
            <a:endParaRPr lang="en-US" altLang="zh-TW" b="1" dirty="0" smtClean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/>
              <a:t>A flow may be </a:t>
            </a:r>
            <a:r>
              <a:rPr lang="en-US" altLang="zh-TW" dirty="0" err="1"/>
              <a:t>identied</a:t>
            </a:r>
            <a:r>
              <a:rPr lang="en-US" altLang="zh-TW" dirty="0"/>
              <a:t> by any combination of</a:t>
            </a:r>
          </a:p>
          <a:p>
            <a:pPr lvl="1"/>
            <a:r>
              <a:rPr lang="en-US" altLang="zh-TW" dirty="0"/>
              <a:t>Input port</a:t>
            </a:r>
          </a:p>
          <a:p>
            <a:pPr lvl="1"/>
            <a:r>
              <a:rPr lang="en-US" altLang="zh-TW" dirty="0"/>
              <a:t>VLAN ID (802.1Q)</a:t>
            </a:r>
          </a:p>
          <a:p>
            <a:pPr lvl="1"/>
            <a:r>
              <a:rPr lang="en-US" altLang="zh-TW" dirty="0"/>
              <a:t>Ethernet Source MAC address</a:t>
            </a:r>
          </a:p>
          <a:p>
            <a:pPr lvl="1"/>
            <a:r>
              <a:rPr lang="en-US" altLang="zh-TW" dirty="0"/>
              <a:t>Ethernet Destination MAC address</a:t>
            </a:r>
          </a:p>
          <a:p>
            <a:pPr lvl="1"/>
            <a:r>
              <a:rPr lang="en-US" altLang="zh-TW" dirty="0"/>
              <a:t>IP Source MAC address</a:t>
            </a:r>
          </a:p>
          <a:p>
            <a:pPr lvl="1"/>
            <a:r>
              <a:rPr lang="en-US" altLang="zh-TW" dirty="0"/>
              <a:t>IP Destination MAC address</a:t>
            </a:r>
          </a:p>
          <a:p>
            <a:pPr lvl="1"/>
            <a:r>
              <a:rPr lang="en-US" altLang="zh-TW" dirty="0"/>
              <a:t>TCP/UDP/... Source Port</a:t>
            </a:r>
          </a:p>
          <a:p>
            <a:pPr lvl="1"/>
            <a:r>
              <a:rPr lang="en-US" altLang="zh-TW" dirty="0"/>
              <a:t>TCP/UDP/... Destination Port</a:t>
            </a:r>
            <a:endParaRPr lang="en-US" altLang="zh-TW" sz="1800" b="1" dirty="0"/>
          </a:p>
        </p:txBody>
      </p:sp>
    </p:spTree>
    <p:extLst>
      <p:ext uri="{BB962C8B-B14F-4D97-AF65-F5344CB8AC3E}">
        <p14:creationId xmlns:p14="http://schemas.microsoft.com/office/powerpoint/2010/main" val="2509131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3068960"/>
            <a:ext cx="3923928" cy="1865845"/>
          </a:xfrm>
          <a:prstGeom prst="rect">
            <a:avLst/>
          </a:prstGeom>
        </p:spPr>
      </p:pic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74864"/>
            <a:ext cx="9139919" cy="105591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 smtClean="0"/>
              <a:t>Packets are Managed as Flows(2/2)</a:t>
            </a:r>
            <a:endParaRPr lang="en-US" altLang="zh-TW" b="1" dirty="0" smtClean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5257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/>
              <a:t>The 1rst packet of a flow is sent to the controller</a:t>
            </a:r>
          </a:p>
          <a:p>
            <a:r>
              <a:rPr lang="en-US" altLang="zh-TW" dirty="0"/>
              <a:t>The controller programs the </a:t>
            </a:r>
            <a:r>
              <a:rPr lang="en-US" altLang="zh-TW" dirty="0" err="1"/>
              <a:t>datapath's</a:t>
            </a:r>
            <a:r>
              <a:rPr lang="en-US" altLang="zh-TW" dirty="0"/>
              <a:t> actions for a flow</a:t>
            </a:r>
          </a:p>
          <a:p>
            <a:pPr lvl="1"/>
            <a:r>
              <a:rPr lang="en-US" altLang="zh-TW" dirty="0"/>
              <a:t>Usually one, but may be a list</a:t>
            </a:r>
          </a:p>
          <a:p>
            <a:pPr lvl="1"/>
            <a:r>
              <a:rPr lang="en-US" altLang="zh-TW" dirty="0"/>
              <a:t>Actions include:</a:t>
            </a:r>
          </a:p>
          <a:p>
            <a:pPr lvl="2"/>
            <a:r>
              <a:rPr lang="en-US" altLang="zh-TW" dirty="0"/>
              <a:t>Forward to a port or ports, mirror</a:t>
            </a:r>
          </a:p>
          <a:p>
            <a:pPr lvl="2"/>
            <a:r>
              <a:rPr lang="en-US" altLang="zh-TW" dirty="0"/>
              <a:t>Encapsulate and forward to controller</a:t>
            </a:r>
          </a:p>
          <a:p>
            <a:pPr lvl="2"/>
            <a:r>
              <a:rPr lang="en-US" altLang="zh-TW" dirty="0"/>
              <a:t>Drop</a:t>
            </a:r>
          </a:p>
          <a:p>
            <a:r>
              <a:rPr lang="en-US" altLang="zh-TW" dirty="0"/>
              <a:t>And returns the packet to the </a:t>
            </a:r>
            <a:r>
              <a:rPr lang="en-US" altLang="zh-TW" dirty="0" err="1"/>
              <a:t>datapath</a:t>
            </a:r>
            <a:endParaRPr lang="en-US" altLang="zh-TW" dirty="0"/>
          </a:p>
          <a:p>
            <a:r>
              <a:rPr lang="en-US" altLang="zh-TW" dirty="0"/>
              <a:t>Subsequent packets are handled directly by the </a:t>
            </a:r>
            <a:r>
              <a:rPr lang="en-US" altLang="zh-TW" dirty="0" err="1"/>
              <a:t>datapath</a:t>
            </a:r>
            <a:endParaRPr lang="en-US" altLang="zh-TW" dirty="0"/>
          </a:p>
          <a:p>
            <a:pPr>
              <a:buFontTx/>
              <a:buNone/>
            </a:pP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6776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architecture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2276873"/>
            <a:ext cx="7772400" cy="2130028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to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vSwitch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/>
              <a:t>Main components of Open </a:t>
            </a:r>
            <a:r>
              <a:rPr lang="en-US" altLang="zh-TW" dirty="0" err="1"/>
              <a:t>vSwitch</a:t>
            </a:r>
            <a:endParaRPr lang="en-US" altLang="zh-TW" dirty="0"/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Open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vSwitch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Testing Case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821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Main Components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" y="2356391"/>
            <a:ext cx="7284720" cy="419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75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ovsdb</a:t>
            </a:r>
            <a:r>
              <a:rPr lang="en-US" altLang="zh-TW" dirty="0"/>
              <a:t>-­‐server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Database that holds</a:t>
            </a:r>
            <a:r>
              <a:rPr lang="en-US" altLang="zh-TW" dirty="0"/>
              <a:t> </a:t>
            </a:r>
            <a:r>
              <a:rPr lang="en-US" altLang="zh-TW" dirty="0" smtClean="0"/>
              <a:t>switch-</a:t>
            </a:r>
            <a:r>
              <a:rPr lang="en-US" altLang="zh-TW" dirty="0"/>
              <a:t>-‐</a:t>
            </a:r>
            <a:r>
              <a:rPr lang="en-US" altLang="zh-TW" dirty="0" smtClean="0"/>
              <a:t>level configuration</a:t>
            </a:r>
          </a:p>
          <a:p>
            <a:r>
              <a:rPr lang="en-US" altLang="zh-TW" dirty="0" smtClean="0"/>
              <a:t>Custom database</a:t>
            </a:r>
            <a:r>
              <a:rPr lang="en-US" altLang="zh-TW" dirty="0"/>
              <a:t> </a:t>
            </a:r>
            <a:r>
              <a:rPr lang="en-US" altLang="zh-TW" dirty="0" smtClean="0"/>
              <a:t>with</a:t>
            </a:r>
            <a:r>
              <a:rPr lang="en-US" altLang="zh-TW" dirty="0"/>
              <a:t> </a:t>
            </a:r>
            <a:r>
              <a:rPr lang="en-US" altLang="zh-TW" dirty="0" smtClean="0"/>
              <a:t>nice</a:t>
            </a:r>
            <a:r>
              <a:rPr lang="en-US" altLang="zh-TW" dirty="0"/>
              <a:t> </a:t>
            </a:r>
            <a:r>
              <a:rPr lang="en-US" altLang="zh-TW" dirty="0" smtClean="0"/>
              <a:t>properties:</a:t>
            </a:r>
          </a:p>
          <a:p>
            <a:pPr lvl="1"/>
            <a:r>
              <a:rPr lang="en-US" altLang="zh-TW" dirty="0" smtClean="0"/>
              <a:t>Value constraints</a:t>
            </a:r>
          </a:p>
          <a:p>
            <a:pPr lvl="1"/>
            <a:r>
              <a:rPr lang="en-US" altLang="zh-TW" dirty="0" smtClean="0"/>
              <a:t>Weak references</a:t>
            </a:r>
          </a:p>
          <a:p>
            <a:pPr lvl="1"/>
            <a:r>
              <a:rPr lang="en-US" altLang="zh-TW" dirty="0" smtClean="0"/>
              <a:t>Garbage collection</a:t>
            </a:r>
          </a:p>
          <a:p>
            <a:r>
              <a:rPr lang="en-US" altLang="zh-TW" dirty="0"/>
              <a:t>Log--‐</a:t>
            </a:r>
            <a:r>
              <a:rPr lang="en-US" altLang="zh-TW" dirty="0" smtClean="0"/>
              <a:t>based</a:t>
            </a:r>
          </a:p>
          <a:p>
            <a:r>
              <a:rPr lang="en-US" altLang="zh-TW" dirty="0" smtClean="0"/>
              <a:t>Speaks management</a:t>
            </a:r>
            <a:r>
              <a:rPr lang="en-US" altLang="zh-TW" dirty="0"/>
              <a:t> </a:t>
            </a:r>
            <a:r>
              <a:rPr lang="en-US" altLang="zh-TW" dirty="0" smtClean="0"/>
              <a:t>protocol(JSON-</a:t>
            </a:r>
            <a:r>
              <a:rPr lang="en-US" altLang="zh-TW" dirty="0"/>
              <a:t>-‐</a:t>
            </a:r>
            <a:r>
              <a:rPr lang="en-US" altLang="zh-TW" dirty="0" smtClean="0"/>
              <a:t>RPC) to</a:t>
            </a:r>
            <a:r>
              <a:rPr lang="en-US" altLang="zh-TW" dirty="0"/>
              <a:t> </a:t>
            </a:r>
            <a:r>
              <a:rPr lang="en-US" altLang="zh-TW" dirty="0" smtClean="0"/>
              <a:t>manager</a:t>
            </a:r>
            <a:r>
              <a:rPr lang="en-US" altLang="zh-TW" dirty="0"/>
              <a:t> </a:t>
            </a:r>
            <a:r>
              <a:rPr lang="en-US" altLang="zh-TW" dirty="0" smtClean="0"/>
              <a:t>and</a:t>
            </a:r>
            <a:r>
              <a:rPr lang="en-US" altLang="zh-TW" dirty="0"/>
              <a:t> </a:t>
            </a:r>
            <a:r>
              <a:rPr lang="en-US" altLang="zh-TW" dirty="0" err="1" smtClean="0"/>
              <a:t>ovs</a:t>
            </a:r>
            <a:r>
              <a:rPr lang="en-US" altLang="zh-TW" dirty="0" smtClean="0"/>
              <a:t>-</a:t>
            </a:r>
            <a:r>
              <a:rPr lang="en-US" altLang="zh-TW" dirty="0"/>
              <a:t>-‐</a:t>
            </a:r>
            <a:r>
              <a:rPr lang="en-US" altLang="zh-TW" dirty="0" err="1"/>
              <a:t>vswitchd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3447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ovs</a:t>
            </a:r>
            <a:r>
              <a:rPr lang="en-US" altLang="zh-TW" dirty="0"/>
              <a:t>-­‐</a:t>
            </a:r>
            <a:r>
              <a:rPr lang="en-US" altLang="zh-TW" dirty="0" err="1" smtClean="0"/>
              <a:t>vswitchd</a:t>
            </a:r>
            <a:r>
              <a:rPr lang="en-US" altLang="zh-TW" dirty="0" smtClean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5257800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Core component in the system:</a:t>
            </a:r>
          </a:p>
          <a:p>
            <a:pPr lvl="1"/>
            <a:r>
              <a:rPr lang="en-US" altLang="zh-TW" dirty="0"/>
              <a:t>Communicates with outside world using </a:t>
            </a:r>
            <a:r>
              <a:rPr lang="en-US" altLang="zh-TW" dirty="0" err="1"/>
              <a:t>OpenFlow</a:t>
            </a:r>
            <a:endParaRPr lang="en-US" altLang="zh-TW" dirty="0"/>
          </a:p>
          <a:p>
            <a:pPr lvl="1"/>
            <a:r>
              <a:rPr lang="en-US" altLang="zh-TW" dirty="0"/>
              <a:t>Communicates with </a:t>
            </a:r>
            <a:r>
              <a:rPr lang="en-US" altLang="zh-TW" dirty="0" err="1"/>
              <a:t>ovsdb</a:t>
            </a:r>
            <a:r>
              <a:rPr lang="en-US" altLang="zh-TW" dirty="0"/>
              <a:t>-­‐server using management protocol</a:t>
            </a:r>
          </a:p>
          <a:p>
            <a:pPr lvl="1"/>
            <a:r>
              <a:rPr lang="en-US" altLang="zh-TW" dirty="0"/>
              <a:t>Communicates with kernel module over </a:t>
            </a:r>
            <a:r>
              <a:rPr lang="en-US" altLang="zh-TW" dirty="0" err="1"/>
              <a:t>netlink</a:t>
            </a:r>
            <a:endParaRPr lang="en-US" altLang="zh-TW" dirty="0"/>
          </a:p>
          <a:p>
            <a:pPr lvl="1"/>
            <a:r>
              <a:rPr lang="en-US" altLang="zh-TW" dirty="0"/>
              <a:t>Communicates with the system through </a:t>
            </a:r>
            <a:r>
              <a:rPr lang="en-US" altLang="zh-TW" dirty="0" err="1"/>
              <a:t>netdev</a:t>
            </a:r>
            <a:r>
              <a:rPr lang="en-US" altLang="zh-TW" dirty="0"/>
              <a:t> abstract interface</a:t>
            </a:r>
          </a:p>
          <a:p>
            <a:r>
              <a:rPr lang="en-US" altLang="zh-TW" dirty="0"/>
              <a:t>Supports </a:t>
            </a:r>
            <a:r>
              <a:rPr lang="en-US" altLang="zh-TW" dirty="0" smtClean="0"/>
              <a:t>multiple </a:t>
            </a:r>
            <a:r>
              <a:rPr lang="en-US" altLang="zh-TW" dirty="0"/>
              <a:t>independent </a:t>
            </a:r>
            <a:r>
              <a:rPr lang="en-US" altLang="zh-TW" dirty="0" err="1"/>
              <a:t>datapaths</a:t>
            </a:r>
            <a:r>
              <a:rPr lang="en-US" altLang="zh-TW" dirty="0"/>
              <a:t> (bridges</a:t>
            </a:r>
            <a:r>
              <a:rPr lang="en-US" altLang="zh-TW" dirty="0" smtClean="0"/>
              <a:t>)</a:t>
            </a:r>
            <a:endParaRPr lang="en-US" altLang="zh-TW" dirty="0"/>
          </a:p>
          <a:p>
            <a:r>
              <a:rPr lang="en-US" altLang="zh-TW" dirty="0"/>
              <a:t>Packet classiﬁer supports eﬃcient ﬂow lookup with wildcards and “explodes” these (possibly) </a:t>
            </a:r>
            <a:r>
              <a:rPr lang="en-US" altLang="zh-TW" dirty="0" smtClean="0"/>
              <a:t>wildcard </a:t>
            </a:r>
            <a:r>
              <a:rPr lang="en-US" altLang="zh-TW" dirty="0"/>
              <a:t>rules for fast processing by </a:t>
            </a:r>
            <a:r>
              <a:rPr lang="en-US" altLang="zh-TW" dirty="0" smtClean="0"/>
              <a:t>the </a:t>
            </a:r>
            <a:r>
              <a:rPr lang="en-US" altLang="zh-TW" dirty="0" err="1" smtClean="0"/>
              <a:t>datapath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926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ovs</a:t>
            </a:r>
            <a:r>
              <a:rPr lang="en-US" altLang="zh-TW" dirty="0"/>
              <a:t>-­‐</a:t>
            </a:r>
            <a:r>
              <a:rPr lang="en-US" altLang="zh-TW" dirty="0" err="1" smtClean="0"/>
              <a:t>vswitchd</a:t>
            </a:r>
            <a:r>
              <a:rPr lang="en-US" altLang="zh-TW" dirty="0" smtClean="0"/>
              <a:t>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Implements mirroring, bonding, and VLANs through </a:t>
            </a:r>
            <a:r>
              <a:rPr lang="en-US" altLang="zh-TW" dirty="0" smtClean="0"/>
              <a:t>modiﬁcations of </a:t>
            </a:r>
            <a:r>
              <a:rPr lang="en-US" altLang="zh-TW" dirty="0"/>
              <a:t>the same ﬂow table exposed through </a:t>
            </a:r>
            <a:r>
              <a:rPr lang="en-US" altLang="zh-TW" dirty="0" err="1" smtClean="0"/>
              <a:t>OpenFlow</a:t>
            </a:r>
            <a:endParaRPr lang="en-US" altLang="zh-TW" dirty="0" smtClean="0"/>
          </a:p>
          <a:p>
            <a:r>
              <a:rPr lang="en-US" altLang="zh-TW" dirty="0"/>
              <a:t>Checks </a:t>
            </a:r>
            <a:r>
              <a:rPr lang="en-US" altLang="zh-TW" dirty="0" err="1"/>
              <a:t>datapath</a:t>
            </a:r>
            <a:r>
              <a:rPr lang="en-US" altLang="zh-TW" dirty="0"/>
              <a:t> ﬂow counters to handle ﬂow </a:t>
            </a:r>
            <a:r>
              <a:rPr lang="en-US" altLang="zh-TW" dirty="0" smtClean="0"/>
              <a:t>expiration </a:t>
            </a:r>
            <a:r>
              <a:rPr lang="en-US" altLang="zh-TW" dirty="0"/>
              <a:t>and </a:t>
            </a:r>
            <a:r>
              <a:rPr lang="en-US" altLang="zh-TW" smtClean="0"/>
              <a:t>stats requests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6355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openvswitch_mod.ko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altLang="zh-TW" dirty="0"/>
              <a:t>Kernel module that handles switching </a:t>
            </a:r>
            <a:r>
              <a:rPr lang="en-US" altLang="zh-TW" dirty="0" smtClean="0"/>
              <a:t>and tunneling</a:t>
            </a:r>
          </a:p>
          <a:p>
            <a:r>
              <a:rPr lang="en-US" altLang="zh-TW" dirty="0"/>
              <a:t>Exact-­‐match cache of ﬂows</a:t>
            </a:r>
          </a:p>
          <a:p>
            <a:r>
              <a:rPr lang="en-US" altLang="zh-TW" dirty="0"/>
              <a:t>Designed to be fast and simple</a:t>
            </a:r>
          </a:p>
          <a:p>
            <a:pPr lvl="1"/>
            <a:r>
              <a:rPr lang="en-US" altLang="zh-TW" dirty="0"/>
              <a:t>Packet comes in, if found, associated </a:t>
            </a:r>
            <a:r>
              <a:rPr lang="en-US" altLang="zh-TW" dirty="0" smtClean="0"/>
              <a:t>actions executed and </a:t>
            </a:r>
            <a:r>
              <a:rPr lang="en-US" altLang="zh-TW" dirty="0"/>
              <a:t>counters updated. Otherwise, sent to </a:t>
            </a:r>
            <a:r>
              <a:rPr lang="en-US" altLang="zh-TW" dirty="0" err="1" smtClean="0"/>
              <a:t>userspace</a:t>
            </a:r>
            <a:endParaRPr lang="en-US" altLang="zh-TW" dirty="0" smtClean="0"/>
          </a:p>
          <a:p>
            <a:pPr lvl="1"/>
            <a:r>
              <a:rPr lang="en-US" altLang="zh-TW" dirty="0"/>
              <a:t>Does no ﬂow </a:t>
            </a:r>
            <a:r>
              <a:rPr lang="en-US" altLang="zh-TW" dirty="0" smtClean="0"/>
              <a:t>expiration</a:t>
            </a:r>
            <a:endParaRPr lang="en-US" altLang="zh-TW" dirty="0"/>
          </a:p>
          <a:p>
            <a:pPr lvl="1"/>
            <a:r>
              <a:rPr lang="en-US" altLang="zh-TW" dirty="0"/>
              <a:t>Knows nothing of </a:t>
            </a:r>
            <a:r>
              <a:rPr lang="en-US" altLang="zh-TW" dirty="0" err="1"/>
              <a:t>OpenFlow</a:t>
            </a:r>
            <a:endParaRPr lang="en-US" altLang="zh-TW" dirty="0"/>
          </a:p>
          <a:p>
            <a:r>
              <a:rPr lang="en-US" altLang="zh-TW" dirty="0"/>
              <a:t>Implements </a:t>
            </a:r>
            <a:r>
              <a:rPr lang="en-US" altLang="zh-TW" dirty="0" smtClean="0"/>
              <a:t>tunnels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5591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/>
              <a:t>Tunneling</a:t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Required to provide “true” virtual networks</a:t>
            </a:r>
          </a:p>
          <a:p>
            <a:r>
              <a:rPr lang="en-US" altLang="zh-TW" dirty="0"/>
              <a:t>Focus on performance</a:t>
            </a:r>
          </a:p>
          <a:p>
            <a:pPr lvl="1"/>
            <a:r>
              <a:rPr lang="en-US" altLang="zh-TW" dirty="0"/>
              <a:t>Header caching</a:t>
            </a:r>
          </a:p>
          <a:p>
            <a:pPr lvl="1"/>
            <a:r>
              <a:rPr lang="en-US" altLang="zh-TW" dirty="0"/>
              <a:t>Hardware oﬄoading</a:t>
            </a:r>
          </a:p>
          <a:p>
            <a:r>
              <a:rPr lang="en-US" altLang="zh-TW" dirty="0"/>
              <a:t>Supported tunneling modes</a:t>
            </a:r>
          </a:p>
          <a:p>
            <a:pPr lvl="1"/>
            <a:r>
              <a:rPr lang="en-US" altLang="zh-TW" dirty="0"/>
              <a:t>GRE</a:t>
            </a:r>
          </a:p>
          <a:p>
            <a:pPr lvl="1"/>
            <a:r>
              <a:rPr lang="en-US" altLang="zh-TW" dirty="0"/>
              <a:t>GRE-­‐over-­‐IPsec</a:t>
            </a:r>
          </a:p>
          <a:p>
            <a:pPr lvl="1"/>
            <a:r>
              <a:rPr lang="en-US" altLang="zh-TW" dirty="0"/>
              <a:t>CAPWAP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1917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Migration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KVM and </a:t>
            </a:r>
            <a:r>
              <a:rPr lang="en-US" altLang="zh-TW" dirty="0" err="1"/>
              <a:t>Xen</a:t>
            </a:r>
            <a:r>
              <a:rPr lang="en-US" altLang="zh-TW" dirty="0"/>
              <a:t> provide Live </a:t>
            </a:r>
            <a:r>
              <a:rPr lang="en-US" altLang="zh-TW" dirty="0" smtClean="0"/>
              <a:t>Migration</a:t>
            </a:r>
          </a:p>
          <a:p>
            <a:r>
              <a:rPr lang="en-US" altLang="zh-TW" dirty="0"/>
              <a:t>With bridging, IP address migration must occur with in the same </a:t>
            </a:r>
            <a:r>
              <a:rPr lang="en-US" altLang="zh-TW" dirty="0" smtClean="0"/>
              <a:t>L2 network</a:t>
            </a:r>
          </a:p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avoids this problem using GRE tunnels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245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sz="4900" dirty="0"/>
              <a:t>Distributed Virtual Switch</a:t>
            </a:r>
            <a:br>
              <a:rPr lang="en-US" altLang="zh-TW" sz="4900" dirty="0"/>
            </a:br>
            <a:endParaRPr lang="zh-TW" altLang="en-US" sz="4900" dirty="0"/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384149"/>
            <a:ext cx="8229600" cy="295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93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architecture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2276873"/>
            <a:ext cx="7772400" cy="2130028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to 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vSwitch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Main components of 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vSwitch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Testing Case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675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 smtClean="0"/>
              <a:t>Virtual </a:t>
            </a:r>
            <a:r>
              <a:rPr lang="en-US" altLang="zh-TW" dirty="0"/>
              <a:t>LAN</a:t>
            </a:r>
            <a:endParaRPr lang="en-US" altLang="zh-TW" b="1" dirty="0" smtClean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TW" dirty="0"/>
              <a:t>Per-Customer VLANs are desirable for security reasons</a:t>
            </a:r>
          </a:p>
          <a:p>
            <a:r>
              <a:rPr lang="en-US" altLang="zh-TW" dirty="0"/>
              <a:t>But there is a limit of 4094 VLANs</a:t>
            </a:r>
            <a:endParaRPr lang="en-US" altLang="zh-TW" b="1" dirty="0"/>
          </a:p>
        </p:txBody>
      </p:sp>
    </p:spTree>
    <p:extLst>
      <p:ext uri="{BB962C8B-B14F-4D97-AF65-F5344CB8AC3E}">
        <p14:creationId xmlns:p14="http://schemas.microsoft.com/office/powerpoint/2010/main" val="352765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12" y="1340767"/>
            <a:ext cx="4907752" cy="4176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3" name="內容版面配置區 2"/>
          <p:cNvSpPr>
            <a:spLocks noGrp="1"/>
          </p:cNvSpPr>
          <p:nvPr>
            <p:ph idx="1"/>
          </p:nvPr>
        </p:nvSpPr>
        <p:spPr>
          <a:xfrm>
            <a:off x="4855731" y="1468468"/>
            <a:ext cx="4180765" cy="5389532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b="0" dirty="0" smtClean="0"/>
              <a:t>VM1 and VM3 belong to a user assigned with VLAN ID 1 through tap0 virtual interface; VM2 and VM4 belong to a user assigned with VLAN ID 2 through tap1 virtual interface</a:t>
            </a:r>
          </a:p>
          <a:p>
            <a:r>
              <a:rPr lang="en-US" altLang="zh-TW" b="0" dirty="0" smtClean="0"/>
              <a:t>Data Network is used for VMs to transmit data packets; Management Network is used for out-of-band management and packet mirroring</a:t>
            </a:r>
          </a:p>
          <a:p>
            <a:r>
              <a:rPr lang="en-US" altLang="zh-TW" b="0" dirty="0" smtClean="0"/>
              <a:t>On both hosts, we have to install an OVS bridge interface (br0) for performing virtual switch function and attach it with physical Data Network interface eth1</a:t>
            </a:r>
            <a:endParaRPr lang="zh-TW" altLang="en-US" dirty="0" smtClean="0"/>
          </a:p>
        </p:txBody>
      </p:sp>
      <p:sp>
        <p:nvSpPr>
          <p:cNvPr id="15364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200EFE02-B5F8-4C72-AB5F-AE67697437A8}" type="slidenum">
              <a:rPr lang="en-US" altLang="zh-TW"/>
              <a:pPr eaLnBrk="1" hangingPunct="1"/>
              <a:t>36</a:t>
            </a:fld>
            <a:endParaRPr lang="en-US" altLang="zh-TW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defRPr/>
            </a:pPr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</a:t>
            </a:r>
            <a:r>
              <a:rPr lang="en-US" altLang="zh-TW" dirty="0" smtClean="0"/>
              <a:t>Testing(1/2)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94279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634512"/>
            <a:ext cx="4381872" cy="1661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386" name="標題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</a:t>
            </a:r>
            <a:r>
              <a:rPr lang="en-US" altLang="zh-TW" dirty="0" smtClean="0"/>
              <a:t>Testing(2/2</a:t>
            </a:r>
            <a:r>
              <a:rPr lang="en-US" altLang="zh-TW" dirty="0"/>
              <a:t>)</a:t>
            </a:r>
            <a:endParaRPr lang="zh-TW" altLang="en-US" dirty="0" smtClean="0"/>
          </a:p>
        </p:txBody>
      </p:sp>
      <p:sp>
        <p:nvSpPr>
          <p:cNvPr id="16387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1275"/>
          </a:xfrm>
        </p:spPr>
        <p:txBody>
          <a:bodyPr>
            <a:normAutofit lnSpcReduction="10000"/>
          </a:bodyPr>
          <a:lstStyle/>
          <a:p>
            <a:r>
              <a:rPr lang="en-US" altLang="zh-TW" b="0" dirty="0" smtClean="0"/>
              <a:t>Attach virtual interfaces of each VM (tap0 and tap1) to the OVS bridge interface (br0) with proper VLAN ID as follows:</a:t>
            </a:r>
          </a:p>
          <a:p>
            <a:endParaRPr lang="en-US" altLang="zh-TW" b="0" dirty="0" smtClean="0"/>
          </a:p>
          <a:p>
            <a:endParaRPr lang="en-US" altLang="zh-TW" b="0" dirty="0" smtClean="0"/>
          </a:p>
          <a:p>
            <a:endParaRPr lang="en-US" altLang="zh-TW" b="0" dirty="0" smtClean="0"/>
          </a:p>
          <a:p>
            <a:r>
              <a:rPr lang="en-US" altLang="zh-TW" b="0" dirty="0" smtClean="0"/>
              <a:t>Assign VM1~VM4 within the same IP range. Basically, VM1 and VM3 can ping each other and VM2 and VM4 can ping each other successfully</a:t>
            </a:r>
          </a:p>
          <a:p>
            <a:r>
              <a:rPr lang="en-US" altLang="zh-TW" b="0" dirty="0" smtClean="0"/>
              <a:t>VM1 cannot access VM2 and VM3 cannot access VM4 even they exist on the same host machine</a:t>
            </a:r>
          </a:p>
        </p:txBody>
      </p:sp>
      <p:sp>
        <p:nvSpPr>
          <p:cNvPr id="16388" name="投影片編號版面配置區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1437E1B0-1E77-410C-AE78-B5BF58E68402}" type="slidenum">
              <a:rPr lang="en-US" altLang="zh-TW"/>
              <a:pPr eaLnBrk="1" hangingPunct="1"/>
              <a:t>37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6955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Open </a:t>
            </a:r>
            <a:r>
              <a:rPr lang="en-US" altLang="zh-TW" dirty="0" err="1"/>
              <a:t>vSwitch</a:t>
            </a:r>
            <a:r>
              <a:rPr lang="en-US" altLang="zh-TW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Virtual Switch</a:t>
            </a:r>
          </a:p>
          <a:p>
            <a:pPr>
              <a:buClr>
                <a:schemeClr val="bg1">
                  <a:lumMod val="50000"/>
                </a:schemeClr>
              </a:buClr>
            </a:pP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Open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vSwitch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architecture</a:t>
            </a:r>
          </a:p>
          <a:p>
            <a:r>
              <a:rPr lang="en-US" altLang="zh-TW" dirty="0" err="1">
                <a:latin typeface="+mj-lt"/>
              </a:rPr>
              <a:t>OpenFlow</a:t>
            </a:r>
            <a:endParaRPr lang="en-US" altLang="zh-TW" dirty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4919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1772816"/>
            <a:ext cx="7772400" cy="2634085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Introduction to </a:t>
            </a:r>
            <a:r>
              <a:rPr lang="en-US" altLang="zh-TW" dirty="0" err="1" smtClean="0"/>
              <a:t>OpenFlow</a:t>
            </a:r>
            <a:endParaRPr lang="en-US" altLang="zh-TW" dirty="0" smtClean="0"/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Switching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Usage models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Virtualizing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FlowVisor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-based Virtualization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references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88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err="1"/>
              <a:t>OpenFlow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altLang="zh-TW" dirty="0"/>
              <a:t>Idealized view of a switch’s </a:t>
            </a:r>
            <a:r>
              <a:rPr lang="en-US" altLang="zh-TW" dirty="0" err="1"/>
              <a:t>datapath</a:t>
            </a:r>
            <a:endParaRPr lang="en-US" altLang="zh-TW" dirty="0"/>
          </a:p>
          <a:p>
            <a:r>
              <a:rPr lang="en-US" altLang="zh-TW" dirty="0"/>
              <a:t>Centralized controller conﬁgures ﬂow </a:t>
            </a:r>
            <a:r>
              <a:rPr lang="en-US" altLang="zh-TW" dirty="0" smtClean="0"/>
              <a:t>table</a:t>
            </a:r>
          </a:p>
          <a:p>
            <a:pPr lvl="1"/>
            <a:r>
              <a:rPr lang="en-US" altLang="zh-TW" dirty="0"/>
              <a:t>Lookup based on L2-­‐L4</a:t>
            </a:r>
          </a:p>
          <a:p>
            <a:pPr lvl="1"/>
            <a:r>
              <a:rPr lang="en-US" altLang="zh-TW" dirty="0"/>
              <a:t>Supports full wildcarding and </a:t>
            </a:r>
            <a:r>
              <a:rPr lang="en-US" altLang="zh-TW" dirty="0" smtClean="0"/>
              <a:t>priorities</a:t>
            </a:r>
            <a:endParaRPr lang="en-US" altLang="zh-TW" dirty="0"/>
          </a:p>
          <a:p>
            <a:pPr lvl="1"/>
            <a:r>
              <a:rPr lang="en-US" altLang="zh-TW" dirty="0"/>
              <a:t>Flows associated with </a:t>
            </a:r>
            <a:r>
              <a:rPr lang="en-US" altLang="zh-TW" dirty="0" smtClean="0"/>
              <a:t>actions</a:t>
            </a:r>
            <a:r>
              <a:rPr lang="en-US" altLang="zh-TW" dirty="0"/>
              <a:t>: forward, drop, </a:t>
            </a:r>
            <a:r>
              <a:rPr lang="en-US" altLang="zh-TW" dirty="0" smtClean="0"/>
              <a:t>modify</a:t>
            </a:r>
          </a:p>
          <a:p>
            <a:pPr lvl="1"/>
            <a:r>
              <a:rPr lang="en-US" altLang="zh-TW" dirty="0"/>
              <a:t>Missed ﬂows go to controller</a:t>
            </a:r>
          </a:p>
          <a:p>
            <a:r>
              <a:rPr lang="en-US" altLang="zh-TW" dirty="0"/>
              <a:t>Remote visibility</a:t>
            </a:r>
          </a:p>
          <a:p>
            <a:pPr lvl="1"/>
            <a:r>
              <a:rPr lang="en-US" altLang="zh-TW" dirty="0" smtClean="0"/>
              <a:t>Description </a:t>
            </a:r>
            <a:r>
              <a:rPr lang="en-US" altLang="zh-TW" dirty="0"/>
              <a:t>of switch (supported </a:t>
            </a:r>
            <a:r>
              <a:rPr lang="en-US" altLang="zh-TW" dirty="0" smtClean="0"/>
              <a:t>actions</a:t>
            </a:r>
            <a:r>
              <a:rPr lang="en-US" altLang="zh-TW" dirty="0"/>
              <a:t>, ﬂow </a:t>
            </a:r>
            <a:r>
              <a:rPr lang="en-US" altLang="zh-TW" dirty="0" smtClean="0"/>
              <a:t>tables’ </a:t>
            </a:r>
            <a:r>
              <a:rPr lang="en-US" altLang="zh-TW" dirty="0"/>
              <a:t> </a:t>
            </a:r>
            <a:r>
              <a:rPr lang="en-US" altLang="zh-TW" dirty="0" smtClean="0"/>
              <a:t>sizes</a:t>
            </a:r>
            <a:r>
              <a:rPr lang="en-US" altLang="zh-TW" dirty="0"/>
              <a:t>, etc</a:t>
            </a:r>
            <a:r>
              <a:rPr lang="en-US" altLang="zh-TW" dirty="0" smtClean="0"/>
              <a:t>.)</a:t>
            </a:r>
          </a:p>
          <a:p>
            <a:pPr lvl="1"/>
            <a:r>
              <a:rPr lang="en-US" altLang="zh-TW" dirty="0" smtClean="0"/>
              <a:t>Statistics </a:t>
            </a:r>
            <a:r>
              <a:rPr lang="en-US" altLang="zh-TW" dirty="0"/>
              <a:t>(ﬂows, tables, ports)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99227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err="1"/>
              <a:t>Nicira</a:t>
            </a:r>
            <a:r>
              <a:rPr lang="en-US" altLang="zh-TW" dirty="0"/>
              <a:t> Extensions to </a:t>
            </a:r>
            <a:r>
              <a:rPr lang="en-US" altLang="zh-TW" dirty="0" err="1"/>
              <a:t>OpenFlow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r>
              <a:rPr lang="en-US" altLang="zh-TW" dirty="0"/>
              <a:t>Resubmit</a:t>
            </a:r>
          </a:p>
          <a:p>
            <a:r>
              <a:rPr lang="en-US" altLang="zh-TW" dirty="0"/>
              <a:t>NXM (Extensible Match)</a:t>
            </a:r>
          </a:p>
          <a:p>
            <a:pPr lvl="1"/>
            <a:r>
              <a:rPr lang="en-US" altLang="zh-TW" dirty="0"/>
              <a:t>Tunnels</a:t>
            </a:r>
          </a:p>
          <a:p>
            <a:pPr lvl="1"/>
            <a:r>
              <a:rPr lang="en-US" altLang="zh-TW" dirty="0"/>
              <a:t>Registers</a:t>
            </a:r>
          </a:p>
          <a:p>
            <a:pPr lvl="1"/>
            <a:r>
              <a:rPr lang="en-US" altLang="zh-TW" dirty="0"/>
              <a:t>IPv6</a:t>
            </a:r>
          </a:p>
          <a:p>
            <a:pPr lvl="1"/>
            <a:r>
              <a:rPr lang="en-US" altLang="zh-TW" dirty="0"/>
              <a:t>Labels used by new </a:t>
            </a:r>
            <a:r>
              <a:rPr lang="en-US" altLang="zh-TW" dirty="0" smtClean="0"/>
              <a:t>actions</a:t>
            </a:r>
            <a:endParaRPr lang="en-US" altLang="zh-TW" dirty="0"/>
          </a:p>
          <a:p>
            <a:r>
              <a:rPr lang="en-US" altLang="zh-TW" dirty="0"/>
              <a:t>Flexible tunnel tagging</a:t>
            </a:r>
          </a:p>
          <a:p>
            <a:r>
              <a:rPr lang="en-US" altLang="zh-TW" dirty="0" smtClean="0"/>
              <a:t>Multiple </a:t>
            </a:r>
            <a:r>
              <a:rPr lang="en-US" altLang="zh-TW" dirty="0"/>
              <a:t>controllers</a:t>
            </a:r>
          </a:p>
          <a:p>
            <a:r>
              <a:rPr lang="pt-BR" altLang="zh-TW" dirty="0"/>
              <a:t>Separate </a:t>
            </a:r>
            <a:r>
              <a:rPr lang="pt-BR" altLang="zh-TW" dirty="0" smtClean="0"/>
              <a:t>setting </a:t>
            </a:r>
            <a:r>
              <a:rPr lang="pt-BR" altLang="zh-TW" dirty="0"/>
              <a:t>a QoS queue from </a:t>
            </a:r>
            <a:r>
              <a:rPr lang="pt-BR" altLang="zh-TW" dirty="0" smtClean="0"/>
              <a:t>transmitting</a:t>
            </a:r>
          </a:p>
          <a:p>
            <a:r>
              <a:rPr lang="pt-BR" altLang="zh-TW" dirty="0" smtClean="0"/>
              <a:t>Multipathing</a:t>
            </a:r>
            <a:endParaRPr lang="pt-BR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6045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868362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Dynamic </a:t>
            </a:r>
            <a:r>
              <a:rPr lang="en-US" altLang="zh-TW" dirty="0"/>
              <a:t>Flow Aggregation on an </a:t>
            </a:r>
            <a:r>
              <a:rPr lang="en-US" altLang="zh-TW" dirty="0" err="1"/>
              <a:t>OpenFlow</a:t>
            </a:r>
            <a:r>
              <a:rPr lang="en-US" altLang="zh-TW" dirty="0"/>
              <a:t> </a:t>
            </a:r>
            <a:r>
              <a:rPr lang="en-US" altLang="zh-TW" dirty="0" smtClean="0"/>
              <a:t>Network(1/2)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13176"/>
          </a:xfrm>
        </p:spPr>
        <p:txBody>
          <a:bodyPr/>
          <a:lstStyle/>
          <a:p>
            <a:r>
              <a:rPr lang="en-US" altLang="zh-TW" dirty="0"/>
              <a:t>Scope</a:t>
            </a:r>
          </a:p>
          <a:p>
            <a:pPr lvl="1"/>
            <a:r>
              <a:rPr lang="en-US" altLang="zh-TW" dirty="0"/>
              <a:t>Different Networks want different flow granularity (ISP, Backbone,…)</a:t>
            </a:r>
          </a:p>
          <a:p>
            <a:pPr lvl="1"/>
            <a:r>
              <a:rPr lang="en-US" altLang="zh-TW" dirty="0" smtClean="0"/>
              <a:t>Switch </a:t>
            </a:r>
            <a:r>
              <a:rPr lang="en-US" altLang="zh-TW" dirty="0"/>
              <a:t>resources are limited (flow entries, memory)</a:t>
            </a:r>
          </a:p>
          <a:p>
            <a:pPr lvl="1"/>
            <a:r>
              <a:rPr lang="en-US" altLang="zh-TW" dirty="0" smtClean="0"/>
              <a:t>Network </a:t>
            </a:r>
            <a:r>
              <a:rPr lang="en-US" altLang="zh-TW" dirty="0"/>
              <a:t>management is hard</a:t>
            </a:r>
          </a:p>
          <a:p>
            <a:pPr lvl="1"/>
            <a:r>
              <a:rPr lang="en-US" altLang="zh-TW" dirty="0" smtClean="0"/>
              <a:t>Current </a:t>
            </a:r>
            <a:r>
              <a:rPr lang="en-US" altLang="zh-TW" dirty="0"/>
              <a:t>Solutions : MPLS, IP </a:t>
            </a:r>
            <a:r>
              <a:rPr lang="en-US" altLang="zh-TW" dirty="0" smtClean="0"/>
              <a:t>aggregation</a:t>
            </a:r>
            <a:endParaRPr lang="en-US" altLang="zh-TW" sz="3600" dirty="0">
              <a:latin typeface="Calibri" pitchFamily="34" charset="0"/>
            </a:endParaRP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5519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868362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/>
            </a:r>
            <a:br>
              <a:rPr lang="en-US" altLang="zh-TW" dirty="0"/>
            </a:br>
            <a:r>
              <a:rPr lang="en-US" altLang="zh-TW" dirty="0" smtClean="0"/>
              <a:t>Dynamic </a:t>
            </a:r>
            <a:r>
              <a:rPr lang="en-US" altLang="zh-TW" dirty="0"/>
              <a:t>Flow Aggregation on an </a:t>
            </a:r>
            <a:r>
              <a:rPr lang="en-US" altLang="zh-TW" dirty="0" err="1"/>
              <a:t>OpenFlow</a:t>
            </a:r>
            <a:r>
              <a:rPr lang="en-US" altLang="zh-TW" dirty="0"/>
              <a:t> </a:t>
            </a:r>
            <a:r>
              <a:rPr lang="en-US" altLang="zh-TW" dirty="0" smtClean="0"/>
              <a:t>Network(2/2)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13176"/>
          </a:xfrm>
        </p:spPr>
        <p:txBody>
          <a:bodyPr/>
          <a:lstStyle/>
          <a:p>
            <a:r>
              <a:rPr lang="en-US" altLang="zh-TW" dirty="0"/>
              <a:t>How </a:t>
            </a:r>
            <a:r>
              <a:rPr lang="en-US" altLang="zh-TW" dirty="0" smtClean="0"/>
              <a:t>do </a:t>
            </a:r>
            <a:r>
              <a:rPr lang="en-US" altLang="zh-TW" dirty="0" err="1" smtClean="0"/>
              <a:t>OpenFlow</a:t>
            </a:r>
            <a:r>
              <a:rPr lang="en-US" altLang="zh-TW" dirty="0" smtClean="0"/>
              <a:t> Help?</a:t>
            </a:r>
            <a:endParaRPr lang="en-US" altLang="zh-TW" dirty="0"/>
          </a:p>
          <a:p>
            <a:pPr lvl="1"/>
            <a:r>
              <a:rPr lang="en-US" altLang="zh-TW" dirty="0"/>
              <a:t>Dynamically define flow granularity by wildcarding arbitrary header fields</a:t>
            </a:r>
          </a:p>
          <a:p>
            <a:pPr lvl="1"/>
            <a:r>
              <a:rPr lang="en-US" altLang="zh-TW" dirty="0"/>
              <a:t>Granularity is on the switch flow entries, no packet rewrite or encapsulation</a:t>
            </a:r>
          </a:p>
          <a:p>
            <a:pPr lvl="1"/>
            <a:r>
              <a:rPr lang="en-US" altLang="zh-TW" dirty="0"/>
              <a:t>Create meaningful bundles and manage them using your own software (reroute, monitor)</a:t>
            </a:r>
          </a:p>
          <a:p>
            <a:endParaRPr lang="en-US" altLang="zh-TW" sz="3600" dirty="0">
              <a:latin typeface="Calibri" pitchFamily="34" charset="0"/>
            </a:endParaRPr>
          </a:p>
          <a:p>
            <a:endParaRPr lang="zh-TW" altLang="en-US" dirty="0"/>
          </a:p>
        </p:txBody>
      </p:sp>
      <p:pic>
        <p:nvPicPr>
          <p:cNvPr id="4" name="Picture 5" descr="unaggregat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5874" y="4527159"/>
            <a:ext cx="2736304" cy="2317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7" descr="modified.png"/>
          <p:cNvPicPr>
            <a:picLocks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14659" y="4527159"/>
            <a:ext cx="2756048" cy="2261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ight Arrow 24"/>
          <p:cNvSpPr>
            <a:spLocks noChangeArrowheads="1"/>
          </p:cNvSpPr>
          <p:nvPr/>
        </p:nvSpPr>
        <p:spPr bwMode="auto">
          <a:xfrm rot="10800000" flipH="1">
            <a:off x="4427984" y="5229200"/>
            <a:ext cx="620713" cy="269875"/>
          </a:xfrm>
          <a:prstGeom prst="rightArrow">
            <a:avLst>
              <a:gd name="adj1" fmla="val 50000"/>
              <a:gd name="adj2" fmla="val 49993"/>
            </a:avLst>
          </a:prstGeom>
          <a:solidFill>
            <a:srgbClr val="8000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defTabSz="3657600"/>
            <a:endParaRPr lang="de-DE" sz="720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256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1772816"/>
            <a:ext cx="7772400" cy="2634085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/>
              <a:t>OpenFlow</a:t>
            </a:r>
            <a:r>
              <a:rPr lang="en-US" altLang="zh-TW" dirty="0"/>
              <a:t> Switching</a:t>
            </a:r>
          </a:p>
          <a:p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Usage models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Virtualizing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FlowVisor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-based Virtualization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references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047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anose="02020500000000000000" pitchFamily="18" charset="-120"/>
              </a:rPr>
              <a:t>OpenFlow Switching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65238"/>
            <a:ext cx="8229600" cy="5440362"/>
          </a:xfrm>
        </p:spPr>
        <p:txBody>
          <a:bodyPr/>
          <a:lstStyle/>
          <a:p>
            <a:pPr>
              <a:buSzTx/>
            </a:pPr>
            <a:r>
              <a:rPr lang="en-US" altLang="zh-TW" dirty="0"/>
              <a:t>A way to run experiments in the networks </a:t>
            </a:r>
            <a:endParaRPr lang="en-US" altLang="zh-TW" dirty="0" smtClean="0"/>
          </a:p>
          <a:p>
            <a:pPr>
              <a:buSzTx/>
            </a:pPr>
            <a:r>
              <a:rPr lang="en-US" altLang="zh-TW" dirty="0" smtClean="0"/>
              <a:t>Bring </a:t>
            </a:r>
            <a:r>
              <a:rPr lang="en-US" altLang="zh-TW" dirty="0"/>
              <a:t>GENI to college </a:t>
            </a:r>
            <a:r>
              <a:rPr lang="en-US" altLang="zh-TW" dirty="0" smtClean="0"/>
              <a:t>campuses</a:t>
            </a:r>
            <a:endParaRPr lang="en-US" altLang="zh-TW" sz="2800" dirty="0" smtClean="0">
              <a:ea typeface="新細明體" panose="02020500000000000000" pitchFamily="18" charset="-120"/>
            </a:endParaRPr>
          </a:p>
          <a:p>
            <a:r>
              <a:rPr lang="en-US" altLang="zh-TW" dirty="0"/>
              <a:t>A “pragmatic” compromise</a:t>
            </a:r>
          </a:p>
          <a:p>
            <a:pPr lvl="1"/>
            <a:r>
              <a:rPr lang="en-US" altLang="zh-TW" dirty="0"/>
              <a:t>Allow researchers to run experiments in their </a:t>
            </a:r>
            <a:r>
              <a:rPr lang="en-US" altLang="zh-TW" dirty="0" smtClean="0"/>
              <a:t>network without </a:t>
            </a:r>
            <a:r>
              <a:rPr lang="en-US" altLang="zh-TW" dirty="0"/>
              <a:t>requiring vendors to expose internal </a:t>
            </a:r>
            <a:r>
              <a:rPr lang="en-US" altLang="zh-TW" dirty="0" smtClean="0"/>
              <a:t>workings</a:t>
            </a:r>
            <a:endParaRPr lang="en-US" altLang="zh-TW" sz="2400" i="1" dirty="0" smtClean="0">
              <a:ea typeface="新細明體" panose="02020500000000000000" pitchFamily="18" charset="-120"/>
            </a:endParaRPr>
          </a:p>
          <a:p>
            <a:r>
              <a:rPr lang="en-US" altLang="zh-TW" dirty="0" smtClean="0"/>
              <a:t>Basic requirements</a:t>
            </a:r>
            <a:endParaRPr lang="en-US" altLang="zh-TW" dirty="0"/>
          </a:p>
          <a:p>
            <a:pPr lvl="1"/>
            <a:r>
              <a:rPr lang="en-US" altLang="zh-TW" dirty="0"/>
              <a:t>An Ethernet switch (e.g. 128-ports of 1GE) </a:t>
            </a:r>
          </a:p>
          <a:p>
            <a:pPr lvl="1"/>
            <a:r>
              <a:rPr lang="en-US" altLang="zh-TW" dirty="0"/>
              <a:t>An open protocol to remotely add/remove flow entries</a:t>
            </a:r>
          </a:p>
        </p:txBody>
      </p:sp>
    </p:spTree>
    <p:extLst>
      <p:ext uri="{BB962C8B-B14F-4D97-AF65-F5344CB8AC3E}">
        <p14:creationId xmlns:p14="http://schemas.microsoft.com/office/powerpoint/2010/main" val="71046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 smtClean="0">
                <a:ea typeface="新細明體" panose="02020500000000000000" pitchFamily="18" charset="-120"/>
              </a:rPr>
              <a:t>Experimenter’s Dream</a:t>
            </a:r>
            <a:br>
              <a:rPr lang="en-US" altLang="zh-TW" sz="4000" dirty="0" smtClean="0">
                <a:ea typeface="新細明體" panose="02020500000000000000" pitchFamily="18" charset="-120"/>
              </a:rPr>
            </a:br>
            <a:r>
              <a:rPr lang="en-US" altLang="zh-TW" sz="2800" dirty="0" smtClean="0">
                <a:ea typeface="新細明體" panose="02020500000000000000" pitchFamily="18" charset="-120"/>
              </a:rPr>
              <a:t>(Vendor’s Nightmare)</a:t>
            </a:r>
          </a:p>
        </p:txBody>
      </p:sp>
      <p:pic>
        <p:nvPicPr>
          <p:cNvPr id="6148" name="Picture 5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334000"/>
            <a:ext cx="1143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6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5618163"/>
            <a:ext cx="1143000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7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618163"/>
            <a:ext cx="1143000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8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5410200"/>
            <a:ext cx="1143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52" name="Line 9"/>
          <p:cNvSpPr>
            <a:spLocks noChangeShapeType="1"/>
          </p:cNvSpPr>
          <p:nvPr/>
        </p:nvSpPr>
        <p:spPr bwMode="auto">
          <a:xfrm flipH="1">
            <a:off x="2286000" y="4495800"/>
            <a:ext cx="11430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153" name="Line 10"/>
          <p:cNvSpPr>
            <a:spLocks noChangeShapeType="1"/>
          </p:cNvSpPr>
          <p:nvPr/>
        </p:nvSpPr>
        <p:spPr bwMode="auto">
          <a:xfrm flipH="1">
            <a:off x="3657600" y="4572000"/>
            <a:ext cx="5334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154" name="Line 11"/>
          <p:cNvSpPr>
            <a:spLocks noChangeShapeType="1"/>
          </p:cNvSpPr>
          <p:nvPr/>
        </p:nvSpPr>
        <p:spPr bwMode="auto">
          <a:xfrm>
            <a:off x="4876800" y="4572000"/>
            <a:ext cx="1524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155" name="Line 12"/>
          <p:cNvSpPr>
            <a:spLocks noChangeShapeType="1"/>
          </p:cNvSpPr>
          <p:nvPr/>
        </p:nvSpPr>
        <p:spPr bwMode="auto">
          <a:xfrm>
            <a:off x="5486400" y="4495800"/>
            <a:ext cx="9144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25677" name="AutoShape 13"/>
          <p:cNvSpPr>
            <a:spLocks noChangeArrowheads="1"/>
          </p:cNvSpPr>
          <p:nvPr/>
        </p:nvSpPr>
        <p:spPr bwMode="auto">
          <a:xfrm>
            <a:off x="2514600" y="1295400"/>
            <a:ext cx="3733800" cy="3238500"/>
          </a:xfrm>
          <a:prstGeom prst="can">
            <a:avLst>
              <a:gd name="adj" fmla="val 21718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/>
          </a:p>
        </p:txBody>
      </p:sp>
      <p:sp>
        <p:nvSpPr>
          <p:cNvPr id="625678" name="Rectangle 14"/>
          <p:cNvSpPr>
            <a:spLocks noChangeArrowheads="1"/>
          </p:cNvSpPr>
          <p:nvPr/>
        </p:nvSpPr>
        <p:spPr bwMode="auto">
          <a:xfrm>
            <a:off x="3048000" y="2133600"/>
            <a:ext cx="1295400" cy="20574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2400" dirty="0">
                <a:ea typeface="新細明體" panose="02020500000000000000" pitchFamily="18" charset="-120"/>
              </a:rPr>
              <a:t>Standard</a:t>
            </a:r>
          </a:p>
          <a:p>
            <a:pPr algn="ctr" eaLnBrk="1" hangingPunct="1"/>
            <a:r>
              <a:rPr lang="en-US" altLang="zh-TW" sz="2000" dirty="0">
                <a:ea typeface="新細明體" panose="02020500000000000000" pitchFamily="18" charset="-120"/>
              </a:rPr>
              <a:t>Network</a:t>
            </a:r>
          </a:p>
          <a:p>
            <a:pPr algn="ctr" eaLnBrk="1" hangingPunct="1"/>
            <a:r>
              <a:rPr lang="en-US" altLang="zh-TW" sz="2000" dirty="0">
                <a:ea typeface="新細明體" panose="02020500000000000000" pitchFamily="18" charset="-120"/>
              </a:rPr>
              <a:t>Processing</a:t>
            </a:r>
          </a:p>
          <a:p>
            <a:pPr algn="ctr" eaLnBrk="1" hangingPunct="1"/>
            <a:endParaRPr lang="en-US" altLang="zh-TW" sz="2000" dirty="0">
              <a:ea typeface="新細明體" panose="02020500000000000000" pitchFamily="18" charset="-120"/>
            </a:endParaRPr>
          </a:p>
        </p:txBody>
      </p:sp>
      <p:sp>
        <p:nvSpPr>
          <p:cNvPr id="6158" name="Text Box 17"/>
          <p:cNvSpPr txBox="1">
            <a:spLocks noChangeArrowheads="1"/>
          </p:cNvSpPr>
          <p:nvPr/>
        </p:nvSpPr>
        <p:spPr bwMode="auto">
          <a:xfrm>
            <a:off x="2438400" y="3124200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2400">
                <a:solidFill>
                  <a:srgbClr val="CC0000"/>
                </a:solidFill>
                <a:ea typeface="新細明體" panose="02020500000000000000" pitchFamily="18" charset="-120"/>
              </a:rPr>
              <a:t>hw</a:t>
            </a:r>
          </a:p>
        </p:txBody>
      </p:sp>
      <p:sp>
        <p:nvSpPr>
          <p:cNvPr id="6159" name="Text Box 18"/>
          <p:cNvSpPr txBox="1">
            <a:spLocks noChangeArrowheads="1"/>
          </p:cNvSpPr>
          <p:nvPr/>
        </p:nvSpPr>
        <p:spPr bwMode="auto">
          <a:xfrm>
            <a:off x="2438400" y="2743200"/>
            <a:ext cx="557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2400">
                <a:solidFill>
                  <a:srgbClr val="CC0000"/>
                </a:solidFill>
                <a:ea typeface="新細明體" panose="02020500000000000000" pitchFamily="18" charset="-120"/>
              </a:rPr>
              <a:t>sw</a:t>
            </a:r>
          </a:p>
        </p:txBody>
      </p:sp>
      <p:sp>
        <p:nvSpPr>
          <p:cNvPr id="6160" name="Line 19"/>
          <p:cNvSpPr>
            <a:spLocks noChangeShapeType="1"/>
          </p:cNvSpPr>
          <p:nvPr/>
        </p:nvSpPr>
        <p:spPr bwMode="auto">
          <a:xfrm>
            <a:off x="4191000" y="5105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161" name="AutoShape 27"/>
          <p:cNvSpPr>
            <a:spLocks noChangeArrowheads="1"/>
          </p:cNvSpPr>
          <p:nvPr/>
        </p:nvSpPr>
        <p:spPr bwMode="auto">
          <a:xfrm>
            <a:off x="4495800" y="1905000"/>
            <a:ext cx="4267200" cy="2514600"/>
          </a:xfrm>
          <a:prstGeom prst="roundRect">
            <a:avLst>
              <a:gd name="adj" fmla="val 16667"/>
            </a:avLst>
          </a:prstGeom>
          <a:solidFill>
            <a:srgbClr val="FFCC99">
              <a:alpha val="47842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6162" name="Text Box 28"/>
          <p:cNvSpPr txBox="1">
            <a:spLocks noChangeArrowheads="1"/>
          </p:cNvSpPr>
          <p:nvPr/>
        </p:nvSpPr>
        <p:spPr bwMode="auto">
          <a:xfrm>
            <a:off x="6324600" y="2651125"/>
            <a:ext cx="24272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2000" dirty="0">
                <a:solidFill>
                  <a:srgbClr val="FA3D2E"/>
                </a:solidFill>
                <a:ea typeface="新細明體" panose="02020500000000000000" pitchFamily="18" charset="-120"/>
              </a:rPr>
              <a:t>Experimenter writes</a:t>
            </a:r>
            <a:br>
              <a:rPr lang="en-US" altLang="zh-TW" sz="2000" dirty="0">
                <a:solidFill>
                  <a:srgbClr val="FA3D2E"/>
                </a:solidFill>
                <a:ea typeface="新細明體" panose="02020500000000000000" pitchFamily="18" charset="-120"/>
              </a:rPr>
            </a:br>
            <a:r>
              <a:rPr lang="en-US" altLang="zh-TW" sz="2000" dirty="0">
                <a:solidFill>
                  <a:srgbClr val="FA3D2E"/>
                </a:solidFill>
                <a:ea typeface="新細明體" panose="02020500000000000000" pitchFamily="18" charset="-120"/>
              </a:rPr>
              <a:t>experimental code</a:t>
            </a:r>
            <a:br>
              <a:rPr lang="en-US" altLang="zh-TW" sz="2000" dirty="0">
                <a:solidFill>
                  <a:srgbClr val="FA3D2E"/>
                </a:solidFill>
                <a:ea typeface="新細明體" panose="02020500000000000000" pitchFamily="18" charset="-120"/>
              </a:rPr>
            </a:br>
            <a:r>
              <a:rPr lang="en-US" altLang="zh-TW" sz="2000" dirty="0">
                <a:solidFill>
                  <a:srgbClr val="FA3D2E"/>
                </a:solidFill>
                <a:ea typeface="新細明體" panose="02020500000000000000" pitchFamily="18" charset="-120"/>
              </a:rPr>
              <a:t>on switch/router</a:t>
            </a:r>
          </a:p>
        </p:txBody>
      </p:sp>
      <p:sp>
        <p:nvSpPr>
          <p:cNvPr id="625689" name="Rectangle 25"/>
          <p:cNvSpPr>
            <a:spLocks noChangeArrowheads="1"/>
          </p:cNvSpPr>
          <p:nvPr/>
        </p:nvSpPr>
        <p:spPr bwMode="auto">
          <a:xfrm>
            <a:off x="4648200" y="2133600"/>
            <a:ext cx="1295400" cy="20574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2000">
                <a:ea typeface="新細明體" panose="02020500000000000000" pitchFamily="18" charset="-120"/>
              </a:rPr>
              <a:t>User-</a:t>
            </a:r>
          </a:p>
          <a:p>
            <a:pPr algn="ctr" eaLnBrk="1" hangingPunct="1"/>
            <a:r>
              <a:rPr lang="en-US" altLang="zh-TW" sz="2000">
                <a:ea typeface="新細明體" panose="02020500000000000000" pitchFamily="18" charset="-120"/>
              </a:rPr>
              <a:t>defined</a:t>
            </a:r>
          </a:p>
          <a:p>
            <a:pPr algn="ctr" eaLnBrk="1" hangingPunct="1"/>
            <a:r>
              <a:rPr lang="en-US" altLang="zh-TW" sz="2000">
                <a:ea typeface="新細明體" panose="02020500000000000000" pitchFamily="18" charset="-120"/>
              </a:rPr>
              <a:t>Processing</a:t>
            </a:r>
          </a:p>
          <a:p>
            <a:pPr algn="ctr" eaLnBrk="1" hangingPunct="1"/>
            <a:endParaRPr lang="en-US" altLang="zh-TW">
              <a:ea typeface="新細明體" panose="02020500000000000000" pitchFamily="18" charset="-120"/>
            </a:endParaRPr>
          </a:p>
        </p:txBody>
      </p:sp>
      <p:sp>
        <p:nvSpPr>
          <p:cNvPr id="6164" name="Line 16"/>
          <p:cNvSpPr>
            <a:spLocks noChangeShapeType="1"/>
          </p:cNvSpPr>
          <p:nvPr/>
        </p:nvSpPr>
        <p:spPr bwMode="auto">
          <a:xfrm>
            <a:off x="2649538" y="3200400"/>
            <a:ext cx="3522662" cy="0"/>
          </a:xfrm>
          <a:prstGeom prst="line">
            <a:avLst/>
          </a:prstGeom>
          <a:noFill/>
          <a:ln w="38100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24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anose="02020500000000000000" pitchFamily="18" charset="-120"/>
              </a:rPr>
              <a:t>No obvious way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Commercial vendor won’t open software and hardware development environment</a:t>
            </a:r>
          </a:p>
          <a:p>
            <a:pPr lvl="1"/>
            <a:r>
              <a:rPr lang="en-US" altLang="zh-TW" dirty="0"/>
              <a:t>Complexity of support</a:t>
            </a:r>
          </a:p>
          <a:p>
            <a:pPr lvl="1"/>
            <a:r>
              <a:rPr lang="en-US" altLang="zh-TW" dirty="0"/>
              <a:t>Market protection and barrier to </a:t>
            </a:r>
            <a:r>
              <a:rPr lang="en-US" altLang="zh-TW" dirty="0" smtClean="0"/>
              <a:t>entry</a:t>
            </a:r>
            <a:endParaRPr lang="en-US" altLang="zh-TW" sz="2400" dirty="0" smtClean="0">
              <a:ea typeface="新細明體" panose="02020500000000000000" pitchFamily="18" charset="-120"/>
            </a:endParaRPr>
          </a:p>
          <a:p>
            <a:r>
              <a:rPr lang="en-US" altLang="zh-TW" dirty="0"/>
              <a:t>Hard </a:t>
            </a:r>
            <a:r>
              <a:rPr lang="en-US" altLang="zh-TW" dirty="0" smtClean="0"/>
              <a:t>to </a:t>
            </a:r>
            <a:r>
              <a:rPr lang="en-US" altLang="zh-TW" dirty="0"/>
              <a:t>build my own</a:t>
            </a:r>
          </a:p>
          <a:p>
            <a:pPr lvl="1"/>
            <a:r>
              <a:rPr lang="en-US" altLang="zh-TW" dirty="0"/>
              <a:t>Prototypes are flakey</a:t>
            </a:r>
          </a:p>
          <a:p>
            <a:pPr lvl="1"/>
            <a:r>
              <a:rPr lang="en-US" altLang="zh-TW" dirty="0"/>
              <a:t>Software only: Too slow</a:t>
            </a:r>
          </a:p>
          <a:p>
            <a:pPr lvl="1"/>
            <a:r>
              <a:rPr lang="en-US" altLang="zh-TW" dirty="0"/>
              <a:t>Hardware/software: </a:t>
            </a:r>
            <a:r>
              <a:rPr lang="en-US" altLang="zh-TW" dirty="0" err="1"/>
              <a:t>Fanout</a:t>
            </a:r>
            <a:r>
              <a:rPr lang="en-US" altLang="zh-TW" dirty="0"/>
              <a:t> too small </a:t>
            </a:r>
            <a:br>
              <a:rPr lang="en-US" altLang="zh-TW" dirty="0"/>
            </a:br>
            <a:r>
              <a:rPr lang="en-US" altLang="zh-TW" dirty="0"/>
              <a:t>(need &gt;100 ports for wiring closet)</a:t>
            </a:r>
          </a:p>
        </p:txBody>
      </p:sp>
    </p:spTree>
    <p:extLst>
      <p:ext uri="{BB962C8B-B14F-4D97-AF65-F5344CB8AC3E}">
        <p14:creationId xmlns:p14="http://schemas.microsoft.com/office/powerpoint/2010/main" val="3528433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ea typeface="新細明體" panose="02020500000000000000" pitchFamily="18" charset="-120"/>
              </a:rPr>
              <a:t>Furthermore, we need…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17638"/>
            <a:ext cx="8229600" cy="532373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zh-TW" dirty="0"/>
              <a:t>Isolation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Regular production traffic untouched</a:t>
            </a:r>
          </a:p>
          <a:p>
            <a:pPr>
              <a:lnSpc>
                <a:spcPct val="90000"/>
              </a:lnSpc>
            </a:pPr>
            <a:r>
              <a:rPr lang="en-US" altLang="zh-TW" dirty="0"/>
              <a:t>Virtualized and programmable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Different flows processed in different ways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Equipment we can trust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 in our wiring closet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>
                <a:solidFill>
                  <a:schemeClr val="tx1"/>
                </a:solidFill>
                <a:ea typeface="新細明體" panose="02020500000000000000" pitchFamily="18" charset="-120"/>
              </a:rPr>
              <a:t>Open development environment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 for all researchers (e.g. Linux, Verilog, </a:t>
            </a:r>
            <a:r>
              <a:rPr lang="en-US" altLang="zh-TW" sz="2800" dirty="0" err="1" smtClean="0">
                <a:ea typeface="新細明體" panose="02020500000000000000" pitchFamily="18" charset="-120"/>
              </a:rPr>
              <a:t>etc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).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 smtClean="0">
                <a:ea typeface="新細明體" panose="02020500000000000000" pitchFamily="18" charset="-120"/>
              </a:rPr>
              <a:t>Flexible definitions of a flow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Individual application traffic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Aggregated flows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Alternatives to IP running side-by-side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…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dirty="0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43522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AutoShape 2"/>
          <p:cNvSpPr>
            <a:spLocks noChangeArrowheads="1"/>
          </p:cNvSpPr>
          <p:nvPr/>
        </p:nvSpPr>
        <p:spPr bwMode="auto">
          <a:xfrm>
            <a:off x="1371600" y="1066800"/>
            <a:ext cx="5943600" cy="4267200"/>
          </a:xfrm>
          <a:prstGeom prst="roundRect">
            <a:avLst>
              <a:gd name="adj" fmla="val 16667"/>
            </a:avLst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pic>
        <p:nvPicPr>
          <p:cNvPr id="9220" name="Picture 3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334000"/>
            <a:ext cx="1143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4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618163"/>
            <a:ext cx="1143000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5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5618163"/>
            <a:ext cx="1143000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6" descr="co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5410200"/>
            <a:ext cx="1143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4" name="Line 7"/>
          <p:cNvSpPr>
            <a:spLocks noChangeShapeType="1"/>
          </p:cNvSpPr>
          <p:nvPr/>
        </p:nvSpPr>
        <p:spPr bwMode="auto">
          <a:xfrm flipH="1">
            <a:off x="1066800" y="4419600"/>
            <a:ext cx="14478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225" name="Line 8"/>
          <p:cNvSpPr>
            <a:spLocks noChangeShapeType="1"/>
          </p:cNvSpPr>
          <p:nvPr/>
        </p:nvSpPr>
        <p:spPr bwMode="auto">
          <a:xfrm flipH="1">
            <a:off x="2438400" y="4572000"/>
            <a:ext cx="5334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226" name="Line 9"/>
          <p:cNvSpPr>
            <a:spLocks noChangeShapeType="1"/>
          </p:cNvSpPr>
          <p:nvPr/>
        </p:nvSpPr>
        <p:spPr bwMode="auto">
          <a:xfrm>
            <a:off x="3657600" y="4572000"/>
            <a:ext cx="152400" cy="1143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227" name="Line 10"/>
          <p:cNvSpPr>
            <a:spLocks noChangeShapeType="1"/>
          </p:cNvSpPr>
          <p:nvPr/>
        </p:nvSpPr>
        <p:spPr bwMode="auto">
          <a:xfrm>
            <a:off x="4267200" y="4495800"/>
            <a:ext cx="914400" cy="990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228" name="Text Box 11"/>
          <p:cNvSpPr txBox="1">
            <a:spLocks noChangeArrowheads="1"/>
          </p:cNvSpPr>
          <p:nvPr/>
        </p:nvSpPr>
        <p:spPr bwMode="auto">
          <a:xfrm>
            <a:off x="7205663" y="590550"/>
            <a:ext cx="1709737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TW" sz="2800" dirty="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Controller</a:t>
            </a:r>
          </a:p>
        </p:txBody>
      </p:sp>
      <p:sp>
        <p:nvSpPr>
          <p:cNvPr id="559116" name="AutoShape 12"/>
          <p:cNvSpPr>
            <a:spLocks noChangeArrowheads="1"/>
          </p:cNvSpPr>
          <p:nvPr/>
        </p:nvSpPr>
        <p:spPr bwMode="auto">
          <a:xfrm>
            <a:off x="2362200" y="1371600"/>
            <a:ext cx="2289175" cy="3238500"/>
          </a:xfrm>
          <a:prstGeom prst="can">
            <a:avLst>
              <a:gd name="adj" fmla="val 30724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/>
          </a:p>
        </p:txBody>
      </p:sp>
      <p:pic>
        <p:nvPicPr>
          <p:cNvPr id="9230" name="Picture 13" descr="MCj04316160000[1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990600"/>
            <a:ext cx="14478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1" name="Text Box 14"/>
          <p:cNvSpPr txBox="1">
            <a:spLocks noChangeArrowheads="1"/>
          </p:cNvSpPr>
          <p:nvPr/>
        </p:nvSpPr>
        <p:spPr bwMode="auto">
          <a:xfrm>
            <a:off x="2112963" y="958850"/>
            <a:ext cx="28765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zh-TW" sz="2800">
              <a:solidFill>
                <a:srgbClr val="CC0000"/>
              </a:solidFill>
              <a:latin typeface="Tahoma" panose="020B0604030504040204" pitchFamily="34" charset="0"/>
              <a:ea typeface="新細明體" panose="02020500000000000000" pitchFamily="18" charset="-120"/>
            </a:endParaRPr>
          </a:p>
          <a:p>
            <a:pPr algn="ctr" eaLnBrk="1" hangingPunct="1"/>
            <a:r>
              <a:rPr lang="en-US" altLang="zh-TW" sz="28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OpenFlow Switch</a:t>
            </a:r>
          </a:p>
        </p:txBody>
      </p:sp>
      <p:sp>
        <p:nvSpPr>
          <p:cNvPr id="559119" name="Rectangle 15"/>
          <p:cNvSpPr>
            <a:spLocks noChangeArrowheads="1"/>
          </p:cNvSpPr>
          <p:nvPr/>
        </p:nvSpPr>
        <p:spPr bwMode="auto">
          <a:xfrm>
            <a:off x="2895600" y="3505200"/>
            <a:ext cx="1143000" cy="9144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Arial" charset="0"/>
              </a:rPr>
              <a:t>Flow</a:t>
            </a:r>
          </a:p>
          <a:p>
            <a:pPr algn="ctr">
              <a:defRPr/>
            </a:pPr>
            <a:r>
              <a:rPr lang="en-US" sz="2400">
                <a:latin typeface="Arial" charset="0"/>
              </a:rPr>
              <a:t>Table</a:t>
            </a:r>
          </a:p>
        </p:txBody>
      </p:sp>
      <p:sp>
        <p:nvSpPr>
          <p:cNvPr id="559120" name="Rectangle 16"/>
          <p:cNvSpPr>
            <a:spLocks noChangeArrowheads="1"/>
          </p:cNvSpPr>
          <p:nvPr/>
        </p:nvSpPr>
        <p:spPr bwMode="auto">
          <a:xfrm>
            <a:off x="2895600" y="2286000"/>
            <a:ext cx="1143000" cy="91440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Arial" charset="0"/>
              </a:rPr>
              <a:t>Secure</a:t>
            </a:r>
          </a:p>
          <a:p>
            <a:pPr algn="ctr">
              <a:defRPr/>
            </a:pPr>
            <a:r>
              <a:rPr lang="en-US" sz="2400">
                <a:latin typeface="Arial" charset="0"/>
              </a:rPr>
              <a:t>Channel</a:t>
            </a:r>
          </a:p>
        </p:txBody>
      </p:sp>
      <p:sp>
        <p:nvSpPr>
          <p:cNvPr id="9234" name="Line 17"/>
          <p:cNvSpPr>
            <a:spLocks noChangeShapeType="1"/>
          </p:cNvSpPr>
          <p:nvPr/>
        </p:nvSpPr>
        <p:spPr bwMode="auto">
          <a:xfrm flipV="1">
            <a:off x="4038600" y="1676400"/>
            <a:ext cx="3352800" cy="1219200"/>
          </a:xfrm>
          <a:prstGeom prst="line">
            <a:avLst/>
          </a:prstGeom>
          <a:noFill/>
          <a:ln w="76200">
            <a:solidFill>
              <a:schemeClr val="tx1"/>
            </a:solidFill>
            <a:prstDash val="sysDot"/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235" name="Text Box 18"/>
          <p:cNvSpPr txBox="1">
            <a:spLocks noChangeArrowheads="1"/>
          </p:cNvSpPr>
          <p:nvPr/>
        </p:nvSpPr>
        <p:spPr bwMode="auto">
          <a:xfrm>
            <a:off x="7850188" y="1447800"/>
            <a:ext cx="608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2400" dirty="0">
                <a:solidFill>
                  <a:schemeClr val="bg1"/>
                </a:solidFill>
                <a:ea typeface="新細明體" panose="02020500000000000000" pitchFamily="18" charset="-120"/>
              </a:rPr>
              <a:t>PC</a:t>
            </a:r>
          </a:p>
        </p:txBody>
      </p:sp>
      <p:sp>
        <p:nvSpPr>
          <p:cNvPr id="9236" name="Text Box 19"/>
          <p:cNvSpPr txBox="1">
            <a:spLocks noChangeArrowheads="1"/>
          </p:cNvSpPr>
          <p:nvPr/>
        </p:nvSpPr>
        <p:spPr bwMode="auto">
          <a:xfrm rot="-1283188">
            <a:off x="5370513" y="1524000"/>
            <a:ext cx="1225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OpenFlow</a:t>
            </a:r>
          </a:p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Protocol</a:t>
            </a:r>
          </a:p>
        </p:txBody>
      </p:sp>
      <p:sp>
        <p:nvSpPr>
          <p:cNvPr id="9237" name="Text Box 20"/>
          <p:cNvSpPr txBox="1">
            <a:spLocks noChangeArrowheads="1"/>
          </p:cNvSpPr>
          <p:nvPr/>
        </p:nvSpPr>
        <p:spPr bwMode="auto">
          <a:xfrm rot="-956723">
            <a:off x="5788025" y="2133600"/>
            <a:ext cx="615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SSL</a:t>
            </a:r>
          </a:p>
        </p:txBody>
      </p:sp>
      <p:sp>
        <p:nvSpPr>
          <p:cNvPr id="9238" name="Line 21"/>
          <p:cNvSpPr>
            <a:spLocks noChangeShapeType="1"/>
          </p:cNvSpPr>
          <p:nvPr/>
        </p:nvSpPr>
        <p:spPr bwMode="auto">
          <a:xfrm>
            <a:off x="2590800" y="3352800"/>
            <a:ext cx="17526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239" name="Text Box 22"/>
          <p:cNvSpPr txBox="1">
            <a:spLocks noChangeArrowheads="1"/>
          </p:cNvSpPr>
          <p:nvPr/>
        </p:nvSpPr>
        <p:spPr bwMode="auto">
          <a:xfrm>
            <a:off x="2379663" y="3657600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2400">
                <a:solidFill>
                  <a:srgbClr val="CC0000"/>
                </a:solidFill>
                <a:ea typeface="新細明體" panose="02020500000000000000" pitchFamily="18" charset="-120"/>
              </a:rPr>
              <a:t>hw</a:t>
            </a:r>
          </a:p>
        </p:txBody>
      </p:sp>
      <p:sp>
        <p:nvSpPr>
          <p:cNvPr id="9240" name="Text Box 23"/>
          <p:cNvSpPr txBox="1">
            <a:spLocks noChangeArrowheads="1"/>
          </p:cNvSpPr>
          <p:nvPr/>
        </p:nvSpPr>
        <p:spPr bwMode="auto">
          <a:xfrm>
            <a:off x="2386013" y="2465388"/>
            <a:ext cx="557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2400">
                <a:solidFill>
                  <a:srgbClr val="CC0000"/>
                </a:solidFill>
                <a:ea typeface="新細明體" panose="02020500000000000000" pitchFamily="18" charset="-120"/>
              </a:rPr>
              <a:t>sw</a:t>
            </a:r>
          </a:p>
        </p:txBody>
      </p:sp>
      <p:sp>
        <p:nvSpPr>
          <p:cNvPr id="9241" name="Line 24"/>
          <p:cNvSpPr>
            <a:spLocks noChangeShapeType="1"/>
          </p:cNvSpPr>
          <p:nvPr/>
        </p:nvSpPr>
        <p:spPr bwMode="auto">
          <a:xfrm>
            <a:off x="2971800" y="5105400"/>
            <a:ext cx="457200" cy="0"/>
          </a:xfrm>
          <a:prstGeom prst="line">
            <a:avLst/>
          </a:prstGeom>
          <a:noFill/>
          <a:ln w="5715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9242" name="Text Box 25"/>
          <p:cNvSpPr txBox="1">
            <a:spLocks noChangeArrowheads="1"/>
          </p:cNvSpPr>
          <p:nvPr/>
        </p:nvSpPr>
        <p:spPr bwMode="auto">
          <a:xfrm>
            <a:off x="1752600" y="990600"/>
            <a:ext cx="3282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i="1">
                <a:ea typeface="新細明體" panose="02020500000000000000" pitchFamily="18" charset="-120"/>
              </a:rPr>
              <a:t>OpenFlow Switch specification</a:t>
            </a:r>
          </a:p>
        </p:txBody>
      </p:sp>
      <p:sp>
        <p:nvSpPr>
          <p:cNvPr id="9243" name="Rectangle 26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altLang="zh-TW" dirty="0" err="1" smtClean="0">
                <a:ea typeface="新細明體" panose="02020500000000000000" pitchFamily="18" charset="-120"/>
              </a:rPr>
              <a:t>OpenFlow</a:t>
            </a:r>
            <a:r>
              <a:rPr lang="en-US" altLang="zh-TW" dirty="0" smtClean="0">
                <a:ea typeface="新細明體" panose="02020500000000000000" pitchFamily="18" charset="-120"/>
              </a:rPr>
              <a:t> Switching</a:t>
            </a:r>
          </a:p>
        </p:txBody>
      </p:sp>
    </p:spTree>
    <p:extLst>
      <p:ext uri="{BB962C8B-B14F-4D97-AF65-F5344CB8AC3E}">
        <p14:creationId xmlns:p14="http://schemas.microsoft.com/office/powerpoint/2010/main" val="1664937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dirty="0" smtClean="0">
                <a:ea typeface="新細明體" panose="02020500000000000000" pitchFamily="18" charset="-120"/>
              </a:rPr>
              <a:t>Flow Table Entry</a:t>
            </a:r>
            <a:br>
              <a:rPr lang="en-US" altLang="zh-TW" sz="4000" dirty="0" smtClean="0">
                <a:ea typeface="新細明體" panose="02020500000000000000" pitchFamily="18" charset="-120"/>
              </a:rPr>
            </a:br>
            <a:r>
              <a:rPr lang="en-US" altLang="zh-TW" sz="2800" dirty="0" smtClean="0">
                <a:ea typeface="新細明體" panose="02020500000000000000" pitchFamily="18" charset="-120"/>
              </a:rPr>
              <a:t>“Type 0” </a:t>
            </a:r>
            <a:r>
              <a:rPr lang="en-US" altLang="zh-TW" sz="2800" dirty="0" err="1" smtClean="0">
                <a:ea typeface="新細明體" panose="02020500000000000000" pitchFamily="18" charset="-120"/>
              </a:rPr>
              <a:t>OpenFlow</a:t>
            </a:r>
            <a:r>
              <a:rPr lang="en-US" altLang="zh-TW" sz="2800" dirty="0" smtClean="0">
                <a:ea typeface="新細明體" panose="02020500000000000000" pitchFamily="18" charset="-120"/>
              </a:rPr>
              <a:t> Switch</a:t>
            </a:r>
          </a:p>
        </p:txBody>
      </p:sp>
      <p:sp>
        <p:nvSpPr>
          <p:cNvPr id="10244" name="Rectangle 5"/>
          <p:cNvSpPr>
            <a:spLocks noChangeArrowheads="1"/>
          </p:cNvSpPr>
          <p:nvPr/>
        </p:nvSpPr>
        <p:spPr bwMode="auto">
          <a:xfrm>
            <a:off x="1371600" y="5272088"/>
            <a:ext cx="762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Switch</a:t>
            </a:r>
          </a:p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Port</a:t>
            </a:r>
          </a:p>
        </p:txBody>
      </p:sp>
      <p:sp>
        <p:nvSpPr>
          <p:cNvPr id="10245" name="Rectangle 6"/>
          <p:cNvSpPr>
            <a:spLocks noChangeArrowheads="1"/>
          </p:cNvSpPr>
          <p:nvPr/>
        </p:nvSpPr>
        <p:spPr bwMode="auto">
          <a:xfrm>
            <a:off x="2133600" y="5272088"/>
            <a:ext cx="762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MAC</a:t>
            </a:r>
          </a:p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src</a:t>
            </a:r>
          </a:p>
        </p:txBody>
      </p:sp>
      <p:sp>
        <p:nvSpPr>
          <p:cNvPr id="10246" name="Rectangle 7"/>
          <p:cNvSpPr>
            <a:spLocks noChangeArrowheads="1"/>
          </p:cNvSpPr>
          <p:nvPr/>
        </p:nvSpPr>
        <p:spPr bwMode="auto">
          <a:xfrm>
            <a:off x="2895600" y="5272088"/>
            <a:ext cx="762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MAC</a:t>
            </a:r>
          </a:p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dst</a:t>
            </a:r>
          </a:p>
        </p:txBody>
      </p:sp>
      <p:sp>
        <p:nvSpPr>
          <p:cNvPr id="10247" name="Rectangle 8"/>
          <p:cNvSpPr>
            <a:spLocks noChangeArrowheads="1"/>
          </p:cNvSpPr>
          <p:nvPr/>
        </p:nvSpPr>
        <p:spPr bwMode="auto">
          <a:xfrm>
            <a:off x="3657600" y="5272088"/>
            <a:ext cx="762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Eth</a:t>
            </a:r>
          </a:p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type</a:t>
            </a:r>
          </a:p>
        </p:txBody>
      </p:sp>
      <p:sp>
        <p:nvSpPr>
          <p:cNvPr id="10248" name="Rectangle 9"/>
          <p:cNvSpPr>
            <a:spLocks noChangeArrowheads="1"/>
          </p:cNvSpPr>
          <p:nvPr/>
        </p:nvSpPr>
        <p:spPr bwMode="auto">
          <a:xfrm>
            <a:off x="4419600" y="5272088"/>
            <a:ext cx="762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VLAN</a:t>
            </a:r>
          </a:p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ID</a:t>
            </a:r>
          </a:p>
        </p:txBody>
      </p:sp>
      <p:sp>
        <p:nvSpPr>
          <p:cNvPr id="10249" name="Rectangle 10"/>
          <p:cNvSpPr>
            <a:spLocks noChangeArrowheads="1"/>
          </p:cNvSpPr>
          <p:nvPr/>
        </p:nvSpPr>
        <p:spPr bwMode="auto">
          <a:xfrm>
            <a:off x="5181600" y="5272088"/>
            <a:ext cx="762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IP</a:t>
            </a:r>
          </a:p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Src</a:t>
            </a:r>
          </a:p>
        </p:txBody>
      </p:sp>
      <p:sp>
        <p:nvSpPr>
          <p:cNvPr id="10250" name="Rectangle 11"/>
          <p:cNvSpPr>
            <a:spLocks noChangeArrowheads="1"/>
          </p:cNvSpPr>
          <p:nvPr/>
        </p:nvSpPr>
        <p:spPr bwMode="auto">
          <a:xfrm>
            <a:off x="5943600" y="5272088"/>
            <a:ext cx="762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IP</a:t>
            </a:r>
          </a:p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Dst</a:t>
            </a:r>
          </a:p>
        </p:txBody>
      </p:sp>
      <p:sp>
        <p:nvSpPr>
          <p:cNvPr id="10251" name="Rectangle 12"/>
          <p:cNvSpPr>
            <a:spLocks noChangeArrowheads="1"/>
          </p:cNvSpPr>
          <p:nvPr/>
        </p:nvSpPr>
        <p:spPr bwMode="auto">
          <a:xfrm>
            <a:off x="6705600" y="5272088"/>
            <a:ext cx="762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IP</a:t>
            </a:r>
          </a:p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Prot</a:t>
            </a:r>
          </a:p>
        </p:txBody>
      </p:sp>
      <p:sp>
        <p:nvSpPr>
          <p:cNvPr id="10252" name="Rectangle 13"/>
          <p:cNvSpPr>
            <a:spLocks noChangeArrowheads="1"/>
          </p:cNvSpPr>
          <p:nvPr/>
        </p:nvSpPr>
        <p:spPr bwMode="auto">
          <a:xfrm>
            <a:off x="7467600" y="5272088"/>
            <a:ext cx="762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TCP</a:t>
            </a:r>
          </a:p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sport</a:t>
            </a:r>
          </a:p>
        </p:txBody>
      </p:sp>
      <p:sp>
        <p:nvSpPr>
          <p:cNvPr id="10253" name="Rectangle 14"/>
          <p:cNvSpPr>
            <a:spLocks noChangeArrowheads="1"/>
          </p:cNvSpPr>
          <p:nvPr/>
        </p:nvSpPr>
        <p:spPr bwMode="auto">
          <a:xfrm>
            <a:off x="8229600" y="5272088"/>
            <a:ext cx="762000" cy="533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TCP</a:t>
            </a:r>
          </a:p>
          <a:p>
            <a:pPr algn="ctr" eaLnBrk="1" hangingPunct="1"/>
            <a:r>
              <a:rPr lang="en-US" altLang="zh-TW">
                <a:ea typeface="新細明體" panose="02020500000000000000" pitchFamily="18" charset="-120"/>
              </a:rPr>
              <a:t>dport</a:t>
            </a:r>
          </a:p>
        </p:txBody>
      </p:sp>
      <p:sp>
        <p:nvSpPr>
          <p:cNvPr id="10254" name="Rectangle 15"/>
          <p:cNvSpPr>
            <a:spLocks noChangeArrowheads="1"/>
          </p:cNvSpPr>
          <p:nvPr/>
        </p:nvSpPr>
        <p:spPr bwMode="auto">
          <a:xfrm>
            <a:off x="1371600" y="1600200"/>
            <a:ext cx="1447800" cy="685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2800">
                <a:ea typeface="新細明體" panose="02020500000000000000" pitchFamily="18" charset="-120"/>
              </a:rPr>
              <a:t>Rule</a:t>
            </a:r>
          </a:p>
        </p:txBody>
      </p:sp>
      <p:sp>
        <p:nvSpPr>
          <p:cNvPr id="10255" name="Rectangle 16"/>
          <p:cNvSpPr>
            <a:spLocks noChangeArrowheads="1"/>
          </p:cNvSpPr>
          <p:nvPr/>
        </p:nvSpPr>
        <p:spPr bwMode="auto">
          <a:xfrm>
            <a:off x="2819400" y="1600200"/>
            <a:ext cx="1447800" cy="685800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2800">
                <a:ea typeface="新細明體" panose="02020500000000000000" pitchFamily="18" charset="-120"/>
              </a:rPr>
              <a:t>Action</a:t>
            </a:r>
          </a:p>
        </p:txBody>
      </p:sp>
      <p:sp>
        <p:nvSpPr>
          <p:cNvPr id="10256" name="Rectangle 17"/>
          <p:cNvSpPr>
            <a:spLocks noChangeArrowheads="1"/>
          </p:cNvSpPr>
          <p:nvPr/>
        </p:nvSpPr>
        <p:spPr bwMode="auto">
          <a:xfrm>
            <a:off x="4267200" y="1600200"/>
            <a:ext cx="1447800" cy="685800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2800">
                <a:ea typeface="新細明體" panose="02020500000000000000" pitchFamily="18" charset="-120"/>
              </a:rPr>
              <a:t>Stats</a:t>
            </a:r>
          </a:p>
        </p:txBody>
      </p:sp>
      <p:sp>
        <p:nvSpPr>
          <p:cNvPr id="10257" name="Text Box 18"/>
          <p:cNvSpPr txBox="1">
            <a:spLocks noChangeArrowheads="1"/>
          </p:cNvSpPr>
          <p:nvPr/>
        </p:nvSpPr>
        <p:spPr bwMode="auto">
          <a:xfrm>
            <a:off x="3352800" y="3641725"/>
            <a:ext cx="4730750" cy="131127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AutoNum type="arabicPeriod"/>
            </a:pPr>
            <a:r>
              <a:rPr lang="en-US" altLang="zh-TW" sz="2000" dirty="0">
                <a:ea typeface="新細明體" panose="02020500000000000000" pitchFamily="18" charset="-120"/>
              </a:rPr>
              <a:t>Forward packet to port(s)</a:t>
            </a:r>
          </a:p>
          <a:p>
            <a:pPr eaLnBrk="1" hangingPunct="1">
              <a:buFontTx/>
              <a:buAutoNum type="arabicPeriod"/>
            </a:pPr>
            <a:r>
              <a:rPr lang="en-US" altLang="zh-TW" sz="2000" dirty="0">
                <a:ea typeface="新細明體" panose="02020500000000000000" pitchFamily="18" charset="-120"/>
              </a:rPr>
              <a:t>Encapsulate and forward to controller</a:t>
            </a:r>
          </a:p>
          <a:p>
            <a:pPr eaLnBrk="1" hangingPunct="1">
              <a:buFontTx/>
              <a:buAutoNum type="arabicPeriod"/>
            </a:pPr>
            <a:r>
              <a:rPr lang="en-US" altLang="zh-TW" sz="2000" dirty="0">
                <a:ea typeface="新細明體" panose="02020500000000000000" pitchFamily="18" charset="-120"/>
              </a:rPr>
              <a:t>Drop packet</a:t>
            </a:r>
          </a:p>
          <a:p>
            <a:pPr eaLnBrk="1" hangingPunct="1">
              <a:buFontTx/>
              <a:buAutoNum type="arabicPeriod"/>
            </a:pPr>
            <a:r>
              <a:rPr lang="en-US" altLang="zh-TW" sz="2000" dirty="0">
                <a:ea typeface="新細明體" panose="02020500000000000000" pitchFamily="18" charset="-120"/>
              </a:rPr>
              <a:t>Send to normal processing pipeline</a:t>
            </a:r>
          </a:p>
        </p:txBody>
      </p:sp>
      <p:sp>
        <p:nvSpPr>
          <p:cNvPr id="10258" name="Text Box 19"/>
          <p:cNvSpPr txBox="1">
            <a:spLocks noChangeArrowheads="1"/>
          </p:cNvSpPr>
          <p:nvPr/>
        </p:nvSpPr>
        <p:spPr bwMode="auto">
          <a:xfrm>
            <a:off x="1295400" y="5805488"/>
            <a:ext cx="9271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+ mask</a:t>
            </a:r>
          </a:p>
        </p:txBody>
      </p:sp>
      <p:sp>
        <p:nvSpPr>
          <p:cNvPr id="10259" name="Line 20"/>
          <p:cNvSpPr>
            <a:spLocks noChangeShapeType="1"/>
          </p:cNvSpPr>
          <p:nvPr/>
        </p:nvSpPr>
        <p:spPr bwMode="auto">
          <a:xfrm>
            <a:off x="1371600" y="2362200"/>
            <a:ext cx="0" cy="28956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60" name="Line 21"/>
          <p:cNvSpPr>
            <a:spLocks noChangeShapeType="1"/>
          </p:cNvSpPr>
          <p:nvPr/>
        </p:nvSpPr>
        <p:spPr bwMode="auto">
          <a:xfrm>
            <a:off x="3352800" y="2286000"/>
            <a:ext cx="0" cy="13716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0261" name="Rectangle 22"/>
          <p:cNvSpPr>
            <a:spLocks noChangeArrowheads="1"/>
          </p:cNvSpPr>
          <p:nvPr/>
        </p:nvSpPr>
        <p:spPr bwMode="auto">
          <a:xfrm>
            <a:off x="4800600" y="2743200"/>
            <a:ext cx="3048000" cy="381000"/>
          </a:xfrm>
          <a:prstGeom prst="rect">
            <a:avLst/>
          </a:pr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2000">
                <a:ea typeface="新細明體" panose="02020500000000000000" pitchFamily="18" charset="-120"/>
              </a:rPr>
              <a:t>Packet + byte counters</a:t>
            </a:r>
          </a:p>
        </p:txBody>
      </p:sp>
      <p:sp>
        <p:nvSpPr>
          <p:cNvPr id="10262" name="Line 23"/>
          <p:cNvSpPr>
            <a:spLocks noChangeShapeType="1"/>
          </p:cNvSpPr>
          <p:nvPr/>
        </p:nvSpPr>
        <p:spPr bwMode="auto">
          <a:xfrm flipV="1">
            <a:off x="4800600" y="2286000"/>
            <a:ext cx="0" cy="381000"/>
          </a:xfrm>
          <a:prstGeom prst="line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901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900" dirty="0" smtClean="0">
                <a:latin typeface="Calibri" charset="0"/>
              </a:rPr>
              <a:t>Examples(1/2)</a:t>
            </a:r>
            <a:endParaRPr lang="en-US" sz="3900" dirty="0">
              <a:latin typeface="Calibri" charset="0"/>
            </a:endParaRPr>
          </a:p>
        </p:txBody>
      </p:sp>
      <p:sp>
        <p:nvSpPr>
          <p:cNvPr id="54274" name="Rectangle 2"/>
          <p:cNvSpPr>
            <a:spLocks/>
          </p:cNvSpPr>
          <p:nvPr/>
        </p:nvSpPr>
        <p:spPr bwMode="auto">
          <a:xfrm>
            <a:off x="563563" y="1346200"/>
            <a:ext cx="8953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</a:rPr>
              <a:t>Switching</a:t>
            </a:r>
          </a:p>
        </p:txBody>
      </p:sp>
      <p:sp>
        <p:nvSpPr>
          <p:cNvPr id="54275" name="Rectangle 3"/>
          <p:cNvSpPr>
            <a:spLocks/>
          </p:cNvSpPr>
          <p:nvPr/>
        </p:nvSpPr>
        <p:spPr bwMode="auto">
          <a:xfrm>
            <a:off x="685800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grpSp>
        <p:nvGrpSpPr>
          <p:cNvPr id="54276" name="Group 4"/>
          <p:cNvGrpSpPr>
            <a:grpSpLocks/>
          </p:cNvGrpSpPr>
          <p:nvPr/>
        </p:nvGrpSpPr>
        <p:grpSpPr bwMode="auto">
          <a:xfrm>
            <a:off x="687388" y="1878013"/>
            <a:ext cx="7483475" cy="571500"/>
            <a:chOff x="0" y="0"/>
            <a:chExt cx="6704" cy="512"/>
          </a:xfrm>
        </p:grpSpPr>
        <p:sp>
          <p:nvSpPr>
            <p:cNvPr id="54358" name="Rectangle 5"/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59" name="Rectangle 6"/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Switch</a:t>
              </a:r>
            </a:p>
            <a:p>
              <a:r>
                <a:rPr lang="en-US" sz="1700">
                  <a:latin typeface="Calibri" charset="0"/>
                </a:rPr>
                <a:t>Port</a:t>
              </a:r>
            </a:p>
          </p:txBody>
        </p:sp>
        <p:sp>
          <p:nvSpPr>
            <p:cNvPr id="54360" name="Rectangle 7"/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61" name="Rectangle 8"/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MAC</a:t>
              </a:r>
            </a:p>
            <a:p>
              <a:r>
                <a:rPr lang="en-US" sz="1700">
                  <a:latin typeface="Calibri" charset="0"/>
                </a:rPr>
                <a:t>src</a:t>
              </a:r>
            </a:p>
          </p:txBody>
        </p:sp>
        <p:sp>
          <p:nvSpPr>
            <p:cNvPr id="54362" name="Rectangle 9"/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63" name="Rectangle 10"/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MAC</a:t>
              </a:r>
            </a:p>
            <a:p>
              <a:r>
                <a:rPr lang="en-US" sz="1700">
                  <a:latin typeface="Calibri" charset="0"/>
                </a:rPr>
                <a:t>dst</a:t>
              </a:r>
            </a:p>
          </p:txBody>
        </p:sp>
        <p:sp>
          <p:nvSpPr>
            <p:cNvPr id="54364" name="Rectangle 11"/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65" name="Rectangle 12"/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 dirty="0">
                  <a:latin typeface="Calibri" charset="0"/>
                </a:rPr>
                <a:t>Eth</a:t>
              </a:r>
            </a:p>
            <a:p>
              <a:r>
                <a:rPr lang="en-US" sz="1700" dirty="0">
                  <a:latin typeface="Calibri" charset="0"/>
                </a:rPr>
                <a:t>type</a:t>
              </a:r>
            </a:p>
          </p:txBody>
        </p:sp>
        <p:sp>
          <p:nvSpPr>
            <p:cNvPr id="54366" name="Rectangle 13"/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67" name="Rectangle 14"/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VLAN</a:t>
              </a:r>
            </a:p>
            <a:p>
              <a:r>
                <a:rPr lang="en-US" sz="1700">
                  <a:latin typeface="Calibri" charset="0"/>
                </a:rPr>
                <a:t>ID</a:t>
              </a:r>
            </a:p>
          </p:txBody>
        </p:sp>
        <p:sp>
          <p:nvSpPr>
            <p:cNvPr id="54368" name="Rectangle 15"/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69" name="Rectangle 16"/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Src</a:t>
              </a:r>
            </a:p>
          </p:txBody>
        </p:sp>
        <p:sp>
          <p:nvSpPr>
            <p:cNvPr id="54370" name="Rectangle 17"/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71" name="Rectangle 18"/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Dst</a:t>
              </a:r>
            </a:p>
          </p:txBody>
        </p:sp>
        <p:sp>
          <p:nvSpPr>
            <p:cNvPr id="54372" name="Rectangle 19"/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73" name="Rectangle 20"/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Prot</a:t>
              </a:r>
            </a:p>
          </p:txBody>
        </p:sp>
        <p:sp>
          <p:nvSpPr>
            <p:cNvPr id="54374" name="Rectangle 21"/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75" name="Rectangle 22"/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TCP</a:t>
              </a:r>
            </a:p>
            <a:p>
              <a:r>
                <a:rPr lang="en-US" sz="1700">
                  <a:latin typeface="Calibri" charset="0"/>
                </a:rPr>
                <a:t>sport</a:t>
              </a:r>
            </a:p>
          </p:txBody>
        </p:sp>
        <p:sp>
          <p:nvSpPr>
            <p:cNvPr id="54376" name="Rectangle 23"/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77" name="Rectangle 24"/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TCP</a:t>
              </a:r>
            </a:p>
            <a:p>
              <a:r>
                <a:rPr lang="en-US" sz="1700">
                  <a:latin typeface="Calibri" charset="0"/>
                </a:rPr>
                <a:t>dport</a:t>
              </a:r>
            </a:p>
          </p:txBody>
        </p:sp>
        <p:sp>
          <p:nvSpPr>
            <p:cNvPr id="54378" name="Rectangle 25"/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79" name="Rectangle 26"/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Action</a:t>
              </a:r>
            </a:p>
          </p:txBody>
        </p:sp>
      </p:grpSp>
      <p:sp>
        <p:nvSpPr>
          <p:cNvPr id="54277" name="Rectangle 27"/>
          <p:cNvSpPr>
            <a:spLocks/>
          </p:cNvSpPr>
          <p:nvPr/>
        </p:nvSpPr>
        <p:spPr bwMode="auto">
          <a:xfrm>
            <a:off x="1346200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278" name="Rectangle 28"/>
          <p:cNvSpPr>
            <a:spLocks/>
          </p:cNvSpPr>
          <p:nvPr/>
        </p:nvSpPr>
        <p:spPr bwMode="auto">
          <a:xfrm>
            <a:off x="1943100" y="2525713"/>
            <a:ext cx="1135063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00:1f:..</a:t>
            </a:r>
          </a:p>
        </p:txBody>
      </p:sp>
      <p:sp>
        <p:nvSpPr>
          <p:cNvPr id="54279" name="Rectangle 29"/>
          <p:cNvSpPr>
            <a:spLocks/>
          </p:cNvSpPr>
          <p:nvPr/>
        </p:nvSpPr>
        <p:spPr bwMode="auto">
          <a:xfrm>
            <a:off x="2667000" y="2546350"/>
            <a:ext cx="661988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280" name="Rectangle 30"/>
          <p:cNvSpPr>
            <a:spLocks/>
          </p:cNvSpPr>
          <p:nvPr/>
        </p:nvSpPr>
        <p:spPr bwMode="auto">
          <a:xfrm>
            <a:off x="3328988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281" name="Rectangle 31"/>
          <p:cNvSpPr>
            <a:spLocks/>
          </p:cNvSpPr>
          <p:nvPr/>
        </p:nvSpPr>
        <p:spPr bwMode="auto">
          <a:xfrm>
            <a:off x="3989388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282" name="Rectangle 32"/>
          <p:cNvSpPr>
            <a:spLocks/>
          </p:cNvSpPr>
          <p:nvPr/>
        </p:nvSpPr>
        <p:spPr bwMode="auto">
          <a:xfrm>
            <a:off x="4649788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283" name="Rectangle 33"/>
          <p:cNvSpPr>
            <a:spLocks/>
          </p:cNvSpPr>
          <p:nvPr/>
        </p:nvSpPr>
        <p:spPr bwMode="auto">
          <a:xfrm>
            <a:off x="5319713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284" name="Rectangle 34"/>
          <p:cNvSpPr>
            <a:spLocks/>
          </p:cNvSpPr>
          <p:nvPr/>
        </p:nvSpPr>
        <p:spPr bwMode="auto">
          <a:xfrm>
            <a:off x="5980113" y="2546350"/>
            <a:ext cx="661987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285" name="Rectangle 35"/>
          <p:cNvSpPr>
            <a:spLocks/>
          </p:cNvSpPr>
          <p:nvPr/>
        </p:nvSpPr>
        <p:spPr bwMode="auto">
          <a:xfrm>
            <a:off x="6642100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286" name="Rectangle 36"/>
          <p:cNvSpPr>
            <a:spLocks/>
          </p:cNvSpPr>
          <p:nvPr/>
        </p:nvSpPr>
        <p:spPr bwMode="auto">
          <a:xfrm>
            <a:off x="7400925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port6</a:t>
            </a:r>
          </a:p>
        </p:txBody>
      </p:sp>
      <p:sp>
        <p:nvSpPr>
          <p:cNvPr id="54287" name="Rectangle 37"/>
          <p:cNvSpPr>
            <a:spLocks/>
          </p:cNvSpPr>
          <p:nvPr/>
        </p:nvSpPr>
        <p:spPr bwMode="auto">
          <a:xfrm>
            <a:off x="565150" y="3070225"/>
            <a:ext cx="1389063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</a:rPr>
              <a:t>Flow Switching</a:t>
            </a:r>
          </a:p>
        </p:txBody>
      </p:sp>
      <p:sp>
        <p:nvSpPr>
          <p:cNvPr id="54288" name="Rectangle 38"/>
          <p:cNvSpPr>
            <a:spLocks/>
          </p:cNvSpPr>
          <p:nvPr/>
        </p:nvSpPr>
        <p:spPr bwMode="auto">
          <a:xfrm>
            <a:off x="685800" y="42243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port3</a:t>
            </a:r>
          </a:p>
        </p:txBody>
      </p:sp>
      <p:grpSp>
        <p:nvGrpSpPr>
          <p:cNvPr id="54289" name="Group 39"/>
          <p:cNvGrpSpPr>
            <a:grpSpLocks/>
          </p:cNvGrpSpPr>
          <p:nvPr/>
        </p:nvGrpSpPr>
        <p:grpSpPr bwMode="auto">
          <a:xfrm>
            <a:off x="687388" y="3557588"/>
            <a:ext cx="7483475" cy="571500"/>
            <a:chOff x="0" y="0"/>
            <a:chExt cx="6704" cy="512"/>
          </a:xfrm>
        </p:grpSpPr>
        <p:sp>
          <p:nvSpPr>
            <p:cNvPr id="54336" name="Rectangle 40"/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37" name="Rectangle 41"/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Switch</a:t>
              </a:r>
            </a:p>
            <a:p>
              <a:r>
                <a:rPr lang="en-US" sz="1700">
                  <a:latin typeface="Calibri" charset="0"/>
                </a:rPr>
                <a:t>Port</a:t>
              </a:r>
            </a:p>
          </p:txBody>
        </p:sp>
        <p:sp>
          <p:nvSpPr>
            <p:cNvPr id="54338" name="Rectangle 42"/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39" name="Rectangle 43"/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MAC</a:t>
              </a:r>
            </a:p>
            <a:p>
              <a:r>
                <a:rPr lang="en-US" sz="1700">
                  <a:latin typeface="Calibri" charset="0"/>
                </a:rPr>
                <a:t>src</a:t>
              </a:r>
            </a:p>
          </p:txBody>
        </p:sp>
        <p:sp>
          <p:nvSpPr>
            <p:cNvPr id="54340" name="Rectangle 44"/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41" name="Rectangle 45"/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MAC</a:t>
              </a:r>
            </a:p>
            <a:p>
              <a:r>
                <a:rPr lang="en-US" sz="1700">
                  <a:latin typeface="Calibri" charset="0"/>
                </a:rPr>
                <a:t>dst</a:t>
              </a:r>
            </a:p>
          </p:txBody>
        </p:sp>
        <p:sp>
          <p:nvSpPr>
            <p:cNvPr id="54342" name="Rectangle 46"/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43" name="Rectangle 47"/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 dirty="0">
                  <a:latin typeface="Calibri" charset="0"/>
                </a:rPr>
                <a:t>Eth</a:t>
              </a:r>
            </a:p>
            <a:p>
              <a:r>
                <a:rPr lang="en-US" sz="1700" dirty="0">
                  <a:latin typeface="Calibri" charset="0"/>
                </a:rPr>
                <a:t>type</a:t>
              </a:r>
            </a:p>
          </p:txBody>
        </p:sp>
        <p:sp>
          <p:nvSpPr>
            <p:cNvPr id="54344" name="Rectangle 48"/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45" name="Rectangle 49"/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VLAN</a:t>
              </a:r>
            </a:p>
            <a:p>
              <a:r>
                <a:rPr lang="en-US" sz="1700">
                  <a:latin typeface="Calibri" charset="0"/>
                </a:rPr>
                <a:t>ID</a:t>
              </a:r>
            </a:p>
          </p:txBody>
        </p:sp>
        <p:sp>
          <p:nvSpPr>
            <p:cNvPr id="54346" name="Rectangle 50"/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47" name="Rectangle 51"/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Src</a:t>
              </a:r>
            </a:p>
          </p:txBody>
        </p:sp>
        <p:sp>
          <p:nvSpPr>
            <p:cNvPr id="54348" name="Rectangle 52"/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49" name="Rectangle 53"/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Dst</a:t>
              </a:r>
            </a:p>
          </p:txBody>
        </p:sp>
        <p:sp>
          <p:nvSpPr>
            <p:cNvPr id="54350" name="Rectangle 54"/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51" name="Rectangle 55"/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Prot</a:t>
              </a:r>
            </a:p>
          </p:txBody>
        </p:sp>
        <p:sp>
          <p:nvSpPr>
            <p:cNvPr id="54352" name="Rectangle 56"/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53" name="Rectangle 57"/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TCP</a:t>
              </a:r>
            </a:p>
            <a:p>
              <a:r>
                <a:rPr lang="en-US" sz="1700">
                  <a:latin typeface="Calibri" charset="0"/>
                </a:rPr>
                <a:t>sport</a:t>
              </a:r>
            </a:p>
          </p:txBody>
        </p:sp>
        <p:sp>
          <p:nvSpPr>
            <p:cNvPr id="54354" name="Rectangle 58"/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55" name="Rectangle 59"/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TCP</a:t>
              </a:r>
            </a:p>
            <a:p>
              <a:r>
                <a:rPr lang="en-US" sz="1700">
                  <a:latin typeface="Calibri" charset="0"/>
                </a:rPr>
                <a:t>dport</a:t>
              </a:r>
            </a:p>
          </p:txBody>
        </p:sp>
        <p:sp>
          <p:nvSpPr>
            <p:cNvPr id="54356" name="Rectangle 60"/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57" name="Rectangle 61"/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Action</a:t>
              </a:r>
            </a:p>
          </p:txBody>
        </p:sp>
      </p:grpSp>
      <p:sp>
        <p:nvSpPr>
          <p:cNvPr id="54290" name="Rectangle 62"/>
          <p:cNvSpPr>
            <a:spLocks/>
          </p:cNvSpPr>
          <p:nvPr/>
        </p:nvSpPr>
        <p:spPr bwMode="auto">
          <a:xfrm>
            <a:off x="1346200" y="42243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00:20..</a:t>
            </a:r>
          </a:p>
        </p:txBody>
      </p:sp>
      <p:sp>
        <p:nvSpPr>
          <p:cNvPr id="54291" name="Rectangle 63"/>
          <p:cNvSpPr>
            <a:spLocks/>
          </p:cNvSpPr>
          <p:nvPr/>
        </p:nvSpPr>
        <p:spPr bwMode="auto">
          <a:xfrm>
            <a:off x="2039938" y="4224338"/>
            <a:ext cx="868362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00:1f..</a:t>
            </a:r>
          </a:p>
        </p:txBody>
      </p:sp>
      <p:sp>
        <p:nvSpPr>
          <p:cNvPr id="54292" name="Rectangle 64"/>
          <p:cNvSpPr>
            <a:spLocks/>
          </p:cNvSpPr>
          <p:nvPr/>
        </p:nvSpPr>
        <p:spPr bwMode="auto">
          <a:xfrm>
            <a:off x="2667000" y="4224338"/>
            <a:ext cx="661988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0800</a:t>
            </a:r>
          </a:p>
        </p:txBody>
      </p:sp>
      <p:sp>
        <p:nvSpPr>
          <p:cNvPr id="54293" name="Rectangle 65"/>
          <p:cNvSpPr>
            <a:spLocks/>
          </p:cNvSpPr>
          <p:nvPr/>
        </p:nvSpPr>
        <p:spPr bwMode="auto">
          <a:xfrm>
            <a:off x="3328988" y="42243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vlan1</a:t>
            </a:r>
          </a:p>
        </p:txBody>
      </p:sp>
      <p:sp>
        <p:nvSpPr>
          <p:cNvPr id="54294" name="Rectangle 66"/>
          <p:cNvSpPr>
            <a:spLocks/>
          </p:cNvSpPr>
          <p:nvPr/>
        </p:nvSpPr>
        <p:spPr bwMode="auto">
          <a:xfrm>
            <a:off x="3989388" y="42243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1.2.3.4</a:t>
            </a:r>
          </a:p>
        </p:txBody>
      </p:sp>
      <p:sp>
        <p:nvSpPr>
          <p:cNvPr id="54295" name="Rectangle 67"/>
          <p:cNvSpPr>
            <a:spLocks/>
          </p:cNvSpPr>
          <p:nvPr/>
        </p:nvSpPr>
        <p:spPr bwMode="auto">
          <a:xfrm>
            <a:off x="4686300" y="42243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5.6.7.8</a:t>
            </a:r>
          </a:p>
        </p:txBody>
      </p:sp>
      <p:sp>
        <p:nvSpPr>
          <p:cNvPr id="54296" name="Rectangle 68"/>
          <p:cNvSpPr>
            <a:spLocks/>
          </p:cNvSpPr>
          <p:nvPr/>
        </p:nvSpPr>
        <p:spPr bwMode="auto">
          <a:xfrm>
            <a:off x="5548313" y="42243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4</a:t>
            </a:r>
          </a:p>
        </p:txBody>
      </p:sp>
      <p:sp>
        <p:nvSpPr>
          <p:cNvPr id="54297" name="Rectangle 69"/>
          <p:cNvSpPr>
            <a:spLocks/>
          </p:cNvSpPr>
          <p:nvPr/>
        </p:nvSpPr>
        <p:spPr bwMode="auto">
          <a:xfrm>
            <a:off x="5980113" y="4224338"/>
            <a:ext cx="661987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17264</a:t>
            </a:r>
          </a:p>
        </p:txBody>
      </p:sp>
      <p:sp>
        <p:nvSpPr>
          <p:cNvPr id="54298" name="Rectangle 70"/>
          <p:cNvSpPr>
            <a:spLocks/>
          </p:cNvSpPr>
          <p:nvPr/>
        </p:nvSpPr>
        <p:spPr bwMode="auto">
          <a:xfrm>
            <a:off x="6642100" y="42243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80</a:t>
            </a:r>
          </a:p>
        </p:txBody>
      </p:sp>
      <p:sp>
        <p:nvSpPr>
          <p:cNvPr id="54299" name="Rectangle 71"/>
          <p:cNvSpPr>
            <a:spLocks/>
          </p:cNvSpPr>
          <p:nvPr/>
        </p:nvSpPr>
        <p:spPr bwMode="auto">
          <a:xfrm>
            <a:off x="7400925" y="42243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port6</a:t>
            </a:r>
          </a:p>
        </p:txBody>
      </p:sp>
      <p:sp>
        <p:nvSpPr>
          <p:cNvPr id="54300" name="Rectangle 72"/>
          <p:cNvSpPr>
            <a:spLocks/>
          </p:cNvSpPr>
          <p:nvPr/>
        </p:nvSpPr>
        <p:spPr bwMode="auto">
          <a:xfrm>
            <a:off x="561975" y="4730750"/>
            <a:ext cx="728663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</a:rPr>
              <a:t>Firewall</a:t>
            </a:r>
          </a:p>
        </p:txBody>
      </p:sp>
      <p:sp>
        <p:nvSpPr>
          <p:cNvPr id="54301" name="Rectangle 73"/>
          <p:cNvSpPr>
            <a:spLocks/>
          </p:cNvSpPr>
          <p:nvPr/>
        </p:nvSpPr>
        <p:spPr bwMode="auto">
          <a:xfrm>
            <a:off x="685800" y="59388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grpSp>
        <p:nvGrpSpPr>
          <p:cNvPr id="54302" name="Group 74"/>
          <p:cNvGrpSpPr>
            <a:grpSpLocks/>
          </p:cNvGrpSpPr>
          <p:nvPr/>
        </p:nvGrpSpPr>
        <p:grpSpPr bwMode="auto">
          <a:xfrm>
            <a:off x="687388" y="5272088"/>
            <a:ext cx="7483475" cy="571500"/>
            <a:chOff x="0" y="0"/>
            <a:chExt cx="6704" cy="512"/>
          </a:xfrm>
        </p:grpSpPr>
        <p:sp>
          <p:nvSpPr>
            <p:cNvPr id="54314" name="Rectangle 75"/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15" name="Rectangle 76"/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Switch</a:t>
              </a:r>
            </a:p>
            <a:p>
              <a:r>
                <a:rPr lang="en-US" sz="1700">
                  <a:latin typeface="Calibri" charset="0"/>
                </a:rPr>
                <a:t>Port</a:t>
              </a:r>
            </a:p>
          </p:txBody>
        </p:sp>
        <p:sp>
          <p:nvSpPr>
            <p:cNvPr id="54316" name="Rectangle 77"/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17" name="Rectangle 78"/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MAC</a:t>
              </a:r>
            </a:p>
            <a:p>
              <a:r>
                <a:rPr lang="en-US" sz="1700">
                  <a:latin typeface="Calibri" charset="0"/>
                </a:rPr>
                <a:t>src</a:t>
              </a:r>
            </a:p>
          </p:txBody>
        </p:sp>
        <p:sp>
          <p:nvSpPr>
            <p:cNvPr id="54318" name="Rectangle 79"/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19" name="Rectangle 80"/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MAC</a:t>
              </a:r>
            </a:p>
            <a:p>
              <a:r>
                <a:rPr lang="en-US" sz="1700">
                  <a:latin typeface="Calibri" charset="0"/>
                </a:rPr>
                <a:t>dst</a:t>
              </a:r>
            </a:p>
          </p:txBody>
        </p:sp>
        <p:sp>
          <p:nvSpPr>
            <p:cNvPr id="54320" name="Rectangle 81"/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21" name="Rectangle 82"/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 dirty="0">
                  <a:latin typeface="Calibri" charset="0"/>
                </a:rPr>
                <a:t>Eth</a:t>
              </a:r>
            </a:p>
            <a:p>
              <a:r>
                <a:rPr lang="en-US" sz="1700" dirty="0">
                  <a:latin typeface="Calibri" charset="0"/>
                </a:rPr>
                <a:t>type</a:t>
              </a:r>
            </a:p>
          </p:txBody>
        </p:sp>
        <p:sp>
          <p:nvSpPr>
            <p:cNvPr id="54322" name="Rectangle 83"/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23" name="Rectangle 84"/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VLAN</a:t>
              </a:r>
            </a:p>
            <a:p>
              <a:r>
                <a:rPr lang="en-US" sz="1700">
                  <a:latin typeface="Calibri" charset="0"/>
                </a:rPr>
                <a:t>ID</a:t>
              </a:r>
            </a:p>
          </p:txBody>
        </p:sp>
        <p:sp>
          <p:nvSpPr>
            <p:cNvPr id="54324" name="Rectangle 85"/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25" name="Rectangle 86"/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Src</a:t>
              </a:r>
            </a:p>
          </p:txBody>
        </p:sp>
        <p:sp>
          <p:nvSpPr>
            <p:cNvPr id="54326" name="Rectangle 87"/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27" name="Rectangle 88"/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Dst</a:t>
              </a:r>
            </a:p>
          </p:txBody>
        </p:sp>
        <p:sp>
          <p:nvSpPr>
            <p:cNvPr id="54328" name="Rectangle 89"/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29" name="Rectangle 90"/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Prot</a:t>
              </a:r>
            </a:p>
          </p:txBody>
        </p:sp>
        <p:sp>
          <p:nvSpPr>
            <p:cNvPr id="54330" name="Rectangle 91"/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31" name="Rectangle 92"/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TCP</a:t>
              </a:r>
            </a:p>
            <a:p>
              <a:r>
                <a:rPr lang="en-US" sz="1700">
                  <a:latin typeface="Calibri" charset="0"/>
                </a:rPr>
                <a:t>sport</a:t>
              </a:r>
            </a:p>
          </p:txBody>
        </p:sp>
        <p:sp>
          <p:nvSpPr>
            <p:cNvPr id="54332" name="Rectangle 93"/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33" name="Rectangle 94"/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TCP</a:t>
              </a:r>
            </a:p>
            <a:p>
              <a:r>
                <a:rPr lang="en-US" sz="1700">
                  <a:latin typeface="Calibri" charset="0"/>
                </a:rPr>
                <a:t>dport</a:t>
              </a:r>
            </a:p>
          </p:txBody>
        </p:sp>
        <p:sp>
          <p:nvSpPr>
            <p:cNvPr id="54334" name="Rectangle 95"/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4335" name="Rectangle 96"/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Action</a:t>
              </a:r>
            </a:p>
          </p:txBody>
        </p:sp>
      </p:grpSp>
      <p:sp>
        <p:nvSpPr>
          <p:cNvPr id="54303" name="Rectangle 97"/>
          <p:cNvSpPr>
            <a:spLocks/>
          </p:cNvSpPr>
          <p:nvPr/>
        </p:nvSpPr>
        <p:spPr bwMode="auto">
          <a:xfrm>
            <a:off x="1346200" y="59388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304" name="Rectangle 98"/>
          <p:cNvSpPr>
            <a:spLocks/>
          </p:cNvSpPr>
          <p:nvPr/>
        </p:nvSpPr>
        <p:spPr bwMode="auto">
          <a:xfrm>
            <a:off x="1774825" y="5938838"/>
            <a:ext cx="1133475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305" name="Rectangle 99"/>
          <p:cNvSpPr>
            <a:spLocks/>
          </p:cNvSpPr>
          <p:nvPr/>
        </p:nvSpPr>
        <p:spPr bwMode="auto">
          <a:xfrm>
            <a:off x="2667000" y="5938838"/>
            <a:ext cx="661988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306" name="Rectangle 100"/>
          <p:cNvSpPr>
            <a:spLocks/>
          </p:cNvSpPr>
          <p:nvPr/>
        </p:nvSpPr>
        <p:spPr bwMode="auto">
          <a:xfrm>
            <a:off x="3328988" y="59388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307" name="Rectangle 101"/>
          <p:cNvSpPr>
            <a:spLocks/>
          </p:cNvSpPr>
          <p:nvPr/>
        </p:nvSpPr>
        <p:spPr bwMode="auto">
          <a:xfrm>
            <a:off x="3989388" y="59388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308" name="Rectangle 102"/>
          <p:cNvSpPr>
            <a:spLocks/>
          </p:cNvSpPr>
          <p:nvPr/>
        </p:nvSpPr>
        <p:spPr bwMode="auto">
          <a:xfrm>
            <a:off x="4649788" y="59388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309" name="Rectangle 103"/>
          <p:cNvSpPr>
            <a:spLocks/>
          </p:cNvSpPr>
          <p:nvPr/>
        </p:nvSpPr>
        <p:spPr bwMode="auto">
          <a:xfrm>
            <a:off x="5319713" y="59388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310" name="Rectangle 104"/>
          <p:cNvSpPr>
            <a:spLocks/>
          </p:cNvSpPr>
          <p:nvPr/>
        </p:nvSpPr>
        <p:spPr bwMode="auto">
          <a:xfrm>
            <a:off x="5980113" y="5938838"/>
            <a:ext cx="661987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4311" name="Rectangle 105"/>
          <p:cNvSpPr>
            <a:spLocks/>
          </p:cNvSpPr>
          <p:nvPr/>
        </p:nvSpPr>
        <p:spPr bwMode="auto">
          <a:xfrm>
            <a:off x="6642100" y="59388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22</a:t>
            </a:r>
          </a:p>
        </p:txBody>
      </p:sp>
      <p:sp>
        <p:nvSpPr>
          <p:cNvPr id="54312" name="Rectangle 106"/>
          <p:cNvSpPr>
            <a:spLocks/>
          </p:cNvSpPr>
          <p:nvPr/>
        </p:nvSpPr>
        <p:spPr bwMode="auto">
          <a:xfrm>
            <a:off x="7400925" y="5938838"/>
            <a:ext cx="660400" cy="3222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drop</a:t>
            </a:r>
          </a:p>
        </p:txBody>
      </p:sp>
      <p:sp>
        <p:nvSpPr>
          <p:cNvPr id="108" name="Slide Number Placeholder 10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B2474-3378-8149-8985-5B5B80B63004}" type="slidenum">
              <a:rPr lang="en-US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8327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900" dirty="0" smtClean="0">
                <a:latin typeface="Calibri" charset="0"/>
              </a:rPr>
              <a:t>Examples(2/2)</a:t>
            </a:r>
            <a:endParaRPr lang="en-US" sz="3900" dirty="0">
              <a:latin typeface="Calibri" charset="0"/>
            </a:endParaRPr>
          </a:p>
        </p:txBody>
      </p:sp>
      <p:sp>
        <p:nvSpPr>
          <p:cNvPr id="56322" name="Rectangle 2"/>
          <p:cNvSpPr>
            <a:spLocks/>
          </p:cNvSpPr>
          <p:nvPr/>
        </p:nvSpPr>
        <p:spPr bwMode="auto">
          <a:xfrm>
            <a:off x="563563" y="1346200"/>
            <a:ext cx="722312" cy="276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</a:rPr>
              <a:t>Routing</a:t>
            </a:r>
          </a:p>
        </p:txBody>
      </p:sp>
      <p:sp>
        <p:nvSpPr>
          <p:cNvPr id="56323" name="Rectangle 3"/>
          <p:cNvSpPr>
            <a:spLocks/>
          </p:cNvSpPr>
          <p:nvPr/>
        </p:nvSpPr>
        <p:spPr bwMode="auto">
          <a:xfrm>
            <a:off x="685800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grpSp>
        <p:nvGrpSpPr>
          <p:cNvPr id="56324" name="Group 4"/>
          <p:cNvGrpSpPr>
            <a:grpSpLocks/>
          </p:cNvGrpSpPr>
          <p:nvPr/>
        </p:nvGrpSpPr>
        <p:grpSpPr bwMode="auto">
          <a:xfrm>
            <a:off x="687388" y="1878013"/>
            <a:ext cx="7483475" cy="571500"/>
            <a:chOff x="0" y="0"/>
            <a:chExt cx="6704" cy="512"/>
          </a:xfrm>
        </p:grpSpPr>
        <p:sp>
          <p:nvSpPr>
            <p:cNvPr id="56371" name="Rectangle 5"/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72" name="Rectangle 6"/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Switch</a:t>
              </a:r>
            </a:p>
            <a:p>
              <a:r>
                <a:rPr lang="en-US" sz="1700">
                  <a:latin typeface="Calibri" charset="0"/>
                </a:rPr>
                <a:t>Port</a:t>
              </a:r>
            </a:p>
          </p:txBody>
        </p:sp>
        <p:sp>
          <p:nvSpPr>
            <p:cNvPr id="56373" name="Rectangle 7"/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74" name="Rectangle 8"/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MAC</a:t>
              </a:r>
            </a:p>
            <a:p>
              <a:r>
                <a:rPr lang="en-US" sz="1700">
                  <a:latin typeface="Calibri" charset="0"/>
                </a:rPr>
                <a:t>src</a:t>
              </a:r>
            </a:p>
          </p:txBody>
        </p:sp>
        <p:sp>
          <p:nvSpPr>
            <p:cNvPr id="56375" name="Rectangle 9"/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76" name="Rectangle 10"/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MAC</a:t>
              </a:r>
            </a:p>
            <a:p>
              <a:r>
                <a:rPr lang="en-US" sz="1700">
                  <a:latin typeface="Calibri" charset="0"/>
                </a:rPr>
                <a:t>dst</a:t>
              </a:r>
            </a:p>
          </p:txBody>
        </p:sp>
        <p:sp>
          <p:nvSpPr>
            <p:cNvPr id="56377" name="Rectangle 11"/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78" name="Rectangle 12"/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 dirty="0">
                  <a:latin typeface="Calibri" charset="0"/>
                </a:rPr>
                <a:t>Eth</a:t>
              </a:r>
            </a:p>
            <a:p>
              <a:r>
                <a:rPr lang="en-US" sz="1700" dirty="0">
                  <a:latin typeface="Calibri" charset="0"/>
                </a:rPr>
                <a:t>type</a:t>
              </a:r>
            </a:p>
          </p:txBody>
        </p:sp>
        <p:sp>
          <p:nvSpPr>
            <p:cNvPr id="56379" name="Rectangle 13"/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80" name="Rectangle 14"/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VLAN</a:t>
              </a:r>
            </a:p>
            <a:p>
              <a:r>
                <a:rPr lang="en-US" sz="1700">
                  <a:latin typeface="Calibri" charset="0"/>
                </a:rPr>
                <a:t>ID</a:t>
              </a:r>
            </a:p>
          </p:txBody>
        </p:sp>
        <p:sp>
          <p:nvSpPr>
            <p:cNvPr id="56381" name="Rectangle 15"/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82" name="Rectangle 16"/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Src</a:t>
              </a:r>
            </a:p>
          </p:txBody>
        </p:sp>
        <p:sp>
          <p:nvSpPr>
            <p:cNvPr id="56383" name="Rectangle 17"/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84" name="Rectangle 18"/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Dst</a:t>
              </a:r>
            </a:p>
          </p:txBody>
        </p:sp>
        <p:sp>
          <p:nvSpPr>
            <p:cNvPr id="56385" name="Rectangle 19"/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86" name="Rectangle 20"/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Prot</a:t>
              </a:r>
            </a:p>
          </p:txBody>
        </p:sp>
        <p:sp>
          <p:nvSpPr>
            <p:cNvPr id="56387" name="Rectangle 21"/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88" name="Rectangle 22"/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TCP</a:t>
              </a:r>
            </a:p>
            <a:p>
              <a:r>
                <a:rPr lang="en-US" sz="1700">
                  <a:latin typeface="Calibri" charset="0"/>
                </a:rPr>
                <a:t>sport</a:t>
              </a:r>
            </a:p>
          </p:txBody>
        </p:sp>
        <p:sp>
          <p:nvSpPr>
            <p:cNvPr id="56389" name="Rectangle 23"/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90" name="Rectangle 24"/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TCP</a:t>
              </a:r>
            </a:p>
            <a:p>
              <a:r>
                <a:rPr lang="en-US" sz="1700">
                  <a:latin typeface="Calibri" charset="0"/>
                </a:rPr>
                <a:t>dport</a:t>
              </a:r>
            </a:p>
          </p:txBody>
        </p:sp>
        <p:sp>
          <p:nvSpPr>
            <p:cNvPr id="56391" name="Rectangle 25"/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92" name="Rectangle 26"/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Action</a:t>
              </a:r>
            </a:p>
          </p:txBody>
        </p:sp>
      </p:grpSp>
      <p:sp>
        <p:nvSpPr>
          <p:cNvPr id="56325" name="Rectangle 27"/>
          <p:cNvSpPr>
            <a:spLocks/>
          </p:cNvSpPr>
          <p:nvPr/>
        </p:nvSpPr>
        <p:spPr bwMode="auto">
          <a:xfrm>
            <a:off x="1346200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26" name="Rectangle 28"/>
          <p:cNvSpPr>
            <a:spLocks/>
          </p:cNvSpPr>
          <p:nvPr/>
        </p:nvSpPr>
        <p:spPr bwMode="auto">
          <a:xfrm>
            <a:off x="1774825" y="2546350"/>
            <a:ext cx="1133475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27" name="Rectangle 29"/>
          <p:cNvSpPr>
            <a:spLocks/>
          </p:cNvSpPr>
          <p:nvPr/>
        </p:nvSpPr>
        <p:spPr bwMode="auto">
          <a:xfrm>
            <a:off x="2667000" y="2546350"/>
            <a:ext cx="661988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28" name="Rectangle 30"/>
          <p:cNvSpPr>
            <a:spLocks/>
          </p:cNvSpPr>
          <p:nvPr/>
        </p:nvSpPr>
        <p:spPr bwMode="auto">
          <a:xfrm>
            <a:off x="3328988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29" name="Rectangle 31"/>
          <p:cNvSpPr>
            <a:spLocks/>
          </p:cNvSpPr>
          <p:nvPr/>
        </p:nvSpPr>
        <p:spPr bwMode="auto">
          <a:xfrm>
            <a:off x="3989388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30" name="Rectangle 32"/>
          <p:cNvSpPr>
            <a:spLocks/>
          </p:cNvSpPr>
          <p:nvPr/>
        </p:nvSpPr>
        <p:spPr bwMode="auto">
          <a:xfrm>
            <a:off x="4649788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5.6.7.8</a:t>
            </a:r>
          </a:p>
        </p:txBody>
      </p:sp>
      <p:sp>
        <p:nvSpPr>
          <p:cNvPr id="56331" name="Rectangle 33"/>
          <p:cNvSpPr>
            <a:spLocks/>
          </p:cNvSpPr>
          <p:nvPr/>
        </p:nvSpPr>
        <p:spPr bwMode="auto">
          <a:xfrm>
            <a:off x="5319713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32" name="Rectangle 34"/>
          <p:cNvSpPr>
            <a:spLocks/>
          </p:cNvSpPr>
          <p:nvPr/>
        </p:nvSpPr>
        <p:spPr bwMode="auto">
          <a:xfrm>
            <a:off x="5980113" y="2546350"/>
            <a:ext cx="661987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33" name="Rectangle 35"/>
          <p:cNvSpPr>
            <a:spLocks/>
          </p:cNvSpPr>
          <p:nvPr/>
        </p:nvSpPr>
        <p:spPr bwMode="auto">
          <a:xfrm>
            <a:off x="6642100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34" name="Rectangle 36"/>
          <p:cNvSpPr>
            <a:spLocks/>
          </p:cNvSpPr>
          <p:nvPr/>
        </p:nvSpPr>
        <p:spPr bwMode="auto">
          <a:xfrm>
            <a:off x="7400925" y="2546350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port6</a:t>
            </a:r>
          </a:p>
        </p:txBody>
      </p:sp>
      <p:sp>
        <p:nvSpPr>
          <p:cNvPr id="56335" name="Rectangle 37"/>
          <p:cNvSpPr>
            <a:spLocks/>
          </p:cNvSpPr>
          <p:nvPr/>
        </p:nvSpPr>
        <p:spPr bwMode="auto">
          <a:xfrm>
            <a:off x="565150" y="3070225"/>
            <a:ext cx="1454150" cy="2746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0" bIns="0" anchor="ctr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</a:rPr>
              <a:t>VLAN Switching</a:t>
            </a:r>
          </a:p>
        </p:txBody>
      </p:sp>
      <p:sp>
        <p:nvSpPr>
          <p:cNvPr id="56336" name="Rectangle 38"/>
          <p:cNvSpPr>
            <a:spLocks/>
          </p:cNvSpPr>
          <p:nvPr/>
        </p:nvSpPr>
        <p:spPr bwMode="auto">
          <a:xfrm>
            <a:off x="685800" y="4386263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grpSp>
        <p:nvGrpSpPr>
          <p:cNvPr id="56337" name="Group 39"/>
          <p:cNvGrpSpPr>
            <a:grpSpLocks/>
          </p:cNvGrpSpPr>
          <p:nvPr/>
        </p:nvGrpSpPr>
        <p:grpSpPr bwMode="auto">
          <a:xfrm>
            <a:off x="687388" y="3557588"/>
            <a:ext cx="7483475" cy="571500"/>
            <a:chOff x="0" y="0"/>
            <a:chExt cx="6704" cy="512"/>
          </a:xfrm>
        </p:grpSpPr>
        <p:sp>
          <p:nvSpPr>
            <p:cNvPr id="56349" name="Rectangle 40"/>
            <p:cNvSpPr>
              <a:spLocks/>
            </p:cNvSpPr>
            <p:nvPr/>
          </p:nvSpPr>
          <p:spPr bwMode="auto">
            <a:xfrm>
              <a:off x="0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50" name="Rectangle 41"/>
            <p:cNvSpPr>
              <a:spLocks/>
            </p:cNvSpPr>
            <p:nvPr/>
          </p:nvSpPr>
          <p:spPr bwMode="auto">
            <a:xfrm>
              <a:off x="3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Switch</a:t>
              </a:r>
            </a:p>
            <a:p>
              <a:r>
                <a:rPr lang="en-US" sz="1700">
                  <a:latin typeface="Calibri" charset="0"/>
                </a:rPr>
                <a:t>Port</a:t>
              </a:r>
            </a:p>
          </p:txBody>
        </p:sp>
        <p:sp>
          <p:nvSpPr>
            <p:cNvPr id="56351" name="Rectangle 42"/>
            <p:cNvSpPr>
              <a:spLocks/>
            </p:cNvSpPr>
            <p:nvPr/>
          </p:nvSpPr>
          <p:spPr bwMode="auto">
            <a:xfrm>
              <a:off x="592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52" name="Rectangle 43"/>
            <p:cNvSpPr>
              <a:spLocks/>
            </p:cNvSpPr>
            <p:nvPr/>
          </p:nvSpPr>
          <p:spPr bwMode="auto">
            <a:xfrm>
              <a:off x="588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MAC</a:t>
              </a:r>
            </a:p>
            <a:p>
              <a:r>
                <a:rPr lang="en-US" sz="1700">
                  <a:latin typeface="Calibri" charset="0"/>
                </a:rPr>
                <a:t>src</a:t>
              </a:r>
            </a:p>
          </p:txBody>
        </p:sp>
        <p:sp>
          <p:nvSpPr>
            <p:cNvPr id="56353" name="Rectangle 44"/>
            <p:cNvSpPr>
              <a:spLocks/>
            </p:cNvSpPr>
            <p:nvPr/>
          </p:nvSpPr>
          <p:spPr bwMode="auto">
            <a:xfrm>
              <a:off x="11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54" name="Rectangle 45"/>
            <p:cNvSpPr>
              <a:spLocks/>
            </p:cNvSpPr>
            <p:nvPr/>
          </p:nvSpPr>
          <p:spPr bwMode="auto">
            <a:xfrm>
              <a:off x="1212" y="0"/>
              <a:ext cx="56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MAC</a:t>
              </a:r>
            </a:p>
            <a:p>
              <a:r>
                <a:rPr lang="en-US" sz="1700">
                  <a:latin typeface="Calibri" charset="0"/>
                </a:rPr>
                <a:t>dst</a:t>
              </a:r>
            </a:p>
          </p:txBody>
        </p:sp>
        <p:sp>
          <p:nvSpPr>
            <p:cNvPr id="56355" name="Rectangle 46"/>
            <p:cNvSpPr>
              <a:spLocks/>
            </p:cNvSpPr>
            <p:nvPr/>
          </p:nvSpPr>
          <p:spPr bwMode="auto">
            <a:xfrm>
              <a:off x="1785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56" name="Rectangle 47"/>
            <p:cNvSpPr>
              <a:spLocks/>
            </p:cNvSpPr>
            <p:nvPr/>
          </p:nvSpPr>
          <p:spPr bwMode="auto">
            <a:xfrm>
              <a:off x="1783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 dirty="0">
                  <a:latin typeface="Calibri" charset="0"/>
                </a:rPr>
                <a:t>Eth</a:t>
              </a:r>
            </a:p>
            <a:p>
              <a:r>
                <a:rPr lang="en-US" sz="1700" dirty="0">
                  <a:latin typeface="Calibri" charset="0"/>
                </a:rPr>
                <a:t>type</a:t>
              </a:r>
            </a:p>
          </p:txBody>
        </p:sp>
        <p:sp>
          <p:nvSpPr>
            <p:cNvPr id="56357" name="Rectangle 48"/>
            <p:cNvSpPr>
              <a:spLocks/>
            </p:cNvSpPr>
            <p:nvPr/>
          </p:nvSpPr>
          <p:spPr bwMode="auto">
            <a:xfrm>
              <a:off x="2378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58" name="Rectangle 49"/>
            <p:cNvSpPr>
              <a:spLocks/>
            </p:cNvSpPr>
            <p:nvPr/>
          </p:nvSpPr>
          <p:spPr bwMode="auto">
            <a:xfrm>
              <a:off x="2380" y="0"/>
              <a:ext cx="590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VLAN</a:t>
              </a:r>
            </a:p>
            <a:p>
              <a:r>
                <a:rPr lang="en-US" sz="1700">
                  <a:latin typeface="Calibri" charset="0"/>
                </a:rPr>
                <a:t>ID</a:t>
              </a:r>
            </a:p>
          </p:txBody>
        </p:sp>
        <p:sp>
          <p:nvSpPr>
            <p:cNvPr id="56359" name="Rectangle 50"/>
            <p:cNvSpPr>
              <a:spLocks/>
            </p:cNvSpPr>
            <p:nvPr/>
          </p:nvSpPr>
          <p:spPr bwMode="auto">
            <a:xfrm>
              <a:off x="29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60" name="Rectangle 51"/>
            <p:cNvSpPr>
              <a:spLocks/>
            </p:cNvSpPr>
            <p:nvPr/>
          </p:nvSpPr>
          <p:spPr bwMode="auto">
            <a:xfrm>
              <a:off x="2977" y="0"/>
              <a:ext cx="589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Src</a:t>
              </a:r>
            </a:p>
          </p:txBody>
        </p:sp>
        <p:sp>
          <p:nvSpPr>
            <p:cNvPr id="56361" name="Rectangle 52"/>
            <p:cNvSpPr>
              <a:spLocks/>
            </p:cNvSpPr>
            <p:nvPr/>
          </p:nvSpPr>
          <p:spPr bwMode="auto">
            <a:xfrm>
              <a:off x="3571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62" name="Rectangle 53"/>
            <p:cNvSpPr>
              <a:spLocks/>
            </p:cNvSpPr>
            <p:nvPr/>
          </p:nvSpPr>
          <p:spPr bwMode="auto">
            <a:xfrm>
              <a:off x="3567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Dst</a:t>
              </a:r>
            </a:p>
          </p:txBody>
        </p:sp>
        <p:sp>
          <p:nvSpPr>
            <p:cNvPr id="56363" name="Rectangle 54"/>
            <p:cNvSpPr>
              <a:spLocks/>
            </p:cNvSpPr>
            <p:nvPr/>
          </p:nvSpPr>
          <p:spPr bwMode="auto">
            <a:xfrm>
              <a:off x="4164" y="15"/>
              <a:ext cx="592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64" name="Rectangle 55"/>
            <p:cNvSpPr>
              <a:spLocks/>
            </p:cNvSpPr>
            <p:nvPr/>
          </p:nvSpPr>
          <p:spPr bwMode="auto">
            <a:xfrm>
              <a:off x="4165" y="0"/>
              <a:ext cx="583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IP</a:t>
              </a:r>
            </a:p>
            <a:p>
              <a:r>
                <a:rPr lang="en-US" sz="1700">
                  <a:latin typeface="Calibri" charset="0"/>
                </a:rPr>
                <a:t>Prot</a:t>
              </a:r>
            </a:p>
          </p:txBody>
        </p:sp>
        <p:sp>
          <p:nvSpPr>
            <p:cNvPr id="56365" name="Rectangle 56"/>
            <p:cNvSpPr>
              <a:spLocks/>
            </p:cNvSpPr>
            <p:nvPr/>
          </p:nvSpPr>
          <p:spPr bwMode="auto">
            <a:xfrm>
              <a:off x="47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66" name="Rectangle 57"/>
            <p:cNvSpPr>
              <a:spLocks/>
            </p:cNvSpPr>
            <p:nvPr/>
          </p:nvSpPr>
          <p:spPr bwMode="auto">
            <a:xfrm>
              <a:off x="4760" y="0"/>
              <a:ext cx="596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TCP</a:t>
              </a:r>
            </a:p>
            <a:p>
              <a:r>
                <a:rPr lang="en-US" sz="1700">
                  <a:latin typeface="Calibri" charset="0"/>
                </a:rPr>
                <a:t>sport</a:t>
              </a:r>
            </a:p>
          </p:txBody>
        </p:sp>
        <p:sp>
          <p:nvSpPr>
            <p:cNvPr id="56367" name="Rectangle 58"/>
            <p:cNvSpPr>
              <a:spLocks/>
            </p:cNvSpPr>
            <p:nvPr/>
          </p:nvSpPr>
          <p:spPr bwMode="auto">
            <a:xfrm>
              <a:off x="5356" y="15"/>
              <a:ext cx="593" cy="480"/>
            </a:xfrm>
            <a:prstGeom prst="rect">
              <a:avLst/>
            </a:prstGeom>
            <a:solidFill>
              <a:srgbClr val="BBE0E3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68" name="Rectangle 59"/>
            <p:cNvSpPr>
              <a:spLocks/>
            </p:cNvSpPr>
            <p:nvPr/>
          </p:nvSpPr>
          <p:spPr bwMode="auto">
            <a:xfrm>
              <a:off x="5351" y="0"/>
              <a:ext cx="597" cy="51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TCP</a:t>
              </a:r>
            </a:p>
            <a:p>
              <a:r>
                <a:rPr lang="en-US" sz="1700">
                  <a:latin typeface="Calibri" charset="0"/>
                </a:rPr>
                <a:t>dport</a:t>
              </a:r>
            </a:p>
          </p:txBody>
        </p:sp>
        <p:sp>
          <p:nvSpPr>
            <p:cNvPr id="56369" name="Rectangle 60"/>
            <p:cNvSpPr>
              <a:spLocks/>
            </p:cNvSpPr>
            <p:nvPr/>
          </p:nvSpPr>
          <p:spPr bwMode="auto">
            <a:xfrm>
              <a:off x="5956" y="12"/>
              <a:ext cx="748" cy="488"/>
            </a:xfrm>
            <a:prstGeom prst="rect">
              <a:avLst/>
            </a:prstGeom>
            <a:solidFill>
              <a:srgbClr val="CBE97B"/>
            </a:solidFill>
            <a:ln w="12700">
              <a:solidFill>
                <a:srgbClr val="697D3A"/>
              </a:solidFill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  <p:sp>
          <p:nvSpPr>
            <p:cNvPr id="56370" name="Rectangle 61"/>
            <p:cNvSpPr>
              <a:spLocks/>
            </p:cNvSpPr>
            <p:nvPr/>
          </p:nvSpPr>
          <p:spPr bwMode="auto">
            <a:xfrm>
              <a:off x="5948" y="111"/>
              <a:ext cx="755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 anchor="ctr">
              <a:prstTxWarp prst="textNoShape">
                <a:avLst/>
              </a:prstTxWarp>
            </a:bodyPr>
            <a:lstStyle/>
            <a:p>
              <a:r>
                <a:rPr lang="en-US" sz="1700">
                  <a:latin typeface="Calibri" charset="0"/>
                </a:rPr>
                <a:t>Action</a:t>
              </a:r>
            </a:p>
          </p:txBody>
        </p:sp>
      </p:grpSp>
      <p:sp>
        <p:nvSpPr>
          <p:cNvPr id="56338" name="Rectangle 62"/>
          <p:cNvSpPr>
            <a:spLocks/>
          </p:cNvSpPr>
          <p:nvPr/>
        </p:nvSpPr>
        <p:spPr bwMode="auto">
          <a:xfrm>
            <a:off x="1346200" y="4386263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39" name="Rectangle 64"/>
          <p:cNvSpPr>
            <a:spLocks/>
          </p:cNvSpPr>
          <p:nvPr/>
        </p:nvSpPr>
        <p:spPr bwMode="auto">
          <a:xfrm>
            <a:off x="2667000" y="4386263"/>
            <a:ext cx="661988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40" name="Rectangle 65"/>
          <p:cNvSpPr>
            <a:spLocks/>
          </p:cNvSpPr>
          <p:nvPr/>
        </p:nvSpPr>
        <p:spPr bwMode="auto">
          <a:xfrm>
            <a:off x="3311525" y="4341813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vlan1</a:t>
            </a:r>
          </a:p>
        </p:txBody>
      </p:sp>
      <p:sp>
        <p:nvSpPr>
          <p:cNvPr id="56341" name="Rectangle 66"/>
          <p:cNvSpPr>
            <a:spLocks/>
          </p:cNvSpPr>
          <p:nvPr/>
        </p:nvSpPr>
        <p:spPr bwMode="auto">
          <a:xfrm>
            <a:off x="3989388" y="4386263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42" name="Rectangle 67"/>
          <p:cNvSpPr>
            <a:spLocks/>
          </p:cNvSpPr>
          <p:nvPr/>
        </p:nvSpPr>
        <p:spPr bwMode="auto">
          <a:xfrm>
            <a:off x="4686300" y="4386263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43" name="Rectangle 68"/>
          <p:cNvSpPr>
            <a:spLocks/>
          </p:cNvSpPr>
          <p:nvPr/>
        </p:nvSpPr>
        <p:spPr bwMode="auto">
          <a:xfrm>
            <a:off x="5319713" y="4386263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44" name="Rectangle 69"/>
          <p:cNvSpPr>
            <a:spLocks/>
          </p:cNvSpPr>
          <p:nvPr/>
        </p:nvSpPr>
        <p:spPr bwMode="auto">
          <a:xfrm>
            <a:off x="5980113" y="4386263"/>
            <a:ext cx="661987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45" name="Rectangle 70"/>
          <p:cNvSpPr>
            <a:spLocks/>
          </p:cNvSpPr>
          <p:nvPr/>
        </p:nvSpPr>
        <p:spPr bwMode="auto">
          <a:xfrm>
            <a:off x="6642100" y="4386263"/>
            <a:ext cx="660400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*</a:t>
            </a:r>
          </a:p>
        </p:txBody>
      </p:sp>
      <p:sp>
        <p:nvSpPr>
          <p:cNvPr id="56346" name="Rectangle 71"/>
          <p:cNvSpPr>
            <a:spLocks/>
          </p:cNvSpPr>
          <p:nvPr/>
        </p:nvSpPr>
        <p:spPr bwMode="auto">
          <a:xfrm>
            <a:off x="7400925" y="4054475"/>
            <a:ext cx="660400" cy="8223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port6, </a:t>
            </a:r>
          </a:p>
          <a:p>
            <a:r>
              <a:rPr lang="en-US" sz="1700">
                <a:latin typeface="Calibri" charset="0"/>
              </a:rPr>
              <a:t>port7,</a:t>
            </a:r>
          </a:p>
          <a:p>
            <a:r>
              <a:rPr lang="en-US" sz="1700">
                <a:latin typeface="Calibri" charset="0"/>
              </a:rPr>
              <a:t>port9</a:t>
            </a:r>
          </a:p>
        </p:txBody>
      </p:sp>
      <p:sp>
        <p:nvSpPr>
          <p:cNvPr id="56347" name="Rectangle 63"/>
          <p:cNvSpPr>
            <a:spLocks/>
          </p:cNvSpPr>
          <p:nvPr/>
        </p:nvSpPr>
        <p:spPr bwMode="auto">
          <a:xfrm>
            <a:off x="1939925" y="4351338"/>
            <a:ext cx="868363" cy="3206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r>
              <a:rPr lang="en-US" sz="1700">
                <a:latin typeface="Calibri" charset="0"/>
              </a:rPr>
              <a:t>00:1f..</a:t>
            </a:r>
          </a:p>
        </p:txBody>
      </p:sp>
      <p:sp>
        <p:nvSpPr>
          <p:cNvPr id="74" name="Slide Number Placeholder 7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86F8F0-2A71-C841-AB51-1D07D27389F8}" type="slidenum">
              <a:rPr lang="en-US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835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anose="02020500000000000000" pitchFamily="18" charset="-120"/>
              </a:rPr>
              <a:t>OpenFlow “Type 1”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417638"/>
            <a:ext cx="8689032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ea typeface="新細明體" panose="02020500000000000000" pitchFamily="18" charset="-120"/>
              </a:rPr>
              <a:t>Additional </a:t>
            </a:r>
            <a:r>
              <a:rPr lang="en-US" altLang="zh-TW" dirty="0" smtClean="0">
                <a:ea typeface="新細明體" panose="02020500000000000000" pitchFamily="18" charset="-120"/>
              </a:rPr>
              <a:t>actions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Rewrite headers 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Map to queue/class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Encrypt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ea typeface="新細明體" panose="02020500000000000000" pitchFamily="18" charset="-120"/>
              </a:rPr>
              <a:t>More flexible header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Allow arbitrary matching of first few bytes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dirty="0" smtClean="0">
                <a:ea typeface="新細明體" panose="02020500000000000000" pitchFamily="18" charset="-120"/>
              </a:rPr>
              <a:t>Support multiple controllers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Load-balancing and reliability</a:t>
            </a:r>
          </a:p>
          <a:p>
            <a:pPr eaLnBrk="1" hangingPunct="1">
              <a:lnSpc>
                <a:spcPct val="90000"/>
              </a:lnSpc>
            </a:pPr>
            <a:endParaRPr lang="en-US" altLang="zh-TW" dirty="0" smtClean="0"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51481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>
                <a:ea typeface="新細明體" panose="02020500000000000000" pitchFamily="18" charset="-120"/>
              </a:rPr>
              <a:t>Secure Channel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752600"/>
            <a:ext cx="8384232" cy="4525963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ea typeface="新細明體" panose="02020500000000000000" pitchFamily="18" charset="-120"/>
              </a:rPr>
              <a:t>SSL Connection, site-specific key</a:t>
            </a:r>
          </a:p>
          <a:p>
            <a:pPr eaLnBrk="1" hangingPunct="1"/>
            <a:r>
              <a:rPr lang="en-US" altLang="zh-TW" dirty="0" smtClean="0">
                <a:ea typeface="新細明體" panose="02020500000000000000" pitchFamily="18" charset="-120"/>
              </a:rPr>
              <a:t>Controller discovery protocol</a:t>
            </a:r>
          </a:p>
          <a:p>
            <a:pPr eaLnBrk="1" hangingPunct="1"/>
            <a:r>
              <a:rPr lang="en-US" altLang="zh-TW" dirty="0" smtClean="0">
                <a:ea typeface="新細明體" panose="02020500000000000000" pitchFamily="18" charset="-120"/>
              </a:rPr>
              <a:t>Encapsulate packets for controller</a:t>
            </a:r>
          </a:p>
          <a:p>
            <a:pPr eaLnBrk="1" hangingPunct="1"/>
            <a:r>
              <a:rPr lang="en-US" altLang="zh-TW" dirty="0" smtClean="0">
                <a:ea typeface="新細明體" panose="02020500000000000000" pitchFamily="18" charset="-120"/>
              </a:rPr>
              <a:t>Send link/port state to controller</a:t>
            </a:r>
          </a:p>
        </p:txBody>
      </p:sp>
    </p:spTree>
    <p:extLst>
      <p:ext uri="{BB962C8B-B14F-4D97-AF65-F5344CB8AC3E}">
        <p14:creationId xmlns:p14="http://schemas.microsoft.com/office/powerpoint/2010/main" val="3971873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315" name="AutoShape 4"/>
          <p:cNvCxnSpPr>
            <a:cxnSpLocks noChangeShapeType="1"/>
            <a:stCxn id="13362" idx="2"/>
            <a:endCxn id="13318" idx="1"/>
          </p:cNvCxnSpPr>
          <p:nvPr/>
        </p:nvCxnSpPr>
        <p:spPr bwMode="auto">
          <a:xfrm flipV="1">
            <a:off x="7510463" y="2892425"/>
            <a:ext cx="511175" cy="11017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16" name="Text Box 5"/>
          <p:cNvSpPr txBox="1">
            <a:spLocks noChangeArrowheads="1"/>
          </p:cNvSpPr>
          <p:nvPr/>
        </p:nvSpPr>
        <p:spPr bwMode="auto">
          <a:xfrm>
            <a:off x="7488238" y="2135188"/>
            <a:ext cx="12747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TW" sz="20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Controller</a:t>
            </a:r>
          </a:p>
        </p:txBody>
      </p:sp>
      <p:pic>
        <p:nvPicPr>
          <p:cNvPr id="13317" name="Picture 6" descr="MCj0431616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838" y="2441575"/>
            <a:ext cx="803275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8" name="Text Box 7"/>
          <p:cNvSpPr txBox="1">
            <a:spLocks noChangeArrowheads="1"/>
          </p:cNvSpPr>
          <p:nvPr/>
        </p:nvSpPr>
        <p:spPr bwMode="auto">
          <a:xfrm>
            <a:off x="8021638" y="2724150"/>
            <a:ext cx="4651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600">
                <a:solidFill>
                  <a:schemeClr val="bg1"/>
                </a:solidFill>
                <a:ea typeface="新細明體" panose="02020500000000000000" pitchFamily="18" charset="-120"/>
              </a:rPr>
              <a:t>PC</a:t>
            </a:r>
          </a:p>
        </p:txBody>
      </p:sp>
      <p:cxnSp>
        <p:nvCxnSpPr>
          <p:cNvPr id="13319" name="AutoShape 8"/>
          <p:cNvCxnSpPr>
            <a:cxnSpLocks noChangeShapeType="1"/>
            <a:stCxn id="647219" idx="4"/>
            <a:endCxn id="647208" idx="2"/>
          </p:cNvCxnSpPr>
          <p:nvPr/>
        </p:nvCxnSpPr>
        <p:spPr bwMode="auto">
          <a:xfrm flipV="1">
            <a:off x="5599113" y="4160838"/>
            <a:ext cx="1335087" cy="21272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0" name="AutoShape 9"/>
          <p:cNvCxnSpPr>
            <a:cxnSpLocks noChangeShapeType="1"/>
            <a:stCxn id="647214" idx="4"/>
            <a:endCxn id="647219" idx="2"/>
          </p:cNvCxnSpPr>
          <p:nvPr/>
        </p:nvCxnSpPr>
        <p:spPr bwMode="auto">
          <a:xfrm>
            <a:off x="2076450" y="4267200"/>
            <a:ext cx="1466850" cy="10636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21" name="Line 10"/>
          <p:cNvSpPr>
            <a:spLocks noChangeShapeType="1"/>
          </p:cNvSpPr>
          <p:nvPr/>
        </p:nvSpPr>
        <p:spPr bwMode="auto">
          <a:xfrm flipH="1" flipV="1">
            <a:off x="1066800" y="1409700"/>
            <a:ext cx="1524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2" name="Line 11"/>
          <p:cNvSpPr>
            <a:spLocks noChangeShapeType="1"/>
          </p:cNvSpPr>
          <p:nvPr/>
        </p:nvSpPr>
        <p:spPr bwMode="auto">
          <a:xfrm flipH="1" flipV="1">
            <a:off x="1371600" y="14097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3" name="Line 12"/>
          <p:cNvSpPr>
            <a:spLocks noChangeShapeType="1"/>
          </p:cNvSpPr>
          <p:nvPr/>
        </p:nvSpPr>
        <p:spPr bwMode="auto">
          <a:xfrm flipV="1">
            <a:off x="1600200" y="14097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4" name="Line 13"/>
          <p:cNvSpPr>
            <a:spLocks noChangeShapeType="1"/>
          </p:cNvSpPr>
          <p:nvPr/>
        </p:nvSpPr>
        <p:spPr bwMode="auto">
          <a:xfrm flipV="1">
            <a:off x="1752600" y="1257300"/>
            <a:ext cx="152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13325" name="Group 14"/>
          <p:cNvGrpSpPr>
            <a:grpSpLocks/>
          </p:cNvGrpSpPr>
          <p:nvPr/>
        </p:nvGrpSpPr>
        <p:grpSpPr bwMode="auto">
          <a:xfrm>
            <a:off x="762000" y="723900"/>
            <a:ext cx="1600200" cy="768350"/>
            <a:chOff x="576" y="144"/>
            <a:chExt cx="1008" cy="484"/>
          </a:xfrm>
        </p:grpSpPr>
        <p:grpSp>
          <p:nvGrpSpPr>
            <p:cNvPr id="13367" name="Group 15"/>
            <p:cNvGrpSpPr>
              <a:grpSpLocks/>
            </p:cNvGrpSpPr>
            <p:nvPr/>
          </p:nvGrpSpPr>
          <p:grpSpPr bwMode="auto">
            <a:xfrm>
              <a:off x="632" y="144"/>
              <a:ext cx="952" cy="388"/>
              <a:chOff x="632" y="144"/>
              <a:chExt cx="952" cy="388"/>
            </a:xfrm>
          </p:grpSpPr>
          <p:pic>
            <p:nvPicPr>
              <p:cNvPr id="13372" name="Picture 16" descr="MCj04316160000[1]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2" y="144"/>
                <a:ext cx="38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73" name="Picture 17" descr="MCj04316160000[1]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0" y="144"/>
                <a:ext cx="38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74" name="Picture 18" descr="MCj04316160000[1]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08" y="144"/>
                <a:ext cx="38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75" name="Picture 19" descr="MCj04316160000[1]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6" y="144"/>
                <a:ext cx="388" cy="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3368" name="Picture 20" descr="MCj04316160000[1]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" y="240"/>
              <a:ext cx="38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69" name="Picture 21" descr="MCj04316160000[1]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" y="240"/>
              <a:ext cx="38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70" name="Picture 22" descr="MCj04316160000[1]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" y="240"/>
              <a:ext cx="38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371" name="Picture 23" descr="MCj04316160000[1]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0" y="240"/>
              <a:ext cx="388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326" name="Line 24"/>
          <p:cNvSpPr>
            <a:spLocks noChangeShapeType="1"/>
          </p:cNvSpPr>
          <p:nvPr/>
        </p:nvSpPr>
        <p:spPr bwMode="auto">
          <a:xfrm>
            <a:off x="5372100" y="5343525"/>
            <a:ext cx="536575" cy="401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7" name="Line 25"/>
          <p:cNvSpPr>
            <a:spLocks noChangeShapeType="1"/>
          </p:cNvSpPr>
          <p:nvPr/>
        </p:nvSpPr>
        <p:spPr bwMode="auto">
          <a:xfrm flipV="1">
            <a:off x="3390900" y="5267325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8" name="Line 26"/>
          <p:cNvSpPr>
            <a:spLocks noChangeShapeType="1"/>
          </p:cNvSpPr>
          <p:nvPr/>
        </p:nvSpPr>
        <p:spPr bwMode="auto">
          <a:xfrm flipV="1">
            <a:off x="4686300" y="5343525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29" name="Line 27"/>
          <p:cNvSpPr>
            <a:spLocks noChangeShapeType="1"/>
          </p:cNvSpPr>
          <p:nvPr/>
        </p:nvSpPr>
        <p:spPr bwMode="auto">
          <a:xfrm flipH="1" flipV="1">
            <a:off x="4613275" y="16002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3330" name="Line 28"/>
          <p:cNvSpPr>
            <a:spLocks noChangeShapeType="1"/>
          </p:cNvSpPr>
          <p:nvPr/>
        </p:nvSpPr>
        <p:spPr bwMode="auto">
          <a:xfrm>
            <a:off x="4619625" y="1693863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grpSp>
        <p:nvGrpSpPr>
          <p:cNvPr id="13331" name="Group 29"/>
          <p:cNvGrpSpPr>
            <a:grpSpLocks/>
          </p:cNvGrpSpPr>
          <p:nvPr/>
        </p:nvGrpSpPr>
        <p:grpSpPr bwMode="auto">
          <a:xfrm>
            <a:off x="4457700" y="1693863"/>
            <a:ext cx="304800" cy="152400"/>
            <a:chOff x="2854" y="1284"/>
            <a:chExt cx="192" cy="96"/>
          </a:xfrm>
        </p:grpSpPr>
        <p:sp>
          <p:nvSpPr>
            <p:cNvPr id="13365" name="Line 30"/>
            <p:cNvSpPr>
              <a:spLocks noChangeShapeType="1"/>
            </p:cNvSpPr>
            <p:nvPr/>
          </p:nvSpPr>
          <p:spPr bwMode="auto">
            <a:xfrm>
              <a:off x="2854" y="128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366" name="Line 31"/>
            <p:cNvSpPr>
              <a:spLocks noChangeShapeType="1"/>
            </p:cNvSpPr>
            <p:nvPr/>
          </p:nvSpPr>
          <p:spPr bwMode="auto">
            <a:xfrm flipH="1">
              <a:off x="2950" y="1284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647200" name="AutoShape 32"/>
          <p:cNvSpPr>
            <a:spLocks noChangeArrowheads="1"/>
          </p:cNvSpPr>
          <p:nvPr/>
        </p:nvSpPr>
        <p:spPr bwMode="auto">
          <a:xfrm>
            <a:off x="3900488" y="1962150"/>
            <a:ext cx="1447800" cy="857250"/>
          </a:xfrm>
          <a:prstGeom prst="can">
            <a:avLst>
              <a:gd name="adj" fmla="val 50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200"/>
          </a:p>
        </p:txBody>
      </p:sp>
      <p:sp>
        <p:nvSpPr>
          <p:cNvPr id="13333" name="Text Box 33"/>
          <p:cNvSpPr txBox="1">
            <a:spLocks noChangeArrowheads="1"/>
          </p:cNvSpPr>
          <p:nvPr/>
        </p:nvSpPr>
        <p:spPr bwMode="auto">
          <a:xfrm>
            <a:off x="4076700" y="1919288"/>
            <a:ext cx="1157288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4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OpenFlow</a:t>
            </a:r>
          </a:p>
          <a:p>
            <a:pPr algn="ctr" eaLnBrk="1" hangingPunct="1"/>
            <a:r>
              <a:rPr lang="en-US" altLang="zh-TW" sz="14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Access Point</a:t>
            </a:r>
          </a:p>
        </p:txBody>
      </p:sp>
      <p:grpSp>
        <p:nvGrpSpPr>
          <p:cNvPr id="13334" name="Group 34"/>
          <p:cNvGrpSpPr>
            <a:grpSpLocks/>
          </p:cNvGrpSpPr>
          <p:nvPr/>
        </p:nvGrpSpPr>
        <p:grpSpPr bwMode="auto">
          <a:xfrm>
            <a:off x="4457700" y="1560513"/>
            <a:ext cx="304800" cy="152400"/>
            <a:chOff x="2880" y="1296"/>
            <a:chExt cx="192" cy="96"/>
          </a:xfrm>
        </p:grpSpPr>
        <p:sp>
          <p:nvSpPr>
            <p:cNvPr id="13363" name="Line 35"/>
            <p:cNvSpPr>
              <a:spLocks noChangeShapeType="1"/>
            </p:cNvSpPr>
            <p:nvPr/>
          </p:nvSpPr>
          <p:spPr bwMode="auto">
            <a:xfrm>
              <a:off x="2880" y="129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364" name="Line 36"/>
            <p:cNvSpPr>
              <a:spLocks noChangeShapeType="1"/>
            </p:cNvSpPr>
            <p:nvPr/>
          </p:nvSpPr>
          <p:spPr bwMode="auto">
            <a:xfrm flipH="1">
              <a:off x="2976" y="1296"/>
              <a:ext cx="96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13335" name="Text Box 37"/>
          <p:cNvSpPr txBox="1">
            <a:spLocks noChangeArrowheads="1"/>
          </p:cNvSpPr>
          <p:nvPr/>
        </p:nvSpPr>
        <p:spPr bwMode="auto">
          <a:xfrm>
            <a:off x="857250" y="419100"/>
            <a:ext cx="1504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Server room </a:t>
            </a:r>
          </a:p>
        </p:txBody>
      </p:sp>
      <p:sp>
        <p:nvSpPr>
          <p:cNvPr id="13336" name="AutoShape 38"/>
          <p:cNvSpPr>
            <a:spLocks noChangeArrowheads="1"/>
          </p:cNvSpPr>
          <p:nvPr/>
        </p:nvSpPr>
        <p:spPr bwMode="auto">
          <a:xfrm rot="-1518297">
            <a:off x="3906838" y="874713"/>
            <a:ext cx="304800" cy="838200"/>
          </a:xfrm>
          <a:prstGeom prst="lightningBol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grpSp>
        <p:nvGrpSpPr>
          <p:cNvPr id="13337" name="Group 39"/>
          <p:cNvGrpSpPr>
            <a:grpSpLocks/>
          </p:cNvGrpSpPr>
          <p:nvPr/>
        </p:nvGrpSpPr>
        <p:grpSpPr bwMode="auto">
          <a:xfrm>
            <a:off x="6934200" y="3657600"/>
            <a:ext cx="1149350" cy="960438"/>
            <a:chOff x="3036" y="2467"/>
            <a:chExt cx="724" cy="605"/>
          </a:xfrm>
        </p:grpSpPr>
        <p:sp>
          <p:nvSpPr>
            <p:cNvPr id="647208" name="AutoShape 40"/>
            <p:cNvSpPr>
              <a:spLocks noChangeArrowheads="1"/>
            </p:cNvSpPr>
            <p:nvPr/>
          </p:nvSpPr>
          <p:spPr bwMode="auto">
            <a:xfrm>
              <a:off x="3036" y="2496"/>
              <a:ext cx="724" cy="576"/>
            </a:xfrm>
            <a:prstGeom prst="can">
              <a:avLst>
                <a:gd name="adj" fmla="val 33509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zh-TW" altLang="zh-TW" sz="1200"/>
            </a:p>
          </p:txBody>
        </p:sp>
        <p:sp>
          <p:nvSpPr>
            <p:cNvPr id="13362" name="Text Box 41"/>
            <p:cNvSpPr txBox="1">
              <a:spLocks noChangeArrowheads="1"/>
            </p:cNvSpPr>
            <p:nvPr/>
          </p:nvSpPr>
          <p:spPr bwMode="auto">
            <a:xfrm>
              <a:off x="3060" y="2467"/>
              <a:ext cx="67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TW" sz="1600">
                  <a:solidFill>
                    <a:srgbClr val="CC0000"/>
                  </a:solidFill>
                  <a:latin typeface="Tahoma" panose="020B0604030504040204" pitchFamily="34" charset="0"/>
                  <a:ea typeface="新細明體" panose="02020500000000000000" pitchFamily="18" charset="-120"/>
                </a:rPr>
                <a:t>OpenFlow</a:t>
              </a:r>
            </a:p>
          </p:txBody>
        </p:sp>
      </p:grpSp>
      <p:pic>
        <p:nvPicPr>
          <p:cNvPr id="13338" name="Picture 42" descr="j02857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75" y="5668963"/>
            <a:ext cx="106680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39" name="Picture 43" descr="j02857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075" y="5668963"/>
            <a:ext cx="106680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40" name="Picture 44" descr="j028575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1475" y="5668963"/>
            <a:ext cx="1066800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1" name="Line 45"/>
          <p:cNvSpPr>
            <a:spLocks noChangeShapeType="1"/>
          </p:cNvSpPr>
          <p:nvPr/>
        </p:nvSpPr>
        <p:spPr bwMode="auto">
          <a:xfrm>
            <a:off x="1489075" y="2986088"/>
            <a:ext cx="0" cy="8620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47214" name="AutoShape 46"/>
          <p:cNvSpPr>
            <a:spLocks noChangeArrowheads="1"/>
          </p:cNvSpPr>
          <p:nvPr/>
        </p:nvSpPr>
        <p:spPr bwMode="auto">
          <a:xfrm>
            <a:off x="927100" y="3810000"/>
            <a:ext cx="1149350" cy="914400"/>
          </a:xfrm>
          <a:prstGeom prst="can">
            <a:avLst>
              <a:gd name="adj" fmla="val 32468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200"/>
          </a:p>
        </p:txBody>
      </p:sp>
      <p:sp>
        <p:nvSpPr>
          <p:cNvPr id="647215" name="AutoShape 47"/>
          <p:cNvSpPr>
            <a:spLocks noChangeArrowheads="1"/>
          </p:cNvSpPr>
          <p:nvPr/>
        </p:nvSpPr>
        <p:spPr bwMode="auto">
          <a:xfrm>
            <a:off x="893763" y="2052638"/>
            <a:ext cx="1149350" cy="976312"/>
          </a:xfrm>
          <a:prstGeom prst="can">
            <a:avLst>
              <a:gd name="adj" fmla="val 3756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200"/>
          </a:p>
        </p:txBody>
      </p:sp>
      <p:sp>
        <p:nvSpPr>
          <p:cNvPr id="13344" name="Text Box 48"/>
          <p:cNvSpPr txBox="1">
            <a:spLocks noChangeArrowheads="1"/>
          </p:cNvSpPr>
          <p:nvPr/>
        </p:nvSpPr>
        <p:spPr bwMode="auto">
          <a:xfrm>
            <a:off x="931863" y="2068513"/>
            <a:ext cx="10747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6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OpenFlow</a:t>
            </a:r>
          </a:p>
        </p:txBody>
      </p:sp>
      <p:sp>
        <p:nvSpPr>
          <p:cNvPr id="13345" name="Text Box 49"/>
          <p:cNvSpPr txBox="1">
            <a:spLocks noChangeArrowheads="1"/>
          </p:cNvSpPr>
          <p:nvPr/>
        </p:nvSpPr>
        <p:spPr bwMode="auto">
          <a:xfrm>
            <a:off x="963613" y="3763963"/>
            <a:ext cx="10747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zh-TW" sz="16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OpenFlow</a:t>
            </a:r>
          </a:p>
        </p:txBody>
      </p:sp>
      <p:grpSp>
        <p:nvGrpSpPr>
          <p:cNvPr id="13346" name="Group 50"/>
          <p:cNvGrpSpPr>
            <a:grpSpLocks/>
          </p:cNvGrpSpPr>
          <p:nvPr/>
        </p:nvGrpSpPr>
        <p:grpSpPr bwMode="auto">
          <a:xfrm>
            <a:off x="3543300" y="3249613"/>
            <a:ext cx="2055813" cy="2246312"/>
            <a:chOff x="1486" y="3679"/>
            <a:chExt cx="1295" cy="1415"/>
          </a:xfrm>
        </p:grpSpPr>
        <p:sp>
          <p:nvSpPr>
            <p:cNvPr id="647219" name="AutoShape 51"/>
            <p:cNvSpPr>
              <a:spLocks noChangeArrowheads="1"/>
            </p:cNvSpPr>
            <p:nvPr/>
          </p:nvSpPr>
          <p:spPr bwMode="auto">
            <a:xfrm>
              <a:off x="1486" y="3679"/>
              <a:ext cx="1295" cy="1415"/>
            </a:xfrm>
            <a:prstGeom prst="can">
              <a:avLst>
                <a:gd name="adj" fmla="val 37839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zh-TW" altLang="zh-TW" sz="1200"/>
            </a:p>
          </p:txBody>
        </p:sp>
        <p:sp>
          <p:nvSpPr>
            <p:cNvPr id="13353" name="Text Box 52"/>
            <p:cNvSpPr txBox="1">
              <a:spLocks noChangeArrowheads="1"/>
            </p:cNvSpPr>
            <p:nvPr/>
          </p:nvSpPr>
          <p:spPr bwMode="auto">
            <a:xfrm>
              <a:off x="1535" y="3750"/>
              <a:ext cx="118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TW" sz="1600">
                  <a:solidFill>
                    <a:srgbClr val="CC0000"/>
                  </a:solidFill>
                  <a:latin typeface="Tahoma" panose="020B0604030504040204" pitchFamily="34" charset="0"/>
                  <a:ea typeface="新細明體" panose="02020500000000000000" pitchFamily="18" charset="-120"/>
                </a:rPr>
                <a:t>OpenFlow-enabled</a:t>
              </a:r>
            </a:p>
            <a:p>
              <a:pPr algn="ctr" eaLnBrk="1" hangingPunct="1"/>
              <a:r>
                <a:rPr lang="en-US" altLang="zh-TW" sz="1600">
                  <a:solidFill>
                    <a:srgbClr val="CC0000"/>
                  </a:solidFill>
                  <a:latin typeface="Tahoma" panose="020B0604030504040204" pitchFamily="34" charset="0"/>
                  <a:ea typeface="新細明體" panose="02020500000000000000" pitchFamily="18" charset="-120"/>
                </a:rPr>
                <a:t>Commercial Switch</a:t>
              </a:r>
            </a:p>
          </p:txBody>
        </p:sp>
        <p:sp>
          <p:nvSpPr>
            <p:cNvPr id="13354" name="Rectangle 53"/>
            <p:cNvSpPr>
              <a:spLocks noChangeArrowheads="1"/>
            </p:cNvSpPr>
            <p:nvPr/>
          </p:nvSpPr>
          <p:spPr bwMode="auto">
            <a:xfrm>
              <a:off x="2325" y="4292"/>
              <a:ext cx="358" cy="64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647222" name="Rectangle 54"/>
            <p:cNvSpPr>
              <a:spLocks noChangeArrowheads="1"/>
            </p:cNvSpPr>
            <p:nvPr/>
          </p:nvSpPr>
          <p:spPr bwMode="auto">
            <a:xfrm>
              <a:off x="2353" y="4655"/>
              <a:ext cx="299" cy="242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000">
                  <a:latin typeface="Arial" charset="0"/>
                </a:rPr>
                <a:t>Flow</a:t>
              </a:r>
            </a:p>
            <a:p>
              <a:pPr algn="ctr">
                <a:defRPr/>
              </a:pPr>
              <a:r>
                <a:rPr lang="en-US" sz="1000">
                  <a:latin typeface="Arial" charset="0"/>
                </a:rPr>
                <a:t>Table</a:t>
              </a:r>
            </a:p>
          </p:txBody>
        </p:sp>
        <p:sp>
          <p:nvSpPr>
            <p:cNvPr id="647223" name="Rectangle 55"/>
            <p:cNvSpPr>
              <a:spLocks noChangeArrowheads="1"/>
            </p:cNvSpPr>
            <p:nvPr/>
          </p:nvSpPr>
          <p:spPr bwMode="auto">
            <a:xfrm>
              <a:off x="2353" y="4333"/>
              <a:ext cx="302" cy="242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000">
                  <a:latin typeface="Arial" charset="0"/>
                </a:rPr>
                <a:t>Secure</a:t>
              </a:r>
            </a:p>
            <a:p>
              <a:pPr algn="ctr">
                <a:defRPr/>
              </a:pPr>
              <a:r>
                <a:rPr lang="en-US" sz="900">
                  <a:latin typeface="Arial" charset="0"/>
                </a:rPr>
                <a:t>Channel</a:t>
              </a:r>
            </a:p>
          </p:txBody>
        </p:sp>
        <p:sp>
          <p:nvSpPr>
            <p:cNvPr id="13357" name="Rectangle 56"/>
            <p:cNvSpPr>
              <a:spLocks noChangeArrowheads="1"/>
            </p:cNvSpPr>
            <p:nvPr/>
          </p:nvSpPr>
          <p:spPr bwMode="auto">
            <a:xfrm>
              <a:off x="1581" y="4218"/>
              <a:ext cx="606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13358" name="Line 57"/>
            <p:cNvSpPr>
              <a:spLocks noChangeShapeType="1"/>
            </p:cNvSpPr>
            <p:nvPr/>
          </p:nvSpPr>
          <p:spPr bwMode="auto">
            <a:xfrm>
              <a:off x="1581" y="4618"/>
              <a:ext cx="11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359" name="Text Box 58"/>
            <p:cNvSpPr txBox="1">
              <a:spLocks noChangeArrowheads="1"/>
            </p:cNvSpPr>
            <p:nvPr/>
          </p:nvSpPr>
          <p:spPr bwMode="auto">
            <a:xfrm>
              <a:off x="1601" y="4291"/>
              <a:ext cx="55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400">
                  <a:ea typeface="新細明體" panose="02020500000000000000" pitchFamily="18" charset="-120"/>
                </a:rPr>
                <a:t>Normal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lang="en-US" altLang="zh-TW" sz="1400">
                  <a:ea typeface="新細明體" panose="02020500000000000000" pitchFamily="18" charset="-120"/>
                </a:rPr>
                <a:t>Software</a:t>
              </a:r>
            </a:p>
          </p:txBody>
        </p:sp>
        <p:sp>
          <p:nvSpPr>
            <p:cNvPr id="13360" name="Text Box 59"/>
            <p:cNvSpPr txBox="1">
              <a:spLocks noChangeArrowheads="1"/>
            </p:cNvSpPr>
            <p:nvPr/>
          </p:nvSpPr>
          <p:spPr bwMode="auto">
            <a:xfrm>
              <a:off x="1593" y="4618"/>
              <a:ext cx="569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TW" sz="1400">
                  <a:ea typeface="新細明體" panose="02020500000000000000" pitchFamily="18" charset="-120"/>
                </a:rPr>
                <a:t>Normal</a:t>
              </a:r>
            </a:p>
            <a:p>
              <a:pPr algn="ctr" eaLnBrk="1" hangingPunct="1"/>
              <a:r>
                <a:rPr lang="en-US" altLang="zh-TW" sz="1400">
                  <a:ea typeface="新細明體" panose="02020500000000000000" pitchFamily="18" charset="-120"/>
                </a:rPr>
                <a:t>Datapath</a:t>
              </a:r>
            </a:p>
          </p:txBody>
        </p:sp>
      </p:grpSp>
      <p:pic>
        <p:nvPicPr>
          <p:cNvPr id="13347" name="Picture 60" descr="MCj0424782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25" y="519113"/>
            <a:ext cx="6524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8" name="AutoShape 61"/>
          <p:cNvSpPr>
            <a:spLocks noChangeArrowheads="1"/>
          </p:cNvSpPr>
          <p:nvPr/>
        </p:nvSpPr>
        <p:spPr bwMode="auto">
          <a:xfrm rot="1375045">
            <a:off x="4481513" y="588963"/>
            <a:ext cx="304800" cy="838200"/>
          </a:xfrm>
          <a:prstGeom prst="lightningBol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pic>
        <p:nvPicPr>
          <p:cNvPr id="13349" name="Picture 62" descr="MCj0424782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888" y="157163"/>
            <a:ext cx="6524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50" name="AutoShape 63"/>
          <p:cNvSpPr>
            <a:spLocks noChangeArrowheads="1"/>
          </p:cNvSpPr>
          <p:nvPr/>
        </p:nvSpPr>
        <p:spPr bwMode="auto">
          <a:xfrm rot="3620780">
            <a:off x="5049838" y="741363"/>
            <a:ext cx="304800" cy="838200"/>
          </a:xfrm>
          <a:prstGeom prst="lightningBol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pic>
        <p:nvPicPr>
          <p:cNvPr id="13351" name="Picture 64" descr="MCj0424782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452438"/>
            <a:ext cx="6524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85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1772816"/>
            <a:ext cx="7772400" cy="2634085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Switching</a:t>
            </a:r>
          </a:p>
          <a:p>
            <a:r>
              <a:rPr lang="en-US" altLang="zh-TW" dirty="0"/>
              <a:t>Usage models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Virtualizing </a:t>
            </a:r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FlowVisor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-based Virtualization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references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202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err="1" smtClean="0">
                <a:ea typeface="新細明體" panose="02020500000000000000" pitchFamily="18" charset="-120"/>
              </a:rPr>
              <a:t>OpenFlow</a:t>
            </a:r>
            <a:r>
              <a:rPr lang="en-US" altLang="zh-TW" dirty="0" smtClean="0">
                <a:ea typeface="新細明體" panose="02020500000000000000" pitchFamily="18" charset="-120"/>
              </a:rPr>
              <a:t> Usage Models(1/2)</a:t>
            </a:r>
          </a:p>
        </p:txBody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5440362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Experiments at the flow level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User-defined routing protocols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Admission control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Network access control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Network management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Energy management</a:t>
            </a:r>
          </a:p>
          <a:p>
            <a:pPr lvl="1">
              <a:lnSpc>
                <a:spcPct val="90000"/>
              </a:lnSpc>
            </a:pPr>
            <a:r>
              <a:rPr lang="en-US" altLang="zh-TW" dirty="0"/>
              <a:t>VOIP mobility and handoff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/>
              <a:t>…</a:t>
            </a:r>
            <a:endParaRPr lang="en-US" altLang="zh-TW" sz="2000" dirty="0" smtClean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Experiments at the packet level</a:t>
            </a:r>
          </a:p>
          <a:p>
            <a:pPr lvl="1"/>
            <a:r>
              <a:rPr lang="en-US" altLang="zh-TW" dirty="0"/>
              <a:t>Slow: Controller handles packet processing</a:t>
            </a:r>
          </a:p>
          <a:p>
            <a:pPr lvl="1"/>
            <a:r>
              <a:rPr lang="en-US" altLang="zh-TW" dirty="0"/>
              <a:t>Fast: Redirect flows through programmable hardware</a:t>
            </a:r>
          </a:p>
          <a:p>
            <a:pPr lvl="1"/>
            <a:r>
              <a:rPr lang="en-US" altLang="zh-TW" dirty="0"/>
              <a:t>Modified routers, firewalls, NAT, congestion control</a:t>
            </a:r>
            <a:r>
              <a:rPr lang="en-US" altLang="zh-TW" dirty="0" smtClean="0"/>
              <a:t>…</a:t>
            </a:r>
            <a:endParaRPr lang="en-US" altLang="zh-TW" sz="2000" dirty="0" smtClean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Alternatives to IP</a:t>
            </a:r>
          </a:p>
        </p:txBody>
      </p:sp>
      <p:sp>
        <p:nvSpPr>
          <p:cNvPr id="14341" name="AutoShape 4"/>
          <p:cNvSpPr>
            <a:spLocks/>
          </p:cNvSpPr>
          <p:nvPr/>
        </p:nvSpPr>
        <p:spPr bwMode="auto">
          <a:xfrm>
            <a:off x="5334000" y="1431600"/>
            <a:ext cx="304800" cy="2645471"/>
          </a:xfrm>
          <a:prstGeom prst="rightBrace">
            <a:avLst>
              <a:gd name="adj1" fmla="val 58333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4342" name="Text Box 5"/>
          <p:cNvSpPr txBox="1">
            <a:spLocks noChangeArrowheads="1"/>
          </p:cNvSpPr>
          <p:nvPr/>
        </p:nvSpPr>
        <p:spPr bwMode="auto">
          <a:xfrm>
            <a:off x="5641975" y="2433660"/>
            <a:ext cx="35020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altLang="zh-TW" dirty="0">
                <a:ea typeface="新細明體" panose="02020500000000000000" pitchFamily="18" charset="-120"/>
              </a:rPr>
              <a:t>  Experiment-specific controllers</a:t>
            </a:r>
          </a:p>
          <a:p>
            <a:pPr eaLnBrk="1" hangingPunct="1">
              <a:buFontTx/>
              <a:buChar char="•"/>
            </a:pPr>
            <a:r>
              <a:rPr lang="en-US" altLang="zh-TW" dirty="0">
                <a:ea typeface="新細明體" panose="02020500000000000000" pitchFamily="18" charset="-120"/>
              </a:rPr>
              <a:t>  Static or dynamic flow-entries</a:t>
            </a:r>
          </a:p>
        </p:txBody>
      </p:sp>
    </p:spTree>
    <p:extLst>
      <p:ext uri="{BB962C8B-B14F-4D97-AF65-F5344CB8AC3E}">
        <p14:creationId xmlns:p14="http://schemas.microsoft.com/office/powerpoint/2010/main" val="2517408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4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0435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2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/>
              <a:t>The Stanford Clean Slate Program 		                 http://</a:t>
            </a:r>
            <a:r>
              <a:rPr lang="en-US" altLang="zh-TW" u="sng">
                <a:solidFill>
                  <a:schemeClr val="accent2"/>
                </a:solidFill>
              </a:rPr>
              <a:t>cleanslate.stanford.edu</a:t>
            </a:r>
            <a:r>
              <a:rPr lang="en-US" altLang="zh-TW"/>
              <a:t>			</a:t>
            </a:r>
            <a:endParaRPr lang="en-US" altLang="zh-TW" sz="1000"/>
          </a:p>
        </p:txBody>
      </p:sp>
      <p:sp>
        <p:nvSpPr>
          <p:cNvPr id="15363" name="Rectangle 136"/>
          <p:cNvSpPr>
            <a:spLocks noChangeArrowheads="1"/>
          </p:cNvSpPr>
          <p:nvPr/>
        </p:nvSpPr>
        <p:spPr bwMode="auto">
          <a:xfrm>
            <a:off x="-304800" y="5943600"/>
            <a:ext cx="9829800" cy="11430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15364" name="AutoShape 21"/>
          <p:cNvSpPr>
            <a:spLocks noChangeArrowheads="1"/>
          </p:cNvSpPr>
          <p:nvPr/>
        </p:nvSpPr>
        <p:spPr bwMode="auto">
          <a:xfrm>
            <a:off x="2438400" y="3886200"/>
            <a:ext cx="533400" cy="38100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rgbClr val="765E47"/>
              </a:gs>
              <a:gs pos="50000">
                <a:srgbClr val="FFCC99"/>
              </a:gs>
              <a:gs pos="100000">
                <a:srgbClr val="765E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200"/>
          </a:p>
        </p:txBody>
      </p:sp>
      <p:sp>
        <p:nvSpPr>
          <p:cNvPr id="15365" name="AutoShape 16"/>
          <p:cNvSpPr>
            <a:spLocks noChangeArrowheads="1"/>
          </p:cNvSpPr>
          <p:nvPr/>
        </p:nvSpPr>
        <p:spPr bwMode="auto">
          <a:xfrm>
            <a:off x="4343400" y="1828800"/>
            <a:ext cx="1149350" cy="609600"/>
          </a:xfrm>
          <a:prstGeom prst="can">
            <a:avLst>
              <a:gd name="adj" fmla="val 50000"/>
            </a:avLst>
          </a:prstGeom>
          <a:gradFill rotWithShape="1">
            <a:gsLst>
              <a:gs pos="0">
                <a:srgbClr val="FFCC99"/>
              </a:gs>
              <a:gs pos="100000">
                <a:srgbClr val="765E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200"/>
          </a:p>
        </p:txBody>
      </p:sp>
      <p:sp>
        <p:nvSpPr>
          <p:cNvPr id="629766" name="AutoShape 6"/>
          <p:cNvSpPr>
            <a:spLocks noChangeArrowheads="1"/>
          </p:cNvSpPr>
          <p:nvPr/>
        </p:nvSpPr>
        <p:spPr bwMode="auto">
          <a:xfrm>
            <a:off x="3498850" y="1752600"/>
            <a:ext cx="1149350" cy="609600"/>
          </a:xfrm>
          <a:prstGeom prst="can">
            <a:avLst>
              <a:gd name="adj" fmla="val 50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200"/>
          </a:p>
        </p:txBody>
      </p:sp>
      <p:sp>
        <p:nvSpPr>
          <p:cNvPr id="629777" name="AutoShape 17"/>
          <p:cNvSpPr>
            <a:spLocks noChangeArrowheads="1"/>
          </p:cNvSpPr>
          <p:nvPr/>
        </p:nvSpPr>
        <p:spPr bwMode="auto">
          <a:xfrm>
            <a:off x="2057400" y="3733800"/>
            <a:ext cx="533400" cy="38100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200"/>
          </a:p>
        </p:txBody>
      </p:sp>
      <p:sp>
        <p:nvSpPr>
          <p:cNvPr id="15368" name="AutoShape 18"/>
          <p:cNvSpPr>
            <a:spLocks noChangeArrowheads="1"/>
          </p:cNvSpPr>
          <p:nvPr/>
        </p:nvSpPr>
        <p:spPr bwMode="auto">
          <a:xfrm>
            <a:off x="1143000" y="5029200"/>
            <a:ext cx="685800" cy="3048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3200" b="1">
              <a:solidFill>
                <a:srgbClr val="F25D44"/>
              </a:solidFill>
            </a:endParaRPr>
          </a:p>
        </p:txBody>
      </p:sp>
      <p:sp>
        <p:nvSpPr>
          <p:cNvPr id="15369" name="AutoShape 19"/>
          <p:cNvSpPr>
            <a:spLocks noChangeArrowheads="1"/>
          </p:cNvSpPr>
          <p:nvPr/>
        </p:nvSpPr>
        <p:spPr bwMode="auto">
          <a:xfrm>
            <a:off x="1905000" y="5029200"/>
            <a:ext cx="685800" cy="3048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3200" b="1">
              <a:solidFill>
                <a:srgbClr val="F25D44"/>
              </a:solidFill>
            </a:endParaRPr>
          </a:p>
        </p:txBody>
      </p:sp>
      <p:sp>
        <p:nvSpPr>
          <p:cNvPr id="15370" name="AutoShape 20"/>
          <p:cNvSpPr>
            <a:spLocks noChangeArrowheads="1"/>
          </p:cNvSpPr>
          <p:nvPr/>
        </p:nvSpPr>
        <p:spPr bwMode="auto">
          <a:xfrm>
            <a:off x="2667000" y="5029200"/>
            <a:ext cx="685800" cy="3048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3200" b="1">
              <a:solidFill>
                <a:srgbClr val="F25D44"/>
              </a:solidFill>
            </a:endParaRPr>
          </a:p>
        </p:txBody>
      </p:sp>
      <p:cxnSp>
        <p:nvCxnSpPr>
          <p:cNvPr id="15371" name="AutoShape 22"/>
          <p:cNvCxnSpPr>
            <a:cxnSpLocks noChangeShapeType="1"/>
            <a:stCxn id="15368" idx="0"/>
            <a:endCxn id="629777" idx="3"/>
          </p:cNvCxnSpPr>
          <p:nvPr/>
        </p:nvCxnSpPr>
        <p:spPr bwMode="auto">
          <a:xfrm flipV="1">
            <a:off x="1563688" y="4114800"/>
            <a:ext cx="760412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2" name="AutoShape 23"/>
          <p:cNvCxnSpPr>
            <a:cxnSpLocks noChangeShapeType="1"/>
            <a:stCxn id="15369" idx="0"/>
            <a:endCxn id="629777" idx="3"/>
          </p:cNvCxnSpPr>
          <p:nvPr/>
        </p:nvCxnSpPr>
        <p:spPr bwMode="auto">
          <a:xfrm flipH="1" flipV="1">
            <a:off x="2324100" y="4114800"/>
            <a:ext cx="1588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3" name="AutoShape 24"/>
          <p:cNvCxnSpPr>
            <a:cxnSpLocks noChangeShapeType="1"/>
            <a:stCxn id="15370" idx="0"/>
            <a:endCxn id="629777" idx="3"/>
          </p:cNvCxnSpPr>
          <p:nvPr/>
        </p:nvCxnSpPr>
        <p:spPr bwMode="auto">
          <a:xfrm flipH="1" flipV="1">
            <a:off x="2324100" y="4114800"/>
            <a:ext cx="763588" cy="914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4" name="AutoShape 25"/>
          <p:cNvCxnSpPr>
            <a:cxnSpLocks noChangeShapeType="1"/>
            <a:stCxn id="15368" idx="0"/>
            <a:endCxn id="15364" idx="3"/>
          </p:cNvCxnSpPr>
          <p:nvPr/>
        </p:nvCxnSpPr>
        <p:spPr bwMode="auto">
          <a:xfrm flipV="1">
            <a:off x="1563688" y="4267200"/>
            <a:ext cx="1141412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5" name="AutoShape 26"/>
          <p:cNvCxnSpPr>
            <a:cxnSpLocks noChangeShapeType="1"/>
            <a:stCxn id="15369" idx="0"/>
            <a:endCxn id="15364" idx="3"/>
          </p:cNvCxnSpPr>
          <p:nvPr/>
        </p:nvCxnSpPr>
        <p:spPr bwMode="auto">
          <a:xfrm flipV="1">
            <a:off x="2325688" y="4267200"/>
            <a:ext cx="379412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6" name="AutoShape 27"/>
          <p:cNvCxnSpPr>
            <a:cxnSpLocks noChangeShapeType="1"/>
            <a:stCxn id="15364" idx="3"/>
            <a:endCxn id="15370" idx="0"/>
          </p:cNvCxnSpPr>
          <p:nvPr/>
        </p:nvCxnSpPr>
        <p:spPr bwMode="auto">
          <a:xfrm>
            <a:off x="2705100" y="4267200"/>
            <a:ext cx="382588" cy="762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7" name="AutoShape 28"/>
          <p:cNvCxnSpPr>
            <a:cxnSpLocks noChangeShapeType="1"/>
            <a:stCxn id="629777" idx="1"/>
            <a:endCxn id="629766" idx="3"/>
          </p:cNvCxnSpPr>
          <p:nvPr/>
        </p:nvCxnSpPr>
        <p:spPr bwMode="auto">
          <a:xfrm flipV="1">
            <a:off x="2324100" y="2362200"/>
            <a:ext cx="1749425" cy="1371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8" name="AutoShape 29"/>
          <p:cNvCxnSpPr>
            <a:cxnSpLocks noChangeShapeType="1"/>
            <a:stCxn id="629777" idx="1"/>
            <a:endCxn id="15365" idx="3"/>
          </p:cNvCxnSpPr>
          <p:nvPr/>
        </p:nvCxnSpPr>
        <p:spPr bwMode="auto">
          <a:xfrm flipV="1">
            <a:off x="2324100" y="2438400"/>
            <a:ext cx="2593975" cy="1295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9" name="AutoShape 30"/>
          <p:cNvCxnSpPr>
            <a:cxnSpLocks noChangeShapeType="1"/>
            <a:stCxn id="15364" idx="1"/>
            <a:endCxn id="629766" idx="3"/>
          </p:cNvCxnSpPr>
          <p:nvPr/>
        </p:nvCxnSpPr>
        <p:spPr bwMode="auto">
          <a:xfrm flipV="1">
            <a:off x="2705100" y="2362200"/>
            <a:ext cx="1368425" cy="1524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0" name="AutoShape 31"/>
          <p:cNvCxnSpPr>
            <a:cxnSpLocks noChangeShapeType="1"/>
            <a:stCxn id="15364" idx="1"/>
            <a:endCxn id="15365" idx="3"/>
          </p:cNvCxnSpPr>
          <p:nvPr/>
        </p:nvCxnSpPr>
        <p:spPr bwMode="auto">
          <a:xfrm flipV="1">
            <a:off x="2705100" y="2438400"/>
            <a:ext cx="2212975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1" name="AutoShape 32"/>
          <p:cNvSpPr>
            <a:spLocks noChangeArrowheads="1"/>
          </p:cNvSpPr>
          <p:nvPr/>
        </p:nvSpPr>
        <p:spPr bwMode="auto">
          <a:xfrm>
            <a:off x="5181600" y="3886200"/>
            <a:ext cx="533400" cy="38100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rgbClr val="FFCC99"/>
              </a:gs>
              <a:gs pos="100000">
                <a:srgbClr val="765E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200"/>
          </a:p>
        </p:txBody>
      </p:sp>
      <p:sp>
        <p:nvSpPr>
          <p:cNvPr id="629793" name="AutoShape 33"/>
          <p:cNvSpPr>
            <a:spLocks noChangeArrowheads="1"/>
          </p:cNvSpPr>
          <p:nvPr/>
        </p:nvSpPr>
        <p:spPr bwMode="auto">
          <a:xfrm>
            <a:off x="4876800" y="3962400"/>
            <a:ext cx="533400" cy="38100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200"/>
          </a:p>
        </p:txBody>
      </p:sp>
      <p:sp>
        <p:nvSpPr>
          <p:cNvPr id="15383" name="AutoShape 34"/>
          <p:cNvSpPr>
            <a:spLocks noChangeArrowheads="1"/>
          </p:cNvSpPr>
          <p:nvPr/>
        </p:nvSpPr>
        <p:spPr bwMode="auto">
          <a:xfrm>
            <a:off x="4572000" y="4953000"/>
            <a:ext cx="685800" cy="3048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3200" b="1">
              <a:solidFill>
                <a:srgbClr val="F25D44"/>
              </a:solidFill>
            </a:endParaRPr>
          </a:p>
        </p:txBody>
      </p:sp>
      <p:sp>
        <p:nvSpPr>
          <p:cNvPr id="15384" name="AutoShape 35"/>
          <p:cNvSpPr>
            <a:spLocks noChangeArrowheads="1"/>
          </p:cNvSpPr>
          <p:nvPr/>
        </p:nvSpPr>
        <p:spPr bwMode="auto">
          <a:xfrm>
            <a:off x="5334000" y="4953000"/>
            <a:ext cx="685800" cy="3048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3200" b="1">
              <a:solidFill>
                <a:srgbClr val="F25D44"/>
              </a:solidFill>
            </a:endParaRPr>
          </a:p>
        </p:txBody>
      </p:sp>
      <p:sp>
        <p:nvSpPr>
          <p:cNvPr id="15385" name="AutoShape 36"/>
          <p:cNvSpPr>
            <a:spLocks noChangeArrowheads="1"/>
          </p:cNvSpPr>
          <p:nvPr/>
        </p:nvSpPr>
        <p:spPr bwMode="auto">
          <a:xfrm>
            <a:off x="6096000" y="4953000"/>
            <a:ext cx="685800" cy="3048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3200" b="1">
              <a:solidFill>
                <a:srgbClr val="F25D44"/>
              </a:solidFill>
            </a:endParaRPr>
          </a:p>
        </p:txBody>
      </p:sp>
      <p:cxnSp>
        <p:nvCxnSpPr>
          <p:cNvPr id="15386" name="AutoShape 37"/>
          <p:cNvCxnSpPr>
            <a:cxnSpLocks noChangeShapeType="1"/>
            <a:stCxn id="15383" idx="0"/>
            <a:endCxn id="629793" idx="3"/>
          </p:cNvCxnSpPr>
          <p:nvPr/>
        </p:nvCxnSpPr>
        <p:spPr bwMode="auto">
          <a:xfrm flipV="1">
            <a:off x="4992688" y="4343400"/>
            <a:ext cx="150812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7" name="AutoShape 38"/>
          <p:cNvCxnSpPr>
            <a:cxnSpLocks noChangeShapeType="1"/>
            <a:stCxn id="15384" idx="0"/>
            <a:endCxn id="629793" idx="3"/>
          </p:cNvCxnSpPr>
          <p:nvPr/>
        </p:nvCxnSpPr>
        <p:spPr bwMode="auto">
          <a:xfrm flipH="1" flipV="1">
            <a:off x="5143500" y="4343400"/>
            <a:ext cx="611188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8" name="AutoShape 39"/>
          <p:cNvCxnSpPr>
            <a:cxnSpLocks noChangeShapeType="1"/>
            <a:stCxn id="15385" idx="0"/>
            <a:endCxn id="629793" idx="3"/>
          </p:cNvCxnSpPr>
          <p:nvPr/>
        </p:nvCxnSpPr>
        <p:spPr bwMode="auto">
          <a:xfrm flipH="1" flipV="1">
            <a:off x="5143500" y="4343400"/>
            <a:ext cx="1373188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9" name="AutoShape 40"/>
          <p:cNvCxnSpPr>
            <a:cxnSpLocks noChangeShapeType="1"/>
            <a:stCxn id="15383" idx="0"/>
            <a:endCxn id="15381" idx="3"/>
          </p:cNvCxnSpPr>
          <p:nvPr/>
        </p:nvCxnSpPr>
        <p:spPr bwMode="auto">
          <a:xfrm flipV="1">
            <a:off x="4992688" y="4267200"/>
            <a:ext cx="455612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0" name="AutoShape 41"/>
          <p:cNvCxnSpPr>
            <a:cxnSpLocks noChangeShapeType="1"/>
            <a:stCxn id="15384" idx="0"/>
            <a:endCxn id="15381" idx="3"/>
          </p:cNvCxnSpPr>
          <p:nvPr/>
        </p:nvCxnSpPr>
        <p:spPr bwMode="auto">
          <a:xfrm flipH="1" flipV="1">
            <a:off x="5448300" y="4267200"/>
            <a:ext cx="306388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1" name="AutoShape 42"/>
          <p:cNvCxnSpPr>
            <a:cxnSpLocks noChangeShapeType="1"/>
            <a:stCxn id="15381" idx="3"/>
            <a:endCxn id="15385" idx="0"/>
          </p:cNvCxnSpPr>
          <p:nvPr/>
        </p:nvCxnSpPr>
        <p:spPr bwMode="auto">
          <a:xfrm>
            <a:off x="5448300" y="4267200"/>
            <a:ext cx="1068388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2" name="AutoShape 43"/>
          <p:cNvCxnSpPr>
            <a:cxnSpLocks noChangeShapeType="1"/>
            <a:stCxn id="629793" idx="1"/>
            <a:endCxn id="15365" idx="3"/>
          </p:cNvCxnSpPr>
          <p:nvPr/>
        </p:nvCxnSpPr>
        <p:spPr bwMode="auto">
          <a:xfrm flipH="1" flipV="1">
            <a:off x="4918075" y="2438400"/>
            <a:ext cx="225425" cy="1524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3" name="AutoShape 44"/>
          <p:cNvCxnSpPr>
            <a:cxnSpLocks noChangeShapeType="1"/>
            <a:stCxn id="629793" idx="1"/>
            <a:endCxn id="629766" idx="3"/>
          </p:cNvCxnSpPr>
          <p:nvPr/>
        </p:nvCxnSpPr>
        <p:spPr bwMode="auto">
          <a:xfrm flipH="1" flipV="1">
            <a:off x="4073525" y="2362200"/>
            <a:ext cx="1069975" cy="1600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4" name="AutoShape 45"/>
          <p:cNvCxnSpPr>
            <a:cxnSpLocks noChangeShapeType="1"/>
            <a:stCxn id="15381" idx="1"/>
            <a:endCxn id="15365" idx="3"/>
          </p:cNvCxnSpPr>
          <p:nvPr/>
        </p:nvCxnSpPr>
        <p:spPr bwMode="auto">
          <a:xfrm flipH="1" flipV="1">
            <a:off x="4918075" y="2438400"/>
            <a:ext cx="530225" cy="1447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95" name="AutoShape 46"/>
          <p:cNvCxnSpPr>
            <a:cxnSpLocks noChangeShapeType="1"/>
            <a:stCxn id="15381" idx="1"/>
            <a:endCxn id="629766" idx="3"/>
          </p:cNvCxnSpPr>
          <p:nvPr/>
        </p:nvCxnSpPr>
        <p:spPr bwMode="auto">
          <a:xfrm flipH="1" flipV="1">
            <a:off x="4073525" y="2362200"/>
            <a:ext cx="1374775" cy="1524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96" name="AutoShape 47"/>
          <p:cNvSpPr>
            <a:spLocks noChangeArrowheads="1"/>
          </p:cNvSpPr>
          <p:nvPr/>
        </p:nvSpPr>
        <p:spPr bwMode="auto">
          <a:xfrm>
            <a:off x="6477000" y="2743200"/>
            <a:ext cx="533400" cy="38100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rgbClr val="FFCC99"/>
              </a:gs>
              <a:gs pos="100000">
                <a:srgbClr val="765E47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200"/>
          </a:p>
        </p:txBody>
      </p:sp>
      <p:sp>
        <p:nvSpPr>
          <p:cNvPr id="629808" name="AutoShape 48"/>
          <p:cNvSpPr>
            <a:spLocks noChangeArrowheads="1"/>
          </p:cNvSpPr>
          <p:nvPr/>
        </p:nvSpPr>
        <p:spPr bwMode="auto">
          <a:xfrm>
            <a:off x="6400800" y="3048000"/>
            <a:ext cx="533400" cy="381000"/>
          </a:xfrm>
          <a:prstGeom prst="can">
            <a:avLst>
              <a:gd name="adj" fmla="val 35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54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1200"/>
          </a:p>
        </p:txBody>
      </p:sp>
      <p:sp>
        <p:nvSpPr>
          <p:cNvPr id="15398" name="AutoShape 49"/>
          <p:cNvSpPr>
            <a:spLocks noChangeArrowheads="1"/>
          </p:cNvSpPr>
          <p:nvPr/>
        </p:nvSpPr>
        <p:spPr bwMode="auto">
          <a:xfrm>
            <a:off x="7620000" y="3352800"/>
            <a:ext cx="685800" cy="3048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3200" b="1">
              <a:solidFill>
                <a:srgbClr val="F25D44"/>
              </a:solidFill>
            </a:endParaRPr>
          </a:p>
        </p:txBody>
      </p:sp>
      <p:sp>
        <p:nvSpPr>
          <p:cNvPr id="15399" name="AutoShape 50"/>
          <p:cNvSpPr>
            <a:spLocks noChangeArrowheads="1"/>
          </p:cNvSpPr>
          <p:nvPr/>
        </p:nvSpPr>
        <p:spPr bwMode="auto">
          <a:xfrm>
            <a:off x="7620000" y="2895600"/>
            <a:ext cx="685800" cy="3048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3200" b="1">
              <a:solidFill>
                <a:srgbClr val="F25D44"/>
              </a:solidFill>
            </a:endParaRPr>
          </a:p>
        </p:txBody>
      </p:sp>
      <p:sp>
        <p:nvSpPr>
          <p:cNvPr id="15400" name="AutoShape 51"/>
          <p:cNvSpPr>
            <a:spLocks noChangeArrowheads="1"/>
          </p:cNvSpPr>
          <p:nvPr/>
        </p:nvSpPr>
        <p:spPr bwMode="auto">
          <a:xfrm>
            <a:off x="7620000" y="2438400"/>
            <a:ext cx="685800" cy="304800"/>
          </a:xfrm>
          <a:prstGeom prst="cube">
            <a:avLst>
              <a:gd name="adj" fmla="val 5125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zh-TW" altLang="zh-TW" sz="3200" b="1">
              <a:solidFill>
                <a:srgbClr val="F25D44"/>
              </a:solidFill>
            </a:endParaRPr>
          </a:p>
        </p:txBody>
      </p:sp>
      <p:cxnSp>
        <p:nvCxnSpPr>
          <p:cNvPr id="15401" name="AutoShape 52"/>
          <p:cNvCxnSpPr>
            <a:cxnSpLocks noChangeShapeType="1"/>
            <a:stCxn id="15398" idx="2"/>
            <a:endCxn id="629808" idx="4"/>
          </p:cNvCxnSpPr>
          <p:nvPr/>
        </p:nvCxnSpPr>
        <p:spPr bwMode="auto">
          <a:xfrm flipH="1" flipV="1">
            <a:off x="6934200" y="3238500"/>
            <a:ext cx="685800" cy="3444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2" name="AutoShape 53"/>
          <p:cNvCxnSpPr>
            <a:cxnSpLocks noChangeShapeType="1"/>
            <a:stCxn id="15399" idx="2"/>
            <a:endCxn id="629808" idx="4"/>
          </p:cNvCxnSpPr>
          <p:nvPr/>
        </p:nvCxnSpPr>
        <p:spPr bwMode="auto">
          <a:xfrm flipH="1">
            <a:off x="6934200" y="3125788"/>
            <a:ext cx="685800" cy="1127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3" name="AutoShape 54"/>
          <p:cNvCxnSpPr>
            <a:cxnSpLocks noChangeShapeType="1"/>
            <a:stCxn id="15400" idx="2"/>
            <a:endCxn id="629808" idx="4"/>
          </p:cNvCxnSpPr>
          <p:nvPr/>
        </p:nvCxnSpPr>
        <p:spPr bwMode="auto">
          <a:xfrm flipH="1">
            <a:off x="6934200" y="2668588"/>
            <a:ext cx="685800" cy="5699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4" name="AutoShape 55"/>
          <p:cNvCxnSpPr>
            <a:cxnSpLocks noChangeShapeType="1"/>
            <a:stCxn id="15398" idx="2"/>
            <a:endCxn id="15396" idx="4"/>
          </p:cNvCxnSpPr>
          <p:nvPr/>
        </p:nvCxnSpPr>
        <p:spPr bwMode="auto">
          <a:xfrm flipH="1" flipV="1">
            <a:off x="7010400" y="2933700"/>
            <a:ext cx="609600" cy="6492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5" name="AutoShape 56"/>
          <p:cNvCxnSpPr>
            <a:cxnSpLocks noChangeShapeType="1"/>
            <a:stCxn id="15399" idx="2"/>
            <a:endCxn id="15396" idx="4"/>
          </p:cNvCxnSpPr>
          <p:nvPr/>
        </p:nvCxnSpPr>
        <p:spPr bwMode="auto">
          <a:xfrm flipH="1" flipV="1">
            <a:off x="7010400" y="2933700"/>
            <a:ext cx="609600" cy="1920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6" name="AutoShape 57"/>
          <p:cNvCxnSpPr>
            <a:cxnSpLocks noChangeShapeType="1"/>
            <a:stCxn id="15396" idx="4"/>
            <a:endCxn id="15400" idx="2"/>
          </p:cNvCxnSpPr>
          <p:nvPr/>
        </p:nvCxnSpPr>
        <p:spPr bwMode="auto">
          <a:xfrm flipV="1">
            <a:off x="7010400" y="2668588"/>
            <a:ext cx="609600" cy="2651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7" name="AutoShape 58"/>
          <p:cNvCxnSpPr>
            <a:cxnSpLocks noChangeShapeType="1"/>
            <a:stCxn id="629808" idx="2"/>
            <a:endCxn id="629766" idx="3"/>
          </p:cNvCxnSpPr>
          <p:nvPr/>
        </p:nvCxnSpPr>
        <p:spPr bwMode="auto">
          <a:xfrm flipH="1" flipV="1">
            <a:off x="4073525" y="2362200"/>
            <a:ext cx="2327275" cy="876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8" name="AutoShape 59"/>
          <p:cNvCxnSpPr>
            <a:cxnSpLocks noChangeShapeType="1"/>
            <a:stCxn id="629808" idx="2"/>
            <a:endCxn id="15365" idx="3"/>
          </p:cNvCxnSpPr>
          <p:nvPr/>
        </p:nvCxnSpPr>
        <p:spPr bwMode="auto">
          <a:xfrm flipH="1" flipV="1">
            <a:off x="4918075" y="2438400"/>
            <a:ext cx="1482725" cy="8001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09" name="AutoShape 60"/>
          <p:cNvCxnSpPr>
            <a:cxnSpLocks noChangeShapeType="1"/>
            <a:stCxn id="15396" idx="2"/>
            <a:endCxn id="629766" idx="3"/>
          </p:cNvCxnSpPr>
          <p:nvPr/>
        </p:nvCxnSpPr>
        <p:spPr bwMode="auto">
          <a:xfrm flipH="1" flipV="1">
            <a:off x="4073525" y="2362200"/>
            <a:ext cx="2403475" cy="5715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0" name="AutoShape 61"/>
          <p:cNvCxnSpPr>
            <a:cxnSpLocks noChangeShapeType="1"/>
            <a:stCxn id="15396" idx="2"/>
            <a:endCxn id="15365" idx="3"/>
          </p:cNvCxnSpPr>
          <p:nvPr/>
        </p:nvCxnSpPr>
        <p:spPr bwMode="auto">
          <a:xfrm flipH="1" flipV="1">
            <a:off x="4918075" y="2438400"/>
            <a:ext cx="1558925" cy="4953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411" name="AutoShape 62"/>
          <p:cNvSpPr>
            <a:spLocks noChangeArrowheads="1"/>
          </p:cNvSpPr>
          <p:nvPr/>
        </p:nvSpPr>
        <p:spPr bwMode="auto">
          <a:xfrm>
            <a:off x="1143000" y="1981200"/>
            <a:ext cx="609600" cy="1371600"/>
          </a:xfrm>
          <a:prstGeom prst="cube">
            <a:avLst>
              <a:gd name="adj" fmla="val 43750"/>
            </a:avLst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cxnSp>
        <p:nvCxnSpPr>
          <p:cNvPr id="15412" name="AutoShape 65"/>
          <p:cNvCxnSpPr>
            <a:cxnSpLocks noChangeShapeType="1"/>
            <a:stCxn id="15365" idx="1"/>
          </p:cNvCxnSpPr>
          <p:nvPr/>
        </p:nvCxnSpPr>
        <p:spPr bwMode="auto">
          <a:xfrm flipV="1">
            <a:off x="4918075" y="1143000"/>
            <a:ext cx="111125" cy="6858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3" name="AutoShape 67"/>
          <p:cNvCxnSpPr>
            <a:cxnSpLocks noChangeShapeType="1"/>
            <a:stCxn id="629766" idx="1"/>
          </p:cNvCxnSpPr>
          <p:nvPr/>
        </p:nvCxnSpPr>
        <p:spPr bwMode="auto">
          <a:xfrm flipV="1">
            <a:off x="4073525" y="1143000"/>
            <a:ext cx="574675" cy="6096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5414" name="Group 75"/>
          <p:cNvGrpSpPr>
            <a:grpSpLocks/>
          </p:cNvGrpSpPr>
          <p:nvPr/>
        </p:nvGrpSpPr>
        <p:grpSpPr bwMode="auto">
          <a:xfrm>
            <a:off x="838200" y="5638800"/>
            <a:ext cx="457200" cy="457200"/>
            <a:chOff x="2256" y="3744"/>
            <a:chExt cx="288" cy="288"/>
          </a:xfrm>
        </p:grpSpPr>
        <p:sp>
          <p:nvSpPr>
            <p:cNvPr id="629834" name="AutoShape 74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15464" name="Line 71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65" name="Line 72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66" name="Line 73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pic>
        <p:nvPicPr>
          <p:cNvPr id="629838" name="Picture 78" descr="MCj04338690000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248400"/>
            <a:ext cx="60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416" name="Group 79"/>
          <p:cNvGrpSpPr>
            <a:grpSpLocks/>
          </p:cNvGrpSpPr>
          <p:nvPr/>
        </p:nvGrpSpPr>
        <p:grpSpPr bwMode="auto">
          <a:xfrm>
            <a:off x="1905000" y="5638800"/>
            <a:ext cx="457200" cy="457200"/>
            <a:chOff x="2256" y="3744"/>
            <a:chExt cx="288" cy="288"/>
          </a:xfrm>
        </p:grpSpPr>
        <p:sp>
          <p:nvSpPr>
            <p:cNvPr id="629840" name="AutoShape 80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15460" name="Line 81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61" name="Line 82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62" name="Line 83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5417" name="Group 84"/>
          <p:cNvGrpSpPr>
            <a:grpSpLocks/>
          </p:cNvGrpSpPr>
          <p:nvPr/>
        </p:nvGrpSpPr>
        <p:grpSpPr bwMode="auto">
          <a:xfrm>
            <a:off x="2971800" y="5638800"/>
            <a:ext cx="457200" cy="457200"/>
            <a:chOff x="2256" y="3744"/>
            <a:chExt cx="288" cy="288"/>
          </a:xfrm>
        </p:grpSpPr>
        <p:sp>
          <p:nvSpPr>
            <p:cNvPr id="629845" name="AutoShape 85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15456" name="Line 86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57" name="Line 87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58" name="Line 88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5418" name="Group 89"/>
          <p:cNvGrpSpPr>
            <a:grpSpLocks/>
          </p:cNvGrpSpPr>
          <p:nvPr/>
        </p:nvGrpSpPr>
        <p:grpSpPr bwMode="auto">
          <a:xfrm>
            <a:off x="4572000" y="5486400"/>
            <a:ext cx="457200" cy="457200"/>
            <a:chOff x="2256" y="3744"/>
            <a:chExt cx="288" cy="288"/>
          </a:xfrm>
        </p:grpSpPr>
        <p:sp>
          <p:nvSpPr>
            <p:cNvPr id="629850" name="AutoShape 90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15452" name="Line 91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53" name="Line 92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54" name="Line 93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5419" name="Group 94"/>
          <p:cNvGrpSpPr>
            <a:grpSpLocks/>
          </p:cNvGrpSpPr>
          <p:nvPr/>
        </p:nvGrpSpPr>
        <p:grpSpPr bwMode="auto">
          <a:xfrm>
            <a:off x="5334000" y="5486400"/>
            <a:ext cx="457200" cy="457200"/>
            <a:chOff x="2256" y="3744"/>
            <a:chExt cx="288" cy="288"/>
          </a:xfrm>
        </p:grpSpPr>
        <p:sp>
          <p:nvSpPr>
            <p:cNvPr id="629855" name="AutoShape 95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15448" name="Line 96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49" name="Line 97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50" name="Line 98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5420" name="Group 99"/>
          <p:cNvGrpSpPr>
            <a:grpSpLocks/>
          </p:cNvGrpSpPr>
          <p:nvPr/>
        </p:nvGrpSpPr>
        <p:grpSpPr bwMode="auto">
          <a:xfrm>
            <a:off x="6096000" y="5486400"/>
            <a:ext cx="457200" cy="457200"/>
            <a:chOff x="2256" y="3744"/>
            <a:chExt cx="288" cy="288"/>
          </a:xfrm>
        </p:grpSpPr>
        <p:sp>
          <p:nvSpPr>
            <p:cNvPr id="629860" name="AutoShape 100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15444" name="Line 101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45" name="Line 102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46" name="Line 103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15421" name="Group 104"/>
          <p:cNvGrpSpPr>
            <a:grpSpLocks/>
          </p:cNvGrpSpPr>
          <p:nvPr/>
        </p:nvGrpSpPr>
        <p:grpSpPr bwMode="auto">
          <a:xfrm>
            <a:off x="8458200" y="1905000"/>
            <a:ext cx="457200" cy="457200"/>
            <a:chOff x="2256" y="3744"/>
            <a:chExt cx="288" cy="288"/>
          </a:xfrm>
        </p:grpSpPr>
        <p:sp>
          <p:nvSpPr>
            <p:cNvPr id="629865" name="AutoShape 105"/>
            <p:cNvSpPr>
              <a:spLocks noChangeArrowheads="1"/>
            </p:cNvSpPr>
            <p:nvPr/>
          </p:nvSpPr>
          <p:spPr bwMode="auto">
            <a:xfrm>
              <a:off x="2256" y="3888"/>
              <a:ext cx="288" cy="144"/>
            </a:xfrm>
            <a:prstGeom prst="cube">
              <a:avLst>
                <a:gd name="adj" fmla="val 53125"/>
              </a:avLst>
            </a:prstGeom>
            <a:gradFill rotWithShape="1">
              <a:gsLst>
                <a:gs pos="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15440" name="Line 106"/>
            <p:cNvSpPr>
              <a:spLocks noChangeShapeType="1"/>
            </p:cNvSpPr>
            <p:nvPr/>
          </p:nvSpPr>
          <p:spPr bwMode="auto">
            <a:xfrm>
              <a:off x="2400" y="3744"/>
              <a:ext cx="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41" name="Line 107"/>
            <p:cNvSpPr>
              <a:spLocks noChangeShapeType="1"/>
            </p:cNvSpPr>
            <p:nvPr/>
          </p:nvSpPr>
          <p:spPr bwMode="auto">
            <a:xfrm flipH="1" flipV="1">
              <a:off x="2304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442" name="Line 108"/>
            <p:cNvSpPr>
              <a:spLocks noChangeShapeType="1"/>
            </p:cNvSpPr>
            <p:nvPr/>
          </p:nvSpPr>
          <p:spPr bwMode="auto">
            <a:xfrm flipV="1">
              <a:off x="2400" y="3744"/>
              <a:ext cx="96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cxnSp>
        <p:nvCxnSpPr>
          <p:cNvPr id="15422" name="AutoShape 109"/>
          <p:cNvCxnSpPr>
            <a:cxnSpLocks noChangeShapeType="1"/>
            <a:stCxn id="15368" idx="3"/>
            <a:endCxn id="629834" idx="0"/>
          </p:cNvCxnSpPr>
          <p:nvPr/>
        </p:nvCxnSpPr>
        <p:spPr bwMode="auto">
          <a:xfrm flipH="1">
            <a:off x="1127125" y="5334000"/>
            <a:ext cx="280988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3" name="AutoShape 110"/>
          <p:cNvCxnSpPr>
            <a:cxnSpLocks noChangeShapeType="1"/>
            <a:stCxn id="15369" idx="3"/>
            <a:endCxn id="629840" idx="0"/>
          </p:cNvCxnSpPr>
          <p:nvPr/>
        </p:nvCxnSpPr>
        <p:spPr bwMode="auto">
          <a:xfrm>
            <a:off x="2170113" y="5334000"/>
            <a:ext cx="2381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4" name="AutoShape 111"/>
          <p:cNvCxnSpPr>
            <a:cxnSpLocks noChangeShapeType="1"/>
            <a:stCxn id="15370" idx="3"/>
            <a:endCxn id="629845" idx="0"/>
          </p:cNvCxnSpPr>
          <p:nvPr/>
        </p:nvCxnSpPr>
        <p:spPr bwMode="auto">
          <a:xfrm>
            <a:off x="2932113" y="5334000"/>
            <a:ext cx="328612" cy="5334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5" name="AutoShape 112"/>
          <p:cNvCxnSpPr>
            <a:cxnSpLocks noChangeShapeType="1"/>
            <a:stCxn id="15383" idx="3"/>
            <a:endCxn id="629850" idx="0"/>
          </p:cNvCxnSpPr>
          <p:nvPr/>
        </p:nvCxnSpPr>
        <p:spPr bwMode="auto">
          <a:xfrm>
            <a:off x="4837113" y="5257800"/>
            <a:ext cx="23812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6" name="AutoShape 113"/>
          <p:cNvCxnSpPr>
            <a:cxnSpLocks noChangeShapeType="1"/>
            <a:stCxn id="15384" idx="3"/>
            <a:endCxn id="629855" idx="0"/>
          </p:cNvCxnSpPr>
          <p:nvPr/>
        </p:nvCxnSpPr>
        <p:spPr bwMode="auto">
          <a:xfrm>
            <a:off x="5599113" y="5257800"/>
            <a:ext cx="23812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27" name="AutoShape 114"/>
          <p:cNvCxnSpPr>
            <a:cxnSpLocks noChangeShapeType="1"/>
            <a:stCxn id="15385" idx="3"/>
            <a:endCxn id="629860" idx="0"/>
          </p:cNvCxnSpPr>
          <p:nvPr/>
        </p:nvCxnSpPr>
        <p:spPr bwMode="auto">
          <a:xfrm>
            <a:off x="6361113" y="5257800"/>
            <a:ext cx="23812" cy="4572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9875" name="Freeform 115"/>
          <p:cNvSpPr>
            <a:spLocks/>
          </p:cNvSpPr>
          <p:nvPr/>
        </p:nvSpPr>
        <p:spPr bwMode="auto">
          <a:xfrm>
            <a:off x="1143000" y="3933825"/>
            <a:ext cx="1147763" cy="2009775"/>
          </a:xfrm>
          <a:custGeom>
            <a:avLst/>
            <a:gdLst>
              <a:gd name="T0" fmla="*/ 723 w 723"/>
              <a:gd name="T1" fmla="*/ 0 h 1266"/>
              <a:gd name="T2" fmla="*/ 720 w 723"/>
              <a:gd name="T3" fmla="*/ 18 h 1266"/>
              <a:gd name="T4" fmla="*/ 192 w 723"/>
              <a:gd name="T5" fmla="*/ 738 h 1266"/>
              <a:gd name="T6" fmla="*/ 0 w 723"/>
              <a:gd name="T7" fmla="*/ 1266 h 1266"/>
              <a:gd name="T8" fmla="*/ 0 60000 65536"/>
              <a:gd name="T9" fmla="*/ 0 60000 65536"/>
              <a:gd name="T10" fmla="*/ 0 60000 65536"/>
              <a:gd name="T11" fmla="*/ 0 60000 65536"/>
              <a:gd name="T12" fmla="*/ 0 w 723"/>
              <a:gd name="T13" fmla="*/ 0 h 1266"/>
              <a:gd name="T14" fmla="*/ 723 w 723"/>
              <a:gd name="T15" fmla="*/ 1266 h 12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3" h="1266">
                <a:moveTo>
                  <a:pt x="723" y="0"/>
                </a:moveTo>
                <a:lnTo>
                  <a:pt x="720" y="18"/>
                </a:lnTo>
                <a:lnTo>
                  <a:pt x="192" y="738"/>
                </a:lnTo>
                <a:lnTo>
                  <a:pt x="0" y="1266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629878" name="Freeform 118"/>
          <p:cNvSpPr>
            <a:spLocks/>
          </p:cNvSpPr>
          <p:nvPr/>
        </p:nvSpPr>
        <p:spPr bwMode="auto">
          <a:xfrm>
            <a:off x="2209800" y="4090988"/>
            <a:ext cx="80963" cy="1852612"/>
          </a:xfrm>
          <a:custGeom>
            <a:avLst/>
            <a:gdLst>
              <a:gd name="T0" fmla="*/ 51 w 51"/>
              <a:gd name="T1" fmla="*/ 0 h 1167"/>
              <a:gd name="T2" fmla="*/ 48 w 51"/>
              <a:gd name="T3" fmla="*/ 15 h 1167"/>
              <a:gd name="T4" fmla="*/ 48 w 51"/>
              <a:gd name="T5" fmla="*/ 591 h 1167"/>
              <a:gd name="T6" fmla="*/ 0 w 51"/>
              <a:gd name="T7" fmla="*/ 1167 h 1167"/>
              <a:gd name="T8" fmla="*/ 0 60000 65536"/>
              <a:gd name="T9" fmla="*/ 0 60000 65536"/>
              <a:gd name="T10" fmla="*/ 0 60000 65536"/>
              <a:gd name="T11" fmla="*/ 0 60000 65536"/>
              <a:gd name="T12" fmla="*/ 0 w 51"/>
              <a:gd name="T13" fmla="*/ 0 h 1167"/>
              <a:gd name="T14" fmla="*/ 51 w 51"/>
              <a:gd name="T15" fmla="*/ 1167 h 11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" h="1167">
                <a:moveTo>
                  <a:pt x="51" y="0"/>
                </a:moveTo>
                <a:lnTo>
                  <a:pt x="48" y="15"/>
                </a:lnTo>
                <a:lnTo>
                  <a:pt x="48" y="591"/>
                </a:lnTo>
                <a:lnTo>
                  <a:pt x="0" y="1167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629879" name="Freeform 119"/>
          <p:cNvSpPr>
            <a:spLocks/>
          </p:cNvSpPr>
          <p:nvPr/>
        </p:nvSpPr>
        <p:spPr bwMode="auto">
          <a:xfrm>
            <a:off x="2319338" y="3962400"/>
            <a:ext cx="881062" cy="1905000"/>
          </a:xfrm>
          <a:custGeom>
            <a:avLst/>
            <a:gdLst>
              <a:gd name="T0" fmla="*/ 0 w 555"/>
              <a:gd name="T1" fmla="*/ 0 h 1200"/>
              <a:gd name="T2" fmla="*/ 267 w 555"/>
              <a:gd name="T3" fmla="*/ 96 h 1200"/>
              <a:gd name="T4" fmla="*/ 459 w 555"/>
              <a:gd name="T5" fmla="*/ 816 h 1200"/>
              <a:gd name="T6" fmla="*/ 555 w 555"/>
              <a:gd name="T7" fmla="*/ 1200 h 1200"/>
              <a:gd name="T8" fmla="*/ 0 60000 65536"/>
              <a:gd name="T9" fmla="*/ 0 60000 65536"/>
              <a:gd name="T10" fmla="*/ 0 60000 65536"/>
              <a:gd name="T11" fmla="*/ 0 60000 65536"/>
              <a:gd name="T12" fmla="*/ 0 w 555"/>
              <a:gd name="T13" fmla="*/ 0 h 1200"/>
              <a:gd name="T14" fmla="*/ 555 w 555"/>
              <a:gd name="T15" fmla="*/ 1200 h 12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5" h="1200">
                <a:moveTo>
                  <a:pt x="0" y="0"/>
                </a:moveTo>
                <a:lnTo>
                  <a:pt x="267" y="96"/>
                </a:lnTo>
                <a:lnTo>
                  <a:pt x="459" y="816"/>
                </a:lnTo>
                <a:lnTo>
                  <a:pt x="555" y="1200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629883" name="Freeform 123"/>
          <p:cNvSpPr>
            <a:spLocks/>
          </p:cNvSpPr>
          <p:nvPr/>
        </p:nvSpPr>
        <p:spPr bwMode="auto">
          <a:xfrm>
            <a:off x="4876800" y="2347913"/>
            <a:ext cx="304800" cy="3443287"/>
          </a:xfrm>
          <a:custGeom>
            <a:avLst/>
            <a:gdLst>
              <a:gd name="T0" fmla="*/ 36 w 192"/>
              <a:gd name="T1" fmla="*/ 0 h 2169"/>
              <a:gd name="T2" fmla="*/ 45 w 192"/>
              <a:gd name="T3" fmla="*/ 0 h 2169"/>
              <a:gd name="T4" fmla="*/ 48 w 192"/>
              <a:gd name="T5" fmla="*/ 9 h 2169"/>
              <a:gd name="T6" fmla="*/ 192 w 192"/>
              <a:gd name="T7" fmla="*/ 1113 h 2169"/>
              <a:gd name="T8" fmla="*/ 0 w 192"/>
              <a:gd name="T9" fmla="*/ 1785 h 2169"/>
              <a:gd name="T10" fmla="*/ 0 w 192"/>
              <a:gd name="T11" fmla="*/ 2169 h 21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92"/>
              <a:gd name="T19" fmla="*/ 0 h 2169"/>
              <a:gd name="T20" fmla="*/ 192 w 192"/>
              <a:gd name="T21" fmla="*/ 2169 h 216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92" h="2169">
                <a:moveTo>
                  <a:pt x="36" y="0"/>
                </a:moveTo>
                <a:lnTo>
                  <a:pt x="45" y="0"/>
                </a:lnTo>
                <a:lnTo>
                  <a:pt x="48" y="9"/>
                </a:lnTo>
                <a:lnTo>
                  <a:pt x="192" y="1113"/>
                </a:lnTo>
                <a:lnTo>
                  <a:pt x="0" y="1785"/>
                </a:lnTo>
                <a:lnTo>
                  <a:pt x="0" y="2169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629884" name="Freeform 124"/>
          <p:cNvSpPr>
            <a:spLocks/>
          </p:cNvSpPr>
          <p:nvPr/>
        </p:nvSpPr>
        <p:spPr bwMode="auto">
          <a:xfrm>
            <a:off x="5181600" y="4343400"/>
            <a:ext cx="533400" cy="1447800"/>
          </a:xfrm>
          <a:custGeom>
            <a:avLst/>
            <a:gdLst>
              <a:gd name="T0" fmla="*/ 0 w 336"/>
              <a:gd name="T1" fmla="*/ 0 h 912"/>
              <a:gd name="T2" fmla="*/ 336 w 336"/>
              <a:gd name="T3" fmla="*/ 384 h 912"/>
              <a:gd name="T4" fmla="*/ 240 w 336"/>
              <a:gd name="T5" fmla="*/ 912 h 912"/>
              <a:gd name="T6" fmla="*/ 0 60000 65536"/>
              <a:gd name="T7" fmla="*/ 0 60000 65536"/>
              <a:gd name="T8" fmla="*/ 0 60000 65536"/>
              <a:gd name="T9" fmla="*/ 0 w 336"/>
              <a:gd name="T10" fmla="*/ 0 h 912"/>
              <a:gd name="T11" fmla="*/ 336 w 336"/>
              <a:gd name="T12" fmla="*/ 912 h 9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912">
                <a:moveTo>
                  <a:pt x="0" y="0"/>
                </a:moveTo>
                <a:lnTo>
                  <a:pt x="336" y="384"/>
                </a:lnTo>
                <a:lnTo>
                  <a:pt x="240" y="912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629885" name="Freeform 125"/>
          <p:cNvSpPr>
            <a:spLocks/>
          </p:cNvSpPr>
          <p:nvPr/>
        </p:nvSpPr>
        <p:spPr bwMode="auto">
          <a:xfrm>
            <a:off x="5181600" y="4343400"/>
            <a:ext cx="1295400" cy="1371600"/>
          </a:xfrm>
          <a:custGeom>
            <a:avLst/>
            <a:gdLst>
              <a:gd name="T0" fmla="*/ 0 w 816"/>
              <a:gd name="T1" fmla="*/ 0 h 864"/>
              <a:gd name="T2" fmla="*/ 816 w 816"/>
              <a:gd name="T3" fmla="*/ 384 h 864"/>
              <a:gd name="T4" fmla="*/ 720 w 816"/>
              <a:gd name="T5" fmla="*/ 864 h 864"/>
              <a:gd name="T6" fmla="*/ 0 60000 65536"/>
              <a:gd name="T7" fmla="*/ 0 60000 65536"/>
              <a:gd name="T8" fmla="*/ 0 60000 65536"/>
              <a:gd name="T9" fmla="*/ 0 w 816"/>
              <a:gd name="T10" fmla="*/ 0 h 864"/>
              <a:gd name="T11" fmla="*/ 816 w 816"/>
              <a:gd name="T12" fmla="*/ 864 h 8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864">
                <a:moveTo>
                  <a:pt x="0" y="0"/>
                </a:moveTo>
                <a:lnTo>
                  <a:pt x="816" y="384"/>
                </a:lnTo>
                <a:lnTo>
                  <a:pt x="720" y="864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629888" name="Line 128"/>
          <p:cNvSpPr>
            <a:spLocks noChangeShapeType="1"/>
          </p:cNvSpPr>
          <p:nvPr/>
        </p:nvSpPr>
        <p:spPr bwMode="auto">
          <a:xfrm>
            <a:off x="1600200" y="3200400"/>
            <a:ext cx="685800" cy="762000"/>
          </a:xfrm>
          <a:prstGeom prst="line">
            <a:avLst/>
          </a:pr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629889" name="Freeform 129"/>
          <p:cNvSpPr>
            <a:spLocks/>
          </p:cNvSpPr>
          <p:nvPr/>
        </p:nvSpPr>
        <p:spPr bwMode="auto">
          <a:xfrm>
            <a:off x="4953000" y="2209800"/>
            <a:ext cx="3657600" cy="762000"/>
          </a:xfrm>
          <a:custGeom>
            <a:avLst/>
            <a:gdLst>
              <a:gd name="T0" fmla="*/ 0 w 2304"/>
              <a:gd name="T1" fmla="*/ 144 h 480"/>
              <a:gd name="T2" fmla="*/ 1104 w 2304"/>
              <a:gd name="T3" fmla="*/ 480 h 480"/>
              <a:gd name="T4" fmla="*/ 1968 w 2304"/>
              <a:gd name="T5" fmla="*/ 192 h 480"/>
              <a:gd name="T6" fmla="*/ 2304 w 2304"/>
              <a:gd name="T7" fmla="*/ 0 h 480"/>
              <a:gd name="T8" fmla="*/ 0 60000 65536"/>
              <a:gd name="T9" fmla="*/ 0 60000 65536"/>
              <a:gd name="T10" fmla="*/ 0 60000 65536"/>
              <a:gd name="T11" fmla="*/ 0 60000 65536"/>
              <a:gd name="T12" fmla="*/ 0 w 2304"/>
              <a:gd name="T13" fmla="*/ 0 h 480"/>
              <a:gd name="T14" fmla="*/ 2304 w 2304"/>
              <a:gd name="T15" fmla="*/ 480 h 4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304" h="480">
                <a:moveTo>
                  <a:pt x="0" y="144"/>
                </a:moveTo>
                <a:lnTo>
                  <a:pt x="1104" y="480"/>
                </a:lnTo>
                <a:lnTo>
                  <a:pt x="1968" y="192"/>
                </a:lnTo>
                <a:lnTo>
                  <a:pt x="2304" y="0"/>
                </a:lnTo>
              </a:path>
            </a:pathLst>
          </a:cu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sp>
        <p:nvSpPr>
          <p:cNvPr id="629891" name="Line 131"/>
          <p:cNvSpPr>
            <a:spLocks noChangeShapeType="1"/>
          </p:cNvSpPr>
          <p:nvPr/>
        </p:nvSpPr>
        <p:spPr bwMode="auto">
          <a:xfrm flipV="1">
            <a:off x="2209800" y="2362200"/>
            <a:ext cx="2743200" cy="1447800"/>
          </a:xfrm>
          <a:prstGeom prst="line">
            <a:avLst/>
          </a:prstGeom>
          <a:noFill/>
          <a:ln w="76200" cap="rnd">
            <a:solidFill>
              <a:srgbClr val="F25D44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5437" name="Rectangle 134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altLang="zh-TW" sz="4000" dirty="0" smtClean="0">
                <a:ea typeface="新細明體" panose="02020500000000000000" pitchFamily="18" charset="-120"/>
              </a:rPr>
              <a:t>Example Experiment at the flow level</a:t>
            </a:r>
            <a:br>
              <a:rPr lang="en-US" altLang="zh-TW" sz="4000" dirty="0" smtClean="0">
                <a:ea typeface="新細明體" panose="02020500000000000000" pitchFamily="18" charset="-120"/>
              </a:rPr>
            </a:br>
            <a:r>
              <a:rPr lang="en-US" altLang="zh-TW" sz="3200" i="1" dirty="0" smtClean="0">
                <a:ea typeface="新細明體" panose="02020500000000000000" pitchFamily="18" charset="-120"/>
              </a:rPr>
              <a:t>Mobility</a:t>
            </a:r>
          </a:p>
        </p:txBody>
      </p:sp>
      <p:sp>
        <p:nvSpPr>
          <p:cNvPr id="629895" name="Rectangle 135"/>
          <p:cNvSpPr>
            <a:spLocks noChangeArrowheads="1"/>
          </p:cNvSpPr>
          <p:nvPr/>
        </p:nvSpPr>
        <p:spPr bwMode="auto">
          <a:xfrm>
            <a:off x="3048000" y="3200400"/>
            <a:ext cx="4191000" cy="1905000"/>
          </a:xfrm>
          <a:prstGeom prst="rect">
            <a:avLst/>
          </a:prstGeom>
          <a:solidFill>
            <a:srgbClr val="66FFFF"/>
          </a:solidFill>
          <a:ln>
            <a:noFill/>
          </a:ln>
          <a:effectLst>
            <a:prstShdw prst="shdw17" dist="17961" dir="2700000">
              <a:srgbClr val="3D9999"/>
            </a:prst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2000">
                <a:ea typeface="新細明體" panose="02020500000000000000" pitchFamily="18" charset="-120"/>
              </a:rPr>
              <a:t>Lots of interesting questions</a:t>
            </a:r>
          </a:p>
          <a:p>
            <a:pPr eaLnBrk="1" hangingPunct="1"/>
            <a:endParaRPr lang="en-US" altLang="zh-TW" sz="2000">
              <a:ea typeface="新細明體" panose="02020500000000000000" pitchFamily="18" charset="-120"/>
            </a:endParaRPr>
          </a:p>
          <a:p>
            <a:pPr eaLnBrk="1" hangingPunct="1">
              <a:buFontTx/>
              <a:buChar char="•"/>
            </a:pPr>
            <a:r>
              <a:rPr lang="en-US" altLang="zh-TW">
                <a:solidFill>
                  <a:schemeClr val="accent2"/>
                </a:solidFill>
                <a:ea typeface="新細明體" panose="02020500000000000000" pitchFamily="18" charset="-120"/>
              </a:rPr>
              <a:t> Management of flows</a:t>
            </a:r>
          </a:p>
          <a:p>
            <a:pPr eaLnBrk="1" hangingPunct="1">
              <a:buFontTx/>
              <a:buChar char="•"/>
            </a:pPr>
            <a:r>
              <a:rPr lang="en-US" altLang="zh-TW">
                <a:solidFill>
                  <a:schemeClr val="accent2"/>
                </a:solidFill>
                <a:ea typeface="新細明體" panose="02020500000000000000" pitchFamily="18" charset="-120"/>
              </a:rPr>
              <a:t> Control of switches</a:t>
            </a:r>
          </a:p>
          <a:p>
            <a:pPr eaLnBrk="1" hangingPunct="1">
              <a:buFontTx/>
              <a:buChar char="•"/>
            </a:pPr>
            <a:r>
              <a:rPr lang="en-US" altLang="zh-TW">
                <a:solidFill>
                  <a:schemeClr val="accent2"/>
                </a:solidFill>
                <a:ea typeface="新細明體" panose="02020500000000000000" pitchFamily="18" charset="-120"/>
              </a:rPr>
              <a:t> Access control of users and devices</a:t>
            </a:r>
          </a:p>
          <a:p>
            <a:pPr eaLnBrk="1" hangingPunct="1">
              <a:buFontTx/>
              <a:buChar char="•"/>
            </a:pPr>
            <a:r>
              <a:rPr lang="en-US" altLang="zh-TW">
                <a:solidFill>
                  <a:schemeClr val="accent2"/>
                </a:solidFill>
                <a:ea typeface="新細明體" panose="02020500000000000000" pitchFamily="18" charset="-120"/>
              </a:rPr>
              <a:t> Tracking user location and motion</a:t>
            </a:r>
          </a:p>
        </p:txBody>
      </p:sp>
    </p:spTree>
    <p:extLst>
      <p:ext uri="{BB962C8B-B14F-4D97-AF65-F5344CB8AC3E}">
        <p14:creationId xmlns:p14="http://schemas.microsoft.com/office/powerpoint/2010/main" val="268219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298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0.1 -4.44444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6298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298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 -4.44444E-6 L 0.21666 -4.44444E-6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6298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833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98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2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66 -4.44444E-6 L 0.48333 -4.44444E-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6298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33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2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9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6298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298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6298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8333 -4.21965E-6 C 0.54548 0.00648 0.60781 0.01295 0.65208 0.0044 C 0.69635 -0.00439 0.72222 -0.01618 0.74878 -0.05225 C 0.77534 -0.08855 0.79791 -0.13711 0.81111 -0.21387 C 0.8243 -0.29063 0.82586 -0.40185 0.8276 -0.51306 " pathEditMode="relative" ptsTypes="aaaaA">
                                      <p:cBhvr>
                                        <p:cTn id="55" dur="1000" fill="hold"/>
                                        <p:tgtEl>
                                          <p:spTgt spid="6298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2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2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875" grpId="0" animBg="1"/>
      <p:bldP spid="629878" grpId="0" animBg="1"/>
      <p:bldP spid="629879" grpId="0" animBg="1"/>
      <p:bldP spid="629883" grpId="0" animBg="1"/>
      <p:bldP spid="629883" grpId="1" animBg="1"/>
      <p:bldP spid="629884" grpId="0" animBg="1"/>
      <p:bldP spid="629884" grpId="1" animBg="1"/>
      <p:bldP spid="629885" grpId="0" animBg="1"/>
      <p:bldP spid="629885" grpId="1" animBg="1"/>
      <p:bldP spid="629888" grpId="0" animBg="1"/>
      <p:bldP spid="629889" grpId="0" animBg="1"/>
      <p:bldP spid="629891" grpId="0" animBg="1"/>
      <p:bldP spid="62989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2" descr="co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4098925"/>
            <a:ext cx="1143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3" descr="co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175125"/>
            <a:ext cx="1143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6389" name="AutoShape 4"/>
          <p:cNvCxnSpPr>
            <a:cxnSpLocks noChangeShapeType="1"/>
            <a:endCxn id="16392" idx="1"/>
          </p:cNvCxnSpPr>
          <p:nvPr/>
        </p:nvCxnSpPr>
        <p:spPr bwMode="auto">
          <a:xfrm flipV="1">
            <a:off x="5476875" y="1749425"/>
            <a:ext cx="1685925" cy="277813"/>
          </a:xfrm>
          <a:prstGeom prst="straightConnector1">
            <a:avLst/>
          </a:prstGeom>
          <a:noFill/>
          <a:ln w="381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0" name="Text Box 5"/>
          <p:cNvSpPr txBox="1">
            <a:spLocks noChangeArrowheads="1"/>
          </p:cNvSpPr>
          <p:nvPr/>
        </p:nvSpPr>
        <p:spPr bwMode="auto">
          <a:xfrm>
            <a:off x="6661150" y="911225"/>
            <a:ext cx="1274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</a:pPr>
            <a:r>
              <a:rPr lang="en-US" altLang="zh-TW" sz="2000">
                <a:solidFill>
                  <a:srgbClr val="CC0000"/>
                </a:solidFill>
                <a:latin typeface="Tahoma" panose="020B0604030504040204" pitchFamily="34" charset="0"/>
                <a:ea typeface="新細明體" panose="02020500000000000000" pitchFamily="18" charset="-120"/>
              </a:rPr>
              <a:t>Controller</a:t>
            </a:r>
          </a:p>
        </p:txBody>
      </p:sp>
      <p:pic>
        <p:nvPicPr>
          <p:cNvPr id="16391" name="Picture 6" descr="MCj04316160000[1]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925" y="1298575"/>
            <a:ext cx="803275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2" name="Text Box 7"/>
          <p:cNvSpPr txBox="1">
            <a:spLocks noChangeArrowheads="1"/>
          </p:cNvSpPr>
          <p:nvPr/>
        </p:nvSpPr>
        <p:spPr bwMode="auto">
          <a:xfrm>
            <a:off x="7162800" y="1581150"/>
            <a:ext cx="465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sz="1600">
                <a:solidFill>
                  <a:schemeClr val="bg1"/>
                </a:solidFill>
                <a:ea typeface="新細明體" panose="02020500000000000000" pitchFamily="18" charset="-120"/>
              </a:rPr>
              <a:t>PC</a:t>
            </a:r>
          </a:p>
        </p:txBody>
      </p:sp>
      <p:sp>
        <p:nvSpPr>
          <p:cNvPr id="16393" name="Line 8"/>
          <p:cNvSpPr>
            <a:spLocks noChangeShapeType="1"/>
          </p:cNvSpPr>
          <p:nvPr/>
        </p:nvSpPr>
        <p:spPr bwMode="auto">
          <a:xfrm>
            <a:off x="5348288" y="3717925"/>
            <a:ext cx="1357312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394" name="Line 9"/>
          <p:cNvSpPr>
            <a:spLocks noChangeShapeType="1"/>
          </p:cNvSpPr>
          <p:nvPr/>
        </p:nvSpPr>
        <p:spPr bwMode="auto">
          <a:xfrm flipV="1">
            <a:off x="2286000" y="3641725"/>
            <a:ext cx="1690688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395" name="Rectangle 10"/>
          <p:cNvSpPr>
            <a:spLocks noChangeArrowheads="1"/>
          </p:cNvSpPr>
          <p:nvPr/>
        </p:nvSpPr>
        <p:spPr bwMode="auto">
          <a:xfrm>
            <a:off x="3124200" y="4860925"/>
            <a:ext cx="2667000" cy="167640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  <p:pic>
        <p:nvPicPr>
          <p:cNvPr id="16396" name="Picture 2" descr="NetFPGA_system_tiny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5394325"/>
            <a:ext cx="1371600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7" name="Text Box 28"/>
          <p:cNvSpPr txBox="1">
            <a:spLocks noChangeArrowheads="1"/>
          </p:cNvSpPr>
          <p:nvPr/>
        </p:nvSpPr>
        <p:spPr bwMode="auto">
          <a:xfrm>
            <a:off x="4267200" y="6246813"/>
            <a:ext cx="1162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NetFPGA</a:t>
            </a:r>
          </a:p>
        </p:txBody>
      </p:sp>
      <p:sp>
        <p:nvSpPr>
          <p:cNvPr id="16398" name="Text Box 13"/>
          <p:cNvSpPr txBox="1">
            <a:spLocks noChangeArrowheads="1"/>
          </p:cNvSpPr>
          <p:nvPr/>
        </p:nvSpPr>
        <p:spPr bwMode="auto">
          <a:xfrm>
            <a:off x="3048000" y="4784725"/>
            <a:ext cx="1377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TW" b="1">
                <a:solidFill>
                  <a:schemeClr val="bg1"/>
                </a:solidFill>
                <a:ea typeface="新細明體" panose="02020500000000000000" pitchFamily="18" charset="-120"/>
              </a:rPr>
              <a:t>Laboratory</a:t>
            </a:r>
          </a:p>
        </p:txBody>
      </p:sp>
      <p:sp>
        <p:nvSpPr>
          <p:cNvPr id="16399" name="Line 14"/>
          <p:cNvSpPr>
            <a:spLocks noChangeShapeType="1"/>
          </p:cNvSpPr>
          <p:nvPr/>
        </p:nvSpPr>
        <p:spPr bwMode="auto">
          <a:xfrm flipH="1" flipV="1">
            <a:off x="4548188" y="3717925"/>
            <a:ext cx="23812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400" name="Line 15"/>
          <p:cNvSpPr>
            <a:spLocks noChangeShapeType="1"/>
          </p:cNvSpPr>
          <p:nvPr/>
        </p:nvSpPr>
        <p:spPr bwMode="auto">
          <a:xfrm flipH="1" flipV="1">
            <a:off x="4929188" y="3794125"/>
            <a:ext cx="23812" cy="1752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16401" name="Rectangle 30"/>
          <p:cNvSpPr>
            <a:spLocks noGrp="1" noChangeArrowheads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新細明體" panose="02020500000000000000" pitchFamily="18" charset="-120"/>
              </a:rPr>
              <a:t>Experiments at the packet level</a:t>
            </a:r>
          </a:p>
        </p:txBody>
      </p:sp>
      <p:grpSp>
        <p:nvGrpSpPr>
          <p:cNvPr id="16402" name="Group 31"/>
          <p:cNvGrpSpPr>
            <a:grpSpLocks/>
          </p:cNvGrpSpPr>
          <p:nvPr/>
        </p:nvGrpSpPr>
        <p:grpSpPr bwMode="auto">
          <a:xfrm>
            <a:off x="3657600" y="1676400"/>
            <a:ext cx="2055813" cy="2246313"/>
            <a:chOff x="1486" y="3679"/>
            <a:chExt cx="1295" cy="1415"/>
          </a:xfrm>
        </p:grpSpPr>
        <p:sp>
          <p:nvSpPr>
            <p:cNvPr id="562208" name="AutoShape 32"/>
            <p:cNvSpPr>
              <a:spLocks noChangeArrowheads="1"/>
            </p:cNvSpPr>
            <p:nvPr/>
          </p:nvSpPr>
          <p:spPr bwMode="auto">
            <a:xfrm>
              <a:off x="1486" y="3679"/>
              <a:ext cx="1295" cy="1415"/>
            </a:xfrm>
            <a:prstGeom prst="can">
              <a:avLst>
                <a:gd name="adj" fmla="val 37839"/>
              </a:avLst>
            </a:prstGeom>
            <a:gradFill rotWithShape="1">
              <a:gsLst>
                <a:gs pos="0">
                  <a:schemeClr val="accent1">
                    <a:gamma/>
                    <a:shade val="46275"/>
                    <a:invGamma/>
                  </a:schemeClr>
                </a:gs>
                <a:gs pos="5000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zh-TW" altLang="zh-TW" sz="1200"/>
            </a:p>
          </p:txBody>
        </p:sp>
        <p:sp>
          <p:nvSpPr>
            <p:cNvPr id="16405" name="Text Box 33"/>
            <p:cNvSpPr txBox="1">
              <a:spLocks noChangeArrowheads="1"/>
            </p:cNvSpPr>
            <p:nvPr/>
          </p:nvSpPr>
          <p:spPr bwMode="auto">
            <a:xfrm>
              <a:off x="1535" y="3750"/>
              <a:ext cx="1184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TW" sz="1600">
                  <a:solidFill>
                    <a:srgbClr val="CC0000"/>
                  </a:solidFill>
                  <a:latin typeface="Tahoma" panose="020B0604030504040204" pitchFamily="34" charset="0"/>
                  <a:ea typeface="新細明體" panose="02020500000000000000" pitchFamily="18" charset="-120"/>
                </a:rPr>
                <a:t>OpenFlow-enabled</a:t>
              </a:r>
            </a:p>
            <a:p>
              <a:pPr algn="ctr" eaLnBrk="1" hangingPunct="1"/>
              <a:r>
                <a:rPr lang="en-US" altLang="zh-TW" sz="1600">
                  <a:solidFill>
                    <a:srgbClr val="CC0000"/>
                  </a:solidFill>
                  <a:latin typeface="Tahoma" panose="020B0604030504040204" pitchFamily="34" charset="0"/>
                  <a:ea typeface="新細明體" panose="02020500000000000000" pitchFamily="18" charset="-120"/>
                </a:rPr>
                <a:t>Commercial Switch</a:t>
              </a:r>
            </a:p>
          </p:txBody>
        </p:sp>
        <p:sp>
          <p:nvSpPr>
            <p:cNvPr id="16406" name="Rectangle 34"/>
            <p:cNvSpPr>
              <a:spLocks noChangeArrowheads="1"/>
            </p:cNvSpPr>
            <p:nvPr/>
          </p:nvSpPr>
          <p:spPr bwMode="auto">
            <a:xfrm>
              <a:off x="2325" y="4292"/>
              <a:ext cx="358" cy="64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562211" name="Rectangle 35"/>
            <p:cNvSpPr>
              <a:spLocks noChangeArrowheads="1"/>
            </p:cNvSpPr>
            <p:nvPr/>
          </p:nvSpPr>
          <p:spPr bwMode="auto">
            <a:xfrm>
              <a:off x="2353" y="4655"/>
              <a:ext cx="299" cy="242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000">
                  <a:latin typeface="Arial" charset="0"/>
                </a:rPr>
                <a:t>Flow</a:t>
              </a:r>
            </a:p>
            <a:p>
              <a:pPr algn="ctr">
                <a:defRPr/>
              </a:pPr>
              <a:r>
                <a:rPr lang="en-US" sz="1000">
                  <a:latin typeface="Arial" charset="0"/>
                </a:rPr>
                <a:t>Table</a:t>
              </a:r>
            </a:p>
          </p:txBody>
        </p:sp>
        <p:sp>
          <p:nvSpPr>
            <p:cNvPr id="562212" name="Rectangle 36"/>
            <p:cNvSpPr>
              <a:spLocks noChangeArrowheads="1"/>
            </p:cNvSpPr>
            <p:nvPr/>
          </p:nvSpPr>
          <p:spPr bwMode="auto">
            <a:xfrm>
              <a:off x="2353" y="4333"/>
              <a:ext cx="302" cy="242"/>
            </a:xfrm>
            <a:prstGeom prst="rect">
              <a:avLst/>
            </a:prstGeom>
            <a:solidFill>
              <a:srgbClr val="DDDDDD"/>
            </a:solidFill>
            <a:ln w="9525">
              <a:noFill/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1000">
                  <a:latin typeface="Arial" charset="0"/>
                </a:rPr>
                <a:t>Secure</a:t>
              </a:r>
            </a:p>
            <a:p>
              <a:pPr algn="ctr">
                <a:defRPr/>
              </a:pPr>
              <a:r>
                <a:rPr lang="en-US" sz="900">
                  <a:latin typeface="Arial" charset="0"/>
                </a:rPr>
                <a:t>Channel</a:t>
              </a:r>
            </a:p>
          </p:txBody>
        </p:sp>
        <p:sp>
          <p:nvSpPr>
            <p:cNvPr id="16409" name="Rectangle 37"/>
            <p:cNvSpPr>
              <a:spLocks noChangeArrowheads="1"/>
            </p:cNvSpPr>
            <p:nvPr/>
          </p:nvSpPr>
          <p:spPr bwMode="auto">
            <a:xfrm>
              <a:off x="1581" y="4218"/>
              <a:ext cx="606" cy="72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TW" altLang="zh-TW"/>
            </a:p>
          </p:txBody>
        </p:sp>
        <p:sp>
          <p:nvSpPr>
            <p:cNvPr id="16410" name="Line 38"/>
            <p:cNvSpPr>
              <a:spLocks noChangeShapeType="1"/>
            </p:cNvSpPr>
            <p:nvPr/>
          </p:nvSpPr>
          <p:spPr bwMode="auto">
            <a:xfrm>
              <a:off x="1581" y="4618"/>
              <a:ext cx="110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411" name="Text Box 39"/>
            <p:cNvSpPr txBox="1">
              <a:spLocks noChangeArrowheads="1"/>
            </p:cNvSpPr>
            <p:nvPr/>
          </p:nvSpPr>
          <p:spPr bwMode="auto">
            <a:xfrm>
              <a:off x="1601" y="4291"/>
              <a:ext cx="557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lang="en-US" altLang="zh-TW" sz="1400">
                  <a:ea typeface="新細明體" panose="02020500000000000000" pitchFamily="18" charset="-120"/>
                </a:rPr>
                <a:t>Normal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lang="en-US" altLang="zh-TW" sz="1400">
                  <a:ea typeface="新細明體" panose="02020500000000000000" pitchFamily="18" charset="-120"/>
                </a:rPr>
                <a:t>Software</a:t>
              </a:r>
            </a:p>
          </p:txBody>
        </p:sp>
        <p:sp>
          <p:nvSpPr>
            <p:cNvPr id="16412" name="Text Box 40"/>
            <p:cNvSpPr txBox="1">
              <a:spLocks noChangeArrowheads="1"/>
            </p:cNvSpPr>
            <p:nvPr/>
          </p:nvSpPr>
          <p:spPr bwMode="auto">
            <a:xfrm>
              <a:off x="1593" y="4618"/>
              <a:ext cx="569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zh-TW" sz="1400">
                  <a:ea typeface="新細明體" panose="02020500000000000000" pitchFamily="18" charset="-120"/>
                </a:rPr>
                <a:t>Normal</a:t>
              </a:r>
            </a:p>
            <a:p>
              <a:pPr algn="ctr" eaLnBrk="1" hangingPunct="1"/>
              <a:r>
                <a:rPr lang="en-US" altLang="zh-TW" sz="1400">
                  <a:ea typeface="新細明體" panose="02020500000000000000" pitchFamily="18" charset="-120"/>
                </a:rPr>
                <a:t>Datapath</a:t>
              </a:r>
            </a:p>
          </p:txBody>
        </p:sp>
      </p:grpSp>
      <p:sp>
        <p:nvSpPr>
          <p:cNvPr id="16403" name="Freeform 29"/>
          <p:cNvSpPr>
            <a:spLocks/>
          </p:cNvSpPr>
          <p:nvPr/>
        </p:nvSpPr>
        <p:spPr bwMode="auto">
          <a:xfrm>
            <a:off x="2286000" y="3273425"/>
            <a:ext cx="4572000" cy="2616200"/>
          </a:xfrm>
          <a:custGeom>
            <a:avLst/>
            <a:gdLst>
              <a:gd name="T0" fmla="*/ 2880 w 2880"/>
              <a:gd name="T1" fmla="*/ 616 h 1648"/>
              <a:gd name="T2" fmla="*/ 1872 w 2880"/>
              <a:gd name="T3" fmla="*/ 136 h 1648"/>
              <a:gd name="T4" fmla="*/ 1728 w 2880"/>
              <a:gd name="T5" fmla="*/ 1432 h 1648"/>
              <a:gd name="T6" fmla="*/ 1488 w 2880"/>
              <a:gd name="T7" fmla="*/ 1432 h 1648"/>
              <a:gd name="T8" fmla="*/ 1488 w 2880"/>
              <a:gd name="T9" fmla="*/ 328 h 1648"/>
              <a:gd name="T10" fmla="*/ 1728 w 2880"/>
              <a:gd name="T11" fmla="*/ 88 h 1648"/>
              <a:gd name="T12" fmla="*/ 0 w 2880"/>
              <a:gd name="T13" fmla="*/ 808 h 16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880"/>
              <a:gd name="T22" fmla="*/ 0 h 1648"/>
              <a:gd name="T23" fmla="*/ 2880 w 2880"/>
              <a:gd name="T24" fmla="*/ 1648 h 164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880" h="1648">
                <a:moveTo>
                  <a:pt x="2880" y="616"/>
                </a:moveTo>
                <a:cubicBezTo>
                  <a:pt x="2472" y="308"/>
                  <a:pt x="2064" y="0"/>
                  <a:pt x="1872" y="136"/>
                </a:cubicBezTo>
                <a:cubicBezTo>
                  <a:pt x="1680" y="272"/>
                  <a:pt x="1792" y="1216"/>
                  <a:pt x="1728" y="1432"/>
                </a:cubicBezTo>
                <a:cubicBezTo>
                  <a:pt x="1664" y="1648"/>
                  <a:pt x="1528" y="1616"/>
                  <a:pt x="1488" y="1432"/>
                </a:cubicBezTo>
                <a:cubicBezTo>
                  <a:pt x="1448" y="1248"/>
                  <a:pt x="1448" y="552"/>
                  <a:pt x="1488" y="328"/>
                </a:cubicBezTo>
                <a:cubicBezTo>
                  <a:pt x="1528" y="104"/>
                  <a:pt x="1976" y="8"/>
                  <a:pt x="1728" y="88"/>
                </a:cubicBezTo>
                <a:cubicBezTo>
                  <a:pt x="1480" y="168"/>
                  <a:pt x="740" y="488"/>
                  <a:pt x="0" y="808"/>
                </a:cubicBezTo>
              </a:path>
            </a:pathLst>
          </a:custGeom>
          <a:noFill/>
          <a:ln w="38100" cap="rnd">
            <a:solidFill>
              <a:srgbClr val="FF33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2982075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err="1" smtClean="0">
                <a:ea typeface="新細明體" panose="02020500000000000000" pitchFamily="18" charset="-120"/>
              </a:rPr>
              <a:t>OpenFlow</a:t>
            </a:r>
            <a:r>
              <a:rPr lang="en-US" altLang="zh-TW" dirty="0" smtClean="0">
                <a:ea typeface="新細明體" panose="02020500000000000000" pitchFamily="18" charset="-120"/>
              </a:rPr>
              <a:t> Usage Models(2/2)</a:t>
            </a:r>
          </a:p>
        </p:txBody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17638"/>
            <a:ext cx="8229600" cy="48307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ea typeface="新細明體" panose="02020500000000000000" pitchFamily="18" charset="-120"/>
              </a:rPr>
              <a:t>Experiments at the flow level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  <a:ea typeface="新細明體" panose="02020500000000000000" pitchFamily="18" charset="-120"/>
              </a:rPr>
              <a:t>Experiments at the packet 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  <a:ea typeface="新細明體" panose="02020500000000000000" pitchFamily="18" charset="-120"/>
              </a:rPr>
              <a:t>level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Alternatives to IP</a:t>
            </a:r>
          </a:p>
          <a:p>
            <a:pPr marL="1028700" lvl="1" indent="-342900"/>
            <a:r>
              <a:rPr lang="en-US" altLang="zh-TW" dirty="0" smtClean="0">
                <a:ea typeface="新細明體" panose="02020500000000000000" pitchFamily="18" charset="-120"/>
              </a:rPr>
              <a:t>Flow-table is Layer-2 based</a:t>
            </a:r>
          </a:p>
          <a:p>
            <a:pPr marL="1028700" lvl="1" indent="-342900"/>
            <a:r>
              <a:rPr lang="en-US" altLang="zh-TW" dirty="0" smtClean="0">
                <a:ea typeface="新細明體" panose="02020500000000000000" pitchFamily="18" charset="-120"/>
              </a:rPr>
              <a:t>e.g. new naming and addressing schemes</a:t>
            </a:r>
          </a:p>
          <a:p>
            <a:pPr marL="1028700" lvl="1" indent="-342900"/>
            <a:r>
              <a:rPr lang="en-US" altLang="zh-TW" dirty="0" smtClean="0">
                <a:ea typeface="新細明體" panose="02020500000000000000" pitchFamily="18" charset="-12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64782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939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1772816"/>
            <a:ext cx="7772400" cy="2634085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Switching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Usage models </a:t>
            </a:r>
          </a:p>
          <a:p>
            <a:r>
              <a:rPr lang="en-US" altLang="zh-TW" dirty="0"/>
              <a:t>Virtualizing </a:t>
            </a:r>
            <a:r>
              <a:rPr lang="en-US" altLang="zh-TW" dirty="0" err="1"/>
              <a:t>OpenFlow</a:t>
            </a:r>
            <a:endParaRPr lang="en-US" altLang="zh-TW" dirty="0"/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FlowVisor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-based Virtualization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references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70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Virtualization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Network Operators “Delegate” control of subsets of network hardware and/or </a:t>
            </a:r>
            <a:r>
              <a:rPr lang="en-US" dirty="0" smtClean="0"/>
              <a:t>traffic to other Network Operators or Users</a:t>
            </a:r>
            <a:endParaRPr lang="en-US" dirty="0"/>
          </a:p>
          <a:p>
            <a:r>
              <a:rPr lang="en-US" dirty="0" smtClean="0"/>
              <a:t>Multiple Controllers can talk to same set of switches</a:t>
            </a:r>
            <a:endParaRPr lang="en-US" dirty="0"/>
          </a:p>
          <a:p>
            <a:r>
              <a:rPr lang="en-US" dirty="0" smtClean="0"/>
              <a:t>Imagine a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Hypervisor</a:t>
            </a:r>
            <a:r>
              <a:rPr lang="en-US" dirty="0"/>
              <a:t> for network </a:t>
            </a:r>
            <a:r>
              <a:rPr lang="en-US" dirty="0" smtClean="0"/>
              <a:t>equipment</a:t>
            </a:r>
          </a:p>
          <a:p>
            <a:r>
              <a:rPr lang="en-US" dirty="0" smtClean="0"/>
              <a:t>Allows experiments to be run on the network in isolation of each other and </a:t>
            </a:r>
            <a:r>
              <a:rPr lang="en-US" dirty="0"/>
              <a:t>p</a:t>
            </a:r>
            <a:r>
              <a:rPr lang="en-US" dirty="0" smtClean="0"/>
              <a:t>roduction traffic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52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ounded Rectangle 77"/>
          <p:cNvSpPr/>
          <p:nvPr/>
        </p:nvSpPr>
        <p:spPr>
          <a:xfrm>
            <a:off x="381000" y="1485900"/>
            <a:ext cx="3733800" cy="373380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815009" y="2748089"/>
            <a:ext cx="1033670" cy="72563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rgbClr val="FFFFFF"/>
                </a:solidFill>
              </a:rPr>
              <a:t>Windows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404" y="2814056"/>
            <a:ext cx="1033670" cy="72563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rgbClr val="FFFFFF"/>
                </a:solidFill>
              </a:rPr>
              <a:t>Windows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42491" y="2748089"/>
            <a:ext cx="646044" cy="725632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82348" y="2748089"/>
            <a:ext cx="646044" cy="725632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Mac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61052" y="4265319"/>
            <a:ext cx="1615109" cy="725632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>
                <a:solidFill>
                  <a:schemeClr val="bg1"/>
                </a:solidFill>
              </a:rPr>
              <a:t>x86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>
                <a:solidFill>
                  <a:schemeClr val="bg1"/>
                </a:solidFill>
              </a:rPr>
              <a:t>(Computer)</a:t>
            </a:r>
            <a:endParaRPr lang="en-US" sz="1400" b="1">
              <a:solidFill>
                <a:schemeClr val="bg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85800" y="2880023"/>
            <a:ext cx="1033670" cy="725632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rgbClr val="FFFFFF"/>
                </a:solidFill>
              </a:rPr>
              <a:t>Windows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>
                <a:solidFill>
                  <a:srgbClr val="FFFFFF"/>
                </a:solidFill>
              </a:rPr>
              <a:t>(OS)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82348" y="2088424"/>
            <a:ext cx="646044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9613" y="2088424"/>
            <a:ext cx="775252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77887" y="2814056"/>
            <a:ext cx="646044" cy="725632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13282" y="2880023"/>
            <a:ext cx="646044" cy="725632"/>
          </a:xfrm>
          <a:prstGeom prst="roundRect">
            <a:avLst/>
          </a:prstGeom>
          <a:gradFill>
            <a:gsLst>
              <a:gs pos="0">
                <a:srgbClr val="008000"/>
              </a:gs>
              <a:gs pos="100000">
                <a:srgbClr val="00C362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Linux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817744" y="2814056"/>
            <a:ext cx="646044" cy="725632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Mac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53139" y="2880023"/>
            <a:ext cx="646044" cy="725632"/>
          </a:xfrm>
          <a:prstGeom prst="roundRect">
            <a:avLst/>
          </a:prstGeom>
          <a:gradFill>
            <a:gsLst>
              <a:gs pos="0">
                <a:srgbClr val="FF00FF"/>
              </a:gs>
              <a:gs pos="100000">
                <a:srgbClr val="FF99C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Mac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3671620"/>
            <a:ext cx="2971800" cy="527732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tx1"/>
                </a:solidFill>
              </a:rPr>
              <a:t>Virtualization layer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77887" y="2088424"/>
            <a:ext cx="646044" cy="593699"/>
          </a:xfrm>
          <a:prstGeom prst="roundRect">
            <a:avLst/>
          </a:prstGeom>
          <a:gradFill>
            <a:gsLst>
              <a:gs pos="0">
                <a:schemeClr val="accent6">
                  <a:tint val="100000"/>
                  <a:shade val="100000"/>
                  <a:satMod val="130000"/>
                  <a:alpha val="60000"/>
                </a:schemeClr>
              </a:gs>
              <a:gs pos="100000">
                <a:schemeClr val="accent6">
                  <a:tint val="50000"/>
                  <a:shade val="100000"/>
                  <a:satMod val="350000"/>
                  <a:alpha val="45000"/>
                </a:schemeClr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>
                <a:solidFill>
                  <a:srgbClr val="FFFFFF"/>
                </a:solidFill>
              </a:rPr>
              <a:t>App</a:t>
            </a:r>
          </a:p>
        </p:txBody>
      </p:sp>
      <p:grpSp>
        <p:nvGrpSpPr>
          <p:cNvPr id="2" name="Group 47"/>
          <p:cNvGrpSpPr>
            <a:grpSpLocks/>
          </p:cNvGrpSpPr>
          <p:nvPr/>
        </p:nvGrpSpPr>
        <p:grpSpPr bwMode="auto">
          <a:xfrm>
            <a:off x="4191000" y="1485900"/>
            <a:ext cx="4648200" cy="4075113"/>
            <a:chOff x="4191000" y="990600"/>
            <a:chExt cx="4648200" cy="4075113"/>
          </a:xfrm>
        </p:grpSpPr>
        <p:sp>
          <p:nvSpPr>
            <p:cNvPr id="79" name="Rounded Rectangle 78"/>
            <p:cNvSpPr/>
            <p:nvPr/>
          </p:nvSpPr>
          <p:spPr>
            <a:xfrm>
              <a:off x="4876800" y="990600"/>
              <a:ext cx="3962400" cy="37338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5181600" y="2120062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>
                  <a:solidFill>
                    <a:srgbClr val="FFFFFF"/>
                  </a:solidFill>
                </a:rPr>
                <a:t>Controller 1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7530548" y="1371600"/>
              <a:ext cx="646044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5" name="Rounded Rectangle 54"/>
            <p:cNvSpPr/>
            <p:nvPr/>
          </p:nvSpPr>
          <p:spPr>
            <a:xfrm>
              <a:off x="5527813" y="1371600"/>
              <a:ext cx="775252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9" name="Rounded Rectangle 58"/>
            <p:cNvSpPr/>
            <p:nvPr/>
          </p:nvSpPr>
          <p:spPr>
            <a:xfrm>
              <a:off x="7239000" y="21336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>
                  <a:solidFill>
                    <a:srgbClr val="FFFFFF"/>
                  </a:solidFill>
                </a:rPr>
                <a:t>Controller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5029199" y="3107196"/>
              <a:ext cx="3706813" cy="527732"/>
            </a:xfrm>
            <a:prstGeom prst="roundRect">
              <a:avLst/>
            </a:prstGeom>
            <a:solidFill>
              <a:schemeClr val="accent1"/>
            </a:solidFill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solidFill>
                    <a:schemeClr val="tx1"/>
                  </a:solidFill>
                </a:rPr>
                <a:t>Virtualization or “Slicing”</a:t>
              </a:r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6626087" y="1371600"/>
              <a:ext cx="646044" cy="593699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5547691" y="3770168"/>
              <a:ext cx="1615109" cy="725632"/>
            </a:xfrm>
            <a:prstGeom prst="roundRect">
              <a:avLst/>
            </a:prstGeom>
            <a:solidFill>
              <a:srgbClr val="00009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b="1">
                  <a:solidFill>
                    <a:schemeClr val="bg1"/>
                  </a:solidFill>
                </a:rPr>
                <a:t>OpenFlow</a:t>
              </a:r>
              <a:endParaRPr lang="en-US" sz="1400" b="1">
                <a:solidFill>
                  <a:schemeClr val="bg1"/>
                </a:solidFill>
              </a:endParaRPr>
            </a:p>
          </p:txBody>
        </p:sp>
        <p:grpSp>
          <p:nvGrpSpPr>
            <p:cNvPr id="230468" name="Group 71"/>
            <p:cNvGrpSpPr>
              <a:grpSpLocks/>
            </p:cNvGrpSpPr>
            <p:nvPr/>
          </p:nvGrpSpPr>
          <p:grpSpPr bwMode="auto">
            <a:xfrm>
              <a:off x="6696075" y="3810000"/>
              <a:ext cx="2039938" cy="1255713"/>
              <a:chOff x="3419475" y="3048000"/>
              <a:chExt cx="4460534" cy="3767139"/>
            </a:xfrm>
          </p:grpSpPr>
          <p:sp>
            <p:nvSpPr>
              <p:cNvPr id="230469" name="Line 16"/>
              <p:cNvSpPr>
                <a:spLocks noChangeShapeType="1"/>
              </p:cNvSpPr>
              <p:nvPr/>
            </p:nvSpPr>
            <p:spPr bwMode="auto">
              <a:xfrm flipV="1">
                <a:off x="4181475" y="3505200"/>
                <a:ext cx="1752600" cy="10668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470" name="Line 17"/>
              <p:cNvSpPr>
                <a:spLocks noChangeShapeType="1"/>
              </p:cNvSpPr>
              <p:nvPr/>
            </p:nvSpPr>
            <p:spPr bwMode="auto">
              <a:xfrm>
                <a:off x="4105275" y="4876800"/>
                <a:ext cx="990600" cy="12954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471" name="Line 18"/>
              <p:cNvSpPr>
                <a:spLocks noChangeShapeType="1"/>
              </p:cNvSpPr>
              <p:nvPr/>
            </p:nvSpPr>
            <p:spPr bwMode="auto">
              <a:xfrm flipV="1">
                <a:off x="5476875" y="4876800"/>
                <a:ext cx="1295400" cy="11430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472" name="Line 19"/>
              <p:cNvSpPr>
                <a:spLocks noChangeShapeType="1"/>
              </p:cNvSpPr>
              <p:nvPr/>
            </p:nvSpPr>
            <p:spPr bwMode="auto">
              <a:xfrm>
                <a:off x="5934075" y="3657600"/>
                <a:ext cx="762000" cy="99060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473" name="Line 20"/>
              <p:cNvSpPr>
                <a:spLocks noChangeShapeType="1"/>
              </p:cNvSpPr>
              <p:nvPr/>
            </p:nvSpPr>
            <p:spPr bwMode="auto">
              <a:xfrm>
                <a:off x="4486275" y="4953000"/>
                <a:ext cx="190500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AutoShape 7"/>
              <p:cNvSpPr>
                <a:spLocks noChangeArrowheads="1"/>
              </p:cNvSpPr>
              <p:nvPr/>
            </p:nvSpPr>
            <p:spPr bwMode="auto">
              <a:xfrm>
                <a:off x="3419475" y="4419600"/>
                <a:ext cx="1371138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Arial" pitchFamily="-112" charset="0"/>
                </a:endParaRPr>
              </a:p>
            </p:txBody>
          </p:sp>
          <p:sp>
            <p:nvSpPr>
              <p:cNvPr id="68" name="AutoShape 8"/>
              <p:cNvSpPr>
                <a:spLocks noChangeArrowheads="1"/>
              </p:cNvSpPr>
              <p:nvPr/>
            </p:nvSpPr>
            <p:spPr bwMode="auto">
              <a:xfrm>
                <a:off x="5248815" y="3048000"/>
                <a:ext cx="1371135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Arial" pitchFamily="-112" charset="0"/>
                </a:endParaRPr>
              </a:p>
            </p:txBody>
          </p:sp>
          <p:sp>
            <p:nvSpPr>
              <p:cNvPr id="69" name="AutoShape 9"/>
              <p:cNvSpPr>
                <a:spLocks noChangeArrowheads="1"/>
              </p:cNvSpPr>
              <p:nvPr/>
            </p:nvSpPr>
            <p:spPr bwMode="auto">
              <a:xfrm>
                <a:off x="6238115" y="4419600"/>
                <a:ext cx="1371138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Arial" pitchFamily="-112" charset="0"/>
                </a:endParaRPr>
              </a:p>
            </p:txBody>
          </p:sp>
          <p:sp>
            <p:nvSpPr>
              <p:cNvPr id="70" name="AutoShape 10"/>
              <p:cNvSpPr>
                <a:spLocks noChangeArrowheads="1"/>
              </p:cNvSpPr>
              <p:nvPr/>
            </p:nvSpPr>
            <p:spPr bwMode="auto">
              <a:xfrm>
                <a:off x="4561511" y="5943600"/>
                <a:ext cx="1371135" cy="762000"/>
              </a:xfrm>
              <a:prstGeom prst="can">
                <a:avLst>
                  <a:gd name="adj" fmla="val 43620"/>
                </a:avLst>
              </a:pr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Arial" pitchFamily="-112" charset="0"/>
                </a:endParaRPr>
              </a:p>
            </p:txBody>
          </p:sp>
          <p:sp>
            <p:nvSpPr>
              <p:cNvPr id="230478" name="Text Box 28"/>
              <p:cNvSpPr txBox="1">
                <a:spLocks noChangeArrowheads="1"/>
              </p:cNvSpPr>
              <p:nvPr/>
            </p:nvSpPr>
            <p:spPr bwMode="auto">
              <a:xfrm>
                <a:off x="7477346" y="5715000"/>
                <a:ext cx="402663" cy="11001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endParaRPr lang="en-US">
                  <a:latin typeface="Calibri" charset="0"/>
                  <a:ea typeface="ＭＳ Ｐゴシック" charset="-128"/>
                  <a:cs typeface="ＭＳ Ｐゴシック" charset="-128"/>
                </a:endParaRPr>
              </a:p>
            </p:txBody>
          </p:sp>
        </p:grpSp>
        <p:sp>
          <p:nvSpPr>
            <p:cNvPr id="74" name="Rounded Rectangle 73"/>
            <p:cNvSpPr/>
            <p:nvPr/>
          </p:nvSpPr>
          <p:spPr>
            <a:xfrm>
              <a:off x="5105400" y="2203031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>
                  <a:solidFill>
                    <a:srgbClr val="FFFFFF"/>
                  </a:solidFill>
                </a:rPr>
                <a:t>Controller 1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5029200" y="2286000"/>
              <a:ext cx="1295400" cy="725632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rgbClr val="FFFFFF"/>
                  </a:solidFill>
                </a:rPr>
                <a:t>NOX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00" dirty="0">
                  <a:solidFill>
                    <a:srgbClr val="FFFFFF"/>
                  </a:solidFill>
                </a:rPr>
                <a:t>(Network OS)</a:t>
              </a:r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7162800" y="22098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>
                  <a:solidFill>
                    <a:srgbClr val="FFFFFF"/>
                  </a:solidFill>
                </a:rPr>
                <a:t>Controller</a:t>
              </a: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7086600" y="2286000"/>
              <a:ext cx="1447800" cy="725632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>
              <a:prstTxWarp prst="textNoShape">
                <a:avLst/>
              </a:prstTxWarp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rgbClr val="FFFFFF"/>
                  </a:solidFill>
                </a:rPr>
                <a:t>Network OS</a:t>
              </a:r>
            </a:p>
          </p:txBody>
        </p:sp>
        <p:cxnSp>
          <p:nvCxnSpPr>
            <p:cNvPr id="81" name="Straight Connector 80"/>
            <p:cNvCxnSpPr/>
            <p:nvPr/>
          </p:nvCxnSpPr>
          <p:spPr>
            <a:xfrm>
              <a:off x="6324600" y="2649538"/>
              <a:ext cx="762000" cy="1587"/>
            </a:xfrm>
            <a:prstGeom prst="line">
              <a:avLst/>
            </a:prstGeom>
            <a:ln w="2540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ight Arrow 46"/>
            <p:cNvSpPr/>
            <p:nvPr/>
          </p:nvSpPr>
          <p:spPr>
            <a:xfrm>
              <a:off x="4191000" y="2514600"/>
              <a:ext cx="685800" cy="533400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230493" name="Title 47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>
                <a:latin typeface="Calibri" charset="0"/>
              </a:rPr>
              <a:t>Trend</a:t>
            </a:r>
          </a:p>
        </p:txBody>
      </p:sp>
      <p:sp>
        <p:nvSpPr>
          <p:cNvPr id="230494" name="TextBox 48"/>
          <p:cNvSpPr txBox="1">
            <a:spLocks noChangeArrowheads="1"/>
          </p:cNvSpPr>
          <p:nvPr/>
        </p:nvSpPr>
        <p:spPr bwMode="auto">
          <a:xfrm>
            <a:off x="381000" y="5978525"/>
            <a:ext cx="184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endParaRPr lang="en-US"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30495" name="TextBox 47"/>
          <p:cNvSpPr txBox="1">
            <a:spLocks noChangeArrowheads="1"/>
          </p:cNvSpPr>
          <p:nvPr/>
        </p:nvSpPr>
        <p:spPr bwMode="auto">
          <a:xfrm>
            <a:off x="1247775" y="5630863"/>
            <a:ext cx="1954213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Computer Industry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026150" y="5630863"/>
            <a:ext cx="181927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Network Industry</a:t>
            </a:r>
          </a:p>
        </p:txBody>
      </p:sp>
    </p:spTree>
    <p:extLst>
      <p:ext uri="{BB962C8B-B14F-4D97-AF65-F5344CB8AC3E}">
        <p14:creationId xmlns:p14="http://schemas.microsoft.com/office/powerpoint/2010/main" val="27763244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Straight Connector 43"/>
          <p:cNvCxnSpPr>
            <a:cxnSpLocks noChangeShapeType="1"/>
          </p:cNvCxnSpPr>
          <p:nvPr/>
        </p:nvCxnSpPr>
        <p:spPr bwMode="auto">
          <a:xfrm flipV="1">
            <a:off x="2582863" y="4724400"/>
            <a:ext cx="1366837" cy="83661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46" name="Straight Connector 45"/>
          <p:cNvCxnSpPr>
            <a:cxnSpLocks noChangeShapeType="1"/>
          </p:cNvCxnSpPr>
          <p:nvPr/>
        </p:nvCxnSpPr>
        <p:spPr bwMode="auto">
          <a:xfrm>
            <a:off x="4576763" y="4295775"/>
            <a:ext cx="631825" cy="7620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48" name="Straight Connector 47"/>
          <p:cNvCxnSpPr>
            <a:cxnSpLocks noChangeShapeType="1"/>
          </p:cNvCxnSpPr>
          <p:nvPr/>
        </p:nvCxnSpPr>
        <p:spPr bwMode="auto">
          <a:xfrm rot="5400000" flipH="1" flipV="1">
            <a:off x="3941763" y="5500687"/>
            <a:ext cx="655638" cy="627063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50" name="Straight Connector 49"/>
          <p:cNvCxnSpPr>
            <a:cxnSpLocks noChangeShapeType="1"/>
          </p:cNvCxnSpPr>
          <p:nvPr/>
        </p:nvCxnSpPr>
        <p:spPr bwMode="auto">
          <a:xfrm rot="16200000" flipH="1">
            <a:off x="2359819" y="5599906"/>
            <a:ext cx="668338" cy="1273175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52" name="Straight Connector 51"/>
          <p:cNvCxnSpPr>
            <a:cxnSpLocks noChangeShapeType="1"/>
          </p:cNvCxnSpPr>
          <p:nvPr/>
        </p:nvCxnSpPr>
        <p:spPr bwMode="auto">
          <a:xfrm flipV="1">
            <a:off x="5834063" y="5114925"/>
            <a:ext cx="1176337" cy="371475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65" name="Rounded Rectangle 64"/>
          <p:cNvSpPr/>
          <p:nvPr/>
        </p:nvSpPr>
        <p:spPr>
          <a:xfrm>
            <a:off x="6379433" y="4589639"/>
            <a:ext cx="1806352" cy="58942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Simple Packet </a:t>
            </a:r>
            <a:br>
              <a:rPr lang="en-US" sz="1200" b="1">
                <a:solidFill>
                  <a:schemeClr val="bg1"/>
                </a:solidFill>
              </a:rPr>
            </a:br>
            <a:r>
              <a:rPr lang="en-US" sz="1200" b="1">
                <a:solidFill>
                  <a:schemeClr val="bg1"/>
                </a:solidFill>
              </a:rPr>
              <a:t>Forwarding Hardware</a:t>
            </a:r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1211367" y="1540530"/>
            <a:ext cx="1406945" cy="809988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FFFFFF"/>
                </a:solidFill>
              </a:rPr>
              <a:t>Network Operating  System 1</a:t>
            </a:r>
          </a:p>
        </p:txBody>
      </p:sp>
      <p:grpSp>
        <p:nvGrpSpPr>
          <p:cNvPr id="2" name="Group 119"/>
          <p:cNvGrpSpPr>
            <a:grpSpLocks/>
          </p:cNvGrpSpPr>
          <p:nvPr/>
        </p:nvGrpSpPr>
        <p:grpSpPr bwMode="auto">
          <a:xfrm>
            <a:off x="4429125" y="3471863"/>
            <a:ext cx="2986088" cy="673100"/>
            <a:chOff x="3650213" y="1672972"/>
            <a:chExt cx="2985801" cy="673471"/>
          </a:xfrm>
        </p:grpSpPr>
        <p:sp>
          <p:nvSpPr>
            <p:cNvPr id="101" name="Right Brace 100"/>
            <p:cNvSpPr>
              <a:spLocks/>
            </p:cNvSpPr>
            <p:nvPr/>
          </p:nvSpPr>
          <p:spPr bwMode="auto">
            <a:xfrm>
              <a:off x="3650213" y="1672972"/>
              <a:ext cx="219054" cy="673471"/>
            </a:xfrm>
            <a:prstGeom prst="rightBrace">
              <a:avLst>
                <a:gd name="adj1" fmla="val 31527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blurRad="63500" dist="20000" dir="5400000" rotWithShape="0">
                <a:srgbClr val="000000">
                  <a:alpha val="68999"/>
                </a:srgbClr>
              </a:outerShdw>
            </a:effectLst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91213" name="TextBox 101"/>
            <p:cNvSpPr txBox="1">
              <a:spLocks noChangeArrowheads="1"/>
            </p:cNvSpPr>
            <p:nvPr/>
          </p:nvSpPr>
          <p:spPr bwMode="auto">
            <a:xfrm>
              <a:off x="3861330" y="1809572"/>
              <a:ext cx="2774684" cy="3669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latin typeface="Calibri" charset="0"/>
                </a:rPr>
                <a:t>Open interface to hardware</a:t>
              </a:r>
            </a:p>
          </p:txBody>
        </p:sp>
      </p:grpSp>
      <p:sp>
        <p:nvSpPr>
          <p:cNvPr id="41" name="Rounded Rectangle 40"/>
          <p:cNvSpPr/>
          <p:nvPr/>
        </p:nvSpPr>
        <p:spPr bwMode="auto">
          <a:xfrm>
            <a:off x="821267" y="2943632"/>
            <a:ext cx="6915182" cy="527732"/>
          </a:xfrm>
          <a:prstGeom prst="roundRect">
            <a:avLst/>
          </a:prstGeom>
          <a:solidFill>
            <a:schemeClr val="accent1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Virtualization or “Slicing” Layer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04501" y="1551670"/>
            <a:ext cx="1406945" cy="809988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FFFFFF"/>
                </a:solidFill>
              </a:rPr>
              <a:t>Network Operating  System 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97635" y="1562810"/>
            <a:ext cx="1406945" cy="809988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FFFFFF"/>
                </a:solidFill>
              </a:rPr>
              <a:t>Network Operating  System 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90769" y="1573950"/>
            <a:ext cx="1406945" cy="809988"/>
          </a:xfrm>
          <a:prstGeom prst="roundRect">
            <a:avLst/>
          </a:prstGeom>
          <a:gradFill>
            <a:gsLst>
              <a:gs pos="0">
                <a:srgbClr val="FF0000"/>
              </a:gs>
              <a:gs pos="100000">
                <a:srgbClr val="F7545C"/>
              </a:gs>
            </a:gsLst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FFFFFF"/>
                </a:solidFill>
              </a:rPr>
              <a:t>Network Operating  System 4</a:t>
            </a:r>
          </a:p>
        </p:txBody>
      </p:sp>
      <p:grpSp>
        <p:nvGrpSpPr>
          <p:cNvPr id="3" name="Group 85"/>
          <p:cNvGrpSpPr>
            <a:grpSpLocks/>
          </p:cNvGrpSpPr>
          <p:nvPr/>
        </p:nvGrpSpPr>
        <p:grpSpPr bwMode="auto">
          <a:xfrm>
            <a:off x="1257300" y="1030288"/>
            <a:ext cx="6096000" cy="492125"/>
            <a:chOff x="1256791" y="1030784"/>
            <a:chExt cx="6096247" cy="492031"/>
          </a:xfrm>
        </p:grpSpPr>
        <p:sp>
          <p:nvSpPr>
            <p:cNvPr id="5" name="Rounded Rectangle 4"/>
            <p:cNvSpPr/>
            <p:nvPr/>
          </p:nvSpPr>
          <p:spPr>
            <a:xfrm>
              <a:off x="1256791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2005753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49" name="Rounded Rectangle 48"/>
            <p:cNvSpPr/>
            <p:nvPr/>
          </p:nvSpPr>
          <p:spPr>
            <a:xfrm>
              <a:off x="2860125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3609087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4463459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5212421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6066793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rgbClr val="FFFFFF"/>
                  </a:solidFill>
                </a:rPr>
                <a:t>App</a:t>
              </a: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6815755" y="1030784"/>
              <a:ext cx="537283" cy="492031"/>
            </a:xfrm>
            <a:prstGeom prst="roundRect">
              <a:avLst/>
            </a:prstGeom>
            <a:gradFill>
              <a:gsLst>
                <a:gs pos="0">
                  <a:schemeClr val="accent6">
                    <a:tint val="100000"/>
                    <a:shade val="100000"/>
                    <a:satMod val="130000"/>
                    <a:alpha val="6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  <a:alpha val="45000"/>
                  </a:schemeClr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00">
                  <a:solidFill>
                    <a:srgbClr val="FFFFFF"/>
                  </a:solidFill>
                </a:rPr>
                <a:t>App</a:t>
              </a:r>
            </a:p>
          </p:txBody>
        </p:sp>
      </p:grpSp>
      <p:grpSp>
        <p:nvGrpSpPr>
          <p:cNvPr id="4" name="Group 87"/>
          <p:cNvGrpSpPr>
            <a:grpSpLocks/>
          </p:cNvGrpSpPr>
          <p:nvPr/>
        </p:nvGrpSpPr>
        <p:grpSpPr bwMode="auto">
          <a:xfrm>
            <a:off x="5411788" y="57150"/>
            <a:ext cx="2771775" cy="1658938"/>
            <a:chOff x="5412254" y="56921"/>
            <a:chExt cx="2771943" cy="1658623"/>
          </a:xfrm>
        </p:grpSpPr>
        <p:sp>
          <p:nvSpPr>
            <p:cNvPr id="91186" name="TextBox 103"/>
            <p:cNvSpPr txBox="1">
              <a:spLocks noChangeArrowheads="1"/>
            </p:cNvSpPr>
            <p:nvPr/>
          </p:nvSpPr>
          <p:spPr bwMode="auto">
            <a:xfrm>
              <a:off x="5412254" y="56921"/>
              <a:ext cx="2771943" cy="641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latin typeface="Calibri" charset="0"/>
                </a:rPr>
                <a:t>Many operating systems, or</a:t>
              </a:r>
            </a:p>
            <a:p>
              <a:pPr algn="ctr"/>
              <a:r>
                <a:rPr lang="en-US">
                  <a:latin typeface="Calibri" charset="0"/>
                </a:rPr>
                <a:t>Many versions</a:t>
              </a:r>
            </a:p>
          </p:txBody>
        </p:sp>
        <p:cxnSp>
          <p:nvCxnSpPr>
            <p:cNvPr id="119" name="Straight Arrow Connector 118"/>
            <p:cNvCxnSpPr>
              <a:cxnSpLocks noChangeShapeType="1"/>
            </p:cNvCxnSpPr>
            <p:nvPr/>
          </p:nvCxnSpPr>
          <p:spPr bwMode="auto">
            <a:xfrm rot="16200000" flipH="1">
              <a:off x="6196651" y="1220338"/>
              <a:ext cx="990412" cy="0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</p:grpSp>
      <p:grpSp>
        <p:nvGrpSpPr>
          <p:cNvPr id="6" name="Group 75"/>
          <p:cNvGrpSpPr>
            <a:grpSpLocks/>
          </p:cNvGrpSpPr>
          <p:nvPr/>
        </p:nvGrpSpPr>
        <p:grpSpPr bwMode="auto">
          <a:xfrm>
            <a:off x="2701925" y="735013"/>
            <a:ext cx="3176588" cy="2224087"/>
            <a:chOff x="2701157" y="278760"/>
            <a:chExt cx="3178140" cy="2680825"/>
          </a:xfrm>
        </p:grpSpPr>
        <p:cxnSp>
          <p:nvCxnSpPr>
            <p:cNvPr id="69" name="Straight Connector 68"/>
            <p:cNvCxnSpPr>
              <a:cxnSpLocks noChangeShapeType="1"/>
            </p:cNvCxnSpPr>
            <p:nvPr/>
          </p:nvCxnSpPr>
          <p:spPr bwMode="auto">
            <a:xfrm rot="5400000">
              <a:off x="1369192" y="1610725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72" name="Straight Connector 71"/>
            <p:cNvCxnSpPr>
              <a:cxnSpLocks noChangeShapeType="1"/>
            </p:cNvCxnSpPr>
            <p:nvPr/>
          </p:nvCxnSpPr>
          <p:spPr bwMode="auto">
            <a:xfrm rot="5400000">
              <a:off x="2957468" y="1618379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  <p:cxnSp>
          <p:nvCxnSpPr>
            <p:cNvPr id="74" name="Straight Connector 73"/>
            <p:cNvCxnSpPr>
              <a:cxnSpLocks noChangeShapeType="1"/>
            </p:cNvCxnSpPr>
            <p:nvPr/>
          </p:nvCxnSpPr>
          <p:spPr bwMode="auto">
            <a:xfrm rot="5400000">
              <a:off x="4545744" y="1626033"/>
              <a:ext cx="2665517" cy="1589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prstDash val="sysDash"/>
              <a:round/>
              <a:headEnd/>
              <a:tailEnd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</p:grpSp>
      <p:grpSp>
        <p:nvGrpSpPr>
          <p:cNvPr id="7" name="Group 119"/>
          <p:cNvGrpSpPr>
            <a:grpSpLocks/>
          </p:cNvGrpSpPr>
          <p:nvPr/>
        </p:nvGrpSpPr>
        <p:grpSpPr bwMode="auto">
          <a:xfrm>
            <a:off x="4460875" y="2384425"/>
            <a:ext cx="3249613" cy="574675"/>
            <a:chOff x="3650213" y="1672972"/>
            <a:chExt cx="2985801" cy="673471"/>
          </a:xfrm>
        </p:grpSpPr>
        <p:sp>
          <p:nvSpPr>
            <p:cNvPr id="81" name="Right Brace 80"/>
            <p:cNvSpPr>
              <a:spLocks/>
            </p:cNvSpPr>
            <p:nvPr/>
          </p:nvSpPr>
          <p:spPr bwMode="auto">
            <a:xfrm>
              <a:off x="3650213" y="1672972"/>
              <a:ext cx="219170" cy="673471"/>
            </a:xfrm>
            <a:prstGeom prst="rightBrace">
              <a:avLst>
                <a:gd name="adj1" fmla="val 31525"/>
                <a:gd name="adj2" fmla="val 50000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>
              <a:outerShdw blurRad="63500" dist="20000" dir="5400000" rotWithShape="0">
                <a:srgbClr val="000000">
                  <a:alpha val="68999"/>
                </a:srgbClr>
              </a:outerShdw>
            </a:effectLst>
          </p:spPr>
          <p:txBody>
            <a:bodyPr anchor="ctr">
              <a:prstTxWarp prst="textNoShape">
                <a:avLst/>
              </a:prstTxWarp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91182" name="TextBox 81"/>
            <p:cNvSpPr txBox="1">
              <a:spLocks noChangeArrowheads="1"/>
            </p:cNvSpPr>
            <p:nvPr/>
          </p:nvSpPr>
          <p:spPr bwMode="auto">
            <a:xfrm>
              <a:off x="3861713" y="1810643"/>
              <a:ext cx="2774301" cy="42975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latin typeface="Calibri" charset="0"/>
                </a:rPr>
                <a:t>Open interface to hardware</a:t>
              </a:r>
            </a:p>
          </p:txBody>
        </p:sp>
      </p:grpSp>
      <p:grpSp>
        <p:nvGrpSpPr>
          <p:cNvPr id="8" name="Group 86"/>
          <p:cNvGrpSpPr>
            <a:grpSpLocks/>
          </p:cNvGrpSpPr>
          <p:nvPr/>
        </p:nvGrpSpPr>
        <p:grpSpPr bwMode="auto">
          <a:xfrm>
            <a:off x="1208088" y="57150"/>
            <a:ext cx="1660525" cy="690563"/>
            <a:chOff x="1207355" y="56921"/>
            <a:chExt cx="1661489" cy="690891"/>
          </a:xfrm>
        </p:grpSpPr>
        <p:sp>
          <p:nvSpPr>
            <p:cNvPr id="91179" name="TextBox 82"/>
            <p:cNvSpPr txBox="1">
              <a:spLocks noChangeArrowheads="1"/>
            </p:cNvSpPr>
            <p:nvPr/>
          </p:nvSpPr>
          <p:spPr bwMode="auto">
            <a:xfrm>
              <a:off x="1207355" y="56921"/>
              <a:ext cx="1661489" cy="366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>
                  <a:latin typeface="Calibri" charset="0"/>
                </a:rPr>
                <a:t>Isolated “slices”</a:t>
              </a:r>
            </a:p>
          </p:txBody>
        </p:sp>
        <p:cxnSp>
          <p:nvCxnSpPr>
            <p:cNvPr id="84" name="Straight Arrow Connector 83"/>
            <p:cNvCxnSpPr>
              <a:cxnSpLocks noChangeShapeType="1"/>
            </p:cNvCxnSpPr>
            <p:nvPr/>
          </p:nvCxnSpPr>
          <p:spPr bwMode="auto">
            <a:xfrm>
              <a:off x="2006331" y="426985"/>
              <a:ext cx="694140" cy="320827"/>
            </a:xfrm>
            <a:prstGeom prst="straightConnector1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arrow" w="med" len="med"/>
            </a:ln>
            <a:effectLst>
              <a:outerShdw blurRad="63500" dist="20000" dir="5400000" rotWithShape="0">
                <a:srgbClr val="000000">
                  <a:alpha val="37999"/>
                </a:srgbClr>
              </a:outerShdw>
            </a:effectLst>
          </p:spPr>
        </p:cxnSp>
      </p:grpSp>
      <p:sp>
        <p:nvSpPr>
          <p:cNvPr id="89" name="Rounded Rectangle 88"/>
          <p:cNvSpPr/>
          <p:nvPr/>
        </p:nvSpPr>
        <p:spPr>
          <a:xfrm>
            <a:off x="4397635" y="4971059"/>
            <a:ext cx="1806352" cy="58942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Simple Packet </a:t>
            </a:r>
            <a:br>
              <a:rPr lang="en-US" sz="1200" b="1">
                <a:solidFill>
                  <a:schemeClr val="bg1"/>
                </a:solidFill>
              </a:rPr>
            </a:br>
            <a:r>
              <a:rPr lang="en-US" sz="1200" b="1">
                <a:solidFill>
                  <a:schemeClr val="bg1"/>
                </a:solidFill>
              </a:rPr>
              <a:t>Forwarding Hardware</a:t>
            </a:r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1153551" y="5352479"/>
            <a:ext cx="1806352" cy="58942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Simple Packet </a:t>
            </a:r>
            <a:br>
              <a:rPr lang="en-US" sz="1200" b="1">
                <a:solidFill>
                  <a:schemeClr val="bg1"/>
                </a:solidFill>
              </a:rPr>
            </a:br>
            <a:r>
              <a:rPr lang="en-US" sz="1200" b="1">
                <a:solidFill>
                  <a:schemeClr val="bg1"/>
                </a:solidFill>
              </a:rPr>
              <a:t>Forwarding Hardware</a:t>
            </a:r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3194390" y="6142288"/>
            <a:ext cx="1806352" cy="58942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Simple Packet </a:t>
            </a:r>
            <a:br>
              <a:rPr lang="en-US" sz="1200" b="1">
                <a:solidFill>
                  <a:schemeClr val="bg1"/>
                </a:solidFill>
              </a:rPr>
            </a:br>
            <a:r>
              <a:rPr lang="en-US" sz="1200" b="1">
                <a:solidFill>
                  <a:schemeClr val="bg1"/>
                </a:solidFill>
              </a:rPr>
              <a:t>Forwarding Hardware</a:t>
            </a:r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2959903" y="4167719"/>
            <a:ext cx="1806352" cy="58942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200" b="1">
                <a:solidFill>
                  <a:schemeClr val="bg1"/>
                </a:solidFill>
              </a:rPr>
              <a:t>Simple Packet </a:t>
            </a:r>
            <a:br>
              <a:rPr lang="en-US" sz="1200" b="1">
                <a:solidFill>
                  <a:schemeClr val="bg1"/>
                </a:solidFill>
              </a:rPr>
            </a:br>
            <a:r>
              <a:rPr lang="en-US" sz="1200" b="1">
                <a:solidFill>
                  <a:schemeClr val="bg1"/>
                </a:solidFill>
              </a:rPr>
              <a:t>Forwarding Hardware</a:t>
            </a:r>
            <a:endParaRPr lang="en-US" sz="1100" b="1">
              <a:solidFill>
                <a:schemeClr val="bg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65F96-5A52-D246-9881-7F446953F446}" type="slidenum">
              <a:rPr lang="en-US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41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1"/>
          <p:cNvSpPr>
            <a:spLocks noGrp="1" noChangeArrowheads="1"/>
          </p:cNvSpPr>
          <p:nvPr>
            <p:ph type="title"/>
          </p:nvPr>
        </p:nvSpPr>
        <p:spPr>
          <a:xfrm>
            <a:off x="455613" y="241300"/>
            <a:ext cx="8232775" cy="892175"/>
          </a:xfrm>
        </p:spPr>
        <p:txBody>
          <a:bodyPr rIns="81277">
            <a:normAutofit fontScale="90000"/>
          </a:bodyPr>
          <a:lstStyle/>
          <a:p>
            <a:pPr marL="38100" eaLnBrk="1" hangingPunct="1"/>
            <a:r>
              <a:rPr lang="en-US">
                <a:latin typeface="Calibri" charset="0"/>
                <a:sym typeface="Helvetica" charset="0"/>
              </a:rPr>
              <a:t>Switch Based Virtualization</a:t>
            </a:r>
            <a:r>
              <a:rPr lang="en-US">
                <a:latin typeface="Calibri" charset="0"/>
                <a:ea typeface="ヒラギノ角ゴ ProN W6" charset="-128"/>
                <a:cs typeface="ヒラギノ角ゴ ProN W6" charset="-128"/>
                <a:sym typeface="Helvetica" charset="0"/>
              </a:rPr>
              <a:t/>
            </a:r>
            <a:br>
              <a:rPr lang="en-US">
                <a:latin typeface="Calibri" charset="0"/>
                <a:ea typeface="ヒラギノ角ゴ ProN W6" charset="-128"/>
                <a:cs typeface="ヒラギノ角ゴ ProN W6" charset="-128"/>
                <a:sym typeface="Helvetica" charset="0"/>
              </a:rPr>
            </a:br>
            <a:r>
              <a:rPr lang="en-US" sz="1800">
                <a:latin typeface="Helvetica" charset="0"/>
                <a:sym typeface="Helvetica" charset="0"/>
              </a:rPr>
              <a:t>Exists for NEC, HP switches but not flexible enough</a:t>
            </a:r>
          </a:p>
        </p:txBody>
      </p:sp>
      <p:grpSp>
        <p:nvGrpSpPr>
          <p:cNvPr id="95234" name="Group 2"/>
          <p:cNvGrpSpPr>
            <a:grpSpLocks/>
          </p:cNvGrpSpPr>
          <p:nvPr/>
        </p:nvGrpSpPr>
        <p:grpSpPr bwMode="auto">
          <a:xfrm>
            <a:off x="2894013" y="3038475"/>
            <a:ext cx="3348037" cy="1374775"/>
            <a:chOff x="0" y="0"/>
            <a:chExt cx="3000" cy="1232"/>
          </a:xfrm>
        </p:grpSpPr>
        <p:grpSp>
          <p:nvGrpSpPr>
            <p:cNvPr id="95292" name="Group 3"/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95296" name="AutoShape 4"/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333399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97" name="Rectangle 5"/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>
                  <a:latin typeface="Calibri" charset="0"/>
                </a:endParaRPr>
              </a:p>
            </p:txBody>
          </p:sp>
        </p:grpSp>
        <p:grpSp>
          <p:nvGrpSpPr>
            <p:cNvPr id="95293" name="Group 6"/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95294" name="AutoShape 7"/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B5BAD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95" name="Rectangle 8"/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>
                  <a:latin typeface="Calibri" charset="0"/>
                </a:endParaRPr>
              </a:p>
            </p:txBody>
          </p:sp>
        </p:grpSp>
      </p:grpSp>
      <p:grpSp>
        <p:nvGrpSpPr>
          <p:cNvPr id="5" name="Group 9"/>
          <p:cNvGrpSpPr>
            <a:grpSpLocks/>
          </p:cNvGrpSpPr>
          <p:nvPr/>
        </p:nvGrpSpPr>
        <p:grpSpPr bwMode="auto">
          <a:xfrm>
            <a:off x="2894013" y="2270125"/>
            <a:ext cx="3348037" cy="1374775"/>
            <a:chOff x="0" y="0"/>
            <a:chExt cx="3000" cy="1232"/>
          </a:xfrm>
        </p:grpSpPr>
        <p:grpSp>
          <p:nvGrpSpPr>
            <p:cNvPr id="95286" name="Group 10"/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95290" name="AutoShape 11"/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2973B5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91" name="Rectangle 12"/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>
                  <a:latin typeface="Calibri" charset="0"/>
                </a:endParaRPr>
              </a:p>
            </p:txBody>
          </p:sp>
        </p:grpSp>
        <p:grpSp>
          <p:nvGrpSpPr>
            <p:cNvPr id="95287" name="Group 13"/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95288" name="AutoShape 14"/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38FC3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89" name="Rectangle 15"/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>
                  <a:latin typeface="Calibri" charset="0"/>
                </a:endParaRPr>
              </a:p>
            </p:txBody>
          </p:sp>
        </p:grpSp>
      </p:grpSp>
      <p:sp>
        <p:nvSpPr>
          <p:cNvPr id="95236" name="Line 16"/>
          <p:cNvSpPr>
            <a:spLocks noChangeShapeType="1"/>
          </p:cNvSpPr>
          <p:nvPr/>
        </p:nvSpPr>
        <p:spPr bwMode="auto">
          <a:xfrm flipH="1">
            <a:off x="2670175" y="4252913"/>
            <a:ext cx="628650" cy="11430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5237" name="Picture 17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30388" y="5395913"/>
            <a:ext cx="1063625" cy="7540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95238" name="Picture 18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48038" y="5632450"/>
            <a:ext cx="1063625" cy="755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95239" name="Picture 19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5627688"/>
            <a:ext cx="1062038" cy="7540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95240" name="Picture 20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6775" y="5327650"/>
            <a:ext cx="1063625" cy="7556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95241" name="Line 21"/>
          <p:cNvSpPr>
            <a:spLocks noChangeShapeType="1"/>
          </p:cNvSpPr>
          <p:nvPr/>
        </p:nvSpPr>
        <p:spPr bwMode="auto">
          <a:xfrm flipH="1">
            <a:off x="3884613" y="4405313"/>
            <a:ext cx="169862" cy="1217612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242" name="Line 22"/>
          <p:cNvSpPr>
            <a:spLocks noChangeShapeType="1"/>
          </p:cNvSpPr>
          <p:nvPr/>
        </p:nvSpPr>
        <p:spPr bwMode="auto">
          <a:xfrm>
            <a:off x="5027613" y="4405313"/>
            <a:ext cx="169862" cy="1217612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243" name="Line 23"/>
          <p:cNvSpPr>
            <a:spLocks noChangeShapeType="1"/>
          </p:cNvSpPr>
          <p:nvPr/>
        </p:nvSpPr>
        <p:spPr bwMode="auto">
          <a:xfrm>
            <a:off x="5715000" y="4252913"/>
            <a:ext cx="628650" cy="1143000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205038" y="3994150"/>
            <a:ext cx="4548187" cy="1555750"/>
            <a:chOff x="0" y="0"/>
            <a:chExt cx="4074" cy="1392"/>
          </a:xfrm>
        </p:grpSpPr>
        <p:sp>
          <p:nvSpPr>
            <p:cNvPr id="95284" name="Freeform 25"/>
            <p:cNvSpPr>
              <a:spLocks/>
            </p:cNvSpPr>
            <p:nvPr/>
          </p:nvSpPr>
          <p:spPr bwMode="auto">
            <a:xfrm>
              <a:off x="0" y="0"/>
              <a:ext cx="4074" cy="1392"/>
            </a:xfrm>
            <a:custGeom>
              <a:avLst/>
              <a:gdLst>
                <a:gd name="T0" fmla="*/ 0 w 21600"/>
                <a:gd name="T1" fmla="*/ 6 h 20640"/>
                <a:gd name="T2" fmla="*/ 29 w 21600"/>
                <a:gd name="T3" fmla="*/ 1 h 20640"/>
                <a:gd name="T4" fmla="*/ 51 w 21600"/>
                <a:gd name="T5" fmla="*/ 0 h 20640"/>
                <a:gd name="T6" fmla="*/ 109 w 21600"/>
                <a:gd name="T7" fmla="*/ 0 h 20640"/>
                <a:gd name="T8" fmla="*/ 124 w 21600"/>
                <a:gd name="T9" fmla="*/ 1 h 20640"/>
                <a:gd name="T10" fmla="*/ 143 w 21600"/>
                <a:gd name="T11" fmla="*/ 6 h 20640"/>
                <a:gd name="T12" fmla="*/ 145 w 21600"/>
                <a:gd name="T13" fmla="*/ 6 h 206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600"/>
                <a:gd name="T22" fmla="*/ 0 h 20640"/>
                <a:gd name="T23" fmla="*/ 21600 w 21600"/>
                <a:gd name="T24" fmla="*/ 20640 h 206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0640">
                  <a:moveTo>
                    <a:pt x="0" y="20640"/>
                  </a:moveTo>
                  <a:cubicBezTo>
                    <a:pt x="1537" y="13215"/>
                    <a:pt x="3074" y="5790"/>
                    <a:pt x="4339" y="2415"/>
                  </a:cubicBezTo>
                  <a:cubicBezTo>
                    <a:pt x="5605" y="-960"/>
                    <a:pt x="5605" y="727"/>
                    <a:pt x="7594" y="390"/>
                  </a:cubicBezTo>
                  <a:cubicBezTo>
                    <a:pt x="9583" y="52"/>
                    <a:pt x="14464" y="-285"/>
                    <a:pt x="16273" y="390"/>
                  </a:cubicBezTo>
                  <a:cubicBezTo>
                    <a:pt x="18080" y="1065"/>
                    <a:pt x="17598" y="1402"/>
                    <a:pt x="18442" y="4440"/>
                  </a:cubicBezTo>
                  <a:cubicBezTo>
                    <a:pt x="19285" y="7478"/>
                    <a:pt x="20311" y="13046"/>
                    <a:pt x="21335" y="18615"/>
                  </a:cubicBezTo>
                  <a:lnTo>
                    <a:pt x="21600" y="20057"/>
                  </a:lnTo>
                </a:path>
              </a:pathLst>
            </a:custGeom>
            <a:noFill/>
            <a:ln w="76200" cap="flat">
              <a:solidFill>
                <a:srgbClr val="E36853"/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285" name="Rectangle 26"/>
            <p:cNvSpPr>
              <a:spLocks/>
            </p:cNvSpPr>
            <p:nvPr/>
          </p:nvSpPr>
          <p:spPr bwMode="auto">
            <a:xfrm>
              <a:off x="0" y="588"/>
              <a:ext cx="4024" cy="2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</p:grpSp>
      <p:sp>
        <p:nvSpPr>
          <p:cNvPr id="95245" name="Rectangle 27"/>
          <p:cNvSpPr>
            <a:spLocks/>
          </p:cNvSpPr>
          <p:nvPr/>
        </p:nvSpPr>
        <p:spPr bwMode="auto">
          <a:xfrm>
            <a:off x="3268663" y="3797300"/>
            <a:ext cx="2632075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8100"/>
            <a:r>
              <a:rPr lang="en-US" sz="2000">
                <a:solidFill>
                  <a:srgbClr val="FFFFFF"/>
                </a:solidFill>
                <a:latin typeface="Calibri" charset="0"/>
              </a:rPr>
              <a:t>Normal L2/L3 Processing</a:t>
            </a:r>
          </a:p>
        </p:txBody>
      </p:sp>
      <p:grpSp>
        <p:nvGrpSpPr>
          <p:cNvPr id="9" name="Group 28"/>
          <p:cNvGrpSpPr>
            <a:grpSpLocks/>
          </p:cNvGrpSpPr>
          <p:nvPr/>
        </p:nvGrpSpPr>
        <p:grpSpPr bwMode="auto">
          <a:xfrm>
            <a:off x="1979613" y="3216275"/>
            <a:ext cx="5075237" cy="2282825"/>
            <a:chOff x="0" y="0"/>
            <a:chExt cx="4546" cy="2045"/>
          </a:xfrm>
        </p:grpSpPr>
        <p:sp>
          <p:nvSpPr>
            <p:cNvPr id="95282" name="Freeform 29"/>
            <p:cNvSpPr>
              <a:spLocks/>
            </p:cNvSpPr>
            <p:nvPr/>
          </p:nvSpPr>
          <p:spPr bwMode="auto">
            <a:xfrm>
              <a:off x="0" y="0"/>
              <a:ext cx="4546" cy="2045"/>
            </a:xfrm>
            <a:custGeom>
              <a:avLst/>
              <a:gdLst>
                <a:gd name="T0" fmla="*/ 0 w 21600"/>
                <a:gd name="T1" fmla="*/ 20 h 20640"/>
                <a:gd name="T2" fmla="*/ 41 w 21600"/>
                <a:gd name="T3" fmla="*/ 2 h 20640"/>
                <a:gd name="T4" fmla="*/ 71 w 21600"/>
                <a:gd name="T5" fmla="*/ 0 h 20640"/>
                <a:gd name="T6" fmla="*/ 152 w 21600"/>
                <a:gd name="T7" fmla="*/ 0 h 20640"/>
                <a:gd name="T8" fmla="*/ 173 w 21600"/>
                <a:gd name="T9" fmla="*/ 4 h 20640"/>
                <a:gd name="T10" fmla="*/ 200 w 21600"/>
                <a:gd name="T11" fmla="*/ 18 h 20640"/>
                <a:gd name="T12" fmla="*/ 201 w 21600"/>
                <a:gd name="T13" fmla="*/ 19 h 206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600"/>
                <a:gd name="T22" fmla="*/ 0 h 20640"/>
                <a:gd name="T23" fmla="*/ 21600 w 21600"/>
                <a:gd name="T24" fmla="*/ 20640 h 206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0640">
                  <a:moveTo>
                    <a:pt x="0" y="20640"/>
                  </a:moveTo>
                  <a:cubicBezTo>
                    <a:pt x="1542" y="13215"/>
                    <a:pt x="3085" y="5790"/>
                    <a:pt x="4354" y="2415"/>
                  </a:cubicBezTo>
                  <a:cubicBezTo>
                    <a:pt x="5625" y="-960"/>
                    <a:pt x="5625" y="728"/>
                    <a:pt x="7621" y="390"/>
                  </a:cubicBezTo>
                  <a:cubicBezTo>
                    <a:pt x="9617" y="53"/>
                    <a:pt x="14515" y="-285"/>
                    <a:pt x="16330" y="390"/>
                  </a:cubicBezTo>
                  <a:cubicBezTo>
                    <a:pt x="18144" y="1065"/>
                    <a:pt x="17661" y="1403"/>
                    <a:pt x="18507" y="4440"/>
                  </a:cubicBezTo>
                  <a:cubicBezTo>
                    <a:pt x="19354" y="7478"/>
                    <a:pt x="20382" y="13046"/>
                    <a:pt x="21410" y="18615"/>
                  </a:cubicBezTo>
                  <a:lnTo>
                    <a:pt x="21600" y="19642"/>
                  </a:lnTo>
                </a:path>
              </a:pathLst>
            </a:custGeom>
            <a:noFill/>
            <a:ln w="76200" cap="flat">
              <a:solidFill>
                <a:srgbClr val="99CC00"/>
              </a:solidFill>
              <a:prstDash val="solid"/>
              <a:round/>
              <a:headEnd type="none" w="med" len="med"/>
              <a:tailEnd type="arrow" w="lg" len="lg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283" name="Rectangle 30"/>
            <p:cNvSpPr>
              <a:spLocks/>
            </p:cNvSpPr>
            <p:nvPr/>
          </p:nvSpPr>
          <p:spPr bwMode="auto">
            <a:xfrm>
              <a:off x="1" y="914"/>
              <a:ext cx="4504" cy="2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</a:endParaRPr>
            </a:p>
          </p:txBody>
        </p:sp>
      </p:grpSp>
      <p:grpSp>
        <p:nvGrpSpPr>
          <p:cNvPr id="10" name="Group 31"/>
          <p:cNvGrpSpPr>
            <a:grpSpLocks/>
          </p:cNvGrpSpPr>
          <p:nvPr/>
        </p:nvGrpSpPr>
        <p:grpSpPr bwMode="auto">
          <a:xfrm>
            <a:off x="3660775" y="3038475"/>
            <a:ext cx="1751013" cy="455613"/>
            <a:chOff x="0" y="0"/>
            <a:chExt cx="1568" cy="408"/>
          </a:xfrm>
        </p:grpSpPr>
        <p:grpSp>
          <p:nvGrpSpPr>
            <p:cNvPr id="95276" name="Group 32"/>
            <p:cNvGrpSpPr>
              <a:grpSpLocks/>
            </p:cNvGrpSpPr>
            <p:nvPr/>
          </p:nvGrpSpPr>
          <p:grpSpPr bwMode="auto">
            <a:xfrm>
              <a:off x="0" y="0"/>
              <a:ext cx="1568" cy="408"/>
              <a:chOff x="0" y="0"/>
              <a:chExt cx="1568" cy="408"/>
            </a:xfrm>
          </p:grpSpPr>
          <p:grpSp>
            <p:nvGrpSpPr>
              <p:cNvPr id="95278" name="Group 33"/>
              <p:cNvGrpSpPr>
                <a:grpSpLocks/>
              </p:cNvGrpSpPr>
              <p:nvPr/>
            </p:nvGrpSpPr>
            <p:grpSpPr bwMode="auto">
              <a:xfrm>
                <a:off x="0" y="0"/>
                <a:ext cx="1568" cy="408"/>
                <a:chOff x="0" y="0"/>
                <a:chExt cx="1568" cy="408"/>
              </a:xfrm>
            </p:grpSpPr>
            <p:sp>
              <p:nvSpPr>
                <p:cNvPr id="95280" name="Rectangle 34"/>
                <p:cNvSpPr>
                  <a:spLocks/>
                </p:cNvSpPr>
                <p:nvPr/>
              </p:nvSpPr>
              <p:spPr bwMode="auto">
                <a:xfrm>
                  <a:off x="0" y="0"/>
                  <a:ext cx="1568" cy="40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Calibri" charset="0"/>
                  </a:endParaRPr>
                </a:p>
              </p:txBody>
            </p:sp>
            <p:sp>
              <p:nvSpPr>
                <p:cNvPr id="95281" name="Rectangle 35"/>
                <p:cNvSpPr>
                  <a:spLocks/>
                </p:cNvSpPr>
                <p:nvPr/>
              </p:nvSpPr>
              <p:spPr bwMode="auto">
                <a:xfrm>
                  <a:off x="0" y="96"/>
                  <a:ext cx="1568" cy="21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Calibri" charset="0"/>
                  </a:endParaRPr>
                </a:p>
              </p:txBody>
            </p:sp>
          </p:grpSp>
          <p:sp>
            <p:nvSpPr>
              <p:cNvPr id="95279" name="Rectangle 36"/>
              <p:cNvSpPr>
                <a:spLocks/>
              </p:cNvSpPr>
              <p:nvPr/>
            </p:nvSpPr>
            <p:spPr bwMode="auto">
              <a:xfrm>
                <a:off x="195" y="82"/>
                <a:ext cx="1248" cy="2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57797" bIns="0" anchor="ctr">
                <a:prstTxWarp prst="textNoShape">
                  <a:avLst/>
                </a:prstTxWarp>
                <a:spAutoFit/>
              </a:bodyPr>
              <a:lstStyle/>
              <a:p>
                <a:pPr marL="38100"/>
                <a:r>
                  <a:rPr lang="en-US" sz="1700">
                    <a:ea typeface="Arial" charset="0"/>
                    <a:cs typeface="Arial" charset="0"/>
                    <a:sym typeface="Arial" charset="0"/>
                  </a:rPr>
                  <a:t>    Flow Table</a:t>
                </a:r>
              </a:p>
            </p:txBody>
          </p:sp>
        </p:grpSp>
        <p:pic>
          <p:nvPicPr>
            <p:cNvPr id="95277" name="Picture 3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47"/>
              <a:ext cx="408" cy="3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65574" name="Rectangle 38"/>
          <p:cNvSpPr>
            <a:spLocks/>
          </p:cNvSpPr>
          <p:nvPr/>
        </p:nvSpPr>
        <p:spPr bwMode="auto">
          <a:xfrm>
            <a:off x="1036638" y="3644900"/>
            <a:ext cx="16383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8100"/>
            <a:r>
              <a:rPr lang="en-US" sz="1500">
                <a:latin typeface="Helvetica" charset="0"/>
                <a:sym typeface="Helvetica" charset="0"/>
              </a:rPr>
              <a:t>Production VLANs</a:t>
            </a:r>
          </a:p>
        </p:txBody>
      </p:sp>
      <p:sp>
        <p:nvSpPr>
          <p:cNvPr id="65575" name="Rectangle 39"/>
          <p:cNvSpPr>
            <a:spLocks/>
          </p:cNvSpPr>
          <p:nvPr/>
        </p:nvSpPr>
        <p:spPr bwMode="auto">
          <a:xfrm>
            <a:off x="1103313" y="2806700"/>
            <a:ext cx="160655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8100"/>
            <a:r>
              <a:rPr lang="en-US" sz="1500">
                <a:latin typeface="Helvetica" charset="0"/>
                <a:sym typeface="Helvetica" charset="0"/>
              </a:rPr>
              <a:t>Research VLAN 1</a:t>
            </a:r>
          </a:p>
        </p:txBody>
      </p:sp>
      <p:grpSp>
        <p:nvGrpSpPr>
          <p:cNvPr id="13" name="Group 40"/>
          <p:cNvGrpSpPr>
            <a:grpSpLocks/>
          </p:cNvGrpSpPr>
          <p:nvPr/>
        </p:nvGrpSpPr>
        <p:grpSpPr bwMode="auto">
          <a:xfrm>
            <a:off x="6249988" y="1476375"/>
            <a:ext cx="2279650" cy="1035050"/>
            <a:chOff x="0" y="272"/>
            <a:chExt cx="2041" cy="927"/>
          </a:xfrm>
        </p:grpSpPr>
        <p:grpSp>
          <p:nvGrpSpPr>
            <p:cNvPr id="95272" name="Group 41"/>
            <p:cNvGrpSpPr>
              <a:grpSpLocks/>
            </p:cNvGrpSpPr>
            <p:nvPr/>
          </p:nvGrpSpPr>
          <p:grpSpPr bwMode="auto">
            <a:xfrm>
              <a:off x="952" y="272"/>
              <a:ext cx="816" cy="816"/>
              <a:chOff x="0" y="0"/>
              <a:chExt cx="816" cy="816"/>
            </a:xfrm>
          </p:grpSpPr>
          <p:pic>
            <p:nvPicPr>
              <p:cNvPr id="95275" name="Picture 42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</p:grpSp>
        <p:sp>
          <p:nvSpPr>
            <p:cNvPr id="95273" name="Line 43"/>
            <p:cNvSpPr>
              <a:spLocks noChangeShapeType="1"/>
            </p:cNvSpPr>
            <p:nvPr/>
          </p:nvSpPr>
          <p:spPr bwMode="auto">
            <a:xfrm rot="10800000" flipH="1">
              <a:off x="0" y="552"/>
              <a:ext cx="1024" cy="34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274" name="Rectangle 44"/>
            <p:cNvSpPr>
              <a:spLocks/>
            </p:cNvSpPr>
            <p:nvPr/>
          </p:nvSpPr>
          <p:spPr bwMode="auto">
            <a:xfrm>
              <a:off x="633" y="983"/>
              <a:ext cx="1408" cy="2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57797" bIns="0">
              <a:prstTxWarp prst="textNoShape">
                <a:avLst/>
              </a:prstTxWarp>
            </a:bodyPr>
            <a:lstStyle/>
            <a:p>
              <a:pPr marL="38100">
                <a:spcBef>
                  <a:spcPts val="1050"/>
                </a:spcBef>
              </a:pPr>
              <a:r>
                <a:rPr lang="en-US" sz="1700">
                  <a:solidFill>
                    <a:srgbClr val="FA3D2E"/>
                  </a:solidFill>
                  <a:ea typeface="Arial" charset="0"/>
                  <a:cs typeface="Arial" charset="0"/>
                  <a:sym typeface="Arial" charset="0"/>
                </a:rPr>
                <a:t>Controller</a:t>
              </a:r>
            </a:p>
          </p:txBody>
        </p:sp>
      </p:grpSp>
      <p:sp>
        <p:nvSpPr>
          <p:cNvPr id="53" name="Rectangle 39"/>
          <p:cNvSpPr>
            <a:spLocks/>
          </p:cNvSpPr>
          <p:nvPr/>
        </p:nvSpPr>
        <p:spPr bwMode="auto">
          <a:xfrm>
            <a:off x="1135063" y="1885950"/>
            <a:ext cx="160655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8100"/>
            <a:r>
              <a:rPr lang="en-US" sz="1500">
                <a:latin typeface="Helvetica" charset="0"/>
                <a:sym typeface="Helvetica" charset="0"/>
              </a:rPr>
              <a:t>Research VLAN 2</a:t>
            </a:r>
          </a:p>
        </p:txBody>
      </p:sp>
      <p:grpSp>
        <p:nvGrpSpPr>
          <p:cNvPr id="15" name="Group 9"/>
          <p:cNvGrpSpPr>
            <a:grpSpLocks/>
          </p:cNvGrpSpPr>
          <p:nvPr/>
        </p:nvGrpSpPr>
        <p:grpSpPr bwMode="auto">
          <a:xfrm>
            <a:off x="2895600" y="1511300"/>
            <a:ext cx="3348038" cy="1376363"/>
            <a:chOff x="0" y="0"/>
            <a:chExt cx="3000" cy="1232"/>
          </a:xfrm>
        </p:grpSpPr>
        <p:grpSp>
          <p:nvGrpSpPr>
            <p:cNvPr id="95266" name="Group 10"/>
            <p:cNvGrpSpPr>
              <a:grpSpLocks/>
            </p:cNvGrpSpPr>
            <p:nvPr/>
          </p:nvGrpSpPr>
          <p:grpSpPr bwMode="auto">
            <a:xfrm>
              <a:off x="0" y="0"/>
              <a:ext cx="3000" cy="1232"/>
              <a:chOff x="0" y="0"/>
              <a:chExt cx="3000" cy="1232"/>
            </a:xfrm>
          </p:grpSpPr>
          <p:sp>
            <p:nvSpPr>
              <p:cNvPr id="95270" name="AutoShape 11"/>
              <p:cNvSpPr>
                <a:spLocks/>
              </p:cNvSpPr>
              <p:nvPr/>
            </p:nvSpPr>
            <p:spPr bwMode="auto">
              <a:xfrm>
                <a:off x="0" y="0"/>
                <a:ext cx="3000" cy="1232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2418"/>
                      <a:pt x="0" y="5400"/>
                    </a:cubicBezTo>
                    <a:lnTo>
                      <a:pt x="0" y="16200"/>
                    </a:lnTo>
                    <a:cubicBezTo>
                      <a:pt x="0" y="19182"/>
                      <a:pt x="4835" y="21600"/>
                      <a:pt x="10800" y="21600"/>
                    </a:cubicBezTo>
                    <a:cubicBezTo>
                      <a:pt x="16765" y="21600"/>
                      <a:pt x="21600" y="19182"/>
                      <a:pt x="21600" y="16200"/>
                    </a:cubicBezTo>
                    <a:lnTo>
                      <a:pt x="21600" y="5400"/>
                    </a:lnTo>
                    <a:cubicBezTo>
                      <a:pt x="21600" y="2418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2973B5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71" name="Rectangle 12"/>
              <p:cNvSpPr>
                <a:spLocks/>
              </p:cNvSpPr>
              <p:nvPr/>
            </p:nvSpPr>
            <p:spPr bwMode="auto">
              <a:xfrm>
                <a:off x="0" y="508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>
                  <a:latin typeface="Calibri" charset="0"/>
                </a:endParaRPr>
              </a:p>
            </p:txBody>
          </p:sp>
        </p:grpSp>
        <p:grpSp>
          <p:nvGrpSpPr>
            <p:cNvPr id="95267" name="Group 13"/>
            <p:cNvGrpSpPr>
              <a:grpSpLocks/>
            </p:cNvGrpSpPr>
            <p:nvPr/>
          </p:nvGrpSpPr>
          <p:grpSpPr bwMode="auto">
            <a:xfrm>
              <a:off x="0" y="0"/>
              <a:ext cx="3000" cy="616"/>
              <a:chOff x="0" y="0"/>
              <a:chExt cx="3000" cy="616"/>
            </a:xfrm>
          </p:grpSpPr>
          <p:sp>
            <p:nvSpPr>
              <p:cNvPr id="95268" name="AutoShape 14"/>
              <p:cNvSpPr>
                <a:spLocks/>
              </p:cNvSpPr>
              <p:nvPr/>
            </p:nvSpPr>
            <p:spPr bwMode="auto">
              <a:xfrm>
                <a:off x="0" y="0"/>
                <a:ext cx="3000" cy="616"/>
              </a:xfrm>
              <a:custGeom>
                <a:avLst/>
                <a:gdLst>
                  <a:gd name="T0" fmla="*/ 4 w 21600"/>
                  <a:gd name="T1" fmla="*/ 0 h 21600"/>
                  <a:gd name="T2" fmla="*/ 0 60000 65536"/>
                  <a:gd name="T3" fmla="*/ 0 w 21600"/>
                  <a:gd name="T4" fmla="*/ 0 h 21600"/>
                  <a:gd name="T5" fmla="*/ 21600 w 21600"/>
                  <a:gd name="T6" fmla="*/ 21600 h 21600"/>
                </a:gdLst>
                <a:ahLst/>
                <a:cxnLst>
                  <a:cxn ang="T2">
                    <a:pos x="T0" y="T1"/>
                  </a:cxn>
                </a:cxnLst>
                <a:rect l="T3" t="T4" r="T5" b="T6"/>
                <a:pathLst>
                  <a:path w="21600" h="21600">
                    <a:moveTo>
                      <a:pt x="10800" y="0"/>
                    </a:moveTo>
                    <a:cubicBezTo>
                      <a:pt x="4835" y="0"/>
                      <a:pt x="0" y="4835"/>
                      <a:pt x="0" y="10800"/>
                    </a:cubicBezTo>
                    <a:cubicBezTo>
                      <a:pt x="0" y="16765"/>
                      <a:pt x="4835" y="21600"/>
                      <a:pt x="10800" y="21600"/>
                    </a:cubicBezTo>
                    <a:cubicBezTo>
                      <a:pt x="16765" y="21600"/>
                      <a:pt x="21600" y="16765"/>
                      <a:pt x="21600" y="10800"/>
                    </a:cubicBezTo>
                    <a:cubicBezTo>
                      <a:pt x="21600" y="4835"/>
                      <a:pt x="16765" y="0"/>
                      <a:pt x="10800" y="0"/>
                    </a:cubicBezTo>
                    <a:close/>
                    <a:moveTo>
                      <a:pt x="10800" y="0"/>
                    </a:moveTo>
                  </a:path>
                </a:pathLst>
              </a:custGeom>
              <a:solidFill>
                <a:srgbClr val="538FC3"/>
              </a:solidFill>
              <a:ln w="12700" cap="flat">
                <a:noFill/>
                <a:round/>
                <a:headEnd type="none" w="med" len="med"/>
                <a:tailEnd type="none" w="med" len="med"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269" name="Rectangle 15"/>
              <p:cNvSpPr>
                <a:spLocks/>
              </p:cNvSpPr>
              <p:nvPr/>
            </p:nvSpPr>
            <p:spPr bwMode="auto">
              <a:xfrm>
                <a:off x="0" y="200"/>
                <a:ext cx="3000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>
                  <a:latin typeface="Calibri" charset="0"/>
                </a:endParaRPr>
              </a:p>
            </p:txBody>
          </p:sp>
        </p:grpSp>
      </p:grpSp>
      <p:grpSp>
        <p:nvGrpSpPr>
          <p:cNvPr id="18" name="Group 31"/>
          <p:cNvGrpSpPr>
            <a:grpSpLocks/>
          </p:cNvGrpSpPr>
          <p:nvPr/>
        </p:nvGrpSpPr>
        <p:grpSpPr bwMode="auto">
          <a:xfrm>
            <a:off x="3673475" y="2279650"/>
            <a:ext cx="1749425" cy="455613"/>
            <a:chOff x="0" y="0"/>
            <a:chExt cx="1568" cy="408"/>
          </a:xfrm>
        </p:grpSpPr>
        <p:grpSp>
          <p:nvGrpSpPr>
            <p:cNvPr id="95260" name="Group 32"/>
            <p:cNvGrpSpPr>
              <a:grpSpLocks/>
            </p:cNvGrpSpPr>
            <p:nvPr/>
          </p:nvGrpSpPr>
          <p:grpSpPr bwMode="auto">
            <a:xfrm>
              <a:off x="0" y="0"/>
              <a:ext cx="1568" cy="408"/>
              <a:chOff x="0" y="0"/>
              <a:chExt cx="1568" cy="408"/>
            </a:xfrm>
          </p:grpSpPr>
          <p:grpSp>
            <p:nvGrpSpPr>
              <p:cNvPr id="95262" name="Group 33"/>
              <p:cNvGrpSpPr>
                <a:grpSpLocks/>
              </p:cNvGrpSpPr>
              <p:nvPr/>
            </p:nvGrpSpPr>
            <p:grpSpPr bwMode="auto">
              <a:xfrm>
                <a:off x="0" y="0"/>
                <a:ext cx="1568" cy="408"/>
                <a:chOff x="0" y="0"/>
                <a:chExt cx="1568" cy="408"/>
              </a:xfrm>
            </p:grpSpPr>
            <p:sp>
              <p:nvSpPr>
                <p:cNvPr id="95264" name="Rectangle 34"/>
                <p:cNvSpPr>
                  <a:spLocks/>
                </p:cNvSpPr>
                <p:nvPr/>
              </p:nvSpPr>
              <p:spPr bwMode="auto">
                <a:xfrm>
                  <a:off x="0" y="0"/>
                  <a:ext cx="1568" cy="408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Calibri" charset="0"/>
                  </a:endParaRPr>
                </a:p>
              </p:txBody>
            </p:sp>
            <p:sp>
              <p:nvSpPr>
                <p:cNvPr id="95265" name="Rectangle 35"/>
                <p:cNvSpPr>
                  <a:spLocks/>
                </p:cNvSpPr>
                <p:nvPr/>
              </p:nvSpPr>
              <p:spPr bwMode="auto">
                <a:xfrm>
                  <a:off x="0" y="96"/>
                  <a:ext cx="1568" cy="216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lIns="0" tIns="0" rIns="0" bIns="0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Calibri" charset="0"/>
                  </a:endParaRPr>
                </a:p>
              </p:txBody>
            </p:sp>
          </p:grpSp>
          <p:sp>
            <p:nvSpPr>
              <p:cNvPr id="95263" name="Rectangle 36"/>
              <p:cNvSpPr>
                <a:spLocks/>
              </p:cNvSpPr>
              <p:nvPr/>
            </p:nvSpPr>
            <p:spPr bwMode="auto">
              <a:xfrm>
                <a:off x="195" y="82"/>
                <a:ext cx="1249" cy="232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 lIns="0" tIns="0" rIns="57797" bIns="0" anchor="ctr">
                <a:prstTxWarp prst="textNoShape">
                  <a:avLst/>
                </a:prstTxWarp>
                <a:spAutoFit/>
              </a:bodyPr>
              <a:lstStyle/>
              <a:p>
                <a:pPr marL="38100"/>
                <a:r>
                  <a:rPr lang="en-US" sz="1700">
                    <a:ea typeface="Arial" charset="0"/>
                    <a:cs typeface="Arial" charset="0"/>
                    <a:sym typeface="Arial" charset="0"/>
                  </a:rPr>
                  <a:t>    Flow Table</a:t>
                </a:r>
              </a:p>
            </p:txBody>
          </p:sp>
        </p:grpSp>
        <p:pic>
          <p:nvPicPr>
            <p:cNvPr id="95261" name="Picture 37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47"/>
              <a:ext cx="408" cy="35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grpSp>
        <p:nvGrpSpPr>
          <p:cNvPr id="21" name="Group 40"/>
          <p:cNvGrpSpPr>
            <a:grpSpLocks/>
          </p:cNvGrpSpPr>
          <p:nvPr/>
        </p:nvGrpSpPr>
        <p:grpSpPr bwMode="auto">
          <a:xfrm>
            <a:off x="6254750" y="2533650"/>
            <a:ext cx="2274888" cy="1111250"/>
            <a:chOff x="0" y="272"/>
            <a:chExt cx="2038" cy="996"/>
          </a:xfrm>
        </p:grpSpPr>
        <p:grpSp>
          <p:nvGrpSpPr>
            <p:cNvPr id="95256" name="Group 41"/>
            <p:cNvGrpSpPr>
              <a:grpSpLocks/>
            </p:cNvGrpSpPr>
            <p:nvPr/>
          </p:nvGrpSpPr>
          <p:grpSpPr bwMode="auto">
            <a:xfrm>
              <a:off x="952" y="272"/>
              <a:ext cx="816" cy="816"/>
              <a:chOff x="0" y="0"/>
              <a:chExt cx="816" cy="816"/>
            </a:xfrm>
          </p:grpSpPr>
          <p:pic>
            <p:nvPicPr>
              <p:cNvPr id="95259" name="Picture 42"/>
              <p:cNvPicPr>
                <a:picLocks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</p:grpSp>
        <p:sp>
          <p:nvSpPr>
            <p:cNvPr id="95257" name="Line 43"/>
            <p:cNvSpPr>
              <a:spLocks noChangeShapeType="1"/>
            </p:cNvSpPr>
            <p:nvPr/>
          </p:nvSpPr>
          <p:spPr bwMode="auto">
            <a:xfrm rot="10800000" flipH="1">
              <a:off x="0" y="552"/>
              <a:ext cx="1024" cy="34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258" name="Rectangle 44"/>
            <p:cNvSpPr>
              <a:spLocks/>
            </p:cNvSpPr>
            <p:nvPr/>
          </p:nvSpPr>
          <p:spPr bwMode="auto">
            <a:xfrm>
              <a:off x="630" y="1052"/>
              <a:ext cx="1408" cy="2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57797" bIns="0">
              <a:prstTxWarp prst="textNoShape">
                <a:avLst/>
              </a:prstTxWarp>
            </a:bodyPr>
            <a:lstStyle/>
            <a:p>
              <a:pPr marL="38100">
                <a:spcBef>
                  <a:spcPts val="1050"/>
                </a:spcBef>
              </a:pPr>
              <a:r>
                <a:rPr lang="en-US" sz="1700">
                  <a:solidFill>
                    <a:srgbClr val="FA3D2E"/>
                  </a:solidFill>
                  <a:ea typeface="Arial" charset="0"/>
                  <a:cs typeface="Arial" charset="0"/>
                  <a:sym typeface="Arial" charset="0"/>
                </a:rPr>
                <a:t>Controller</a:t>
              </a:r>
            </a:p>
          </p:txBody>
        </p:sp>
      </p:grpSp>
      <p:sp>
        <p:nvSpPr>
          <p:cNvPr id="69" name="Slide Number Placeholder 6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E16F1-AC82-6747-816A-BAF557C3F392}" type="slidenum">
              <a:rPr lang="en-US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055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1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2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1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74" grpId="0" autoUpdateAnimBg="0"/>
      <p:bldP spid="65575" grpId="0" autoUpdateAnimBg="0"/>
      <p:bldP spid="53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1772816"/>
            <a:ext cx="7772400" cy="2634085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Switching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Usage models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Virtualizing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/>
              <a:t>FlowVisor</a:t>
            </a:r>
            <a:r>
              <a:rPr lang="en-US" altLang="zh-TW" dirty="0"/>
              <a:t>-based Virtualization</a:t>
            </a:r>
          </a:p>
          <a:p>
            <a:r>
              <a:rPr lang="en-US" altLang="zh-TW" dirty="0" err="1" smtClean="0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 smtClean="0">
                <a:solidFill>
                  <a:schemeClr val="bg1">
                    <a:lumMod val="50000"/>
                  </a:schemeClr>
                </a:solidFill>
              </a:rPr>
              <a:t> references</a:t>
            </a:r>
            <a:endParaRPr lang="zh-TW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33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FlowVisor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Network Hypervisor </a:t>
            </a:r>
            <a:r>
              <a:rPr lang="en-US" dirty="0"/>
              <a:t>developed by Stanford</a:t>
            </a:r>
          </a:p>
          <a:p>
            <a:r>
              <a:rPr lang="en-US" dirty="0" smtClean="0"/>
              <a:t>A software proxy between </a:t>
            </a:r>
            <a:r>
              <a:rPr lang="en-US" dirty="0"/>
              <a:t>the forwarding and control planes of network </a:t>
            </a:r>
            <a:r>
              <a:rPr lang="en-US" dirty="0" smtClean="0"/>
              <a:t>devices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53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/>
          </p:cNvSpPr>
          <p:nvPr>
            <p:ph type="title"/>
          </p:nvPr>
        </p:nvSpPr>
        <p:spPr>
          <a:xfrm>
            <a:off x="168275" y="274638"/>
            <a:ext cx="8518525" cy="86836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alibri" charset="0"/>
              </a:rPr>
              <a:t>FlowVisor</a:t>
            </a:r>
            <a:r>
              <a:rPr lang="en-US" dirty="0">
                <a:latin typeface="Calibri" charset="0"/>
              </a:rPr>
              <a:t>-based </a:t>
            </a:r>
            <a:r>
              <a:rPr lang="en-US" dirty="0" smtClean="0">
                <a:latin typeface="Calibri" charset="0"/>
              </a:rPr>
              <a:t>Virtualization(1/2)</a:t>
            </a:r>
            <a:endParaRPr lang="en-US" dirty="0">
              <a:latin typeface="Calibri" charset="0"/>
            </a:endParaRPr>
          </a:p>
        </p:txBody>
      </p:sp>
      <p:pic>
        <p:nvPicPr>
          <p:cNvPr id="285700" name="Picture 1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5613" y="6108700"/>
            <a:ext cx="723900" cy="514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85701" name="Picture 2"/>
          <p:cNvPicPr>
            <a:picLocks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27513" y="6108700"/>
            <a:ext cx="725487" cy="514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85702" name="Line 3"/>
          <p:cNvSpPr>
            <a:spLocks noChangeShapeType="1"/>
          </p:cNvSpPr>
          <p:nvPr/>
        </p:nvSpPr>
        <p:spPr bwMode="auto">
          <a:xfrm flipH="1">
            <a:off x="1762125" y="4238625"/>
            <a:ext cx="628650" cy="1141413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5703" name="Line 4"/>
          <p:cNvSpPr>
            <a:spLocks noChangeShapeType="1"/>
          </p:cNvSpPr>
          <p:nvPr/>
        </p:nvSpPr>
        <p:spPr bwMode="auto">
          <a:xfrm>
            <a:off x="4130675" y="5881688"/>
            <a:ext cx="290513" cy="320675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85704" name="Group 5"/>
          <p:cNvGrpSpPr>
            <a:grpSpLocks/>
          </p:cNvGrpSpPr>
          <p:nvPr/>
        </p:nvGrpSpPr>
        <p:grpSpPr bwMode="auto">
          <a:xfrm>
            <a:off x="2027238" y="3768725"/>
            <a:ext cx="1473200" cy="463550"/>
            <a:chOff x="0" y="0"/>
            <a:chExt cx="1320" cy="416"/>
          </a:xfrm>
        </p:grpSpPr>
        <p:sp>
          <p:nvSpPr>
            <p:cNvPr id="285705" name="AutoShape 6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285706" name="Rectangle 7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57797" bIns="0">
              <a:prstTxWarp prst="textNoShape">
                <a:avLst/>
              </a:prstTxWarp>
            </a:bodyPr>
            <a:lstStyle/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285707" name="Picture 8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sp>
        <p:nvSpPr>
          <p:cNvPr id="285708" name="Line 9"/>
          <p:cNvSpPr>
            <a:spLocks noChangeShapeType="1"/>
          </p:cNvSpPr>
          <p:nvPr/>
        </p:nvSpPr>
        <p:spPr bwMode="auto">
          <a:xfrm>
            <a:off x="3214688" y="4238625"/>
            <a:ext cx="628650" cy="1141413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5709" name="Line 10"/>
          <p:cNvSpPr>
            <a:spLocks noChangeShapeType="1"/>
          </p:cNvSpPr>
          <p:nvPr/>
        </p:nvSpPr>
        <p:spPr bwMode="auto">
          <a:xfrm flipH="1">
            <a:off x="844550" y="5881688"/>
            <a:ext cx="338138" cy="320675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19" name="Rectangle 11"/>
          <p:cNvSpPr>
            <a:spLocks/>
          </p:cNvSpPr>
          <p:nvPr/>
        </p:nvSpPr>
        <p:spPr bwMode="auto">
          <a:xfrm>
            <a:off x="5180013" y="4773613"/>
            <a:ext cx="9493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906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dirty="0" err="1">
                <a:ea typeface="Arial" charset="0"/>
                <a:cs typeface="Arial" charset="0"/>
                <a:sym typeface="Arial" charset="0"/>
              </a:rPr>
              <a:t>OpenFlow</a:t>
            </a:r>
            <a:endParaRPr lang="en-US" sz="1500" dirty="0">
              <a:ea typeface="Arial" charset="0"/>
              <a:cs typeface="Arial" charset="0"/>
              <a:sym typeface="Arial" charset="0"/>
            </a:endParaRPr>
          </a:p>
          <a:p>
            <a:pPr marL="3906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dirty="0">
                <a:ea typeface="Arial" charset="0"/>
                <a:cs typeface="Arial" charset="0"/>
                <a:sym typeface="Arial" charset="0"/>
              </a:rPr>
              <a:t>Protocol</a:t>
            </a:r>
          </a:p>
        </p:txBody>
      </p:sp>
      <p:sp>
        <p:nvSpPr>
          <p:cNvPr id="285711" name="Line 12"/>
          <p:cNvSpPr>
            <a:spLocks noChangeShapeType="1"/>
          </p:cNvSpPr>
          <p:nvPr/>
        </p:nvSpPr>
        <p:spPr bwMode="auto">
          <a:xfrm rot="10800000" flipH="1">
            <a:off x="4419600" y="4394200"/>
            <a:ext cx="1371600" cy="1065213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5712" name="Line 13"/>
          <p:cNvSpPr>
            <a:spLocks noChangeShapeType="1"/>
          </p:cNvSpPr>
          <p:nvPr/>
        </p:nvSpPr>
        <p:spPr bwMode="auto">
          <a:xfrm rot="10800000" flipH="1">
            <a:off x="3509963" y="3935413"/>
            <a:ext cx="1752600" cy="7620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5713" name="Line 14"/>
          <p:cNvSpPr>
            <a:spLocks noChangeShapeType="1"/>
          </p:cNvSpPr>
          <p:nvPr/>
        </p:nvSpPr>
        <p:spPr bwMode="auto">
          <a:xfrm rot="10800000" flipH="1">
            <a:off x="2133600" y="4316413"/>
            <a:ext cx="3124200" cy="114300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285714" name="Group 15"/>
          <p:cNvGrpSpPr>
            <a:grpSpLocks/>
          </p:cNvGrpSpPr>
          <p:nvPr/>
        </p:nvGrpSpPr>
        <p:grpSpPr bwMode="auto">
          <a:xfrm>
            <a:off x="5259388" y="3652838"/>
            <a:ext cx="3349625" cy="739775"/>
            <a:chOff x="0" y="0"/>
            <a:chExt cx="3000" cy="664"/>
          </a:xfrm>
        </p:grpSpPr>
        <p:grpSp>
          <p:nvGrpSpPr>
            <p:cNvPr id="285715" name="Group 16"/>
            <p:cNvGrpSpPr>
              <a:grpSpLocks/>
            </p:cNvGrpSpPr>
            <p:nvPr/>
          </p:nvGrpSpPr>
          <p:grpSpPr bwMode="auto">
            <a:xfrm>
              <a:off x="0" y="0"/>
              <a:ext cx="3000" cy="664"/>
              <a:chOff x="0" y="0"/>
              <a:chExt cx="3000" cy="664"/>
            </a:xfrm>
          </p:grpSpPr>
          <p:sp>
            <p:nvSpPr>
              <p:cNvPr id="68625" name="AutoShape 17"/>
              <p:cNvSpPr>
                <a:spLocks/>
              </p:cNvSpPr>
              <p:nvPr/>
            </p:nvSpPr>
            <p:spPr bwMode="auto">
              <a:xfrm>
                <a:off x="0" y="0"/>
                <a:ext cx="3000" cy="664"/>
              </a:xfrm>
              <a:prstGeom prst="roundRect">
                <a:avLst>
                  <a:gd name="adj" fmla="val 11718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  <a:effectLst>
                <a:outerShdw blurRad="63500" dist="38099" dir="2700000" algn="ctr" rotWithShape="0">
                  <a:schemeClr val="bg2">
                    <a:alpha val="75000"/>
                  </a:schemeClr>
                </a:outerShdw>
              </a:effectLst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>
                  <a:latin typeface="+mn-lt"/>
                </a:endParaRPr>
              </a:p>
            </p:txBody>
          </p:sp>
          <p:sp>
            <p:nvSpPr>
              <p:cNvPr id="285717" name="Rectangle 18"/>
              <p:cNvSpPr>
                <a:spLocks/>
              </p:cNvSpPr>
              <p:nvPr/>
            </p:nvSpPr>
            <p:spPr bwMode="auto">
              <a:xfrm>
                <a:off x="33" y="224"/>
                <a:ext cx="2936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>
                  <a:latin typeface="Calibri" charset="0"/>
                </a:endParaRPr>
              </a:p>
            </p:txBody>
          </p:sp>
        </p:grpSp>
        <p:sp>
          <p:nvSpPr>
            <p:cNvPr id="285718" name="Rectangle 19"/>
            <p:cNvSpPr>
              <a:spLocks/>
            </p:cNvSpPr>
            <p:nvPr/>
          </p:nvSpPr>
          <p:spPr bwMode="auto">
            <a:xfrm>
              <a:off x="109" y="88"/>
              <a:ext cx="2800" cy="4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38100" tIns="38100" rIns="112557" bIns="38100" anchor="ctr">
              <a:prstTxWarp prst="textNoShape">
                <a:avLst/>
              </a:prstTxWarp>
            </a:bodyPr>
            <a:lstStyle/>
            <a:p>
              <a:r>
                <a:rPr lang="en-US" sz="1700">
                  <a:ea typeface="Arial" charset="0"/>
                  <a:cs typeface="Arial" charset="0"/>
                  <a:sym typeface="Arial" charset="0"/>
                </a:rPr>
                <a:t>OpenFlow FlowVisor </a:t>
              </a:r>
              <a:br>
                <a:rPr lang="en-US" sz="1700">
                  <a:ea typeface="Arial" charset="0"/>
                  <a:cs typeface="Arial" charset="0"/>
                  <a:sym typeface="Arial" charset="0"/>
                </a:rPr>
              </a:br>
              <a:r>
                <a:rPr lang="en-US" sz="1700">
                  <a:ea typeface="Arial" charset="0"/>
                  <a:cs typeface="Arial" charset="0"/>
                  <a:sym typeface="Arial" charset="0"/>
                </a:rPr>
                <a:t>&amp; Policy Control</a:t>
              </a:r>
            </a:p>
          </p:txBody>
        </p:sp>
      </p:grp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7620000" y="1973263"/>
            <a:ext cx="914400" cy="911225"/>
            <a:chOff x="0" y="0"/>
            <a:chExt cx="820" cy="816"/>
          </a:xfrm>
        </p:grpSpPr>
        <p:pic>
          <p:nvPicPr>
            <p:cNvPr id="285720" name="Picture 21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0"/>
              <a:ext cx="820" cy="8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68630" name="Line 22"/>
          <p:cNvSpPr>
            <a:spLocks noChangeShapeType="1"/>
          </p:cNvSpPr>
          <p:nvPr/>
        </p:nvSpPr>
        <p:spPr bwMode="auto">
          <a:xfrm rot="10800000" flipH="1">
            <a:off x="7543800" y="2813050"/>
            <a:ext cx="458788" cy="836613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31" name="Rectangle 23"/>
          <p:cNvSpPr>
            <a:spLocks/>
          </p:cNvSpPr>
          <p:nvPr/>
        </p:nvSpPr>
        <p:spPr bwMode="auto">
          <a:xfrm>
            <a:off x="6915150" y="1214438"/>
            <a:ext cx="1016000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8100" algn="r"/>
            <a:r>
              <a:rPr lang="en-US" sz="1700">
                <a:ea typeface="Arial" charset="0"/>
                <a:cs typeface="Arial" charset="0"/>
                <a:sym typeface="Arial" charset="0"/>
              </a:rPr>
              <a:t>Craig’s</a:t>
            </a:r>
          </a:p>
          <a:p>
            <a:pPr marL="38100" algn="r"/>
            <a:r>
              <a:rPr lang="en-US" sz="1700">
                <a:ea typeface="Arial" charset="0"/>
                <a:cs typeface="Arial" charset="0"/>
                <a:sym typeface="Arial" charset="0"/>
              </a:rPr>
              <a:t>Controller</a:t>
            </a:r>
          </a:p>
        </p:txBody>
      </p:sp>
      <p:sp>
        <p:nvSpPr>
          <p:cNvPr id="68632" name="Rectangle 24"/>
          <p:cNvSpPr>
            <a:spLocks/>
          </p:cNvSpPr>
          <p:nvPr/>
        </p:nvSpPr>
        <p:spPr bwMode="auto">
          <a:xfrm>
            <a:off x="5532438" y="1214438"/>
            <a:ext cx="1016000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8100"/>
            <a:r>
              <a:rPr lang="en-US" sz="1700">
                <a:ea typeface="Arial" charset="0"/>
                <a:cs typeface="Arial" charset="0"/>
                <a:sym typeface="Arial" charset="0"/>
              </a:rPr>
              <a:t>Heidi’s</a:t>
            </a:r>
          </a:p>
          <a:p>
            <a:pPr marL="38100"/>
            <a:r>
              <a:rPr lang="en-US" sz="1700">
                <a:ea typeface="Arial" charset="0"/>
                <a:cs typeface="Arial" charset="0"/>
                <a:sym typeface="Arial" charset="0"/>
              </a:rPr>
              <a:t>Controller</a:t>
            </a:r>
          </a:p>
        </p:txBody>
      </p: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491163" y="1820863"/>
            <a:ext cx="911225" cy="911225"/>
            <a:chOff x="0" y="0"/>
            <a:chExt cx="816" cy="816"/>
          </a:xfrm>
        </p:grpSpPr>
        <p:pic>
          <p:nvPicPr>
            <p:cNvPr id="285725" name="Picture 26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0"/>
              <a:ext cx="816" cy="8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68635" name="Line 27"/>
          <p:cNvSpPr>
            <a:spLocks noChangeShapeType="1"/>
          </p:cNvSpPr>
          <p:nvPr/>
        </p:nvSpPr>
        <p:spPr bwMode="auto">
          <a:xfrm rot="10800000">
            <a:off x="5867400" y="2660650"/>
            <a:ext cx="531813" cy="99060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5727" name="Rectangle 28"/>
          <p:cNvSpPr>
            <a:spLocks/>
          </p:cNvSpPr>
          <p:nvPr/>
        </p:nvSpPr>
        <p:spPr bwMode="auto">
          <a:xfrm>
            <a:off x="3540125" y="1366838"/>
            <a:ext cx="1016000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8100"/>
            <a:r>
              <a:rPr lang="en-US" sz="1700">
                <a:ea typeface="Arial" charset="0"/>
                <a:cs typeface="Arial" charset="0"/>
                <a:sym typeface="Arial" charset="0"/>
              </a:rPr>
              <a:t>Aaron’s</a:t>
            </a:r>
          </a:p>
          <a:p>
            <a:pPr marL="38100"/>
            <a:r>
              <a:rPr lang="en-US" sz="1700">
                <a:ea typeface="Arial" charset="0"/>
                <a:cs typeface="Arial" charset="0"/>
                <a:sym typeface="Arial" charset="0"/>
              </a:rPr>
              <a:t>Controller</a:t>
            </a:r>
          </a:p>
        </p:txBody>
      </p:sp>
      <p:grpSp>
        <p:nvGrpSpPr>
          <p:cNvPr id="285728" name="Group 29"/>
          <p:cNvGrpSpPr>
            <a:grpSpLocks/>
          </p:cNvGrpSpPr>
          <p:nvPr/>
        </p:nvGrpSpPr>
        <p:grpSpPr bwMode="auto">
          <a:xfrm>
            <a:off x="3616325" y="1973263"/>
            <a:ext cx="911225" cy="911225"/>
            <a:chOff x="0" y="0"/>
            <a:chExt cx="816" cy="816"/>
          </a:xfrm>
        </p:grpSpPr>
        <p:pic>
          <p:nvPicPr>
            <p:cNvPr id="285729" name="Picture 30"/>
            <p:cNvPicPr>
              <a:picLocks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0" y="0"/>
              <a:ext cx="816" cy="816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</p:pic>
      </p:grpSp>
      <p:sp>
        <p:nvSpPr>
          <p:cNvPr id="285730" name="Line 31"/>
          <p:cNvSpPr>
            <a:spLocks noChangeShapeType="1"/>
          </p:cNvSpPr>
          <p:nvPr/>
        </p:nvSpPr>
        <p:spPr bwMode="auto">
          <a:xfrm rot="10800000">
            <a:off x="4268788" y="2813050"/>
            <a:ext cx="1370012" cy="836613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8640" name="Rectangle 32"/>
          <p:cNvSpPr>
            <a:spLocks/>
          </p:cNvSpPr>
          <p:nvPr/>
        </p:nvSpPr>
        <p:spPr bwMode="auto">
          <a:xfrm>
            <a:off x="4572000" y="2841625"/>
            <a:ext cx="9493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5000"/>
              </a:schemeClr>
            </a:outerShdw>
          </a:effectLst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906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dirty="0" err="1">
                <a:ea typeface="Arial" charset="0"/>
                <a:cs typeface="Arial" charset="0"/>
                <a:sym typeface="Arial" charset="0"/>
              </a:rPr>
              <a:t>OpenFlow</a:t>
            </a:r>
            <a:endParaRPr lang="en-US" sz="1500" dirty="0">
              <a:ea typeface="Arial" charset="0"/>
              <a:cs typeface="Arial" charset="0"/>
              <a:sym typeface="Arial" charset="0"/>
            </a:endParaRPr>
          </a:p>
          <a:p>
            <a:pPr marL="39066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dirty="0">
                <a:ea typeface="Arial" charset="0"/>
                <a:cs typeface="Arial" charset="0"/>
                <a:sym typeface="Arial" charset="0"/>
              </a:rPr>
              <a:t>Protocol</a:t>
            </a:r>
          </a:p>
        </p:txBody>
      </p:sp>
      <p:pic>
        <p:nvPicPr>
          <p:cNvPr id="285732" name="Picture 33"/>
          <p:cNvPicPr>
            <a:picLocks noChangeArrowheads="1"/>
          </p:cNvPicPr>
          <p:nvPr/>
        </p:nvPicPr>
        <p:blipFill>
          <a:blip r:embed="rId5"/>
          <a:srcRect l="14651" t="7971" r="14650" b="23914"/>
          <a:stretch>
            <a:fillRect/>
          </a:stretch>
        </p:blipFill>
        <p:spPr bwMode="auto">
          <a:xfrm>
            <a:off x="2589213" y="1366838"/>
            <a:ext cx="911225" cy="11303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68642" name="Picture 34"/>
          <p:cNvPicPr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6858000" y="1822450"/>
            <a:ext cx="779463" cy="9159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68643" name="Picture 35"/>
          <p:cNvPicPr>
            <a:picLocks noChangeArrowheads="1"/>
          </p:cNvPicPr>
          <p:nvPr/>
        </p:nvPicPr>
        <p:blipFill>
          <a:blip r:embed="rId7"/>
          <a:srcRect r="9351" b="29576"/>
          <a:stretch>
            <a:fillRect/>
          </a:stretch>
        </p:blipFill>
        <p:spPr bwMode="auto">
          <a:xfrm>
            <a:off x="4702175" y="1133475"/>
            <a:ext cx="815975" cy="9112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grpSp>
        <p:nvGrpSpPr>
          <p:cNvPr id="285735" name="Group 37"/>
          <p:cNvGrpSpPr>
            <a:grpSpLocks/>
          </p:cNvGrpSpPr>
          <p:nvPr/>
        </p:nvGrpSpPr>
        <p:grpSpPr bwMode="auto">
          <a:xfrm>
            <a:off x="652463" y="5402263"/>
            <a:ext cx="1473200" cy="465137"/>
            <a:chOff x="0" y="0"/>
            <a:chExt cx="1320" cy="416"/>
          </a:xfrm>
        </p:grpSpPr>
        <p:sp>
          <p:nvSpPr>
            <p:cNvPr id="285736" name="AutoShape 38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285737" name="Rectangle 39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57797" bIns="0">
              <a:prstTxWarp prst="textNoShape">
                <a:avLst/>
              </a:prstTxWarp>
            </a:bodyPr>
            <a:lstStyle/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285738" name="Picture 40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grpSp>
        <p:nvGrpSpPr>
          <p:cNvPr id="285739" name="Group 41"/>
          <p:cNvGrpSpPr>
            <a:grpSpLocks/>
          </p:cNvGrpSpPr>
          <p:nvPr/>
        </p:nvGrpSpPr>
        <p:grpSpPr bwMode="auto">
          <a:xfrm>
            <a:off x="2938463" y="5402263"/>
            <a:ext cx="1473200" cy="465137"/>
            <a:chOff x="0" y="0"/>
            <a:chExt cx="1320" cy="416"/>
          </a:xfrm>
        </p:grpSpPr>
        <p:sp>
          <p:nvSpPr>
            <p:cNvPr id="285740" name="AutoShape 42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285741" name="Rectangle 43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57797" bIns="0">
              <a:prstTxWarp prst="textNoShape">
                <a:avLst/>
              </a:prstTxWarp>
            </a:bodyPr>
            <a:lstStyle/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285742" name="Picture 44"/>
            <p:cNvPicPr>
              <a:picLocks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sp>
        <p:nvSpPr>
          <p:cNvPr id="46" name="Slide Number Placeholder 45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>
            <a:prstTxWarp prst="textNoShape">
              <a:avLst/>
            </a:prstTxWarp>
          </a:bodyPr>
          <a:lstStyle/>
          <a:p>
            <a:pPr algn="r"/>
            <a:fld id="{BBD686CF-5E3F-D942-901F-0BF85BEAA4A0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/>
              <a:t>68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285744" name="Rectangle 48"/>
          <p:cNvSpPr>
            <a:spLocks noChangeArrowheads="1"/>
          </p:cNvSpPr>
          <p:nvPr/>
        </p:nvSpPr>
        <p:spPr bwMode="auto">
          <a:xfrm>
            <a:off x="168275" y="1806575"/>
            <a:ext cx="1593850" cy="10064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FFFF99">
                <a:gamma/>
                <a:shade val="60000"/>
                <a:invGamma/>
                <a:alpha val="74998"/>
              </a:srgbClr>
            </a:prstShdw>
          </a:effectLst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>
                <a:latin typeface="Calibri" charset="0"/>
                <a:sym typeface="Helvetica" charset="0"/>
              </a:rPr>
              <a:t>Topology discovery is per slice</a:t>
            </a:r>
          </a:p>
        </p:txBody>
      </p:sp>
    </p:spTree>
    <p:extLst>
      <p:ext uri="{BB962C8B-B14F-4D97-AF65-F5344CB8AC3E}">
        <p14:creationId xmlns:p14="http://schemas.microsoft.com/office/powerpoint/2010/main" val="38586406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1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2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3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4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5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6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30" grpId="0" animBg="1"/>
      <p:bldP spid="68631" grpId="0" autoUpdateAnimBg="0"/>
      <p:bldP spid="68632" grpId="0" autoUpdateAnimBg="0"/>
      <p:bldP spid="6863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7" name="Picture 1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5613" y="6108700"/>
            <a:ext cx="723900" cy="514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101378" name="Picture 2"/>
          <p:cNvPicPr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27513" y="6108700"/>
            <a:ext cx="725487" cy="5143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101379" name="Line 3"/>
          <p:cNvSpPr>
            <a:spLocks noChangeShapeType="1"/>
          </p:cNvSpPr>
          <p:nvPr/>
        </p:nvSpPr>
        <p:spPr bwMode="auto">
          <a:xfrm flipH="1">
            <a:off x="1762125" y="4238625"/>
            <a:ext cx="628650" cy="1141413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380" name="Line 4"/>
          <p:cNvSpPr>
            <a:spLocks noChangeShapeType="1"/>
          </p:cNvSpPr>
          <p:nvPr/>
        </p:nvSpPr>
        <p:spPr bwMode="auto">
          <a:xfrm>
            <a:off x="4130675" y="5881688"/>
            <a:ext cx="290513" cy="320675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381" name="Line 5"/>
          <p:cNvSpPr>
            <a:spLocks noChangeShapeType="1"/>
          </p:cNvSpPr>
          <p:nvPr/>
        </p:nvSpPr>
        <p:spPr bwMode="auto">
          <a:xfrm>
            <a:off x="3214688" y="4238625"/>
            <a:ext cx="628650" cy="1141413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382" name="Line 6"/>
          <p:cNvSpPr>
            <a:spLocks noChangeShapeType="1"/>
          </p:cNvSpPr>
          <p:nvPr/>
        </p:nvSpPr>
        <p:spPr bwMode="auto">
          <a:xfrm flipH="1">
            <a:off x="844550" y="5881688"/>
            <a:ext cx="338138" cy="320675"/>
          </a:xfrm>
          <a:prstGeom prst="line">
            <a:avLst/>
          </a:prstGeom>
          <a:noFill/>
          <a:ln w="38100">
            <a:solidFill>
              <a:srgbClr val="808080"/>
            </a:solidFill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383" name="Rectangle 7"/>
          <p:cNvSpPr>
            <a:spLocks/>
          </p:cNvSpPr>
          <p:nvPr/>
        </p:nvSpPr>
        <p:spPr bwMode="auto">
          <a:xfrm>
            <a:off x="5180013" y="4773613"/>
            <a:ext cx="94932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8100"/>
            <a:r>
              <a:rPr lang="en-US" sz="1500">
                <a:ea typeface="Arial" charset="0"/>
                <a:cs typeface="Arial" charset="0"/>
                <a:sym typeface="Arial" charset="0"/>
              </a:rPr>
              <a:t>OpenFlow</a:t>
            </a:r>
          </a:p>
          <a:p>
            <a:pPr marL="38100"/>
            <a:r>
              <a:rPr lang="en-US" sz="1500">
                <a:ea typeface="Arial" charset="0"/>
                <a:cs typeface="Arial" charset="0"/>
                <a:sym typeface="Arial" charset="0"/>
              </a:rPr>
              <a:t>Protocol</a:t>
            </a:r>
          </a:p>
        </p:txBody>
      </p:sp>
      <p:sp>
        <p:nvSpPr>
          <p:cNvPr id="101384" name="Line 8"/>
          <p:cNvSpPr>
            <a:spLocks noChangeShapeType="1"/>
          </p:cNvSpPr>
          <p:nvPr/>
        </p:nvSpPr>
        <p:spPr bwMode="auto">
          <a:xfrm rot="10800000" flipH="1">
            <a:off x="4419600" y="4394200"/>
            <a:ext cx="1371600" cy="1065213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385" name="Line 9"/>
          <p:cNvSpPr>
            <a:spLocks noChangeShapeType="1"/>
          </p:cNvSpPr>
          <p:nvPr/>
        </p:nvSpPr>
        <p:spPr bwMode="auto">
          <a:xfrm rot="10800000" flipH="1">
            <a:off x="3509963" y="3935413"/>
            <a:ext cx="1752600" cy="7620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386" name="Line 10"/>
          <p:cNvSpPr>
            <a:spLocks noChangeShapeType="1"/>
          </p:cNvSpPr>
          <p:nvPr/>
        </p:nvSpPr>
        <p:spPr bwMode="auto">
          <a:xfrm rot="10800000" flipH="1">
            <a:off x="2133600" y="4316413"/>
            <a:ext cx="3124200" cy="1143000"/>
          </a:xfrm>
          <a:prstGeom prst="line">
            <a:avLst/>
          </a:prstGeom>
          <a:noFill/>
          <a:ln w="38100">
            <a:solidFill>
              <a:srgbClr val="FF9966"/>
            </a:solidFill>
            <a:prstDash val="sysDot"/>
            <a:round/>
            <a:headEnd type="triangle" w="med" len="med"/>
            <a:tailEnd type="triangle" w="med" len="med"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1387" name="Group 11"/>
          <p:cNvGrpSpPr>
            <a:grpSpLocks/>
          </p:cNvGrpSpPr>
          <p:nvPr/>
        </p:nvGrpSpPr>
        <p:grpSpPr bwMode="auto">
          <a:xfrm>
            <a:off x="5259388" y="3652838"/>
            <a:ext cx="3349625" cy="739775"/>
            <a:chOff x="0" y="0"/>
            <a:chExt cx="3000" cy="664"/>
          </a:xfrm>
        </p:grpSpPr>
        <p:grpSp>
          <p:nvGrpSpPr>
            <p:cNvPr id="101416" name="Group 12"/>
            <p:cNvGrpSpPr>
              <a:grpSpLocks/>
            </p:cNvGrpSpPr>
            <p:nvPr/>
          </p:nvGrpSpPr>
          <p:grpSpPr bwMode="auto">
            <a:xfrm>
              <a:off x="0" y="0"/>
              <a:ext cx="3000" cy="664"/>
              <a:chOff x="0" y="0"/>
              <a:chExt cx="3000" cy="664"/>
            </a:xfrm>
          </p:grpSpPr>
          <p:sp>
            <p:nvSpPr>
              <p:cNvPr id="101418" name="AutoShape 13"/>
              <p:cNvSpPr>
                <a:spLocks/>
              </p:cNvSpPr>
              <p:nvPr/>
            </p:nvSpPr>
            <p:spPr bwMode="auto">
              <a:xfrm>
                <a:off x="0" y="0"/>
                <a:ext cx="3000" cy="664"/>
              </a:xfrm>
              <a:prstGeom prst="roundRect">
                <a:avLst>
                  <a:gd name="adj" fmla="val 11718"/>
                </a:avLst>
              </a:prstGeom>
              <a:solidFill>
                <a:srgbClr val="FFFFFF"/>
              </a:solidFill>
              <a:ln w="38100">
                <a:solidFill>
                  <a:srgbClr val="808080"/>
                </a:solidFill>
                <a:round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>
                  <a:latin typeface="Calibri" charset="0"/>
                </a:endParaRPr>
              </a:p>
            </p:txBody>
          </p:sp>
          <p:sp>
            <p:nvSpPr>
              <p:cNvPr id="101419" name="Rectangle 14"/>
              <p:cNvSpPr>
                <a:spLocks/>
              </p:cNvSpPr>
              <p:nvPr/>
            </p:nvSpPr>
            <p:spPr bwMode="auto">
              <a:xfrm>
                <a:off x="33" y="224"/>
                <a:ext cx="2936" cy="2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endParaRPr lang="en-US">
                  <a:latin typeface="Calibri" charset="0"/>
                </a:endParaRPr>
              </a:p>
            </p:txBody>
          </p:sp>
        </p:grpSp>
        <p:sp>
          <p:nvSpPr>
            <p:cNvPr id="101417" name="Rectangle 15"/>
            <p:cNvSpPr>
              <a:spLocks/>
            </p:cNvSpPr>
            <p:nvPr/>
          </p:nvSpPr>
          <p:spPr bwMode="auto">
            <a:xfrm>
              <a:off x="340" y="66"/>
              <a:ext cx="2415" cy="53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38100" tIns="38100" rIns="112557" bIns="38100" anchor="ctr">
              <a:prstTxWarp prst="textNoShape">
                <a:avLst/>
              </a:prstTxWarp>
              <a:spAutoFit/>
            </a:bodyPr>
            <a:lstStyle/>
            <a:p>
              <a:r>
                <a:rPr lang="en-US" sz="1700">
                  <a:ea typeface="Arial" charset="0"/>
                  <a:cs typeface="Arial" charset="0"/>
                  <a:sym typeface="Arial" charset="0"/>
                </a:rPr>
                <a:t>OpenFlow</a:t>
              </a:r>
            </a:p>
            <a:p>
              <a:r>
                <a:rPr lang="en-US" sz="1700">
                  <a:ea typeface="Arial" charset="0"/>
                  <a:cs typeface="Arial" charset="0"/>
                  <a:sym typeface="Arial" charset="0"/>
                </a:rPr>
                <a:t>FlowVisor &amp; Policy Control</a:t>
              </a:r>
            </a:p>
          </p:txBody>
        </p:sp>
      </p:grpSp>
      <p:sp>
        <p:nvSpPr>
          <p:cNvPr id="101388" name="Rectangle 16"/>
          <p:cNvSpPr>
            <a:spLocks/>
          </p:cNvSpPr>
          <p:nvPr/>
        </p:nvSpPr>
        <p:spPr bwMode="auto">
          <a:xfrm>
            <a:off x="3490913" y="1660525"/>
            <a:ext cx="1054100" cy="258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8100"/>
            <a:r>
              <a:rPr lang="en-US" sz="1700">
                <a:ea typeface="Arial" charset="0"/>
                <a:cs typeface="Arial" charset="0"/>
                <a:sym typeface="Arial" charset="0"/>
              </a:rPr>
              <a:t>Broadcast</a:t>
            </a:r>
          </a:p>
        </p:txBody>
      </p:sp>
      <p:sp>
        <p:nvSpPr>
          <p:cNvPr id="101389" name="Rectangle 17"/>
          <p:cNvSpPr>
            <a:spLocks/>
          </p:cNvSpPr>
          <p:nvPr/>
        </p:nvSpPr>
        <p:spPr bwMode="auto">
          <a:xfrm>
            <a:off x="5465763" y="1535113"/>
            <a:ext cx="931862" cy="2587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8100"/>
            <a:r>
              <a:rPr lang="en-US" sz="1700">
                <a:ea typeface="Arial" charset="0"/>
                <a:cs typeface="Arial" charset="0"/>
                <a:sym typeface="Arial" charset="0"/>
              </a:rPr>
              <a:t>Multicast</a:t>
            </a:r>
          </a:p>
        </p:txBody>
      </p:sp>
      <p:grpSp>
        <p:nvGrpSpPr>
          <p:cNvPr id="101390" name="Group 18"/>
          <p:cNvGrpSpPr>
            <a:grpSpLocks/>
          </p:cNvGrpSpPr>
          <p:nvPr/>
        </p:nvGrpSpPr>
        <p:grpSpPr bwMode="auto">
          <a:xfrm>
            <a:off x="3616325" y="1822450"/>
            <a:ext cx="4911725" cy="1828800"/>
            <a:chOff x="0" y="0"/>
            <a:chExt cx="4399" cy="1639"/>
          </a:xfrm>
        </p:grpSpPr>
        <p:grpSp>
          <p:nvGrpSpPr>
            <p:cNvPr id="101406" name="Group 19"/>
            <p:cNvGrpSpPr>
              <a:grpSpLocks/>
            </p:cNvGrpSpPr>
            <p:nvPr/>
          </p:nvGrpSpPr>
          <p:grpSpPr bwMode="auto">
            <a:xfrm>
              <a:off x="0" y="136"/>
              <a:ext cx="816" cy="816"/>
              <a:chOff x="0" y="0"/>
              <a:chExt cx="816" cy="816"/>
            </a:xfrm>
          </p:grpSpPr>
          <p:pic>
            <p:nvPicPr>
              <p:cNvPr id="101415" name="Picture 20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</p:grpSp>
        <p:grpSp>
          <p:nvGrpSpPr>
            <p:cNvPr id="101407" name="Group 21"/>
            <p:cNvGrpSpPr>
              <a:grpSpLocks/>
            </p:cNvGrpSpPr>
            <p:nvPr/>
          </p:nvGrpSpPr>
          <p:grpSpPr bwMode="auto">
            <a:xfrm>
              <a:off x="1679" y="0"/>
              <a:ext cx="816" cy="816"/>
              <a:chOff x="0" y="0"/>
              <a:chExt cx="816" cy="816"/>
            </a:xfrm>
          </p:grpSpPr>
          <p:pic>
            <p:nvPicPr>
              <p:cNvPr id="101414" name="Picture 22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</p:grpSp>
        <p:grpSp>
          <p:nvGrpSpPr>
            <p:cNvPr id="101408" name="Group 23"/>
            <p:cNvGrpSpPr>
              <a:grpSpLocks/>
            </p:cNvGrpSpPr>
            <p:nvPr/>
          </p:nvGrpSpPr>
          <p:grpSpPr bwMode="auto">
            <a:xfrm>
              <a:off x="3583" y="136"/>
              <a:ext cx="816" cy="816"/>
              <a:chOff x="0" y="0"/>
              <a:chExt cx="816" cy="816"/>
            </a:xfrm>
          </p:grpSpPr>
          <p:pic>
            <p:nvPicPr>
              <p:cNvPr id="101413" name="Picture 24"/>
              <p:cNvPicPr>
                <a:picLocks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0" y="0"/>
                <a:ext cx="816" cy="816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</p:pic>
        </p:grpSp>
        <p:sp>
          <p:nvSpPr>
            <p:cNvPr id="101409" name="Line 25"/>
            <p:cNvSpPr>
              <a:spLocks noChangeShapeType="1"/>
            </p:cNvSpPr>
            <p:nvPr/>
          </p:nvSpPr>
          <p:spPr bwMode="auto">
            <a:xfrm rot="10800000">
              <a:off x="583" y="887"/>
              <a:ext cx="1228" cy="751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410" name="Line 26"/>
            <p:cNvSpPr>
              <a:spLocks noChangeShapeType="1"/>
            </p:cNvSpPr>
            <p:nvPr/>
          </p:nvSpPr>
          <p:spPr bwMode="auto">
            <a:xfrm rot="10800000">
              <a:off x="2015" y="752"/>
              <a:ext cx="477" cy="887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411" name="Line 27"/>
            <p:cNvSpPr>
              <a:spLocks noChangeShapeType="1"/>
            </p:cNvSpPr>
            <p:nvPr/>
          </p:nvSpPr>
          <p:spPr bwMode="auto">
            <a:xfrm rot="10800000" flipH="1">
              <a:off x="3519" y="888"/>
              <a:ext cx="409" cy="750"/>
            </a:xfrm>
            <a:prstGeom prst="line">
              <a:avLst/>
            </a:prstGeom>
            <a:noFill/>
            <a:ln w="38100">
              <a:solidFill>
                <a:srgbClr val="FF9966"/>
              </a:solidFill>
              <a:prstDash val="sysDot"/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1412" name="Rectangle 28"/>
            <p:cNvSpPr>
              <a:spLocks/>
            </p:cNvSpPr>
            <p:nvPr/>
          </p:nvSpPr>
          <p:spPr bwMode="auto">
            <a:xfrm>
              <a:off x="2559" y="1120"/>
              <a:ext cx="865" cy="4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0" tIns="0" rIns="57797" bIns="0">
              <a:prstTxWarp prst="textNoShape">
                <a:avLst/>
              </a:prstTxWarp>
              <a:spAutoFit/>
            </a:bodyPr>
            <a:lstStyle/>
            <a:p>
              <a:pPr marL="38100"/>
              <a:r>
                <a:rPr lang="en-US" sz="1500">
                  <a:ea typeface="Arial" charset="0"/>
                  <a:cs typeface="Arial" charset="0"/>
                  <a:sym typeface="Arial" charset="0"/>
                </a:rPr>
                <a:t>OpenFlow</a:t>
              </a:r>
            </a:p>
            <a:p>
              <a:pPr marL="38100"/>
              <a:r>
                <a:rPr lang="en-US" sz="1500">
                  <a:ea typeface="Arial" charset="0"/>
                  <a:cs typeface="Arial" charset="0"/>
                  <a:sym typeface="Arial" charset="0"/>
                </a:rPr>
                <a:t>Protocol</a:t>
              </a:r>
            </a:p>
          </p:txBody>
        </p:sp>
      </p:grpSp>
      <p:sp>
        <p:nvSpPr>
          <p:cNvPr id="101391" name="Rectangle 29"/>
          <p:cNvSpPr>
            <a:spLocks/>
          </p:cNvSpPr>
          <p:nvPr/>
        </p:nvSpPr>
        <p:spPr bwMode="auto">
          <a:xfrm>
            <a:off x="7123113" y="1285875"/>
            <a:ext cx="1463675" cy="51752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0" tIns="0" rIns="40637" bIns="0">
            <a:prstTxWarp prst="textNoShape">
              <a:avLst/>
            </a:prstTxWarp>
            <a:spAutoFit/>
          </a:bodyPr>
          <a:lstStyle/>
          <a:p>
            <a:pPr marL="38100"/>
            <a:r>
              <a:rPr lang="en-US" sz="1700">
                <a:ea typeface="Arial" charset="0"/>
                <a:cs typeface="Arial" charset="0"/>
                <a:sym typeface="Arial" charset="0"/>
              </a:rPr>
              <a:t>http</a:t>
            </a:r>
          </a:p>
          <a:p>
            <a:pPr marL="38100"/>
            <a:r>
              <a:rPr lang="en-US" sz="1700">
                <a:ea typeface="Arial" charset="0"/>
                <a:cs typeface="Arial" charset="0"/>
                <a:sym typeface="Arial" charset="0"/>
              </a:rPr>
              <a:t>Load-balancer</a:t>
            </a:r>
          </a:p>
        </p:txBody>
      </p:sp>
      <p:sp>
        <p:nvSpPr>
          <p:cNvPr id="101392" name="Rectangle 30"/>
          <p:cNvSpPr>
            <a:spLocks/>
          </p:cNvSpPr>
          <p:nvPr/>
        </p:nvSpPr>
        <p:spPr bwMode="auto">
          <a:xfrm>
            <a:off x="35497" y="241300"/>
            <a:ext cx="8652892" cy="892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81277" bIns="0" anchor="ctr">
            <a:prstTxWarp prst="textNoShape">
              <a:avLst/>
            </a:prstTxWarp>
          </a:bodyPr>
          <a:lstStyle/>
          <a:p>
            <a:pPr marL="38100" algn="r">
              <a:spcBef>
                <a:spcPct val="0"/>
              </a:spcBef>
            </a:pPr>
            <a:r>
              <a:rPr lang="en-US" sz="4400" b="1" i="1" dirty="0" err="1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</a:rPr>
              <a:t>FlowVisor</a:t>
            </a:r>
            <a:r>
              <a:rPr lang="en-US" sz="4400" b="1" i="1" dirty="0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</a:rPr>
              <a:t>-based </a:t>
            </a:r>
            <a:r>
              <a:rPr lang="en-US" sz="4400" b="1" i="1" dirty="0" smtClean="0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</a:rPr>
              <a:t>Virtualization(2/2)</a:t>
            </a:r>
            <a:r>
              <a:rPr lang="en-US" sz="4400" b="1" i="1" dirty="0" smtClean="0">
                <a:solidFill>
                  <a:schemeClr val="accent5">
                    <a:lumMod val="50000"/>
                  </a:schemeClr>
                </a:solidFill>
                <a:latin typeface="Calibri" charset="0"/>
                <a:ea typeface="+mj-ea"/>
                <a:cs typeface="+mj-cs"/>
                <a:sym typeface="Helvetica" charset="0"/>
              </a:rPr>
              <a:t> </a:t>
            </a:r>
            <a:endParaRPr lang="en-US" sz="4400" b="1" i="1" dirty="0">
              <a:solidFill>
                <a:schemeClr val="accent5">
                  <a:lumMod val="50000"/>
                </a:schemeClr>
              </a:solidFill>
              <a:latin typeface="Calibri" charset="0"/>
              <a:ea typeface="+mj-ea"/>
              <a:cs typeface="+mj-cs"/>
              <a:sym typeface="Helvetica" charset="0"/>
            </a:endParaRPr>
          </a:p>
        </p:txBody>
      </p:sp>
      <p:grpSp>
        <p:nvGrpSpPr>
          <p:cNvPr id="101393" name="Group 31"/>
          <p:cNvGrpSpPr>
            <a:grpSpLocks/>
          </p:cNvGrpSpPr>
          <p:nvPr/>
        </p:nvGrpSpPr>
        <p:grpSpPr bwMode="auto">
          <a:xfrm>
            <a:off x="2027238" y="3768725"/>
            <a:ext cx="1473200" cy="463550"/>
            <a:chOff x="0" y="0"/>
            <a:chExt cx="1320" cy="416"/>
          </a:xfrm>
        </p:grpSpPr>
        <p:sp>
          <p:nvSpPr>
            <p:cNvPr id="101403" name="AutoShape 32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101404" name="Rectangle 33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57797" bIns="0">
              <a:prstTxWarp prst="textNoShape">
                <a:avLst/>
              </a:prstTxWarp>
            </a:bodyPr>
            <a:lstStyle/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101405" name="Picture 34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grpSp>
        <p:nvGrpSpPr>
          <p:cNvPr id="101394" name="Group 35"/>
          <p:cNvGrpSpPr>
            <a:grpSpLocks/>
          </p:cNvGrpSpPr>
          <p:nvPr/>
        </p:nvGrpSpPr>
        <p:grpSpPr bwMode="auto">
          <a:xfrm>
            <a:off x="652463" y="5402263"/>
            <a:ext cx="1473200" cy="465137"/>
            <a:chOff x="0" y="0"/>
            <a:chExt cx="1320" cy="416"/>
          </a:xfrm>
        </p:grpSpPr>
        <p:sp>
          <p:nvSpPr>
            <p:cNvPr id="101400" name="AutoShape 36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101401" name="Rectangle 37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57797" bIns="0">
              <a:prstTxWarp prst="textNoShape">
                <a:avLst/>
              </a:prstTxWarp>
            </a:bodyPr>
            <a:lstStyle/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101402" name="Picture 38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grpSp>
        <p:nvGrpSpPr>
          <p:cNvPr id="101395" name="Group 39"/>
          <p:cNvGrpSpPr>
            <a:grpSpLocks/>
          </p:cNvGrpSpPr>
          <p:nvPr/>
        </p:nvGrpSpPr>
        <p:grpSpPr bwMode="auto">
          <a:xfrm>
            <a:off x="2938463" y="5402263"/>
            <a:ext cx="1473200" cy="465137"/>
            <a:chOff x="0" y="0"/>
            <a:chExt cx="1320" cy="416"/>
          </a:xfrm>
        </p:grpSpPr>
        <p:sp>
          <p:nvSpPr>
            <p:cNvPr id="101397" name="AutoShape 40"/>
            <p:cNvSpPr>
              <a:spLocks/>
            </p:cNvSpPr>
            <p:nvPr/>
          </p:nvSpPr>
          <p:spPr bwMode="auto">
            <a:xfrm>
              <a:off x="0" y="0"/>
              <a:ext cx="1320" cy="416"/>
            </a:xfrm>
            <a:prstGeom prst="roundRect">
              <a:avLst>
                <a:gd name="adj" fmla="val 14940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endParaRPr lang="en-US">
                <a:solidFill>
                  <a:schemeClr val="bg1"/>
                </a:solidFill>
                <a:latin typeface="Calibri" charset="0"/>
              </a:endParaRPr>
            </a:p>
          </p:txBody>
        </p:sp>
        <p:sp>
          <p:nvSpPr>
            <p:cNvPr id="101398" name="Rectangle 41"/>
            <p:cNvSpPr>
              <a:spLocks/>
            </p:cNvSpPr>
            <p:nvPr/>
          </p:nvSpPr>
          <p:spPr bwMode="auto">
            <a:xfrm>
              <a:off x="417" y="22"/>
              <a:ext cx="864" cy="3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lIns="0" tIns="0" rIns="57797" bIns="0">
              <a:prstTxWarp prst="textNoShape">
                <a:avLst/>
              </a:prstTxWarp>
            </a:bodyPr>
            <a:lstStyle/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OpenFlow </a:t>
              </a:r>
            </a:p>
            <a:p>
              <a:pPr marL="38100"/>
              <a:r>
                <a:rPr lang="en-US" sz="1300">
                  <a:solidFill>
                    <a:schemeClr val="bg1"/>
                  </a:solidFill>
                  <a:latin typeface="Tahoma" charset="0"/>
                  <a:ea typeface="Tahoma" charset="0"/>
                  <a:cs typeface="Tahoma" charset="0"/>
                  <a:sym typeface="Tahoma" charset="0"/>
                </a:rPr>
                <a:t>Switch</a:t>
              </a:r>
            </a:p>
          </p:txBody>
        </p:sp>
        <p:pic>
          <p:nvPicPr>
            <p:cNvPr id="101399" name="Picture 42"/>
            <p:cNvPicPr>
              <a:picLocks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8" y="50"/>
              <a:ext cx="376" cy="336"/>
            </a:xfrm>
            <a:prstGeom prst="rect">
              <a:avLst/>
            </a:prstGeom>
            <a:noFill/>
            <a:ln w="12700">
              <a:noFill/>
              <a:round/>
              <a:headEnd/>
              <a:tailEnd/>
            </a:ln>
          </p:spPr>
        </p:pic>
      </p:grpSp>
      <p:sp>
        <p:nvSpPr>
          <p:cNvPr id="44" name="Slide Number Placeholder 4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A697E-ADF9-A941-B477-4BB8DF6D1C03}" type="slidenum">
              <a:rPr lang="en-US"/>
              <a:pPr/>
              <a:t>69</a:t>
            </a:fld>
            <a:endParaRPr lang="en-US"/>
          </a:p>
        </p:txBody>
      </p:sp>
      <p:sp>
        <p:nvSpPr>
          <p:cNvPr id="101421" name="Rectangle 45"/>
          <p:cNvSpPr>
            <a:spLocks noChangeArrowheads="1"/>
          </p:cNvSpPr>
          <p:nvPr/>
        </p:nvSpPr>
        <p:spPr bwMode="auto">
          <a:xfrm>
            <a:off x="425450" y="1806575"/>
            <a:ext cx="2212975" cy="1006475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prstShdw prst="shdw17" dist="17961" dir="2700000">
              <a:srgbClr val="FFFF99">
                <a:gamma/>
                <a:shade val="60000"/>
                <a:invGamma/>
                <a:alpha val="74998"/>
              </a:srgb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 defTabSz="914400"/>
            <a:r>
              <a:rPr lang="en-US" sz="2000">
                <a:latin typeface="Calibri" charset="0"/>
                <a:sym typeface="Helvetica" charset="0"/>
              </a:rPr>
              <a:t>Separation not only</a:t>
            </a:r>
          </a:p>
          <a:p>
            <a:pPr algn="ctr" defTabSz="914400"/>
            <a:r>
              <a:rPr lang="en-US" sz="2000">
                <a:latin typeface="Calibri" charset="0"/>
                <a:sym typeface="Helvetica" charset="0"/>
              </a:rPr>
              <a:t>by VLANs, but any</a:t>
            </a:r>
          </a:p>
          <a:p>
            <a:pPr algn="ctr" defTabSz="914400"/>
            <a:r>
              <a:rPr lang="en-US" sz="2000">
                <a:latin typeface="Calibri" charset="0"/>
                <a:sym typeface="Helvetica" charset="0"/>
              </a:rPr>
              <a:t>L1-L4 pattern</a:t>
            </a:r>
          </a:p>
        </p:txBody>
      </p:sp>
      <p:sp>
        <p:nvSpPr>
          <p:cNvPr id="101422" name="Rectangle 46"/>
          <p:cNvSpPr>
            <a:spLocks noChangeArrowheads="1"/>
          </p:cNvSpPr>
          <p:nvPr/>
        </p:nvSpPr>
        <p:spPr bwMode="auto">
          <a:xfrm>
            <a:off x="3967163" y="3071813"/>
            <a:ext cx="1393825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914400"/>
            <a:r>
              <a:rPr lang="en-US" sz="900" dirty="0" err="1"/>
              <a:t>dl_dst</a:t>
            </a:r>
            <a:r>
              <a:rPr lang="en-US" sz="900" dirty="0"/>
              <a:t>=FFFFFFFFFFFF</a:t>
            </a:r>
          </a:p>
        </p:txBody>
      </p:sp>
      <p:sp>
        <p:nvSpPr>
          <p:cNvPr id="101423" name="Rectangle 47"/>
          <p:cNvSpPr>
            <a:spLocks noChangeArrowheads="1"/>
          </p:cNvSpPr>
          <p:nvPr/>
        </p:nvSpPr>
        <p:spPr bwMode="auto">
          <a:xfrm>
            <a:off x="7762875" y="3071813"/>
            <a:ext cx="92551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914400"/>
            <a:r>
              <a:rPr lang="en-US" sz="1000"/>
              <a:t>tp_src=80, or</a:t>
            </a:r>
            <a:br>
              <a:rPr lang="en-US" sz="1000"/>
            </a:br>
            <a:r>
              <a:rPr lang="en-US" sz="1000"/>
              <a:t>tp_dst=80</a:t>
            </a:r>
          </a:p>
        </p:txBody>
      </p:sp>
    </p:spTree>
    <p:extLst>
      <p:ext uri="{BB962C8B-B14F-4D97-AF65-F5344CB8AC3E}">
        <p14:creationId xmlns:p14="http://schemas.microsoft.com/office/powerpoint/2010/main" val="19171312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0019"/>
            <a:ext cx="8229600" cy="1143000"/>
          </a:xfrm>
        </p:spPr>
        <p:txBody>
          <a:bodyPr/>
          <a:lstStyle/>
          <a:p>
            <a:r>
              <a:rPr lang="en-US" dirty="0" err="1" smtClean="0"/>
              <a:t>FlowVisor</a:t>
            </a:r>
            <a:r>
              <a:rPr lang="en-US" dirty="0" smtClean="0"/>
              <a:t> Slicing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93164"/>
            <a:ext cx="8229600" cy="4432999"/>
          </a:xfrm>
        </p:spPr>
        <p:txBody>
          <a:bodyPr>
            <a:normAutofit/>
          </a:bodyPr>
          <a:lstStyle/>
          <a:p>
            <a:r>
              <a:rPr lang="en-US" dirty="0" smtClean="0"/>
              <a:t>Slices </a:t>
            </a:r>
            <a:r>
              <a:rPr lang="en-US" dirty="0"/>
              <a:t>are defined using a slice definition </a:t>
            </a:r>
            <a:r>
              <a:rPr lang="en-US" dirty="0" smtClean="0">
                <a:solidFill>
                  <a:srgbClr val="FF0000"/>
                </a:solidFill>
              </a:rPr>
              <a:t>policy</a:t>
            </a:r>
          </a:p>
          <a:p>
            <a:pPr lvl="1"/>
            <a:r>
              <a:rPr lang="en-US" dirty="0" smtClean="0"/>
              <a:t>The policy </a:t>
            </a:r>
            <a:r>
              <a:rPr lang="en-US" dirty="0"/>
              <a:t>language specifies the slice’s </a:t>
            </a:r>
            <a:r>
              <a:rPr lang="en-US" dirty="0">
                <a:solidFill>
                  <a:srgbClr val="FF0000"/>
                </a:solidFill>
              </a:rPr>
              <a:t>resource limits</a:t>
            </a:r>
            <a:r>
              <a:rPr lang="en-US" dirty="0" smtClean="0">
                <a:solidFill>
                  <a:srgbClr val="FF0000"/>
                </a:solidFill>
              </a:rPr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flowspace</a:t>
            </a:r>
            <a:r>
              <a:rPr lang="en-US" dirty="0">
                <a:solidFill>
                  <a:srgbClr val="FF0000"/>
                </a:solidFill>
              </a:rPr>
              <a:t>, and controller’s location in terms of IP </a:t>
            </a:r>
            <a:r>
              <a:rPr lang="en-US" dirty="0" smtClean="0">
                <a:solidFill>
                  <a:srgbClr val="FF0000"/>
                </a:solidFill>
              </a:rPr>
              <a:t>and TCP </a:t>
            </a:r>
            <a:r>
              <a:rPr lang="en-US" dirty="0">
                <a:solidFill>
                  <a:srgbClr val="FF0000"/>
                </a:solidFill>
              </a:rPr>
              <a:t>port-</a:t>
            </a:r>
            <a:r>
              <a:rPr lang="en-US" dirty="0" smtClean="0">
                <a:solidFill>
                  <a:srgbClr val="FF0000"/>
                </a:solidFill>
              </a:rPr>
              <a:t>pair</a:t>
            </a:r>
          </a:p>
          <a:p>
            <a:pPr lvl="1"/>
            <a:r>
              <a:rPr lang="en-US" dirty="0" err="1"/>
              <a:t>FlowVisor</a:t>
            </a:r>
            <a:r>
              <a:rPr lang="en-US" dirty="0"/>
              <a:t> enforces </a:t>
            </a:r>
            <a:r>
              <a:rPr lang="en-US" dirty="0">
                <a:solidFill>
                  <a:srgbClr val="FF0000"/>
                </a:solidFill>
              </a:rPr>
              <a:t>transparency</a:t>
            </a:r>
            <a:r>
              <a:rPr lang="en-US" dirty="0"/>
              <a:t> and </a:t>
            </a:r>
            <a:r>
              <a:rPr lang="en-US" dirty="0" smtClean="0">
                <a:solidFill>
                  <a:srgbClr val="FF0000"/>
                </a:solidFill>
              </a:rPr>
              <a:t>isolation </a:t>
            </a:r>
            <a:r>
              <a:rPr lang="en-US" dirty="0" smtClean="0"/>
              <a:t>between </a:t>
            </a:r>
            <a:r>
              <a:rPr lang="en-US" dirty="0"/>
              <a:t>slices by inspecting, rewriting, and </a:t>
            </a:r>
            <a:r>
              <a:rPr lang="en-US" dirty="0" smtClean="0"/>
              <a:t>policing OpenFlow </a:t>
            </a:r>
            <a:r>
              <a:rPr lang="en-US" dirty="0"/>
              <a:t>messages as they pass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565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FlowVisor</a:t>
            </a:r>
            <a:r>
              <a:rPr lang="en-US" dirty="0" smtClean="0"/>
              <a:t> Resource Limits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41168"/>
          </a:xfrm>
        </p:spPr>
        <p:txBody>
          <a:bodyPr>
            <a:normAutofit/>
          </a:bodyPr>
          <a:lstStyle/>
          <a:p>
            <a:r>
              <a:rPr lang="en-US" dirty="0" smtClean="0"/>
              <a:t>FV assigns hardware </a:t>
            </a:r>
            <a:r>
              <a:rPr lang="en-US" dirty="0"/>
              <a:t>resources to “Slices”</a:t>
            </a:r>
          </a:p>
          <a:p>
            <a:pPr lvl="1"/>
            <a:r>
              <a:rPr lang="en-US" dirty="0"/>
              <a:t>Topology</a:t>
            </a:r>
          </a:p>
          <a:p>
            <a:pPr lvl="2"/>
            <a:r>
              <a:rPr lang="en-US" dirty="0"/>
              <a:t>Network Device or </a:t>
            </a:r>
            <a:r>
              <a:rPr lang="en-US" dirty="0" err="1"/>
              <a:t>Openflow</a:t>
            </a:r>
            <a:r>
              <a:rPr lang="en-US" dirty="0"/>
              <a:t> Instance (DPID)</a:t>
            </a:r>
          </a:p>
          <a:p>
            <a:pPr lvl="2"/>
            <a:r>
              <a:rPr lang="en-US" dirty="0"/>
              <a:t>Physical Ports</a:t>
            </a:r>
          </a:p>
          <a:p>
            <a:pPr lvl="1"/>
            <a:r>
              <a:rPr lang="en-US" dirty="0"/>
              <a:t>Bandwidth</a:t>
            </a:r>
          </a:p>
          <a:p>
            <a:pPr lvl="2"/>
            <a:r>
              <a:rPr lang="en-US" dirty="0"/>
              <a:t>Each slice can be assigned a per port queue with a fraction of the total bandwidth</a:t>
            </a:r>
          </a:p>
          <a:p>
            <a:pPr lvl="1"/>
            <a:r>
              <a:rPr lang="en-US" dirty="0"/>
              <a:t>CPU</a:t>
            </a:r>
          </a:p>
          <a:p>
            <a:pPr lvl="2"/>
            <a:r>
              <a:rPr lang="en-US" dirty="0"/>
              <a:t>Employs Course Rate Limiting techniques to keep new flow events from one slice from overrunning the CPU</a:t>
            </a:r>
          </a:p>
          <a:p>
            <a:pPr lvl="1"/>
            <a:r>
              <a:rPr lang="en-US" dirty="0"/>
              <a:t>Forwarding Tables</a:t>
            </a:r>
          </a:p>
          <a:p>
            <a:pPr lvl="2"/>
            <a:r>
              <a:rPr lang="en-US" dirty="0"/>
              <a:t>Each slice has a finite quota of forwarding rules per device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59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Slicing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7418"/>
            <a:ext cx="9144000" cy="553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906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FlowVisor</a:t>
            </a:r>
            <a:r>
              <a:rPr lang="en-US" dirty="0" smtClean="0"/>
              <a:t> </a:t>
            </a:r>
            <a:r>
              <a:rPr lang="en-US" dirty="0" err="1" smtClean="0"/>
              <a:t>FlowSpace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dirty="0" err="1" smtClean="0"/>
              <a:t>FlowSpace</a:t>
            </a:r>
            <a:r>
              <a:rPr lang="en-US" dirty="0" smtClean="0"/>
              <a:t> is defined by a collection of packet headers and assigned to “Slices”</a:t>
            </a:r>
          </a:p>
          <a:p>
            <a:pPr lvl="1"/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Dst</a:t>
            </a:r>
            <a:r>
              <a:rPr lang="en-US" dirty="0" smtClean="0"/>
              <a:t> MAC Address</a:t>
            </a:r>
          </a:p>
          <a:p>
            <a:pPr lvl="1"/>
            <a:r>
              <a:rPr lang="en-US" dirty="0" smtClean="0"/>
              <a:t>VLAN ID</a:t>
            </a:r>
          </a:p>
          <a:p>
            <a:pPr lvl="1"/>
            <a:r>
              <a:rPr lang="en-US" dirty="0" err="1" smtClean="0"/>
              <a:t>Ethertype</a:t>
            </a:r>
            <a:endParaRPr lang="en-US" dirty="0" smtClean="0"/>
          </a:p>
          <a:p>
            <a:pPr lvl="1"/>
            <a:r>
              <a:rPr lang="en-US" dirty="0" smtClean="0"/>
              <a:t>IP Protocol</a:t>
            </a:r>
          </a:p>
          <a:p>
            <a:pPr lvl="1"/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Dst</a:t>
            </a:r>
            <a:r>
              <a:rPr lang="en-US" dirty="0" smtClean="0"/>
              <a:t> IP Address</a:t>
            </a:r>
          </a:p>
          <a:p>
            <a:pPr lvl="1"/>
            <a:r>
              <a:rPr lang="en-US" dirty="0" err="1" smtClean="0"/>
              <a:t>ToS</a:t>
            </a:r>
            <a:r>
              <a:rPr lang="en-US" dirty="0" smtClean="0"/>
              <a:t>/DSCP</a:t>
            </a:r>
          </a:p>
          <a:p>
            <a:pPr lvl="1"/>
            <a:r>
              <a:rPr lang="en-US" dirty="0" err="1" smtClean="0"/>
              <a:t>Src</a:t>
            </a:r>
            <a:r>
              <a:rPr lang="en-US" dirty="0" smtClean="0"/>
              <a:t>/</a:t>
            </a:r>
            <a:r>
              <a:rPr lang="en-US" dirty="0" err="1" smtClean="0"/>
              <a:t>Dst</a:t>
            </a:r>
            <a:r>
              <a:rPr lang="en-US" dirty="0" smtClean="0"/>
              <a:t> Port Number</a:t>
            </a:r>
          </a:p>
        </p:txBody>
      </p:sp>
    </p:spTree>
    <p:extLst>
      <p:ext uri="{BB962C8B-B14F-4D97-AF65-F5344CB8AC3E}">
        <p14:creationId xmlns:p14="http://schemas.microsoft.com/office/powerpoint/2010/main" val="282585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53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1640" y="1700808"/>
            <a:ext cx="5997575" cy="5037137"/>
          </a:xfrm>
          <a:prstGeom prst="rect">
            <a:avLst/>
          </a:prstGeom>
          <a:noFill/>
          <a:ln w="36720">
            <a:noFill/>
            <a:round/>
            <a:headEnd type="triangle" w="med" len="med"/>
            <a:tailEnd type="triangle" w="med" len="med"/>
          </a:ln>
        </p:spPr>
      </p:pic>
      <p:sp>
        <p:nvSpPr>
          <p:cNvPr id="27853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</a:rPr>
              <a:t>FlowSpace: Maps Packets to Slices</a:t>
            </a:r>
          </a:p>
        </p:txBody>
      </p:sp>
    </p:spTree>
    <p:extLst>
      <p:ext uri="{BB962C8B-B14F-4D97-AF65-F5344CB8AC3E}">
        <p14:creationId xmlns:p14="http://schemas.microsoft.com/office/powerpoint/2010/main" val="10902713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FlowVisor</a:t>
            </a:r>
            <a:r>
              <a:rPr lang="en-US" dirty="0" smtClean="0"/>
              <a:t> Slicing Policy(1/2)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FV intercepts OF messages from devices </a:t>
            </a:r>
          </a:p>
          <a:p>
            <a:pPr lvl="1"/>
            <a:r>
              <a:rPr lang="en-US" dirty="0" smtClean="0"/>
              <a:t>FV only </a:t>
            </a:r>
            <a:r>
              <a:rPr lang="en-US" dirty="0"/>
              <a:t>sends control plane messages to </a:t>
            </a:r>
            <a:r>
              <a:rPr lang="en-US" dirty="0" smtClean="0"/>
              <a:t>the </a:t>
            </a:r>
            <a:r>
              <a:rPr lang="en-US" dirty="0"/>
              <a:t>Slice controller if the </a:t>
            </a:r>
            <a:r>
              <a:rPr lang="en-US" dirty="0" err="1" smtClean="0"/>
              <a:t>src</a:t>
            </a:r>
            <a:r>
              <a:rPr lang="en-US" dirty="0" smtClean="0"/>
              <a:t> </a:t>
            </a:r>
            <a:r>
              <a:rPr lang="en-US" dirty="0"/>
              <a:t>device is in the Slice Topology.</a:t>
            </a:r>
          </a:p>
          <a:p>
            <a:pPr lvl="1"/>
            <a:r>
              <a:rPr lang="en-US" dirty="0"/>
              <a:t>Rewrites OF feature negotiation messages so the slice controller only sees the ports in it’s </a:t>
            </a:r>
            <a:r>
              <a:rPr lang="en-US" dirty="0" smtClean="0"/>
              <a:t>slice</a:t>
            </a:r>
          </a:p>
          <a:p>
            <a:pPr lvl="1"/>
            <a:r>
              <a:rPr lang="en-US" dirty="0" smtClean="0"/>
              <a:t>Port up/down messages are pruned and only forwarded to affected slices</a:t>
            </a:r>
          </a:p>
        </p:txBody>
      </p:sp>
    </p:spTree>
    <p:extLst>
      <p:ext uri="{BB962C8B-B14F-4D97-AF65-F5344CB8AC3E}">
        <p14:creationId xmlns:p14="http://schemas.microsoft.com/office/powerpoint/2010/main" val="3963598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01"/>
            <a:ext cx="8229600" cy="1143000"/>
          </a:xfrm>
        </p:spPr>
        <p:txBody>
          <a:bodyPr/>
          <a:lstStyle/>
          <a:p>
            <a:r>
              <a:rPr lang="en-US" dirty="0" err="1"/>
              <a:t>FlowVisor</a:t>
            </a:r>
            <a:r>
              <a:rPr lang="en-US" dirty="0"/>
              <a:t> Slicing </a:t>
            </a:r>
            <a:r>
              <a:rPr lang="en-US" dirty="0" smtClean="0"/>
              <a:t>Policy(2/2)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8202"/>
            <a:ext cx="8229600" cy="5511158"/>
          </a:xfrm>
        </p:spPr>
        <p:txBody>
          <a:bodyPr>
            <a:normAutofit/>
          </a:bodyPr>
          <a:lstStyle/>
          <a:p>
            <a:r>
              <a:rPr lang="en-US" dirty="0"/>
              <a:t>FV intercepts OF messages from controllers</a:t>
            </a:r>
          </a:p>
          <a:p>
            <a:pPr lvl="1"/>
            <a:r>
              <a:rPr lang="en-US" dirty="0" smtClean="0"/>
              <a:t>Rewrites Flow Insertion, Deletion &amp; Modifications so they don’t violate the slice definition</a:t>
            </a:r>
          </a:p>
          <a:p>
            <a:pPr lvl="2"/>
            <a:r>
              <a:rPr lang="en-US" dirty="0" smtClean="0"/>
              <a:t>Flow definition – ex. Limit Control to HTTP traffic only</a:t>
            </a:r>
          </a:p>
          <a:p>
            <a:pPr lvl="2"/>
            <a:r>
              <a:rPr lang="en-US" dirty="0" smtClean="0"/>
              <a:t>Actions – ex. Limit forwarding to only ports in the slice</a:t>
            </a:r>
          </a:p>
          <a:p>
            <a:pPr lvl="1"/>
            <a:r>
              <a:rPr lang="en-US" dirty="0" smtClean="0"/>
              <a:t>Expand Flow rules into multiple rules to fit policy</a:t>
            </a:r>
          </a:p>
          <a:p>
            <a:pPr lvl="2"/>
            <a:r>
              <a:rPr lang="en-US" dirty="0" smtClean="0"/>
              <a:t>Flow definition – ex. If there is a policy for John’s HTTP traffic and another for </a:t>
            </a:r>
            <a:r>
              <a:rPr lang="en-US" dirty="0" err="1" smtClean="0"/>
              <a:t>Uwe’s</a:t>
            </a:r>
            <a:r>
              <a:rPr lang="en-US" dirty="0" smtClean="0"/>
              <a:t> HTTP traffic, FV would expand a single rule intended to control all HTTP traffic into 2 rules.</a:t>
            </a:r>
          </a:p>
          <a:p>
            <a:pPr lvl="2"/>
            <a:r>
              <a:rPr lang="en-US" dirty="0" smtClean="0"/>
              <a:t>Actions – ex. Rule action is send out all ports. FV will create one rule for each port in the slice.</a:t>
            </a:r>
          </a:p>
          <a:p>
            <a:pPr lvl="1"/>
            <a:r>
              <a:rPr lang="en-US" dirty="0" smtClean="0"/>
              <a:t>Returns “action is invalid” error if trying to control a port outside of the slice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28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/>
          </p:cNvSpPr>
          <p:nvPr>
            <p:ph type="title"/>
          </p:nvPr>
        </p:nvSpPr>
        <p:spPr>
          <a:xfrm>
            <a:off x="457200" y="247650"/>
            <a:ext cx="8231188" cy="914400"/>
          </a:xfrm>
        </p:spPr>
        <p:txBody>
          <a:bodyPr lIns="81000" tIns="77046" rIns="81000" bIns="42120"/>
          <a:lstStyle/>
          <a:p>
            <a:pPr eaLnBrk="1" hangingPunct="1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>
                <a:latin typeface="Calibri" charset="0"/>
              </a:rPr>
              <a:t>FlowVisor Message Handling</a:t>
            </a:r>
          </a:p>
        </p:txBody>
      </p:sp>
      <p:grpSp>
        <p:nvGrpSpPr>
          <p:cNvPr id="105474" name="Group 3"/>
          <p:cNvGrpSpPr>
            <a:grpSpLocks/>
          </p:cNvGrpSpPr>
          <p:nvPr/>
        </p:nvGrpSpPr>
        <p:grpSpPr bwMode="auto">
          <a:xfrm>
            <a:off x="2198688" y="1720850"/>
            <a:ext cx="4746625" cy="4576763"/>
            <a:chOff x="1539" y="1205"/>
            <a:chExt cx="3321" cy="3204"/>
          </a:xfrm>
        </p:grpSpPr>
        <p:sp>
          <p:nvSpPr>
            <p:cNvPr id="105482" name="Rectangle 4"/>
            <p:cNvSpPr>
              <a:spLocks/>
            </p:cNvSpPr>
            <p:nvPr/>
          </p:nvSpPr>
          <p:spPr bwMode="auto">
            <a:xfrm>
              <a:off x="2508" y="3107"/>
              <a:ext cx="1296" cy="576"/>
            </a:xfrm>
            <a:prstGeom prst="rect">
              <a:avLst/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wrap="none" lIns="81000" tIns="40500" rIns="81000" bIns="40500" anchor="ctr">
              <a:prstTxWarp prst="textNoShape">
                <a:avLst/>
              </a:prstTxWarp>
            </a:bodyPr>
            <a:lstStyle/>
            <a:p>
              <a:pPr algn="ctr"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000">
                  <a:solidFill>
                    <a:srgbClr val="000000"/>
                  </a:solidFill>
                  <a:latin typeface="Calibri" charset="0"/>
                </a:rPr>
                <a:t>OpenFlow</a:t>
              </a:r>
            </a:p>
            <a:p>
              <a:pPr algn="ctr"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000">
                  <a:solidFill>
                    <a:srgbClr val="000000"/>
                  </a:solidFill>
                  <a:latin typeface="Calibri" charset="0"/>
                </a:rPr>
                <a:t>Firmware</a:t>
              </a:r>
            </a:p>
          </p:txBody>
        </p:sp>
        <p:sp>
          <p:nvSpPr>
            <p:cNvPr id="105483" name="AutoShape 5"/>
            <p:cNvSpPr>
              <a:spLocks/>
            </p:cNvSpPr>
            <p:nvPr/>
          </p:nvSpPr>
          <p:spPr bwMode="auto">
            <a:xfrm>
              <a:off x="2507" y="3691"/>
              <a:ext cx="1296" cy="720"/>
            </a:xfrm>
            <a:prstGeom prst="roundRect">
              <a:avLst>
                <a:gd name="adj" fmla="val 139"/>
              </a:avLst>
            </a:prstGeom>
            <a:solidFill>
              <a:srgbClr val="FFFF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1000" tIns="40500" rIns="81000" bIns="40500" anchor="ctr" anchorCtr="1">
              <a:prstTxWarp prst="textNoShape">
                <a:avLst/>
              </a:prstTxWarp>
            </a:bodyPr>
            <a:lstStyle/>
            <a:p>
              <a:pPr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000">
                  <a:solidFill>
                    <a:srgbClr val="000000"/>
                  </a:solidFill>
                  <a:latin typeface="Calibri" charset="0"/>
                </a:rPr>
                <a:t>Data Path</a:t>
              </a:r>
            </a:p>
          </p:txBody>
        </p:sp>
        <p:sp>
          <p:nvSpPr>
            <p:cNvPr id="105484" name="AutoShape 6"/>
            <p:cNvSpPr>
              <a:spLocks/>
            </p:cNvSpPr>
            <p:nvPr/>
          </p:nvSpPr>
          <p:spPr bwMode="auto">
            <a:xfrm>
              <a:off x="1539" y="1205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1000" tIns="40500" rIns="81000" bIns="40500" anchor="ctr" anchorCtr="1">
              <a:prstTxWarp prst="textNoShape">
                <a:avLst/>
              </a:prstTxWarp>
            </a:bodyPr>
            <a:lstStyle/>
            <a:p>
              <a:pPr algn="ctr"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000">
                  <a:solidFill>
                    <a:srgbClr val="000000"/>
                  </a:solidFill>
                  <a:latin typeface="Calibri" charset="0"/>
                </a:rPr>
                <a:t>Alice</a:t>
              </a:r>
            </a:p>
            <a:p>
              <a:pPr algn="ctr"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000">
                  <a:solidFill>
                    <a:srgbClr val="000000"/>
                  </a:solidFill>
                  <a:latin typeface="Calibri" charset="0"/>
                </a:rPr>
                <a:t>Controller</a:t>
              </a:r>
            </a:p>
          </p:txBody>
        </p:sp>
        <p:sp>
          <p:nvSpPr>
            <p:cNvPr id="105485" name="AutoShape 7"/>
            <p:cNvSpPr>
              <a:spLocks/>
            </p:cNvSpPr>
            <p:nvPr/>
          </p:nvSpPr>
          <p:spPr bwMode="auto">
            <a:xfrm>
              <a:off x="2696" y="1206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1000" tIns="40500" rIns="81000" bIns="40500" anchor="ctr" anchorCtr="1">
              <a:prstTxWarp prst="textNoShape">
                <a:avLst/>
              </a:prstTxWarp>
            </a:bodyPr>
            <a:lstStyle/>
            <a:p>
              <a:pPr algn="ctr"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000">
                  <a:solidFill>
                    <a:srgbClr val="000000"/>
                  </a:solidFill>
                  <a:latin typeface="Calibri" charset="0"/>
                </a:rPr>
                <a:t>Bob</a:t>
              </a:r>
            </a:p>
            <a:p>
              <a:pPr algn="ctr"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000">
                  <a:solidFill>
                    <a:srgbClr val="000000"/>
                  </a:solidFill>
                  <a:latin typeface="Calibri" charset="0"/>
                </a:rPr>
                <a:t>Controller</a:t>
              </a:r>
            </a:p>
          </p:txBody>
        </p:sp>
        <p:sp>
          <p:nvSpPr>
            <p:cNvPr id="105486" name="AutoShape 8"/>
            <p:cNvSpPr>
              <a:spLocks/>
            </p:cNvSpPr>
            <p:nvPr/>
          </p:nvSpPr>
          <p:spPr bwMode="auto">
            <a:xfrm>
              <a:off x="3853" y="1206"/>
              <a:ext cx="1008" cy="720"/>
            </a:xfrm>
            <a:prstGeom prst="roundRect">
              <a:avLst>
                <a:gd name="adj" fmla="val 139"/>
              </a:avLst>
            </a:prstGeom>
            <a:solidFill>
              <a:srgbClr val="99CCFF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1000" tIns="40500" rIns="81000" bIns="40500" anchor="ctr" anchorCtr="1">
              <a:prstTxWarp prst="textNoShape">
                <a:avLst/>
              </a:prstTxWarp>
            </a:bodyPr>
            <a:lstStyle/>
            <a:p>
              <a:pPr algn="ctr"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000">
                  <a:solidFill>
                    <a:srgbClr val="000000"/>
                  </a:solidFill>
                  <a:latin typeface="Calibri" charset="0"/>
                </a:rPr>
                <a:t>Cathy</a:t>
              </a:r>
            </a:p>
            <a:p>
              <a:pPr algn="ctr"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000">
                  <a:solidFill>
                    <a:srgbClr val="000000"/>
                  </a:solidFill>
                  <a:latin typeface="Calibri" charset="0"/>
                </a:rPr>
                <a:t>Controller</a:t>
              </a:r>
            </a:p>
          </p:txBody>
        </p:sp>
        <p:sp>
          <p:nvSpPr>
            <p:cNvPr id="105487" name="AutoShape 9"/>
            <p:cNvSpPr>
              <a:spLocks/>
            </p:cNvSpPr>
            <p:nvPr/>
          </p:nvSpPr>
          <p:spPr bwMode="auto">
            <a:xfrm>
              <a:off x="2358" y="2304"/>
              <a:ext cx="1584" cy="432"/>
            </a:xfrm>
            <a:prstGeom prst="roundRect">
              <a:avLst>
                <a:gd name="adj" fmla="val 231"/>
              </a:avLst>
            </a:prstGeom>
            <a:solidFill>
              <a:srgbClr val="FF3333"/>
            </a:solidFill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 lIns="81000" tIns="40500" rIns="81000" bIns="40500" anchor="ctr" anchorCtr="1">
              <a:prstTxWarp prst="textNoShape">
                <a:avLst/>
              </a:prstTxWarp>
            </a:bodyPr>
            <a:lstStyle/>
            <a:p>
              <a:pPr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500">
                  <a:solidFill>
                    <a:srgbClr val="FFFFFF"/>
                  </a:solidFill>
                  <a:latin typeface="Calibri" charset="0"/>
                </a:rPr>
                <a:t>FlowVisor</a:t>
              </a:r>
            </a:p>
          </p:txBody>
        </p:sp>
        <p:sp>
          <p:nvSpPr>
            <p:cNvPr id="105488" name="Line 10"/>
            <p:cNvSpPr>
              <a:spLocks noChangeShapeType="1"/>
            </p:cNvSpPr>
            <p:nvPr/>
          </p:nvSpPr>
          <p:spPr bwMode="auto">
            <a:xfrm flipV="1">
              <a:off x="2646" y="2788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89" name="Line 11"/>
            <p:cNvSpPr>
              <a:spLocks noChangeShapeType="1"/>
            </p:cNvSpPr>
            <p:nvPr/>
          </p:nvSpPr>
          <p:spPr bwMode="auto">
            <a:xfrm flipV="1">
              <a:off x="2646" y="2788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90" name="Line 12"/>
            <p:cNvSpPr>
              <a:spLocks noChangeShapeType="1"/>
            </p:cNvSpPr>
            <p:nvPr/>
          </p:nvSpPr>
          <p:spPr bwMode="auto">
            <a:xfrm flipV="1">
              <a:off x="3213" y="1972"/>
              <a:ext cx="1" cy="290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91" name="Line 13"/>
            <p:cNvSpPr>
              <a:spLocks noChangeShapeType="1"/>
            </p:cNvSpPr>
            <p:nvPr/>
          </p:nvSpPr>
          <p:spPr bwMode="auto">
            <a:xfrm flipH="1" flipV="1">
              <a:off x="1925" y="1924"/>
              <a:ext cx="435" cy="335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5492" name="Text Box 14"/>
            <p:cNvSpPr txBox="1">
              <a:spLocks noChangeArrowheads="1"/>
            </p:cNvSpPr>
            <p:nvPr/>
          </p:nvSpPr>
          <p:spPr bwMode="auto">
            <a:xfrm>
              <a:off x="2749" y="2751"/>
              <a:ext cx="927" cy="287"/>
            </a:xfrm>
            <a:prstGeom prst="rect">
              <a:avLst/>
            </a:prstGeom>
            <a:noFill/>
            <a:ln w="36720">
              <a:noFill/>
              <a:round/>
              <a:headEnd type="triangle" w="med" len="med"/>
              <a:tailEnd type="triangle" w="med" len="med"/>
            </a:ln>
          </p:spPr>
          <p:txBody>
            <a:bodyPr wrap="none" lIns="81000" tIns="40500" rIns="81000" bIns="40500">
              <a:prstTxWarp prst="textNoShape">
                <a:avLst/>
              </a:prstTxWarp>
            </a:bodyPr>
            <a:lstStyle/>
            <a:p>
              <a:pPr algn="ctr"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000">
                  <a:solidFill>
                    <a:srgbClr val="0000FF"/>
                  </a:solidFill>
                  <a:latin typeface="Calibri" charset="0"/>
                </a:rPr>
                <a:t>OpenFlow</a:t>
              </a:r>
            </a:p>
          </p:txBody>
        </p:sp>
        <p:sp>
          <p:nvSpPr>
            <p:cNvPr id="105493" name="Text Box 15"/>
            <p:cNvSpPr txBox="1">
              <a:spLocks noChangeArrowheads="1"/>
            </p:cNvSpPr>
            <p:nvPr/>
          </p:nvSpPr>
          <p:spPr bwMode="auto">
            <a:xfrm>
              <a:off x="2273" y="1912"/>
              <a:ext cx="927" cy="287"/>
            </a:xfrm>
            <a:prstGeom prst="rect">
              <a:avLst/>
            </a:prstGeom>
            <a:noFill/>
            <a:ln w="36720">
              <a:noFill/>
              <a:round/>
              <a:headEnd type="triangle" w="med" len="med"/>
              <a:tailEnd type="triangle" w="med" len="med"/>
            </a:ln>
          </p:spPr>
          <p:txBody>
            <a:bodyPr wrap="none" lIns="81000" tIns="40500" rIns="81000" bIns="40500">
              <a:prstTxWarp prst="textNoShape">
                <a:avLst/>
              </a:prstTxWarp>
            </a:bodyPr>
            <a:lstStyle/>
            <a:p>
              <a:pPr algn="ctr" defTabSz="411163">
                <a:buClr>
                  <a:srgbClr val="000000"/>
                </a:buClr>
                <a:buSzPct val="100000"/>
                <a:buFont typeface="Times New Roman" charset="0"/>
                <a:buNone/>
                <a:tabLst>
                  <a:tab pos="0" algn="l"/>
                  <a:tab pos="822325" algn="l"/>
                  <a:tab pos="1646238" algn="l"/>
                  <a:tab pos="2468563" algn="l"/>
                  <a:tab pos="3292475" algn="l"/>
                  <a:tab pos="4114800" algn="l"/>
                  <a:tab pos="4937125" algn="l"/>
                  <a:tab pos="5761038" algn="l"/>
                  <a:tab pos="6583363" algn="l"/>
                  <a:tab pos="7407275" algn="l"/>
                  <a:tab pos="8229600" algn="l"/>
                  <a:tab pos="9051925" algn="l"/>
                </a:tabLst>
              </a:pPr>
              <a:r>
                <a:rPr lang="en-US" sz="2000">
                  <a:solidFill>
                    <a:srgbClr val="0000FF"/>
                  </a:solidFill>
                  <a:latin typeface="Calibri" charset="0"/>
                </a:rPr>
                <a:t>OpenFlow</a:t>
              </a:r>
            </a:p>
          </p:txBody>
        </p:sp>
        <p:sp>
          <p:nvSpPr>
            <p:cNvPr id="105494" name="Line 16"/>
            <p:cNvSpPr>
              <a:spLocks noChangeShapeType="1"/>
            </p:cNvSpPr>
            <p:nvPr/>
          </p:nvSpPr>
          <p:spPr bwMode="auto">
            <a:xfrm flipV="1">
              <a:off x="3921" y="1924"/>
              <a:ext cx="433" cy="335"/>
            </a:xfrm>
            <a:prstGeom prst="line">
              <a:avLst/>
            </a:prstGeom>
            <a:noFill/>
            <a:ln w="3672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9937" name="AutoShape 17"/>
          <p:cNvSpPr>
            <a:spLocks/>
          </p:cNvSpPr>
          <p:nvPr/>
        </p:nvSpPr>
        <p:spPr bwMode="auto">
          <a:xfrm>
            <a:off x="2454275" y="5326063"/>
            <a:ext cx="1030288" cy="823912"/>
          </a:xfrm>
          <a:prstGeom prst="roundRect">
            <a:avLst>
              <a:gd name="adj" fmla="val 171"/>
            </a:avLst>
          </a:prstGeom>
          <a:solidFill>
            <a:srgbClr val="999999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1000" tIns="40500" rIns="81000" bIns="40500" anchor="ctr" anchorCtr="1">
            <a:prstTxWarp prst="textNoShape">
              <a:avLst/>
            </a:prstTxWarp>
          </a:bodyPr>
          <a:lstStyle/>
          <a:p>
            <a:pPr defTabSz="411163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</a:pPr>
            <a:r>
              <a:rPr lang="en-US" sz="2000">
                <a:solidFill>
                  <a:srgbClr val="FFFFFF"/>
                </a:solidFill>
                <a:latin typeface="Calibri" charset="0"/>
              </a:rPr>
              <a:t>Packet</a:t>
            </a:r>
          </a:p>
        </p:txBody>
      </p:sp>
      <p:sp>
        <p:nvSpPr>
          <p:cNvPr id="209938" name="AutoShape 18"/>
          <p:cNvSpPr>
            <a:spLocks/>
          </p:cNvSpPr>
          <p:nvPr/>
        </p:nvSpPr>
        <p:spPr bwMode="auto">
          <a:xfrm>
            <a:off x="5464175" y="4457700"/>
            <a:ext cx="1349375" cy="617538"/>
          </a:xfrm>
          <a:prstGeom prst="roundRect">
            <a:avLst>
              <a:gd name="adj" fmla="val 231"/>
            </a:avLst>
          </a:prstGeom>
          <a:solidFill>
            <a:srgbClr val="FFFFFF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1000" tIns="40500" rIns="81000" bIns="40500" anchor="ctr" anchorCtr="1">
            <a:prstTxWarp prst="textNoShape">
              <a:avLst/>
            </a:prstTxWarp>
          </a:bodyPr>
          <a:lstStyle/>
          <a:p>
            <a:pPr defTabSz="411163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</a:pPr>
            <a:r>
              <a:rPr lang="en-US" sz="2000">
                <a:solidFill>
                  <a:srgbClr val="000000"/>
                </a:solidFill>
                <a:latin typeface="Calibri" charset="0"/>
              </a:rPr>
              <a:t>Exception</a:t>
            </a:r>
          </a:p>
        </p:txBody>
      </p:sp>
      <p:sp>
        <p:nvSpPr>
          <p:cNvPr id="209939" name="Text Box 19"/>
          <p:cNvSpPr txBox="1">
            <a:spLocks noChangeArrowheads="1"/>
          </p:cNvSpPr>
          <p:nvPr/>
        </p:nvSpPr>
        <p:spPr bwMode="auto">
          <a:xfrm>
            <a:off x="206375" y="2879725"/>
            <a:ext cx="2262188" cy="1397000"/>
          </a:xfrm>
          <a:prstGeom prst="rect">
            <a:avLst/>
          </a:prstGeom>
          <a:noFill/>
          <a:ln w="36720">
            <a:noFill/>
            <a:round/>
            <a:headEnd type="triangle" w="med" len="med"/>
            <a:tailEnd type="triangle" w="med" len="med"/>
          </a:ln>
        </p:spPr>
        <p:txBody>
          <a:bodyPr lIns="81000" tIns="40500" rIns="81000" bIns="40500">
            <a:prstTxWarp prst="textNoShape">
              <a:avLst/>
            </a:prstTxWarp>
          </a:bodyPr>
          <a:lstStyle/>
          <a:p>
            <a:pPr defTabSz="411163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</a:pPr>
            <a:r>
              <a:rPr lang="en-US" sz="2500">
                <a:solidFill>
                  <a:srgbClr val="FF0000"/>
                </a:solidFill>
                <a:latin typeface="Calibri" charset="0"/>
              </a:rPr>
              <a:t>Policy Check:</a:t>
            </a:r>
          </a:p>
          <a:p>
            <a:pPr defTabSz="411163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</a:pPr>
            <a:r>
              <a:rPr lang="en-US" sz="2500">
                <a:solidFill>
                  <a:srgbClr val="000000"/>
                </a:solidFill>
                <a:latin typeface="Calibri" charset="0"/>
              </a:rPr>
              <a:t>Is this rule allowed?</a:t>
            </a:r>
          </a:p>
        </p:txBody>
      </p:sp>
      <p:sp>
        <p:nvSpPr>
          <p:cNvPr id="209940" name="Text Box 20"/>
          <p:cNvSpPr txBox="1">
            <a:spLocks noChangeArrowheads="1"/>
          </p:cNvSpPr>
          <p:nvPr/>
        </p:nvSpPr>
        <p:spPr bwMode="auto">
          <a:xfrm>
            <a:off x="6881813" y="2879725"/>
            <a:ext cx="2263775" cy="1397000"/>
          </a:xfrm>
          <a:prstGeom prst="rect">
            <a:avLst/>
          </a:prstGeom>
          <a:noFill/>
          <a:ln w="36720">
            <a:noFill/>
            <a:round/>
            <a:headEnd type="triangle" w="med" len="med"/>
            <a:tailEnd type="triangle" w="med" len="med"/>
          </a:ln>
        </p:spPr>
        <p:txBody>
          <a:bodyPr lIns="81000" tIns="40500" rIns="81000" bIns="40500">
            <a:prstTxWarp prst="textNoShape">
              <a:avLst/>
            </a:prstTxWarp>
          </a:bodyPr>
          <a:lstStyle/>
          <a:p>
            <a:pPr defTabSz="411163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</a:pPr>
            <a:r>
              <a:rPr lang="en-US" sz="2500">
                <a:solidFill>
                  <a:srgbClr val="FF0000"/>
                </a:solidFill>
                <a:latin typeface="Calibri" charset="0"/>
              </a:rPr>
              <a:t>Policy Check:</a:t>
            </a:r>
          </a:p>
          <a:p>
            <a:pPr defTabSz="411163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</a:pPr>
            <a:r>
              <a:rPr lang="en-US" sz="2500">
                <a:solidFill>
                  <a:srgbClr val="000000"/>
                </a:solidFill>
                <a:latin typeface="Calibri" charset="0"/>
              </a:rPr>
              <a:t>Who controls this packet?</a:t>
            </a:r>
          </a:p>
        </p:txBody>
      </p:sp>
      <p:sp>
        <p:nvSpPr>
          <p:cNvPr id="209941" name="Text Box 21"/>
          <p:cNvSpPr txBox="1">
            <a:spLocks noChangeArrowheads="1"/>
          </p:cNvSpPr>
          <p:nvPr/>
        </p:nvSpPr>
        <p:spPr bwMode="auto">
          <a:xfrm>
            <a:off x="822325" y="4319588"/>
            <a:ext cx="2676525" cy="958850"/>
          </a:xfrm>
          <a:prstGeom prst="rect">
            <a:avLst/>
          </a:prstGeom>
          <a:noFill/>
          <a:ln w="36720">
            <a:noFill/>
            <a:round/>
            <a:headEnd type="triangle" w="med" len="med"/>
            <a:tailEnd type="triangle" w="med" len="med"/>
          </a:ln>
        </p:spPr>
        <p:txBody>
          <a:bodyPr lIns="81000" tIns="40500" rIns="81000" bIns="40500">
            <a:prstTxWarp prst="textNoShape">
              <a:avLst/>
            </a:prstTxWarp>
          </a:bodyPr>
          <a:lstStyle/>
          <a:p>
            <a:pPr algn="ctr" defTabSz="411163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</a:pPr>
            <a:r>
              <a:rPr lang="en-US" sz="2500">
                <a:solidFill>
                  <a:srgbClr val="000000"/>
                </a:solidFill>
                <a:latin typeface="Calibri" charset="0"/>
              </a:rPr>
              <a:t>Full Line Rate</a:t>
            </a:r>
          </a:p>
          <a:p>
            <a:pPr algn="ctr" defTabSz="411163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</a:pPr>
            <a:r>
              <a:rPr lang="en-US" sz="2500">
                <a:solidFill>
                  <a:srgbClr val="000000"/>
                </a:solidFill>
                <a:latin typeface="Calibri" charset="0"/>
              </a:rPr>
              <a:t>Forwarding</a:t>
            </a:r>
          </a:p>
        </p:txBody>
      </p:sp>
      <p:sp>
        <p:nvSpPr>
          <p:cNvPr id="209942" name="Rectangle 22"/>
          <p:cNvSpPr>
            <a:spLocks noChangeArrowheads="1"/>
          </p:cNvSpPr>
          <p:nvPr/>
        </p:nvSpPr>
        <p:spPr bwMode="auto">
          <a:xfrm>
            <a:off x="6973888" y="1716088"/>
            <a:ext cx="1371600" cy="61595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lIns="82296" tIns="41148" rIns="82296" bIns="41148" anchor="ctr">
            <a:prstTxWarp prst="textNoShape">
              <a:avLst/>
            </a:prstTxWarp>
          </a:bodyPr>
          <a:lstStyle/>
          <a:p>
            <a:pPr algn="ctr" defTabSz="411163">
              <a:buClr>
                <a:srgbClr val="000000"/>
              </a:buClr>
              <a:buSzPct val="100000"/>
              <a:buFont typeface="Times New Roman" charset="0"/>
              <a:buNone/>
            </a:pPr>
            <a:r>
              <a:rPr lang="en-US" sz="2000">
                <a:latin typeface="Calibri" charset="0"/>
              </a:rPr>
              <a:t>Rule</a:t>
            </a:r>
          </a:p>
        </p:txBody>
      </p:sp>
      <p:sp>
        <p:nvSpPr>
          <p:cNvPr id="209943" name="AutoShape 23"/>
          <p:cNvSpPr>
            <a:spLocks/>
          </p:cNvSpPr>
          <p:nvPr/>
        </p:nvSpPr>
        <p:spPr bwMode="auto">
          <a:xfrm>
            <a:off x="2446338" y="5418138"/>
            <a:ext cx="1028700" cy="822325"/>
          </a:xfrm>
          <a:prstGeom prst="roundRect">
            <a:avLst>
              <a:gd name="adj" fmla="val 171"/>
            </a:avLst>
          </a:prstGeom>
          <a:solidFill>
            <a:srgbClr val="999999"/>
          </a:solidFill>
          <a:ln w="36720">
            <a:solidFill>
              <a:srgbClr val="000000"/>
            </a:solidFill>
            <a:round/>
            <a:headEnd type="triangle" w="med" len="med"/>
            <a:tailEnd type="triangle" w="med" len="med"/>
          </a:ln>
        </p:spPr>
        <p:txBody>
          <a:bodyPr lIns="81000" tIns="40500" rIns="81000" bIns="40500" anchor="ctr" anchorCtr="1">
            <a:prstTxWarp prst="textNoShape">
              <a:avLst/>
            </a:prstTxWarp>
          </a:bodyPr>
          <a:lstStyle/>
          <a:p>
            <a:pPr defTabSz="411163">
              <a:buClr>
                <a:srgbClr val="000000"/>
              </a:buClr>
              <a:buSzPct val="100000"/>
              <a:buFont typeface="Times New Roman" charset="0"/>
              <a:buNone/>
              <a:tabLst>
                <a:tab pos="0" algn="l"/>
                <a:tab pos="822325" algn="l"/>
                <a:tab pos="1646238" algn="l"/>
                <a:tab pos="2468563" algn="l"/>
                <a:tab pos="3292475" algn="l"/>
                <a:tab pos="4114800" algn="l"/>
                <a:tab pos="4937125" algn="l"/>
                <a:tab pos="5761038" algn="l"/>
                <a:tab pos="6583363" algn="l"/>
                <a:tab pos="7407275" algn="l"/>
                <a:tab pos="8229600" algn="l"/>
                <a:tab pos="9051925" algn="l"/>
              </a:tabLst>
            </a:pPr>
            <a:r>
              <a:rPr lang="en-US" sz="2000">
                <a:solidFill>
                  <a:srgbClr val="FFFFFF"/>
                </a:solidFill>
                <a:latin typeface="Calibri" charset="0"/>
              </a:rPr>
              <a:t>Packet</a:t>
            </a:r>
          </a:p>
        </p:txBody>
      </p:sp>
    </p:spTree>
    <p:extLst>
      <p:ext uri="{BB962C8B-B14F-4D97-AF65-F5344CB8AC3E}">
        <p14:creationId xmlns:p14="http://schemas.microsoft.com/office/powerpoint/2010/main" val="12447564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1.66667E-6 L 0.00125 -0.195 " pathEditMode="relative" rAng="0" ptsTypes="AA">
                                      <p:cBhvr>
                                        <p:cTn id="16" dur="500" fill="hold"/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-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9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5 -0.195 L 0.18125 -0.385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0" y="-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 0.015 L -0.1875 0.25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1" y="1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25 0.245 L -0.2025 0.445 " pathEditMode="relative" rAng="0" ptsTypes="AA">
                                      <p:cBhvr>
                                        <p:cTn id="44" dur="500" fill="hold"/>
                                        <p:tgtEl>
                                          <p:spTgt spid="2099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5E-6 L 0.67515 0.00333 " pathEditMode="relative" rAng="0" ptsTypes="AA">
                                      <p:cBhvr>
                                        <p:cTn id="51" dur="500" fill="hold"/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5E-6 L 0.67515 0.00333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937" grpId="0" animBg="1" autoUpdateAnimBg="0"/>
      <p:bldP spid="209937" grpId="1" animBg="1"/>
      <p:bldP spid="209937" grpId="2" animBg="1"/>
      <p:bldP spid="209938" grpId="0" animBg="1" autoUpdateAnimBg="0"/>
      <p:bldP spid="209938" grpId="1" animBg="1"/>
      <p:bldP spid="209938" grpId="2" animBg="1"/>
      <p:bldP spid="209938" grpId="3" animBg="1"/>
      <p:bldP spid="209939" grpId="0" autoUpdateAnimBg="0"/>
      <p:bldP spid="209940" grpId="0" autoUpdateAnimBg="0"/>
      <p:bldP spid="209941" grpId="0" autoUpdateAnimBg="0"/>
      <p:bldP spid="209942" grpId="0" animBg="1" autoUpdateAnimBg="0"/>
      <p:bldP spid="209942" grpId="1" animBg="1"/>
      <p:bldP spid="209942" grpId="2" animBg="1"/>
      <p:bldP spid="209943" grpId="0" animBg="1" autoUpdateAnimBg="0"/>
      <p:bldP spid="209943" grpId="1" animBg="1"/>
      <p:bldP spid="209943" grpId="2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OpenFlow</a:t>
            </a:r>
            <a:endParaRPr lang="en-US" altLang="zh-TW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idx="1"/>
          </p:nvPr>
        </p:nvSpPr>
        <p:spPr>
          <a:xfrm>
            <a:off x="722313" y="1772816"/>
            <a:ext cx="7772400" cy="2634085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Introduction to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 Switching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Usage models </a:t>
            </a:r>
          </a:p>
          <a:p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Virtualizing </a:t>
            </a:r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OpenFlow</a:t>
            </a:r>
            <a:endParaRPr lang="en-US" altLang="zh-TW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altLang="zh-TW" dirty="0" err="1">
                <a:solidFill>
                  <a:schemeClr val="bg1">
                    <a:lumMod val="50000"/>
                  </a:schemeClr>
                </a:solidFill>
              </a:rPr>
              <a:t>FlowVisor</a:t>
            </a:r>
            <a:r>
              <a:rPr lang="en-US" altLang="zh-TW" dirty="0">
                <a:solidFill>
                  <a:schemeClr val="bg1">
                    <a:lumMod val="50000"/>
                  </a:schemeClr>
                </a:solidFill>
              </a:rPr>
              <a:t>-based Virtualization</a:t>
            </a:r>
          </a:p>
          <a:p>
            <a:r>
              <a:rPr lang="en-US" altLang="zh-TW" dirty="0" err="1"/>
              <a:t>OpenFlow</a:t>
            </a:r>
            <a:r>
              <a:rPr lang="en-US" altLang="zh-TW" dirty="0"/>
              <a:t> references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6305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err="1" smtClean="0">
                <a:ea typeface="新細明體" panose="02020500000000000000" pitchFamily="18" charset="-120"/>
              </a:rPr>
              <a:t>OpenFlow</a:t>
            </a:r>
            <a:r>
              <a:rPr lang="en-US" altLang="zh-TW" dirty="0" smtClean="0">
                <a:ea typeface="新細明體" panose="02020500000000000000" pitchFamily="18" charset="-120"/>
              </a:rPr>
              <a:t> Consortium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5440363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zh-TW" sz="2800" dirty="0" smtClean="0">
              <a:ea typeface="新細明體" panose="02020500000000000000" pitchFamily="18" charset="-120"/>
              <a:hlinkClick r:id="rId2"/>
            </a:endParaRP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800" dirty="0" smtClean="0">
                <a:ea typeface="新細明體" panose="02020500000000000000" pitchFamily="18" charset="-120"/>
                <a:hlinkClick r:id="rId2"/>
              </a:rPr>
              <a:t>http://OpenFlowSwitch.org</a:t>
            </a:r>
            <a:endParaRPr lang="en-US" altLang="zh-TW" sz="2800" dirty="0" smtClean="0">
              <a:ea typeface="新細明體" panose="02020500000000000000" pitchFamily="18" charset="-120"/>
            </a:endParaRPr>
          </a:p>
          <a:p>
            <a:pPr>
              <a:lnSpc>
                <a:spcPct val="80000"/>
              </a:lnSpc>
            </a:pPr>
            <a:r>
              <a:rPr lang="en-US" altLang="zh-TW" dirty="0" smtClean="0">
                <a:ea typeface="新細明體" panose="02020500000000000000" pitchFamily="18" charset="-120"/>
              </a:rPr>
              <a:t>Goal</a:t>
            </a:r>
          </a:p>
          <a:p>
            <a:pPr marL="1143000" lvl="1" indent="-457200"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Evangelize </a:t>
            </a:r>
            <a:r>
              <a:rPr lang="en-US" altLang="zh-TW" dirty="0" err="1">
                <a:ea typeface="新細明體" panose="02020500000000000000" pitchFamily="18" charset="-120"/>
              </a:rPr>
              <a:t>OpenFlow</a:t>
            </a:r>
            <a:r>
              <a:rPr lang="en-US" altLang="zh-TW" dirty="0">
                <a:ea typeface="新細明體" panose="02020500000000000000" pitchFamily="18" charset="-120"/>
              </a:rPr>
              <a:t> to vendors</a:t>
            </a:r>
          </a:p>
          <a:p>
            <a:pPr marL="1143000" lvl="1" indent="-457200"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Free membership for all researchers</a:t>
            </a:r>
          </a:p>
          <a:p>
            <a:pPr marL="1143000" lvl="1" indent="-457200">
              <a:lnSpc>
                <a:spcPct val="80000"/>
              </a:lnSpc>
            </a:pPr>
            <a:r>
              <a:rPr lang="en-US" altLang="zh-TW" dirty="0">
                <a:ea typeface="新細明體" panose="02020500000000000000" pitchFamily="18" charset="-120"/>
              </a:rPr>
              <a:t>Whitepaper, </a:t>
            </a:r>
            <a:r>
              <a:rPr lang="en-US" altLang="zh-TW" dirty="0" err="1">
                <a:ea typeface="新細明體" panose="02020500000000000000" pitchFamily="18" charset="-120"/>
              </a:rPr>
              <a:t>OpenFlow</a:t>
            </a:r>
            <a:r>
              <a:rPr lang="en-US" altLang="zh-TW" dirty="0">
                <a:ea typeface="新細明體" panose="02020500000000000000" pitchFamily="18" charset="-120"/>
              </a:rPr>
              <a:t> Switch Specification, Reference Designs</a:t>
            </a:r>
          </a:p>
          <a:p>
            <a:pPr marL="1143000" lvl="1" indent="-457200">
              <a:lnSpc>
                <a:spcPct val="80000"/>
              </a:lnSpc>
            </a:pPr>
            <a:r>
              <a:rPr lang="en-US" altLang="zh-TW" dirty="0" smtClean="0">
                <a:ea typeface="新細明體" panose="02020500000000000000" pitchFamily="18" charset="-120"/>
              </a:rPr>
              <a:t>Licensing: Free </a:t>
            </a:r>
            <a:r>
              <a:rPr lang="en-US" altLang="zh-TW" dirty="0">
                <a:ea typeface="新細明體" panose="02020500000000000000" pitchFamily="18" charset="-120"/>
              </a:rPr>
              <a:t>for research and commercial use</a:t>
            </a:r>
          </a:p>
        </p:txBody>
      </p:sp>
    </p:spTree>
    <p:extLst>
      <p:ext uri="{BB962C8B-B14F-4D97-AF65-F5344CB8AC3E}">
        <p14:creationId xmlns:p14="http://schemas.microsoft.com/office/powerpoint/2010/main" val="1775637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43"/>
          <p:cNvSpPr>
            <a:spLocks noChangeArrowheads="1"/>
          </p:cNvSpPr>
          <p:nvPr/>
        </p:nvSpPr>
        <p:spPr bwMode="auto">
          <a:xfrm>
            <a:off x="403225" y="1220788"/>
            <a:ext cx="8335963" cy="838200"/>
          </a:xfrm>
          <a:prstGeom prst="roundRect">
            <a:avLst>
              <a:gd name="adj" fmla="val 16667"/>
            </a:avLst>
          </a:prstGeom>
          <a:solidFill>
            <a:srgbClr val="B3A2C7"/>
          </a:solidFill>
          <a:ln w="9525">
            <a:solidFill>
              <a:srgbClr val="604A7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endParaRPr lang="en-US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9315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</a:rPr>
              <a:t>OpenFlow building blocks</a:t>
            </a:r>
          </a:p>
        </p:txBody>
      </p:sp>
      <p:sp>
        <p:nvSpPr>
          <p:cNvPr id="31" name="Rounded Rectangle 30"/>
          <p:cNvSpPr>
            <a:spLocks noChangeArrowheads="1"/>
          </p:cNvSpPr>
          <p:nvPr/>
        </p:nvSpPr>
        <p:spPr bwMode="auto">
          <a:xfrm>
            <a:off x="390525" y="3238500"/>
            <a:ext cx="8334375" cy="712788"/>
          </a:xfrm>
          <a:prstGeom prst="roundRect">
            <a:avLst>
              <a:gd name="adj" fmla="val 16667"/>
            </a:avLst>
          </a:prstGeom>
          <a:solidFill>
            <a:srgbClr val="FDEADA"/>
          </a:solidFill>
          <a:ln w="9525">
            <a:solidFill>
              <a:srgbClr val="FDEAD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269317" name="TextBox 25"/>
          <p:cNvSpPr txBox="1">
            <a:spLocks noChangeArrowheads="1"/>
          </p:cNvSpPr>
          <p:nvPr/>
        </p:nvSpPr>
        <p:spPr bwMode="auto">
          <a:xfrm>
            <a:off x="7351713" y="3344863"/>
            <a:ext cx="14335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  <a:ea typeface="ＭＳ Ｐゴシック" charset="-128"/>
                <a:cs typeface="ＭＳ Ｐゴシック" charset="-128"/>
              </a:rPr>
              <a:t>Controller</a:t>
            </a:r>
          </a:p>
        </p:txBody>
      </p:sp>
      <p:sp>
        <p:nvSpPr>
          <p:cNvPr id="28" name="Rounded Rectangle 27"/>
          <p:cNvSpPr>
            <a:spLocks noChangeArrowheads="1"/>
          </p:cNvSpPr>
          <p:nvPr/>
        </p:nvSpPr>
        <p:spPr bwMode="auto">
          <a:xfrm>
            <a:off x="542925" y="3330575"/>
            <a:ext cx="1033463" cy="522288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NOX</a:t>
            </a:r>
          </a:p>
        </p:txBody>
      </p:sp>
      <p:sp>
        <p:nvSpPr>
          <p:cNvPr id="30" name="Rounded Rectangle 29"/>
          <p:cNvSpPr>
            <a:spLocks noChangeArrowheads="1"/>
          </p:cNvSpPr>
          <p:nvPr/>
        </p:nvSpPr>
        <p:spPr bwMode="auto">
          <a:xfrm>
            <a:off x="390525" y="4008438"/>
            <a:ext cx="8334375" cy="887412"/>
          </a:xfrm>
          <a:prstGeom prst="roundRect">
            <a:avLst>
              <a:gd name="adj" fmla="val 16667"/>
            </a:avLst>
          </a:prstGeom>
          <a:solidFill>
            <a:srgbClr val="DBEEF4"/>
          </a:solidFill>
          <a:ln w="9525">
            <a:solidFill>
              <a:srgbClr val="DBEEF4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269320" name="TextBox 22"/>
          <p:cNvSpPr txBox="1">
            <a:spLocks noChangeArrowheads="1"/>
          </p:cNvSpPr>
          <p:nvPr/>
        </p:nvSpPr>
        <p:spPr bwMode="auto">
          <a:xfrm>
            <a:off x="7467600" y="4008438"/>
            <a:ext cx="13017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/>
            <a:r>
              <a:rPr lang="en-US" sz="2400">
                <a:latin typeface="Calibri" charset="0"/>
                <a:ea typeface="ＭＳ Ｐゴシック" charset="-128"/>
                <a:cs typeface="ＭＳ Ｐゴシック" charset="-128"/>
              </a:rPr>
              <a:t>Slicing</a:t>
            </a:r>
          </a:p>
          <a:p>
            <a:pPr algn="r"/>
            <a:r>
              <a:rPr lang="en-US" sz="2400">
                <a:latin typeface="Calibri" charset="0"/>
                <a:ea typeface="ＭＳ Ｐゴシック" charset="-128"/>
                <a:cs typeface="ＭＳ Ｐゴシック" charset="-128"/>
              </a:rPr>
              <a:t>Software</a:t>
            </a:r>
          </a:p>
        </p:txBody>
      </p:sp>
      <p:sp>
        <p:nvSpPr>
          <p:cNvPr id="25" name="Rounded Rectangle 24"/>
          <p:cNvSpPr>
            <a:spLocks noChangeArrowheads="1"/>
          </p:cNvSpPr>
          <p:nvPr/>
        </p:nvSpPr>
        <p:spPr bwMode="auto">
          <a:xfrm>
            <a:off x="2870200" y="4254500"/>
            <a:ext cx="3313113" cy="522288"/>
          </a:xfrm>
          <a:prstGeom prst="roundRect">
            <a:avLst>
              <a:gd name="adj" fmla="val 16667"/>
            </a:avLst>
          </a:prstGeom>
          <a:solidFill>
            <a:srgbClr val="215968"/>
          </a:solidFill>
          <a:ln w="9525">
            <a:solidFill>
              <a:srgbClr val="215968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FlowVisor</a:t>
            </a:r>
          </a:p>
        </p:txBody>
      </p:sp>
      <p:cxnSp>
        <p:nvCxnSpPr>
          <p:cNvPr id="33" name="Straight Arrow Connector 32"/>
          <p:cNvCxnSpPr>
            <a:cxnSpLocks noChangeShapeType="1"/>
            <a:stCxn id="25" idx="1"/>
          </p:cNvCxnSpPr>
          <p:nvPr/>
        </p:nvCxnSpPr>
        <p:spPr bwMode="auto">
          <a:xfrm rot="10800000">
            <a:off x="2465388" y="4514850"/>
            <a:ext cx="404812" cy="1588"/>
          </a:xfrm>
          <a:prstGeom prst="straightConnector1">
            <a:avLst/>
          </a:prstGeom>
          <a:noFill/>
          <a:ln w="25400">
            <a:solidFill>
              <a:schemeClr val="accent1"/>
            </a:solidFill>
            <a:round/>
            <a:headEnd type="arrow" w="med" len="med"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sp>
        <p:nvSpPr>
          <p:cNvPr id="34" name="Rounded Rectangle 33"/>
          <p:cNvSpPr>
            <a:spLocks noChangeArrowheads="1"/>
          </p:cNvSpPr>
          <p:nvPr/>
        </p:nvSpPr>
        <p:spPr bwMode="auto">
          <a:xfrm>
            <a:off x="1233488" y="4210050"/>
            <a:ext cx="1220787" cy="520700"/>
          </a:xfrm>
          <a:prstGeom prst="roundRect">
            <a:avLst>
              <a:gd name="adj" fmla="val 16667"/>
            </a:avLst>
          </a:prstGeom>
          <a:solidFill>
            <a:srgbClr val="31859C">
              <a:alpha val="70979"/>
            </a:srgbClr>
          </a:solidFill>
          <a:ln w="9525">
            <a:solidFill>
              <a:srgbClr val="31859C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FlowVisor</a:t>
            </a:r>
          </a:p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Console</a:t>
            </a:r>
          </a:p>
        </p:txBody>
      </p:sp>
      <p:sp>
        <p:nvSpPr>
          <p:cNvPr id="48" name="Slide Number Placeholder 47"/>
          <p:cNvSpPr txBox="1">
            <a:spLocks noGrp="1"/>
          </p:cNvSpPr>
          <p:nvPr/>
        </p:nvSpPr>
        <p:spPr>
          <a:xfrm>
            <a:off x="6181725" y="6470650"/>
            <a:ext cx="2133600" cy="365125"/>
          </a:xfrm>
          <a:prstGeom prst="rect">
            <a:avLst/>
          </a:prstGeom>
          <a:noFill/>
        </p:spPr>
        <p:txBody>
          <a:bodyPr anchor="ctr">
            <a:prstTxWarp prst="textNoShape">
              <a:avLst/>
            </a:prstTxWarp>
          </a:bodyPr>
          <a:lstStyle/>
          <a:p>
            <a:pPr algn="r"/>
            <a:fld id="{BE387FAD-5540-1E40-862B-5EB6AB300F3B}" type="slidenum">
              <a:rPr lang="en-US"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ＭＳ Ｐゴシック" charset="-128"/>
              </a:rPr>
              <a:pPr algn="r"/>
              <a:t>80</a:t>
            </a:fld>
            <a:endParaRPr lang="en-US" sz="1200">
              <a:solidFill>
                <a:srgbClr val="898989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37" name="Rounded Rectangle 36"/>
          <p:cNvSpPr>
            <a:spLocks noChangeArrowheads="1"/>
          </p:cNvSpPr>
          <p:nvPr/>
        </p:nvSpPr>
        <p:spPr bwMode="auto">
          <a:xfrm>
            <a:off x="390525" y="2095500"/>
            <a:ext cx="8334375" cy="1089025"/>
          </a:xfrm>
          <a:prstGeom prst="roundRect">
            <a:avLst>
              <a:gd name="adj" fmla="val 16667"/>
            </a:avLst>
          </a:prstGeom>
          <a:solidFill>
            <a:srgbClr val="F2DCDB"/>
          </a:solidFill>
          <a:ln w="9525">
            <a:solidFill>
              <a:srgbClr val="F2DCDB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269326" name="TextBox 26"/>
          <p:cNvSpPr txBox="1">
            <a:spLocks noChangeArrowheads="1"/>
          </p:cNvSpPr>
          <p:nvPr/>
        </p:nvSpPr>
        <p:spPr bwMode="auto">
          <a:xfrm>
            <a:off x="7065963" y="2476500"/>
            <a:ext cx="17065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  <a:ea typeface="ＭＳ Ｐゴシック" charset="-128"/>
                <a:cs typeface="ＭＳ Ｐゴシック" charset="-128"/>
              </a:rPr>
              <a:t>Applications</a:t>
            </a:r>
          </a:p>
        </p:txBody>
      </p:sp>
      <p:sp>
        <p:nvSpPr>
          <p:cNvPr id="38" name="Rounded Rectangle 37"/>
          <p:cNvSpPr>
            <a:spLocks noChangeArrowheads="1"/>
          </p:cNvSpPr>
          <p:nvPr/>
        </p:nvSpPr>
        <p:spPr bwMode="auto">
          <a:xfrm>
            <a:off x="1990725" y="2476500"/>
            <a:ext cx="1335088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LAVI</a:t>
            </a:r>
          </a:p>
        </p:txBody>
      </p:sp>
      <p:sp>
        <p:nvSpPr>
          <p:cNvPr id="39" name="Rounded Rectangle 38"/>
          <p:cNvSpPr>
            <a:spLocks noChangeArrowheads="1"/>
          </p:cNvSpPr>
          <p:nvPr/>
        </p:nvSpPr>
        <p:spPr bwMode="auto">
          <a:xfrm>
            <a:off x="542925" y="2476500"/>
            <a:ext cx="1335088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ENVI (GUI)</a:t>
            </a:r>
          </a:p>
        </p:txBody>
      </p:sp>
      <p:sp>
        <p:nvSpPr>
          <p:cNvPr id="63" name="Rounded Rectangle 62"/>
          <p:cNvSpPr>
            <a:spLocks noChangeArrowheads="1"/>
          </p:cNvSpPr>
          <p:nvPr/>
        </p:nvSpPr>
        <p:spPr bwMode="auto">
          <a:xfrm>
            <a:off x="5038725" y="2476500"/>
            <a:ext cx="1828800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Expedient</a:t>
            </a:r>
          </a:p>
        </p:txBody>
      </p:sp>
      <p:sp>
        <p:nvSpPr>
          <p:cNvPr id="64" name="Rounded Rectangle 63"/>
          <p:cNvSpPr>
            <a:spLocks noChangeArrowheads="1"/>
          </p:cNvSpPr>
          <p:nvPr/>
        </p:nvSpPr>
        <p:spPr bwMode="auto">
          <a:xfrm>
            <a:off x="3438525" y="2501900"/>
            <a:ext cx="1466850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n-Casting</a:t>
            </a:r>
          </a:p>
        </p:txBody>
      </p:sp>
      <p:sp>
        <p:nvSpPr>
          <p:cNvPr id="29" name="Rounded Rectangle 28"/>
          <p:cNvSpPr>
            <a:spLocks noChangeArrowheads="1"/>
          </p:cNvSpPr>
          <p:nvPr/>
        </p:nvSpPr>
        <p:spPr bwMode="auto">
          <a:xfrm>
            <a:off x="390525" y="4957763"/>
            <a:ext cx="8334375" cy="1755775"/>
          </a:xfrm>
          <a:prstGeom prst="roundRect">
            <a:avLst>
              <a:gd name="adj" fmla="val 16667"/>
            </a:avLst>
          </a:prstGeom>
          <a:solidFill>
            <a:srgbClr val="C6D9F1"/>
          </a:solidFill>
          <a:ln w="9525">
            <a:solidFill>
              <a:srgbClr val="DCE6F2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lt1"/>
              </a:solidFill>
              <a:latin typeface="+mn-lt"/>
            </a:endParaRPr>
          </a:p>
        </p:txBody>
      </p:sp>
      <p:sp>
        <p:nvSpPr>
          <p:cNvPr id="13" name="Rounded Rectangle 12"/>
          <p:cNvSpPr>
            <a:spLocks noChangeArrowheads="1"/>
          </p:cNvSpPr>
          <p:nvPr/>
        </p:nvSpPr>
        <p:spPr bwMode="auto">
          <a:xfrm>
            <a:off x="4533900" y="5302250"/>
            <a:ext cx="1343025" cy="522288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NetFPGA</a:t>
            </a:r>
          </a:p>
        </p:txBody>
      </p:sp>
      <p:sp>
        <p:nvSpPr>
          <p:cNvPr id="14" name="Rounded Rectangle 13"/>
          <p:cNvSpPr>
            <a:spLocks noChangeArrowheads="1"/>
          </p:cNvSpPr>
          <p:nvPr/>
        </p:nvSpPr>
        <p:spPr bwMode="auto">
          <a:xfrm>
            <a:off x="3200400" y="5302250"/>
            <a:ext cx="1295400" cy="522288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Software </a:t>
            </a:r>
          </a:p>
          <a:p>
            <a:pPr algn="ctr"/>
            <a:r>
              <a:rPr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Ref. Switch</a:t>
            </a:r>
          </a:p>
        </p:txBody>
      </p:sp>
      <p:sp>
        <p:nvSpPr>
          <p:cNvPr id="15" name="Rounded Rectangle 14"/>
          <p:cNvSpPr>
            <a:spLocks noChangeArrowheads="1"/>
          </p:cNvSpPr>
          <p:nvPr/>
        </p:nvSpPr>
        <p:spPr bwMode="auto">
          <a:xfrm>
            <a:off x="5915025" y="5302250"/>
            <a:ext cx="1355725" cy="522288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Broadcom </a:t>
            </a:r>
          </a:p>
          <a:p>
            <a:pPr algn="ctr"/>
            <a:r>
              <a:rPr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Ref. Switch</a:t>
            </a:r>
          </a:p>
        </p:txBody>
      </p:sp>
      <p:sp>
        <p:nvSpPr>
          <p:cNvPr id="16" name="Rounded Rectangle 15"/>
          <p:cNvSpPr>
            <a:spLocks noChangeArrowheads="1"/>
          </p:cNvSpPr>
          <p:nvPr/>
        </p:nvSpPr>
        <p:spPr bwMode="auto">
          <a:xfrm>
            <a:off x="3200400" y="5976938"/>
            <a:ext cx="1295400" cy="522287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OpenWRT</a:t>
            </a:r>
          </a:p>
        </p:txBody>
      </p:sp>
      <p:sp>
        <p:nvSpPr>
          <p:cNvPr id="17" name="Rounded Rectangle 16"/>
          <p:cNvSpPr>
            <a:spLocks noChangeArrowheads="1"/>
          </p:cNvSpPr>
          <p:nvPr/>
        </p:nvSpPr>
        <p:spPr bwMode="auto">
          <a:xfrm>
            <a:off x="4533900" y="5976938"/>
            <a:ext cx="1371600" cy="522287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PCEngine  </a:t>
            </a:r>
            <a:br>
              <a:rPr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</a:br>
            <a:r>
              <a:rPr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WiFi AP</a:t>
            </a:r>
          </a:p>
        </p:txBody>
      </p:sp>
      <p:sp>
        <p:nvSpPr>
          <p:cNvPr id="269337" name="TextBox 18"/>
          <p:cNvSpPr txBox="1">
            <a:spLocks noChangeArrowheads="1"/>
          </p:cNvSpPr>
          <p:nvPr/>
        </p:nvSpPr>
        <p:spPr bwMode="auto">
          <a:xfrm>
            <a:off x="627063" y="4989513"/>
            <a:ext cx="21669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Commercial Switches</a:t>
            </a:r>
          </a:p>
        </p:txBody>
      </p:sp>
      <p:sp>
        <p:nvSpPr>
          <p:cNvPr id="269338" name="TextBox 19"/>
          <p:cNvSpPr txBox="1">
            <a:spLocks noChangeArrowheads="1"/>
          </p:cNvSpPr>
          <p:nvPr/>
        </p:nvSpPr>
        <p:spPr bwMode="auto">
          <a:xfrm>
            <a:off x="4216400" y="4957763"/>
            <a:ext cx="18669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Stanford Provided</a:t>
            </a:r>
          </a:p>
        </p:txBody>
      </p:sp>
      <p:sp>
        <p:nvSpPr>
          <p:cNvPr id="269339" name="TextBox 21"/>
          <p:cNvSpPr txBox="1">
            <a:spLocks noChangeArrowheads="1"/>
          </p:cNvSpPr>
          <p:nvPr/>
        </p:nvSpPr>
        <p:spPr bwMode="auto">
          <a:xfrm>
            <a:off x="7332663" y="5465763"/>
            <a:ext cx="14462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Calibri" charset="0"/>
                <a:ea typeface="ＭＳ Ｐゴシック" charset="-128"/>
                <a:cs typeface="ＭＳ Ｐゴシック" charset="-128"/>
              </a:rPr>
              <a:t>OpenFlow</a:t>
            </a:r>
          </a:p>
          <a:p>
            <a:r>
              <a:rPr lang="en-US" sz="2400">
                <a:latin typeface="Calibri" charset="0"/>
                <a:ea typeface="ＭＳ Ｐゴシック" charset="-128"/>
                <a:cs typeface="ＭＳ Ｐゴシック" charset="-128"/>
              </a:rPr>
              <a:t>Switches</a:t>
            </a:r>
          </a:p>
        </p:txBody>
      </p:sp>
      <p:sp>
        <p:nvSpPr>
          <p:cNvPr id="2" name="Rounded Rectangle 27"/>
          <p:cNvSpPr>
            <a:spLocks noChangeArrowheads="1"/>
          </p:cNvSpPr>
          <p:nvPr/>
        </p:nvSpPr>
        <p:spPr bwMode="auto">
          <a:xfrm>
            <a:off x="5705475" y="3340100"/>
            <a:ext cx="895350" cy="522288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dirty="0" smtClean="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ONIX</a:t>
            </a:r>
            <a:endParaRPr lang="en-US" dirty="0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269341" name="TextBox 19"/>
          <p:cNvSpPr txBox="1">
            <a:spLocks noChangeArrowheads="1"/>
          </p:cNvSpPr>
          <p:nvPr/>
        </p:nvSpPr>
        <p:spPr bwMode="auto">
          <a:xfrm>
            <a:off x="3209925" y="2095500"/>
            <a:ext cx="18669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charset="0"/>
                <a:ea typeface="ＭＳ Ｐゴシック" charset="-128"/>
                <a:cs typeface="ＭＳ Ｐゴシック" charset="-128"/>
              </a:rPr>
              <a:t>Stanford Provided</a:t>
            </a:r>
          </a:p>
        </p:txBody>
      </p:sp>
      <p:sp>
        <p:nvSpPr>
          <p:cNvPr id="269342" name="TextBox 26"/>
          <p:cNvSpPr txBox="1">
            <a:spLocks noChangeArrowheads="1"/>
          </p:cNvSpPr>
          <p:nvPr/>
        </p:nvSpPr>
        <p:spPr bwMode="auto">
          <a:xfrm>
            <a:off x="6553200" y="1333500"/>
            <a:ext cx="2155825" cy="67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latin typeface="Calibri" charset="0"/>
                <a:ea typeface="ＭＳ Ｐゴシック" charset="-128"/>
                <a:cs typeface="ＭＳ Ｐゴシック" charset="-128"/>
              </a:rPr>
              <a:t>Monitoring/</a:t>
            </a:r>
            <a:br>
              <a:rPr lang="en-US" sz="2400">
                <a:latin typeface="Calibri" charset="0"/>
                <a:ea typeface="ＭＳ Ｐゴシック" charset="-128"/>
                <a:cs typeface="ＭＳ Ｐゴシック" charset="-128"/>
              </a:rPr>
            </a:br>
            <a:r>
              <a:rPr lang="en-US" sz="2400">
                <a:latin typeface="Calibri" charset="0"/>
                <a:ea typeface="ＭＳ Ｐゴシック" charset="-128"/>
                <a:cs typeface="ＭＳ Ｐゴシック" charset="-128"/>
              </a:rPr>
              <a:t>debugging tools</a:t>
            </a:r>
          </a:p>
        </p:txBody>
      </p:sp>
      <p:sp>
        <p:nvSpPr>
          <p:cNvPr id="3" name="Rounded Rectangle 37"/>
          <p:cNvSpPr>
            <a:spLocks noChangeArrowheads="1"/>
          </p:cNvSpPr>
          <p:nvPr/>
        </p:nvSpPr>
        <p:spPr bwMode="auto">
          <a:xfrm>
            <a:off x="2371725" y="1409700"/>
            <a:ext cx="1335088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oflops</a:t>
            </a:r>
          </a:p>
        </p:txBody>
      </p:sp>
      <p:sp>
        <p:nvSpPr>
          <p:cNvPr id="4" name="Rounded Rectangle 38"/>
          <p:cNvSpPr>
            <a:spLocks noChangeArrowheads="1"/>
          </p:cNvSpPr>
          <p:nvPr/>
        </p:nvSpPr>
        <p:spPr bwMode="auto">
          <a:xfrm>
            <a:off x="923925" y="1409700"/>
            <a:ext cx="1335088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oftrace</a:t>
            </a:r>
          </a:p>
        </p:txBody>
      </p:sp>
      <p:sp>
        <p:nvSpPr>
          <p:cNvPr id="5" name="Rounded Rectangle 63"/>
          <p:cNvSpPr>
            <a:spLocks noChangeArrowheads="1"/>
          </p:cNvSpPr>
          <p:nvPr/>
        </p:nvSpPr>
        <p:spPr bwMode="auto">
          <a:xfrm>
            <a:off x="3819525" y="1435100"/>
            <a:ext cx="1466850" cy="508000"/>
          </a:xfrm>
          <a:prstGeom prst="roundRect">
            <a:avLst>
              <a:gd name="adj" fmla="val 16667"/>
            </a:avLst>
          </a:prstGeom>
          <a:solidFill>
            <a:srgbClr val="953735"/>
          </a:solidFill>
          <a:ln w="9525">
            <a:solidFill>
              <a:srgbClr val="953735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openseer</a:t>
            </a:r>
          </a:p>
        </p:txBody>
      </p:sp>
      <p:sp>
        <p:nvSpPr>
          <p:cNvPr id="6" name="Rounded Rectangle 16"/>
          <p:cNvSpPr>
            <a:spLocks noChangeArrowheads="1"/>
          </p:cNvSpPr>
          <p:nvPr/>
        </p:nvSpPr>
        <p:spPr bwMode="auto">
          <a:xfrm>
            <a:off x="5930900" y="5967413"/>
            <a:ext cx="1308100" cy="522287"/>
          </a:xfrm>
          <a:prstGeom prst="roundRect">
            <a:avLst>
              <a:gd name="adj" fmla="val 16667"/>
            </a:avLst>
          </a:prstGeom>
          <a:solidFill>
            <a:srgbClr val="17375E">
              <a:alpha val="77000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lIns="0" tIns="0" rIns="0" bIns="0" anchor="ctr">
            <a:prstTxWarp prst="textNoShape">
              <a:avLst/>
            </a:prstTxWarp>
          </a:bodyPr>
          <a:lstStyle/>
          <a:p>
            <a:pPr algn="ctr"/>
            <a:r>
              <a:rPr lang="en-US" sz="1700" dirty="0" smtClean="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Open </a:t>
            </a:r>
            <a:r>
              <a:rPr lang="en-US" sz="1700" dirty="0" err="1" smtClean="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vSwitch</a:t>
            </a:r>
            <a:endParaRPr lang="en-US" sz="1700" dirty="0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7" name="Rounded Rectangle 13"/>
          <p:cNvSpPr>
            <a:spLocks noChangeArrowheads="1"/>
          </p:cNvSpPr>
          <p:nvPr/>
        </p:nvSpPr>
        <p:spPr bwMode="auto">
          <a:xfrm>
            <a:off x="657225" y="5448300"/>
            <a:ext cx="1911350" cy="936625"/>
          </a:xfrm>
          <a:prstGeom prst="roundRect">
            <a:avLst>
              <a:gd name="adj" fmla="val 16667"/>
            </a:avLst>
          </a:prstGeom>
          <a:solidFill>
            <a:srgbClr val="17375E">
              <a:alpha val="76862"/>
            </a:srgbClr>
          </a:solidFill>
          <a:ln w="9525">
            <a:solidFill>
              <a:srgbClr val="4A7EBB"/>
            </a:solidFill>
            <a:round/>
            <a:headEnd/>
            <a:tailEnd/>
          </a:ln>
          <a:effectLst>
            <a:outerShdw blurRad="63500" dist="23000" dir="5400000" rotWithShape="0">
              <a:srgbClr val="000000">
                <a:alpha val="34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170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HP, NEC, Pronto, Juniper.. and many more </a:t>
            </a:r>
          </a:p>
        </p:txBody>
      </p:sp>
      <p:sp>
        <p:nvSpPr>
          <p:cNvPr id="8" name="Rounded Rectangle 27"/>
          <p:cNvSpPr>
            <a:spLocks noChangeArrowheads="1"/>
          </p:cNvSpPr>
          <p:nvPr/>
        </p:nvSpPr>
        <p:spPr bwMode="auto">
          <a:xfrm>
            <a:off x="1804988" y="3330575"/>
            <a:ext cx="1131887" cy="522288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Beacon</a:t>
            </a:r>
          </a:p>
        </p:txBody>
      </p:sp>
      <p:sp>
        <p:nvSpPr>
          <p:cNvPr id="9" name="Rounded Rectangle 27"/>
          <p:cNvSpPr>
            <a:spLocks noChangeArrowheads="1"/>
          </p:cNvSpPr>
          <p:nvPr/>
        </p:nvSpPr>
        <p:spPr bwMode="auto">
          <a:xfrm>
            <a:off x="3200400" y="3344863"/>
            <a:ext cx="895350" cy="522287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dirty="0" err="1" smtClean="0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Trema</a:t>
            </a:r>
            <a:endParaRPr lang="en-US" dirty="0">
              <a:solidFill>
                <a:srgbClr val="FFFFFF"/>
              </a:solidFill>
              <a:latin typeface="Calibri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10" name="Rounded Rectangle 27"/>
          <p:cNvSpPr>
            <a:spLocks noChangeArrowheads="1"/>
          </p:cNvSpPr>
          <p:nvPr/>
        </p:nvSpPr>
        <p:spPr bwMode="auto">
          <a:xfrm>
            <a:off x="4352925" y="3344863"/>
            <a:ext cx="1104900" cy="522287"/>
          </a:xfrm>
          <a:prstGeom prst="roundRect">
            <a:avLst>
              <a:gd name="adj" fmla="val 16667"/>
            </a:avLst>
          </a:prstGeom>
          <a:solidFill>
            <a:srgbClr val="E46C0A">
              <a:alpha val="76862"/>
            </a:srgbClr>
          </a:solidFill>
          <a:ln w="9525">
            <a:solidFill>
              <a:srgbClr val="E46C0A"/>
            </a:solidFill>
            <a:round/>
            <a:headEnd/>
            <a:tailEnd/>
          </a:ln>
          <a:effectLst>
            <a:outerShdw blurRad="63500" dist="38100" dir="2700000" algn="br" rotWithShape="0">
              <a:srgbClr val="000000">
                <a:alpha val="42999"/>
              </a:srgbClr>
            </a:outerShdw>
          </a:effectLst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Calibri" charset="0"/>
                <a:ea typeface="ＭＳ Ｐゴシック" charset="-128"/>
                <a:cs typeface="ＭＳ Ｐゴシック" charset="-128"/>
              </a:rPr>
              <a:t>Maestro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86694" y="5892921"/>
            <a:ext cx="1474788" cy="674687"/>
          </a:xfrm>
          <a:prstGeom prst="rect">
            <a:avLst/>
          </a:prstGeom>
          <a:noFill/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1" grpId="0" animBg="1"/>
      <p:bldP spid="269317" grpId="0"/>
      <p:bldP spid="28" grpId="0" animBg="1"/>
      <p:bldP spid="30" grpId="0" animBg="1"/>
      <p:bldP spid="269320" grpId="0"/>
      <p:bldP spid="25" grpId="0" animBg="1"/>
      <p:bldP spid="34" grpId="0" animBg="1"/>
      <p:bldP spid="48" grpId="0"/>
      <p:bldP spid="37" grpId="0" animBg="1"/>
      <p:bldP spid="269326" grpId="0"/>
      <p:bldP spid="38" grpId="0" animBg="1"/>
      <p:bldP spid="39" grpId="0" animBg="1"/>
      <p:bldP spid="63" grpId="0" animBg="1"/>
      <p:bldP spid="64" grpId="0" animBg="1"/>
      <p:bldP spid="2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269337" grpId="0"/>
      <p:bldP spid="269338" grpId="0"/>
      <p:bldP spid="269339" grpId="0"/>
      <p:bldP spid="2" grpId="0" animBg="1"/>
      <p:bldP spid="269341" grpId="0"/>
      <p:bldP spid="269342" grpId="0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4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AutoShape 2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3276600" y="4508500"/>
            <a:ext cx="2519363" cy="1366838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72000" tIns="396000" rIns="72000" bIns="72000">
            <a:prstTxWarp prst="textNoShape">
              <a:avLst/>
            </a:prstTxWarp>
          </a:bodyPr>
          <a:lstStyle/>
          <a:p>
            <a:pPr marL="136525" indent="-136525" defTabSz="9144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  <a:buFont typeface="Wingdings" charset="2"/>
              <a:buNone/>
            </a:pPr>
            <a:endParaRPr lang="en-US" sz="12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38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3276600" y="4437063"/>
            <a:ext cx="2519363" cy="36036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914400">
              <a:lnSpc>
                <a:spcPct val="90000"/>
              </a:lnSpc>
            </a:pPr>
            <a:r>
              <a:rPr lang="en-GB" sz="1600">
                <a:solidFill>
                  <a:schemeClr val="bg1"/>
                </a:solidFill>
                <a:latin typeface="Tele-GroteskFet" pitchFamily="2" charset="0"/>
              </a:rPr>
              <a:t>Ciena Coredirector</a:t>
            </a:r>
          </a:p>
        </p:txBody>
      </p:sp>
      <p:sp>
        <p:nvSpPr>
          <p:cNvPr id="272388" name="AutoShape 4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6316663" y="2760663"/>
            <a:ext cx="2519362" cy="1366837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72000" tIns="396000" rIns="72000" bIns="72000">
            <a:prstTxWarp prst="textNoShape">
              <a:avLst/>
            </a:prstTxWarp>
          </a:bodyPr>
          <a:lstStyle/>
          <a:p>
            <a:pPr marL="136525" indent="-136525" defTabSz="9144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  <a:buFont typeface="Wingdings" charset="2"/>
              <a:buNone/>
            </a:pPr>
            <a:endParaRPr lang="en-US" sz="12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72389" name="AutoShape 5"/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3303588" y="1127125"/>
            <a:ext cx="2519362" cy="1366838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72000" tIns="396000" rIns="72000" bIns="72000">
            <a:prstTxWarp prst="textNoShape">
              <a:avLst/>
            </a:prstTxWarp>
          </a:bodyPr>
          <a:lstStyle/>
          <a:p>
            <a:pPr marL="136525" indent="-136525" defTabSz="9144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  <a:buFont typeface="Wingdings" charset="2"/>
              <a:buNone/>
            </a:pPr>
            <a:endParaRPr lang="en-US" sz="12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3303588" y="1127125"/>
            <a:ext cx="2519362" cy="360363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914400">
              <a:lnSpc>
                <a:spcPct val="90000"/>
              </a:lnSpc>
            </a:pPr>
            <a:r>
              <a:rPr lang="en-GB" sz="1600">
                <a:solidFill>
                  <a:schemeClr val="bg1"/>
                </a:solidFill>
                <a:latin typeface="Tele-GroteskFet" pitchFamily="2" charset="0"/>
              </a:rPr>
              <a:t>NEC IP8800</a:t>
            </a:r>
          </a:p>
        </p:txBody>
      </p:sp>
      <p:sp>
        <p:nvSpPr>
          <p:cNvPr id="272391" name="AutoShape 7"/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6316663" y="1138238"/>
            <a:ext cx="2519362" cy="1366837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72000" tIns="396000" rIns="72000" bIns="72000">
            <a:prstTxWarp prst="textNoShape">
              <a:avLst/>
            </a:prstTxWarp>
          </a:bodyPr>
          <a:lstStyle/>
          <a:p>
            <a:pPr marL="136525" indent="-136525" defTabSz="9144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  <a:buFont typeface="Wingdings" charset="2"/>
              <a:buNone/>
            </a:pPr>
            <a:endParaRPr lang="en-US" sz="12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72392" name="AutoShape 8"/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307975" y="2749550"/>
            <a:ext cx="2519363" cy="1366838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72000" tIns="396000" rIns="72000" bIns="72000">
            <a:prstTxWarp prst="textNoShape">
              <a:avLst/>
            </a:prstTxWarp>
          </a:bodyPr>
          <a:lstStyle/>
          <a:p>
            <a:pPr marL="136525" indent="-136525" defTabSz="9144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  <a:buFont typeface="Wingdings" charset="2"/>
              <a:buNone/>
            </a:pPr>
            <a:endParaRPr lang="en-US" sz="12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72393" name="AutoShape 9"/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307975" y="4437063"/>
            <a:ext cx="2519363" cy="1366837"/>
          </a:xfrm>
          <a:prstGeom prst="roundRect">
            <a:avLst>
              <a:gd name="adj" fmla="val 4528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72000" tIns="396000" rIns="72000" bIns="72000">
            <a:prstTxWarp prst="textNoShape">
              <a:avLst/>
            </a:prstTxWarp>
          </a:bodyPr>
          <a:lstStyle/>
          <a:p>
            <a:pPr marL="136525" indent="-136525" defTabSz="9144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  <a:buFont typeface="Wingdings" charset="2"/>
              <a:buNone/>
            </a:pPr>
            <a:endParaRPr lang="en-US" sz="12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72394" name="Rectangle 10"/>
          <p:cNvSpPr>
            <a:spLocks noGrp="1"/>
          </p:cNvSpPr>
          <p:nvPr>
            <p:ph type="title"/>
          </p:nvPr>
        </p:nvSpPr>
        <p:spPr>
          <a:xfrm>
            <a:off x="323850" y="250825"/>
            <a:ext cx="8532813" cy="1162050"/>
          </a:xfrm>
        </p:spPr>
        <p:txBody>
          <a:bodyPr>
            <a:normAutofit fontScale="90000"/>
          </a:bodyPr>
          <a:lstStyle/>
          <a:p>
            <a:r>
              <a:rPr lang="en-US">
                <a:latin typeface="Calibri" charset="0"/>
              </a:rPr>
              <a:t>Current SDN hardware</a:t>
            </a:r>
            <a:br>
              <a:rPr lang="en-US">
                <a:latin typeface="Calibri" charset="0"/>
              </a:rPr>
            </a:br>
            <a:endParaRPr lang="en-US">
              <a:solidFill>
                <a:srgbClr val="666666"/>
              </a:solidFill>
              <a:latin typeface="Calibri" charset="0"/>
            </a:endParaRPr>
          </a:p>
        </p:txBody>
      </p:sp>
      <p:pic>
        <p:nvPicPr>
          <p:cNvPr id="272395" name="Picture 3"/>
          <p:cNvPicPr>
            <a:picLocks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19150" y="3109913"/>
            <a:ext cx="1497013" cy="9842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pic>
        <p:nvPicPr>
          <p:cNvPr id="272396" name="Picture 4"/>
          <p:cNvPicPr>
            <a:picLocks noChangeArrowheads="1"/>
          </p:cNvPicPr>
          <p:nvPr/>
        </p:nvPicPr>
        <p:blipFill>
          <a:blip r:embed="rId1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89325" y="1565275"/>
            <a:ext cx="2146300" cy="8397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272397" name="Rectangle 9"/>
          <p:cNvSpPr>
            <a:spLocks/>
          </p:cNvSpPr>
          <p:nvPr/>
        </p:nvSpPr>
        <p:spPr bwMode="auto">
          <a:xfrm>
            <a:off x="1066800" y="2105025"/>
            <a:ext cx="2286000" cy="422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40638" bIns="0">
            <a:prstTxWarp prst="textNoShape">
              <a:avLst/>
            </a:prstTxWarp>
          </a:bodyPr>
          <a:lstStyle/>
          <a:p>
            <a:pPr marL="39688" defTabSz="914400"/>
            <a:endParaRPr lang="en-US">
              <a:ea typeface="ＭＳ Ｐゴシック" charset="-128"/>
              <a:cs typeface="Times New Roman" charset="0"/>
            </a:endParaRPr>
          </a:p>
        </p:txBody>
      </p:sp>
      <p:pic>
        <p:nvPicPr>
          <p:cNvPr id="272398" name="Picture 10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7164388" y="3173413"/>
            <a:ext cx="736600" cy="911225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</p:pic>
      <p:pic>
        <p:nvPicPr>
          <p:cNvPr id="272399" name="Picture 11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6921500" y="1568450"/>
            <a:ext cx="1308100" cy="873125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</p:pic>
      <p:pic>
        <p:nvPicPr>
          <p:cNvPr id="272400" name="Picture 14"/>
          <p:cNvPicPr>
            <a:picLocks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536575" y="5059363"/>
            <a:ext cx="2063750" cy="633412"/>
          </a:xfrm>
          <a:prstGeom prst="rect">
            <a:avLst/>
          </a:prstGeom>
          <a:noFill/>
          <a:ln w="12700">
            <a:noFill/>
            <a:round/>
            <a:headEnd/>
            <a:tailEnd/>
          </a:ln>
        </p:spPr>
      </p:pic>
      <p:sp>
        <p:nvSpPr>
          <p:cNvPr id="272401" name="Rectangle 16"/>
          <p:cNvSpPr>
            <a:spLocks/>
          </p:cNvSpPr>
          <p:nvPr/>
        </p:nvSpPr>
        <p:spPr bwMode="auto">
          <a:xfrm>
            <a:off x="6011863" y="5013325"/>
            <a:ext cx="28257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marL="39688" algn="r" defTabSz="914400"/>
            <a:r>
              <a:rPr lang="en-US" sz="2600" dirty="0" smtClean="0">
                <a:solidFill>
                  <a:schemeClr val="tx2"/>
                </a:solidFill>
                <a:latin typeface="Tele-GroteskFet" pitchFamily="2" charset="0"/>
                <a:ea typeface="ＭＳ Ｐゴシック" charset="-128"/>
                <a:cs typeface="Times New Roman" charset="0"/>
              </a:rPr>
              <a:t>Ask your vendors</a:t>
            </a:r>
            <a:endParaRPr lang="en-US" sz="2600" dirty="0">
              <a:solidFill>
                <a:schemeClr val="tx2"/>
              </a:solidFill>
              <a:latin typeface="Tele-GroteskFet" pitchFamily="2" charset="0"/>
              <a:ea typeface="ＭＳ Ｐゴシック" charset="-128"/>
              <a:cs typeface="Times New Roman" charset="0"/>
            </a:endParaRPr>
          </a:p>
        </p:txBody>
      </p:sp>
      <p:sp>
        <p:nvSpPr>
          <p:cNvPr id="272402" name="AutoShape 18"/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307975" y="1127125"/>
            <a:ext cx="2519363" cy="1366838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72000" tIns="396000" rIns="72000" bIns="72000">
            <a:prstTxWarp prst="textNoShape">
              <a:avLst/>
            </a:prstTxWarp>
          </a:bodyPr>
          <a:lstStyle/>
          <a:p>
            <a:pPr marL="136525" indent="-136525" defTabSz="9144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  <a:buFont typeface="Wingdings" charset="2"/>
              <a:buNone/>
            </a:pPr>
            <a:endParaRPr lang="en-US" sz="12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pic>
        <p:nvPicPr>
          <p:cNvPr id="272403" name="Picture 2"/>
          <p:cNvPicPr>
            <a:picLocks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62038" y="1558925"/>
            <a:ext cx="1012825" cy="893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3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307975" y="1127125"/>
            <a:ext cx="2519363" cy="360363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914400">
              <a:lnSpc>
                <a:spcPct val="90000"/>
              </a:lnSpc>
            </a:pPr>
            <a:r>
              <a:rPr lang="en-GB" sz="1600">
                <a:solidFill>
                  <a:schemeClr val="bg1"/>
                </a:solidFill>
                <a:latin typeface="Tele-GroteskFet" pitchFamily="2" charset="0"/>
              </a:rPr>
              <a:t>Juniper MX-series</a:t>
            </a:r>
          </a:p>
        </p:txBody>
      </p:sp>
      <p:sp>
        <p:nvSpPr>
          <p:cNvPr id="5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307975" y="2749550"/>
            <a:ext cx="2519363" cy="360363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914400">
              <a:lnSpc>
                <a:spcPct val="90000"/>
              </a:lnSpc>
            </a:pPr>
            <a:r>
              <a:rPr lang="en-GB" sz="1600">
                <a:solidFill>
                  <a:schemeClr val="bg1"/>
                </a:solidFill>
                <a:latin typeface="Tele-GroteskFet" pitchFamily="2" charset="0"/>
              </a:rPr>
              <a:t>HP Procurve 5400</a:t>
            </a:r>
          </a:p>
        </p:txBody>
      </p:sp>
      <p:sp>
        <p:nvSpPr>
          <p:cNvPr id="6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307975" y="4437063"/>
            <a:ext cx="2519363" cy="36036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914400">
              <a:lnSpc>
                <a:spcPct val="90000"/>
              </a:lnSpc>
            </a:pPr>
            <a:r>
              <a:rPr lang="en-GB" sz="1600">
                <a:solidFill>
                  <a:schemeClr val="bg1"/>
                </a:solidFill>
                <a:latin typeface="Tele-GroteskFet" pitchFamily="2" charset="0"/>
              </a:rPr>
              <a:t>Pronto 3240/3290</a:t>
            </a:r>
          </a:p>
        </p:txBody>
      </p:sp>
      <p:sp>
        <p:nvSpPr>
          <p:cNvPr id="7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6316663" y="1138238"/>
            <a:ext cx="2519362" cy="36036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914400">
              <a:lnSpc>
                <a:spcPct val="90000"/>
              </a:lnSpc>
            </a:pPr>
            <a:r>
              <a:rPr lang="en-GB" sz="1600">
                <a:solidFill>
                  <a:schemeClr val="bg1"/>
                </a:solidFill>
                <a:latin typeface="Tele-GroteskFet" pitchFamily="2" charset="0"/>
              </a:rPr>
              <a:t>WiMax (NEC)</a:t>
            </a:r>
          </a:p>
        </p:txBody>
      </p:sp>
      <p:sp>
        <p:nvSpPr>
          <p:cNvPr id="8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6316663" y="2760663"/>
            <a:ext cx="2519362" cy="360362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914400">
              <a:lnSpc>
                <a:spcPct val="90000"/>
              </a:lnSpc>
            </a:pPr>
            <a:r>
              <a:rPr lang="en-GB" sz="1600">
                <a:solidFill>
                  <a:schemeClr val="bg1"/>
                </a:solidFill>
                <a:latin typeface="Tele-GroteskFet" pitchFamily="2" charset="0"/>
              </a:rPr>
              <a:t>PC Engines</a:t>
            </a:r>
          </a:p>
        </p:txBody>
      </p:sp>
      <p:pic>
        <p:nvPicPr>
          <p:cNvPr id="272409" name="Picture 25"/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68763" y="4797425"/>
            <a:ext cx="768350" cy="115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2410" name="AutoShape 26"/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3276600" y="2759075"/>
            <a:ext cx="2519363" cy="1366838"/>
          </a:xfrm>
          <a:prstGeom prst="roundRect">
            <a:avLst>
              <a:gd name="adj" fmla="val 4528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72000" tIns="396000" rIns="72000" bIns="72000">
            <a:prstTxWarp prst="textNoShape">
              <a:avLst/>
            </a:prstTxWarp>
          </a:bodyPr>
          <a:lstStyle/>
          <a:p>
            <a:pPr marL="136525" indent="-136525" defTabSz="9144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  <a:buFont typeface="Wingdings" charset="2"/>
              <a:buNone/>
            </a:pPr>
            <a:endParaRPr lang="en-US" sz="12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9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3276600" y="2759075"/>
            <a:ext cx="2519363" cy="360363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914400">
              <a:lnSpc>
                <a:spcPct val="90000"/>
              </a:lnSpc>
            </a:pPr>
            <a:r>
              <a:rPr lang="en-GB" sz="1600">
                <a:solidFill>
                  <a:schemeClr val="bg1"/>
                </a:solidFill>
                <a:latin typeface="Tele-GroteskFet" pitchFamily="2" charset="0"/>
              </a:rPr>
              <a:t>Netgear 7324</a:t>
            </a:r>
          </a:p>
        </p:txBody>
      </p:sp>
      <p:pic>
        <p:nvPicPr>
          <p:cNvPr id="272412" name="Picture 28"/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348038" y="3408363"/>
            <a:ext cx="2220912" cy="457200"/>
          </a:xfrm>
          <a:prstGeom prst="rect">
            <a:avLst/>
          </a:prstGeom>
          <a:noFill/>
        </p:spPr>
      </p:pic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>
            <a:prstTxWarp prst="textNoShape">
              <a:avLst/>
            </a:prstTxWarp>
          </a:bodyPr>
          <a:lstStyle/>
          <a:p>
            <a:pPr algn="r"/>
            <a:fld id="{2A59A62A-C4F6-2F4B-9DA7-C5C2D2F36C99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/>
              <a:t>81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80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alibri" charset="0"/>
              </a:rPr>
              <a:t>Commercial Switch Vendors</a:t>
            </a:r>
          </a:p>
        </p:txBody>
      </p:sp>
      <p:graphicFrame>
        <p:nvGraphicFramePr>
          <p:cNvPr id="281704" name="Group 10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430546"/>
              </p:ext>
            </p:extLst>
          </p:nvPr>
        </p:nvGraphicFramePr>
        <p:xfrm>
          <a:off x="431273" y="1164673"/>
          <a:ext cx="8229600" cy="5537138"/>
        </p:xfrm>
        <a:graphic>
          <a:graphicData uri="http://schemas.openxmlformats.org/drawingml/2006/table">
            <a:tbl>
              <a:tblPr/>
              <a:tblGrid>
                <a:gridCol w="2257936"/>
                <a:gridCol w="1145041"/>
                <a:gridCol w="2760038"/>
                <a:gridCol w="2066585"/>
              </a:tblGrid>
              <a:tr h="5064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charset="0"/>
                        </a:rPr>
                        <a:t>Model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charset="0"/>
                        </a:rPr>
                        <a:t>Virtualize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Calibri" charset="0"/>
                        </a:rPr>
                        <a:t>Notes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Calibri" charset="0"/>
                      </a:endParaRP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1493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HP Procurve 5400zl or 6600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1 OF instance per VLAN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LACP, VLAN and STP processing before OpenFlow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Wildcard rules or non-IP pkts processed in s/w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Header rewriting in s/w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CPU protects mgmt during loop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alibri" charset="0"/>
                      </a:endParaRP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79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NEC IP8800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1 OF instance per VLAN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OpenFlow takes precedence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Most actions processed in hardware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MAC header rewriting in h/w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alibri" charset="0"/>
                      </a:endParaRP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065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Pronto 3240 or 3290 with Pica8 or Indigo firmware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1 OF instance per switch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No legacy protocols (like VLAN and STP)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Most actions processed in hardware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Calibri" charset="0"/>
                        </a:rPr>
                        <a:t>MAC header rewriting in h/w</a:t>
                      </a: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hlink"/>
                        </a:solidFill>
                        <a:effectLst/>
                        <a:latin typeface="Calibri" charset="0"/>
                      </a:endParaRPr>
                    </a:p>
                  </a:txBody>
                  <a:tcPr marL="88174" marR="88174" horzOverflow="overflow">
                    <a:lnL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81641" name="Picture 4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676989" y="5517232"/>
            <a:ext cx="1905000" cy="655638"/>
          </a:xfrm>
          <a:prstGeom prst="rect">
            <a:avLst/>
          </a:prstGeom>
          <a:noFill/>
        </p:spPr>
      </p:pic>
      <p:pic>
        <p:nvPicPr>
          <p:cNvPr id="281642" name="Picture 4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23484" y="2162969"/>
            <a:ext cx="1371600" cy="1009650"/>
          </a:xfrm>
          <a:prstGeom prst="rect">
            <a:avLst/>
          </a:prstGeom>
          <a:noFill/>
        </p:spPr>
      </p:pic>
      <p:pic>
        <p:nvPicPr>
          <p:cNvPr id="28160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07139" y="4081065"/>
            <a:ext cx="2044700" cy="423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>
            <a:prstTxWarp prst="textNoShape">
              <a:avLst/>
            </a:prstTxWarp>
          </a:bodyPr>
          <a:lstStyle/>
          <a:p>
            <a:pPr algn="r"/>
            <a:fld id="{8B4F7CDA-4ABA-0E42-9E16-504A85C8E484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/>
              <a:t>82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24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OpenFlow</a:t>
            </a:r>
            <a:r>
              <a:rPr lang="en-US" dirty="0" smtClean="0"/>
              <a:t> Controllers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2D521-F27E-6F44-86F8-1AB1FF00EE51}" type="slidenum">
              <a:rPr lang="en-US" smtClean="0"/>
              <a:pPr/>
              <a:t>83</a:t>
            </a:fld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0" y="1316767"/>
          <a:ext cx="9144001" cy="5626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1615"/>
                <a:gridCol w="869462"/>
                <a:gridCol w="1172308"/>
                <a:gridCol w="1338384"/>
                <a:gridCol w="1328616"/>
                <a:gridCol w="3233616"/>
              </a:tblGrid>
              <a:tr h="53536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Name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Lang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Platform(s</a:t>
                      </a:r>
                      <a:r>
                        <a:rPr lang="en-US" sz="1600" dirty="0" smtClean="0"/>
                        <a:t>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License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Original</a:t>
                      </a:r>
                    </a:p>
                    <a:p>
                      <a:r>
                        <a:rPr lang="en-US" sz="1600" dirty="0" smtClean="0"/>
                        <a:t>Author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Notes</a:t>
                      </a:r>
                      <a:endParaRPr lang="en-US" sz="1600" dirty="0"/>
                    </a:p>
                  </a:txBody>
                  <a:tcPr/>
                </a:tc>
              </a:tr>
              <a:tr h="994254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OpenFlow</a:t>
                      </a:r>
                      <a:r>
                        <a:rPr lang="en-US" sz="1600" baseline="0" dirty="0" smtClean="0"/>
                        <a:t> Reference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Linux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OpenFlow</a:t>
                      </a:r>
                      <a:r>
                        <a:rPr lang="en-US" sz="1600" dirty="0" smtClean="0"/>
                        <a:t> License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Stanford/</a:t>
                      </a:r>
                      <a:r>
                        <a:rPr lang="en-US" sz="1600" dirty="0" err="1" smtClean="0"/>
                        <a:t>Nicira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not designed for extensibility</a:t>
                      </a:r>
                      <a:endParaRPr lang="en-US" sz="1600" dirty="0"/>
                    </a:p>
                  </a:txBody>
                  <a:tcPr/>
                </a:tc>
              </a:tr>
              <a:tr h="764811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hlinkClick r:id="rId3"/>
                        </a:rPr>
                        <a:t>NOX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Python,</a:t>
                      </a:r>
                      <a:r>
                        <a:rPr lang="en-US" sz="1600" baseline="0" dirty="0" smtClean="0"/>
                        <a:t> C++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Linux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GPL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Nicira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smtClean="0"/>
                        <a:t>actively</a:t>
                      </a:r>
                      <a:r>
                        <a:rPr lang="en-US" sz="1600" baseline="0" smtClean="0"/>
                        <a:t> developed</a:t>
                      </a:r>
                      <a:endParaRPr lang="en-US" sz="1600" dirty="0"/>
                    </a:p>
                  </a:txBody>
                  <a:tcPr/>
                </a:tc>
              </a:tr>
              <a:tr h="994254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hlinkClick r:id="rId4"/>
                        </a:rPr>
                        <a:t>Beacon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Java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Win, Mac, Linux, Android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GPL</a:t>
                      </a:r>
                      <a:r>
                        <a:rPr lang="en-US" sz="1600" baseline="0" dirty="0" smtClean="0"/>
                        <a:t> (core), FOSS Licenses for your code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David</a:t>
                      </a:r>
                      <a:r>
                        <a:rPr lang="en-US" sz="1600" baseline="0" dirty="0" smtClean="0"/>
                        <a:t> Erickson (Stanford)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runtime modular, web UI framework, regression test framework</a:t>
                      </a:r>
                      <a:endParaRPr lang="en-US" sz="1600" dirty="0"/>
                    </a:p>
                  </a:txBody>
                  <a:tcPr/>
                </a:tc>
              </a:tr>
              <a:tr h="764811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hlinkClick r:id="rId5"/>
                        </a:rPr>
                        <a:t>Maestro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Java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Win,</a:t>
                      </a:r>
                      <a:r>
                        <a:rPr lang="en-US" sz="1600" baseline="0" dirty="0" smtClean="0"/>
                        <a:t> Mac, Linux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LGPL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Zheng</a:t>
                      </a:r>
                      <a:r>
                        <a:rPr lang="en-US" sz="1600" dirty="0" smtClean="0"/>
                        <a:t> </a:t>
                      </a:r>
                      <a:r>
                        <a:rPr lang="en-US" sz="1600" dirty="0" err="1" smtClean="0"/>
                        <a:t>Cai</a:t>
                      </a:r>
                      <a:r>
                        <a:rPr lang="en-US" sz="1600" baseline="0" dirty="0" smtClean="0"/>
                        <a:t> (</a:t>
                      </a:r>
                      <a:r>
                        <a:rPr lang="en-US" sz="1600" dirty="0" smtClean="0"/>
                        <a:t>Rice)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</a:tr>
              <a:tr h="764811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hlinkClick r:id="rId6"/>
                        </a:rPr>
                        <a:t>Trema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Ruby,</a:t>
                      </a:r>
                      <a:r>
                        <a:rPr lang="en-US" sz="1600" baseline="0" dirty="0" smtClean="0"/>
                        <a:t> </a:t>
                      </a:r>
                      <a:r>
                        <a:rPr lang="en-US" sz="1600" dirty="0" smtClean="0"/>
                        <a:t>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Linux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GPL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NEC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includes emulator, regression test framework</a:t>
                      </a:r>
                    </a:p>
                  </a:txBody>
                  <a:tcPr/>
                </a:tc>
              </a:tr>
              <a:tr h="764811"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hlinkClick r:id="rId7"/>
                        </a:rPr>
                        <a:t>RouteFlow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?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Linux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Apache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CPqD</a:t>
                      </a:r>
                      <a:r>
                        <a:rPr lang="en-US" sz="1600" baseline="0" dirty="0" smtClean="0"/>
                        <a:t> (Brazil)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aseline="0" dirty="0" smtClean="0"/>
                        <a:t> virtual IP routing as a  service</a:t>
                      </a:r>
                      <a:endParaRPr lang="en-US" sz="1600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787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/>
          </p:cNvSpPr>
          <p:nvPr>
            <p:ph type="title"/>
          </p:nvPr>
        </p:nvSpPr>
        <p:spPr>
          <a:xfrm>
            <a:off x="457200" y="252413"/>
            <a:ext cx="8231188" cy="715962"/>
          </a:xfrm>
        </p:spPr>
        <p:txBody>
          <a:bodyPr>
            <a:normAutofit fontScale="90000"/>
          </a:bodyPr>
          <a:lstStyle/>
          <a:p>
            <a:r>
              <a:rPr lang="en-US">
                <a:latin typeface="Calibri" charset="0"/>
              </a:rPr>
              <a:t>Growing Community</a:t>
            </a:r>
            <a:endParaRPr lang="en-US">
              <a:solidFill>
                <a:srgbClr val="666666"/>
              </a:solidFill>
              <a:latin typeface="Calibri" charset="0"/>
            </a:endParaRPr>
          </a:p>
        </p:txBody>
      </p:sp>
      <p:sp>
        <p:nvSpPr>
          <p:cNvPr id="271363" name="AutoShape 3"/>
          <p:cNvSpPr>
            <a:spLocks noChangeArrowheads="1"/>
          </p:cNvSpPr>
          <p:nvPr>
            <p:custDataLst>
              <p:tags r:id="rId1"/>
            </p:custDataLst>
          </p:nvPr>
        </p:nvSpPr>
        <p:spPr bwMode="gray">
          <a:xfrm>
            <a:off x="307975" y="1247775"/>
            <a:ext cx="4119563" cy="4773613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72000" tIns="396000" rIns="72000" bIns="72000">
            <a:prstTxWarp prst="textNoShape">
              <a:avLst/>
            </a:prstTxWarp>
          </a:bodyPr>
          <a:lstStyle/>
          <a:p>
            <a:pPr marL="136525" indent="-136525" defTabSz="9144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  <a:buFont typeface="Wingdings" charset="2"/>
              <a:buNone/>
            </a:pPr>
            <a:endParaRPr lang="en-US" sz="12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38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307975" y="1247775"/>
            <a:ext cx="4119563" cy="360363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914400">
              <a:lnSpc>
                <a:spcPct val="90000"/>
              </a:lnSpc>
            </a:pPr>
            <a:r>
              <a:rPr lang="en-GB" sz="1600">
                <a:solidFill>
                  <a:schemeClr val="bg1"/>
                </a:solidFill>
                <a:latin typeface="Tele-GroteskFet" pitchFamily="2" charset="0"/>
                <a:ea typeface="Arial" charset="0"/>
                <a:cs typeface="Arial" charset="0"/>
              </a:rPr>
              <a:t>Vendors and start-ups   </a:t>
            </a:r>
          </a:p>
        </p:txBody>
      </p:sp>
      <p:sp>
        <p:nvSpPr>
          <p:cNvPr id="271365" name="AutoShape 5"/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643438" y="1247775"/>
            <a:ext cx="4119562" cy="4773613"/>
          </a:xfrm>
          <a:prstGeom prst="roundRect">
            <a:avLst>
              <a:gd name="adj" fmla="val 3907"/>
            </a:avLst>
          </a:pr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shade val="86275"/>
                  <a:invGamma/>
                </a:schemeClr>
              </a:gs>
            </a:gsLst>
            <a:lin ang="5400000" scaled="1"/>
          </a:gradFill>
          <a:ln w="9525">
            <a:solidFill>
              <a:srgbClr val="969696"/>
            </a:solidFill>
            <a:round/>
            <a:headEnd/>
            <a:tailEnd/>
          </a:ln>
          <a:effectLst/>
        </p:spPr>
        <p:txBody>
          <a:bodyPr lIns="72000" tIns="396000" rIns="72000" bIns="72000">
            <a:prstTxWarp prst="textNoShape">
              <a:avLst/>
            </a:prstTxWarp>
          </a:bodyPr>
          <a:lstStyle/>
          <a:p>
            <a:pPr marL="136525" indent="-136525" defTabSz="914400" eaLnBrk="0" hangingPunct="0">
              <a:lnSpc>
                <a:spcPct val="90000"/>
              </a:lnSpc>
              <a:spcBef>
                <a:spcPct val="10000"/>
              </a:spcBef>
              <a:buClr>
                <a:schemeClr val="tx2"/>
              </a:buClr>
              <a:buSzPct val="75000"/>
              <a:buFont typeface="Wingdings" charset="2"/>
              <a:buNone/>
            </a:pPr>
            <a:endParaRPr lang="en-US" sz="1200">
              <a:latin typeface="Tele-GroteskNor" pitchFamily="2" charset="0"/>
              <a:ea typeface="Times New Roman" charset="0"/>
              <a:cs typeface="Times New Roman" charset="0"/>
            </a:endParaRPr>
          </a:p>
        </p:txBody>
      </p:sp>
      <p:sp>
        <p:nvSpPr>
          <p:cNvPr id="2" name="Auf der gleichen Seite des Rechtecks liegende Ecken abrunden 37"/>
          <p:cNvSpPr>
            <a:spLocks noChangeArrowheads="1"/>
          </p:cNvSpPr>
          <p:nvPr/>
        </p:nvSpPr>
        <p:spPr bwMode="auto">
          <a:xfrm>
            <a:off x="4643438" y="1247775"/>
            <a:ext cx="4119562" cy="360363"/>
          </a:xfrm>
          <a:prstGeom prst="round2SameRect">
            <a:avLst/>
          </a:prstGeom>
          <a:gradFill rotWithShape="1">
            <a:gsLst>
              <a:gs pos="0">
                <a:srgbClr val="BDBDBD"/>
              </a:gs>
              <a:gs pos="39999">
                <a:srgbClr val="404040"/>
              </a:gs>
              <a:gs pos="41000">
                <a:srgbClr val="000000"/>
              </a:gs>
              <a:gs pos="100000">
                <a:srgbClr val="080808"/>
              </a:gs>
            </a:gsLst>
            <a:lin ang="5400000" scaled="1"/>
          </a:gradFill>
          <a:ln w="9525" algn="ctr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>
            <a:prstTxWarp prst="textNoShape">
              <a:avLst/>
            </a:prstTxWarp>
          </a:bodyPr>
          <a:lstStyle/>
          <a:p>
            <a:pPr algn="ctr" defTabSz="914400">
              <a:lnSpc>
                <a:spcPct val="90000"/>
              </a:lnSpc>
            </a:pPr>
            <a:r>
              <a:rPr lang="en-GB" sz="1600">
                <a:solidFill>
                  <a:schemeClr val="bg1"/>
                </a:solidFill>
                <a:latin typeface="Tele-GroteskFet" pitchFamily="2" charset="0"/>
                <a:ea typeface="Arial" charset="0"/>
                <a:cs typeface="Arial" charset="0"/>
              </a:rPr>
              <a:t>Providers and business-unit</a:t>
            </a:r>
          </a:p>
        </p:txBody>
      </p:sp>
      <p:sp>
        <p:nvSpPr>
          <p:cNvPr id="271367" name="Rectangle 7"/>
          <p:cNvSpPr>
            <a:spLocks noGrp="1" noChangeArrowheads="1"/>
          </p:cNvSpPr>
          <p:nvPr>
            <p:ph type="body" idx="1"/>
          </p:nvPr>
        </p:nvSpPr>
        <p:spPr bwMode="gray">
          <a:xfrm>
            <a:off x="614363" y="1593850"/>
            <a:ext cx="3629025" cy="4456113"/>
          </a:xfrm>
          <a:noFill/>
          <a:ln/>
        </p:spPr>
        <p:txBody>
          <a:bodyPr lIns="0" tIns="0" rIns="0" bIns="0"/>
          <a:lstStyle/>
          <a:p>
            <a:pPr marL="381000" indent="-381000" defTabSz="914400">
              <a:buFont typeface="Arial" charset="0"/>
              <a:buNone/>
            </a:pPr>
            <a:endParaRPr lang="en-US"/>
          </a:p>
          <a:p>
            <a:pPr marL="381000" indent="-381000" defTabSz="914400">
              <a:buFont typeface="Arial" charset="0"/>
              <a:buNone/>
            </a:pPr>
            <a:endParaRPr lang="en-US"/>
          </a:p>
          <a:p>
            <a:pPr marL="381000" indent="-381000" defTabSz="914400">
              <a:buFont typeface="Arial" charset="0"/>
              <a:buNone/>
            </a:pPr>
            <a:endParaRPr lang="en-US"/>
          </a:p>
          <a:p>
            <a:pPr marL="381000" indent="-381000" defTabSz="914400">
              <a:buFont typeface="Arial" charset="0"/>
              <a:buNone/>
            </a:pPr>
            <a:endParaRPr lang="en-US"/>
          </a:p>
          <a:p>
            <a:pPr marL="381000" indent="-381000" defTabSz="914400">
              <a:buFont typeface="Arial" charset="0"/>
              <a:buNone/>
            </a:pPr>
            <a:endParaRPr lang="en-US"/>
          </a:p>
          <a:p>
            <a:pPr marL="381000" indent="-381000" defTabSz="914400">
              <a:buFont typeface="Arial" charset="0"/>
              <a:buNone/>
            </a:pPr>
            <a:endParaRPr lang="en-US"/>
          </a:p>
          <a:p>
            <a:pPr marL="381000" indent="-381000" defTabSz="914400">
              <a:buFont typeface="Arial" charset="0"/>
              <a:buNone/>
            </a:pPr>
            <a:endParaRPr lang="en-US"/>
          </a:p>
        </p:txBody>
      </p:sp>
      <p:pic>
        <p:nvPicPr>
          <p:cNvPr id="271368" name="Picture 8" descr="hp-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8313" y="2420938"/>
            <a:ext cx="996950" cy="658812"/>
          </a:xfrm>
          <a:prstGeom prst="rect">
            <a:avLst/>
          </a:prstGeom>
          <a:noFill/>
        </p:spPr>
      </p:pic>
      <p:pic>
        <p:nvPicPr>
          <p:cNvPr id="271369" name="Picture 9" descr="nec-logo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92275" y="2420938"/>
            <a:ext cx="809625" cy="658812"/>
          </a:xfrm>
          <a:prstGeom prst="rect">
            <a:avLst/>
          </a:prstGeom>
          <a:noFill/>
        </p:spPr>
      </p:pic>
      <p:pic>
        <p:nvPicPr>
          <p:cNvPr id="271370" name="Picture 10" descr="Dell_Logo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9750" y="3357563"/>
            <a:ext cx="565150" cy="576262"/>
          </a:xfrm>
          <a:prstGeom prst="rect">
            <a:avLst/>
          </a:prstGeom>
          <a:noFill/>
        </p:spPr>
      </p:pic>
      <p:pic>
        <p:nvPicPr>
          <p:cNvPr id="271371" name="Picture 11" descr="arista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68313" y="4149725"/>
            <a:ext cx="719137" cy="719138"/>
          </a:xfrm>
          <a:prstGeom prst="rect">
            <a:avLst/>
          </a:prstGeom>
          <a:noFill/>
        </p:spPr>
      </p:pic>
      <p:pic>
        <p:nvPicPr>
          <p:cNvPr id="271372" name="Picture 12" descr="netgear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258888" y="3357563"/>
            <a:ext cx="1584325" cy="587375"/>
          </a:xfrm>
          <a:prstGeom prst="rect">
            <a:avLst/>
          </a:prstGeom>
          <a:noFill/>
        </p:spPr>
      </p:pic>
      <p:sp>
        <p:nvSpPr>
          <p:cNvPr id="271373" name="Rectangle 16"/>
          <p:cNvSpPr>
            <a:spLocks/>
          </p:cNvSpPr>
          <p:nvPr/>
        </p:nvSpPr>
        <p:spPr bwMode="auto">
          <a:xfrm>
            <a:off x="1008063" y="5337175"/>
            <a:ext cx="28257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marL="39688" algn="ctr" defTabSz="914400"/>
            <a:r>
              <a:rPr lang="en-US" sz="2600">
                <a:solidFill>
                  <a:schemeClr val="tx2"/>
                </a:solidFill>
                <a:latin typeface="Tele-GroteskFet" pitchFamily="2" charset="0"/>
                <a:ea typeface="Arial" charset="0"/>
                <a:cs typeface="Arial" charset="0"/>
              </a:rPr>
              <a:t>More...</a:t>
            </a:r>
          </a:p>
        </p:txBody>
      </p:sp>
      <p:pic>
        <p:nvPicPr>
          <p:cNvPr id="271374" name="Picture 14" descr="huawei_logo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3400425" y="4076700"/>
            <a:ext cx="523875" cy="523875"/>
          </a:xfrm>
          <a:prstGeom prst="rect">
            <a:avLst/>
          </a:prstGeom>
          <a:noFill/>
        </p:spPr>
      </p:pic>
      <p:pic>
        <p:nvPicPr>
          <p:cNvPr id="271375" name="Picture 15" descr="BT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4932363" y="1841500"/>
            <a:ext cx="1296987" cy="723900"/>
          </a:xfrm>
          <a:prstGeom prst="rect">
            <a:avLst/>
          </a:prstGeom>
          <a:noFill/>
        </p:spPr>
      </p:pic>
      <p:pic>
        <p:nvPicPr>
          <p:cNvPr id="271376" name="Picture 16" descr="verizon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4859338" y="2695575"/>
            <a:ext cx="1152525" cy="747713"/>
          </a:xfrm>
          <a:prstGeom prst="rect">
            <a:avLst/>
          </a:prstGeom>
          <a:noFill/>
        </p:spPr>
      </p:pic>
      <p:sp>
        <p:nvSpPr>
          <p:cNvPr id="271377" name="Rectangle 16"/>
          <p:cNvSpPr>
            <a:spLocks/>
          </p:cNvSpPr>
          <p:nvPr/>
        </p:nvSpPr>
        <p:spPr bwMode="auto">
          <a:xfrm>
            <a:off x="5184775" y="5300663"/>
            <a:ext cx="28257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  <a:spAutoFit/>
          </a:bodyPr>
          <a:lstStyle/>
          <a:p>
            <a:pPr marL="39688" algn="ctr" defTabSz="914400"/>
            <a:r>
              <a:rPr lang="en-US" sz="2600">
                <a:solidFill>
                  <a:schemeClr val="tx2"/>
                </a:solidFill>
                <a:latin typeface="Tele-GroteskFet" pitchFamily="2" charset="0"/>
                <a:ea typeface="Arial" charset="0"/>
                <a:cs typeface="Arial" charset="0"/>
              </a:rPr>
              <a:t>More...</a:t>
            </a:r>
          </a:p>
        </p:txBody>
      </p:sp>
      <p:pic>
        <p:nvPicPr>
          <p:cNvPr id="271378" name="Picture 18" descr="google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6443663" y="1916113"/>
            <a:ext cx="1512887" cy="603250"/>
          </a:xfrm>
          <a:prstGeom prst="rect">
            <a:avLst/>
          </a:prstGeom>
          <a:noFill/>
        </p:spPr>
      </p:pic>
      <p:pic>
        <p:nvPicPr>
          <p:cNvPr id="271379" name="Picture 19" descr="ericsson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3059113" y="1700213"/>
            <a:ext cx="936625" cy="668337"/>
          </a:xfrm>
          <a:prstGeom prst="rect">
            <a:avLst/>
          </a:prstGeom>
          <a:noFill/>
        </p:spPr>
      </p:pic>
      <p:pic>
        <p:nvPicPr>
          <p:cNvPr id="271380" name="Picture 20" descr="nicira-logo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1476375" y="4292600"/>
            <a:ext cx="647700" cy="546100"/>
          </a:xfrm>
          <a:prstGeom prst="rect">
            <a:avLst/>
          </a:prstGeom>
          <a:noFill/>
        </p:spPr>
      </p:pic>
      <p:pic>
        <p:nvPicPr>
          <p:cNvPr id="271381" name="Picture 21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6227763" y="2732088"/>
            <a:ext cx="1006475" cy="746125"/>
          </a:xfrm>
          <a:prstGeom prst="rect">
            <a:avLst/>
          </a:prstGeom>
          <a:noFill/>
        </p:spPr>
      </p:pic>
      <p:pic>
        <p:nvPicPr>
          <p:cNvPr id="271382" name="Picture 22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7415213" y="2636838"/>
            <a:ext cx="1060450" cy="995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1383" name="Picture 39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6877050" y="4652963"/>
            <a:ext cx="1247775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4" name="Picture 36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4716463" y="4292600"/>
            <a:ext cx="173037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5" name="Picture 37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4643438" y="4868863"/>
            <a:ext cx="1801812" cy="66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6" name="Picture 39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6948488" y="3860800"/>
            <a:ext cx="1725612" cy="620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7" name="Picture 40"/>
          <p:cNvPicPr>
            <a:picLocks noChangeAspect="1"/>
          </p:cNvPicPr>
          <p:nvPr/>
        </p:nvPicPr>
        <p:blipFill>
          <a:blip r:embed="rId21"/>
          <a:srcRect/>
          <a:stretch>
            <a:fillRect/>
          </a:stretch>
        </p:blipFill>
        <p:spPr bwMode="auto">
          <a:xfrm>
            <a:off x="5364163" y="3644900"/>
            <a:ext cx="1549400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8" name="Picture 32" descr="extreme.gif"/>
          <p:cNvPicPr>
            <a:picLocks noChangeAspect="1"/>
          </p:cNvPicPr>
          <p:nvPr/>
        </p:nvPicPr>
        <p:blipFill>
          <a:blip r:embed="rId22"/>
          <a:srcRect/>
          <a:stretch>
            <a:fillRect/>
          </a:stretch>
        </p:blipFill>
        <p:spPr bwMode="auto">
          <a:xfrm>
            <a:off x="2771775" y="3429000"/>
            <a:ext cx="158432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89" name="Picture 34" descr="ciena.jpg"/>
          <p:cNvPicPr>
            <a:picLocks noChangeAspect="1"/>
          </p:cNvPicPr>
          <p:nvPr/>
        </p:nvPicPr>
        <p:blipFill>
          <a:blip r:embed="rId23"/>
          <a:srcRect/>
          <a:stretch>
            <a:fillRect/>
          </a:stretch>
        </p:blipFill>
        <p:spPr bwMode="auto">
          <a:xfrm>
            <a:off x="2843213" y="2565400"/>
            <a:ext cx="1081087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90" name="Picture 38" descr="broadcom.jpg"/>
          <p:cNvPicPr>
            <a:picLocks noChangeAspect="1"/>
          </p:cNvPicPr>
          <p:nvPr/>
        </p:nvPicPr>
        <p:blipFill>
          <a:blip r:embed="rId24"/>
          <a:srcRect/>
          <a:stretch>
            <a:fillRect/>
          </a:stretch>
        </p:blipFill>
        <p:spPr bwMode="auto">
          <a:xfrm>
            <a:off x="755650" y="1700213"/>
            <a:ext cx="66992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91" name="Picture 42" descr="Fujitsu.jpg"/>
          <p:cNvPicPr>
            <a:picLocks noChangeAspect="1"/>
          </p:cNvPicPr>
          <p:nvPr/>
        </p:nvPicPr>
        <p:blipFill>
          <a:blip r:embed="rId25"/>
          <a:srcRect/>
          <a:stretch>
            <a:fillRect/>
          </a:stretch>
        </p:blipFill>
        <p:spPr bwMode="auto">
          <a:xfrm>
            <a:off x="2339975" y="4221163"/>
            <a:ext cx="73025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92" name="Picture 31" descr="Juniper.gif"/>
          <p:cNvPicPr>
            <a:picLocks noChangeAspect="1"/>
          </p:cNvPicPr>
          <p:nvPr/>
        </p:nvPicPr>
        <p:blipFill>
          <a:blip r:embed="rId26"/>
          <a:srcRect/>
          <a:stretch>
            <a:fillRect/>
          </a:stretch>
        </p:blipFill>
        <p:spPr bwMode="auto">
          <a:xfrm>
            <a:off x="1835150" y="1844675"/>
            <a:ext cx="1041400" cy="296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93" name="Picture 27" descr="Logo-Google.png"/>
          <p:cNvPicPr>
            <a:picLocks noChangeAspect="1"/>
          </p:cNvPicPr>
          <p:nvPr/>
        </p:nvPicPr>
        <p:blipFill>
          <a:blip r:embed="rId27"/>
          <a:srcRect/>
          <a:stretch>
            <a:fillRect/>
          </a:stretch>
        </p:blipFill>
        <p:spPr bwMode="auto">
          <a:xfrm>
            <a:off x="539750" y="5084763"/>
            <a:ext cx="965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1394" name="Picture 39" descr="Marevell.jpg"/>
          <p:cNvPicPr>
            <a:picLocks noChangeAspect="1"/>
          </p:cNvPicPr>
          <p:nvPr/>
        </p:nvPicPr>
        <p:blipFill>
          <a:blip r:embed="rId28"/>
          <a:srcRect/>
          <a:stretch>
            <a:fillRect/>
          </a:stretch>
        </p:blipFill>
        <p:spPr bwMode="auto">
          <a:xfrm>
            <a:off x="3275013" y="4797425"/>
            <a:ext cx="720725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Slide Number Placeholder 3"/>
          <p:cNvSpPr txBox="1">
            <a:spLocks noGrp="1"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</p:spPr>
        <p:txBody>
          <a:bodyPr anchor="ctr">
            <a:prstTxWarp prst="textNoShape">
              <a:avLst/>
            </a:prstTxWarp>
          </a:bodyPr>
          <a:lstStyle/>
          <a:p>
            <a:pPr algn="r"/>
            <a:fld id="{926A45A4-C770-3243-8AE0-DE43DEF31028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/>
              <a:t>84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271396" name="Rectangle 36"/>
          <p:cNvSpPr>
            <a:spLocks noChangeArrowheads="1"/>
          </p:cNvSpPr>
          <p:nvPr/>
        </p:nvSpPr>
        <p:spPr bwMode="auto">
          <a:xfrm>
            <a:off x="334963" y="6159500"/>
            <a:ext cx="3079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  <a:alpha val="74998"/>
              </a:schemeClr>
            </a:prstShdw>
          </a:effectLst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914400"/>
            <a:r>
              <a:rPr lang="en-US" dirty="0"/>
              <a:t>Note: Level of interest varies</a:t>
            </a:r>
          </a:p>
        </p:txBody>
      </p:sp>
    </p:spTree>
    <p:extLst>
      <p:ext uri="{BB962C8B-B14F-4D97-AF65-F5344CB8AC3E}">
        <p14:creationId xmlns:p14="http://schemas.microsoft.com/office/powerpoint/2010/main" val="258408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Related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0463"/>
            <a:ext cx="8229600" cy="5561012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/>
              <a:t>DIFANE</a:t>
            </a:r>
          </a:p>
          <a:p>
            <a:pPr lvl="1"/>
            <a:r>
              <a:rPr lang="en-US" sz="2400" dirty="0" smtClean="0"/>
              <a:t>Rule partitioning for controller-less flow insertion</a:t>
            </a:r>
          </a:p>
          <a:p>
            <a:r>
              <a:rPr lang="en-US" sz="2800" dirty="0" smtClean="0"/>
              <a:t>UCSD Fat Tree Series: Scalable Commodity Data Center, </a:t>
            </a:r>
            <a:r>
              <a:rPr lang="en-US" sz="2800" dirty="0" err="1" smtClean="0"/>
              <a:t>PortLand</a:t>
            </a:r>
            <a:r>
              <a:rPr lang="en-US" sz="2800" dirty="0" smtClean="0"/>
              <a:t>, </a:t>
            </a:r>
            <a:r>
              <a:rPr lang="en-US" sz="2800" dirty="0" err="1" smtClean="0"/>
              <a:t>Hedera</a:t>
            </a:r>
            <a:endParaRPr lang="en-US" sz="2800" dirty="0" smtClean="0"/>
          </a:p>
          <a:p>
            <a:pPr lvl="1"/>
            <a:r>
              <a:rPr lang="en-US" sz="2400" dirty="0" smtClean="0"/>
              <a:t>Scale-out data centers that use </a:t>
            </a:r>
            <a:r>
              <a:rPr lang="en-US" sz="2400" dirty="0" err="1" smtClean="0"/>
              <a:t>OpenFlow</a:t>
            </a:r>
            <a:endParaRPr lang="en-US" sz="2400" dirty="0" smtClean="0"/>
          </a:p>
          <a:p>
            <a:r>
              <a:rPr lang="en-US" sz="2800" dirty="0" err="1" smtClean="0"/>
              <a:t>Tesseract</a:t>
            </a:r>
            <a:endParaRPr lang="en-US" sz="2800" dirty="0" smtClean="0"/>
          </a:p>
          <a:p>
            <a:pPr lvl="1"/>
            <a:r>
              <a:rPr lang="en-US" sz="2400" dirty="0" smtClean="0"/>
              <a:t>Centralized WAN in the 4D Architecture</a:t>
            </a:r>
          </a:p>
          <a:p>
            <a:r>
              <a:rPr lang="en-US" sz="2800" dirty="0" smtClean="0"/>
              <a:t>ONIX</a:t>
            </a:r>
          </a:p>
          <a:p>
            <a:pPr lvl="1"/>
            <a:r>
              <a:rPr lang="en-US" sz="2400" dirty="0" smtClean="0"/>
              <a:t>Fault-tolerant controller platform from </a:t>
            </a:r>
            <a:r>
              <a:rPr lang="en-US" sz="2400" dirty="0" err="1" smtClean="0"/>
              <a:t>Nicira</a:t>
            </a:r>
            <a:r>
              <a:rPr lang="en-US" sz="2400" dirty="0" smtClean="0"/>
              <a:t>, Google, NEC</a:t>
            </a:r>
          </a:p>
          <a:p>
            <a:r>
              <a:rPr lang="en-US" sz="2800" dirty="0" err="1" smtClean="0"/>
              <a:t>DevoFlow</a:t>
            </a:r>
            <a:endParaRPr lang="en-US" sz="2800" dirty="0" smtClean="0"/>
          </a:p>
          <a:p>
            <a:pPr lvl="1"/>
            <a:r>
              <a:rPr lang="en-US" sz="2400" dirty="0" smtClean="0"/>
              <a:t>Practical scalability limits to </a:t>
            </a:r>
            <a:r>
              <a:rPr lang="en-US" sz="2400" dirty="0" err="1" smtClean="0"/>
              <a:t>OpenFlow</a:t>
            </a:r>
            <a:r>
              <a:rPr lang="en-US" sz="2400" dirty="0" smtClean="0"/>
              <a:t> and modifications to get around them</a:t>
            </a:r>
          </a:p>
          <a:p>
            <a:pPr lvl="1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CE97B5-98C9-FA49-BC62-4794FE1F9AE6}" type="slidenum">
              <a:rPr lang="en-US" smtClean="0"/>
              <a:pPr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3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52578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  <a:hlinkClick r:id="rId3"/>
              </a:rPr>
              <a:t>Network Virtualization with Cloud Virtual Switch</a:t>
            </a:r>
            <a:endParaRPr lang="en-US" altLang="zh-TW" b="1" dirty="0" smtClean="0">
              <a:latin typeface="Times New Roman" panose="02020603050405020304" pitchFamily="18" charset="0"/>
            </a:endParaRPr>
          </a:p>
          <a:p>
            <a:r>
              <a:rPr lang="en-US" altLang="zh-TW" dirty="0" smtClean="0"/>
              <a:t>S</a:t>
            </a:r>
            <a:r>
              <a:rPr lang="en-US" altLang="zh-TW" dirty="0"/>
              <a:t>. </a:t>
            </a:r>
            <a:r>
              <a:rPr lang="en-US" altLang="zh-TW" dirty="0" err="1"/>
              <a:t>Horman</a:t>
            </a:r>
            <a:r>
              <a:rPr lang="en-US" altLang="zh-TW" dirty="0"/>
              <a:t>, “</a:t>
            </a:r>
            <a:r>
              <a:rPr lang="en-US" altLang="zh-TW" b="1" dirty="0">
                <a:hlinkClick r:id="rId4"/>
              </a:rPr>
              <a:t>An Introduction to Open </a:t>
            </a:r>
            <a:r>
              <a:rPr lang="en-US" altLang="zh-TW" b="1" dirty="0" err="1">
                <a:hlinkClick r:id="rId4"/>
              </a:rPr>
              <a:t>vSwitch</a:t>
            </a:r>
            <a:r>
              <a:rPr lang="en-US" altLang="zh-TW" dirty="0"/>
              <a:t>,” </a:t>
            </a:r>
            <a:r>
              <a:rPr lang="en-US" altLang="zh-TW" dirty="0" err="1"/>
              <a:t>LinuxCon</a:t>
            </a:r>
            <a:r>
              <a:rPr lang="en-US" altLang="zh-TW" dirty="0"/>
              <a:t> Japan, Yokohama, Jun. 2, 2011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J. Pettit, J. Gross “</a:t>
            </a:r>
            <a:r>
              <a:rPr lang="en-US" altLang="zh-TW" b="1" dirty="0">
                <a:hlinkClick r:id="rId5"/>
              </a:rPr>
              <a:t>Open </a:t>
            </a:r>
            <a:r>
              <a:rPr lang="en-US" altLang="zh-TW" b="1" dirty="0" err="1">
                <a:hlinkClick r:id="rId5"/>
              </a:rPr>
              <a:t>vSwitch</a:t>
            </a:r>
            <a:r>
              <a:rPr lang="en-US" altLang="zh-TW" b="1" dirty="0">
                <a:hlinkClick r:id="rId5"/>
              </a:rPr>
              <a:t> Overview</a:t>
            </a:r>
            <a:r>
              <a:rPr lang="en-US" altLang="zh-TW" dirty="0"/>
              <a:t>,” Linux Collaboration Summit, San Francisco, Apr. 7, 2011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J. Pettit, “</a:t>
            </a:r>
            <a:r>
              <a:rPr lang="en-US" altLang="zh-TW" b="1" dirty="0">
                <a:hlinkClick r:id="rId6"/>
              </a:rPr>
              <a:t>Open </a:t>
            </a:r>
            <a:r>
              <a:rPr lang="en-US" altLang="zh-TW" b="1" dirty="0" err="1">
                <a:hlinkClick r:id="rId6"/>
              </a:rPr>
              <a:t>vSwitch</a:t>
            </a:r>
            <a:r>
              <a:rPr lang="en-US" altLang="zh-TW" b="1" dirty="0">
                <a:hlinkClick r:id="rId6"/>
              </a:rPr>
              <a:t>: A Whirlwind Tour</a:t>
            </a:r>
            <a:r>
              <a:rPr lang="en-US" altLang="zh-TW" dirty="0"/>
              <a:t>,” Mar. 3, 2011</a:t>
            </a:r>
            <a:r>
              <a:rPr lang="en-US" altLang="zh-TW" dirty="0" smtClean="0"/>
              <a:t>.</a:t>
            </a:r>
          </a:p>
          <a:p>
            <a:r>
              <a:rPr lang="en-US" altLang="zh-TW" dirty="0">
                <a:hlinkClick r:id="rId7"/>
              </a:rPr>
              <a:t>Access Layer Network Virtualization: VN-Tag and </a:t>
            </a:r>
            <a:r>
              <a:rPr lang="en-US" altLang="zh-TW" dirty="0" smtClean="0">
                <a:hlinkClick r:id="rId7"/>
              </a:rPr>
              <a:t>VEPA</a:t>
            </a:r>
            <a:endParaRPr lang="en-US" altLang="zh-TW" dirty="0" smtClean="0"/>
          </a:p>
          <a:p>
            <a:r>
              <a:rPr lang="en-US" altLang="zh-TW" dirty="0" err="1">
                <a:latin typeface="+mj-lt"/>
                <a:hlinkClick r:id="rId8"/>
              </a:rPr>
              <a:t>OpenFlow</a:t>
            </a:r>
            <a:r>
              <a:rPr lang="en-US" altLang="zh-TW" dirty="0">
                <a:latin typeface="+mj-lt"/>
                <a:hlinkClick r:id="rId8"/>
              </a:rPr>
              <a:t> Tutorial</a:t>
            </a:r>
            <a:endParaRPr lang="en-US" altLang="zh-TW" dirty="0">
              <a:latin typeface="+mj-lt"/>
            </a:endParaRPr>
          </a:p>
          <a:p>
            <a:pPr marL="0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9170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oQ8efiM60O.AltFLYq0lA"/>
</p:tagLst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19345</TotalTime>
  <Words>3674</Words>
  <Application>Microsoft Office PowerPoint</Application>
  <PresentationFormat>如螢幕大小 (4:3)</PresentationFormat>
  <Paragraphs>1008</Paragraphs>
  <Slides>86</Slides>
  <Notes>30</Notes>
  <HiddenSlides>1</HiddenSlides>
  <MMClips>0</MMClips>
  <ScaleCrop>false</ScaleCrop>
  <HeadingPairs>
    <vt:vector size="6" baseType="variant">
      <vt:variant>
        <vt:lpstr>使用字型</vt:lpstr>
      </vt:variant>
      <vt:variant>
        <vt:i4>13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86</vt:i4>
      </vt:variant>
    </vt:vector>
  </HeadingPairs>
  <TitlesOfParts>
    <vt:vector size="100" baseType="lpstr">
      <vt:lpstr>ＭＳ Ｐゴシック</vt:lpstr>
      <vt:lpstr>Tele-GroteskFet</vt:lpstr>
      <vt:lpstr>Tele-GroteskNor</vt:lpstr>
      <vt:lpstr>ヒラギノ角ゴ ProN W6</vt:lpstr>
      <vt:lpstr>新細明體</vt:lpstr>
      <vt:lpstr>標楷體</vt:lpstr>
      <vt:lpstr>Arial</vt:lpstr>
      <vt:lpstr>Calibri</vt:lpstr>
      <vt:lpstr>Cambria</vt:lpstr>
      <vt:lpstr>Helvetica</vt:lpstr>
      <vt:lpstr>Tahoma</vt:lpstr>
      <vt:lpstr>Times New Roman</vt:lpstr>
      <vt:lpstr>Wingdings</vt:lpstr>
      <vt:lpstr>Course Themes</vt:lpstr>
      <vt:lpstr>雲端計算 Cloud Computing</vt:lpstr>
      <vt:lpstr>Open vSwitch </vt:lpstr>
      <vt:lpstr>Virtual Switch</vt:lpstr>
      <vt:lpstr>             INTRODUCTION</vt:lpstr>
      <vt:lpstr>   SOFTWARE-BASED VIRTAUL SWITCH</vt:lpstr>
      <vt:lpstr>Problems of original vSwitch</vt:lpstr>
      <vt:lpstr>Virtual Switch</vt:lpstr>
      <vt:lpstr>HARDWARE-BASED VIRTAUL SWITCH</vt:lpstr>
      <vt:lpstr>Virtual Ethernet Port Aggregator (1/2) </vt:lpstr>
      <vt:lpstr>Virtual Ethernet Port Aggregator (2/2) </vt:lpstr>
      <vt:lpstr>Pros. and Cons. for VEPA  </vt:lpstr>
      <vt:lpstr>Virtual Switch</vt:lpstr>
      <vt:lpstr>VN-Tag(1/3) </vt:lpstr>
      <vt:lpstr>VN-Tag(2/3)</vt:lpstr>
      <vt:lpstr>VN-Tag(3/3) </vt:lpstr>
      <vt:lpstr>Pros. and Cons. for VN-Tag </vt:lpstr>
      <vt:lpstr>Open vSwitch </vt:lpstr>
      <vt:lpstr>Open vSwitch architecture</vt:lpstr>
      <vt:lpstr>Open vSwitch</vt:lpstr>
      <vt:lpstr>Open vSwitch Concepts(1/2)</vt:lpstr>
      <vt:lpstr>Open vSwitch Concepts(2/2)</vt:lpstr>
      <vt:lpstr>Open vSwitch Contributors(Partial)</vt:lpstr>
      <vt:lpstr>Packets are Managed as Flows(1/2)</vt:lpstr>
      <vt:lpstr>Packets are Managed as Flows(2/2)</vt:lpstr>
      <vt:lpstr>Open vSwitch architecture</vt:lpstr>
      <vt:lpstr>Main Components</vt:lpstr>
      <vt:lpstr>ovsdb-­‐server</vt:lpstr>
      <vt:lpstr>ovs-­‐vswitchd(1/2)</vt:lpstr>
      <vt:lpstr>ovs-­‐vswitchd(2/2)</vt:lpstr>
      <vt:lpstr>openvswitch_mod.ko</vt:lpstr>
      <vt:lpstr> Tunneling </vt:lpstr>
      <vt:lpstr>Migration</vt:lpstr>
      <vt:lpstr> Distributed Virtual Switch </vt:lpstr>
      <vt:lpstr>Open vSwitch architecture</vt:lpstr>
      <vt:lpstr>Virtual LAN</vt:lpstr>
      <vt:lpstr>Open vSwitch Testing(1/2)</vt:lpstr>
      <vt:lpstr>Open vSwitch Testing(2/2)</vt:lpstr>
      <vt:lpstr>Open vSwitch </vt:lpstr>
      <vt:lpstr>OpenFlow</vt:lpstr>
      <vt:lpstr> OpenFlow </vt:lpstr>
      <vt:lpstr> Nicira Extensions to OpenFlow </vt:lpstr>
      <vt:lpstr> Dynamic Flow Aggregation on an OpenFlow Network(1/2) </vt:lpstr>
      <vt:lpstr> Dynamic Flow Aggregation on an OpenFlow Network(2/2) </vt:lpstr>
      <vt:lpstr>OpenFlow</vt:lpstr>
      <vt:lpstr>OpenFlow Switching</vt:lpstr>
      <vt:lpstr>Experimenter’s Dream (Vendor’s Nightmare)</vt:lpstr>
      <vt:lpstr>No obvious way</vt:lpstr>
      <vt:lpstr>Furthermore, we need…</vt:lpstr>
      <vt:lpstr>OpenFlow Switching</vt:lpstr>
      <vt:lpstr>Flow Table Entry “Type 0” OpenFlow Switch</vt:lpstr>
      <vt:lpstr>Examples(1/2)</vt:lpstr>
      <vt:lpstr>Examples(2/2)</vt:lpstr>
      <vt:lpstr>OpenFlow “Type 1”</vt:lpstr>
      <vt:lpstr>Secure Channel</vt:lpstr>
      <vt:lpstr>PowerPoint 簡報</vt:lpstr>
      <vt:lpstr>OpenFlow</vt:lpstr>
      <vt:lpstr>OpenFlow Usage Models(1/2)</vt:lpstr>
      <vt:lpstr>Example Experiment at the flow level Mobility</vt:lpstr>
      <vt:lpstr>Experiments at the packet level</vt:lpstr>
      <vt:lpstr>OpenFlow Usage Models(2/2)</vt:lpstr>
      <vt:lpstr>OpenFlow</vt:lpstr>
      <vt:lpstr>Network Virtualization</vt:lpstr>
      <vt:lpstr>Trend</vt:lpstr>
      <vt:lpstr>PowerPoint 簡報</vt:lpstr>
      <vt:lpstr>Switch Based Virtualization Exists for NEC, HP switches but not flexible enough</vt:lpstr>
      <vt:lpstr>OpenFlow</vt:lpstr>
      <vt:lpstr>FlowVisor </vt:lpstr>
      <vt:lpstr>FlowVisor-based Virtualization(1/2)</vt:lpstr>
      <vt:lpstr>PowerPoint 簡報</vt:lpstr>
      <vt:lpstr>FlowVisor Slicing</vt:lpstr>
      <vt:lpstr>FlowVisor Resource Limits</vt:lpstr>
      <vt:lpstr>Slicing</vt:lpstr>
      <vt:lpstr>FlowVisor FlowSpace</vt:lpstr>
      <vt:lpstr>FlowSpace: Maps Packets to Slices</vt:lpstr>
      <vt:lpstr>FlowVisor Slicing Policy(1/2)</vt:lpstr>
      <vt:lpstr>FlowVisor Slicing Policy(2/2)</vt:lpstr>
      <vt:lpstr>FlowVisor Message Handling</vt:lpstr>
      <vt:lpstr>OpenFlow</vt:lpstr>
      <vt:lpstr>OpenFlow Consortium</vt:lpstr>
      <vt:lpstr>OpenFlow building blocks</vt:lpstr>
      <vt:lpstr>Current SDN hardware </vt:lpstr>
      <vt:lpstr>Commercial Switch Vendors</vt:lpstr>
      <vt:lpstr>OpenFlow Controllers</vt:lpstr>
      <vt:lpstr>Growing Community</vt:lpstr>
      <vt:lpstr>Related Research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tlcsmall3</dc:creator>
  <cp:lastModifiedBy>南宮恨</cp:lastModifiedBy>
  <cp:revision>1430</cp:revision>
  <dcterms:created xsi:type="dcterms:W3CDTF">2010-08-10T05:14:29Z</dcterms:created>
  <dcterms:modified xsi:type="dcterms:W3CDTF">2013-01-25T17:16:16Z</dcterms:modified>
</cp:coreProperties>
</file>