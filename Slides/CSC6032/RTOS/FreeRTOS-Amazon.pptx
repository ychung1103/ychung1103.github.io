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00165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00165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00165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00165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96" y="0"/>
            <a:ext cx="53578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793" y="321915"/>
            <a:ext cx="7863840" cy="1015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00165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8422" y="1548514"/>
            <a:ext cx="7937500" cy="404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57557" y="6432600"/>
            <a:ext cx="374432" cy="216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Relationship Id="rId11" Type="http://schemas.openxmlformats.org/officeDocument/2006/relationships/image" Target="../media/image13.jpg"/><Relationship Id="rId12" Type="http://schemas.openxmlformats.org/officeDocument/2006/relationships/image" Target="../media/image14.jpg"/><Relationship Id="rId13" Type="http://schemas.openxmlformats.org/officeDocument/2006/relationships/image" Target="../media/image15.jpg"/><Relationship Id="rId14" Type="http://schemas.openxmlformats.org/officeDocument/2006/relationships/image" Target="../media/image16.jpg"/><Relationship Id="rId15" Type="http://schemas.openxmlformats.org/officeDocument/2006/relationships/image" Target="../media/image17.jpg"/><Relationship Id="rId16" Type="http://schemas.openxmlformats.org/officeDocument/2006/relationships/image" Target="../media/image18.jpg"/><Relationship Id="rId17" Type="http://schemas.openxmlformats.org/officeDocument/2006/relationships/image" Target="../media/image19.jpg"/><Relationship Id="rId18" Type="http://schemas.openxmlformats.org/officeDocument/2006/relationships/image" Target="../media/image20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Relationship Id="rId4" Type="http://schemas.openxmlformats.org/officeDocument/2006/relationships/image" Target="../media/image2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44.jpg"/><Relationship Id="rId11" Type="http://schemas.openxmlformats.org/officeDocument/2006/relationships/image" Target="../media/image45.jpg"/><Relationship Id="rId12" Type="http://schemas.openxmlformats.org/officeDocument/2006/relationships/image" Target="../media/image46.jpg"/><Relationship Id="rId13" Type="http://schemas.openxmlformats.org/officeDocument/2006/relationships/image" Target="../media/image47.png"/><Relationship Id="rId14" Type="http://schemas.openxmlformats.org/officeDocument/2006/relationships/image" Target="../media/image48.jpg"/><Relationship Id="rId15" Type="http://schemas.openxmlformats.org/officeDocument/2006/relationships/image" Target="../media/image49.jpg"/><Relationship Id="rId16" Type="http://schemas.openxmlformats.org/officeDocument/2006/relationships/image" Target="../media/image50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png"/><Relationship Id="rId5" Type="http://schemas.openxmlformats.org/officeDocument/2006/relationships/image" Target="../media/image54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jpg"/><Relationship Id="rId4" Type="http://schemas.openxmlformats.org/officeDocument/2006/relationships/image" Target="../media/image57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jp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18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">
              <a:lnSpc>
                <a:spcPts val="3820"/>
              </a:lnSpc>
              <a:spcBef>
                <a:spcPts val="120"/>
              </a:spcBef>
            </a:pPr>
            <a:r>
              <a:rPr dirty="0" sz="3200" spc="145">
                <a:solidFill>
                  <a:srgbClr val="081F5D"/>
                </a:solidFill>
              </a:rPr>
              <a:t>Introduction</a:t>
            </a:r>
            <a:r>
              <a:rPr dirty="0" sz="3200" spc="195">
                <a:solidFill>
                  <a:srgbClr val="081F5D"/>
                </a:solidFill>
              </a:rPr>
              <a:t> </a:t>
            </a:r>
            <a:r>
              <a:rPr dirty="0" sz="3200" spc="140">
                <a:solidFill>
                  <a:srgbClr val="0A2664"/>
                </a:solidFill>
              </a:rPr>
              <a:t>to</a:t>
            </a:r>
            <a:r>
              <a:rPr dirty="0" sz="3200" spc="85">
                <a:solidFill>
                  <a:srgbClr val="0A2664"/>
                </a:solidFill>
              </a:rPr>
              <a:t> </a:t>
            </a:r>
            <a:r>
              <a:rPr dirty="0" sz="3200" spc="120">
                <a:solidFill>
                  <a:srgbClr val="001A50"/>
                </a:solidFill>
              </a:rPr>
              <a:t>multitasking</a:t>
            </a:r>
            <a:r>
              <a:rPr dirty="0" sz="3200" spc="350">
                <a:solidFill>
                  <a:srgbClr val="001A50"/>
                </a:solidFill>
              </a:rPr>
              <a:t> </a:t>
            </a:r>
            <a:r>
              <a:rPr dirty="0" sz="3200" spc="105">
                <a:solidFill>
                  <a:srgbClr val="011C4D"/>
                </a:solidFill>
              </a:rPr>
              <a:t>in</a:t>
            </a:r>
            <a:r>
              <a:rPr dirty="0" sz="3200" spc="45">
                <a:solidFill>
                  <a:srgbClr val="011C4D"/>
                </a:solidFill>
              </a:rPr>
              <a:t> </a:t>
            </a:r>
            <a:r>
              <a:rPr dirty="0" sz="3200" spc="65">
                <a:solidFill>
                  <a:srgbClr val="05215D"/>
                </a:solidFill>
              </a:rPr>
              <a:t>Small</a:t>
            </a:r>
            <a:endParaRPr sz="3200"/>
          </a:p>
          <a:p>
            <a:pPr marL="14604">
              <a:lnSpc>
                <a:spcPts val="3940"/>
              </a:lnSpc>
            </a:pPr>
            <a:r>
              <a:rPr dirty="0" sz="3300">
                <a:solidFill>
                  <a:srgbClr val="082367"/>
                </a:solidFill>
              </a:rPr>
              <a:t>Embedded</a:t>
            </a:r>
            <a:r>
              <a:rPr dirty="0" sz="3300" spc="185">
                <a:solidFill>
                  <a:srgbClr val="082367"/>
                </a:solidFill>
              </a:rPr>
              <a:t> </a:t>
            </a:r>
            <a:r>
              <a:rPr dirty="0" sz="3300" spc="-10">
                <a:solidFill>
                  <a:srgbClr val="031C57"/>
                </a:solidFill>
              </a:rPr>
              <a:t>Systems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13639" y="1524693"/>
            <a:ext cx="8013700" cy="424180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66395" marR="5080" indent="-347345">
              <a:lnSpc>
                <a:spcPct val="78700"/>
              </a:lnSpc>
              <a:spcBef>
                <a:spcPts val="940"/>
              </a:spcBef>
              <a:buChar char="•"/>
              <a:tabLst>
                <a:tab pos="366395" algn="l"/>
                <a:tab pos="370840" algn="l"/>
              </a:tabLst>
            </a:pP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65">
                <a:latin typeface="Calibri"/>
                <a:cs typeface="Calibri"/>
              </a:rPr>
              <a:t>Most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10">
                <a:latin typeface="Calibri"/>
                <a:cs typeface="Calibri"/>
              </a:rPr>
              <a:t>embedded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45">
                <a:latin typeface="Calibri"/>
                <a:cs typeface="Calibri"/>
              </a:rPr>
              <a:t>real-</a:t>
            </a:r>
            <a:r>
              <a:rPr dirty="0" sz="3200" spc="-85">
                <a:latin typeface="Calibri"/>
                <a:cs typeface="Calibri"/>
              </a:rPr>
              <a:t>time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 spc="-85">
                <a:latin typeface="Calibri"/>
                <a:cs typeface="Calibri"/>
              </a:rPr>
              <a:t>applications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 spc="-85">
                <a:latin typeface="Calibri"/>
                <a:cs typeface="Calibri"/>
              </a:rPr>
              <a:t>include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a </a:t>
            </a:r>
            <a:r>
              <a:rPr dirty="0" sz="3200" spc="-60">
                <a:latin typeface="Calibri"/>
                <a:cs typeface="Calibri"/>
              </a:rPr>
              <a:t>mix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17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40">
                <a:latin typeface="Calibri"/>
                <a:cs typeface="Calibri"/>
              </a:rPr>
              <a:t>both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65">
                <a:latin typeface="Calibri"/>
                <a:cs typeface="Calibri"/>
              </a:rPr>
              <a:t>hard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 spc="-90">
                <a:latin typeface="Calibri"/>
                <a:cs typeface="Calibri"/>
              </a:rPr>
              <a:t>soft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45">
                <a:latin typeface="Calibri"/>
                <a:cs typeface="Calibri"/>
              </a:rPr>
              <a:t>real-</a:t>
            </a:r>
            <a:r>
              <a:rPr dirty="0" sz="3200" spc="-85">
                <a:latin typeface="Calibri"/>
                <a:cs typeface="Calibri"/>
              </a:rPr>
              <a:t>time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125">
                <a:latin typeface="Calibri"/>
                <a:cs typeface="Calibri"/>
              </a:rPr>
              <a:t>requirements.</a:t>
            </a:r>
            <a:endParaRPr sz="3200">
              <a:latin typeface="Calibri"/>
              <a:cs typeface="Calibri"/>
            </a:endParaRPr>
          </a:p>
          <a:p>
            <a:pPr marL="383540" indent="-370840">
              <a:lnSpc>
                <a:spcPct val="100000"/>
              </a:lnSpc>
              <a:spcBef>
                <a:spcPts val="85"/>
              </a:spcBef>
              <a:buChar char="•"/>
              <a:tabLst>
                <a:tab pos="383540" algn="l"/>
              </a:tabLst>
            </a:pPr>
            <a:r>
              <a:rPr dirty="0" sz="3000">
                <a:latin typeface="Calibri"/>
                <a:cs typeface="Calibri"/>
              </a:rPr>
              <a:t>Soft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-45">
                <a:latin typeface="Calibri"/>
                <a:cs typeface="Calibri"/>
              </a:rPr>
              <a:t>real-</a:t>
            </a:r>
            <a:r>
              <a:rPr dirty="0" sz="3000">
                <a:latin typeface="Calibri"/>
                <a:cs typeface="Calibri"/>
              </a:rPr>
              <a:t>time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requirements</a:t>
            </a:r>
            <a:endParaRPr sz="3000">
              <a:latin typeface="Calibri"/>
              <a:cs typeface="Calibri"/>
            </a:endParaRPr>
          </a:p>
          <a:p>
            <a:pPr lvl="1" marL="774700" indent="-323850">
              <a:lnSpc>
                <a:spcPts val="2730"/>
              </a:lnSpc>
              <a:spcBef>
                <a:spcPts val="220"/>
              </a:spcBef>
              <a:buChar char="—"/>
              <a:tabLst>
                <a:tab pos="774700" algn="l"/>
              </a:tabLst>
            </a:pPr>
            <a:r>
              <a:rPr dirty="0" sz="2450" spc="-10">
                <a:latin typeface="Arial"/>
                <a:cs typeface="Arial"/>
              </a:rPr>
              <a:t>State</a:t>
            </a:r>
            <a:r>
              <a:rPr dirty="0" sz="2450" spc="-14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</a:t>
            </a:r>
            <a:r>
              <a:rPr dirty="0" sz="2450" spc="-16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time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deadline,</a:t>
            </a:r>
            <a:r>
              <a:rPr dirty="0" sz="2450" spc="-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but</a:t>
            </a:r>
            <a:r>
              <a:rPr dirty="0" sz="2450" spc="-12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breaching</a:t>
            </a:r>
            <a:r>
              <a:rPr dirty="0" sz="2450" spc="47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3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deadline</a:t>
            </a:r>
            <a:endParaRPr sz="2450">
              <a:latin typeface="Arial"/>
              <a:cs typeface="Arial"/>
            </a:endParaRPr>
          </a:p>
          <a:p>
            <a:pPr marL="779780">
              <a:lnSpc>
                <a:spcPts val="2790"/>
              </a:lnSpc>
            </a:pPr>
            <a:r>
              <a:rPr dirty="0" sz="2500" spc="-65">
                <a:latin typeface="Arial"/>
                <a:cs typeface="Arial"/>
              </a:rPr>
              <a:t>would</a:t>
            </a:r>
            <a:r>
              <a:rPr dirty="0" sz="2500" spc="25">
                <a:latin typeface="Arial"/>
                <a:cs typeface="Arial"/>
              </a:rPr>
              <a:t> </a:t>
            </a:r>
            <a:r>
              <a:rPr dirty="0" sz="2500" spc="75">
                <a:latin typeface="Arial"/>
                <a:cs typeface="Arial"/>
              </a:rPr>
              <a:t>not</a:t>
            </a:r>
            <a:r>
              <a:rPr dirty="0" sz="2500" spc="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render</a:t>
            </a:r>
            <a:r>
              <a:rPr dirty="0" sz="2500" spc="2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the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system</a:t>
            </a:r>
            <a:r>
              <a:rPr dirty="0" sz="2500" spc="14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useless.</a:t>
            </a:r>
            <a:endParaRPr sz="2500">
              <a:latin typeface="Arial"/>
              <a:cs typeface="Arial"/>
            </a:endParaRPr>
          </a:p>
          <a:p>
            <a:pPr lvl="2" marL="1179830" indent="-234315">
              <a:lnSpc>
                <a:spcPct val="100000"/>
              </a:lnSpc>
              <a:spcBef>
                <a:spcPts val="105"/>
              </a:spcBef>
              <a:buChar char="•"/>
              <a:tabLst>
                <a:tab pos="1179830" algn="l"/>
              </a:tabLst>
            </a:pPr>
            <a:r>
              <a:rPr dirty="0" sz="2100" spc="-60">
                <a:latin typeface="Arial"/>
                <a:cs typeface="Arial"/>
              </a:rPr>
              <a:t>E.g.,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responding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to</a:t>
            </a:r>
            <a:r>
              <a:rPr dirty="0" sz="2100" spc="-12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keystrokes</a:t>
            </a:r>
            <a:r>
              <a:rPr dirty="0" sz="2100" spc="-6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too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slowly</a:t>
            </a:r>
            <a:endParaRPr sz="2100">
              <a:latin typeface="Arial"/>
              <a:cs typeface="Arial"/>
            </a:endParaRPr>
          </a:p>
          <a:p>
            <a:pPr marL="373380" indent="-344170">
              <a:lnSpc>
                <a:spcPct val="100000"/>
              </a:lnSpc>
              <a:spcBef>
                <a:spcPts val="234"/>
              </a:spcBef>
              <a:buChar char="•"/>
              <a:tabLst>
                <a:tab pos="373380" algn="l"/>
              </a:tabLst>
            </a:pPr>
            <a:r>
              <a:rPr dirty="0" sz="2900" spc="-40">
                <a:latin typeface="Arial"/>
                <a:cs typeface="Arial"/>
              </a:rPr>
              <a:t>Hard</a:t>
            </a:r>
            <a:r>
              <a:rPr dirty="0" sz="2900" spc="-160">
                <a:latin typeface="Arial"/>
                <a:cs typeface="Arial"/>
              </a:rPr>
              <a:t> </a:t>
            </a:r>
            <a:r>
              <a:rPr dirty="0" sz="2900" spc="-70">
                <a:latin typeface="Arial"/>
                <a:cs typeface="Arial"/>
              </a:rPr>
              <a:t>real-</a:t>
            </a:r>
            <a:r>
              <a:rPr dirty="0" sz="2900">
                <a:latin typeface="Arial"/>
                <a:cs typeface="Arial"/>
              </a:rPr>
              <a:t>time</a:t>
            </a:r>
            <a:r>
              <a:rPr dirty="0" sz="2900" spc="-8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requirements</a:t>
            </a:r>
            <a:endParaRPr sz="2900">
              <a:latin typeface="Arial"/>
              <a:cs typeface="Arial"/>
            </a:endParaRPr>
          </a:p>
          <a:p>
            <a:pPr lvl="1" marL="774700" marR="624840" indent="-330200">
              <a:lnSpc>
                <a:spcPts val="2600"/>
              </a:lnSpc>
              <a:spcBef>
                <a:spcPts val="610"/>
              </a:spcBef>
              <a:buChar char="—"/>
              <a:tabLst>
                <a:tab pos="779780" algn="l"/>
              </a:tabLst>
            </a:pPr>
            <a:r>
              <a:rPr dirty="0" sz="2500" spc="-35">
                <a:latin typeface="Arial"/>
                <a:cs typeface="Arial"/>
              </a:rPr>
              <a:t>State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time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deadline,</a:t>
            </a:r>
            <a:r>
              <a:rPr dirty="0" sz="2500" spc="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but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breaching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the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deadline </a:t>
            </a:r>
            <a:r>
              <a:rPr dirty="0" sz="2500" spc="-25">
                <a:latin typeface="Arial"/>
                <a:cs typeface="Arial"/>
              </a:rPr>
              <a:t>	</a:t>
            </a:r>
            <a:r>
              <a:rPr dirty="0" sz="2500" spc="-65">
                <a:latin typeface="Arial"/>
                <a:cs typeface="Arial"/>
              </a:rPr>
              <a:t>would</a:t>
            </a:r>
            <a:r>
              <a:rPr dirty="0" sz="2500" spc="1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result</a:t>
            </a:r>
            <a:r>
              <a:rPr dirty="0" sz="2500" spc="30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</a:t>
            </a:r>
            <a:r>
              <a:rPr dirty="0" sz="2500" spc="1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absolute</a:t>
            </a:r>
            <a:r>
              <a:rPr dirty="0" sz="2500" spc="2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failure</a:t>
            </a:r>
            <a:r>
              <a:rPr dirty="0" sz="2500" spc="1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2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the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system.</a:t>
            </a:r>
            <a:endParaRPr sz="2500">
              <a:latin typeface="Arial"/>
              <a:cs typeface="Arial"/>
            </a:endParaRPr>
          </a:p>
          <a:p>
            <a:pPr lvl="2" marL="1172210" marR="467995" indent="-226695">
              <a:lnSpc>
                <a:spcPts val="2180"/>
              </a:lnSpc>
              <a:spcBef>
                <a:spcPts val="405"/>
              </a:spcBef>
              <a:buChar char="•"/>
              <a:tabLst>
                <a:tab pos="1172210" algn="l"/>
                <a:tab pos="1180465" algn="l"/>
              </a:tabLst>
            </a:pPr>
            <a:r>
              <a:rPr dirty="0" sz="2050">
                <a:latin typeface="Arial"/>
                <a:cs typeface="Arial"/>
              </a:rPr>
              <a:t>	</a:t>
            </a:r>
            <a:r>
              <a:rPr dirty="0" baseline="5420" sz="3075" spc="-37">
                <a:latin typeface="Arial"/>
                <a:cs typeface="Arial"/>
              </a:rPr>
              <a:t>E.</a:t>
            </a:r>
            <a:r>
              <a:rPr dirty="0" baseline="-2710" sz="3075" spc="-37">
                <a:latin typeface="Arial"/>
                <a:cs typeface="Arial"/>
              </a:rPr>
              <a:t>g.1</a:t>
            </a:r>
            <a:r>
              <a:rPr dirty="0" sz="2050" spc="-25">
                <a:latin typeface="Arial"/>
                <a:cs typeface="Arial"/>
              </a:rPr>
              <a:t>a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driver's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airbag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would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be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useless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if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it</a:t>
            </a:r>
            <a:r>
              <a:rPr dirty="0" sz="2050" spc="-11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responded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to </a:t>
            </a:r>
            <a:r>
              <a:rPr dirty="0" sz="2050">
                <a:latin typeface="Arial"/>
                <a:cs typeface="Arial"/>
              </a:rPr>
              <a:t>crash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event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too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slowly.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011" rIns="0" bIns="0" rtlCol="0" vert="horz">
            <a:spAutoFit/>
          </a:bodyPr>
          <a:lstStyle/>
          <a:p>
            <a:pPr marL="7620">
              <a:lnSpc>
                <a:spcPct val="100000"/>
              </a:lnSpc>
              <a:spcBef>
                <a:spcPts val="105"/>
              </a:spcBef>
            </a:pPr>
            <a:r>
              <a:rPr dirty="0" sz="3800" spc="285">
                <a:solidFill>
                  <a:srgbClr val="011F60"/>
                </a:solidFill>
                <a:latin typeface="Calibri"/>
                <a:cs typeface="Calibri"/>
              </a:rPr>
              <a:t>FreeRTOS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765" y="1608533"/>
            <a:ext cx="7955915" cy="389636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just" marL="348615" marR="5080" indent="-336550">
              <a:lnSpc>
                <a:spcPts val="3590"/>
              </a:lnSpc>
              <a:spcBef>
                <a:spcPts val="350"/>
              </a:spcBef>
              <a:buChar char="•"/>
              <a:tabLst>
                <a:tab pos="348615" algn="l"/>
                <a:tab pos="357505" algn="l"/>
              </a:tabLst>
            </a:pP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90">
                <a:latin typeface="Arial"/>
                <a:cs typeface="Arial"/>
              </a:rPr>
              <a:t>FreeRTOS</a:t>
            </a:r>
            <a:r>
              <a:rPr dirty="0" sz="3100" spc="-5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is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85">
                <a:latin typeface="Arial"/>
                <a:cs typeface="Arial"/>
              </a:rPr>
              <a:t>real-</a:t>
            </a:r>
            <a:r>
              <a:rPr dirty="0" sz="3100">
                <a:latin typeface="Arial"/>
                <a:cs typeface="Arial"/>
              </a:rPr>
              <a:t>time</a:t>
            </a:r>
            <a:r>
              <a:rPr dirty="0" sz="3100" spc="5">
                <a:latin typeface="Arial"/>
                <a:cs typeface="Arial"/>
              </a:rPr>
              <a:t> </a:t>
            </a:r>
            <a:r>
              <a:rPr dirty="0" sz="3100" spc="-55">
                <a:latin typeface="Arial"/>
                <a:cs typeface="Arial"/>
              </a:rPr>
              <a:t>kernel/scheduler</a:t>
            </a:r>
            <a:r>
              <a:rPr dirty="0" sz="3100" spc="-16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on </a:t>
            </a:r>
            <a:r>
              <a:rPr dirty="0" sz="3100">
                <a:latin typeface="Arial"/>
                <a:cs typeface="Arial"/>
              </a:rPr>
              <a:t>top</a:t>
            </a:r>
            <a:r>
              <a:rPr dirty="0" sz="3100" spc="-2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of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 spc="-65">
                <a:latin typeface="Arial"/>
                <a:cs typeface="Arial"/>
              </a:rPr>
              <a:t>which</a:t>
            </a:r>
            <a:r>
              <a:rPr dirty="0" sz="3100" spc="-155">
                <a:latin typeface="Arial"/>
                <a:cs typeface="Arial"/>
              </a:rPr>
              <a:t> </a:t>
            </a:r>
            <a:r>
              <a:rPr dirty="0" sz="3100" spc="-35">
                <a:latin typeface="Arial"/>
                <a:cs typeface="Arial"/>
              </a:rPr>
              <a:t>MCU</a:t>
            </a:r>
            <a:r>
              <a:rPr dirty="0" sz="3100" spc="-135">
                <a:latin typeface="Arial"/>
                <a:cs typeface="Arial"/>
              </a:rPr>
              <a:t> </a:t>
            </a:r>
            <a:r>
              <a:rPr dirty="0" sz="3100" spc="-50">
                <a:latin typeface="Arial"/>
                <a:cs typeface="Arial"/>
              </a:rPr>
              <a:t>applications</a:t>
            </a:r>
            <a:r>
              <a:rPr dirty="0" sz="3100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can</a:t>
            </a:r>
            <a:r>
              <a:rPr dirty="0" sz="3100" spc="-17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be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built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to </a:t>
            </a:r>
            <a:r>
              <a:rPr dirty="0" sz="2950">
                <a:latin typeface="Arial"/>
                <a:cs typeface="Arial"/>
              </a:rPr>
              <a:t>meet</a:t>
            </a:r>
            <a:r>
              <a:rPr dirty="0" sz="2950" spc="5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their</a:t>
            </a:r>
            <a:r>
              <a:rPr dirty="0" sz="2950" spc="8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hard</a:t>
            </a:r>
            <a:r>
              <a:rPr dirty="0" sz="2950" spc="80">
                <a:latin typeface="Arial"/>
                <a:cs typeface="Arial"/>
              </a:rPr>
              <a:t> </a:t>
            </a:r>
            <a:r>
              <a:rPr dirty="0" sz="2950" spc="-35">
                <a:latin typeface="Arial"/>
                <a:cs typeface="Arial"/>
              </a:rPr>
              <a:t>real-</a:t>
            </a:r>
            <a:r>
              <a:rPr dirty="0" sz="2950">
                <a:latin typeface="Arial"/>
                <a:cs typeface="Arial"/>
              </a:rPr>
              <a:t>time</a:t>
            </a:r>
            <a:r>
              <a:rPr dirty="0" sz="2950" spc="17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requirements.</a:t>
            </a:r>
            <a:endParaRPr sz="2950">
              <a:latin typeface="Arial"/>
              <a:cs typeface="Arial"/>
            </a:endParaRPr>
          </a:p>
          <a:p>
            <a:pPr lvl="1" marL="751840" marR="396240" indent="-351155">
              <a:lnSpc>
                <a:spcPts val="3090"/>
              </a:lnSpc>
              <a:spcBef>
                <a:spcPts val="670"/>
              </a:spcBef>
              <a:buChar char="—"/>
              <a:tabLst>
                <a:tab pos="751840" algn="l"/>
                <a:tab pos="756285" algn="l"/>
              </a:tabLst>
            </a:pPr>
            <a:r>
              <a:rPr dirty="0" sz="2700">
                <a:latin typeface="Arial"/>
                <a:cs typeface="Arial"/>
              </a:rPr>
              <a:t>	</a:t>
            </a:r>
            <a:r>
              <a:rPr dirty="0" sz="2700" spc="-55">
                <a:latin typeface="Arial"/>
                <a:cs typeface="Arial"/>
              </a:rPr>
              <a:t>Allows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MCU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applications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organized</a:t>
            </a:r>
            <a:r>
              <a:rPr dirty="0" sz="2700" spc="-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as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a </a:t>
            </a:r>
            <a:r>
              <a:rPr dirty="0" sz="2700" spc="-35">
                <a:latin typeface="Arial"/>
                <a:cs typeface="Arial"/>
              </a:rPr>
              <a:t>collection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60">
                <a:latin typeface="Arial"/>
                <a:cs typeface="Arial"/>
              </a:rPr>
              <a:t>independent</a:t>
            </a:r>
            <a:r>
              <a:rPr dirty="0" sz="2700" spc="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threads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execution.</a:t>
            </a:r>
            <a:endParaRPr sz="2700">
              <a:latin typeface="Arial"/>
              <a:cs typeface="Arial"/>
            </a:endParaRPr>
          </a:p>
          <a:p>
            <a:pPr lvl="1" marL="752475" marR="363855" indent="-359410">
              <a:lnSpc>
                <a:spcPts val="3160"/>
              </a:lnSpc>
              <a:spcBef>
                <a:spcPts val="585"/>
              </a:spcBef>
              <a:buChar char="—"/>
              <a:tabLst>
                <a:tab pos="752475" algn="l"/>
                <a:tab pos="755015" algn="l"/>
              </a:tabLst>
            </a:pPr>
            <a:r>
              <a:rPr dirty="0" sz="2750">
                <a:latin typeface="Arial"/>
                <a:cs typeface="Arial"/>
              </a:rPr>
              <a:t>	</a:t>
            </a:r>
            <a:r>
              <a:rPr dirty="0" sz="2750" spc="-75">
                <a:latin typeface="Arial"/>
                <a:cs typeface="Arial"/>
              </a:rPr>
              <a:t>Decides</a:t>
            </a:r>
            <a:r>
              <a:rPr dirty="0" sz="2750" spc="-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which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thread</a:t>
            </a:r>
            <a:r>
              <a:rPr dirty="0" sz="2750" spc="-80">
                <a:latin typeface="Arial"/>
                <a:cs typeface="Arial"/>
              </a:rPr>
              <a:t> should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be</a:t>
            </a:r>
            <a:r>
              <a:rPr dirty="0" sz="2750" spc="-160">
                <a:latin typeface="Arial"/>
                <a:cs typeface="Arial"/>
              </a:rPr>
              <a:t> </a:t>
            </a:r>
            <a:r>
              <a:rPr dirty="0" sz="2750" spc="-85">
                <a:latin typeface="Arial"/>
                <a:cs typeface="Arial"/>
              </a:rPr>
              <a:t>executed</a:t>
            </a:r>
            <a:r>
              <a:rPr dirty="0" sz="2750" spc="-8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by </a:t>
            </a:r>
            <a:r>
              <a:rPr dirty="0" sz="2750" spc="-75">
                <a:latin typeface="Arial"/>
                <a:cs typeface="Arial"/>
              </a:rPr>
              <a:t>examining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the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priority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assigned</a:t>
            </a:r>
            <a:r>
              <a:rPr dirty="0" sz="2750" spc="-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-175">
                <a:latin typeface="Arial"/>
                <a:cs typeface="Arial"/>
              </a:rPr>
              <a:t> </a:t>
            </a:r>
            <a:r>
              <a:rPr dirty="0" sz="2750" spc="-85">
                <a:latin typeface="Arial"/>
                <a:cs typeface="Arial"/>
              </a:rPr>
              <a:t>each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thread.</a:t>
            </a:r>
            <a:endParaRPr sz="2750">
              <a:latin typeface="Arial"/>
              <a:cs typeface="Arial"/>
            </a:endParaRPr>
          </a:p>
          <a:p>
            <a:pPr lvl="2" marL="1146810" marR="7620" indent="-227329">
              <a:lnSpc>
                <a:spcPts val="2640"/>
              </a:lnSpc>
              <a:spcBef>
                <a:spcPts val="495"/>
              </a:spcBef>
              <a:buChar char="•"/>
              <a:tabLst>
                <a:tab pos="1146810" algn="l"/>
                <a:tab pos="115760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85">
                <a:latin typeface="Arial"/>
                <a:cs typeface="Arial"/>
              </a:rPr>
              <a:t>Assume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single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core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MCU,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where</a:t>
            </a:r>
            <a:r>
              <a:rPr dirty="0" sz="2300" spc="-35">
                <a:latin typeface="Arial"/>
                <a:cs typeface="Arial"/>
              </a:rPr>
              <a:t> only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single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thread </a:t>
            </a:r>
            <a:r>
              <a:rPr dirty="0" sz="2300" spc="-20">
                <a:latin typeface="Arial"/>
                <a:cs typeface="Arial"/>
              </a:rPr>
              <a:t>can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be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executing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at</a:t>
            </a:r>
            <a:r>
              <a:rPr dirty="0" sz="2300" spc="-1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one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time.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065">
              <a:lnSpc>
                <a:spcPts val="3860"/>
              </a:lnSpc>
              <a:spcBef>
                <a:spcPts val="120"/>
              </a:spcBef>
            </a:pPr>
            <a:r>
              <a:rPr dirty="0" sz="3250">
                <a:solidFill>
                  <a:srgbClr val="0A1F5D"/>
                </a:solidFill>
              </a:rPr>
              <a:t>The</a:t>
            </a:r>
            <a:r>
              <a:rPr dirty="0" sz="3250" spc="55">
                <a:solidFill>
                  <a:srgbClr val="0A1F5D"/>
                </a:solidFill>
              </a:rPr>
              <a:t> </a:t>
            </a:r>
            <a:r>
              <a:rPr dirty="0" sz="3250" spc="85">
                <a:solidFill>
                  <a:srgbClr val="1A3B75"/>
                </a:solidFill>
              </a:rPr>
              <a:t>simplest</a:t>
            </a:r>
            <a:r>
              <a:rPr dirty="0" sz="3250" spc="254">
                <a:solidFill>
                  <a:srgbClr val="1A3B75"/>
                </a:solidFill>
              </a:rPr>
              <a:t> </a:t>
            </a:r>
            <a:r>
              <a:rPr dirty="0" sz="3250">
                <a:solidFill>
                  <a:srgbClr val="082360"/>
                </a:solidFill>
              </a:rPr>
              <a:t>case</a:t>
            </a:r>
            <a:r>
              <a:rPr dirty="0" sz="3250" spc="114">
                <a:solidFill>
                  <a:srgbClr val="082360"/>
                </a:solidFill>
              </a:rPr>
              <a:t> </a:t>
            </a:r>
            <a:r>
              <a:rPr dirty="0" sz="3250">
                <a:solidFill>
                  <a:srgbClr val="011A59"/>
                </a:solidFill>
              </a:rPr>
              <a:t>of</a:t>
            </a:r>
            <a:r>
              <a:rPr dirty="0" sz="3250" spc="229">
                <a:solidFill>
                  <a:srgbClr val="011A59"/>
                </a:solidFill>
              </a:rPr>
              <a:t> </a:t>
            </a:r>
            <a:r>
              <a:rPr dirty="0" sz="3250" spc="70">
                <a:solidFill>
                  <a:srgbClr val="0A1F64"/>
                </a:solidFill>
              </a:rPr>
              <a:t>task</a:t>
            </a:r>
            <a:r>
              <a:rPr dirty="0" sz="3250" spc="114">
                <a:solidFill>
                  <a:srgbClr val="0A1F64"/>
                </a:solidFill>
              </a:rPr>
              <a:t> </a:t>
            </a:r>
            <a:r>
              <a:rPr dirty="0" sz="3250" spc="110">
                <a:solidFill>
                  <a:srgbClr val="001F62"/>
                </a:solidFill>
              </a:rPr>
              <a:t>priority</a:t>
            </a:r>
            <a:endParaRPr sz="3250"/>
          </a:p>
          <a:p>
            <a:pPr marL="15240">
              <a:lnSpc>
                <a:spcPts val="3920"/>
              </a:lnSpc>
            </a:pPr>
            <a:r>
              <a:rPr dirty="0" sz="3300" spc="40">
                <a:solidFill>
                  <a:srgbClr val="01216E"/>
                </a:solidFill>
              </a:rPr>
              <a:t>assignments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29821" y="1561900"/>
            <a:ext cx="7882890" cy="4157979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356870" marR="5080" indent="-335280">
              <a:lnSpc>
                <a:spcPct val="87400"/>
              </a:lnSpc>
              <a:spcBef>
                <a:spcPts val="565"/>
              </a:spcBef>
              <a:buChar char="•"/>
              <a:tabLst>
                <a:tab pos="356870" algn="l"/>
                <a:tab pos="370205" algn="l"/>
              </a:tabLst>
            </a:pPr>
            <a:r>
              <a:rPr dirty="0" sz="2900">
                <a:latin typeface="Arial"/>
                <a:cs typeface="Arial"/>
              </a:rPr>
              <a:t>	</a:t>
            </a:r>
            <a:r>
              <a:rPr dirty="0" sz="2900" spc="-75">
                <a:latin typeface="Arial"/>
                <a:cs typeface="Arial"/>
              </a:rPr>
              <a:t>Assign</a:t>
            </a:r>
            <a:r>
              <a:rPr dirty="0" sz="2900" spc="-125">
                <a:latin typeface="Arial"/>
                <a:cs typeface="Arial"/>
              </a:rPr>
              <a:t> </a:t>
            </a:r>
            <a:r>
              <a:rPr dirty="0" sz="2900" spc="-45">
                <a:latin typeface="Arial"/>
                <a:cs typeface="Arial"/>
              </a:rPr>
              <a:t>higher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priorities </a:t>
            </a:r>
            <a:r>
              <a:rPr dirty="0" sz="2900" spc="-65">
                <a:latin typeface="Arial"/>
                <a:cs typeface="Arial"/>
              </a:rPr>
              <a:t>(lower </a:t>
            </a:r>
            <a:r>
              <a:rPr dirty="0" sz="2900" spc="-45">
                <a:latin typeface="Arial"/>
                <a:cs typeface="Arial"/>
              </a:rPr>
              <a:t>priorities)</a:t>
            </a:r>
            <a:r>
              <a:rPr dirty="0" sz="2900" spc="4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to </a:t>
            </a:r>
            <a:r>
              <a:rPr dirty="0" sz="2900" spc="-30">
                <a:latin typeface="Arial"/>
                <a:cs typeface="Arial"/>
              </a:rPr>
              <a:t>threads</a:t>
            </a:r>
            <a:r>
              <a:rPr dirty="0" sz="2900" spc="-15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that</a:t>
            </a:r>
            <a:r>
              <a:rPr dirty="0" sz="2900" spc="-165">
                <a:latin typeface="Arial"/>
                <a:cs typeface="Arial"/>
              </a:rPr>
              <a:t> </a:t>
            </a:r>
            <a:r>
              <a:rPr dirty="0" sz="2900" spc="-60">
                <a:latin typeface="Arial"/>
                <a:cs typeface="Arial"/>
              </a:rPr>
              <a:t>implement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hard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real-</a:t>
            </a:r>
            <a:r>
              <a:rPr dirty="0" sz="2900" spc="-10">
                <a:latin typeface="Arial"/>
                <a:cs typeface="Arial"/>
              </a:rPr>
              <a:t>time</a:t>
            </a:r>
            <a:r>
              <a:rPr dirty="0" sz="2900" spc="-25">
                <a:latin typeface="Arial"/>
                <a:cs typeface="Arial"/>
              </a:rPr>
              <a:t> (soft</a:t>
            </a:r>
            <a:r>
              <a:rPr dirty="0" sz="2900" spc="-17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real-</a:t>
            </a:r>
            <a:r>
              <a:rPr dirty="0" sz="2900" spc="-30">
                <a:latin typeface="Arial"/>
                <a:cs typeface="Arial"/>
              </a:rPr>
              <a:t>time)</a:t>
            </a:r>
            <a:r>
              <a:rPr dirty="0" sz="2900" spc="-9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requirements</a:t>
            </a:r>
            <a:endParaRPr sz="2900">
              <a:latin typeface="Arial"/>
              <a:cs typeface="Arial"/>
            </a:endParaRPr>
          </a:p>
          <a:p>
            <a:pPr marL="761365" marR="999490" indent="-292100">
              <a:lnSpc>
                <a:spcPts val="2600"/>
              </a:lnSpc>
              <a:spcBef>
                <a:spcPts val="575"/>
              </a:spcBef>
            </a:pPr>
            <a:r>
              <a:rPr dirty="0" sz="2500" spc="-1175">
                <a:latin typeface="Arial"/>
                <a:cs typeface="Arial"/>
              </a:rPr>
              <a:t>—</a:t>
            </a:r>
            <a:r>
              <a:rPr dirty="0" sz="2500" spc="355">
                <a:latin typeface="Arial"/>
                <a:cs typeface="Arial"/>
              </a:rPr>
              <a:t> </a:t>
            </a:r>
            <a:r>
              <a:rPr dirty="0" sz="2500" spc="-105">
                <a:latin typeface="Arial"/>
                <a:cs typeface="Arial"/>
              </a:rPr>
              <a:t>As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result,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hard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real-</a:t>
            </a:r>
            <a:r>
              <a:rPr dirty="0" sz="2500" spc="-10">
                <a:latin typeface="Arial"/>
                <a:cs typeface="Arial"/>
              </a:rPr>
              <a:t>time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threads</a:t>
            </a:r>
            <a:r>
              <a:rPr dirty="0" sz="2500" spc="-2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are</a:t>
            </a:r>
            <a:r>
              <a:rPr dirty="0" sz="2500" spc="-55">
                <a:latin typeface="Arial"/>
                <a:cs typeface="Arial"/>
              </a:rPr>
              <a:t> always </a:t>
            </a:r>
            <a:r>
              <a:rPr dirty="0" sz="2500" spc="-50">
                <a:latin typeface="Arial"/>
                <a:cs typeface="Arial"/>
              </a:rPr>
              <a:t>executed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ahead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soft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real-</a:t>
            </a:r>
            <a:r>
              <a:rPr dirty="0" sz="2500" spc="-10">
                <a:latin typeface="Arial"/>
                <a:cs typeface="Arial"/>
              </a:rPr>
              <a:t>time threads.</a:t>
            </a:r>
            <a:endParaRPr sz="2500">
              <a:latin typeface="Arial"/>
              <a:cs typeface="Arial"/>
            </a:endParaRPr>
          </a:p>
          <a:p>
            <a:pPr marL="356870" marR="16510" indent="-344805">
              <a:lnSpc>
                <a:spcPts val="3060"/>
              </a:lnSpc>
              <a:spcBef>
                <a:spcPts val="655"/>
              </a:spcBef>
              <a:buChar char="•"/>
              <a:tabLst>
                <a:tab pos="356870" algn="l"/>
                <a:tab pos="361950" algn="l"/>
              </a:tabLst>
            </a:pPr>
            <a:r>
              <a:rPr dirty="0" sz="2950">
                <a:latin typeface="Arial"/>
                <a:cs typeface="Arial"/>
              </a:rPr>
              <a:t>	</a:t>
            </a:r>
            <a:r>
              <a:rPr dirty="0" sz="2950" spc="-70">
                <a:latin typeface="Arial"/>
                <a:cs typeface="Arial"/>
              </a:rPr>
              <a:t>But,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priority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95">
                <a:latin typeface="Arial"/>
                <a:cs typeface="Arial"/>
              </a:rPr>
              <a:t>assignment</a:t>
            </a:r>
            <a:r>
              <a:rPr dirty="0" sz="2950" spc="15">
                <a:latin typeface="Arial"/>
                <a:cs typeface="Arial"/>
              </a:rPr>
              <a:t> </a:t>
            </a:r>
            <a:r>
              <a:rPr dirty="0" sz="2950" spc="-60">
                <a:latin typeface="Arial"/>
                <a:cs typeface="Arial"/>
              </a:rPr>
              <a:t>decision</a:t>
            </a:r>
            <a:r>
              <a:rPr dirty="0" sz="2950" spc="-13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are</a:t>
            </a:r>
            <a:r>
              <a:rPr dirty="0" sz="2950" spc="-15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not</a:t>
            </a:r>
            <a:r>
              <a:rPr dirty="0" sz="2950" spc="-105">
                <a:latin typeface="Arial"/>
                <a:cs typeface="Arial"/>
              </a:rPr>
              <a:t> </a:t>
            </a:r>
            <a:r>
              <a:rPr dirty="0" sz="2950" spc="-60">
                <a:latin typeface="Arial"/>
                <a:cs typeface="Arial"/>
              </a:rPr>
              <a:t>always </a:t>
            </a:r>
            <a:r>
              <a:rPr dirty="0" sz="2950" spc="-35">
                <a:latin typeface="Arial"/>
                <a:cs typeface="Arial"/>
              </a:rPr>
              <a:t>that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simple.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"/>
              <a:buChar char="•"/>
            </a:pPr>
            <a:endParaRPr sz="2950">
              <a:latin typeface="Arial"/>
              <a:cs typeface="Arial"/>
            </a:endParaRPr>
          </a:p>
          <a:p>
            <a:pPr marL="358140" marR="151765" indent="-337185">
              <a:lnSpc>
                <a:spcPts val="3060"/>
              </a:lnSpc>
              <a:buChar char="•"/>
              <a:tabLst>
                <a:tab pos="358140" algn="l"/>
                <a:tab pos="363220" algn="l"/>
              </a:tabLst>
            </a:pPr>
            <a:r>
              <a:rPr dirty="0" sz="3000">
                <a:latin typeface="Arial"/>
                <a:cs typeface="Arial"/>
              </a:rPr>
              <a:t>	</a:t>
            </a:r>
            <a:r>
              <a:rPr dirty="0" sz="3000" spc="-90">
                <a:latin typeface="Arial"/>
                <a:cs typeface="Arial"/>
              </a:rPr>
              <a:t>In</a:t>
            </a:r>
            <a:r>
              <a:rPr dirty="0" sz="3000" spc="-120">
                <a:latin typeface="Arial"/>
                <a:cs typeface="Arial"/>
              </a:rPr>
              <a:t> </a:t>
            </a:r>
            <a:r>
              <a:rPr dirty="0" sz="3000" spc="-75">
                <a:latin typeface="Arial"/>
                <a:cs typeface="Arial"/>
              </a:rPr>
              <a:t>general,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-85">
                <a:latin typeface="Arial"/>
                <a:cs typeface="Arial"/>
              </a:rPr>
              <a:t> </a:t>
            </a:r>
            <a:r>
              <a:rPr dirty="0" sz="3000" spc="50">
                <a:latin typeface="Arial"/>
                <a:cs typeface="Arial"/>
              </a:rPr>
              <a:t>prioritization</a:t>
            </a:r>
            <a:r>
              <a:rPr dirty="0" sz="3000" spc="-200">
                <a:latin typeface="Arial"/>
                <a:cs typeface="Arial"/>
              </a:rPr>
              <a:t> </a:t>
            </a:r>
            <a:r>
              <a:rPr dirty="0" sz="3000" spc="-65">
                <a:latin typeface="Arial"/>
                <a:cs typeface="Arial"/>
              </a:rPr>
              <a:t>can</a:t>
            </a:r>
            <a:r>
              <a:rPr dirty="0" sz="3000" spc="-80">
                <a:latin typeface="Arial"/>
                <a:cs typeface="Arial"/>
              </a:rPr>
              <a:t> help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 spc="-100">
                <a:latin typeface="Arial"/>
                <a:cs typeface="Arial"/>
              </a:rPr>
              <a:t>ensure </a:t>
            </a:r>
            <a:r>
              <a:rPr dirty="0" sz="3000" spc="-30">
                <a:latin typeface="Arial"/>
                <a:cs typeface="Arial"/>
              </a:rPr>
              <a:t>an</a:t>
            </a:r>
            <a:r>
              <a:rPr dirty="0" sz="3000" spc="-180">
                <a:latin typeface="Arial"/>
                <a:cs typeface="Arial"/>
              </a:rPr>
              <a:t> </a:t>
            </a:r>
            <a:r>
              <a:rPr dirty="0" sz="3000" spc="-90">
                <a:latin typeface="Arial"/>
                <a:cs typeface="Arial"/>
              </a:rPr>
              <a:t>application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 spc="-110">
                <a:latin typeface="Arial"/>
                <a:cs typeface="Arial"/>
              </a:rPr>
              <a:t>meet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 spc="-70">
                <a:latin typeface="Arial"/>
                <a:cs typeface="Arial"/>
              </a:rPr>
              <a:t>its</a:t>
            </a:r>
            <a:r>
              <a:rPr dirty="0" sz="3000" spc="-140">
                <a:latin typeface="Arial"/>
                <a:cs typeface="Arial"/>
              </a:rPr>
              <a:t> </a:t>
            </a:r>
            <a:r>
              <a:rPr dirty="0" sz="3000" spc="-90">
                <a:latin typeface="Arial"/>
                <a:cs typeface="Arial"/>
              </a:rPr>
              <a:t>processing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deadline.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7480">
              <a:lnSpc>
                <a:spcPts val="12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70" y="678656"/>
            <a:ext cx="303609" cy="33932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454659">
              <a:lnSpc>
                <a:spcPct val="100000"/>
              </a:lnSpc>
              <a:spcBef>
                <a:spcPts val="110"/>
              </a:spcBef>
            </a:pPr>
            <a:r>
              <a:rPr dirty="0" spc="50">
                <a:solidFill>
                  <a:srgbClr val="00235D"/>
                </a:solidFill>
              </a:rPr>
              <a:t>note</a:t>
            </a:r>
            <a:r>
              <a:rPr dirty="0" spc="45">
                <a:solidFill>
                  <a:srgbClr val="00235D"/>
                </a:solidFill>
              </a:rPr>
              <a:t> </a:t>
            </a:r>
            <a:r>
              <a:rPr dirty="0">
                <a:solidFill>
                  <a:srgbClr val="001352"/>
                </a:solidFill>
              </a:rPr>
              <a:t>about</a:t>
            </a:r>
            <a:r>
              <a:rPr dirty="0" spc="300">
                <a:solidFill>
                  <a:srgbClr val="001352"/>
                </a:solidFill>
              </a:rPr>
              <a:t> </a:t>
            </a:r>
            <a:r>
              <a:rPr dirty="0" spc="60">
                <a:solidFill>
                  <a:srgbClr val="002160"/>
                </a:solidFill>
              </a:rPr>
              <a:t>terminology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400" y="1608533"/>
            <a:ext cx="7376159" cy="9601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3380" indent="-360680">
              <a:lnSpc>
                <a:spcPts val="3604"/>
              </a:lnSpc>
              <a:spcBef>
                <a:spcPts val="125"/>
              </a:spcBef>
              <a:buChar char="•"/>
              <a:tabLst>
                <a:tab pos="373380" algn="l"/>
              </a:tabLst>
            </a:pPr>
            <a:r>
              <a:rPr dirty="0" sz="3100">
                <a:latin typeface="Calibri"/>
                <a:cs typeface="Calibri"/>
              </a:rPr>
              <a:t>In</a:t>
            </a:r>
            <a:r>
              <a:rPr dirty="0" sz="3100" spc="150">
                <a:latin typeface="Calibri"/>
                <a:cs typeface="Calibri"/>
              </a:rPr>
              <a:t> </a:t>
            </a:r>
            <a:r>
              <a:rPr dirty="0" sz="3100" spc="225">
                <a:latin typeface="Calibri"/>
                <a:cs typeface="Calibri"/>
              </a:rPr>
              <a:t>FreeRTOS,</a:t>
            </a:r>
            <a:r>
              <a:rPr dirty="0" sz="3100" spc="260">
                <a:latin typeface="Calibri"/>
                <a:cs typeface="Calibri"/>
              </a:rPr>
              <a:t> </a:t>
            </a:r>
            <a:r>
              <a:rPr dirty="0" sz="3100" spc="114">
                <a:latin typeface="Calibri"/>
                <a:cs typeface="Calibri"/>
              </a:rPr>
              <a:t>each</a:t>
            </a:r>
            <a:r>
              <a:rPr dirty="0" sz="3100" spc="12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thread</a:t>
            </a:r>
            <a:r>
              <a:rPr dirty="0" sz="3100" spc="229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of</a:t>
            </a:r>
            <a:r>
              <a:rPr dirty="0" sz="3100" spc="27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execution</a:t>
            </a:r>
            <a:r>
              <a:rPr dirty="0" sz="3100" spc="325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is</a:t>
            </a:r>
            <a:endParaRPr sz="3100">
              <a:latin typeface="Calibri"/>
              <a:cs typeface="Calibri"/>
            </a:endParaRPr>
          </a:p>
          <a:p>
            <a:pPr marL="361950">
              <a:lnSpc>
                <a:spcPts val="3725"/>
              </a:lnSpc>
            </a:pPr>
            <a:r>
              <a:rPr dirty="0" sz="3200">
                <a:latin typeface="Calibri"/>
                <a:cs typeface="Calibri"/>
              </a:rPr>
              <a:t>called</a:t>
            </a:r>
            <a:r>
              <a:rPr dirty="0" sz="3200" spc="2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2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‘task’.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9719" y="6399311"/>
            <a:ext cx="10223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90">
                <a:latin typeface="Consolas"/>
                <a:cs typeface="Consolas"/>
              </a:rPr>
              <a:t>s</a:t>
            </a:r>
            <a:endParaRPr sz="13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4408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5"/>
              </a:spcBef>
            </a:pPr>
            <a:r>
              <a:rPr dirty="0" sz="3950">
                <a:solidFill>
                  <a:srgbClr val="01215E"/>
                </a:solidFill>
                <a:latin typeface="Calibri"/>
                <a:cs typeface="Calibri"/>
              </a:rPr>
              <a:t>Why</a:t>
            </a:r>
            <a:r>
              <a:rPr dirty="0" sz="3950" spc="275">
                <a:solidFill>
                  <a:srgbClr val="01215E"/>
                </a:solidFill>
                <a:latin typeface="Calibri"/>
                <a:cs typeface="Calibri"/>
              </a:rPr>
              <a:t> </a:t>
            </a:r>
            <a:r>
              <a:rPr dirty="0" sz="3950">
                <a:solidFill>
                  <a:srgbClr val="001C5D"/>
                </a:solidFill>
                <a:latin typeface="Calibri"/>
                <a:cs typeface="Calibri"/>
              </a:rPr>
              <a:t>use</a:t>
            </a:r>
            <a:r>
              <a:rPr dirty="0" sz="3950" spc="725">
                <a:solidFill>
                  <a:srgbClr val="001C5D"/>
                </a:solidFill>
                <a:latin typeface="Calibri"/>
                <a:cs typeface="Calibri"/>
              </a:rPr>
              <a:t> </a:t>
            </a:r>
            <a:r>
              <a:rPr dirty="0" sz="3950">
                <a:solidFill>
                  <a:srgbClr val="011F60"/>
                </a:solidFill>
                <a:latin typeface="Calibri"/>
                <a:cs typeface="Calibri"/>
              </a:rPr>
              <a:t>a</a:t>
            </a:r>
            <a:r>
              <a:rPr dirty="0" sz="3950" spc="235">
                <a:solidFill>
                  <a:srgbClr val="011F60"/>
                </a:solidFill>
                <a:latin typeface="Calibri"/>
                <a:cs typeface="Calibri"/>
              </a:rPr>
              <a:t> </a:t>
            </a:r>
            <a:r>
              <a:rPr dirty="0" sz="3950">
                <a:solidFill>
                  <a:srgbClr val="011F5D"/>
                </a:solidFill>
                <a:latin typeface="Calibri"/>
                <a:cs typeface="Calibri"/>
              </a:rPr>
              <a:t>real-time</a:t>
            </a:r>
            <a:r>
              <a:rPr dirty="0" sz="3950" spc="305">
                <a:solidFill>
                  <a:srgbClr val="011F5D"/>
                </a:solidFill>
                <a:latin typeface="Calibri"/>
                <a:cs typeface="Calibri"/>
              </a:rPr>
              <a:t> </a:t>
            </a:r>
            <a:r>
              <a:rPr dirty="0" sz="3950" spc="65">
                <a:solidFill>
                  <a:srgbClr val="011F59"/>
                </a:solidFill>
                <a:latin typeface="Calibri"/>
                <a:cs typeface="Calibri"/>
              </a:rPr>
              <a:t>kernel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639" y="1517252"/>
            <a:ext cx="8017509" cy="423735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69570" marR="161290" indent="-356235">
              <a:lnSpc>
                <a:spcPct val="79200"/>
              </a:lnSpc>
              <a:spcBef>
                <a:spcPts val="850"/>
              </a:spcBef>
              <a:buChar char="•"/>
              <a:tabLst>
                <a:tab pos="369570" algn="l"/>
                <a:tab pos="374650" algn="l"/>
              </a:tabLst>
            </a:pP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100">
                <a:latin typeface="Calibri"/>
                <a:cs typeface="Calibri"/>
              </a:rPr>
              <a:t>For</a:t>
            </a:r>
            <a:r>
              <a:rPr dirty="0" sz="2900" spc="229">
                <a:latin typeface="Calibri"/>
                <a:cs typeface="Calibri"/>
              </a:rPr>
              <a:t> </a:t>
            </a:r>
            <a:r>
              <a:rPr dirty="0" sz="2900" spc="110">
                <a:latin typeface="Calibri"/>
                <a:cs typeface="Calibri"/>
              </a:rPr>
              <a:t>a</a:t>
            </a:r>
            <a:r>
              <a:rPr dirty="0" sz="2900" spc="2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simple</a:t>
            </a:r>
            <a:r>
              <a:rPr dirty="0" sz="2900" spc="340">
                <a:latin typeface="Calibri"/>
                <a:cs typeface="Calibri"/>
              </a:rPr>
              <a:t> </a:t>
            </a:r>
            <a:r>
              <a:rPr dirty="0" sz="2900" spc="60">
                <a:latin typeface="Calibri"/>
                <a:cs typeface="Calibri"/>
              </a:rPr>
              <a:t>system,</a:t>
            </a:r>
            <a:r>
              <a:rPr dirty="0" sz="2900" spc="4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many</a:t>
            </a:r>
            <a:r>
              <a:rPr dirty="0" sz="2900" spc="40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well-</a:t>
            </a:r>
            <a:r>
              <a:rPr dirty="0" sz="2900" spc="-10">
                <a:latin typeface="Calibri"/>
                <a:cs typeface="Calibri"/>
              </a:rPr>
              <a:t>established </a:t>
            </a:r>
            <a:r>
              <a:rPr dirty="0" sz="2800" spc="-10">
                <a:latin typeface="Arial"/>
                <a:cs typeface="Arial"/>
              </a:rPr>
              <a:t>techniques</a:t>
            </a:r>
            <a:r>
              <a:rPr dirty="0" sz="2800" spc="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can</a:t>
            </a:r>
            <a:r>
              <a:rPr dirty="0" sz="2800" spc="-1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provide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</a:t>
            </a:r>
            <a:r>
              <a:rPr dirty="0" sz="2800" spc="55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appropriate</a:t>
            </a:r>
            <a:r>
              <a:rPr dirty="0" sz="2800" spc="11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solution </a:t>
            </a:r>
            <a:r>
              <a:rPr dirty="0" sz="2900" spc="-45">
                <a:latin typeface="Calibri"/>
                <a:cs typeface="Calibri"/>
              </a:rPr>
              <a:t>without</a:t>
            </a:r>
            <a:r>
              <a:rPr dirty="0" sz="2900" spc="1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use</a:t>
            </a:r>
            <a:r>
              <a:rPr dirty="0" sz="2900" spc="4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18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kernel.</a:t>
            </a:r>
            <a:endParaRPr sz="2900">
              <a:latin typeface="Calibri"/>
              <a:cs typeface="Calibri"/>
            </a:endParaRPr>
          </a:p>
          <a:p>
            <a:pPr marL="368300" marR="494030" indent="-356235">
              <a:lnSpc>
                <a:spcPct val="74200"/>
              </a:lnSpc>
              <a:spcBef>
                <a:spcPts val="725"/>
              </a:spcBef>
              <a:buChar char="•"/>
              <a:tabLst>
                <a:tab pos="368300" algn="l"/>
                <a:tab pos="373380" algn="l"/>
              </a:tabLst>
            </a:pPr>
            <a:r>
              <a:rPr dirty="0" sz="3000">
                <a:latin typeface="Calibri"/>
                <a:cs typeface="Calibri"/>
              </a:rPr>
              <a:t>	For</a:t>
            </a:r>
            <a:r>
              <a:rPr dirty="0" sz="3000" spc="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more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complex</a:t>
            </a:r>
            <a:r>
              <a:rPr dirty="0" sz="3000" spc="1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embedded</a:t>
            </a:r>
            <a:r>
              <a:rPr dirty="0" sz="3000" spc="114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application,</a:t>
            </a:r>
            <a:r>
              <a:rPr dirty="0" sz="3000" spc="280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 </a:t>
            </a:r>
            <a:r>
              <a:rPr dirty="0" sz="3000">
                <a:latin typeface="Calibri"/>
                <a:cs typeface="Calibri"/>
              </a:rPr>
              <a:t>kernel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would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 spc="70">
                <a:latin typeface="Calibri"/>
                <a:cs typeface="Calibri"/>
              </a:rPr>
              <a:t>be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preferable.</a:t>
            </a:r>
            <a:endParaRPr sz="3000">
              <a:latin typeface="Calibri"/>
              <a:cs typeface="Calibri"/>
            </a:endParaRPr>
          </a:p>
          <a:p>
            <a:pPr marL="374015" indent="-352425">
              <a:lnSpc>
                <a:spcPts val="2875"/>
              </a:lnSpc>
              <a:buChar char="•"/>
              <a:tabLst>
                <a:tab pos="374015" algn="l"/>
              </a:tabLst>
            </a:pPr>
            <a:r>
              <a:rPr dirty="0" sz="2950">
                <a:latin typeface="Calibri"/>
                <a:cs typeface="Calibri"/>
              </a:rPr>
              <a:t>But</a:t>
            </a:r>
            <a:r>
              <a:rPr dirty="0" sz="2950" spc="-3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where</a:t>
            </a:r>
            <a:r>
              <a:rPr dirty="0" sz="2950" spc="15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the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 spc="55">
                <a:latin typeface="Calibri"/>
                <a:cs typeface="Calibri"/>
              </a:rPr>
              <a:t>crossover</a:t>
            </a:r>
            <a:r>
              <a:rPr dirty="0" sz="2950" spc="6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point</a:t>
            </a:r>
            <a:r>
              <a:rPr dirty="0" sz="2950" spc="85">
                <a:latin typeface="Calibri"/>
                <a:cs typeface="Calibri"/>
              </a:rPr>
              <a:t> </a:t>
            </a:r>
            <a:r>
              <a:rPr dirty="0" sz="2950" spc="60">
                <a:latin typeface="Calibri"/>
                <a:cs typeface="Calibri"/>
              </a:rPr>
              <a:t>occurs</a:t>
            </a:r>
            <a:r>
              <a:rPr dirty="0" sz="2950" spc="10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will</a:t>
            </a:r>
            <a:r>
              <a:rPr dirty="0" sz="2950" spc="10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always</a:t>
            </a:r>
            <a:endParaRPr sz="2950">
              <a:latin typeface="Calibri"/>
              <a:cs typeface="Calibri"/>
            </a:endParaRPr>
          </a:p>
          <a:p>
            <a:pPr marL="367030">
              <a:lnSpc>
                <a:spcPts val="3229"/>
              </a:lnSpc>
            </a:pPr>
            <a:r>
              <a:rPr dirty="0" sz="3100">
                <a:latin typeface="Calibri"/>
                <a:cs typeface="Calibri"/>
              </a:rPr>
              <a:t>be</a:t>
            </a:r>
            <a:r>
              <a:rPr dirty="0" sz="3100" spc="30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subjective.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100">
              <a:latin typeface="Calibri"/>
              <a:cs typeface="Calibri"/>
            </a:endParaRPr>
          </a:p>
          <a:p>
            <a:pPr marL="368300" marR="532130" indent="-339725">
              <a:lnSpc>
                <a:spcPct val="78100"/>
              </a:lnSpc>
              <a:buChar char="•"/>
              <a:tabLst>
                <a:tab pos="368300" algn="l"/>
                <a:tab pos="375920" algn="l"/>
              </a:tabLst>
            </a:pPr>
            <a:r>
              <a:rPr dirty="0" sz="2900">
                <a:latin typeface="Arial"/>
                <a:cs typeface="Arial"/>
              </a:rPr>
              <a:t>	</a:t>
            </a:r>
            <a:r>
              <a:rPr dirty="0" sz="2900" spc="-60">
                <a:latin typeface="Arial"/>
                <a:cs typeface="Arial"/>
              </a:rPr>
              <a:t>Besides</a:t>
            </a:r>
            <a:r>
              <a:rPr dirty="0" sz="2900" spc="-85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ensuring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an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55">
                <a:latin typeface="Arial"/>
                <a:cs typeface="Arial"/>
              </a:rPr>
              <a:t>application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meets</a:t>
            </a:r>
            <a:r>
              <a:rPr dirty="0" sz="2900" spc="-12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its </a:t>
            </a:r>
            <a:r>
              <a:rPr dirty="0" sz="2800" spc="-10">
                <a:latin typeface="Arial"/>
                <a:cs typeface="Arial"/>
              </a:rPr>
              <a:t>processing</a:t>
            </a:r>
            <a:r>
              <a:rPr dirty="0" sz="2800" spc="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deadline,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</a:t>
            </a:r>
            <a:r>
              <a:rPr dirty="0" sz="2800" spc="-1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kernel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can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bring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other </a:t>
            </a:r>
            <a:r>
              <a:rPr dirty="0" sz="2950" spc="140">
                <a:latin typeface="Calibri"/>
                <a:cs typeface="Calibri"/>
              </a:rPr>
              <a:t>less</a:t>
            </a:r>
            <a:r>
              <a:rPr dirty="0" sz="2950" spc="15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obvious</a:t>
            </a:r>
            <a:r>
              <a:rPr dirty="0" sz="2950" spc="24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benefits.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290">
              <a:lnSpc>
                <a:spcPts val="1200"/>
              </a:lnSpc>
            </a:pPr>
            <a:fld id="{81D60167-4931-47E6-BA6A-407CBD079E47}" type="slidenum">
              <a:rPr dirty="0" spc="-50">
                <a:solidFill>
                  <a:srgbClr val="313131"/>
                </a:solidFill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49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10"/>
              </a:spcBef>
            </a:pPr>
            <a:r>
              <a:rPr dirty="0" sz="3700" spc="65">
                <a:solidFill>
                  <a:srgbClr val="001C64"/>
                </a:solidFill>
              </a:rPr>
              <a:t>Benefits</a:t>
            </a:r>
            <a:r>
              <a:rPr dirty="0" sz="3700" spc="265">
                <a:solidFill>
                  <a:srgbClr val="001C64"/>
                </a:solidFill>
              </a:rPr>
              <a:t> </a:t>
            </a:r>
            <a:r>
              <a:rPr dirty="0" sz="3700">
                <a:solidFill>
                  <a:srgbClr val="051D66"/>
                </a:solidFill>
              </a:rPr>
              <a:t>of</a:t>
            </a:r>
            <a:r>
              <a:rPr dirty="0" sz="3700" spc="320">
                <a:solidFill>
                  <a:srgbClr val="051D66"/>
                </a:solidFill>
              </a:rPr>
              <a:t> </a:t>
            </a:r>
            <a:r>
              <a:rPr dirty="0" sz="3700" spc="120">
                <a:solidFill>
                  <a:srgbClr val="071F62"/>
                </a:solidFill>
              </a:rPr>
              <a:t>using</a:t>
            </a:r>
            <a:r>
              <a:rPr dirty="0" sz="3700" spc="204">
                <a:solidFill>
                  <a:srgbClr val="071F62"/>
                </a:solidFill>
              </a:rPr>
              <a:t> </a:t>
            </a:r>
            <a:r>
              <a:rPr dirty="0" sz="3700">
                <a:solidFill>
                  <a:srgbClr val="001C5D"/>
                </a:solidFill>
              </a:rPr>
              <a:t>real-time</a:t>
            </a:r>
            <a:r>
              <a:rPr dirty="0" sz="3700" spc="250">
                <a:solidFill>
                  <a:srgbClr val="001C5D"/>
                </a:solidFill>
              </a:rPr>
              <a:t> </a:t>
            </a:r>
            <a:r>
              <a:rPr dirty="0" sz="3700" spc="-10">
                <a:solidFill>
                  <a:srgbClr val="002367"/>
                </a:solidFill>
              </a:rPr>
              <a:t>kernel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4423" y="1524607"/>
            <a:ext cx="8037830" cy="482790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565"/>
              </a:spcBef>
              <a:buChar char="•"/>
              <a:tabLst>
                <a:tab pos="358775" algn="l"/>
              </a:tabLst>
            </a:pPr>
            <a:r>
              <a:rPr dirty="0" sz="2300" spc="-165">
                <a:latin typeface="Arial"/>
                <a:cs typeface="Arial"/>
              </a:rPr>
              <a:t>Abstracting</a:t>
            </a:r>
            <a:r>
              <a:rPr dirty="0" sz="2300" spc="55">
                <a:latin typeface="Arial"/>
                <a:cs typeface="Arial"/>
              </a:rPr>
              <a:t> </a:t>
            </a:r>
            <a:r>
              <a:rPr dirty="0" sz="2300" spc="-220">
                <a:latin typeface="Arial"/>
                <a:cs typeface="Arial"/>
              </a:rPr>
              <a:t>away</a:t>
            </a:r>
            <a:r>
              <a:rPr dirty="0" sz="2300" spc="95">
                <a:latin typeface="Arial"/>
                <a:cs typeface="Arial"/>
              </a:rPr>
              <a:t> </a:t>
            </a:r>
            <a:r>
              <a:rPr dirty="0" sz="2300" spc="-165">
                <a:latin typeface="Arial"/>
                <a:cs typeface="Arial"/>
              </a:rPr>
              <a:t>timing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information</a:t>
            </a:r>
            <a:endParaRPr sz="2300">
              <a:latin typeface="Arial"/>
              <a:cs typeface="Arial"/>
            </a:endParaRPr>
          </a:p>
          <a:p>
            <a:pPr lvl="1" marL="751840" marR="287655" indent="-286385">
              <a:lnSpc>
                <a:spcPts val="2180"/>
              </a:lnSpc>
              <a:spcBef>
                <a:spcPts val="434"/>
              </a:spcBef>
              <a:buChar char="—"/>
              <a:tabLst>
                <a:tab pos="760730" algn="l"/>
              </a:tabLst>
            </a:pPr>
            <a:r>
              <a:rPr dirty="0" sz="1800">
                <a:latin typeface="Arial"/>
                <a:cs typeface="Arial"/>
              </a:rPr>
              <a:t>Kernel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responsible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execution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timing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provides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114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time-</a:t>
            </a:r>
            <a:r>
              <a:rPr dirty="0" sz="1800" spc="-10">
                <a:latin typeface="Arial"/>
                <a:cs typeface="Arial"/>
              </a:rPr>
              <a:t>related </a:t>
            </a:r>
            <a:r>
              <a:rPr dirty="0" sz="1800" spc="-10">
                <a:latin typeface="Arial"/>
                <a:cs typeface="Arial"/>
              </a:rPr>
              <a:t>	</a:t>
            </a:r>
            <a:r>
              <a:rPr dirty="0" sz="1850" spc="-30">
                <a:latin typeface="Arial"/>
                <a:cs typeface="Arial"/>
              </a:rPr>
              <a:t>API</a:t>
            </a:r>
            <a:r>
              <a:rPr dirty="0" sz="1850" spc="-10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to</a:t>
            </a:r>
            <a:r>
              <a:rPr dirty="0" sz="1850" spc="-1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the</a:t>
            </a:r>
            <a:r>
              <a:rPr dirty="0" sz="1850" spc="-110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application.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This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allows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the</a:t>
            </a:r>
            <a:r>
              <a:rPr dirty="0" sz="1850" spc="-105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application</a:t>
            </a:r>
            <a:r>
              <a:rPr dirty="0" sz="1850" spc="2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code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to</a:t>
            </a:r>
            <a:r>
              <a:rPr dirty="0" sz="1850" spc="-1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be</a:t>
            </a:r>
            <a:r>
              <a:rPr dirty="0" sz="1850" spc="-10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simpler 	and</a:t>
            </a:r>
            <a:r>
              <a:rPr dirty="0" sz="1850" spc="-1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the</a:t>
            </a:r>
            <a:r>
              <a:rPr dirty="0" sz="1850" spc="-9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overall</a:t>
            </a:r>
            <a:r>
              <a:rPr dirty="0" sz="1850" spc="-8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code</a:t>
            </a:r>
            <a:r>
              <a:rPr dirty="0" sz="1850" spc="-60">
                <a:latin typeface="Arial"/>
                <a:cs typeface="Arial"/>
              </a:rPr>
              <a:t> </a:t>
            </a:r>
            <a:r>
              <a:rPr dirty="0" sz="1850" spc="-20">
                <a:latin typeface="Arial"/>
                <a:cs typeface="Arial"/>
              </a:rPr>
              <a:t>size</a:t>
            </a:r>
            <a:r>
              <a:rPr dirty="0" sz="1850" spc="-1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be</a:t>
            </a:r>
            <a:r>
              <a:rPr dirty="0" sz="1850" spc="-9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smaller.</a:t>
            </a:r>
            <a:endParaRPr sz="1850">
              <a:latin typeface="Arial"/>
              <a:cs typeface="Arial"/>
            </a:endParaRPr>
          </a:p>
          <a:p>
            <a:pPr marL="356235" indent="-342265">
              <a:lnSpc>
                <a:spcPct val="100000"/>
              </a:lnSpc>
              <a:spcBef>
                <a:spcPts val="325"/>
              </a:spcBef>
              <a:buChar char="•"/>
              <a:tabLst>
                <a:tab pos="356235" algn="l"/>
              </a:tabLst>
            </a:pPr>
            <a:r>
              <a:rPr dirty="0" sz="2050" spc="-10">
                <a:latin typeface="Arial"/>
                <a:cs typeface="Arial"/>
              </a:rPr>
              <a:t>Maintainability/Extensibility</a:t>
            </a:r>
            <a:endParaRPr sz="2050">
              <a:latin typeface="Arial"/>
              <a:cs typeface="Arial"/>
            </a:endParaRPr>
          </a:p>
          <a:p>
            <a:pPr lvl="1" marL="753745" marR="603250" indent="-288290">
              <a:lnSpc>
                <a:spcPts val="2140"/>
              </a:lnSpc>
              <a:spcBef>
                <a:spcPts val="515"/>
              </a:spcBef>
              <a:buChar char="—"/>
              <a:tabLst>
                <a:tab pos="753745" algn="l"/>
                <a:tab pos="760095" algn="l"/>
              </a:tabLst>
            </a:pP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-35">
                <a:latin typeface="Arial"/>
                <a:cs typeface="Arial"/>
              </a:rPr>
              <a:t>Abstracting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away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timing</a:t>
            </a:r>
            <a:r>
              <a:rPr dirty="0" sz="1850" spc="-6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details</a:t>
            </a:r>
            <a:r>
              <a:rPr dirty="0" sz="1850" spc="-60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results</a:t>
            </a:r>
            <a:r>
              <a:rPr dirty="0" sz="1850" spc="-5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</a:t>
            </a:r>
            <a:r>
              <a:rPr dirty="0" sz="1850" spc="-125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fewer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interdependencies </a:t>
            </a:r>
            <a:r>
              <a:rPr dirty="0" sz="1850" spc="-30">
                <a:latin typeface="Arial"/>
                <a:cs typeface="Arial"/>
              </a:rPr>
              <a:t>between</a:t>
            </a:r>
            <a:r>
              <a:rPr dirty="0" sz="1850" spc="-6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modules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and</a:t>
            </a:r>
            <a:r>
              <a:rPr dirty="0" sz="1850" spc="-130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allows</a:t>
            </a:r>
            <a:r>
              <a:rPr dirty="0" sz="1850" spc="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sw</a:t>
            </a:r>
            <a:r>
              <a:rPr dirty="0" sz="1850" spc="-7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to</a:t>
            </a:r>
            <a:r>
              <a:rPr dirty="0" sz="1850" spc="-105">
                <a:latin typeface="Arial"/>
                <a:cs typeface="Arial"/>
              </a:rPr>
              <a:t> </a:t>
            </a:r>
            <a:r>
              <a:rPr dirty="0" sz="1850" spc="-20">
                <a:latin typeface="Arial"/>
                <a:cs typeface="Arial"/>
              </a:rPr>
              <a:t>evolve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</a:t>
            </a:r>
            <a:r>
              <a:rPr dirty="0" sz="1850" spc="-8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</a:t>
            </a:r>
            <a:r>
              <a:rPr dirty="0" sz="1850" spc="-130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predictable</a:t>
            </a:r>
            <a:r>
              <a:rPr dirty="0" sz="1850" spc="35">
                <a:latin typeface="Arial"/>
                <a:cs typeface="Arial"/>
              </a:rPr>
              <a:t> </a:t>
            </a:r>
            <a:r>
              <a:rPr dirty="0" sz="1850" spc="-20">
                <a:latin typeface="Arial"/>
                <a:cs typeface="Arial"/>
              </a:rPr>
              <a:t>way.</a:t>
            </a:r>
            <a:endParaRPr sz="1850">
              <a:latin typeface="Arial"/>
              <a:cs typeface="Arial"/>
            </a:endParaRPr>
          </a:p>
          <a:p>
            <a:pPr lvl="1" marL="760095" indent="-294640">
              <a:lnSpc>
                <a:spcPts val="2120"/>
              </a:lnSpc>
              <a:spcBef>
                <a:spcPts val="375"/>
              </a:spcBef>
              <a:buChar char="—"/>
              <a:tabLst>
                <a:tab pos="760095" algn="l"/>
              </a:tabLst>
            </a:pPr>
            <a:r>
              <a:rPr dirty="0" sz="1800" spc="-10">
                <a:latin typeface="Arial"/>
                <a:cs typeface="Arial"/>
              </a:rPr>
              <a:t>Application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performance</a:t>
            </a:r>
            <a:r>
              <a:rPr dirty="0" sz="1800" spc="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less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susceptible</a:t>
            </a:r>
            <a:r>
              <a:rPr dirty="0" sz="1800">
                <a:latin typeface="Arial"/>
                <a:cs typeface="Arial"/>
              </a:rPr>
              <a:t> to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underlying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ts val="2240"/>
              </a:lnSpc>
            </a:pPr>
            <a:r>
              <a:rPr dirty="0" sz="1900" spc="-10">
                <a:latin typeface="Arial"/>
                <a:cs typeface="Arial"/>
              </a:rPr>
              <a:t>hardware.</a:t>
            </a:r>
            <a:endParaRPr sz="1900">
              <a:latin typeface="Arial"/>
              <a:cs typeface="Arial"/>
            </a:endParaRPr>
          </a:p>
          <a:p>
            <a:pPr marL="356235" indent="-342265">
              <a:lnSpc>
                <a:spcPct val="100000"/>
              </a:lnSpc>
              <a:spcBef>
                <a:spcPts val="420"/>
              </a:spcBef>
              <a:buChar char="•"/>
              <a:tabLst>
                <a:tab pos="356235" algn="l"/>
              </a:tabLst>
            </a:pPr>
            <a:r>
              <a:rPr dirty="0" sz="2050" spc="-10">
                <a:latin typeface="Arial"/>
                <a:cs typeface="Arial"/>
              </a:rPr>
              <a:t>Modularity</a:t>
            </a:r>
            <a:endParaRPr sz="2050">
              <a:latin typeface="Arial"/>
              <a:cs typeface="Arial"/>
            </a:endParaRPr>
          </a:p>
          <a:p>
            <a:pPr lvl="1" marL="752475" marR="640715" indent="-287655">
              <a:lnSpc>
                <a:spcPts val="2140"/>
              </a:lnSpc>
              <a:spcBef>
                <a:spcPts val="515"/>
              </a:spcBef>
              <a:buChar char="—"/>
              <a:tabLst>
                <a:tab pos="752475" algn="l"/>
              </a:tabLst>
            </a:pPr>
            <a:r>
              <a:rPr dirty="0" sz="1950" spc="-130">
                <a:latin typeface="Arial"/>
                <a:cs typeface="Arial"/>
              </a:rPr>
              <a:t>Tasks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-90">
                <a:latin typeface="Arial"/>
                <a:cs typeface="Arial"/>
              </a:rPr>
              <a:t>are</a:t>
            </a:r>
            <a:r>
              <a:rPr dirty="0" sz="1950" spc="-45">
                <a:latin typeface="Arial"/>
                <a:cs typeface="Arial"/>
              </a:rPr>
              <a:t> </a:t>
            </a:r>
            <a:r>
              <a:rPr dirty="0" sz="1950" spc="-95">
                <a:latin typeface="Arial"/>
                <a:cs typeface="Arial"/>
              </a:rPr>
              <a:t>independent</a:t>
            </a:r>
            <a:r>
              <a:rPr dirty="0" sz="1950" spc="75">
                <a:latin typeface="Arial"/>
                <a:cs typeface="Arial"/>
              </a:rPr>
              <a:t> </a:t>
            </a:r>
            <a:r>
              <a:rPr dirty="0" sz="1950" spc="-90">
                <a:latin typeface="Arial"/>
                <a:cs typeface="Arial"/>
              </a:rPr>
              <a:t>modules,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 spc="-90">
                <a:latin typeface="Arial"/>
                <a:cs typeface="Arial"/>
              </a:rPr>
              <a:t>each</a:t>
            </a:r>
            <a:r>
              <a:rPr dirty="0" sz="1950" spc="-45">
                <a:latin typeface="Arial"/>
                <a:cs typeface="Arial"/>
              </a:rPr>
              <a:t> </a:t>
            </a:r>
            <a:r>
              <a:rPr dirty="0" sz="1950" spc="-90">
                <a:latin typeface="Arial"/>
                <a:cs typeface="Arial"/>
              </a:rPr>
              <a:t>of</a:t>
            </a:r>
            <a:r>
              <a:rPr dirty="0" sz="1950" spc="-35">
                <a:latin typeface="Arial"/>
                <a:cs typeface="Arial"/>
              </a:rPr>
              <a:t> </a:t>
            </a:r>
            <a:r>
              <a:rPr dirty="0" sz="1950" spc="-105">
                <a:latin typeface="Arial"/>
                <a:cs typeface="Arial"/>
              </a:rPr>
              <a:t>which</a:t>
            </a:r>
            <a:r>
              <a:rPr dirty="0" sz="1950">
                <a:latin typeface="Arial"/>
                <a:cs typeface="Arial"/>
              </a:rPr>
              <a:t> </a:t>
            </a:r>
            <a:r>
              <a:rPr dirty="0" sz="1950" spc="-85">
                <a:latin typeface="Arial"/>
                <a:cs typeface="Arial"/>
              </a:rPr>
              <a:t>has</a:t>
            </a:r>
            <a:r>
              <a:rPr dirty="0" sz="1950" spc="-50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a</a:t>
            </a:r>
            <a:r>
              <a:rPr dirty="0" sz="1950" spc="-114">
                <a:latin typeface="Arial"/>
                <a:cs typeface="Arial"/>
              </a:rPr>
              <a:t> </a:t>
            </a:r>
            <a:r>
              <a:rPr dirty="0" sz="1950" spc="-100">
                <a:latin typeface="Arial"/>
                <a:cs typeface="Arial"/>
              </a:rPr>
              <a:t>well-</a:t>
            </a:r>
            <a:r>
              <a:rPr dirty="0" sz="1950" spc="-35">
                <a:latin typeface="Arial"/>
                <a:cs typeface="Arial"/>
              </a:rPr>
              <a:t>defined </a:t>
            </a:r>
            <a:r>
              <a:rPr dirty="0" sz="1950" spc="-10">
                <a:latin typeface="Arial"/>
                <a:cs typeface="Arial"/>
              </a:rPr>
              <a:t>purpose.</a:t>
            </a:r>
            <a:endParaRPr sz="1950">
              <a:latin typeface="Arial"/>
              <a:cs typeface="Arial"/>
            </a:endParaRPr>
          </a:p>
          <a:p>
            <a:pPr marL="352425" indent="-338455">
              <a:lnSpc>
                <a:spcPct val="100000"/>
              </a:lnSpc>
              <a:spcBef>
                <a:spcPts val="375"/>
              </a:spcBef>
              <a:buChar char="•"/>
              <a:tabLst>
                <a:tab pos="352425" algn="l"/>
              </a:tabLst>
            </a:pPr>
            <a:r>
              <a:rPr dirty="0" sz="2050" spc="-70">
                <a:latin typeface="Arial"/>
                <a:cs typeface="Arial"/>
              </a:rPr>
              <a:t>Team </a:t>
            </a:r>
            <a:r>
              <a:rPr dirty="0" sz="2050" spc="-10">
                <a:latin typeface="Arial"/>
                <a:cs typeface="Arial"/>
              </a:rPr>
              <a:t>development</a:t>
            </a:r>
            <a:endParaRPr sz="2050">
              <a:latin typeface="Arial"/>
              <a:cs typeface="Arial"/>
            </a:endParaRPr>
          </a:p>
          <a:p>
            <a:pPr lvl="1" marL="755015" indent="-289560">
              <a:lnSpc>
                <a:spcPts val="2135"/>
              </a:lnSpc>
              <a:spcBef>
                <a:spcPts val="390"/>
              </a:spcBef>
              <a:buChar char="—"/>
              <a:tabLst>
                <a:tab pos="755015" algn="l"/>
              </a:tabLst>
            </a:pPr>
            <a:r>
              <a:rPr dirty="0" sz="1800" spc="-25">
                <a:latin typeface="Arial"/>
                <a:cs typeface="Arial"/>
              </a:rPr>
              <a:t>Tasks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have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well-</a:t>
            </a:r>
            <a:r>
              <a:rPr dirty="0" sz="1800">
                <a:latin typeface="Arial"/>
                <a:cs typeface="Arial"/>
              </a:rPr>
              <a:t>defined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interfaces, allowing easier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development</a:t>
            </a:r>
            <a:r>
              <a:rPr dirty="0" sz="1800" spc="9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by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ts val="2255"/>
              </a:lnSpc>
            </a:pPr>
            <a:r>
              <a:rPr dirty="0" sz="1900" spc="-10">
                <a:latin typeface="Arial"/>
                <a:cs typeface="Arial"/>
              </a:rPr>
              <a:t>teams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290">
              <a:lnSpc>
                <a:spcPts val="1200"/>
              </a:lnSpc>
            </a:pPr>
            <a:fld id="{81D60167-4931-47E6-BA6A-407CBD079E47}" type="slidenum">
              <a:rPr dirty="0" spc="-50">
                <a:solidFill>
                  <a:srgbClr val="313131"/>
                </a:solidFill>
              </a:rPr>
              <a:t>6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49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10"/>
              </a:spcBef>
            </a:pPr>
            <a:r>
              <a:rPr dirty="0" sz="3700" spc="65">
                <a:solidFill>
                  <a:srgbClr val="001C64"/>
                </a:solidFill>
              </a:rPr>
              <a:t>Benefits</a:t>
            </a:r>
            <a:r>
              <a:rPr dirty="0" sz="3700" spc="265">
                <a:solidFill>
                  <a:srgbClr val="001C64"/>
                </a:solidFill>
              </a:rPr>
              <a:t> </a:t>
            </a:r>
            <a:r>
              <a:rPr dirty="0" sz="3700">
                <a:solidFill>
                  <a:srgbClr val="051D66"/>
                </a:solidFill>
              </a:rPr>
              <a:t>of</a:t>
            </a:r>
            <a:r>
              <a:rPr dirty="0" sz="3700" spc="320">
                <a:solidFill>
                  <a:srgbClr val="051D66"/>
                </a:solidFill>
              </a:rPr>
              <a:t> </a:t>
            </a:r>
            <a:r>
              <a:rPr dirty="0" sz="3700" spc="120">
                <a:solidFill>
                  <a:srgbClr val="071F62"/>
                </a:solidFill>
              </a:rPr>
              <a:t>using</a:t>
            </a:r>
            <a:r>
              <a:rPr dirty="0" sz="3700" spc="204">
                <a:solidFill>
                  <a:srgbClr val="071F62"/>
                </a:solidFill>
              </a:rPr>
              <a:t> </a:t>
            </a:r>
            <a:r>
              <a:rPr dirty="0" sz="3700">
                <a:solidFill>
                  <a:srgbClr val="001C5D"/>
                </a:solidFill>
              </a:rPr>
              <a:t>real-time</a:t>
            </a:r>
            <a:r>
              <a:rPr dirty="0" sz="3700" spc="250">
                <a:solidFill>
                  <a:srgbClr val="001C5D"/>
                </a:solidFill>
              </a:rPr>
              <a:t> </a:t>
            </a:r>
            <a:r>
              <a:rPr dirty="0" sz="3700" spc="-10">
                <a:solidFill>
                  <a:srgbClr val="002367"/>
                </a:solidFill>
              </a:rPr>
              <a:t>kernel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4423" y="1567142"/>
            <a:ext cx="8011159" cy="484632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63220" indent="-349885">
              <a:lnSpc>
                <a:spcPct val="100000"/>
              </a:lnSpc>
              <a:spcBef>
                <a:spcPts val="540"/>
              </a:spcBef>
              <a:buChar char="•"/>
              <a:tabLst>
                <a:tab pos="363220" algn="l"/>
              </a:tabLst>
            </a:pPr>
            <a:r>
              <a:rPr dirty="0" sz="2200" spc="-10">
                <a:latin typeface="Arial"/>
                <a:cs typeface="Arial"/>
              </a:rPr>
              <a:t>Easier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testing</a:t>
            </a:r>
            <a:endParaRPr sz="2200">
              <a:latin typeface="Arial"/>
              <a:cs typeface="Arial"/>
            </a:endParaRPr>
          </a:p>
          <a:p>
            <a:pPr lvl="1" marL="748665" marR="25400" indent="-300990">
              <a:lnSpc>
                <a:spcPts val="2600"/>
              </a:lnSpc>
              <a:spcBef>
                <a:spcPts val="680"/>
              </a:spcBef>
              <a:buChar char="—"/>
              <a:tabLst>
                <a:tab pos="748665" algn="l"/>
                <a:tab pos="75247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95">
                <a:latin typeface="Arial"/>
                <a:cs typeface="Arial"/>
              </a:rPr>
              <a:t>Tasks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are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independent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modules</a:t>
            </a:r>
            <a:r>
              <a:rPr dirty="0" sz="230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with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clean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interfaces,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they can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be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tested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in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isolation.</a:t>
            </a:r>
            <a:endParaRPr sz="2300">
              <a:latin typeface="Arial"/>
              <a:cs typeface="Arial"/>
            </a:endParaRPr>
          </a:p>
          <a:p>
            <a:pPr marL="358775" indent="-345440">
              <a:lnSpc>
                <a:spcPct val="100000"/>
              </a:lnSpc>
              <a:spcBef>
                <a:spcPts val="445"/>
              </a:spcBef>
              <a:buChar char="•"/>
              <a:tabLst>
                <a:tab pos="358775" algn="l"/>
              </a:tabLst>
            </a:pPr>
            <a:r>
              <a:rPr dirty="0" sz="2200">
                <a:latin typeface="Arial"/>
                <a:cs typeface="Arial"/>
              </a:rPr>
              <a:t>Idle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time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utilization</a:t>
            </a:r>
            <a:endParaRPr sz="2200">
              <a:latin typeface="Arial"/>
              <a:cs typeface="Arial"/>
            </a:endParaRPr>
          </a:p>
          <a:p>
            <a:pPr lvl="1" marL="752475" marR="344170" indent="-298450">
              <a:lnSpc>
                <a:spcPct val="98100"/>
              </a:lnSpc>
              <a:spcBef>
                <a:spcPts val="525"/>
              </a:spcBef>
              <a:buChar char="—"/>
              <a:tabLst>
                <a:tab pos="755650" algn="l"/>
              </a:tabLst>
            </a:pP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1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idle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task</a:t>
            </a:r>
            <a:r>
              <a:rPr dirty="0" sz="2250" spc="-9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created</a:t>
            </a:r>
            <a:r>
              <a:rPr dirty="0" sz="2250" spc="-11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automatically</a:t>
            </a:r>
            <a:r>
              <a:rPr dirty="0" sz="2250" spc="7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when</a:t>
            </a:r>
            <a:r>
              <a:rPr dirty="0" sz="2250" spc="-10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kernel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is </a:t>
            </a:r>
            <a:r>
              <a:rPr dirty="0" sz="2250" spc="-25">
                <a:latin typeface="Arial"/>
                <a:cs typeface="Arial"/>
              </a:rPr>
              <a:t>	</a:t>
            </a:r>
            <a:r>
              <a:rPr dirty="0" sz="2300" spc="-40">
                <a:latin typeface="Arial"/>
                <a:cs typeface="Arial"/>
              </a:rPr>
              <a:t>started.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executes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whenever</a:t>
            </a:r>
            <a:r>
              <a:rPr dirty="0" sz="2300" spc="2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there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are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no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application </a:t>
            </a:r>
            <a:r>
              <a:rPr dirty="0" sz="2300" spc="-10">
                <a:latin typeface="Arial"/>
                <a:cs typeface="Arial"/>
              </a:rPr>
              <a:t>	</a:t>
            </a:r>
            <a:r>
              <a:rPr dirty="0" sz="2200">
                <a:latin typeface="Arial"/>
                <a:cs typeface="Arial"/>
              </a:rPr>
              <a:t>tasks</a:t>
            </a:r>
            <a:r>
              <a:rPr dirty="0" sz="2200" spc="-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run.</a:t>
            </a:r>
            <a:endParaRPr sz="2200">
              <a:latin typeface="Arial"/>
              <a:cs typeface="Arial"/>
            </a:endParaRPr>
          </a:p>
          <a:p>
            <a:pPr lvl="1" marL="749935" marR="361950" indent="-299720">
              <a:lnSpc>
                <a:spcPts val="2640"/>
              </a:lnSpc>
              <a:spcBef>
                <a:spcPts val="615"/>
              </a:spcBef>
              <a:buChar char="—"/>
              <a:tabLst>
                <a:tab pos="749935" algn="l"/>
                <a:tab pos="755015" algn="l"/>
              </a:tabLst>
            </a:pPr>
            <a:r>
              <a:rPr dirty="0" sz="2300">
                <a:latin typeface="Arial"/>
                <a:cs typeface="Arial"/>
              </a:rPr>
              <a:t>	Be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used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measure</a:t>
            </a:r>
            <a:r>
              <a:rPr dirty="0" sz="230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spare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processing</a:t>
            </a:r>
            <a:r>
              <a:rPr dirty="0" sz="2300" spc="40"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capacity,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perform </a:t>
            </a:r>
            <a:r>
              <a:rPr dirty="0" sz="2300" spc="-55">
                <a:latin typeface="Arial"/>
                <a:cs typeface="Arial"/>
              </a:rPr>
              <a:t>background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checks, </a:t>
            </a:r>
            <a:r>
              <a:rPr dirty="0" sz="2300">
                <a:latin typeface="Arial"/>
                <a:cs typeface="Arial"/>
              </a:rPr>
              <a:t>or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simply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place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process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into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a </a:t>
            </a:r>
            <a:r>
              <a:rPr dirty="0" sz="2300" spc="-90">
                <a:latin typeface="Arial"/>
                <a:cs typeface="Arial"/>
              </a:rPr>
              <a:t>low-</a:t>
            </a:r>
            <a:r>
              <a:rPr dirty="0" sz="2300" spc="-45">
                <a:latin typeface="Arial"/>
                <a:cs typeface="Arial"/>
              </a:rPr>
              <a:t>power</a:t>
            </a:r>
            <a:r>
              <a:rPr dirty="0" sz="2300" spc="-10">
                <a:latin typeface="Arial"/>
                <a:cs typeface="Arial"/>
              </a:rPr>
              <a:t> mode.</a:t>
            </a:r>
            <a:endParaRPr sz="23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30"/>
              </a:spcBef>
              <a:buChar char="•"/>
              <a:tabLst>
                <a:tab pos="352425" algn="l"/>
              </a:tabLst>
            </a:pPr>
            <a:r>
              <a:rPr dirty="0" sz="2300" spc="-50">
                <a:latin typeface="Arial"/>
                <a:cs typeface="Arial"/>
              </a:rPr>
              <a:t>Flexible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interrupt </a:t>
            </a:r>
            <a:r>
              <a:rPr dirty="0" sz="2300" spc="-10">
                <a:latin typeface="Arial"/>
                <a:cs typeface="Arial"/>
              </a:rPr>
              <a:t>handling</a:t>
            </a:r>
            <a:endParaRPr sz="2300">
              <a:latin typeface="Arial"/>
              <a:cs typeface="Arial"/>
            </a:endParaRPr>
          </a:p>
          <a:p>
            <a:pPr lvl="1" marL="759460" indent="-298450">
              <a:lnSpc>
                <a:spcPts val="2695"/>
              </a:lnSpc>
              <a:spcBef>
                <a:spcPts val="484"/>
              </a:spcBef>
              <a:buChar char="—"/>
              <a:tabLst>
                <a:tab pos="759460" algn="l"/>
              </a:tabLst>
            </a:pPr>
            <a:r>
              <a:rPr dirty="0" sz="2250" spc="-35">
                <a:latin typeface="Arial"/>
                <a:cs typeface="Arial"/>
              </a:rPr>
              <a:t>Interrupt</a:t>
            </a:r>
            <a:r>
              <a:rPr dirty="0" sz="2250" spc="-1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handlers</a:t>
            </a:r>
            <a:r>
              <a:rPr dirty="0" sz="2250" spc="-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can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kept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very</a:t>
            </a:r>
            <a:r>
              <a:rPr dirty="0" sz="2250" spc="-8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short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deferring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most</a:t>
            </a:r>
            <a:endParaRPr sz="2250">
              <a:latin typeface="Arial"/>
              <a:cs typeface="Arial"/>
            </a:endParaRPr>
          </a:p>
          <a:p>
            <a:pPr marL="760095">
              <a:lnSpc>
                <a:spcPts val="2635"/>
              </a:lnSpc>
            </a:pP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required</a:t>
            </a:r>
            <a:r>
              <a:rPr dirty="0" sz="2200" spc="-12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processing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2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handler</a:t>
            </a:r>
            <a:r>
              <a:rPr dirty="0" sz="2200" spc="2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tasks.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159"/>
                </a:solidFill>
              </a:rPr>
              <a:t>Standard</a:t>
            </a:r>
            <a:r>
              <a:rPr dirty="0" spc="5">
                <a:solidFill>
                  <a:srgbClr val="001159"/>
                </a:solidFill>
              </a:rPr>
              <a:t> </a:t>
            </a:r>
            <a:r>
              <a:rPr dirty="0" spc="-65">
                <a:solidFill>
                  <a:srgbClr val="051F5E"/>
                </a:solidFill>
              </a:rPr>
              <a:t>FreeRTOS</a:t>
            </a:r>
            <a:r>
              <a:rPr dirty="0" spc="175">
                <a:solidFill>
                  <a:srgbClr val="051F5E"/>
                </a:solidFill>
              </a:rPr>
              <a:t> </a:t>
            </a:r>
            <a:r>
              <a:rPr dirty="0" spc="-10">
                <a:solidFill>
                  <a:srgbClr val="032162"/>
                </a:solidFill>
              </a:rPr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479" y="1532630"/>
            <a:ext cx="6811645" cy="425831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60045" indent="-338455">
              <a:lnSpc>
                <a:spcPct val="100000"/>
              </a:lnSpc>
              <a:spcBef>
                <a:spcPts val="459"/>
              </a:spcBef>
              <a:buChar char="•"/>
              <a:tabLst>
                <a:tab pos="360045" algn="l"/>
              </a:tabLst>
            </a:pPr>
            <a:r>
              <a:rPr dirty="0" sz="2800" spc="-50">
                <a:latin typeface="Arial"/>
                <a:cs typeface="Arial"/>
              </a:rPr>
              <a:t>Pre-</a:t>
            </a:r>
            <a:r>
              <a:rPr dirty="0" sz="2800">
                <a:latin typeface="Arial"/>
                <a:cs typeface="Arial"/>
              </a:rPr>
              <a:t>emptive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co-</a:t>
            </a:r>
            <a:r>
              <a:rPr dirty="0" sz="2800">
                <a:latin typeface="Arial"/>
                <a:cs typeface="Arial"/>
              </a:rPr>
              <a:t>operative</a:t>
            </a:r>
            <a:r>
              <a:rPr dirty="0" sz="2800" spc="7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operation</a:t>
            </a:r>
            <a:endParaRPr sz="28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365"/>
              </a:spcBef>
              <a:buChar char="•"/>
              <a:tabLst>
                <a:tab pos="368300" algn="l"/>
              </a:tabLst>
            </a:pPr>
            <a:r>
              <a:rPr dirty="0" sz="2800" spc="-40">
                <a:latin typeface="Arial"/>
                <a:cs typeface="Arial"/>
              </a:rPr>
              <a:t>Very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flexible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task</a:t>
            </a:r>
            <a:r>
              <a:rPr dirty="0" sz="2800" spc="-1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assignment</a:t>
            </a:r>
            <a:endParaRPr sz="28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80"/>
              </a:spcBef>
              <a:buChar char="•"/>
              <a:tabLst>
                <a:tab pos="353695" algn="l"/>
              </a:tabLst>
            </a:pPr>
            <a:r>
              <a:rPr dirty="0" sz="2850" spc="-10">
                <a:latin typeface="Arial"/>
                <a:cs typeface="Arial"/>
              </a:rPr>
              <a:t>Queues</a:t>
            </a:r>
            <a:endParaRPr sz="2850">
              <a:latin typeface="Arial"/>
              <a:cs typeface="Arial"/>
            </a:endParaRPr>
          </a:p>
          <a:p>
            <a:pPr marL="361315" indent="-348615">
              <a:lnSpc>
                <a:spcPct val="100000"/>
              </a:lnSpc>
              <a:spcBef>
                <a:spcPts val="325"/>
              </a:spcBef>
              <a:buChar char="•"/>
              <a:tabLst>
                <a:tab pos="361315" algn="l"/>
              </a:tabLst>
            </a:pPr>
            <a:r>
              <a:rPr dirty="0" sz="2800" spc="-10">
                <a:latin typeface="Arial"/>
                <a:cs typeface="Arial"/>
              </a:rPr>
              <a:t>Binary/Counting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/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Recursive</a:t>
            </a:r>
            <a:r>
              <a:rPr dirty="0" sz="2800" spc="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semaphores</a:t>
            </a:r>
            <a:endParaRPr sz="2800">
              <a:latin typeface="Arial"/>
              <a:cs typeface="Arial"/>
            </a:endParaRPr>
          </a:p>
          <a:p>
            <a:pPr marL="361950" indent="-339725">
              <a:lnSpc>
                <a:spcPct val="100000"/>
              </a:lnSpc>
              <a:spcBef>
                <a:spcPts val="415"/>
              </a:spcBef>
              <a:buChar char="•"/>
              <a:tabLst>
                <a:tab pos="361950" algn="l"/>
              </a:tabLst>
            </a:pPr>
            <a:r>
              <a:rPr dirty="0" sz="2750" spc="-10">
                <a:latin typeface="Arial"/>
                <a:cs typeface="Arial"/>
              </a:rPr>
              <a:t>Mutexes</a:t>
            </a:r>
            <a:endParaRPr sz="2750">
              <a:latin typeface="Arial"/>
              <a:cs typeface="Arial"/>
            </a:endParaRPr>
          </a:p>
          <a:p>
            <a:pPr marL="361315" indent="-348615">
              <a:lnSpc>
                <a:spcPct val="100000"/>
              </a:lnSpc>
              <a:spcBef>
                <a:spcPts val="305"/>
              </a:spcBef>
              <a:buChar char="•"/>
              <a:tabLst>
                <a:tab pos="361315" algn="l"/>
              </a:tabLst>
            </a:pPr>
            <a:r>
              <a:rPr dirty="0" sz="2800" spc="-20">
                <a:latin typeface="Arial"/>
                <a:cs typeface="Arial"/>
              </a:rPr>
              <a:t>Tick/Idle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hook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functions</a:t>
            </a:r>
            <a:endParaRPr sz="2800">
              <a:latin typeface="Arial"/>
              <a:cs typeface="Arial"/>
            </a:endParaRPr>
          </a:p>
          <a:p>
            <a:pPr marL="361950" indent="-349250">
              <a:lnSpc>
                <a:spcPct val="100000"/>
              </a:lnSpc>
              <a:spcBef>
                <a:spcPts val="330"/>
              </a:spcBef>
              <a:buChar char="•"/>
              <a:tabLst>
                <a:tab pos="361950" algn="l"/>
              </a:tabLst>
            </a:pPr>
            <a:r>
              <a:rPr dirty="0" sz="2800">
                <a:latin typeface="Arial"/>
                <a:cs typeface="Arial"/>
              </a:rPr>
              <a:t>Stack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overflow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checking</a:t>
            </a:r>
            <a:endParaRPr sz="2800">
              <a:latin typeface="Arial"/>
              <a:cs typeface="Arial"/>
            </a:endParaRPr>
          </a:p>
          <a:p>
            <a:pPr marL="361315" indent="-339725">
              <a:lnSpc>
                <a:spcPct val="100000"/>
              </a:lnSpc>
              <a:spcBef>
                <a:spcPts val="335"/>
              </a:spcBef>
              <a:buChar char="•"/>
              <a:tabLst>
                <a:tab pos="361315" algn="l"/>
              </a:tabLst>
            </a:pPr>
            <a:r>
              <a:rPr dirty="0" sz="2800" spc="-10">
                <a:latin typeface="Arial"/>
                <a:cs typeface="Arial"/>
              </a:rPr>
              <a:t>Trace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hook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macros</a:t>
            </a:r>
            <a:endParaRPr sz="2800">
              <a:latin typeface="Arial"/>
              <a:cs typeface="Arial"/>
            </a:endParaRPr>
          </a:p>
          <a:p>
            <a:pPr marL="363220" indent="-350520">
              <a:lnSpc>
                <a:spcPct val="100000"/>
              </a:lnSpc>
              <a:spcBef>
                <a:spcPts val="365"/>
              </a:spcBef>
              <a:buChar char="•"/>
              <a:tabLst>
                <a:tab pos="363220" algn="l"/>
              </a:tabLst>
            </a:pPr>
            <a:r>
              <a:rPr dirty="0" sz="2800" spc="-10">
                <a:latin typeface="Arial"/>
                <a:cs typeface="Arial"/>
              </a:rPr>
              <a:t>Interrupt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nesting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011" rIns="0" bIns="0" rtlCol="0" vert="horz">
            <a:spAutoFit/>
          </a:bodyPr>
          <a:lstStyle/>
          <a:p>
            <a:pPr marL="6985">
              <a:lnSpc>
                <a:spcPct val="100000"/>
              </a:lnSpc>
              <a:spcBef>
                <a:spcPts val="105"/>
              </a:spcBef>
            </a:pPr>
            <a:r>
              <a:rPr dirty="0" sz="3800" spc="114">
                <a:solidFill>
                  <a:srgbClr val="051C64"/>
                </a:solidFill>
                <a:latin typeface="Calibri"/>
                <a:cs typeface="Calibri"/>
              </a:rPr>
              <a:t>Outline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8094" y="1534367"/>
            <a:ext cx="4260850" cy="3316604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55"/>
              </a:spcBef>
              <a:buChar char="•"/>
              <a:tabLst>
                <a:tab pos="354330" algn="l"/>
              </a:tabLst>
            </a:pPr>
            <a:r>
              <a:rPr dirty="0" sz="3050" spc="-120">
                <a:latin typeface="Arial"/>
                <a:cs typeface="Arial"/>
              </a:rPr>
              <a:t>Task</a:t>
            </a:r>
            <a:r>
              <a:rPr dirty="0" sz="3050" spc="-9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Management</a:t>
            </a:r>
            <a:endParaRPr sz="3050">
              <a:latin typeface="Arial"/>
              <a:cs typeface="Arial"/>
            </a:endParaRPr>
          </a:p>
          <a:p>
            <a:pPr marL="346710" indent="-334010">
              <a:lnSpc>
                <a:spcPct val="100000"/>
              </a:lnSpc>
              <a:spcBef>
                <a:spcPts val="665"/>
              </a:spcBef>
              <a:buChar char="•"/>
              <a:tabLst>
                <a:tab pos="346710" algn="l"/>
              </a:tabLst>
            </a:pPr>
            <a:r>
              <a:rPr dirty="0" sz="3050" spc="-10">
                <a:latin typeface="Arial"/>
                <a:cs typeface="Arial"/>
              </a:rPr>
              <a:t>Queue</a:t>
            </a:r>
            <a:r>
              <a:rPr dirty="0" sz="3050" spc="-17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Management</a:t>
            </a:r>
            <a:endParaRPr sz="3050">
              <a:latin typeface="Arial"/>
              <a:cs typeface="Arial"/>
            </a:endParaRPr>
          </a:p>
          <a:p>
            <a:pPr marL="354330" indent="-341630">
              <a:lnSpc>
                <a:spcPct val="100000"/>
              </a:lnSpc>
              <a:spcBef>
                <a:spcPts val="665"/>
              </a:spcBef>
              <a:buChar char="•"/>
              <a:tabLst>
                <a:tab pos="354330" algn="l"/>
              </a:tabLst>
            </a:pPr>
            <a:r>
              <a:rPr dirty="0" sz="3050" spc="-35">
                <a:latin typeface="Arial"/>
                <a:cs typeface="Arial"/>
              </a:rPr>
              <a:t>Interrupt</a:t>
            </a:r>
            <a:r>
              <a:rPr dirty="0" sz="3050" spc="-7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Management</a:t>
            </a:r>
            <a:endParaRPr sz="3050">
              <a:latin typeface="Arial"/>
              <a:cs typeface="Arial"/>
            </a:endParaRPr>
          </a:p>
          <a:p>
            <a:pPr marL="359410" indent="-346710">
              <a:lnSpc>
                <a:spcPct val="100000"/>
              </a:lnSpc>
              <a:spcBef>
                <a:spcPts val="630"/>
              </a:spcBef>
              <a:buChar char="•"/>
              <a:tabLst>
                <a:tab pos="359410" algn="l"/>
              </a:tabLst>
            </a:pPr>
            <a:r>
              <a:rPr dirty="0" sz="3050" spc="-45">
                <a:latin typeface="Arial"/>
                <a:cs typeface="Arial"/>
              </a:rPr>
              <a:t>Resource</a:t>
            </a:r>
            <a:r>
              <a:rPr dirty="0" sz="3050" spc="-100">
                <a:latin typeface="Arial"/>
                <a:cs typeface="Arial"/>
              </a:rPr>
              <a:t> </a:t>
            </a:r>
            <a:r>
              <a:rPr dirty="0" sz="3050" spc="-70">
                <a:latin typeface="Arial"/>
                <a:cs typeface="Arial"/>
              </a:rPr>
              <a:t>Management</a:t>
            </a:r>
            <a:endParaRPr sz="305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0"/>
              </a:spcBef>
              <a:buChar char="•"/>
              <a:tabLst>
                <a:tab pos="352425" algn="l"/>
              </a:tabLst>
            </a:pPr>
            <a:r>
              <a:rPr dirty="0" sz="3050" spc="-35">
                <a:latin typeface="Arial"/>
                <a:cs typeface="Arial"/>
              </a:rPr>
              <a:t>Memory</a:t>
            </a:r>
            <a:r>
              <a:rPr dirty="0" sz="3050" spc="-7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Management</a:t>
            </a:r>
            <a:endParaRPr sz="3050">
              <a:latin typeface="Arial"/>
              <a:cs typeface="Arial"/>
            </a:endParaRPr>
          </a:p>
          <a:p>
            <a:pPr marL="354330" indent="-341630">
              <a:lnSpc>
                <a:spcPct val="100000"/>
              </a:lnSpc>
              <a:spcBef>
                <a:spcPts val="630"/>
              </a:spcBef>
              <a:buChar char="•"/>
              <a:tabLst>
                <a:tab pos="354330" algn="l"/>
              </a:tabLst>
            </a:pPr>
            <a:r>
              <a:rPr dirty="0" sz="3050" spc="-50">
                <a:latin typeface="Arial"/>
                <a:cs typeface="Arial"/>
              </a:rPr>
              <a:t>Trouble</a:t>
            </a:r>
            <a:r>
              <a:rPr dirty="0" sz="3050" spc="-13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Shooting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6137" y="4377977"/>
            <a:ext cx="5140960" cy="6877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350" spc="-290">
                <a:solidFill>
                  <a:srgbClr val="031F66"/>
                </a:solidFill>
              </a:rPr>
              <a:t>TASK</a:t>
            </a:r>
            <a:r>
              <a:rPr dirty="0" sz="4350" spc="130">
                <a:solidFill>
                  <a:srgbClr val="031F66"/>
                </a:solidFill>
              </a:rPr>
              <a:t> </a:t>
            </a:r>
            <a:r>
              <a:rPr dirty="0" sz="4350" spc="-300">
                <a:solidFill>
                  <a:srgbClr val="011F64"/>
                </a:solidFill>
              </a:rPr>
              <a:t>MANAGEMENT</a:t>
            </a:r>
            <a:endParaRPr sz="435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51F5D"/>
                </a:solidFill>
              </a:rPr>
              <a:t>.</a:t>
            </a:r>
            <a:r>
              <a:rPr dirty="0" spc="-50">
                <a:solidFill>
                  <a:srgbClr val="051F5D"/>
                </a:solidFill>
              </a:rPr>
              <a:t> </a:t>
            </a:r>
            <a:r>
              <a:rPr dirty="0" spc="90">
                <a:solidFill>
                  <a:srgbClr val="001C62"/>
                </a:solidFill>
              </a:rPr>
              <a:t>Introduction</a:t>
            </a:r>
            <a:r>
              <a:rPr dirty="0" spc="300">
                <a:solidFill>
                  <a:srgbClr val="001C62"/>
                </a:solidFill>
              </a:rPr>
              <a:t> </a:t>
            </a:r>
            <a:r>
              <a:rPr dirty="0">
                <a:solidFill>
                  <a:srgbClr val="001A59"/>
                </a:solidFill>
              </a:rPr>
              <a:t>and</a:t>
            </a:r>
            <a:r>
              <a:rPr dirty="0" spc="30">
                <a:solidFill>
                  <a:srgbClr val="001A59"/>
                </a:solidFill>
              </a:rPr>
              <a:t> </a:t>
            </a:r>
            <a:r>
              <a:rPr dirty="0" spc="-10">
                <a:solidFill>
                  <a:srgbClr val="031F66"/>
                </a:solidFill>
              </a:rPr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22" y="1548514"/>
            <a:ext cx="7266940" cy="36493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3060" indent="-340360">
              <a:lnSpc>
                <a:spcPct val="100000"/>
              </a:lnSpc>
              <a:spcBef>
                <a:spcPts val="695"/>
              </a:spcBef>
              <a:buChar char="•"/>
              <a:tabLst>
                <a:tab pos="353060" algn="l"/>
              </a:tabLst>
            </a:pPr>
            <a:r>
              <a:rPr dirty="0" sz="3000">
                <a:latin typeface="Arial"/>
                <a:cs typeface="Arial"/>
              </a:rPr>
              <a:t>Main</a:t>
            </a:r>
            <a:r>
              <a:rPr dirty="0" sz="3000" spc="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topics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 </a:t>
            </a:r>
            <a:r>
              <a:rPr dirty="0" sz="3000" spc="-10">
                <a:latin typeface="Arial"/>
                <a:cs typeface="Arial"/>
              </a:rPr>
              <a:t>covered</a:t>
            </a:r>
            <a:endParaRPr sz="3000">
              <a:latin typeface="Arial"/>
              <a:cs typeface="Arial"/>
            </a:endParaRPr>
          </a:p>
          <a:p>
            <a:pPr lvl="1" marL="752475" marR="5080" indent="-347345">
              <a:lnSpc>
                <a:spcPts val="3160"/>
              </a:lnSpc>
              <a:spcBef>
                <a:spcPts val="670"/>
              </a:spcBef>
              <a:buChar char="—"/>
              <a:tabLst>
                <a:tab pos="752475" algn="l"/>
                <a:tab pos="754380" algn="l"/>
              </a:tabLst>
            </a:pPr>
            <a:r>
              <a:rPr dirty="0" sz="2650">
                <a:latin typeface="Arial"/>
                <a:cs typeface="Arial"/>
              </a:rPr>
              <a:t>	How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45">
                <a:latin typeface="Arial"/>
                <a:cs typeface="Arial"/>
              </a:rPr>
              <a:t>FreeRTOS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allocates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processing</a:t>
            </a:r>
            <a:r>
              <a:rPr dirty="0" sz="2650" spc="-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time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to </a:t>
            </a:r>
            <a:r>
              <a:rPr dirty="0" sz="2650">
                <a:latin typeface="Arial"/>
                <a:cs typeface="Arial"/>
              </a:rPr>
              <a:t>each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within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application</a:t>
            </a:r>
            <a:endParaRPr sz="2650">
              <a:latin typeface="Arial"/>
              <a:cs typeface="Arial"/>
            </a:endParaRPr>
          </a:p>
          <a:p>
            <a:pPr lvl="1" marL="751840" marR="161925" indent="-360680">
              <a:lnSpc>
                <a:spcPts val="3090"/>
              </a:lnSpc>
              <a:spcBef>
                <a:spcPts val="625"/>
              </a:spcBef>
              <a:buChar char="—"/>
              <a:tabLst>
                <a:tab pos="751840" algn="l"/>
                <a:tab pos="753110" algn="l"/>
              </a:tabLst>
            </a:pPr>
            <a:r>
              <a:rPr dirty="0" sz="2750">
                <a:latin typeface="Arial"/>
                <a:cs typeface="Arial"/>
              </a:rPr>
              <a:t>	</a:t>
            </a:r>
            <a:r>
              <a:rPr dirty="0" sz="2750" spc="-100">
                <a:latin typeface="Arial"/>
                <a:cs typeface="Arial"/>
              </a:rPr>
              <a:t>How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110">
                <a:latin typeface="Arial"/>
                <a:cs typeface="Arial"/>
              </a:rPr>
              <a:t>FreeRTOS</a:t>
            </a:r>
            <a:r>
              <a:rPr dirty="0" sz="2750" spc="-30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chooses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which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task</a:t>
            </a:r>
            <a:r>
              <a:rPr dirty="0" sz="2750" spc="-80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should execute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at</a:t>
            </a:r>
            <a:r>
              <a:rPr dirty="0" sz="2750" spc="-95">
                <a:latin typeface="Arial"/>
                <a:cs typeface="Arial"/>
              </a:rPr>
              <a:t> </a:t>
            </a:r>
            <a:r>
              <a:rPr dirty="0" sz="2750" spc="-80">
                <a:latin typeface="Arial"/>
                <a:cs typeface="Arial"/>
              </a:rPr>
              <a:t>any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given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time</a:t>
            </a:r>
            <a:endParaRPr sz="2750">
              <a:latin typeface="Arial"/>
              <a:cs typeface="Arial"/>
            </a:endParaRPr>
          </a:p>
          <a:p>
            <a:pPr lvl="1" marL="751205" marR="133350" indent="-326390">
              <a:lnSpc>
                <a:spcPts val="3160"/>
              </a:lnSpc>
              <a:spcBef>
                <a:spcPts val="620"/>
              </a:spcBef>
              <a:buChar char="—"/>
              <a:tabLst>
                <a:tab pos="751205" algn="l"/>
                <a:tab pos="753110" algn="l"/>
              </a:tabLst>
            </a:pPr>
            <a:r>
              <a:rPr dirty="0" sz="2750">
                <a:latin typeface="Calibri"/>
                <a:cs typeface="Calibri"/>
              </a:rPr>
              <a:t>	How</a:t>
            </a:r>
            <a:r>
              <a:rPr dirty="0" sz="2750" spc="2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relative</a:t>
            </a:r>
            <a:r>
              <a:rPr dirty="0" sz="2750" spc="80">
                <a:latin typeface="Calibri"/>
                <a:cs typeface="Calibri"/>
              </a:rPr>
              <a:t> </a:t>
            </a:r>
            <a:r>
              <a:rPr dirty="0" sz="2750" spc="-45">
                <a:latin typeface="Calibri"/>
                <a:cs typeface="Calibri"/>
              </a:rPr>
              <a:t>priority</a:t>
            </a:r>
            <a:r>
              <a:rPr dirty="0" sz="2750" spc="1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of</a:t>
            </a:r>
            <a:r>
              <a:rPr dirty="0" sz="2750" spc="70">
                <a:latin typeface="Calibri"/>
                <a:cs typeface="Calibri"/>
              </a:rPr>
              <a:t> </a:t>
            </a:r>
            <a:r>
              <a:rPr dirty="0" sz="2750" spc="85">
                <a:latin typeface="Calibri"/>
                <a:cs typeface="Calibri"/>
              </a:rPr>
              <a:t>each</a:t>
            </a:r>
            <a:r>
              <a:rPr dirty="0" sz="2750" spc="2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task</a:t>
            </a:r>
            <a:r>
              <a:rPr dirty="0" sz="2750" spc="5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añects </a:t>
            </a:r>
            <a:r>
              <a:rPr dirty="0" sz="2750">
                <a:latin typeface="Calibri"/>
                <a:cs typeface="Calibri"/>
              </a:rPr>
              <a:t>system</a:t>
            </a:r>
            <a:r>
              <a:rPr dirty="0" sz="2750" spc="36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behavior</a:t>
            </a:r>
            <a:endParaRPr sz="2750">
              <a:latin typeface="Calibri"/>
              <a:cs typeface="Calibri"/>
            </a:endParaRPr>
          </a:p>
          <a:p>
            <a:pPr lvl="1" marL="748030" indent="-349250">
              <a:lnSpc>
                <a:spcPct val="100000"/>
              </a:lnSpc>
              <a:spcBef>
                <a:spcPts val="415"/>
              </a:spcBef>
              <a:buChar char="—"/>
              <a:tabLst>
                <a:tab pos="748030" algn="l"/>
              </a:tabLst>
            </a:pP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states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exist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in.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276" rIns="0" bIns="0" rtlCol="0" vert="horz">
            <a:spAutoFit/>
          </a:bodyPr>
          <a:lstStyle/>
          <a:p>
            <a:pPr marL="6985">
              <a:lnSpc>
                <a:spcPct val="100000"/>
              </a:lnSpc>
              <a:spcBef>
                <a:spcPts val="105"/>
              </a:spcBef>
            </a:pPr>
            <a:r>
              <a:rPr dirty="0" sz="3850">
                <a:solidFill>
                  <a:srgbClr val="001D54"/>
                </a:solidFill>
                <a:latin typeface="Calibri"/>
                <a:cs typeface="Calibri"/>
              </a:rPr>
              <a:t>More</a:t>
            </a:r>
            <a:r>
              <a:rPr dirty="0" sz="3850" spc="125">
                <a:solidFill>
                  <a:srgbClr val="001D54"/>
                </a:solidFill>
                <a:latin typeface="Calibri"/>
                <a:cs typeface="Calibri"/>
              </a:rPr>
              <a:t> </a:t>
            </a:r>
            <a:r>
              <a:rPr dirty="0" sz="3850" spc="195">
                <a:solidFill>
                  <a:srgbClr val="000F4F"/>
                </a:solidFill>
                <a:latin typeface="Calibri"/>
                <a:cs typeface="Calibri"/>
              </a:rPr>
              <a:t>specific</a:t>
            </a:r>
            <a:r>
              <a:rPr dirty="0" sz="3850" spc="305">
                <a:solidFill>
                  <a:srgbClr val="000F4F"/>
                </a:solidFill>
                <a:latin typeface="Calibri"/>
                <a:cs typeface="Calibri"/>
              </a:rPr>
              <a:t> </a:t>
            </a:r>
            <a:r>
              <a:rPr dirty="0" sz="3850" spc="185">
                <a:solidFill>
                  <a:srgbClr val="082A69"/>
                </a:solidFill>
                <a:latin typeface="Calibri"/>
                <a:cs typeface="Calibri"/>
              </a:rPr>
              <a:t>topics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639" y="1552971"/>
            <a:ext cx="7656830" cy="44640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74650" indent="-361315">
              <a:lnSpc>
                <a:spcPct val="100000"/>
              </a:lnSpc>
              <a:spcBef>
                <a:spcPts val="585"/>
              </a:spcBef>
              <a:buChar char="•"/>
              <a:tabLst>
                <a:tab pos="374650" algn="l"/>
              </a:tabLst>
            </a:pPr>
            <a:r>
              <a:rPr dirty="0" sz="2900">
                <a:latin typeface="Calibri"/>
                <a:cs typeface="Calibri"/>
              </a:rPr>
              <a:t>How</a:t>
            </a:r>
            <a:r>
              <a:rPr dirty="0" sz="2900" spc="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11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implement</a:t>
            </a:r>
            <a:r>
              <a:rPr dirty="0" sz="2900" spc="215">
                <a:latin typeface="Calibri"/>
                <a:cs typeface="Calibri"/>
              </a:rPr>
              <a:t> </a:t>
            </a:r>
            <a:r>
              <a:rPr dirty="0" sz="2900" spc="90">
                <a:latin typeface="Calibri"/>
                <a:cs typeface="Calibri"/>
              </a:rPr>
              <a:t>tasks</a:t>
            </a:r>
            <a:endParaRPr sz="2900">
              <a:latin typeface="Calibri"/>
              <a:cs typeface="Calibri"/>
            </a:endParaRPr>
          </a:p>
          <a:p>
            <a:pPr marL="374650" indent="-361315">
              <a:lnSpc>
                <a:spcPct val="100000"/>
              </a:lnSpc>
              <a:spcBef>
                <a:spcPts val="495"/>
              </a:spcBef>
              <a:buChar char="•"/>
              <a:tabLst>
                <a:tab pos="374650" algn="l"/>
              </a:tabLst>
            </a:pPr>
            <a:r>
              <a:rPr dirty="0" sz="2900">
                <a:latin typeface="Calibri"/>
                <a:cs typeface="Calibri"/>
              </a:rPr>
              <a:t>How</a:t>
            </a:r>
            <a:r>
              <a:rPr dirty="0" sz="2900" spc="1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create</a:t>
            </a:r>
            <a:r>
              <a:rPr dirty="0" sz="2900" spc="180">
                <a:latin typeface="Calibri"/>
                <a:cs typeface="Calibri"/>
              </a:rPr>
              <a:t> </a:t>
            </a:r>
            <a:r>
              <a:rPr dirty="0" sz="2900" spc="55">
                <a:latin typeface="Calibri"/>
                <a:cs typeface="Calibri"/>
              </a:rPr>
              <a:t>one</a:t>
            </a:r>
            <a:r>
              <a:rPr dirty="0" sz="2900" spc="12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or</a:t>
            </a:r>
            <a:r>
              <a:rPr dirty="0" sz="2900" spc="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more</a:t>
            </a:r>
            <a:r>
              <a:rPr dirty="0" sz="2900" spc="210">
                <a:latin typeface="Calibri"/>
                <a:cs typeface="Calibri"/>
              </a:rPr>
              <a:t> </a:t>
            </a:r>
            <a:r>
              <a:rPr dirty="0" sz="2900" spc="65">
                <a:latin typeface="Calibri"/>
                <a:cs typeface="Calibri"/>
              </a:rPr>
              <a:t>instances</a:t>
            </a:r>
            <a:r>
              <a:rPr dirty="0" sz="2900" spc="27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1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355">
                <a:latin typeface="Calibri"/>
                <a:cs typeface="Calibri"/>
              </a:rPr>
              <a:t> </a:t>
            </a:r>
            <a:r>
              <a:rPr dirty="0" sz="2900" spc="55">
                <a:latin typeface="Calibri"/>
                <a:cs typeface="Calibri"/>
              </a:rPr>
              <a:t>task</a:t>
            </a:r>
            <a:endParaRPr sz="29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495"/>
              </a:spcBef>
              <a:buChar char="•"/>
              <a:tabLst>
                <a:tab pos="373380" algn="l"/>
              </a:tabLst>
            </a:pPr>
            <a:r>
              <a:rPr dirty="0" sz="3000">
                <a:latin typeface="Calibri"/>
                <a:cs typeface="Calibri"/>
              </a:rPr>
              <a:t>How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 spc="-65">
                <a:latin typeface="Calibri"/>
                <a:cs typeface="Calibri"/>
              </a:rPr>
              <a:t>to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120">
                <a:latin typeface="Calibri"/>
                <a:cs typeface="Calibri"/>
              </a:rPr>
              <a:t>use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1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task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parameter</a:t>
            </a:r>
            <a:endParaRPr sz="3000">
              <a:latin typeface="Calibri"/>
              <a:cs typeface="Calibri"/>
            </a:endParaRPr>
          </a:p>
          <a:p>
            <a:pPr marL="370840" indent="-351790">
              <a:lnSpc>
                <a:spcPts val="3575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dirty="0" sz="3200" spc="-80">
                <a:latin typeface="Calibri"/>
                <a:cs typeface="Calibri"/>
              </a:rPr>
              <a:t>How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54">
                <a:latin typeface="Calibri"/>
                <a:cs typeface="Calibri"/>
              </a:rPr>
              <a:t>to</a:t>
            </a:r>
            <a:r>
              <a:rPr dirty="0" sz="3200" spc="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change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75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40">
                <a:latin typeface="Calibri"/>
                <a:cs typeface="Calibri"/>
              </a:rPr>
              <a:t>priority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75">
                <a:latin typeface="Calibri"/>
                <a:cs typeface="Calibri"/>
              </a:rPr>
              <a:t>of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265">
                <a:latin typeface="Calibri"/>
                <a:cs typeface="Calibri"/>
              </a:rPr>
              <a:t>a</a:t>
            </a:r>
            <a:r>
              <a:rPr dirty="0" sz="3200" spc="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task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70">
                <a:latin typeface="Calibri"/>
                <a:cs typeface="Calibri"/>
              </a:rPr>
              <a:t>that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has</a:t>
            </a:r>
            <a:endParaRPr sz="3200">
              <a:latin typeface="Calibri"/>
              <a:cs typeface="Calibri"/>
            </a:endParaRPr>
          </a:p>
          <a:p>
            <a:pPr marL="368935">
              <a:lnSpc>
                <a:spcPts val="3695"/>
              </a:lnSpc>
            </a:pPr>
            <a:r>
              <a:rPr dirty="0" sz="3300" spc="-110">
                <a:latin typeface="Calibri"/>
                <a:cs typeface="Calibri"/>
              </a:rPr>
              <a:t>already</a:t>
            </a:r>
            <a:r>
              <a:rPr dirty="0" sz="3300" spc="-40">
                <a:latin typeface="Calibri"/>
                <a:cs typeface="Calibri"/>
              </a:rPr>
              <a:t> </a:t>
            </a:r>
            <a:r>
              <a:rPr dirty="0" sz="3300" spc="-100">
                <a:latin typeface="Calibri"/>
                <a:cs typeface="Calibri"/>
              </a:rPr>
              <a:t>been</a:t>
            </a:r>
            <a:r>
              <a:rPr dirty="0" sz="3300" spc="-8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created.</a:t>
            </a:r>
            <a:endParaRPr sz="3300">
              <a:latin typeface="Calibri"/>
              <a:cs typeface="Calibri"/>
            </a:endParaRPr>
          </a:p>
          <a:p>
            <a:pPr marL="375285" indent="-336550">
              <a:lnSpc>
                <a:spcPct val="100000"/>
              </a:lnSpc>
              <a:spcBef>
                <a:spcPts val="545"/>
              </a:spcBef>
              <a:buChar char="•"/>
              <a:tabLst>
                <a:tab pos="375285" algn="l"/>
              </a:tabLst>
            </a:pPr>
            <a:r>
              <a:rPr dirty="0" sz="2800">
                <a:latin typeface="Arial"/>
                <a:cs typeface="Arial"/>
              </a:rPr>
              <a:t>How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delete</a:t>
            </a:r>
            <a:r>
              <a:rPr dirty="0" sz="2800" spc="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task.</a:t>
            </a:r>
            <a:endParaRPr sz="2800">
              <a:latin typeface="Arial"/>
              <a:cs typeface="Arial"/>
            </a:endParaRPr>
          </a:p>
          <a:p>
            <a:pPr marL="375920" indent="-346075">
              <a:lnSpc>
                <a:spcPct val="100000"/>
              </a:lnSpc>
              <a:spcBef>
                <a:spcPts val="685"/>
              </a:spcBef>
              <a:buChar char="•"/>
              <a:tabLst>
                <a:tab pos="375920" algn="l"/>
              </a:tabLst>
            </a:pPr>
            <a:r>
              <a:rPr dirty="0" sz="2800">
                <a:latin typeface="Arial"/>
                <a:cs typeface="Arial"/>
              </a:rPr>
              <a:t>How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6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implement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periodic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processing.</a:t>
            </a:r>
            <a:endParaRPr sz="2800">
              <a:latin typeface="Arial"/>
              <a:cs typeface="Arial"/>
            </a:endParaRPr>
          </a:p>
          <a:p>
            <a:pPr marL="376555" indent="-363855">
              <a:lnSpc>
                <a:spcPts val="3400"/>
              </a:lnSpc>
              <a:spcBef>
                <a:spcPts val="495"/>
              </a:spcBef>
              <a:buChar char="•"/>
              <a:tabLst>
                <a:tab pos="376555" algn="l"/>
              </a:tabLst>
            </a:pPr>
            <a:r>
              <a:rPr dirty="0" sz="2950">
                <a:latin typeface="Calibri"/>
                <a:cs typeface="Calibri"/>
              </a:rPr>
              <a:t>When</a:t>
            </a:r>
            <a:r>
              <a:rPr dirty="0" sz="2950" spc="15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the</a:t>
            </a:r>
            <a:r>
              <a:rPr dirty="0" sz="2950" spc="7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idle</a:t>
            </a:r>
            <a:r>
              <a:rPr dirty="0" sz="2950" spc="17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task</a:t>
            </a:r>
            <a:r>
              <a:rPr dirty="0" sz="2950" spc="1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will</a:t>
            </a:r>
            <a:r>
              <a:rPr dirty="0" sz="2950" spc="8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execute</a:t>
            </a:r>
            <a:r>
              <a:rPr dirty="0" sz="2950" spc="165">
                <a:latin typeface="Calibri"/>
                <a:cs typeface="Calibri"/>
              </a:rPr>
              <a:t> </a:t>
            </a:r>
            <a:r>
              <a:rPr dirty="0" sz="2950" spc="55">
                <a:latin typeface="Calibri"/>
                <a:cs typeface="Calibri"/>
              </a:rPr>
              <a:t>and</a:t>
            </a:r>
            <a:r>
              <a:rPr dirty="0" sz="2950" spc="6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how</a:t>
            </a:r>
            <a:r>
              <a:rPr dirty="0" sz="2950" spc="120">
                <a:latin typeface="Calibri"/>
                <a:cs typeface="Calibri"/>
              </a:rPr>
              <a:t> </a:t>
            </a:r>
            <a:r>
              <a:rPr dirty="0" sz="2950" spc="-20">
                <a:latin typeface="Calibri"/>
                <a:cs typeface="Calibri"/>
              </a:rPr>
              <a:t>it</a:t>
            </a:r>
            <a:r>
              <a:rPr dirty="0" sz="2950" spc="55">
                <a:latin typeface="Calibri"/>
                <a:cs typeface="Calibri"/>
              </a:rPr>
              <a:t> </a:t>
            </a:r>
            <a:r>
              <a:rPr dirty="0" sz="2950" spc="50">
                <a:latin typeface="Calibri"/>
                <a:cs typeface="Calibri"/>
              </a:rPr>
              <a:t>can</a:t>
            </a:r>
            <a:endParaRPr sz="2950">
              <a:latin typeface="Calibri"/>
              <a:cs typeface="Calibri"/>
            </a:endParaRPr>
          </a:p>
          <a:p>
            <a:pPr marL="367030">
              <a:lnSpc>
                <a:spcPts val="3579"/>
              </a:lnSpc>
            </a:pPr>
            <a:r>
              <a:rPr dirty="0" sz="3100">
                <a:latin typeface="Calibri"/>
                <a:cs typeface="Calibri"/>
              </a:rPr>
              <a:t>be</a:t>
            </a:r>
            <a:r>
              <a:rPr dirty="0" sz="3100" spc="70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used.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4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3700">
                <a:solidFill>
                  <a:srgbClr val="01215D"/>
                </a:solidFill>
              </a:rPr>
              <a:t>1.2</a:t>
            </a:r>
            <a:r>
              <a:rPr dirty="0" sz="3700" spc="-170">
                <a:solidFill>
                  <a:srgbClr val="01215D"/>
                </a:solidFill>
              </a:rPr>
              <a:t> </a:t>
            </a:r>
            <a:r>
              <a:rPr dirty="0" sz="3700">
                <a:solidFill>
                  <a:srgbClr val="011F5B"/>
                </a:solidFill>
              </a:rPr>
              <a:t>Task</a:t>
            </a:r>
            <a:r>
              <a:rPr dirty="0" sz="3700" spc="-40">
                <a:solidFill>
                  <a:srgbClr val="011F5B"/>
                </a:solidFill>
              </a:rPr>
              <a:t> </a:t>
            </a:r>
            <a:r>
              <a:rPr dirty="0" sz="3700" spc="105">
                <a:solidFill>
                  <a:srgbClr val="001F5D"/>
                </a:solidFill>
              </a:rPr>
              <a:t>functions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8422" y="1543480"/>
            <a:ext cx="7959725" cy="443611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55600" algn="l"/>
              </a:tabLst>
            </a:pPr>
            <a:r>
              <a:rPr dirty="0" sz="3000" spc="-45">
                <a:latin typeface="Arial"/>
                <a:cs typeface="Arial"/>
              </a:rPr>
              <a:t>Tasks</a:t>
            </a:r>
            <a:r>
              <a:rPr dirty="0" sz="3000">
                <a:latin typeface="Arial"/>
                <a:cs typeface="Arial"/>
              </a:rPr>
              <a:t> are</a:t>
            </a:r>
            <a:r>
              <a:rPr dirty="0" sz="3000" spc="-1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implemented</a:t>
            </a:r>
            <a:r>
              <a:rPr dirty="0" sz="3000" spc="1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as</a:t>
            </a:r>
            <a:r>
              <a:rPr dirty="0" sz="3000" spc="-1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functions.</a:t>
            </a:r>
            <a:endParaRPr sz="3000">
              <a:latin typeface="Arial"/>
              <a:cs typeface="Arial"/>
            </a:endParaRPr>
          </a:p>
          <a:p>
            <a:pPr lvl="1" marL="748665" marR="5080" indent="-349250">
              <a:lnSpc>
                <a:spcPts val="3130"/>
              </a:lnSpc>
              <a:spcBef>
                <a:spcPts val="730"/>
              </a:spcBef>
              <a:buChar char="—"/>
              <a:tabLst>
                <a:tab pos="751840" algn="l"/>
              </a:tabLst>
            </a:pPr>
            <a:r>
              <a:rPr dirty="0" sz="2650" spc="-10">
                <a:latin typeface="Arial"/>
                <a:cs typeface="Arial"/>
              </a:rPr>
              <a:t>Special: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Its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prototype</a:t>
            </a:r>
            <a:r>
              <a:rPr dirty="0" sz="2650" spc="-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must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return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void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and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take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50">
                <a:latin typeface="Arial"/>
                <a:cs typeface="Arial"/>
              </a:rPr>
              <a:t>a </a:t>
            </a:r>
            <a:r>
              <a:rPr dirty="0" sz="2650" spc="-50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void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pointer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parameter</a:t>
            </a:r>
            <a:r>
              <a:rPr dirty="0" sz="2650" spc="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following</a:t>
            </a:r>
            <a:endParaRPr sz="265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450"/>
              </a:spcBef>
            </a:pPr>
            <a:r>
              <a:rPr dirty="0" sz="2650" spc="114">
                <a:latin typeface="Arial"/>
                <a:cs typeface="Arial"/>
              </a:rPr>
              <a:t>void</a:t>
            </a:r>
            <a:r>
              <a:rPr dirty="0" sz="2650" spc="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ATaskFunction</a:t>
            </a:r>
            <a:r>
              <a:rPr dirty="0" sz="2650" spc="254">
                <a:latin typeface="Arial"/>
                <a:cs typeface="Arial"/>
              </a:rPr>
              <a:t> </a:t>
            </a:r>
            <a:r>
              <a:rPr dirty="0" sz="2650" spc="85">
                <a:latin typeface="Arial"/>
                <a:cs typeface="Arial"/>
              </a:rPr>
              <a:t>(void</a:t>
            </a:r>
            <a:r>
              <a:rPr dirty="0" sz="2650" spc="105">
                <a:latin typeface="Arial"/>
                <a:cs typeface="Arial"/>
              </a:rPr>
              <a:t> </a:t>
            </a:r>
            <a:r>
              <a:rPr dirty="0" sz="2650" spc="50">
                <a:latin typeface="Arial"/>
                <a:cs typeface="Arial"/>
              </a:rPr>
              <a:t>*pvParameters);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65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Char char="•"/>
              <a:tabLst>
                <a:tab pos="360680" algn="l"/>
              </a:tabLst>
            </a:pPr>
            <a:r>
              <a:rPr dirty="0" sz="3000">
                <a:latin typeface="Arial"/>
                <a:cs typeface="Arial"/>
              </a:rPr>
              <a:t>Each</a:t>
            </a:r>
            <a:r>
              <a:rPr dirty="0" sz="3000" spc="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is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small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program</a:t>
            </a:r>
            <a:r>
              <a:rPr dirty="0" sz="3000" spc="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its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own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right.</a:t>
            </a:r>
            <a:endParaRPr sz="3000">
              <a:latin typeface="Arial"/>
              <a:cs typeface="Arial"/>
            </a:endParaRPr>
          </a:p>
          <a:p>
            <a:pPr lvl="1" marL="755015" indent="-349250">
              <a:lnSpc>
                <a:spcPct val="100000"/>
              </a:lnSpc>
              <a:spcBef>
                <a:spcPts val="580"/>
              </a:spcBef>
              <a:buChar char="—"/>
              <a:tabLst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Has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entry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point</a:t>
            </a:r>
            <a:endParaRPr sz="2650">
              <a:latin typeface="Arial"/>
              <a:cs typeface="Arial"/>
            </a:endParaRPr>
          </a:p>
          <a:p>
            <a:pPr lvl="1" marL="748030" indent="-342900">
              <a:lnSpc>
                <a:spcPct val="100000"/>
              </a:lnSpc>
              <a:spcBef>
                <a:spcPts val="565"/>
              </a:spcBef>
              <a:buChar char="—"/>
              <a:tabLst>
                <a:tab pos="748030" algn="l"/>
              </a:tabLst>
            </a:pPr>
            <a:r>
              <a:rPr dirty="0" sz="2600">
                <a:latin typeface="Arial"/>
                <a:cs typeface="Arial"/>
              </a:rPr>
              <a:t>Normally runs</a:t>
            </a:r>
            <a:r>
              <a:rPr dirty="0" sz="2600" spc="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forever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within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infinite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loop</a:t>
            </a:r>
            <a:endParaRPr sz="2600">
              <a:latin typeface="Arial"/>
              <a:cs typeface="Arial"/>
            </a:endParaRPr>
          </a:p>
          <a:p>
            <a:pPr lvl="1" marL="756285" indent="-349250">
              <a:lnSpc>
                <a:spcPct val="100000"/>
              </a:lnSpc>
              <a:spcBef>
                <a:spcPts val="590"/>
              </a:spcBef>
              <a:buChar char="—"/>
              <a:tabLst>
                <a:tab pos="756285" algn="l"/>
              </a:tabLst>
            </a:pPr>
            <a:r>
              <a:rPr dirty="0" sz="2650">
                <a:latin typeface="Arial"/>
                <a:cs typeface="Arial"/>
              </a:rPr>
              <a:t>Does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exit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35D"/>
                </a:solidFill>
              </a:rPr>
              <a:t>Special</a:t>
            </a:r>
            <a:r>
              <a:rPr dirty="0" spc="215">
                <a:solidFill>
                  <a:srgbClr val="00135D"/>
                </a:solidFill>
              </a:rPr>
              <a:t> </a:t>
            </a:r>
            <a:r>
              <a:rPr dirty="0">
                <a:solidFill>
                  <a:srgbClr val="011F62"/>
                </a:solidFill>
              </a:rPr>
              <a:t>features</a:t>
            </a:r>
            <a:r>
              <a:rPr dirty="0" spc="345">
                <a:solidFill>
                  <a:srgbClr val="011F62"/>
                </a:solidFill>
              </a:rPr>
              <a:t> </a:t>
            </a:r>
            <a:r>
              <a:rPr dirty="0">
                <a:solidFill>
                  <a:srgbClr val="001A60"/>
                </a:solidFill>
              </a:rPr>
              <a:t>of</a:t>
            </a:r>
            <a:r>
              <a:rPr dirty="0" spc="295">
                <a:solidFill>
                  <a:srgbClr val="001A60"/>
                </a:solidFill>
              </a:rPr>
              <a:t> </a:t>
            </a:r>
            <a:r>
              <a:rPr dirty="0">
                <a:solidFill>
                  <a:srgbClr val="002162"/>
                </a:solidFill>
              </a:rPr>
              <a:t>task</a:t>
            </a:r>
            <a:r>
              <a:rPr dirty="0" spc="254">
                <a:solidFill>
                  <a:srgbClr val="002162"/>
                </a:solidFill>
              </a:rPr>
              <a:t> </a:t>
            </a:r>
            <a:r>
              <a:rPr dirty="0" spc="80">
                <a:solidFill>
                  <a:srgbClr val="011D60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36" y="1547456"/>
            <a:ext cx="8036559" cy="432816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555"/>
              </a:spcBef>
              <a:buChar char="•"/>
              <a:tabLst>
                <a:tab pos="357505" algn="l"/>
              </a:tabLst>
            </a:pPr>
            <a:r>
              <a:rPr dirty="0" sz="3150" spc="-125">
                <a:latin typeface="Arial"/>
                <a:cs typeface="Arial"/>
              </a:rPr>
              <a:t>FreeRTOS</a:t>
            </a:r>
            <a:r>
              <a:rPr dirty="0" sz="3150" spc="-40">
                <a:latin typeface="Arial"/>
                <a:cs typeface="Arial"/>
              </a:rPr>
              <a:t> </a:t>
            </a:r>
            <a:r>
              <a:rPr dirty="0" sz="3150" spc="-20">
                <a:latin typeface="Arial"/>
                <a:cs typeface="Arial"/>
              </a:rPr>
              <a:t>task</a:t>
            </a:r>
            <a:endParaRPr sz="3150">
              <a:latin typeface="Arial"/>
              <a:cs typeface="Arial"/>
            </a:endParaRPr>
          </a:p>
          <a:p>
            <a:pPr lvl="1" marL="747395" indent="-361950">
              <a:lnSpc>
                <a:spcPct val="100000"/>
              </a:lnSpc>
              <a:spcBef>
                <a:spcPts val="415"/>
              </a:spcBef>
              <a:buChar char="—"/>
              <a:tabLst>
                <a:tab pos="747395" algn="l"/>
              </a:tabLst>
            </a:pPr>
            <a:r>
              <a:rPr dirty="0" sz="2750" spc="-50">
                <a:latin typeface="Arial"/>
                <a:cs typeface="Arial"/>
              </a:rPr>
              <a:t>Must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not</a:t>
            </a:r>
            <a:r>
              <a:rPr dirty="0" sz="2750" spc="-8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contain</a:t>
            </a:r>
            <a:r>
              <a:rPr dirty="0" sz="2750" spc="-1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’return’</a:t>
            </a:r>
            <a:r>
              <a:rPr dirty="0" sz="2750" spc="-2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statement</a:t>
            </a:r>
            <a:endParaRPr sz="2750">
              <a:latin typeface="Arial"/>
              <a:cs typeface="Arial"/>
            </a:endParaRPr>
          </a:p>
          <a:p>
            <a:pPr lvl="1" marL="748665" marR="457200" indent="-349250">
              <a:lnSpc>
                <a:spcPts val="3130"/>
              </a:lnSpc>
              <a:spcBef>
                <a:spcPts val="710"/>
              </a:spcBef>
              <a:buChar char="—"/>
              <a:tabLst>
                <a:tab pos="751840" algn="l"/>
              </a:tabLst>
            </a:pPr>
            <a:r>
              <a:rPr dirty="0" sz="2650">
                <a:latin typeface="Arial"/>
                <a:cs typeface="Arial"/>
              </a:rPr>
              <a:t>Must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allowed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execute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past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end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of </a:t>
            </a:r>
            <a:r>
              <a:rPr dirty="0" sz="2650" spc="-25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function</a:t>
            </a:r>
            <a:endParaRPr sz="2650">
              <a:latin typeface="Arial"/>
              <a:cs typeface="Arial"/>
            </a:endParaRPr>
          </a:p>
          <a:p>
            <a:pPr lvl="1" marL="744220" marR="1140460" indent="-349250">
              <a:lnSpc>
                <a:spcPts val="3090"/>
              </a:lnSpc>
              <a:spcBef>
                <a:spcPts val="660"/>
              </a:spcBef>
              <a:buChar char="—"/>
              <a:tabLst>
                <a:tab pos="744220" algn="l"/>
                <a:tab pos="750570" algn="l"/>
              </a:tabLst>
            </a:pPr>
            <a:r>
              <a:rPr dirty="0" sz="2700">
                <a:latin typeface="Arial"/>
                <a:cs typeface="Arial"/>
              </a:rPr>
              <a:t>	If</a:t>
            </a:r>
            <a:r>
              <a:rPr dirty="0" sz="2700" spc="-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no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longer</a:t>
            </a:r>
            <a:r>
              <a:rPr dirty="0" sz="2700" spc="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required,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it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should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be </a:t>
            </a:r>
            <a:r>
              <a:rPr dirty="0" sz="2700" spc="70">
                <a:latin typeface="Arial"/>
                <a:cs typeface="Arial"/>
              </a:rPr>
              <a:t>explicitly</a:t>
            </a:r>
            <a:r>
              <a:rPr dirty="0" sz="2700" spc="2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deleted.</a:t>
            </a:r>
            <a:endParaRPr sz="2700">
              <a:latin typeface="Arial"/>
              <a:cs typeface="Arial"/>
            </a:endParaRPr>
          </a:p>
          <a:p>
            <a:pPr lvl="1" marL="748665" indent="-355600">
              <a:lnSpc>
                <a:spcPct val="100000"/>
              </a:lnSpc>
              <a:spcBef>
                <a:spcPts val="450"/>
              </a:spcBef>
              <a:buChar char="—"/>
              <a:tabLst>
                <a:tab pos="748665" algn="l"/>
              </a:tabLst>
            </a:pP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used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create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any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number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4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tasks</a:t>
            </a:r>
            <a:endParaRPr sz="2700">
              <a:latin typeface="Arial"/>
              <a:cs typeface="Arial"/>
            </a:endParaRPr>
          </a:p>
          <a:p>
            <a:pPr lvl="2" marL="1148715" marR="5080" indent="-241935">
              <a:lnSpc>
                <a:spcPct val="94200"/>
              </a:lnSpc>
              <a:spcBef>
                <a:spcPts val="459"/>
              </a:spcBef>
              <a:buChar char="•"/>
              <a:tabLst>
                <a:tab pos="1148715" algn="l"/>
              </a:tabLst>
            </a:pPr>
            <a:r>
              <a:rPr dirty="0" sz="2400" spc="75">
                <a:latin typeface="Calibri"/>
                <a:cs typeface="Calibri"/>
              </a:rPr>
              <a:t>Each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created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task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55">
                <a:latin typeface="Calibri"/>
                <a:cs typeface="Calibri"/>
              </a:rPr>
              <a:t>a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separate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execution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instance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with </a:t>
            </a:r>
            <a:r>
              <a:rPr dirty="0" sz="2350">
                <a:latin typeface="Calibri"/>
                <a:cs typeface="Calibri"/>
              </a:rPr>
              <a:t>its</a:t>
            </a:r>
            <a:r>
              <a:rPr dirty="0" sz="2350" spc="1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own</a:t>
            </a:r>
            <a:r>
              <a:rPr dirty="0" sz="2350" spc="7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stack,</a:t>
            </a:r>
            <a:r>
              <a:rPr dirty="0" sz="2350" spc="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its</a:t>
            </a:r>
            <a:r>
              <a:rPr dirty="0" sz="2350" spc="2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own</a:t>
            </a:r>
            <a:r>
              <a:rPr dirty="0" sz="2350" spc="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copy</a:t>
            </a:r>
            <a:r>
              <a:rPr dirty="0" sz="2350" spc="11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of</a:t>
            </a:r>
            <a:r>
              <a:rPr dirty="0" sz="2350" spc="7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any</a:t>
            </a:r>
            <a:r>
              <a:rPr dirty="0" sz="2350" spc="10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automatic </a:t>
            </a:r>
            <a:r>
              <a:rPr dirty="0" sz="2300">
                <a:latin typeface="Calibri"/>
                <a:cs typeface="Calibri"/>
              </a:rPr>
              <a:t>variables</a:t>
            </a:r>
            <a:r>
              <a:rPr dirty="0" sz="2300" spc="1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defined</a:t>
            </a:r>
            <a:r>
              <a:rPr dirty="0" sz="2300" spc="120">
                <a:latin typeface="Calibri"/>
                <a:cs typeface="Calibri"/>
              </a:rPr>
              <a:t> </a:t>
            </a:r>
            <a:r>
              <a:rPr dirty="0" sz="2300" spc="-35">
                <a:latin typeface="Calibri"/>
                <a:cs typeface="Calibri"/>
              </a:rPr>
              <a:t>within</a:t>
            </a:r>
            <a:r>
              <a:rPr dirty="0" sz="2300" spc="22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1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task</a:t>
            </a:r>
            <a:r>
              <a:rPr dirty="0" sz="2300" spc="10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itself.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96" y="0"/>
            <a:ext cx="53578" cy="685800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30398" y="700980"/>
            <a:ext cx="8515985" cy="0"/>
          </a:xfrm>
          <a:custGeom>
            <a:avLst/>
            <a:gdLst/>
            <a:ahLst/>
            <a:cxnLst/>
            <a:rect l="l" t="t" r="r" b="b"/>
            <a:pathLst>
              <a:path w="8515985" h="0">
                <a:moveTo>
                  <a:pt x="0" y="0"/>
                </a:moveTo>
                <a:lnTo>
                  <a:pt x="8515949" y="0"/>
                </a:lnTo>
              </a:path>
            </a:pathLst>
          </a:custGeom>
          <a:ln w="267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6117" y="973336"/>
            <a:ext cx="459878" cy="40183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0828" y="973336"/>
            <a:ext cx="1540371" cy="1428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62820" y="973336"/>
            <a:ext cx="459878" cy="14287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95116" y="1077514"/>
            <a:ext cx="315595" cy="12065"/>
            <a:chOff x="3795116" y="1077514"/>
            <a:chExt cx="315595" cy="12065"/>
          </a:xfrm>
        </p:grpSpPr>
        <p:sp>
          <p:nvSpPr>
            <p:cNvPr id="11" name="object 11"/>
            <p:cNvSpPr/>
            <p:nvPr/>
          </p:nvSpPr>
          <p:spPr>
            <a:xfrm>
              <a:off x="3795116" y="1087933"/>
              <a:ext cx="315595" cy="0"/>
            </a:xfrm>
            <a:custGeom>
              <a:avLst/>
              <a:gdLst/>
              <a:ahLst/>
              <a:cxnLst/>
              <a:rect l="l" t="t" r="r" b="b"/>
              <a:pathLst>
                <a:path w="315595" h="0">
                  <a:moveTo>
                    <a:pt x="0" y="0"/>
                  </a:moveTo>
                  <a:lnTo>
                    <a:pt x="315515" y="0"/>
                  </a:lnTo>
                </a:path>
              </a:pathLst>
            </a:custGeom>
            <a:ln w="3175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95116" y="1079003"/>
              <a:ext cx="315595" cy="0"/>
            </a:xfrm>
            <a:custGeom>
              <a:avLst/>
              <a:gdLst/>
              <a:ahLst/>
              <a:cxnLst/>
              <a:rect l="l" t="t" r="r" b="b"/>
              <a:pathLst>
                <a:path w="315595" h="0">
                  <a:moveTo>
                    <a:pt x="0" y="0"/>
                  </a:moveTo>
                  <a:lnTo>
                    <a:pt x="315515" y="0"/>
                  </a:lnTo>
                </a:path>
              </a:pathLst>
            </a:custGeom>
            <a:ln w="3175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134320" y="968871"/>
            <a:ext cx="1397496" cy="19198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983141" y="1534417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5" h="0">
                <a:moveTo>
                  <a:pt x="0" y="0"/>
                </a:moveTo>
                <a:lnTo>
                  <a:pt x="270867" y="0"/>
                </a:lnTo>
              </a:path>
            </a:pathLst>
          </a:custGeom>
          <a:ln w="20835">
            <a:solidFill>
              <a:srgbClr val="4B80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375046" y="1419820"/>
            <a:ext cx="8117205" cy="393065"/>
            <a:chOff x="375046" y="1419820"/>
            <a:chExt cx="8117205" cy="39306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046" y="1419820"/>
              <a:ext cx="8117085" cy="1785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046" y="1625202"/>
              <a:ext cx="7331273" cy="187523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5046" y="1812726"/>
            <a:ext cx="7679531" cy="20538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884664" y="2382738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4" h="0">
                <a:moveTo>
                  <a:pt x="0" y="0"/>
                </a:moveTo>
                <a:lnTo>
                  <a:pt x="297656" y="0"/>
                </a:lnTo>
              </a:path>
            </a:pathLst>
          </a:custGeom>
          <a:ln w="20835">
            <a:solidFill>
              <a:srgbClr val="487C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/>
          <p:cNvGrpSpPr/>
          <p:nvPr/>
        </p:nvGrpSpPr>
        <p:grpSpPr>
          <a:xfrm>
            <a:off x="375046" y="2062758"/>
            <a:ext cx="8001000" cy="616585"/>
            <a:chOff x="375046" y="2062758"/>
            <a:chExt cx="8001000" cy="616585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046" y="2062758"/>
              <a:ext cx="8001000" cy="19645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046" y="2227957"/>
              <a:ext cx="7652741" cy="23663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2906" y="2482452"/>
              <a:ext cx="2696766" cy="196453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1531" y="2928937"/>
            <a:ext cx="6759773" cy="196453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821531" y="3178968"/>
            <a:ext cx="937894" cy="393065"/>
            <a:chOff x="821531" y="3178968"/>
            <a:chExt cx="937894" cy="39306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1531" y="3178968"/>
              <a:ext cx="937617" cy="1518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8320" y="3357562"/>
              <a:ext cx="71437" cy="214312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3366490" y="3684993"/>
            <a:ext cx="396240" cy="38735"/>
          </a:xfrm>
          <a:custGeom>
            <a:avLst/>
            <a:gdLst/>
            <a:ahLst/>
            <a:cxnLst/>
            <a:rect l="l" t="t" r="r" b="b"/>
            <a:pathLst>
              <a:path w="396239" h="38735">
                <a:moveTo>
                  <a:pt x="395884" y="0"/>
                </a:moveTo>
                <a:lnTo>
                  <a:pt x="8928" y="0"/>
                </a:lnTo>
                <a:lnTo>
                  <a:pt x="8928" y="17856"/>
                </a:lnTo>
                <a:lnTo>
                  <a:pt x="0" y="17856"/>
                </a:lnTo>
                <a:lnTo>
                  <a:pt x="0" y="38696"/>
                </a:lnTo>
                <a:lnTo>
                  <a:pt x="395871" y="38696"/>
                </a:lnTo>
                <a:lnTo>
                  <a:pt x="395871" y="20828"/>
                </a:lnTo>
                <a:lnTo>
                  <a:pt x="395884" y="0"/>
                </a:lnTo>
                <a:close/>
              </a:path>
            </a:pathLst>
          </a:custGeom>
          <a:solidFill>
            <a:srgbClr val="4B80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1468" y="3594199"/>
            <a:ext cx="8523386" cy="43308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66491" y="4365128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 h="0">
                <a:moveTo>
                  <a:pt x="0" y="0"/>
                </a:moveTo>
                <a:lnTo>
                  <a:pt x="404812" y="0"/>
                </a:lnTo>
              </a:path>
            </a:pathLst>
          </a:custGeom>
          <a:ln w="20835">
            <a:solidFill>
              <a:srgbClr val="4B7C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57437" y="4597301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15" y="0"/>
                </a:lnTo>
              </a:path>
            </a:pathLst>
          </a:custGeom>
          <a:ln w="20835">
            <a:solidFill>
              <a:srgbClr val="5780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21531" y="4250531"/>
            <a:ext cx="7724179" cy="4196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60984" y="4802682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 h="0">
                <a:moveTo>
                  <a:pt x="0" y="0"/>
                </a:moveTo>
                <a:lnTo>
                  <a:pt x="288726" y="0"/>
                </a:lnTo>
              </a:path>
            </a:pathLst>
          </a:custGeom>
          <a:ln w="20835">
            <a:solidFill>
              <a:srgbClr val="3B80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03981" y="4602956"/>
            <a:ext cx="7682865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930"/>
              </a:lnSpc>
              <a:spcBef>
                <a:spcPts val="110"/>
              </a:spcBef>
              <a:tabLst>
                <a:tab pos="5175250" algn="l"/>
              </a:tabLst>
            </a:pPr>
            <a:r>
              <a:rPr dirty="0" sz="1650" spc="-20">
                <a:solidFill>
                  <a:srgbClr val="4D7944"/>
                </a:solidFill>
                <a:latin typeface="Arial"/>
                <a:cs typeface="Arial"/>
              </a:rPr>
              <a:t>Tbo</a:t>
            </a:r>
            <a:r>
              <a:rPr dirty="0" sz="1650" spc="220">
                <a:solidFill>
                  <a:srgbClr val="4D7944"/>
                </a:solidFill>
                <a:latin typeface="Arial"/>
                <a:cs typeface="Arial"/>
              </a:rPr>
              <a:t> </a:t>
            </a:r>
            <a:r>
              <a:rPr dirty="0" sz="1650" spc="-335">
                <a:solidFill>
                  <a:srgbClr val="629E69"/>
                </a:solidFill>
                <a:latin typeface="Arial"/>
                <a:cs typeface="Arial"/>
              </a:rPr>
              <a:t>JFBBE</a:t>
            </a:r>
            <a:r>
              <a:rPr dirty="0" sz="1650" spc="415">
                <a:solidFill>
                  <a:srgbClr val="629E6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B7928"/>
                </a:solidFill>
                <a:latin typeface="Arial"/>
                <a:cs typeface="Arial"/>
              </a:rPr>
              <a:t>paz=•••Mr</a:t>
            </a:r>
            <a:r>
              <a:rPr dirty="0" sz="1650" spc="305">
                <a:solidFill>
                  <a:srgbClr val="3B7928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006B28"/>
                </a:solidFill>
                <a:latin typeface="Arial"/>
                <a:cs typeface="Arial"/>
              </a:rPr>
              <a:t>paaaert</a:t>
            </a:r>
            <a:r>
              <a:rPr dirty="0" sz="1650" spc="445">
                <a:solidFill>
                  <a:srgbClr val="006B28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AAB68E"/>
                </a:solidFill>
                <a:latin typeface="Arial"/>
                <a:cs typeface="Arial"/>
              </a:rPr>
              <a:t>Lo</a:t>
            </a:r>
            <a:r>
              <a:rPr dirty="0" sz="1650" spc="285">
                <a:solidFill>
                  <a:srgbClr val="AAB68E"/>
                </a:solidFill>
                <a:latin typeface="Arial"/>
                <a:cs typeface="Arial"/>
              </a:rPr>
              <a:t> </a:t>
            </a:r>
            <a:r>
              <a:rPr dirty="0" sz="1650" spc="-260">
                <a:solidFill>
                  <a:srgbClr val="498C5D"/>
                </a:solidFill>
                <a:latin typeface="Arial"/>
                <a:cs typeface="Arial"/>
              </a:rPr>
              <a:t>b2uz</a:t>
            </a:r>
            <a:r>
              <a:rPr dirty="0" sz="1650" spc="245">
                <a:solidFill>
                  <a:srgbClr val="498C5D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4B833B"/>
                </a:solidFill>
                <a:latin typeface="Arial"/>
                <a:cs typeface="Arial"/>
              </a:rPr>
              <a:t>nas&amp;1Xzlobo</a:t>
            </a:r>
            <a:r>
              <a:rPr dirty="0" sz="1650" spc="-60">
                <a:solidFill>
                  <a:srgbClr val="4B833B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959E80"/>
                </a:solidFill>
                <a:latin typeface="Arial"/>
                <a:cs typeface="Arial"/>
              </a:rPr>
              <a:t>fl</a:t>
            </a:r>
            <a:r>
              <a:rPr dirty="0" sz="1650">
                <a:solidFill>
                  <a:srgbClr val="959E80"/>
                </a:solidFill>
                <a:latin typeface="Arial"/>
                <a:cs typeface="Arial"/>
              </a:rPr>
              <a:t>	</a:t>
            </a:r>
            <a:r>
              <a:rPr dirty="0" sz="1650">
                <a:solidFill>
                  <a:srgbClr val="579574"/>
                </a:solidFill>
                <a:latin typeface="Arial"/>
                <a:cs typeface="Arial"/>
              </a:rPr>
              <a:t>tuocLLon</a:t>
            </a:r>
            <a:r>
              <a:rPr dirty="0" sz="1650" spc="220">
                <a:solidFill>
                  <a:srgbClr val="579574"/>
                </a:solidFill>
                <a:latin typeface="Arial"/>
                <a:cs typeface="Arial"/>
              </a:rPr>
              <a:t> </a:t>
            </a:r>
            <a:r>
              <a:rPr dirty="0" sz="1650" spc="-55">
                <a:solidFill>
                  <a:srgbClr val="798557"/>
                </a:solidFill>
                <a:latin typeface="Arial"/>
                <a:cs typeface="Arial"/>
              </a:rPr>
              <a:t>1o4Łezbias</a:t>
            </a:r>
            <a:r>
              <a:rPr dirty="0" sz="1650" spc="445">
                <a:solidFill>
                  <a:srgbClr val="798557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56852F"/>
                </a:solidFill>
                <a:latin typeface="Arial"/>
                <a:cs typeface="Arial"/>
              </a:rPr>
              <a:t>tbaL</a:t>
            </a:r>
            <a:endParaRPr sz="1650">
              <a:latin typeface="Arial"/>
              <a:cs typeface="Arial"/>
            </a:endParaRPr>
          </a:p>
          <a:p>
            <a:pPr marL="17145">
              <a:lnSpc>
                <a:spcPts val="1870"/>
              </a:lnSpc>
              <a:tabLst>
                <a:tab pos="1316355" algn="l"/>
                <a:tab pos="4213860" algn="l"/>
                <a:tab pos="4940300" algn="l"/>
              </a:tabLst>
            </a:pPr>
            <a:r>
              <a:rPr dirty="0" sz="1600">
                <a:solidFill>
                  <a:srgbClr val="798264"/>
                </a:solidFill>
                <a:latin typeface="Arial"/>
                <a:cs typeface="Arial"/>
              </a:rPr>
              <a:t>Łba</a:t>
            </a:r>
            <a:r>
              <a:rPr dirty="0" sz="1600" spc="195">
                <a:solidFill>
                  <a:srgbClr val="798264"/>
                </a:solidFill>
                <a:latin typeface="Arial"/>
                <a:cs typeface="Arial"/>
              </a:rPr>
              <a:t> </a:t>
            </a:r>
            <a:r>
              <a:rPr dirty="0" sz="1600" spc="-110">
                <a:solidFill>
                  <a:srgbClr val="668757"/>
                </a:solidFill>
                <a:latin typeface="Arial"/>
                <a:cs typeface="Arial"/>
              </a:rPr>
              <a:t>LmiJc</a:t>
            </a:r>
            <a:r>
              <a:rPr dirty="0" sz="1600" spc="355">
                <a:solidFill>
                  <a:srgbClr val="668757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5E8060"/>
                </a:solidFill>
                <a:latin typeface="Arial"/>
                <a:cs typeface="Arial"/>
              </a:rPr>
              <a:t>to</a:t>
            </a:r>
            <a:r>
              <a:rPr dirty="0" sz="1600">
                <a:solidFill>
                  <a:srgbClr val="5E8060"/>
                </a:solidFill>
                <a:latin typeface="Arial"/>
                <a:cs typeface="Arial"/>
              </a:rPr>
              <a:t>	</a:t>
            </a:r>
            <a:r>
              <a:rPr dirty="0" sz="1600">
                <a:solidFill>
                  <a:srgbClr val="5D9359"/>
                </a:solidFill>
                <a:latin typeface="Arial"/>
                <a:cs typeface="Arial"/>
              </a:rPr>
              <a:t>bo</a:t>
            </a:r>
            <a:r>
              <a:rPr dirty="0" sz="1600" spc="254">
                <a:solidFill>
                  <a:srgbClr val="5D9359"/>
                </a:solidFill>
                <a:latin typeface="Arial"/>
                <a:cs typeface="Arial"/>
              </a:rPr>
              <a:t> </a:t>
            </a:r>
            <a:r>
              <a:rPr dirty="0" sz="1600" spc="135">
                <a:solidFill>
                  <a:srgbClr val="E4D3AC"/>
                </a:solidFill>
                <a:latin typeface="Arial"/>
                <a:cs typeface="Arial"/>
              </a:rPr>
              <a:t>dsleLwl</a:t>
            </a:r>
            <a:r>
              <a:rPr dirty="0" sz="1600" spc="190">
                <a:solidFill>
                  <a:srgbClr val="E4D3AC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9AAC72"/>
                </a:solidFill>
                <a:latin typeface="Arial"/>
                <a:cs typeface="Arial"/>
              </a:rPr>
              <a:t>La</a:t>
            </a:r>
            <a:r>
              <a:rPr dirty="0" sz="1600" spc="45">
                <a:solidFill>
                  <a:srgbClr val="9AAC72"/>
                </a:solidFill>
                <a:latin typeface="Arial"/>
                <a:cs typeface="Arial"/>
              </a:rPr>
              <a:t>  </a:t>
            </a:r>
            <a:r>
              <a:rPr dirty="0" sz="1600" spc="-280">
                <a:solidFill>
                  <a:srgbClr val="ACB587"/>
                </a:solidFill>
                <a:latin typeface="Arial"/>
                <a:cs typeface="Arial"/>
              </a:rPr>
              <a:t>LWz</a:t>
            </a:r>
            <a:r>
              <a:rPr dirty="0" sz="1600" spc="50">
                <a:solidFill>
                  <a:srgbClr val="ACB587"/>
                </a:solidFill>
                <a:latin typeface="Arial"/>
                <a:cs typeface="Arial"/>
              </a:rPr>
              <a:t>  </a:t>
            </a:r>
            <a:r>
              <a:rPr dirty="0" sz="1600" spc="105">
                <a:solidFill>
                  <a:srgbClr val="708E77"/>
                </a:solidFill>
                <a:latin typeface="Arial"/>
                <a:cs typeface="Arial"/>
              </a:rPr>
              <a:t>eal1tag</a:t>
            </a:r>
            <a:r>
              <a:rPr dirty="0" sz="1600">
                <a:solidFill>
                  <a:srgbClr val="708E77"/>
                </a:solidFill>
                <a:latin typeface="Arial"/>
                <a:cs typeface="Arial"/>
              </a:rPr>
              <a:t>	</a:t>
            </a:r>
            <a:r>
              <a:rPr dirty="0" sz="1600" spc="-10">
                <a:solidFill>
                  <a:srgbClr val="9C9C79"/>
                </a:solidFill>
                <a:latin typeface="Arial"/>
                <a:cs typeface="Arial"/>
              </a:rPr>
              <a:t>\Łb£W</a:t>
            </a:r>
            <a:r>
              <a:rPr dirty="0" sz="1600">
                <a:solidFill>
                  <a:srgbClr val="9C9C79"/>
                </a:solidFill>
                <a:latin typeface="Arial"/>
                <a:cs typeface="Arial"/>
              </a:rPr>
              <a:t>	</a:t>
            </a:r>
            <a:r>
              <a:rPr dirty="0" sz="1600">
                <a:solidFill>
                  <a:srgbClr val="5E8550"/>
                </a:solidFill>
                <a:latin typeface="Arial"/>
                <a:cs typeface="Arial"/>
              </a:rPr>
              <a:t>LaaŁ:</a:t>
            </a:r>
            <a:r>
              <a:rPr dirty="0" sz="1600" spc="145">
                <a:solidFill>
                  <a:srgbClr val="5E8550"/>
                </a:solidFill>
                <a:latin typeface="Arial"/>
                <a:cs typeface="Arial"/>
              </a:rPr>
              <a:t>  </a:t>
            </a:r>
            <a:r>
              <a:rPr dirty="0" sz="1600" spc="-25">
                <a:solidFill>
                  <a:srgbClr val="2F7033"/>
                </a:solidFill>
                <a:latin typeface="Arial"/>
                <a:cs typeface="Arial"/>
              </a:rPr>
              <a:t>•/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7187" y="5139034"/>
            <a:ext cx="6152554" cy="4063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0398" y="5808761"/>
            <a:ext cx="8510270" cy="0"/>
          </a:xfrm>
          <a:custGeom>
            <a:avLst/>
            <a:gdLst/>
            <a:ahLst/>
            <a:cxnLst/>
            <a:rect l="l" t="t" r="r" b="b"/>
            <a:pathLst>
              <a:path w="8510270" h="0">
                <a:moveTo>
                  <a:pt x="0" y="0"/>
                </a:moveTo>
                <a:lnTo>
                  <a:pt x="8509996" y="0"/>
                </a:lnTo>
              </a:path>
            </a:pathLst>
          </a:custGeom>
          <a:ln w="267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74309" y="527793"/>
            <a:ext cx="4961255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7050" algn="l"/>
                <a:tab pos="1463040" algn="l"/>
                <a:tab pos="3648710" algn="l"/>
              </a:tabLst>
            </a:pPr>
            <a:r>
              <a:rPr dirty="0" spc="-50">
                <a:solidFill>
                  <a:srgbClr val="051F62"/>
                </a:solidFill>
              </a:rPr>
              <a:t>.</a:t>
            </a:r>
            <a:r>
              <a:rPr dirty="0">
                <a:solidFill>
                  <a:srgbClr val="051F62"/>
                </a:solidFill>
              </a:rPr>
              <a:t>	</a:t>
            </a:r>
            <a:r>
              <a:rPr dirty="0" spc="-25">
                <a:solidFill>
                  <a:srgbClr val="011D62"/>
                </a:solidFill>
              </a:rPr>
              <a:t>To</a:t>
            </a:r>
            <a:r>
              <a:rPr dirty="0">
                <a:solidFill>
                  <a:srgbClr val="011D62"/>
                </a:solidFill>
              </a:rPr>
              <a:t>	</a:t>
            </a:r>
            <a:r>
              <a:rPr dirty="0">
                <a:solidFill>
                  <a:srgbClr val="051F60"/>
                </a:solidFill>
              </a:rPr>
              <a:t>level</a:t>
            </a:r>
            <a:r>
              <a:rPr dirty="0" spc="235">
                <a:solidFill>
                  <a:srgbClr val="051F60"/>
                </a:solidFill>
              </a:rPr>
              <a:t> </a:t>
            </a:r>
            <a:r>
              <a:rPr dirty="0" spc="-25">
                <a:solidFill>
                  <a:srgbClr val="08266B"/>
                </a:solidFill>
              </a:rPr>
              <a:t>tas</a:t>
            </a:r>
            <a:r>
              <a:rPr dirty="0">
                <a:solidFill>
                  <a:srgbClr val="08266B"/>
                </a:solidFill>
              </a:rPr>
              <a:t>	</a:t>
            </a:r>
            <a:r>
              <a:rPr dirty="0" spc="-10">
                <a:solidFill>
                  <a:srgbClr val="001359"/>
                </a:solidFill>
              </a:rPr>
              <a:t>states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6851" y="2759273"/>
            <a:ext cx="1610321" cy="8126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203" y="2768202"/>
            <a:ext cx="1526976" cy="821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0156" y="3750468"/>
            <a:ext cx="3214687" cy="982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30944" y="4133899"/>
            <a:ext cx="1038860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>
                <a:latin typeface="Arial"/>
                <a:cs typeface="Arial"/>
              </a:rPr>
              <a:t>Not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Running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0319" y="4133899"/>
            <a:ext cx="708660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0">
                <a:latin typeface="Arial"/>
                <a:cs typeface="Arial"/>
              </a:rPr>
              <a:t>Running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422" y="1576287"/>
            <a:ext cx="8497570" cy="2633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4490" indent="-351790">
              <a:lnSpc>
                <a:spcPts val="3390"/>
              </a:lnSpc>
              <a:spcBef>
                <a:spcPts val="125"/>
              </a:spcBef>
              <a:buChar char="•"/>
              <a:tabLst>
                <a:tab pos="364490" algn="l"/>
              </a:tabLst>
            </a:pPr>
            <a:r>
              <a:rPr dirty="0" sz="3000" spc="-240">
                <a:latin typeface="Arial"/>
                <a:cs typeface="Arial"/>
              </a:rPr>
              <a:t>A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-1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can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exist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of</a:t>
            </a:r>
            <a:r>
              <a:rPr dirty="0" sz="3000" spc="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two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states:</a:t>
            </a:r>
            <a:r>
              <a:rPr dirty="0" sz="3000" spc="8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Running</a:t>
            </a:r>
            <a:endParaRPr sz="3000">
              <a:latin typeface="Arial"/>
              <a:cs typeface="Arial"/>
            </a:endParaRPr>
          </a:p>
          <a:p>
            <a:pPr marL="358140">
              <a:lnSpc>
                <a:spcPts val="3055"/>
              </a:lnSpc>
            </a:pPr>
            <a:r>
              <a:rPr dirty="0" sz="3050">
                <a:latin typeface="Arial"/>
                <a:cs typeface="Arial"/>
              </a:rPr>
              <a:t>and</a:t>
            </a:r>
            <a:r>
              <a:rPr dirty="0" sz="3050" spc="-21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Not</a:t>
            </a:r>
            <a:r>
              <a:rPr dirty="0" sz="3050" spc="-10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Running</a:t>
            </a:r>
            <a:endParaRPr sz="3050">
              <a:latin typeface="Arial"/>
              <a:cs typeface="Arial"/>
            </a:endParaRPr>
          </a:p>
          <a:p>
            <a:pPr marL="4128770">
              <a:lnSpc>
                <a:spcPts val="2035"/>
              </a:lnSpc>
            </a:pPr>
            <a:r>
              <a:rPr dirty="0" sz="2050" spc="-25">
                <a:latin typeface="Arial"/>
                <a:cs typeface="Arial"/>
              </a:rPr>
              <a:t>Running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state</a:t>
            </a:r>
            <a:r>
              <a:rPr dirty="0" sz="2050" spc="36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the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processor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is</a:t>
            </a:r>
            <a:endParaRPr sz="2050">
              <a:latin typeface="Arial"/>
              <a:cs typeface="Arial"/>
            </a:endParaRPr>
          </a:p>
          <a:p>
            <a:pPr marL="4121785">
              <a:lnSpc>
                <a:spcPts val="2495"/>
              </a:lnSpc>
            </a:pPr>
            <a:r>
              <a:rPr dirty="0" sz="2100" spc="-50">
                <a:latin typeface="Arial"/>
                <a:cs typeface="Arial"/>
              </a:rPr>
              <a:t>executing</a:t>
            </a:r>
            <a:r>
              <a:rPr dirty="0" sz="2100" spc="1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its</a:t>
            </a:r>
            <a:r>
              <a:rPr dirty="0" sz="2100" spc="-13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code.</a:t>
            </a:r>
            <a:endParaRPr sz="2100">
              <a:latin typeface="Arial"/>
              <a:cs typeface="Arial"/>
            </a:endParaRPr>
          </a:p>
          <a:p>
            <a:pPr marL="4123054" marR="5080" indent="-3175">
              <a:lnSpc>
                <a:spcPts val="2430"/>
              </a:lnSpc>
              <a:spcBef>
                <a:spcPts val="2385"/>
              </a:spcBef>
            </a:pPr>
            <a:r>
              <a:rPr dirty="0" sz="2100">
                <a:latin typeface="Arial"/>
                <a:cs typeface="Arial"/>
              </a:rPr>
              <a:t>Not</a:t>
            </a:r>
            <a:r>
              <a:rPr dirty="0" sz="2100" spc="-120">
                <a:latin typeface="Arial"/>
                <a:cs typeface="Arial"/>
              </a:rPr>
              <a:t> </a:t>
            </a:r>
            <a:r>
              <a:rPr dirty="0" sz="2100" spc="-55">
                <a:latin typeface="Arial"/>
                <a:cs typeface="Arial"/>
              </a:rPr>
              <a:t>Running</a:t>
            </a:r>
            <a:r>
              <a:rPr dirty="0" sz="2100" spc="-3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state</a:t>
            </a:r>
            <a:r>
              <a:rPr dirty="0" sz="2100" spc="330">
                <a:latin typeface="Arial"/>
                <a:cs typeface="Arial"/>
              </a:rPr>
              <a:t> </a:t>
            </a:r>
            <a:r>
              <a:rPr dirty="0" sz="2100" spc="-40">
                <a:latin typeface="Arial"/>
                <a:cs typeface="Arial"/>
              </a:rPr>
              <a:t>the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task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130">
                <a:latin typeface="Arial"/>
                <a:cs typeface="Arial"/>
              </a:rPr>
              <a:t> </a:t>
            </a:r>
            <a:r>
              <a:rPr dirty="0" sz="2100" spc="-70">
                <a:latin typeface="Arial"/>
                <a:cs typeface="Arial"/>
              </a:rPr>
              <a:t>dormant, </a:t>
            </a:r>
            <a:r>
              <a:rPr dirty="0" sz="2100">
                <a:latin typeface="Arial"/>
                <a:cs typeface="Arial"/>
              </a:rPr>
              <a:t>its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status</a:t>
            </a:r>
            <a:r>
              <a:rPr dirty="0" sz="2100" spc="-7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having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been</a:t>
            </a:r>
            <a:r>
              <a:rPr dirty="0" sz="2100" spc="-75">
                <a:latin typeface="Arial"/>
                <a:cs typeface="Arial"/>
              </a:rPr>
              <a:t> </a:t>
            </a:r>
            <a:r>
              <a:rPr dirty="0" sz="2100" spc="-60">
                <a:latin typeface="Arial"/>
                <a:cs typeface="Arial"/>
              </a:rPr>
              <a:t>saved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ready</a:t>
            </a:r>
            <a:endParaRPr sz="2100">
              <a:latin typeface="Arial"/>
              <a:cs typeface="Arial"/>
            </a:endParaRPr>
          </a:p>
          <a:p>
            <a:pPr marL="4129404">
              <a:lnSpc>
                <a:spcPts val="2285"/>
              </a:lnSpc>
            </a:pPr>
            <a:r>
              <a:rPr dirty="0" sz="2100" spc="-35">
                <a:latin typeface="Arial"/>
                <a:cs typeface="Arial"/>
              </a:rPr>
              <a:t>for</a:t>
            </a:r>
            <a:r>
              <a:rPr dirty="0" sz="2100" spc="-114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resuming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execution</a:t>
            </a:r>
            <a:r>
              <a:rPr dirty="0" sz="2100" spc="-1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the</a:t>
            </a:r>
            <a:r>
              <a:rPr dirty="0" sz="2100" spc="-130">
                <a:latin typeface="Arial"/>
                <a:cs typeface="Arial"/>
              </a:rPr>
              <a:t> </a:t>
            </a:r>
            <a:r>
              <a:rPr dirty="0" sz="2100" spc="-40">
                <a:latin typeface="Arial"/>
                <a:cs typeface="Arial"/>
              </a:rPr>
              <a:t>next</a:t>
            </a:r>
            <a:r>
              <a:rPr dirty="0" sz="2100" spc="-7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time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094" y="4999086"/>
            <a:ext cx="7871459" cy="90551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348615" marR="5080" indent="-336550">
              <a:lnSpc>
                <a:spcPts val="3229"/>
              </a:lnSpc>
              <a:spcBef>
                <a:spcPts val="590"/>
              </a:spcBef>
              <a:buChar char="•"/>
              <a:tabLst>
                <a:tab pos="348615" algn="l"/>
                <a:tab pos="353695" algn="l"/>
              </a:tabLst>
            </a:pPr>
            <a:r>
              <a:rPr dirty="0" sz="3050">
                <a:latin typeface="Arial"/>
                <a:cs typeface="Arial"/>
              </a:rPr>
              <a:t>	</a:t>
            </a:r>
            <a:r>
              <a:rPr dirty="0" sz="3050" spc="-40">
                <a:latin typeface="Arial"/>
                <a:cs typeface="Arial"/>
              </a:rPr>
              <a:t>Scheduler</a:t>
            </a:r>
            <a:r>
              <a:rPr dirty="0" sz="3050" spc="-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is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only</a:t>
            </a:r>
            <a:r>
              <a:rPr dirty="0" sz="3050" spc="-9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entity</a:t>
            </a:r>
            <a:r>
              <a:rPr dirty="0" sz="3050" spc="-8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that</a:t>
            </a:r>
            <a:r>
              <a:rPr dirty="0" sz="3050" spc="-12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can</a:t>
            </a:r>
            <a:r>
              <a:rPr dirty="0" sz="3050" spc="-160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switch</a:t>
            </a:r>
            <a:r>
              <a:rPr dirty="0" sz="3050" spc="-35">
                <a:latin typeface="Arial"/>
                <a:cs typeface="Arial"/>
              </a:rPr>
              <a:t> </a:t>
            </a:r>
            <a:r>
              <a:rPr dirty="0" sz="3050" spc="-50">
                <a:latin typeface="Arial"/>
                <a:cs typeface="Arial"/>
              </a:rPr>
              <a:t>a </a:t>
            </a:r>
            <a:r>
              <a:rPr dirty="0" sz="3050">
                <a:latin typeface="Arial"/>
                <a:cs typeface="Arial"/>
              </a:rPr>
              <a:t>task</a:t>
            </a:r>
            <a:r>
              <a:rPr dirty="0" sz="3050" spc="-7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in</a:t>
            </a:r>
            <a:r>
              <a:rPr dirty="0" sz="3050" spc="-10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and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out</a:t>
            </a:r>
            <a:r>
              <a:rPr dirty="0" sz="3050" spc="-4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</a:t>
            </a:r>
            <a:r>
              <a:rPr dirty="0" sz="3050" spc="-180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running</a:t>
            </a:r>
            <a:r>
              <a:rPr dirty="0" sz="3050" spc="-8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state.</a:t>
            </a:r>
            <a:endParaRPr sz="30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4309" y="527793"/>
            <a:ext cx="3770629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32159"/>
                </a:solidFill>
              </a:rPr>
              <a:t>.4</a:t>
            </a:r>
            <a:r>
              <a:rPr dirty="0" spc="-50">
                <a:solidFill>
                  <a:srgbClr val="032159"/>
                </a:solidFill>
              </a:rPr>
              <a:t> </a:t>
            </a:r>
            <a:r>
              <a:rPr dirty="0">
                <a:solidFill>
                  <a:srgbClr val="001D54"/>
                </a:solidFill>
              </a:rPr>
              <a:t>Creating</a:t>
            </a:r>
            <a:r>
              <a:rPr dirty="0" spc="235">
                <a:solidFill>
                  <a:srgbClr val="001D54"/>
                </a:solidFill>
              </a:rPr>
              <a:t> </a:t>
            </a:r>
            <a:r>
              <a:rPr dirty="0" spc="-10">
                <a:solidFill>
                  <a:srgbClr val="002159"/>
                </a:solidFill>
              </a:rPr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038" y="1533009"/>
            <a:ext cx="7563484" cy="255016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382905" indent="-357505">
              <a:lnSpc>
                <a:spcPct val="100000"/>
              </a:lnSpc>
              <a:spcBef>
                <a:spcPts val="355"/>
              </a:spcBef>
              <a:buChar char="•"/>
              <a:tabLst>
                <a:tab pos="382905" algn="l"/>
              </a:tabLst>
            </a:pPr>
            <a:r>
              <a:rPr dirty="0" sz="2900" spc="65">
                <a:latin typeface="Calibri"/>
                <a:cs typeface="Calibri"/>
              </a:rPr>
              <a:t>xTaskCreate()</a:t>
            </a:r>
            <a:r>
              <a:rPr dirty="0" sz="2900" spc="415">
                <a:latin typeface="Calibri"/>
                <a:cs typeface="Calibri"/>
              </a:rPr>
              <a:t> </a:t>
            </a:r>
            <a:r>
              <a:rPr dirty="0" sz="2900" spc="70">
                <a:latin typeface="Calibri"/>
                <a:cs typeface="Calibri"/>
              </a:rPr>
              <a:t>API</a:t>
            </a:r>
            <a:r>
              <a:rPr dirty="0" sz="2900" spc="509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function</a:t>
            </a:r>
            <a:endParaRPr sz="2900">
              <a:latin typeface="Calibri"/>
              <a:cs typeface="Calibri"/>
            </a:endParaRPr>
          </a:p>
          <a:p>
            <a:pPr lvl="1" marL="778510" indent="-330200">
              <a:lnSpc>
                <a:spcPts val="2825"/>
              </a:lnSpc>
              <a:spcBef>
                <a:spcPts val="190"/>
              </a:spcBef>
              <a:buChar char="—"/>
              <a:tabLst>
                <a:tab pos="778510" algn="l"/>
              </a:tabLst>
            </a:pP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most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 spc="-70">
                <a:latin typeface="Arial"/>
                <a:cs typeface="Arial"/>
              </a:rPr>
              <a:t>fundamental</a:t>
            </a:r>
            <a:r>
              <a:rPr dirty="0" sz="2500" spc="75">
                <a:latin typeface="Arial"/>
                <a:cs typeface="Arial"/>
              </a:rPr>
              <a:t> </a:t>
            </a:r>
            <a:r>
              <a:rPr dirty="0" sz="2500" spc="-70">
                <a:latin typeface="Arial"/>
                <a:cs typeface="Arial"/>
              </a:rPr>
              <a:t>component</a:t>
            </a:r>
            <a:r>
              <a:rPr dirty="0" sz="2500" spc="1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multitasking</a:t>
            </a:r>
            <a:endParaRPr sz="2500">
              <a:latin typeface="Arial"/>
              <a:cs typeface="Arial"/>
            </a:endParaRPr>
          </a:p>
          <a:p>
            <a:pPr marL="782955">
              <a:lnSpc>
                <a:spcPts val="2765"/>
              </a:lnSpc>
            </a:pPr>
            <a:r>
              <a:rPr dirty="0" sz="2450" spc="-10">
                <a:latin typeface="Arial"/>
                <a:cs typeface="Arial"/>
              </a:rPr>
              <a:t>system</a:t>
            </a:r>
            <a:endParaRPr sz="2450">
              <a:latin typeface="Arial"/>
              <a:cs typeface="Arial"/>
            </a:endParaRPr>
          </a:p>
          <a:p>
            <a:pPr lvl="2" marL="1182370" indent="-234950">
              <a:lnSpc>
                <a:spcPct val="100000"/>
              </a:lnSpc>
              <a:spcBef>
                <a:spcPts val="65"/>
              </a:spcBef>
              <a:buChar char="•"/>
              <a:tabLst>
                <a:tab pos="1182370" algn="l"/>
              </a:tabLst>
            </a:pPr>
            <a:r>
              <a:rPr dirty="0" sz="2150" spc="-90">
                <a:latin typeface="Arial"/>
                <a:cs typeface="Arial"/>
              </a:rPr>
              <a:t>Probably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 spc="-70">
                <a:latin typeface="Arial"/>
                <a:cs typeface="Arial"/>
              </a:rPr>
              <a:t>the</a:t>
            </a:r>
            <a:r>
              <a:rPr dirty="0" sz="2150" spc="-80">
                <a:latin typeface="Arial"/>
                <a:cs typeface="Arial"/>
              </a:rPr>
              <a:t> </a:t>
            </a:r>
            <a:r>
              <a:rPr dirty="0" sz="2150" spc="-110">
                <a:latin typeface="Arial"/>
                <a:cs typeface="Arial"/>
              </a:rPr>
              <a:t>most</a:t>
            </a:r>
            <a:r>
              <a:rPr dirty="0" sz="2150" spc="-4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complex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of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all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130">
                <a:latin typeface="Arial"/>
                <a:cs typeface="Arial"/>
              </a:rPr>
              <a:t>API</a:t>
            </a:r>
            <a:r>
              <a:rPr dirty="0" sz="2150" spc="-2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functions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15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5"/>
              </a:spcBef>
            </a:pPr>
            <a:r>
              <a:rPr dirty="0" sz="2100" spc="-65" i="1">
                <a:latin typeface="Arial"/>
                <a:cs typeface="Arial"/>
              </a:rPr>
              <a:t>portBASE_TYPE</a:t>
            </a:r>
            <a:r>
              <a:rPr dirty="0" sz="2100" spc="365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xTaskCreate(</a:t>
            </a:r>
            <a:endParaRPr sz="2100">
              <a:latin typeface="Arial"/>
              <a:cs typeface="Arial"/>
            </a:endParaRPr>
          </a:p>
          <a:p>
            <a:pPr marL="887094">
              <a:lnSpc>
                <a:spcPct val="100000"/>
              </a:lnSpc>
              <a:spcBef>
                <a:spcPts val="95"/>
              </a:spcBef>
            </a:pPr>
            <a:r>
              <a:rPr dirty="0" baseline="-9485" sz="3075" spc="-97" i="1">
                <a:latin typeface="Arial"/>
                <a:cs typeface="Arial"/>
              </a:rPr>
              <a:t>R</a:t>
            </a:r>
            <a:r>
              <a:rPr dirty="0" baseline="1355" sz="3075" spc="-97" i="1">
                <a:latin typeface="Arial"/>
                <a:cs typeface="Arial"/>
              </a:rPr>
              <a:t>dTASK_CODE</a:t>
            </a:r>
            <a:r>
              <a:rPr dirty="0" baseline="1355" sz="3075" spc="37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pvTaSkCode,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2187" y="4051547"/>
            <a:ext cx="2080895" cy="9874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9685" marR="5080" indent="-7620">
              <a:lnSpc>
                <a:spcPct val="101400"/>
              </a:lnSpc>
              <a:spcBef>
                <a:spcPts val="65"/>
              </a:spcBef>
            </a:pPr>
            <a:r>
              <a:rPr dirty="0" sz="2100" i="1">
                <a:latin typeface="Arial"/>
                <a:cs typeface="Arial"/>
              </a:rPr>
              <a:t>const</a:t>
            </a:r>
            <a:r>
              <a:rPr dirty="0" sz="2100" spc="-20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signed</a:t>
            </a:r>
            <a:r>
              <a:rPr dirty="0" sz="2100" spc="-30" i="1">
                <a:latin typeface="Arial"/>
                <a:cs typeface="Arial"/>
              </a:rPr>
              <a:t> </a:t>
            </a:r>
            <a:r>
              <a:rPr dirty="0" sz="2100" spc="-50" i="1">
                <a:latin typeface="Arial"/>
                <a:cs typeface="Arial"/>
              </a:rPr>
              <a:t>char</a:t>
            </a:r>
            <a:r>
              <a:rPr dirty="0" sz="2100" spc="-50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unsigned</a:t>
            </a:r>
            <a:r>
              <a:rPr dirty="0" sz="2100" spc="-85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short </a:t>
            </a:r>
            <a:r>
              <a:rPr dirty="0" sz="2050" spc="-20" i="1">
                <a:latin typeface="Arial"/>
                <a:cs typeface="Arial"/>
              </a:rPr>
              <a:t>void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1044" y="4051547"/>
            <a:ext cx="18859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i="1">
                <a:latin typeface="Arial"/>
                <a:cs typeface="Arial"/>
              </a:rPr>
              <a:t>”</a:t>
            </a:r>
            <a:r>
              <a:rPr dirty="0" sz="2100" spc="-45" i="1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consf</a:t>
            </a:r>
            <a:r>
              <a:rPr dirty="0" sz="2100" spc="-20">
                <a:latin typeface="Arial"/>
                <a:cs typeface="Arial"/>
              </a:rPr>
              <a:t> </a:t>
            </a:r>
            <a:r>
              <a:rPr dirty="0" sz="2100" spc="-80" i="1">
                <a:latin typeface="Arial"/>
                <a:cs typeface="Arial"/>
              </a:rPr>
              <a:t>pcName,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4400" y="4368552"/>
            <a:ext cx="168783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45" i="1">
                <a:latin typeface="Arial"/>
                <a:cs typeface="Arial"/>
              </a:rPr>
              <a:t>usStackDepth,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3550" y="4696222"/>
            <a:ext cx="188277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9485" sz="3075" spc="-44" i="1">
                <a:latin typeface="Arial"/>
                <a:cs typeface="Arial"/>
              </a:rPr>
              <a:t>*R</a:t>
            </a:r>
            <a:r>
              <a:rPr dirty="0" sz="2050" spc="-30" i="1">
                <a:latin typeface="Arial"/>
                <a:cs typeface="Arial"/>
              </a:rPr>
              <a:t>VParameters,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462" y="4996357"/>
            <a:ext cx="4632960" cy="67881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2570"/>
              </a:lnSpc>
              <a:spcBef>
                <a:spcPts val="190"/>
              </a:spcBef>
              <a:tabLst>
                <a:tab pos="2814320" algn="l"/>
              </a:tabLst>
            </a:pPr>
            <a:r>
              <a:rPr dirty="0" sz="2150" spc="-45" i="1">
                <a:latin typeface="Arial"/>
                <a:cs typeface="Arial"/>
              </a:rPr>
              <a:t>unsigned</a:t>
            </a:r>
            <a:r>
              <a:rPr dirty="0" sz="2150" spc="35" i="1">
                <a:latin typeface="Arial"/>
                <a:cs typeface="Arial"/>
              </a:rPr>
              <a:t> </a:t>
            </a:r>
            <a:r>
              <a:rPr dirty="0" sz="2150" spc="-130" i="1">
                <a:latin typeface="Arial"/>
                <a:cs typeface="Arial"/>
              </a:rPr>
              <a:t>portBASE_TYPE</a:t>
            </a:r>
            <a:r>
              <a:rPr dirty="0" sz="2150" spc="-20" i="1">
                <a:latin typeface="Arial"/>
                <a:cs typeface="Arial"/>
              </a:rPr>
              <a:t> </a:t>
            </a:r>
            <a:r>
              <a:rPr dirty="0" sz="2150" spc="-10" i="1">
                <a:latin typeface="Arial"/>
                <a:cs typeface="Arial"/>
              </a:rPr>
              <a:t>uxPriority,</a:t>
            </a:r>
            <a:r>
              <a:rPr dirty="0" sz="2150" spc="-10" i="1">
                <a:latin typeface="Arial"/>
                <a:cs typeface="Arial"/>
              </a:rPr>
              <a:t> xTaskHandle</a:t>
            </a:r>
            <a:r>
              <a:rPr dirty="0" sz="2150" i="1">
                <a:latin typeface="Arial"/>
                <a:cs typeface="Arial"/>
              </a:rPr>
              <a:t>	</a:t>
            </a:r>
            <a:r>
              <a:rPr dirty="0" sz="2150" spc="-90" i="1">
                <a:latin typeface="Arial"/>
                <a:cs typeface="Arial"/>
              </a:rPr>
              <a:t>”pxCreatedTask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49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10"/>
              </a:spcBef>
            </a:pPr>
            <a:r>
              <a:rPr dirty="0" sz="3700" spc="90">
                <a:solidFill>
                  <a:srgbClr val="001C62"/>
                </a:solidFill>
              </a:rPr>
              <a:t>All</a:t>
            </a:r>
            <a:r>
              <a:rPr dirty="0" sz="3700" spc="10">
                <a:solidFill>
                  <a:srgbClr val="001C62"/>
                </a:solidFill>
              </a:rPr>
              <a:t> </a:t>
            </a:r>
            <a:r>
              <a:rPr dirty="0" sz="3700" spc="-10">
                <a:solidFill>
                  <a:srgbClr val="001D5B"/>
                </a:solidFill>
              </a:rPr>
              <a:t>parameters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8094" y="1551729"/>
            <a:ext cx="8343265" cy="412051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70"/>
              </a:spcBef>
              <a:buChar char="•"/>
              <a:tabLst>
                <a:tab pos="347980" algn="l"/>
              </a:tabLst>
            </a:pPr>
            <a:r>
              <a:rPr dirty="0" sz="3000" spc="-10">
                <a:latin typeface="Arial"/>
                <a:cs typeface="Arial"/>
              </a:rPr>
              <a:t>pvTaskCode</a:t>
            </a:r>
            <a:endParaRPr sz="3000">
              <a:latin typeface="Arial"/>
              <a:cs typeface="Arial"/>
            </a:endParaRPr>
          </a:p>
          <a:p>
            <a:pPr lvl="1" marL="749300" indent="-323850">
              <a:lnSpc>
                <a:spcPts val="3160"/>
              </a:lnSpc>
              <a:spcBef>
                <a:spcPts val="535"/>
              </a:spcBef>
              <a:buChar char="—"/>
              <a:tabLst>
                <a:tab pos="749300" algn="l"/>
              </a:tabLst>
            </a:pPr>
            <a:r>
              <a:rPr dirty="0" sz="2700" spc="-390">
                <a:latin typeface="Calibri"/>
                <a:cs typeface="Calibri"/>
              </a:rPr>
              <a:t>a</a:t>
            </a:r>
            <a:r>
              <a:rPr dirty="0" sz="2700" spc="3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pointer</a:t>
            </a:r>
            <a:r>
              <a:rPr dirty="0" sz="2700" spc="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function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(just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function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name)</a:t>
            </a:r>
            <a:endParaRPr sz="2700">
              <a:latin typeface="Calibri"/>
              <a:cs typeface="Calibri"/>
            </a:endParaRPr>
          </a:p>
          <a:p>
            <a:pPr marL="750570">
              <a:lnSpc>
                <a:spcPts val="3220"/>
              </a:lnSpc>
            </a:pPr>
            <a:r>
              <a:rPr dirty="0" sz="2750" spc="-25">
                <a:latin typeface="Calibri"/>
                <a:cs typeface="Calibri"/>
              </a:rPr>
              <a:t>that</a:t>
            </a:r>
            <a:r>
              <a:rPr dirty="0" sz="2750" spc="-8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implements</a:t>
            </a:r>
            <a:r>
              <a:rPr dirty="0" sz="2750" spc="4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-8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task.</a:t>
            </a:r>
            <a:endParaRPr sz="2750">
              <a:latin typeface="Calibri"/>
              <a:cs typeface="Calibri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Char char="•"/>
              <a:tabLst>
                <a:tab pos="346710" algn="l"/>
              </a:tabLst>
            </a:pPr>
            <a:r>
              <a:rPr dirty="0" sz="3050" spc="-10">
                <a:latin typeface="Arial"/>
                <a:cs typeface="Arial"/>
              </a:rPr>
              <a:t>pcName</a:t>
            </a:r>
            <a:endParaRPr sz="3050">
              <a:latin typeface="Arial"/>
              <a:cs typeface="Arial"/>
            </a:endParaRPr>
          </a:p>
          <a:p>
            <a:pPr lvl="1" marL="755015" marR="573405" indent="-348615">
              <a:lnSpc>
                <a:spcPct val="100600"/>
              </a:lnSpc>
              <a:spcBef>
                <a:spcPts val="484"/>
              </a:spcBef>
              <a:buChar char="—"/>
              <a:tabLst>
                <a:tab pos="755015" algn="l"/>
              </a:tabLst>
            </a:pPr>
            <a:r>
              <a:rPr dirty="0" sz="2650" spc="-200">
                <a:latin typeface="Arial"/>
                <a:cs typeface="Arial"/>
              </a:rPr>
              <a:t>A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descriptive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name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for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task.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It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used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by </a:t>
            </a:r>
            <a:r>
              <a:rPr dirty="0" sz="2650" spc="-40">
                <a:latin typeface="Arial"/>
                <a:cs typeface="Arial"/>
              </a:rPr>
              <a:t>FreeRTOS,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but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debugging</a:t>
            </a:r>
            <a:r>
              <a:rPr dirty="0" sz="2650" spc="7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aid.</a:t>
            </a:r>
            <a:endParaRPr sz="2650">
              <a:latin typeface="Arial"/>
              <a:cs typeface="Arial"/>
            </a:endParaRPr>
          </a:p>
          <a:p>
            <a:pPr lvl="1" marL="750570" marR="5080" indent="-356235">
              <a:lnSpc>
                <a:spcPts val="3130"/>
              </a:lnSpc>
              <a:spcBef>
                <a:spcPts val="655"/>
              </a:spcBef>
              <a:buChar char="—"/>
              <a:tabLst>
                <a:tab pos="750570" algn="l"/>
              </a:tabLst>
            </a:pPr>
            <a:r>
              <a:rPr dirty="0" sz="2700" spc="-30">
                <a:latin typeface="Arial"/>
                <a:cs typeface="Arial"/>
              </a:rPr>
              <a:t>configMAX</a:t>
            </a:r>
            <a:r>
              <a:rPr dirty="0" sz="2700" spc="38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TASK</a:t>
            </a:r>
            <a:r>
              <a:rPr dirty="0" sz="2700" spc="38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NAME</a:t>
            </a:r>
            <a:r>
              <a:rPr dirty="0" sz="2700" spc="38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LEN: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application </a:t>
            </a:r>
            <a:r>
              <a:rPr dirty="0" sz="2700" spc="-35">
                <a:latin typeface="Arial"/>
                <a:cs typeface="Arial"/>
              </a:rPr>
              <a:t>defined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constant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that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defines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60">
                <a:latin typeface="Arial"/>
                <a:cs typeface="Arial"/>
              </a:rPr>
              <a:t>maximum</a:t>
            </a:r>
            <a:r>
              <a:rPr dirty="0" sz="2700" spc="-3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length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a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name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can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including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80">
                <a:latin typeface="Arial"/>
                <a:cs typeface="Arial"/>
              </a:rPr>
              <a:t>NULL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terminator.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094" y="1112792"/>
            <a:ext cx="8037830" cy="502602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525"/>
              </a:spcBef>
              <a:buChar char="•"/>
              <a:tabLst>
                <a:tab pos="347345" algn="l"/>
              </a:tabLst>
            </a:pPr>
            <a:r>
              <a:rPr dirty="0" sz="3050" spc="-10">
                <a:latin typeface="Arial"/>
                <a:cs typeface="Arial"/>
              </a:rPr>
              <a:t>usStackDepth</a:t>
            </a:r>
            <a:endParaRPr sz="3050">
              <a:latin typeface="Arial"/>
              <a:cs typeface="Arial"/>
            </a:endParaRPr>
          </a:p>
          <a:p>
            <a:pPr lvl="1" marL="749300" marR="224790" indent="-324485">
              <a:lnSpc>
                <a:spcPct val="95300"/>
              </a:lnSpc>
              <a:spcBef>
                <a:spcPts val="560"/>
              </a:spcBef>
              <a:buChar char="—"/>
              <a:tabLst>
                <a:tab pos="749300" algn="l"/>
                <a:tab pos="753110" algn="l"/>
              </a:tabLst>
            </a:pP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165">
                <a:latin typeface="Calibri"/>
                <a:cs typeface="Calibri"/>
              </a:rPr>
              <a:t>Each</a:t>
            </a:r>
            <a:r>
              <a:rPr dirty="0" sz="2750" spc="2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task</a:t>
            </a:r>
            <a:r>
              <a:rPr dirty="0" sz="2750" spc="95">
                <a:latin typeface="Calibri"/>
                <a:cs typeface="Calibri"/>
              </a:rPr>
              <a:t> </a:t>
            </a:r>
            <a:r>
              <a:rPr dirty="0" sz="2750" spc="120">
                <a:latin typeface="Calibri"/>
                <a:cs typeface="Calibri"/>
              </a:rPr>
              <a:t>has</a:t>
            </a:r>
            <a:r>
              <a:rPr dirty="0" sz="2750" spc="5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its</a:t>
            </a:r>
            <a:r>
              <a:rPr dirty="0" sz="2750" spc="8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own</a:t>
            </a:r>
            <a:r>
              <a:rPr dirty="0" sz="2750" spc="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unique</a:t>
            </a:r>
            <a:r>
              <a:rPr dirty="0" sz="2750" spc="150">
                <a:latin typeface="Calibri"/>
                <a:cs typeface="Calibri"/>
              </a:rPr>
              <a:t> </a:t>
            </a:r>
            <a:r>
              <a:rPr dirty="0" sz="2750" spc="50">
                <a:latin typeface="Calibri"/>
                <a:cs typeface="Calibri"/>
              </a:rPr>
              <a:t>stack</a:t>
            </a:r>
            <a:r>
              <a:rPr dirty="0" sz="2750" spc="135">
                <a:latin typeface="Calibri"/>
                <a:cs typeface="Calibri"/>
              </a:rPr>
              <a:t> </a:t>
            </a:r>
            <a:r>
              <a:rPr dirty="0" sz="2750" spc="-40">
                <a:latin typeface="Calibri"/>
                <a:cs typeface="Calibri"/>
              </a:rPr>
              <a:t>that</a:t>
            </a:r>
            <a:r>
              <a:rPr dirty="0" sz="2750" spc="170">
                <a:latin typeface="Calibri"/>
                <a:cs typeface="Calibri"/>
              </a:rPr>
              <a:t> </a:t>
            </a:r>
            <a:r>
              <a:rPr dirty="0" sz="2750" spc="-25">
                <a:latin typeface="Calibri"/>
                <a:cs typeface="Calibri"/>
              </a:rPr>
              <a:t>is </a:t>
            </a:r>
            <a:r>
              <a:rPr dirty="0" sz="2750">
                <a:latin typeface="Calibri"/>
                <a:cs typeface="Calibri"/>
              </a:rPr>
              <a:t>allocated</a:t>
            </a:r>
            <a:r>
              <a:rPr dirty="0" sz="2750" spc="5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by</a:t>
            </a:r>
            <a:r>
              <a:rPr dirty="0" sz="2750" spc="10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3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kernel</a:t>
            </a:r>
            <a:r>
              <a:rPr dirty="0" sz="2750" spc="10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to</a:t>
            </a:r>
            <a:r>
              <a:rPr dirty="0" sz="2750" spc="6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5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task</a:t>
            </a:r>
            <a:r>
              <a:rPr dirty="0" sz="2750" spc="6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when</a:t>
            </a:r>
            <a:r>
              <a:rPr dirty="0" sz="2750" spc="12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114">
                <a:latin typeface="Calibri"/>
                <a:cs typeface="Calibri"/>
              </a:rPr>
              <a:t> </a:t>
            </a:r>
            <a:r>
              <a:rPr dirty="0" sz="2750" spc="-20">
                <a:latin typeface="Calibri"/>
                <a:cs typeface="Calibri"/>
              </a:rPr>
              <a:t>task </a:t>
            </a:r>
            <a:r>
              <a:rPr dirty="0" sz="2750">
                <a:latin typeface="Calibri"/>
                <a:cs typeface="Calibri"/>
              </a:rPr>
              <a:t>is</a:t>
            </a:r>
            <a:r>
              <a:rPr dirty="0" sz="2750" spc="25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created.</a:t>
            </a:r>
            <a:endParaRPr sz="2750">
              <a:latin typeface="Calibri"/>
              <a:cs typeface="Calibri"/>
            </a:endParaRPr>
          </a:p>
          <a:p>
            <a:pPr lvl="1" marL="748030" marR="5080" indent="-349250">
              <a:lnSpc>
                <a:spcPts val="3130"/>
              </a:lnSpc>
              <a:spcBef>
                <a:spcPts val="635"/>
              </a:spcBef>
              <a:buChar char="—"/>
              <a:tabLst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value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specifies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number</a:t>
            </a:r>
            <a:r>
              <a:rPr dirty="0" sz="2650" spc="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 spc="95">
                <a:latin typeface="Arial"/>
                <a:cs typeface="Arial"/>
              </a:rPr>
              <a:t>words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task </a:t>
            </a:r>
            <a:r>
              <a:rPr dirty="0" sz="2650" spc="-20"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stack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hold.</a:t>
            </a:r>
            <a:endParaRPr sz="2650">
              <a:latin typeface="Arial"/>
              <a:cs typeface="Arial"/>
            </a:endParaRPr>
          </a:p>
          <a:p>
            <a:pPr lvl="2" marL="1148080" marR="273050" indent="-228600">
              <a:lnSpc>
                <a:spcPts val="2670"/>
              </a:lnSpc>
              <a:spcBef>
                <a:spcPts val="470"/>
              </a:spcBef>
              <a:buChar char="•"/>
              <a:tabLst>
                <a:tab pos="1148080" algn="l"/>
                <a:tab pos="1151890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35">
                <a:latin typeface="Arial"/>
                <a:cs typeface="Arial"/>
              </a:rPr>
              <a:t>E.g.,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Cortex-</a:t>
            </a:r>
            <a:r>
              <a:rPr dirty="0" sz="2300">
                <a:latin typeface="Arial"/>
                <a:cs typeface="Arial"/>
              </a:rPr>
              <a:t>M3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stack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32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bits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wide,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if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usStackDepth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passed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in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as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100,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400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bytes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of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stack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space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will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be </a:t>
            </a:r>
            <a:r>
              <a:rPr dirty="0" sz="2300" spc="-55">
                <a:latin typeface="Arial"/>
                <a:cs typeface="Arial"/>
              </a:rPr>
              <a:t>allocated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(100*4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bytes)</a:t>
            </a:r>
            <a:endParaRPr sz="2300">
              <a:latin typeface="Arial"/>
              <a:cs typeface="Arial"/>
            </a:endParaRPr>
          </a:p>
          <a:p>
            <a:pPr marL="748665" indent="-355600">
              <a:lnSpc>
                <a:spcPts val="3200"/>
              </a:lnSpc>
              <a:spcBef>
                <a:spcPts val="430"/>
              </a:spcBef>
              <a:buChar char="—"/>
              <a:tabLst>
                <a:tab pos="748665" algn="l"/>
              </a:tabLst>
            </a:pPr>
            <a:r>
              <a:rPr dirty="0" sz="2700" spc="-20">
                <a:latin typeface="Arial"/>
                <a:cs typeface="Arial"/>
              </a:rPr>
              <a:t>Size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3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the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stack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used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by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idle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defined</a:t>
            </a:r>
            <a:endParaRPr sz="2700">
              <a:latin typeface="Arial"/>
              <a:cs typeface="Arial"/>
            </a:endParaRPr>
          </a:p>
          <a:p>
            <a:pPr marL="743585">
              <a:lnSpc>
                <a:spcPts val="3080"/>
              </a:lnSpc>
            </a:pPr>
            <a:r>
              <a:rPr dirty="0" sz="2600">
                <a:latin typeface="Arial"/>
                <a:cs typeface="Arial"/>
              </a:rPr>
              <a:t>by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configMlNlMAL</a:t>
            </a:r>
            <a:r>
              <a:rPr dirty="0" sz="2600" spc="45">
                <a:latin typeface="Arial"/>
                <a:cs typeface="Arial"/>
              </a:rPr>
              <a:t>  </a:t>
            </a:r>
            <a:r>
              <a:rPr dirty="0" sz="2600">
                <a:latin typeface="Arial"/>
                <a:cs typeface="Arial"/>
              </a:rPr>
              <a:t>STACK  </a:t>
            </a:r>
            <a:r>
              <a:rPr dirty="0" sz="2600" spc="-10">
                <a:latin typeface="Arial"/>
                <a:cs typeface="Arial"/>
              </a:rPr>
              <a:t>SIZE.</a:t>
            </a:r>
            <a:endParaRPr sz="2600">
              <a:latin typeface="Arial"/>
              <a:cs typeface="Arial"/>
            </a:endParaRPr>
          </a:p>
          <a:p>
            <a:pPr lvl="1" marL="1157605" indent="-238125">
              <a:lnSpc>
                <a:spcPct val="100000"/>
              </a:lnSpc>
              <a:spcBef>
                <a:spcPts val="445"/>
              </a:spcBef>
              <a:buChar char="•"/>
              <a:tabLst>
                <a:tab pos="1157605" algn="l"/>
              </a:tabLst>
            </a:pPr>
            <a:r>
              <a:rPr dirty="0" sz="2300" spc="-70">
                <a:latin typeface="Arial"/>
                <a:cs typeface="Arial"/>
              </a:rPr>
              <a:t>Adjustable</a:t>
            </a:r>
            <a:r>
              <a:rPr dirty="0" sz="2300" spc="40">
                <a:latin typeface="Arial"/>
                <a:cs typeface="Arial"/>
              </a:rPr>
              <a:t> </a:t>
            </a:r>
            <a:r>
              <a:rPr dirty="0" sz="2300" spc="-85">
                <a:latin typeface="Arial"/>
                <a:cs typeface="Arial"/>
              </a:rPr>
              <a:t>w.r.t.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applications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1159507"/>
            <a:ext cx="8141970" cy="500761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735"/>
              </a:spcBef>
              <a:buChar char="•"/>
              <a:tabLst>
                <a:tab pos="347980" algn="l"/>
              </a:tabLst>
            </a:pPr>
            <a:r>
              <a:rPr dirty="0" sz="3000" spc="-10">
                <a:latin typeface="Arial"/>
                <a:cs typeface="Arial"/>
              </a:rPr>
              <a:t>pvParameters</a:t>
            </a:r>
            <a:endParaRPr sz="3000">
              <a:latin typeface="Arial"/>
              <a:cs typeface="Arial"/>
            </a:endParaRPr>
          </a:p>
          <a:p>
            <a:pPr lvl="1" marL="747395" marR="445134" indent="-349250">
              <a:lnSpc>
                <a:spcPts val="3130"/>
              </a:lnSpc>
              <a:spcBef>
                <a:spcPts val="730"/>
              </a:spcBef>
              <a:buChar char="—"/>
              <a:tabLst>
                <a:tab pos="751840" algn="l"/>
              </a:tabLst>
            </a:pP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value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assigned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30" i="1">
                <a:latin typeface="Arial"/>
                <a:cs typeface="Arial"/>
              </a:rPr>
              <a:t>pvParameters</a:t>
            </a:r>
            <a:r>
              <a:rPr dirty="0" sz="2650" spc="55" i="1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will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the </a:t>
            </a:r>
            <a:r>
              <a:rPr dirty="0" sz="2650" spc="-25"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values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passed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into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task.</a:t>
            </a:r>
            <a:endParaRPr sz="265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590"/>
              </a:spcBef>
              <a:buChar char="•"/>
              <a:tabLst>
                <a:tab pos="348615" algn="l"/>
              </a:tabLst>
            </a:pPr>
            <a:r>
              <a:rPr dirty="0" sz="3000" spc="-10">
                <a:latin typeface="Arial"/>
                <a:cs typeface="Arial"/>
              </a:rPr>
              <a:t>uxPriority</a:t>
            </a:r>
            <a:endParaRPr sz="3000">
              <a:latin typeface="Arial"/>
              <a:cs typeface="Arial"/>
            </a:endParaRPr>
          </a:p>
          <a:p>
            <a:pPr lvl="1" marL="753110" indent="-355600">
              <a:lnSpc>
                <a:spcPct val="100000"/>
              </a:lnSpc>
              <a:spcBef>
                <a:spcPts val="570"/>
              </a:spcBef>
              <a:buChar char="—"/>
              <a:tabLst>
                <a:tab pos="753110" algn="l"/>
              </a:tabLst>
            </a:pPr>
            <a:r>
              <a:rPr dirty="0" sz="2700" spc="-35">
                <a:latin typeface="Arial"/>
                <a:cs typeface="Arial"/>
              </a:rPr>
              <a:t>defines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the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priority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at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which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task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will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execute.</a:t>
            </a:r>
            <a:endParaRPr sz="2700">
              <a:latin typeface="Arial"/>
              <a:cs typeface="Arial"/>
            </a:endParaRPr>
          </a:p>
          <a:p>
            <a:pPr lvl="1" marL="751840" marR="547370" indent="-345440">
              <a:lnSpc>
                <a:spcPct val="98400"/>
              </a:lnSpc>
              <a:spcBef>
                <a:spcPts val="585"/>
              </a:spcBef>
              <a:buChar char="—"/>
              <a:tabLst>
                <a:tab pos="751840" algn="l"/>
                <a:tab pos="755650" algn="l"/>
                <a:tab pos="5215255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25">
                <a:latin typeface="Arial"/>
                <a:cs typeface="Arial"/>
              </a:rPr>
              <a:t>Priorities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assigned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from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0,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which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the </a:t>
            </a:r>
            <a:r>
              <a:rPr dirty="0" sz="2650" spc="-10">
                <a:latin typeface="Arial"/>
                <a:cs typeface="Arial"/>
              </a:rPr>
              <a:t>lowest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priority,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10" i="1">
                <a:latin typeface="Arial"/>
                <a:cs typeface="Arial"/>
              </a:rPr>
              <a:t>(configMAX</a:t>
            </a:r>
            <a:r>
              <a:rPr dirty="0" sz="2650" i="1">
                <a:latin typeface="Arial"/>
                <a:cs typeface="Arial"/>
              </a:rPr>
              <a:t>	</a:t>
            </a:r>
            <a:r>
              <a:rPr dirty="0" sz="2650" spc="-40" i="1">
                <a:latin typeface="Arial"/>
                <a:cs typeface="Arial"/>
              </a:rPr>
              <a:t>PRIOIRTIES-</a:t>
            </a:r>
            <a:r>
              <a:rPr dirty="0" sz="2650" spc="-25" i="1">
                <a:latin typeface="Arial"/>
                <a:cs typeface="Arial"/>
              </a:rPr>
              <a:t>1),</a:t>
            </a:r>
            <a:r>
              <a:rPr dirty="0" sz="2650" spc="-25" i="1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which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highest</a:t>
            </a:r>
            <a:r>
              <a:rPr dirty="0" sz="2650" spc="-1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priority.</a:t>
            </a:r>
            <a:endParaRPr sz="2650">
              <a:latin typeface="Arial"/>
              <a:cs typeface="Arial"/>
            </a:endParaRPr>
          </a:p>
          <a:p>
            <a:pPr lvl="1" marL="756285" indent="-349250">
              <a:lnSpc>
                <a:spcPts val="3180"/>
              </a:lnSpc>
              <a:spcBef>
                <a:spcPts val="545"/>
              </a:spcBef>
              <a:buChar char="—"/>
              <a:tabLst>
                <a:tab pos="756285" algn="l"/>
              </a:tabLst>
            </a:pPr>
            <a:r>
              <a:rPr dirty="0" sz="2650" spc="-20">
                <a:latin typeface="Arial"/>
                <a:cs typeface="Arial"/>
              </a:rPr>
              <a:t>Passing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value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above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(configMAX</a:t>
            </a:r>
            <a:r>
              <a:rPr dirty="0" sz="2650" spc="565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PRIOIRTIES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 spc="-50">
                <a:latin typeface="Arial"/>
                <a:cs typeface="Arial"/>
              </a:rPr>
              <a:t>-</a:t>
            </a:r>
            <a:endParaRPr sz="2650">
              <a:latin typeface="Arial"/>
              <a:cs typeface="Arial"/>
            </a:endParaRPr>
          </a:p>
          <a:p>
            <a:pPr marL="746760">
              <a:lnSpc>
                <a:spcPts val="3115"/>
              </a:lnSpc>
            </a:pPr>
            <a:r>
              <a:rPr dirty="0" sz="2600">
                <a:latin typeface="Arial"/>
                <a:cs typeface="Arial"/>
              </a:rPr>
              <a:t>1</a:t>
            </a:r>
            <a:r>
              <a:rPr dirty="0" sz="2600" spc="10">
                <a:latin typeface="Arial"/>
                <a:cs typeface="Arial"/>
              </a:rPr>
              <a:t>  </a:t>
            </a:r>
            <a:r>
              <a:rPr dirty="0" sz="2600">
                <a:latin typeface="Arial"/>
                <a:cs typeface="Arial"/>
              </a:rPr>
              <a:t>will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result</a:t>
            </a:r>
            <a:r>
              <a:rPr dirty="0" sz="2600" spc="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priority</a:t>
            </a:r>
            <a:r>
              <a:rPr dirty="0" sz="2600" spc="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being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capped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  <a:p>
            <a:pPr marL="751205">
              <a:lnSpc>
                <a:spcPts val="3175"/>
              </a:lnSpc>
            </a:pPr>
            <a:r>
              <a:rPr dirty="0" sz="2650" spc="-30">
                <a:latin typeface="Arial"/>
                <a:cs typeface="Arial"/>
              </a:rPr>
              <a:t>maximum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legitimate </a:t>
            </a:r>
            <a:r>
              <a:rPr dirty="0" sz="2650" spc="-10">
                <a:latin typeface="Arial"/>
                <a:cs typeface="Arial"/>
              </a:rPr>
              <a:t>value.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479" y="1147279"/>
            <a:ext cx="8033384" cy="49345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70"/>
              </a:spcBef>
              <a:buChar char="•"/>
              <a:tabLst>
                <a:tab pos="354330" algn="l"/>
              </a:tabLst>
            </a:pPr>
            <a:r>
              <a:rPr dirty="0" sz="2850" spc="-10">
                <a:latin typeface="Arial"/>
                <a:cs typeface="Arial"/>
              </a:rPr>
              <a:t>pxCreatedTask</a:t>
            </a:r>
            <a:endParaRPr sz="2850">
              <a:latin typeface="Arial"/>
              <a:cs typeface="Arial"/>
            </a:endParaRPr>
          </a:p>
          <a:p>
            <a:pPr lvl="1" marL="751840" marR="5080" indent="-330200">
              <a:lnSpc>
                <a:spcPts val="2850"/>
              </a:lnSpc>
              <a:spcBef>
                <a:spcPts val="770"/>
              </a:spcBef>
              <a:buChar char="—"/>
              <a:tabLst>
                <a:tab pos="761365" algn="l"/>
              </a:tabLst>
            </a:pPr>
            <a:r>
              <a:rPr dirty="0" sz="2500" spc="-20">
                <a:latin typeface="Arial"/>
                <a:cs typeface="Arial"/>
              </a:rPr>
              <a:t>pass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out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6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handle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created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baseline="2222" sz="3750" spc="-127">
                <a:latin typeface="Arial"/>
                <a:cs typeface="Arial"/>
              </a:rPr>
              <a:t>tas</a:t>
            </a:r>
            <a:r>
              <a:rPr dirty="0" baseline="-4444" sz="3750" spc="-127">
                <a:latin typeface="Arial"/>
                <a:cs typeface="Arial"/>
              </a:rPr>
              <a:t>+1</a:t>
            </a:r>
            <a:r>
              <a:rPr dirty="0" sz="2500" spc="-85">
                <a:latin typeface="Arial"/>
                <a:cs typeface="Arial"/>
              </a:rPr>
              <a:t>then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be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used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to </a:t>
            </a:r>
            <a:r>
              <a:rPr dirty="0" sz="2500" spc="-25">
                <a:latin typeface="Arial"/>
                <a:cs typeface="Arial"/>
              </a:rPr>
              <a:t>	</a:t>
            </a:r>
            <a:r>
              <a:rPr dirty="0" sz="2500" spc="-35">
                <a:latin typeface="Arial"/>
                <a:cs typeface="Arial"/>
              </a:rPr>
              <a:t>refer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the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created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task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in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API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calls.</a:t>
            </a:r>
            <a:endParaRPr sz="2500">
              <a:latin typeface="Arial"/>
              <a:cs typeface="Arial"/>
            </a:endParaRPr>
          </a:p>
          <a:p>
            <a:pPr lvl="2" marL="1163955" indent="-234950">
              <a:lnSpc>
                <a:spcPct val="100000"/>
              </a:lnSpc>
              <a:spcBef>
                <a:spcPts val="334"/>
              </a:spcBef>
              <a:buChar char="•"/>
              <a:tabLst>
                <a:tab pos="1163955" algn="l"/>
              </a:tabLst>
            </a:pPr>
            <a:r>
              <a:rPr dirty="0" sz="2050" spc="-40">
                <a:latin typeface="Arial"/>
                <a:cs typeface="Arial"/>
              </a:rPr>
              <a:t>E.g.,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change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the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task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priority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or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delete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the</a:t>
            </a:r>
            <a:r>
              <a:rPr dirty="0" sz="2050" spc="-114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task</a:t>
            </a:r>
            <a:endParaRPr sz="2050">
              <a:latin typeface="Arial"/>
              <a:cs typeface="Arial"/>
            </a:endParaRPr>
          </a:p>
          <a:p>
            <a:pPr lvl="1" marL="757555" indent="-323850">
              <a:lnSpc>
                <a:spcPct val="100000"/>
              </a:lnSpc>
              <a:spcBef>
                <a:spcPts val="515"/>
              </a:spcBef>
              <a:buChar char="—"/>
              <a:tabLst>
                <a:tab pos="757555" algn="l"/>
              </a:tabLst>
            </a:pPr>
            <a:r>
              <a:rPr dirty="0" sz="2450">
                <a:latin typeface="Arial"/>
                <a:cs typeface="Arial"/>
              </a:rPr>
              <a:t>Be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set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to</a:t>
            </a:r>
            <a:r>
              <a:rPr dirty="0" sz="2450" spc="-150">
                <a:latin typeface="Arial"/>
                <a:cs typeface="Arial"/>
              </a:rPr>
              <a:t> </a:t>
            </a:r>
            <a:r>
              <a:rPr dirty="0" sz="2450" spc="-50">
                <a:latin typeface="Arial"/>
                <a:cs typeface="Arial"/>
              </a:rPr>
              <a:t>NULL</a:t>
            </a:r>
            <a:r>
              <a:rPr dirty="0" sz="2450" spc="-12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if</a:t>
            </a:r>
            <a:r>
              <a:rPr dirty="0" sz="2450" spc="-4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no</a:t>
            </a:r>
            <a:r>
              <a:rPr dirty="0" sz="2450" spc="-10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use</a:t>
            </a:r>
            <a:r>
              <a:rPr dirty="0" sz="2450" spc="-9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for</a:t>
            </a:r>
            <a:r>
              <a:rPr dirty="0" sz="2450" spc="-9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4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task</a:t>
            </a:r>
            <a:r>
              <a:rPr dirty="0" sz="2450" spc="-6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handle</a:t>
            </a:r>
            <a:endParaRPr sz="24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275"/>
              </a:spcBef>
              <a:buFont typeface="Arial"/>
              <a:buChar char="—"/>
            </a:pPr>
            <a:endParaRPr sz="2450">
              <a:latin typeface="Arial"/>
              <a:cs typeface="Arial"/>
            </a:endParaRPr>
          </a:p>
          <a:p>
            <a:pPr marL="361315" indent="-348615">
              <a:lnSpc>
                <a:spcPct val="100000"/>
              </a:lnSpc>
              <a:buChar char="•"/>
              <a:tabLst>
                <a:tab pos="361315" algn="l"/>
              </a:tabLst>
            </a:pPr>
            <a:r>
              <a:rPr dirty="0" sz="2800" spc="-45">
                <a:latin typeface="Arial"/>
                <a:cs typeface="Arial"/>
              </a:rPr>
              <a:t>Two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possible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return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  <a:p>
            <a:pPr lvl="1" marL="751840" indent="-330200">
              <a:lnSpc>
                <a:spcPct val="100000"/>
              </a:lnSpc>
              <a:spcBef>
                <a:spcPts val="490"/>
              </a:spcBef>
              <a:buChar char="—"/>
              <a:tabLst>
                <a:tab pos="751840" algn="l"/>
              </a:tabLst>
            </a:pPr>
            <a:r>
              <a:rPr dirty="0" sz="2500" spc="-45">
                <a:latin typeface="Arial"/>
                <a:cs typeface="Arial"/>
              </a:rPr>
              <a:t>pdTRUE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: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task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has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been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created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successfully.</a:t>
            </a:r>
            <a:endParaRPr sz="2500">
              <a:latin typeface="Arial"/>
              <a:cs typeface="Arial"/>
            </a:endParaRPr>
          </a:p>
          <a:p>
            <a:pPr lvl="1" marL="761365" indent="-304800">
              <a:lnSpc>
                <a:spcPct val="100000"/>
              </a:lnSpc>
              <a:spcBef>
                <a:spcPts val="400"/>
              </a:spcBef>
              <a:buChar char="—"/>
              <a:tabLst>
                <a:tab pos="761365" algn="l"/>
              </a:tabLst>
            </a:pPr>
            <a:r>
              <a:rPr dirty="0" sz="2300" spc="-45">
                <a:latin typeface="Arial"/>
                <a:cs typeface="Arial"/>
              </a:rPr>
              <a:t>errCOULD</a:t>
            </a:r>
            <a:r>
              <a:rPr dirty="0" sz="2300" spc="33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NOT</a:t>
            </a:r>
            <a:r>
              <a:rPr dirty="0" sz="2300" spc="340">
                <a:latin typeface="Arial"/>
                <a:cs typeface="Arial"/>
              </a:rPr>
              <a:t> </a:t>
            </a:r>
            <a:r>
              <a:rPr dirty="0" sz="2300" spc="-85">
                <a:latin typeface="Arial"/>
                <a:cs typeface="Arial"/>
              </a:rPr>
              <a:t>ALLOCATE</a:t>
            </a:r>
            <a:r>
              <a:rPr dirty="0" sz="2300" spc="38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REQUIRED</a:t>
            </a:r>
            <a:r>
              <a:rPr dirty="0" sz="2300" spc="35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MEMORY</a:t>
            </a:r>
            <a:endParaRPr sz="2300">
              <a:latin typeface="Arial"/>
              <a:cs typeface="Arial"/>
            </a:endParaRPr>
          </a:p>
          <a:p>
            <a:pPr lvl="2" marL="1156970" marR="167005" indent="-229235">
              <a:lnSpc>
                <a:spcPts val="2430"/>
              </a:lnSpc>
              <a:spcBef>
                <a:spcPts val="509"/>
              </a:spcBef>
              <a:buChar char="•"/>
              <a:tabLst>
                <a:tab pos="1156970" algn="l"/>
                <a:tab pos="1159510" algn="l"/>
              </a:tabLst>
            </a:pP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160">
                <a:latin typeface="Arial"/>
                <a:cs typeface="Arial"/>
              </a:rPr>
              <a:t>Task</a:t>
            </a:r>
            <a:r>
              <a:rPr dirty="0" sz="2150" spc="10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has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not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been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created</a:t>
            </a:r>
            <a:r>
              <a:rPr dirty="0" sz="2150" spc="-10">
                <a:latin typeface="Arial"/>
                <a:cs typeface="Arial"/>
              </a:rPr>
              <a:t> </a:t>
            </a:r>
            <a:r>
              <a:rPr dirty="0" sz="2150" spc="-100">
                <a:latin typeface="Arial"/>
                <a:cs typeface="Arial"/>
              </a:rPr>
              <a:t>as</a:t>
            </a:r>
            <a:r>
              <a:rPr dirty="0" sz="2150" spc="-5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there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is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insufficient</a:t>
            </a:r>
            <a:r>
              <a:rPr dirty="0" sz="2150" spc="40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heap </a:t>
            </a:r>
            <a:r>
              <a:rPr dirty="0" sz="2150" spc="-105">
                <a:latin typeface="Arial"/>
                <a:cs typeface="Arial"/>
              </a:rPr>
              <a:t>memory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75">
                <a:latin typeface="Arial"/>
                <a:cs typeface="Arial"/>
              </a:rPr>
              <a:t>available</a:t>
            </a:r>
            <a:r>
              <a:rPr dirty="0" sz="2150" spc="-20">
                <a:latin typeface="Arial"/>
                <a:cs typeface="Arial"/>
              </a:rPr>
              <a:t> </a:t>
            </a:r>
            <a:r>
              <a:rPr dirty="0" sz="2150" spc="-60">
                <a:latin typeface="Arial"/>
                <a:cs typeface="Arial"/>
              </a:rPr>
              <a:t>for</a:t>
            </a:r>
            <a:r>
              <a:rPr dirty="0" sz="2150" spc="-40">
                <a:latin typeface="Arial"/>
                <a:cs typeface="Arial"/>
              </a:rPr>
              <a:t> </a:t>
            </a:r>
            <a:r>
              <a:rPr dirty="0" sz="2150" spc="-125">
                <a:latin typeface="Arial"/>
                <a:cs typeface="Arial"/>
              </a:rPr>
              <a:t>FreeRTOS</a:t>
            </a:r>
            <a:r>
              <a:rPr dirty="0" sz="2150" spc="-25">
                <a:latin typeface="Arial"/>
                <a:cs typeface="Arial"/>
              </a:rPr>
              <a:t> </a:t>
            </a:r>
            <a:r>
              <a:rPr dirty="0" sz="2150" spc="-60">
                <a:latin typeface="Arial"/>
                <a:cs typeface="Arial"/>
              </a:rPr>
              <a:t>to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75">
                <a:latin typeface="Arial"/>
                <a:cs typeface="Arial"/>
              </a:rPr>
              <a:t>allocate</a:t>
            </a:r>
            <a:r>
              <a:rPr dirty="0" sz="2150" spc="-15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enough</a:t>
            </a:r>
            <a:r>
              <a:rPr dirty="0" sz="2150" spc="-25">
                <a:latin typeface="Arial"/>
                <a:cs typeface="Arial"/>
              </a:rPr>
              <a:t> </a:t>
            </a:r>
            <a:r>
              <a:rPr dirty="0" sz="2150" spc="-150">
                <a:latin typeface="Arial"/>
                <a:cs typeface="Arial"/>
              </a:rPr>
              <a:t>RAM</a:t>
            </a:r>
            <a:r>
              <a:rPr dirty="0" sz="2150">
                <a:latin typeface="Arial"/>
                <a:cs typeface="Arial"/>
              </a:rPr>
              <a:t> </a:t>
            </a:r>
            <a:r>
              <a:rPr dirty="0" sz="2150" spc="-25">
                <a:latin typeface="Arial"/>
                <a:cs typeface="Arial"/>
              </a:rPr>
              <a:t>to </a:t>
            </a:r>
            <a:r>
              <a:rPr dirty="0" sz="2150" spc="-85">
                <a:latin typeface="Arial"/>
                <a:cs typeface="Arial"/>
              </a:rPr>
              <a:t>hold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50">
                <a:latin typeface="Arial"/>
                <a:cs typeface="Arial"/>
              </a:rPr>
              <a:t>the</a:t>
            </a:r>
            <a:r>
              <a:rPr dirty="0" sz="2150" spc="-10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task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95">
                <a:latin typeface="Arial"/>
                <a:cs typeface="Arial"/>
              </a:rPr>
              <a:t>data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75">
                <a:latin typeface="Arial"/>
                <a:cs typeface="Arial"/>
              </a:rPr>
              <a:t>structures</a:t>
            </a:r>
            <a:r>
              <a:rPr dirty="0" sz="2150" spc="20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and</a:t>
            </a:r>
            <a:r>
              <a:rPr dirty="0" sz="2150" spc="-5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stack.</a:t>
            </a:r>
            <a:endParaRPr sz="2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007" y="532258"/>
            <a:ext cx="5554345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01570" algn="l"/>
              </a:tabLst>
            </a:pPr>
            <a:r>
              <a:rPr dirty="0" spc="-10">
                <a:solidFill>
                  <a:srgbClr val="001F64"/>
                </a:solidFill>
              </a:rPr>
              <a:t>Example</a:t>
            </a:r>
            <a:r>
              <a:rPr dirty="0">
                <a:solidFill>
                  <a:srgbClr val="001F64"/>
                </a:solidFill>
              </a:rPr>
              <a:t>	</a:t>
            </a:r>
            <a:r>
              <a:rPr dirty="0">
                <a:solidFill>
                  <a:srgbClr val="002162"/>
                </a:solidFill>
              </a:rPr>
              <a:t>Creating</a:t>
            </a:r>
            <a:r>
              <a:rPr dirty="0" spc="310">
                <a:solidFill>
                  <a:srgbClr val="002162"/>
                </a:solidFill>
              </a:rPr>
              <a:t> </a:t>
            </a:r>
            <a:r>
              <a:rPr dirty="0" spc="60">
                <a:solidFill>
                  <a:srgbClr val="011F5D"/>
                </a:solidFill>
              </a:rPr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094" y="1614734"/>
            <a:ext cx="7773670" cy="26949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48615" marR="561975" indent="-336550">
              <a:lnSpc>
                <a:spcPts val="3590"/>
              </a:lnSpc>
              <a:spcBef>
                <a:spcPts val="305"/>
              </a:spcBef>
              <a:buChar char="•"/>
              <a:tabLst>
                <a:tab pos="348615" algn="l"/>
                <a:tab pos="353695" algn="l"/>
              </a:tabLst>
            </a:pPr>
            <a:r>
              <a:rPr dirty="0" sz="3050">
                <a:latin typeface="Arial"/>
                <a:cs typeface="Arial"/>
              </a:rPr>
              <a:t>	</a:t>
            </a:r>
            <a:r>
              <a:rPr dirty="0" sz="3050" spc="-270">
                <a:latin typeface="Arial"/>
                <a:cs typeface="Arial"/>
              </a:rPr>
              <a:t>To</a:t>
            </a:r>
            <a:r>
              <a:rPr dirty="0" sz="3050" spc="60">
                <a:latin typeface="Arial"/>
                <a:cs typeface="Arial"/>
              </a:rPr>
              <a:t> </a:t>
            </a:r>
            <a:r>
              <a:rPr dirty="0" sz="3050" spc="-40">
                <a:latin typeface="Arial"/>
                <a:cs typeface="Arial"/>
              </a:rPr>
              <a:t>demonstrate</a:t>
            </a:r>
            <a:r>
              <a:rPr dirty="0" sz="3050" spc="-15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10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steps</a:t>
            </a:r>
            <a:r>
              <a:rPr dirty="0" sz="3050" spc="-10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of</a:t>
            </a:r>
            <a:r>
              <a:rPr dirty="0" sz="3050" spc="-45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creating</a:t>
            </a:r>
            <a:r>
              <a:rPr dirty="0" sz="3050" spc="-40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two </a:t>
            </a:r>
            <a:r>
              <a:rPr dirty="0" sz="3050">
                <a:latin typeface="Arial"/>
                <a:cs typeface="Arial"/>
              </a:rPr>
              <a:t>tasks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then</a:t>
            </a:r>
            <a:r>
              <a:rPr dirty="0" sz="3050" spc="-140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starting</a:t>
            </a:r>
            <a:r>
              <a:rPr dirty="0" sz="3050" spc="-9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7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tasks</a:t>
            </a:r>
            <a:r>
              <a:rPr dirty="0" sz="3050" spc="-11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executing.</a:t>
            </a:r>
            <a:endParaRPr sz="3050">
              <a:latin typeface="Arial"/>
              <a:cs typeface="Arial"/>
            </a:endParaRPr>
          </a:p>
          <a:p>
            <a:pPr lvl="1" marL="748030" marR="5080" indent="-349250">
              <a:lnSpc>
                <a:spcPts val="3160"/>
              </a:lnSpc>
              <a:spcBef>
                <a:spcPts val="580"/>
              </a:spcBef>
              <a:buChar char="—"/>
              <a:tabLst>
                <a:tab pos="753110" algn="l"/>
              </a:tabLst>
            </a:pPr>
            <a:r>
              <a:rPr dirty="0" sz="2650" spc="-55">
                <a:latin typeface="Arial"/>
                <a:cs typeface="Arial"/>
              </a:rPr>
              <a:t>Tasks </a:t>
            </a:r>
            <a:r>
              <a:rPr dirty="0" sz="2650" spc="-10">
                <a:latin typeface="Arial"/>
                <a:cs typeface="Arial"/>
              </a:rPr>
              <a:t>simply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print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out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string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40">
                <a:latin typeface="Arial"/>
                <a:cs typeface="Arial"/>
              </a:rPr>
              <a:t>periodically,</a:t>
            </a:r>
            <a:r>
              <a:rPr dirty="0" sz="2650" spc="65">
                <a:latin typeface="Arial"/>
                <a:cs typeface="Arial"/>
              </a:rPr>
              <a:t> </a:t>
            </a:r>
            <a:r>
              <a:rPr dirty="0" sz="2650" spc="-40">
                <a:latin typeface="Arial"/>
                <a:cs typeface="Arial"/>
              </a:rPr>
              <a:t>using </a:t>
            </a:r>
            <a:r>
              <a:rPr dirty="0" sz="2650" spc="-40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crude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null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loop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create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periodic</a:t>
            </a:r>
            <a:r>
              <a:rPr dirty="0" sz="2650" spc="-2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delay.</a:t>
            </a:r>
            <a:endParaRPr sz="2650">
              <a:latin typeface="Arial"/>
              <a:cs typeface="Arial"/>
            </a:endParaRPr>
          </a:p>
          <a:p>
            <a:pPr lvl="1" marL="749300" marR="144145" indent="-349250">
              <a:lnSpc>
                <a:spcPts val="3130"/>
              </a:lnSpc>
              <a:spcBef>
                <a:spcPts val="560"/>
              </a:spcBef>
              <a:buChar char="—"/>
              <a:tabLst>
                <a:tab pos="753110" algn="l"/>
              </a:tabLst>
            </a:pPr>
            <a:r>
              <a:rPr dirty="0" sz="2650">
                <a:latin typeface="Arial"/>
                <a:cs typeface="Arial"/>
              </a:rPr>
              <a:t>Both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tasks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are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created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same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and </a:t>
            </a:r>
            <a:r>
              <a:rPr dirty="0" sz="2650" spc="-25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are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identical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except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for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string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they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print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out.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534416" y="565745"/>
            <a:ext cx="8014334" cy="5314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00">
                <a:solidFill>
                  <a:srgbClr val="001C59"/>
                </a:solidFill>
              </a:rPr>
              <a:t>Execution</a:t>
            </a:r>
            <a:r>
              <a:rPr dirty="0" sz="3300" spc="340">
                <a:solidFill>
                  <a:srgbClr val="001C59"/>
                </a:solidFill>
              </a:rPr>
              <a:t> </a:t>
            </a:r>
            <a:r>
              <a:rPr dirty="0" sz="3300">
                <a:solidFill>
                  <a:srgbClr val="031C57"/>
                </a:solidFill>
              </a:rPr>
              <a:t>pattern</a:t>
            </a:r>
            <a:r>
              <a:rPr dirty="0" sz="3300" spc="275">
                <a:solidFill>
                  <a:srgbClr val="031C57"/>
                </a:solidFill>
              </a:rPr>
              <a:t> </a:t>
            </a:r>
            <a:r>
              <a:rPr dirty="0" sz="3300">
                <a:solidFill>
                  <a:srgbClr val="012162"/>
                </a:solidFill>
              </a:rPr>
              <a:t>of</a:t>
            </a:r>
            <a:r>
              <a:rPr dirty="0" sz="3300" spc="315">
                <a:solidFill>
                  <a:srgbClr val="012162"/>
                </a:solidFill>
              </a:rPr>
              <a:t> </a:t>
            </a:r>
            <a:r>
              <a:rPr dirty="0" sz="3300" spc="80">
                <a:solidFill>
                  <a:srgbClr val="001856"/>
                </a:solidFill>
              </a:rPr>
              <a:t>two</a:t>
            </a:r>
            <a:r>
              <a:rPr dirty="0" sz="3300" spc="170">
                <a:solidFill>
                  <a:srgbClr val="001856"/>
                </a:solidFill>
              </a:rPr>
              <a:t> </a:t>
            </a:r>
            <a:r>
              <a:rPr dirty="0" sz="3300">
                <a:solidFill>
                  <a:srgbClr val="001A60"/>
                </a:solidFill>
              </a:rPr>
              <a:t>Example</a:t>
            </a:r>
            <a:r>
              <a:rPr dirty="0" sz="3300" spc="175">
                <a:solidFill>
                  <a:srgbClr val="001A60"/>
                </a:solidFill>
              </a:rPr>
              <a:t> </a:t>
            </a:r>
            <a:r>
              <a:rPr dirty="0" sz="3300" spc="180">
                <a:solidFill>
                  <a:srgbClr val="001C54"/>
                </a:solidFill>
              </a:rPr>
              <a:t>1</a:t>
            </a:r>
            <a:r>
              <a:rPr dirty="0" sz="3300" spc="-100">
                <a:solidFill>
                  <a:srgbClr val="001C54"/>
                </a:solidFill>
              </a:rPr>
              <a:t> </a:t>
            </a:r>
            <a:r>
              <a:rPr dirty="0" sz="3300" spc="50">
                <a:solidFill>
                  <a:srgbClr val="051864"/>
                </a:solidFill>
              </a:rPr>
              <a:t>tasks</a:t>
            </a:r>
            <a:endParaRPr sz="3300"/>
          </a:p>
        </p:txBody>
      </p:sp>
      <p:sp>
        <p:nvSpPr>
          <p:cNvPr id="6" name="object 6"/>
          <p:cNvSpPr/>
          <p:nvPr/>
        </p:nvSpPr>
        <p:spPr>
          <a:xfrm>
            <a:off x="2117824" y="1494233"/>
            <a:ext cx="0" cy="851535"/>
          </a:xfrm>
          <a:custGeom>
            <a:avLst/>
            <a:gdLst/>
            <a:ahLst/>
            <a:cxnLst/>
            <a:rect l="l" t="t" r="r" b="b"/>
            <a:pathLst>
              <a:path w="0" h="851535">
                <a:moveTo>
                  <a:pt x="0" y="851297"/>
                </a:moveTo>
                <a:lnTo>
                  <a:pt x="0" y="0"/>
                </a:lnTo>
              </a:path>
            </a:pathLst>
          </a:custGeom>
          <a:ln w="892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13359" y="1498698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 h="0">
                <a:moveTo>
                  <a:pt x="0" y="0"/>
                </a:moveTo>
                <a:lnTo>
                  <a:pt x="1294805" y="0"/>
                </a:lnTo>
              </a:path>
            </a:pathLst>
          </a:custGeom>
          <a:ln w="892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89737" y="1435397"/>
            <a:ext cx="1233170" cy="8636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-635">
              <a:lnSpc>
                <a:spcPts val="1620"/>
              </a:lnSpc>
              <a:spcBef>
                <a:spcPts val="265"/>
              </a:spcBef>
            </a:pPr>
            <a:r>
              <a:rPr dirty="0" sz="1450" spc="-165">
                <a:latin typeface="Calibri"/>
                <a:cs typeface="Calibri"/>
              </a:rPr>
              <a:t>At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 spc="-114">
                <a:latin typeface="Calibri"/>
                <a:cs typeface="Calibri"/>
              </a:rPr>
              <a:t>tirre</a:t>
            </a:r>
            <a:r>
              <a:rPr dirty="0" sz="1450">
                <a:latin typeface="Calibri"/>
                <a:cs typeface="Calibri"/>
              </a:rPr>
              <a:t> </a:t>
            </a:r>
            <a:r>
              <a:rPr dirty="0" sz="1450" spc="-114">
                <a:solidFill>
                  <a:srgbClr val="1F1F1F"/>
                </a:solidFill>
                <a:latin typeface="Calibri"/>
                <a:cs typeface="Calibri"/>
              </a:rPr>
              <a:t>t1</a:t>
            </a:r>
            <a:r>
              <a:rPr dirty="0" sz="1450" spc="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latin typeface="Calibri"/>
                <a:cs typeface="Calibri"/>
              </a:rPr>
              <a:t>Task </a:t>
            </a:r>
            <a:r>
              <a:rPr dirty="0" sz="1500" spc="-200">
                <a:solidFill>
                  <a:srgbClr val="212121"/>
                </a:solidFill>
                <a:latin typeface="Arial"/>
                <a:cs typeface="Arial"/>
              </a:rPr>
              <a:t>enters</a:t>
            </a:r>
            <a:r>
              <a:rPr dirty="0" sz="150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500" spc="-185">
                <a:solidFill>
                  <a:srgbClr val="494949"/>
                </a:solidFill>
                <a:latin typeface="Arial"/>
                <a:cs typeface="Arial"/>
              </a:rPr>
              <a:t>the</a:t>
            </a:r>
            <a:r>
              <a:rPr dirty="0" sz="1500" spc="-1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spc="-200">
                <a:solidFill>
                  <a:srgbClr val="111111"/>
                </a:solidFill>
                <a:latin typeface="Arial"/>
                <a:cs typeface="Arial"/>
              </a:rPr>
              <a:t>Running </a:t>
            </a:r>
            <a:r>
              <a:rPr dirty="0" sz="1500" spc="-200">
                <a:latin typeface="Arial"/>
                <a:cs typeface="Arial"/>
              </a:rPr>
              <a:t>state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120">
                <a:solidFill>
                  <a:srgbClr val="2F2F2F"/>
                </a:solidFill>
                <a:latin typeface="Arial"/>
                <a:cs typeface="Arial"/>
              </a:rPr>
              <a:t>ard</a:t>
            </a:r>
            <a:r>
              <a:rPr dirty="0" sz="1500" spc="-10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500" spc="-180">
                <a:solidFill>
                  <a:srgbClr val="212121"/>
                </a:solidFill>
                <a:latin typeface="Arial"/>
                <a:cs typeface="Arial"/>
              </a:rPr>
              <a:t>exec</a:t>
            </a:r>
            <a:r>
              <a:rPr dirty="0" sz="1500" spc="1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500" spc="-380">
                <a:solidFill>
                  <a:srgbClr val="212121"/>
                </a:solidFill>
                <a:latin typeface="Arial"/>
                <a:cs typeface="Arial"/>
              </a:rPr>
              <a:t>Yes</a:t>
            </a:r>
            <a:r>
              <a:rPr dirty="0" sz="1500" spc="-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424242"/>
                </a:solidFill>
                <a:latin typeface="Arial"/>
                <a:cs typeface="Arial"/>
              </a:rPr>
              <a:t>uiilil</a:t>
            </a:r>
            <a:r>
              <a:rPr dirty="0" sz="1400" spc="-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464646"/>
                </a:solidFill>
                <a:latin typeface="Arial"/>
                <a:cs typeface="Arial"/>
              </a:rPr>
              <a:t>ti</a:t>
            </a:r>
            <a:r>
              <a:rPr dirty="0" sz="140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400" spc="-15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dirty="0" sz="1400" spc="-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400" spc="-155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dirty="0" sz="1400" spc="-8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B3B3B"/>
                </a:solidFill>
                <a:latin typeface="Arial"/>
                <a:cs typeface="Arial"/>
              </a:rPr>
              <a:t>i2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28714" y="1663898"/>
            <a:ext cx="0" cy="681990"/>
          </a:xfrm>
          <a:custGeom>
            <a:avLst/>
            <a:gdLst/>
            <a:ahLst/>
            <a:cxnLst/>
            <a:rect l="l" t="t" r="r" b="b"/>
            <a:pathLst>
              <a:path w="0" h="681989">
                <a:moveTo>
                  <a:pt x="0" y="681633"/>
                </a:moveTo>
                <a:lnTo>
                  <a:pt x="0" y="0"/>
                </a:lnTo>
              </a:path>
            </a:pathLst>
          </a:custGeom>
          <a:ln w="892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51956" y="1494233"/>
            <a:ext cx="0" cy="854710"/>
          </a:xfrm>
          <a:custGeom>
            <a:avLst/>
            <a:gdLst/>
            <a:ahLst/>
            <a:cxnLst/>
            <a:rect l="l" t="t" r="r" b="b"/>
            <a:pathLst>
              <a:path w="0" h="854710">
                <a:moveTo>
                  <a:pt x="0" y="854273"/>
                </a:moveTo>
                <a:lnTo>
                  <a:pt x="0" y="0"/>
                </a:lnTo>
              </a:path>
            </a:pathLst>
          </a:custGeom>
          <a:ln w="8929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47491" y="1498698"/>
            <a:ext cx="2527300" cy="0"/>
          </a:xfrm>
          <a:custGeom>
            <a:avLst/>
            <a:gdLst/>
            <a:ahLst/>
            <a:cxnLst/>
            <a:rect l="l" t="t" r="r" b="b"/>
            <a:pathLst>
              <a:path w="2527300" h="0">
                <a:moveTo>
                  <a:pt x="0" y="0"/>
                </a:moveTo>
                <a:lnTo>
                  <a:pt x="2527102" y="0"/>
                </a:lnTo>
              </a:path>
            </a:pathLst>
          </a:custGeom>
          <a:ln w="8929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14941" y="1435397"/>
            <a:ext cx="2338705" cy="8636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9050" marR="5080" indent="-6985">
              <a:lnSpc>
                <a:spcPts val="1620"/>
              </a:lnSpc>
              <a:spcBef>
                <a:spcPts val="265"/>
              </a:spcBef>
            </a:pPr>
            <a:r>
              <a:rPr dirty="0" sz="1450" spc="-50">
                <a:latin typeface="Calibri"/>
                <a:cs typeface="Calibri"/>
              </a:rPr>
              <a:t>At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-270">
                <a:latin typeface="Calibri"/>
                <a:cs typeface="Calibri"/>
              </a:rPr>
              <a:t>Anne</a:t>
            </a:r>
            <a:r>
              <a:rPr dirty="0" sz="1450" spc="5">
                <a:latin typeface="Calibri"/>
                <a:cs typeface="Calibri"/>
              </a:rPr>
              <a:t> </a:t>
            </a:r>
            <a:r>
              <a:rPr dirty="0" sz="1450" spc="-175">
                <a:solidFill>
                  <a:srgbClr val="424242"/>
                </a:solidFill>
                <a:latin typeface="Calibri"/>
                <a:cs typeface="Calibri"/>
              </a:rPr>
              <a:t>t2</a:t>
            </a:r>
            <a:r>
              <a:rPr dirty="0" sz="1450" spc="5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450" spc="-60">
                <a:latin typeface="Calibri"/>
                <a:cs typeface="Calibri"/>
              </a:rPr>
              <a:t>Task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 spc="-135">
                <a:solidFill>
                  <a:srgbClr val="5B5B5B"/>
                </a:solidFill>
                <a:latin typeface="Calibri"/>
                <a:cs typeface="Calibri"/>
              </a:rPr>
              <a:t>2</a:t>
            </a:r>
            <a:r>
              <a:rPr dirty="0" sz="1450" spc="-1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1450" spc="-135">
                <a:latin typeface="Calibri"/>
                <a:cs typeface="Calibri"/>
              </a:rPr>
              <a:t>enters</a:t>
            </a:r>
            <a:r>
              <a:rPr dirty="0" sz="1450" spc="105">
                <a:latin typeface="Calibri"/>
                <a:cs typeface="Calibri"/>
              </a:rPr>
              <a:t> </a:t>
            </a:r>
            <a:r>
              <a:rPr dirty="0" sz="1450" spc="-170">
                <a:latin typeface="Calibri"/>
                <a:cs typeface="Calibri"/>
              </a:rPr>
              <a:t>the</a:t>
            </a:r>
            <a:r>
              <a:rPr dirty="0" sz="1450" spc="-40">
                <a:latin typeface="Calibri"/>
                <a:cs typeface="Calibri"/>
              </a:rPr>
              <a:t> </a:t>
            </a:r>
            <a:r>
              <a:rPr dirty="0" sz="1450" spc="-90">
                <a:solidFill>
                  <a:srgbClr val="424242"/>
                </a:solidFill>
                <a:latin typeface="Calibri"/>
                <a:cs typeface="Calibri"/>
              </a:rPr>
              <a:t>Running </a:t>
            </a:r>
            <a:r>
              <a:rPr dirty="0" sz="1500" spc="-20">
                <a:solidFill>
                  <a:srgbClr val="131313"/>
                </a:solidFill>
                <a:latin typeface="Arial"/>
                <a:cs typeface="Arial"/>
              </a:rPr>
              <a:t>see</a:t>
            </a:r>
            <a:r>
              <a:rPr dirty="0" sz="1500" spc="-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20">
                <a:solidFill>
                  <a:srgbClr val="2B2B2B"/>
                </a:solidFill>
                <a:latin typeface="Arial"/>
                <a:cs typeface="Arial"/>
              </a:rPr>
              <a:t>ard</a:t>
            </a:r>
            <a:r>
              <a:rPr dirty="0" sz="1500" spc="-15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spc="-210">
                <a:solidFill>
                  <a:srgbClr val="212121"/>
                </a:solidFill>
                <a:latin typeface="Arial"/>
                <a:cs typeface="Arial"/>
              </a:rPr>
              <a:t>executes</a:t>
            </a:r>
            <a:r>
              <a:rPr dirty="0" sz="150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500" spc="-110">
                <a:solidFill>
                  <a:srgbClr val="343434"/>
                </a:solidFill>
                <a:latin typeface="Arial"/>
                <a:cs typeface="Arial"/>
              </a:rPr>
              <a:t>uni!</a:t>
            </a:r>
            <a:r>
              <a:rPr dirty="0" sz="1500" spc="-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500" spc="-204">
                <a:solidFill>
                  <a:srgbClr val="363636"/>
                </a:solidFill>
                <a:latin typeface="Arial"/>
                <a:cs typeface="Arial"/>
              </a:rPr>
              <a:t>time</a:t>
            </a:r>
            <a:r>
              <a:rPr dirty="0" sz="1500" spc="-6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500" spc="-190">
                <a:solidFill>
                  <a:srgbClr val="131313"/>
                </a:solidFill>
                <a:latin typeface="Arial"/>
                <a:cs typeface="Arial"/>
              </a:rPr>
              <a:t>t3</a:t>
            </a:r>
            <a:r>
              <a:rPr dirty="0" sz="1500" spc="-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7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dirty="0" sz="1500" spc="-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at </a:t>
            </a:r>
            <a:r>
              <a:rPr dirty="0" sz="1500" spc="-204">
                <a:solidFill>
                  <a:srgbClr val="313131"/>
                </a:solidFill>
                <a:latin typeface="Arial"/>
                <a:cs typeface="Arial"/>
              </a:rPr>
              <a:t>which</a:t>
            </a:r>
            <a:r>
              <a:rPr dirty="0" sz="1500" spc="-9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500" spc="-229">
                <a:solidFill>
                  <a:srgbClr val="111111"/>
                </a:solidFill>
                <a:latin typeface="Arial"/>
                <a:cs typeface="Arial"/>
              </a:rPr>
              <a:t>po‹nt</a:t>
            </a:r>
            <a:r>
              <a:rPr dirty="0" sz="1500" spc="-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80">
                <a:solidFill>
                  <a:srgbClr val="2D2D2D"/>
                </a:solidFill>
                <a:latin typeface="Arial"/>
                <a:cs typeface="Arial"/>
              </a:rPr>
              <a:t>Task‹</a:t>
            </a:r>
            <a:r>
              <a:rPr dirty="0" sz="1500" spc="1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500" spc="-180">
                <a:solidFill>
                  <a:srgbClr val="313131"/>
                </a:solidFill>
                <a:latin typeface="Arial"/>
                <a:cs typeface="Arial"/>
              </a:rPr>
              <a:t>re-</a:t>
            </a:r>
            <a:r>
              <a:rPr dirty="0" sz="1500" spc="-200">
                <a:solidFill>
                  <a:srgbClr val="313131"/>
                </a:solidFill>
                <a:latin typeface="Arial"/>
                <a:cs typeface="Arial"/>
              </a:rPr>
              <a:t>enters</a:t>
            </a:r>
            <a:r>
              <a:rPr dirty="0" sz="1500" spc="10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545454"/>
                </a:solidFill>
                <a:latin typeface="Arial"/>
                <a:cs typeface="Arial"/>
              </a:rPr>
              <a:t>the </a:t>
            </a:r>
            <a:r>
              <a:rPr dirty="0" sz="1400" spc="-155">
                <a:latin typeface="Arial"/>
                <a:cs typeface="Arial"/>
              </a:rPr>
              <a:t>Running</a:t>
            </a:r>
            <a:r>
              <a:rPr dirty="0" sz="1400" spc="95"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"/>
                <a:cs typeface="Arial"/>
              </a:rPr>
              <a:t>stale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95144" y="1628179"/>
            <a:ext cx="0" cy="720725"/>
          </a:xfrm>
          <a:custGeom>
            <a:avLst/>
            <a:gdLst/>
            <a:ahLst/>
            <a:cxnLst/>
            <a:rect l="l" t="t" r="r" b="b"/>
            <a:pathLst>
              <a:path w="0" h="720725">
                <a:moveTo>
                  <a:pt x="0" y="720328"/>
                </a:moveTo>
                <a:lnTo>
                  <a:pt x="0" y="0"/>
                </a:lnTo>
              </a:path>
            </a:pathLst>
          </a:custGeom>
          <a:ln w="8929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13359" y="2341066"/>
            <a:ext cx="1419860" cy="0"/>
          </a:xfrm>
          <a:custGeom>
            <a:avLst/>
            <a:gdLst/>
            <a:ahLst/>
            <a:cxnLst/>
            <a:rect l="l" t="t" r="r" b="b"/>
            <a:pathLst>
              <a:path w="1419860" h="0">
                <a:moveTo>
                  <a:pt x="0" y="0"/>
                </a:moveTo>
                <a:lnTo>
                  <a:pt x="1419821" y="0"/>
                </a:lnTo>
              </a:path>
            </a:pathLst>
          </a:custGeom>
          <a:ln w="892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47491" y="2344042"/>
            <a:ext cx="2652395" cy="0"/>
          </a:xfrm>
          <a:custGeom>
            <a:avLst/>
            <a:gdLst/>
            <a:ahLst/>
            <a:cxnLst/>
            <a:rect l="l" t="t" r="r" b="b"/>
            <a:pathLst>
              <a:path w="2652395" h="0">
                <a:moveTo>
                  <a:pt x="0" y="0"/>
                </a:moveTo>
                <a:lnTo>
                  <a:pt x="2652118" y="0"/>
                </a:lnTo>
              </a:path>
            </a:pathLst>
          </a:custGeom>
          <a:ln w="8929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1109" y="2937866"/>
            <a:ext cx="553640" cy="1696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88023" y="3000375"/>
            <a:ext cx="526851" cy="1071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06008" y="3009304"/>
            <a:ext cx="517921" cy="8929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047" y="3446858"/>
            <a:ext cx="4232672" cy="123229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31793" y="2572993"/>
            <a:ext cx="7811770" cy="3709670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501140">
              <a:lnSpc>
                <a:spcPct val="100000"/>
              </a:lnSpc>
              <a:spcBef>
                <a:spcPts val="1835"/>
              </a:spcBef>
            </a:pPr>
            <a:r>
              <a:rPr dirty="0" sz="2550" spc="-55">
                <a:solidFill>
                  <a:srgbClr val="1305D4"/>
                </a:solidFill>
                <a:latin typeface="Calibri"/>
                <a:cs typeface="Calibri"/>
              </a:rPr>
              <a:t>Task</a:t>
            </a:r>
            <a:r>
              <a:rPr dirty="0" sz="2550" spc="-75">
                <a:solidFill>
                  <a:srgbClr val="1305D4"/>
                </a:solidFill>
                <a:latin typeface="Calibri"/>
                <a:cs typeface="Calibri"/>
              </a:rPr>
              <a:t> </a:t>
            </a:r>
            <a:r>
              <a:rPr dirty="0" sz="2550" spc="-695">
                <a:solidFill>
                  <a:srgbClr val="2316D8"/>
                </a:solidFill>
                <a:latin typeface="Calibri"/>
                <a:cs typeface="Calibri"/>
              </a:rPr>
              <a:t>1</a:t>
            </a:r>
            <a:endParaRPr sz="2550">
              <a:latin typeface="Calibri"/>
              <a:cs typeface="Calibri"/>
            </a:endParaRPr>
          </a:p>
          <a:p>
            <a:pPr marL="1510665">
              <a:lnSpc>
                <a:spcPct val="100000"/>
              </a:lnSpc>
              <a:spcBef>
                <a:spcPts val="1630"/>
              </a:spcBef>
            </a:pPr>
            <a:r>
              <a:rPr dirty="0" sz="2500" spc="-20">
                <a:solidFill>
                  <a:srgbClr val="428C6B"/>
                </a:solidFill>
                <a:latin typeface="Calibri"/>
                <a:cs typeface="Calibri"/>
              </a:rPr>
              <a:t>Task</a:t>
            </a:r>
            <a:endParaRPr sz="2500">
              <a:latin typeface="Calibri"/>
              <a:cs typeface="Calibri"/>
            </a:endParaRPr>
          </a:p>
          <a:p>
            <a:pPr algn="ctr" marR="222250">
              <a:lnSpc>
                <a:spcPct val="100000"/>
              </a:lnSpc>
              <a:spcBef>
                <a:spcPts val="1480"/>
              </a:spcBef>
              <a:tabLst>
                <a:tab pos="508634" algn="l"/>
              </a:tabLst>
            </a:pPr>
            <a:r>
              <a:rPr dirty="0" sz="2450" spc="-25">
                <a:latin typeface="Arial"/>
                <a:cs typeface="Arial"/>
              </a:rPr>
              <a:t>t2</a:t>
            </a:r>
            <a:r>
              <a:rPr dirty="0" sz="2450">
                <a:latin typeface="Arial"/>
                <a:cs typeface="Arial"/>
              </a:rPr>
              <a:t>	t3</a:t>
            </a:r>
            <a:r>
              <a:rPr dirty="0" sz="2450" spc="-35">
                <a:latin typeface="Arial"/>
                <a:cs typeface="Arial"/>
              </a:rPr>
              <a:t>  </a:t>
            </a:r>
            <a:r>
              <a:rPr dirty="0" sz="2450" spc="-300">
                <a:latin typeface="Arial"/>
                <a:cs typeface="Arial"/>
              </a:rPr>
              <a:t>Time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450">
              <a:latin typeface="Arial"/>
              <a:cs typeface="Arial"/>
            </a:endParaRPr>
          </a:p>
          <a:p>
            <a:pPr marL="363220" indent="-350520">
              <a:lnSpc>
                <a:spcPts val="2800"/>
              </a:lnSpc>
              <a:buChar char="•"/>
              <a:tabLst>
                <a:tab pos="363220" algn="l"/>
              </a:tabLst>
            </a:pPr>
            <a:r>
              <a:rPr dirty="0" sz="2600">
                <a:latin typeface="Arial"/>
                <a:cs typeface="Arial"/>
              </a:rPr>
              <a:t>Both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tasks are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rapidly</a:t>
            </a:r>
            <a:r>
              <a:rPr dirty="0" sz="2600" spc="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entering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and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exiting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  <a:p>
            <a:pPr marL="360680">
              <a:lnSpc>
                <a:spcPts val="2820"/>
              </a:lnSpc>
            </a:pP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state.</a:t>
            </a:r>
            <a:endParaRPr sz="2650">
              <a:latin typeface="Arial"/>
              <a:cs typeface="Arial"/>
            </a:endParaRPr>
          </a:p>
          <a:p>
            <a:pPr marL="353060" marR="5080" indent="-340995">
              <a:lnSpc>
                <a:spcPts val="2570"/>
              </a:lnSpc>
              <a:spcBef>
                <a:spcPts val="555"/>
              </a:spcBef>
              <a:buChar char="•"/>
              <a:tabLst>
                <a:tab pos="358775" algn="l"/>
              </a:tabLst>
            </a:pPr>
            <a:r>
              <a:rPr dirty="0" sz="2650">
                <a:latin typeface="Arial"/>
                <a:cs typeface="Arial"/>
              </a:rPr>
              <a:t>Only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one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exist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25">
                <a:latin typeface="Arial"/>
                <a:cs typeface="Arial"/>
              </a:rPr>
              <a:t> Running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any </a:t>
            </a:r>
            <a:r>
              <a:rPr dirty="0" sz="2650" spc="-30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one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time.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F64"/>
                </a:solidFill>
              </a:rPr>
              <a:t>Example</a:t>
            </a:r>
            <a:r>
              <a:rPr dirty="0" spc="229">
                <a:solidFill>
                  <a:srgbClr val="001F64"/>
                </a:solidFill>
              </a:rPr>
              <a:t> </a:t>
            </a:r>
            <a:r>
              <a:rPr dirty="0">
                <a:solidFill>
                  <a:srgbClr val="001550"/>
                </a:solidFill>
              </a:rPr>
              <a:t>2</a:t>
            </a:r>
            <a:r>
              <a:rPr dirty="0" spc="-60">
                <a:solidFill>
                  <a:srgbClr val="001550"/>
                </a:solidFill>
              </a:rPr>
              <a:t> </a:t>
            </a:r>
            <a:r>
              <a:rPr dirty="0" spc="50">
                <a:solidFill>
                  <a:srgbClr val="0A235D"/>
                </a:solidFill>
              </a:rPr>
              <a:t>Using</a:t>
            </a:r>
            <a:r>
              <a:rPr dirty="0" spc="80">
                <a:solidFill>
                  <a:srgbClr val="0A235D"/>
                </a:solidFill>
              </a:rPr>
              <a:t> </a:t>
            </a:r>
            <a:r>
              <a:rPr dirty="0">
                <a:solidFill>
                  <a:srgbClr val="001A59"/>
                </a:solidFill>
              </a:rPr>
              <a:t>the</a:t>
            </a:r>
            <a:r>
              <a:rPr dirty="0" spc="55">
                <a:solidFill>
                  <a:srgbClr val="001A59"/>
                </a:solidFill>
              </a:rPr>
              <a:t> </a:t>
            </a:r>
            <a:r>
              <a:rPr dirty="0">
                <a:solidFill>
                  <a:srgbClr val="0A245B"/>
                </a:solidFill>
              </a:rPr>
              <a:t>task</a:t>
            </a:r>
            <a:r>
              <a:rPr dirty="0" spc="125">
                <a:solidFill>
                  <a:srgbClr val="0A245B"/>
                </a:solidFill>
              </a:rPr>
              <a:t> </a:t>
            </a:r>
            <a:r>
              <a:rPr dirty="0" spc="-10">
                <a:solidFill>
                  <a:srgbClr val="011854"/>
                </a:solidFill>
              </a:rPr>
              <a:t>parameter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22" y="1620935"/>
            <a:ext cx="8043545" cy="4284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6710" marR="482600" indent="-334645">
              <a:lnSpc>
                <a:spcPct val="100299"/>
              </a:lnSpc>
              <a:spcBef>
                <a:spcPts val="114"/>
              </a:spcBef>
              <a:buChar char="•"/>
              <a:tabLst>
                <a:tab pos="346710" algn="l"/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	The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two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tasks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Example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1</a:t>
            </a:r>
            <a:r>
              <a:rPr dirty="0" sz="3000" spc="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almost </a:t>
            </a:r>
            <a:r>
              <a:rPr dirty="0" sz="3000">
                <a:latin typeface="Arial"/>
                <a:cs typeface="Arial"/>
              </a:rPr>
              <a:t>identical,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only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di0erence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between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them </a:t>
            </a:r>
            <a:r>
              <a:rPr dirty="0" sz="2950">
                <a:latin typeface="Arial"/>
                <a:cs typeface="Arial"/>
              </a:rPr>
              <a:t>being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8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text</a:t>
            </a:r>
            <a:r>
              <a:rPr dirty="0" sz="2950" spc="6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string</a:t>
            </a:r>
            <a:r>
              <a:rPr dirty="0" sz="2950" spc="10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they</a:t>
            </a:r>
            <a:r>
              <a:rPr dirty="0" sz="2950" spc="5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print</a:t>
            </a:r>
            <a:r>
              <a:rPr dirty="0" sz="2950" spc="9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out.</a:t>
            </a:r>
            <a:endParaRPr sz="2950">
              <a:latin typeface="Arial"/>
              <a:cs typeface="Arial"/>
            </a:endParaRPr>
          </a:p>
          <a:p>
            <a:pPr algn="just" lvl="1" marL="751205" marR="1254760" indent="-345440">
              <a:lnSpc>
                <a:spcPct val="98600"/>
              </a:lnSpc>
              <a:spcBef>
                <a:spcPts val="670"/>
              </a:spcBef>
              <a:buChar char="—"/>
              <a:tabLst>
                <a:tab pos="751205" algn="l"/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20">
                <a:latin typeface="Arial"/>
                <a:cs typeface="Arial"/>
              </a:rPr>
              <a:t>Remove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such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duplication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by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creating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two </a:t>
            </a:r>
            <a:r>
              <a:rPr dirty="0" sz="2650" spc="-10">
                <a:latin typeface="Arial"/>
                <a:cs typeface="Arial"/>
              </a:rPr>
              <a:t>instances</a:t>
            </a:r>
            <a:r>
              <a:rPr dirty="0" sz="2650">
                <a:latin typeface="Arial"/>
                <a:cs typeface="Arial"/>
              </a:rPr>
              <a:t> of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single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implementation </a:t>
            </a:r>
            <a:r>
              <a:rPr dirty="0" sz="2600" spc="-10" i="1">
                <a:latin typeface="Arial"/>
                <a:cs typeface="Arial"/>
              </a:rPr>
              <a:t>vTaskFunction.</a:t>
            </a:r>
            <a:endParaRPr sz="2600">
              <a:latin typeface="Arial"/>
              <a:cs typeface="Arial"/>
            </a:endParaRPr>
          </a:p>
          <a:p>
            <a:pPr lvl="2" marL="1151890" indent="-245110">
              <a:lnSpc>
                <a:spcPts val="2755"/>
              </a:lnSpc>
              <a:spcBef>
                <a:spcPts val="365"/>
              </a:spcBef>
              <a:buChar char="•"/>
              <a:tabLst>
                <a:tab pos="1151890" algn="l"/>
              </a:tabLst>
            </a:pPr>
            <a:r>
              <a:rPr dirty="0" sz="2350" spc="105">
                <a:latin typeface="Calibri"/>
                <a:cs typeface="Calibri"/>
              </a:rPr>
              <a:t>Each</a:t>
            </a:r>
            <a:r>
              <a:rPr dirty="0" sz="2350">
                <a:latin typeface="Calibri"/>
                <a:cs typeface="Calibri"/>
              </a:rPr>
              <a:t> created</a:t>
            </a:r>
            <a:r>
              <a:rPr dirty="0" sz="2350" spc="2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instance</a:t>
            </a:r>
            <a:r>
              <a:rPr dirty="0" sz="2350" spc="7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will</a:t>
            </a:r>
            <a:r>
              <a:rPr dirty="0" sz="2350" spc="2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execute</a:t>
            </a:r>
            <a:r>
              <a:rPr dirty="0" sz="2350" spc="120"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independently</a:t>
            </a:r>
            <a:r>
              <a:rPr dirty="0" sz="2350" spc="260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under</a:t>
            </a:r>
            <a:endParaRPr sz="2350">
              <a:latin typeface="Calibri"/>
              <a:cs typeface="Calibri"/>
            </a:endParaRPr>
          </a:p>
          <a:p>
            <a:pPr marL="1153160">
              <a:lnSpc>
                <a:spcPts val="2695"/>
              </a:lnSpc>
            </a:pP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9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control</a:t>
            </a:r>
            <a:r>
              <a:rPr dirty="0" sz="2300" spc="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of</a:t>
            </a:r>
            <a:r>
              <a:rPr dirty="0" sz="2300" spc="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25">
                <a:latin typeface="Calibri"/>
                <a:cs typeface="Calibri"/>
              </a:rPr>
              <a:t> </a:t>
            </a:r>
            <a:r>
              <a:rPr dirty="0" sz="2300" spc="155">
                <a:latin typeface="Calibri"/>
                <a:cs typeface="Calibri"/>
              </a:rPr>
              <a:t>FreeRTOS</a:t>
            </a:r>
            <a:r>
              <a:rPr dirty="0" sz="2300" spc="11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scheduler.</a:t>
            </a:r>
            <a:endParaRPr sz="2300">
              <a:latin typeface="Calibri"/>
              <a:cs typeface="Calibri"/>
            </a:endParaRPr>
          </a:p>
          <a:p>
            <a:pPr lvl="1" marL="746760" marR="20955" indent="-361950">
              <a:lnSpc>
                <a:spcPts val="3160"/>
              </a:lnSpc>
              <a:spcBef>
                <a:spcPts val="670"/>
              </a:spcBef>
              <a:buChar char="—"/>
              <a:tabLst>
                <a:tab pos="751840" algn="l"/>
              </a:tabLst>
            </a:pPr>
            <a:r>
              <a:rPr dirty="0" sz="2750" spc="-55">
                <a:latin typeface="Arial"/>
                <a:cs typeface="Arial"/>
              </a:rPr>
              <a:t>The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task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parameter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can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then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be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used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to</a:t>
            </a:r>
            <a:r>
              <a:rPr dirty="0" sz="2750" spc="-125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pass</a:t>
            </a:r>
            <a:r>
              <a:rPr dirty="0" sz="2750" spc="-45">
                <a:latin typeface="Arial"/>
                <a:cs typeface="Arial"/>
              </a:rPr>
              <a:t> into </a:t>
            </a:r>
            <a:r>
              <a:rPr dirty="0" sz="2750" spc="-45">
                <a:latin typeface="Arial"/>
                <a:cs typeface="Arial"/>
              </a:rPr>
              <a:t>	</a:t>
            </a:r>
            <a:r>
              <a:rPr dirty="0" sz="2750" spc="-60">
                <a:latin typeface="Arial"/>
                <a:cs typeface="Arial"/>
              </a:rPr>
              <a:t>each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task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the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string</a:t>
            </a:r>
            <a:r>
              <a:rPr dirty="0" sz="2750" spc="-10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that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it</a:t>
            </a:r>
            <a:r>
              <a:rPr dirty="0" sz="2750" spc="-175">
                <a:latin typeface="Arial"/>
                <a:cs typeface="Arial"/>
              </a:rPr>
              <a:t> </a:t>
            </a:r>
            <a:r>
              <a:rPr dirty="0" sz="2750" spc="-80">
                <a:latin typeface="Arial"/>
                <a:cs typeface="Arial"/>
              </a:rPr>
              <a:t>should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print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out.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9635" y="818752"/>
            <a:ext cx="7788909" cy="88011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dirty="0" sz="2700" spc="-1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50">
                <a:solidFill>
                  <a:srgbClr val="000000"/>
                </a:solidFill>
                <a:latin typeface="Calibri"/>
                <a:cs typeface="Calibri"/>
              </a:rPr>
              <a:t>define</a:t>
            </a:r>
            <a:r>
              <a:rPr dirty="0" sz="2700" spc="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2700" spc="1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45" i="1">
                <a:solidFill>
                  <a:srgbClr val="000000"/>
                </a:solidFill>
                <a:latin typeface="Calibri"/>
                <a:cs typeface="Calibri"/>
              </a:rPr>
              <a:t>char</a:t>
            </a:r>
            <a:r>
              <a:rPr dirty="0" sz="2700" spc="-11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50">
                <a:solidFill>
                  <a:srgbClr val="000000"/>
                </a:solidFill>
                <a:latin typeface="Calibri"/>
                <a:cs typeface="Calibri"/>
              </a:rPr>
              <a:t>string</a:t>
            </a:r>
            <a:r>
              <a:rPr dirty="0" sz="2700" spc="16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30" i="1">
                <a:solidFill>
                  <a:srgbClr val="000000"/>
                </a:solidFill>
                <a:latin typeface="Calibri"/>
                <a:cs typeface="Calibri"/>
              </a:rPr>
              <a:t>pcTextForTask</a:t>
            </a:r>
            <a:r>
              <a:rPr dirty="0" sz="2700" spc="-12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570" i="1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204"/>
              </a:spcBef>
            </a:pPr>
            <a:r>
              <a:rPr dirty="0" sz="2700" spc="-50">
                <a:solidFill>
                  <a:srgbClr val="000000"/>
                </a:solidFill>
                <a:latin typeface="Calibri"/>
                <a:cs typeface="Calibri"/>
              </a:rPr>
              <a:t>static</a:t>
            </a:r>
            <a:r>
              <a:rPr dirty="0" sz="2700" spc="-6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000000"/>
                </a:solidFill>
                <a:latin typeface="Calibri"/>
                <a:cs typeface="Calibri"/>
              </a:rPr>
              <a:t>const</a:t>
            </a:r>
            <a:r>
              <a:rPr dirty="0" sz="2700" spc="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Calibri"/>
                <a:cs typeface="Calibri"/>
              </a:rPr>
              <a:t>char</a:t>
            </a:r>
            <a:r>
              <a:rPr dirty="0" sz="2700" spc="-11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60">
                <a:solidFill>
                  <a:srgbClr val="000000"/>
                </a:solidFill>
                <a:latin typeface="Calibri"/>
                <a:cs typeface="Calibri"/>
              </a:rPr>
              <a:t>*pcTextForTask1</a:t>
            </a:r>
            <a:r>
              <a:rPr dirty="0" sz="2700" spc="3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dirty="0" sz="2700" spc="-8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000000"/>
                </a:solidFill>
                <a:latin typeface="Calibri"/>
                <a:cs typeface="Calibri"/>
              </a:rPr>
              <a:t>“Task</a:t>
            </a:r>
            <a:r>
              <a:rPr dirty="0" sz="2700" spc="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52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dirty="0" sz="2700" spc="3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z="2700" spc="-9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700" spc="-110">
                <a:solidFill>
                  <a:srgbClr val="000000"/>
                </a:solidFill>
                <a:latin typeface="Calibri"/>
                <a:cs typeface="Calibri"/>
              </a:rPr>
              <a:t>running.\n”;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381" y="2092103"/>
            <a:ext cx="7950200" cy="392493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550" spc="-80">
                <a:latin typeface="Arial"/>
                <a:cs typeface="Arial"/>
              </a:rPr>
              <a:t>Then,</a:t>
            </a:r>
            <a:r>
              <a:rPr dirty="0" sz="2550" spc="-10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in</a:t>
            </a:r>
            <a:r>
              <a:rPr dirty="0" sz="2550" spc="-180">
                <a:latin typeface="Arial"/>
                <a:cs typeface="Arial"/>
              </a:rPr>
              <a:t> </a:t>
            </a:r>
            <a:r>
              <a:rPr dirty="0" sz="2550" spc="-80">
                <a:latin typeface="Arial"/>
                <a:cs typeface="Arial"/>
              </a:rPr>
              <a:t>main(void)</a:t>
            </a:r>
            <a:r>
              <a:rPr dirty="0" sz="2550" spc="80">
                <a:latin typeface="Arial"/>
                <a:cs typeface="Arial"/>
              </a:rPr>
              <a:t> </a:t>
            </a:r>
            <a:r>
              <a:rPr dirty="0" sz="2550" spc="-75">
                <a:latin typeface="Arial"/>
                <a:cs typeface="Arial"/>
              </a:rPr>
              <a:t>function,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change</a:t>
            </a:r>
            <a:endParaRPr sz="255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470"/>
              </a:spcBef>
            </a:pPr>
            <a:r>
              <a:rPr dirty="0" sz="2500" spc="-95">
                <a:latin typeface="Arial"/>
                <a:cs typeface="Arial"/>
              </a:rPr>
              <a:t>xTaskCreate(</a:t>
            </a:r>
            <a:r>
              <a:rPr dirty="0" sz="2500" spc="110">
                <a:latin typeface="Arial"/>
                <a:cs typeface="Arial"/>
              </a:rPr>
              <a:t> </a:t>
            </a:r>
            <a:r>
              <a:rPr dirty="0" sz="2500" spc="-160">
                <a:latin typeface="Arial"/>
                <a:cs typeface="Arial"/>
              </a:rPr>
              <a:t>vTask1</a:t>
            </a:r>
            <a:r>
              <a:rPr dirty="0" sz="2500" spc="-4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,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125">
                <a:latin typeface="Arial"/>
                <a:cs typeface="Arial"/>
              </a:rPr>
              <a:t>"Task</a:t>
            </a:r>
            <a:r>
              <a:rPr dirty="0" sz="2500" spc="-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1",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baseline="2222" sz="3750" spc="-112">
                <a:latin typeface="Arial"/>
                <a:cs typeface="Arial"/>
              </a:rPr>
              <a:t>24</a:t>
            </a:r>
            <a:r>
              <a:rPr dirty="0" sz="2500" spc="-75">
                <a:latin typeface="Arial"/>
                <a:cs typeface="Arial"/>
              </a:rPr>
              <a:t>0</a:t>
            </a:r>
            <a:r>
              <a:rPr dirty="0" baseline="-5555" sz="3750" spc="-112">
                <a:latin typeface="Arial"/>
                <a:cs typeface="Arial"/>
              </a:rPr>
              <a:t>1</a:t>
            </a:r>
            <a:r>
              <a:rPr dirty="0" sz="2500" spc="-75">
                <a:latin typeface="Arial"/>
                <a:cs typeface="Arial"/>
              </a:rPr>
              <a:t>NULL,</a:t>
            </a:r>
            <a:r>
              <a:rPr dirty="0" sz="2500" spc="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1,</a:t>
            </a:r>
            <a:r>
              <a:rPr dirty="0" sz="2500" spc="-170">
                <a:latin typeface="Arial"/>
                <a:cs typeface="Arial"/>
              </a:rPr>
              <a:t> </a:t>
            </a:r>
            <a:r>
              <a:rPr dirty="0" sz="2500" spc="-85">
                <a:latin typeface="Arial"/>
                <a:cs typeface="Arial"/>
              </a:rPr>
              <a:t>NULL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);</a:t>
            </a:r>
            <a:endParaRPr sz="25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480"/>
              </a:spcBef>
            </a:pPr>
            <a:r>
              <a:rPr dirty="0" sz="2500" spc="-25">
                <a:latin typeface="Arial"/>
                <a:cs typeface="Arial"/>
              </a:rPr>
              <a:t>to</a:t>
            </a:r>
            <a:endParaRPr sz="2500">
              <a:latin typeface="Arial"/>
              <a:cs typeface="Arial"/>
            </a:endParaRPr>
          </a:p>
          <a:p>
            <a:pPr marL="18415" marR="2085975" indent="-635">
              <a:lnSpc>
                <a:spcPts val="2850"/>
              </a:lnSpc>
              <a:spcBef>
                <a:spcPts val="630"/>
              </a:spcBef>
            </a:pPr>
            <a:r>
              <a:rPr dirty="0" sz="2500" spc="-95">
                <a:latin typeface="Arial"/>
                <a:cs typeface="Arial"/>
              </a:rPr>
              <a:t>xTaskCreate(</a:t>
            </a:r>
            <a:r>
              <a:rPr dirty="0" sz="2500" spc="195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vTaskFunction,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120">
                <a:latin typeface="Arial"/>
                <a:cs typeface="Arial"/>
              </a:rPr>
              <a:t>"Task</a:t>
            </a:r>
            <a:r>
              <a:rPr dirty="0" sz="2500" spc="-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1",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240, </a:t>
            </a:r>
            <a:r>
              <a:rPr dirty="0" sz="2500" spc="-80">
                <a:latin typeface="Arial"/>
                <a:cs typeface="Arial"/>
              </a:rPr>
              <a:t>(void*)pcTextForTask1,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1,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80">
                <a:latin typeface="Arial"/>
                <a:cs typeface="Arial"/>
              </a:rPr>
              <a:t>NULL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);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500">
              <a:latin typeface="Arial"/>
              <a:cs typeface="Arial"/>
            </a:endParaRPr>
          </a:p>
          <a:p>
            <a:pPr marL="25400" marR="5080" indent="-12700">
              <a:lnSpc>
                <a:spcPct val="112599"/>
              </a:lnSpc>
            </a:pPr>
            <a:r>
              <a:rPr dirty="0" sz="2550">
                <a:latin typeface="Calibri"/>
                <a:cs typeface="Calibri"/>
              </a:rPr>
              <a:t>Create</a:t>
            </a:r>
            <a:r>
              <a:rPr dirty="0" sz="2550" spc="3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</a:t>
            </a:r>
            <a:r>
              <a:rPr dirty="0" sz="2550" spc="254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task</a:t>
            </a:r>
            <a:r>
              <a:rPr dirty="0" sz="2550" spc="22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function</a:t>
            </a:r>
            <a:r>
              <a:rPr dirty="0" sz="2550" spc="585">
                <a:latin typeface="Calibri"/>
                <a:cs typeface="Calibri"/>
              </a:rPr>
              <a:t> </a:t>
            </a:r>
            <a:r>
              <a:rPr dirty="0" sz="2550" i="1">
                <a:latin typeface="Calibri"/>
                <a:cs typeface="Calibri"/>
              </a:rPr>
              <a:t>vTaskFunction(void</a:t>
            </a:r>
            <a:r>
              <a:rPr dirty="0" sz="2550" spc="-45" i="1">
                <a:latin typeface="Calibri"/>
                <a:cs typeface="Calibri"/>
              </a:rPr>
              <a:t> </a:t>
            </a:r>
            <a:r>
              <a:rPr dirty="0" sz="2550" spc="-360" i="1">
                <a:latin typeface="Calibri"/>
                <a:cs typeface="Calibri"/>
              </a:rPr>
              <a:t>*</a:t>
            </a:r>
            <a:r>
              <a:rPr dirty="0" sz="2550" spc="200" i="1">
                <a:latin typeface="Calibri"/>
                <a:cs typeface="Calibri"/>
              </a:rPr>
              <a:t> </a:t>
            </a:r>
            <a:r>
              <a:rPr dirty="0" sz="2550" spc="-10" i="1">
                <a:latin typeface="Calibri"/>
                <a:cs typeface="Calibri"/>
              </a:rPr>
              <a:t>pvParameters)</a:t>
            </a:r>
            <a:r>
              <a:rPr dirty="0" sz="2550" spc="-10" i="1">
                <a:latin typeface="Calibri"/>
                <a:cs typeface="Calibri"/>
              </a:rPr>
              <a:t> </a:t>
            </a:r>
            <a:r>
              <a:rPr dirty="0" sz="2550" i="1">
                <a:latin typeface="Calibri"/>
                <a:cs typeface="Calibri"/>
              </a:rPr>
              <a:t>char</a:t>
            </a:r>
            <a:r>
              <a:rPr dirty="0" sz="2550" spc="170" i="1">
                <a:latin typeface="Calibri"/>
                <a:cs typeface="Calibri"/>
              </a:rPr>
              <a:t> </a:t>
            </a:r>
            <a:r>
              <a:rPr dirty="0" sz="2550" spc="-10" i="1">
                <a:latin typeface="Calibri"/>
                <a:cs typeface="Calibri"/>
              </a:rPr>
              <a:t>*pcTaskName;</a:t>
            </a:r>
            <a:endParaRPr sz="255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420"/>
              </a:spcBef>
            </a:pPr>
            <a:r>
              <a:rPr dirty="0" sz="2550" i="1">
                <a:latin typeface="Calibri"/>
                <a:cs typeface="Calibri"/>
              </a:rPr>
              <a:t>pcTaskName</a:t>
            </a:r>
            <a:r>
              <a:rPr dirty="0" sz="2550" spc="280" i="1">
                <a:latin typeface="Calibri"/>
                <a:cs typeface="Calibri"/>
              </a:rPr>
              <a:t> </a:t>
            </a:r>
            <a:r>
              <a:rPr dirty="0" sz="2550" spc="-1650" i="1">
                <a:latin typeface="Calibri"/>
                <a:cs typeface="Calibri"/>
              </a:rPr>
              <a:t>—</a:t>
            </a:r>
            <a:r>
              <a:rPr dirty="0" sz="2550" spc="-1645" i="1">
                <a:latin typeface="Calibri"/>
                <a:cs typeface="Calibri"/>
              </a:rPr>
              <a:t>—</a:t>
            </a:r>
            <a:r>
              <a:rPr dirty="0" sz="2550" spc="430" i="1">
                <a:latin typeface="Calibri"/>
                <a:cs typeface="Calibri"/>
              </a:rPr>
              <a:t> </a:t>
            </a:r>
            <a:r>
              <a:rPr dirty="0" sz="2550" i="1">
                <a:latin typeface="Calibri"/>
                <a:cs typeface="Calibri"/>
              </a:rPr>
              <a:t>(char</a:t>
            </a:r>
            <a:r>
              <a:rPr dirty="0" sz="2550" spc="229" i="1">
                <a:latin typeface="Calibri"/>
                <a:cs typeface="Calibri"/>
              </a:rPr>
              <a:t> </a:t>
            </a:r>
            <a:r>
              <a:rPr dirty="0" sz="2550" spc="-260" i="1">
                <a:latin typeface="Calibri"/>
                <a:cs typeface="Calibri"/>
              </a:rPr>
              <a:t>*)</a:t>
            </a:r>
            <a:r>
              <a:rPr dirty="0" sz="2550" spc="265" i="1">
                <a:latin typeface="Calibri"/>
                <a:cs typeface="Calibri"/>
              </a:rPr>
              <a:t> </a:t>
            </a:r>
            <a:r>
              <a:rPr dirty="0" sz="2550" spc="-10" i="1">
                <a:latin typeface="Calibri"/>
                <a:cs typeface="Calibri"/>
              </a:rPr>
              <a:t>pvParameters;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32162"/>
                </a:solidFill>
              </a:rPr>
              <a:t>.5</a:t>
            </a:r>
            <a:r>
              <a:rPr dirty="0" spc="-235">
                <a:solidFill>
                  <a:srgbClr val="032162"/>
                </a:solidFill>
              </a:rPr>
              <a:t> </a:t>
            </a:r>
            <a:r>
              <a:rPr dirty="0">
                <a:solidFill>
                  <a:srgbClr val="011F5B"/>
                </a:solidFill>
              </a:rPr>
              <a:t>Task</a:t>
            </a:r>
            <a:r>
              <a:rPr dirty="0" spc="-110">
                <a:solidFill>
                  <a:srgbClr val="011F5B"/>
                </a:solidFill>
              </a:rPr>
              <a:t> </a:t>
            </a:r>
            <a:r>
              <a:rPr dirty="0" spc="85">
                <a:solidFill>
                  <a:srgbClr val="001C52"/>
                </a:solidFill>
              </a:rPr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807" y="1623416"/>
            <a:ext cx="7572375" cy="435419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55600" marR="5080" indent="-342900">
              <a:lnSpc>
                <a:spcPts val="3340"/>
              </a:lnSpc>
              <a:spcBef>
                <a:spcPts val="260"/>
              </a:spcBef>
              <a:buChar char="•"/>
              <a:tabLst>
                <a:tab pos="358140" algn="l"/>
              </a:tabLst>
            </a:pPr>
            <a:r>
              <a:rPr dirty="0" sz="2800" spc="-10">
                <a:latin typeface="Arial"/>
                <a:cs typeface="Arial"/>
              </a:rPr>
              <a:t>uxPriority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parameter</a:t>
            </a:r>
            <a:r>
              <a:rPr dirty="0" sz="2800" spc="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 </a:t>
            </a:r>
            <a:r>
              <a:rPr dirty="0" sz="2800" spc="-60">
                <a:latin typeface="Arial"/>
                <a:cs typeface="Arial"/>
              </a:rPr>
              <a:t>xTaskCreate()</a:t>
            </a:r>
            <a:r>
              <a:rPr dirty="0" sz="2800" spc="2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assigns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an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initial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task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being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created.</a:t>
            </a:r>
            <a:endParaRPr sz="2800">
              <a:latin typeface="Arial"/>
              <a:cs typeface="Arial"/>
            </a:endParaRPr>
          </a:p>
          <a:p>
            <a:pPr lvl="1" marL="760730" marR="445770" indent="-323850">
              <a:lnSpc>
                <a:spcPts val="2850"/>
              </a:lnSpc>
              <a:spcBef>
                <a:spcPts val="600"/>
              </a:spcBef>
              <a:buChar char="—"/>
              <a:tabLst>
                <a:tab pos="763270" algn="l"/>
              </a:tabLst>
            </a:pPr>
            <a:r>
              <a:rPr dirty="0" sz="2450">
                <a:latin typeface="Arial"/>
                <a:cs typeface="Arial"/>
              </a:rPr>
              <a:t>It</a:t>
            </a:r>
            <a:r>
              <a:rPr dirty="0" sz="2450" spc="-17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can</a:t>
            </a:r>
            <a:r>
              <a:rPr dirty="0" sz="2450" spc="-17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be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changed</a:t>
            </a:r>
            <a:r>
              <a:rPr dirty="0" sz="2450" spc="-5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after</a:t>
            </a:r>
            <a:r>
              <a:rPr dirty="0" sz="2450" spc="-10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14">
                <a:latin typeface="Arial"/>
                <a:cs typeface="Arial"/>
              </a:rPr>
              <a:t> </a:t>
            </a:r>
            <a:r>
              <a:rPr dirty="0" sz="2450" spc="-40">
                <a:latin typeface="Arial"/>
                <a:cs typeface="Arial"/>
              </a:rPr>
              <a:t>scheduler</a:t>
            </a:r>
            <a:r>
              <a:rPr dirty="0" sz="2450" spc="10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has</a:t>
            </a:r>
            <a:r>
              <a:rPr dirty="0" sz="2450" spc="-11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been </a:t>
            </a:r>
            <a:r>
              <a:rPr dirty="0" sz="2450" spc="-20">
                <a:latin typeface="Arial"/>
                <a:cs typeface="Arial"/>
              </a:rPr>
              <a:t>	</a:t>
            </a:r>
            <a:r>
              <a:rPr dirty="0" sz="2450" spc="-30">
                <a:latin typeface="Arial"/>
                <a:cs typeface="Arial"/>
              </a:rPr>
              <a:t>started</a:t>
            </a:r>
            <a:r>
              <a:rPr dirty="0" sz="2450" spc="-14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by</a:t>
            </a:r>
            <a:r>
              <a:rPr dirty="0" sz="2450" spc="-8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using</a:t>
            </a:r>
            <a:r>
              <a:rPr dirty="0" sz="2450" spc="-20">
                <a:latin typeface="Arial"/>
                <a:cs typeface="Arial"/>
              </a:rPr>
              <a:t> </a:t>
            </a:r>
            <a:r>
              <a:rPr dirty="0" sz="2450" spc="-50">
                <a:latin typeface="Arial"/>
                <a:cs typeface="Arial"/>
              </a:rPr>
              <a:t>vTaskPrioritySet()</a:t>
            </a:r>
            <a:r>
              <a:rPr dirty="0" sz="2450" spc="-8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API</a:t>
            </a:r>
            <a:r>
              <a:rPr dirty="0" sz="2450" spc="-11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function</a:t>
            </a:r>
            <a:endParaRPr sz="24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130"/>
              </a:spcBef>
              <a:buFont typeface="Arial"/>
              <a:buChar char="—"/>
            </a:pPr>
            <a:endParaRPr sz="2450">
              <a:latin typeface="Arial"/>
              <a:cs typeface="Arial"/>
            </a:endParaRPr>
          </a:p>
          <a:p>
            <a:pPr marL="35687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dirty="0" sz="2650">
                <a:latin typeface="Arial"/>
                <a:cs typeface="Arial"/>
              </a:rPr>
              <a:t>configMAX</a:t>
            </a:r>
            <a:r>
              <a:rPr dirty="0" sz="2650" spc="580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RPIORITIES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FreeRTOSConfig.h</a:t>
            </a:r>
            <a:endParaRPr sz="2650">
              <a:latin typeface="Arial"/>
              <a:cs typeface="Arial"/>
            </a:endParaRPr>
          </a:p>
          <a:p>
            <a:pPr lvl="1" marL="757555" indent="-330200">
              <a:lnSpc>
                <a:spcPct val="100000"/>
              </a:lnSpc>
              <a:spcBef>
                <a:spcPts val="484"/>
              </a:spcBef>
              <a:buChar char="—"/>
              <a:tabLst>
                <a:tab pos="757555" algn="l"/>
              </a:tabLst>
            </a:pPr>
            <a:r>
              <a:rPr dirty="0" sz="2500" spc="-70">
                <a:latin typeface="Arial"/>
                <a:cs typeface="Arial"/>
              </a:rPr>
              <a:t>Maximum </a:t>
            </a:r>
            <a:r>
              <a:rPr dirty="0" sz="2500" spc="-50">
                <a:latin typeface="Arial"/>
                <a:cs typeface="Arial"/>
              </a:rPr>
              <a:t>number </a:t>
            </a:r>
            <a:r>
              <a:rPr dirty="0" sz="2500" spc="-35">
                <a:latin typeface="Arial"/>
                <a:cs typeface="Arial"/>
              </a:rPr>
              <a:t>of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priorities</a:t>
            </a:r>
            <a:endParaRPr sz="2500">
              <a:latin typeface="Arial"/>
              <a:cs typeface="Arial"/>
            </a:endParaRPr>
          </a:p>
          <a:p>
            <a:pPr lvl="1" marL="755650" indent="-323850">
              <a:lnSpc>
                <a:spcPct val="100000"/>
              </a:lnSpc>
              <a:spcBef>
                <a:spcPts val="495"/>
              </a:spcBef>
              <a:buChar char="—"/>
              <a:tabLst>
                <a:tab pos="755650" algn="l"/>
              </a:tabLst>
            </a:pPr>
            <a:r>
              <a:rPr dirty="0" sz="2450" spc="-20">
                <a:latin typeface="Arial"/>
                <a:cs typeface="Arial"/>
              </a:rPr>
              <a:t>Higher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this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value,</a:t>
            </a:r>
            <a:r>
              <a:rPr dirty="0" sz="2450" spc="-10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more</a:t>
            </a:r>
            <a:r>
              <a:rPr dirty="0" sz="2450" spc="-8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RAM</a:t>
            </a:r>
            <a:r>
              <a:rPr dirty="0" sz="2450" spc="-14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consumed</a:t>
            </a:r>
            <a:endParaRPr sz="2450">
              <a:latin typeface="Arial"/>
              <a:cs typeface="Arial"/>
            </a:endParaRPr>
          </a:p>
          <a:p>
            <a:pPr lvl="1" marL="765810" indent="-330200">
              <a:lnSpc>
                <a:spcPct val="100000"/>
              </a:lnSpc>
              <a:spcBef>
                <a:spcPts val="455"/>
              </a:spcBef>
              <a:buChar char="—"/>
              <a:tabLst>
                <a:tab pos="765810" algn="l"/>
              </a:tabLst>
            </a:pPr>
            <a:r>
              <a:rPr dirty="0" sz="2500" spc="-70">
                <a:latin typeface="Arial"/>
                <a:cs typeface="Arial"/>
              </a:rPr>
              <a:t>Range: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[0(low),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configMAX-</a:t>
            </a:r>
            <a:r>
              <a:rPr dirty="0" sz="2500" spc="-80">
                <a:latin typeface="Arial"/>
                <a:cs typeface="Arial"/>
              </a:rPr>
              <a:t>PRIORITIES-</a:t>
            </a:r>
            <a:r>
              <a:rPr dirty="0" sz="2500" spc="-10">
                <a:latin typeface="Arial"/>
                <a:cs typeface="Arial"/>
              </a:rPr>
              <a:t>1(high)]</a:t>
            </a:r>
            <a:endParaRPr sz="2500">
              <a:latin typeface="Arial"/>
              <a:cs typeface="Arial"/>
            </a:endParaRPr>
          </a:p>
          <a:p>
            <a:pPr lvl="1" marL="763270" indent="-323850">
              <a:lnSpc>
                <a:spcPct val="100000"/>
              </a:lnSpc>
              <a:spcBef>
                <a:spcPts val="495"/>
              </a:spcBef>
              <a:buChar char="—"/>
              <a:tabLst>
                <a:tab pos="763270" algn="l"/>
              </a:tabLst>
            </a:pPr>
            <a:r>
              <a:rPr dirty="0" sz="2450" spc="-10">
                <a:latin typeface="Arial"/>
                <a:cs typeface="Arial"/>
              </a:rPr>
              <a:t>Any</a:t>
            </a:r>
            <a:r>
              <a:rPr dirty="0" sz="2450" spc="-105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number</a:t>
            </a:r>
            <a:r>
              <a:rPr dirty="0" sz="2450" spc="1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of</a:t>
            </a:r>
            <a:r>
              <a:rPr dirty="0" sz="2450" spc="-4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tasks</a:t>
            </a:r>
            <a:r>
              <a:rPr dirty="0" sz="2450" spc="-9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can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share</a:t>
            </a:r>
            <a:r>
              <a:rPr dirty="0" sz="2450" spc="-10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45">
                <a:latin typeface="Arial"/>
                <a:cs typeface="Arial"/>
              </a:rPr>
              <a:t> </a:t>
            </a:r>
            <a:r>
              <a:rPr dirty="0" sz="2450" spc="-45">
                <a:latin typeface="Arial"/>
                <a:cs typeface="Arial"/>
              </a:rPr>
              <a:t>same</a:t>
            </a:r>
            <a:r>
              <a:rPr dirty="0" sz="2450" spc="-12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priority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392" y="880516"/>
            <a:ext cx="8070850" cy="47948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3540" indent="-370840">
              <a:lnSpc>
                <a:spcPts val="3190"/>
              </a:lnSpc>
              <a:spcBef>
                <a:spcPts val="130"/>
              </a:spcBef>
              <a:buChar char="•"/>
              <a:tabLst>
                <a:tab pos="383540" algn="l"/>
              </a:tabLst>
            </a:pPr>
            <a:r>
              <a:rPr dirty="0" sz="2850">
                <a:latin typeface="Calibri"/>
                <a:cs typeface="Calibri"/>
              </a:rPr>
              <a:t>To</a:t>
            </a:r>
            <a:r>
              <a:rPr dirty="0" sz="2850" spc="125">
                <a:latin typeface="Calibri"/>
                <a:cs typeface="Calibri"/>
              </a:rPr>
              <a:t> </a:t>
            </a:r>
            <a:r>
              <a:rPr dirty="0" sz="2850" spc="85">
                <a:latin typeface="Calibri"/>
                <a:cs typeface="Calibri"/>
              </a:rPr>
              <a:t>select</a:t>
            </a:r>
            <a:r>
              <a:rPr dirty="0" sz="2850" spc="18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the</a:t>
            </a:r>
            <a:r>
              <a:rPr dirty="0" sz="2850" spc="114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next</a:t>
            </a:r>
            <a:r>
              <a:rPr dirty="0" sz="2850" spc="225">
                <a:latin typeface="Calibri"/>
                <a:cs typeface="Calibri"/>
              </a:rPr>
              <a:t> </a:t>
            </a:r>
            <a:r>
              <a:rPr dirty="0" sz="2850" spc="75">
                <a:latin typeface="Calibri"/>
                <a:cs typeface="Calibri"/>
              </a:rPr>
              <a:t>task</a:t>
            </a:r>
            <a:r>
              <a:rPr dirty="0" sz="2850" spc="17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to</a:t>
            </a:r>
            <a:r>
              <a:rPr dirty="0" sz="2850" spc="18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run,</a:t>
            </a:r>
            <a:r>
              <a:rPr dirty="0" sz="2850" spc="21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the</a:t>
            </a:r>
            <a:r>
              <a:rPr dirty="0" sz="2850" spc="215">
                <a:latin typeface="Calibri"/>
                <a:cs typeface="Calibri"/>
              </a:rPr>
              <a:t> </a:t>
            </a:r>
            <a:r>
              <a:rPr dirty="0" sz="2850" spc="70">
                <a:latin typeface="Calibri"/>
                <a:cs typeface="Calibri"/>
              </a:rPr>
              <a:t>scheduler</a:t>
            </a:r>
            <a:r>
              <a:rPr dirty="0" sz="2850" spc="29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itself</a:t>
            </a:r>
            <a:endParaRPr sz="2850">
              <a:latin typeface="Calibri"/>
              <a:cs typeface="Calibri"/>
            </a:endParaRPr>
          </a:p>
          <a:p>
            <a:pPr marL="375920">
              <a:lnSpc>
                <a:spcPts val="3310"/>
              </a:lnSpc>
            </a:pPr>
            <a:r>
              <a:rPr dirty="0" sz="2950">
                <a:latin typeface="Calibri"/>
                <a:cs typeface="Calibri"/>
              </a:rPr>
              <a:t>must</a:t>
            </a:r>
            <a:r>
              <a:rPr dirty="0" sz="2950" spc="9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execute</a:t>
            </a:r>
            <a:r>
              <a:rPr dirty="0" sz="2950" spc="21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at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the</a:t>
            </a:r>
            <a:r>
              <a:rPr dirty="0" sz="2950" spc="10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end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of</a:t>
            </a:r>
            <a:r>
              <a:rPr dirty="0" sz="2950" spc="170">
                <a:latin typeface="Calibri"/>
                <a:cs typeface="Calibri"/>
              </a:rPr>
              <a:t> </a:t>
            </a:r>
            <a:r>
              <a:rPr dirty="0" sz="2950" spc="80">
                <a:latin typeface="Calibri"/>
                <a:cs typeface="Calibri"/>
              </a:rPr>
              <a:t>each</a:t>
            </a:r>
            <a:r>
              <a:rPr dirty="0" sz="2950" spc="7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time</a:t>
            </a:r>
            <a:r>
              <a:rPr dirty="0" sz="2950" spc="16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slice.</a:t>
            </a:r>
            <a:endParaRPr sz="2950">
              <a:latin typeface="Calibri"/>
              <a:cs typeface="Calibri"/>
            </a:endParaRPr>
          </a:p>
          <a:p>
            <a:pPr lvl="1" marL="771525" indent="-330200">
              <a:lnSpc>
                <a:spcPct val="100000"/>
              </a:lnSpc>
              <a:spcBef>
                <a:spcPts val="215"/>
              </a:spcBef>
              <a:buChar char="—"/>
              <a:tabLst>
                <a:tab pos="771525" algn="l"/>
              </a:tabLst>
            </a:pPr>
            <a:r>
              <a:rPr dirty="0" sz="2500" spc="-25">
                <a:latin typeface="Arial"/>
                <a:cs typeface="Arial"/>
              </a:rPr>
              <a:t>Use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periodic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interrupt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called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tick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(interrupt).</a:t>
            </a:r>
            <a:endParaRPr sz="2500">
              <a:latin typeface="Arial"/>
              <a:cs typeface="Arial"/>
            </a:endParaRPr>
          </a:p>
          <a:p>
            <a:pPr lvl="1" marL="776605" marR="855344" indent="-313055">
              <a:lnSpc>
                <a:spcPct val="87300"/>
              </a:lnSpc>
              <a:spcBef>
                <a:spcPts val="595"/>
              </a:spcBef>
              <a:buChar char="—"/>
              <a:tabLst>
                <a:tab pos="776605" algn="l"/>
                <a:tab pos="781050" algn="l"/>
                <a:tab pos="5371465" algn="l"/>
              </a:tabLst>
            </a:pP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0">
                <a:latin typeface="Arial"/>
                <a:cs typeface="Arial"/>
              </a:rPr>
              <a:t>Effectively</a:t>
            </a:r>
            <a:r>
              <a:rPr dirty="0" sz="2400" spc="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set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length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slice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tick </a:t>
            </a:r>
            <a:r>
              <a:rPr dirty="0" sz="2450" spc="-25">
                <a:latin typeface="Arial"/>
                <a:cs typeface="Arial"/>
              </a:rPr>
              <a:t>interrupt</a:t>
            </a:r>
            <a:r>
              <a:rPr dirty="0" sz="2450" spc="20">
                <a:latin typeface="Arial"/>
                <a:cs typeface="Arial"/>
              </a:rPr>
              <a:t> </a:t>
            </a:r>
            <a:r>
              <a:rPr dirty="0" sz="2450" spc="-40">
                <a:latin typeface="Arial"/>
                <a:cs typeface="Arial"/>
              </a:rPr>
              <a:t>frequency</a:t>
            </a:r>
            <a:r>
              <a:rPr dirty="0" sz="2450" spc="95">
                <a:latin typeface="Arial"/>
                <a:cs typeface="Arial"/>
              </a:rPr>
              <a:t> </a:t>
            </a:r>
            <a:r>
              <a:rPr dirty="0" sz="2450" spc="-65">
                <a:latin typeface="Arial"/>
                <a:cs typeface="Arial"/>
              </a:rPr>
              <a:t>-</a:t>
            </a:r>
            <a:r>
              <a:rPr dirty="0" sz="2450">
                <a:latin typeface="Arial"/>
                <a:cs typeface="Arial"/>
              </a:rPr>
              <a:t>-</a:t>
            </a:r>
            <a:r>
              <a:rPr dirty="0" sz="2450" spc="-13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configTlCK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25">
                <a:latin typeface="Arial"/>
                <a:cs typeface="Arial"/>
              </a:rPr>
              <a:t>RATE</a:t>
            </a:r>
            <a:r>
              <a:rPr dirty="0" sz="2450" spc="41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HZ</a:t>
            </a:r>
            <a:r>
              <a:rPr dirty="0" sz="2450" spc="-15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in </a:t>
            </a:r>
            <a:r>
              <a:rPr dirty="0" sz="2500" spc="-10">
                <a:latin typeface="Arial"/>
                <a:cs typeface="Arial"/>
              </a:rPr>
              <a:t>FreeRTOSConfig.h</a:t>
            </a:r>
            <a:endParaRPr sz="2500">
              <a:latin typeface="Arial"/>
              <a:cs typeface="Arial"/>
            </a:endParaRPr>
          </a:p>
          <a:p>
            <a:pPr marL="37084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70840" algn="l"/>
                <a:tab pos="2339975" algn="l"/>
              </a:tabLst>
            </a:pPr>
            <a:r>
              <a:rPr dirty="0" sz="2800" spc="-10">
                <a:latin typeface="Arial"/>
                <a:cs typeface="Arial"/>
              </a:rPr>
              <a:t>configTlCK</a:t>
            </a:r>
            <a:r>
              <a:rPr dirty="0" sz="2800">
                <a:latin typeface="Arial"/>
                <a:cs typeface="Arial"/>
              </a:rPr>
              <a:t>	RATE</a:t>
            </a:r>
            <a:r>
              <a:rPr dirty="0" sz="2800" spc="52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HZ</a:t>
            </a:r>
            <a:endParaRPr sz="2800">
              <a:latin typeface="Arial"/>
              <a:cs typeface="Arial"/>
            </a:endParaRPr>
          </a:p>
          <a:p>
            <a:pPr lvl="1" marL="776605" indent="-317500">
              <a:lnSpc>
                <a:spcPct val="100000"/>
              </a:lnSpc>
              <a:spcBef>
                <a:spcPts val="275"/>
              </a:spcBef>
              <a:buChar char="—"/>
              <a:tabLst>
                <a:tab pos="776605" algn="l"/>
              </a:tabLst>
            </a:pPr>
            <a:r>
              <a:rPr dirty="0" sz="2400">
                <a:latin typeface="Arial"/>
                <a:cs typeface="Arial"/>
              </a:rPr>
              <a:t>If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100(Hz),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slice</a:t>
            </a:r>
            <a:r>
              <a:rPr dirty="0" sz="2400" spc="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will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10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ms.</a:t>
            </a:r>
            <a:endParaRPr sz="2400">
              <a:latin typeface="Arial"/>
              <a:cs typeface="Arial"/>
            </a:endParaRPr>
          </a:p>
          <a:p>
            <a:pPr lvl="1" marL="778510" indent="-317500">
              <a:lnSpc>
                <a:spcPct val="100000"/>
              </a:lnSpc>
              <a:spcBef>
                <a:spcPts val="284"/>
              </a:spcBef>
              <a:buChar char="—"/>
              <a:tabLst>
                <a:tab pos="778510" algn="l"/>
              </a:tabLst>
            </a:pPr>
            <a:r>
              <a:rPr dirty="0" sz="2400">
                <a:latin typeface="Arial"/>
                <a:cs typeface="Arial"/>
              </a:rPr>
              <a:t>API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always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calls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specify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tick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interrupts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(ticks)</a:t>
            </a:r>
            <a:endParaRPr sz="2400">
              <a:latin typeface="Arial"/>
              <a:cs typeface="Arial"/>
            </a:endParaRPr>
          </a:p>
          <a:p>
            <a:pPr marL="370840" indent="-334010">
              <a:lnSpc>
                <a:spcPct val="100000"/>
              </a:lnSpc>
              <a:spcBef>
                <a:spcPts val="390"/>
              </a:spcBef>
              <a:buChar char="•"/>
              <a:tabLst>
                <a:tab pos="370840" algn="l"/>
              </a:tabLst>
            </a:pPr>
            <a:r>
              <a:rPr dirty="0" sz="2750">
                <a:latin typeface="Arial"/>
                <a:cs typeface="Arial"/>
              </a:rPr>
              <a:t>portTlCK</a:t>
            </a:r>
            <a:r>
              <a:rPr dirty="0" sz="2750" spc="105">
                <a:latin typeface="Arial"/>
                <a:cs typeface="Arial"/>
              </a:rPr>
              <a:t>  </a:t>
            </a:r>
            <a:r>
              <a:rPr dirty="0" sz="2750">
                <a:latin typeface="Arial"/>
                <a:cs typeface="Arial"/>
              </a:rPr>
              <a:t>RATE</a:t>
            </a:r>
            <a:r>
              <a:rPr dirty="0" sz="2750" spc="20">
                <a:latin typeface="Arial"/>
                <a:cs typeface="Arial"/>
              </a:rPr>
              <a:t>  </a:t>
            </a:r>
            <a:r>
              <a:rPr dirty="0" sz="2750" spc="-25">
                <a:latin typeface="Arial"/>
                <a:cs typeface="Arial"/>
              </a:rPr>
              <a:t>MS</a:t>
            </a:r>
            <a:endParaRPr sz="2750">
              <a:latin typeface="Arial"/>
              <a:cs typeface="Arial"/>
            </a:endParaRPr>
          </a:p>
          <a:p>
            <a:pPr lvl="1" marL="771525" marR="1071245" indent="-330200">
              <a:lnSpc>
                <a:spcPts val="2570"/>
              </a:lnSpc>
              <a:spcBef>
                <a:spcPts val="700"/>
              </a:spcBef>
              <a:buChar char="—"/>
              <a:tabLst>
                <a:tab pos="775970" algn="l"/>
              </a:tabLst>
            </a:pPr>
            <a:r>
              <a:rPr dirty="0" sz="2500" spc="-55">
                <a:latin typeface="Arial"/>
                <a:cs typeface="Arial"/>
              </a:rPr>
              <a:t>Convert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time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delays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from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milliseconds</a:t>
            </a:r>
            <a:r>
              <a:rPr dirty="0" sz="2500" spc="2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into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the </a:t>
            </a:r>
            <a:r>
              <a:rPr dirty="0" sz="2500" spc="-25">
                <a:latin typeface="Arial"/>
                <a:cs typeface="Arial"/>
              </a:rPr>
              <a:t>	</a:t>
            </a:r>
            <a:r>
              <a:rPr dirty="0" sz="2500" spc="-55">
                <a:latin typeface="Arial"/>
                <a:cs typeface="Arial"/>
              </a:rPr>
              <a:t>number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tick</a:t>
            </a:r>
            <a:r>
              <a:rPr dirty="0" sz="2500" spc="-17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interrupts.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751956" y="574476"/>
            <a:ext cx="0" cy="678815"/>
          </a:xfrm>
          <a:custGeom>
            <a:avLst/>
            <a:gdLst/>
            <a:ahLst/>
            <a:cxnLst/>
            <a:rect l="l" t="t" r="r" b="b"/>
            <a:pathLst>
              <a:path w="0" h="678815">
                <a:moveTo>
                  <a:pt x="0" y="678656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47491" y="578941"/>
            <a:ext cx="2027555" cy="0"/>
          </a:xfrm>
          <a:custGeom>
            <a:avLst/>
            <a:gdLst/>
            <a:ahLst/>
            <a:cxnLst/>
            <a:rect l="l" t="t" r="r" b="b"/>
            <a:pathLst>
              <a:path w="2027554" h="0">
                <a:moveTo>
                  <a:pt x="0" y="0"/>
                </a:moveTo>
                <a:lnTo>
                  <a:pt x="202704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60253" y="543172"/>
            <a:ext cx="1631950" cy="6432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5"/>
              </a:spcBef>
            </a:pPr>
            <a:r>
              <a:rPr dirty="0" sz="1300" spc="165">
                <a:latin typeface="Arial"/>
                <a:cs typeface="Arial"/>
              </a:rPr>
              <a:t>kernel</a:t>
            </a:r>
            <a:r>
              <a:rPr dirty="0" sz="1300" spc="140">
                <a:latin typeface="Arial"/>
                <a:cs typeface="Arial"/>
              </a:rPr>
              <a:t> </a:t>
            </a:r>
            <a:r>
              <a:rPr dirty="0" sz="1300" spc="130">
                <a:solidFill>
                  <a:srgbClr val="212121"/>
                </a:solidFill>
                <a:latin typeface="Arial"/>
                <a:cs typeface="Arial"/>
              </a:rPr>
              <a:t>runs</a:t>
            </a:r>
            <a:r>
              <a:rPr dirty="0" sz="1300" spc="1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94949"/>
                </a:solidFill>
                <a:latin typeface="Arial"/>
                <a:cs typeface="Arial"/>
              </a:rPr>
              <a:t>‹n</a:t>
            </a:r>
            <a:r>
              <a:rPr dirty="0" sz="1300" spc="1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ticI‹ </a:t>
            </a:r>
            <a:r>
              <a:rPr dirty="0" sz="1300" spc="105">
                <a:latin typeface="Arial"/>
                <a:cs typeface="Arial"/>
              </a:rPr>
              <a:t>interrupt</a:t>
            </a:r>
            <a:r>
              <a:rPr dirty="0" sz="1300" spc="175">
                <a:latin typeface="Arial"/>
                <a:cs typeface="Arial"/>
              </a:rPr>
              <a:t> </a:t>
            </a:r>
            <a:r>
              <a:rPr dirty="0" sz="1300" spc="11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dirty="0" sz="1300" spc="13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300" spc="90">
                <a:latin typeface="Arial"/>
                <a:cs typeface="Arial"/>
              </a:rPr>
              <a:t>select </a:t>
            </a:r>
            <a:r>
              <a:rPr dirty="0" sz="1350" spc="90">
                <a:latin typeface="Arial"/>
                <a:cs typeface="Arial"/>
              </a:rPr>
              <a:t>next</a:t>
            </a:r>
            <a:r>
              <a:rPr dirty="0" sz="1350" spc="130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task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48660" y="744139"/>
            <a:ext cx="0" cy="509270"/>
          </a:xfrm>
          <a:custGeom>
            <a:avLst/>
            <a:gdLst/>
            <a:ahLst/>
            <a:cxnLst/>
            <a:rect l="l" t="t" r="r" b="b"/>
            <a:pathLst>
              <a:path w="0" h="509269">
                <a:moveTo>
                  <a:pt x="0" y="508992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69691" y="1172764"/>
            <a:ext cx="0" cy="857250"/>
          </a:xfrm>
          <a:custGeom>
            <a:avLst/>
            <a:gdLst/>
            <a:ahLst/>
            <a:cxnLst/>
            <a:rect l="l" t="t" r="r" b="b"/>
            <a:pathLst>
              <a:path w="0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ln w="8929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65226" y="1177229"/>
            <a:ext cx="803910" cy="0"/>
          </a:xfrm>
          <a:custGeom>
            <a:avLst/>
            <a:gdLst/>
            <a:ahLst/>
            <a:cxnLst/>
            <a:rect l="l" t="t" r="r" b="b"/>
            <a:pathLst>
              <a:path w="803910" h="0">
                <a:moveTo>
                  <a:pt x="0" y="0"/>
                </a:moveTo>
                <a:lnTo>
                  <a:pt x="803672" y="0"/>
                </a:lnTo>
              </a:path>
            </a:pathLst>
          </a:custGeom>
          <a:ln w="8929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67738" y="1235223"/>
            <a:ext cx="768350" cy="65341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0955" marR="5080" indent="-8890">
              <a:lnSpc>
                <a:spcPct val="94900"/>
              </a:lnSpc>
              <a:spcBef>
                <a:spcPts val="195"/>
              </a:spcBef>
            </a:pPr>
            <a:r>
              <a:rPr dirty="0" sz="1300" spc="135">
                <a:latin typeface="Arial"/>
                <a:cs typeface="Arial"/>
              </a:rPr>
              <a:t>Tick </a:t>
            </a:r>
            <a:r>
              <a:rPr dirty="0" sz="1550" spc="-10">
                <a:latin typeface="Arial"/>
                <a:cs typeface="Arial"/>
              </a:rPr>
              <a:t>interrupt </a:t>
            </a:r>
            <a:r>
              <a:rPr dirty="0" sz="1400" spc="-10">
                <a:latin typeface="Arial"/>
                <a:cs typeface="Arial"/>
              </a:rPr>
              <a:t>OscUrs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7491" y="1248667"/>
            <a:ext cx="2205990" cy="0"/>
          </a:xfrm>
          <a:custGeom>
            <a:avLst/>
            <a:gdLst/>
            <a:ahLst/>
            <a:cxnLst/>
            <a:rect l="l" t="t" r="r" b="b"/>
            <a:pathLst>
              <a:path w="2205990" h="0">
                <a:moveTo>
                  <a:pt x="0" y="0"/>
                </a:moveTo>
                <a:lnTo>
                  <a:pt x="2205633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78746" y="1342429"/>
            <a:ext cx="0" cy="687705"/>
          </a:xfrm>
          <a:custGeom>
            <a:avLst/>
            <a:gdLst/>
            <a:ahLst/>
            <a:cxnLst/>
            <a:rect l="l" t="t" r="r" b="b"/>
            <a:pathLst>
              <a:path w="0" h="687705">
                <a:moveTo>
                  <a:pt x="0" y="687586"/>
                </a:moveTo>
                <a:lnTo>
                  <a:pt x="0" y="0"/>
                </a:lnTo>
              </a:path>
            </a:pathLst>
          </a:custGeom>
          <a:ln w="8929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00277" y="1538883"/>
            <a:ext cx="0" cy="494665"/>
          </a:xfrm>
          <a:custGeom>
            <a:avLst/>
            <a:gdLst/>
            <a:ahLst/>
            <a:cxnLst/>
            <a:rect l="l" t="t" r="r" b="b"/>
            <a:pathLst>
              <a:path w="0" h="494664">
                <a:moveTo>
                  <a:pt x="0" y="494109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95812" y="1543347"/>
            <a:ext cx="2955925" cy="0"/>
          </a:xfrm>
          <a:custGeom>
            <a:avLst/>
            <a:gdLst/>
            <a:ahLst/>
            <a:cxnLst/>
            <a:rect l="l" t="t" r="r" b="b"/>
            <a:pathLst>
              <a:path w="2955925" h="0">
                <a:moveTo>
                  <a:pt x="0" y="0"/>
                </a:moveTo>
                <a:lnTo>
                  <a:pt x="2955728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699397" y="1525438"/>
            <a:ext cx="2812415" cy="4330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14"/>
              </a:spcBef>
            </a:pPr>
            <a:r>
              <a:rPr dirty="0" sz="1300" spc="125">
                <a:latin typeface="Arial"/>
                <a:cs typeface="Arial"/>
              </a:rPr>
              <a:t>Newly</a:t>
            </a:r>
            <a:r>
              <a:rPr dirty="0" sz="1300" spc="215">
                <a:latin typeface="Arial"/>
                <a:cs typeface="Arial"/>
              </a:rPr>
              <a:t> </a:t>
            </a:r>
            <a:r>
              <a:rPr dirty="0" sz="1300" spc="114">
                <a:latin typeface="Arial"/>
                <a:cs typeface="Arial"/>
              </a:rPr>
              <a:t>selected</a:t>
            </a:r>
            <a:r>
              <a:rPr dirty="0" sz="1300" spc="220">
                <a:latin typeface="Arial"/>
                <a:cs typeface="Arial"/>
              </a:rPr>
              <a:t> </a:t>
            </a:r>
            <a:r>
              <a:rPr dirty="0" sz="1300" spc="100">
                <a:latin typeface="Arial"/>
                <a:cs typeface="Arial"/>
              </a:rPr>
              <a:t>task</a:t>
            </a:r>
            <a:r>
              <a:rPr dirty="0" sz="1300" spc="150">
                <a:latin typeface="Arial"/>
                <a:cs typeface="Arial"/>
              </a:rPr>
              <a:t> </a:t>
            </a:r>
            <a:r>
              <a:rPr dirty="0" sz="1300" spc="130">
                <a:solidFill>
                  <a:srgbClr val="1A1A1A"/>
                </a:solidFill>
                <a:latin typeface="Arial"/>
                <a:cs typeface="Arial"/>
              </a:rPr>
              <a:t>runs</a:t>
            </a:r>
            <a:r>
              <a:rPr dirty="0" sz="1300" spc="1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135">
                <a:latin typeface="Arial"/>
                <a:cs typeface="Arial"/>
              </a:rPr>
              <a:t>when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350" spc="125">
                <a:latin typeface="Arial"/>
                <a:cs typeface="Arial"/>
              </a:rPr>
              <a:t>the</a:t>
            </a:r>
            <a:r>
              <a:rPr dirty="0" sz="1350" spc="1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ticA</a:t>
            </a:r>
            <a:r>
              <a:rPr dirty="0" sz="1350" spc="200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i‹›terrupt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10">
                <a:solidFill>
                  <a:srgbClr val="0E0E0E"/>
                </a:solidFill>
                <a:latin typeface="Arial"/>
                <a:cs typeface="Arial"/>
              </a:rPr>
              <a:t>completes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25668" y="1717476"/>
            <a:ext cx="0" cy="315595"/>
          </a:xfrm>
          <a:custGeom>
            <a:avLst/>
            <a:gdLst/>
            <a:ahLst/>
            <a:cxnLst/>
            <a:rect l="l" t="t" r="r" b="b"/>
            <a:pathLst>
              <a:path w="0" h="315594">
                <a:moveTo>
                  <a:pt x="0" y="315515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65226" y="2025550"/>
            <a:ext cx="1018540" cy="0"/>
          </a:xfrm>
          <a:custGeom>
            <a:avLst/>
            <a:gdLst/>
            <a:ahLst/>
            <a:cxnLst/>
            <a:rect l="l" t="t" r="r" b="b"/>
            <a:pathLst>
              <a:path w="1018539" h="0">
                <a:moveTo>
                  <a:pt x="0" y="0"/>
                </a:moveTo>
                <a:lnTo>
                  <a:pt x="1017984" y="0"/>
                </a:lnTo>
              </a:path>
            </a:pathLst>
          </a:custGeom>
          <a:ln w="8929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95812" y="2028527"/>
            <a:ext cx="3134360" cy="0"/>
          </a:xfrm>
          <a:custGeom>
            <a:avLst/>
            <a:gdLst/>
            <a:ahLst/>
            <a:cxnLst/>
            <a:rect l="l" t="t" r="r" b="b"/>
            <a:pathLst>
              <a:path w="3134359" h="0">
                <a:moveTo>
                  <a:pt x="0" y="0"/>
                </a:moveTo>
                <a:lnTo>
                  <a:pt x="3134321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8906" y="2160983"/>
            <a:ext cx="3527226" cy="241994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39737" y="2044600"/>
            <a:ext cx="7898130" cy="4173854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36345">
              <a:lnSpc>
                <a:spcPct val="100000"/>
              </a:lnSpc>
              <a:spcBef>
                <a:spcPts val="140"/>
              </a:spcBef>
            </a:pPr>
            <a:r>
              <a:rPr dirty="0" sz="2500" spc="235">
                <a:solidFill>
                  <a:srgbClr val="ED0801"/>
                </a:solidFill>
                <a:latin typeface="Calibri"/>
                <a:cs typeface="Calibri"/>
              </a:rPr>
              <a:t>Kernel</a:t>
            </a:r>
            <a:endParaRPr sz="2500">
              <a:latin typeface="Calibri"/>
              <a:cs typeface="Calibri"/>
            </a:endParaRPr>
          </a:p>
          <a:p>
            <a:pPr marL="1212215">
              <a:lnSpc>
                <a:spcPct val="100000"/>
              </a:lnSpc>
              <a:spcBef>
                <a:spcPts val="2020"/>
              </a:spcBef>
            </a:pPr>
            <a:r>
              <a:rPr dirty="0" sz="2400" spc="195">
                <a:solidFill>
                  <a:srgbClr val="0501DB"/>
                </a:solidFill>
                <a:latin typeface="Arial"/>
                <a:cs typeface="Arial"/>
              </a:rPr>
              <a:t>Task</a:t>
            </a:r>
            <a:r>
              <a:rPr dirty="0" sz="2400" spc="285">
                <a:solidFill>
                  <a:srgbClr val="0501DB"/>
                </a:solidFill>
                <a:latin typeface="Arial"/>
                <a:cs typeface="Arial"/>
              </a:rPr>
              <a:t> </a:t>
            </a:r>
            <a:r>
              <a:rPr dirty="0" sz="2400" spc="150">
                <a:solidFill>
                  <a:srgbClr val="0800D6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12215">
              <a:lnSpc>
                <a:spcPct val="100000"/>
              </a:lnSpc>
              <a:spcBef>
                <a:spcPts val="2039"/>
              </a:spcBef>
            </a:pPr>
            <a:r>
              <a:rPr dirty="0" sz="2400" spc="180">
                <a:solidFill>
                  <a:srgbClr val="448E6E"/>
                </a:solidFill>
                <a:latin typeface="Arial"/>
                <a:cs typeface="Arial"/>
              </a:rPr>
              <a:t>Task</a:t>
            </a:r>
            <a:r>
              <a:rPr dirty="0" sz="2400" spc="385">
                <a:solidFill>
                  <a:srgbClr val="448E6E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4F9077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algn="ctr" marR="750570">
              <a:lnSpc>
                <a:spcPct val="100000"/>
              </a:lnSpc>
              <a:spcBef>
                <a:spcPts val="1450"/>
              </a:spcBef>
              <a:tabLst>
                <a:tab pos="722630" algn="l"/>
                <a:tab pos="1455420" algn="l"/>
              </a:tabLst>
            </a:pPr>
            <a:r>
              <a:rPr dirty="0" sz="2500" spc="135">
                <a:latin typeface="Arial"/>
                <a:cs typeface="Arial"/>
              </a:rPr>
              <a:t>t1</a:t>
            </a:r>
            <a:r>
              <a:rPr dirty="0" sz="2500">
                <a:latin typeface="Arial"/>
                <a:cs typeface="Arial"/>
              </a:rPr>
              <a:t>	</a:t>
            </a:r>
            <a:r>
              <a:rPr dirty="0" sz="2500" spc="135">
                <a:latin typeface="Arial"/>
                <a:cs typeface="Arial"/>
              </a:rPr>
              <a:t>t2</a:t>
            </a:r>
            <a:r>
              <a:rPr dirty="0" sz="2500">
                <a:latin typeface="Arial"/>
                <a:cs typeface="Arial"/>
              </a:rPr>
              <a:t>	</a:t>
            </a:r>
            <a:r>
              <a:rPr dirty="0" sz="2500" spc="135">
                <a:latin typeface="Arial"/>
                <a:cs typeface="Arial"/>
              </a:rPr>
              <a:t>t3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2500">
              <a:latin typeface="Arial"/>
              <a:cs typeface="Arial"/>
            </a:endParaRPr>
          </a:p>
          <a:p>
            <a:pPr marL="347345" marR="5080" indent="-335280">
              <a:lnSpc>
                <a:spcPct val="79900"/>
              </a:lnSpc>
              <a:buChar char="•"/>
              <a:tabLst>
                <a:tab pos="347345" algn="l"/>
                <a:tab pos="355600" algn="l"/>
              </a:tabLst>
            </a:pPr>
            <a:r>
              <a:rPr dirty="0" sz="2800">
                <a:latin typeface="Arial"/>
                <a:cs typeface="Arial"/>
              </a:rPr>
              <a:t>	When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kernel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itself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running,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arrows in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the </a:t>
            </a:r>
            <a:r>
              <a:rPr dirty="0" sz="2850" spc="-10">
                <a:latin typeface="Arial"/>
                <a:cs typeface="Arial"/>
              </a:rPr>
              <a:t>above</a:t>
            </a:r>
            <a:r>
              <a:rPr dirty="0" sz="2850" spc="-13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figure</a:t>
            </a:r>
            <a:r>
              <a:rPr dirty="0" sz="2850" spc="-140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show</a:t>
            </a:r>
            <a:r>
              <a:rPr dirty="0" sz="2850" spc="-8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the</a:t>
            </a:r>
            <a:r>
              <a:rPr dirty="0" sz="2850" spc="-165">
                <a:latin typeface="Arial"/>
                <a:cs typeface="Arial"/>
              </a:rPr>
              <a:t> </a:t>
            </a:r>
            <a:r>
              <a:rPr dirty="0" sz="2850" spc="-45">
                <a:latin typeface="Arial"/>
                <a:cs typeface="Arial"/>
              </a:rPr>
              <a:t>sequence</a:t>
            </a:r>
            <a:r>
              <a:rPr dirty="0" sz="2850" spc="-2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of</a:t>
            </a:r>
            <a:r>
              <a:rPr dirty="0" sz="2850" spc="-50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execution </a:t>
            </a:r>
            <a:r>
              <a:rPr dirty="0" sz="2750">
                <a:latin typeface="Arial"/>
                <a:cs typeface="Arial"/>
              </a:rPr>
              <a:t>from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task</a:t>
            </a:r>
            <a:r>
              <a:rPr dirty="0" sz="2750" spc="11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interrupt,</a:t>
            </a:r>
            <a:r>
              <a:rPr dirty="0" sz="2750" spc="2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then</a:t>
            </a:r>
            <a:r>
              <a:rPr dirty="0" sz="2750" spc="12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from</a:t>
            </a:r>
            <a:r>
              <a:rPr dirty="0" sz="2750" spc="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interrupt</a:t>
            </a:r>
            <a:r>
              <a:rPr dirty="0" sz="2750" spc="1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back</a:t>
            </a:r>
            <a:r>
              <a:rPr dirty="0" sz="2750" spc="1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25">
                <a:latin typeface="Arial"/>
                <a:cs typeface="Arial"/>
              </a:rPr>
              <a:t>a </a:t>
            </a:r>
            <a:r>
              <a:rPr dirty="0" sz="2750">
                <a:latin typeface="Arial"/>
                <a:cs typeface="Arial"/>
              </a:rPr>
              <a:t>next</a:t>
            </a:r>
            <a:r>
              <a:rPr dirty="0" sz="2750" spc="12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task.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906" y="571946"/>
            <a:ext cx="7823834" cy="5245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07870" algn="l"/>
              </a:tabLst>
            </a:pPr>
            <a:r>
              <a:rPr dirty="0" sz="3250" spc="-10">
                <a:solidFill>
                  <a:srgbClr val="001C59"/>
                </a:solidFill>
              </a:rPr>
              <a:t>Example</a:t>
            </a:r>
            <a:r>
              <a:rPr dirty="0" sz="3250">
                <a:solidFill>
                  <a:srgbClr val="001C59"/>
                </a:solidFill>
              </a:rPr>
              <a:t>	</a:t>
            </a:r>
            <a:r>
              <a:rPr dirty="0" sz="3250">
                <a:solidFill>
                  <a:srgbClr val="051C50"/>
                </a:solidFill>
              </a:rPr>
              <a:t>.</a:t>
            </a:r>
            <a:r>
              <a:rPr dirty="0" sz="3250" spc="60">
                <a:solidFill>
                  <a:srgbClr val="051C50"/>
                </a:solidFill>
              </a:rPr>
              <a:t> </a:t>
            </a:r>
            <a:r>
              <a:rPr dirty="0" sz="3250" spc="55">
                <a:solidFill>
                  <a:srgbClr val="0A2864"/>
                </a:solidFill>
              </a:rPr>
              <a:t>Experimenting</a:t>
            </a:r>
            <a:r>
              <a:rPr dirty="0" sz="3250" spc="490">
                <a:solidFill>
                  <a:srgbClr val="0A2864"/>
                </a:solidFill>
              </a:rPr>
              <a:t> </a:t>
            </a:r>
            <a:r>
              <a:rPr dirty="0" sz="3250" spc="125">
                <a:solidFill>
                  <a:srgbClr val="03235D"/>
                </a:solidFill>
              </a:rPr>
              <a:t>with</a:t>
            </a:r>
            <a:r>
              <a:rPr dirty="0" sz="3250" spc="25">
                <a:solidFill>
                  <a:srgbClr val="03235D"/>
                </a:solidFill>
              </a:rPr>
              <a:t> </a:t>
            </a:r>
            <a:r>
              <a:rPr dirty="0" sz="3250" spc="100">
                <a:solidFill>
                  <a:srgbClr val="031D62"/>
                </a:solidFill>
              </a:rPr>
              <a:t>priorities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538422" y="1620935"/>
            <a:ext cx="7990840" cy="3531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46710" marR="72390" indent="-334645">
              <a:lnSpc>
                <a:spcPct val="99600"/>
              </a:lnSpc>
              <a:spcBef>
                <a:spcPts val="140"/>
              </a:spcBef>
              <a:buChar char="•"/>
              <a:tabLst>
                <a:tab pos="346710" algn="l"/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	Scheduler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always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ensures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that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highest </a:t>
            </a:r>
            <a:r>
              <a:rPr dirty="0" sz="3000">
                <a:latin typeface="Arial"/>
                <a:cs typeface="Arial"/>
              </a:rPr>
              <a:t>priority</a:t>
            </a:r>
            <a:r>
              <a:rPr dirty="0" sz="3000" spc="9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is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able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run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is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selected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enter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Running</a:t>
            </a:r>
            <a:r>
              <a:rPr dirty="0" sz="3000" spc="7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state.</a:t>
            </a:r>
            <a:endParaRPr sz="3000">
              <a:latin typeface="Arial"/>
              <a:cs typeface="Arial"/>
            </a:endParaRPr>
          </a:p>
          <a:p>
            <a:pPr lvl="1" marL="750570" marR="5080" indent="-349250">
              <a:lnSpc>
                <a:spcPct val="98600"/>
              </a:lnSpc>
              <a:spcBef>
                <a:spcPts val="660"/>
              </a:spcBef>
              <a:buChar char="—"/>
              <a:tabLst>
                <a:tab pos="750570" algn="l"/>
              </a:tabLst>
            </a:pP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Example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1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and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2,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two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tasks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have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been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created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same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priority,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so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both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entered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and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exited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Running</a:t>
            </a:r>
            <a:r>
              <a:rPr dirty="0" sz="2600" spc="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state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turn.</a:t>
            </a:r>
            <a:endParaRPr sz="2600">
              <a:latin typeface="Arial"/>
              <a:cs typeface="Arial"/>
            </a:endParaRPr>
          </a:p>
          <a:p>
            <a:pPr lvl="1" marL="749935" indent="-355600">
              <a:lnSpc>
                <a:spcPct val="100000"/>
              </a:lnSpc>
              <a:spcBef>
                <a:spcPts val="545"/>
              </a:spcBef>
              <a:buChar char="—"/>
              <a:tabLst>
                <a:tab pos="749935" algn="l"/>
              </a:tabLst>
            </a:pPr>
            <a:r>
              <a:rPr dirty="0" sz="2700">
                <a:latin typeface="Arial"/>
                <a:cs typeface="Arial"/>
              </a:rPr>
              <a:t>In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this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example,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the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second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set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at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priority</a:t>
            </a:r>
            <a:endParaRPr sz="27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5"/>
              </a:spcBef>
            </a:pPr>
            <a:r>
              <a:rPr dirty="0" sz="2500" spc="-25">
                <a:latin typeface="Arial"/>
                <a:cs typeface="Arial"/>
              </a:rPr>
              <a:t>2.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36" y="1523175"/>
            <a:ext cx="7313930" cy="299656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353060" indent="-340360">
              <a:lnSpc>
                <a:spcPct val="100000"/>
              </a:lnSpc>
              <a:spcBef>
                <a:spcPts val="885"/>
              </a:spcBef>
              <a:buChar char="•"/>
              <a:tabLst>
                <a:tab pos="353060" algn="l"/>
              </a:tabLst>
            </a:pPr>
            <a:r>
              <a:rPr dirty="0" sz="3150">
                <a:latin typeface="Arial"/>
                <a:cs typeface="Arial"/>
              </a:rPr>
              <a:t>In</a:t>
            </a:r>
            <a:r>
              <a:rPr dirty="0" sz="3150" spc="-11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main()</a:t>
            </a:r>
            <a:r>
              <a:rPr dirty="0" sz="3150" spc="20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function,</a:t>
            </a:r>
            <a:r>
              <a:rPr dirty="0" sz="3150" spc="55">
                <a:latin typeface="Arial"/>
                <a:cs typeface="Arial"/>
              </a:rPr>
              <a:t> </a:t>
            </a:r>
            <a:r>
              <a:rPr dirty="0" sz="3150" spc="-10">
                <a:latin typeface="Arial"/>
                <a:cs typeface="Arial"/>
              </a:rPr>
              <a:t>change</a:t>
            </a:r>
            <a:endParaRPr sz="3150">
              <a:latin typeface="Arial"/>
              <a:cs typeface="Arial"/>
            </a:endParaRPr>
          </a:p>
          <a:p>
            <a:pPr marL="467359" marR="5080" indent="10795">
              <a:lnSpc>
                <a:spcPts val="3340"/>
              </a:lnSpc>
              <a:spcBef>
                <a:spcPts val="850"/>
              </a:spcBef>
            </a:pPr>
            <a:r>
              <a:rPr dirty="0" sz="2800" spc="-60">
                <a:latin typeface="Arial"/>
                <a:cs typeface="Arial"/>
              </a:rPr>
              <a:t>xTaskCreate(</a:t>
            </a:r>
            <a:r>
              <a:rPr dirty="0" sz="2800" spc="235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vTaskFunction,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"Task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2",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240, </a:t>
            </a:r>
            <a:r>
              <a:rPr dirty="0" sz="2800" spc="-45">
                <a:latin typeface="Arial"/>
                <a:cs typeface="Arial"/>
              </a:rPr>
              <a:t>(void*)pcTextForTask2,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1,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NULL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 spc="30">
                <a:latin typeface="Arial"/>
                <a:cs typeface="Arial"/>
              </a:rPr>
              <a:t>);</a:t>
            </a:r>
            <a:endParaRPr sz="2800">
              <a:latin typeface="Arial"/>
              <a:cs typeface="Arial"/>
            </a:endParaRPr>
          </a:p>
          <a:p>
            <a:pPr marL="462915">
              <a:lnSpc>
                <a:spcPct val="100000"/>
              </a:lnSpc>
              <a:spcBef>
                <a:spcPts val="509"/>
              </a:spcBef>
            </a:pPr>
            <a:r>
              <a:rPr dirty="0" sz="2900" spc="-285">
                <a:latin typeface="Arial"/>
                <a:cs typeface="Arial"/>
              </a:rPr>
              <a:t>To</a:t>
            </a:r>
            <a:endParaRPr sz="2900">
              <a:latin typeface="Arial"/>
              <a:cs typeface="Arial"/>
            </a:endParaRPr>
          </a:p>
          <a:p>
            <a:pPr marL="478155">
              <a:lnSpc>
                <a:spcPts val="3454"/>
              </a:lnSpc>
              <a:spcBef>
                <a:spcPts val="509"/>
              </a:spcBef>
            </a:pPr>
            <a:r>
              <a:rPr dirty="0" sz="2950" spc="-125">
                <a:latin typeface="Arial"/>
                <a:cs typeface="Arial"/>
              </a:rPr>
              <a:t>xTaskCreate(</a:t>
            </a:r>
            <a:r>
              <a:rPr dirty="0" sz="2950" spc="5">
                <a:latin typeface="Arial"/>
                <a:cs typeface="Arial"/>
              </a:rPr>
              <a:t> </a:t>
            </a:r>
            <a:r>
              <a:rPr dirty="0" sz="2950" spc="-110">
                <a:latin typeface="Arial"/>
                <a:cs typeface="Arial"/>
              </a:rPr>
              <a:t>vTaskFunction,</a:t>
            </a:r>
            <a:r>
              <a:rPr dirty="0" sz="2950" spc="-100">
                <a:latin typeface="Arial"/>
                <a:cs typeface="Arial"/>
              </a:rPr>
              <a:t> </a:t>
            </a:r>
            <a:r>
              <a:rPr dirty="0" sz="2950" spc="-155">
                <a:latin typeface="Arial"/>
                <a:cs typeface="Arial"/>
              </a:rPr>
              <a:t>"Task</a:t>
            </a:r>
            <a:r>
              <a:rPr dirty="0" sz="2950" spc="-2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2",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240,</a:t>
            </a:r>
            <a:endParaRPr sz="2950">
              <a:latin typeface="Arial"/>
              <a:cs typeface="Arial"/>
            </a:endParaRPr>
          </a:p>
          <a:p>
            <a:pPr marL="466725">
              <a:lnSpc>
                <a:spcPts val="3335"/>
              </a:lnSpc>
            </a:pPr>
            <a:r>
              <a:rPr dirty="0" sz="2850" spc="-55">
                <a:latin typeface="Arial"/>
                <a:cs typeface="Arial"/>
              </a:rPr>
              <a:t>(void*)pcTextForTask2,</a:t>
            </a:r>
            <a:r>
              <a:rPr dirty="0" sz="2850" spc="-1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2,</a:t>
            </a:r>
            <a:r>
              <a:rPr dirty="0" sz="2850" spc="-130">
                <a:latin typeface="Arial"/>
                <a:cs typeface="Arial"/>
              </a:rPr>
              <a:t> </a:t>
            </a:r>
            <a:r>
              <a:rPr dirty="0" sz="2850" spc="-50">
                <a:latin typeface="Arial"/>
                <a:cs typeface="Arial"/>
              </a:rPr>
              <a:t>NULL</a:t>
            </a:r>
            <a:r>
              <a:rPr dirty="0" sz="2850" spc="-140">
                <a:latin typeface="Arial"/>
                <a:cs typeface="Arial"/>
              </a:rPr>
              <a:t> </a:t>
            </a:r>
            <a:r>
              <a:rPr dirty="0" sz="2850" spc="-25">
                <a:latin typeface="Arial"/>
                <a:cs typeface="Arial"/>
              </a:rPr>
              <a:t>);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591098" y="619125"/>
            <a:ext cx="0" cy="875665"/>
          </a:xfrm>
          <a:custGeom>
            <a:avLst/>
            <a:gdLst/>
            <a:ahLst/>
            <a:cxnLst/>
            <a:rect l="l" t="t" r="r" b="b"/>
            <a:pathLst>
              <a:path w="0" h="875665">
                <a:moveTo>
                  <a:pt x="0" y="875109"/>
                </a:moveTo>
                <a:lnTo>
                  <a:pt x="0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4433" y="815577"/>
            <a:ext cx="0" cy="678815"/>
          </a:xfrm>
          <a:custGeom>
            <a:avLst/>
            <a:gdLst/>
            <a:ahLst/>
            <a:cxnLst/>
            <a:rect l="l" t="t" r="r" b="b"/>
            <a:pathLst>
              <a:path w="0" h="678815">
                <a:moveTo>
                  <a:pt x="0" y="678656"/>
                </a:moveTo>
                <a:lnTo>
                  <a:pt x="0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0887" y="583406"/>
            <a:ext cx="0" cy="833755"/>
          </a:xfrm>
          <a:custGeom>
            <a:avLst/>
            <a:gdLst/>
            <a:ahLst/>
            <a:cxnLst/>
            <a:rect l="l" t="t" r="r" b="b"/>
            <a:pathLst>
              <a:path w="0" h="833755">
                <a:moveTo>
                  <a:pt x="0" y="833437"/>
                </a:moveTo>
                <a:lnTo>
                  <a:pt x="0" y="0"/>
                </a:lnTo>
              </a:path>
            </a:pathLst>
          </a:custGeom>
          <a:ln w="8929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56422" y="587871"/>
            <a:ext cx="3652520" cy="0"/>
          </a:xfrm>
          <a:custGeom>
            <a:avLst/>
            <a:gdLst/>
            <a:ahLst/>
            <a:cxnLst/>
            <a:rect l="l" t="t" r="r" b="b"/>
            <a:pathLst>
              <a:path w="3652520" h="0">
                <a:moveTo>
                  <a:pt x="0" y="0"/>
                </a:moveTo>
                <a:lnTo>
                  <a:pt x="3652243" y="0"/>
                </a:lnTo>
              </a:path>
            </a:pathLst>
          </a:custGeom>
          <a:ln w="8929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90131" y="520104"/>
            <a:ext cx="3310890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>
                <a:latin typeface="Arial"/>
                <a:cs typeface="Arial"/>
              </a:rPr>
              <a:t>I</a:t>
            </a:r>
            <a:r>
              <a:rPr dirty="0" sz="1450" spc="-80">
                <a:latin typeface="Arial"/>
                <a:cs typeface="Arial"/>
              </a:rPr>
              <a:t> </a:t>
            </a:r>
            <a:r>
              <a:rPr dirty="0" sz="1450" spc="60">
                <a:latin typeface="Arial"/>
                <a:cs typeface="Arial"/>
              </a:rPr>
              <a:t>he</a:t>
            </a:r>
            <a:r>
              <a:rPr dirty="0" sz="1450" spc="110"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scheduler</a:t>
            </a:r>
            <a:r>
              <a:rPr dirty="0" sz="1450" spc="220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11111"/>
                </a:solidFill>
                <a:latin typeface="Arial"/>
                <a:cs typeface="Arial"/>
              </a:rPr>
              <a:t>runs</a:t>
            </a:r>
            <a:r>
              <a:rPr dirty="0" sz="1450" spc="9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43434"/>
                </a:solidFill>
                <a:latin typeface="Arial"/>
                <a:cs typeface="Arial"/>
              </a:rPr>
              <a:t>in</a:t>
            </a:r>
            <a:r>
              <a:rPr dirty="0" sz="1450" spc="9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the</a:t>
            </a:r>
            <a:r>
              <a:rPr dirty="0" sz="1450" spc="150"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tick</a:t>
            </a:r>
            <a:r>
              <a:rPr dirty="0" sz="1450" spc="14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interrupt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86633" y="623589"/>
            <a:ext cx="803910" cy="0"/>
          </a:xfrm>
          <a:custGeom>
            <a:avLst/>
            <a:gdLst/>
            <a:ahLst/>
            <a:cxnLst/>
            <a:rect l="l" t="t" r="r" b="b"/>
            <a:pathLst>
              <a:path w="803910" h="0">
                <a:moveTo>
                  <a:pt x="0" y="0"/>
                </a:moveTo>
                <a:lnTo>
                  <a:pt x="803672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87060" y="693241"/>
            <a:ext cx="746125" cy="6457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905">
              <a:lnSpc>
                <a:spcPts val="1620"/>
              </a:lnSpc>
              <a:spcBef>
                <a:spcPts val="170"/>
              </a:spcBef>
            </a:pPr>
            <a:r>
              <a:rPr dirty="0" sz="1350" spc="40">
                <a:latin typeface="Arial"/>
                <a:cs typeface="Arial"/>
              </a:rPr>
              <a:t>Tick </a:t>
            </a:r>
            <a:r>
              <a:rPr dirty="0" sz="1400" spc="40">
                <a:latin typeface="Arial"/>
                <a:cs typeface="Arial"/>
              </a:rPr>
              <a:t>interrupt </a:t>
            </a:r>
            <a:r>
              <a:rPr dirty="0" sz="1400" spc="65">
                <a:latin typeface="Arial"/>
                <a:cs typeface="Arial"/>
              </a:rPr>
              <a:t>occurs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0025" y="731688"/>
            <a:ext cx="3176270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386330" algn="l"/>
              </a:tabLst>
            </a:pPr>
            <a:r>
              <a:rPr dirty="0" sz="1400">
                <a:latin typeface="Arial"/>
                <a:cs typeface="Arial"/>
              </a:rPr>
              <a:t>but</a:t>
            </a:r>
            <a:r>
              <a:rPr dirty="0" sz="1400" spc="4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selects</a:t>
            </a:r>
            <a:r>
              <a:rPr dirty="0" sz="1400" spc="210"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B3B3B"/>
                </a:solidFill>
                <a:latin typeface="Arial"/>
                <a:cs typeface="Arial"/>
              </a:rPr>
              <a:t>the</a:t>
            </a:r>
            <a:r>
              <a:rPr dirty="0" sz="1400" spc="229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0F0F0F"/>
                </a:solidFill>
                <a:latin typeface="Arial"/>
                <a:cs typeface="Arial"/>
              </a:rPr>
              <a:t>same</a:t>
            </a:r>
            <a:r>
              <a:rPr dirty="0" sz="1400" spc="19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task</a:t>
            </a:r>
            <a:r>
              <a:rPr dirty="0" sz="1400">
                <a:latin typeface="Arial"/>
                <a:cs typeface="Arial"/>
              </a:rPr>
              <a:t>	Task</a:t>
            </a:r>
            <a:r>
              <a:rPr dirty="0" sz="1400" spc="29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 spc="1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5463" y="943272"/>
            <a:ext cx="3618229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85">
                <a:latin typeface="Arial"/>
                <a:cs typeface="Arial"/>
              </a:rPr>
              <a:t>always</a:t>
            </a:r>
            <a:r>
              <a:rPr dirty="0" sz="1350" spc="114"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2F2F2F"/>
                </a:solidFill>
                <a:latin typeface="Arial"/>
                <a:cs typeface="Arial"/>
              </a:rPr>
              <a:t>in</a:t>
            </a:r>
            <a:r>
              <a:rPr dirty="0" sz="1350" spc="8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the</a:t>
            </a:r>
            <a:r>
              <a:rPr dirty="0" sz="1350" spc="60">
                <a:latin typeface="Arial"/>
                <a:cs typeface="Arial"/>
              </a:rPr>
              <a:t> </a:t>
            </a:r>
            <a:r>
              <a:rPr dirty="0" sz="1350" spc="85">
                <a:latin typeface="Arial"/>
                <a:cs typeface="Arial"/>
              </a:rPr>
              <a:t>Running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state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and</a:t>
            </a:r>
            <a:r>
              <a:rPr dirty="0" sz="1350" spc="100"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0F0F0F"/>
                </a:solidFill>
                <a:latin typeface="Arial"/>
                <a:cs typeface="Arial"/>
              </a:rPr>
              <a:t>Task</a:t>
            </a:r>
            <a:r>
              <a:rPr dirty="0" sz="1350" spc="16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350" spc="75">
                <a:solidFill>
                  <a:srgbClr val="2A2A2A"/>
                </a:solidFill>
                <a:latin typeface="Arial"/>
                <a:cs typeface="Arial"/>
              </a:rPr>
              <a:t>1</a:t>
            </a:r>
            <a:r>
              <a:rPr dirty="0" sz="1350" spc="1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C1C1C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5240" y="1137988"/>
            <a:ext cx="2757805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60">
                <a:latin typeface="Arial"/>
                <a:cs typeface="Arial"/>
              </a:rPr>
              <a:t>always</a:t>
            </a:r>
            <a:r>
              <a:rPr dirty="0" sz="1400" spc="170"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43434"/>
                </a:solidFill>
                <a:latin typeface="Arial"/>
                <a:cs typeface="Arial"/>
              </a:rPr>
              <a:t>in</a:t>
            </a:r>
            <a:r>
              <a:rPr dirty="0" sz="1400" spc="1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10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Not</a:t>
            </a:r>
            <a:r>
              <a:rPr dirty="0" sz="1400" spc="160">
                <a:latin typeface="Arial"/>
                <a:cs typeface="Arial"/>
              </a:rPr>
              <a:t> </a:t>
            </a:r>
            <a:r>
              <a:rPr dirty="0" sz="1400" spc="45">
                <a:latin typeface="Arial"/>
                <a:cs typeface="Arial"/>
              </a:rPr>
              <a:t>Running</a:t>
            </a:r>
            <a:r>
              <a:rPr dirty="0" sz="1400" spc="29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82793" y="744139"/>
            <a:ext cx="0" cy="673100"/>
          </a:xfrm>
          <a:custGeom>
            <a:avLst/>
            <a:gdLst/>
            <a:ahLst/>
            <a:cxnLst/>
            <a:rect l="l" t="t" r="r" b="b"/>
            <a:pathLst>
              <a:path w="0" h="673100">
                <a:moveTo>
                  <a:pt x="0" y="672703"/>
                </a:moveTo>
                <a:lnTo>
                  <a:pt x="0" y="0"/>
                </a:lnTo>
              </a:path>
            </a:pathLst>
          </a:custGeom>
          <a:ln w="8929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56422" y="1412379"/>
            <a:ext cx="3830954" cy="0"/>
          </a:xfrm>
          <a:custGeom>
            <a:avLst/>
            <a:gdLst/>
            <a:ahLst/>
            <a:cxnLst/>
            <a:rect l="l" t="t" r="r" b="b"/>
            <a:pathLst>
              <a:path w="3830954" h="0">
                <a:moveTo>
                  <a:pt x="0" y="0"/>
                </a:moveTo>
                <a:lnTo>
                  <a:pt x="3830837" y="0"/>
                </a:lnTo>
              </a:path>
            </a:pathLst>
          </a:custGeom>
          <a:ln w="8929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6633" y="1489769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5" h="0">
                <a:moveTo>
                  <a:pt x="0" y="0"/>
                </a:moveTo>
                <a:lnTo>
                  <a:pt x="982266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9241" y="1616273"/>
            <a:ext cx="3393281" cy="244673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0066" y="1504353"/>
            <a:ext cx="7999095" cy="444055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097280">
              <a:lnSpc>
                <a:spcPct val="100000"/>
              </a:lnSpc>
              <a:spcBef>
                <a:spcPts val="140"/>
              </a:spcBef>
            </a:pPr>
            <a:r>
              <a:rPr dirty="0" sz="2500" spc="45">
                <a:solidFill>
                  <a:srgbClr val="EF1118"/>
                </a:solidFill>
                <a:latin typeface="Arial"/>
                <a:cs typeface="Arial"/>
              </a:rPr>
              <a:t>Kernel</a:t>
            </a:r>
            <a:endParaRPr sz="2500">
              <a:latin typeface="Arial"/>
              <a:cs typeface="Arial"/>
            </a:endParaRPr>
          </a:p>
          <a:p>
            <a:pPr marL="1077595">
              <a:lnSpc>
                <a:spcPct val="100000"/>
              </a:lnSpc>
              <a:spcBef>
                <a:spcPts val="1955"/>
              </a:spcBef>
            </a:pPr>
            <a:r>
              <a:rPr dirty="0" sz="2500" spc="50">
                <a:solidFill>
                  <a:srgbClr val="180AC3"/>
                </a:solidFill>
                <a:latin typeface="Arial"/>
                <a:cs typeface="Arial"/>
              </a:rPr>
              <a:t>Task</a:t>
            </a:r>
            <a:r>
              <a:rPr dirty="0" sz="2500" spc="260">
                <a:solidFill>
                  <a:srgbClr val="180AC3"/>
                </a:solidFill>
                <a:latin typeface="Arial"/>
                <a:cs typeface="Arial"/>
              </a:rPr>
              <a:t> </a:t>
            </a:r>
            <a:r>
              <a:rPr dirty="0" sz="2500" spc="5">
                <a:solidFill>
                  <a:srgbClr val="1308A5"/>
                </a:solidFill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  <a:p>
            <a:pPr marL="1078230">
              <a:lnSpc>
                <a:spcPct val="100000"/>
              </a:lnSpc>
              <a:spcBef>
                <a:spcPts val="2050"/>
              </a:spcBef>
            </a:pPr>
            <a:r>
              <a:rPr dirty="0" sz="2300" spc="120">
                <a:solidFill>
                  <a:srgbClr val="48856D"/>
                </a:solidFill>
                <a:latin typeface="Arial"/>
                <a:cs typeface="Arial"/>
              </a:rPr>
              <a:t>Task</a:t>
            </a:r>
            <a:r>
              <a:rPr dirty="0" sz="2300" spc="475">
                <a:solidFill>
                  <a:srgbClr val="48856D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489572"/>
                </a:solidFill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  <a:p>
            <a:pPr marL="2490470">
              <a:lnSpc>
                <a:spcPct val="100000"/>
              </a:lnSpc>
              <a:spcBef>
                <a:spcPts val="1660"/>
              </a:spcBef>
              <a:tabLst>
                <a:tab pos="3178175" algn="l"/>
                <a:tab pos="3892550" algn="l"/>
              </a:tabLst>
            </a:pPr>
            <a:r>
              <a:rPr dirty="0" sz="2450" spc="-25">
                <a:latin typeface="Arial"/>
                <a:cs typeface="Arial"/>
              </a:rPr>
              <a:t>t1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25">
                <a:latin typeface="Arial"/>
                <a:cs typeface="Arial"/>
              </a:rPr>
              <a:t>t2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60">
                <a:latin typeface="Arial"/>
                <a:cs typeface="Arial"/>
              </a:rPr>
              <a:t>t3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450">
              <a:latin typeface="Arial"/>
              <a:cs typeface="Arial"/>
            </a:endParaRPr>
          </a:p>
          <a:p>
            <a:pPr marL="353060" indent="-340360">
              <a:lnSpc>
                <a:spcPts val="2970"/>
              </a:lnSpc>
              <a:spcBef>
                <a:spcPts val="5"/>
              </a:spcBef>
              <a:buChar char="•"/>
              <a:tabLst>
                <a:tab pos="353060" algn="l"/>
              </a:tabLst>
            </a:pPr>
            <a:r>
              <a:rPr dirty="0" sz="2750">
                <a:latin typeface="Arial"/>
                <a:cs typeface="Arial"/>
              </a:rPr>
              <a:t>The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scheduler</a:t>
            </a:r>
            <a:r>
              <a:rPr dirty="0" sz="2750" spc="3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always</a:t>
            </a:r>
            <a:r>
              <a:rPr dirty="0" sz="2750" spc="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selects</a:t>
            </a:r>
            <a:r>
              <a:rPr dirty="0" sz="2750" spc="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highest</a:t>
            </a:r>
            <a:r>
              <a:rPr dirty="0" sz="2750" spc="17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priority</a:t>
            </a:r>
            <a:endParaRPr sz="2750">
              <a:latin typeface="Arial"/>
              <a:cs typeface="Arial"/>
            </a:endParaRPr>
          </a:p>
          <a:p>
            <a:pPr marL="346710">
              <a:lnSpc>
                <a:spcPts val="3065"/>
              </a:lnSpc>
            </a:pPr>
            <a:r>
              <a:rPr dirty="0" sz="2850">
                <a:latin typeface="Arial"/>
                <a:cs typeface="Arial"/>
              </a:rPr>
              <a:t>task</a:t>
            </a:r>
            <a:r>
              <a:rPr dirty="0" sz="2850" spc="-7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that</a:t>
            </a:r>
            <a:r>
              <a:rPr dirty="0" sz="2850" spc="-11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is</a:t>
            </a:r>
            <a:r>
              <a:rPr dirty="0" sz="2850" spc="-15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able</a:t>
            </a:r>
            <a:r>
              <a:rPr dirty="0" sz="2850" spc="-5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to</a:t>
            </a:r>
            <a:r>
              <a:rPr dirty="0" sz="2850" spc="-85">
                <a:latin typeface="Arial"/>
                <a:cs typeface="Arial"/>
              </a:rPr>
              <a:t> </a:t>
            </a:r>
            <a:r>
              <a:rPr dirty="0" sz="2850" spc="-20">
                <a:latin typeface="Arial"/>
                <a:cs typeface="Arial"/>
              </a:rPr>
              <a:t>run.</a:t>
            </a:r>
            <a:endParaRPr sz="2850">
              <a:latin typeface="Arial"/>
              <a:cs typeface="Arial"/>
            </a:endParaRPr>
          </a:p>
          <a:p>
            <a:pPr lvl="1" marL="746125" indent="-317500">
              <a:lnSpc>
                <a:spcPts val="2550"/>
              </a:lnSpc>
              <a:buChar char="—"/>
              <a:tabLst>
                <a:tab pos="746125" algn="l"/>
              </a:tabLst>
            </a:pPr>
            <a:r>
              <a:rPr dirty="0" sz="2400" spc="-50">
                <a:latin typeface="Arial"/>
                <a:cs typeface="Arial"/>
              </a:rPr>
              <a:t>Task 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has</a:t>
            </a:r>
            <a:r>
              <a:rPr dirty="0" sz="2400" spc="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1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higher</a:t>
            </a:r>
            <a:r>
              <a:rPr dirty="0" sz="2400" spc="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priority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than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Task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1;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</a:t>
            </a:r>
            <a:r>
              <a:rPr dirty="0" sz="2400" spc="-15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Task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749300">
              <a:lnSpc>
                <a:spcPts val="2615"/>
              </a:lnSpc>
            </a:pP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5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only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task</a:t>
            </a:r>
            <a:r>
              <a:rPr dirty="0" sz="2450" spc="-114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to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ever</a:t>
            </a:r>
            <a:r>
              <a:rPr dirty="0" sz="2450" spc="-6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enter</a:t>
            </a:r>
            <a:r>
              <a:rPr dirty="0" sz="2450" spc="-7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 spc="-40">
                <a:latin typeface="Arial"/>
                <a:cs typeface="Arial"/>
              </a:rPr>
              <a:t>Running</a:t>
            </a:r>
            <a:r>
              <a:rPr dirty="0" sz="2450" spc="4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state.</a:t>
            </a:r>
            <a:endParaRPr sz="2450">
              <a:latin typeface="Arial"/>
              <a:cs typeface="Arial"/>
            </a:endParaRPr>
          </a:p>
          <a:p>
            <a:pPr lvl="1" marL="746125" indent="-317500">
              <a:lnSpc>
                <a:spcPts val="2860"/>
              </a:lnSpc>
              <a:buChar char="—"/>
              <a:tabLst>
                <a:tab pos="746125" algn="l"/>
              </a:tabLst>
            </a:pPr>
            <a:r>
              <a:rPr dirty="0" sz="2400" spc="-40">
                <a:latin typeface="Arial"/>
                <a:cs typeface="Arial"/>
              </a:rPr>
              <a:t>Task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‘starved’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processing</a:t>
            </a:r>
            <a:r>
              <a:rPr dirty="0" sz="2400" spc="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5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Task</a:t>
            </a:r>
            <a:r>
              <a:rPr dirty="0" sz="2400" spc="-25">
                <a:latin typeface="Arial"/>
                <a:cs typeface="Arial"/>
              </a:rPr>
              <a:t> 2.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7024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14"/>
              </a:spcBef>
            </a:pPr>
            <a:r>
              <a:rPr dirty="0" sz="3500" spc="185">
                <a:solidFill>
                  <a:srgbClr val="00184F"/>
                </a:solidFill>
              </a:rPr>
              <a:t>‘Continuous</a:t>
            </a:r>
            <a:r>
              <a:rPr dirty="0" sz="3500" spc="430">
                <a:solidFill>
                  <a:srgbClr val="00184F"/>
                </a:solidFill>
              </a:rPr>
              <a:t> </a:t>
            </a:r>
            <a:r>
              <a:rPr dirty="0" sz="3500" spc="185">
                <a:solidFill>
                  <a:srgbClr val="0A2460"/>
                </a:solidFill>
              </a:rPr>
              <a:t>processing’</a:t>
            </a:r>
            <a:r>
              <a:rPr dirty="0" sz="3500" spc="55">
                <a:solidFill>
                  <a:srgbClr val="0A2460"/>
                </a:solidFill>
              </a:rPr>
              <a:t> </a:t>
            </a:r>
            <a:r>
              <a:rPr dirty="0" sz="3500" spc="120">
                <a:solidFill>
                  <a:srgbClr val="052154"/>
                </a:solidFill>
              </a:rPr>
              <a:t>task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538094" y="1576287"/>
            <a:ext cx="8009890" cy="436245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47345" marR="5080" indent="-334645">
              <a:lnSpc>
                <a:spcPts val="3229"/>
              </a:lnSpc>
              <a:spcBef>
                <a:spcPts val="540"/>
              </a:spcBef>
              <a:buChar char="•"/>
              <a:tabLst>
                <a:tab pos="347345" algn="l"/>
                <a:tab pos="355600" algn="l"/>
              </a:tabLst>
            </a:pPr>
            <a:r>
              <a:rPr dirty="0" sz="3000">
                <a:latin typeface="Arial"/>
                <a:cs typeface="Arial"/>
              </a:rPr>
              <a:t>	So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far,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created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tasks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always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have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work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to </a:t>
            </a:r>
            <a:r>
              <a:rPr dirty="0" sz="3000">
                <a:latin typeface="Arial"/>
                <a:cs typeface="Arial"/>
              </a:rPr>
              <a:t>perform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have never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had</a:t>
            </a:r>
            <a:r>
              <a:rPr dirty="0" sz="3000" spc="-9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wait</a:t>
            </a:r>
            <a:r>
              <a:rPr dirty="0" sz="3000" spc="4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for </a:t>
            </a:r>
            <a:r>
              <a:rPr dirty="0" sz="3000" spc="-10">
                <a:latin typeface="Arial"/>
                <a:cs typeface="Arial"/>
              </a:rPr>
              <a:t>anything</a:t>
            </a:r>
            <a:endParaRPr sz="3000">
              <a:latin typeface="Arial"/>
              <a:cs typeface="Arial"/>
            </a:endParaRPr>
          </a:p>
          <a:p>
            <a:pPr lvl="1" marL="756285" indent="-349250">
              <a:lnSpc>
                <a:spcPct val="100000"/>
              </a:lnSpc>
              <a:spcBef>
                <a:spcPts val="229"/>
              </a:spcBef>
              <a:buChar char="—"/>
              <a:tabLst>
                <a:tab pos="756285" algn="l"/>
              </a:tabLst>
            </a:pPr>
            <a:r>
              <a:rPr dirty="0" sz="2650" spc="-10">
                <a:latin typeface="Arial"/>
                <a:cs typeface="Arial"/>
              </a:rPr>
              <a:t>Always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able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enter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state.</a:t>
            </a:r>
            <a:endParaRPr sz="2650">
              <a:latin typeface="Arial"/>
              <a:cs typeface="Arial"/>
            </a:endParaRPr>
          </a:p>
          <a:p>
            <a:pPr algn="just" marL="347980" marR="456565" indent="-335915">
              <a:lnSpc>
                <a:spcPts val="3229"/>
              </a:lnSpc>
              <a:spcBef>
                <a:spcPts val="755"/>
              </a:spcBef>
              <a:buChar char="•"/>
              <a:tabLst>
                <a:tab pos="347980" algn="l"/>
                <a:tab pos="353695" algn="l"/>
              </a:tabLst>
            </a:pPr>
            <a:r>
              <a:rPr dirty="0" sz="3050">
                <a:latin typeface="Arial"/>
                <a:cs typeface="Arial"/>
              </a:rPr>
              <a:t>	This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type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of</a:t>
            </a:r>
            <a:r>
              <a:rPr dirty="0" sz="3050" spc="-12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task</a:t>
            </a:r>
            <a:r>
              <a:rPr dirty="0" sz="3050" spc="-12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has</a:t>
            </a:r>
            <a:r>
              <a:rPr dirty="0" sz="3050" spc="-20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limited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usefulness</a:t>
            </a:r>
            <a:r>
              <a:rPr dirty="0" sz="3050" spc="-80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as </a:t>
            </a:r>
            <a:r>
              <a:rPr dirty="0" sz="3000">
                <a:latin typeface="Arial"/>
                <a:cs typeface="Arial"/>
              </a:rPr>
              <a:t>they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can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only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created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at the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very</a:t>
            </a:r>
            <a:r>
              <a:rPr dirty="0" sz="3000" spc="45">
                <a:latin typeface="Arial"/>
                <a:cs typeface="Arial"/>
              </a:rPr>
              <a:t> </a:t>
            </a:r>
            <a:r>
              <a:rPr dirty="0" sz="3000" spc="-30">
                <a:latin typeface="Arial"/>
                <a:cs typeface="Arial"/>
              </a:rPr>
              <a:t>lowest </a:t>
            </a:r>
            <a:r>
              <a:rPr dirty="0" sz="2900" spc="-10">
                <a:latin typeface="Arial"/>
                <a:cs typeface="Arial"/>
              </a:rPr>
              <a:t>priority.</a:t>
            </a:r>
            <a:endParaRPr sz="2900">
              <a:latin typeface="Arial"/>
              <a:cs typeface="Arial"/>
            </a:endParaRPr>
          </a:p>
          <a:p>
            <a:pPr algn="just" lvl="1" marL="751205" marR="314960" indent="-349250">
              <a:lnSpc>
                <a:spcPts val="2810"/>
              </a:lnSpc>
              <a:spcBef>
                <a:spcPts val="630"/>
              </a:spcBef>
              <a:buChar char="—"/>
              <a:tabLst>
                <a:tab pos="752475" algn="l"/>
              </a:tabLst>
            </a:pPr>
            <a:r>
              <a:rPr dirty="0" sz="2650">
                <a:latin typeface="Arial"/>
                <a:cs typeface="Arial"/>
              </a:rPr>
              <a:t>If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they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run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any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other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priority,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they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will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tasks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of </a:t>
            </a:r>
            <a:r>
              <a:rPr dirty="0" sz="2650" spc="-60"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lower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5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ever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all.</a:t>
            </a:r>
            <a:endParaRPr sz="2650">
              <a:latin typeface="Arial"/>
              <a:cs typeface="Arial"/>
            </a:endParaRPr>
          </a:p>
          <a:p>
            <a:pPr algn="just" marL="355600" indent="-342900">
              <a:lnSpc>
                <a:spcPct val="100000"/>
              </a:lnSpc>
              <a:spcBef>
                <a:spcPts val="305"/>
              </a:spcBef>
              <a:buChar char="•"/>
              <a:tabLst>
                <a:tab pos="355600" algn="l"/>
              </a:tabLst>
            </a:pPr>
            <a:r>
              <a:rPr dirty="0" sz="3000">
                <a:latin typeface="Arial"/>
                <a:cs typeface="Arial"/>
              </a:rPr>
              <a:t>Solution: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40">
                <a:latin typeface="Arial"/>
                <a:cs typeface="Arial"/>
              </a:rPr>
              <a:t>Event-</a:t>
            </a:r>
            <a:r>
              <a:rPr dirty="0" sz="3000">
                <a:latin typeface="Arial"/>
                <a:cs typeface="Arial"/>
              </a:rPr>
              <a:t>driven</a:t>
            </a:r>
            <a:r>
              <a:rPr dirty="0" sz="3000" spc="14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tasks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208" rIns="0" bIns="0" rtlCol="0" vert="horz">
            <a:spAutoFit/>
          </a:bodyPr>
          <a:lstStyle/>
          <a:p>
            <a:pPr marL="5080">
              <a:lnSpc>
                <a:spcPct val="100000"/>
              </a:lnSpc>
              <a:spcBef>
                <a:spcPts val="120"/>
              </a:spcBef>
            </a:pPr>
            <a:r>
              <a:rPr dirty="0" sz="3150"/>
              <a:t>1.6</a:t>
            </a:r>
            <a:r>
              <a:rPr dirty="0" sz="3150" spc="10"/>
              <a:t> </a:t>
            </a:r>
            <a:r>
              <a:rPr dirty="0" sz="3150" spc="125">
                <a:solidFill>
                  <a:srgbClr val="051F54"/>
                </a:solidFill>
              </a:rPr>
              <a:t>Expanding</a:t>
            </a:r>
            <a:r>
              <a:rPr dirty="0" sz="3150" spc="170">
                <a:solidFill>
                  <a:srgbClr val="051F54"/>
                </a:solidFill>
              </a:rPr>
              <a:t> </a:t>
            </a:r>
            <a:r>
              <a:rPr dirty="0" sz="3150" spc="110">
                <a:solidFill>
                  <a:srgbClr val="011D59"/>
                </a:solidFill>
              </a:rPr>
              <a:t>the</a:t>
            </a:r>
            <a:r>
              <a:rPr dirty="0" sz="3150" spc="150">
                <a:solidFill>
                  <a:srgbClr val="011D59"/>
                </a:solidFill>
              </a:rPr>
              <a:t> </a:t>
            </a:r>
            <a:r>
              <a:rPr dirty="0" sz="3150" spc="105">
                <a:solidFill>
                  <a:srgbClr val="0C2164"/>
                </a:solidFill>
              </a:rPr>
              <a:t>‘Not </a:t>
            </a:r>
            <a:r>
              <a:rPr dirty="0" sz="3150" spc="135">
                <a:solidFill>
                  <a:srgbClr val="031F5B"/>
                </a:solidFill>
              </a:rPr>
              <a:t>Running’</a:t>
            </a:r>
            <a:r>
              <a:rPr dirty="0" sz="3150" spc="60">
                <a:solidFill>
                  <a:srgbClr val="031F5B"/>
                </a:solidFill>
              </a:rPr>
              <a:t> </a:t>
            </a:r>
            <a:r>
              <a:rPr dirty="0" sz="3150" spc="80">
                <a:solidFill>
                  <a:srgbClr val="011862"/>
                </a:solidFill>
              </a:rPr>
              <a:t>state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531465" y="1536600"/>
            <a:ext cx="8056880" cy="4290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70840" indent="-357505">
              <a:lnSpc>
                <a:spcPts val="3080"/>
              </a:lnSpc>
              <a:spcBef>
                <a:spcPts val="135"/>
              </a:spcBef>
              <a:buChar char="•"/>
              <a:tabLst>
                <a:tab pos="370840" algn="l"/>
              </a:tabLst>
            </a:pPr>
            <a:r>
              <a:rPr dirty="0" sz="2600">
                <a:latin typeface="Arial"/>
                <a:cs typeface="Arial"/>
              </a:rPr>
              <a:t>An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event-</a:t>
            </a:r>
            <a:r>
              <a:rPr dirty="0" sz="2600">
                <a:latin typeface="Arial"/>
                <a:cs typeface="Arial"/>
              </a:rPr>
              <a:t>driven</a:t>
            </a:r>
            <a:r>
              <a:rPr dirty="0" sz="2600" spc="9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task</a:t>
            </a:r>
            <a:endParaRPr sz="2600">
              <a:latin typeface="Arial"/>
              <a:cs typeface="Arial"/>
            </a:endParaRPr>
          </a:p>
          <a:p>
            <a:pPr lvl="1" marL="758190" marR="135255" indent="-302260">
              <a:lnSpc>
                <a:spcPct val="76400"/>
              </a:lnSpc>
              <a:spcBef>
                <a:spcPts val="615"/>
              </a:spcBef>
              <a:buChar char="—"/>
              <a:tabLst>
                <a:tab pos="758190" algn="l"/>
                <a:tab pos="760730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20">
                <a:latin typeface="Arial"/>
                <a:cs typeface="Arial"/>
              </a:rPr>
              <a:t>has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work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perform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only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after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occurrence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of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event </a:t>
            </a:r>
            <a:r>
              <a:rPr dirty="0" sz="2300" spc="-10">
                <a:latin typeface="Arial"/>
                <a:cs typeface="Arial"/>
              </a:rPr>
              <a:t>that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triggers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it</a:t>
            </a:r>
            <a:endParaRPr sz="2300">
              <a:latin typeface="Arial"/>
              <a:cs typeface="Arial"/>
            </a:endParaRPr>
          </a:p>
          <a:p>
            <a:pPr lvl="1" marL="762000" indent="-304800">
              <a:lnSpc>
                <a:spcPts val="2345"/>
              </a:lnSpc>
              <a:buChar char="—"/>
              <a:tabLst>
                <a:tab pos="762000" algn="l"/>
              </a:tabLst>
            </a:pP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not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able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enter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70">
                <a:latin typeface="Arial"/>
                <a:cs typeface="Arial"/>
              </a:rPr>
              <a:t>Running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state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before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that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event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has</a:t>
            </a:r>
            <a:endParaRPr sz="2300">
              <a:latin typeface="Arial"/>
              <a:cs typeface="Arial"/>
            </a:endParaRPr>
          </a:p>
          <a:p>
            <a:pPr marL="758825">
              <a:lnSpc>
                <a:spcPts val="2365"/>
              </a:lnSpc>
            </a:pPr>
            <a:r>
              <a:rPr dirty="0" sz="2300" spc="-10">
                <a:latin typeface="Calibri"/>
                <a:cs typeface="Calibri"/>
              </a:rPr>
              <a:t>occurred.</a:t>
            </a:r>
            <a:endParaRPr sz="2300">
              <a:latin typeface="Calibri"/>
              <a:cs typeface="Calibri"/>
            </a:endParaRPr>
          </a:p>
          <a:p>
            <a:pPr marL="361950" indent="-349250">
              <a:lnSpc>
                <a:spcPts val="2830"/>
              </a:lnSpc>
              <a:buChar char="•"/>
              <a:tabLst>
                <a:tab pos="361950" algn="l"/>
              </a:tabLst>
            </a:pPr>
            <a:r>
              <a:rPr dirty="0" sz="2700" spc="-35">
                <a:latin typeface="Arial"/>
                <a:cs typeface="Arial"/>
              </a:rPr>
              <a:t>The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scheduler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selects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highest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priority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that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25" i="1">
                <a:latin typeface="Arial"/>
                <a:cs typeface="Arial"/>
              </a:rPr>
              <a:t>is</a:t>
            </a:r>
            <a:endParaRPr sz="2700">
              <a:latin typeface="Arial"/>
              <a:cs typeface="Arial"/>
            </a:endParaRPr>
          </a:p>
          <a:p>
            <a:pPr marL="364490">
              <a:lnSpc>
                <a:spcPts val="2765"/>
              </a:lnSpc>
            </a:pPr>
            <a:r>
              <a:rPr dirty="0" sz="2600" i="1">
                <a:latin typeface="Arial"/>
                <a:cs typeface="Arial"/>
              </a:rPr>
              <a:t>able</a:t>
            </a:r>
            <a:r>
              <a:rPr dirty="0" sz="2600" spc="25" i="1">
                <a:latin typeface="Arial"/>
                <a:cs typeface="Arial"/>
              </a:rPr>
              <a:t> </a:t>
            </a:r>
            <a:r>
              <a:rPr dirty="0" sz="2600" i="1">
                <a:latin typeface="Arial"/>
                <a:cs typeface="Arial"/>
              </a:rPr>
              <a:t>to</a:t>
            </a:r>
            <a:r>
              <a:rPr dirty="0" sz="2600" spc="-85" i="1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run.</a:t>
            </a:r>
            <a:endParaRPr sz="2600">
              <a:latin typeface="Arial"/>
              <a:cs typeface="Arial"/>
            </a:endParaRPr>
          </a:p>
          <a:p>
            <a:pPr marL="757555">
              <a:lnSpc>
                <a:spcPts val="2385"/>
              </a:lnSpc>
            </a:pPr>
            <a:r>
              <a:rPr dirty="0" sz="2250" spc="-20">
                <a:latin typeface="Arial"/>
                <a:cs typeface="Arial"/>
              </a:rPr>
              <a:t>High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priority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tasks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not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being</a:t>
            </a:r>
            <a:r>
              <a:rPr dirty="0" sz="2250" spc="-11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able</a:t>
            </a:r>
            <a:r>
              <a:rPr dirty="0" sz="2250" spc="-9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run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means</a:t>
            </a:r>
            <a:r>
              <a:rPr dirty="0" sz="2250" spc="-8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8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the</a:t>
            </a:r>
            <a:endParaRPr sz="2250">
              <a:latin typeface="Arial"/>
              <a:cs typeface="Arial"/>
            </a:endParaRPr>
          </a:p>
          <a:p>
            <a:pPr marL="762635">
              <a:lnSpc>
                <a:spcPts val="2395"/>
              </a:lnSpc>
            </a:pPr>
            <a:r>
              <a:rPr dirty="0" sz="2300" spc="-50">
                <a:latin typeface="Arial"/>
                <a:cs typeface="Arial"/>
              </a:rPr>
              <a:t>scheduler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cannot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select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them,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and</a:t>
            </a:r>
            <a:endParaRPr sz="2300">
              <a:latin typeface="Arial"/>
              <a:cs typeface="Arial"/>
            </a:endParaRPr>
          </a:p>
          <a:p>
            <a:pPr lvl="1" marL="758190" indent="-304800">
              <a:lnSpc>
                <a:spcPts val="2675"/>
              </a:lnSpc>
              <a:buClr>
                <a:srgbClr val="161616"/>
              </a:buClr>
              <a:buChar char="—"/>
              <a:tabLst>
                <a:tab pos="758190" algn="l"/>
              </a:tabLst>
            </a:pPr>
            <a:r>
              <a:rPr dirty="0" sz="2300" spc="-50">
                <a:latin typeface="Arial"/>
                <a:cs typeface="Arial"/>
              </a:rPr>
              <a:t>Must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select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lower</a:t>
            </a:r>
            <a:r>
              <a:rPr dirty="0" sz="2300" spc="-40">
                <a:latin typeface="Arial"/>
                <a:cs typeface="Arial"/>
              </a:rPr>
              <a:t> priority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task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that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able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run.</a:t>
            </a:r>
            <a:endParaRPr sz="2300">
              <a:latin typeface="Arial"/>
              <a:cs typeface="Arial"/>
            </a:endParaRPr>
          </a:p>
          <a:p>
            <a:pPr marL="360680" indent="-347980">
              <a:lnSpc>
                <a:spcPts val="3095"/>
              </a:lnSpc>
              <a:buChar char="•"/>
              <a:tabLst>
                <a:tab pos="360680" algn="l"/>
              </a:tabLst>
            </a:pPr>
            <a:r>
              <a:rPr dirty="0" sz="2650" spc="-10">
                <a:latin typeface="Arial"/>
                <a:cs typeface="Arial"/>
              </a:rPr>
              <a:t>Using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event-</a:t>
            </a:r>
            <a:r>
              <a:rPr dirty="0" sz="2650">
                <a:latin typeface="Arial"/>
                <a:cs typeface="Arial"/>
              </a:rPr>
              <a:t>driven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tasks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means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that</a:t>
            </a:r>
            <a:endParaRPr sz="2650">
              <a:latin typeface="Arial"/>
              <a:cs typeface="Arial"/>
            </a:endParaRPr>
          </a:p>
          <a:p>
            <a:pPr lvl="1" marL="756920" marR="412750" indent="-304800">
              <a:lnSpc>
                <a:spcPct val="75200"/>
              </a:lnSpc>
              <a:spcBef>
                <a:spcPts val="620"/>
              </a:spcBef>
              <a:buChar char="—"/>
              <a:tabLst>
                <a:tab pos="761365" algn="l"/>
              </a:tabLst>
            </a:pPr>
            <a:r>
              <a:rPr dirty="0" sz="2300" spc="-45">
                <a:latin typeface="Arial"/>
                <a:cs typeface="Arial"/>
              </a:rPr>
              <a:t>tasks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can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be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created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at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different</a:t>
            </a:r>
            <a:r>
              <a:rPr dirty="0" sz="2300" spc="-2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priorities</a:t>
            </a:r>
            <a:r>
              <a:rPr dirty="0" sz="2300" spc="2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without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25">
                <a:latin typeface="Arial"/>
                <a:cs typeface="Arial"/>
              </a:rPr>
              <a:t>	</a:t>
            </a:r>
            <a:r>
              <a:rPr dirty="0" sz="2300" spc="-45">
                <a:latin typeface="Arial"/>
                <a:cs typeface="Arial"/>
              </a:rPr>
              <a:t>highest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priority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tasks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starving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all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lower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priority</a:t>
            </a:r>
            <a:r>
              <a:rPr dirty="0" sz="230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tasks.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21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1656" y="1223366"/>
            <a:ext cx="5438179" cy="519707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8890">
              <a:lnSpc>
                <a:spcPct val="100000"/>
              </a:lnSpc>
              <a:spcBef>
                <a:spcPts val="110"/>
              </a:spcBef>
            </a:pPr>
            <a:r>
              <a:rPr dirty="0" spc="85">
                <a:solidFill>
                  <a:srgbClr val="011F60"/>
                </a:solidFill>
              </a:rPr>
              <a:t>Full</a:t>
            </a:r>
            <a:r>
              <a:rPr dirty="0" spc="30">
                <a:solidFill>
                  <a:srgbClr val="011F60"/>
                </a:solidFill>
              </a:rPr>
              <a:t> </a:t>
            </a:r>
            <a:r>
              <a:rPr dirty="0">
                <a:solidFill>
                  <a:srgbClr val="001C5D"/>
                </a:solidFill>
              </a:rPr>
              <a:t>task</a:t>
            </a:r>
            <a:r>
              <a:rPr dirty="0" spc="275">
                <a:solidFill>
                  <a:srgbClr val="001C5D"/>
                </a:solidFill>
              </a:rPr>
              <a:t> </a:t>
            </a:r>
            <a:r>
              <a:rPr dirty="0">
                <a:solidFill>
                  <a:srgbClr val="0A266B"/>
                </a:solidFill>
              </a:rPr>
              <a:t>state</a:t>
            </a:r>
            <a:r>
              <a:rPr dirty="0" spc="100">
                <a:solidFill>
                  <a:srgbClr val="0A266B"/>
                </a:solidFill>
              </a:rPr>
              <a:t> </a:t>
            </a:r>
            <a:r>
              <a:rPr dirty="0" spc="-10">
                <a:solidFill>
                  <a:srgbClr val="031F59"/>
                </a:solidFill>
              </a:rPr>
              <a:t>machine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2369" y="6457808"/>
            <a:ext cx="17526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5"/>
              </a:lnSpc>
            </a:pPr>
            <a:r>
              <a:rPr dirty="0" sz="1200" spc="-55">
                <a:latin typeface="Consolas"/>
                <a:cs typeface="Consolas"/>
              </a:rPr>
              <a:t>39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011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dirty="0" sz="3800">
                <a:solidFill>
                  <a:srgbClr val="001C64"/>
                </a:solidFill>
              </a:rPr>
              <a:t>Blocked</a:t>
            </a:r>
            <a:r>
              <a:rPr dirty="0" sz="3800" spc="290">
                <a:solidFill>
                  <a:srgbClr val="001C64"/>
                </a:solidFill>
              </a:rPr>
              <a:t> </a:t>
            </a:r>
            <a:r>
              <a:rPr dirty="0" sz="3800" spc="-10">
                <a:solidFill>
                  <a:srgbClr val="052864"/>
                </a:solidFill>
              </a:rPr>
              <a:t>state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31465" y="1544086"/>
            <a:ext cx="7922259" cy="422211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330"/>
              </a:spcBef>
              <a:buChar char="•"/>
              <a:tabLst>
                <a:tab pos="361950" algn="l"/>
              </a:tabLst>
            </a:pPr>
            <a:r>
              <a:rPr dirty="0" sz="2700" spc="-110">
                <a:latin typeface="Arial"/>
                <a:cs typeface="Arial"/>
              </a:rPr>
              <a:t>Tasks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enter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this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state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wait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for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two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types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events</a:t>
            </a:r>
            <a:endParaRPr sz="2700">
              <a:latin typeface="Arial"/>
              <a:cs typeface="Arial"/>
            </a:endParaRPr>
          </a:p>
          <a:p>
            <a:pPr lvl="1" marL="756285" indent="-298450">
              <a:lnSpc>
                <a:spcPts val="2520"/>
              </a:lnSpc>
              <a:spcBef>
                <a:spcPts val="160"/>
              </a:spcBef>
              <a:buChar char="—"/>
              <a:tabLst>
                <a:tab pos="756285" algn="l"/>
              </a:tabLst>
            </a:pPr>
            <a:r>
              <a:rPr dirty="0" sz="2250" spc="-60">
                <a:latin typeface="Arial"/>
                <a:cs typeface="Arial"/>
              </a:rPr>
              <a:t>Temporal</a:t>
            </a:r>
            <a:r>
              <a:rPr dirty="0" sz="2250" spc="-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(time-</a:t>
            </a:r>
            <a:r>
              <a:rPr dirty="0" sz="2250" spc="-20">
                <a:latin typeface="Arial"/>
                <a:cs typeface="Arial"/>
              </a:rPr>
              <a:t>related)</a:t>
            </a:r>
            <a:r>
              <a:rPr dirty="0" sz="2250" spc="-6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events: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event</a:t>
            </a:r>
            <a:r>
              <a:rPr dirty="0" sz="2250" spc="-8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being</a:t>
            </a:r>
            <a:r>
              <a:rPr dirty="0" sz="2250" spc="-9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either</a:t>
            </a:r>
            <a:r>
              <a:rPr dirty="0" sz="2250" spc="-3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</a:t>
            </a:r>
            <a:endParaRPr sz="2250">
              <a:latin typeface="Arial"/>
              <a:cs typeface="Arial"/>
            </a:endParaRPr>
          </a:p>
          <a:p>
            <a:pPr marL="753110">
              <a:lnSpc>
                <a:spcPts val="2580"/>
              </a:lnSpc>
            </a:pPr>
            <a:r>
              <a:rPr dirty="0" sz="2300" spc="-40">
                <a:latin typeface="Arial"/>
                <a:cs typeface="Arial"/>
              </a:rPr>
              <a:t>delay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expiring,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or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an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absolute</a:t>
            </a:r>
            <a:r>
              <a:rPr dirty="0" sz="2300" spc="-2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time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being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reached.</a:t>
            </a:r>
            <a:endParaRPr sz="2300">
              <a:latin typeface="Arial"/>
              <a:cs typeface="Arial"/>
            </a:endParaRPr>
          </a:p>
          <a:p>
            <a:pPr lvl="2" marL="1164590" indent="-235585">
              <a:lnSpc>
                <a:spcPct val="100000"/>
              </a:lnSpc>
              <a:spcBef>
                <a:spcPts val="204"/>
              </a:spcBef>
              <a:buChar char="•"/>
              <a:tabLst>
                <a:tab pos="1164590" algn="l"/>
              </a:tabLst>
            </a:pPr>
            <a:r>
              <a:rPr dirty="0" sz="1900" spc="-110">
                <a:latin typeface="Arial"/>
                <a:cs typeface="Arial"/>
              </a:rPr>
              <a:t>A</a:t>
            </a:r>
            <a:r>
              <a:rPr dirty="0" sz="1900" spc="-114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task</a:t>
            </a:r>
            <a:r>
              <a:rPr dirty="0" sz="1900" spc="-114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enter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the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Blocked</a:t>
            </a:r>
            <a:r>
              <a:rPr dirty="0" sz="1900" spc="2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state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wait</a:t>
            </a:r>
            <a:r>
              <a:rPr dirty="0" sz="1900" spc="2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for</a:t>
            </a:r>
            <a:r>
              <a:rPr dirty="0" sz="1900" spc="-2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10ms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pass</a:t>
            </a:r>
            <a:endParaRPr sz="1900">
              <a:latin typeface="Arial"/>
              <a:cs typeface="Arial"/>
            </a:endParaRPr>
          </a:p>
          <a:p>
            <a:pPr lvl="1" marL="757555" marR="208915" indent="-304800">
              <a:lnSpc>
                <a:spcPts val="2390"/>
              </a:lnSpc>
              <a:spcBef>
                <a:spcPts val="560"/>
              </a:spcBef>
              <a:buChar char="—"/>
              <a:tabLst>
                <a:tab pos="761365" algn="l"/>
              </a:tabLst>
            </a:pPr>
            <a:r>
              <a:rPr dirty="0" sz="2300" spc="-60">
                <a:latin typeface="Arial"/>
                <a:cs typeface="Arial"/>
              </a:rPr>
              <a:t>Synchronization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events: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where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14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events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originate</a:t>
            </a:r>
            <a:r>
              <a:rPr dirty="0" sz="2300" spc="2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from </a:t>
            </a:r>
            <a:r>
              <a:rPr dirty="0" sz="2300" spc="-20">
                <a:latin typeface="Arial"/>
                <a:cs typeface="Arial"/>
              </a:rPr>
              <a:t>	</a:t>
            </a:r>
            <a:r>
              <a:rPr dirty="0" sz="2300" spc="-45">
                <a:latin typeface="Arial"/>
                <a:cs typeface="Arial"/>
              </a:rPr>
              <a:t>another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or</a:t>
            </a:r>
            <a:r>
              <a:rPr dirty="0" sz="2300" spc="-14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interrupt</a:t>
            </a:r>
            <a:endParaRPr sz="2300">
              <a:latin typeface="Arial"/>
              <a:cs typeface="Arial"/>
            </a:endParaRPr>
          </a:p>
          <a:p>
            <a:pPr lvl="2" marL="1163320" indent="-234950">
              <a:lnSpc>
                <a:spcPts val="2170"/>
              </a:lnSpc>
              <a:spcBef>
                <a:spcPts val="85"/>
              </a:spcBef>
              <a:buChar char="•"/>
              <a:tabLst>
                <a:tab pos="1163320" algn="l"/>
              </a:tabLst>
            </a:pPr>
            <a:r>
              <a:rPr dirty="0" sz="2000" spc="-195">
                <a:latin typeface="Arial"/>
                <a:cs typeface="Arial"/>
              </a:rPr>
              <a:t>A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task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enter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the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Blocked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state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wait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for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data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arrive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ts val="2290"/>
              </a:lnSpc>
            </a:pPr>
            <a:r>
              <a:rPr dirty="0" sz="2100" spc="-10">
                <a:latin typeface="Arial"/>
                <a:cs typeface="Arial"/>
              </a:rPr>
              <a:t>queue.</a:t>
            </a:r>
            <a:endParaRPr sz="2100">
              <a:latin typeface="Arial"/>
              <a:cs typeface="Arial"/>
            </a:endParaRPr>
          </a:p>
          <a:p>
            <a:pPr lvl="1" marL="755015" marR="382270" indent="-317500">
              <a:lnSpc>
                <a:spcPts val="2390"/>
              </a:lnSpc>
              <a:spcBef>
                <a:spcPts val="520"/>
              </a:spcBef>
              <a:buClr>
                <a:srgbClr val="0C0C0C"/>
              </a:buClr>
              <a:buChar char="—"/>
              <a:tabLst>
                <a:tab pos="760730" algn="l"/>
              </a:tabLst>
            </a:pPr>
            <a:r>
              <a:rPr dirty="0" sz="2400" spc="-160">
                <a:latin typeface="Arial"/>
                <a:cs typeface="Arial"/>
              </a:rPr>
              <a:t>Can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block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on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a</a:t>
            </a:r>
            <a:r>
              <a:rPr dirty="0" sz="2400" spc="-105">
                <a:latin typeface="Arial"/>
                <a:cs typeface="Arial"/>
              </a:rPr>
              <a:t> synchronization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event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with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a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timeout,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 spc="-95">
                <a:latin typeface="Arial"/>
                <a:cs typeface="Arial"/>
              </a:rPr>
              <a:t>effectively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block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85">
                <a:latin typeface="Arial"/>
                <a:cs typeface="Arial"/>
              </a:rPr>
              <a:t>on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both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types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of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event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simultaneously.</a:t>
            </a:r>
            <a:endParaRPr sz="2400">
              <a:latin typeface="Arial"/>
              <a:cs typeface="Arial"/>
            </a:endParaRPr>
          </a:p>
          <a:p>
            <a:pPr lvl="2" marL="1151890" marR="272415" indent="-236854">
              <a:lnSpc>
                <a:spcPct val="77900"/>
              </a:lnSpc>
              <a:spcBef>
                <a:spcPts val="470"/>
              </a:spcBef>
              <a:buChar char="•"/>
              <a:tabLst>
                <a:tab pos="1151890" algn="l"/>
                <a:tab pos="1160145" algn="l"/>
              </a:tabLst>
            </a:pP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45">
                <a:latin typeface="Calibri"/>
                <a:cs typeface="Calibri"/>
              </a:rPr>
              <a:t>A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task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 spc="-80">
                <a:latin typeface="Calibri"/>
                <a:cs typeface="Calibri"/>
              </a:rPr>
              <a:t>waits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30">
                <a:latin typeface="Calibri"/>
                <a:cs typeface="Calibri"/>
              </a:rPr>
              <a:t>for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14">
                <a:latin typeface="Calibri"/>
                <a:cs typeface="Calibri"/>
              </a:rPr>
              <a:t>maximum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-70">
                <a:latin typeface="Calibri"/>
                <a:cs typeface="Calibri"/>
              </a:rPr>
              <a:t>of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-55">
                <a:latin typeface="Calibri"/>
                <a:cs typeface="Calibri"/>
              </a:rPr>
              <a:t>10ms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5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data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80">
                <a:latin typeface="Calibri"/>
                <a:cs typeface="Calibri"/>
              </a:rPr>
              <a:t>to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 spc="-60">
                <a:latin typeface="Calibri"/>
                <a:cs typeface="Calibri"/>
              </a:rPr>
              <a:t>arrive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on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queue.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5">
                <a:latin typeface="Calibri"/>
                <a:cs typeface="Calibri"/>
              </a:rPr>
              <a:t>It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leaves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25">
                <a:latin typeface="Calibri"/>
                <a:cs typeface="Calibri"/>
              </a:rPr>
              <a:t>the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Blocked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65">
                <a:latin typeface="Calibri"/>
                <a:cs typeface="Calibri"/>
              </a:rPr>
              <a:t>state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20">
                <a:latin typeface="Calibri"/>
                <a:cs typeface="Calibri"/>
              </a:rPr>
              <a:t>if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10">
                <a:latin typeface="Calibri"/>
                <a:cs typeface="Calibri"/>
              </a:rPr>
              <a:t>either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data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arrives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95">
                <a:latin typeface="Calibri"/>
                <a:cs typeface="Calibri"/>
              </a:rPr>
              <a:t>within </a:t>
            </a:r>
            <a:r>
              <a:rPr dirty="0" sz="2200" spc="-459">
                <a:latin typeface="Calibri"/>
                <a:cs typeface="Calibri"/>
              </a:rPr>
              <a:t>1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204">
                <a:latin typeface="Calibri"/>
                <a:cs typeface="Calibri"/>
              </a:rPr>
              <a:t>Oms</a:t>
            </a:r>
            <a:r>
              <a:rPr dirty="0" sz="2200" spc="80">
                <a:latin typeface="Calibri"/>
                <a:cs typeface="Calibri"/>
              </a:rPr>
              <a:t> </a:t>
            </a:r>
            <a:r>
              <a:rPr dirty="0" sz="2200" spc="-95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459">
                <a:latin typeface="Calibri"/>
                <a:cs typeface="Calibri"/>
              </a:rPr>
              <a:t>1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200">
                <a:latin typeface="Calibri"/>
                <a:cs typeface="Calibri"/>
              </a:rPr>
              <a:t>Oms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60">
                <a:latin typeface="Calibri"/>
                <a:cs typeface="Calibri"/>
              </a:rPr>
              <a:t>with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no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data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arriving.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460"/>
              </a:lnSpc>
            </a:pPr>
            <a:fld id="{81D60167-4931-47E6-BA6A-407CBD079E47}" type="slidenum">
              <a:rPr dirty="0" sz="1300" spc="-25">
                <a:solidFill>
                  <a:srgbClr val="1A1A1A"/>
                </a:solidFill>
                <a:latin typeface="Courier New"/>
                <a:cs typeface="Courier New"/>
              </a:rPr>
              <a:t>40</a:t>
            </a:fld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276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 sz="3850" spc="204">
                <a:solidFill>
                  <a:srgbClr val="00135D"/>
                </a:solidFill>
                <a:latin typeface="Calibri"/>
                <a:cs typeface="Calibri"/>
              </a:rPr>
              <a:t>Suspended</a:t>
            </a:r>
            <a:r>
              <a:rPr dirty="0" sz="3850" spc="360">
                <a:solidFill>
                  <a:srgbClr val="00135D"/>
                </a:solidFill>
                <a:latin typeface="Calibri"/>
                <a:cs typeface="Calibri"/>
              </a:rPr>
              <a:t> </a:t>
            </a:r>
            <a:r>
              <a:rPr dirty="0" sz="3850" spc="80">
                <a:solidFill>
                  <a:srgbClr val="081C64"/>
                </a:solidFill>
                <a:latin typeface="Calibri"/>
                <a:cs typeface="Calibri"/>
              </a:rPr>
              <a:t>state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765" y="1608533"/>
            <a:ext cx="7997825" cy="31019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351790" marR="675005" indent="-339725">
              <a:lnSpc>
                <a:spcPts val="3590"/>
              </a:lnSpc>
              <a:spcBef>
                <a:spcPts val="350"/>
              </a:spcBef>
              <a:buChar char="•"/>
              <a:tabLst>
                <a:tab pos="351790" algn="l"/>
                <a:tab pos="353695" algn="l"/>
              </a:tabLst>
            </a:pP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120">
                <a:latin typeface="Arial"/>
                <a:cs typeface="Arial"/>
              </a:rPr>
              <a:t>Tasks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in</a:t>
            </a:r>
            <a:r>
              <a:rPr dirty="0" sz="3100" spc="-18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this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state</a:t>
            </a:r>
            <a:r>
              <a:rPr dirty="0" sz="3100" spc="-125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are</a:t>
            </a:r>
            <a:r>
              <a:rPr dirty="0" sz="3100" spc="-16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not</a:t>
            </a:r>
            <a:r>
              <a:rPr dirty="0" sz="3100" spc="-170">
                <a:latin typeface="Arial"/>
                <a:cs typeface="Arial"/>
              </a:rPr>
              <a:t> </a:t>
            </a:r>
            <a:r>
              <a:rPr dirty="0" sz="3100" spc="-50">
                <a:latin typeface="Arial"/>
                <a:cs typeface="Arial"/>
              </a:rPr>
              <a:t>available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to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the </a:t>
            </a:r>
            <a:r>
              <a:rPr dirty="0" sz="3100" spc="-10">
                <a:latin typeface="Arial"/>
                <a:cs typeface="Arial"/>
              </a:rPr>
              <a:t>scheduler.</a:t>
            </a:r>
            <a:endParaRPr sz="3100">
              <a:latin typeface="Arial"/>
              <a:cs typeface="Arial"/>
            </a:endParaRPr>
          </a:p>
          <a:p>
            <a:pPr lvl="1" marL="748030" marR="485775" indent="-355600">
              <a:lnSpc>
                <a:spcPts val="3130"/>
              </a:lnSpc>
              <a:spcBef>
                <a:spcPts val="605"/>
              </a:spcBef>
              <a:buChar char="—"/>
              <a:tabLst>
                <a:tab pos="751205" algn="l"/>
              </a:tabLst>
            </a:pP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only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way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into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this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state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through</a:t>
            </a:r>
            <a:r>
              <a:rPr dirty="0" sz="2700" spc="-8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call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to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 spc="-90" i="1">
                <a:latin typeface="Arial"/>
                <a:cs typeface="Arial"/>
              </a:rPr>
              <a:t>vTaskSuspend()</a:t>
            </a:r>
            <a:r>
              <a:rPr dirty="0" sz="2700" spc="-95" i="1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API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function</a:t>
            </a:r>
            <a:endParaRPr sz="2700">
              <a:latin typeface="Arial"/>
              <a:cs typeface="Arial"/>
            </a:endParaRPr>
          </a:p>
          <a:p>
            <a:pPr lvl="1" marL="747395" marR="5080" indent="-361950">
              <a:lnSpc>
                <a:spcPts val="3130"/>
              </a:lnSpc>
              <a:spcBef>
                <a:spcPts val="600"/>
              </a:spcBef>
              <a:buChar char="—"/>
              <a:tabLst>
                <a:tab pos="753745" algn="l"/>
              </a:tabLst>
            </a:pPr>
            <a:r>
              <a:rPr dirty="0" sz="2750" spc="-45">
                <a:latin typeface="Arial"/>
                <a:cs typeface="Arial"/>
              </a:rPr>
              <a:t>The</a:t>
            </a:r>
            <a:r>
              <a:rPr dirty="0" sz="2750" spc="-150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only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80">
                <a:latin typeface="Arial"/>
                <a:cs typeface="Arial"/>
              </a:rPr>
              <a:t>way</a:t>
            </a:r>
            <a:r>
              <a:rPr dirty="0" sz="2750" spc="-100">
                <a:latin typeface="Arial"/>
                <a:cs typeface="Arial"/>
              </a:rPr>
              <a:t> </a:t>
            </a:r>
            <a:r>
              <a:rPr dirty="0" sz="2750" spc="-40">
                <a:latin typeface="Arial"/>
                <a:cs typeface="Arial"/>
              </a:rPr>
              <a:t>out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this</a:t>
            </a:r>
            <a:r>
              <a:rPr dirty="0" sz="2750" spc="-100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state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is</a:t>
            </a:r>
            <a:r>
              <a:rPr dirty="0" sz="2750" spc="-16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through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call</a:t>
            </a:r>
            <a:r>
              <a:rPr dirty="0" sz="2750" spc="-1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-165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the </a:t>
            </a:r>
            <a:r>
              <a:rPr dirty="0" sz="2750" spc="-30">
                <a:latin typeface="Arial"/>
                <a:cs typeface="Arial"/>
              </a:rPr>
              <a:t>	</a:t>
            </a:r>
            <a:r>
              <a:rPr dirty="0" sz="2700" spc="-95" i="1">
                <a:latin typeface="Arial"/>
                <a:cs typeface="Arial"/>
              </a:rPr>
              <a:t>vTaskResume()</a:t>
            </a:r>
            <a:r>
              <a:rPr dirty="0" sz="2700" spc="140" i="1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or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70" i="1">
                <a:latin typeface="Arial"/>
                <a:cs typeface="Arial"/>
              </a:rPr>
              <a:t>vTaskResumeFromlSR()</a:t>
            </a:r>
            <a:r>
              <a:rPr dirty="0" sz="2700" spc="-110" i="1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API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800" spc="-10">
                <a:latin typeface="Arial"/>
                <a:cs typeface="Arial"/>
              </a:rPr>
              <a:t>functions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460"/>
              </a:lnSpc>
            </a:pPr>
            <a:fld id="{81D60167-4931-47E6-BA6A-407CBD079E47}" type="slidenum">
              <a:rPr dirty="0" sz="1300" spc="-25">
                <a:solidFill>
                  <a:srgbClr val="1A1A1A"/>
                </a:solidFill>
                <a:latin typeface="Courier New"/>
                <a:cs typeface="Courier New"/>
              </a:rPr>
              <a:t>40</a:t>
            </a:fld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7477" rIns="0" bIns="0" rtlCol="0" vert="horz">
            <a:spAutoFit/>
          </a:bodyPr>
          <a:lstStyle/>
          <a:p>
            <a:pPr marL="10160">
              <a:lnSpc>
                <a:spcPct val="100000"/>
              </a:lnSpc>
              <a:spcBef>
                <a:spcPts val="105"/>
              </a:spcBef>
            </a:pPr>
            <a:r>
              <a:rPr dirty="0" sz="3800">
                <a:solidFill>
                  <a:srgbClr val="011D60"/>
                </a:solidFill>
              </a:rPr>
              <a:t>Ready</a:t>
            </a:r>
            <a:r>
              <a:rPr dirty="0" sz="3800" spc="-210">
                <a:solidFill>
                  <a:srgbClr val="011D60"/>
                </a:solidFill>
              </a:rPr>
              <a:t> </a:t>
            </a:r>
            <a:r>
              <a:rPr dirty="0" sz="3800" spc="-10">
                <a:solidFill>
                  <a:srgbClr val="071F62"/>
                </a:solidFill>
              </a:rPr>
              <a:t>state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38422" y="1616471"/>
            <a:ext cx="7948295" cy="22777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5600" marR="60960" indent="-343535">
              <a:lnSpc>
                <a:spcPct val="100099"/>
              </a:lnSpc>
              <a:spcBef>
                <a:spcPts val="120"/>
              </a:spcBef>
              <a:buChar char="•"/>
              <a:tabLst>
                <a:tab pos="355600" algn="l"/>
              </a:tabLst>
            </a:pPr>
            <a:r>
              <a:rPr dirty="0" sz="3000" spc="-65">
                <a:latin typeface="Arial"/>
                <a:cs typeface="Arial"/>
              </a:rPr>
              <a:t>Tasks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that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1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‘Not Running’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state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but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not</a:t>
            </a:r>
            <a:r>
              <a:rPr dirty="0" sz="3000" spc="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Blocked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or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Suspended</a:t>
            </a:r>
            <a:r>
              <a:rPr dirty="0" sz="3000" spc="1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said</a:t>
            </a:r>
            <a:r>
              <a:rPr dirty="0" sz="3000" spc="-1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8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be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Ready</a:t>
            </a:r>
            <a:r>
              <a:rPr dirty="0" sz="3000" spc="9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state.</a:t>
            </a:r>
            <a:endParaRPr sz="3000">
              <a:latin typeface="Arial"/>
              <a:cs typeface="Arial"/>
            </a:endParaRPr>
          </a:p>
          <a:p>
            <a:pPr marL="742950" marR="5080" indent="-281940">
              <a:lnSpc>
                <a:spcPts val="3130"/>
              </a:lnSpc>
              <a:spcBef>
                <a:spcPts val="730"/>
              </a:spcBef>
            </a:pPr>
            <a:r>
              <a:rPr dirty="0" sz="2650" spc="-1250">
                <a:latin typeface="Arial"/>
                <a:cs typeface="Arial"/>
              </a:rPr>
              <a:t>—</a:t>
            </a:r>
            <a:r>
              <a:rPr dirty="0" sz="2650" spc="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They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are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able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run,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and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therefore</a:t>
            </a:r>
            <a:r>
              <a:rPr dirty="0" sz="2650" spc="-25">
                <a:latin typeface="Arial"/>
                <a:cs typeface="Arial"/>
              </a:rPr>
              <a:t> ‘ready’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run, </a:t>
            </a:r>
            <a:r>
              <a:rPr dirty="0" sz="2650">
                <a:latin typeface="Arial"/>
                <a:cs typeface="Arial"/>
              </a:rPr>
              <a:t>but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are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currently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460"/>
              </a:lnSpc>
            </a:pPr>
            <a:fld id="{81D60167-4931-47E6-BA6A-407CBD079E47}" type="slidenum">
              <a:rPr dirty="0" sz="1300" spc="-25">
                <a:solidFill>
                  <a:srgbClr val="1A1A1A"/>
                </a:solidFill>
                <a:latin typeface="Courier New"/>
                <a:cs typeface="Courier New"/>
              </a:rPr>
              <a:t>40</a:t>
            </a:fld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003" y="315713"/>
            <a:ext cx="6760845" cy="1027430"/>
          </a:xfrm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 marR="5080" indent="1270">
              <a:lnSpc>
                <a:spcPts val="3900"/>
              </a:lnSpc>
              <a:spcBef>
                <a:spcPts val="285"/>
              </a:spcBef>
            </a:pPr>
            <a:r>
              <a:rPr dirty="0" sz="3300">
                <a:solidFill>
                  <a:srgbClr val="082660"/>
                </a:solidFill>
              </a:rPr>
              <a:t>Example</a:t>
            </a:r>
            <a:r>
              <a:rPr dirty="0" sz="3300" spc="305">
                <a:solidFill>
                  <a:srgbClr val="082660"/>
                </a:solidFill>
              </a:rPr>
              <a:t> </a:t>
            </a:r>
            <a:r>
              <a:rPr dirty="0" sz="3300">
                <a:solidFill>
                  <a:srgbClr val="052362"/>
                </a:solidFill>
              </a:rPr>
              <a:t>4</a:t>
            </a:r>
            <a:r>
              <a:rPr dirty="0" sz="3300" spc="-55">
                <a:solidFill>
                  <a:srgbClr val="052362"/>
                </a:solidFill>
              </a:rPr>
              <a:t> </a:t>
            </a:r>
            <a:r>
              <a:rPr dirty="0" sz="3300">
                <a:solidFill>
                  <a:srgbClr val="001C62"/>
                </a:solidFill>
              </a:rPr>
              <a:t>Using</a:t>
            </a:r>
            <a:r>
              <a:rPr dirty="0" sz="3300" spc="170">
                <a:solidFill>
                  <a:srgbClr val="001C62"/>
                </a:solidFill>
              </a:rPr>
              <a:t> </a:t>
            </a:r>
            <a:r>
              <a:rPr dirty="0" sz="3300" spc="70">
                <a:solidFill>
                  <a:srgbClr val="031C5D"/>
                </a:solidFill>
              </a:rPr>
              <a:t>the</a:t>
            </a:r>
            <a:r>
              <a:rPr dirty="0" sz="3300">
                <a:solidFill>
                  <a:srgbClr val="031C5D"/>
                </a:solidFill>
              </a:rPr>
              <a:t> </a:t>
            </a:r>
            <a:r>
              <a:rPr dirty="0" sz="3300" spc="80">
                <a:solidFill>
                  <a:srgbClr val="001856"/>
                </a:solidFill>
              </a:rPr>
              <a:t>Block</a:t>
            </a:r>
            <a:r>
              <a:rPr dirty="0" sz="3300" spc="175">
                <a:solidFill>
                  <a:srgbClr val="001856"/>
                </a:solidFill>
              </a:rPr>
              <a:t> </a:t>
            </a:r>
            <a:r>
              <a:rPr dirty="0" sz="3300">
                <a:solidFill>
                  <a:srgbClr val="011C54"/>
                </a:solidFill>
              </a:rPr>
              <a:t>state</a:t>
            </a:r>
            <a:r>
              <a:rPr dirty="0" sz="3300" spc="70">
                <a:solidFill>
                  <a:srgbClr val="011C54"/>
                </a:solidFill>
              </a:rPr>
              <a:t> </a:t>
            </a:r>
            <a:r>
              <a:rPr dirty="0" sz="3300" spc="65">
                <a:solidFill>
                  <a:srgbClr val="011A60"/>
                </a:solidFill>
              </a:rPr>
              <a:t>to </a:t>
            </a:r>
            <a:r>
              <a:rPr dirty="0" sz="3300">
                <a:solidFill>
                  <a:srgbClr val="011F52"/>
                </a:solidFill>
              </a:rPr>
              <a:t>create</a:t>
            </a:r>
            <a:r>
              <a:rPr dirty="0" sz="3300" spc="25">
                <a:solidFill>
                  <a:srgbClr val="011F52"/>
                </a:solidFill>
              </a:rPr>
              <a:t> </a:t>
            </a:r>
            <a:r>
              <a:rPr dirty="0" sz="3300">
                <a:solidFill>
                  <a:srgbClr val="081F54"/>
                </a:solidFill>
              </a:rPr>
              <a:t>a</a:t>
            </a:r>
            <a:r>
              <a:rPr dirty="0" sz="3300" spc="-5">
                <a:solidFill>
                  <a:srgbClr val="081F54"/>
                </a:solidFill>
              </a:rPr>
              <a:t> </a:t>
            </a:r>
            <a:r>
              <a:rPr dirty="0" sz="3300" spc="-10">
                <a:solidFill>
                  <a:srgbClr val="051F5D"/>
                </a:solidFill>
              </a:rPr>
              <a:t>delay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38094" y="1614734"/>
            <a:ext cx="7971790" cy="30384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46710" marR="5080" indent="-334645">
              <a:lnSpc>
                <a:spcPts val="3590"/>
              </a:lnSpc>
              <a:spcBef>
                <a:spcPts val="305"/>
              </a:spcBef>
              <a:buChar char="•"/>
              <a:tabLst>
                <a:tab pos="346710" algn="l"/>
                <a:tab pos="363855" algn="l"/>
              </a:tabLst>
            </a:pPr>
            <a:r>
              <a:rPr dirty="0" sz="3050">
                <a:latin typeface="Arial"/>
                <a:cs typeface="Arial"/>
              </a:rPr>
              <a:t>	All</a:t>
            </a:r>
            <a:r>
              <a:rPr dirty="0" sz="3050" spc="-18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tasks</a:t>
            </a:r>
            <a:r>
              <a:rPr dirty="0" sz="3050" spc="-13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in</a:t>
            </a:r>
            <a:r>
              <a:rPr dirty="0" sz="3050" spc="-21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previous</a:t>
            </a:r>
            <a:r>
              <a:rPr dirty="0" sz="3050" spc="-50">
                <a:latin typeface="Arial"/>
                <a:cs typeface="Arial"/>
              </a:rPr>
              <a:t> </a:t>
            </a:r>
            <a:r>
              <a:rPr dirty="0" sz="3050" spc="-40">
                <a:latin typeface="Arial"/>
                <a:cs typeface="Arial"/>
              </a:rPr>
              <a:t>examples</a:t>
            </a:r>
            <a:r>
              <a:rPr dirty="0" sz="3050" spc="-2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have</a:t>
            </a:r>
            <a:r>
              <a:rPr dirty="0" sz="3050" spc="-175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been </a:t>
            </a:r>
            <a:r>
              <a:rPr dirty="0" sz="3050" spc="-10">
                <a:latin typeface="Arial"/>
                <a:cs typeface="Arial"/>
              </a:rPr>
              <a:t>periodic</a:t>
            </a:r>
            <a:endParaRPr sz="3050">
              <a:latin typeface="Arial"/>
              <a:cs typeface="Arial"/>
            </a:endParaRPr>
          </a:p>
          <a:p>
            <a:pPr lvl="1" marL="747395" marR="367665" indent="-355600">
              <a:lnSpc>
                <a:spcPts val="3130"/>
              </a:lnSpc>
              <a:spcBef>
                <a:spcPts val="605"/>
              </a:spcBef>
              <a:buChar char="—"/>
              <a:tabLst>
                <a:tab pos="750570" algn="l"/>
              </a:tabLst>
            </a:pPr>
            <a:r>
              <a:rPr dirty="0" sz="2700" spc="-20">
                <a:latin typeface="Arial"/>
                <a:cs typeface="Arial"/>
              </a:rPr>
              <a:t>They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have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delayed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for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period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and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printed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out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 spc="-20">
                <a:latin typeface="Arial"/>
                <a:cs typeface="Arial"/>
              </a:rPr>
              <a:t>their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string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before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delay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once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more,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and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so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on.</a:t>
            </a:r>
            <a:endParaRPr sz="2700">
              <a:latin typeface="Arial"/>
              <a:cs typeface="Arial"/>
            </a:endParaRPr>
          </a:p>
          <a:p>
            <a:pPr lvl="1" marL="756285" indent="-349250">
              <a:lnSpc>
                <a:spcPct val="100000"/>
              </a:lnSpc>
              <a:spcBef>
                <a:spcPts val="450"/>
              </a:spcBef>
              <a:buChar char="—"/>
              <a:tabLst>
                <a:tab pos="756285" algn="l"/>
              </a:tabLst>
            </a:pPr>
            <a:r>
              <a:rPr dirty="0" sz="2650" spc="-25">
                <a:latin typeface="Arial"/>
                <a:cs typeface="Arial"/>
              </a:rPr>
              <a:t>Delayed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generated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using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null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loop</a:t>
            </a:r>
            <a:endParaRPr sz="2650">
              <a:latin typeface="Arial"/>
              <a:cs typeface="Arial"/>
            </a:endParaRPr>
          </a:p>
          <a:p>
            <a:pPr lvl="2" marL="1152525" indent="-233045">
              <a:lnSpc>
                <a:spcPts val="2675"/>
              </a:lnSpc>
              <a:spcBef>
                <a:spcPts val="439"/>
              </a:spcBef>
              <a:buChar char="•"/>
              <a:tabLst>
                <a:tab pos="1152525" algn="l"/>
              </a:tabLst>
            </a:pPr>
            <a:r>
              <a:rPr dirty="0" sz="2300" spc="-20">
                <a:latin typeface="Arial"/>
                <a:cs typeface="Arial"/>
              </a:rPr>
              <a:t>the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effectively</a:t>
            </a:r>
            <a:r>
              <a:rPr dirty="0" sz="2300" spc="1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polled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an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incrementing</a:t>
            </a:r>
            <a:r>
              <a:rPr dirty="0" sz="2300" spc="5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loop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counter</a:t>
            </a:r>
            <a:endParaRPr sz="2300">
              <a:latin typeface="Arial"/>
              <a:cs typeface="Arial"/>
            </a:endParaRPr>
          </a:p>
          <a:p>
            <a:pPr marL="1148080">
              <a:lnSpc>
                <a:spcPts val="2735"/>
              </a:lnSpc>
            </a:pPr>
            <a:r>
              <a:rPr dirty="0" sz="2350" spc="-60">
                <a:latin typeface="Arial"/>
                <a:cs typeface="Arial"/>
              </a:rPr>
              <a:t>until</a:t>
            </a:r>
            <a:r>
              <a:rPr dirty="0" sz="2350" spc="-10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it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90">
                <a:latin typeface="Arial"/>
                <a:cs typeface="Arial"/>
              </a:rPr>
              <a:t>reached</a:t>
            </a:r>
            <a:r>
              <a:rPr dirty="0" sz="2350" spc="-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</a:t>
            </a:r>
            <a:r>
              <a:rPr dirty="0" sz="2350" spc="-140">
                <a:latin typeface="Arial"/>
                <a:cs typeface="Arial"/>
              </a:rPr>
              <a:t> </a:t>
            </a:r>
            <a:r>
              <a:rPr dirty="0" sz="2350" spc="-65">
                <a:latin typeface="Arial"/>
                <a:cs typeface="Arial"/>
              </a:rPr>
              <a:t>fixed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value.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460"/>
              </a:lnSpc>
            </a:pPr>
            <a:fld id="{81D60167-4931-47E6-BA6A-407CBD079E47}" type="slidenum">
              <a:rPr dirty="0" sz="1300" spc="-25">
                <a:solidFill>
                  <a:srgbClr val="1A1A1A"/>
                </a:solidFill>
                <a:latin typeface="Courier New"/>
                <a:cs typeface="Courier New"/>
              </a:rPr>
              <a:t>40</a:t>
            </a:fld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473042"/>
            <a:ext cx="7931150" cy="53943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75"/>
              </a:spcBef>
              <a:buChar char="•"/>
              <a:tabLst>
                <a:tab pos="352425" algn="l"/>
              </a:tabLst>
            </a:pPr>
            <a:r>
              <a:rPr dirty="0" sz="2950">
                <a:latin typeface="Arial"/>
                <a:cs typeface="Arial"/>
              </a:rPr>
              <a:t>Disadvantages</a:t>
            </a:r>
            <a:r>
              <a:rPr dirty="0" sz="2950" spc="19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to</a:t>
            </a:r>
            <a:r>
              <a:rPr dirty="0" sz="2950" spc="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any</a:t>
            </a:r>
            <a:r>
              <a:rPr dirty="0" sz="2950" spc="1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form</a:t>
            </a:r>
            <a:r>
              <a:rPr dirty="0" sz="2950" spc="1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8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polling</a:t>
            </a:r>
            <a:endParaRPr sz="2950">
              <a:latin typeface="Arial"/>
              <a:cs typeface="Arial"/>
            </a:endParaRPr>
          </a:p>
          <a:p>
            <a:pPr lvl="1" marL="742315" marR="5080" indent="-331470">
              <a:lnSpc>
                <a:spcPct val="98800"/>
              </a:lnSpc>
              <a:spcBef>
                <a:spcPts val="665"/>
              </a:spcBef>
              <a:buChar char="—"/>
              <a:tabLst>
                <a:tab pos="742315" algn="l"/>
                <a:tab pos="760095" algn="l"/>
              </a:tabLst>
            </a:pPr>
            <a:r>
              <a:rPr dirty="0" sz="2650" spc="-20">
                <a:latin typeface="Arial"/>
                <a:cs typeface="Arial"/>
              </a:rPr>
              <a:t>	</a:t>
            </a:r>
            <a:r>
              <a:rPr dirty="0" sz="2650" spc="-20">
                <a:latin typeface="Arial"/>
                <a:cs typeface="Arial"/>
              </a:rPr>
              <a:t>While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executing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null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loop,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remains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in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Ready</a:t>
            </a:r>
            <a:r>
              <a:rPr dirty="0" sz="2600" spc="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state, </a:t>
            </a:r>
            <a:r>
              <a:rPr dirty="0" sz="2600" spc="-10">
                <a:latin typeface="Arial"/>
                <a:cs typeface="Arial"/>
              </a:rPr>
              <a:t>‘starving’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other</a:t>
            </a:r>
            <a:r>
              <a:rPr dirty="0" sz="2600" spc="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task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of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any </a:t>
            </a:r>
            <a:r>
              <a:rPr dirty="0" sz="2650" spc="-20">
                <a:latin typeface="Arial"/>
                <a:cs typeface="Arial"/>
              </a:rPr>
              <a:t>processing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time.</a:t>
            </a:r>
            <a:endParaRPr sz="2650">
              <a:latin typeface="Arial"/>
              <a:cs typeface="Arial"/>
            </a:endParaRPr>
          </a:p>
          <a:p>
            <a:pPr algn="just" lvl="1" marL="750570" marR="148590" indent="-344170">
              <a:lnSpc>
                <a:spcPct val="98600"/>
              </a:lnSpc>
              <a:spcBef>
                <a:spcPts val="630"/>
              </a:spcBef>
              <a:buChar char="—"/>
              <a:tabLst>
                <a:tab pos="750570" algn="l"/>
                <a:tab pos="755650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20">
                <a:latin typeface="Arial"/>
                <a:cs typeface="Arial"/>
              </a:rPr>
              <a:t>During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polling,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does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really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have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40">
                <a:latin typeface="Arial"/>
                <a:cs typeface="Arial"/>
              </a:rPr>
              <a:t>any </a:t>
            </a:r>
            <a:r>
              <a:rPr dirty="0" sz="2650" spc="-10">
                <a:latin typeface="Arial"/>
                <a:cs typeface="Arial"/>
              </a:rPr>
              <a:t>work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do,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but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it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still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uses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maximum</a:t>
            </a:r>
            <a:r>
              <a:rPr dirty="0" sz="2650" spc="3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processing </a:t>
            </a:r>
            <a:r>
              <a:rPr dirty="0" sz="2600">
                <a:latin typeface="Arial"/>
                <a:cs typeface="Arial"/>
              </a:rPr>
              <a:t>time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and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so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wastes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processor</a:t>
            </a:r>
            <a:r>
              <a:rPr dirty="0" sz="2600" spc="4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cycles.</a:t>
            </a:r>
            <a:endParaRPr sz="2600">
              <a:latin typeface="Arial"/>
              <a:cs typeface="Arial"/>
            </a:endParaRPr>
          </a:p>
          <a:p>
            <a:pPr algn="just" marL="355600" indent="-342900">
              <a:lnSpc>
                <a:spcPct val="100000"/>
              </a:lnSpc>
              <a:spcBef>
                <a:spcPts val="730"/>
              </a:spcBef>
              <a:buChar char="•"/>
              <a:tabLst>
                <a:tab pos="355600" algn="l"/>
              </a:tabLst>
            </a:pPr>
            <a:r>
              <a:rPr dirty="0" sz="3000">
                <a:latin typeface="Arial"/>
                <a:cs typeface="Arial"/>
              </a:rPr>
              <a:t>This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example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corrects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this</a:t>
            </a:r>
            <a:r>
              <a:rPr dirty="0" sz="3000" spc="-10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behavior </a:t>
            </a:r>
            <a:r>
              <a:rPr dirty="0" sz="3000" spc="-25">
                <a:latin typeface="Arial"/>
                <a:cs typeface="Arial"/>
              </a:rPr>
              <a:t>by</a:t>
            </a:r>
            <a:endParaRPr sz="3000">
              <a:latin typeface="Arial"/>
              <a:cs typeface="Arial"/>
            </a:endParaRPr>
          </a:p>
          <a:p>
            <a:pPr lvl="1" marL="751840" marR="999490" indent="-349885">
              <a:lnSpc>
                <a:spcPts val="3160"/>
              </a:lnSpc>
              <a:spcBef>
                <a:spcPts val="670"/>
              </a:spcBef>
              <a:buChar char="—"/>
              <a:tabLst>
                <a:tab pos="751840" algn="l"/>
              </a:tabLst>
            </a:pPr>
            <a:r>
              <a:rPr dirty="0" sz="2650" spc="-25">
                <a:latin typeface="Arial"/>
                <a:cs typeface="Arial"/>
              </a:rPr>
              <a:t>replacing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polling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null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loop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with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call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to </a:t>
            </a:r>
            <a:r>
              <a:rPr dirty="0" sz="2650" spc="-60">
                <a:latin typeface="Arial"/>
                <a:cs typeface="Arial"/>
              </a:rPr>
              <a:t>vTaskDelay()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API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function.</a:t>
            </a:r>
            <a:endParaRPr sz="2650">
              <a:latin typeface="Arial"/>
              <a:cs typeface="Arial"/>
            </a:endParaRPr>
          </a:p>
          <a:p>
            <a:pPr lvl="1" marL="753745" marR="1790700" indent="-349250">
              <a:lnSpc>
                <a:spcPts val="3090"/>
              </a:lnSpc>
              <a:spcBef>
                <a:spcPts val="630"/>
              </a:spcBef>
              <a:buChar char="—"/>
              <a:tabLst>
                <a:tab pos="755015" algn="l"/>
              </a:tabLst>
            </a:pPr>
            <a:r>
              <a:rPr dirty="0" sz="2650" spc="-10">
                <a:latin typeface="Arial"/>
                <a:cs typeface="Arial"/>
              </a:rPr>
              <a:t>setting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INCLUDE</a:t>
            </a:r>
            <a:r>
              <a:rPr dirty="0" sz="2650" spc="54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vTaskDelay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1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in </a:t>
            </a:r>
            <a:r>
              <a:rPr dirty="0" sz="2650" spc="-25"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FreeRTOSConfig.h</a:t>
            </a:r>
            <a:endParaRPr sz="2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460"/>
              </a:lnSpc>
            </a:pPr>
            <a:fld id="{81D60167-4931-47E6-BA6A-407CBD079E47}" type="slidenum">
              <a:rPr dirty="0" sz="1300" spc="-25">
                <a:solidFill>
                  <a:srgbClr val="1A1A1A"/>
                </a:solidFill>
                <a:latin typeface="Courier New"/>
                <a:cs typeface="Courier New"/>
              </a:rPr>
              <a:t>40</a:t>
            </a:fld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 spc="-20">
                <a:solidFill>
                  <a:srgbClr val="05235E"/>
                </a:solidFill>
              </a:rPr>
              <a:t>vTaskDelay()</a:t>
            </a:r>
            <a:r>
              <a:rPr dirty="0" spc="30">
                <a:solidFill>
                  <a:srgbClr val="05235E"/>
                </a:solidFill>
              </a:rPr>
              <a:t> </a:t>
            </a:r>
            <a:r>
              <a:rPr dirty="0">
                <a:solidFill>
                  <a:srgbClr val="01245B"/>
                </a:solidFill>
              </a:rPr>
              <a:t>API</a:t>
            </a:r>
            <a:r>
              <a:rPr dirty="0" spc="-260">
                <a:solidFill>
                  <a:srgbClr val="01245B"/>
                </a:solidFill>
              </a:rPr>
              <a:t> </a:t>
            </a:r>
            <a:r>
              <a:rPr dirty="0" spc="80">
                <a:solidFill>
                  <a:srgbClr val="052164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22" y="1620935"/>
            <a:ext cx="8157845" cy="4629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50520" marR="480695" indent="-338455">
              <a:lnSpc>
                <a:spcPts val="3590"/>
              </a:lnSpc>
              <a:spcBef>
                <a:spcPts val="254"/>
              </a:spcBef>
              <a:buChar char="•"/>
              <a:tabLst>
                <a:tab pos="350520" algn="l"/>
                <a:tab pos="360680" algn="l"/>
              </a:tabLst>
            </a:pPr>
            <a:r>
              <a:rPr dirty="0" sz="3000">
                <a:latin typeface="Arial"/>
                <a:cs typeface="Arial"/>
              </a:rPr>
              <a:t>	Place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calling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into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Blocked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state </a:t>
            </a:r>
            <a:r>
              <a:rPr dirty="0" sz="3000">
                <a:latin typeface="Arial"/>
                <a:cs typeface="Arial"/>
              </a:rPr>
              <a:t>for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fixed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number</a:t>
            </a:r>
            <a:r>
              <a:rPr dirty="0" sz="3000" spc="1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of</a:t>
            </a:r>
            <a:r>
              <a:rPr dirty="0" sz="3000" spc="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tick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interrupts.</a:t>
            </a:r>
            <a:endParaRPr sz="3000">
              <a:latin typeface="Arial"/>
              <a:cs typeface="Arial"/>
            </a:endParaRPr>
          </a:p>
          <a:p>
            <a:pPr marL="742315" marR="222250" indent="-281305">
              <a:lnSpc>
                <a:spcPct val="96600"/>
              </a:lnSpc>
              <a:spcBef>
                <a:spcPts val="520"/>
              </a:spcBef>
            </a:pPr>
            <a:r>
              <a:rPr dirty="0" sz="2700" spc="-1300">
                <a:latin typeface="Arial"/>
                <a:cs typeface="Arial"/>
              </a:rPr>
              <a:t>—</a:t>
            </a:r>
            <a:r>
              <a:rPr dirty="0" sz="2700" spc="8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The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Blocked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state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task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does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not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use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any </a:t>
            </a:r>
            <a:r>
              <a:rPr dirty="0" sz="2700" spc="-45">
                <a:latin typeface="Arial"/>
                <a:cs typeface="Arial"/>
              </a:rPr>
              <a:t>processing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time,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85">
                <a:latin typeface="Arial"/>
                <a:cs typeface="Arial"/>
              </a:rPr>
              <a:t>so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processing</a:t>
            </a:r>
            <a:r>
              <a:rPr dirty="0" sz="2700" spc="-25">
                <a:latin typeface="Arial"/>
                <a:cs typeface="Arial"/>
              </a:rPr>
              <a:t> time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60">
                <a:latin typeface="Arial"/>
                <a:cs typeface="Arial"/>
              </a:rPr>
              <a:t>consumed </a:t>
            </a:r>
            <a:r>
              <a:rPr dirty="0" sz="2700" spc="-10">
                <a:latin typeface="Arial"/>
                <a:cs typeface="Arial"/>
              </a:rPr>
              <a:t>only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when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there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work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done.</a:t>
            </a:r>
            <a:endParaRPr sz="270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585"/>
              </a:spcBef>
            </a:pPr>
            <a:r>
              <a:rPr dirty="0" sz="2600">
                <a:latin typeface="Arial"/>
                <a:cs typeface="Arial"/>
              </a:rPr>
              <a:t>void</a:t>
            </a:r>
            <a:r>
              <a:rPr dirty="0" sz="2600" spc="30">
                <a:latin typeface="Arial"/>
                <a:cs typeface="Arial"/>
              </a:rPr>
              <a:t> </a:t>
            </a:r>
            <a:r>
              <a:rPr dirty="0" sz="2600" spc="-30">
                <a:latin typeface="Arial"/>
                <a:cs typeface="Arial"/>
              </a:rPr>
              <a:t>vTaskDeIay(portTickType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xTicksToDelay);</a:t>
            </a:r>
            <a:endParaRPr sz="2600">
              <a:latin typeface="Arial"/>
              <a:cs typeface="Arial"/>
            </a:endParaRPr>
          </a:p>
          <a:p>
            <a:pPr marL="64135" marR="5080" indent="11430">
              <a:lnSpc>
                <a:spcPts val="2390"/>
              </a:lnSpc>
              <a:spcBef>
                <a:spcPts val="2875"/>
              </a:spcBef>
            </a:pPr>
            <a:r>
              <a:rPr dirty="0" sz="2100" spc="-80">
                <a:latin typeface="Arial"/>
                <a:cs typeface="Arial"/>
              </a:rPr>
              <a:t>xTicksToDelay: </a:t>
            </a:r>
            <a:r>
              <a:rPr dirty="0" sz="2100" spc="-20">
                <a:latin typeface="Arial"/>
                <a:cs typeface="Arial"/>
              </a:rPr>
              <a:t>the</a:t>
            </a:r>
            <a:r>
              <a:rPr dirty="0" sz="2100" spc="-13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number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of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ticks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 spc="-30">
                <a:latin typeface="Arial"/>
                <a:cs typeface="Arial"/>
              </a:rPr>
              <a:t>that</a:t>
            </a:r>
            <a:r>
              <a:rPr dirty="0" sz="2100" spc="-114">
                <a:latin typeface="Arial"/>
                <a:cs typeface="Arial"/>
              </a:rPr>
              <a:t> </a:t>
            </a:r>
            <a:r>
              <a:rPr dirty="0" sz="2100" spc="-30">
                <a:latin typeface="Arial"/>
                <a:cs typeface="Arial"/>
              </a:rPr>
              <a:t>the</a:t>
            </a:r>
            <a:r>
              <a:rPr dirty="0" sz="2100" spc="-114">
                <a:latin typeface="Arial"/>
                <a:cs typeface="Arial"/>
              </a:rPr>
              <a:t> </a:t>
            </a:r>
            <a:r>
              <a:rPr dirty="0" sz="2100" spc="-35">
                <a:latin typeface="Arial"/>
                <a:cs typeface="Arial"/>
              </a:rPr>
              <a:t>calling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task</a:t>
            </a:r>
            <a:r>
              <a:rPr dirty="0" sz="2100" spc="-7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should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remain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in </a:t>
            </a:r>
            <a:r>
              <a:rPr dirty="0" sz="2100" spc="-30">
                <a:latin typeface="Arial"/>
                <a:cs typeface="Arial"/>
              </a:rPr>
              <a:t>the</a:t>
            </a:r>
            <a:r>
              <a:rPr dirty="0" sz="2100" spc="-12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Blocked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state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 spc="-55">
                <a:latin typeface="Arial"/>
                <a:cs typeface="Arial"/>
              </a:rPr>
              <a:t>before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being</a:t>
            </a:r>
            <a:r>
              <a:rPr dirty="0" sz="2100" spc="-12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transitioned</a:t>
            </a:r>
            <a:r>
              <a:rPr dirty="0" sz="2100" spc="-80">
                <a:latin typeface="Arial"/>
                <a:cs typeface="Arial"/>
              </a:rPr>
              <a:t> </a:t>
            </a:r>
            <a:r>
              <a:rPr dirty="0" sz="2100" spc="-40">
                <a:latin typeface="Arial"/>
                <a:cs typeface="Arial"/>
              </a:rPr>
              <a:t>back</a:t>
            </a:r>
            <a:r>
              <a:rPr dirty="0" sz="2100" spc="-70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into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the</a:t>
            </a:r>
            <a:r>
              <a:rPr dirty="0" sz="2100" spc="-80">
                <a:latin typeface="Arial"/>
                <a:cs typeface="Arial"/>
              </a:rPr>
              <a:t> </a:t>
            </a:r>
            <a:r>
              <a:rPr dirty="0" sz="2100" spc="-55">
                <a:latin typeface="Arial"/>
                <a:cs typeface="Arial"/>
              </a:rPr>
              <a:t>Ready</a:t>
            </a:r>
            <a:r>
              <a:rPr dirty="0" sz="2100" spc="-3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state.</a:t>
            </a:r>
            <a:endParaRPr sz="2100">
              <a:latin typeface="Arial"/>
              <a:cs typeface="Arial"/>
            </a:endParaRPr>
          </a:p>
          <a:p>
            <a:pPr marL="66675" marR="153670" indent="-1270">
              <a:lnSpc>
                <a:spcPct val="94600"/>
              </a:lnSpc>
              <a:spcBef>
                <a:spcPts val="490"/>
              </a:spcBef>
            </a:pPr>
            <a:r>
              <a:rPr dirty="0" sz="2050" spc="-10">
                <a:latin typeface="Arial"/>
                <a:cs typeface="Arial"/>
              </a:rPr>
              <a:t>E.g,</a:t>
            </a:r>
            <a:r>
              <a:rPr dirty="0" sz="205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if</a:t>
            </a:r>
            <a:r>
              <a:rPr dirty="0" sz="2050" spc="-140">
                <a:latin typeface="Arial"/>
                <a:cs typeface="Arial"/>
              </a:rPr>
              <a:t> </a:t>
            </a:r>
            <a:r>
              <a:rPr dirty="0" sz="2050" spc="65">
                <a:latin typeface="Arial"/>
                <a:cs typeface="Arial"/>
              </a:rPr>
              <a:t>a</a:t>
            </a:r>
            <a:r>
              <a:rPr dirty="0" sz="2050" spc="-14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task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called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vTaskDeIay(100)</a:t>
            </a:r>
            <a:r>
              <a:rPr dirty="0" sz="2050" spc="-9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while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the</a:t>
            </a:r>
            <a:r>
              <a:rPr dirty="0" sz="2050" spc="-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tick</a:t>
            </a:r>
            <a:r>
              <a:rPr dirty="0" sz="2050" spc="-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count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was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10,000,</a:t>
            </a:r>
            <a:r>
              <a:rPr dirty="0" sz="2050" spc="-25">
                <a:latin typeface="Arial"/>
                <a:cs typeface="Arial"/>
              </a:rPr>
              <a:t> it </a:t>
            </a:r>
            <a:r>
              <a:rPr dirty="0" sz="2150" spc="-80">
                <a:latin typeface="Arial"/>
                <a:cs typeface="Arial"/>
              </a:rPr>
              <a:t>enters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the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90">
                <a:latin typeface="Arial"/>
                <a:cs typeface="Arial"/>
              </a:rPr>
              <a:t>Blocked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state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immediately</a:t>
            </a:r>
            <a:r>
              <a:rPr dirty="0" sz="2150" spc="95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and</a:t>
            </a:r>
            <a:r>
              <a:rPr dirty="0" sz="2150" spc="-45">
                <a:latin typeface="Arial"/>
                <a:cs typeface="Arial"/>
              </a:rPr>
              <a:t> </a:t>
            </a:r>
            <a:r>
              <a:rPr dirty="0" sz="2150" spc="-95">
                <a:latin typeface="Arial"/>
                <a:cs typeface="Arial"/>
              </a:rPr>
              <a:t>remains</a:t>
            </a:r>
            <a:r>
              <a:rPr dirty="0" sz="2150" spc="-1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there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60">
                <a:latin typeface="Arial"/>
                <a:cs typeface="Arial"/>
              </a:rPr>
              <a:t>until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the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tick </a:t>
            </a:r>
            <a:r>
              <a:rPr dirty="0" sz="2100" spc="-40">
                <a:latin typeface="Arial"/>
                <a:cs typeface="Arial"/>
              </a:rPr>
              <a:t>count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is</a:t>
            </a:r>
            <a:r>
              <a:rPr dirty="0" sz="2100" spc="-13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10,100.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200" spc="-25">
                <a:solidFill>
                  <a:srgbClr val="151515"/>
                </a:solidFill>
                <a:latin typeface="Arial"/>
                <a:cs typeface="Arial"/>
              </a:rPr>
              <a:t>43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1562611"/>
            <a:ext cx="7684770" cy="398780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5"/>
              </a:spcBef>
              <a:buChar char="•"/>
              <a:tabLst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void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30">
                <a:latin typeface="Arial"/>
                <a:cs typeface="Arial"/>
              </a:rPr>
              <a:t>vTaskFunction(yoid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*pvParameters)</a:t>
            </a:r>
            <a:endParaRPr sz="3000">
              <a:latin typeface="Arial"/>
              <a:cs typeface="Arial"/>
            </a:endParaRPr>
          </a:p>
          <a:p>
            <a:pPr marL="408940">
              <a:lnSpc>
                <a:spcPct val="100000"/>
              </a:lnSpc>
              <a:spcBef>
                <a:spcPts val="434"/>
              </a:spcBef>
            </a:pPr>
            <a:r>
              <a:rPr dirty="0" sz="2550" spc="-90">
                <a:latin typeface="Arial"/>
                <a:cs typeface="Arial"/>
              </a:rPr>
              <a:t>Change</a:t>
            </a:r>
            <a:r>
              <a:rPr dirty="0" sz="2550" spc="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a</a:t>
            </a:r>
            <a:r>
              <a:rPr dirty="0" sz="2550" spc="-165">
                <a:latin typeface="Arial"/>
                <a:cs typeface="Arial"/>
              </a:rPr>
              <a:t> </a:t>
            </a:r>
            <a:r>
              <a:rPr dirty="0" sz="2550" spc="-135">
                <a:latin typeface="Arial"/>
                <a:cs typeface="Arial"/>
              </a:rPr>
              <a:t>NULL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loop</a:t>
            </a:r>
            <a:endParaRPr sz="2550">
              <a:latin typeface="Arial"/>
              <a:cs typeface="Arial"/>
            </a:endParaRPr>
          </a:p>
          <a:p>
            <a:pPr marL="414020">
              <a:lnSpc>
                <a:spcPct val="100000"/>
              </a:lnSpc>
              <a:spcBef>
                <a:spcPts val="434"/>
              </a:spcBef>
              <a:tabLst>
                <a:tab pos="1537335" algn="l"/>
              </a:tabLst>
            </a:pPr>
            <a:r>
              <a:rPr dirty="0" sz="2500" spc="-35">
                <a:latin typeface="Arial"/>
                <a:cs typeface="Arial"/>
              </a:rPr>
              <a:t>for(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ul</a:t>
            </a:r>
            <a:r>
              <a:rPr dirty="0" sz="2500">
                <a:latin typeface="Arial"/>
                <a:cs typeface="Arial"/>
              </a:rPr>
              <a:t>	</a:t>
            </a:r>
            <a:r>
              <a:rPr dirty="0" sz="2500" spc="-10">
                <a:latin typeface="Arial"/>
                <a:cs typeface="Arial"/>
              </a:rPr>
              <a:t>0;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ul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&lt;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70">
                <a:latin typeface="Arial"/>
                <a:cs typeface="Arial"/>
              </a:rPr>
              <a:t>mainDELAY</a:t>
            </a:r>
            <a:r>
              <a:rPr dirty="0" sz="2500" spc="540">
                <a:latin typeface="Arial"/>
                <a:cs typeface="Arial"/>
              </a:rPr>
              <a:t> </a:t>
            </a:r>
            <a:r>
              <a:rPr dirty="0" sz="2500" spc="-70">
                <a:latin typeface="Arial"/>
                <a:cs typeface="Arial"/>
              </a:rPr>
              <a:t>LOOP_COUNT;</a:t>
            </a:r>
            <a:r>
              <a:rPr dirty="0" sz="2500" spc="100">
                <a:latin typeface="Arial"/>
                <a:cs typeface="Arial"/>
              </a:rPr>
              <a:t> </a:t>
            </a:r>
            <a:r>
              <a:rPr dirty="0" sz="2500" spc="-105">
                <a:latin typeface="Arial"/>
                <a:cs typeface="Arial"/>
              </a:rPr>
              <a:t>uI++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)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{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  <a:p>
            <a:pPr marL="408940">
              <a:lnSpc>
                <a:spcPct val="100000"/>
              </a:lnSpc>
              <a:spcBef>
                <a:spcPts val="345"/>
              </a:spcBef>
            </a:pPr>
            <a:r>
              <a:rPr dirty="0" sz="2600" spc="-320">
                <a:latin typeface="Arial"/>
                <a:cs typeface="Arial"/>
              </a:rPr>
              <a:t>To</a:t>
            </a:r>
            <a:endParaRPr sz="2600">
              <a:latin typeface="Arial"/>
              <a:cs typeface="Arial"/>
            </a:endParaRPr>
          </a:p>
          <a:p>
            <a:pPr marL="412750">
              <a:lnSpc>
                <a:spcPct val="100000"/>
              </a:lnSpc>
              <a:spcBef>
                <a:spcPts val="425"/>
              </a:spcBef>
            </a:pPr>
            <a:r>
              <a:rPr dirty="0" sz="2500" spc="-85">
                <a:latin typeface="Arial"/>
                <a:cs typeface="Arial"/>
              </a:rPr>
              <a:t>vTaskDeIay(250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/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portTlCK</a:t>
            </a:r>
            <a:r>
              <a:rPr dirty="0" sz="2500" spc="35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RATE</a:t>
            </a:r>
            <a:r>
              <a:rPr dirty="0" sz="2500" spc="36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MS);</a:t>
            </a:r>
            <a:endParaRPr sz="2500">
              <a:latin typeface="Arial"/>
              <a:cs typeface="Arial"/>
            </a:endParaRPr>
          </a:p>
          <a:p>
            <a:pPr marL="389255">
              <a:lnSpc>
                <a:spcPct val="100000"/>
              </a:lnSpc>
              <a:spcBef>
                <a:spcPts val="480"/>
              </a:spcBef>
            </a:pPr>
            <a:r>
              <a:rPr dirty="0" sz="2500" i="1">
                <a:latin typeface="Arial"/>
                <a:cs typeface="Arial"/>
              </a:rPr>
              <a:t>II</a:t>
            </a:r>
            <a:r>
              <a:rPr dirty="0" sz="2500" spc="-145" i="1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period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55">
                <a:latin typeface="Arial"/>
                <a:cs typeface="Arial"/>
              </a:rPr>
              <a:t> 250ms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is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being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specified.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500">
              <a:latin typeface="Arial"/>
              <a:cs typeface="Arial"/>
            </a:endParaRPr>
          </a:p>
          <a:p>
            <a:pPr marL="404495" marR="739140" indent="12065">
              <a:lnSpc>
                <a:spcPts val="2880"/>
              </a:lnSpc>
            </a:pPr>
            <a:r>
              <a:rPr dirty="0" sz="2500" spc="-60">
                <a:latin typeface="Arial"/>
                <a:cs typeface="Arial"/>
              </a:rPr>
              <a:t>Although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two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tasks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are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being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created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at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different </a:t>
            </a:r>
            <a:r>
              <a:rPr dirty="0" sz="2500" spc="-40">
                <a:latin typeface="Arial"/>
                <a:cs typeface="Arial"/>
              </a:rPr>
              <a:t>priorities,</a:t>
            </a:r>
            <a:r>
              <a:rPr dirty="0" sz="2500" spc="-8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both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will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now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run.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200" spc="-25">
                <a:solidFill>
                  <a:srgbClr val="151515"/>
                </a:solidFill>
                <a:latin typeface="Arial"/>
                <a:cs typeface="Arial"/>
              </a:rPr>
              <a:t>43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4314526" y="375046"/>
            <a:ext cx="0" cy="881380"/>
          </a:xfrm>
          <a:custGeom>
            <a:avLst/>
            <a:gdLst/>
            <a:ahLst/>
            <a:cxnLst/>
            <a:rect l="l" t="t" r="r" b="b"/>
            <a:pathLst>
              <a:path w="0" h="881380">
                <a:moveTo>
                  <a:pt x="0" y="881062"/>
                </a:moveTo>
                <a:lnTo>
                  <a:pt x="0" y="0"/>
                </a:lnTo>
              </a:path>
            </a:pathLst>
          </a:custGeom>
          <a:ln w="14882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07085" y="382487"/>
            <a:ext cx="3158490" cy="0"/>
          </a:xfrm>
          <a:custGeom>
            <a:avLst/>
            <a:gdLst/>
            <a:ahLst/>
            <a:cxnLst/>
            <a:rect l="l" t="t" r="r" b="b"/>
            <a:pathLst>
              <a:path w="3158490" h="0">
                <a:moveTo>
                  <a:pt x="0" y="0"/>
                </a:moveTo>
                <a:lnTo>
                  <a:pt x="3158134" y="0"/>
                </a:lnTo>
              </a:path>
            </a:pathLst>
          </a:custGeom>
          <a:ln w="14882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98129" y="529827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574476"/>
                </a:moveTo>
                <a:lnTo>
                  <a:pt x="0" y="0"/>
                </a:lnTo>
              </a:path>
            </a:pathLst>
          </a:custGeom>
          <a:ln w="892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93664" y="534292"/>
            <a:ext cx="2456180" cy="0"/>
          </a:xfrm>
          <a:custGeom>
            <a:avLst/>
            <a:gdLst/>
            <a:ahLst/>
            <a:cxnLst/>
            <a:rect l="l" t="t" r="r" b="b"/>
            <a:pathLst>
              <a:path w="2456179" h="0">
                <a:moveTo>
                  <a:pt x="0" y="0"/>
                </a:moveTo>
                <a:lnTo>
                  <a:pt x="2455665" y="0"/>
                </a:lnTo>
              </a:path>
            </a:pathLst>
          </a:custGeom>
          <a:ln w="892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69879" y="690562"/>
            <a:ext cx="0" cy="414020"/>
          </a:xfrm>
          <a:custGeom>
            <a:avLst/>
            <a:gdLst/>
            <a:ahLst/>
            <a:cxnLst/>
            <a:rect l="l" t="t" r="r" b="b"/>
            <a:pathLst>
              <a:path w="0" h="414019">
                <a:moveTo>
                  <a:pt x="0" y="413742"/>
                </a:moveTo>
                <a:lnTo>
                  <a:pt x="0" y="0"/>
                </a:lnTo>
              </a:path>
            </a:pathLst>
          </a:custGeom>
          <a:ln w="892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59913" y="497532"/>
            <a:ext cx="2533015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105">
                <a:latin typeface="Arial"/>
                <a:cs typeface="Arial"/>
              </a:rPr>
              <a:t>2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dirty="0" sz="1200" spc="-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200" spc="-125">
                <a:latin typeface="Arial"/>
                <a:cs typeface="Arial"/>
              </a:rPr>
              <a:t>Task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78787"/>
                </a:solidFill>
                <a:latin typeface="Arial"/>
                <a:cs typeface="Arial"/>
              </a:rPr>
              <a:t>!</a:t>
            </a:r>
            <a:r>
              <a:rPr dirty="0" sz="700" spc="210">
                <a:solidFill>
                  <a:srgbClr val="878787"/>
                </a:solidFill>
                <a:latin typeface="Arial"/>
                <a:cs typeface="Arial"/>
              </a:rPr>
              <a:t>  </a:t>
            </a:r>
            <a:r>
              <a:rPr dirty="0" sz="1200" spc="-105">
                <a:latin typeface="Arial"/>
                <a:cs typeface="Arial"/>
              </a:rPr>
              <a:t>pnnts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100">
                <a:solidFill>
                  <a:srgbClr val="242424"/>
                </a:solidFill>
                <a:latin typeface="Arial"/>
                <a:cs typeface="Arial"/>
              </a:rPr>
              <a:t>oat</a:t>
            </a:r>
            <a:r>
              <a:rPr dirty="0" sz="1200" spc="-2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363636"/>
                </a:solidFill>
                <a:latin typeface="Arial"/>
                <a:cs typeface="Arial"/>
              </a:rPr>
              <a:t>its</a:t>
            </a:r>
            <a:r>
              <a:rPr dirty="0" sz="1200" spc="-3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1F1F1F"/>
                </a:solidFill>
                <a:latin typeface="Arial"/>
                <a:cs typeface="Arial"/>
              </a:rPr>
              <a:t>sung,</a:t>
            </a:r>
            <a:r>
              <a:rPr dirty="0" sz="1200" spc="3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10">
                <a:latin typeface="Arial"/>
                <a:cs typeface="Arial"/>
              </a:rPr>
              <a:t>then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0F0F0F"/>
                </a:solidFill>
                <a:latin typeface="Arial"/>
                <a:cs typeface="Arial"/>
              </a:rPr>
              <a:t>i\</a:t>
            </a:r>
            <a:r>
              <a:rPr dirty="0" sz="1200" spc="-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200" spc="215">
                <a:latin typeface="Arial"/>
                <a:cs typeface="Arial"/>
              </a:rPr>
              <a:t>icat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8571" y="667196"/>
            <a:ext cx="2021839" cy="3987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365"/>
              </a:lnSpc>
              <a:spcBef>
                <a:spcPts val="120"/>
              </a:spcBef>
            </a:pPr>
            <a:r>
              <a:rPr dirty="0" sz="1200" spc="-85">
                <a:latin typeface="Arial"/>
                <a:cs typeface="Arial"/>
              </a:rPr>
              <a:t>enters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545454"/>
                </a:solidFill>
                <a:latin typeface="Arial"/>
                <a:cs typeface="Arial"/>
              </a:rPr>
              <a:t>be</a:t>
            </a:r>
            <a:r>
              <a:rPr dirty="0" sz="1200" spc="13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200" spc="-90">
                <a:latin typeface="Arial"/>
                <a:cs typeface="Arial"/>
              </a:rPr>
              <a:t>Blocked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0">
                <a:latin typeface="Arial"/>
                <a:cs typeface="Arial"/>
              </a:rPr>
              <a:t>state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1D1D1D"/>
                </a:solidFill>
                <a:latin typeface="Arial"/>
                <a:cs typeface="Arial"/>
              </a:rPr>
              <a:t>by</a:t>
            </a:r>
            <a:r>
              <a:rPr dirty="0" sz="1200" spc="3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2A2A2A"/>
                </a:solidFill>
                <a:latin typeface="Arial"/>
                <a:cs typeface="Arial"/>
              </a:rPr>
              <a:t>ca\iing</a:t>
            </a:r>
            <a:endParaRPr sz="1200">
              <a:latin typeface="Arial"/>
              <a:cs typeface="Arial"/>
            </a:endParaRPr>
          </a:p>
          <a:p>
            <a:pPr marL="15875">
              <a:lnSpc>
                <a:spcPts val="1545"/>
              </a:lnSpc>
            </a:pPr>
            <a:r>
              <a:rPr dirty="0" sz="1350" spc="-75">
                <a:latin typeface="Arial"/>
                <a:cs typeface="Arial"/>
              </a:rPr>
              <a:t>vTssrDelay/).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73864" y="544710"/>
            <a:ext cx="0" cy="711835"/>
          </a:xfrm>
          <a:custGeom>
            <a:avLst/>
            <a:gdLst/>
            <a:ahLst/>
            <a:cxnLst/>
            <a:rect l="l" t="t" r="r" b="b"/>
            <a:pathLst>
              <a:path w="0" h="711835">
                <a:moveTo>
                  <a:pt x="0" y="711398"/>
                </a:moveTo>
                <a:lnTo>
                  <a:pt x="0" y="0"/>
                </a:lnTo>
              </a:path>
            </a:pathLst>
          </a:custGeom>
          <a:ln w="14882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6992" y="392906"/>
            <a:ext cx="223242" cy="82153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369246" y="321666"/>
            <a:ext cx="3153410" cy="8890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9525">
              <a:lnSpc>
                <a:spcPct val="91800"/>
              </a:lnSpc>
              <a:spcBef>
                <a:spcPts val="240"/>
              </a:spcBef>
              <a:tabLst>
                <a:tab pos="601345" algn="l"/>
              </a:tabLst>
            </a:pPr>
            <a:r>
              <a:rPr dirty="0" sz="1250" spc="-100">
                <a:solidFill>
                  <a:srgbClr val="181818"/>
                </a:solidFill>
                <a:latin typeface="Arial"/>
                <a:cs typeface="Arial"/>
              </a:rPr>
              <a:t>4</a:t>
            </a:r>
            <a:r>
              <a:rPr dirty="0" sz="125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250" spc="-90">
                <a:solidFill>
                  <a:srgbClr val="343434"/>
                </a:solidFill>
                <a:latin typeface="Arial"/>
                <a:cs typeface="Arial"/>
              </a:rPr>
              <a:t>-</a:t>
            </a:r>
            <a:r>
              <a:rPr dirty="0" sz="1250" spc="-9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62626"/>
                </a:solidFill>
                <a:latin typeface="Arial"/>
                <a:cs typeface="Arial"/>
              </a:rPr>
              <a:t>Men</a:t>
            </a:r>
            <a:r>
              <a:rPr dirty="0" sz="1250">
                <a:solidFill>
                  <a:srgbClr val="262626"/>
                </a:solidFill>
                <a:latin typeface="Arial"/>
                <a:cs typeface="Arial"/>
              </a:rPr>
              <a:t>	</a:t>
            </a:r>
            <a:r>
              <a:rPr dirty="0" sz="1250" spc="-120">
                <a:solidFill>
                  <a:srgbClr val="4B4B4B"/>
                </a:solidFill>
                <a:latin typeface="Arial"/>
                <a:cs typeface="Arial"/>
              </a:rPr>
              <a:t>the</a:t>
            </a:r>
            <a:r>
              <a:rPr dirty="0" sz="12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250" spc="-180">
                <a:solidFill>
                  <a:srgbClr val="1D1D1D"/>
                </a:solidFill>
                <a:latin typeface="Arial"/>
                <a:cs typeface="Arial"/>
              </a:rPr>
              <a:t>4e•ay</a:t>
            </a:r>
            <a:r>
              <a:rPr dirty="0" sz="1250" spc="5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250" spc="-105">
                <a:solidFill>
                  <a:srgbClr val="212121"/>
                </a:solidFill>
                <a:latin typeface="Arial"/>
                <a:cs typeface="Arial"/>
              </a:rPr>
              <a:t>expires</a:t>
            </a:r>
            <a:r>
              <a:rPr dirty="0" sz="1250" spc="-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50" spc="-12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2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250" spc="-100">
                <a:solidFill>
                  <a:srgbClr val="1D1D1D"/>
                </a:solidFill>
                <a:latin typeface="Arial"/>
                <a:cs typeface="Arial"/>
              </a:rPr>
              <a:t>schedu6r</a:t>
            </a:r>
            <a:r>
              <a:rPr dirty="0" sz="1250" spc="-2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250" spc="-150">
                <a:solidFill>
                  <a:srgbClr val="2F2F2F"/>
                </a:solidFill>
                <a:latin typeface="Arial"/>
                <a:cs typeface="Arial"/>
              </a:rPr>
              <a:t>moves</a:t>
            </a:r>
            <a:r>
              <a:rPr dirty="0" sz="1250" spc="5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06060"/>
                </a:solidFill>
                <a:latin typeface="Arial"/>
                <a:cs typeface="Arial"/>
              </a:rPr>
              <a:t>th </a:t>
            </a:r>
            <a:r>
              <a:rPr dirty="0" sz="1200" spc="-80">
                <a:latin typeface="Arial"/>
                <a:cs typeface="Arial"/>
              </a:rPr>
              <a:t>tasks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90">
                <a:solidFill>
                  <a:srgbClr val="1A1A1A"/>
                </a:solidFill>
                <a:latin typeface="Arial"/>
                <a:cs typeface="Arial"/>
              </a:rPr>
              <a:t>back</a:t>
            </a:r>
            <a:r>
              <a:rPr dirty="0" sz="12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343434"/>
                </a:solidFill>
                <a:latin typeface="Arial"/>
                <a:cs typeface="Arial"/>
              </a:rPr>
              <a:t>into</a:t>
            </a:r>
            <a:r>
              <a:rPr dirty="0" sz="12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200" spc="-85">
                <a:latin typeface="Arial"/>
                <a:cs typeface="Arial"/>
              </a:rPr>
              <a:t>the</a:t>
            </a:r>
            <a:r>
              <a:rPr dirty="0" sz="1200" spc="-80"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Arial"/>
                <a:cs typeface="Arial"/>
              </a:rPr>
              <a:t>reaoy</a:t>
            </a:r>
            <a:r>
              <a:rPr dirty="0" sz="1200" spc="10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00" spc="-95">
                <a:latin typeface="Arial"/>
                <a:cs typeface="Arial"/>
              </a:rPr>
              <a:t>state.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20">
                <a:solidFill>
                  <a:srgbClr val="2B2B2B"/>
                </a:solidFill>
                <a:latin typeface="Arial"/>
                <a:cs typeface="Arial"/>
              </a:rPr>
              <a:t>where</a:t>
            </a:r>
            <a:r>
              <a:rPr dirty="0" sz="1200" spc="2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200" spc="-100">
                <a:latin typeface="Arial"/>
                <a:cs typeface="Arial"/>
              </a:rPr>
              <a:t>both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81818"/>
                </a:solidFill>
                <a:latin typeface="Arial"/>
                <a:cs typeface="Arial"/>
              </a:rPr>
              <a:t>exwuie </a:t>
            </a:r>
            <a:r>
              <a:rPr dirty="0" sz="1200" spc="-90">
                <a:solidFill>
                  <a:srgbClr val="212121"/>
                </a:solidFill>
                <a:latin typeface="Arial"/>
                <a:cs typeface="Arial"/>
              </a:rPr>
              <a:t>again</a:t>
            </a:r>
            <a:r>
              <a:rPr dirty="0" sz="120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00" spc="-190">
                <a:latin typeface="Arial"/>
                <a:cs typeface="Arial"/>
              </a:rPr>
              <a:t>beware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F2F2F"/>
                </a:solidFill>
                <a:latin typeface="Arial"/>
                <a:cs typeface="Arial"/>
              </a:rPr>
              <a:t>orce</a:t>
            </a:r>
            <a:r>
              <a:rPr dirty="0" sz="1200" spc="-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0E0E0E"/>
                </a:solidFill>
                <a:latin typeface="Arial"/>
                <a:cs typeface="Arial"/>
              </a:rPr>
              <a:t>again</a:t>
            </a:r>
            <a:r>
              <a:rPr dirty="0" sz="1200" spc="-2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200" spc="-75">
                <a:latin typeface="Arial"/>
                <a:cs typeface="Arial"/>
              </a:rPr>
              <a:t>calling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80">
                <a:latin typeface="Arial"/>
                <a:cs typeface="Arial"/>
              </a:rPr>
              <a:t>vTask0elay()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161616"/>
                </a:solidFill>
                <a:latin typeface="Arial"/>
                <a:cs typeface="Arial"/>
              </a:rPr>
              <a:t>causing </a:t>
            </a:r>
            <a:r>
              <a:rPr dirty="0" sz="1350" spc="-25">
                <a:latin typeface="Arial"/>
                <a:cs typeface="Arial"/>
              </a:rPr>
              <a:t>new</a:t>
            </a:r>
            <a:r>
              <a:rPr dirty="0" sz="1350" spc="-5">
                <a:latin typeface="Arial"/>
                <a:cs typeface="Arial"/>
              </a:rPr>
              <a:t> </a:t>
            </a:r>
            <a:r>
              <a:rPr dirty="0" sz="1350" spc="-50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1350" spc="-5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fe+nor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ze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Blowed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site</a:t>
            </a:r>
            <a:r>
              <a:rPr dirty="0" sz="1350" spc="484">
                <a:latin typeface="Arial"/>
                <a:cs typeface="Arial"/>
              </a:rPr>
              <a:t> </a:t>
            </a:r>
            <a:r>
              <a:rPr dirty="0" sz="1350" spc="-204">
                <a:latin typeface="Arial"/>
                <a:cs typeface="Arial"/>
              </a:rPr>
              <a:t>Task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62626"/>
                </a:solidFill>
                <a:latin typeface="Arial"/>
                <a:cs typeface="Arial"/>
              </a:rPr>
              <a:t>I</a:t>
            </a:r>
            <a:r>
              <a:rPr dirty="0" sz="1350" spc="20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50" spc="-40">
                <a:latin typeface="Arial"/>
                <a:cs typeface="Arial"/>
              </a:rPr>
              <a:t>execues</a:t>
            </a:r>
            <a:endParaRPr sz="135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60"/>
              </a:spcBef>
              <a:tabLst>
                <a:tab pos="1709420" algn="l"/>
              </a:tabLst>
            </a:pPr>
            <a:r>
              <a:rPr dirty="0" sz="900">
                <a:latin typeface="Arial"/>
                <a:cs typeface="Arial"/>
              </a:rPr>
              <a:t>Grst</a:t>
            </a:r>
            <a:r>
              <a:rPr dirty="0" sz="900" spc="1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ao </a:t>
            </a:r>
            <a:r>
              <a:rPr dirty="0" sz="900" spc="50">
                <a:solidFill>
                  <a:srgbClr val="7C7C7C"/>
                </a:solidFill>
                <a:latin typeface="Arial"/>
                <a:cs typeface="Arial"/>
              </a:rPr>
              <a:t>1</a:t>
            </a:r>
            <a:r>
              <a:rPr dirty="0" sz="900" spc="9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900" spc="55">
                <a:solidFill>
                  <a:srgbClr val="2B2B2B"/>
                </a:solidFill>
                <a:latin typeface="Arial"/>
                <a:cs typeface="Arial"/>
              </a:rPr>
              <a:t>has</a:t>
            </a:r>
            <a:r>
              <a:rPr dirty="0" sz="900" spc="8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3D3D3D"/>
                </a:solidFill>
                <a:latin typeface="Arial"/>
                <a:cs typeface="Arial"/>
              </a:rPr>
              <a:t>higher</a:t>
            </a:r>
            <a:r>
              <a:rPr dirty="0" sz="900" spc="195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"/>
                <a:cs typeface="Arial"/>
              </a:rPr>
              <a:t>pn</a:t>
            </a:r>
            <a:r>
              <a:rPr dirty="0" sz="900">
                <a:solidFill>
                  <a:srgbClr val="212121"/>
                </a:solidFill>
                <a:latin typeface="Arial"/>
                <a:cs typeface="Arial"/>
              </a:rPr>
              <a:t>	ty</a:t>
            </a:r>
            <a:r>
              <a:rPr dirty="0" sz="900" spc="-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7B7B7B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93664" y="1099839"/>
            <a:ext cx="2581275" cy="0"/>
          </a:xfrm>
          <a:custGeom>
            <a:avLst/>
            <a:gdLst/>
            <a:ahLst/>
            <a:cxnLst/>
            <a:rect l="l" t="t" r="r" b="b"/>
            <a:pathLst>
              <a:path w="2581275" h="0">
                <a:moveTo>
                  <a:pt x="0" y="0"/>
                </a:moveTo>
                <a:lnTo>
                  <a:pt x="2580680" y="0"/>
                </a:lnTo>
              </a:path>
            </a:pathLst>
          </a:custGeom>
          <a:ln w="892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07085" y="1248668"/>
            <a:ext cx="3274695" cy="0"/>
          </a:xfrm>
          <a:custGeom>
            <a:avLst/>
            <a:gdLst/>
            <a:ahLst/>
            <a:cxnLst/>
            <a:rect l="l" t="t" r="r" b="b"/>
            <a:pathLst>
              <a:path w="3274695" h="0">
                <a:moveTo>
                  <a:pt x="0" y="0"/>
                </a:moveTo>
                <a:lnTo>
                  <a:pt x="3274220" y="0"/>
                </a:lnTo>
              </a:path>
            </a:pathLst>
          </a:custGeom>
          <a:ln w="14882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39168" y="3396258"/>
            <a:ext cx="0" cy="696595"/>
          </a:xfrm>
          <a:custGeom>
            <a:avLst/>
            <a:gdLst/>
            <a:ahLst/>
            <a:cxnLst/>
            <a:rect l="l" t="t" r="r" b="b"/>
            <a:pathLst>
              <a:path w="0" h="696595">
                <a:moveTo>
                  <a:pt x="0" y="696515"/>
                </a:moveTo>
                <a:lnTo>
                  <a:pt x="0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5906" y="1348383"/>
            <a:ext cx="6179343" cy="271462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726680" y="1258291"/>
            <a:ext cx="707390" cy="135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28238A"/>
                </a:solidFill>
                <a:latin typeface="Calibri"/>
                <a:cs typeface="Calibri"/>
              </a:rPr>
              <a:t>Task</a:t>
            </a:r>
            <a:r>
              <a:rPr dirty="0" sz="2050" spc="320">
                <a:solidFill>
                  <a:srgbClr val="28238A"/>
                </a:solidFill>
                <a:latin typeface="Calibri"/>
                <a:cs typeface="Calibri"/>
              </a:rPr>
              <a:t> </a:t>
            </a:r>
            <a:r>
              <a:rPr dirty="0" sz="2050" spc="-434">
                <a:solidFill>
                  <a:srgbClr val="1801CF"/>
                </a:solidFill>
                <a:latin typeface="Calibri"/>
                <a:cs typeface="Calibri"/>
              </a:rPr>
              <a:t>1</a:t>
            </a:r>
            <a:endParaRPr sz="2050">
              <a:latin typeface="Calibri"/>
              <a:cs typeface="Calibri"/>
            </a:endParaRPr>
          </a:p>
          <a:p>
            <a:pPr marL="54610" marR="5080" indent="-42545">
              <a:lnSpc>
                <a:spcPct val="162900"/>
              </a:lnSpc>
            </a:pPr>
            <a:r>
              <a:rPr dirty="0" sz="2050">
                <a:solidFill>
                  <a:srgbClr val="569077"/>
                </a:solidFill>
                <a:latin typeface="Calibri"/>
                <a:cs typeface="Calibri"/>
              </a:rPr>
              <a:t>Task</a:t>
            </a:r>
            <a:r>
              <a:rPr dirty="0" sz="2050" spc="170">
                <a:solidFill>
                  <a:srgbClr val="569077"/>
                </a:solidFill>
                <a:latin typeface="Calibri"/>
                <a:cs typeface="Calibri"/>
              </a:rPr>
              <a:t> </a:t>
            </a:r>
            <a:r>
              <a:rPr dirty="0" sz="2050" spc="-70">
                <a:solidFill>
                  <a:srgbClr val="429A72"/>
                </a:solidFill>
                <a:latin typeface="Calibri"/>
                <a:cs typeface="Calibri"/>
              </a:rPr>
              <a:t>2 </a:t>
            </a:r>
            <a:r>
              <a:rPr dirty="0" sz="2050" spc="-20">
                <a:latin typeface="Calibri"/>
                <a:cs typeface="Calibri"/>
              </a:rPr>
              <a:t>Idle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3401" y="2794942"/>
            <a:ext cx="541655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-40">
                <a:latin typeface="Arial"/>
                <a:cs typeface="Arial"/>
              </a:rPr>
              <a:t>Time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4703" y="3400723"/>
            <a:ext cx="3179445" cy="0"/>
          </a:xfrm>
          <a:custGeom>
            <a:avLst/>
            <a:gdLst/>
            <a:ahLst/>
            <a:cxnLst/>
            <a:rect l="l" t="t" r="r" b="b"/>
            <a:pathLst>
              <a:path w="3179445" h="0">
                <a:moveTo>
                  <a:pt x="0" y="0"/>
                </a:moveTo>
                <a:lnTo>
                  <a:pt x="3178970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6125" y="3420070"/>
            <a:ext cx="160734" cy="1250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16362" y="3512343"/>
            <a:ext cx="0" cy="581025"/>
          </a:xfrm>
          <a:custGeom>
            <a:avLst/>
            <a:gdLst/>
            <a:ahLst/>
            <a:cxnLst/>
            <a:rect l="l" t="t" r="r" b="b"/>
            <a:pathLst>
              <a:path w="0" h="581025">
                <a:moveTo>
                  <a:pt x="0" y="580429"/>
                </a:moveTo>
                <a:lnTo>
                  <a:pt x="0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59237" y="3485554"/>
            <a:ext cx="0" cy="571500"/>
          </a:xfrm>
          <a:custGeom>
            <a:avLst/>
            <a:gdLst/>
            <a:ahLst/>
            <a:cxnLst/>
            <a:rect l="l" t="t" r="r" b="b"/>
            <a:pathLst>
              <a:path w="0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54773" y="3490019"/>
            <a:ext cx="2733040" cy="0"/>
          </a:xfrm>
          <a:custGeom>
            <a:avLst/>
            <a:gdLst/>
            <a:ahLst/>
            <a:cxnLst/>
            <a:rect l="l" t="t" r="r" b="b"/>
            <a:pathLst>
              <a:path w="2733040" h="0">
                <a:moveTo>
                  <a:pt x="0" y="0"/>
                </a:moveTo>
                <a:lnTo>
                  <a:pt x="2732485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500435" y="3526432"/>
            <a:ext cx="3148330" cy="53467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 indent="3810">
              <a:lnSpc>
                <a:spcPct val="94300"/>
              </a:lnSpc>
              <a:spcBef>
                <a:spcPts val="200"/>
              </a:spcBef>
              <a:tabLst>
                <a:tab pos="438150" algn="l"/>
              </a:tabLst>
            </a:pPr>
            <a:r>
              <a:rPr dirty="0" sz="1150" spc="-10">
                <a:solidFill>
                  <a:srgbClr val="1C1C1C"/>
                </a:solidFill>
                <a:latin typeface="Arial"/>
                <a:cs typeface="Arial"/>
              </a:rPr>
              <a:t>parts</a:t>
            </a:r>
            <a:r>
              <a:rPr dirty="0" sz="1150" spc="-7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50" spc="-70">
                <a:solidFill>
                  <a:srgbClr val="2A2A2A"/>
                </a:solidFill>
                <a:latin typeface="Arial"/>
                <a:cs typeface="Arial"/>
              </a:rPr>
              <a:t>out</a:t>
            </a:r>
            <a:r>
              <a:rPr dirty="0" sz="115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150" spc="-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stnng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170">
                <a:latin typeface="Arial"/>
                <a:cs typeface="Arial"/>
              </a:rPr>
              <a:t>them</a:t>
            </a:r>
            <a:r>
              <a:rPr dirty="0" sz="1150" spc="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calls</a:t>
            </a:r>
            <a:r>
              <a:rPr dirty="0" sz="1150" spc="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vTaskDelayt)</a:t>
            </a:r>
            <a:r>
              <a:rPr dirty="0" sz="1150" spc="85"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dirty="0" sz="1150" spc="-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150" spc="-85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dirty="0" sz="1150" spc="-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150" spc="-40">
                <a:solidFill>
                  <a:srgbClr val="3D3D3D"/>
                </a:solidFill>
                <a:latin typeface="Arial"/>
                <a:cs typeface="Arial"/>
              </a:rPr>
              <a:t>in</a:t>
            </a:r>
            <a:r>
              <a:rPr dirty="0" sz="1150" spc="-55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4F4F4F"/>
                </a:solidFill>
                <a:latin typeface="Arial"/>
                <a:cs typeface="Arial"/>
              </a:rPr>
              <a:t>so </a:t>
            </a:r>
            <a:r>
              <a:rPr dirty="0" sz="1150" spc="-85">
                <a:solidFill>
                  <a:srgbClr val="2F2F2F"/>
                </a:solidFill>
                <a:latin typeface="Arial"/>
                <a:cs typeface="Arial"/>
              </a:rPr>
              <a:t>doing</a:t>
            </a:r>
            <a:r>
              <a:rPr dirty="0" sz="1150" spc="-2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ente's</a:t>
            </a:r>
            <a:r>
              <a:rPr dirty="0" sz="1150" spc="-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90">
                <a:solidFill>
                  <a:srgbClr val="4B4B4B"/>
                </a:solidFill>
                <a:latin typeface="Arial"/>
                <a:cs typeface="Arial"/>
              </a:rPr>
              <a:t>the</a:t>
            </a:r>
            <a:r>
              <a:rPr dirty="0" sz="1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150" spc="-75">
                <a:solidFill>
                  <a:srgbClr val="151515"/>
                </a:solidFill>
                <a:latin typeface="Arial"/>
                <a:cs typeface="Arial"/>
              </a:rPr>
              <a:t>Blocked</a:t>
            </a:r>
            <a:r>
              <a:rPr dirty="0" sz="1150" spc="4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state</a:t>
            </a:r>
            <a:r>
              <a:rPr dirty="0" sz="1150" spc="2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70">
                <a:solidFill>
                  <a:srgbClr val="131313"/>
                </a:solidFill>
                <a:latin typeface="Arial"/>
                <a:cs typeface="Arial"/>
              </a:rPr>
              <a:t>oermittfng</a:t>
            </a:r>
            <a:r>
              <a:rPr dirty="0" sz="1150" spc="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150" spc="-85">
                <a:solidFill>
                  <a:srgbClr val="3B3B3B"/>
                </a:solidFill>
                <a:latin typeface="Arial"/>
                <a:cs typeface="Arial"/>
              </a:rPr>
              <a:t>the</a:t>
            </a:r>
            <a:r>
              <a:rPr dirty="0" sz="1150" spc="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D1D1D"/>
                </a:solidFill>
                <a:latin typeface="Arial"/>
                <a:cs typeface="Arial"/>
              </a:rPr>
              <a:t>lever </a:t>
            </a:r>
            <a:r>
              <a:rPr dirty="0" sz="1150" spc="-20">
                <a:solidFill>
                  <a:srgbClr val="424242"/>
                </a:solidFill>
                <a:latin typeface="Arial"/>
                <a:cs typeface="Arial"/>
              </a:rPr>
              <a:t>pnon</a:t>
            </a:r>
            <a:r>
              <a:rPr dirty="0" sz="1150">
                <a:solidFill>
                  <a:srgbClr val="424242"/>
                </a:solidFill>
                <a:latin typeface="Arial"/>
                <a:cs typeface="Arial"/>
              </a:rPr>
              <a:t>	</a:t>
            </a:r>
            <a:r>
              <a:rPr dirty="0" sz="1150" spc="-60">
                <a:latin typeface="Arial"/>
                <a:cs typeface="Arial"/>
              </a:rPr>
              <a:t>Task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215">
                <a:solidFill>
                  <a:srgbClr val="4D4D4D"/>
                </a:solidFill>
                <a:latin typeface="Arial"/>
                <a:cs typeface="Arial"/>
              </a:rPr>
              <a:t>1</a:t>
            </a:r>
            <a:r>
              <a:rPr dirty="0" sz="1150" spc="6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3B3B3B"/>
                </a:solidFill>
                <a:latin typeface="Arial"/>
                <a:cs typeface="Arial"/>
              </a:rPr>
              <a:t>to</a:t>
            </a:r>
            <a:r>
              <a:rPr dirty="0" sz="1150" spc="-3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execite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0369" y="3526432"/>
            <a:ext cx="2562225" cy="378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375"/>
              </a:lnSpc>
              <a:spcBef>
                <a:spcPts val="120"/>
              </a:spcBef>
            </a:pPr>
            <a:r>
              <a:rPr dirty="0" sz="1150">
                <a:solidFill>
                  <a:srgbClr val="797979"/>
                </a:solidFill>
                <a:latin typeface="Arial"/>
                <a:cs typeface="Arial"/>
              </a:rPr>
              <a:t>z</a:t>
            </a:r>
            <a:r>
              <a:rPr dirty="0" sz="1150" spc="-85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-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At</a:t>
            </a:r>
            <a:r>
              <a:rPr dirty="0" sz="1150" spc="-25"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1C1C1C"/>
                </a:solidFill>
                <a:latin typeface="Arial"/>
                <a:cs typeface="Arial"/>
              </a:rPr>
              <a:t>this</a:t>
            </a:r>
            <a:r>
              <a:rPr dirty="0" sz="1150" spc="-5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111111"/>
                </a:solidFill>
                <a:latin typeface="Arial"/>
                <a:cs typeface="Arial"/>
              </a:rPr>
              <a:t>po'nt</a:t>
            </a:r>
            <a:r>
              <a:rPr dirty="0" sz="1150" spc="-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2B2B2B"/>
                </a:solidFill>
                <a:latin typeface="Arial"/>
                <a:cs typeface="Arial"/>
              </a:rPr>
              <a:t>both</a:t>
            </a:r>
            <a:r>
              <a:rPr dirty="0" sz="1150" spc="2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1D1D1D"/>
                </a:solidFill>
                <a:latin typeface="Arial"/>
                <a:cs typeface="Arial"/>
              </a:rPr>
              <a:t>applicator</a:t>
            </a:r>
            <a:r>
              <a:rPr dirty="0" sz="1150" spc="7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1C1C1C"/>
                </a:solidFill>
                <a:latin typeface="Arial"/>
                <a:cs typeface="Arial"/>
              </a:rPr>
              <a:t>!asks</a:t>
            </a:r>
            <a:r>
              <a:rPr dirty="0" sz="1150" spc="-2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1C1C1C"/>
                </a:solidFill>
                <a:latin typeface="Arial"/>
                <a:cs typeface="Arial"/>
              </a:rPr>
              <a:t>are</a:t>
            </a:r>
            <a:r>
              <a:rPr dirty="0" sz="1150" spc="-5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2A2A2A"/>
                </a:solidFill>
                <a:latin typeface="Arial"/>
                <a:cs typeface="Arial"/>
              </a:rPr>
              <a:t>in</a:t>
            </a:r>
            <a:endParaRPr sz="1150">
              <a:latin typeface="Arial"/>
              <a:cs typeface="Arial"/>
            </a:endParaRPr>
          </a:p>
          <a:p>
            <a:pPr marL="76835">
              <a:lnSpc>
                <a:spcPts val="1375"/>
              </a:lnSpc>
            </a:pPr>
            <a:r>
              <a:rPr dirty="0" sz="1150">
                <a:solidFill>
                  <a:srgbClr val="575757"/>
                </a:solidFill>
                <a:latin typeface="Arial"/>
                <a:cs typeface="Arial"/>
              </a:rPr>
              <a:t>«</a:t>
            </a:r>
            <a:r>
              <a:rPr dirty="0" sz="1150" spc="12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Bluuked</a:t>
            </a:r>
            <a:r>
              <a:rPr dirty="0" sz="1150" spc="3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sMe</a:t>
            </a:r>
            <a:r>
              <a:rPr dirty="0" sz="1150" spc="30"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D3D3D"/>
                </a:solidFill>
                <a:latin typeface="Arial"/>
                <a:cs typeface="Arial"/>
              </a:rPr>
              <a:t>-</a:t>
            </a:r>
            <a:r>
              <a:rPr dirty="0" sz="1150" spc="-5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su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35">
                <a:solidFill>
                  <a:srgbClr val="1D1D1D"/>
                </a:solidFill>
                <a:latin typeface="Arial"/>
                <a:cs typeface="Arial"/>
              </a:rPr>
              <a:t>lhe</a:t>
            </a:r>
            <a:r>
              <a:rPr dirty="0" sz="1150" spc="-4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150" spc="-90">
                <a:solidFill>
                  <a:srgbClr val="1A1A1A"/>
                </a:solidFill>
                <a:latin typeface="Arial"/>
                <a:cs typeface="Arial"/>
              </a:rPr>
              <a:t>IN.s</a:t>
            </a:r>
            <a:r>
              <a:rPr dirty="0" sz="115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ask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2F2F2F"/>
                </a:solidFill>
                <a:latin typeface="Arial"/>
                <a:cs typeface="Arial"/>
              </a:rPr>
              <a:t>u‹is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98878" y="3637358"/>
            <a:ext cx="0" cy="419734"/>
          </a:xfrm>
          <a:custGeom>
            <a:avLst/>
            <a:gdLst/>
            <a:ahLst/>
            <a:cxnLst/>
            <a:rect l="l" t="t" r="r" b="b"/>
            <a:pathLst>
              <a:path w="0" h="419735">
                <a:moveTo>
                  <a:pt x="0" y="419695"/>
                </a:moveTo>
                <a:lnTo>
                  <a:pt x="0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54773" y="4052589"/>
            <a:ext cx="2848610" cy="0"/>
          </a:xfrm>
          <a:custGeom>
            <a:avLst/>
            <a:gdLst/>
            <a:ahLst/>
            <a:cxnLst/>
            <a:rect l="l" t="t" r="r" b="b"/>
            <a:pathLst>
              <a:path w="2848609" h="0">
                <a:moveTo>
                  <a:pt x="0" y="0"/>
                </a:moveTo>
                <a:lnTo>
                  <a:pt x="2848571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34703" y="4088308"/>
            <a:ext cx="3286125" cy="0"/>
          </a:xfrm>
          <a:custGeom>
            <a:avLst/>
            <a:gdLst/>
            <a:ahLst/>
            <a:cxnLst/>
            <a:rect l="l" t="t" r="r" b="b"/>
            <a:pathLst>
              <a:path w="3286125" h="0">
                <a:moveTo>
                  <a:pt x="0" y="0"/>
                </a:moveTo>
                <a:lnTo>
                  <a:pt x="3286126" y="0"/>
                </a:lnTo>
              </a:path>
            </a:pathLst>
          </a:custGeom>
          <a:ln w="892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z="1200" spc="-25">
                <a:solidFill>
                  <a:srgbClr val="151515"/>
                </a:solidFill>
                <a:latin typeface="Arial"/>
                <a:cs typeface="Arial"/>
              </a:rPr>
              <a:t>43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122" y="4282479"/>
            <a:ext cx="7982584" cy="227901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56870" marR="516890" indent="-344805">
              <a:lnSpc>
                <a:spcPct val="78600"/>
              </a:lnSpc>
              <a:spcBef>
                <a:spcPts val="805"/>
              </a:spcBef>
              <a:buChar char="•"/>
              <a:tabLst>
                <a:tab pos="356870" algn="l"/>
                <a:tab pos="360680" algn="l"/>
              </a:tabLst>
            </a:pPr>
            <a:r>
              <a:rPr dirty="0" sz="2600">
                <a:latin typeface="Arial"/>
                <a:cs typeface="Arial"/>
              </a:rPr>
              <a:t>	Each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time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tasks leave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Blocked</a:t>
            </a:r>
            <a:r>
              <a:rPr dirty="0" sz="2600" spc="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state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they </a:t>
            </a:r>
            <a:r>
              <a:rPr dirty="0" sz="2650" spc="-10">
                <a:latin typeface="Arial"/>
                <a:cs typeface="Arial"/>
              </a:rPr>
              <a:t>execute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for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fraction</a:t>
            </a:r>
            <a:r>
              <a:rPr dirty="0" sz="2650" spc="-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tick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period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before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re-</a:t>
            </a:r>
            <a:r>
              <a:rPr dirty="0" sz="2650" spc="-20">
                <a:latin typeface="Arial"/>
                <a:cs typeface="Arial"/>
              </a:rPr>
              <a:t>entering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Blocked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state.</a:t>
            </a:r>
            <a:endParaRPr sz="2650">
              <a:latin typeface="Arial"/>
              <a:cs typeface="Arial"/>
            </a:endParaRPr>
          </a:p>
          <a:p>
            <a:pPr marL="755650" marR="5080" indent="-288290">
              <a:lnSpc>
                <a:spcPct val="87100"/>
              </a:lnSpc>
              <a:spcBef>
                <a:spcPts val="309"/>
              </a:spcBef>
            </a:pPr>
            <a:r>
              <a:rPr dirty="0" sz="2250" spc="-1060">
                <a:latin typeface="Arial"/>
                <a:cs typeface="Arial"/>
              </a:rPr>
              <a:t>—</a:t>
            </a:r>
            <a:r>
              <a:rPr dirty="0" sz="2250" spc="4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Most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time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no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application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tasks</a:t>
            </a:r>
            <a:r>
              <a:rPr dirty="0" sz="2250" spc="-8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are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able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to</a:t>
            </a:r>
            <a:r>
              <a:rPr dirty="0" sz="2250" spc="-114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run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and, </a:t>
            </a:r>
            <a:r>
              <a:rPr dirty="0" sz="2250">
                <a:latin typeface="Arial"/>
                <a:cs typeface="Arial"/>
              </a:rPr>
              <a:t>so,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no</a:t>
            </a:r>
            <a:r>
              <a:rPr dirty="0" sz="2250" spc="-9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tasks</a:t>
            </a:r>
            <a:r>
              <a:rPr dirty="0" sz="2250" spc="-114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can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selected</a:t>
            </a:r>
            <a:r>
              <a:rPr dirty="0" sz="2250" spc="-9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to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enter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8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Running </a:t>
            </a:r>
            <a:r>
              <a:rPr dirty="0" sz="2250" spc="-10">
                <a:latin typeface="Arial"/>
                <a:cs typeface="Arial"/>
              </a:rPr>
              <a:t>state. </a:t>
            </a:r>
            <a:r>
              <a:rPr dirty="0" sz="2300" spc="-30">
                <a:latin typeface="Arial"/>
                <a:cs typeface="Arial"/>
              </a:rPr>
              <a:t>The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idle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will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run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ensure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there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always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at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least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one</a:t>
            </a:r>
            <a:endParaRPr sz="2300">
              <a:latin typeface="Arial"/>
              <a:cs typeface="Arial"/>
            </a:endParaRPr>
          </a:p>
          <a:p>
            <a:pPr marL="757555">
              <a:lnSpc>
                <a:spcPts val="2165"/>
              </a:lnSpc>
            </a:pPr>
            <a:r>
              <a:rPr dirty="0" sz="2400" spc="-100">
                <a:latin typeface="Arial"/>
                <a:cs typeface="Arial"/>
              </a:rPr>
              <a:t>task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that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is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able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to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run.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" rIns="0" bIns="0" rtlCol="0" vert="horz">
            <a:spAutoFit/>
          </a:bodyPr>
          <a:lstStyle/>
          <a:p>
            <a:pPr marL="11430" marR="5080" indent="5715">
              <a:lnSpc>
                <a:spcPts val="3870"/>
              </a:lnSpc>
              <a:spcBef>
                <a:spcPts val="310"/>
              </a:spcBef>
            </a:pPr>
            <a:r>
              <a:rPr dirty="0" sz="3300" spc="110">
                <a:solidFill>
                  <a:srgbClr val="032359"/>
                </a:solidFill>
              </a:rPr>
              <a:t>Bold</a:t>
            </a:r>
            <a:r>
              <a:rPr dirty="0" sz="3300" spc="10">
                <a:solidFill>
                  <a:srgbClr val="032359"/>
                </a:solidFill>
              </a:rPr>
              <a:t> </a:t>
            </a:r>
            <a:r>
              <a:rPr dirty="0" sz="3300" spc="65">
                <a:solidFill>
                  <a:srgbClr val="0F2A72"/>
                </a:solidFill>
              </a:rPr>
              <a:t>lines</a:t>
            </a:r>
            <a:r>
              <a:rPr dirty="0" sz="3300" spc="135">
                <a:solidFill>
                  <a:srgbClr val="0F2A72"/>
                </a:solidFill>
              </a:rPr>
              <a:t> </a:t>
            </a:r>
            <a:r>
              <a:rPr dirty="0" sz="3300" spc="65">
                <a:solidFill>
                  <a:srgbClr val="031A56"/>
                </a:solidFill>
              </a:rPr>
              <a:t>indicate</a:t>
            </a:r>
            <a:r>
              <a:rPr dirty="0" sz="3300" spc="105">
                <a:solidFill>
                  <a:srgbClr val="031A56"/>
                </a:solidFill>
              </a:rPr>
              <a:t> </a:t>
            </a:r>
            <a:r>
              <a:rPr dirty="0" sz="3300">
                <a:solidFill>
                  <a:srgbClr val="011A5B"/>
                </a:solidFill>
              </a:rPr>
              <a:t>the</a:t>
            </a:r>
            <a:r>
              <a:rPr dirty="0" sz="3300" spc="45">
                <a:solidFill>
                  <a:srgbClr val="011A5B"/>
                </a:solidFill>
              </a:rPr>
              <a:t> </a:t>
            </a:r>
            <a:r>
              <a:rPr dirty="0" sz="3300">
                <a:solidFill>
                  <a:srgbClr val="052460"/>
                </a:solidFill>
              </a:rPr>
              <a:t>state</a:t>
            </a:r>
            <a:r>
              <a:rPr dirty="0" sz="3300" spc="85">
                <a:solidFill>
                  <a:srgbClr val="052460"/>
                </a:solidFill>
              </a:rPr>
              <a:t> </a:t>
            </a:r>
            <a:r>
              <a:rPr dirty="0" sz="3300" spc="85">
                <a:solidFill>
                  <a:srgbClr val="001D54"/>
                </a:solidFill>
              </a:rPr>
              <a:t>transitions </a:t>
            </a:r>
            <a:r>
              <a:rPr dirty="0" sz="3300">
                <a:solidFill>
                  <a:srgbClr val="07216B"/>
                </a:solidFill>
              </a:rPr>
              <a:t>performed</a:t>
            </a:r>
            <a:r>
              <a:rPr dirty="0" sz="3300" spc="335">
                <a:solidFill>
                  <a:srgbClr val="07216B"/>
                </a:solidFill>
              </a:rPr>
              <a:t> </a:t>
            </a:r>
            <a:r>
              <a:rPr dirty="0" sz="3300" spc="65">
                <a:solidFill>
                  <a:srgbClr val="03245B"/>
                </a:solidFill>
              </a:rPr>
              <a:t>by</a:t>
            </a:r>
            <a:r>
              <a:rPr dirty="0" sz="3300" spc="105">
                <a:solidFill>
                  <a:srgbClr val="03245B"/>
                </a:solidFill>
              </a:rPr>
              <a:t> </a:t>
            </a:r>
            <a:r>
              <a:rPr dirty="0" sz="3300">
                <a:solidFill>
                  <a:srgbClr val="001656"/>
                </a:solidFill>
              </a:rPr>
              <a:t>the</a:t>
            </a:r>
            <a:r>
              <a:rPr dirty="0" sz="3300" spc="110">
                <a:solidFill>
                  <a:srgbClr val="001656"/>
                </a:solidFill>
              </a:rPr>
              <a:t> </a:t>
            </a:r>
            <a:r>
              <a:rPr dirty="0" sz="3300" spc="60">
                <a:solidFill>
                  <a:srgbClr val="03215B"/>
                </a:solidFill>
              </a:rPr>
              <a:t>tasks</a:t>
            </a:r>
            <a:r>
              <a:rPr dirty="0" sz="3300" spc="150">
                <a:solidFill>
                  <a:srgbClr val="03215B"/>
                </a:solidFill>
              </a:rPr>
              <a:t> </a:t>
            </a:r>
            <a:r>
              <a:rPr dirty="0" sz="3300" spc="125">
                <a:solidFill>
                  <a:srgbClr val="051C52"/>
                </a:solidFill>
              </a:rPr>
              <a:t>in</a:t>
            </a:r>
            <a:r>
              <a:rPr dirty="0" sz="3300" spc="70">
                <a:solidFill>
                  <a:srgbClr val="051C52"/>
                </a:solidFill>
              </a:rPr>
              <a:t> </a:t>
            </a:r>
            <a:r>
              <a:rPr dirty="0" sz="3300">
                <a:solidFill>
                  <a:srgbClr val="03246B"/>
                </a:solidFill>
              </a:rPr>
              <a:t>Example</a:t>
            </a:r>
            <a:r>
              <a:rPr dirty="0" sz="3300" spc="265">
                <a:solidFill>
                  <a:srgbClr val="03246B"/>
                </a:solidFill>
              </a:rPr>
              <a:t> </a:t>
            </a:r>
            <a:r>
              <a:rPr dirty="0" sz="3300" spc="-50">
                <a:solidFill>
                  <a:srgbClr val="0A1D57"/>
                </a:solidFill>
              </a:rPr>
              <a:t>4</a:t>
            </a:r>
            <a:endParaRPr sz="33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953" y="1384101"/>
            <a:ext cx="3652241" cy="50363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0226" y="1375171"/>
            <a:ext cx="4116585" cy="519707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5235E"/>
                </a:solidFill>
              </a:rPr>
              <a:t>vTaskDelayUntil()</a:t>
            </a:r>
            <a:r>
              <a:rPr dirty="0" spc="-35">
                <a:solidFill>
                  <a:srgbClr val="05235E"/>
                </a:solidFill>
              </a:rPr>
              <a:t> </a:t>
            </a:r>
            <a:r>
              <a:rPr dirty="0">
                <a:solidFill>
                  <a:srgbClr val="07216B"/>
                </a:solidFill>
              </a:rPr>
              <a:t>API</a:t>
            </a:r>
            <a:r>
              <a:rPr dirty="0" spc="-75">
                <a:solidFill>
                  <a:srgbClr val="07216B"/>
                </a:solidFill>
              </a:rPr>
              <a:t> </a:t>
            </a:r>
            <a:r>
              <a:rPr dirty="0" spc="55">
                <a:solidFill>
                  <a:srgbClr val="032160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094" y="1546366"/>
            <a:ext cx="7849870" cy="453580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310"/>
              </a:spcBef>
              <a:buChar char="•"/>
              <a:tabLst>
                <a:tab pos="360045" algn="l"/>
              </a:tabLst>
            </a:pPr>
            <a:r>
              <a:rPr dirty="0" sz="3050" spc="-45">
                <a:latin typeface="Arial"/>
                <a:cs typeface="Arial"/>
              </a:rPr>
              <a:t>Parameters</a:t>
            </a:r>
            <a:r>
              <a:rPr dirty="0" sz="3050" spc="6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to</a:t>
            </a:r>
            <a:r>
              <a:rPr dirty="0" sz="3050" spc="-17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vTaskDelayUntil()</a:t>
            </a:r>
            <a:endParaRPr sz="3050">
              <a:latin typeface="Arial"/>
              <a:cs typeface="Arial"/>
            </a:endParaRPr>
          </a:p>
          <a:p>
            <a:pPr lvl="1" marL="751205" marR="288290" indent="-353695">
              <a:lnSpc>
                <a:spcPct val="86300"/>
              </a:lnSpc>
              <a:spcBef>
                <a:spcPts val="650"/>
              </a:spcBef>
              <a:buChar char="—"/>
              <a:tabLst>
                <a:tab pos="751205" algn="l"/>
                <a:tab pos="753110" algn="l"/>
              </a:tabLst>
            </a:pPr>
            <a:r>
              <a:rPr dirty="0" sz="2700">
                <a:latin typeface="Arial"/>
                <a:cs typeface="Arial"/>
              </a:rPr>
              <a:t>	</a:t>
            </a:r>
            <a:r>
              <a:rPr dirty="0" sz="2700" spc="-40">
                <a:latin typeface="Arial"/>
                <a:cs typeface="Arial"/>
              </a:rPr>
              <a:t>specify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exact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tick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count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value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at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which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the </a:t>
            </a:r>
            <a:r>
              <a:rPr dirty="0" sz="2700" spc="-35">
                <a:latin typeface="Arial"/>
                <a:cs typeface="Arial"/>
              </a:rPr>
              <a:t>calling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task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should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moved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from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Blocked </a:t>
            </a:r>
            <a:r>
              <a:rPr dirty="0" sz="2700" spc="-45">
                <a:latin typeface="Arial"/>
                <a:cs typeface="Arial"/>
              </a:rPr>
              <a:t>state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into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Ready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state.</a:t>
            </a:r>
            <a:endParaRPr sz="2700">
              <a:latin typeface="Arial"/>
              <a:cs typeface="Arial"/>
            </a:endParaRPr>
          </a:p>
          <a:p>
            <a:pPr lvl="1" marL="743585" marR="1097915" indent="-328295">
              <a:lnSpc>
                <a:spcPts val="2810"/>
              </a:lnSpc>
              <a:spcBef>
                <a:spcPts val="660"/>
              </a:spcBef>
              <a:buChar char="—"/>
              <a:tabLst>
                <a:tab pos="748030" algn="l"/>
                <a:tab pos="1239520" algn="l"/>
              </a:tabLst>
            </a:pPr>
            <a:r>
              <a:rPr dirty="0" sz="2750" spc="-490">
                <a:latin typeface="Calibri"/>
                <a:cs typeface="Calibri"/>
              </a:rPr>
              <a:t>Be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100">
                <a:latin typeface="Calibri"/>
                <a:cs typeface="Calibri"/>
              </a:rPr>
              <a:t>used</a:t>
            </a:r>
            <a:r>
              <a:rPr dirty="0" sz="2750" spc="-6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when</a:t>
            </a:r>
            <a:r>
              <a:rPr dirty="0" sz="2750" spc="12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a</a:t>
            </a:r>
            <a:r>
              <a:rPr dirty="0" sz="2750" spc="1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fixed</a:t>
            </a:r>
            <a:r>
              <a:rPr dirty="0" sz="2750" spc="9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execution</a:t>
            </a:r>
            <a:r>
              <a:rPr dirty="0" sz="2750" spc="22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period</a:t>
            </a:r>
            <a:r>
              <a:rPr dirty="0" sz="2750" spc="130">
                <a:latin typeface="Calibri"/>
                <a:cs typeface="Calibri"/>
              </a:rPr>
              <a:t> </a:t>
            </a:r>
            <a:r>
              <a:rPr dirty="0" sz="2750" spc="-25">
                <a:latin typeface="Calibri"/>
                <a:cs typeface="Calibri"/>
              </a:rPr>
              <a:t>is </a:t>
            </a:r>
            <a:r>
              <a:rPr dirty="0" sz="2750" spc="-25">
                <a:latin typeface="Calibri"/>
                <a:cs typeface="Calibri"/>
              </a:rPr>
              <a:t>	</a:t>
            </a:r>
            <a:r>
              <a:rPr dirty="0" sz="2750" spc="-10">
                <a:latin typeface="Calibri"/>
                <a:cs typeface="Calibri"/>
              </a:rPr>
              <a:t>required.</a:t>
            </a:r>
            <a:endParaRPr sz="2750">
              <a:latin typeface="Calibri"/>
              <a:cs typeface="Calibri"/>
            </a:endParaRPr>
          </a:p>
          <a:p>
            <a:pPr lvl="2" marL="1146810" marR="5080" indent="-227329">
              <a:lnSpc>
                <a:spcPct val="86000"/>
              </a:lnSpc>
              <a:spcBef>
                <a:spcPts val="515"/>
              </a:spcBef>
              <a:buChar char="•"/>
              <a:tabLst>
                <a:tab pos="1146810" algn="l"/>
                <a:tab pos="1149985" algn="l"/>
              </a:tabLst>
            </a:pPr>
            <a:r>
              <a:rPr dirty="0" sz="2300">
                <a:latin typeface="Arial"/>
                <a:cs typeface="Arial"/>
              </a:rPr>
              <a:t>	The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time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at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which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calling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task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unblocked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is </a:t>
            </a:r>
            <a:r>
              <a:rPr dirty="0" sz="2300" spc="-45">
                <a:latin typeface="Arial"/>
                <a:cs typeface="Arial"/>
              </a:rPr>
              <a:t>absolute,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rather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than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relative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when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function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was </a:t>
            </a:r>
            <a:r>
              <a:rPr dirty="0" sz="2300" spc="-30">
                <a:latin typeface="Arial"/>
                <a:cs typeface="Arial"/>
              </a:rPr>
              <a:t>called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(as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vTaskDelay())</a:t>
            </a:r>
            <a:endParaRPr sz="2300">
              <a:latin typeface="Arial"/>
              <a:cs typeface="Arial"/>
            </a:endParaRPr>
          </a:p>
          <a:p>
            <a:pPr marL="922655">
              <a:lnSpc>
                <a:spcPct val="100000"/>
              </a:lnSpc>
              <a:spcBef>
                <a:spcPts val="105"/>
              </a:spcBef>
            </a:pPr>
            <a:r>
              <a:rPr dirty="0" sz="2350" spc="-75">
                <a:latin typeface="Arial"/>
                <a:cs typeface="Arial"/>
              </a:rPr>
              <a:t>void </a:t>
            </a:r>
            <a:r>
              <a:rPr dirty="0" sz="2350" spc="-45">
                <a:latin typeface="Arial"/>
                <a:cs typeface="Arial"/>
              </a:rPr>
              <a:t>vTaskDelayUntil(</a:t>
            </a:r>
            <a:endParaRPr sz="2350">
              <a:latin typeface="Arial"/>
              <a:cs typeface="Arial"/>
            </a:endParaRPr>
          </a:p>
          <a:p>
            <a:pPr marL="1835150" marR="1454150">
              <a:lnSpc>
                <a:spcPct val="102200"/>
              </a:lnSpc>
            </a:pPr>
            <a:r>
              <a:rPr dirty="0" sz="2350" spc="-100">
                <a:latin typeface="Arial"/>
                <a:cs typeface="Arial"/>
              </a:rPr>
              <a:t>portTickType</a:t>
            </a:r>
            <a:r>
              <a:rPr dirty="0" sz="2350" spc="30">
                <a:latin typeface="Arial"/>
                <a:cs typeface="Arial"/>
              </a:rPr>
              <a:t> </a:t>
            </a:r>
            <a:r>
              <a:rPr dirty="0" sz="2350" spc="-95">
                <a:latin typeface="Arial"/>
                <a:cs typeface="Arial"/>
              </a:rPr>
              <a:t>*pxPreviousWakeTime, </a:t>
            </a:r>
            <a:r>
              <a:rPr dirty="0" sz="2350" spc="-100">
                <a:latin typeface="Arial"/>
                <a:cs typeface="Arial"/>
              </a:rPr>
              <a:t>portTickType</a:t>
            </a:r>
            <a:r>
              <a:rPr dirty="0" sz="2350" spc="15">
                <a:latin typeface="Arial"/>
                <a:cs typeface="Arial"/>
              </a:rPr>
              <a:t> </a:t>
            </a:r>
            <a:r>
              <a:rPr dirty="0" sz="2350" spc="-20">
                <a:latin typeface="Arial"/>
                <a:cs typeface="Arial"/>
              </a:rPr>
              <a:t>xTimelncrement);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710" y="6428391"/>
            <a:ext cx="192405" cy="222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0"/>
              </a:lnSpc>
            </a:pPr>
            <a:r>
              <a:rPr dirty="0" sz="1350" spc="-130">
                <a:latin typeface="Courier New"/>
                <a:cs typeface="Courier New"/>
              </a:rPr>
              <a:t>49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5235E"/>
                </a:solidFill>
              </a:rPr>
              <a:t>vTaskDelayUntil()</a:t>
            </a:r>
            <a:r>
              <a:rPr dirty="0" spc="100">
                <a:solidFill>
                  <a:srgbClr val="05235E"/>
                </a:solidFill>
              </a:rPr>
              <a:t> </a:t>
            </a:r>
            <a:r>
              <a:rPr dirty="0" spc="70">
                <a:solidFill>
                  <a:srgbClr val="082164"/>
                </a:solidFill>
              </a:rPr>
              <a:t>prototype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22" y="1534634"/>
            <a:ext cx="8069580" cy="50927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420"/>
              </a:spcBef>
              <a:buChar char="•"/>
              <a:tabLst>
                <a:tab pos="347980" algn="l"/>
              </a:tabLst>
            </a:pPr>
            <a:r>
              <a:rPr dirty="0" sz="3000" spc="-10">
                <a:latin typeface="Arial"/>
                <a:cs typeface="Arial"/>
              </a:rPr>
              <a:t>pxPreviousWakeTime</a:t>
            </a:r>
            <a:endParaRPr sz="3000">
              <a:latin typeface="Arial"/>
              <a:cs typeface="Arial"/>
            </a:endParaRPr>
          </a:p>
          <a:p>
            <a:pPr lvl="1" marL="751205" marR="374650" indent="-344805">
              <a:lnSpc>
                <a:spcPct val="88600"/>
              </a:lnSpc>
              <a:spcBef>
                <a:spcPts val="660"/>
              </a:spcBef>
              <a:buChar char="—"/>
              <a:tabLst>
                <a:tab pos="751205" algn="l"/>
                <a:tab pos="755650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25">
                <a:latin typeface="Arial"/>
                <a:cs typeface="Arial"/>
              </a:rPr>
              <a:t>Assume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 spc="-50">
                <a:latin typeface="Arial"/>
                <a:cs typeface="Arial"/>
              </a:rPr>
              <a:t>vTaskDelayUtil()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being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used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to </a:t>
            </a:r>
            <a:r>
              <a:rPr dirty="0" sz="2650" spc="-30">
                <a:latin typeface="Arial"/>
                <a:cs typeface="Arial"/>
              </a:rPr>
              <a:t>implement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executes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periodically</a:t>
            </a:r>
            <a:r>
              <a:rPr dirty="0" sz="2650" spc="5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and </a:t>
            </a:r>
            <a:r>
              <a:rPr dirty="0" sz="2600">
                <a:latin typeface="Arial"/>
                <a:cs typeface="Arial"/>
              </a:rPr>
              <a:t>with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 spc="70">
                <a:latin typeface="Arial"/>
                <a:cs typeface="Arial"/>
              </a:rPr>
              <a:t>a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fixed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frequency.</a:t>
            </a:r>
            <a:endParaRPr sz="2600">
              <a:latin typeface="Arial"/>
              <a:cs typeface="Arial"/>
            </a:endParaRPr>
          </a:p>
          <a:p>
            <a:pPr lvl="1" marL="753745" indent="-323850">
              <a:lnSpc>
                <a:spcPts val="3075"/>
              </a:lnSpc>
              <a:spcBef>
                <a:spcPts val="225"/>
              </a:spcBef>
              <a:buChar char="—"/>
              <a:tabLst>
                <a:tab pos="753745" algn="l"/>
              </a:tabLst>
            </a:pPr>
            <a:r>
              <a:rPr dirty="0" sz="2700" spc="70">
                <a:latin typeface="Calibri"/>
                <a:cs typeface="Calibri"/>
              </a:rPr>
              <a:t>Holds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time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which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 spc="50">
                <a:latin typeface="Calibri"/>
                <a:cs typeface="Calibri"/>
              </a:rPr>
              <a:t>task</a:t>
            </a:r>
            <a:r>
              <a:rPr dirty="0" sz="2700" spc="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left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 spc="55">
                <a:latin typeface="Calibri"/>
                <a:cs typeface="Calibri"/>
              </a:rPr>
              <a:t>Blocked</a:t>
            </a:r>
            <a:endParaRPr sz="2700">
              <a:latin typeface="Calibri"/>
              <a:cs typeface="Calibri"/>
            </a:endParaRPr>
          </a:p>
          <a:p>
            <a:pPr marL="751840">
              <a:lnSpc>
                <a:spcPts val="2955"/>
              </a:lnSpc>
            </a:pPr>
            <a:r>
              <a:rPr dirty="0" sz="2600" spc="-10"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lvl="1" marL="746760" marR="97790" indent="-361950">
              <a:lnSpc>
                <a:spcPts val="2780"/>
              </a:lnSpc>
              <a:spcBef>
                <a:spcPts val="705"/>
              </a:spcBef>
              <a:buChar char="—"/>
              <a:tabLst>
                <a:tab pos="752475" algn="l"/>
              </a:tabLst>
            </a:pPr>
            <a:r>
              <a:rPr dirty="0" sz="2750" spc="-55">
                <a:latin typeface="Arial"/>
                <a:cs typeface="Arial"/>
              </a:rPr>
              <a:t>Be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used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as</a:t>
            </a:r>
            <a:r>
              <a:rPr dirty="0" sz="2750" spc="-1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reference</a:t>
            </a:r>
            <a:r>
              <a:rPr dirty="0" sz="2750" spc="-1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point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-180">
                <a:latin typeface="Arial"/>
                <a:cs typeface="Arial"/>
              </a:rPr>
              <a:t> </a:t>
            </a:r>
            <a:r>
              <a:rPr dirty="0" sz="2750" spc="-85">
                <a:latin typeface="Arial"/>
                <a:cs typeface="Arial"/>
              </a:rPr>
              <a:t>compute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the</a:t>
            </a:r>
            <a:r>
              <a:rPr dirty="0" sz="2750" spc="-155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time </a:t>
            </a:r>
            <a:r>
              <a:rPr dirty="0" sz="2750" spc="-30">
                <a:latin typeface="Arial"/>
                <a:cs typeface="Arial"/>
              </a:rPr>
              <a:t>	</a:t>
            </a:r>
            <a:r>
              <a:rPr dirty="0" sz="2750">
                <a:latin typeface="Arial"/>
                <a:cs typeface="Arial"/>
              </a:rPr>
              <a:t>at</a:t>
            </a:r>
            <a:r>
              <a:rPr dirty="0" sz="2750" spc="-19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which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the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task</a:t>
            </a:r>
            <a:r>
              <a:rPr dirty="0" sz="2750" spc="-12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next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leaves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40">
                <a:latin typeface="Arial"/>
                <a:cs typeface="Arial"/>
              </a:rPr>
              <a:t>the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80">
                <a:latin typeface="Arial"/>
                <a:cs typeface="Arial"/>
              </a:rPr>
              <a:t>Blocked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state.</a:t>
            </a:r>
            <a:endParaRPr sz="2750">
              <a:latin typeface="Arial"/>
              <a:cs typeface="Arial"/>
            </a:endParaRPr>
          </a:p>
          <a:p>
            <a:pPr lvl="1" marL="747395" marR="234315" indent="-355600">
              <a:lnSpc>
                <a:spcPct val="86800"/>
              </a:lnSpc>
              <a:spcBef>
                <a:spcPts val="615"/>
              </a:spcBef>
              <a:buChar char="—"/>
              <a:tabLst>
                <a:tab pos="751840" algn="l"/>
              </a:tabLst>
            </a:pPr>
            <a:r>
              <a:rPr dirty="0" sz="2700" spc="-10">
                <a:latin typeface="Arial"/>
                <a:cs typeface="Arial"/>
              </a:rPr>
              <a:t>The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variable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pointed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by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pxPreviousWakeTime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is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 spc="-45">
                <a:latin typeface="Arial"/>
                <a:cs typeface="Arial"/>
              </a:rPr>
              <a:t>updated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 spc="-65">
                <a:latin typeface="Arial"/>
                <a:cs typeface="Arial"/>
              </a:rPr>
              <a:t>automatically,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not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modified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by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 spc="-50">
                <a:latin typeface="Arial"/>
                <a:cs typeface="Arial"/>
              </a:rPr>
              <a:t>application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code,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other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than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when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variable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is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 spc="-10">
                <a:latin typeface="Arial"/>
                <a:cs typeface="Arial"/>
              </a:rPr>
              <a:t>first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initialized.</a:t>
            </a:r>
            <a:endParaRPr sz="2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205"/>
              </a:spcBef>
            </a:pPr>
            <a:r>
              <a:rPr dirty="0" sz="1100" spc="-25">
                <a:solidFill>
                  <a:srgbClr val="313131"/>
                </a:solidFill>
                <a:latin typeface="Consolas"/>
                <a:cs typeface="Consolas"/>
              </a:rPr>
              <a:t>46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751" y="1536651"/>
            <a:ext cx="7773034" cy="311340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61315" indent="-348615">
              <a:lnSpc>
                <a:spcPct val="100000"/>
              </a:lnSpc>
              <a:spcBef>
                <a:spcPts val="805"/>
              </a:spcBef>
              <a:buChar char="•"/>
              <a:tabLst>
                <a:tab pos="361315" algn="l"/>
              </a:tabLst>
            </a:pPr>
            <a:r>
              <a:rPr dirty="0" sz="2950" spc="-10">
                <a:latin typeface="Arial"/>
                <a:cs typeface="Arial"/>
              </a:rPr>
              <a:t>xTimelncrement</a:t>
            </a:r>
            <a:endParaRPr sz="2950">
              <a:latin typeface="Arial"/>
              <a:cs typeface="Arial"/>
            </a:endParaRPr>
          </a:p>
          <a:p>
            <a:pPr lvl="1" marL="751205" marR="24765" indent="-329565">
              <a:lnSpc>
                <a:spcPct val="99100"/>
              </a:lnSpc>
              <a:spcBef>
                <a:spcPts val="670"/>
              </a:spcBef>
              <a:buChar char="—"/>
              <a:tabLst>
                <a:tab pos="751205" algn="l"/>
                <a:tab pos="764540" algn="l"/>
              </a:tabLst>
            </a:pPr>
            <a:r>
              <a:rPr dirty="0" sz="2600" spc="-10">
                <a:latin typeface="Arial"/>
                <a:cs typeface="Arial"/>
              </a:rPr>
              <a:t>Assume</a:t>
            </a:r>
            <a:r>
              <a:rPr dirty="0" sz="2600">
                <a:latin typeface="Arial"/>
                <a:cs typeface="Arial"/>
              </a:rPr>
              <a:t> that</a:t>
            </a:r>
            <a:r>
              <a:rPr dirty="0" sz="2600" spc="2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vTaskDelayUtil()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is</a:t>
            </a:r>
            <a:r>
              <a:rPr dirty="0" sz="2600" spc="-1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being</a:t>
            </a:r>
            <a:r>
              <a:rPr dirty="0" sz="2600" spc="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used</a:t>
            </a:r>
            <a:r>
              <a:rPr dirty="0" sz="2600" spc="-25">
                <a:latin typeface="Arial"/>
                <a:cs typeface="Arial"/>
              </a:rPr>
              <a:t> to </a:t>
            </a:r>
            <a:r>
              <a:rPr dirty="0" sz="2650" spc="-30">
                <a:latin typeface="Arial"/>
                <a:cs typeface="Arial"/>
              </a:rPr>
              <a:t>implement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executes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periodically</a:t>
            </a:r>
            <a:r>
              <a:rPr dirty="0" sz="2650" spc="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and </a:t>
            </a:r>
            <a:r>
              <a:rPr dirty="0" sz="2650">
                <a:latin typeface="Arial"/>
                <a:cs typeface="Arial"/>
              </a:rPr>
              <a:t>with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fixed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frequency</a:t>
            </a:r>
            <a:r>
              <a:rPr dirty="0" sz="2650" spc="125">
                <a:latin typeface="Arial"/>
                <a:cs typeface="Arial"/>
              </a:rPr>
              <a:t> </a:t>
            </a:r>
            <a:r>
              <a:rPr dirty="0" sz="2650" spc="-1250">
                <a:latin typeface="Arial"/>
                <a:cs typeface="Arial"/>
              </a:rPr>
              <a:t>—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set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by</a:t>
            </a:r>
            <a:r>
              <a:rPr dirty="0" sz="2650" spc="-1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xTimelncrement.</a:t>
            </a:r>
            <a:endParaRPr sz="2650">
              <a:latin typeface="Arial"/>
              <a:cs typeface="Arial"/>
            </a:endParaRPr>
          </a:p>
          <a:p>
            <a:pPr lvl="1" marL="749935" indent="-336550">
              <a:lnSpc>
                <a:spcPct val="100000"/>
              </a:lnSpc>
              <a:spcBef>
                <a:spcPts val="610"/>
              </a:spcBef>
              <a:buChar char="—"/>
              <a:tabLst>
                <a:tab pos="749935" algn="l"/>
              </a:tabLst>
            </a:pPr>
            <a:r>
              <a:rPr dirty="0" sz="2550">
                <a:latin typeface="Arial"/>
                <a:cs typeface="Arial"/>
              </a:rPr>
              <a:t>Be</a:t>
            </a:r>
            <a:r>
              <a:rPr dirty="0" sz="2550" spc="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specified</a:t>
            </a:r>
            <a:r>
              <a:rPr dirty="0" sz="2550" spc="17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in</a:t>
            </a:r>
            <a:r>
              <a:rPr dirty="0" sz="2550" spc="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‘ticks’.</a:t>
            </a:r>
            <a:r>
              <a:rPr dirty="0" sz="2550" spc="6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The</a:t>
            </a:r>
            <a:r>
              <a:rPr dirty="0" sz="2550" spc="12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constant</a:t>
            </a:r>
            <a:endParaRPr sz="2550">
              <a:latin typeface="Arial"/>
              <a:cs typeface="Arial"/>
            </a:endParaRPr>
          </a:p>
          <a:p>
            <a:pPr marL="742315">
              <a:lnSpc>
                <a:spcPts val="3130"/>
              </a:lnSpc>
              <a:spcBef>
                <a:spcPts val="5"/>
              </a:spcBef>
            </a:pPr>
            <a:r>
              <a:rPr dirty="0" sz="2650">
                <a:latin typeface="Arial"/>
                <a:cs typeface="Arial"/>
              </a:rPr>
              <a:t>portTlCK</a:t>
            </a:r>
            <a:r>
              <a:rPr dirty="0" sz="2650" spc="5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RATE</a:t>
            </a:r>
            <a:r>
              <a:rPr dirty="0" sz="2650" spc="51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MS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used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convert</a:t>
            </a:r>
            <a:r>
              <a:rPr dirty="0" sz="26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ms</a:t>
            </a:r>
            <a:endParaRPr sz="2650">
              <a:latin typeface="Arial"/>
              <a:cs typeface="Arial"/>
            </a:endParaRPr>
          </a:p>
          <a:p>
            <a:pPr marL="749935">
              <a:lnSpc>
                <a:spcPts val="3190"/>
              </a:lnSpc>
            </a:pP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ticks.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51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4604" marR="5080">
              <a:lnSpc>
                <a:spcPts val="3900"/>
              </a:lnSpc>
              <a:spcBef>
                <a:spcPts val="285"/>
              </a:spcBef>
            </a:pPr>
            <a:r>
              <a:rPr dirty="0" sz="3300">
                <a:solidFill>
                  <a:srgbClr val="082660"/>
                </a:solidFill>
              </a:rPr>
              <a:t>Example</a:t>
            </a:r>
            <a:r>
              <a:rPr dirty="0" sz="3300" spc="195">
                <a:solidFill>
                  <a:srgbClr val="082660"/>
                </a:solidFill>
              </a:rPr>
              <a:t> </a:t>
            </a:r>
            <a:r>
              <a:rPr dirty="0" sz="3300">
                <a:solidFill>
                  <a:srgbClr val="00165B"/>
                </a:solidFill>
              </a:rPr>
              <a:t>5</a:t>
            </a:r>
            <a:r>
              <a:rPr dirty="0" sz="3300" spc="-30">
                <a:solidFill>
                  <a:srgbClr val="00165B"/>
                </a:solidFill>
              </a:rPr>
              <a:t> </a:t>
            </a:r>
            <a:r>
              <a:rPr dirty="0" sz="3300" spc="55">
                <a:solidFill>
                  <a:srgbClr val="051D5D"/>
                </a:solidFill>
              </a:rPr>
              <a:t>Converting</a:t>
            </a:r>
            <a:r>
              <a:rPr dirty="0" sz="3300" spc="210">
                <a:solidFill>
                  <a:srgbClr val="051D5D"/>
                </a:solidFill>
              </a:rPr>
              <a:t> </a:t>
            </a:r>
            <a:r>
              <a:rPr dirty="0" sz="3300">
                <a:solidFill>
                  <a:srgbClr val="032160"/>
                </a:solidFill>
              </a:rPr>
              <a:t>the </a:t>
            </a:r>
            <a:r>
              <a:rPr dirty="0" sz="3300">
                <a:solidFill>
                  <a:srgbClr val="01185D"/>
                </a:solidFill>
              </a:rPr>
              <a:t>example</a:t>
            </a:r>
            <a:r>
              <a:rPr dirty="0" sz="3300" spc="170">
                <a:solidFill>
                  <a:srgbClr val="01185D"/>
                </a:solidFill>
              </a:rPr>
              <a:t> </a:t>
            </a:r>
            <a:r>
              <a:rPr dirty="0" sz="3300" spc="50">
                <a:solidFill>
                  <a:srgbClr val="072462"/>
                </a:solidFill>
              </a:rPr>
              <a:t>tasks </a:t>
            </a:r>
            <a:r>
              <a:rPr dirty="0" sz="3300" spc="90">
                <a:solidFill>
                  <a:srgbClr val="001D56"/>
                </a:solidFill>
              </a:rPr>
              <a:t>to</a:t>
            </a:r>
            <a:r>
              <a:rPr dirty="0" sz="3300" spc="40">
                <a:solidFill>
                  <a:srgbClr val="001D56"/>
                </a:solidFill>
              </a:rPr>
              <a:t> </a:t>
            </a:r>
            <a:r>
              <a:rPr dirty="0" sz="3300">
                <a:solidFill>
                  <a:srgbClr val="07235D"/>
                </a:solidFill>
              </a:rPr>
              <a:t>use</a:t>
            </a:r>
            <a:r>
              <a:rPr dirty="0" sz="3300" spc="80">
                <a:solidFill>
                  <a:srgbClr val="07235D"/>
                </a:solidFill>
              </a:rPr>
              <a:t> </a:t>
            </a:r>
            <a:r>
              <a:rPr dirty="0" sz="3300" spc="-10">
                <a:solidFill>
                  <a:srgbClr val="0A2362"/>
                </a:solidFill>
              </a:rPr>
              <a:t>vTaskDelayUntil()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38094" y="1614734"/>
            <a:ext cx="7803515" cy="282892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48615" marR="5080" indent="-336550">
              <a:lnSpc>
                <a:spcPts val="3620"/>
              </a:lnSpc>
              <a:spcBef>
                <a:spcPts val="280"/>
              </a:spcBef>
              <a:buChar char="•"/>
              <a:tabLst>
                <a:tab pos="348615" algn="l"/>
                <a:tab pos="353695" algn="l"/>
              </a:tabLst>
            </a:pPr>
            <a:r>
              <a:rPr dirty="0" sz="3050">
                <a:latin typeface="Arial"/>
                <a:cs typeface="Arial"/>
              </a:rPr>
              <a:t>	</a:t>
            </a:r>
            <a:r>
              <a:rPr dirty="0" sz="3050" spc="-95">
                <a:latin typeface="Arial"/>
                <a:cs typeface="Arial"/>
              </a:rPr>
              <a:t>Two</a:t>
            </a:r>
            <a:r>
              <a:rPr dirty="0" sz="3050" spc="-12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tasks</a:t>
            </a:r>
            <a:r>
              <a:rPr dirty="0" sz="3050" spc="-114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created</a:t>
            </a:r>
            <a:r>
              <a:rPr dirty="0" sz="3050" spc="-5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in</a:t>
            </a:r>
            <a:r>
              <a:rPr dirty="0" sz="3050" spc="-125">
                <a:latin typeface="Arial"/>
                <a:cs typeface="Arial"/>
              </a:rPr>
              <a:t> </a:t>
            </a:r>
            <a:r>
              <a:rPr dirty="0" sz="3050" spc="-40">
                <a:latin typeface="Arial"/>
                <a:cs typeface="Arial"/>
              </a:rPr>
              <a:t>Example</a:t>
            </a:r>
            <a:r>
              <a:rPr dirty="0" sz="3050" spc="3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4</a:t>
            </a:r>
            <a:r>
              <a:rPr dirty="0" sz="3050" spc="-21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are</a:t>
            </a:r>
            <a:r>
              <a:rPr dirty="0" sz="3050" spc="-170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periodic </a:t>
            </a:r>
            <a:r>
              <a:rPr dirty="0" sz="3050" spc="-10">
                <a:latin typeface="Arial"/>
                <a:cs typeface="Arial"/>
              </a:rPr>
              <a:t>tasks.</a:t>
            </a:r>
            <a:endParaRPr sz="3050">
              <a:latin typeface="Arial"/>
              <a:cs typeface="Arial"/>
            </a:endParaRPr>
          </a:p>
          <a:p>
            <a:pPr marL="351155" marR="1043305" indent="-338455">
              <a:lnSpc>
                <a:spcPct val="100600"/>
              </a:lnSpc>
              <a:spcBef>
                <a:spcPts val="545"/>
              </a:spcBef>
              <a:buChar char="•"/>
              <a:tabLst>
                <a:tab pos="351155" algn="l"/>
              </a:tabLst>
            </a:pPr>
            <a:r>
              <a:rPr dirty="0" sz="3000" spc="-45">
                <a:latin typeface="Arial"/>
                <a:cs typeface="Arial"/>
              </a:rPr>
              <a:t>vTaskDelay()</a:t>
            </a:r>
            <a:r>
              <a:rPr dirty="0" sz="3000" spc="1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does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not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ensure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that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the </a:t>
            </a:r>
            <a:r>
              <a:rPr dirty="0" sz="3000">
                <a:latin typeface="Arial"/>
                <a:cs typeface="Arial"/>
              </a:rPr>
              <a:t>frequency</a:t>
            </a:r>
            <a:r>
              <a:rPr dirty="0" sz="3000" spc="1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at</a:t>
            </a:r>
            <a:r>
              <a:rPr dirty="0" sz="3000" spc="-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which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they</a:t>
            </a:r>
            <a:r>
              <a:rPr dirty="0" sz="3000" spc="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run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is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fixed,</a:t>
            </a:r>
            <a:endParaRPr sz="3000">
              <a:latin typeface="Arial"/>
              <a:cs typeface="Arial"/>
            </a:endParaRPr>
          </a:p>
          <a:p>
            <a:pPr marL="755015" marR="13970" indent="-293370">
              <a:lnSpc>
                <a:spcPts val="3090"/>
              </a:lnSpc>
              <a:spcBef>
                <a:spcPts val="760"/>
              </a:spcBef>
            </a:pPr>
            <a:r>
              <a:rPr dirty="0" sz="2650" spc="-1250">
                <a:latin typeface="Arial"/>
                <a:cs typeface="Arial"/>
              </a:rPr>
              <a:t>—</a:t>
            </a:r>
            <a:r>
              <a:rPr dirty="0" sz="2650" spc="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time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which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tasks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leave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Blocked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relative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when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they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call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vTaskDelay().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51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542772"/>
            <a:ext cx="8018145" cy="569912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0"/>
              </a:spcBef>
              <a:buChar char="•"/>
              <a:tabLst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void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30">
                <a:latin typeface="Arial"/>
                <a:cs typeface="Arial"/>
              </a:rPr>
              <a:t>vTaskFunction(yoid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*pvParameters)</a:t>
            </a:r>
            <a:endParaRPr sz="3000">
              <a:latin typeface="Arial"/>
              <a:cs typeface="Arial"/>
            </a:endParaRPr>
          </a:p>
          <a:p>
            <a:pPr marL="407670">
              <a:lnSpc>
                <a:spcPct val="100000"/>
              </a:lnSpc>
              <a:spcBef>
                <a:spcPts val="680"/>
              </a:spcBef>
            </a:pPr>
            <a:r>
              <a:rPr dirty="0" sz="2800" spc="-10">
                <a:latin typeface="Arial"/>
                <a:cs typeface="Arial"/>
              </a:rPr>
              <a:t>Change</a:t>
            </a:r>
            <a:endParaRPr sz="2800">
              <a:latin typeface="Arial"/>
              <a:cs typeface="Arial"/>
            </a:endParaRPr>
          </a:p>
          <a:p>
            <a:pPr marL="412750">
              <a:lnSpc>
                <a:spcPct val="100000"/>
              </a:lnSpc>
              <a:spcBef>
                <a:spcPts val="455"/>
              </a:spcBef>
            </a:pPr>
            <a:r>
              <a:rPr dirty="0" sz="2500" spc="-85">
                <a:latin typeface="Arial"/>
                <a:cs typeface="Arial"/>
              </a:rPr>
              <a:t>vTaskDeIay(250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/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portTlCK</a:t>
            </a:r>
            <a:r>
              <a:rPr dirty="0" sz="2500" spc="35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RATE</a:t>
            </a:r>
            <a:r>
              <a:rPr dirty="0" sz="2500" spc="36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MS);</a:t>
            </a:r>
            <a:endParaRPr sz="2500">
              <a:latin typeface="Arial"/>
              <a:cs typeface="Arial"/>
            </a:endParaRPr>
          </a:p>
          <a:p>
            <a:pPr marL="407670">
              <a:lnSpc>
                <a:spcPct val="100000"/>
              </a:lnSpc>
              <a:spcBef>
                <a:spcPts val="480"/>
              </a:spcBef>
            </a:pPr>
            <a:r>
              <a:rPr dirty="0" sz="2500">
                <a:latin typeface="Arial"/>
                <a:cs typeface="Arial"/>
              </a:rPr>
              <a:t>//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period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250ms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is</a:t>
            </a:r>
            <a:r>
              <a:rPr dirty="0" sz="2500" spc="-16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being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specified.</a:t>
            </a:r>
            <a:endParaRPr sz="2500">
              <a:latin typeface="Arial"/>
              <a:cs typeface="Arial"/>
            </a:endParaRPr>
          </a:p>
          <a:p>
            <a:pPr marL="408305">
              <a:lnSpc>
                <a:spcPct val="100000"/>
              </a:lnSpc>
              <a:spcBef>
                <a:spcPts val="635"/>
              </a:spcBef>
            </a:pPr>
            <a:r>
              <a:rPr dirty="0" sz="2800" spc="-25"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  <a:p>
            <a:pPr marL="404495" marR="264160" indent="7620">
              <a:lnSpc>
                <a:spcPts val="2880"/>
              </a:lnSpc>
              <a:spcBef>
                <a:spcPts val="690"/>
              </a:spcBef>
            </a:pPr>
            <a:r>
              <a:rPr dirty="0" sz="2500" spc="-75">
                <a:latin typeface="Arial"/>
                <a:cs typeface="Arial"/>
              </a:rPr>
              <a:t>vTaskDelayUntil(</a:t>
            </a:r>
            <a:r>
              <a:rPr dirty="0" sz="2500" spc="5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&amp;xLastWakeTime,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85">
                <a:latin typeface="Arial"/>
                <a:cs typeface="Arial"/>
              </a:rPr>
              <a:t>(vTaskDeIay(250 </a:t>
            </a:r>
            <a:r>
              <a:rPr dirty="0" sz="2500" spc="-50">
                <a:latin typeface="Arial"/>
                <a:cs typeface="Arial"/>
              </a:rPr>
              <a:t>/ </a:t>
            </a:r>
            <a:r>
              <a:rPr dirty="0" sz="2500">
                <a:latin typeface="Arial"/>
                <a:cs typeface="Arial"/>
              </a:rPr>
              <a:t>portTlCK</a:t>
            </a:r>
            <a:r>
              <a:rPr dirty="0" sz="2500" spc="37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RATE</a:t>
            </a:r>
            <a:r>
              <a:rPr dirty="0" sz="2500" spc="26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MS));</a:t>
            </a:r>
            <a:endParaRPr sz="2500">
              <a:latin typeface="Arial"/>
              <a:cs typeface="Arial"/>
            </a:endParaRPr>
          </a:p>
          <a:p>
            <a:pPr algn="just" marL="405765" marR="5080" indent="1905">
              <a:lnSpc>
                <a:spcPts val="2880"/>
              </a:lnSpc>
              <a:spcBef>
                <a:spcPts val="565"/>
              </a:spcBef>
            </a:pPr>
            <a:r>
              <a:rPr dirty="0" sz="2450" spc="-45">
                <a:latin typeface="Arial"/>
                <a:cs typeface="Arial"/>
              </a:rPr>
              <a:t>/*xLastWakeTime</a:t>
            </a:r>
            <a:r>
              <a:rPr dirty="0" sz="2450" spc="-12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is</a:t>
            </a:r>
            <a:r>
              <a:rPr dirty="0" sz="2450" spc="-17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initialized</a:t>
            </a:r>
            <a:r>
              <a:rPr dirty="0" sz="2450" spc="-9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with</a:t>
            </a:r>
            <a:r>
              <a:rPr dirty="0" sz="2450" spc="-5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the</a:t>
            </a:r>
            <a:r>
              <a:rPr dirty="0" sz="2450" spc="-105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current</a:t>
            </a:r>
            <a:r>
              <a:rPr dirty="0" sz="2450" spc="-6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tick</a:t>
            </a:r>
            <a:r>
              <a:rPr dirty="0" sz="2450" spc="-14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count before</a:t>
            </a:r>
            <a:r>
              <a:rPr dirty="0" sz="2450" spc="-75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entering</a:t>
            </a:r>
            <a:r>
              <a:rPr dirty="0" sz="2450" spc="-8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infinite</a:t>
            </a:r>
            <a:r>
              <a:rPr dirty="0" sz="2450" spc="15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loop.</a:t>
            </a:r>
            <a:r>
              <a:rPr dirty="0" sz="2450" spc="-14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This</a:t>
            </a:r>
            <a:r>
              <a:rPr dirty="0" sz="2450" spc="-9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is</a:t>
            </a:r>
            <a:r>
              <a:rPr dirty="0" sz="2450" spc="-15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3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only</a:t>
            </a:r>
            <a:r>
              <a:rPr dirty="0" sz="2450" spc="15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time</a:t>
            </a:r>
            <a:r>
              <a:rPr dirty="0" sz="2450" spc="-12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it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is written</a:t>
            </a:r>
            <a:r>
              <a:rPr dirty="0" sz="2450" spc="-8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to</a:t>
            </a:r>
            <a:r>
              <a:rPr dirty="0" sz="2450" spc="-90">
                <a:latin typeface="Arial"/>
                <a:cs typeface="Arial"/>
              </a:rPr>
              <a:t> </a:t>
            </a:r>
            <a:r>
              <a:rPr dirty="0" sz="2450" spc="-45">
                <a:latin typeface="Arial"/>
                <a:cs typeface="Arial"/>
              </a:rPr>
              <a:t>explicitly.</a:t>
            </a:r>
            <a:r>
              <a:rPr dirty="0" sz="2450" spc="7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*/</a:t>
            </a:r>
            <a:endParaRPr sz="2450">
              <a:latin typeface="Arial"/>
              <a:cs typeface="Arial"/>
            </a:endParaRPr>
          </a:p>
          <a:p>
            <a:pPr algn="just" marL="414655">
              <a:lnSpc>
                <a:spcPct val="100000"/>
              </a:lnSpc>
              <a:spcBef>
                <a:spcPts val="425"/>
              </a:spcBef>
            </a:pPr>
            <a:r>
              <a:rPr dirty="0" sz="2450" spc="-10">
                <a:latin typeface="Arial"/>
                <a:cs typeface="Arial"/>
              </a:rPr>
              <a:t>xLastWakeTime</a:t>
            </a:r>
            <a:r>
              <a:rPr dirty="0" sz="2450" spc="385">
                <a:latin typeface="Arial"/>
                <a:cs typeface="Arial"/>
              </a:rPr>
              <a:t>  </a:t>
            </a:r>
            <a:r>
              <a:rPr dirty="0" sz="2450" spc="-10">
                <a:latin typeface="Arial"/>
                <a:cs typeface="Arial"/>
              </a:rPr>
              <a:t>xTaskGetTickCount();</a:t>
            </a:r>
            <a:endParaRPr sz="2450">
              <a:latin typeface="Arial"/>
              <a:cs typeface="Arial"/>
            </a:endParaRPr>
          </a:p>
          <a:p>
            <a:pPr algn="just" marL="414020" marR="1652270" indent="-6985">
              <a:lnSpc>
                <a:spcPts val="2920"/>
              </a:lnSpc>
              <a:spcBef>
                <a:spcPts val="620"/>
              </a:spcBef>
            </a:pPr>
            <a:r>
              <a:rPr dirty="0" sz="2500">
                <a:latin typeface="Arial"/>
                <a:cs typeface="Arial"/>
              </a:rPr>
              <a:t>/*It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is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then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updated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within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vTaskDelayUntil(); </a:t>
            </a:r>
            <a:r>
              <a:rPr dirty="0" sz="2500" spc="-60">
                <a:latin typeface="Arial"/>
                <a:cs typeface="Arial"/>
              </a:rPr>
              <a:t>automatically</a:t>
            </a:r>
            <a:r>
              <a:rPr dirty="0" sz="2500" spc="11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*/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51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 marR="5080" indent="2540">
              <a:lnSpc>
                <a:spcPts val="3870"/>
              </a:lnSpc>
              <a:spcBef>
                <a:spcPts val="250"/>
              </a:spcBef>
            </a:pPr>
            <a:r>
              <a:rPr dirty="0" sz="3250">
                <a:solidFill>
                  <a:srgbClr val="082660"/>
                </a:solidFill>
              </a:rPr>
              <a:t>Example</a:t>
            </a:r>
            <a:r>
              <a:rPr dirty="0" sz="3250" spc="50">
                <a:solidFill>
                  <a:srgbClr val="082660"/>
                </a:solidFill>
              </a:rPr>
              <a:t> </a:t>
            </a:r>
            <a:r>
              <a:rPr dirty="0" sz="3250" spc="50">
                <a:solidFill>
                  <a:srgbClr val="0C265B"/>
                </a:solidFill>
              </a:rPr>
              <a:t>6</a:t>
            </a:r>
            <a:r>
              <a:rPr dirty="0" sz="3250" spc="-35">
                <a:solidFill>
                  <a:srgbClr val="0C265B"/>
                </a:solidFill>
              </a:rPr>
              <a:t> </a:t>
            </a:r>
            <a:r>
              <a:rPr dirty="0" sz="3250" spc="80">
                <a:solidFill>
                  <a:srgbClr val="051C60"/>
                </a:solidFill>
              </a:rPr>
              <a:t>Combining</a:t>
            </a:r>
            <a:r>
              <a:rPr dirty="0" sz="3250" spc="130">
                <a:solidFill>
                  <a:srgbClr val="051C60"/>
                </a:solidFill>
              </a:rPr>
              <a:t> </a:t>
            </a:r>
            <a:r>
              <a:rPr dirty="0" sz="3250" spc="130">
                <a:solidFill>
                  <a:srgbClr val="001F60"/>
                </a:solidFill>
              </a:rPr>
              <a:t>blocking</a:t>
            </a:r>
            <a:r>
              <a:rPr dirty="0" sz="3250" spc="80">
                <a:solidFill>
                  <a:srgbClr val="001F60"/>
                </a:solidFill>
              </a:rPr>
              <a:t> </a:t>
            </a:r>
            <a:r>
              <a:rPr dirty="0" sz="3250" spc="65">
                <a:solidFill>
                  <a:srgbClr val="001F62"/>
                </a:solidFill>
              </a:rPr>
              <a:t>and</a:t>
            </a:r>
            <a:r>
              <a:rPr dirty="0" sz="3250" spc="45">
                <a:solidFill>
                  <a:srgbClr val="001F62"/>
                </a:solidFill>
              </a:rPr>
              <a:t> </a:t>
            </a:r>
            <a:r>
              <a:rPr dirty="0" sz="3250" spc="60">
                <a:solidFill>
                  <a:srgbClr val="031D59"/>
                </a:solidFill>
              </a:rPr>
              <a:t>non-</a:t>
            </a:r>
            <a:r>
              <a:rPr dirty="0" sz="3250" spc="114">
                <a:solidFill>
                  <a:srgbClr val="031C5E"/>
                </a:solidFill>
              </a:rPr>
              <a:t>blocking</a:t>
            </a:r>
            <a:r>
              <a:rPr dirty="0" sz="3250" spc="145">
                <a:solidFill>
                  <a:srgbClr val="031C5E"/>
                </a:solidFill>
              </a:rPr>
              <a:t> </a:t>
            </a:r>
            <a:r>
              <a:rPr dirty="0" sz="3250" spc="80">
                <a:solidFill>
                  <a:srgbClr val="001D5D"/>
                </a:solidFill>
              </a:rPr>
              <a:t>tasks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538422" y="1540053"/>
            <a:ext cx="7840345" cy="413257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dirty="0" sz="3000" spc="-40">
                <a:latin typeface="Arial"/>
                <a:cs typeface="Arial"/>
              </a:rPr>
              <a:t>Two </a:t>
            </a:r>
            <a:r>
              <a:rPr dirty="0" sz="3000">
                <a:latin typeface="Arial"/>
                <a:cs typeface="Arial"/>
              </a:rPr>
              <a:t>tasks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10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created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at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priority</a:t>
            </a:r>
            <a:r>
              <a:rPr dirty="0" sz="3000" spc="3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1.</a:t>
            </a:r>
            <a:endParaRPr sz="3000">
              <a:latin typeface="Arial"/>
              <a:cs typeface="Arial"/>
            </a:endParaRPr>
          </a:p>
          <a:p>
            <a:pPr lvl="1" marL="765175" indent="-342900">
              <a:lnSpc>
                <a:spcPts val="3115"/>
              </a:lnSpc>
              <a:spcBef>
                <a:spcPts val="595"/>
              </a:spcBef>
              <a:buChar char="—"/>
              <a:tabLst>
                <a:tab pos="765175" algn="l"/>
              </a:tabLst>
            </a:pPr>
            <a:r>
              <a:rPr dirty="0" sz="2600">
                <a:latin typeface="Arial"/>
                <a:cs typeface="Arial"/>
              </a:rPr>
              <a:t>Always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either the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Ready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or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Running</a:t>
            </a:r>
            <a:r>
              <a:rPr dirty="0" sz="2600" spc="5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state</a:t>
            </a:r>
            <a:endParaRPr sz="2600">
              <a:latin typeface="Arial"/>
              <a:cs typeface="Arial"/>
            </a:endParaRPr>
          </a:p>
          <a:p>
            <a:pPr marL="752475">
              <a:lnSpc>
                <a:spcPts val="3175"/>
              </a:lnSpc>
            </a:pP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never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making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any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API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function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calls.</a:t>
            </a:r>
            <a:endParaRPr sz="2650">
              <a:latin typeface="Arial"/>
              <a:cs typeface="Arial"/>
            </a:endParaRPr>
          </a:p>
          <a:p>
            <a:pPr lvl="1" marL="742315" marR="290195" indent="-350520">
              <a:lnSpc>
                <a:spcPts val="3090"/>
              </a:lnSpc>
              <a:spcBef>
                <a:spcPts val="725"/>
              </a:spcBef>
              <a:buChar char="—"/>
              <a:tabLst>
                <a:tab pos="742315" algn="l"/>
                <a:tab pos="747395" algn="l"/>
              </a:tabLst>
            </a:pPr>
            <a:r>
              <a:rPr dirty="0" sz="2700">
                <a:latin typeface="Arial"/>
                <a:cs typeface="Arial"/>
              </a:rPr>
              <a:t>	</a:t>
            </a:r>
            <a:r>
              <a:rPr dirty="0" sz="2700" spc="-90">
                <a:latin typeface="Arial"/>
                <a:cs typeface="Arial"/>
              </a:rPr>
              <a:t>Tasks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this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nature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are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called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continuous </a:t>
            </a:r>
            <a:r>
              <a:rPr dirty="0" sz="2700" spc="-45">
                <a:latin typeface="Arial"/>
                <a:cs typeface="Arial"/>
              </a:rPr>
              <a:t>processing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tasks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they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always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have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work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do.</a:t>
            </a:r>
            <a:endParaRPr sz="2700">
              <a:latin typeface="Arial"/>
              <a:cs typeface="Arial"/>
            </a:endParaRPr>
          </a:p>
          <a:p>
            <a:pPr marL="364490" indent="-351790">
              <a:lnSpc>
                <a:spcPct val="100000"/>
              </a:lnSpc>
              <a:spcBef>
                <a:spcPts val="655"/>
              </a:spcBef>
              <a:buChar char="•"/>
              <a:tabLst>
                <a:tab pos="364490" algn="l"/>
              </a:tabLst>
            </a:pPr>
            <a:r>
              <a:rPr dirty="0" sz="2950" spc="-185">
                <a:latin typeface="Arial"/>
                <a:cs typeface="Arial"/>
              </a:rPr>
              <a:t>A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Third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task</a:t>
            </a:r>
            <a:r>
              <a:rPr dirty="0" sz="2950" spc="114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is</a:t>
            </a:r>
            <a:r>
              <a:rPr dirty="0" sz="2950" spc="-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created</a:t>
            </a:r>
            <a:r>
              <a:rPr dirty="0" sz="2950" spc="1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at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priority</a:t>
            </a:r>
            <a:r>
              <a:rPr dirty="0" sz="2950" spc="180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2.</a:t>
            </a:r>
            <a:endParaRPr sz="2950">
              <a:latin typeface="Arial"/>
              <a:cs typeface="Arial"/>
            </a:endParaRPr>
          </a:p>
          <a:p>
            <a:pPr lvl="1" marL="751840" marR="60325" indent="-345440">
              <a:lnSpc>
                <a:spcPct val="98500"/>
              </a:lnSpc>
              <a:spcBef>
                <a:spcPts val="675"/>
              </a:spcBef>
              <a:buChar char="—"/>
              <a:tabLst>
                <a:tab pos="751840" algn="l"/>
                <a:tab pos="755650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35">
                <a:latin typeface="Arial"/>
                <a:cs typeface="Arial"/>
              </a:rPr>
              <a:t>Periodically</a:t>
            </a:r>
            <a:r>
              <a:rPr dirty="0" sz="2650" spc="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prints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out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string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by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using </a:t>
            </a:r>
            <a:r>
              <a:rPr dirty="0" sz="2600" spc="-25">
                <a:latin typeface="Arial"/>
                <a:cs typeface="Arial"/>
              </a:rPr>
              <a:t>vTaskDelayUntil()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place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itself</a:t>
            </a:r>
            <a:r>
              <a:rPr dirty="0" sz="2600" spc="1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into</a:t>
            </a:r>
            <a:r>
              <a:rPr dirty="0" sz="2600" spc="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Blocked </a:t>
            </a:r>
            <a:r>
              <a:rPr dirty="0" sz="2700" spc="-45">
                <a:latin typeface="Arial"/>
                <a:cs typeface="Arial"/>
              </a:rPr>
              <a:t>state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between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each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print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iteration.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51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7219" y="440729"/>
            <a:ext cx="7628255" cy="3975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50">
                <a:solidFill>
                  <a:srgbClr val="000000"/>
                </a:solidFill>
              </a:rPr>
              <a:t>void</a:t>
            </a:r>
            <a:r>
              <a:rPr dirty="0" sz="2450" spc="-155">
                <a:solidFill>
                  <a:srgbClr val="000000"/>
                </a:solidFill>
              </a:rPr>
              <a:t> </a:t>
            </a:r>
            <a:r>
              <a:rPr dirty="0" sz="2450" spc="-40">
                <a:solidFill>
                  <a:srgbClr val="000000"/>
                </a:solidFill>
              </a:rPr>
              <a:t>vContinuousProcessingTask(void</a:t>
            </a:r>
            <a:r>
              <a:rPr dirty="0" sz="2450" spc="-1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*</a:t>
            </a:r>
            <a:r>
              <a:rPr dirty="0" sz="2450" spc="-95">
                <a:solidFill>
                  <a:srgbClr val="000000"/>
                </a:solidFill>
              </a:rPr>
              <a:t> </a:t>
            </a:r>
            <a:r>
              <a:rPr dirty="0" sz="2450" spc="-40">
                <a:solidFill>
                  <a:srgbClr val="000000"/>
                </a:solidFill>
              </a:rPr>
              <a:t>pvParameters)</a:t>
            </a:r>
            <a:r>
              <a:rPr dirty="0" sz="2450" spc="175">
                <a:solidFill>
                  <a:srgbClr val="000000"/>
                </a:solidFill>
              </a:rPr>
              <a:t> </a:t>
            </a:r>
            <a:r>
              <a:rPr dirty="0" sz="2450" spc="-50">
                <a:solidFill>
                  <a:srgbClr val="000000"/>
                </a:solidFill>
              </a:rPr>
              <a:t>(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537071" y="809539"/>
            <a:ext cx="6628130" cy="485521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365"/>
              </a:spcBef>
            </a:pPr>
            <a:r>
              <a:rPr dirty="0" sz="2400">
                <a:latin typeface="Arial"/>
                <a:cs typeface="Arial"/>
              </a:rPr>
              <a:t>char</a:t>
            </a:r>
            <a:r>
              <a:rPr dirty="0" sz="2400" spc="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*pcTaskName;</a:t>
            </a:r>
            <a:endParaRPr sz="2400">
              <a:latin typeface="Arial"/>
              <a:cs typeface="Arial"/>
            </a:endParaRPr>
          </a:p>
          <a:p>
            <a:pPr marL="182880" marR="1296035" indent="-8890">
              <a:lnSpc>
                <a:spcPct val="107600"/>
              </a:lnSpc>
              <a:spcBef>
                <a:spcPts val="45"/>
              </a:spcBef>
            </a:pPr>
            <a:r>
              <a:rPr dirty="0" sz="2450" spc="-65">
                <a:latin typeface="Arial"/>
                <a:cs typeface="Arial"/>
              </a:rPr>
              <a:t>pcTaskName</a:t>
            </a:r>
            <a:r>
              <a:rPr dirty="0" sz="2450" spc="2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=</a:t>
            </a:r>
            <a:r>
              <a:rPr dirty="0" sz="2450" spc="-17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(char</a:t>
            </a:r>
            <a:r>
              <a:rPr dirty="0" sz="2450" spc="-2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*)</a:t>
            </a:r>
            <a:r>
              <a:rPr dirty="0" sz="2450" spc="-70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pvParameters; </a:t>
            </a:r>
            <a:r>
              <a:rPr dirty="0" sz="2450">
                <a:latin typeface="Arial"/>
                <a:cs typeface="Arial"/>
              </a:rPr>
              <a:t>for</a:t>
            </a:r>
            <a:r>
              <a:rPr dirty="0" sz="2450" spc="-114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(;;){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vPrintString(pcTaskName);</a:t>
            </a:r>
            <a:endParaRPr sz="245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  <a:spcBef>
                <a:spcPts val="275"/>
              </a:spcBef>
            </a:pPr>
            <a:r>
              <a:rPr dirty="0" sz="2400">
                <a:latin typeface="Arial"/>
                <a:cs typeface="Arial"/>
              </a:rPr>
              <a:t>for(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0;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&lt;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Oxfff;</a:t>
            </a:r>
            <a:r>
              <a:rPr dirty="0" sz="2400" spc="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uI++ </a:t>
            </a:r>
            <a:r>
              <a:rPr dirty="0" sz="2400">
                <a:latin typeface="Arial"/>
                <a:cs typeface="Arial"/>
              </a:rPr>
              <a:t>)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 </a:t>
            </a:r>
            <a:r>
              <a:rPr dirty="0" sz="2400" spc="-50">
                <a:solidFill>
                  <a:srgbClr val="0E0E0E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400">
              <a:latin typeface="Arial"/>
              <a:cs typeface="Arial"/>
            </a:endParaRPr>
          </a:p>
          <a:p>
            <a:pPr marL="174625" marR="951865" indent="-162560">
              <a:lnSpc>
                <a:spcPct val="106800"/>
              </a:lnSpc>
            </a:pPr>
            <a:r>
              <a:rPr dirty="0" sz="2500" spc="-35">
                <a:latin typeface="Arial"/>
                <a:cs typeface="Arial"/>
              </a:rPr>
              <a:t>void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vPeriodicTask(void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*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pvParameters)</a:t>
            </a:r>
            <a:r>
              <a:rPr dirty="0" sz="2500" spc="13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( </a:t>
            </a:r>
            <a:r>
              <a:rPr dirty="0" sz="2450" spc="-55">
                <a:latin typeface="Arial"/>
                <a:cs typeface="Arial"/>
              </a:rPr>
              <a:t>portTickType</a:t>
            </a:r>
            <a:r>
              <a:rPr dirty="0" sz="2450" spc="9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xLastWakeTime; </a:t>
            </a:r>
            <a:r>
              <a:rPr dirty="0" sz="2450" spc="-65">
                <a:latin typeface="Arial"/>
                <a:cs typeface="Arial"/>
              </a:rPr>
              <a:t>xLastWakeTime</a:t>
            </a:r>
            <a:r>
              <a:rPr dirty="0" sz="2450" spc="15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=</a:t>
            </a:r>
            <a:r>
              <a:rPr dirty="0" sz="2450" spc="-8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xTaskGetTickCount();</a:t>
            </a:r>
            <a:endParaRPr sz="2450">
              <a:latin typeface="Arial"/>
              <a:cs typeface="Arial"/>
            </a:endParaRPr>
          </a:p>
          <a:p>
            <a:pPr marL="432434" marR="5080" indent="-249554">
              <a:lnSpc>
                <a:spcPts val="3200"/>
              </a:lnSpc>
              <a:spcBef>
                <a:spcPts val="80"/>
              </a:spcBef>
            </a:pP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(;;){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vPrintString(“Periodic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task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running\n"); vTaskDeIayUntiI(&amp;xLastWakeTime,</a:t>
            </a:r>
            <a:endParaRPr sz="2400">
              <a:latin typeface="Arial"/>
              <a:cs typeface="Arial"/>
            </a:endParaRPr>
          </a:p>
          <a:p>
            <a:pPr marL="2542540">
              <a:lnSpc>
                <a:spcPct val="100000"/>
              </a:lnSpc>
              <a:spcBef>
                <a:spcPts val="70"/>
              </a:spcBef>
            </a:pPr>
            <a:r>
              <a:rPr dirty="0" sz="2450" spc="-10">
                <a:latin typeface="Arial"/>
                <a:cs typeface="Arial"/>
              </a:rPr>
              <a:t>(10/portTlCK</a:t>
            </a:r>
            <a:r>
              <a:rPr dirty="0" sz="2450" spc="465">
                <a:latin typeface="Arial"/>
                <a:cs typeface="Arial"/>
              </a:rPr>
              <a:t> </a:t>
            </a:r>
            <a:r>
              <a:rPr dirty="0" sz="2450" spc="-30">
                <a:latin typeface="Arial"/>
                <a:cs typeface="Arial"/>
              </a:rPr>
              <a:t>RATE</a:t>
            </a:r>
            <a:r>
              <a:rPr dirty="0" sz="2450" spc="34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MS));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50" spc="-25">
                <a:latin typeface="Calibri"/>
                <a:cs typeface="Calibri"/>
              </a:rPr>
              <a:t>51</a:t>
            </a:fld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84226" y="1017983"/>
            <a:ext cx="3964781" cy="32146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360216" y="1402159"/>
            <a:ext cx="4063365" cy="359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415">
              <a:lnSpc>
                <a:spcPts val="1365"/>
              </a:lnSpc>
              <a:spcBef>
                <a:spcPts val="120"/>
              </a:spcBef>
              <a:tabLst>
                <a:tab pos="3921125" algn="l"/>
              </a:tabLst>
            </a:pPr>
            <a:r>
              <a:rPr dirty="0" sz="1250" spc="-70">
                <a:solidFill>
                  <a:srgbClr val="626262"/>
                </a:solidFill>
                <a:latin typeface="Arial"/>
                <a:cs typeface="Arial"/>
              </a:rPr>
              <a:t>so¥tg</a:t>
            </a:r>
            <a:r>
              <a:rPr dirty="0" sz="1250" spc="-1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80">
                <a:solidFill>
                  <a:srgbClr val="A5A5A5"/>
                </a:solidFill>
                <a:latin typeface="Arial"/>
                <a:cs typeface="Arial"/>
              </a:rPr>
              <a:t>exac0y</a:t>
            </a:r>
            <a:r>
              <a:rPr dirty="0" sz="1250" spc="4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1250" spc="-80">
                <a:solidFill>
                  <a:srgbClr val="777777"/>
                </a:solidFill>
                <a:latin typeface="Arial"/>
                <a:cs typeface="Arial"/>
              </a:rPr>
              <a:t>onco</a:t>
            </a:r>
            <a:r>
              <a:rPr dirty="0" sz="1250" spc="-1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808080"/>
                </a:solidFill>
                <a:latin typeface="Arial"/>
                <a:cs typeface="Arial"/>
              </a:rPr>
              <a:t>bettaa</a:t>
            </a:r>
            <a:r>
              <a:rPr dirty="0" sz="1250" spc="4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5D5D5D"/>
                </a:solidFill>
                <a:latin typeface="Arial"/>
                <a:cs typeface="Arial"/>
              </a:rPr>
              <a:t>cagng </a:t>
            </a:r>
            <a:r>
              <a:rPr dirty="0" sz="1250" spc="-85">
                <a:solidFill>
                  <a:srgbClr val="1F1F1F"/>
                </a:solidFill>
                <a:latin typeface="Arial"/>
                <a:cs typeface="Arial"/>
              </a:rPr>
              <a:t>vTacgDeiaytJntgU</a:t>
            </a:r>
            <a:r>
              <a:rPr dirty="0" sz="1250" spc="-85">
                <a:solidFill>
                  <a:srgbClr val="B3B3B3"/>
                </a:solidFill>
                <a:latin typeface="Arial"/>
                <a:cs typeface="Arial"/>
              </a:rPr>
              <a:t>as</a:t>
            </a:r>
            <a:r>
              <a:rPr dirty="0" sz="1250" spc="-3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1250" spc="-320">
                <a:solidFill>
                  <a:srgbClr val="080808"/>
                </a:solidFill>
                <a:latin typeface="Arial"/>
                <a:cs typeface="Arial"/>
              </a:rPr>
              <a:t>mm</a:t>
            </a:r>
            <a:r>
              <a:rPr dirty="0" sz="1250">
                <a:solidFill>
                  <a:srgbClr val="080808"/>
                </a:solidFill>
                <a:latin typeface="Arial"/>
                <a:cs typeface="Arial"/>
              </a:rPr>
              <a:t>	</a:t>
            </a:r>
            <a:r>
              <a:rPr dirty="0" sz="1250" spc="-90">
                <a:solidFill>
                  <a:srgbClr val="595959"/>
                </a:solidFill>
                <a:latin typeface="Arial"/>
                <a:cs typeface="Arial"/>
              </a:rPr>
              <a:t>sz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245"/>
              </a:lnSpc>
            </a:pPr>
            <a:r>
              <a:rPr dirty="0" sz="1150">
                <a:solidFill>
                  <a:srgbClr val="B5B5B5"/>
                </a:solidFill>
                <a:latin typeface="Arial"/>
                <a:cs typeface="Arial"/>
              </a:rPr>
              <a:t>tin</a:t>
            </a:r>
            <a:r>
              <a:rPr dirty="0" sz="1150" spc="135">
                <a:solidFill>
                  <a:srgbClr val="B5B5B5"/>
                </a:solidFill>
                <a:latin typeface="Arial"/>
                <a:cs typeface="Arial"/>
              </a:rPr>
              <a:t>  </a:t>
            </a:r>
            <a:r>
              <a:rPr dirty="0" sz="1150">
                <a:solidFill>
                  <a:srgbClr val="444444"/>
                </a:solidFill>
                <a:latin typeface="Arial"/>
                <a:cs typeface="Arial"/>
              </a:rPr>
              <a:t>Bitched</a:t>
            </a:r>
            <a:r>
              <a:rPr dirty="0" sz="11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24242"/>
                </a:solidFill>
                <a:latin typeface="Arial"/>
                <a:cs typeface="Arial"/>
              </a:rPr>
              <a:t>stata.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57750" y="1875233"/>
            <a:ext cx="2125266" cy="1250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3766" y="1982390"/>
            <a:ext cx="2027039" cy="5715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7750" y="2473523"/>
            <a:ext cx="2616398" cy="12501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55601" y="2589608"/>
            <a:ext cx="776882" cy="9822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834344" y="2554089"/>
            <a:ext cx="2639060" cy="37084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3204" marR="5080" indent="-231140">
              <a:lnSpc>
                <a:spcPct val="79700"/>
              </a:lnSpc>
              <a:spcBef>
                <a:spcPts val="425"/>
              </a:spcBef>
              <a:tabLst>
                <a:tab pos="824865" algn="l"/>
                <a:tab pos="1226185" algn="l"/>
              </a:tabLst>
            </a:pPr>
            <a:r>
              <a:rPr dirty="0" sz="1250" spc="-70">
                <a:solidFill>
                  <a:srgbClr val="575757"/>
                </a:solidFill>
                <a:latin typeface="Arial"/>
                <a:cs typeface="Arial"/>
              </a:rPr>
              <a:t>kttetzufx</a:t>
            </a:r>
            <a:r>
              <a:rPr dirty="0" sz="1250" spc="-8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-</a:t>
            </a:r>
            <a:r>
              <a:rPr dirty="0" sz="1250" spc="75"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ACACAC"/>
                </a:solidFill>
                <a:latin typeface="Arial"/>
                <a:cs typeface="Arial"/>
              </a:rPr>
              <a:t>&amp;amg</a:t>
            </a:r>
            <a:r>
              <a:rPr dirty="0" sz="1250" spc="-80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898989"/>
                </a:solidFill>
                <a:latin typeface="Arial"/>
                <a:cs typeface="Arial"/>
              </a:rPr>
              <a:t>wtdcti</a:t>
            </a:r>
            <a:r>
              <a:rPr dirty="0" sz="1250" spc="-9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1250" spc="-55">
                <a:latin typeface="Arial"/>
                <a:cs typeface="Arial"/>
              </a:rPr>
              <a:t>time</a:t>
            </a:r>
            <a:r>
              <a:rPr dirty="0" sz="1250" spc="-25">
                <a:latin typeface="Arial"/>
                <a:cs typeface="Arial"/>
              </a:rPr>
              <a:t> </a:t>
            </a:r>
            <a:r>
              <a:rPr dirty="0" sz="1250" spc="-55">
                <a:solidFill>
                  <a:srgbClr val="BCBCBC"/>
                </a:solidFill>
                <a:latin typeface="Arial"/>
                <a:cs typeface="Arial"/>
              </a:rPr>
              <a:t>0</a:t>
            </a:r>
            <a:r>
              <a:rPr dirty="0" sz="1250" spc="-140">
                <a:solidFill>
                  <a:srgbClr val="BCBCBC"/>
                </a:solidFill>
                <a:latin typeface="Arial"/>
                <a:cs typeface="Arial"/>
              </a:rPr>
              <a:t> </a:t>
            </a:r>
            <a:r>
              <a:rPr dirty="0" sz="1250" spc="-135">
                <a:solidFill>
                  <a:srgbClr val="3D3D3D"/>
                </a:solidFill>
                <a:latin typeface="Arial"/>
                <a:cs typeface="Arial"/>
              </a:rPr>
              <a:t>cou¥s</a:t>
            </a:r>
            <a:r>
              <a:rPr dirty="0" sz="1250" spc="-75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939393"/>
                </a:solidFill>
                <a:latin typeface="Arial"/>
                <a:cs typeface="Arial"/>
              </a:rPr>
              <a:t>print </a:t>
            </a:r>
            <a:r>
              <a:rPr dirty="0" sz="1250" spc="-50">
                <a:solidFill>
                  <a:srgbClr val="C1C1C1"/>
                </a:solidFill>
                <a:latin typeface="Arial"/>
                <a:cs typeface="Arial"/>
              </a:rPr>
              <a:t>M</a:t>
            </a:r>
            <a:r>
              <a:rPr dirty="0" sz="1250">
                <a:solidFill>
                  <a:srgbClr val="C1C1C1"/>
                </a:solidFill>
                <a:latin typeface="Arial"/>
                <a:cs typeface="Arial"/>
              </a:rPr>
              <a:t>	</a:t>
            </a:r>
            <a:r>
              <a:rPr dirty="0" sz="1250" spc="-50">
                <a:solidFill>
                  <a:srgbClr val="444444"/>
                </a:solidFill>
                <a:latin typeface="Arial"/>
                <a:cs typeface="Arial"/>
              </a:rPr>
              <a:t>m</a:t>
            </a:r>
            <a:r>
              <a:rPr dirty="0" sz="1250">
                <a:solidFill>
                  <a:srgbClr val="444444"/>
                </a:solidFill>
                <a:latin typeface="Arial"/>
                <a:cs typeface="Arial"/>
              </a:rPr>
              <a:t>	</a:t>
            </a:r>
            <a:r>
              <a:rPr dirty="0" sz="1250" spc="-10">
                <a:solidFill>
                  <a:srgbClr val="4D4D4D"/>
                </a:solidFill>
                <a:latin typeface="Arial"/>
                <a:cs typeface="Arial"/>
              </a:rPr>
              <a:t>t¥nes.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7049" y="3390502"/>
            <a:ext cx="3843020" cy="162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40">
                <a:solidFill>
                  <a:srgbClr val="28266E"/>
                </a:solidFill>
                <a:latin typeface="Calibri"/>
                <a:cs typeface="Calibri"/>
              </a:rPr>
              <a:t>Continuous</a:t>
            </a:r>
            <a:r>
              <a:rPr dirty="0" sz="1850" spc="200">
                <a:solidFill>
                  <a:srgbClr val="28266E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2816A5"/>
                </a:solidFill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50" spc="55">
                <a:solidFill>
                  <a:srgbClr val="70A893"/>
                </a:solidFill>
                <a:latin typeface="Arial"/>
                <a:cs typeface="Arial"/>
              </a:rPr>
              <a:t>Continuous</a:t>
            </a:r>
            <a:r>
              <a:rPr dirty="0" sz="1850" spc="200">
                <a:solidFill>
                  <a:srgbClr val="70A893"/>
                </a:solidFill>
                <a:latin typeface="Arial"/>
                <a:cs typeface="Arial"/>
              </a:rPr>
              <a:t> </a:t>
            </a:r>
            <a:r>
              <a:rPr dirty="0" sz="1850" spc="50">
                <a:solidFill>
                  <a:srgbClr val="79AA8E"/>
                </a:solidFill>
                <a:latin typeface="Arial"/>
                <a:cs typeface="Arial"/>
              </a:rPr>
              <a:t>2</a:t>
            </a:r>
            <a:endParaRPr sz="1850">
              <a:latin typeface="Arial"/>
              <a:cs typeface="Arial"/>
            </a:endParaRPr>
          </a:p>
          <a:p>
            <a:pPr marL="1101725">
              <a:lnSpc>
                <a:spcPct val="100000"/>
              </a:lnSpc>
              <a:spcBef>
                <a:spcPts val="1395"/>
              </a:spcBef>
            </a:pPr>
            <a:r>
              <a:rPr dirty="0" sz="1750" spc="80">
                <a:latin typeface="Arial"/>
                <a:cs typeface="Arial"/>
              </a:rPr>
              <a:t>Idle</a:t>
            </a:r>
            <a:endParaRPr sz="1750">
              <a:latin typeface="Arial"/>
              <a:cs typeface="Arial"/>
            </a:endParaRPr>
          </a:p>
          <a:p>
            <a:pPr marL="1671955">
              <a:lnSpc>
                <a:spcPct val="100000"/>
              </a:lnSpc>
              <a:spcBef>
                <a:spcPts val="885"/>
              </a:spcBef>
              <a:tabLst>
                <a:tab pos="2181225" algn="l"/>
                <a:tab pos="2707640" algn="l"/>
                <a:tab pos="3143885" algn="l"/>
              </a:tabLst>
            </a:pPr>
            <a:r>
              <a:rPr dirty="0" sz="2000" spc="-25">
                <a:solidFill>
                  <a:srgbClr val="282828"/>
                </a:solidFill>
                <a:latin typeface="Arial"/>
                <a:cs typeface="Arial"/>
              </a:rPr>
              <a:t>t1</a:t>
            </a:r>
            <a:r>
              <a:rPr dirty="0" sz="200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dirty="0" sz="2000" spc="35">
                <a:latin typeface="Arial"/>
                <a:cs typeface="Arial"/>
              </a:rPr>
              <a:t>t2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30">
                <a:latin typeface="Arial"/>
                <a:cs typeface="Arial"/>
              </a:rPr>
              <a:t>t3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35">
                <a:solidFill>
                  <a:srgbClr val="111111"/>
                </a:solidFill>
                <a:latin typeface="Arial"/>
                <a:cs typeface="Arial"/>
              </a:rPr>
              <a:t>Time</a:t>
            </a:r>
            <a:r>
              <a:rPr dirty="0" sz="2000" spc="-13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5">
                <a:solidFill>
                  <a:srgbClr val="111111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9679" y="3545085"/>
            <a:ext cx="2330648" cy="8304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081116" y="3821906"/>
            <a:ext cx="1955800" cy="401955"/>
            <a:chOff x="6081116" y="3821906"/>
            <a:chExt cx="1955800" cy="4019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90047" y="3821906"/>
              <a:ext cx="1705570" cy="125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81116" y="3982639"/>
              <a:ext cx="1955601" cy="241101"/>
            </a:xfrm>
            <a:prstGeom prst="rect">
              <a:avLst/>
            </a:prstGeom>
          </p:spPr>
        </p:pic>
      </p:grpSp>
      <p:grpSp>
        <p:nvGrpSpPr>
          <p:cNvPr id="4" name="object 4"/>
          <p:cNvGrpSpPr/>
          <p:nvPr/>
        </p:nvGrpSpPr>
        <p:grpSpPr>
          <a:xfrm>
            <a:off x="1044773" y="5259585"/>
            <a:ext cx="3018790" cy="1027430"/>
            <a:chOff x="1044773" y="5259585"/>
            <a:chExt cx="3018790" cy="102743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4773" y="5259585"/>
              <a:ext cx="2857500" cy="3750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4773" y="5661421"/>
              <a:ext cx="2652116" cy="1250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4773" y="5813226"/>
              <a:ext cx="2866429" cy="1250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4773" y="5973960"/>
              <a:ext cx="3018235" cy="31253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93406" y="5464968"/>
            <a:ext cx="2169914" cy="2768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84476" y="5768578"/>
            <a:ext cx="2000250" cy="25003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47485" y="6491882"/>
            <a:ext cx="142875" cy="10715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1215D"/>
                </a:solidFill>
              </a:rPr>
              <a:t>1.7</a:t>
            </a:r>
            <a:r>
              <a:rPr dirty="0" spc="-140">
                <a:solidFill>
                  <a:srgbClr val="01215D"/>
                </a:solidFill>
              </a:rPr>
              <a:t> </a:t>
            </a:r>
            <a:r>
              <a:rPr dirty="0">
                <a:solidFill>
                  <a:srgbClr val="03215B"/>
                </a:solidFill>
              </a:rPr>
              <a:t>Idle</a:t>
            </a:r>
            <a:r>
              <a:rPr dirty="0" spc="5">
                <a:solidFill>
                  <a:srgbClr val="03215B"/>
                </a:solidFill>
              </a:rPr>
              <a:t> </a:t>
            </a:r>
            <a:r>
              <a:rPr dirty="0">
                <a:solidFill>
                  <a:srgbClr val="00215E"/>
                </a:solidFill>
              </a:rPr>
              <a:t>Task</a:t>
            </a:r>
            <a:r>
              <a:rPr dirty="0" spc="155">
                <a:solidFill>
                  <a:srgbClr val="00215E"/>
                </a:solidFill>
              </a:rPr>
              <a:t> </a:t>
            </a:r>
            <a:r>
              <a:rPr dirty="0">
                <a:solidFill>
                  <a:srgbClr val="011A64"/>
                </a:solidFill>
              </a:rPr>
              <a:t>and</a:t>
            </a:r>
            <a:r>
              <a:rPr dirty="0" spc="-5">
                <a:solidFill>
                  <a:srgbClr val="011A64"/>
                </a:solidFill>
              </a:rPr>
              <a:t> </a:t>
            </a:r>
            <a:r>
              <a:rPr dirty="0">
                <a:solidFill>
                  <a:srgbClr val="001856"/>
                </a:solidFill>
              </a:rPr>
              <a:t>the</a:t>
            </a:r>
            <a:r>
              <a:rPr dirty="0" spc="-130">
                <a:solidFill>
                  <a:srgbClr val="001856"/>
                </a:solidFill>
              </a:rPr>
              <a:t> </a:t>
            </a:r>
            <a:r>
              <a:rPr dirty="0" spc="55">
                <a:solidFill>
                  <a:srgbClr val="011F60"/>
                </a:solidFill>
              </a:rPr>
              <a:t>Idle</a:t>
            </a:r>
            <a:r>
              <a:rPr dirty="0" spc="-35">
                <a:solidFill>
                  <a:srgbClr val="011F60"/>
                </a:solidFill>
              </a:rPr>
              <a:t> </a:t>
            </a:r>
            <a:r>
              <a:rPr dirty="0">
                <a:solidFill>
                  <a:srgbClr val="032160"/>
                </a:solidFill>
              </a:rPr>
              <a:t>task</a:t>
            </a:r>
            <a:r>
              <a:rPr dirty="0" spc="160">
                <a:solidFill>
                  <a:srgbClr val="032160"/>
                </a:solidFill>
              </a:rPr>
              <a:t> </a:t>
            </a:r>
            <a:r>
              <a:rPr dirty="0" spc="40">
                <a:solidFill>
                  <a:srgbClr val="001C5D"/>
                </a:solidFill>
              </a:rPr>
              <a:t>hook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765" y="1608533"/>
            <a:ext cx="7940040" cy="40271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347980" marR="384810" indent="-335915">
              <a:lnSpc>
                <a:spcPts val="3590"/>
              </a:lnSpc>
              <a:spcBef>
                <a:spcPts val="350"/>
              </a:spcBef>
              <a:buChar char="•"/>
              <a:tabLst>
                <a:tab pos="347980" algn="l"/>
                <a:tab pos="363855" algn="l"/>
              </a:tabLst>
            </a:pP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50">
                <a:latin typeface="Arial"/>
                <a:cs typeface="Arial"/>
              </a:rPr>
              <a:t>An</a:t>
            </a:r>
            <a:r>
              <a:rPr dirty="0" sz="3100" spc="-16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idle</a:t>
            </a:r>
            <a:r>
              <a:rPr dirty="0" sz="3100" spc="-114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task</a:t>
            </a:r>
            <a:r>
              <a:rPr dirty="0" sz="3100" spc="-15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is</a:t>
            </a:r>
            <a:r>
              <a:rPr dirty="0" sz="3100" spc="-135">
                <a:latin typeface="Arial"/>
                <a:cs typeface="Arial"/>
              </a:rPr>
              <a:t> </a:t>
            </a:r>
            <a:r>
              <a:rPr dirty="0" sz="3100" spc="-60">
                <a:latin typeface="Arial"/>
                <a:cs typeface="Arial"/>
              </a:rPr>
              <a:t>automatically</a:t>
            </a:r>
            <a:r>
              <a:rPr dirty="0" sz="3100">
                <a:latin typeface="Arial"/>
                <a:cs typeface="Arial"/>
              </a:rPr>
              <a:t> </a:t>
            </a:r>
            <a:r>
              <a:rPr dirty="0" sz="3100" spc="-55">
                <a:latin typeface="Arial"/>
                <a:cs typeface="Arial"/>
              </a:rPr>
              <a:t>created</a:t>
            </a:r>
            <a:r>
              <a:rPr dirty="0" sz="3100" spc="-16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by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the </a:t>
            </a:r>
            <a:r>
              <a:rPr dirty="0" sz="3100" spc="-55">
                <a:latin typeface="Arial"/>
                <a:cs typeface="Arial"/>
              </a:rPr>
              <a:t>scheduler</a:t>
            </a:r>
            <a:r>
              <a:rPr dirty="0" sz="3100" spc="-25">
                <a:latin typeface="Arial"/>
                <a:cs typeface="Arial"/>
              </a:rPr>
              <a:t> </a:t>
            </a:r>
            <a:r>
              <a:rPr dirty="0" sz="3100" spc="-30">
                <a:latin typeface="Arial"/>
                <a:cs typeface="Arial"/>
              </a:rPr>
              <a:t>when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 spc="-55" i="1">
                <a:latin typeface="Arial"/>
                <a:cs typeface="Arial"/>
              </a:rPr>
              <a:t>vTaskStartScheduleif)</a:t>
            </a:r>
            <a:r>
              <a:rPr dirty="0" sz="3100" spc="-135" i="1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is </a:t>
            </a:r>
            <a:r>
              <a:rPr dirty="0" sz="3100" spc="-10">
                <a:latin typeface="Arial"/>
                <a:cs typeface="Arial"/>
              </a:rPr>
              <a:t>called.</a:t>
            </a:r>
            <a:endParaRPr sz="3100">
              <a:latin typeface="Arial"/>
              <a:cs typeface="Arial"/>
            </a:endParaRPr>
          </a:p>
          <a:p>
            <a:pPr lvl="1" marL="756285" indent="-355600">
              <a:lnSpc>
                <a:spcPct val="100000"/>
              </a:lnSpc>
              <a:spcBef>
                <a:spcPts val="445"/>
              </a:spcBef>
              <a:buChar char="—"/>
              <a:tabLst>
                <a:tab pos="756285" algn="l"/>
              </a:tabLst>
            </a:pPr>
            <a:r>
              <a:rPr dirty="0" sz="2700" spc="-40">
                <a:latin typeface="Arial"/>
                <a:cs typeface="Arial"/>
              </a:rPr>
              <a:t>Does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very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little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more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than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site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in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loop</a:t>
            </a:r>
            <a:endParaRPr sz="2700">
              <a:latin typeface="Arial"/>
              <a:cs typeface="Arial"/>
            </a:endParaRPr>
          </a:p>
          <a:p>
            <a:pPr lvl="1" marL="751840" marR="5080" indent="-346075">
              <a:lnSpc>
                <a:spcPct val="98400"/>
              </a:lnSpc>
              <a:spcBef>
                <a:spcPts val="585"/>
              </a:spcBef>
              <a:buChar char="—"/>
              <a:tabLst>
                <a:tab pos="751840" algn="l"/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	Has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lowest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possible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(zero),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ensure </a:t>
            </a:r>
            <a:r>
              <a:rPr dirty="0" sz="2650">
                <a:latin typeface="Arial"/>
                <a:cs typeface="Arial"/>
              </a:rPr>
              <a:t>it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never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prevents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higher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application </a:t>
            </a:r>
            <a:r>
              <a:rPr dirty="0" sz="2650" spc="-25">
                <a:latin typeface="Arial"/>
                <a:cs typeface="Arial"/>
              </a:rPr>
              <a:t>task </a:t>
            </a:r>
            <a:r>
              <a:rPr dirty="0" sz="2650">
                <a:latin typeface="Arial"/>
                <a:cs typeface="Arial"/>
              </a:rPr>
              <a:t>from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entering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</a:t>
            </a:r>
            <a:endParaRPr sz="2650">
              <a:latin typeface="Arial"/>
              <a:cs typeface="Arial"/>
            </a:endParaRPr>
          </a:p>
          <a:p>
            <a:pPr lvl="1" marL="749300" marR="132080" indent="-349250">
              <a:lnSpc>
                <a:spcPts val="3090"/>
              </a:lnSpc>
              <a:spcBef>
                <a:spcPts val="725"/>
              </a:spcBef>
              <a:buChar char="—"/>
              <a:tabLst>
                <a:tab pos="753110" algn="l"/>
              </a:tabLst>
            </a:pP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transitioned</a:t>
            </a:r>
            <a:r>
              <a:rPr dirty="0" sz="2650" spc="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out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Running</a:t>
            </a:r>
            <a:r>
              <a:rPr dirty="0" sz="2650" spc="1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soon </a:t>
            </a:r>
            <a:r>
              <a:rPr dirty="0" sz="2650" spc="-30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higher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enters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Ready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 sz="1000" spc="-25">
                <a:latin typeface="Arial"/>
                <a:cs typeface="Arial"/>
              </a:rPr>
              <a:t>55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23429" y="989707"/>
            <a:ext cx="2574925" cy="0"/>
          </a:xfrm>
          <a:custGeom>
            <a:avLst/>
            <a:gdLst/>
            <a:ahLst/>
            <a:cxnLst/>
            <a:rect l="l" t="t" r="r" b="b"/>
            <a:pathLst>
              <a:path w="2574925" h="0">
                <a:moveTo>
                  <a:pt x="0" y="0"/>
                </a:moveTo>
                <a:lnTo>
                  <a:pt x="257472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714500" y="276820"/>
            <a:ext cx="5887720" cy="866775"/>
            <a:chOff x="1714500" y="276820"/>
            <a:chExt cx="5887720" cy="8667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0898" y="276820"/>
              <a:ext cx="3271244" cy="8661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500" y="803671"/>
              <a:ext cx="5732860" cy="18752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87217" y="418901"/>
            <a:ext cx="856615" cy="3879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225">
              <a:lnSpc>
                <a:spcPts val="1295"/>
              </a:lnSpc>
              <a:spcBef>
                <a:spcPts val="120"/>
              </a:spcBef>
            </a:pPr>
            <a:r>
              <a:rPr dirty="0" sz="1150" spc="-10">
                <a:solidFill>
                  <a:srgbClr val="181818"/>
                </a:solidFill>
                <a:latin typeface="Arial"/>
                <a:cs typeface="Arial"/>
              </a:rPr>
              <a:t>sts</a:t>
            </a:r>
            <a:r>
              <a:rPr dirty="0" sz="1150" spc="29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</a:t>
            </a:r>
            <a:r>
              <a:rPr dirty="0" sz="1150" spc="190"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63636"/>
                </a:solidFill>
                <a:latin typeface="Arial"/>
                <a:cs typeface="Arial"/>
              </a:rPr>
              <a:t>s</a:t>
            </a:r>
            <a:r>
              <a:rPr dirty="0" sz="1150" spc="40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150" spc="-220">
                <a:solidFill>
                  <a:srgbClr val="3D3D3D"/>
                </a:solidFill>
                <a:latin typeface="Arial"/>
                <a:cs typeface="Arial"/>
              </a:rPr>
              <a:t>1</a:t>
            </a:r>
            <a:r>
              <a:rPr dirty="0" sz="1150" spc="7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150" spc="-114">
                <a:latin typeface="Arial"/>
                <a:cs typeface="Arial"/>
              </a:rPr>
              <a:t>p¿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535"/>
              </a:lnSpc>
              <a:tabLst>
                <a:tab pos="608330" algn="l"/>
              </a:tabLst>
            </a:pPr>
            <a:r>
              <a:rPr dirty="0" sz="1350" spc="-190">
                <a:latin typeface="Calibri"/>
                <a:cs typeface="Calibri"/>
              </a:rPr>
              <a:t>B</a:t>
            </a:r>
            <a:r>
              <a:rPr dirty="0" sz="1350" spc="-645">
                <a:solidFill>
                  <a:srgbClr val="0C0C0C"/>
                </a:solidFill>
                <a:latin typeface="Calibri"/>
                <a:cs typeface="Calibri"/>
              </a:rPr>
              <a:t>e</a:t>
            </a:r>
            <a:r>
              <a:rPr dirty="0" sz="1350" spc="-75">
                <a:latin typeface="Calibri"/>
                <a:cs typeface="Calibri"/>
              </a:rPr>
              <a:t>y</a:t>
            </a:r>
            <a:r>
              <a:rPr dirty="0" sz="1350" spc="-65">
                <a:latin typeface="Calibri"/>
                <a:cs typeface="Calibri"/>
              </a:rPr>
              <a:t>e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545454"/>
                </a:solidFill>
                <a:latin typeface="Calibri"/>
                <a:cs typeface="Calibri"/>
              </a:rPr>
              <a:t>e</a:t>
            </a:r>
            <a:r>
              <a:rPr dirty="0" sz="135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4B4B4B"/>
                </a:solidFill>
                <a:latin typeface="Calibri"/>
                <a:cs typeface="Calibri"/>
              </a:rPr>
              <a:t>s</a:t>
            </a:r>
            <a:r>
              <a:rPr dirty="0" sz="1350">
                <a:solidFill>
                  <a:srgbClr val="4B4B4B"/>
                </a:solidFill>
                <a:latin typeface="Calibri"/>
                <a:cs typeface="Calibri"/>
              </a:rPr>
              <a:t>	</a:t>
            </a:r>
            <a:r>
              <a:rPr dirty="0" sz="1350" spc="-50">
                <a:solidFill>
                  <a:srgbClr val="464646"/>
                </a:solidFill>
                <a:latin typeface="Calibri"/>
                <a:cs typeface="Calibri"/>
              </a:rPr>
              <a:t>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6875" y="418901"/>
            <a:ext cx="655320" cy="3879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6835">
              <a:lnSpc>
                <a:spcPts val="1295"/>
              </a:lnSpc>
              <a:spcBef>
                <a:spcPts val="120"/>
              </a:spcBef>
              <a:tabLst>
                <a:tab pos="430530" algn="l"/>
              </a:tabLst>
            </a:pPr>
            <a:r>
              <a:rPr dirty="0" sz="1150">
                <a:solidFill>
                  <a:srgbClr val="707070"/>
                </a:solidFill>
                <a:latin typeface="Arial"/>
                <a:cs typeface="Arial"/>
              </a:rPr>
              <a:t>t</a:t>
            </a:r>
            <a:r>
              <a:rPr dirty="0" sz="1150" spc="11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50">
                <a:solidFill>
                  <a:srgbClr val="3B3B3B"/>
                </a:solidFill>
                <a:latin typeface="Arial"/>
                <a:cs typeface="Arial"/>
              </a:rPr>
              <a:t>e</a:t>
            </a:r>
            <a:r>
              <a:rPr dirty="0" sz="1150" spc="484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666666"/>
                </a:solidFill>
                <a:latin typeface="Arial"/>
                <a:cs typeface="Arial"/>
              </a:rPr>
              <a:t>i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535"/>
              </a:lnSpc>
              <a:tabLst>
                <a:tab pos="323215" algn="l"/>
                <a:tab pos="494030" algn="l"/>
              </a:tabLst>
            </a:pPr>
            <a:r>
              <a:rPr dirty="0" sz="1350" spc="-50">
                <a:solidFill>
                  <a:srgbClr val="333333"/>
                </a:solidFill>
                <a:latin typeface="Calibri"/>
                <a:cs typeface="Calibri"/>
              </a:rPr>
              <a:t>b</a:t>
            </a:r>
            <a:r>
              <a:rPr dirty="0" sz="135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dirty="0" sz="1350" spc="-50">
                <a:solidFill>
                  <a:srgbClr val="808080"/>
                </a:solidFill>
                <a:latin typeface="Calibri"/>
                <a:cs typeface="Calibri"/>
              </a:rPr>
              <a:t>I</a:t>
            </a:r>
            <a:r>
              <a:rPr dirty="0" sz="1350">
                <a:solidFill>
                  <a:srgbClr val="808080"/>
                </a:solidFill>
                <a:latin typeface="Calibri"/>
                <a:cs typeface="Calibri"/>
              </a:rPr>
              <a:t>	</a:t>
            </a:r>
            <a:r>
              <a:rPr dirty="0" sz="1350" spc="-50">
                <a:solidFill>
                  <a:srgbClr val="3B3B3B"/>
                </a:solidFill>
                <a:latin typeface="Calibri"/>
                <a:cs typeface="Calibri"/>
              </a:rPr>
              <a:t>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75348" y="241299"/>
            <a:ext cx="3140075" cy="565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3175">
              <a:lnSpc>
                <a:spcPct val="90800"/>
              </a:lnSpc>
              <a:spcBef>
                <a:spcPts val="254"/>
              </a:spcBef>
            </a:pPr>
            <a:r>
              <a:rPr dirty="0" sz="1250" spc="-100">
                <a:solidFill>
                  <a:srgbClr val="181818"/>
                </a:solidFill>
                <a:latin typeface="Arial"/>
                <a:cs typeface="Arial"/>
              </a:rPr>
              <a:t>4</a:t>
            </a:r>
            <a:r>
              <a:rPr dirty="0" sz="1250" spc="3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250" spc="-90">
                <a:solidFill>
                  <a:srgbClr val="2D2D2D"/>
                </a:solidFill>
                <a:latin typeface="Arial"/>
                <a:cs typeface="Arial"/>
              </a:rPr>
              <a:t>-</a:t>
            </a:r>
            <a:r>
              <a:rPr dirty="0" sz="1250" spc="-4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250" spc="114">
                <a:solidFill>
                  <a:srgbClr val="505050"/>
                </a:solidFill>
                <a:latin typeface="Arial"/>
                <a:cs typeface="Arial"/>
              </a:rPr>
              <a:t>Seri</a:t>
            </a:r>
            <a:r>
              <a:rPr dirty="0" sz="1250" spc="-6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1250" spc="-120">
                <a:solidFill>
                  <a:srgbClr val="4F4F4F"/>
                </a:solidFill>
                <a:latin typeface="Arial"/>
                <a:cs typeface="Arial"/>
              </a:rPr>
              <a:t>the</a:t>
            </a:r>
            <a:r>
              <a:rPr dirty="0" sz="1250" spc="2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dirty="0" sz="1250" spc="-145">
                <a:solidFill>
                  <a:srgbClr val="1D1D1D"/>
                </a:solidFill>
                <a:latin typeface="Arial"/>
                <a:cs typeface="Arial"/>
              </a:rPr>
              <a:t>4eiay</a:t>
            </a:r>
            <a:r>
              <a:rPr dirty="0" sz="1250" spc="6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250" spc="-175">
                <a:solidFill>
                  <a:srgbClr val="181818"/>
                </a:solidFill>
                <a:latin typeface="Arial"/>
                <a:cs typeface="Arial"/>
              </a:rPr>
              <a:t>empires</a:t>
            </a:r>
            <a:r>
              <a:rPr dirty="0" sz="125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250" spc="-12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dirty="0" sz="1250" spc="-1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50" spc="-130">
                <a:solidFill>
                  <a:srgbClr val="2A2A2A"/>
                </a:solidFill>
                <a:latin typeface="Arial"/>
                <a:cs typeface="Arial"/>
              </a:rPr>
              <a:t>scheduler</a:t>
            </a:r>
            <a:r>
              <a:rPr dirty="0" sz="1250" spc="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50" spc="-150">
                <a:solidFill>
                  <a:srgbClr val="212121"/>
                </a:solidFill>
                <a:latin typeface="Arial"/>
                <a:cs typeface="Arial"/>
              </a:rPr>
              <a:t>moves</a:t>
            </a:r>
            <a:r>
              <a:rPr dirty="0" sz="1250" spc="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26262"/>
                </a:solidFill>
                <a:latin typeface="Arial"/>
                <a:cs typeface="Arial"/>
              </a:rPr>
              <a:t>th </a:t>
            </a:r>
            <a:r>
              <a:rPr dirty="0" sz="1150">
                <a:solidFill>
                  <a:srgbClr val="0F0F0F"/>
                </a:solidFill>
                <a:latin typeface="Arial"/>
                <a:cs typeface="Arial"/>
              </a:rPr>
              <a:t>asks</a:t>
            </a:r>
            <a:r>
              <a:rPr dirty="0" sz="1150" spc="-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181818"/>
                </a:solidFill>
                <a:latin typeface="Arial"/>
                <a:cs typeface="Arial"/>
              </a:rPr>
              <a:t>back</a:t>
            </a:r>
            <a:r>
              <a:rPr dirty="0" sz="1150" spc="8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545454"/>
                </a:solidFill>
                <a:latin typeface="Arial"/>
                <a:cs typeface="Arial"/>
              </a:rPr>
              <a:t>into</a:t>
            </a:r>
            <a:r>
              <a:rPr dirty="0" sz="1150" spc="1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150" spc="-7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dirty="0" sz="1150" spc="-5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1A1A1A"/>
                </a:solidFill>
                <a:latin typeface="Arial"/>
                <a:cs typeface="Arial"/>
              </a:rPr>
              <a:t>reaay</a:t>
            </a:r>
            <a:r>
              <a:rPr dirty="0" sz="1150" spc="1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 spc="-160">
                <a:latin typeface="Arial"/>
                <a:cs typeface="Arial"/>
              </a:rPr>
              <a:t>some,</a:t>
            </a:r>
            <a:r>
              <a:rPr dirty="0" sz="1150" spc="95">
                <a:latin typeface="Arial"/>
                <a:cs typeface="Arial"/>
              </a:rPr>
              <a:t> </a:t>
            </a:r>
            <a:r>
              <a:rPr dirty="0" sz="1150" spc="-85">
                <a:solidFill>
                  <a:srgbClr val="1A1A1A"/>
                </a:solidFill>
                <a:latin typeface="Arial"/>
                <a:cs typeface="Arial"/>
              </a:rPr>
              <a:t>where</a:t>
            </a:r>
            <a:r>
              <a:rPr dirty="0" sz="115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C0C0C"/>
                </a:solidFill>
                <a:latin typeface="Arial"/>
                <a:cs typeface="Arial"/>
              </a:rPr>
              <a:t>bob</a:t>
            </a:r>
            <a:r>
              <a:rPr dirty="0" sz="1150" spc="-3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51515"/>
                </a:solidFill>
                <a:latin typeface="Arial"/>
                <a:cs typeface="Arial"/>
              </a:rPr>
              <a:t>execute </a:t>
            </a:r>
            <a:r>
              <a:rPr dirty="0" sz="1350" spc="-100">
                <a:solidFill>
                  <a:srgbClr val="2B2B2B"/>
                </a:solidFill>
                <a:latin typeface="Calibri"/>
                <a:cs typeface="Calibri"/>
              </a:rPr>
              <a:t>again</a:t>
            </a:r>
            <a:r>
              <a:rPr dirty="0" sz="135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40">
                <a:solidFill>
                  <a:srgbClr val="131313"/>
                </a:solidFill>
                <a:latin typeface="Calibri"/>
                <a:cs typeface="Calibri"/>
              </a:rPr>
              <a:t>before</a:t>
            </a:r>
            <a:r>
              <a:rPr dirty="0" sz="1350" spc="9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50" spc="-145">
                <a:solidFill>
                  <a:srgbClr val="282828"/>
                </a:solidFill>
                <a:latin typeface="Calibri"/>
                <a:cs typeface="Calibri"/>
              </a:rPr>
              <a:t>once</a:t>
            </a:r>
            <a:r>
              <a:rPr dirty="0" sz="135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 spc="-100">
                <a:solidFill>
                  <a:srgbClr val="1F1F1F"/>
                </a:solidFill>
                <a:latin typeface="Calibri"/>
                <a:cs typeface="Calibri"/>
              </a:rPr>
              <a:t>again</a:t>
            </a:r>
            <a:r>
              <a:rPr dirty="0" sz="135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calling</a:t>
            </a:r>
            <a:r>
              <a:rPr dirty="0" sz="1350" spc="75">
                <a:latin typeface="Calibri"/>
                <a:cs typeface="Calibri"/>
              </a:rPr>
              <a:t> </a:t>
            </a:r>
            <a:r>
              <a:rPr dirty="0" sz="1350" spc="-85">
                <a:latin typeface="Calibri"/>
                <a:cs typeface="Calibri"/>
              </a:rPr>
              <a:t>vTask0elayt›</a:t>
            </a:r>
            <a:r>
              <a:rPr dirty="0" sz="1350" spc="145">
                <a:latin typeface="Calibri"/>
                <a:cs typeface="Calibri"/>
              </a:rPr>
              <a:t> </a:t>
            </a:r>
            <a:r>
              <a:rPr dirty="0" sz="1350" spc="-55">
                <a:latin typeface="Calibri"/>
                <a:cs typeface="Calibri"/>
              </a:rPr>
              <a:t>causing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8141" y="1330523"/>
            <a:ext cx="5456555" cy="1920239"/>
            <a:chOff x="2268141" y="1330523"/>
            <a:chExt cx="5456555" cy="192023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8141" y="2491383"/>
              <a:ext cx="5456039" cy="7590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6766" y="1330523"/>
              <a:ext cx="4536281" cy="113407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722170" y="1003597"/>
            <a:ext cx="731520" cy="154051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050" spc="-120">
                <a:solidFill>
                  <a:srgbClr val="26168E"/>
                </a:solidFill>
                <a:latin typeface="Arial"/>
                <a:cs typeface="Arial"/>
              </a:rPr>
              <a:t>Task</a:t>
            </a:r>
            <a:r>
              <a:rPr dirty="0" sz="2050" spc="-5">
                <a:solidFill>
                  <a:srgbClr val="26168E"/>
                </a:solidFill>
                <a:latin typeface="Arial"/>
                <a:cs typeface="Arial"/>
              </a:rPr>
              <a:t> </a:t>
            </a:r>
            <a:r>
              <a:rPr dirty="0" sz="2050" spc="-70">
                <a:solidFill>
                  <a:srgbClr val="2D26BC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200" spc="-265">
                <a:solidFill>
                  <a:srgbClr val="568C75"/>
                </a:solidFill>
                <a:latin typeface="Arial"/>
                <a:cs typeface="Arial"/>
              </a:rPr>
              <a:t>Task</a:t>
            </a:r>
            <a:r>
              <a:rPr dirty="0" sz="2200" spc="190">
                <a:solidFill>
                  <a:srgbClr val="568C75"/>
                </a:solidFill>
                <a:latin typeface="Arial"/>
                <a:cs typeface="Arial"/>
              </a:rPr>
              <a:t> </a:t>
            </a:r>
            <a:r>
              <a:rPr dirty="0" sz="2200" spc="-495">
                <a:solidFill>
                  <a:srgbClr val="52937B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470"/>
              </a:spcBef>
            </a:pPr>
            <a:r>
              <a:rPr dirty="0" sz="2100" spc="-20">
                <a:latin typeface="Arial"/>
                <a:cs typeface="Arial"/>
              </a:rPr>
              <a:t>Idle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79544" y="959891"/>
            <a:ext cx="180530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0E0E0E"/>
                </a:solidFill>
                <a:latin typeface="Arial"/>
                <a:cs typeface="Arial"/>
              </a:rPr>
              <a:t>fret</a:t>
            </a:r>
            <a:r>
              <a:rPr dirty="0" sz="1000" spc="9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62626"/>
                </a:solidFill>
                <a:latin typeface="Arial"/>
                <a:cs typeface="Arial"/>
              </a:rPr>
              <a:t>as</a:t>
            </a:r>
            <a:r>
              <a:rPr dirty="0" sz="1000" spc="-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828282"/>
                </a:solidFill>
                <a:latin typeface="Arial"/>
                <a:cs typeface="Arial"/>
              </a:rPr>
              <a:t>1</a:t>
            </a:r>
            <a:r>
              <a:rPr dirty="0" sz="1000" spc="55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24242"/>
                </a:solidFill>
                <a:latin typeface="Arial"/>
                <a:cs typeface="Arial"/>
              </a:rPr>
              <a:t>has</a:t>
            </a:r>
            <a:r>
              <a:rPr dirty="0" sz="1000" spc="9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45454"/>
                </a:solidFill>
                <a:latin typeface="Arial"/>
                <a:cs typeface="Arial"/>
              </a:rPr>
              <a:t>h›ghor</a:t>
            </a:r>
            <a:r>
              <a:rPr dirty="0" sz="1000" spc="18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31313"/>
                </a:solidFill>
                <a:latin typeface="Arial"/>
                <a:cs typeface="Arial"/>
              </a:rPr>
              <a:t>pnofity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8659" y="2198637"/>
            <a:ext cx="1170940" cy="85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solidFill>
                  <a:srgbClr val="2B2B2B"/>
                </a:solidFill>
                <a:latin typeface="Arial"/>
                <a:cs typeface="Arial"/>
              </a:rPr>
              <a:t>’’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  <a:tabLst>
                <a:tab pos="467995" algn="l"/>
                <a:tab pos="958850" algn="l"/>
              </a:tabLst>
            </a:pPr>
            <a:r>
              <a:rPr dirty="0" sz="1950" spc="-25">
                <a:latin typeface="Arial"/>
                <a:cs typeface="Arial"/>
              </a:rPr>
              <a:t>t1</a:t>
            </a:r>
            <a:r>
              <a:rPr dirty="0" sz="1950">
                <a:latin typeface="Arial"/>
                <a:cs typeface="Arial"/>
              </a:rPr>
              <a:t>	</a:t>
            </a:r>
            <a:r>
              <a:rPr dirty="0" sz="1950" spc="-25">
                <a:latin typeface="Arial"/>
                <a:cs typeface="Arial"/>
              </a:rPr>
              <a:t>t2</a:t>
            </a:r>
            <a:r>
              <a:rPr dirty="0" sz="1950">
                <a:latin typeface="Arial"/>
                <a:cs typeface="Arial"/>
              </a:rPr>
              <a:t>	</a:t>
            </a:r>
            <a:r>
              <a:rPr dirty="0" sz="1950" spc="-25">
                <a:latin typeface="Arial"/>
                <a:cs typeface="Arial"/>
              </a:rPr>
              <a:t>t3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23259" y="2717303"/>
            <a:ext cx="53848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70">
                <a:latin typeface="Arial"/>
                <a:cs typeface="Arial"/>
              </a:rPr>
              <a:t>Time</a:t>
            </a:r>
            <a:endParaRPr sz="1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26330" y="2707629"/>
            <a:ext cx="2190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425">
                <a:latin typeface="Consolas"/>
                <a:cs typeface="Consolas"/>
              </a:rPr>
              <a:t>tn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32751" y="2859434"/>
            <a:ext cx="16891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20">
                <a:solidFill>
                  <a:srgbClr val="5D5D5D"/>
                </a:solidFill>
                <a:latin typeface="Consolas"/>
                <a:cs typeface="Consolas"/>
              </a:rPr>
              <a:t>*,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1635" y="3281610"/>
            <a:ext cx="1017269" cy="365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  <a:tabLst>
                <a:tab pos="488315" algn="l"/>
              </a:tabLst>
            </a:pPr>
            <a:r>
              <a:rPr dirty="0" sz="1000" spc="15">
                <a:solidFill>
                  <a:srgbClr val="282828"/>
                </a:solidFill>
                <a:latin typeface="Arial"/>
                <a:cs typeface="Arial"/>
              </a:rPr>
              <a:t>h</a:t>
            </a:r>
            <a:r>
              <a:rPr dirty="0" sz="1000" spc="-480">
                <a:solidFill>
                  <a:srgbClr val="2A2A2A"/>
                </a:solidFill>
                <a:latin typeface="Arial"/>
                <a:cs typeface="Arial"/>
              </a:rPr>
              <a:t>1</a:t>
            </a:r>
            <a:r>
              <a:rPr dirty="0" sz="1000" spc="40">
                <a:solidFill>
                  <a:srgbClr val="282828"/>
                </a:solidFill>
                <a:latin typeface="Arial"/>
                <a:cs typeface="Arial"/>
              </a:rPr>
              <a:t>i</a:t>
            </a:r>
            <a:r>
              <a:rPr dirty="0" sz="1000" spc="50">
                <a:solidFill>
                  <a:srgbClr val="282828"/>
                </a:solidFill>
                <a:latin typeface="Arial"/>
                <a:cs typeface="Arial"/>
              </a:rPr>
              <a:t>p</a:t>
            </a:r>
            <a:r>
              <a:rPr dirty="0" sz="1000" spc="204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151515"/>
                </a:solidFill>
                <a:latin typeface="Arial"/>
                <a:cs typeface="Arial"/>
              </a:rPr>
              <a:t>T</a:t>
            </a:r>
            <a:r>
              <a:rPr dirty="0" sz="1000">
                <a:solidFill>
                  <a:srgbClr val="151515"/>
                </a:solidFill>
                <a:latin typeface="Arial"/>
                <a:cs typeface="Arial"/>
              </a:rPr>
              <a:t>	</a:t>
            </a:r>
            <a:r>
              <a:rPr dirty="0" sz="1000">
                <a:solidFill>
                  <a:srgbClr val="363636"/>
                </a:solidFill>
                <a:latin typeface="Arial"/>
                <a:cs typeface="Arial"/>
              </a:rPr>
              <a:t>k</a:t>
            </a:r>
            <a:r>
              <a:rPr dirty="0" sz="1000" spc="4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32323"/>
                </a:solidFill>
                <a:latin typeface="Arial"/>
                <a:cs typeface="Arial"/>
              </a:rPr>
              <a:t>2</a:t>
            </a:r>
            <a:r>
              <a:rPr dirty="0" sz="1000" spc="2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525252"/>
                </a:solidFill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3125">
                <a:latin typeface="Calibri"/>
                <a:cs typeface="Calibri"/>
              </a:rPr>
              <a:t>u</a:t>
            </a:r>
            <a:r>
              <a:rPr dirty="0" sz="1200" spc="-210"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58585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86173" y="3281610"/>
            <a:ext cx="9525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50">
                <a:solidFill>
                  <a:srgbClr val="5D5D5D"/>
                </a:solidFill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4960" y="3281610"/>
            <a:ext cx="37719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3370" algn="l"/>
              </a:tabLst>
            </a:pPr>
            <a:r>
              <a:rPr dirty="0" sz="1000" spc="-50">
                <a:solidFill>
                  <a:srgbClr val="808080"/>
                </a:solidFill>
                <a:latin typeface="Arial"/>
                <a:cs typeface="Arial"/>
              </a:rPr>
              <a:t>r</a:t>
            </a:r>
            <a:r>
              <a:rPr dirty="0" sz="100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dirty="0" sz="1000" spc="-50">
                <a:solidFill>
                  <a:srgbClr val="4F4F4F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5054" y="3281610"/>
            <a:ext cx="35623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4165" algn="l"/>
              </a:tabLst>
            </a:pP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r</a:t>
            </a:r>
            <a:r>
              <a:rPr dirty="0" sz="1000">
                <a:solidFill>
                  <a:srgbClr val="444444"/>
                </a:solidFill>
                <a:latin typeface="Arial"/>
                <a:cs typeface="Arial"/>
              </a:rPr>
              <a:t>	</a:t>
            </a:r>
            <a:r>
              <a:rPr dirty="0" sz="1000" spc="-50">
                <a:solidFill>
                  <a:srgbClr val="494949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12745" y="3435399"/>
            <a:ext cx="1767839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3720" algn="l"/>
              </a:tabLst>
            </a:pPr>
            <a:r>
              <a:rPr dirty="0" sz="1200" spc="-50">
                <a:solidFill>
                  <a:srgbClr val="525252"/>
                </a:solidFill>
                <a:latin typeface="Calibri"/>
                <a:cs typeface="Calibri"/>
              </a:rPr>
              <a:t>e</a:t>
            </a:r>
            <a:r>
              <a:rPr dirty="0" sz="1200">
                <a:solidFill>
                  <a:srgbClr val="525252"/>
                </a:solidFill>
                <a:latin typeface="Calibri"/>
                <a:cs typeface="Calibri"/>
              </a:rPr>
              <a:t>	</a:t>
            </a:r>
            <a:r>
              <a:rPr dirty="0" sz="1200" spc="-440">
                <a:latin typeface="Calibri"/>
                <a:cs typeface="Calibri"/>
              </a:rPr>
              <a:t>i</a:t>
            </a:r>
            <a:r>
              <a:rPr dirty="0" sz="1200" spc="50">
                <a:latin typeface="Calibri"/>
                <a:cs typeface="Calibri"/>
              </a:rPr>
              <a:t>Tas</a:t>
            </a:r>
            <a:r>
              <a:rPr dirty="0" sz="1200" spc="60">
                <a:latin typeface="Calibri"/>
                <a:cs typeface="Calibri"/>
              </a:rPr>
              <a:t>k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 spc="730">
                <a:latin typeface="Calibri"/>
                <a:cs typeface="Calibri"/>
              </a:rPr>
              <a:t>t</a:t>
            </a:r>
            <a:r>
              <a:rPr dirty="0" sz="1200" spc="-150">
                <a:latin typeface="Calibri"/>
                <a:cs typeface="Calibri"/>
              </a:rPr>
              <a:t>s</a:t>
            </a:r>
            <a:r>
              <a:rPr dirty="0" sz="1200" spc="735">
                <a:solidFill>
                  <a:srgbClr val="282828"/>
                </a:solidFill>
                <a:latin typeface="Calibri"/>
                <a:cs typeface="Calibri"/>
              </a:rPr>
              <a:t>d</a:t>
            </a:r>
            <a:r>
              <a:rPr dirty="0" sz="120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777777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3628" y="3437383"/>
            <a:ext cx="227965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60">
                <a:solidFill>
                  <a:srgbClr val="1F1F1F"/>
                </a:solidFill>
                <a:latin typeface="Times New Roman"/>
                <a:cs typeface="Times New Roman"/>
              </a:rPr>
              <a:t>pop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25993" y="3437383"/>
            <a:ext cx="688975" cy="241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54659" algn="l"/>
              </a:tabLst>
            </a:pPr>
            <a:r>
              <a:rPr dirty="0" sz="1400" spc="-25">
                <a:solidFill>
                  <a:srgbClr val="2D2D2D"/>
                </a:solidFill>
                <a:latin typeface="Times New Roman"/>
                <a:cs typeface="Times New Roman"/>
              </a:rPr>
              <a:t>his</a:t>
            </a:r>
            <a:r>
              <a:rPr dirty="0" sz="1400">
                <a:solidFill>
                  <a:srgbClr val="2D2D2D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dirty="0" sz="1400" spc="-6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1400" spc="-150">
                <a:solidFill>
                  <a:srgbClr val="2F2F2F"/>
                </a:solidFill>
                <a:latin typeface="Times New Roman"/>
                <a:cs typeface="Times New Roman"/>
              </a:rPr>
              <a:t>bo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97498" y="3606055"/>
            <a:ext cx="2663825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7525" algn="l"/>
                <a:tab pos="802640" algn="l"/>
                <a:tab pos="1496060" algn="l"/>
                <a:tab pos="1923414" algn="l"/>
                <a:tab pos="2575560" algn="l"/>
              </a:tabLst>
            </a:pPr>
            <a:r>
              <a:rPr dirty="0" sz="1300" spc="-10">
                <a:solidFill>
                  <a:srgbClr val="232323"/>
                </a:solidFill>
                <a:latin typeface="Calibri"/>
                <a:cs typeface="Calibri"/>
              </a:rPr>
              <a:t>doing</a:t>
            </a:r>
            <a:r>
              <a:rPr dirty="0" sz="130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dirty="0" sz="1300" spc="-50">
                <a:solidFill>
                  <a:srgbClr val="232323"/>
                </a:solidFill>
                <a:latin typeface="Calibri"/>
                <a:cs typeface="Calibri"/>
              </a:rPr>
              <a:t>t</a:t>
            </a:r>
            <a:r>
              <a:rPr dirty="0" sz="130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dirty="0" sz="1300">
                <a:solidFill>
                  <a:srgbClr val="444444"/>
                </a:solidFill>
                <a:latin typeface="Calibri"/>
                <a:cs typeface="Calibri"/>
              </a:rPr>
              <a:t>h</a:t>
            </a:r>
            <a:r>
              <a:rPr dirty="0" sz="1300" spc="484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181818"/>
                </a:solidFill>
                <a:latin typeface="Calibri"/>
                <a:cs typeface="Calibri"/>
              </a:rPr>
              <a:t>B</a:t>
            </a:r>
            <a:r>
              <a:rPr dirty="0" sz="1300">
                <a:solidFill>
                  <a:srgbClr val="181818"/>
                </a:solidFill>
                <a:latin typeface="Calibri"/>
                <a:cs typeface="Calibri"/>
              </a:rPr>
              <a:t>	</a:t>
            </a:r>
            <a:r>
              <a:rPr dirty="0" sz="1300">
                <a:solidFill>
                  <a:srgbClr val="363636"/>
                </a:solidFill>
                <a:latin typeface="Calibri"/>
                <a:cs typeface="Calibri"/>
              </a:rPr>
              <a:t>s</a:t>
            </a:r>
            <a:r>
              <a:rPr dirty="0" sz="1300" spc="130">
                <a:solidFill>
                  <a:srgbClr val="363636"/>
                </a:solidFill>
                <a:latin typeface="Calibri"/>
                <a:cs typeface="Calibri"/>
              </a:rPr>
              <a:t>  </a:t>
            </a:r>
            <a:r>
              <a:rPr dirty="0" sz="1300" spc="-25">
                <a:solidFill>
                  <a:srgbClr val="2A2A2A"/>
                </a:solidFill>
                <a:latin typeface="Calibri"/>
                <a:cs typeface="Calibri"/>
              </a:rPr>
              <a:t>te</a:t>
            </a:r>
            <a:r>
              <a:rPr dirty="0" sz="130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300" spc="-5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dirty="0" sz="130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1300" spc="-50">
                <a:solidFill>
                  <a:srgbClr val="3A3A3A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43527" y="3606055"/>
            <a:ext cx="14478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>
                <a:latin typeface="Calibri"/>
                <a:cs typeface="Calibri"/>
              </a:rPr>
              <a:t>Bi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15763" y="3437383"/>
            <a:ext cx="392430" cy="3956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505"/>
              </a:lnSpc>
              <a:spcBef>
                <a:spcPts val="114"/>
              </a:spcBef>
              <a:tabLst>
                <a:tab pos="235585" algn="l"/>
              </a:tabLst>
            </a:pPr>
            <a:r>
              <a:rPr dirty="0" sz="1400" spc="-50">
                <a:solidFill>
                  <a:srgbClr val="2F2F2F"/>
                </a:solidFill>
                <a:latin typeface="Times New Roman"/>
                <a:cs typeface="Times New Roman"/>
              </a:rPr>
              <a:t>o</a:t>
            </a:r>
            <a:r>
              <a:rPr dirty="0" sz="140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dirty="0" sz="1400" spc="-25">
                <a:solidFill>
                  <a:srgbClr val="3B3B3B"/>
                </a:solidFill>
                <a:latin typeface="Times New Roman"/>
                <a:cs typeface="Times New Roman"/>
              </a:rPr>
              <a:t>as</a:t>
            </a:r>
            <a:endParaRPr sz="1400">
              <a:latin typeface="Times New Roman"/>
              <a:cs typeface="Times New Roman"/>
            </a:endParaRPr>
          </a:p>
          <a:p>
            <a:pPr algn="r" marR="52705">
              <a:lnSpc>
                <a:spcPts val="1385"/>
              </a:lnSpc>
            </a:pPr>
            <a:r>
              <a:rPr dirty="0" sz="1300" spc="-50"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41702" y="3779191"/>
            <a:ext cx="3315970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30580" algn="l"/>
                <a:tab pos="1359535" algn="l"/>
                <a:tab pos="3302635" algn="l"/>
              </a:tabLst>
            </a:pPr>
            <a:r>
              <a:rPr dirty="0" u="sng" sz="1200" spc="-10"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Tb</a:t>
            </a:r>
            <a:r>
              <a:rPr dirty="0" u="sng" sz="1200" spc="-10">
                <a:solidFill>
                  <a:srgbClr val="3D3D3D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L</a:t>
            </a:r>
            <a:r>
              <a:rPr dirty="0" u="sng" sz="1200" spc="-10"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s</a:t>
            </a:r>
            <a:r>
              <a:rPr dirty="0" u="sng" sz="1200" spc="-10">
                <a:solidFill>
                  <a:srgbClr val="3D3D3D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ori</a:t>
            </a:r>
            <a:r>
              <a:rPr dirty="0" u="sng" sz="1200">
                <a:solidFill>
                  <a:srgbClr val="3D3D3D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	</a:t>
            </a:r>
            <a:r>
              <a:rPr dirty="0" u="sng" sz="1200" spc="-325">
                <a:solidFill>
                  <a:srgbClr val="525252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1</a:t>
            </a:r>
            <a:r>
              <a:rPr dirty="0" u="sng" sz="1200" spc="135">
                <a:solidFill>
                  <a:srgbClr val="525252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  </a:t>
            </a:r>
            <a:r>
              <a:rPr dirty="0" u="sng" sz="1200" spc="-50">
                <a:solidFill>
                  <a:srgbClr val="606060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o</a:t>
            </a:r>
            <a:r>
              <a:rPr dirty="0" u="sng" sz="1200">
                <a:solidFill>
                  <a:srgbClr val="606060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	</a:t>
            </a:r>
            <a:r>
              <a:rPr dirty="0" u="sng" sz="1200" spc="-25">
                <a:solidFill>
                  <a:srgbClr val="1F1F1F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ute</a:t>
            </a:r>
            <a:r>
              <a:rPr dirty="0" u="sng" sz="1200">
                <a:solidFill>
                  <a:srgbClr val="1F1F1F"/>
                </a:solidFill>
                <a:uFill>
                  <a:solidFill>
                    <a:srgbClr val="232323"/>
                  </a:solidFill>
                </a:uFill>
                <a:latin typeface="Calibri"/>
                <a:cs typeface="Calibri"/>
              </a:rPr>
              <a:t>	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884539" y="3945433"/>
            <a:ext cx="2842895" cy="0"/>
          </a:xfrm>
          <a:custGeom>
            <a:avLst/>
            <a:gdLst/>
            <a:ahLst/>
            <a:cxnLst/>
            <a:rect l="l" t="t" r="r" b="b"/>
            <a:pathLst>
              <a:path w="2842895" h="0">
                <a:moveTo>
                  <a:pt x="0" y="0"/>
                </a:moveTo>
                <a:lnTo>
                  <a:pt x="2842618" y="0"/>
                </a:lnTo>
              </a:path>
            </a:pathLst>
          </a:custGeom>
          <a:ln w="3175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38094" y="4159696"/>
            <a:ext cx="7785100" cy="1755139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just" marL="353695" marR="5080" indent="-341630">
              <a:lnSpc>
                <a:spcPts val="3229"/>
              </a:lnSpc>
              <a:spcBef>
                <a:spcPts val="590"/>
              </a:spcBef>
              <a:buChar char="•"/>
              <a:tabLst>
                <a:tab pos="356235" algn="l"/>
              </a:tabLst>
            </a:pP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Idle</a:t>
            </a:r>
            <a:r>
              <a:rPr dirty="0" sz="3050" spc="-19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task</a:t>
            </a:r>
            <a:r>
              <a:rPr dirty="0" sz="3050" spc="-14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is</a:t>
            </a:r>
            <a:r>
              <a:rPr dirty="0" sz="3050" spc="-165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immediately</a:t>
            </a:r>
            <a:r>
              <a:rPr dirty="0" sz="3050" spc="65">
                <a:latin typeface="Arial"/>
                <a:cs typeface="Arial"/>
              </a:rPr>
              <a:t> </a:t>
            </a:r>
            <a:r>
              <a:rPr dirty="0" sz="3050" spc="-35">
                <a:latin typeface="Arial"/>
                <a:cs typeface="Arial"/>
              </a:rPr>
              <a:t>swapped</a:t>
            </a:r>
            <a:r>
              <a:rPr dirty="0" sz="3050" spc="-14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out</a:t>
            </a:r>
            <a:r>
              <a:rPr dirty="0" sz="3050" spc="-180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to 	allow</a:t>
            </a:r>
            <a:r>
              <a:rPr dirty="0" sz="3050" spc="-145">
                <a:latin typeface="Arial"/>
                <a:cs typeface="Arial"/>
              </a:rPr>
              <a:t> </a:t>
            </a:r>
            <a:r>
              <a:rPr dirty="0" sz="3050" spc="-95">
                <a:latin typeface="Arial"/>
                <a:cs typeface="Arial"/>
              </a:rPr>
              <a:t>Task</a:t>
            </a:r>
            <a:r>
              <a:rPr dirty="0" sz="3050" spc="-8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2</a:t>
            </a:r>
            <a:r>
              <a:rPr dirty="0" sz="3050" spc="-21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to</a:t>
            </a:r>
            <a:r>
              <a:rPr dirty="0" sz="3050" spc="-19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execute</a:t>
            </a:r>
            <a:r>
              <a:rPr dirty="0" sz="3050" spc="-5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at</a:t>
            </a:r>
            <a:r>
              <a:rPr dirty="0" sz="3050" spc="-18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35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instant</a:t>
            </a:r>
            <a:r>
              <a:rPr dirty="0" sz="3050" spc="-70">
                <a:latin typeface="Arial"/>
                <a:cs typeface="Arial"/>
              </a:rPr>
              <a:t> </a:t>
            </a:r>
            <a:r>
              <a:rPr dirty="0" sz="3050" spc="-95">
                <a:latin typeface="Arial"/>
                <a:cs typeface="Arial"/>
              </a:rPr>
              <a:t>Task</a:t>
            </a:r>
            <a:r>
              <a:rPr dirty="0" sz="3050" spc="-80">
                <a:latin typeface="Arial"/>
                <a:cs typeface="Arial"/>
              </a:rPr>
              <a:t> </a:t>
            </a:r>
            <a:r>
              <a:rPr dirty="0" sz="3050" spc="-50">
                <a:latin typeface="Arial"/>
                <a:cs typeface="Arial"/>
              </a:rPr>
              <a:t>2 </a:t>
            </a:r>
            <a:r>
              <a:rPr dirty="0" sz="3050" spc="-50">
                <a:latin typeface="Arial"/>
                <a:cs typeface="Arial"/>
              </a:rPr>
              <a:t>	</a:t>
            </a:r>
            <a:r>
              <a:rPr dirty="0" sz="3050" spc="-25">
                <a:latin typeface="Arial"/>
                <a:cs typeface="Arial"/>
              </a:rPr>
              <a:t>leaves</a:t>
            </a:r>
            <a:r>
              <a:rPr dirty="0" sz="3050" spc="-9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95">
                <a:latin typeface="Arial"/>
                <a:cs typeface="Arial"/>
              </a:rPr>
              <a:t> </a:t>
            </a:r>
            <a:r>
              <a:rPr dirty="0" sz="3050" spc="-20">
                <a:latin typeface="Arial"/>
                <a:cs typeface="Arial"/>
              </a:rPr>
              <a:t>Blocked</a:t>
            </a:r>
            <a:r>
              <a:rPr dirty="0" sz="3050" spc="-14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state.</a:t>
            </a:r>
            <a:endParaRPr sz="3050">
              <a:latin typeface="Arial"/>
              <a:cs typeface="Arial"/>
            </a:endParaRPr>
          </a:p>
          <a:p>
            <a:pPr algn="just" marL="461645">
              <a:lnSpc>
                <a:spcPct val="100000"/>
              </a:lnSpc>
              <a:spcBef>
                <a:spcPts val="130"/>
              </a:spcBef>
            </a:pPr>
            <a:r>
              <a:rPr dirty="0" sz="2750" spc="-1350">
                <a:latin typeface="Arial"/>
                <a:cs typeface="Arial"/>
              </a:rPr>
              <a:t>—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 spc="-150">
                <a:latin typeface="Arial"/>
                <a:cs typeface="Arial"/>
              </a:rPr>
              <a:t>Task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2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340">
                <a:latin typeface="Arial"/>
                <a:cs typeface="Arial"/>
              </a:rPr>
              <a:t>pre—</a:t>
            </a:r>
            <a:r>
              <a:rPr dirty="0" sz="2750" spc="-300">
                <a:latin typeface="Arial"/>
                <a:cs typeface="Arial"/>
              </a:rPr>
              <a:t>empts</a:t>
            </a:r>
            <a:r>
              <a:rPr dirty="0" sz="2750" spc="140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the</a:t>
            </a:r>
            <a:r>
              <a:rPr dirty="0" sz="2750" spc="-85">
                <a:latin typeface="Arial"/>
                <a:cs typeface="Arial"/>
              </a:rPr>
              <a:t> </a:t>
            </a:r>
            <a:r>
              <a:rPr dirty="0" sz="2750" spc="-40">
                <a:latin typeface="Arial"/>
                <a:cs typeface="Arial"/>
              </a:rPr>
              <a:t>idle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task</a:t>
            </a:r>
            <a:r>
              <a:rPr dirty="0" sz="2750" spc="-3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automatically.</a:t>
            </a:r>
            <a:endParaRPr sz="275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 sz="1000" spc="-25">
                <a:latin typeface="Arial"/>
                <a:cs typeface="Arial"/>
              </a:rPr>
              <a:t>55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D66"/>
                </a:solidFill>
              </a:rPr>
              <a:t>Idle</a:t>
            </a:r>
            <a:r>
              <a:rPr dirty="0" spc="-80">
                <a:solidFill>
                  <a:srgbClr val="001D66"/>
                </a:solidFill>
              </a:rPr>
              <a:t> </a:t>
            </a:r>
            <a:r>
              <a:rPr dirty="0" spc="-10">
                <a:solidFill>
                  <a:srgbClr val="031A60"/>
                </a:solidFill>
              </a:rPr>
              <a:t>Task</a:t>
            </a:r>
            <a:r>
              <a:rPr dirty="0" spc="45">
                <a:solidFill>
                  <a:srgbClr val="031A60"/>
                </a:solidFill>
              </a:rPr>
              <a:t> </a:t>
            </a:r>
            <a:r>
              <a:rPr dirty="0">
                <a:solidFill>
                  <a:srgbClr val="011F5B"/>
                </a:solidFill>
              </a:rPr>
              <a:t>Hook</a:t>
            </a:r>
            <a:r>
              <a:rPr dirty="0" spc="130">
                <a:solidFill>
                  <a:srgbClr val="011F5B"/>
                </a:solidFill>
              </a:rPr>
              <a:t> </a:t>
            </a:r>
            <a:r>
              <a:rPr dirty="0" spc="60">
                <a:solidFill>
                  <a:srgbClr val="011D60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639" y="1594147"/>
            <a:ext cx="7987030" cy="46437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2745" marR="5080" indent="-360680">
              <a:lnSpc>
                <a:spcPts val="3379"/>
              </a:lnSpc>
              <a:spcBef>
                <a:spcPts val="420"/>
              </a:spcBef>
              <a:buChar char="•"/>
              <a:tabLst>
                <a:tab pos="372745" algn="l"/>
                <a:tab pos="381000" algn="l"/>
              </a:tabLst>
            </a:pPr>
            <a:r>
              <a:rPr dirty="0" sz="3000">
                <a:latin typeface="Calibri"/>
                <a:cs typeface="Calibri"/>
              </a:rPr>
              <a:t>	Add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application</a:t>
            </a:r>
            <a:r>
              <a:rPr dirty="0" sz="3000" spc="1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specific</a:t>
            </a:r>
            <a:r>
              <a:rPr dirty="0" sz="3000" spc="114">
                <a:latin typeface="Calibri"/>
                <a:cs typeface="Calibri"/>
              </a:rPr>
              <a:t> </a:t>
            </a:r>
            <a:r>
              <a:rPr dirty="0" sz="3000" spc="-55">
                <a:latin typeface="Calibri"/>
                <a:cs typeface="Calibri"/>
              </a:rPr>
              <a:t>functionality</a:t>
            </a:r>
            <a:r>
              <a:rPr dirty="0" sz="3000" spc="12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directly</a:t>
            </a:r>
            <a:r>
              <a:rPr dirty="0" sz="3000" spc="13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into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1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idle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task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by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95">
                <a:latin typeface="Calibri"/>
                <a:cs typeface="Calibri"/>
              </a:rPr>
              <a:t>use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idle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hook</a:t>
            </a:r>
            <a:endParaRPr sz="3000">
              <a:latin typeface="Calibri"/>
              <a:cs typeface="Calibri"/>
            </a:endParaRPr>
          </a:p>
          <a:p>
            <a:pPr marL="765810" marR="261620" indent="-303530">
              <a:lnSpc>
                <a:spcPts val="2920"/>
              </a:lnSpc>
              <a:spcBef>
                <a:spcPts val="500"/>
              </a:spcBef>
            </a:pPr>
            <a:r>
              <a:rPr dirty="0" sz="2500" spc="-635">
                <a:latin typeface="Calibri"/>
                <a:cs typeface="Calibri"/>
              </a:rPr>
              <a:t>—</a:t>
            </a:r>
            <a:r>
              <a:rPr dirty="0" sz="2500" spc="260">
                <a:latin typeface="Calibri"/>
                <a:cs typeface="Calibri"/>
              </a:rPr>
              <a:t> </a:t>
            </a:r>
            <a:r>
              <a:rPr dirty="0" sz="2500" spc="155">
                <a:latin typeface="Calibri"/>
                <a:cs typeface="Calibri"/>
              </a:rPr>
              <a:t>A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function</a:t>
            </a:r>
            <a:r>
              <a:rPr dirty="0" sz="2500" spc="2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called</a:t>
            </a:r>
            <a:r>
              <a:rPr dirty="0" sz="2500" spc="1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automatically</a:t>
            </a:r>
            <a:r>
              <a:rPr dirty="0" sz="2500" spc="300">
                <a:latin typeface="Calibri"/>
                <a:cs typeface="Calibri"/>
              </a:rPr>
              <a:t> </a:t>
            </a:r>
            <a:r>
              <a:rPr dirty="0" sz="2500" spc="55">
                <a:latin typeface="Calibri"/>
                <a:cs typeface="Calibri"/>
              </a:rPr>
              <a:t>by</a:t>
            </a:r>
            <a:r>
              <a:rPr dirty="0" sz="2500" spc="1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1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idle</a:t>
            </a:r>
            <a:r>
              <a:rPr dirty="0" sz="2500" spc="10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task</a:t>
            </a:r>
            <a:r>
              <a:rPr dirty="0" sz="2500" spc="9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once </a:t>
            </a:r>
            <a:r>
              <a:rPr dirty="0" sz="2500">
                <a:latin typeface="Calibri"/>
                <a:cs typeface="Calibri"/>
              </a:rPr>
              <a:t>per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 spc="-30">
                <a:latin typeface="Calibri"/>
                <a:cs typeface="Calibri"/>
              </a:rPr>
              <a:t>iteration</a:t>
            </a:r>
            <a:r>
              <a:rPr dirty="0" sz="2500" spc="1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1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idle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task</a:t>
            </a:r>
            <a:r>
              <a:rPr dirty="0" sz="2500" spc="5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loop</a:t>
            </a:r>
            <a:endParaRPr sz="2500">
              <a:latin typeface="Calibri"/>
              <a:cs typeface="Calibri"/>
            </a:endParaRPr>
          </a:p>
          <a:p>
            <a:pPr marL="377825" indent="-339090">
              <a:lnSpc>
                <a:spcPct val="100000"/>
              </a:lnSpc>
              <a:spcBef>
                <a:spcPts val="550"/>
              </a:spcBef>
              <a:buChar char="•"/>
              <a:tabLst>
                <a:tab pos="377825" algn="l"/>
              </a:tabLst>
            </a:pPr>
            <a:r>
              <a:rPr dirty="0" sz="2800" spc="-10">
                <a:latin typeface="Arial"/>
                <a:cs typeface="Arial"/>
              </a:rPr>
              <a:t>Common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uses for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Idle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task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hook</a:t>
            </a:r>
            <a:endParaRPr sz="2800">
              <a:latin typeface="Arial"/>
              <a:cs typeface="Arial"/>
            </a:endParaRPr>
          </a:p>
          <a:p>
            <a:pPr lvl="1" marL="782955" indent="-330200">
              <a:lnSpc>
                <a:spcPts val="2940"/>
              </a:lnSpc>
              <a:spcBef>
                <a:spcPts val="495"/>
              </a:spcBef>
              <a:buChar char="—"/>
              <a:tabLst>
                <a:tab pos="782955" algn="l"/>
              </a:tabLst>
            </a:pPr>
            <a:r>
              <a:rPr dirty="0" sz="2500" spc="-65">
                <a:latin typeface="Arial"/>
                <a:cs typeface="Arial"/>
              </a:rPr>
              <a:t>Executing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low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priority,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background,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or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continuous</a:t>
            </a:r>
            <a:endParaRPr sz="2500">
              <a:latin typeface="Arial"/>
              <a:cs typeface="Arial"/>
            </a:endParaRPr>
          </a:p>
          <a:p>
            <a:pPr marL="768350">
              <a:lnSpc>
                <a:spcPts val="2940"/>
              </a:lnSpc>
            </a:pPr>
            <a:r>
              <a:rPr dirty="0" sz="2500" spc="-10">
                <a:latin typeface="Arial"/>
                <a:cs typeface="Arial"/>
              </a:rPr>
              <a:t>processing</a:t>
            </a:r>
            <a:endParaRPr sz="2500">
              <a:latin typeface="Arial"/>
              <a:cs typeface="Arial"/>
            </a:endParaRPr>
          </a:p>
          <a:p>
            <a:pPr lvl="1" marL="774700" indent="-330200">
              <a:lnSpc>
                <a:spcPct val="100000"/>
              </a:lnSpc>
              <a:spcBef>
                <a:spcPts val="445"/>
              </a:spcBef>
              <a:buChar char="—"/>
              <a:tabLst>
                <a:tab pos="774700" algn="l"/>
              </a:tabLst>
            </a:pPr>
            <a:r>
              <a:rPr dirty="0" sz="2500" spc="-55">
                <a:latin typeface="Arial"/>
                <a:cs typeface="Arial"/>
              </a:rPr>
              <a:t>Measuring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the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amount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8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spare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processing </a:t>
            </a:r>
            <a:r>
              <a:rPr dirty="0" sz="2500" spc="-10">
                <a:latin typeface="Arial"/>
                <a:cs typeface="Arial"/>
              </a:rPr>
              <a:t>capacity</a:t>
            </a:r>
            <a:endParaRPr sz="2500">
              <a:latin typeface="Arial"/>
              <a:cs typeface="Arial"/>
            </a:endParaRPr>
          </a:p>
          <a:p>
            <a:pPr lvl="1" marL="768985" marR="53340" indent="-316230">
              <a:lnSpc>
                <a:spcPts val="2880"/>
              </a:lnSpc>
              <a:spcBef>
                <a:spcPts val="640"/>
              </a:spcBef>
              <a:buChar char="—"/>
              <a:tabLst>
                <a:tab pos="768985" algn="l"/>
                <a:tab pos="782955" algn="l"/>
              </a:tabLst>
            </a:pPr>
            <a:r>
              <a:rPr dirty="0" sz="2500" spc="-50">
                <a:latin typeface="Arial"/>
                <a:cs typeface="Arial"/>
              </a:rPr>
              <a:t>	</a:t>
            </a:r>
            <a:r>
              <a:rPr dirty="0" sz="2500" spc="-50">
                <a:latin typeface="Arial"/>
                <a:cs typeface="Arial"/>
              </a:rPr>
              <a:t>Placing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the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processor</a:t>
            </a:r>
            <a:r>
              <a:rPr dirty="0" sz="2500" spc="3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into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low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power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mode, </a:t>
            </a:r>
            <a:r>
              <a:rPr dirty="0" sz="2500" spc="-45">
                <a:latin typeface="Arial"/>
                <a:cs typeface="Arial"/>
              </a:rPr>
              <a:t>providing </a:t>
            </a:r>
            <a:r>
              <a:rPr dirty="0" sz="2500">
                <a:latin typeface="Arial"/>
                <a:cs typeface="Arial"/>
              </a:rPr>
              <a:t>an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automatic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method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saving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power </a:t>
            </a:r>
            <a:r>
              <a:rPr dirty="0" sz="2500" spc="-70">
                <a:latin typeface="Arial"/>
                <a:cs typeface="Arial"/>
              </a:rPr>
              <a:t>whenever</a:t>
            </a:r>
            <a:r>
              <a:rPr dirty="0" sz="2500" spc="80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no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application</a:t>
            </a:r>
            <a:r>
              <a:rPr dirty="0" sz="2500" spc="2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processing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be</a:t>
            </a:r>
            <a:r>
              <a:rPr dirty="0" sz="2500" spc="-170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performed.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 sz="1000" spc="-25">
                <a:latin typeface="Arial"/>
                <a:cs typeface="Arial"/>
              </a:rPr>
              <a:t>55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1241" y="315713"/>
            <a:ext cx="7936230" cy="1022985"/>
          </a:xfrm>
          <a:prstGeom prst="rect"/>
        </p:spPr>
        <p:txBody>
          <a:bodyPr wrap="square" lIns="0" tIns="39370" rIns="0" bIns="0" rtlCol="0" vert="horz">
            <a:spAutoFit/>
          </a:bodyPr>
          <a:lstStyle/>
          <a:p>
            <a:pPr marL="12700" marR="5080" indent="5080">
              <a:lnSpc>
                <a:spcPts val="3870"/>
              </a:lnSpc>
              <a:spcBef>
                <a:spcPts val="310"/>
              </a:spcBef>
            </a:pPr>
            <a:r>
              <a:rPr dirty="0" sz="3300" spc="85">
                <a:solidFill>
                  <a:srgbClr val="0A2869"/>
                </a:solidFill>
              </a:rPr>
              <a:t>Limitations</a:t>
            </a:r>
            <a:r>
              <a:rPr dirty="0" sz="3300" spc="210">
                <a:solidFill>
                  <a:srgbClr val="0A2869"/>
                </a:solidFill>
              </a:rPr>
              <a:t> </a:t>
            </a:r>
            <a:r>
              <a:rPr dirty="0" sz="3300" spc="85">
                <a:solidFill>
                  <a:srgbClr val="0C2867"/>
                </a:solidFill>
              </a:rPr>
              <a:t>on</a:t>
            </a:r>
            <a:r>
              <a:rPr dirty="0" sz="3300" spc="-5">
                <a:solidFill>
                  <a:srgbClr val="0C2867"/>
                </a:solidFill>
              </a:rPr>
              <a:t> </a:t>
            </a:r>
            <a:r>
              <a:rPr dirty="0" sz="3300">
                <a:solidFill>
                  <a:srgbClr val="011F5B"/>
                </a:solidFill>
              </a:rPr>
              <a:t>the</a:t>
            </a:r>
            <a:r>
              <a:rPr dirty="0" sz="3300" spc="30">
                <a:solidFill>
                  <a:srgbClr val="011F5B"/>
                </a:solidFill>
              </a:rPr>
              <a:t> </a:t>
            </a:r>
            <a:r>
              <a:rPr dirty="0" sz="3300" spc="90">
                <a:solidFill>
                  <a:srgbClr val="032156"/>
                </a:solidFill>
              </a:rPr>
              <a:t>implementation</a:t>
            </a:r>
            <a:r>
              <a:rPr dirty="0" sz="3300" spc="-254">
                <a:solidFill>
                  <a:srgbClr val="032156"/>
                </a:solidFill>
              </a:rPr>
              <a:t> </a:t>
            </a:r>
            <a:r>
              <a:rPr dirty="0" sz="3300">
                <a:solidFill>
                  <a:srgbClr val="00184D"/>
                </a:solidFill>
              </a:rPr>
              <a:t>of</a:t>
            </a:r>
            <a:r>
              <a:rPr dirty="0" sz="3300" spc="185">
                <a:solidFill>
                  <a:srgbClr val="00184D"/>
                </a:solidFill>
              </a:rPr>
              <a:t> </a:t>
            </a:r>
            <a:r>
              <a:rPr dirty="0" sz="3300" spc="-20">
                <a:solidFill>
                  <a:srgbClr val="0C2162"/>
                </a:solidFill>
              </a:rPr>
              <a:t>Idle </a:t>
            </a:r>
            <a:r>
              <a:rPr dirty="0" sz="3300">
                <a:solidFill>
                  <a:srgbClr val="072159"/>
                </a:solidFill>
              </a:rPr>
              <a:t>Task </a:t>
            </a:r>
            <a:r>
              <a:rPr dirty="0" sz="3300">
                <a:solidFill>
                  <a:srgbClr val="011A50"/>
                </a:solidFill>
              </a:rPr>
              <a:t>Hook</a:t>
            </a:r>
            <a:r>
              <a:rPr dirty="0" sz="3300" spc="30">
                <a:solidFill>
                  <a:srgbClr val="011A50"/>
                </a:solidFill>
              </a:rPr>
              <a:t> </a:t>
            </a:r>
            <a:r>
              <a:rPr dirty="0" sz="3300" spc="65">
                <a:solidFill>
                  <a:srgbClr val="051D56"/>
                </a:solidFill>
              </a:rPr>
              <a:t>Functions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11302" y="1543553"/>
            <a:ext cx="8007350" cy="44697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78460" indent="-337820">
              <a:lnSpc>
                <a:spcPct val="100000"/>
              </a:lnSpc>
              <a:spcBef>
                <a:spcPts val="375"/>
              </a:spcBef>
              <a:buChar char="•"/>
              <a:tabLst>
                <a:tab pos="378460" algn="l"/>
              </a:tabLst>
            </a:pPr>
            <a:r>
              <a:rPr dirty="0" sz="2800">
                <a:latin typeface="Arial"/>
                <a:cs typeface="Arial"/>
              </a:rPr>
              <a:t>Rules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idle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task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hook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functions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must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adhere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  <a:p>
            <a:pPr lvl="1" marL="776605" indent="-330200">
              <a:lnSpc>
                <a:spcPct val="100000"/>
              </a:lnSpc>
              <a:spcBef>
                <a:spcPts val="204"/>
              </a:spcBef>
              <a:buChar char="—"/>
              <a:tabLst>
                <a:tab pos="776605" algn="l"/>
              </a:tabLst>
            </a:pPr>
            <a:r>
              <a:rPr dirty="0" sz="2500" spc="-50">
                <a:latin typeface="Arial"/>
                <a:cs typeface="Arial"/>
              </a:rPr>
              <a:t>Must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never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attempt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block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or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suspend.</a:t>
            </a:r>
            <a:endParaRPr sz="2500">
              <a:latin typeface="Arial"/>
              <a:cs typeface="Arial"/>
            </a:endParaRPr>
          </a:p>
          <a:p>
            <a:pPr lvl="1" marL="777875" marR="521970" indent="-342900">
              <a:lnSpc>
                <a:spcPct val="85800"/>
              </a:lnSpc>
              <a:spcBef>
                <a:spcPts val="545"/>
              </a:spcBef>
              <a:buChar char="—"/>
              <a:tabLst>
                <a:tab pos="779780" algn="l"/>
              </a:tabLst>
            </a:pPr>
            <a:r>
              <a:rPr dirty="0" sz="2600" spc="-50">
                <a:latin typeface="Arial"/>
                <a:cs typeface="Arial"/>
              </a:rPr>
              <a:t>If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85">
                <a:latin typeface="Arial"/>
                <a:cs typeface="Arial"/>
              </a:rPr>
              <a:t>the</a:t>
            </a:r>
            <a:r>
              <a:rPr dirty="0" sz="2600" spc="-95">
                <a:latin typeface="Arial"/>
                <a:cs typeface="Arial"/>
              </a:rPr>
              <a:t> application</a:t>
            </a:r>
            <a:r>
              <a:rPr dirty="0" sz="2600" spc="30">
                <a:latin typeface="Arial"/>
                <a:cs typeface="Arial"/>
              </a:rPr>
              <a:t> </a:t>
            </a:r>
            <a:r>
              <a:rPr dirty="0" sz="2600" spc="-105">
                <a:latin typeface="Arial"/>
                <a:cs typeface="Arial"/>
              </a:rPr>
              <a:t>uses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14">
                <a:latin typeface="Arial"/>
                <a:cs typeface="Arial"/>
              </a:rPr>
              <a:t>vTaskDelete(),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135">
                <a:latin typeface="Arial"/>
                <a:cs typeface="Arial"/>
              </a:rPr>
              <a:t>the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70">
                <a:latin typeface="Arial"/>
                <a:cs typeface="Arial"/>
              </a:rPr>
              <a:t>Idle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 spc="-70">
                <a:latin typeface="Arial"/>
                <a:cs typeface="Arial"/>
              </a:rPr>
              <a:t>task </a:t>
            </a:r>
            <a:r>
              <a:rPr dirty="0" sz="2600" spc="-70">
                <a:latin typeface="Arial"/>
                <a:cs typeface="Arial"/>
              </a:rPr>
              <a:t>	</a:t>
            </a:r>
            <a:r>
              <a:rPr dirty="0" sz="2500" spc="-50">
                <a:latin typeface="Arial"/>
                <a:cs typeface="Arial"/>
              </a:rPr>
              <a:t>hook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must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always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return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its</a:t>
            </a:r>
            <a:r>
              <a:rPr dirty="0" sz="2500" spc="-16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caller</a:t>
            </a:r>
            <a:r>
              <a:rPr dirty="0" sz="2500" spc="-1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within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a </a:t>
            </a:r>
            <a:r>
              <a:rPr dirty="0" sz="2500" spc="-50">
                <a:latin typeface="Arial"/>
                <a:cs typeface="Arial"/>
              </a:rPr>
              <a:t>	</a:t>
            </a:r>
            <a:r>
              <a:rPr dirty="0" sz="2500" spc="-65">
                <a:latin typeface="Arial"/>
                <a:cs typeface="Arial"/>
              </a:rPr>
              <a:t>reasonable</a:t>
            </a:r>
            <a:r>
              <a:rPr dirty="0" sz="2500" spc="7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time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period.</a:t>
            </a:r>
            <a:endParaRPr sz="2500">
              <a:latin typeface="Arial"/>
              <a:cs typeface="Arial"/>
            </a:endParaRPr>
          </a:p>
          <a:p>
            <a:pPr lvl="2" marL="1176020" marR="5080" indent="-229870">
              <a:lnSpc>
                <a:spcPts val="2210"/>
              </a:lnSpc>
              <a:spcBef>
                <a:spcPts val="439"/>
              </a:spcBef>
              <a:buChar char="•"/>
              <a:tabLst>
                <a:tab pos="1183640" algn="l"/>
              </a:tabLst>
            </a:pPr>
            <a:r>
              <a:rPr dirty="0" sz="2200" spc="-80">
                <a:latin typeface="Arial"/>
                <a:cs typeface="Arial"/>
              </a:rPr>
              <a:t>Idle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task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is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responsible</a:t>
            </a:r>
            <a:r>
              <a:rPr dirty="0" sz="2200" spc="12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for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cleaning</a:t>
            </a:r>
            <a:r>
              <a:rPr dirty="0" sz="2200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up</a:t>
            </a:r>
            <a:r>
              <a:rPr dirty="0" sz="2200" spc="-150">
                <a:latin typeface="Arial"/>
                <a:cs typeface="Arial"/>
              </a:rPr>
              <a:t> </a:t>
            </a:r>
            <a:r>
              <a:rPr dirty="0" sz="2200" spc="-100">
                <a:latin typeface="Arial"/>
                <a:cs typeface="Arial"/>
              </a:rPr>
              <a:t>kernel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14">
                <a:latin typeface="Arial"/>
                <a:cs typeface="Arial"/>
              </a:rPr>
              <a:t>resources</a:t>
            </a:r>
            <a:r>
              <a:rPr dirty="0" sz="2200" spc="-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after </a:t>
            </a:r>
            <a:r>
              <a:rPr dirty="0" sz="2200" spc="-10">
                <a:latin typeface="Arial"/>
                <a:cs typeface="Arial"/>
              </a:rPr>
              <a:t>	</a:t>
            </a:r>
            <a:r>
              <a:rPr dirty="0" sz="2200" spc="-120">
                <a:latin typeface="Arial"/>
                <a:cs typeface="Arial"/>
              </a:rPr>
              <a:t>a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task</a:t>
            </a:r>
            <a:r>
              <a:rPr dirty="0" sz="2200" spc="15">
                <a:latin typeface="Arial"/>
                <a:cs typeface="Arial"/>
              </a:rPr>
              <a:t> </a:t>
            </a:r>
            <a:r>
              <a:rPr dirty="0" sz="2200" spc="-145">
                <a:latin typeface="Arial"/>
                <a:cs typeface="Arial"/>
              </a:rPr>
              <a:t>has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40">
                <a:latin typeface="Arial"/>
                <a:cs typeface="Arial"/>
              </a:rPr>
              <a:t>been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deleted.</a:t>
            </a:r>
            <a:endParaRPr sz="2200">
              <a:latin typeface="Arial"/>
              <a:cs typeface="Arial"/>
            </a:endParaRPr>
          </a:p>
          <a:p>
            <a:pPr lvl="2" marL="1176655" marR="21590" indent="-229870">
              <a:lnSpc>
                <a:spcPts val="2180"/>
              </a:lnSpc>
              <a:spcBef>
                <a:spcPts val="385"/>
              </a:spcBef>
              <a:buChar char="•"/>
              <a:tabLst>
                <a:tab pos="1180465" algn="l"/>
              </a:tabLst>
            </a:pPr>
            <a:r>
              <a:rPr dirty="0" sz="2200" spc="-55">
                <a:latin typeface="Arial"/>
                <a:cs typeface="Arial"/>
              </a:rPr>
              <a:t>If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14">
                <a:latin typeface="Arial"/>
                <a:cs typeface="Arial"/>
              </a:rPr>
              <a:t>the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80">
                <a:latin typeface="Arial"/>
                <a:cs typeface="Arial"/>
              </a:rPr>
              <a:t>idle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task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remains</a:t>
            </a:r>
            <a:r>
              <a:rPr dirty="0" sz="2200" spc="-10">
                <a:latin typeface="Arial"/>
                <a:cs typeface="Arial"/>
              </a:rPr>
              <a:t> </a:t>
            </a:r>
            <a:r>
              <a:rPr dirty="0" sz="2200" spc="-114">
                <a:latin typeface="Arial"/>
                <a:cs typeface="Arial"/>
              </a:rPr>
              <a:t>permanently</a:t>
            </a:r>
            <a:r>
              <a:rPr dirty="0" sz="2200" spc="70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in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the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Idle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 spc="-130">
                <a:latin typeface="Arial"/>
                <a:cs typeface="Arial"/>
              </a:rPr>
              <a:t>hook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function, </a:t>
            </a:r>
            <a:r>
              <a:rPr dirty="0" sz="2200" spc="-70">
                <a:latin typeface="Arial"/>
                <a:cs typeface="Arial"/>
              </a:rPr>
              <a:t>	</a:t>
            </a:r>
            <a:r>
              <a:rPr dirty="0" sz="2200" spc="-105">
                <a:latin typeface="Arial"/>
                <a:cs typeface="Arial"/>
              </a:rPr>
              <a:t>this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14">
                <a:latin typeface="Arial"/>
                <a:cs typeface="Arial"/>
              </a:rPr>
              <a:t>clean-</a:t>
            </a:r>
            <a:r>
              <a:rPr dirty="0" sz="2200" spc="-95">
                <a:latin typeface="Arial"/>
                <a:cs typeface="Arial"/>
              </a:rPr>
              <a:t>up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cannot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occur.</a:t>
            </a:r>
            <a:endParaRPr sz="2200">
              <a:latin typeface="Arial"/>
              <a:cs typeface="Arial"/>
            </a:endParaRPr>
          </a:p>
          <a:p>
            <a:pPr marL="382905" indent="-370205">
              <a:lnSpc>
                <a:spcPts val="3279"/>
              </a:lnSpc>
              <a:buChar char="•"/>
              <a:tabLst>
                <a:tab pos="382905" algn="l"/>
              </a:tabLst>
            </a:pPr>
            <a:r>
              <a:rPr dirty="0" sz="3200" spc="-50">
                <a:latin typeface="Calibri"/>
                <a:cs typeface="Calibri"/>
              </a:rPr>
              <a:t>Idle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task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75">
                <a:latin typeface="Calibri"/>
                <a:cs typeface="Calibri"/>
              </a:rPr>
              <a:t>hook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10">
                <a:latin typeface="Calibri"/>
                <a:cs typeface="Calibri"/>
              </a:rPr>
              <a:t>functions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have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135">
                <a:latin typeface="Calibri"/>
                <a:cs typeface="Calibri"/>
              </a:rPr>
              <a:t>the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60">
                <a:latin typeface="Calibri"/>
                <a:cs typeface="Calibri"/>
              </a:rPr>
              <a:t>name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</a:t>
            </a:r>
            <a:endParaRPr sz="3200">
              <a:latin typeface="Calibri"/>
              <a:cs typeface="Calibri"/>
            </a:endParaRPr>
          </a:p>
          <a:p>
            <a:pPr marL="367665">
              <a:lnSpc>
                <a:spcPts val="3520"/>
              </a:lnSpc>
            </a:pPr>
            <a:r>
              <a:rPr dirty="0" sz="3300" spc="-195">
                <a:latin typeface="Calibri"/>
                <a:cs typeface="Calibri"/>
              </a:rPr>
              <a:t>prototype</a:t>
            </a:r>
            <a:r>
              <a:rPr dirty="0" sz="3300" spc="1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as</a:t>
            </a:r>
            <a:endParaRPr sz="3300">
              <a:latin typeface="Calibri"/>
              <a:cs typeface="Calibri"/>
            </a:endParaRPr>
          </a:p>
          <a:p>
            <a:pPr marL="957580">
              <a:lnSpc>
                <a:spcPct val="100000"/>
              </a:lnSpc>
              <a:spcBef>
                <a:spcPts val="70"/>
              </a:spcBef>
            </a:pPr>
            <a:r>
              <a:rPr dirty="0" sz="2750" spc="-55">
                <a:latin typeface="Arial"/>
                <a:cs typeface="Arial"/>
              </a:rPr>
              <a:t>void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vAppIicationIdIeHook(void);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6718" y="6462413"/>
            <a:ext cx="180975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0"/>
              </a:lnSpc>
            </a:pPr>
            <a:r>
              <a:rPr dirty="0" sz="1150" spc="-25">
                <a:latin typeface="Consolas"/>
                <a:cs typeface="Consolas"/>
              </a:rPr>
              <a:t>S6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" rIns="0" bIns="0" rtlCol="0" vert="horz">
            <a:spAutoFit/>
          </a:bodyPr>
          <a:lstStyle/>
          <a:p>
            <a:pPr marL="17780" marR="5080" indent="-3175">
              <a:lnSpc>
                <a:spcPts val="3870"/>
              </a:lnSpc>
              <a:spcBef>
                <a:spcPts val="310"/>
              </a:spcBef>
            </a:pPr>
            <a:r>
              <a:rPr dirty="0" sz="3300">
                <a:solidFill>
                  <a:srgbClr val="082660"/>
                </a:solidFill>
              </a:rPr>
              <a:t>Example</a:t>
            </a:r>
            <a:r>
              <a:rPr dirty="0" sz="3300" spc="160">
                <a:solidFill>
                  <a:srgbClr val="082660"/>
                </a:solidFill>
              </a:rPr>
              <a:t> </a:t>
            </a:r>
            <a:r>
              <a:rPr dirty="0" sz="3300" spc="55">
                <a:solidFill>
                  <a:srgbClr val="0A2459"/>
                </a:solidFill>
              </a:rPr>
              <a:t>7</a:t>
            </a:r>
            <a:r>
              <a:rPr dirty="0" sz="3300" spc="-80">
                <a:solidFill>
                  <a:srgbClr val="0A2459"/>
                </a:solidFill>
              </a:rPr>
              <a:t> </a:t>
            </a:r>
            <a:r>
              <a:rPr dirty="0" sz="3300" spc="55">
                <a:solidFill>
                  <a:srgbClr val="001C4F"/>
                </a:solidFill>
              </a:rPr>
              <a:t>Defining</a:t>
            </a:r>
            <a:r>
              <a:rPr dirty="0" sz="3300" spc="85">
                <a:solidFill>
                  <a:srgbClr val="001C4F"/>
                </a:solidFill>
              </a:rPr>
              <a:t> </a:t>
            </a:r>
            <a:r>
              <a:rPr dirty="0" sz="3300">
                <a:solidFill>
                  <a:srgbClr val="032167"/>
                </a:solidFill>
              </a:rPr>
              <a:t>an</a:t>
            </a:r>
            <a:r>
              <a:rPr dirty="0" sz="3300" spc="70">
                <a:solidFill>
                  <a:srgbClr val="032167"/>
                </a:solidFill>
              </a:rPr>
              <a:t> </a:t>
            </a:r>
            <a:r>
              <a:rPr dirty="0" sz="3300" spc="70">
                <a:solidFill>
                  <a:srgbClr val="001C5D"/>
                </a:solidFill>
              </a:rPr>
              <a:t>idle</a:t>
            </a:r>
            <a:r>
              <a:rPr dirty="0" sz="3300" spc="-10">
                <a:solidFill>
                  <a:srgbClr val="001C5D"/>
                </a:solidFill>
              </a:rPr>
              <a:t> </a:t>
            </a:r>
            <a:r>
              <a:rPr dirty="0" sz="3300">
                <a:solidFill>
                  <a:srgbClr val="011F5B"/>
                </a:solidFill>
              </a:rPr>
              <a:t>task</a:t>
            </a:r>
            <a:r>
              <a:rPr dirty="0" sz="3300" spc="130">
                <a:solidFill>
                  <a:srgbClr val="011F5B"/>
                </a:solidFill>
              </a:rPr>
              <a:t> </a:t>
            </a:r>
            <a:r>
              <a:rPr dirty="0" sz="3300" spc="50">
                <a:solidFill>
                  <a:srgbClr val="0A1C5D"/>
                </a:solidFill>
              </a:rPr>
              <a:t>hook </a:t>
            </a:r>
            <a:r>
              <a:rPr dirty="0" sz="3300" spc="85">
                <a:solidFill>
                  <a:srgbClr val="052152"/>
                </a:solidFill>
              </a:rPr>
              <a:t>function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29821" y="1530593"/>
            <a:ext cx="8229600" cy="453644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675"/>
              </a:spcBef>
              <a:buChar char="•"/>
              <a:tabLst>
                <a:tab pos="363855" algn="l"/>
              </a:tabLst>
            </a:pPr>
            <a:r>
              <a:rPr dirty="0" sz="2950" spc="-80">
                <a:latin typeface="Arial"/>
                <a:cs typeface="Arial"/>
              </a:rPr>
              <a:t>Set</a:t>
            </a:r>
            <a:r>
              <a:rPr dirty="0" sz="2950" spc="-13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configUSE</a:t>
            </a:r>
            <a:r>
              <a:rPr dirty="0" sz="2950" spc="45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IDLE</a:t>
            </a:r>
            <a:r>
              <a:rPr dirty="0" sz="2950" spc="425">
                <a:latin typeface="Arial"/>
                <a:cs typeface="Arial"/>
              </a:rPr>
              <a:t> </a:t>
            </a:r>
            <a:r>
              <a:rPr dirty="0" sz="2950" spc="-114">
                <a:latin typeface="Arial"/>
                <a:cs typeface="Arial"/>
              </a:rPr>
              <a:t>HOOK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to</a:t>
            </a:r>
            <a:r>
              <a:rPr dirty="0" sz="2950" spc="-195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1</a:t>
            </a:r>
            <a:endParaRPr sz="2950">
              <a:latin typeface="Arial"/>
              <a:cs typeface="Arial"/>
            </a:endParaRPr>
          </a:p>
          <a:p>
            <a:pPr marL="370840" indent="-357505">
              <a:lnSpc>
                <a:spcPct val="100000"/>
              </a:lnSpc>
              <a:spcBef>
                <a:spcPts val="570"/>
              </a:spcBef>
              <a:buChar char="•"/>
              <a:tabLst>
                <a:tab pos="370840" algn="l"/>
              </a:tabLst>
            </a:pPr>
            <a:r>
              <a:rPr dirty="0" sz="2850" spc="-40">
                <a:latin typeface="Arial"/>
                <a:cs typeface="Arial"/>
              </a:rPr>
              <a:t>Add</a:t>
            </a:r>
            <a:r>
              <a:rPr dirty="0" sz="2850" spc="-170">
                <a:latin typeface="Arial"/>
                <a:cs typeface="Arial"/>
              </a:rPr>
              <a:t> </a:t>
            </a:r>
            <a:r>
              <a:rPr dirty="0" sz="2850" spc="-30">
                <a:latin typeface="Arial"/>
                <a:cs typeface="Arial"/>
              </a:rPr>
              <a:t>following</a:t>
            </a:r>
            <a:r>
              <a:rPr dirty="0" sz="2850" spc="-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function</a:t>
            </a:r>
            <a:endParaRPr sz="28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420"/>
              </a:spcBef>
            </a:pPr>
            <a:r>
              <a:rPr dirty="0" sz="2350" spc="-90">
                <a:latin typeface="Arial"/>
                <a:cs typeface="Arial"/>
              </a:rPr>
              <a:t>unsigned</a:t>
            </a:r>
            <a:r>
              <a:rPr dirty="0" sz="2350" spc="-50">
                <a:latin typeface="Arial"/>
                <a:cs typeface="Arial"/>
              </a:rPr>
              <a:t> </a:t>
            </a:r>
            <a:r>
              <a:rPr dirty="0" sz="2350" spc="-70">
                <a:latin typeface="Arial"/>
                <a:cs typeface="Arial"/>
              </a:rPr>
              <a:t>long</a:t>
            </a:r>
            <a:r>
              <a:rPr dirty="0" sz="2350" spc="-65">
                <a:latin typeface="Arial"/>
                <a:cs typeface="Arial"/>
              </a:rPr>
              <a:t> </a:t>
            </a:r>
            <a:r>
              <a:rPr dirty="0" sz="2350" spc="-75">
                <a:latin typeface="Arial"/>
                <a:cs typeface="Arial"/>
              </a:rPr>
              <a:t>ulldleCycleCount</a:t>
            </a:r>
            <a:r>
              <a:rPr dirty="0" sz="2350" spc="-3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=</a:t>
            </a:r>
            <a:r>
              <a:rPr dirty="0" sz="2350" spc="-114">
                <a:latin typeface="Arial"/>
                <a:cs typeface="Arial"/>
              </a:rPr>
              <a:t> </a:t>
            </a:r>
            <a:r>
              <a:rPr dirty="0" sz="2350" spc="-20">
                <a:latin typeface="Arial"/>
                <a:cs typeface="Arial"/>
              </a:rPr>
              <a:t>OUL;</a:t>
            </a:r>
            <a:endParaRPr sz="23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45"/>
              </a:spcBef>
            </a:pPr>
            <a:r>
              <a:rPr dirty="0" sz="2350">
                <a:latin typeface="Arial"/>
                <a:cs typeface="Arial"/>
              </a:rPr>
              <a:t>/*</a:t>
            </a:r>
            <a:r>
              <a:rPr dirty="0" sz="2350" spc="-165">
                <a:latin typeface="Arial"/>
                <a:cs typeface="Arial"/>
              </a:rPr>
              <a:t> </a:t>
            </a:r>
            <a:r>
              <a:rPr dirty="0" sz="2350" spc="-105">
                <a:latin typeface="Arial"/>
                <a:cs typeface="Arial"/>
              </a:rPr>
              <a:t>must</a:t>
            </a:r>
            <a:r>
              <a:rPr dirty="0" sz="2350" spc="-55">
                <a:latin typeface="Arial"/>
                <a:cs typeface="Arial"/>
              </a:rPr>
              <a:t> be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 spc="-70">
                <a:latin typeface="Arial"/>
                <a:cs typeface="Arial"/>
              </a:rPr>
              <a:t>called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 spc="-55">
                <a:latin typeface="Arial"/>
                <a:cs typeface="Arial"/>
              </a:rPr>
              <a:t>this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 spc="-95">
                <a:latin typeface="Arial"/>
                <a:cs typeface="Arial"/>
              </a:rPr>
              <a:t>name,</a:t>
            </a:r>
            <a:r>
              <a:rPr dirty="0" sz="2350" spc="-65">
                <a:latin typeface="Arial"/>
                <a:cs typeface="Arial"/>
              </a:rPr>
              <a:t> </a:t>
            </a:r>
            <a:r>
              <a:rPr dirty="0" sz="2350" spc="-85">
                <a:latin typeface="Arial"/>
                <a:cs typeface="Arial"/>
              </a:rPr>
              <a:t>take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110">
                <a:latin typeface="Arial"/>
                <a:cs typeface="Arial"/>
              </a:rPr>
              <a:t>no</a:t>
            </a:r>
            <a:r>
              <a:rPr dirty="0" sz="2350" spc="-55">
                <a:latin typeface="Arial"/>
                <a:cs typeface="Arial"/>
              </a:rPr>
              <a:t> </a:t>
            </a:r>
            <a:r>
              <a:rPr dirty="0" sz="2350" spc="-85">
                <a:latin typeface="Arial"/>
                <a:cs typeface="Arial"/>
              </a:rPr>
              <a:t>parameters</a:t>
            </a:r>
            <a:r>
              <a:rPr dirty="0" sz="2350" spc="35">
                <a:latin typeface="Arial"/>
                <a:cs typeface="Arial"/>
              </a:rPr>
              <a:t> </a:t>
            </a:r>
            <a:r>
              <a:rPr dirty="0" sz="2350" spc="-90">
                <a:latin typeface="Arial"/>
                <a:cs typeface="Arial"/>
              </a:rPr>
              <a:t>and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65">
                <a:latin typeface="Arial"/>
                <a:cs typeface="Arial"/>
              </a:rPr>
              <a:t>return</a:t>
            </a:r>
            <a:r>
              <a:rPr dirty="0" sz="2350" spc="20">
                <a:latin typeface="Arial"/>
                <a:cs typeface="Arial"/>
              </a:rPr>
              <a:t> </a:t>
            </a:r>
            <a:r>
              <a:rPr dirty="0" sz="2350" spc="-60">
                <a:latin typeface="Arial"/>
                <a:cs typeface="Arial"/>
              </a:rPr>
              <a:t>void.</a:t>
            </a:r>
            <a:r>
              <a:rPr dirty="0" sz="2350" spc="-40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*/</a:t>
            </a:r>
            <a:endParaRPr sz="23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390"/>
              </a:spcBef>
            </a:pPr>
            <a:r>
              <a:rPr dirty="0" sz="2300" spc="-45">
                <a:latin typeface="Arial"/>
                <a:cs typeface="Arial"/>
              </a:rPr>
              <a:t>void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vApplicationldleHook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(void)</a:t>
            </a:r>
            <a:r>
              <a:rPr dirty="0" sz="2300" spc="8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{</a:t>
            </a:r>
            <a:endParaRPr sz="23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305"/>
              </a:spcBef>
            </a:pPr>
            <a:r>
              <a:rPr dirty="0" sz="2400" spc="-70">
                <a:latin typeface="Arial"/>
                <a:cs typeface="Arial"/>
              </a:rPr>
              <a:t>uIIdIeCycIeCount++;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400">
              <a:latin typeface="Arial"/>
              <a:cs typeface="Arial"/>
            </a:endParaRPr>
          </a:p>
          <a:p>
            <a:pPr marL="36512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65125" algn="l"/>
              </a:tabLst>
            </a:pP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vTaskFunction(),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change</a:t>
            </a:r>
            <a:endParaRPr sz="2750">
              <a:latin typeface="Arial"/>
              <a:cs typeface="Arial"/>
            </a:endParaRPr>
          </a:p>
          <a:p>
            <a:pPr marL="439420" marR="43815" indent="490855">
              <a:lnSpc>
                <a:spcPct val="120800"/>
              </a:lnSpc>
              <a:spcBef>
                <a:spcPts val="465"/>
              </a:spcBef>
            </a:pPr>
            <a:r>
              <a:rPr dirty="0" sz="2450" spc="-45">
                <a:latin typeface="Arial"/>
                <a:cs typeface="Arial"/>
              </a:rPr>
              <a:t>vPrintString(pcTaskName)</a:t>
            </a:r>
            <a:r>
              <a:rPr dirty="0" sz="2450" spc="55">
                <a:latin typeface="Arial"/>
                <a:cs typeface="Arial"/>
              </a:rPr>
              <a:t> </a:t>
            </a:r>
            <a:r>
              <a:rPr dirty="0" sz="2450" spc="-340">
                <a:latin typeface="Arial"/>
                <a:cs typeface="Arial"/>
              </a:rPr>
              <a:t>TO </a:t>
            </a:r>
            <a:r>
              <a:rPr dirty="0" sz="2450" spc="-45">
                <a:latin typeface="Arial"/>
                <a:cs typeface="Arial"/>
              </a:rPr>
              <a:t>vPrintStringAndNumber(pcTaskName,</a:t>
            </a:r>
            <a:r>
              <a:rPr dirty="0" sz="2450" spc="50">
                <a:latin typeface="Arial"/>
                <a:cs typeface="Arial"/>
              </a:rPr>
              <a:t> </a:t>
            </a:r>
            <a:r>
              <a:rPr dirty="0" sz="2450" spc="-30">
                <a:latin typeface="Arial"/>
                <a:cs typeface="Arial"/>
              </a:rPr>
              <a:t>uIIdIeCycIeCount);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9054" y="6449441"/>
            <a:ext cx="177165" cy="1784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 spc="-25">
                <a:latin typeface="Arial"/>
                <a:cs typeface="Arial"/>
              </a:rPr>
              <a:t>57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1215D"/>
                </a:solidFill>
              </a:rPr>
              <a:t>1.8</a:t>
            </a:r>
            <a:r>
              <a:rPr dirty="0" spc="-75">
                <a:solidFill>
                  <a:srgbClr val="01215D"/>
                </a:solidFill>
              </a:rPr>
              <a:t> </a:t>
            </a:r>
            <a:r>
              <a:rPr dirty="0">
                <a:solidFill>
                  <a:srgbClr val="001D54"/>
                </a:solidFill>
              </a:rPr>
              <a:t>Change</a:t>
            </a:r>
            <a:r>
              <a:rPr dirty="0" spc="75">
                <a:solidFill>
                  <a:srgbClr val="001D54"/>
                </a:solidFill>
              </a:rPr>
              <a:t> </a:t>
            </a:r>
            <a:r>
              <a:rPr dirty="0">
                <a:solidFill>
                  <a:srgbClr val="032164"/>
                </a:solidFill>
              </a:rPr>
              <a:t>the</a:t>
            </a:r>
            <a:r>
              <a:rPr dirty="0" spc="-45">
                <a:solidFill>
                  <a:srgbClr val="032164"/>
                </a:solidFill>
              </a:rPr>
              <a:t> </a:t>
            </a:r>
            <a:r>
              <a:rPr dirty="0" spc="110">
                <a:solidFill>
                  <a:srgbClr val="0A2362"/>
                </a:solidFill>
              </a:rPr>
              <a:t>priority</a:t>
            </a:r>
            <a:r>
              <a:rPr dirty="0" spc="150">
                <a:solidFill>
                  <a:srgbClr val="0A2362"/>
                </a:solidFill>
              </a:rPr>
              <a:t> </a:t>
            </a:r>
            <a:r>
              <a:rPr dirty="0">
                <a:solidFill>
                  <a:srgbClr val="032169"/>
                </a:solidFill>
              </a:rPr>
              <a:t>of</a:t>
            </a:r>
            <a:r>
              <a:rPr dirty="0" spc="160">
                <a:solidFill>
                  <a:srgbClr val="032169"/>
                </a:solidFill>
              </a:rPr>
              <a:t> </a:t>
            </a:r>
            <a:r>
              <a:rPr dirty="0">
                <a:solidFill>
                  <a:srgbClr val="001F5B"/>
                </a:solidFill>
              </a:rPr>
              <a:t>a</a:t>
            </a:r>
            <a:r>
              <a:rPr dirty="0" spc="-60">
                <a:solidFill>
                  <a:srgbClr val="001F5B"/>
                </a:solidFill>
              </a:rPr>
              <a:t> </a:t>
            </a:r>
            <a:r>
              <a:rPr dirty="0" spc="-20">
                <a:solidFill>
                  <a:srgbClr val="001C62"/>
                </a:solidFill>
              </a:rPr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793" y="1610766"/>
            <a:ext cx="7993380" cy="447548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56235" marR="634365" indent="-344170">
              <a:lnSpc>
                <a:spcPts val="3130"/>
              </a:lnSpc>
              <a:spcBef>
                <a:spcPts val="280"/>
              </a:spcBef>
              <a:buChar char="•"/>
              <a:tabLst>
                <a:tab pos="356235" algn="l"/>
              </a:tabLst>
            </a:pPr>
            <a:r>
              <a:rPr dirty="0" sz="2650" spc="-60">
                <a:latin typeface="Arial"/>
                <a:cs typeface="Arial"/>
              </a:rPr>
              <a:t>vTaskPrioritySet(xTaskHandIe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45">
                <a:latin typeface="Arial"/>
                <a:cs typeface="Arial"/>
              </a:rPr>
              <a:t>pxTask,</a:t>
            </a:r>
            <a:r>
              <a:rPr dirty="0" sz="2650" spc="65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unsigned </a:t>
            </a:r>
            <a:r>
              <a:rPr dirty="0" sz="2650">
                <a:latin typeface="Arial"/>
                <a:cs typeface="Arial"/>
              </a:rPr>
              <a:t>portBASE</a:t>
            </a:r>
            <a:r>
              <a:rPr dirty="0" sz="2650" spc="4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TYPE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uxNewPriority);</a:t>
            </a:r>
            <a:endParaRPr sz="2650">
              <a:latin typeface="Arial"/>
              <a:cs typeface="Arial"/>
            </a:endParaRPr>
          </a:p>
          <a:p>
            <a:pPr lvl="1" marL="755015" marR="411480" indent="-349250">
              <a:lnSpc>
                <a:spcPts val="3130"/>
              </a:lnSpc>
              <a:spcBef>
                <a:spcPts val="630"/>
              </a:spcBef>
              <a:buChar char="—"/>
              <a:tabLst>
                <a:tab pos="756920" algn="l"/>
              </a:tabLst>
            </a:pP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used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change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4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priority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any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45">
                <a:latin typeface="Arial"/>
                <a:cs typeface="Arial"/>
              </a:rPr>
              <a:t>after </a:t>
            </a:r>
            <a:r>
              <a:rPr dirty="0" sz="2650" spc="-45">
                <a:latin typeface="Arial"/>
                <a:cs typeface="Arial"/>
              </a:rPr>
              <a:t>	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scheduler</a:t>
            </a:r>
            <a:r>
              <a:rPr dirty="0" sz="2650" spc="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has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been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started.</a:t>
            </a:r>
            <a:endParaRPr sz="2650">
              <a:latin typeface="Arial"/>
              <a:cs typeface="Arial"/>
            </a:endParaRPr>
          </a:p>
          <a:p>
            <a:pPr lvl="1" marL="771525" indent="-355600">
              <a:lnSpc>
                <a:spcPct val="100000"/>
              </a:lnSpc>
              <a:spcBef>
                <a:spcPts val="400"/>
              </a:spcBef>
              <a:buChar char="—"/>
              <a:tabLst>
                <a:tab pos="771525" algn="l"/>
              </a:tabLst>
            </a:pPr>
            <a:r>
              <a:rPr dirty="0" sz="2700" spc="-60">
                <a:latin typeface="Arial"/>
                <a:cs typeface="Arial"/>
              </a:rPr>
              <a:t>Available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if</a:t>
            </a:r>
            <a:r>
              <a:rPr dirty="0" sz="2700" spc="-6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INCLUDE</a:t>
            </a:r>
            <a:r>
              <a:rPr dirty="0" sz="2700" spc="51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vTaskPrioritySet</a:t>
            </a:r>
            <a:r>
              <a:rPr dirty="0" sz="2700" spc="2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set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1.</a:t>
            </a:r>
            <a:endParaRPr sz="2700">
              <a:latin typeface="Arial"/>
              <a:cs typeface="Arial"/>
            </a:endParaRPr>
          </a:p>
          <a:p>
            <a:pPr marL="360045" indent="-341630">
              <a:lnSpc>
                <a:spcPct val="100000"/>
              </a:lnSpc>
              <a:spcBef>
                <a:spcPts val="665"/>
              </a:spcBef>
              <a:buChar char="•"/>
              <a:tabLst>
                <a:tab pos="360045" algn="l"/>
              </a:tabLst>
            </a:pPr>
            <a:r>
              <a:rPr dirty="0" sz="3050" spc="-100">
                <a:latin typeface="Arial"/>
                <a:cs typeface="Arial"/>
              </a:rPr>
              <a:t>Two</a:t>
            </a:r>
            <a:r>
              <a:rPr dirty="0" sz="3050" spc="-10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parameters</a:t>
            </a:r>
            <a:endParaRPr sz="3050">
              <a:latin typeface="Arial"/>
              <a:cs typeface="Arial"/>
            </a:endParaRPr>
          </a:p>
          <a:p>
            <a:pPr lvl="1" marL="749300" marR="5080" indent="-349885">
              <a:lnSpc>
                <a:spcPts val="3130"/>
              </a:lnSpc>
              <a:spcBef>
                <a:spcPts val="680"/>
              </a:spcBef>
              <a:buChar char="—"/>
              <a:tabLst>
                <a:tab pos="749300" algn="l"/>
              </a:tabLst>
            </a:pPr>
            <a:r>
              <a:rPr dirty="0" sz="2650" spc="-45">
                <a:latin typeface="Arial"/>
                <a:cs typeface="Arial"/>
              </a:rPr>
              <a:t>pxTask: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Handle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whose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being </a:t>
            </a:r>
            <a:r>
              <a:rPr dirty="0" sz="2650" spc="-25">
                <a:latin typeface="Arial"/>
                <a:cs typeface="Arial"/>
              </a:rPr>
              <a:t>modified.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200">
                <a:latin typeface="Arial"/>
                <a:cs typeface="Arial"/>
              </a:rPr>
              <a:t>A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task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change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its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own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by </a:t>
            </a:r>
            <a:r>
              <a:rPr dirty="0" sz="2650" spc="-10">
                <a:latin typeface="Arial"/>
                <a:cs typeface="Arial"/>
              </a:rPr>
              <a:t>passing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40">
                <a:latin typeface="Arial"/>
                <a:cs typeface="Arial"/>
              </a:rPr>
              <a:t>NULL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place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valid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handle.</a:t>
            </a:r>
            <a:endParaRPr sz="2650">
              <a:latin typeface="Arial"/>
              <a:cs typeface="Arial"/>
            </a:endParaRPr>
          </a:p>
          <a:p>
            <a:pPr lvl="1" marL="758190" indent="-349250">
              <a:lnSpc>
                <a:spcPct val="100000"/>
              </a:lnSpc>
              <a:spcBef>
                <a:spcPts val="484"/>
              </a:spcBef>
              <a:buChar char="—"/>
              <a:tabLst>
                <a:tab pos="758190" algn="l"/>
              </a:tabLst>
            </a:pPr>
            <a:r>
              <a:rPr dirty="0" sz="2650">
                <a:latin typeface="Arial"/>
                <a:cs typeface="Arial"/>
              </a:rPr>
              <a:t>uxNewPriority:</a:t>
            </a:r>
            <a:r>
              <a:rPr dirty="0" sz="2650" spc="4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set.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807" y="1618952"/>
            <a:ext cx="7994650" cy="39763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54965" marR="1275080" indent="-342900">
              <a:lnSpc>
                <a:spcPct val="100400"/>
              </a:lnSpc>
              <a:spcBef>
                <a:spcPts val="114"/>
              </a:spcBef>
              <a:buChar char="•"/>
              <a:tabLst>
                <a:tab pos="356870" algn="l"/>
              </a:tabLst>
            </a:pPr>
            <a:r>
              <a:rPr dirty="0" sz="2800" spc="-10">
                <a:latin typeface="Arial"/>
                <a:cs typeface="Arial"/>
              </a:rPr>
              <a:t>unsigned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portBASE</a:t>
            </a:r>
            <a:r>
              <a:rPr dirty="0" sz="2800" spc="63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TYPE </a:t>
            </a:r>
            <a:r>
              <a:rPr dirty="0" sz="2800" spc="-20">
                <a:latin typeface="Arial"/>
                <a:cs typeface="Arial"/>
              </a:rPr>
              <a:t>	</a:t>
            </a:r>
            <a:r>
              <a:rPr dirty="0" sz="2800" spc="-30">
                <a:latin typeface="Arial"/>
                <a:cs typeface="Arial"/>
              </a:rPr>
              <a:t>uxTaskPriorityGet(xTaskHandle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pxTask);</a:t>
            </a:r>
            <a:endParaRPr sz="2800">
              <a:latin typeface="Arial"/>
              <a:cs typeface="Arial"/>
            </a:endParaRPr>
          </a:p>
          <a:p>
            <a:pPr lvl="1" marL="755650" indent="-355600">
              <a:lnSpc>
                <a:spcPct val="100000"/>
              </a:lnSpc>
              <a:spcBef>
                <a:spcPts val="540"/>
              </a:spcBef>
              <a:buChar char="—"/>
              <a:tabLst>
                <a:tab pos="755650" algn="l"/>
              </a:tabLst>
            </a:pPr>
            <a:r>
              <a:rPr dirty="0" sz="2700">
                <a:latin typeface="Arial"/>
                <a:cs typeface="Arial"/>
              </a:rPr>
              <a:t>Be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used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query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priority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endParaRPr sz="2700">
              <a:latin typeface="Arial"/>
              <a:cs typeface="Arial"/>
            </a:endParaRPr>
          </a:p>
          <a:p>
            <a:pPr lvl="1" marL="763905" indent="-355600">
              <a:lnSpc>
                <a:spcPct val="100000"/>
              </a:lnSpc>
              <a:spcBef>
                <a:spcPts val="484"/>
              </a:spcBef>
              <a:buChar char="—"/>
              <a:tabLst>
                <a:tab pos="763905" algn="l"/>
              </a:tabLst>
            </a:pPr>
            <a:r>
              <a:rPr dirty="0" sz="2700" spc="-50">
                <a:latin typeface="Arial"/>
                <a:cs typeface="Arial"/>
              </a:rPr>
              <a:t>Available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if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INCLUDE</a:t>
            </a:r>
            <a:r>
              <a:rPr dirty="0" sz="2700" spc="585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vTaskPriorityGet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set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  <a:p>
            <a:pPr lvl="1" marL="749935" marR="5080" indent="-349885">
              <a:lnSpc>
                <a:spcPts val="3130"/>
              </a:lnSpc>
              <a:spcBef>
                <a:spcPts val="685"/>
              </a:spcBef>
              <a:buChar char="—"/>
              <a:tabLst>
                <a:tab pos="749935" algn="l"/>
              </a:tabLst>
            </a:pPr>
            <a:r>
              <a:rPr dirty="0" sz="2650" spc="-45">
                <a:latin typeface="Arial"/>
                <a:cs typeface="Arial"/>
              </a:rPr>
              <a:t>pxTask: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Handle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whose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being </a:t>
            </a:r>
            <a:r>
              <a:rPr dirty="0" sz="2650" spc="-25">
                <a:latin typeface="Arial"/>
                <a:cs typeface="Arial"/>
              </a:rPr>
              <a:t>modified.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200">
                <a:latin typeface="Arial"/>
                <a:cs typeface="Arial"/>
              </a:rPr>
              <a:t>A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task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query</a:t>
            </a:r>
            <a:r>
              <a:rPr dirty="0" sz="2650" spc="-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its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own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priority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by </a:t>
            </a:r>
            <a:r>
              <a:rPr dirty="0" sz="2650" spc="-10">
                <a:latin typeface="Arial"/>
                <a:cs typeface="Arial"/>
              </a:rPr>
              <a:t>passing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 spc="-40">
                <a:latin typeface="Arial"/>
                <a:cs typeface="Arial"/>
              </a:rPr>
              <a:t>NULL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place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valid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handle.</a:t>
            </a:r>
            <a:endParaRPr sz="2650">
              <a:latin typeface="Arial"/>
              <a:cs typeface="Arial"/>
            </a:endParaRPr>
          </a:p>
          <a:p>
            <a:pPr lvl="1" marL="758190" marR="126364" indent="-344805">
              <a:lnSpc>
                <a:spcPts val="3130"/>
              </a:lnSpc>
              <a:spcBef>
                <a:spcPts val="590"/>
              </a:spcBef>
              <a:buChar char="—"/>
              <a:tabLst>
                <a:tab pos="758190" algn="l"/>
                <a:tab pos="762635" algn="l"/>
              </a:tabLst>
            </a:pP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-25">
                <a:latin typeface="Arial"/>
                <a:cs typeface="Arial"/>
              </a:rPr>
              <a:t>Returned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value: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currently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assigned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to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being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queried</a:t>
            </a:r>
            <a:endParaRPr sz="2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007" y="527793"/>
            <a:ext cx="7623809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01570" algn="l"/>
              </a:tabLst>
            </a:pPr>
            <a:r>
              <a:rPr dirty="0" spc="-10">
                <a:solidFill>
                  <a:srgbClr val="001F64"/>
                </a:solidFill>
              </a:rPr>
              <a:t>Example</a:t>
            </a:r>
            <a:r>
              <a:rPr dirty="0">
                <a:solidFill>
                  <a:srgbClr val="001F64"/>
                </a:solidFill>
              </a:rPr>
              <a:t>	</a:t>
            </a:r>
            <a:r>
              <a:rPr dirty="0">
                <a:solidFill>
                  <a:srgbClr val="002160"/>
                </a:solidFill>
              </a:rPr>
              <a:t>Changing</a:t>
            </a:r>
            <a:r>
              <a:rPr dirty="0" spc="475">
                <a:solidFill>
                  <a:srgbClr val="002160"/>
                </a:solidFill>
              </a:rPr>
              <a:t> </a:t>
            </a:r>
            <a:r>
              <a:rPr dirty="0">
                <a:solidFill>
                  <a:srgbClr val="03236D"/>
                </a:solidFill>
              </a:rPr>
              <a:t>task</a:t>
            </a:r>
            <a:r>
              <a:rPr dirty="0" spc="220">
                <a:solidFill>
                  <a:srgbClr val="03236D"/>
                </a:solidFill>
              </a:rPr>
              <a:t> </a:t>
            </a:r>
            <a:r>
              <a:rPr dirty="0" spc="85">
                <a:solidFill>
                  <a:srgbClr val="0A2362"/>
                </a:solidFill>
              </a:rPr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647" y="1518492"/>
            <a:ext cx="8010525" cy="437959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60045" marR="373380" indent="-347980">
              <a:lnSpc>
                <a:spcPct val="78400"/>
              </a:lnSpc>
              <a:spcBef>
                <a:spcPts val="960"/>
              </a:spcBef>
              <a:buChar char="•"/>
              <a:tabLst>
                <a:tab pos="360045" algn="l"/>
                <a:tab pos="364490" algn="l"/>
              </a:tabLst>
            </a:pPr>
            <a:r>
              <a:rPr dirty="0" sz="3250">
                <a:latin typeface="Calibri"/>
                <a:cs typeface="Calibri"/>
              </a:rPr>
              <a:t>	</a:t>
            </a:r>
            <a:r>
              <a:rPr dirty="0" sz="3250" spc="-135">
                <a:latin typeface="Calibri"/>
                <a:cs typeface="Calibri"/>
              </a:rPr>
              <a:t>Demonstrate</a:t>
            </a:r>
            <a:r>
              <a:rPr dirty="0" sz="3250" spc="10">
                <a:latin typeface="Calibri"/>
                <a:cs typeface="Calibri"/>
              </a:rPr>
              <a:t> </a:t>
            </a:r>
            <a:r>
              <a:rPr dirty="0" sz="3250" spc="-190">
                <a:latin typeface="Calibri"/>
                <a:cs typeface="Calibri"/>
              </a:rPr>
              <a:t>the</a:t>
            </a:r>
            <a:r>
              <a:rPr dirty="0" sz="3250" spc="5">
                <a:latin typeface="Calibri"/>
                <a:cs typeface="Calibri"/>
              </a:rPr>
              <a:t> </a:t>
            </a:r>
            <a:r>
              <a:rPr dirty="0" sz="3250" spc="-75">
                <a:latin typeface="Calibri"/>
                <a:cs typeface="Calibri"/>
              </a:rPr>
              <a:t>scheduler</a:t>
            </a:r>
            <a:r>
              <a:rPr dirty="0" sz="3250" spc="-50">
                <a:latin typeface="Calibri"/>
                <a:cs typeface="Calibri"/>
              </a:rPr>
              <a:t> </a:t>
            </a:r>
            <a:r>
              <a:rPr dirty="0" sz="3250" spc="-45">
                <a:latin typeface="Calibri"/>
                <a:cs typeface="Calibri"/>
              </a:rPr>
              <a:t>always</a:t>
            </a:r>
            <a:r>
              <a:rPr dirty="0" sz="3250" spc="-40">
                <a:latin typeface="Calibri"/>
                <a:cs typeface="Calibri"/>
              </a:rPr>
              <a:t> </a:t>
            </a:r>
            <a:r>
              <a:rPr dirty="0" sz="3250" spc="-30">
                <a:latin typeface="Calibri"/>
                <a:cs typeface="Calibri"/>
              </a:rPr>
              <a:t>selects</a:t>
            </a:r>
            <a:r>
              <a:rPr dirty="0" sz="3250" spc="-60">
                <a:latin typeface="Calibri"/>
                <a:cs typeface="Calibri"/>
              </a:rPr>
              <a:t> </a:t>
            </a:r>
            <a:r>
              <a:rPr dirty="0" sz="3250" spc="-90">
                <a:latin typeface="Calibri"/>
                <a:cs typeface="Calibri"/>
              </a:rPr>
              <a:t>the </a:t>
            </a:r>
            <a:r>
              <a:rPr dirty="0" sz="3250" spc="-75">
                <a:latin typeface="Calibri"/>
                <a:cs typeface="Calibri"/>
              </a:rPr>
              <a:t>highest</a:t>
            </a:r>
            <a:r>
              <a:rPr dirty="0" sz="3250" spc="-12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Ready</a:t>
            </a:r>
            <a:r>
              <a:rPr dirty="0" sz="3250" spc="-140">
                <a:latin typeface="Calibri"/>
                <a:cs typeface="Calibri"/>
              </a:rPr>
              <a:t> </a:t>
            </a:r>
            <a:r>
              <a:rPr dirty="0" sz="3250" spc="-85">
                <a:latin typeface="Calibri"/>
                <a:cs typeface="Calibri"/>
              </a:rPr>
              <a:t>state</a:t>
            </a:r>
            <a:r>
              <a:rPr dirty="0" sz="3250" spc="-60">
                <a:latin typeface="Calibri"/>
                <a:cs typeface="Calibri"/>
              </a:rPr>
              <a:t> </a:t>
            </a:r>
            <a:r>
              <a:rPr dirty="0" sz="3250" spc="-30">
                <a:latin typeface="Calibri"/>
                <a:cs typeface="Calibri"/>
              </a:rPr>
              <a:t>task</a:t>
            </a:r>
            <a:r>
              <a:rPr dirty="0" sz="3250" spc="-45">
                <a:latin typeface="Calibri"/>
                <a:cs typeface="Calibri"/>
              </a:rPr>
              <a:t> </a:t>
            </a:r>
            <a:r>
              <a:rPr dirty="0" sz="3250" spc="-270">
                <a:latin typeface="Calibri"/>
                <a:cs typeface="Calibri"/>
              </a:rPr>
              <a:t>to</a:t>
            </a:r>
            <a:r>
              <a:rPr dirty="0" sz="3250" spc="90">
                <a:latin typeface="Calibri"/>
                <a:cs typeface="Calibri"/>
              </a:rPr>
              <a:t> </a:t>
            </a:r>
            <a:r>
              <a:rPr dirty="0" sz="3250" spc="-25">
                <a:latin typeface="Calibri"/>
                <a:cs typeface="Calibri"/>
              </a:rPr>
              <a:t>run</a:t>
            </a:r>
            <a:endParaRPr sz="3250">
              <a:latin typeface="Calibri"/>
              <a:cs typeface="Calibri"/>
            </a:endParaRPr>
          </a:p>
          <a:p>
            <a:pPr marL="769620" marR="5080" indent="-290195">
              <a:lnSpc>
                <a:spcPts val="2600"/>
              </a:lnSpc>
              <a:spcBef>
                <a:spcPts val="505"/>
              </a:spcBef>
            </a:pPr>
            <a:r>
              <a:rPr dirty="0" sz="2500" spc="-1175">
                <a:latin typeface="Arial"/>
                <a:cs typeface="Arial"/>
              </a:rPr>
              <a:t>—</a:t>
            </a:r>
            <a:r>
              <a:rPr dirty="0" sz="2500" spc="18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by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using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vTaskPrioritySet()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API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function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change </a:t>
            </a:r>
            <a:r>
              <a:rPr dirty="0" sz="2500" spc="-40">
                <a:latin typeface="Arial"/>
                <a:cs typeface="Arial"/>
              </a:rPr>
              <a:t>the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priority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of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two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tasks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relative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each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other.</a:t>
            </a:r>
            <a:endParaRPr sz="2500">
              <a:latin typeface="Arial"/>
              <a:cs typeface="Arial"/>
            </a:endParaRPr>
          </a:p>
          <a:p>
            <a:pPr marL="372745" indent="-341630">
              <a:lnSpc>
                <a:spcPts val="3495"/>
              </a:lnSpc>
              <a:spcBef>
                <a:spcPts val="265"/>
              </a:spcBef>
              <a:buChar char="•"/>
              <a:tabLst>
                <a:tab pos="372745" algn="l"/>
              </a:tabLst>
            </a:pPr>
            <a:r>
              <a:rPr dirty="0" sz="3050" spc="-55">
                <a:latin typeface="Arial"/>
                <a:cs typeface="Arial"/>
              </a:rPr>
              <a:t>Two</a:t>
            </a:r>
            <a:r>
              <a:rPr dirty="0" sz="3050" spc="-114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tasks</a:t>
            </a:r>
            <a:r>
              <a:rPr dirty="0" sz="3050" spc="-12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are</a:t>
            </a:r>
            <a:r>
              <a:rPr dirty="0" sz="3050" spc="-190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created</a:t>
            </a:r>
            <a:r>
              <a:rPr dirty="0" sz="3050" spc="-14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at</a:t>
            </a:r>
            <a:r>
              <a:rPr dirty="0" sz="3050" spc="-20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two</a:t>
            </a:r>
            <a:r>
              <a:rPr dirty="0" sz="3050" spc="-14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different</a:t>
            </a:r>
            <a:endParaRPr sz="3050">
              <a:latin typeface="Arial"/>
              <a:cs typeface="Arial"/>
            </a:endParaRPr>
          </a:p>
          <a:p>
            <a:pPr marL="365760">
              <a:lnSpc>
                <a:spcPts val="3375"/>
              </a:lnSpc>
            </a:pPr>
            <a:r>
              <a:rPr dirty="0" sz="2950" spc="-10">
                <a:latin typeface="Arial"/>
                <a:cs typeface="Arial"/>
              </a:rPr>
              <a:t>priorities.</a:t>
            </a:r>
            <a:endParaRPr sz="2950">
              <a:latin typeface="Arial"/>
              <a:cs typeface="Arial"/>
            </a:endParaRPr>
          </a:p>
          <a:p>
            <a:pPr lvl="1" marL="766445" indent="-349250">
              <a:lnSpc>
                <a:spcPts val="2990"/>
              </a:lnSpc>
              <a:spcBef>
                <a:spcPts val="275"/>
              </a:spcBef>
              <a:buChar char="—"/>
              <a:tabLst>
                <a:tab pos="766445" algn="l"/>
              </a:tabLst>
            </a:pPr>
            <a:r>
              <a:rPr dirty="0" sz="2650" spc="-10">
                <a:latin typeface="Arial"/>
                <a:cs typeface="Arial"/>
              </a:rPr>
              <a:t>Neither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makes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any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API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function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calls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that</a:t>
            </a:r>
            <a:endParaRPr sz="2650">
              <a:latin typeface="Arial"/>
              <a:cs typeface="Arial"/>
            </a:endParaRPr>
          </a:p>
          <a:p>
            <a:pPr marL="769620">
              <a:lnSpc>
                <a:spcPts val="3050"/>
              </a:lnSpc>
            </a:pPr>
            <a:r>
              <a:rPr dirty="0" sz="2700" spc="-35">
                <a:latin typeface="Arial"/>
                <a:cs typeface="Arial"/>
              </a:rPr>
              <a:t>cause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it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enter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Blocked</a:t>
            </a:r>
            <a:r>
              <a:rPr dirty="0" sz="2700" spc="-8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state,</a:t>
            </a:r>
            <a:endParaRPr sz="2700">
              <a:latin typeface="Arial"/>
              <a:cs typeface="Arial"/>
            </a:endParaRPr>
          </a:p>
          <a:p>
            <a:pPr lvl="2" marL="1172210" indent="-233679">
              <a:lnSpc>
                <a:spcPct val="100000"/>
              </a:lnSpc>
              <a:spcBef>
                <a:spcPts val="165"/>
              </a:spcBef>
              <a:buChar char="•"/>
              <a:tabLst>
                <a:tab pos="1172210" algn="l"/>
              </a:tabLst>
            </a:pPr>
            <a:r>
              <a:rPr dirty="0" sz="2250">
                <a:latin typeface="Arial"/>
                <a:cs typeface="Arial"/>
              </a:rPr>
              <a:t>So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both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are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either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Ready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or</a:t>
            </a:r>
            <a:r>
              <a:rPr dirty="0" sz="2250" spc="-8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Running</a:t>
            </a:r>
            <a:r>
              <a:rPr dirty="0" sz="2250" spc="-3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state.</a:t>
            </a:r>
            <a:endParaRPr sz="2250">
              <a:latin typeface="Arial"/>
              <a:cs typeface="Arial"/>
            </a:endParaRPr>
          </a:p>
          <a:p>
            <a:pPr lvl="2" marL="1170940" marR="135255" indent="-233045">
              <a:lnSpc>
                <a:spcPts val="2360"/>
              </a:lnSpc>
              <a:spcBef>
                <a:spcPts val="580"/>
              </a:spcBef>
              <a:buChar char="•"/>
              <a:tabLst>
                <a:tab pos="1176655" algn="l"/>
              </a:tabLst>
            </a:pPr>
            <a:r>
              <a:rPr dirty="0" sz="2300" spc="-20">
                <a:latin typeface="Arial"/>
                <a:cs typeface="Arial"/>
              </a:rPr>
              <a:t>So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the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with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highest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priority</a:t>
            </a:r>
            <a:r>
              <a:rPr dirty="0" sz="2300" spc="2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will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70">
                <a:latin typeface="Arial"/>
                <a:cs typeface="Arial"/>
              </a:rPr>
              <a:t>always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be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the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task </a:t>
            </a:r>
            <a:r>
              <a:rPr dirty="0" sz="2300" spc="-20">
                <a:latin typeface="Arial"/>
                <a:cs typeface="Arial"/>
              </a:rPr>
              <a:t>	</a:t>
            </a:r>
            <a:r>
              <a:rPr dirty="0" sz="2300" spc="-70">
                <a:latin typeface="Arial"/>
                <a:cs typeface="Arial"/>
              </a:rPr>
              <a:t>selected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by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scheduler</a:t>
            </a:r>
            <a:r>
              <a:rPr dirty="0" sz="2300" spc="2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be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in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Running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state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F64"/>
                </a:solidFill>
              </a:rPr>
              <a:t>Expected</a:t>
            </a:r>
            <a:r>
              <a:rPr dirty="0" spc="260">
                <a:solidFill>
                  <a:srgbClr val="001F64"/>
                </a:solidFill>
              </a:rPr>
              <a:t> </a:t>
            </a:r>
            <a:r>
              <a:rPr dirty="0">
                <a:solidFill>
                  <a:srgbClr val="011F5D"/>
                </a:solidFill>
              </a:rPr>
              <a:t>Behavior</a:t>
            </a:r>
            <a:r>
              <a:rPr dirty="0" spc="465">
                <a:solidFill>
                  <a:srgbClr val="011F5D"/>
                </a:solidFill>
              </a:rPr>
              <a:t> </a:t>
            </a:r>
            <a:r>
              <a:rPr dirty="0">
                <a:solidFill>
                  <a:srgbClr val="001C5D"/>
                </a:solidFill>
              </a:rPr>
              <a:t>of</a:t>
            </a:r>
            <a:r>
              <a:rPr dirty="0" spc="285">
                <a:solidFill>
                  <a:srgbClr val="001C5D"/>
                </a:solidFill>
              </a:rPr>
              <a:t> </a:t>
            </a:r>
            <a:r>
              <a:rPr dirty="0" spc="-10">
                <a:solidFill>
                  <a:srgbClr val="002164"/>
                </a:solid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564" y="1574302"/>
            <a:ext cx="7942580" cy="456565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525145" marR="109855" indent="-513080">
              <a:lnSpc>
                <a:spcPts val="3020"/>
              </a:lnSpc>
              <a:spcBef>
                <a:spcPts val="515"/>
              </a:spcBef>
              <a:buSzPct val="92857"/>
              <a:buAutoNum type="arabicPeriod"/>
              <a:tabLst>
                <a:tab pos="525145" algn="l"/>
                <a:tab pos="530860" algn="l"/>
              </a:tabLst>
            </a:pP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70">
                <a:latin typeface="Arial"/>
                <a:cs typeface="Arial"/>
              </a:rPr>
              <a:t>Task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1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is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created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with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highest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be </a:t>
            </a:r>
            <a:r>
              <a:rPr dirty="0" sz="2800" spc="-20">
                <a:latin typeface="Arial"/>
                <a:cs typeface="Arial"/>
              </a:rPr>
              <a:t>guaranteed</a:t>
            </a:r>
            <a:r>
              <a:rPr dirty="0" sz="2800" spc="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run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first.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Task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1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prints</a:t>
            </a:r>
            <a:r>
              <a:rPr dirty="0" sz="2800" spc="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out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couple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strings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before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raising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of </a:t>
            </a:r>
            <a:r>
              <a:rPr dirty="0" sz="2800" spc="-70">
                <a:latin typeface="Arial"/>
                <a:cs typeface="Arial"/>
              </a:rPr>
              <a:t>Task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2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above its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own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priority.</a:t>
            </a:r>
            <a:endParaRPr sz="2800">
              <a:latin typeface="Arial"/>
              <a:cs typeface="Arial"/>
            </a:endParaRPr>
          </a:p>
          <a:p>
            <a:pPr marL="530860" indent="-511175">
              <a:lnSpc>
                <a:spcPts val="3465"/>
              </a:lnSpc>
              <a:spcBef>
                <a:spcPts val="80"/>
              </a:spcBef>
              <a:buSzPct val="105172"/>
              <a:buAutoNum type="arabicPeriod"/>
              <a:tabLst>
                <a:tab pos="530860" algn="l"/>
              </a:tabLst>
            </a:pPr>
            <a:r>
              <a:rPr dirty="0" sz="2900" spc="-120">
                <a:latin typeface="Arial"/>
                <a:cs typeface="Arial"/>
              </a:rPr>
              <a:t>Task2</a:t>
            </a:r>
            <a:r>
              <a:rPr dirty="0" sz="2900" spc="-80">
                <a:latin typeface="Arial"/>
                <a:cs typeface="Arial"/>
              </a:rPr>
              <a:t> </a:t>
            </a:r>
            <a:r>
              <a:rPr dirty="0" sz="2900" spc="-30">
                <a:latin typeface="Arial"/>
                <a:cs typeface="Arial"/>
              </a:rPr>
              <a:t>starts</a:t>
            </a:r>
            <a:r>
              <a:rPr dirty="0" sz="2900" spc="-14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run</a:t>
            </a:r>
            <a:r>
              <a:rPr dirty="0" sz="2900" spc="-1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as</a:t>
            </a:r>
            <a:r>
              <a:rPr dirty="0" sz="2900" spc="-1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it</a:t>
            </a:r>
            <a:r>
              <a:rPr dirty="0" sz="2900" spc="-13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has</a:t>
            </a:r>
            <a:r>
              <a:rPr dirty="0" sz="2900" spc="-10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the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highest</a:t>
            </a:r>
            <a:r>
              <a:rPr dirty="0" sz="2900" spc="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relative</a:t>
            </a:r>
            <a:endParaRPr sz="2900">
              <a:latin typeface="Arial"/>
              <a:cs typeface="Arial"/>
            </a:endParaRPr>
          </a:p>
          <a:p>
            <a:pPr marL="525145">
              <a:lnSpc>
                <a:spcPts val="3165"/>
              </a:lnSpc>
            </a:pPr>
            <a:r>
              <a:rPr dirty="0" sz="2800" spc="-10">
                <a:latin typeface="Arial"/>
                <a:cs typeface="Arial"/>
              </a:rPr>
              <a:t>priority.</a:t>
            </a:r>
            <a:endParaRPr sz="2800">
              <a:latin typeface="Arial"/>
              <a:cs typeface="Arial"/>
            </a:endParaRPr>
          </a:p>
          <a:p>
            <a:pPr algn="just" marL="527685" marR="269875" indent="-512445">
              <a:lnSpc>
                <a:spcPts val="2990"/>
              </a:lnSpc>
              <a:spcBef>
                <a:spcPts val="740"/>
              </a:spcBef>
              <a:buAutoNum type="arabicPeriod" startAt="3"/>
              <a:tabLst>
                <a:tab pos="527685" algn="l"/>
                <a:tab pos="528955" algn="l"/>
              </a:tabLst>
            </a:pPr>
            <a:r>
              <a:rPr dirty="0" sz="2900">
                <a:latin typeface="Arial"/>
                <a:cs typeface="Arial"/>
              </a:rPr>
              <a:t>	</a:t>
            </a:r>
            <a:r>
              <a:rPr dirty="0" sz="2900" spc="-150">
                <a:latin typeface="Arial"/>
                <a:cs typeface="Arial"/>
              </a:rPr>
              <a:t>Task</a:t>
            </a:r>
            <a:r>
              <a:rPr dirty="0" sz="2900" spc="-5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2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prints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out</a:t>
            </a:r>
            <a:r>
              <a:rPr dirty="0" sz="2900" spc="-15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75">
                <a:latin typeface="Arial"/>
                <a:cs typeface="Arial"/>
              </a:rPr>
              <a:t>message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before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setting</a:t>
            </a:r>
            <a:r>
              <a:rPr dirty="0" sz="2900" spc="-9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its </a:t>
            </a:r>
            <a:r>
              <a:rPr dirty="0" sz="2900" spc="-55">
                <a:latin typeface="Arial"/>
                <a:cs typeface="Arial"/>
              </a:rPr>
              <a:t>own</a:t>
            </a:r>
            <a:r>
              <a:rPr dirty="0" sz="2900" spc="-145">
                <a:latin typeface="Arial"/>
                <a:cs typeface="Arial"/>
              </a:rPr>
              <a:t> </a:t>
            </a:r>
            <a:r>
              <a:rPr dirty="0" sz="2900" spc="-30">
                <a:latin typeface="Arial"/>
                <a:cs typeface="Arial"/>
              </a:rPr>
              <a:t>priority</a:t>
            </a:r>
            <a:r>
              <a:rPr dirty="0" sz="2900" spc="-170">
                <a:latin typeface="Arial"/>
                <a:cs typeface="Arial"/>
              </a:rPr>
              <a:t> </a:t>
            </a:r>
            <a:r>
              <a:rPr dirty="0" sz="2900" spc="-20">
                <a:latin typeface="Arial"/>
                <a:cs typeface="Arial"/>
              </a:rPr>
              <a:t>back</a:t>
            </a:r>
            <a:r>
              <a:rPr dirty="0" sz="2900" spc="-18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to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below</a:t>
            </a:r>
            <a:r>
              <a:rPr dirty="0" sz="2900" spc="-16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that</a:t>
            </a:r>
            <a:r>
              <a:rPr dirty="0" sz="2900" spc="-10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of</a:t>
            </a:r>
            <a:r>
              <a:rPr dirty="0" sz="2900" spc="-125">
                <a:latin typeface="Arial"/>
                <a:cs typeface="Arial"/>
              </a:rPr>
              <a:t> </a:t>
            </a:r>
            <a:r>
              <a:rPr dirty="0" sz="2900" spc="-155">
                <a:latin typeface="Arial"/>
                <a:cs typeface="Arial"/>
              </a:rPr>
              <a:t>Task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1.</a:t>
            </a:r>
            <a:endParaRPr sz="2900">
              <a:latin typeface="Arial"/>
              <a:cs typeface="Arial"/>
            </a:endParaRPr>
          </a:p>
          <a:p>
            <a:pPr algn="just" marL="524510" marR="285750" indent="-507365">
              <a:lnSpc>
                <a:spcPct val="85400"/>
              </a:lnSpc>
              <a:spcBef>
                <a:spcPts val="735"/>
              </a:spcBef>
              <a:buAutoNum type="arabicPeriod" startAt="3"/>
              <a:tabLst>
                <a:tab pos="524510" algn="l"/>
                <a:tab pos="528320" algn="l"/>
              </a:tabLst>
            </a:pPr>
            <a:r>
              <a:rPr dirty="0" sz="2900">
                <a:latin typeface="Arial"/>
                <a:cs typeface="Arial"/>
              </a:rPr>
              <a:t>	</a:t>
            </a:r>
            <a:r>
              <a:rPr dirty="0" sz="2900" spc="-155">
                <a:latin typeface="Arial"/>
                <a:cs typeface="Arial"/>
              </a:rPr>
              <a:t>Task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1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is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30">
                <a:latin typeface="Arial"/>
                <a:cs typeface="Arial"/>
              </a:rPr>
              <a:t>once</a:t>
            </a:r>
            <a:r>
              <a:rPr dirty="0" sz="2900" spc="-135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again</a:t>
            </a:r>
            <a:r>
              <a:rPr dirty="0" sz="2900" spc="-12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the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highest </a:t>
            </a:r>
            <a:r>
              <a:rPr dirty="0" sz="2900" spc="-30">
                <a:latin typeface="Arial"/>
                <a:cs typeface="Arial"/>
              </a:rPr>
              <a:t>priority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task, </a:t>
            </a:r>
            <a:r>
              <a:rPr dirty="0" sz="2950">
                <a:latin typeface="Arial"/>
                <a:cs typeface="Arial"/>
              </a:rPr>
              <a:t>so</a:t>
            </a:r>
            <a:r>
              <a:rPr dirty="0" sz="2950" spc="-2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it</a:t>
            </a:r>
            <a:r>
              <a:rPr dirty="0" sz="2950" spc="-105">
                <a:latin typeface="Arial"/>
                <a:cs typeface="Arial"/>
              </a:rPr>
              <a:t> </a:t>
            </a:r>
            <a:r>
              <a:rPr dirty="0" sz="2950" spc="-70">
                <a:latin typeface="Arial"/>
                <a:cs typeface="Arial"/>
              </a:rPr>
              <a:t>starts</a:t>
            </a:r>
            <a:r>
              <a:rPr dirty="0" sz="2950" spc="-9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to</a:t>
            </a:r>
            <a:r>
              <a:rPr dirty="0" sz="2950" spc="-185">
                <a:latin typeface="Arial"/>
                <a:cs typeface="Arial"/>
              </a:rPr>
              <a:t> </a:t>
            </a:r>
            <a:r>
              <a:rPr dirty="0" sz="2950" spc="-35">
                <a:latin typeface="Arial"/>
                <a:cs typeface="Arial"/>
              </a:rPr>
              <a:t>run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and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85">
                <a:latin typeface="Arial"/>
                <a:cs typeface="Arial"/>
              </a:rPr>
              <a:t>forcing</a:t>
            </a:r>
            <a:r>
              <a:rPr dirty="0" sz="2950" spc="-125">
                <a:latin typeface="Arial"/>
                <a:cs typeface="Arial"/>
              </a:rPr>
              <a:t> </a:t>
            </a:r>
            <a:r>
              <a:rPr dirty="0" sz="2950" spc="-185">
                <a:latin typeface="Arial"/>
                <a:cs typeface="Arial"/>
              </a:rPr>
              <a:t>Task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2</a:t>
            </a:r>
            <a:r>
              <a:rPr dirty="0" sz="2950" spc="-204">
                <a:latin typeface="Arial"/>
                <a:cs typeface="Arial"/>
              </a:rPr>
              <a:t> </a:t>
            </a:r>
            <a:r>
              <a:rPr dirty="0" sz="2950" spc="-55">
                <a:latin typeface="Arial"/>
                <a:cs typeface="Arial"/>
              </a:rPr>
              <a:t>back</a:t>
            </a:r>
            <a:r>
              <a:rPr dirty="0" sz="2950" spc="-12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into </a:t>
            </a:r>
            <a:r>
              <a:rPr dirty="0" sz="3000" spc="-40">
                <a:latin typeface="Arial"/>
                <a:cs typeface="Arial"/>
              </a:rPr>
              <a:t>the</a:t>
            </a:r>
            <a:r>
              <a:rPr dirty="0" sz="3000" spc="-170">
                <a:latin typeface="Arial"/>
                <a:cs typeface="Arial"/>
              </a:rPr>
              <a:t> </a:t>
            </a:r>
            <a:r>
              <a:rPr dirty="0" sz="3000" spc="-110">
                <a:latin typeface="Arial"/>
                <a:cs typeface="Arial"/>
              </a:rPr>
              <a:t>Ready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state.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094" y="1614734"/>
            <a:ext cx="7673975" cy="3872229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50520" marR="5080" indent="-338455">
              <a:lnSpc>
                <a:spcPts val="3590"/>
              </a:lnSpc>
              <a:spcBef>
                <a:spcPts val="305"/>
              </a:spcBef>
              <a:buChar char="•"/>
              <a:tabLst>
                <a:tab pos="350520" algn="l"/>
                <a:tab pos="359410" algn="l"/>
              </a:tabLst>
            </a:pPr>
            <a:r>
              <a:rPr dirty="0" sz="3050">
                <a:latin typeface="Arial"/>
                <a:cs typeface="Arial"/>
              </a:rPr>
              <a:t>	</a:t>
            </a:r>
            <a:r>
              <a:rPr dirty="0" sz="3050" spc="-35">
                <a:latin typeface="Arial"/>
                <a:cs typeface="Arial"/>
              </a:rPr>
              <a:t>Declare</a:t>
            </a:r>
            <a:r>
              <a:rPr dirty="0" sz="3050" spc="-150">
                <a:latin typeface="Arial"/>
                <a:cs typeface="Arial"/>
              </a:rPr>
              <a:t> </a:t>
            </a:r>
            <a:r>
              <a:rPr dirty="0" sz="3050" spc="50">
                <a:latin typeface="Arial"/>
                <a:cs typeface="Arial"/>
              </a:rPr>
              <a:t>a</a:t>
            </a:r>
            <a:r>
              <a:rPr dirty="0" sz="3050" spc="-21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global</a:t>
            </a:r>
            <a:r>
              <a:rPr dirty="0" sz="3050" spc="-50">
                <a:latin typeface="Arial"/>
                <a:cs typeface="Arial"/>
              </a:rPr>
              <a:t> </a:t>
            </a:r>
            <a:r>
              <a:rPr dirty="0" sz="3050" spc="-30">
                <a:latin typeface="Arial"/>
                <a:cs typeface="Arial"/>
              </a:rPr>
              <a:t>variable</a:t>
            </a:r>
            <a:r>
              <a:rPr dirty="0" sz="3050" spc="-2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to</a:t>
            </a:r>
            <a:r>
              <a:rPr dirty="0" sz="3050" spc="-19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hold</a:t>
            </a:r>
            <a:r>
              <a:rPr dirty="0" sz="3050" spc="-20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the</a:t>
            </a:r>
            <a:r>
              <a:rPr dirty="0" sz="3050" spc="-12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handle </a:t>
            </a:r>
            <a:r>
              <a:rPr dirty="0" sz="3050">
                <a:latin typeface="Arial"/>
                <a:cs typeface="Arial"/>
              </a:rPr>
              <a:t>of</a:t>
            </a:r>
            <a:r>
              <a:rPr dirty="0" sz="3050" spc="-145">
                <a:latin typeface="Arial"/>
                <a:cs typeface="Arial"/>
              </a:rPr>
              <a:t> </a:t>
            </a:r>
            <a:r>
              <a:rPr dirty="0" sz="3050" spc="-75">
                <a:latin typeface="Arial"/>
                <a:cs typeface="Arial"/>
              </a:rPr>
              <a:t>Task</a:t>
            </a:r>
            <a:r>
              <a:rPr dirty="0" sz="3050" spc="-135">
                <a:latin typeface="Arial"/>
                <a:cs typeface="Arial"/>
              </a:rPr>
              <a:t> </a:t>
            </a:r>
            <a:r>
              <a:rPr dirty="0" sz="3050" spc="-35">
                <a:latin typeface="Arial"/>
                <a:cs typeface="Arial"/>
              </a:rPr>
              <a:t>2.</a:t>
            </a:r>
            <a:endParaRPr sz="305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509"/>
              </a:spcBef>
            </a:pPr>
            <a:r>
              <a:rPr dirty="0" sz="2600" spc="-45">
                <a:latin typeface="Arial"/>
                <a:cs typeface="Arial"/>
              </a:rPr>
              <a:t>xTaskHandle</a:t>
            </a:r>
            <a:r>
              <a:rPr dirty="0" sz="2600" spc="11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xTask2Handle;</a:t>
            </a: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Char char="•"/>
              <a:tabLst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main()</a:t>
            </a:r>
            <a:r>
              <a:rPr dirty="0" sz="3000" spc="9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function,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create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two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tasks</a:t>
            </a:r>
            <a:endParaRPr sz="300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  <a:spcBef>
                <a:spcPts val="600"/>
              </a:spcBef>
            </a:pPr>
            <a:r>
              <a:rPr dirty="0" sz="2600" spc="-40">
                <a:latin typeface="Arial"/>
                <a:cs typeface="Arial"/>
              </a:rPr>
              <a:t>xTaskCreate(vTask1,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“Task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1”,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240,</a:t>
            </a:r>
            <a:endParaRPr sz="2600">
              <a:latin typeface="Arial"/>
              <a:cs typeface="Arial"/>
            </a:endParaRPr>
          </a:p>
          <a:p>
            <a:pPr marL="2748915">
              <a:lnSpc>
                <a:spcPct val="100000"/>
              </a:lnSpc>
              <a:spcBef>
                <a:spcPts val="640"/>
              </a:spcBef>
            </a:pPr>
            <a:r>
              <a:rPr dirty="0" sz="2600">
                <a:latin typeface="Arial"/>
                <a:cs typeface="Arial"/>
              </a:rPr>
              <a:t>NULL,</a:t>
            </a:r>
            <a:r>
              <a:rPr dirty="0" sz="2600" spc="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2,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NULL);</a:t>
            </a:r>
            <a:endParaRPr sz="260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  <a:spcBef>
                <a:spcPts val="590"/>
              </a:spcBef>
            </a:pPr>
            <a:r>
              <a:rPr dirty="0" sz="2650" spc="-65">
                <a:latin typeface="Arial"/>
                <a:cs typeface="Arial"/>
              </a:rPr>
              <a:t>xTaskCreate(vTask2,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“Task</a:t>
            </a:r>
            <a:r>
              <a:rPr dirty="0" sz="2650" spc="-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2”,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240,</a:t>
            </a:r>
            <a:endParaRPr sz="2650">
              <a:latin typeface="Arial"/>
              <a:cs typeface="Arial"/>
            </a:endParaRPr>
          </a:p>
          <a:p>
            <a:pPr marL="2748915">
              <a:lnSpc>
                <a:spcPct val="100000"/>
              </a:lnSpc>
              <a:spcBef>
                <a:spcPts val="565"/>
              </a:spcBef>
            </a:pPr>
            <a:r>
              <a:rPr dirty="0" sz="2600">
                <a:latin typeface="Arial"/>
                <a:cs typeface="Arial"/>
              </a:rPr>
              <a:t>NULL,</a:t>
            </a:r>
            <a:r>
              <a:rPr dirty="0" sz="2600" spc="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1,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&amp;xTask2HandIe);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466886"/>
            <a:ext cx="7212330" cy="5622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3060" marR="1229360" indent="-340995">
              <a:lnSpc>
                <a:spcPct val="118700"/>
              </a:lnSpc>
              <a:spcBef>
                <a:spcPts val="100"/>
              </a:spcBef>
              <a:buChar char="•"/>
              <a:tabLst>
                <a:tab pos="466090" algn="l"/>
              </a:tabLst>
            </a:pPr>
            <a:r>
              <a:rPr dirty="0" sz="3000">
                <a:latin typeface="Arial"/>
                <a:cs typeface="Arial"/>
              </a:rPr>
              <a:t>Change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 spc="-60">
                <a:latin typeface="Arial"/>
                <a:cs typeface="Arial"/>
              </a:rPr>
              <a:t>vTask1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by</a:t>
            </a:r>
            <a:r>
              <a:rPr dirty="0" sz="3000" spc="-12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initialization </a:t>
            </a:r>
            <a:r>
              <a:rPr dirty="0" sz="3000" spc="-10">
                <a:latin typeface="Arial"/>
                <a:cs typeface="Arial"/>
              </a:rPr>
              <a:t>	</a:t>
            </a:r>
            <a:r>
              <a:rPr dirty="0" sz="2650" spc="-25">
                <a:latin typeface="Arial"/>
                <a:cs typeface="Arial"/>
              </a:rPr>
              <a:t>unsigned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portBASE</a:t>
            </a:r>
            <a:r>
              <a:rPr dirty="0" sz="2650" spc="50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TYPE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uxPriority; </a:t>
            </a:r>
            <a:r>
              <a:rPr dirty="0" sz="2650" spc="-10">
                <a:latin typeface="Arial"/>
                <a:cs typeface="Arial"/>
              </a:rPr>
              <a:t>	</a:t>
            </a:r>
            <a:r>
              <a:rPr dirty="0" sz="2550">
                <a:latin typeface="Arial"/>
                <a:cs typeface="Arial"/>
              </a:rPr>
              <a:t>uxPriority</a:t>
            </a:r>
            <a:r>
              <a:rPr dirty="0" sz="2550" spc="2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=</a:t>
            </a:r>
            <a:r>
              <a:rPr dirty="0" sz="2550" spc="-5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uxTaskPriorityGet(NULL);</a:t>
            </a:r>
            <a:endParaRPr sz="2550">
              <a:latin typeface="Arial"/>
              <a:cs typeface="Arial"/>
            </a:endParaRPr>
          </a:p>
          <a:p>
            <a:pPr marL="364490" indent="-351790">
              <a:lnSpc>
                <a:spcPct val="100000"/>
              </a:lnSpc>
              <a:spcBef>
                <a:spcPts val="710"/>
              </a:spcBef>
              <a:buChar char="•"/>
              <a:tabLst>
                <a:tab pos="364490" algn="l"/>
              </a:tabLst>
            </a:pP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adding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infinite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loop</a:t>
            </a:r>
            <a:endParaRPr sz="300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620"/>
              </a:spcBef>
            </a:pPr>
            <a:r>
              <a:rPr dirty="0" sz="2650" spc="-55">
                <a:latin typeface="Arial"/>
                <a:cs typeface="Arial"/>
              </a:rPr>
              <a:t>vTaskPrioritySet(xTaskHandI1,</a:t>
            </a:r>
            <a:r>
              <a:rPr dirty="0" sz="2650" spc="1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(uxPriority+1));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650">
              <a:latin typeface="Arial"/>
              <a:cs typeface="Arial"/>
            </a:endParaRPr>
          </a:p>
          <a:p>
            <a:pPr marL="353060" marR="1229360" indent="-340995">
              <a:lnSpc>
                <a:spcPct val="118500"/>
              </a:lnSpc>
              <a:buChar char="•"/>
              <a:tabLst>
                <a:tab pos="466090" algn="l"/>
              </a:tabLst>
            </a:pPr>
            <a:r>
              <a:rPr dirty="0" sz="2950">
                <a:latin typeface="Arial"/>
                <a:cs typeface="Arial"/>
              </a:rPr>
              <a:t>Change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vTask2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by</a:t>
            </a:r>
            <a:r>
              <a:rPr dirty="0" sz="2950" spc="-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initialization </a:t>
            </a:r>
            <a:r>
              <a:rPr dirty="0" sz="2950" spc="-10">
                <a:latin typeface="Arial"/>
                <a:cs typeface="Arial"/>
              </a:rPr>
              <a:t>	</a:t>
            </a:r>
            <a:r>
              <a:rPr dirty="0" sz="2650" spc="-25">
                <a:latin typeface="Arial"/>
                <a:cs typeface="Arial"/>
              </a:rPr>
              <a:t>unsigned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portBASE</a:t>
            </a:r>
            <a:r>
              <a:rPr dirty="0" sz="2650" spc="4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TYPE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uxPriority; </a:t>
            </a:r>
            <a:r>
              <a:rPr dirty="0" sz="2650" spc="-10">
                <a:latin typeface="Arial"/>
                <a:cs typeface="Arial"/>
              </a:rPr>
              <a:t>	</a:t>
            </a:r>
            <a:r>
              <a:rPr dirty="0" sz="2550">
                <a:latin typeface="Arial"/>
                <a:cs typeface="Arial"/>
              </a:rPr>
              <a:t>uxPriority</a:t>
            </a:r>
            <a:r>
              <a:rPr dirty="0" sz="2550" spc="2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=</a:t>
            </a:r>
            <a:r>
              <a:rPr dirty="0" sz="2550" spc="-5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uxTaskPriorityGet(NULL);</a:t>
            </a:r>
            <a:endParaRPr sz="2550">
              <a:latin typeface="Arial"/>
              <a:cs typeface="Arial"/>
            </a:endParaRPr>
          </a:p>
          <a:p>
            <a:pPr marL="364490" indent="-351790">
              <a:lnSpc>
                <a:spcPct val="100000"/>
              </a:lnSpc>
              <a:spcBef>
                <a:spcPts val="745"/>
              </a:spcBef>
              <a:buChar char="•"/>
              <a:tabLst>
                <a:tab pos="364490" algn="l"/>
              </a:tabLst>
            </a:pP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adding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infinite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loop</a:t>
            </a:r>
            <a:endParaRPr sz="300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630"/>
              </a:spcBef>
            </a:pPr>
            <a:r>
              <a:rPr dirty="0" sz="2600" spc="-20">
                <a:latin typeface="Arial"/>
                <a:cs typeface="Arial"/>
              </a:rPr>
              <a:t>vTaskPrioritySet(NULL,</a:t>
            </a:r>
            <a:r>
              <a:rPr dirty="0" sz="2600" spc="10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(uxPriority-</a:t>
            </a:r>
            <a:r>
              <a:rPr dirty="0" sz="2600" spc="-20">
                <a:latin typeface="Arial"/>
                <a:cs typeface="Arial"/>
              </a:rPr>
              <a:t>2));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00"/>
              </a:lnSpc>
            </a:pPr>
            <a:r>
              <a:rPr dirty="0" spc="-25"/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96" y="0"/>
            <a:ext cx="62507" cy="6858000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529958" y="527793"/>
            <a:ext cx="5494655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C60"/>
                </a:solidFill>
              </a:rPr>
              <a:t>Task</a:t>
            </a:r>
            <a:r>
              <a:rPr dirty="0" spc="185">
                <a:solidFill>
                  <a:srgbClr val="001C60"/>
                </a:solidFill>
              </a:rPr>
              <a:t> </a:t>
            </a:r>
            <a:r>
              <a:rPr dirty="0">
                <a:solidFill>
                  <a:srgbClr val="031F57"/>
                </a:solidFill>
              </a:rPr>
              <a:t>execution</a:t>
            </a:r>
            <a:r>
              <a:rPr dirty="0" spc="210">
                <a:solidFill>
                  <a:srgbClr val="031F57"/>
                </a:solidFill>
              </a:rPr>
              <a:t> </a:t>
            </a:r>
            <a:r>
              <a:rPr dirty="0" spc="-10">
                <a:solidFill>
                  <a:srgbClr val="032167"/>
                </a:solidFill>
              </a:rPr>
              <a:t>sequence</a:t>
            </a:r>
          </a:p>
        </p:txBody>
      </p:sp>
      <p:sp>
        <p:nvSpPr>
          <p:cNvPr id="12" name="object 12"/>
          <p:cNvSpPr/>
          <p:nvPr/>
        </p:nvSpPr>
        <p:spPr>
          <a:xfrm>
            <a:off x="1528464" y="1449585"/>
            <a:ext cx="0" cy="830580"/>
          </a:xfrm>
          <a:custGeom>
            <a:avLst/>
            <a:gdLst/>
            <a:ahLst/>
            <a:cxnLst/>
            <a:rect l="l" t="t" r="r" b="b"/>
            <a:pathLst>
              <a:path w="0" h="830580">
                <a:moveTo>
                  <a:pt x="0" y="830461"/>
                </a:moveTo>
                <a:lnTo>
                  <a:pt x="0" y="0"/>
                </a:lnTo>
              </a:path>
            </a:pathLst>
          </a:custGeom>
          <a:ln w="8929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24000" y="1454050"/>
            <a:ext cx="1607820" cy="0"/>
          </a:xfrm>
          <a:custGeom>
            <a:avLst/>
            <a:gdLst/>
            <a:ahLst/>
            <a:cxnLst/>
            <a:rect l="l" t="t" r="r" b="b"/>
            <a:pathLst>
              <a:path w="1607820" h="0">
                <a:moveTo>
                  <a:pt x="0" y="0"/>
                </a:moveTo>
                <a:lnTo>
                  <a:pt x="1607344" y="0"/>
                </a:lnTo>
              </a:path>
            </a:pathLst>
          </a:custGeom>
          <a:ln w="8929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32262" y="1646039"/>
            <a:ext cx="0" cy="634365"/>
          </a:xfrm>
          <a:custGeom>
            <a:avLst/>
            <a:gdLst/>
            <a:ahLst/>
            <a:cxnLst/>
            <a:rect l="l" t="t" r="r" b="b"/>
            <a:pathLst>
              <a:path w="0" h="634364">
                <a:moveTo>
                  <a:pt x="0" y="634008"/>
                </a:moveTo>
                <a:lnTo>
                  <a:pt x="0" y="0"/>
                </a:lnTo>
              </a:path>
            </a:pathLst>
          </a:custGeom>
          <a:ln w="8929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87675" y="1270991"/>
            <a:ext cx="0" cy="1018540"/>
          </a:xfrm>
          <a:custGeom>
            <a:avLst/>
            <a:gdLst/>
            <a:ahLst/>
            <a:cxnLst/>
            <a:rect l="l" t="t" r="r" b="b"/>
            <a:pathLst>
              <a:path w="0" h="1018539">
                <a:moveTo>
                  <a:pt x="0" y="1017984"/>
                </a:moveTo>
                <a:lnTo>
                  <a:pt x="0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55878" y="1270991"/>
            <a:ext cx="0" cy="241300"/>
          </a:xfrm>
          <a:custGeom>
            <a:avLst/>
            <a:gdLst/>
            <a:ahLst/>
            <a:cxnLst/>
            <a:rect l="l" t="t" r="r" b="b"/>
            <a:pathLst>
              <a:path w="0" h="241300">
                <a:moveTo>
                  <a:pt x="0" y="241101"/>
                </a:moveTo>
                <a:lnTo>
                  <a:pt x="0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83210" y="1275456"/>
            <a:ext cx="2581275" cy="0"/>
          </a:xfrm>
          <a:custGeom>
            <a:avLst/>
            <a:gdLst/>
            <a:ahLst/>
            <a:cxnLst/>
            <a:rect l="l" t="t" r="r" b="b"/>
            <a:pathLst>
              <a:path w="2581275" h="0">
                <a:moveTo>
                  <a:pt x="0" y="0"/>
                </a:moveTo>
                <a:lnTo>
                  <a:pt x="2580680" y="0"/>
                </a:lnTo>
              </a:path>
            </a:pathLst>
          </a:custGeom>
          <a:ln w="8929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634380" y="1428451"/>
            <a:ext cx="1508125" cy="777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" marR="5080" indent="-9525">
              <a:lnSpc>
                <a:spcPct val="100699"/>
              </a:lnSpc>
              <a:spcBef>
                <a:spcPts val="95"/>
              </a:spcBef>
            </a:pPr>
            <a:r>
              <a:rPr dirty="0" sz="1650">
                <a:latin typeface="Arial"/>
                <a:cs typeface="Arial"/>
              </a:rPr>
              <a:t>1</a:t>
            </a:r>
            <a:r>
              <a:rPr dirty="0" sz="1650" spc="-45"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434"/>
                </a:solidFill>
                <a:latin typeface="Arial"/>
                <a:cs typeface="Arial"/>
              </a:rPr>
              <a:t>-</a:t>
            </a:r>
            <a:r>
              <a:rPr dirty="0" sz="1650" spc="-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Task1</a:t>
            </a:r>
            <a:r>
              <a:rPr dirty="0" sz="1650" spc="20"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0F0F0F"/>
                </a:solidFill>
                <a:latin typeface="Arial"/>
                <a:cs typeface="Arial"/>
              </a:rPr>
              <a:t>runs </a:t>
            </a:r>
            <a:r>
              <a:rPr dirty="0" sz="1650" spc="-20">
                <a:latin typeface="Arial"/>
                <a:cs typeface="Arial"/>
              </a:rPr>
              <a:t>first</a:t>
            </a:r>
            <a:r>
              <a:rPr dirty="0" sz="1650" spc="-55"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as</a:t>
            </a:r>
            <a:r>
              <a:rPr dirty="0" sz="1650" spc="-65"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424242"/>
                </a:solidFill>
                <a:latin typeface="Arial"/>
                <a:cs typeface="Arial"/>
              </a:rPr>
              <a:t>it</a:t>
            </a:r>
            <a:r>
              <a:rPr dirty="0" sz="1650" spc="-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650" spc="-35">
                <a:solidFill>
                  <a:srgbClr val="131313"/>
                </a:solidFill>
                <a:latin typeface="Arial"/>
                <a:cs typeface="Arial"/>
              </a:rPr>
              <a:t>has</a:t>
            </a:r>
            <a:r>
              <a:rPr dirty="0" sz="1650" spc="-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the </a:t>
            </a:r>
            <a:r>
              <a:rPr dirty="0" sz="1600">
                <a:solidFill>
                  <a:srgbClr val="181818"/>
                </a:solidFill>
                <a:latin typeface="Arial"/>
                <a:cs typeface="Arial"/>
              </a:rPr>
              <a:t>highest</a:t>
            </a:r>
            <a:r>
              <a:rPr dirty="0" sz="1600" spc="-1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0F0F0F"/>
                </a:solidFill>
                <a:latin typeface="Arial"/>
                <a:cs typeface="Arial"/>
              </a:rPr>
              <a:t>priority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83210" y="1285875"/>
            <a:ext cx="2798445" cy="1003300"/>
            <a:chOff x="3783210" y="1285875"/>
            <a:chExt cx="2798445" cy="1003300"/>
          </a:xfrm>
        </p:grpSpPr>
        <p:sp>
          <p:nvSpPr>
            <p:cNvPr id="20" name="object 20"/>
            <p:cNvSpPr/>
            <p:nvPr/>
          </p:nvSpPr>
          <p:spPr>
            <a:xfrm>
              <a:off x="3783210" y="2284511"/>
              <a:ext cx="2777490" cy="0"/>
            </a:xfrm>
            <a:custGeom>
              <a:avLst/>
              <a:gdLst/>
              <a:ahLst/>
              <a:cxnLst/>
              <a:rect l="l" t="t" r="r" b="b"/>
              <a:pathLst>
                <a:path w="2777490" h="0">
                  <a:moveTo>
                    <a:pt x="0" y="0"/>
                  </a:moveTo>
                  <a:lnTo>
                    <a:pt x="2777134" y="0"/>
                  </a:lnTo>
                </a:path>
              </a:pathLst>
            </a:custGeom>
            <a:ln w="8929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9008" y="1285875"/>
              <a:ext cx="232171" cy="95547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893369" y="1216867"/>
            <a:ext cx="2552065" cy="102616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3335">
              <a:lnSpc>
                <a:spcPct val="96100"/>
              </a:lnSpc>
              <a:spcBef>
                <a:spcPts val="185"/>
              </a:spcBef>
            </a:pPr>
            <a:r>
              <a:rPr dirty="0" sz="1700" spc="-140">
                <a:latin typeface="Arial"/>
                <a:cs typeface="Arial"/>
              </a:rPr>
              <a:t>3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-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Task1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0C0C0C"/>
                </a:solidFill>
                <a:latin typeface="Arial"/>
                <a:cs typeface="Arial"/>
              </a:rPr>
              <a:t>runs</a:t>
            </a:r>
            <a:r>
              <a:rPr dirty="0" sz="1700" spc="-1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700" spc="-145">
                <a:solidFill>
                  <a:srgbClr val="161616"/>
                </a:solidFill>
                <a:latin typeface="Arial"/>
                <a:cs typeface="Arial"/>
              </a:rPr>
              <a:t>aqa</a:t>
            </a:r>
            <a:r>
              <a:rPr dirty="0" sz="1700" spc="-2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161616"/>
                </a:solidFill>
                <a:latin typeface="Arial"/>
                <a:cs typeface="Arial"/>
              </a:rPr>
              <a:t>n</a:t>
            </a:r>
            <a:r>
              <a:rPr dirty="0" sz="1700" spc="-8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1F1F1F"/>
                </a:solidFill>
                <a:latin typeface="Arial"/>
                <a:cs typeface="Arial"/>
              </a:rPr>
              <a:t>when </a:t>
            </a:r>
            <a:r>
              <a:rPr dirty="0" sz="1750" spc="-100">
                <a:latin typeface="Arial"/>
                <a:cs typeface="Arial"/>
              </a:rPr>
              <a:t>Task2</a:t>
            </a:r>
            <a:r>
              <a:rPr dirty="0" sz="1750" spc="-10">
                <a:latin typeface="Arial"/>
                <a:cs typeface="Arial"/>
              </a:rPr>
              <a:t> </a:t>
            </a:r>
            <a:r>
              <a:rPr dirty="0" sz="1750" spc="-80">
                <a:latin typeface="Arial"/>
                <a:cs typeface="Arial"/>
              </a:rPr>
              <a:t>lowers</a:t>
            </a:r>
            <a:r>
              <a:rPr dirty="0" sz="1750" spc="-20"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131313"/>
                </a:solidFill>
                <a:latin typeface="Arial"/>
                <a:cs typeface="Arial"/>
              </a:rPr>
              <a:t>its</a:t>
            </a:r>
            <a:r>
              <a:rPr dirty="0" sz="1750" spc="-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750" spc="-110">
                <a:solidFill>
                  <a:srgbClr val="131313"/>
                </a:solidFill>
                <a:latin typeface="Arial"/>
                <a:cs typeface="Arial"/>
              </a:rPr>
              <a:t>own</a:t>
            </a:r>
            <a:r>
              <a:rPr dirty="0" sz="1750" spc="-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750" spc="-80">
                <a:latin typeface="Arial"/>
                <a:cs typeface="Arial"/>
              </a:rPr>
              <a:t>priority </a:t>
            </a:r>
            <a:r>
              <a:rPr dirty="0" sz="1650" spc="-30">
                <a:latin typeface="Arial"/>
                <a:cs typeface="Arial"/>
              </a:rPr>
              <a:t>back</a:t>
            </a:r>
            <a:r>
              <a:rPr dirty="0" sz="1650" spc="-55">
                <a:latin typeface="Arial"/>
                <a:cs typeface="Arial"/>
              </a:rPr>
              <a:t> </a:t>
            </a:r>
            <a:r>
              <a:rPr dirty="0" sz="1650" spc="-6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1650" spc="-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being</a:t>
            </a:r>
            <a:r>
              <a:rPr dirty="0" sz="1650" spc="-80"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1A1A1A"/>
                </a:solidFill>
                <a:latin typeface="Arial"/>
                <a:cs typeface="Arial"/>
              </a:rPr>
              <a:t>below</a:t>
            </a:r>
            <a:r>
              <a:rPr dirty="0" sz="165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0C0C0C"/>
                </a:solidFill>
                <a:latin typeface="Arial"/>
                <a:cs typeface="Arial"/>
              </a:rPr>
              <a:t>the </a:t>
            </a:r>
            <a:r>
              <a:rPr dirty="0" sz="1650" spc="-30">
                <a:latin typeface="Arial"/>
                <a:cs typeface="Arial"/>
              </a:rPr>
              <a:t>Task1</a:t>
            </a:r>
            <a:r>
              <a:rPr dirty="0" sz="1650" spc="-70"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0E0E0E"/>
                </a:solidFill>
                <a:latin typeface="Arial"/>
                <a:cs typeface="Arial"/>
              </a:rPr>
              <a:t>priority</a:t>
            </a:r>
            <a:r>
              <a:rPr dirty="0" sz="1650" spc="34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dirty="0" sz="1650" spc="-8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12121"/>
                </a:solidFill>
                <a:latin typeface="Arial"/>
                <a:cs typeface="Arial"/>
              </a:rPr>
              <a:t>so</a:t>
            </a:r>
            <a:r>
              <a:rPr dirty="0" sz="1650" spc="-1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24000" y="2275581"/>
            <a:ext cx="1812925" cy="0"/>
          </a:xfrm>
          <a:custGeom>
            <a:avLst/>
            <a:gdLst/>
            <a:ahLst/>
            <a:cxnLst/>
            <a:rect l="l" t="t" r="r" b="b"/>
            <a:pathLst>
              <a:path w="1812925" h="0">
                <a:moveTo>
                  <a:pt x="0" y="0"/>
                </a:moveTo>
                <a:lnTo>
                  <a:pt x="1812727" y="0"/>
                </a:lnTo>
              </a:path>
            </a:pathLst>
          </a:custGeom>
          <a:ln w="8929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777008" y="2714625"/>
            <a:ext cx="4965065" cy="3932554"/>
            <a:chOff x="1777008" y="2714625"/>
            <a:chExt cx="4965065" cy="393255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7008" y="2714625"/>
              <a:ext cx="4964906" cy="39022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71402" y="5628679"/>
              <a:ext cx="0" cy="1018540"/>
            </a:xfrm>
            <a:custGeom>
              <a:avLst/>
              <a:gdLst/>
              <a:ahLst/>
              <a:cxnLst/>
              <a:rect l="l" t="t" r="r" b="b"/>
              <a:pathLst>
                <a:path w="0" h="1018540">
                  <a:moveTo>
                    <a:pt x="0" y="1017984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59175" y="5628679"/>
              <a:ext cx="0" cy="250190"/>
            </a:xfrm>
            <a:custGeom>
              <a:avLst/>
              <a:gdLst/>
              <a:ahLst/>
              <a:cxnLst/>
              <a:rect l="l" t="t" r="r" b="b"/>
              <a:pathLst>
                <a:path w="0" h="250189">
                  <a:moveTo>
                    <a:pt x="0" y="250031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66937" y="5633144"/>
              <a:ext cx="2009775" cy="0"/>
            </a:xfrm>
            <a:custGeom>
              <a:avLst/>
              <a:gdLst/>
              <a:ahLst/>
              <a:cxnLst/>
              <a:rect l="l" t="t" r="r" b="b"/>
              <a:pathLst>
                <a:path w="2009775" h="0">
                  <a:moveTo>
                    <a:pt x="0" y="0"/>
                  </a:moveTo>
                  <a:lnTo>
                    <a:pt x="200918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91285" y="3173014"/>
              <a:ext cx="0" cy="1276985"/>
            </a:xfrm>
            <a:custGeom>
              <a:avLst/>
              <a:gdLst/>
              <a:ahLst/>
              <a:cxnLst/>
              <a:rect l="l" t="t" r="r" b="b"/>
              <a:pathLst>
                <a:path w="0" h="1276985">
                  <a:moveTo>
                    <a:pt x="0" y="1276945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89824" y="3378398"/>
              <a:ext cx="0" cy="1071880"/>
            </a:xfrm>
            <a:custGeom>
              <a:avLst/>
              <a:gdLst/>
              <a:ahLst/>
              <a:cxnLst/>
              <a:rect l="l" t="t" r="r" b="b"/>
              <a:pathLst>
                <a:path w="0" h="1071879">
                  <a:moveTo>
                    <a:pt x="0" y="1071563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86820" y="3177479"/>
              <a:ext cx="2393315" cy="0"/>
            </a:xfrm>
            <a:custGeom>
              <a:avLst/>
              <a:gdLst/>
              <a:ahLst/>
              <a:cxnLst/>
              <a:rect l="l" t="t" r="r" b="b"/>
              <a:pathLst>
                <a:path w="2393315" h="0">
                  <a:moveTo>
                    <a:pt x="0" y="0"/>
                  </a:moveTo>
                  <a:lnTo>
                    <a:pt x="2393157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86820" y="4445496"/>
              <a:ext cx="2607945" cy="0"/>
            </a:xfrm>
            <a:custGeom>
              <a:avLst/>
              <a:gdLst/>
              <a:ahLst/>
              <a:cxnLst/>
              <a:rect l="l" t="t" r="r" b="b"/>
              <a:pathLst>
                <a:path w="2607945" h="0">
                  <a:moveTo>
                    <a:pt x="0" y="0"/>
                  </a:moveTo>
                  <a:lnTo>
                    <a:pt x="2607470" y="0"/>
                  </a:lnTo>
                </a:path>
              </a:pathLst>
            </a:custGeom>
            <a:ln w="8929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734791" y="2611139"/>
            <a:ext cx="1008380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140">
                <a:solidFill>
                  <a:srgbClr val="0F08ED"/>
                </a:solidFill>
                <a:latin typeface="Calibri"/>
                <a:cs typeface="Calibri"/>
              </a:rPr>
              <a:t>Task</a:t>
            </a:r>
            <a:r>
              <a:rPr dirty="0" sz="2900" spc="310">
                <a:solidFill>
                  <a:srgbClr val="0F08ED"/>
                </a:solidFill>
                <a:latin typeface="Calibri"/>
                <a:cs typeface="Calibri"/>
              </a:rPr>
              <a:t> </a:t>
            </a:r>
            <a:r>
              <a:rPr dirty="0" sz="2900" spc="-600">
                <a:solidFill>
                  <a:srgbClr val="1811CA"/>
                </a:solidFill>
                <a:latin typeface="Calibri"/>
                <a:cs typeface="Calibri"/>
              </a:rPr>
              <a:t>1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43494" y="3303438"/>
            <a:ext cx="1062355" cy="509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>
                <a:solidFill>
                  <a:srgbClr val="498269"/>
                </a:solidFill>
                <a:latin typeface="Calibri"/>
                <a:cs typeface="Calibri"/>
              </a:rPr>
              <a:t>Task</a:t>
            </a:r>
            <a:r>
              <a:rPr dirty="0" sz="3150" spc="185">
                <a:solidFill>
                  <a:srgbClr val="498269"/>
                </a:solidFill>
                <a:latin typeface="Calibri"/>
                <a:cs typeface="Calibri"/>
              </a:rPr>
              <a:t> </a:t>
            </a:r>
            <a:r>
              <a:rPr dirty="0" sz="3150" spc="-50">
                <a:solidFill>
                  <a:srgbClr val="4B8E6E"/>
                </a:solidFill>
                <a:latin typeface="Calibri"/>
                <a:cs typeface="Calibri"/>
              </a:rPr>
              <a:t>2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2414" y="4050803"/>
            <a:ext cx="59182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35">
                <a:latin typeface="Calibri"/>
                <a:cs typeface="Calibri"/>
              </a:rPr>
              <a:t>Idle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94299" y="3114426"/>
            <a:ext cx="2407285" cy="129413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2540">
              <a:lnSpc>
                <a:spcPct val="98000"/>
              </a:lnSpc>
              <a:spcBef>
                <a:spcPts val="150"/>
              </a:spcBef>
            </a:pPr>
            <a:r>
              <a:rPr dirty="0" sz="1700" spc="-65">
                <a:latin typeface="Arial"/>
                <a:cs typeface="Arial"/>
              </a:rPr>
              <a:t>The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Idle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task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never</a:t>
            </a:r>
            <a:r>
              <a:rPr dirty="0" sz="1700" spc="-20">
                <a:latin typeface="Arial"/>
                <a:cs typeface="Arial"/>
              </a:rPr>
              <a:t> runs </a:t>
            </a:r>
            <a:r>
              <a:rPr dirty="0" sz="1700" spc="-30">
                <a:solidFill>
                  <a:srgbClr val="1F1F1F"/>
                </a:solidFill>
                <a:latin typeface="Arial"/>
                <a:cs typeface="Arial"/>
              </a:rPr>
              <a:t>as</a:t>
            </a:r>
            <a:r>
              <a:rPr dirty="0" sz="1700" spc="-9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both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application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tasks </a:t>
            </a:r>
            <a:r>
              <a:rPr dirty="0" sz="1700" spc="-20">
                <a:solidFill>
                  <a:srgbClr val="1C1C1C"/>
                </a:solidFill>
                <a:latin typeface="Arial"/>
                <a:cs typeface="Arial"/>
              </a:rPr>
              <a:t>are</a:t>
            </a:r>
            <a:r>
              <a:rPr dirty="0" sz="1700" spc="-10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0F0F0F"/>
                </a:solidFill>
                <a:latin typeface="Arial"/>
                <a:cs typeface="Arial"/>
              </a:rPr>
              <a:t>always</a:t>
            </a:r>
            <a:r>
              <a:rPr dirty="0" sz="1700" spc="-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131313"/>
                </a:solidFill>
                <a:latin typeface="Arial"/>
                <a:cs typeface="Arial"/>
              </a:rPr>
              <a:t>able</a:t>
            </a:r>
            <a:r>
              <a:rPr dirty="0" sz="17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181818"/>
                </a:solidFill>
                <a:latin typeface="Arial"/>
                <a:cs typeface="Arial"/>
              </a:rPr>
              <a:t>to</a:t>
            </a:r>
            <a:r>
              <a:rPr dirty="0" sz="1700" spc="-7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131313"/>
                </a:solidFill>
                <a:latin typeface="Arial"/>
                <a:cs typeface="Arial"/>
              </a:rPr>
              <a:t>run</a:t>
            </a:r>
            <a:r>
              <a:rPr dirty="0" sz="1700" spc="-5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and </a:t>
            </a:r>
            <a:r>
              <a:rPr dirty="0" sz="1700" spc="-65">
                <a:solidFill>
                  <a:srgbClr val="0F0F0F"/>
                </a:solidFill>
                <a:latin typeface="Arial"/>
                <a:cs typeface="Arial"/>
              </a:rPr>
              <a:t>always</a:t>
            </a:r>
            <a:r>
              <a:rPr dirty="0" sz="1700" spc="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have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43434"/>
                </a:solidFill>
                <a:latin typeface="Arial"/>
                <a:cs typeface="Arial"/>
              </a:rPr>
              <a:t>a</a:t>
            </a:r>
            <a:r>
              <a:rPr dirty="0" sz="1700" spc="-8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priority </a:t>
            </a:r>
            <a:r>
              <a:rPr dirty="0" sz="1650" spc="-10">
                <a:latin typeface="Arial"/>
                <a:cs typeface="Arial"/>
              </a:rPr>
              <a:t>above</a:t>
            </a:r>
            <a:r>
              <a:rPr dirty="0" sz="1650" spc="-105"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the</a:t>
            </a:r>
            <a:r>
              <a:rPr dirty="0" sz="1650" spc="-55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idle</a:t>
            </a:r>
            <a:r>
              <a:rPr dirty="0" sz="1650" spc="-95"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priority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75198" y="4810571"/>
            <a:ext cx="2761615" cy="1568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3162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t2</a:t>
            </a:r>
            <a:r>
              <a:rPr dirty="0" sz="2950" spc="185">
                <a:latin typeface="Arial"/>
                <a:cs typeface="Arial"/>
              </a:rPr>
              <a:t> </a:t>
            </a:r>
            <a:r>
              <a:rPr dirty="0" sz="2950" spc="-105">
                <a:latin typeface="Arial"/>
                <a:cs typeface="Arial"/>
              </a:rPr>
              <a:t>Time</a:t>
            </a:r>
            <a:endParaRPr sz="2950">
              <a:latin typeface="Arial"/>
              <a:cs typeface="Arial"/>
            </a:endParaRPr>
          </a:p>
          <a:p>
            <a:pPr algn="just" marL="13970" marR="964565" indent="-1905">
              <a:lnSpc>
                <a:spcPct val="84700"/>
              </a:lnSpc>
              <a:spcBef>
                <a:spcPts val="2635"/>
              </a:spcBef>
            </a:pPr>
            <a:r>
              <a:rPr dirty="0" sz="1950" spc="-295">
                <a:solidFill>
                  <a:srgbClr val="1A1A1A"/>
                </a:solidFill>
                <a:latin typeface="Arial"/>
                <a:cs typeface="Arial"/>
              </a:rPr>
              <a:t>2</a:t>
            </a:r>
            <a:r>
              <a:rPr dirty="0" sz="195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50" spc="-150">
                <a:solidFill>
                  <a:srgbClr val="1C1C1C"/>
                </a:solidFill>
                <a:latin typeface="Arial"/>
                <a:cs typeface="Arial"/>
              </a:rPr>
              <a:t>-</a:t>
            </a:r>
            <a:r>
              <a:rPr dirty="0" sz="1950" spc="-114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950" spc="-210">
                <a:latin typeface="Arial"/>
                <a:cs typeface="Arial"/>
              </a:rPr>
              <a:t>Task2</a:t>
            </a:r>
            <a:r>
              <a:rPr dirty="0" sz="1950" spc="-80">
                <a:latin typeface="Arial"/>
                <a:cs typeface="Arial"/>
              </a:rPr>
              <a:t> </a:t>
            </a:r>
            <a:r>
              <a:rPr dirty="0" sz="1950" spc="-185">
                <a:latin typeface="Arial"/>
                <a:cs typeface="Arial"/>
              </a:rPr>
              <a:t>runs</a:t>
            </a:r>
            <a:r>
              <a:rPr dirty="0" sz="1950" spc="-90">
                <a:latin typeface="Arial"/>
                <a:cs typeface="Arial"/>
              </a:rPr>
              <a:t> </a:t>
            </a:r>
            <a:r>
              <a:rPr dirty="0" sz="1950" spc="-229">
                <a:latin typeface="Arial"/>
                <a:cs typeface="Arial"/>
              </a:rPr>
              <a:t>each</a:t>
            </a:r>
            <a:r>
              <a:rPr dirty="0" sz="1950" spc="-120">
                <a:latin typeface="Arial"/>
                <a:cs typeface="Arial"/>
              </a:rPr>
              <a:t> </a:t>
            </a:r>
            <a:r>
              <a:rPr dirty="0" sz="2000" spc="-225">
                <a:solidFill>
                  <a:srgbClr val="0C0C0C"/>
                </a:solidFill>
                <a:latin typeface="Arial"/>
                <a:cs typeface="Arial"/>
              </a:rPr>
              <a:t>time</a:t>
            </a:r>
            <a:r>
              <a:rPr dirty="0" sz="2000" spc="-1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000" spc="-225">
                <a:latin typeface="Arial"/>
                <a:cs typeface="Arial"/>
              </a:rPr>
              <a:t>Task1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204">
                <a:latin typeface="Arial"/>
                <a:cs typeface="Arial"/>
              </a:rPr>
              <a:t>sets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9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1900" spc="-204">
                <a:latin typeface="Arial"/>
                <a:cs typeface="Arial"/>
              </a:rPr>
              <a:t>Task2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 spc="-155">
                <a:latin typeface="Arial"/>
                <a:cs typeface="Arial"/>
              </a:rPr>
              <a:t>priority</a:t>
            </a:r>
            <a:r>
              <a:rPr dirty="0" sz="1900" spc="125">
                <a:latin typeface="Arial"/>
                <a:cs typeface="Arial"/>
              </a:rPr>
              <a:t> </a:t>
            </a:r>
            <a:r>
              <a:rPr dirty="0" sz="1900" spc="-140">
                <a:solidFill>
                  <a:srgbClr val="1F1F1F"/>
                </a:solidFill>
                <a:latin typeface="Arial"/>
                <a:cs typeface="Arial"/>
              </a:rPr>
              <a:t>to</a:t>
            </a:r>
            <a:r>
              <a:rPr dirty="0" sz="1900" spc="-114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900" spc="-200">
                <a:solidFill>
                  <a:srgbClr val="2D2D2D"/>
                </a:solidFill>
                <a:latin typeface="Arial"/>
                <a:cs typeface="Arial"/>
              </a:rPr>
              <a:t>be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54237" y="6307038"/>
            <a:ext cx="222250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9165" algn="l"/>
              </a:tabLst>
            </a:pPr>
            <a:r>
              <a:rPr dirty="0" u="sng" sz="1950" spc="295">
                <a:solidFill>
                  <a:srgbClr val="0F0F0F"/>
                </a:solidFill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80">
                <a:solidFill>
                  <a:srgbClr val="0F0F0F"/>
                </a:solidFill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50" spc="-125">
                <a:solidFill>
                  <a:srgbClr val="0F0F0F"/>
                </a:solidFill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hi</a:t>
            </a:r>
            <a:r>
              <a:rPr dirty="0" u="sng" sz="1950" spc="175"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0"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hest</a:t>
            </a:r>
            <a:r>
              <a:rPr dirty="0" u="sng" sz="1950">
                <a:uFill>
                  <a:solidFill>
                    <a:srgbClr val="3B3B3B"/>
                  </a:solidFill>
                </a:uFill>
                <a:latin typeface="Arial"/>
                <a:cs typeface="Arial"/>
              </a:rPr>
              <a:t>	</a:t>
            </a:r>
            <a:endParaRPr sz="1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22988" y="6408985"/>
            <a:ext cx="185420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70">
                <a:latin typeface="Courier New"/>
                <a:cs typeface="Courier New"/>
              </a:rPr>
              <a:t>69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1215D"/>
                </a:solidFill>
              </a:rPr>
              <a:t>1.9</a:t>
            </a:r>
            <a:r>
              <a:rPr dirty="0" spc="65">
                <a:solidFill>
                  <a:srgbClr val="01215D"/>
                </a:solidFill>
              </a:rPr>
              <a:t> </a:t>
            </a:r>
            <a:r>
              <a:rPr dirty="0">
                <a:solidFill>
                  <a:srgbClr val="05266B"/>
                </a:solidFill>
              </a:rPr>
              <a:t>Deleting</a:t>
            </a:r>
            <a:r>
              <a:rPr dirty="0" spc="114">
                <a:solidFill>
                  <a:srgbClr val="05266B"/>
                </a:solidFill>
              </a:rPr>
              <a:t> </a:t>
            </a:r>
            <a:r>
              <a:rPr dirty="0">
                <a:solidFill>
                  <a:srgbClr val="032167"/>
                </a:solidFill>
              </a:rPr>
              <a:t>a</a:t>
            </a:r>
            <a:r>
              <a:rPr dirty="0" spc="-140">
                <a:solidFill>
                  <a:srgbClr val="032167"/>
                </a:solidFill>
              </a:rPr>
              <a:t> </a:t>
            </a:r>
            <a:r>
              <a:rPr dirty="0" spc="-20">
                <a:solidFill>
                  <a:srgbClr val="052164"/>
                </a:solidFill>
              </a:rPr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886" y="1612751"/>
            <a:ext cx="7931784" cy="44450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74650" marR="217804" indent="-344170">
              <a:lnSpc>
                <a:spcPts val="3379"/>
              </a:lnSpc>
              <a:spcBef>
                <a:spcPts val="275"/>
              </a:spcBef>
              <a:buChar char="•"/>
              <a:tabLst>
                <a:tab pos="374650" algn="l"/>
                <a:tab pos="377190" algn="l"/>
              </a:tabLst>
            </a:pPr>
            <a:r>
              <a:rPr dirty="0" sz="2850">
                <a:latin typeface="Arial"/>
                <a:cs typeface="Arial"/>
              </a:rPr>
              <a:t>	</a:t>
            </a:r>
            <a:r>
              <a:rPr dirty="0" sz="2850" spc="-25">
                <a:latin typeface="Arial"/>
                <a:cs typeface="Arial"/>
              </a:rPr>
              <a:t>Deleted</a:t>
            </a:r>
            <a:r>
              <a:rPr dirty="0" sz="2850" spc="-17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tasks</a:t>
            </a:r>
            <a:r>
              <a:rPr dirty="0" sz="2850" spc="-16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no</a:t>
            </a:r>
            <a:r>
              <a:rPr dirty="0" sz="2850" spc="-140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longer</a:t>
            </a:r>
            <a:r>
              <a:rPr dirty="0" sz="2850" spc="-9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exist</a:t>
            </a:r>
            <a:r>
              <a:rPr dirty="0" sz="2850" spc="-12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and</a:t>
            </a:r>
            <a:r>
              <a:rPr dirty="0" sz="2850" spc="-18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cannot</a:t>
            </a:r>
            <a:r>
              <a:rPr dirty="0" sz="2850" spc="-70">
                <a:latin typeface="Arial"/>
                <a:cs typeface="Arial"/>
              </a:rPr>
              <a:t> </a:t>
            </a:r>
            <a:r>
              <a:rPr dirty="0" sz="2850" spc="-20">
                <a:latin typeface="Arial"/>
                <a:cs typeface="Arial"/>
              </a:rPr>
              <a:t>enter </a:t>
            </a:r>
            <a:r>
              <a:rPr dirty="0" sz="2850">
                <a:latin typeface="Arial"/>
                <a:cs typeface="Arial"/>
              </a:rPr>
              <a:t>the</a:t>
            </a:r>
            <a:r>
              <a:rPr dirty="0" sz="2850" spc="-100">
                <a:latin typeface="Arial"/>
                <a:cs typeface="Arial"/>
              </a:rPr>
              <a:t> </a:t>
            </a:r>
            <a:r>
              <a:rPr dirty="0" sz="2850" spc="-35">
                <a:latin typeface="Arial"/>
                <a:cs typeface="Arial"/>
              </a:rPr>
              <a:t>Running</a:t>
            </a:r>
            <a:r>
              <a:rPr dirty="0" sz="2850" spc="-1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state</a:t>
            </a:r>
            <a:r>
              <a:rPr dirty="0" sz="2850" spc="-90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again.</a:t>
            </a:r>
            <a:endParaRPr sz="2850">
              <a:latin typeface="Arial"/>
              <a:cs typeface="Arial"/>
            </a:endParaRPr>
          </a:p>
          <a:p>
            <a:pPr marL="368935" marR="299720" indent="-353695">
              <a:lnSpc>
                <a:spcPct val="94800"/>
              </a:lnSpc>
              <a:spcBef>
                <a:spcPts val="610"/>
              </a:spcBef>
              <a:buChar char="•"/>
              <a:tabLst>
                <a:tab pos="368935" algn="l"/>
                <a:tab pos="385445" algn="l"/>
              </a:tabLst>
            </a:pPr>
            <a:r>
              <a:rPr dirty="0" sz="2900">
                <a:latin typeface="Calibri"/>
                <a:cs typeface="Calibri"/>
              </a:rPr>
              <a:t>	Idle</a:t>
            </a:r>
            <a:r>
              <a:rPr dirty="0" sz="2900" spc="245">
                <a:latin typeface="Calibri"/>
                <a:cs typeface="Calibri"/>
              </a:rPr>
              <a:t> </a:t>
            </a:r>
            <a:r>
              <a:rPr dirty="0" sz="2900" spc="55">
                <a:latin typeface="Calibri"/>
                <a:cs typeface="Calibri"/>
              </a:rPr>
              <a:t>task</a:t>
            </a:r>
            <a:r>
              <a:rPr dirty="0" sz="2900" spc="2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is</a:t>
            </a:r>
            <a:r>
              <a:rPr dirty="0" sz="2900" spc="2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responsible</a:t>
            </a:r>
            <a:r>
              <a:rPr dirty="0" sz="2900" spc="41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2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automatically</a:t>
            </a:r>
            <a:r>
              <a:rPr dirty="0" sz="2900" spc="570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free </a:t>
            </a:r>
            <a:r>
              <a:rPr dirty="0" sz="2900">
                <a:latin typeface="Calibri"/>
                <a:cs typeface="Calibri"/>
              </a:rPr>
              <a:t>memory</a:t>
            </a:r>
            <a:r>
              <a:rPr dirty="0" sz="2900" spc="3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allocated</a:t>
            </a:r>
            <a:r>
              <a:rPr dirty="0" sz="2900" spc="220">
                <a:latin typeface="Calibri"/>
                <a:cs typeface="Calibri"/>
              </a:rPr>
              <a:t> </a:t>
            </a:r>
            <a:r>
              <a:rPr dirty="0" sz="2900" spc="65">
                <a:latin typeface="Calibri"/>
                <a:cs typeface="Calibri"/>
              </a:rPr>
              <a:t>by</a:t>
            </a:r>
            <a:r>
              <a:rPr dirty="0" sz="2900" spc="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kernel</a:t>
            </a:r>
            <a:r>
              <a:rPr dirty="0" sz="2900" spc="21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to</a:t>
            </a:r>
            <a:r>
              <a:rPr dirty="0" sz="2900" spc="175">
                <a:latin typeface="Calibri"/>
                <a:cs typeface="Calibri"/>
              </a:rPr>
              <a:t> </a:t>
            </a:r>
            <a:r>
              <a:rPr dirty="0" sz="2900" spc="100">
                <a:latin typeface="Calibri"/>
                <a:cs typeface="Calibri"/>
              </a:rPr>
              <a:t>tasks</a:t>
            </a:r>
            <a:r>
              <a:rPr dirty="0" sz="2900" spc="13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that</a:t>
            </a:r>
            <a:r>
              <a:rPr dirty="0" sz="2900" spc="150">
                <a:latin typeface="Calibri"/>
                <a:cs typeface="Calibri"/>
              </a:rPr>
              <a:t> </a:t>
            </a:r>
            <a:r>
              <a:rPr dirty="0" sz="2900" spc="70">
                <a:latin typeface="Calibri"/>
                <a:cs typeface="Calibri"/>
              </a:rPr>
              <a:t>have </a:t>
            </a:r>
            <a:r>
              <a:rPr dirty="0" sz="3100">
                <a:latin typeface="Calibri"/>
                <a:cs typeface="Calibri"/>
              </a:rPr>
              <a:t>been</a:t>
            </a:r>
            <a:r>
              <a:rPr dirty="0" sz="3100" spc="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deleted.</a:t>
            </a:r>
            <a:endParaRPr sz="3100">
              <a:latin typeface="Calibri"/>
              <a:cs typeface="Calibri"/>
            </a:endParaRPr>
          </a:p>
          <a:p>
            <a:pPr marL="778510" marR="35560" indent="-290830">
              <a:lnSpc>
                <a:spcPts val="2880"/>
              </a:lnSpc>
              <a:spcBef>
                <a:spcPts val="555"/>
              </a:spcBef>
            </a:pPr>
            <a:r>
              <a:rPr dirty="0" sz="2550" spc="-1225">
                <a:latin typeface="Arial"/>
                <a:cs typeface="Arial"/>
              </a:rPr>
              <a:t>—</a:t>
            </a:r>
            <a:r>
              <a:rPr dirty="0" sz="2550" spc="270">
                <a:latin typeface="Arial"/>
                <a:cs typeface="Arial"/>
              </a:rPr>
              <a:t> </a:t>
            </a:r>
            <a:r>
              <a:rPr dirty="0" sz="2550" spc="-105">
                <a:latin typeface="Arial"/>
                <a:cs typeface="Arial"/>
              </a:rPr>
              <a:t>Remember</a:t>
            </a:r>
            <a:r>
              <a:rPr dirty="0" sz="2550" spc="-7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if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 spc="-75">
                <a:latin typeface="Arial"/>
                <a:cs typeface="Arial"/>
              </a:rPr>
              <a:t>applications</a:t>
            </a:r>
            <a:r>
              <a:rPr dirty="0" sz="2550" spc="180">
                <a:latin typeface="Arial"/>
                <a:cs typeface="Arial"/>
              </a:rPr>
              <a:t> </a:t>
            </a:r>
            <a:r>
              <a:rPr dirty="0" sz="2550" spc="-60">
                <a:latin typeface="Arial"/>
                <a:cs typeface="Arial"/>
              </a:rPr>
              <a:t>use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 spc="-105">
                <a:latin typeface="Arial"/>
                <a:cs typeface="Arial"/>
              </a:rPr>
              <a:t>vTaskDelete(),</a:t>
            </a:r>
            <a:r>
              <a:rPr dirty="0" sz="2550" spc="-7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do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not </a:t>
            </a:r>
            <a:r>
              <a:rPr dirty="0" sz="2550" spc="-70">
                <a:latin typeface="Arial"/>
                <a:cs typeface="Arial"/>
              </a:rPr>
              <a:t>completely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 spc="-80">
                <a:latin typeface="Arial"/>
                <a:cs typeface="Arial"/>
              </a:rPr>
              <a:t>starve</a:t>
            </a:r>
            <a:r>
              <a:rPr dirty="0" sz="2550" spc="-95">
                <a:latin typeface="Arial"/>
                <a:cs typeface="Arial"/>
              </a:rPr>
              <a:t> </a:t>
            </a:r>
            <a:r>
              <a:rPr dirty="0" sz="2550" spc="-45">
                <a:latin typeface="Arial"/>
                <a:cs typeface="Arial"/>
              </a:rPr>
              <a:t>the</a:t>
            </a:r>
            <a:r>
              <a:rPr dirty="0" sz="2550" spc="-135">
                <a:latin typeface="Arial"/>
                <a:cs typeface="Arial"/>
              </a:rPr>
              <a:t> </a:t>
            </a:r>
            <a:r>
              <a:rPr dirty="0" sz="2550" spc="-45">
                <a:latin typeface="Arial"/>
                <a:cs typeface="Arial"/>
              </a:rPr>
              <a:t>idle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 spc="-70">
                <a:latin typeface="Arial"/>
                <a:cs typeface="Arial"/>
              </a:rPr>
              <a:t>task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 spc="-45">
                <a:latin typeface="Arial"/>
                <a:cs typeface="Arial"/>
              </a:rPr>
              <a:t>all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550" spc="-80">
                <a:latin typeface="Arial"/>
                <a:cs typeface="Arial"/>
              </a:rPr>
              <a:t>processing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time.</a:t>
            </a:r>
            <a:endParaRPr sz="2550">
              <a:latin typeface="Arial"/>
              <a:cs typeface="Arial"/>
            </a:endParaRPr>
          </a:p>
          <a:p>
            <a:pPr marL="370840" marR="5080" indent="-358775">
              <a:lnSpc>
                <a:spcPct val="86700"/>
              </a:lnSpc>
              <a:spcBef>
                <a:spcPts val="715"/>
              </a:spcBef>
              <a:buChar char="•"/>
              <a:tabLst>
                <a:tab pos="370840" algn="l"/>
                <a:tab pos="372745" algn="l"/>
              </a:tabLst>
            </a:pPr>
            <a:r>
              <a:rPr dirty="0" sz="3150">
                <a:latin typeface="Calibri"/>
                <a:cs typeface="Calibri"/>
              </a:rPr>
              <a:t>	</a:t>
            </a:r>
            <a:r>
              <a:rPr dirty="0" sz="3150" spc="-75">
                <a:latin typeface="Calibri"/>
                <a:cs typeface="Calibri"/>
              </a:rPr>
              <a:t>Note:</a:t>
            </a:r>
            <a:r>
              <a:rPr dirty="0" sz="3150" spc="-110">
                <a:latin typeface="Calibri"/>
                <a:cs typeface="Calibri"/>
              </a:rPr>
              <a:t> </a:t>
            </a:r>
            <a:r>
              <a:rPr dirty="0" sz="3150">
                <a:latin typeface="Calibri"/>
                <a:cs typeface="Calibri"/>
              </a:rPr>
              <a:t>any</a:t>
            </a:r>
            <a:r>
              <a:rPr dirty="0" sz="3150" spc="-145">
                <a:latin typeface="Calibri"/>
                <a:cs typeface="Calibri"/>
              </a:rPr>
              <a:t> </a:t>
            </a:r>
            <a:r>
              <a:rPr dirty="0" sz="3150" spc="-105">
                <a:latin typeface="Calibri"/>
                <a:cs typeface="Calibri"/>
              </a:rPr>
              <a:t>memory</a:t>
            </a:r>
            <a:r>
              <a:rPr dirty="0" sz="3150" spc="60">
                <a:latin typeface="Calibri"/>
                <a:cs typeface="Calibri"/>
              </a:rPr>
              <a:t> </a:t>
            </a:r>
            <a:r>
              <a:rPr dirty="0" sz="3150" spc="-20">
                <a:latin typeface="Calibri"/>
                <a:cs typeface="Calibri"/>
              </a:rPr>
              <a:t>or</a:t>
            </a:r>
            <a:r>
              <a:rPr dirty="0" sz="3150" spc="-125">
                <a:latin typeface="Calibri"/>
                <a:cs typeface="Calibri"/>
              </a:rPr>
              <a:t> other</a:t>
            </a:r>
            <a:r>
              <a:rPr dirty="0" sz="3150" spc="-55">
                <a:latin typeface="Calibri"/>
                <a:cs typeface="Calibri"/>
              </a:rPr>
              <a:t> </a:t>
            </a:r>
            <a:r>
              <a:rPr dirty="0" sz="3150" spc="-40">
                <a:latin typeface="Calibri"/>
                <a:cs typeface="Calibri"/>
              </a:rPr>
              <a:t>resource</a:t>
            </a:r>
            <a:r>
              <a:rPr dirty="0" sz="3150" spc="25">
                <a:latin typeface="Calibri"/>
                <a:cs typeface="Calibri"/>
              </a:rPr>
              <a:t> </a:t>
            </a:r>
            <a:r>
              <a:rPr dirty="0" sz="3150" spc="-155">
                <a:latin typeface="Calibri"/>
                <a:cs typeface="Calibri"/>
              </a:rPr>
              <a:t>that</a:t>
            </a:r>
            <a:r>
              <a:rPr dirty="0" sz="3150" spc="-20">
                <a:latin typeface="Calibri"/>
                <a:cs typeface="Calibri"/>
              </a:rPr>
              <a:t> </a:t>
            </a:r>
            <a:r>
              <a:rPr dirty="0" sz="3150" spc="-25">
                <a:latin typeface="Calibri"/>
                <a:cs typeface="Calibri"/>
              </a:rPr>
              <a:t>the </a:t>
            </a:r>
            <a:r>
              <a:rPr dirty="0" sz="3250" spc="-114">
                <a:latin typeface="Calibri"/>
                <a:cs typeface="Calibri"/>
              </a:rPr>
              <a:t>application</a:t>
            </a:r>
            <a:r>
              <a:rPr dirty="0" sz="3250" spc="-70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task</a:t>
            </a:r>
            <a:r>
              <a:rPr dirty="0" sz="3250" spc="-145">
                <a:latin typeface="Calibri"/>
                <a:cs typeface="Calibri"/>
              </a:rPr>
              <a:t> </a:t>
            </a:r>
            <a:r>
              <a:rPr dirty="0" sz="3250" spc="-70">
                <a:latin typeface="Calibri"/>
                <a:cs typeface="Calibri"/>
              </a:rPr>
              <a:t>allocates</a:t>
            </a:r>
            <a:r>
              <a:rPr dirty="0" sz="3250" spc="-45">
                <a:latin typeface="Calibri"/>
                <a:cs typeface="Calibri"/>
              </a:rPr>
              <a:t> </a:t>
            </a:r>
            <a:r>
              <a:rPr dirty="0" sz="3250" spc="-120">
                <a:latin typeface="Calibri"/>
                <a:cs typeface="Calibri"/>
              </a:rPr>
              <a:t>itself</a:t>
            </a:r>
            <a:r>
              <a:rPr dirty="0" sz="3250" spc="-30">
                <a:latin typeface="Calibri"/>
                <a:cs typeface="Calibri"/>
              </a:rPr>
              <a:t> </a:t>
            </a:r>
            <a:r>
              <a:rPr dirty="0" sz="3250" spc="-155">
                <a:latin typeface="Calibri"/>
                <a:cs typeface="Calibri"/>
              </a:rPr>
              <a:t>must</a:t>
            </a:r>
            <a:r>
              <a:rPr dirty="0" sz="3250" spc="-3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by</a:t>
            </a:r>
            <a:r>
              <a:rPr dirty="0" sz="3250" spc="-105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be</a:t>
            </a:r>
            <a:r>
              <a:rPr dirty="0" sz="3250" spc="-95">
                <a:latin typeface="Calibri"/>
                <a:cs typeface="Calibri"/>
              </a:rPr>
              <a:t> </a:t>
            </a:r>
            <a:r>
              <a:rPr dirty="0" sz="3250" spc="-90">
                <a:latin typeface="Calibri"/>
                <a:cs typeface="Calibri"/>
              </a:rPr>
              <a:t>freed </a:t>
            </a:r>
            <a:r>
              <a:rPr dirty="0" sz="3300" spc="-130">
                <a:latin typeface="Calibri"/>
                <a:cs typeface="Calibri"/>
              </a:rPr>
              <a:t>explicitly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by</a:t>
            </a:r>
            <a:r>
              <a:rPr dirty="0" sz="3300" spc="-155">
                <a:latin typeface="Calibri"/>
                <a:cs typeface="Calibri"/>
              </a:rPr>
              <a:t> </a:t>
            </a:r>
            <a:r>
              <a:rPr dirty="0" sz="3300" spc="-235">
                <a:latin typeface="Calibri"/>
                <a:cs typeface="Calibri"/>
              </a:rPr>
              <a:t>the</a:t>
            </a:r>
            <a:r>
              <a:rPr dirty="0" sz="3300" spc="40">
                <a:latin typeface="Calibri"/>
                <a:cs typeface="Calibri"/>
              </a:rPr>
              <a:t> </a:t>
            </a:r>
            <a:r>
              <a:rPr dirty="0" sz="3300" spc="-140">
                <a:latin typeface="Calibri"/>
                <a:cs typeface="Calibri"/>
              </a:rPr>
              <a:t>application</a:t>
            </a:r>
            <a:r>
              <a:rPr dirty="0" sz="3300" spc="9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code.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1405"/>
              </a:lnSpc>
            </a:pPr>
            <a:r>
              <a:rPr dirty="0" sz="1250" spc="-25">
                <a:solidFill>
                  <a:srgbClr val="0C0C0C"/>
                </a:solidFill>
                <a:latin typeface="Courier New"/>
                <a:cs typeface="Courier New"/>
              </a:rPr>
              <a:t>66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 spc="-25">
                <a:solidFill>
                  <a:srgbClr val="05235E"/>
                </a:solidFill>
              </a:rPr>
              <a:t>vTaskDelete()</a:t>
            </a:r>
            <a:r>
              <a:rPr dirty="0">
                <a:solidFill>
                  <a:srgbClr val="05235E"/>
                </a:solidFill>
              </a:rPr>
              <a:t> </a:t>
            </a:r>
            <a:r>
              <a:rPr dirty="0">
                <a:solidFill>
                  <a:srgbClr val="051C64"/>
                </a:solidFill>
              </a:rPr>
              <a:t>API</a:t>
            </a:r>
            <a:r>
              <a:rPr dirty="0" spc="-260">
                <a:solidFill>
                  <a:srgbClr val="051C64"/>
                </a:solidFill>
              </a:rPr>
              <a:t> </a:t>
            </a:r>
            <a:r>
              <a:rPr dirty="0" spc="80">
                <a:solidFill>
                  <a:srgbClr val="001F5D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985" y="1550830"/>
            <a:ext cx="7924800" cy="359346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630"/>
              </a:spcBef>
              <a:buChar char="•"/>
              <a:tabLst>
                <a:tab pos="373380" algn="l"/>
              </a:tabLst>
            </a:pPr>
            <a:r>
              <a:rPr dirty="0" sz="3050">
                <a:latin typeface="Calibri"/>
                <a:cs typeface="Calibri"/>
              </a:rPr>
              <a:t>Function</a:t>
            </a:r>
            <a:r>
              <a:rPr dirty="0" sz="3050" spc="54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prototype</a:t>
            </a:r>
            <a:endParaRPr sz="3050">
              <a:latin typeface="Calibri"/>
              <a:cs typeface="Calibri"/>
            </a:endParaRPr>
          </a:p>
          <a:p>
            <a:pPr marL="427355">
              <a:lnSpc>
                <a:spcPct val="100000"/>
              </a:lnSpc>
              <a:spcBef>
                <a:spcPts val="484"/>
              </a:spcBef>
            </a:pPr>
            <a:r>
              <a:rPr dirty="0" sz="2700">
                <a:latin typeface="Calibri"/>
                <a:cs typeface="Calibri"/>
              </a:rPr>
              <a:t>void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 spc="65">
                <a:latin typeface="Calibri"/>
                <a:cs typeface="Calibri"/>
              </a:rPr>
              <a:t>vTaskDeIete(xTaskHandIe</a:t>
            </a:r>
            <a:r>
              <a:rPr dirty="0" sz="2700" spc="170">
                <a:latin typeface="Calibri"/>
                <a:cs typeface="Calibri"/>
              </a:rPr>
              <a:t>  </a:t>
            </a:r>
            <a:r>
              <a:rPr dirty="0" sz="2700" spc="55">
                <a:latin typeface="Calibri"/>
                <a:cs typeface="Calibri"/>
              </a:rPr>
              <a:t>pxTaskToDelete);</a:t>
            </a:r>
            <a:endParaRPr sz="2700">
              <a:latin typeface="Calibri"/>
              <a:cs typeface="Calibri"/>
            </a:endParaRPr>
          </a:p>
          <a:p>
            <a:pPr marL="767715" marR="5080" indent="-290195">
              <a:lnSpc>
                <a:spcPct val="96900"/>
              </a:lnSpc>
              <a:spcBef>
                <a:spcPts val="2990"/>
              </a:spcBef>
            </a:pPr>
            <a:r>
              <a:rPr dirty="0" sz="2650" spc="-1250">
                <a:latin typeface="Arial"/>
                <a:cs typeface="Arial"/>
              </a:rPr>
              <a:t>—</a:t>
            </a:r>
            <a:r>
              <a:rPr dirty="0" sz="2650" spc="5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pxTaskToDelete: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Handle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be </a:t>
            </a:r>
            <a:r>
              <a:rPr dirty="0" sz="2700" spc="-45">
                <a:latin typeface="Arial"/>
                <a:cs typeface="Arial"/>
              </a:rPr>
              <a:t>deleted.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240">
                <a:latin typeface="Arial"/>
                <a:cs typeface="Arial"/>
              </a:rPr>
              <a:t>A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can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delete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itself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by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passing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NULL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place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valid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handle.</a:t>
            </a:r>
            <a:endParaRPr sz="2650">
              <a:latin typeface="Arial"/>
              <a:cs typeface="Arial"/>
            </a:endParaRPr>
          </a:p>
          <a:p>
            <a:pPr marL="367665" marR="172085" indent="-339090">
              <a:lnSpc>
                <a:spcPts val="3590"/>
              </a:lnSpc>
              <a:spcBef>
                <a:spcPts val="800"/>
              </a:spcBef>
              <a:buChar char="•"/>
              <a:tabLst>
                <a:tab pos="367665" algn="l"/>
                <a:tab pos="380365" algn="l"/>
              </a:tabLst>
            </a:pPr>
            <a:r>
              <a:rPr dirty="0" sz="3000">
                <a:latin typeface="Arial"/>
                <a:cs typeface="Arial"/>
              </a:rPr>
              <a:t>	</a:t>
            </a:r>
            <a:r>
              <a:rPr dirty="0" sz="3000" spc="-10">
                <a:latin typeface="Arial"/>
                <a:cs typeface="Arial"/>
              </a:rPr>
              <a:t>Available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only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when</a:t>
            </a:r>
            <a:r>
              <a:rPr dirty="0" sz="3000" spc="-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INCLUDE</a:t>
            </a:r>
            <a:r>
              <a:rPr dirty="0" sz="3000" spc="-15">
                <a:latin typeface="Arial"/>
                <a:cs typeface="Arial"/>
              </a:rPr>
              <a:t>  </a:t>
            </a:r>
            <a:r>
              <a:rPr dirty="0" sz="3000" spc="-65">
                <a:latin typeface="Arial"/>
                <a:cs typeface="Arial"/>
              </a:rPr>
              <a:t>vTaskDelete </a:t>
            </a:r>
            <a:r>
              <a:rPr dirty="0" sz="3000">
                <a:latin typeface="Arial"/>
                <a:cs typeface="Arial"/>
              </a:rPr>
              <a:t>set</a:t>
            </a:r>
            <a:r>
              <a:rPr dirty="0" sz="3000" spc="-50">
                <a:latin typeface="Arial"/>
                <a:cs typeface="Arial"/>
              </a:rPr>
              <a:t> 1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1405"/>
              </a:lnSpc>
            </a:pPr>
            <a:r>
              <a:rPr dirty="0" sz="1250" spc="-25">
                <a:solidFill>
                  <a:srgbClr val="0C0C0C"/>
                </a:solidFill>
                <a:latin typeface="Courier New"/>
                <a:cs typeface="Courier New"/>
              </a:rPr>
              <a:t>67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497" y="533994"/>
            <a:ext cx="7872095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06650" algn="l"/>
              </a:tabLst>
            </a:pPr>
            <a:r>
              <a:rPr dirty="0" sz="3700" spc="-10">
                <a:solidFill>
                  <a:srgbClr val="001F64"/>
                </a:solidFill>
              </a:rPr>
              <a:t>Example</a:t>
            </a:r>
            <a:r>
              <a:rPr dirty="0" sz="3700">
                <a:solidFill>
                  <a:srgbClr val="001F64"/>
                </a:solidFill>
              </a:rPr>
              <a:t>	</a:t>
            </a:r>
            <a:r>
              <a:rPr dirty="0" sz="3700">
                <a:solidFill>
                  <a:srgbClr val="072369"/>
                </a:solidFill>
              </a:rPr>
              <a:t>Deleting</a:t>
            </a:r>
            <a:r>
              <a:rPr dirty="0" sz="3700" spc="430">
                <a:solidFill>
                  <a:srgbClr val="072369"/>
                </a:solidFill>
              </a:rPr>
              <a:t> </a:t>
            </a:r>
            <a:r>
              <a:rPr dirty="0" sz="3700" spc="65">
                <a:solidFill>
                  <a:srgbClr val="031F5E"/>
                </a:solidFill>
              </a:rPr>
              <a:t>tasks</a:t>
            </a:r>
            <a:r>
              <a:rPr dirty="0" sz="3700" spc="175">
                <a:solidFill>
                  <a:srgbClr val="031F5E"/>
                </a:solidFill>
              </a:rPr>
              <a:t> </a:t>
            </a:r>
            <a:r>
              <a:rPr dirty="0" sz="3700" spc="-10">
                <a:solidFill>
                  <a:srgbClr val="031C60"/>
                </a:solidFill>
              </a:rPr>
              <a:t>(Behavior)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7443" y="4191942"/>
            <a:ext cx="254000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40">
                <a:latin typeface="Arial"/>
                <a:cs typeface="Arial"/>
              </a:rPr>
              <a:t>4.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699" y="1303188"/>
            <a:ext cx="7959725" cy="500570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528955" marR="337820" indent="-509270">
              <a:lnSpc>
                <a:spcPct val="96200"/>
              </a:lnSpc>
              <a:spcBef>
                <a:spcPts val="200"/>
              </a:spcBef>
              <a:buAutoNum type="arabicPeriod"/>
              <a:tabLst>
                <a:tab pos="528955" algn="l"/>
                <a:tab pos="535940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150">
                <a:latin typeface="Arial"/>
                <a:cs typeface="Arial"/>
              </a:rPr>
              <a:t>Task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1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created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by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main()</a:t>
            </a:r>
            <a:r>
              <a:rPr dirty="0" sz="2300" spc="8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with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priority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1.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95">
                <a:latin typeface="Arial"/>
                <a:cs typeface="Arial"/>
              </a:rPr>
              <a:t>When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runs,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it </a:t>
            </a:r>
            <a:r>
              <a:rPr dirty="0" sz="2300" spc="-40">
                <a:latin typeface="Arial"/>
                <a:cs typeface="Arial"/>
              </a:rPr>
              <a:t>creates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105">
                <a:latin typeface="Arial"/>
                <a:cs typeface="Arial"/>
              </a:rPr>
              <a:t>Task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2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at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priority</a:t>
            </a:r>
            <a:r>
              <a:rPr dirty="0" sz="2300" spc="-20"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2.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105">
                <a:latin typeface="Arial"/>
                <a:cs typeface="Arial"/>
              </a:rPr>
              <a:t>Task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2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highest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priority </a:t>
            </a:r>
            <a:r>
              <a:rPr dirty="0" sz="2300" spc="-20">
                <a:latin typeface="Arial"/>
                <a:cs typeface="Arial"/>
              </a:rPr>
              <a:t>task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starts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execute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immediately.</a:t>
            </a:r>
            <a:endParaRPr sz="2300">
              <a:latin typeface="Arial"/>
              <a:cs typeface="Arial"/>
            </a:endParaRPr>
          </a:p>
          <a:p>
            <a:pPr algn="just" marL="532765" marR="99695" indent="-508000">
              <a:lnSpc>
                <a:spcPts val="2640"/>
              </a:lnSpc>
              <a:spcBef>
                <a:spcPts val="590"/>
              </a:spcBef>
              <a:buAutoNum type="arabicPeriod"/>
              <a:tabLst>
                <a:tab pos="532765" algn="l"/>
                <a:tab pos="53403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135">
                <a:latin typeface="Arial"/>
                <a:cs typeface="Arial"/>
              </a:rPr>
              <a:t>Task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2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does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nothing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but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delete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30">
                <a:latin typeface="Arial"/>
                <a:cs typeface="Arial"/>
              </a:rPr>
              <a:t>itself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by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passing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95">
                <a:latin typeface="Arial"/>
                <a:cs typeface="Arial"/>
              </a:rPr>
              <a:t>NULL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or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its </a:t>
            </a:r>
            <a:r>
              <a:rPr dirty="0" sz="2300" spc="-70">
                <a:latin typeface="Arial"/>
                <a:cs typeface="Arial"/>
              </a:rPr>
              <a:t>own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handle.</a:t>
            </a:r>
            <a:endParaRPr sz="2300">
              <a:latin typeface="Arial"/>
              <a:cs typeface="Arial"/>
            </a:endParaRPr>
          </a:p>
          <a:p>
            <a:pPr algn="just" marL="532130" marR="124460" indent="-520065">
              <a:lnSpc>
                <a:spcPts val="2640"/>
              </a:lnSpc>
              <a:spcBef>
                <a:spcPts val="555"/>
              </a:spcBef>
              <a:buAutoNum type="arabicPeriod"/>
              <a:tabLst>
                <a:tab pos="532130" algn="l"/>
                <a:tab pos="537210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baseline="1207" sz="3450" spc="-127">
                <a:latin typeface="Arial"/>
                <a:cs typeface="Arial"/>
              </a:rPr>
              <a:t>When</a:t>
            </a:r>
            <a:r>
              <a:rPr dirty="0" baseline="1207" sz="3450" spc="-112">
                <a:latin typeface="Arial"/>
                <a:cs typeface="Arial"/>
              </a:rPr>
              <a:t> </a:t>
            </a:r>
            <a:r>
              <a:rPr dirty="0" baseline="1207" sz="3450" spc="-202">
                <a:latin typeface="Arial"/>
                <a:cs typeface="Arial"/>
              </a:rPr>
              <a:t>Task</a:t>
            </a:r>
            <a:r>
              <a:rPr dirty="0" baseline="1207" sz="3450" spc="-37">
                <a:latin typeface="Arial"/>
                <a:cs typeface="Arial"/>
              </a:rPr>
              <a:t> </a:t>
            </a:r>
            <a:r>
              <a:rPr dirty="0" baseline="1207" sz="3450">
                <a:latin typeface="Arial"/>
                <a:cs typeface="Arial"/>
              </a:rPr>
              <a:t>2</a:t>
            </a:r>
            <a:r>
              <a:rPr dirty="0" baseline="1207" sz="3450" spc="-240">
                <a:latin typeface="Arial"/>
                <a:cs typeface="Arial"/>
              </a:rPr>
              <a:t> </a:t>
            </a:r>
            <a:r>
              <a:rPr dirty="0" baseline="1207" sz="3450" spc="-30">
                <a:latin typeface="Arial"/>
                <a:cs typeface="Arial"/>
              </a:rPr>
              <a:t>has</a:t>
            </a:r>
            <a:r>
              <a:rPr dirty="0" baseline="1207" sz="3450" spc="-165">
                <a:latin typeface="Arial"/>
                <a:cs typeface="Arial"/>
              </a:rPr>
              <a:t> </a:t>
            </a:r>
            <a:r>
              <a:rPr dirty="0" baseline="1207" sz="3450" spc="-67">
                <a:latin typeface="Arial"/>
                <a:cs typeface="Arial"/>
              </a:rPr>
              <a:t>been</a:t>
            </a:r>
            <a:r>
              <a:rPr dirty="0" baseline="1207" sz="3450" spc="-165">
                <a:latin typeface="Arial"/>
                <a:cs typeface="Arial"/>
              </a:rPr>
              <a:t> </a:t>
            </a:r>
            <a:r>
              <a:rPr dirty="0" baseline="1207" sz="3450" spc="-52">
                <a:latin typeface="Arial"/>
                <a:cs typeface="Arial"/>
              </a:rPr>
              <a:t>deleted,</a:t>
            </a:r>
            <a:r>
              <a:rPr dirty="0" baseline="1207" sz="3450" spc="22">
                <a:latin typeface="Arial"/>
                <a:cs typeface="Arial"/>
              </a:rPr>
              <a:t> </a:t>
            </a:r>
            <a:r>
              <a:rPr dirty="0" baseline="1207" sz="3450" spc="-225">
                <a:latin typeface="Arial"/>
                <a:cs typeface="Arial"/>
              </a:rPr>
              <a:t>Task</a:t>
            </a:r>
            <a:r>
              <a:rPr dirty="0" baseline="1207" sz="3450" spc="-15">
                <a:latin typeface="Arial"/>
                <a:cs typeface="Arial"/>
              </a:rPr>
              <a:t> </a:t>
            </a:r>
            <a:r>
              <a:rPr dirty="0" baseline="1207" sz="3450">
                <a:latin typeface="Arial"/>
                <a:cs typeface="Arial"/>
              </a:rPr>
              <a:t>1</a:t>
            </a:r>
            <a:r>
              <a:rPr dirty="0" baseline="1207" sz="3450" spc="-104">
                <a:latin typeface="Arial"/>
                <a:cs typeface="Arial"/>
              </a:rPr>
              <a:t> </a:t>
            </a:r>
            <a:r>
              <a:rPr dirty="0" baseline="1207" sz="3450">
                <a:latin typeface="Arial"/>
                <a:cs typeface="Arial"/>
              </a:rPr>
              <a:t>is</a:t>
            </a:r>
            <a:r>
              <a:rPr dirty="0" baseline="1207" sz="3450" spc="-165">
                <a:latin typeface="Arial"/>
                <a:cs typeface="Arial"/>
              </a:rPr>
              <a:t> </a:t>
            </a:r>
            <a:r>
              <a:rPr dirty="0" baseline="1207" sz="3450" spc="-75">
                <a:latin typeface="Arial"/>
                <a:cs typeface="Arial"/>
              </a:rPr>
              <a:t>again</a:t>
            </a:r>
            <a:r>
              <a:rPr dirty="0" baseline="1207" sz="3450" spc="-127">
                <a:latin typeface="Arial"/>
                <a:cs typeface="Arial"/>
              </a:rPr>
              <a:t> </a:t>
            </a:r>
            <a:r>
              <a:rPr dirty="0" baseline="1207" sz="3450">
                <a:latin typeface="Arial"/>
                <a:cs typeface="Arial"/>
              </a:rPr>
              <a:t>the</a:t>
            </a:r>
            <a:r>
              <a:rPr dirty="0" baseline="1207" sz="3450" spc="-150">
                <a:latin typeface="Arial"/>
                <a:cs typeface="Arial"/>
              </a:rPr>
              <a:t> </a:t>
            </a:r>
            <a:r>
              <a:rPr dirty="0" baseline="1207" sz="3450" spc="-15">
                <a:latin typeface="Arial"/>
                <a:cs typeface="Arial"/>
              </a:rPr>
              <a:t>highest </a:t>
            </a:r>
            <a:r>
              <a:rPr dirty="0" sz="2300" spc="-35">
                <a:latin typeface="Arial"/>
                <a:cs typeface="Arial"/>
              </a:rPr>
              <a:t>priority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task,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80">
                <a:latin typeface="Arial"/>
                <a:cs typeface="Arial"/>
              </a:rPr>
              <a:t>so </a:t>
            </a:r>
            <a:r>
              <a:rPr dirty="0" sz="2300" spc="-45">
                <a:latin typeface="Arial"/>
                <a:cs typeface="Arial"/>
              </a:rPr>
              <a:t>continues</a:t>
            </a:r>
            <a:r>
              <a:rPr dirty="0" sz="2300" spc="-50">
                <a:latin typeface="Arial"/>
                <a:cs typeface="Arial"/>
              </a:rPr>
              <a:t> executing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 spc="-400">
                <a:latin typeface="Arial"/>
                <a:cs typeface="Arial"/>
              </a:rPr>
              <a:t>—</a:t>
            </a:r>
            <a:r>
              <a:rPr dirty="0" sz="2300" spc="-65">
                <a:latin typeface="Arial"/>
                <a:cs typeface="Arial"/>
              </a:rPr>
              <a:t>at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which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point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calls </a:t>
            </a:r>
            <a:r>
              <a:rPr dirty="0" sz="2300" spc="-90">
                <a:latin typeface="Arial"/>
                <a:cs typeface="Arial"/>
              </a:rPr>
              <a:t>vTaskDelay()</a:t>
            </a:r>
            <a:r>
              <a:rPr dirty="0" sz="2300" spc="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block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lor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short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period.</a:t>
            </a:r>
            <a:endParaRPr sz="2300">
              <a:latin typeface="Arial"/>
              <a:cs typeface="Arial"/>
            </a:endParaRPr>
          </a:p>
          <a:p>
            <a:pPr marL="532130" marR="26670" indent="3810">
              <a:lnSpc>
                <a:spcPct val="96300"/>
              </a:lnSpc>
              <a:spcBef>
                <a:spcPts val="445"/>
              </a:spcBef>
            </a:pP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idle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task</a:t>
            </a:r>
            <a:r>
              <a:rPr dirty="0" sz="2250" spc="-8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executes</a:t>
            </a:r>
            <a:r>
              <a:rPr dirty="0" sz="2250" spc="-1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while</a:t>
            </a:r>
            <a:r>
              <a:rPr dirty="0" sz="2250" spc="-114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Task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1</a:t>
            </a:r>
            <a:r>
              <a:rPr dirty="0" sz="2250" spc="-9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is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blocked</a:t>
            </a:r>
            <a:r>
              <a:rPr dirty="0" sz="2250" spc="-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state </a:t>
            </a:r>
            <a:r>
              <a:rPr dirty="0" sz="2300">
                <a:latin typeface="Arial"/>
                <a:cs typeface="Arial"/>
              </a:rPr>
              <a:t>and</a:t>
            </a:r>
            <a:r>
              <a:rPr dirty="0" sz="2300" spc="-15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frees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memory</a:t>
            </a:r>
            <a:r>
              <a:rPr dirty="0" sz="2300" spc="3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that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was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allocated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the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now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deleted </a:t>
            </a:r>
            <a:r>
              <a:rPr dirty="0" sz="2300" spc="-135">
                <a:latin typeface="Arial"/>
                <a:cs typeface="Arial"/>
              </a:rPr>
              <a:t>Task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2.</a:t>
            </a:r>
            <a:endParaRPr sz="2300">
              <a:latin typeface="Arial"/>
              <a:cs typeface="Arial"/>
            </a:endParaRPr>
          </a:p>
          <a:p>
            <a:pPr algn="just" marL="532130" marR="5080" indent="-511175">
              <a:lnSpc>
                <a:spcPts val="2640"/>
              </a:lnSpc>
              <a:spcBef>
                <a:spcPts val="595"/>
              </a:spcBef>
            </a:pPr>
            <a:r>
              <a:rPr dirty="0" sz="2300">
                <a:latin typeface="Arial"/>
                <a:cs typeface="Arial"/>
              </a:rPr>
              <a:t>5.</a:t>
            </a:r>
            <a:r>
              <a:rPr dirty="0" sz="2300" spc="245">
                <a:latin typeface="Arial"/>
                <a:cs typeface="Arial"/>
              </a:rPr>
              <a:t>  </a:t>
            </a:r>
            <a:r>
              <a:rPr dirty="0" sz="2300" spc="-85">
                <a:latin typeface="Arial"/>
                <a:cs typeface="Arial"/>
              </a:rPr>
              <a:t>When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150">
                <a:latin typeface="Arial"/>
                <a:cs typeface="Arial"/>
              </a:rPr>
              <a:t>Task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1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leaves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the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blocked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state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again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becomes</a:t>
            </a:r>
            <a:r>
              <a:rPr dirty="0" sz="230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40">
                <a:latin typeface="Arial"/>
                <a:cs typeface="Arial"/>
              </a:rPr>
              <a:t>highest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priority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Ready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state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task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and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preempts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the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Idle</a:t>
            </a:r>
            <a:r>
              <a:rPr dirty="0" sz="2300" spc="-15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task. </a:t>
            </a:r>
            <a:r>
              <a:rPr dirty="0" sz="2300" spc="-40">
                <a:latin typeface="Arial"/>
                <a:cs typeface="Arial"/>
              </a:rPr>
              <a:t>Then,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start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from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Step1 </a:t>
            </a:r>
            <a:r>
              <a:rPr dirty="0" sz="2300" spc="-10">
                <a:latin typeface="Arial"/>
                <a:cs typeface="Arial"/>
              </a:rPr>
              <a:t>again.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835" y="6455055"/>
            <a:ext cx="97155" cy="17145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10"/>
              </a:spcBef>
            </a:pPr>
            <a:r>
              <a:rPr dirty="0" spc="50">
                <a:solidFill>
                  <a:srgbClr val="001F64"/>
                </a:solidFill>
              </a:rPr>
              <a:t>Execution</a:t>
            </a:r>
            <a:r>
              <a:rPr dirty="0" spc="200">
                <a:solidFill>
                  <a:srgbClr val="001F64"/>
                </a:solidFill>
              </a:rPr>
              <a:t> </a:t>
            </a:r>
            <a:r>
              <a:rPr dirty="0" spc="-10">
                <a:solidFill>
                  <a:srgbClr val="000A54"/>
                </a:solidFill>
              </a:rPr>
              <a:t>sequence</a:t>
            </a:r>
          </a:p>
        </p:txBody>
      </p:sp>
      <p:sp>
        <p:nvSpPr>
          <p:cNvPr id="12" name="object 12"/>
          <p:cNvSpPr/>
          <p:nvPr/>
        </p:nvSpPr>
        <p:spPr>
          <a:xfrm>
            <a:off x="3376910" y="1815702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574476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72445" y="1820167"/>
            <a:ext cx="3804285" cy="0"/>
          </a:xfrm>
          <a:custGeom>
            <a:avLst/>
            <a:gdLst/>
            <a:ahLst/>
            <a:cxnLst/>
            <a:rect l="l" t="t" r="r" b="b"/>
            <a:pathLst>
              <a:path w="3804284" h="0">
                <a:moveTo>
                  <a:pt x="0" y="0"/>
                </a:moveTo>
                <a:lnTo>
                  <a:pt x="3804048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458831" y="1815901"/>
            <a:ext cx="3502660" cy="48260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8575" marR="5080" indent="-16510">
              <a:lnSpc>
                <a:spcPts val="1720"/>
              </a:lnSpc>
              <a:spcBef>
                <a:spcPts val="285"/>
              </a:spcBef>
            </a:pPr>
            <a:r>
              <a:rPr dirty="0" sz="155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dirty="0" sz="1550" spc="2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464646"/>
                </a:solidFill>
                <a:latin typeface="Calibri"/>
                <a:cs typeface="Calibri"/>
              </a:rPr>
              <a:t>-</a:t>
            </a:r>
            <a:r>
              <a:rPr dirty="0" sz="1550" spc="7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Task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242424"/>
                </a:solidFill>
                <a:latin typeface="Calibri"/>
                <a:cs typeface="Calibri"/>
              </a:rPr>
              <a:t>2</a:t>
            </a:r>
            <a:r>
              <a:rPr dirty="0" sz="1550" spc="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11111"/>
                </a:solidFill>
                <a:latin typeface="Calibri"/>
                <a:cs typeface="Calibri"/>
              </a:rPr>
              <a:t>does</a:t>
            </a:r>
            <a:r>
              <a:rPr dirty="0" sz="1550" spc="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nothing</a:t>
            </a:r>
            <a:r>
              <a:rPr dirty="0" sz="1550" spc="190">
                <a:latin typeface="Calibri"/>
                <a:cs typeface="Calibri"/>
              </a:rPr>
              <a:t> </a:t>
            </a:r>
            <a:r>
              <a:rPr dirty="0" sz="1550" spc="-30">
                <a:latin typeface="Calibri"/>
                <a:cs typeface="Calibri"/>
              </a:rPr>
              <a:t>other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 spc="-35">
                <a:solidFill>
                  <a:srgbClr val="181818"/>
                </a:solidFill>
                <a:latin typeface="Calibri"/>
                <a:cs typeface="Calibri"/>
              </a:rPr>
              <a:t>than</a:t>
            </a:r>
            <a:r>
              <a:rPr dirty="0" sz="1550" spc="1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delete </a:t>
            </a:r>
            <a:r>
              <a:rPr dirty="0" sz="1550" spc="-30">
                <a:latin typeface="Calibri"/>
                <a:cs typeface="Calibri"/>
              </a:rPr>
              <a:t>itself,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0C0C0C"/>
                </a:solidFill>
                <a:latin typeface="Calibri"/>
                <a:cs typeface="Calibri"/>
              </a:rPr>
              <a:t>allowing</a:t>
            </a:r>
            <a:r>
              <a:rPr dirty="0" sz="1550" spc="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execution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 spc="-2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155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550" spc="-35">
                <a:latin typeface="Calibri"/>
                <a:cs typeface="Calibri"/>
              </a:rPr>
              <a:t>return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40">
                <a:solidFill>
                  <a:srgbClr val="131313"/>
                </a:solidFill>
                <a:latin typeface="Calibri"/>
                <a:cs typeface="Calibri"/>
              </a:rPr>
              <a:t>to</a:t>
            </a:r>
            <a:r>
              <a:rPr dirty="0" sz="1550" spc="6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Task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 spc="-50"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50621" y="2021085"/>
            <a:ext cx="0" cy="369570"/>
          </a:xfrm>
          <a:custGeom>
            <a:avLst/>
            <a:gdLst/>
            <a:ahLst/>
            <a:cxnLst/>
            <a:rect l="l" t="t" r="r" b="b"/>
            <a:pathLst>
              <a:path w="0" h="369569">
                <a:moveTo>
                  <a:pt x="0" y="369093"/>
                </a:moveTo>
                <a:lnTo>
                  <a:pt x="0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72445" y="2385714"/>
            <a:ext cx="3982720" cy="0"/>
          </a:xfrm>
          <a:custGeom>
            <a:avLst/>
            <a:gdLst/>
            <a:ahLst/>
            <a:cxnLst/>
            <a:rect l="l" t="t" r="r" b="b"/>
            <a:pathLst>
              <a:path w="3982720" h="0">
                <a:moveTo>
                  <a:pt x="0" y="0"/>
                </a:moveTo>
                <a:lnTo>
                  <a:pt x="3982642" y="0"/>
                </a:lnTo>
              </a:path>
            </a:pathLst>
          </a:custGeom>
          <a:ln w="8929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88795" y="2725984"/>
            <a:ext cx="992505" cy="17037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50">
                <a:solidFill>
                  <a:srgbClr val="0A05DF"/>
                </a:solidFill>
                <a:latin typeface="Arial"/>
                <a:cs typeface="Arial"/>
              </a:rPr>
              <a:t>Task</a:t>
            </a:r>
            <a:r>
              <a:rPr dirty="0" sz="2550" spc="-20">
                <a:solidFill>
                  <a:srgbClr val="0A05DF"/>
                </a:solidFill>
                <a:latin typeface="Arial"/>
                <a:cs typeface="Arial"/>
              </a:rPr>
              <a:t> </a:t>
            </a:r>
            <a:r>
              <a:rPr dirty="0" sz="2550" spc="-50">
                <a:solidFill>
                  <a:srgbClr val="1107C8"/>
                </a:solidFill>
                <a:latin typeface="Arial"/>
                <a:cs typeface="Arial"/>
              </a:rPr>
              <a:t>2</a:t>
            </a:r>
            <a:endParaRPr sz="25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2125"/>
              </a:spcBef>
            </a:pPr>
            <a:r>
              <a:rPr dirty="0" sz="2500">
                <a:solidFill>
                  <a:srgbClr val="468C69"/>
                </a:solidFill>
                <a:latin typeface="Arial"/>
                <a:cs typeface="Arial"/>
              </a:rPr>
              <a:t>Task</a:t>
            </a:r>
            <a:r>
              <a:rPr dirty="0" sz="2500" spc="40">
                <a:solidFill>
                  <a:srgbClr val="468C69"/>
                </a:solidFill>
                <a:latin typeface="Arial"/>
                <a:cs typeface="Arial"/>
              </a:rPr>
              <a:t> </a:t>
            </a:r>
            <a:r>
              <a:rPr dirty="0" sz="2500" spc="-50">
                <a:solidFill>
                  <a:srgbClr val="548374"/>
                </a:solidFill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1989"/>
              </a:spcBef>
            </a:pPr>
            <a:r>
              <a:rPr dirty="0" sz="2500" spc="-20">
                <a:latin typeface="Arial"/>
                <a:cs typeface="Arial"/>
              </a:rPr>
              <a:t>Idle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5297" y="2920008"/>
            <a:ext cx="5027414" cy="141982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167036" y="4358133"/>
            <a:ext cx="1009015" cy="757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3690">
              <a:lnSpc>
                <a:spcPts val="2670"/>
              </a:lnSpc>
              <a:spcBef>
                <a:spcPts val="90"/>
              </a:spcBef>
            </a:pPr>
            <a:r>
              <a:rPr dirty="0" sz="2400" spc="-765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dirty="0" baseline="-12731" sz="3600" spc="-150">
                <a:solidFill>
                  <a:srgbClr val="757575"/>
                </a:solidFill>
                <a:latin typeface="Arial"/>
                <a:cs typeface="Arial"/>
              </a:rPr>
              <a:t>.</a:t>
            </a:r>
            <a:endParaRPr baseline="-12731" sz="3600">
              <a:latin typeface="Arial"/>
              <a:cs typeface="Arial"/>
            </a:endParaRPr>
          </a:p>
          <a:p>
            <a:pPr marL="50800">
              <a:lnSpc>
                <a:spcPts val="3090"/>
              </a:lnSpc>
              <a:tabLst>
                <a:tab pos="702310" algn="l"/>
              </a:tabLst>
            </a:pPr>
            <a:r>
              <a:rPr dirty="0" sz="2750" spc="-25">
                <a:latin typeface="Arial"/>
                <a:cs typeface="Arial"/>
              </a:rPr>
              <a:t>t1</a:t>
            </a:r>
            <a:r>
              <a:rPr dirty="0" sz="2750">
                <a:latin typeface="Arial"/>
                <a:cs typeface="Arial"/>
              </a:rPr>
              <a:t>	</a:t>
            </a:r>
            <a:r>
              <a:rPr dirty="0" sz="2750" spc="-25">
                <a:latin typeface="Arial"/>
                <a:cs typeface="Arial"/>
              </a:rPr>
              <a:t>t2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4485" y="4384476"/>
            <a:ext cx="553640" cy="10804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92683" y="5521523"/>
            <a:ext cx="0" cy="732790"/>
          </a:xfrm>
          <a:custGeom>
            <a:avLst/>
            <a:gdLst/>
            <a:ahLst/>
            <a:cxnLst/>
            <a:rect l="l" t="t" r="r" b="b"/>
            <a:pathLst>
              <a:path w="0" h="732789">
                <a:moveTo>
                  <a:pt x="0" y="732234"/>
                </a:moveTo>
                <a:lnTo>
                  <a:pt x="0" y="0"/>
                </a:lnTo>
              </a:path>
            </a:pathLst>
          </a:custGeom>
          <a:ln w="8929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8218" y="5525987"/>
            <a:ext cx="3036570" cy="0"/>
          </a:xfrm>
          <a:custGeom>
            <a:avLst/>
            <a:gdLst/>
            <a:ahLst/>
            <a:cxnLst/>
            <a:rect l="l" t="t" r="r" b="b"/>
            <a:pathLst>
              <a:path w="3036570" h="0">
                <a:moveTo>
                  <a:pt x="0" y="0"/>
                </a:moveTo>
                <a:lnTo>
                  <a:pt x="3036095" y="0"/>
                </a:lnTo>
              </a:path>
            </a:pathLst>
          </a:custGeom>
          <a:ln w="8929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91641" y="5496669"/>
            <a:ext cx="2990215" cy="6915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8890">
              <a:lnSpc>
                <a:spcPct val="100200"/>
              </a:lnSpc>
              <a:spcBef>
                <a:spcPts val="110"/>
              </a:spcBef>
            </a:pPr>
            <a:r>
              <a:rPr dirty="0" sz="1500">
                <a:latin typeface="Arial"/>
                <a:cs typeface="Arial"/>
              </a:rPr>
              <a:t>1</a:t>
            </a:r>
            <a:r>
              <a:rPr dirty="0" sz="1500" spc="-80"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dirty="0" sz="1500" spc="-8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Task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F0F0F"/>
                </a:solidFill>
                <a:latin typeface="Arial"/>
                <a:cs typeface="Arial"/>
              </a:rPr>
              <a:t>1 </a:t>
            </a:r>
            <a:r>
              <a:rPr dirty="0" sz="1500" spc="-50">
                <a:latin typeface="Arial"/>
                <a:cs typeface="Arial"/>
              </a:rPr>
              <a:t>runs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500" spc="-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161616"/>
                </a:solidFill>
                <a:latin typeface="Arial"/>
                <a:cs typeface="Arial"/>
              </a:rPr>
              <a:t>creates</a:t>
            </a:r>
            <a:r>
              <a:rPr dirty="0" sz="1500" spc="-3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35">
                <a:latin typeface="Arial"/>
                <a:cs typeface="Arial"/>
              </a:rPr>
              <a:t>Task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2. </a:t>
            </a:r>
            <a:r>
              <a:rPr dirty="0" sz="1450" spc="-10">
                <a:latin typeface="Arial"/>
                <a:cs typeface="Arial"/>
              </a:rPr>
              <a:t>Task</a:t>
            </a:r>
            <a:r>
              <a:rPr dirty="0" sz="1450" spc="25"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2</a:t>
            </a:r>
            <a:r>
              <a:rPr dirty="0" sz="1450" spc="-85">
                <a:latin typeface="Arial"/>
                <a:cs typeface="Arial"/>
              </a:rPr>
              <a:t> </a:t>
            </a:r>
            <a:r>
              <a:rPr dirty="0" sz="1450" spc="-20">
                <a:latin typeface="Arial"/>
                <a:cs typeface="Arial"/>
              </a:rPr>
              <a:t>starts</a:t>
            </a:r>
            <a:r>
              <a:rPr dirty="0" sz="1450" spc="-65"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io</a:t>
            </a:r>
            <a:r>
              <a:rPr dirty="0" sz="1450" spc="95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2D2D2D"/>
                </a:solidFill>
                <a:latin typeface="Arial"/>
                <a:cs typeface="Arial"/>
              </a:rPr>
              <a:t>run </a:t>
            </a:r>
            <a:r>
              <a:rPr dirty="0" sz="1450" spc="-20">
                <a:latin typeface="Arial"/>
                <a:cs typeface="Arial"/>
              </a:rPr>
              <a:t>immediately</a:t>
            </a:r>
            <a:r>
              <a:rPr dirty="0" sz="1450" spc="55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212121"/>
                </a:solidFill>
                <a:latin typeface="Arial"/>
                <a:cs typeface="Arial"/>
              </a:rPr>
              <a:t>as</a:t>
            </a:r>
            <a:r>
              <a:rPr dirty="0" sz="1450" spc="-7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450" spc="-25">
                <a:latin typeface="Arial"/>
                <a:cs typeface="Arial"/>
              </a:rPr>
              <a:t>It </a:t>
            </a:r>
            <a:r>
              <a:rPr dirty="0" sz="1400">
                <a:solidFill>
                  <a:srgbClr val="3A3A3A"/>
                </a:solidFill>
                <a:latin typeface="Arial"/>
                <a:cs typeface="Arial"/>
              </a:rPr>
              <a:t>has</a:t>
            </a:r>
            <a:r>
              <a:rPr dirty="0" sz="1400" spc="10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32323"/>
                </a:solidFill>
                <a:latin typeface="Arial"/>
                <a:cs typeface="Arial"/>
              </a:rPr>
              <a:t>higher</a:t>
            </a:r>
            <a:r>
              <a:rPr dirty="0" sz="1400" spc="8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prionty.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0581" y="5709046"/>
            <a:ext cx="0" cy="544830"/>
          </a:xfrm>
          <a:custGeom>
            <a:avLst/>
            <a:gdLst/>
            <a:ahLst/>
            <a:cxnLst/>
            <a:rect l="l" t="t" r="r" b="b"/>
            <a:pathLst>
              <a:path w="0" h="544829">
                <a:moveTo>
                  <a:pt x="0" y="544711"/>
                </a:moveTo>
                <a:lnTo>
                  <a:pt x="0" y="0"/>
                </a:lnTo>
              </a:path>
            </a:pathLst>
          </a:custGeom>
          <a:ln w="8929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41316" y="5572125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738187"/>
                </a:moveTo>
                <a:lnTo>
                  <a:pt x="0" y="0"/>
                </a:lnTo>
              </a:path>
            </a:pathLst>
          </a:custGeom>
          <a:ln w="14882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33875" y="5579566"/>
            <a:ext cx="3381375" cy="0"/>
          </a:xfrm>
          <a:custGeom>
            <a:avLst/>
            <a:gdLst/>
            <a:ahLst/>
            <a:cxnLst/>
            <a:rect l="l" t="t" r="r" b="b"/>
            <a:pathLst>
              <a:path w="3381375" h="0">
                <a:moveTo>
                  <a:pt x="0" y="0"/>
                </a:moveTo>
                <a:lnTo>
                  <a:pt x="3381376" y="0"/>
                </a:lnTo>
              </a:path>
            </a:pathLst>
          </a:custGeom>
          <a:ln w="14882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13191" y="5786437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ln w="14882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7706320" y="5572125"/>
            <a:ext cx="223520" cy="696595"/>
            <a:chOff x="7706320" y="5572125"/>
            <a:chExt cx="223520" cy="69659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6320" y="5572125"/>
              <a:ext cx="223242" cy="2634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25097" y="5835550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w="0" h="219075">
                  <a:moveTo>
                    <a:pt x="0" y="218777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12121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0632" y="6054328"/>
              <a:ext cx="8929" cy="21431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339629" y="4675385"/>
            <a:ext cx="3469004" cy="1572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816100" algn="l"/>
              </a:tabLst>
            </a:pPr>
            <a:r>
              <a:rPr dirty="0" sz="2600" spc="330">
                <a:latin typeface="Arial"/>
                <a:cs typeface="Arial"/>
              </a:rPr>
              <a:t>time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25">
                <a:latin typeface="Arial"/>
                <a:cs typeface="Arial"/>
              </a:rPr>
              <a:t>tn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600">
              <a:latin typeface="Arial"/>
              <a:cs typeface="Arial"/>
            </a:endParaRPr>
          </a:p>
          <a:p>
            <a:pPr marL="99060" marR="5080" indent="-635">
              <a:lnSpc>
                <a:spcPct val="92800"/>
              </a:lnSpc>
            </a:pPr>
            <a:r>
              <a:rPr dirty="0" sz="1500" spc="55">
                <a:solidFill>
                  <a:srgbClr val="2B2B2B"/>
                </a:solidFill>
                <a:latin typeface="Arial"/>
                <a:cs typeface="Arial"/>
              </a:rPr>
              <a:t>3</a:t>
            </a:r>
            <a:r>
              <a:rPr dirty="0" sz="1500" spc="-10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D2D2D"/>
                </a:solidFill>
                <a:latin typeface="Arial"/>
                <a:cs typeface="Arial"/>
              </a:rPr>
              <a:t>-</a:t>
            </a:r>
            <a:r>
              <a:rPr dirty="0" sz="1500" spc="-10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111111"/>
                </a:solidFill>
                <a:latin typeface="Arial"/>
                <a:cs typeface="Arial"/>
              </a:rPr>
              <a:t>Task</a:t>
            </a:r>
            <a:r>
              <a:rPr dirty="0" sz="15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42424"/>
                </a:solidFill>
                <a:latin typeface="Arial"/>
                <a:cs typeface="Arial"/>
              </a:rPr>
              <a:t>1</a:t>
            </a:r>
            <a:r>
              <a:rPr dirty="0" sz="1500" spc="-8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F2F2F"/>
                </a:solidFill>
                <a:latin typeface="Arial"/>
                <a:cs typeface="Arial"/>
              </a:rPr>
              <a:t>calls</a:t>
            </a:r>
            <a:r>
              <a:rPr dirty="0" sz="1500" spc="-5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500" spc="-45">
                <a:latin typeface="Arial"/>
                <a:cs typeface="Arial"/>
              </a:rPr>
              <a:t>vTaskDelay().</a:t>
            </a:r>
            <a:r>
              <a:rPr dirty="0" sz="1500" spc="8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allowing </a:t>
            </a:r>
            <a:r>
              <a:rPr dirty="0" sz="1500" spc="-65">
                <a:latin typeface="Arial"/>
                <a:cs typeface="Arial"/>
              </a:rPr>
              <a:t>the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idle</a:t>
            </a:r>
            <a:r>
              <a:rPr dirty="0" sz="1500" spc="-95">
                <a:latin typeface="Arial"/>
                <a:cs typeface="Arial"/>
              </a:rPr>
              <a:t> </a:t>
            </a:r>
            <a:r>
              <a:rPr dirty="0" sz="1500" spc="-30">
                <a:latin typeface="Arial"/>
                <a:cs typeface="Arial"/>
              </a:rPr>
              <a:t>task </a:t>
            </a:r>
            <a:r>
              <a:rPr dirty="0" sz="1500" spc="-45">
                <a:latin typeface="Arial"/>
                <a:cs typeface="Arial"/>
              </a:rPr>
              <a:t>to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32323"/>
                </a:solidFill>
                <a:latin typeface="Arial"/>
                <a:cs typeface="Arial"/>
              </a:rPr>
              <a:t>run</a:t>
            </a:r>
            <a:r>
              <a:rPr dirty="0" sz="1500" spc="-2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untfl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40">
                <a:latin typeface="Arial"/>
                <a:cs typeface="Arial"/>
              </a:rPr>
              <a:t>the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30">
                <a:latin typeface="Arial"/>
                <a:cs typeface="Arial"/>
              </a:rPr>
              <a:t>delay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time </a:t>
            </a:r>
            <a:r>
              <a:rPr dirty="0" sz="1650" spc="-114">
                <a:latin typeface="Arial"/>
                <a:cs typeface="Arial"/>
              </a:rPr>
              <a:t>expires.</a:t>
            </a:r>
            <a:r>
              <a:rPr dirty="0" sz="1650" spc="10">
                <a:latin typeface="Arial"/>
                <a:cs typeface="Arial"/>
              </a:rPr>
              <a:t> </a:t>
            </a:r>
            <a:r>
              <a:rPr dirty="0" sz="1650" spc="-140">
                <a:latin typeface="Arial"/>
                <a:cs typeface="Arial"/>
              </a:rPr>
              <a:t>and</a:t>
            </a:r>
            <a:r>
              <a:rPr dirty="0" sz="1650" spc="-40">
                <a:latin typeface="Arial"/>
                <a:cs typeface="Arial"/>
              </a:rPr>
              <a:t> </a:t>
            </a:r>
            <a:r>
              <a:rPr dirty="0" sz="1650" spc="-125">
                <a:latin typeface="Arial"/>
                <a:cs typeface="Arial"/>
              </a:rPr>
              <a:t>the</a:t>
            </a:r>
            <a:r>
              <a:rPr dirty="0" sz="1650" spc="15">
                <a:latin typeface="Arial"/>
                <a:cs typeface="Arial"/>
              </a:rPr>
              <a:t> </a:t>
            </a:r>
            <a:r>
              <a:rPr dirty="0" sz="1650" spc="-140">
                <a:latin typeface="Arial"/>
                <a:cs typeface="Arial"/>
              </a:rPr>
              <a:t>whole</a:t>
            </a:r>
            <a:r>
              <a:rPr dirty="0" sz="1650" spc="65">
                <a:latin typeface="Arial"/>
                <a:cs typeface="Arial"/>
              </a:rPr>
              <a:t> </a:t>
            </a:r>
            <a:r>
              <a:rPr dirty="0" sz="1650" spc="-140">
                <a:latin typeface="Arial"/>
                <a:cs typeface="Arial"/>
              </a:rPr>
              <a:t>sequence</a:t>
            </a:r>
            <a:r>
              <a:rPr dirty="0" sz="1650" spc="114">
                <a:latin typeface="Arial"/>
                <a:cs typeface="Arial"/>
              </a:rPr>
              <a:t> </a:t>
            </a:r>
            <a:r>
              <a:rPr dirty="0" sz="1650" spc="-95">
                <a:latin typeface="Arial"/>
                <a:cs typeface="Arial"/>
              </a:rPr>
              <a:t>repeats.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8218" y="6249292"/>
            <a:ext cx="3197225" cy="0"/>
          </a:xfrm>
          <a:custGeom>
            <a:avLst/>
            <a:gdLst/>
            <a:ahLst/>
            <a:cxnLst/>
            <a:rect l="l" t="t" r="r" b="b"/>
            <a:pathLst>
              <a:path w="3197225" h="0">
                <a:moveTo>
                  <a:pt x="0" y="0"/>
                </a:moveTo>
                <a:lnTo>
                  <a:pt x="3196829" y="0"/>
                </a:lnTo>
              </a:path>
            </a:pathLst>
          </a:custGeom>
          <a:ln w="8929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33875" y="6302871"/>
            <a:ext cx="3587115" cy="0"/>
          </a:xfrm>
          <a:custGeom>
            <a:avLst/>
            <a:gdLst/>
            <a:ahLst/>
            <a:cxnLst/>
            <a:rect l="l" t="t" r="r" b="b"/>
            <a:pathLst>
              <a:path w="3587115" h="0">
                <a:moveTo>
                  <a:pt x="0" y="0"/>
                </a:moveTo>
                <a:lnTo>
                  <a:pt x="3586759" y="0"/>
                </a:lnTo>
              </a:path>
            </a:pathLst>
          </a:custGeom>
          <a:ln w="14882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55"/>
              </a:lnSpc>
            </a:pPr>
            <a:r>
              <a:rPr dirty="0" sz="1200" spc="-25"/>
              <a:t>69</a:t>
            </a:r>
            <a:endParaRPr sz="1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F54"/>
                </a:solidFill>
              </a:rPr>
              <a:t>Memory</a:t>
            </a:r>
            <a:r>
              <a:rPr dirty="0" spc="135">
                <a:solidFill>
                  <a:srgbClr val="001F54"/>
                </a:solidFill>
              </a:rPr>
              <a:t> </a:t>
            </a:r>
            <a:r>
              <a:rPr dirty="0" spc="-40">
                <a:solidFill>
                  <a:srgbClr val="031F62"/>
                </a:solidFill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22" y="1620935"/>
            <a:ext cx="7754620" cy="3871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71755" indent="-343535">
              <a:lnSpc>
                <a:spcPct val="100600"/>
              </a:lnSpc>
              <a:spcBef>
                <a:spcPts val="105"/>
              </a:spcBef>
              <a:buChar char="•"/>
              <a:tabLst>
                <a:tab pos="355600" algn="l"/>
                <a:tab pos="360680" algn="l"/>
              </a:tabLst>
            </a:pPr>
            <a:r>
              <a:rPr dirty="0" sz="3000">
                <a:latin typeface="Arial"/>
                <a:cs typeface="Arial"/>
              </a:rPr>
              <a:t>	Does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not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permit</a:t>
            </a:r>
            <a:r>
              <a:rPr dirty="0" sz="3000" spc="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memory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10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freed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once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it </a:t>
            </a:r>
            <a:r>
              <a:rPr dirty="0" sz="3000">
                <a:latin typeface="Arial"/>
                <a:cs typeface="Arial"/>
              </a:rPr>
              <a:t>has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been</a:t>
            </a:r>
            <a:r>
              <a:rPr dirty="0" sz="3000" spc="4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allocated.</a:t>
            </a:r>
            <a:endParaRPr sz="3000">
              <a:latin typeface="Arial"/>
              <a:cs typeface="Arial"/>
            </a:endParaRPr>
          </a:p>
          <a:p>
            <a:pPr marL="347345" marR="5080" indent="-335280">
              <a:lnSpc>
                <a:spcPct val="99400"/>
              </a:lnSpc>
              <a:spcBef>
                <a:spcPts val="675"/>
              </a:spcBef>
              <a:buChar char="•"/>
              <a:tabLst>
                <a:tab pos="347345" algn="l"/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	Subdivide</a:t>
            </a:r>
            <a:r>
              <a:rPr dirty="0" sz="3000" spc="1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single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array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into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smaller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blocks. </a:t>
            </a:r>
            <a:r>
              <a:rPr dirty="0" sz="3000" spc="-60">
                <a:latin typeface="Arial"/>
                <a:cs typeface="Arial"/>
              </a:rPr>
              <a:t>Total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size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of the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array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(heap)</a:t>
            </a:r>
            <a:r>
              <a:rPr dirty="0" sz="3000" spc="1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is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set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by </a:t>
            </a:r>
            <a:r>
              <a:rPr dirty="0" sz="3050" spc="-20">
                <a:latin typeface="Arial"/>
                <a:cs typeface="Arial"/>
              </a:rPr>
              <a:t>configTOTAL</a:t>
            </a:r>
            <a:r>
              <a:rPr dirty="0" u="heavy" sz="3050" spc="500"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3050">
                <a:latin typeface="Arial"/>
                <a:cs typeface="Arial"/>
              </a:rPr>
              <a:t>HEAP</a:t>
            </a:r>
            <a:r>
              <a:rPr dirty="0" u="heavy" sz="3050" spc="415"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3050" spc="-20">
                <a:latin typeface="Arial"/>
                <a:cs typeface="Arial"/>
              </a:rPr>
              <a:t>SIZE</a:t>
            </a:r>
            <a:endParaRPr sz="3050">
              <a:latin typeface="Arial"/>
              <a:cs typeface="Arial"/>
            </a:endParaRPr>
          </a:p>
          <a:p>
            <a:pPr marL="347345" marR="466725" indent="-335280">
              <a:lnSpc>
                <a:spcPct val="100699"/>
              </a:lnSpc>
              <a:spcBef>
                <a:spcPts val="740"/>
              </a:spcBef>
              <a:buChar char="•"/>
              <a:tabLst>
                <a:tab pos="347345" algn="l"/>
                <a:tab pos="360680" algn="l"/>
              </a:tabLst>
            </a:pPr>
            <a:r>
              <a:rPr dirty="0" sz="2950">
                <a:latin typeface="Arial"/>
                <a:cs typeface="Arial"/>
              </a:rPr>
              <a:t>	xPortGetFreeHeapSize()</a:t>
            </a:r>
            <a:r>
              <a:rPr dirty="0" sz="2950" spc="18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returns</a:t>
            </a:r>
            <a:r>
              <a:rPr dirty="0" sz="2950" spc="2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6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total </a:t>
            </a:r>
            <a:r>
              <a:rPr dirty="0" sz="3000">
                <a:latin typeface="Arial"/>
                <a:cs typeface="Arial"/>
              </a:rPr>
              <a:t>amount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of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heap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space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that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remains unallocated.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55"/>
              </a:lnSpc>
            </a:pPr>
            <a:r>
              <a:rPr dirty="0" sz="1200" spc="-25"/>
              <a:t>70</a:t>
            </a:r>
            <a:endParaRPr sz="1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9555" y="533994"/>
            <a:ext cx="2011680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00">
                <a:solidFill>
                  <a:srgbClr val="001C59"/>
                </a:solidFill>
              </a:rPr>
              <a:t>Heap</a:t>
            </a:r>
            <a:r>
              <a:rPr dirty="0" sz="3700" spc="-35">
                <a:solidFill>
                  <a:srgbClr val="001C59"/>
                </a:solidFill>
              </a:rPr>
              <a:t>  </a:t>
            </a:r>
            <a:r>
              <a:rPr dirty="0" sz="3700" spc="-40">
                <a:solidFill>
                  <a:srgbClr val="032469"/>
                </a:solidFill>
              </a:rPr>
              <a:t>2.c</a:t>
            </a:r>
            <a:endParaRPr sz="3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665"/>
              </a:spcBef>
              <a:buChar char="•"/>
              <a:tabLst>
                <a:tab pos="364490" algn="l"/>
              </a:tabLst>
            </a:pPr>
            <a:r>
              <a:rPr dirty="0"/>
              <a:t>Allow</a:t>
            </a:r>
            <a:r>
              <a:rPr dirty="0" spc="-35"/>
              <a:t> </a:t>
            </a:r>
            <a:r>
              <a:rPr dirty="0"/>
              <a:t>previously</a:t>
            </a:r>
            <a:r>
              <a:rPr dirty="0" spc="145"/>
              <a:t> </a:t>
            </a:r>
            <a:r>
              <a:rPr dirty="0"/>
              <a:t>allocated</a:t>
            </a:r>
            <a:r>
              <a:rPr dirty="0" spc="-60"/>
              <a:t> </a:t>
            </a:r>
            <a:r>
              <a:rPr dirty="0"/>
              <a:t>blocks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/>
              <a:t>be</a:t>
            </a:r>
            <a:r>
              <a:rPr dirty="0" spc="-85"/>
              <a:t> </a:t>
            </a:r>
            <a:r>
              <a:rPr dirty="0" spc="-10"/>
              <a:t>freed.</a:t>
            </a:r>
          </a:p>
          <a:p>
            <a:pPr marL="358775" indent="-347345">
              <a:lnSpc>
                <a:spcPts val="3679"/>
              </a:lnSpc>
              <a:spcBef>
                <a:spcPts val="590"/>
              </a:spcBef>
              <a:buChar char="•"/>
              <a:tabLst>
                <a:tab pos="359410" algn="l"/>
              </a:tabLst>
            </a:pPr>
            <a:r>
              <a:rPr dirty="0" sz="3100" spc="-60"/>
              <a:t>Does</a:t>
            </a:r>
            <a:r>
              <a:rPr dirty="0" sz="3100" spc="-160"/>
              <a:t> </a:t>
            </a:r>
            <a:r>
              <a:rPr dirty="0" sz="3100"/>
              <a:t>not</a:t>
            </a:r>
            <a:r>
              <a:rPr dirty="0" sz="3100" spc="-215"/>
              <a:t> </a:t>
            </a:r>
            <a:r>
              <a:rPr dirty="0" sz="3100" spc="-60"/>
              <a:t>combine</a:t>
            </a:r>
            <a:r>
              <a:rPr dirty="0" sz="3100" spc="-150"/>
              <a:t> </a:t>
            </a:r>
            <a:r>
              <a:rPr dirty="0" sz="3100" spc="-50"/>
              <a:t>adjacent</a:t>
            </a:r>
            <a:r>
              <a:rPr dirty="0" sz="3100" spc="-85"/>
              <a:t> </a:t>
            </a:r>
            <a:r>
              <a:rPr dirty="0" sz="3100" spc="-35"/>
              <a:t>free</a:t>
            </a:r>
            <a:r>
              <a:rPr dirty="0" sz="3100" spc="-180"/>
              <a:t> </a:t>
            </a:r>
            <a:r>
              <a:rPr dirty="0" sz="3100" spc="-30"/>
              <a:t>blocks</a:t>
            </a:r>
            <a:r>
              <a:rPr dirty="0" sz="3100" spc="-85"/>
              <a:t> </a:t>
            </a:r>
            <a:r>
              <a:rPr dirty="0" sz="3100" spc="-20"/>
              <a:t>into</a:t>
            </a:r>
            <a:r>
              <a:rPr dirty="0" sz="3100" spc="-180"/>
              <a:t> </a:t>
            </a:r>
            <a:r>
              <a:rPr dirty="0" sz="3100" spc="-50"/>
              <a:t>a</a:t>
            </a:r>
            <a:endParaRPr sz="3100"/>
          </a:p>
          <a:p>
            <a:pPr marL="350520">
              <a:lnSpc>
                <a:spcPts val="3620"/>
              </a:lnSpc>
            </a:pPr>
            <a:r>
              <a:rPr dirty="0" sz="3050" spc="-10"/>
              <a:t>single</a:t>
            </a:r>
            <a:r>
              <a:rPr dirty="0" sz="3050" spc="-150"/>
              <a:t> </a:t>
            </a:r>
            <a:r>
              <a:rPr dirty="0" sz="3050" spc="-20"/>
              <a:t>large</a:t>
            </a:r>
            <a:r>
              <a:rPr dirty="0" sz="3050" spc="-165"/>
              <a:t> </a:t>
            </a:r>
            <a:r>
              <a:rPr dirty="0" sz="3050" spc="-10"/>
              <a:t>block.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010">
              <a:lnSpc>
                <a:spcPts val="1355"/>
              </a:lnSpc>
            </a:pPr>
            <a:r>
              <a:rPr dirty="0" sz="1200" spc="-25"/>
              <a:t>71</a:t>
            </a:r>
            <a:endParaRPr sz="1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6439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473" y="315713"/>
            <a:ext cx="2215515" cy="5314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00">
                <a:solidFill>
                  <a:srgbClr val="071A56"/>
                </a:solidFill>
              </a:rPr>
              <a:t>Summary</a:t>
            </a:r>
            <a:r>
              <a:rPr dirty="0" sz="3300" spc="355">
                <a:solidFill>
                  <a:srgbClr val="071A56"/>
                </a:solidFill>
              </a:rPr>
              <a:t> </a:t>
            </a:r>
            <a:r>
              <a:rPr dirty="0" sz="3300" spc="-1605">
                <a:solidFill>
                  <a:srgbClr val="162659"/>
                </a:solidFill>
              </a:rPr>
              <a:t>—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13258" y="806847"/>
            <a:ext cx="8225155" cy="4913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80059" indent="-467359">
              <a:lnSpc>
                <a:spcPct val="100000"/>
              </a:lnSpc>
              <a:spcBef>
                <a:spcPts val="120"/>
              </a:spcBef>
              <a:buClr>
                <a:srgbClr val="031C57"/>
              </a:buClr>
              <a:buAutoNum type="arabicPeriod"/>
              <a:tabLst>
                <a:tab pos="480059" algn="l"/>
              </a:tabLst>
            </a:pPr>
            <a:r>
              <a:rPr dirty="0" sz="3300" spc="60">
                <a:solidFill>
                  <a:srgbClr val="071F57"/>
                </a:solidFill>
                <a:latin typeface="Arial"/>
                <a:cs typeface="Arial"/>
              </a:rPr>
              <a:t>Prioritized</a:t>
            </a:r>
            <a:r>
              <a:rPr dirty="0" sz="3300" spc="300">
                <a:solidFill>
                  <a:srgbClr val="071F57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0C2B62"/>
                </a:solidFill>
                <a:latin typeface="Arial"/>
                <a:cs typeface="Arial"/>
              </a:rPr>
              <a:t>pre-emptive</a:t>
            </a:r>
            <a:r>
              <a:rPr dirty="0" sz="3300" spc="400">
                <a:solidFill>
                  <a:srgbClr val="0C2B62"/>
                </a:solidFill>
                <a:latin typeface="Arial"/>
                <a:cs typeface="Arial"/>
              </a:rPr>
              <a:t> </a:t>
            </a:r>
            <a:r>
              <a:rPr dirty="0" sz="3300" spc="45">
                <a:solidFill>
                  <a:srgbClr val="0F245E"/>
                </a:solidFill>
                <a:latin typeface="Arial"/>
                <a:cs typeface="Arial"/>
              </a:rPr>
              <a:t>scheduling</a:t>
            </a:r>
            <a:endParaRPr sz="3300">
              <a:latin typeface="Arial"/>
              <a:cs typeface="Arial"/>
            </a:endParaRPr>
          </a:p>
          <a:p>
            <a:pPr lvl="1" marL="376555" marR="193675" indent="-339090">
              <a:lnSpc>
                <a:spcPct val="100099"/>
              </a:lnSpc>
              <a:spcBef>
                <a:spcPts val="2450"/>
              </a:spcBef>
              <a:buChar char="•"/>
              <a:tabLst>
                <a:tab pos="376555" algn="l"/>
                <a:tab pos="385445" algn="l"/>
              </a:tabLst>
            </a:pPr>
            <a:r>
              <a:rPr dirty="0" sz="3000">
                <a:latin typeface="Arial"/>
                <a:cs typeface="Arial"/>
              </a:rPr>
              <a:t>	Examples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illustrate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how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-1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when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 spc="-55">
                <a:latin typeface="Arial"/>
                <a:cs typeface="Arial"/>
              </a:rPr>
              <a:t>FreeRTOS </a:t>
            </a:r>
            <a:r>
              <a:rPr dirty="0" sz="3000">
                <a:latin typeface="Arial"/>
                <a:cs typeface="Arial"/>
              </a:rPr>
              <a:t>selects</a:t>
            </a:r>
            <a:r>
              <a:rPr dirty="0" sz="3000" spc="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which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task</a:t>
            </a:r>
            <a:r>
              <a:rPr dirty="0" sz="3000" spc="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should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 in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the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Running state.</a:t>
            </a:r>
            <a:endParaRPr sz="3000">
              <a:latin typeface="Arial"/>
              <a:cs typeface="Arial"/>
            </a:endParaRPr>
          </a:p>
          <a:p>
            <a:pPr lvl="2" marL="779780" indent="-355600">
              <a:lnSpc>
                <a:spcPct val="100000"/>
              </a:lnSpc>
              <a:spcBef>
                <a:spcPts val="535"/>
              </a:spcBef>
              <a:buChar char="—"/>
              <a:tabLst>
                <a:tab pos="779780" algn="l"/>
              </a:tabLst>
            </a:pPr>
            <a:r>
              <a:rPr dirty="0" sz="2700" spc="-35">
                <a:latin typeface="Arial"/>
                <a:cs typeface="Arial"/>
              </a:rPr>
              <a:t>Each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assigned</a:t>
            </a:r>
            <a:r>
              <a:rPr dirty="0" sz="2700" spc="-6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priority.</a:t>
            </a:r>
            <a:endParaRPr sz="2700">
              <a:latin typeface="Arial"/>
              <a:cs typeface="Arial"/>
            </a:endParaRPr>
          </a:p>
          <a:p>
            <a:pPr lvl="2" marL="780415" indent="-349250">
              <a:lnSpc>
                <a:spcPct val="100000"/>
              </a:lnSpc>
              <a:spcBef>
                <a:spcPts val="535"/>
              </a:spcBef>
              <a:buChar char="—"/>
              <a:tabLst>
                <a:tab pos="780415" algn="l"/>
              </a:tabLst>
            </a:pPr>
            <a:r>
              <a:rPr dirty="0" sz="2650">
                <a:latin typeface="Arial"/>
                <a:cs typeface="Arial"/>
              </a:rPr>
              <a:t>Each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exist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one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several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states.</a:t>
            </a:r>
            <a:endParaRPr sz="2650">
              <a:latin typeface="Arial"/>
              <a:cs typeface="Arial"/>
            </a:endParaRPr>
          </a:p>
          <a:p>
            <a:pPr lvl="2" marL="773430" indent="-349250">
              <a:lnSpc>
                <a:spcPts val="3080"/>
              </a:lnSpc>
              <a:spcBef>
                <a:spcPts val="550"/>
              </a:spcBef>
              <a:buChar char="—"/>
              <a:tabLst>
                <a:tab pos="773430" algn="l"/>
              </a:tabLst>
            </a:pPr>
            <a:r>
              <a:rPr dirty="0" sz="2650">
                <a:latin typeface="Arial"/>
                <a:cs typeface="Arial"/>
              </a:rPr>
              <a:t>Only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one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exist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7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any</a:t>
            </a:r>
            <a:endParaRPr sz="2650">
              <a:latin typeface="Arial"/>
              <a:cs typeface="Arial"/>
            </a:endParaRPr>
          </a:p>
          <a:p>
            <a:pPr marL="778510">
              <a:lnSpc>
                <a:spcPts val="3260"/>
              </a:lnSpc>
            </a:pPr>
            <a:r>
              <a:rPr dirty="0" sz="2800" spc="-140">
                <a:latin typeface="Arial"/>
                <a:cs typeface="Arial"/>
              </a:rPr>
              <a:t>one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time.</a:t>
            </a:r>
            <a:endParaRPr sz="2800">
              <a:latin typeface="Arial"/>
              <a:cs typeface="Arial"/>
            </a:endParaRPr>
          </a:p>
          <a:p>
            <a:pPr lvl="2" marL="772795" marR="351155" indent="-349250">
              <a:lnSpc>
                <a:spcPts val="3130"/>
              </a:lnSpc>
              <a:spcBef>
                <a:spcPts val="695"/>
              </a:spcBef>
              <a:buChar char="—"/>
              <a:tabLst>
                <a:tab pos="781050" algn="l"/>
              </a:tabLst>
            </a:pP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scheduler</a:t>
            </a:r>
            <a:r>
              <a:rPr dirty="0" sz="2650" spc="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always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selects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highest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 spc="-30">
                <a:latin typeface="Arial"/>
                <a:cs typeface="Arial"/>
              </a:rPr>
              <a:t>priority </a:t>
            </a:r>
            <a:r>
              <a:rPr dirty="0" sz="2650" spc="-30">
                <a:latin typeface="Arial"/>
                <a:cs typeface="Arial"/>
              </a:rPr>
              <a:t>	</a:t>
            </a:r>
            <a:r>
              <a:rPr dirty="0" sz="2650" spc="-20">
                <a:latin typeface="Arial"/>
                <a:cs typeface="Arial"/>
              </a:rPr>
              <a:t>Ready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enter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state.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200"/>
              </a:lnSpc>
            </a:pPr>
            <a:r>
              <a:rPr dirty="0" spc="-25"/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907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dirty="0" sz="3300">
                <a:solidFill>
                  <a:srgbClr val="0C2864"/>
                </a:solidFill>
              </a:rPr>
              <a:t>Fixed</a:t>
            </a:r>
            <a:r>
              <a:rPr dirty="0" sz="3300" spc="85">
                <a:solidFill>
                  <a:srgbClr val="0C2864"/>
                </a:solidFill>
              </a:rPr>
              <a:t> </a:t>
            </a:r>
            <a:r>
              <a:rPr dirty="0" sz="3300" spc="120">
                <a:solidFill>
                  <a:srgbClr val="011F5B"/>
                </a:solidFill>
              </a:rPr>
              <a:t>priority</a:t>
            </a:r>
            <a:r>
              <a:rPr dirty="0" sz="3300" spc="135">
                <a:solidFill>
                  <a:srgbClr val="011F5B"/>
                </a:solidFill>
              </a:rPr>
              <a:t> </a:t>
            </a:r>
            <a:r>
              <a:rPr dirty="0" sz="3300">
                <a:solidFill>
                  <a:srgbClr val="082660"/>
                </a:solidFill>
              </a:rPr>
              <a:t>Pre-emptive</a:t>
            </a:r>
            <a:r>
              <a:rPr dirty="0" sz="3300" spc="330">
                <a:solidFill>
                  <a:srgbClr val="082660"/>
                </a:solidFill>
              </a:rPr>
              <a:t> </a:t>
            </a:r>
            <a:r>
              <a:rPr dirty="0" sz="3300" spc="60">
                <a:solidFill>
                  <a:srgbClr val="082867"/>
                </a:solidFill>
              </a:rPr>
              <a:t>scheduling</a:t>
            </a:r>
            <a:endParaRPr sz="33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359410" indent="-346710">
              <a:lnSpc>
                <a:spcPct val="100000"/>
              </a:lnSpc>
              <a:spcBef>
                <a:spcPts val="695"/>
              </a:spcBef>
              <a:buChar char="•"/>
              <a:tabLst>
                <a:tab pos="359410" algn="l"/>
              </a:tabLst>
            </a:pPr>
            <a:r>
              <a:rPr dirty="0"/>
              <a:t>Fixed</a:t>
            </a:r>
            <a:r>
              <a:rPr dirty="0" spc="-120"/>
              <a:t> </a:t>
            </a:r>
            <a:r>
              <a:rPr dirty="0" spc="-10"/>
              <a:t>priority</a:t>
            </a:r>
          </a:p>
          <a:p>
            <a:pPr lvl="1" marL="742950" marR="5080" indent="-337185">
              <a:lnSpc>
                <a:spcPct val="99200"/>
              </a:lnSpc>
              <a:spcBef>
                <a:spcPts val="575"/>
              </a:spcBef>
              <a:buChar char="—"/>
              <a:tabLst>
                <a:tab pos="742950" algn="l"/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	Each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assigned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3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not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altered </a:t>
            </a:r>
            <a:r>
              <a:rPr dirty="0" sz="2650">
                <a:latin typeface="Arial"/>
                <a:cs typeface="Arial"/>
              </a:rPr>
              <a:t>by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kernel</a:t>
            </a:r>
            <a:r>
              <a:rPr dirty="0" sz="2650" spc="-8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itself</a:t>
            </a:r>
            <a:r>
              <a:rPr dirty="0" sz="2650" spc="7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(only</a:t>
            </a:r>
            <a:r>
              <a:rPr dirty="0" sz="2650" spc="-5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tasks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change </a:t>
            </a:r>
            <a:r>
              <a:rPr dirty="0" sz="2600" spc="-10">
                <a:latin typeface="Arial"/>
                <a:cs typeface="Arial"/>
              </a:rPr>
              <a:t>priorities)</a:t>
            </a:r>
            <a:endParaRPr sz="2600">
              <a:latin typeface="Arial"/>
              <a:cs typeface="Arial"/>
            </a:endParaRPr>
          </a:p>
          <a:p>
            <a:pPr marL="361315" indent="-348615">
              <a:lnSpc>
                <a:spcPct val="100000"/>
              </a:lnSpc>
              <a:spcBef>
                <a:spcPts val="745"/>
              </a:spcBef>
              <a:buChar char="•"/>
              <a:tabLst>
                <a:tab pos="361315" algn="l"/>
              </a:tabLst>
            </a:pPr>
            <a:r>
              <a:rPr dirty="0" sz="2950" spc="-40"/>
              <a:t>Pre-</a:t>
            </a:r>
            <a:r>
              <a:rPr dirty="0" sz="2950" spc="-10"/>
              <a:t>emptive</a:t>
            </a:r>
            <a:endParaRPr sz="2950"/>
          </a:p>
          <a:p>
            <a:pPr lvl="1" marL="742950" marR="170815" indent="-336550">
              <a:lnSpc>
                <a:spcPct val="99800"/>
              </a:lnSpc>
              <a:spcBef>
                <a:spcPts val="635"/>
              </a:spcBef>
              <a:buChar char="—"/>
              <a:tabLst>
                <a:tab pos="742950" algn="l"/>
                <a:tab pos="755650" algn="l"/>
              </a:tabLst>
            </a:pPr>
            <a:r>
              <a:rPr dirty="0" sz="2650" spc="-130">
                <a:latin typeface="Arial"/>
                <a:cs typeface="Arial"/>
              </a:rPr>
              <a:t>	</a:t>
            </a:r>
            <a:r>
              <a:rPr dirty="0" sz="2650" spc="-130">
                <a:latin typeface="Arial"/>
                <a:cs typeface="Arial"/>
              </a:rPr>
              <a:t>A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entering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Ready</a:t>
            </a:r>
            <a:r>
              <a:rPr dirty="0" sz="2650" spc="-3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or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having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its </a:t>
            </a:r>
            <a:r>
              <a:rPr dirty="0" sz="2600">
                <a:latin typeface="Arial"/>
                <a:cs typeface="Arial"/>
              </a:rPr>
              <a:t>priority</a:t>
            </a:r>
            <a:r>
              <a:rPr dirty="0" sz="2600" spc="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altered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will</a:t>
            </a:r>
            <a:r>
              <a:rPr dirty="0" sz="2600" spc="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always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pre-</a:t>
            </a:r>
            <a:r>
              <a:rPr dirty="0" sz="2600">
                <a:latin typeface="Arial"/>
                <a:cs typeface="Arial"/>
              </a:rPr>
              <a:t>empt</a:t>
            </a:r>
            <a:r>
              <a:rPr dirty="0" sz="2600" spc="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Running </a:t>
            </a:r>
            <a:r>
              <a:rPr dirty="0" sz="2600">
                <a:latin typeface="Arial"/>
                <a:cs typeface="Arial"/>
              </a:rPr>
              <a:t>state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task,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if the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Running</a:t>
            </a:r>
            <a:r>
              <a:rPr dirty="0" sz="2600" spc="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state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task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has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70">
                <a:latin typeface="Arial"/>
                <a:cs typeface="Arial"/>
              </a:rPr>
              <a:t>a</a:t>
            </a:r>
            <a:r>
              <a:rPr dirty="0" sz="2600" spc="-17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lower priority.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200"/>
              </a:lnSpc>
            </a:pPr>
            <a:r>
              <a:rPr dirty="0" spc="-25"/>
              <a:t>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C60"/>
                </a:solidFill>
              </a:rPr>
              <a:t>Tasks</a:t>
            </a:r>
            <a:r>
              <a:rPr dirty="0" spc="40">
                <a:solidFill>
                  <a:srgbClr val="001C60"/>
                </a:solidFill>
              </a:rPr>
              <a:t> </a:t>
            </a:r>
            <a:r>
              <a:rPr dirty="0">
                <a:solidFill>
                  <a:srgbClr val="002159"/>
                </a:solidFill>
              </a:rPr>
              <a:t>in</a:t>
            </a:r>
            <a:r>
              <a:rPr dirty="0" spc="260">
                <a:solidFill>
                  <a:srgbClr val="002159"/>
                </a:solidFill>
              </a:rPr>
              <a:t> </a:t>
            </a:r>
            <a:r>
              <a:rPr dirty="0">
                <a:solidFill>
                  <a:srgbClr val="001C59"/>
                </a:solidFill>
              </a:rPr>
              <a:t>the</a:t>
            </a:r>
            <a:r>
              <a:rPr dirty="0" spc="15">
                <a:solidFill>
                  <a:srgbClr val="001C59"/>
                </a:solidFill>
              </a:rPr>
              <a:t> </a:t>
            </a:r>
            <a:r>
              <a:rPr dirty="0" spc="50">
                <a:solidFill>
                  <a:srgbClr val="032360"/>
                </a:solidFill>
              </a:rPr>
              <a:t>Blocked</a:t>
            </a:r>
            <a:r>
              <a:rPr dirty="0" spc="155">
                <a:solidFill>
                  <a:srgbClr val="032360"/>
                </a:solidFill>
              </a:rPr>
              <a:t> </a:t>
            </a:r>
            <a:r>
              <a:rPr dirty="0" spc="-10">
                <a:solidFill>
                  <a:srgbClr val="001A4D"/>
                </a:solidFill>
              </a:rPr>
              <a:t>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392" y="1524693"/>
            <a:ext cx="7940675" cy="4814570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algn="just" marL="367665" marR="15240" indent="-350520">
              <a:lnSpc>
                <a:spcPct val="78600"/>
              </a:lnSpc>
              <a:spcBef>
                <a:spcPts val="945"/>
              </a:spcBef>
              <a:buChar char="•"/>
              <a:tabLst>
                <a:tab pos="367665" algn="l"/>
                <a:tab pos="382905" algn="l"/>
              </a:tabLst>
            </a:pPr>
            <a:r>
              <a:rPr dirty="0" sz="3200">
                <a:latin typeface="Calibri"/>
                <a:cs typeface="Calibri"/>
              </a:rPr>
              <a:t>	Tasks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150">
                <a:latin typeface="Calibri"/>
                <a:cs typeface="Calibri"/>
              </a:rPr>
              <a:t>wait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45">
                <a:latin typeface="Calibri"/>
                <a:cs typeface="Calibri"/>
              </a:rPr>
              <a:t>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Blocked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65">
                <a:latin typeface="Calibri"/>
                <a:cs typeface="Calibri"/>
              </a:rPr>
              <a:t>state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5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-1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event </a:t>
            </a:r>
            <a:r>
              <a:rPr dirty="0" sz="3250" spc="-45">
                <a:latin typeface="Calibri"/>
                <a:cs typeface="Calibri"/>
              </a:rPr>
              <a:t>and</a:t>
            </a:r>
            <a:r>
              <a:rPr dirty="0" sz="3250" spc="-150">
                <a:latin typeface="Calibri"/>
                <a:cs typeface="Calibri"/>
              </a:rPr>
              <a:t> </a:t>
            </a:r>
            <a:r>
              <a:rPr dirty="0" sz="3250" spc="-30">
                <a:latin typeface="Calibri"/>
                <a:cs typeface="Calibri"/>
              </a:rPr>
              <a:t>are</a:t>
            </a:r>
            <a:r>
              <a:rPr dirty="0" sz="3250" spc="-155">
                <a:latin typeface="Calibri"/>
                <a:cs typeface="Calibri"/>
              </a:rPr>
              <a:t> </a:t>
            </a:r>
            <a:r>
              <a:rPr dirty="0" sz="3250" spc="-135">
                <a:latin typeface="Calibri"/>
                <a:cs typeface="Calibri"/>
              </a:rPr>
              <a:t>automatically</a:t>
            </a:r>
            <a:r>
              <a:rPr dirty="0" sz="3250" spc="130">
                <a:latin typeface="Calibri"/>
                <a:cs typeface="Calibri"/>
              </a:rPr>
              <a:t> </a:t>
            </a:r>
            <a:r>
              <a:rPr dirty="0" sz="3250" spc="-155">
                <a:latin typeface="Calibri"/>
                <a:cs typeface="Calibri"/>
              </a:rPr>
              <a:t>moved</a:t>
            </a:r>
            <a:r>
              <a:rPr dirty="0" sz="3250" spc="-35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back</a:t>
            </a:r>
            <a:r>
              <a:rPr dirty="0" sz="3250" spc="-45">
                <a:latin typeface="Calibri"/>
                <a:cs typeface="Calibri"/>
              </a:rPr>
              <a:t> </a:t>
            </a:r>
            <a:r>
              <a:rPr dirty="0" sz="3250" spc="-270">
                <a:latin typeface="Calibri"/>
                <a:cs typeface="Calibri"/>
              </a:rPr>
              <a:t>to</a:t>
            </a:r>
            <a:r>
              <a:rPr dirty="0" sz="3250" spc="90">
                <a:latin typeface="Calibri"/>
                <a:cs typeface="Calibri"/>
              </a:rPr>
              <a:t> </a:t>
            </a:r>
            <a:r>
              <a:rPr dirty="0" sz="3250" spc="-185">
                <a:latin typeface="Calibri"/>
                <a:cs typeface="Calibri"/>
              </a:rPr>
              <a:t>the</a:t>
            </a:r>
            <a:r>
              <a:rPr dirty="0" sz="3250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Ready </a:t>
            </a:r>
            <a:r>
              <a:rPr dirty="0" sz="3150" spc="-50">
                <a:latin typeface="Calibri"/>
                <a:cs typeface="Calibri"/>
              </a:rPr>
              <a:t>state</a:t>
            </a:r>
            <a:r>
              <a:rPr dirty="0" sz="3150" spc="-60">
                <a:latin typeface="Calibri"/>
                <a:cs typeface="Calibri"/>
              </a:rPr>
              <a:t> </a:t>
            </a:r>
            <a:r>
              <a:rPr dirty="0" sz="3150" spc="-85">
                <a:latin typeface="Calibri"/>
                <a:cs typeface="Calibri"/>
              </a:rPr>
              <a:t>when</a:t>
            </a:r>
            <a:r>
              <a:rPr dirty="0" sz="3150" spc="-5">
                <a:latin typeface="Calibri"/>
                <a:cs typeface="Calibri"/>
              </a:rPr>
              <a:t> </a:t>
            </a:r>
            <a:r>
              <a:rPr dirty="0" sz="3150" spc="-100">
                <a:latin typeface="Calibri"/>
                <a:cs typeface="Calibri"/>
              </a:rPr>
              <a:t>the</a:t>
            </a:r>
            <a:r>
              <a:rPr dirty="0" sz="3150" spc="-80">
                <a:latin typeface="Calibri"/>
                <a:cs typeface="Calibri"/>
              </a:rPr>
              <a:t> </a:t>
            </a:r>
            <a:r>
              <a:rPr dirty="0" sz="3150">
                <a:latin typeface="Calibri"/>
                <a:cs typeface="Calibri"/>
              </a:rPr>
              <a:t>event</a:t>
            </a:r>
            <a:r>
              <a:rPr dirty="0" sz="3150" spc="30">
                <a:latin typeface="Calibri"/>
                <a:cs typeface="Calibri"/>
              </a:rPr>
              <a:t> </a:t>
            </a:r>
            <a:r>
              <a:rPr dirty="0" sz="3150" spc="-10">
                <a:latin typeface="Calibri"/>
                <a:cs typeface="Calibri"/>
              </a:rPr>
              <a:t>occurs.</a:t>
            </a:r>
            <a:endParaRPr sz="3150">
              <a:latin typeface="Calibri"/>
              <a:cs typeface="Calibri"/>
            </a:endParaRPr>
          </a:p>
          <a:p>
            <a:pPr marL="376555" indent="-348615">
              <a:lnSpc>
                <a:spcPct val="100000"/>
              </a:lnSpc>
              <a:spcBef>
                <a:spcPts val="295"/>
              </a:spcBef>
              <a:buChar char="•"/>
              <a:tabLst>
                <a:tab pos="376555" algn="l"/>
              </a:tabLst>
            </a:pPr>
            <a:r>
              <a:rPr dirty="0" sz="2800" spc="-55">
                <a:latin typeface="Arial"/>
                <a:cs typeface="Arial"/>
              </a:rPr>
              <a:t>Temporal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events</a:t>
            </a:r>
            <a:endParaRPr sz="2800">
              <a:latin typeface="Arial"/>
              <a:cs typeface="Arial"/>
            </a:endParaRPr>
          </a:p>
          <a:p>
            <a:pPr lvl="1" marL="772795" indent="-317500">
              <a:lnSpc>
                <a:spcPct val="100000"/>
              </a:lnSpc>
              <a:spcBef>
                <a:spcPts val="310"/>
              </a:spcBef>
              <a:buChar char="—"/>
              <a:tabLst>
                <a:tab pos="772795" algn="l"/>
              </a:tabLst>
            </a:pPr>
            <a:r>
              <a:rPr dirty="0" sz="2400">
                <a:latin typeface="Arial"/>
                <a:cs typeface="Arial"/>
              </a:rPr>
              <a:t>Occur</a:t>
            </a:r>
            <a:r>
              <a:rPr dirty="0" sz="2400" spc="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1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particular</a:t>
            </a:r>
            <a:r>
              <a:rPr dirty="0" sz="2400" spc="1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e.g.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1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block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expires.</a:t>
            </a:r>
            <a:endParaRPr sz="2400">
              <a:latin typeface="Arial"/>
              <a:cs typeface="Arial"/>
            </a:endParaRPr>
          </a:p>
          <a:p>
            <a:pPr lvl="1" marL="767715" marR="282575" indent="-327025">
              <a:lnSpc>
                <a:spcPts val="2570"/>
              </a:lnSpc>
              <a:spcBef>
                <a:spcPts val="625"/>
              </a:spcBef>
              <a:buChar char="—"/>
              <a:tabLst>
                <a:tab pos="767715" algn="l"/>
                <a:tab pos="770890" algn="l"/>
              </a:tabLst>
            </a:pPr>
            <a:r>
              <a:rPr dirty="0" sz="2500">
                <a:latin typeface="Arial"/>
                <a:cs typeface="Arial"/>
              </a:rPr>
              <a:t>	</a:t>
            </a:r>
            <a:r>
              <a:rPr dirty="0" sz="2500" spc="-55">
                <a:latin typeface="Arial"/>
                <a:cs typeface="Arial"/>
              </a:rPr>
              <a:t>Generally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be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used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to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implement</a:t>
            </a:r>
            <a:r>
              <a:rPr dirty="0" sz="2500" spc="10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periodic</a:t>
            </a:r>
            <a:r>
              <a:rPr dirty="0" sz="2500" spc="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or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timeout </a:t>
            </a:r>
            <a:r>
              <a:rPr dirty="0" sz="2500" spc="-10">
                <a:latin typeface="Arial"/>
                <a:cs typeface="Arial"/>
              </a:rPr>
              <a:t>behavior.</a:t>
            </a:r>
            <a:endParaRPr sz="2500">
              <a:latin typeface="Arial"/>
              <a:cs typeface="Arial"/>
            </a:endParaRPr>
          </a:p>
          <a:p>
            <a:pPr marL="382270" indent="-369570">
              <a:lnSpc>
                <a:spcPct val="100000"/>
              </a:lnSpc>
              <a:spcBef>
                <a:spcPts val="220"/>
              </a:spcBef>
              <a:buChar char="•"/>
              <a:tabLst>
                <a:tab pos="382270" algn="l"/>
              </a:tabLst>
            </a:pPr>
            <a:r>
              <a:rPr dirty="0" sz="2850" spc="80">
                <a:latin typeface="Calibri"/>
                <a:cs typeface="Calibri"/>
              </a:rPr>
              <a:t>Synchronization</a:t>
            </a:r>
            <a:r>
              <a:rPr dirty="0" sz="2850" spc="235">
                <a:latin typeface="Calibri"/>
                <a:cs typeface="Calibri"/>
              </a:rPr>
              <a:t> </a:t>
            </a:r>
            <a:r>
              <a:rPr dirty="0" sz="2850" spc="60">
                <a:latin typeface="Calibri"/>
                <a:cs typeface="Calibri"/>
              </a:rPr>
              <a:t>events</a:t>
            </a:r>
            <a:endParaRPr sz="2850">
              <a:latin typeface="Calibri"/>
              <a:cs typeface="Calibri"/>
            </a:endParaRPr>
          </a:p>
          <a:p>
            <a:pPr lvl="1" marL="772160" marR="5080" indent="-330200">
              <a:lnSpc>
                <a:spcPts val="2600"/>
              </a:lnSpc>
              <a:spcBef>
                <a:spcPts val="655"/>
              </a:spcBef>
              <a:buChar char="—"/>
              <a:tabLst>
                <a:tab pos="777240" algn="l"/>
              </a:tabLst>
            </a:pPr>
            <a:r>
              <a:rPr dirty="0" sz="2500" spc="-35">
                <a:latin typeface="Arial"/>
                <a:cs typeface="Arial"/>
              </a:rPr>
              <a:t>Occur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when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task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or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ISR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sends</a:t>
            </a:r>
            <a:r>
              <a:rPr dirty="0" sz="2500" spc="-5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info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7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queue</a:t>
            </a:r>
            <a:r>
              <a:rPr dirty="0" sz="2500" spc="-8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or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to </a:t>
            </a:r>
            <a:r>
              <a:rPr dirty="0" sz="2500" spc="-25">
                <a:latin typeface="Arial"/>
                <a:cs typeface="Arial"/>
              </a:rPr>
              <a:t>	</a:t>
            </a:r>
            <a:r>
              <a:rPr dirty="0" sz="2500" spc="-45">
                <a:latin typeface="Arial"/>
                <a:cs typeface="Arial"/>
              </a:rPr>
              <a:t>one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the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many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types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semaphore.</a:t>
            </a:r>
            <a:endParaRPr sz="2500">
              <a:latin typeface="Arial"/>
              <a:cs typeface="Arial"/>
            </a:endParaRPr>
          </a:p>
          <a:p>
            <a:pPr lvl="1" marL="770890" indent="-330200">
              <a:lnSpc>
                <a:spcPts val="2790"/>
              </a:lnSpc>
              <a:spcBef>
                <a:spcPts val="180"/>
              </a:spcBef>
              <a:buClr>
                <a:srgbClr val="131313"/>
              </a:buClr>
              <a:buChar char="—"/>
              <a:tabLst>
                <a:tab pos="770890" algn="l"/>
              </a:tabLst>
            </a:pPr>
            <a:r>
              <a:rPr dirty="0" sz="2500" spc="-55">
                <a:latin typeface="Arial"/>
                <a:cs typeface="Arial"/>
              </a:rPr>
              <a:t>Generally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be</a:t>
            </a:r>
            <a:r>
              <a:rPr dirty="0" sz="2500" spc="-16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used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signal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asynchronous</a:t>
            </a:r>
            <a:r>
              <a:rPr dirty="0" sz="2500" spc="13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activity,</a:t>
            </a:r>
            <a:endParaRPr sz="2500">
              <a:latin typeface="Arial"/>
              <a:cs typeface="Arial"/>
            </a:endParaRPr>
          </a:p>
          <a:p>
            <a:pPr marL="778510">
              <a:lnSpc>
                <a:spcPts val="2730"/>
              </a:lnSpc>
            </a:pPr>
            <a:r>
              <a:rPr dirty="0" sz="2450" spc="-10">
                <a:latin typeface="Arial"/>
                <a:cs typeface="Arial"/>
              </a:rPr>
              <a:t>such</a:t>
            </a:r>
            <a:r>
              <a:rPr dirty="0" sz="2450" spc="-8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as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data</a:t>
            </a:r>
            <a:r>
              <a:rPr dirty="0" sz="2450" spc="-165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arriving</a:t>
            </a:r>
            <a:r>
              <a:rPr dirty="0" sz="2450" spc="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at</a:t>
            </a:r>
            <a:r>
              <a:rPr dirty="0" sz="2450" spc="-10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</a:t>
            </a:r>
            <a:r>
              <a:rPr dirty="0" sz="2450" spc="-16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peripheral.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6282" y="6462413"/>
            <a:ext cx="172720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0"/>
              </a:lnSpc>
            </a:pPr>
            <a:r>
              <a:rPr dirty="0" sz="1150" spc="-40">
                <a:latin typeface="Consolas"/>
                <a:cs typeface="Consolas"/>
              </a:rPr>
              <a:t>79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065" marR="5080" indent="3175">
              <a:lnSpc>
                <a:spcPts val="3870"/>
              </a:lnSpc>
              <a:spcBef>
                <a:spcPts val="250"/>
              </a:spcBef>
            </a:pPr>
            <a:r>
              <a:rPr dirty="0" sz="3250" spc="70">
                <a:solidFill>
                  <a:srgbClr val="082660"/>
                </a:solidFill>
              </a:rPr>
              <a:t>Execution</a:t>
            </a:r>
            <a:r>
              <a:rPr dirty="0" sz="3250" spc="185">
                <a:solidFill>
                  <a:srgbClr val="082660"/>
                </a:solidFill>
              </a:rPr>
              <a:t> </a:t>
            </a:r>
            <a:r>
              <a:rPr dirty="0" sz="3250" spc="65">
                <a:solidFill>
                  <a:srgbClr val="082A6E"/>
                </a:solidFill>
              </a:rPr>
              <a:t>pattern</a:t>
            </a:r>
            <a:r>
              <a:rPr dirty="0" sz="3250" spc="170">
                <a:solidFill>
                  <a:srgbClr val="082A6E"/>
                </a:solidFill>
              </a:rPr>
              <a:t> </a:t>
            </a:r>
            <a:r>
              <a:rPr dirty="0" sz="3250" spc="125">
                <a:solidFill>
                  <a:srgbClr val="072360"/>
                </a:solidFill>
              </a:rPr>
              <a:t>with</a:t>
            </a:r>
            <a:r>
              <a:rPr dirty="0" sz="3250" spc="20">
                <a:solidFill>
                  <a:srgbClr val="072360"/>
                </a:solidFill>
              </a:rPr>
              <a:t> </a:t>
            </a:r>
            <a:r>
              <a:rPr dirty="0" sz="3250" spc="50">
                <a:solidFill>
                  <a:srgbClr val="001F62"/>
                </a:solidFill>
              </a:rPr>
              <a:t>pre-emption </a:t>
            </a:r>
            <a:r>
              <a:rPr dirty="0" sz="3250" spc="130">
                <a:solidFill>
                  <a:srgbClr val="07216B"/>
                </a:solidFill>
              </a:rPr>
              <a:t>points</a:t>
            </a:r>
            <a:r>
              <a:rPr dirty="0" sz="3250" spc="55">
                <a:solidFill>
                  <a:srgbClr val="07216B"/>
                </a:solidFill>
              </a:rPr>
              <a:t> </a:t>
            </a:r>
            <a:r>
              <a:rPr dirty="0" sz="3250" spc="85">
                <a:solidFill>
                  <a:srgbClr val="051A5D"/>
                </a:solidFill>
              </a:rPr>
              <a:t>highlighted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1664149" y="5649714"/>
            <a:ext cx="3598545" cy="850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15"/>
              </a:lnSpc>
              <a:spcBef>
                <a:spcPts val="105"/>
              </a:spcBef>
            </a:pPr>
            <a:r>
              <a:rPr dirty="0" sz="1850" spc="-30">
                <a:latin typeface="Calibri"/>
                <a:cs typeface="Calibri"/>
              </a:rPr>
              <a:t>Event</a:t>
            </a:r>
            <a:r>
              <a:rPr dirty="0" sz="1850" spc="-15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for</a:t>
            </a:r>
            <a:r>
              <a:rPr dirty="0" sz="1850" spc="-65">
                <a:latin typeface="Calibri"/>
                <a:cs typeface="Calibri"/>
              </a:rPr>
              <a:t> </a:t>
            </a:r>
            <a:r>
              <a:rPr dirty="0" sz="1850" spc="-60">
                <a:latin typeface="Calibri"/>
                <a:cs typeface="Calibri"/>
              </a:rPr>
              <a:t>Task</a:t>
            </a:r>
            <a:r>
              <a:rPr dirty="0" sz="1850" spc="-3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1</a:t>
            </a:r>
            <a:r>
              <a:rPr dirty="0" sz="1850" spc="-85">
                <a:latin typeface="Calibri"/>
                <a:cs typeface="Calibri"/>
              </a:rPr>
              <a:t> </a:t>
            </a:r>
            <a:r>
              <a:rPr dirty="0" sz="1850" spc="-25">
                <a:latin typeface="Calibri"/>
                <a:cs typeface="Calibri"/>
              </a:rPr>
              <a:t>occur</a:t>
            </a:r>
            <a:r>
              <a:rPr dirty="0" sz="1850" spc="35">
                <a:latin typeface="Calibri"/>
                <a:cs typeface="Calibri"/>
              </a:rPr>
              <a:t> </a:t>
            </a:r>
            <a:r>
              <a:rPr dirty="0" sz="1850" spc="-35">
                <a:latin typeface="Calibri"/>
                <a:cs typeface="Calibri"/>
              </a:rPr>
              <a:t>at</a:t>
            </a:r>
            <a:r>
              <a:rPr dirty="0" sz="1850" spc="-4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:</a:t>
            </a:r>
            <a:r>
              <a:rPr dirty="0" sz="1850" spc="-105">
                <a:latin typeface="Calibri"/>
                <a:cs typeface="Calibri"/>
              </a:rPr>
              <a:t> </a:t>
            </a:r>
            <a:r>
              <a:rPr dirty="0" sz="1850" spc="-25">
                <a:latin typeface="Calibri"/>
                <a:cs typeface="Calibri"/>
              </a:rPr>
              <a:t>t11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95"/>
              </a:lnSpc>
            </a:pPr>
            <a:r>
              <a:rPr dirty="0" sz="1750">
                <a:latin typeface="Calibri"/>
                <a:cs typeface="Calibri"/>
              </a:rPr>
              <a:t>Task2</a:t>
            </a:r>
            <a:r>
              <a:rPr dirty="0" sz="1750" spc="7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is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released</a:t>
            </a:r>
            <a:r>
              <a:rPr dirty="0" sz="1750" spc="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at</a:t>
            </a:r>
            <a:r>
              <a:rPr dirty="0" sz="1750" spc="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:</a:t>
            </a:r>
            <a:r>
              <a:rPr dirty="0" sz="1750" spc="10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t1,</a:t>
            </a:r>
            <a:r>
              <a:rPr dirty="0" sz="1750" spc="2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t6,</a:t>
            </a:r>
            <a:r>
              <a:rPr dirty="0" sz="1750" spc="15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t9</a:t>
            </a:r>
            <a:endParaRPr sz="175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80"/>
              </a:spcBef>
            </a:pPr>
            <a:r>
              <a:rPr dirty="0" sz="1750">
                <a:latin typeface="Calibri"/>
                <a:cs typeface="Calibri"/>
              </a:rPr>
              <a:t>Event</a:t>
            </a:r>
            <a:r>
              <a:rPr dirty="0" sz="1750" spc="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for Task</a:t>
            </a:r>
            <a:r>
              <a:rPr dirty="0" sz="1750" spc="-5">
                <a:latin typeface="Calibri"/>
                <a:cs typeface="Calibri"/>
              </a:rPr>
              <a:t> </a:t>
            </a:r>
            <a:r>
              <a:rPr dirty="0" sz="1750" spc="75">
                <a:latin typeface="Calibri"/>
                <a:cs typeface="Calibri"/>
              </a:rPr>
              <a:t>3</a:t>
            </a:r>
            <a:r>
              <a:rPr dirty="0" sz="1750" spc="-4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occur</a:t>
            </a:r>
            <a:r>
              <a:rPr dirty="0" sz="1750" spc="8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at:</a:t>
            </a:r>
            <a:r>
              <a:rPr dirty="0" sz="1750" spc="1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t3,</a:t>
            </a:r>
            <a:r>
              <a:rPr dirty="0" sz="1750" spc="2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t5,</a:t>
            </a:r>
            <a:r>
              <a:rPr dirty="0" sz="1750" spc="2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t9,</a:t>
            </a:r>
            <a:r>
              <a:rPr dirty="0" sz="1750" spc="35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t12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200"/>
              </a:lnSpc>
            </a:pPr>
            <a:r>
              <a:rPr dirty="0" spc="-25"/>
              <a:t>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36" y="1243849"/>
            <a:ext cx="7694295" cy="222821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just" marL="353060" indent="-340360">
              <a:lnSpc>
                <a:spcPct val="100000"/>
              </a:lnSpc>
              <a:spcBef>
                <a:spcPts val="555"/>
              </a:spcBef>
              <a:buChar char="•"/>
              <a:tabLst>
                <a:tab pos="353060" algn="l"/>
              </a:tabLst>
            </a:pPr>
            <a:r>
              <a:rPr dirty="0" sz="3150" spc="-50">
                <a:latin typeface="Arial"/>
                <a:cs typeface="Arial"/>
              </a:rPr>
              <a:t>Idle</a:t>
            </a:r>
            <a:r>
              <a:rPr dirty="0" sz="3150" spc="-150">
                <a:latin typeface="Arial"/>
                <a:cs typeface="Arial"/>
              </a:rPr>
              <a:t> </a:t>
            </a:r>
            <a:r>
              <a:rPr dirty="0" sz="3150" spc="-20">
                <a:latin typeface="Arial"/>
                <a:cs typeface="Arial"/>
              </a:rPr>
              <a:t>task</a:t>
            </a:r>
            <a:endParaRPr sz="3150">
              <a:latin typeface="Arial"/>
              <a:cs typeface="Arial"/>
            </a:endParaRPr>
          </a:p>
          <a:p>
            <a:pPr algn="just" lvl="1" marL="748030" marR="5080" indent="-361950">
              <a:lnSpc>
                <a:spcPct val="97000"/>
              </a:lnSpc>
              <a:spcBef>
                <a:spcPts val="515"/>
              </a:spcBef>
              <a:buChar char="—"/>
              <a:tabLst>
                <a:tab pos="753110" algn="l"/>
              </a:tabLst>
            </a:pPr>
            <a:r>
              <a:rPr dirty="0" sz="2750" spc="-60">
                <a:latin typeface="Arial"/>
                <a:cs typeface="Arial"/>
              </a:rPr>
              <a:t>The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 spc="-40">
                <a:latin typeface="Arial"/>
                <a:cs typeface="Arial"/>
              </a:rPr>
              <a:t>idle</a:t>
            </a:r>
            <a:r>
              <a:rPr dirty="0" sz="2750" spc="-150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task</a:t>
            </a:r>
            <a:r>
              <a:rPr dirty="0" sz="2750" spc="-1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is</a:t>
            </a:r>
            <a:r>
              <a:rPr dirty="0" sz="2750" spc="-175">
                <a:latin typeface="Arial"/>
                <a:cs typeface="Arial"/>
              </a:rPr>
              <a:t> </a:t>
            </a:r>
            <a:r>
              <a:rPr dirty="0" sz="2750" spc="-60">
                <a:latin typeface="Arial"/>
                <a:cs typeface="Arial"/>
              </a:rPr>
              <a:t>running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at</a:t>
            </a:r>
            <a:r>
              <a:rPr dirty="0" sz="2750" spc="-170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the</a:t>
            </a:r>
            <a:r>
              <a:rPr dirty="0" sz="2750" spc="-16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lowest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priority,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so </a:t>
            </a:r>
            <a:r>
              <a:rPr dirty="0" sz="2750" spc="-25">
                <a:latin typeface="Arial"/>
                <a:cs typeface="Arial"/>
              </a:rPr>
              <a:t>	</a:t>
            </a:r>
            <a:r>
              <a:rPr dirty="0" sz="2700" spc="-40">
                <a:latin typeface="Arial"/>
                <a:cs typeface="Arial"/>
              </a:rPr>
              <a:t>get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65">
                <a:latin typeface="Arial"/>
                <a:cs typeface="Arial"/>
              </a:rPr>
              <a:t>pre-</a:t>
            </a:r>
            <a:r>
              <a:rPr dirty="0" sz="2700" spc="-25">
                <a:latin typeface="Arial"/>
                <a:cs typeface="Arial"/>
              </a:rPr>
              <a:t>empted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every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time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higher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priority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task </a:t>
            </a:r>
            <a:r>
              <a:rPr dirty="0" sz="2700" spc="-20">
                <a:latin typeface="Arial"/>
                <a:cs typeface="Arial"/>
              </a:rPr>
              <a:t>	</a:t>
            </a:r>
            <a:r>
              <a:rPr dirty="0" sz="2700" spc="-35">
                <a:latin typeface="Arial"/>
                <a:cs typeface="Arial"/>
              </a:rPr>
              <a:t>enters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Ready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state</a:t>
            </a:r>
            <a:endParaRPr sz="2700">
              <a:latin typeface="Arial"/>
              <a:cs typeface="Arial"/>
            </a:endParaRPr>
          </a:p>
          <a:p>
            <a:pPr lvl="2" marL="1153795" indent="-233045">
              <a:lnSpc>
                <a:spcPct val="100000"/>
              </a:lnSpc>
              <a:spcBef>
                <a:spcPts val="409"/>
              </a:spcBef>
              <a:buChar char="•"/>
              <a:tabLst>
                <a:tab pos="1153795" algn="l"/>
              </a:tabLst>
            </a:pPr>
            <a:r>
              <a:rPr dirty="0" sz="2250">
                <a:latin typeface="Arial"/>
                <a:cs typeface="Arial"/>
              </a:rPr>
              <a:t>E.g.,</a:t>
            </a:r>
            <a:r>
              <a:rPr dirty="0" sz="2250" spc="-9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at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times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t3,t5,t9.</a:t>
            </a:r>
            <a:endParaRPr sz="22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200"/>
              </a:lnSpc>
            </a:pPr>
            <a:r>
              <a:rPr dirty="0" spc="-25"/>
              <a:t>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003" y="547766"/>
            <a:ext cx="8034655" cy="587946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just" marL="352425" indent="-339725">
              <a:lnSpc>
                <a:spcPct val="100000"/>
              </a:lnSpc>
              <a:spcBef>
                <a:spcPts val="760"/>
              </a:spcBef>
              <a:buChar char="•"/>
              <a:tabLst>
                <a:tab pos="352425" algn="l"/>
              </a:tabLst>
            </a:pPr>
            <a:r>
              <a:rPr dirty="0" sz="2800" spc="-60">
                <a:latin typeface="Arial"/>
                <a:cs typeface="Arial"/>
              </a:rPr>
              <a:t>Task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  <a:p>
            <a:pPr algn="just" lvl="1" marL="770890" indent="-323850">
              <a:lnSpc>
                <a:spcPct val="100000"/>
              </a:lnSpc>
              <a:spcBef>
                <a:spcPts val="540"/>
              </a:spcBef>
              <a:buChar char="—"/>
              <a:tabLst>
                <a:tab pos="770890" algn="l"/>
              </a:tabLst>
            </a:pPr>
            <a:r>
              <a:rPr dirty="0" sz="2450" spc="-50">
                <a:latin typeface="Arial"/>
                <a:cs typeface="Arial"/>
              </a:rPr>
              <a:t>An</a:t>
            </a:r>
            <a:r>
              <a:rPr dirty="0" sz="2450" spc="-120">
                <a:latin typeface="Arial"/>
                <a:cs typeface="Arial"/>
              </a:rPr>
              <a:t> </a:t>
            </a:r>
            <a:r>
              <a:rPr dirty="0" sz="2450" spc="-70">
                <a:latin typeface="Arial"/>
                <a:cs typeface="Arial"/>
              </a:rPr>
              <a:t>event-</a:t>
            </a:r>
            <a:r>
              <a:rPr dirty="0" sz="2450" spc="-10">
                <a:latin typeface="Arial"/>
                <a:cs typeface="Arial"/>
              </a:rPr>
              <a:t>driven</a:t>
            </a:r>
            <a:r>
              <a:rPr dirty="0" sz="2450" spc="8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task</a:t>
            </a:r>
            <a:endParaRPr sz="2450">
              <a:latin typeface="Arial"/>
              <a:cs typeface="Arial"/>
            </a:endParaRPr>
          </a:p>
          <a:p>
            <a:pPr algn="just" lvl="2" marL="1162685" indent="-234315">
              <a:lnSpc>
                <a:spcPct val="100000"/>
              </a:lnSpc>
              <a:spcBef>
                <a:spcPts val="365"/>
              </a:spcBef>
              <a:buChar char="•"/>
              <a:tabLst>
                <a:tab pos="1162685" algn="l"/>
              </a:tabLst>
            </a:pPr>
            <a:r>
              <a:rPr dirty="0" sz="2100" spc="-50">
                <a:latin typeface="Arial"/>
                <a:cs typeface="Arial"/>
              </a:rPr>
              <a:t>Execute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with</a:t>
            </a:r>
            <a:r>
              <a:rPr dirty="0" sz="2100" spc="-12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a</a:t>
            </a:r>
            <a:r>
              <a:rPr dirty="0" sz="2100" spc="-15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low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priority,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but</a:t>
            </a:r>
            <a:r>
              <a:rPr dirty="0" sz="2100" spc="-140">
                <a:latin typeface="Arial"/>
                <a:cs typeface="Arial"/>
              </a:rPr>
              <a:t> </a:t>
            </a:r>
            <a:r>
              <a:rPr dirty="0" sz="2100" spc="-40">
                <a:latin typeface="Arial"/>
                <a:cs typeface="Arial"/>
              </a:rPr>
              <a:t>above</a:t>
            </a:r>
            <a:r>
              <a:rPr dirty="0" sz="2100" spc="-5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the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Idle</a:t>
            </a:r>
            <a:r>
              <a:rPr dirty="0" sz="2100" spc="-75">
                <a:latin typeface="Arial"/>
                <a:cs typeface="Arial"/>
              </a:rPr>
              <a:t> </a:t>
            </a:r>
            <a:r>
              <a:rPr dirty="0" sz="2100" spc="-60">
                <a:latin typeface="Arial"/>
                <a:cs typeface="Arial"/>
              </a:rPr>
              <a:t>task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priority.</a:t>
            </a:r>
            <a:endParaRPr sz="2100">
              <a:latin typeface="Arial"/>
              <a:cs typeface="Arial"/>
            </a:endParaRPr>
          </a:p>
          <a:p>
            <a:pPr algn="just" lvl="1" marL="760730" marR="138430" indent="-330200">
              <a:lnSpc>
                <a:spcPts val="2880"/>
              </a:lnSpc>
              <a:spcBef>
                <a:spcPts val="650"/>
              </a:spcBef>
              <a:buChar char="—"/>
              <a:tabLst>
                <a:tab pos="760730" algn="l"/>
              </a:tabLst>
            </a:pPr>
            <a:r>
              <a:rPr dirty="0" sz="2500">
                <a:latin typeface="Arial"/>
                <a:cs typeface="Arial"/>
              </a:rPr>
              <a:t>It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spends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most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its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time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the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Blocked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state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waiting </a:t>
            </a:r>
            <a:r>
              <a:rPr dirty="0" sz="2500" spc="-20">
                <a:latin typeface="Arial"/>
                <a:cs typeface="Arial"/>
              </a:rPr>
              <a:t>for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event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interest,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transitioning</a:t>
            </a:r>
            <a:r>
              <a:rPr dirty="0" sz="2500" spc="25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from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Blocked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to </a:t>
            </a:r>
            <a:r>
              <a:rPr dirty="0" sz="2500" spc="-60">
                <a:latin typeface="Arial"/>
                <a:cs typeface="Arial"/>
              </a:rPr>
              <a:t>Ready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state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each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30">
                <a:latin typeface="Arial"/>
                <a:cs typeface="Arial"/>
              </a:rPr>
              <a:t>time</a:t>
            </a:r>
            <a:r>
              <a:rPr dirty="0" sz="2500" spc="-1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event </a:t>
            </a:r>
            <a:r>
              <a:rPr dirty="0" sz="2500" spc="-10">
                <a:latin typeface="Arial"/>
                <a:cs typeface="Arial"/>
              </a:rPr>
              <a:t>occurs.</a:t>
            </a:r>
            <a:endParaRPr sz="2500">
              <a:latin typeface="Arial"/>
              <a:cs typeface="Arial"/>
            </a:endParaRPr>
          </a:p>
          <a:p>
            <a:pPr lvl="2" marL="1156970" marR="5080" indent="-229235">
              <a:lnSpc>
                <a:spcPct val="92100"/>
              </a:lnSpc>
              <a:spcBef>
                <a:spcPts val="434"/>
              </a:spcBef>
              <a:buChar char="•"/>
              <a:tabLst>
                <a:tab pos="1156970" algn="l"/>
                <a:tab pos="1165860" algn="l"/>
              </a:tabLst>
            </a:pP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80">
                <a:latin typeface="Arial"/>
                <a:cs typeface="Arial"/>
              </a:rPr>
              <a:t>All </a:t>
            </a:r>
            <a:r>
              <a:rPr dirty="0" sz="2150" spc="-120">
                <a:latin typeface="Arial"/>
                <a:cs typeface="Arial"/>
              </a:rPr>
              <a:t>FreeRTOS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90">
                <a:latin typeface="Arial"/>
                <a:cs typeface="Arial"/>
              </a:rPr>
              <a:t>inter-</a:t>
            </a:r>
            <a:r>
              <a:rPr dirty="0" sz="2150" spc="-40">
                <a:latin typeface="Arial"/>
                <a:cs typeface="Arial"/>
              </a:rPr>
              <a:t>task</a:t>
            </a:r>
            <a:r>
              <a:rPr dirty="0" sz="2150" spc="-5">
                <a:latin typeface="Arial"/>
                <a:cs typeface="Arial"/>
              </a:rPr>
              <a:t> </a:t>
            </a:r>
            <a:r>
              <a:rPr dirty="0" sz="2150" spc="-95">
                <a:latin typeface="Arial"/>
                <a:cs typeface="Arial"/>
              </a:rPr>
              <a:t>communication</a:t>
            </a:r>
            <a:r>
              <a:rPr dirty="0" sz="215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mechanisms </a:t>
            </a:r>
            <a:r>
              <a:rPr dirty="0" sz="2250" spc="-140">
                <a:latin typeface="Arial"/>
                <a:cs typeface="Arial"/>
              </a:rPr>
              <a:t>(queues,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 spc="-160">
                <a:latin typeface="Arial"/>
                <a:cs typeface="Arial"/>
              </a:rPr>
              <a:t>semaphores,</a:t>
            </a:r>
            <a:r>
              <a:rPr dirty="0" sz="2250" spc="45">
                <a:latin typeface="Arial"/>
                <a:cs typeface="Arial"/>
              </a:rPr>
              <a:t> </a:t>
            </a:r>
            <a:r>
              <a:rPr dirty="0" sz="2250" spc="-120">
                <a:latin typeface="Arial"/>
                <a:cs typeface="Arial"/>
              </a:rPr>
              <a:t>etc.)</a:t>
            </a:r>
            <a:r>
              <a:rPr dirty="0" sz="2250" spc="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can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 spc="-165">
                <a:latin typeface="Arial"/>
                <a:cs typeface="Arial"/>
              </a:rPr>
              <a:t>be</a:t>
            </a:r>
            <a:r>
              <a:rPr dirty="0" sz="2250" spc="-10">
                <a:latin typeface="Arial"/>
                <a:cs typeface="Arial"/>
              </a:rPr>
              <a:t> </a:t>
            </a:r>
            <a:r>
              <a:rPr dirty="0" sz="2250" spc="-180">
                <a:latin typeface="Arial"/>
                <a:cs typeface="Arial"/>
              </a:rPr>
              <a:t>used</a:t>
            </a:r>
            <a:r>
              <a:rPr dirty="0" sz="2250" spc="20">
                <a:latin typeface="Arial"/>
                <a:cs typeface="Arial"/>
              </a:rPr>
              <a:t> </a:t>
            </a:r>
            <a:r>
              <a:rPr dirty="0" sz="2250" spc="-150">
                <a:latin typeface="Arial"/>
                <a:cs typeface="Arial"/>
              </a:rPr>
              <a:t>to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 spc="-140">
                <a:latin typeface="Arial"/>
                <a:cs typeface="Arial"/>
              </a:rPr>
              <a:t>signal</a:t>
            </a:r>
            <a:r>
              <a:rPr dirty="0" sz="2250" spc="-10">
                <a:latin typeface="Arial"/>
                <a:cs typeface="Arial"/>
              </a:rPr>
              <a:t> </a:t>
            </a:r>
            <a:r>
              <a:rPr dirty="0" sz="2250" spc="-140">
                <a:latin typeface="Arial"/>
                <a:cs typeface="Arial"/>
              </a:rPr>
              <a:t>events</a:t>
            </a:r>
            <a:r>
              <a:rPr dirty="0" sz="2250" spc="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and </a:t>
            </a:r>
            <a:r>
              <a:rPr dirty="0" sz="2100" spc="-40">
                <a:latin typeface="Arial"/>
                <a:cs typeface="Arial"/>
              </a:rPr>
              <a:t>unblock</a:t>
            </a:r>
            <a:r>
              <a:rPr dirty="0" sz="2100" spc="-4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tasks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in</a:t>
            </a:r>
            <a:r>
              <a:rPr dirty="0" sz="2100" spc="-14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this</a:t>
            </a:r>
            <a:r>
              <a:rPr dirty="0" sz="2100" spc="-5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way.</a:t>
            </a:r>
            <a:endParaRPr sz="2100">
              <a:latin typeface="Arial"/>
              <a:cs typeface="Arial"/>
            </a:endParaRPr>
          </a:p>
          <a:p>
            <a:pPr lvl="1" marL="765175" indent="-330200">
              <a:lnSpc>
                <a:spcPct val="100000"/>
              </a:lnSpc>
              <a:spcBef>
                <a:spcPts val="455"/>
              </a:spcBef>
              <a:buChar char="—"/>
              <a:tabLst>
                <a:tab pos="765175" algn="l"/>
              </a:tabLst>
            </a:pPr>
            <a:r>
              <a:rPr dirty="0" sz="2500" spc="-50">
                <a:latin typeface="Arial"/>
                <a:cs typeface="Arial"/>
              </a:rPr>
              <a:t>Event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occur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at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t3,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t5,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and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also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45">
                <a:latin typeface="Arial"/>
                <a:cs typeface="Arial"/>
              </a:rPr>
              <a:t>between</a:t>
            </a:r>
            <a:r>
              <a:rPr dirty="0" sz="2500" spc="-2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t9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and</a:t>
            </a:r>
            <a:r>
              <a:rPr dirty="0" sz="2500" spc="-15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t12.</a:t>
            </a:r>
            <a:endParaRPr sz="2500">
              <a:latin typeface="Arial"/>
              <a:cs typeface="Arial"/>
            </a:endParaRPr>
          </a:p>
          <a:p>
            <a:pPr lvl="2" marL="1159510" indent="-231775">
              <a:lnSpc>
                <a:spcPts val="2510"/>
              </a:lnSpc>
              <a:spcBef>
                <a:spcPts val="305"/>
              </a:spcBef>
              <a:buChar char="•"/>
              <a:tabLst>
                <a:tab pos="1159510" algn="l"/>
              </a:tabLst>
            </a:pPr>
            <a:r>
              <a:rPr dirty="0" sz="2150" spc="-114">
                <a:latin typeface="Arial"/>
                <a:cs typeface="Arial"/>
              </a:rPr>
              <a:t>The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events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occurring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at</a:t>
            </a:r>
            <a:r>
              <a:rPr dirty="0" sz="2150" spc="-4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t3</a:t>
            </a:r>
            <a:r>
              <a:rPr dirty="0" sz="2150" spc="-40">
                <a:latin typeface="Arial"/>
                <a:cs typeface="Arial"/>
              </a:rPr>
              <a:t> </a:t>
            </a:r>
            <a:r>
              <a:rPr dirty="0" sz="2150" spc="-125">
                <a:latin typeface="Arial"/>
                <a:cs typeface="Arial"/>
              </a:rPr>
              <a:t>and</a:t>
            </a:r>
            <a:r>
              <a:rPr dirty="0" sz="2150" spc="-20">
                <a:latin typeface="Arial"/>
                <a:cs typeface="Arial"/>
              </a:rPr>
              <a:t> </a:t>
            </a:r>
            <a:r>
              <a:rPr dirty="0" sz="2150" spc="-65">
                <a:latin typeface="Arial"/>
                <a:cs typeface="Arial"/>
              </a:rPr>
              <a:t>t5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are</a:t>
            </a:r>
            <a:r>
              <a:rPr dirty="0" sz="2150" spc="-50">
                <a:latin typeface="Arial"/>
                <a:cs typeface="Arial"/>
              </a:rPr>
              <a:t> </a:t>
            </a:r>
            <a:r>
              <a:rPr dirty="0" sz="2150" spc="-100">
                <a:latin typeface="Arial"/>
                <a:cs typeface="Arial"/>
              </a:rPr>
              <a:t>processed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immediately</a:t>
            </a:r>
            <a:endParaRPr sz="2150">
              <a:latin typeface="Arial"/>
              <a:cs typeface="Arial"/>
            </a:endParaRPr>
          </a:p>
          <a:p>
            <a:pPr marL="1164590">
              <a:lnSpc>
                <a:spcPts val="2450"/>
              </a:lnSpc>
            </a:pPr>
            <a:r>
              <a:rPr dirty="0" sz="2100" spc="-50">
                <a:latin typeface="Arial"/>
                <a:cs typeface="Arial"/>
              </a:rPr>
              <a:t>as</a:t>
            </a:r>
            <a:r>
              <a:rPr dirty="0" sz="2100" spc="-10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it</a:t>
            </a:r>
            <a:r>
              <a:rPr dirty="0" sz="2100" spc="-14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150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the</a:t>
            </a:r>
            <a:r>
              <a:rPr dirty="0" sz="2100" spc="-11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highest</a:t>
            </a:r>
            <a:r>
              <a:rPr dirty="0" sz="2100" spc="-50">
                <a:latin typeface="Arial"/>
                <a:cs typeface="Arial"/>
              </a:rPr>
              <a:t> </a:t>
            </a:r>
            <a:r>
              <a:rPr dirty="0" sz="2100" spc="-30">
                <a:latin typeface="Arial"/>
                <a:cs typeface="Arial"/>
              </a:rPr>
              <a:t>priority</a:t>
            </a:r>
            <a:r>
              <a:rPr dirty="0" sz="2100" spc="-1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task</a:t>
            </a:r>
            <a:r>
              <a:rPr dirty="0" sz="2100" spc="-5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that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130">
                <a:latin typeface="Arial"/>
                <a:cs typeface="Arial"/>
              </a:rPr>
              <a:t> </a:t>
            </a:r>
            <a:r>
              <a:rPr dirty="0" sz="2100" spc="-40">
                <a:latin typeface="Arial"/>
                <a:cs typeface="Arial"/>
              </a:rPr>
              <a:t>able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to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run.</a:t>
            </a:r>
            <a:endParaRPr sz="2100">
              <a:latin typeface="Arial"/>
              <a:cs typeface="Arial"/>
            </a:endParaRPr>
          </a:p>
          <a:p>
            <a:pPr lvl="2" marL="1156335" marR="203200" indent="-228600">
              <a:lnSpc>
                <a:spcPct val="95200"/>
              </a:lnSpc>
              <a:spcBef>
                <a:spcPts val="484"/>
              </a:spcBef>
              <a:buChar char="•"/>
              <a:tabLst>
                <a:tab pos="1156335" algn="l"/>
                <a:tab pos="1159510" algn="l"/>
              </a:tabLst>
            </a:pPr>
            <a:r>
              <a:rPr dirty="0" sz="2100">
                <a:latin typeface="Arial"/>
                <a:cs typeface="Arial"/>
              </a:rPr>
              <a:t>	</a:t>
            </a:r>
            <a:r>
              <a:rPr dirty="0" sz="2100" spc="-45">
                <a:latin typeface="Arial"/>
                <a:cs typeface="Arial"/>
              </a:rPr>
              <a:t>The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event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occurring</a:t>
            </a:r>
            <a:r>
              <a:rPr dirty="0" sz="2100" spc="-30">
                <a:latin typeface="Arial"/>
                <a:cs typeface="Arial"/>
              </a:rPr>
              <a:t> </a:t>
            </a:r>
            <a:r>
              <a:rPr dirty="0" sz="2100" spc="-65">
                <a:latin typeface="Arial"/>
                <a:cs typeface="Arial"/>
              </a:rPr>
              <a:t>somewhere</a:t>
            </a:r>
            <a:r>
              <a:rPr dirty="0" sz="2100" spc="-70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between</a:t>
            </a:r>
            <a:r>
              <a:rPr dirty="0" sz="2100" spc="1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t9</a:t>
            </a:r>
            <a:r>
              <a:rPr dirty="0" sz="2100" spc="-110">
                <a:latin typeface="Arial"/>
                <a:cs typeface="Arial"/>
              </a:rPr>
              <a:t> </a:t>
            </a:r>
            <a:r>
              <a:rPr dirty="0" sz="2100" spc="-30">
                <a:latin typeface="Arial"/>
                <a:cs typeface="Arial"/>
              </a:rPr>
              <a:t>and</a:t>
            </a:r>
            <a:r>
              <a:rPr dirty="0" sz="2100" spc="-114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t12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is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not </a:t>
            </a:r>
            <a:r>
              <a:rPr dirty="0" sz="2150" spc="-85">
                <a:latin typeface="Arial"/>
                <a:cs typeface="Arial"/>
              </a:rPr>
              <a:t>processed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140">
                <a:latin typeface="Arial"/>
                <a:cs typeface="Arial"/>
              </a:rPr>
              <a:t>as</a:t>
            </a:r>
            <a:r>
              <a:rPr dirty="0" sz="2150" spc="-10">
                <a:latin typeface="Arial"/>
                <a:cs typeface="Arial"/>
              </a:rPr>
              <a:t> </a:t>
            </a:r>
            <a:r>
              <a:rPr dirty="0" sz="2150" spc="-70">
                <a:latin typeface="Arial"/>
                <a:cs typeface="Arial"/>
              </a:rPr>
              <a:t>until</a:t>
            </a:r>
            <a:r>
              <a:rPr dirty="0" sz="2150" spc="-80">
                <a:latin typeface="Arial"/>
                <a:cs typeface="Arial"/>
              </a:rPr>
              <a:t> </a:t>
            </a:r>
            <a:r>
              <a:rPr dirty="0" sz="2150" spc="-45">
                <a:latin typeface="Arial"/>
                <a:cs typeface="Arial"/>
              </a:rPr>
              <a:t>t12</a:t>
            </a:r>
            <a:r>
              <a:rPr dirty="0" sz="2150" spc="-105">
                <a:latin typeface="Arial"/>
                <a:cs typeface="Arial"/>
              </a:rPr>
              <a:t> </a:t>
            </a:r>
            <a:r>
              <a:rPr dirty="0" sz="2150" spc="-140">
                <a:latin typeface="Arial"/>
                <a:cs typeface="Arial"/>
              </a:rPr>
              <a:t>as</a:t>
            </a:r>
            <a:r>
              <a:rPr dirty="0" sz="2150" spc="-10">
                <a:latin typeface="Arial"/>
                <a:cs typeface="Arial"/>
              </a:rPr>
              <a:t> </a:t>
            </a:r>
            <a:r>
              <a:rPr dirty="0" sz="2150" spc="-60">
                <a:latin typeface="Arial"/>
                <a:cs typeface="Arial"/>
              </a:rPr>
              <a:t>until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then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 spc="-170">
                <a:latin typeface="Arial"/>
                <a:cs typeface="Arial"/>
              </a:rPr>
              <a:t>Task</a:t>
            </a:r>
            <a:r>
              <a:rPr dirty="0" sz="2150" spc="2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1</a:t>
            </a:r>
            <a:r>
              <a:rPr dirty="0" sz="2150" spc="15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and</a:t>
            </a:r>
            <a:r>
              <a:rPr dirty="0" sz="2150" spc="-4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2</a:t>
            </a:r>
            <a:r>
              <a:rPr dirty="0" sz="2150" spc="-120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are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still </a:t>
            </a:r>
            <a:r>
              <a:rPr dirty="0" sz="2100" spc="-45">
                <a:latin typeface="Arial"/>
                <a:cs typeface="Arial"/>
              </a:rPr>
              <a:t>running.</a:t>
            </a:r>
            <a:r>
              <a:rPr dirty="0" sz="2100" spc="-105">
                <a:latin typeface="Arial"/>
                <a:cs typeface="Arial"/>
              </a:rPr>
              <a:t> </a:t>
            </a:r>
            <a:r>
              <a:rPr dirty="0" sz="2100" spc="-55">
                <a:latin typeface="Arial"/>
                <a:cs typeface="Arial"/>
              </a:rPr>
              <a:t>They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enter</a:t>
            </a:r>
            <a:r>
              <a:rPr dirty="0" sz="2100" spc="-12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Blocked</a:t>
            </a:r>
            <a:r>
              <a:rPr dirty="0" sz="2100" spc="-50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state</a:t>
            </a:r>
            <a:r>
              <a:rPr dirty="0" sz="2100" spc="-60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at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20">
                <a:latin typeface="Arial"/>
                <a:cs typeface="Arial"/>
              </a:rPr>
              <a:t>t12,</a:t>
            </a:r>
            <a:r>
              <a:rPr dirty="0" sz="2100" spc="-80">
                <a:latin typeface="Arial"/>
                <a:cs typeface="Arial"/>
              </a:rPr>
              <a:t> </a:t>
            </a:r>
            <a:r>
              <a:rPr dirty="0" sz="2100" spc="-90">
                <a:latin typeface="Arial"/>
                <a:cs typeface="Arial"/>
              </a:rPr>
              <a:t>mahing</a:t>
            </a:r>
            <a:r>
              <a:rPr dirty="0" sz="2100" spc="-60">
                <a:latin typeface="Arial"/>
                <a:cs typeface="Arial"/>
              </a:rPr>
              <a:t> </a:t>
            </a:r>
            <a:r>
              <a:rPr dirty="0" sz="2100" spc="-140">
                <a:latin typeface="Arial"/>
                <a:cs typeface="Arial"/>
              </a:rPr>
              <a:t>Tash</a:t>
            </a:r>
            <a:r>
              <a:rPr dirty="0" sz="2100" spc="-70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3</a:t>
            </a:r>
            <a:r>
              <a:rPr dirty="0" sz="2100" spc="-14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the </a:t>
            </a:r>
            <a:r>
              <a:rPr dirty="0" sz="2050" spc="-20">
                <a:latin typeface="Arial"/>
                <a:cs typeface="Arial"/>
              </a:rPr>
              <a:t>highest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priority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Ready</a:t>
            </a:r>
            <a:r>
              <a:rPr dirty="0" sz="2050" spc="-9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state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task.</a:t>
            </a:r>
            <a:endParaRPr sz="2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6282" y="6424116"/>
            <a:ext cx="180975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>
                <a:latin typeface="Consolas"/>
                <a:cs typeface="Consolas"/>
              </a:rPr>
              <a:t>7B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094" y="1532988"/>
            <a:ext cx="7945120" cy="44024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35"/>
              </a:spcBef>
              <a:buChar char="•"/>
              <a:tabLst>
                <a:tab pos="354330" algn="l"/>
              </a:tabLst>
            </a:pPr>
            <a:r>
              <a:rPr dirty="0" sz="3050" spc="-95">
                <a:latin typeface="Arial"/>
                <a:cs typeface="Arial"/>
              </a:rPr>
              <a:t>Task</a:t>
            </a:r>
            <a:r>
              <a:rPr dirty="0" sz="3050" spc="-120">
                <a:latin typeface="Arial"/>
                <a:cs typeface="Arial"/>
              </a:rPr>
              <a:t> </a:t>
            </a:r>
            <a:r>
              <a:rPr dirty="0" sz="3050" spc="-50">
                <a:latin typeface="Arial"/>
                <a:cs typeface="Arial"/>
              </a:rPr>
              <a:t>2</a:t>
            </a:r>
            <a:endParaRPr sz="3050">
              <a:latin typeface="Arial"/>
              <a:cs typeface="Arial"/>
            </a:endParaRPr>
          </a:p>
          <a:p>
            <a:pPr lvl="1" marL="748030" marR="273685" indent="-332105">
              <a:lnSpc>
                <a:spcPct val="95800"/>
              </a:lnSpc>
              <a:spcBef>
                <a:spcPts val="705"/>
              </a:spcBef>
              <a:buChar char="—"/>
              <a:tabLst>
                <a:tab pos="748030" algn="l"/>
                <a:tab pos="765175" algn="l"/>
              </a:tabLst>
            </a:pPr>
            <a:r>
              <a:rPr dirty="0" sz="2650" spc="-265">
                <a:latin typeface="Arial"/>
                <a:cs typeface="Arial"/>
              </a:rPr>
              <a:t>	</a:t>
            </a:r>
            <a:r>
              <a:rPr dirty="0" sz="2650" spc="-265">
                <a:latin typeface="Arial"/>
                <a:cs typeface="Arial"/>
              </a:rPr>
              <a:t>A</a:t>
            </a:r>
            <a:r>
              <a:rPr dirty="0" sz="2650" spc="-10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periodic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7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that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executes</a:t>
            </a:r>
            <a:r>
              <a:rPr dirty="0" sz="2650" spc="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15">
                <a:latin typeface="Arial"/>
                <a:cs typeface="Arial"/>
              </a:rPr>
              <a:t> </a:t>
            </a:r>
            <a:r>
              <a:rPr dirty="0" sz="2650" spc="-45">
                <a:latin typeface="Arial"/>
                <a:cs typeface="Arial"/>
              </a:rPr>
              <a:t>above </a:t>
            </a:r>
            <a:r>
              <a:rPr dirty="0" sz="2750" spc="-165">
                <a:latin typeface="Arial"/>
                <a:cs typeface="Arial"/>
              </a:rPr>
              <a:t>Task</a:t>
            </a:r>
            <a:r>
              <a:rPr dirty="0" sz="2750" spc="-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3,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but</a:t>
            </a:r>
            <a:r>
              <a:rPr dirty="0" sz="2750" spc="-16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below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130">
                <a:latin typeface="Arial"/>
                <a:cs typeface="Arial"/>
              </a:rPr>
              <a:t>Task1.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 spc="-95">
                <a:latin typeface="Arial"/>
                <a:cs typeface="Arial"/>
              </a:rPr>
              <a:t>The</a:t>
            </a:r>
            <a:r>
              <a:rPr dirty="0" sz="2750" spc="-8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period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interval </a:t>
            </a:r>
            <a:r>
              <a:rPr dirty="0" sz="2700" spc="-55">
                <a:latin typeface="Arial"/>
                <a:cs typeface="Arial"/>
              </a:rPr>
              <a:t>means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110">
                <a:latin typeface="Arial"/>
                <a:cs typeface="Arial"/>
              </a:rPr>
              <a:t>Task</a:t>
            </a:r>
            <a:r>
              <a:rPr dirty="0" sz="2700" spc="-4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2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wants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execute</a:t>
            </a:r>
            <a:r>
              <a:rPr dirty="0" sz="2700" spc="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at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t1,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t6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30">
                <a:latin typeface="Arial"/>
                <a:cs typeface="Arial"/>
              </a:rPr>
              <a:t>and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t9.</a:t>
            </a:r>
            <a:endParaRPr sz="2700">
              <a:latin typeface="Arial"/>
              <a:cs typeface="Arial"/>
            </a:endParaRPr>
          </a:p>
          <a:p>
            <a:pPr lvl="2" marL="1148080" marR="67945" indent="-228600">
              <a:lnSpc>
                <a:spcPct val="96400"/>
              </a:lnSpc>
              <a:spcBef>
                <a:spcPts val="495"/>
              </a:spcBef>
              <a:buChar char="•"/>
              <a:tabLst>
                <a:tab pos="1148080" algn="l"/>
                <a:tab pos="115760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50">
                <a:latin typeface="Arial"/>
                <a:cs typeface="Arial"/>
              </a:rPr>
              <a:t>At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t6,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125">
                <a:latin typeface="Arial"/>
                <a:cs typeface="Arial"/>
              </a:rPr>
              <a:t>Task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3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is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in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70">
                <a:latin typeface="Arial"/>
                <a:cs typeface="Arial"/>
              </a:rPr>
              <a:t>Running </a:t>
            </a:r>
            <a:r>
              <a:rPr dirty="0" sz="2300" spc="-30">
                <a:latin typeface="Arial"/>
                <a:cs typeface="Arial"/>
              </a:rPr>
              <a:t>state,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but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task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2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has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35">
                <a:latin typeface="Arial"/>
                <a:cs typeface="Arial"/>
              </a:rPr>
              <a:t>higher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relative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priority</a:t>
            </a:r>
            <a:r>
              <a:rPr dirty="0" sz="2300" spc="360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so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preempts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125">
                <a:latin typeface="Arial"/>
                <a:cs typeface="Arial"/>
              </a:rPr>
              <a:t>Task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3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and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start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to </a:t>
            </a:r>
            <a:r>
              <a:rPr dirty="0" sz="2250">
                <a:latin typeface="Arial"/>
                <a:cs typeface="Arial"/>
              </a:rPr>
              <a:t>run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immediately.</a:t>
            </a:r>
            <a:endParaRPr sz="2250">
              <a:latin typeface="Arial"/>
              <a:cs typeface="Arial"/>
            </a:endParaRPr>
          </a:p>
          <a:p>
            <a:pPr lvl="2" marL="1153160" marR="5080" indent="-233679">
              <a:lnSpc>
                <a:spcPct val="95500"/>
              </a:lnSpc>
              <a:spcBef>
                <a:spcPts val="570"/>
              </a:spcBef>
              <a:buChar char="•"/>
              <a:tabLst>
                <a:tab pos="1153160" algn="l"/>
                <a:tab pos="115760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50">
                <a:latin typeface="Arial"/>
                <a:cs typeface="Arial"/>
              </a:rPr>
              <a:t>At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t7,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105">
                <a:latin typeface="Arial"/>
                <a:cs typeface="Arial"/>
              </a:rPr>
              <a:t>Task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2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completes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its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processing</a:t>
            </a:r>
            <a:r>
              <a:rPr dirty="0" sz="230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and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reenters</a:t>
            </a:r>
            <a:r>
              <a:rPr dirty="0" sz="2300" spc="3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70">
                <a:latin typeface="Arial"/>
                <a:cs typeface="Arial"/>
              </a:rPr>
              <a:t>Blocked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state,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at</a:t>
            </a:r>
            <a:r>
              <a:rPr dirty="0" sz="2300" spc="-65">
                <a:latin typeface="Arial"/>
                <a:cs typeface="Arial"/>
              </a:rPr>
              <a:t> which </a:t>
            </a:r>
            <a:r>
              <a:rPr dirty="0" sz="2300" spc="-30">
                <a:latin typeface="Arial"/>
                <a:cs typeface="Arial"/>
              </a:rPr>
              <a:t>point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145">
                <a:latin typeface="Arial"/>
                <a:cs typeface="Arial"/>
              </a:rPr>
              <a:t>Task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3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can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re-</a:t>
            </a:r>
            <a:r>
              <a:rPr dirty="0" sz="2300" spc="-10">
                <a:latin typeface="Arial"/>
                <a:cs typeface="Arial"/>
              </a:rPr>
              <a:t>enter</a:t>
            </a:r>
            <a:r>
              <a:rPr dirty="0" sz="2300" spc="3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60">
                <a:latin typeface="Arial"/>
                <a:cs typeface="Arial"/>
              </a:rPr>
              <a:t>Running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state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complete</a:t>
            </a:r>
            <a:r>
              <a:rPr dirty="0" sz="2300" spc="2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its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processing.</a:t>
            </a:r>
            <a:endParaRPr sz="2300">
              <a:latin typeface="Arial"/>
              <a:cs typeface="Arial"/>
            </a:endParaRPr>
          </a:p>
          <a:p>
            <a:pPr lvl="2" marL="1151890" indent="-247015">
              <a:lnSpc>
                <a:spcPct val="100000"/>
              </a:lnSpc>
              <a:spcBef>
                <a:spcPts val="240"/>
              </a:spcBef>
              <a:buChar char="•"/>
              <a:tabLst>
                <a:tab pos="1151890" algn="l"/>
              </a:tabLst>
            </a:pPr>
            <a:r>
              <a:rPr dirty="0" sz="2500" spc="-50">
                <a:latin typeface="Calibri"/>
                <a:cs typeface="Calibri"/>
              </a:rPr>
              <a:t>At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65">
                <a:latin typeface="Calibri"/>
                <a:cs typeface="Calibri"/>
              </a:rPr>
              <a:t>t8,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Task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3</a:t>
            </a:r>
            <a:r>
              <a:rPr dirty="0" sz="2500" spc="-9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blocks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itself.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422" y="1539018"/>
            <a:ext cx="7658100" cy="366014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55600" algn="l"/>
              </a:tabLst>
            </a:pPr>
            <a:r>
              <a:rPr dirty="0" sz="3000" spc="-75">
                <a:latin typeface="Arial"/>
                <a:cs typeface="Arial"/>
              </a:rPr>
              <a:t>Task</a:t>
            </a:r>
            <a:r>
              <a:rPr dirty="0" sz="3000" spc="-105">
                <a:latin typeface="Arial"/>
                <a:cs typeface="Arial"/>
              </a:rPr>
              <a:t> </a:t>
            </a:r>
            <a:r>
              <a:rPr dirty="0" sz="3000" spc="-50">
                <a:latin typeface="Arial"/>
                <a:cs typeface="Arial"/>
              </a:rPr>
              <a:t>1</a:t>
            </a:r>
            <a:endParaRPr sz="3000">
              <a:latin typeface="Arial"/>
              <a:cs typeface="Arial"/>
            </a:endParaRPr>
          </a:p>
          <a:p>
            <a:pPr lvl="1" marL="765810" indent="-349250">
              <a:lnSpc>
                <a:spcPct val="100000"/>
              </a:lnSpc>
              <a:spcBef>
                <a:spcPts val="585"/>
              </a:spcBef>
              <a:buChar char="—"/>
              <a:tabLst>
                <a:tab pos="765810" algn="l"/>
              </a:tabLst>
            </a:pPr>
            <a:r>
              <a:rPr dirty="0" sz="2650" spc="-25">
                <a:latin typeface="Arial"/>
                <a:cs typeface="Arial"/>
              </a:rPr>
              <a:t>Also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event-</a:t>
            </a:r>
            <a:r>
              <a:rPr dirty="0" sz="2650">
                <a:latin typeface="Arial"/>
                <a:cs typeface="Arial"/>
              </a:rPr>
              <a:t>driven</a:t>
            </a:r>
            <a:r>
              <a:rPr dirty="0" sz="2650" spc="4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task.</a:t>
            </a:r>
            <a:endParaRPr sz="2650">
              <a:latin typeface="Arial"/>
              <a:cs typeface="Arial"/>
            </a:endParaRPr>
          </a:p>
          <a:p>
            <a:pPr lvl="1" marL="742315" marR="288925" indent="-336550">
              <a:lnSpc>
                <a:spcPts val="3130"/>
              </a:lnSpc>
              <a:spcBef>
                <a:spcPts val="725"/>
              </a:spcBef>
              <a:buChar char="—"/>
              <a:tabLst>
                <a:tab pos="742315" algn="l"/>
                <a:tab pos="755015" algn="l"/>
              </a:tabLst>
            </a:pPr>
            <a:r>
              <a:rPr dirty="0" sz="2650" spc="-20">
                <a:latin typeface="Arial"/>
                <a:cs typeface="Arial"/>
              </a:rPr>
              <a:t>Execute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with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highest</a:t>
            </a:r>
            <a:r>
              <a:rPr dirty="0" sz="2650" spc="-1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priority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-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all,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so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can </a:t>
            </a:r>
            <a:r>
              <a:rPr dirty="0" sz="2650" spc="-10">
                <a:latin typeface="Arial"/>
                <a:cs typeface="Arial"/>
              </a:rPr>
              <a:t>preempt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any</a:t>
            </a:r>
            <a:r>
              <a:rPr dirty="0" sz="2650" spc="-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other</a:t>
            </a:r>
            <a:r>
              <a:rPr dirty="0" sz="2650" spc="-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8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system.</a:t>
            </a:r>
            <a:endParaRPr sz="2650">
              <a:latin typeface="Arial"/>
              <a:cs typeface="Arial"/>
            </a:endParaRPr>
          </a:p>
          <a:p>
            <a:pPr lvl="1" marL="747395" marR="208915" indent="-349250">
              <a:lnSpc>
                <a:spcPts val="3130"/>
              </a:lnSpc>
              <a:spcBef>
                <a:spcPts val="595"/>
              </a:spcBef>
              <a:buChar char="—"/>
              <a:tabLst>
                <a:tab pos="755015" algn="l"/>
              </a:tabLst>
            </a:pP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only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95">
                <a:latin typeface="Arial"/>
                <a:cs typeface="Arial"/>
              </a:rPr>
              <a:t>Task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1</a:t>
            </a:r>
            <a:r>
              <a:rPr dirty="0" sz="2650" spc="-13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event</a:t>
            </a:r>
            <a:r>
              <a:rPr dirty="0" sz="265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shown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occurs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at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t10,</a:t>
            </a:r>
            <a:r>
              <a:rPr dirty="0" sz="2650" spc="-95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at </a:t>
            </a:r>
            <a:r>
              <a:rPr dirty="0" sz="2650" spc="-35"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which</a:t>
            </a:r>
            <a:r>
              <a:rPr dirty="0" sz="2650" spc="-15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time</a:t>
            </a:r>
            <a:r>
              <a:rPr dirty="0" sz="2650" spc="-130">
                <a:latin typeface="Arial"/>
                <a:cs typeface="Arial"/>
              </a:rPr>
              <a:t> </a:t>
            </a:r>
            <a:r>
              <a:rPr dirty="0" sz="2650" spc="-95">
                <a:latin typeface="Arial"/>
                <a:cs typeface="Arial"/>
              </a:rPr>
              <a:t>Task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1</a:t>
            </a:r>
            <a:r>
              <a:rPr dirty="0" sz="2650" spc="-85">
                <a:latin typeface="Arial"/>
                <a:cs typeface="Arial"/>
              </a:rPr>
              <a:t> </a:t>
            </a:r>
            <a:r>
              <a:rPr dirty="0" sz="2650" spc="-45">
                <a:latin typeface="Arial"/>
                <a:cs typeface="Arial"/>
              </a:rPr>
              <a:t>pre-</a:t>
            </a:r>
            <a:r>
              <a:rPr dirty="0" sz="2650">
                <a:latin typeface="Arial"/>
                <a:cs typeface="Arial"/>
              </a:rPr>
              <a:t>empts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 spc="-70">
                <a:latin typeface="Arial"/>
                <a:cs typeface="Arial"/>
              </a:rPr>
              <a:t>Task</a:t>
            </a:r>
            <a:r>
              <a:rPr dirty="0" sz="2650" spc="-114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2.</a:t>
            </a:r>
            <a:endParaRPr sz="2650">
              <a:latin typeface="Arial"/>
              <a:cs typeface="Arial"/>
            </a:endParaRPr>
          </a:p>
          <a:p>
            <a:pPr lvl="1" marL="747395" marR="5080" indent="-355600">
              <a:lnSpc>
                <a:spcPts val="3090"/>
              </a:lnSpc>
              <a:spcBef>
                <a:spcPts val="665"/>
              </a:spcBef>
              <a:buChar char="—"/>
              <a:tabLst>
                <a:tab pos="750570" algn="l"/>
              </a:tabLst>
            </a:pPr>
            <a:r>
              <a:rPr dirty="0" sz="2700" spc="-10">
                <a:latin typeface="Arial"/>
                <a:cs typeface="Arial"/>
              </a:rPr>
              <a:t>Only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after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110">
                <a:latin typeface="Arial"/>
                <a:cs typeface="Arial"/>
              </a:rPr>
              <a:t>Task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1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has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60">
                <a:latin typeface="Arial"/>
                <a:cs typeface="Arial"/>
              </a:rPr>
              <a:t>re-</a:t>
            </a:r>
            <a:r>
              <a:rPr dirty="0" sz="2700" spc="-30">
                <a:latin typeface="Arial"/>
                <a:cs typeface="Arial"/>
              </a:rPr>
              <a:t>entered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the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Blocked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at </a:t>
            </a:r>
            <a:r>
              <a:rPr dirty="0" sz="2700" spc="-25">
                <a:latin typeface="Arial"/>
                <a:cs typeface="Arial"/>
              </a:rPr>
              <a:t>	</a:t>
            </a:r>
            <a:r>
              <a:rPr dirty="0" sz="2700" spc="-85">
                <a:latin typeface="Arial"/>
                <a:cs typeface="Arial"/>
              </a:rPr>
              <a:t>t11,</a:t>
            </a:r>
            <a:r>
              <a:rPr dirty="0" sz="2700" spc="-105">
                <a:latin typeface="Arial"/>
                <a:cs typeface="Arial"/>
              </a:rPr>
              <a:t> </a:t>
            </a:r>
            <a:r>
              <a:rPr dirty="0" sz="2700" spc="-110">
                <a:latin typeface="Arial"/>
                <a:cs typeface="Arial"/>
              </a:rPr>
              <a:t>Task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2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can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complete</a:t>
            </a:r>
            <a:r>
              <a:rPr dirty="0" sz="2700" spc="-3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its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processing.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A2667"/>
                </a:solidFill>
              </a:rPr>
              <a:t>2.</a:t>
            </a:r>
            <a:r>
              <a:rPr dirty="0" spc="-215">
                <a:solidFill>
                  <a:srgbClr val="0A2667"/>
                </a:solidFill>
              </a:rPr>
              <a:t> </a:t>
            </a:r>
            <a:r>
              <a:rPr dirty="0">
                <a:solidFill>
                  <a:srgbClr val="00185D"/>
                </a:solidFill>
              </a:rPr>
              <a:t>Selecting</a:t>
            </a:r>
            <a:r>
              <a:rPr dirty="0" spc="130">
                <a:solidFill>
                  <a:srgbClr val="00185D"/>
                </a:solidFill>
              </a:rPr>
              <a:t> </a:t>
            </a:r>
            <a:r>
              <a:rPr dirty="0">
                <a:solidFill>
                  <a:srgbClr val="051F60"/>
                </a:solidFill>
              </a:rPr>
              <a:t>Task</a:t>
            </a:r>
            <a:r>
              <a:rPr dirty="0" spc="70">
                <a:solidFill>
                  <a:srgbClr val="051F60"/>
                </a:solidFill>
              </a:rPr>
              <a:t> </a:t>
            </a:r>
            <a:r>
              <a:rPr dirty="0" spc="60">
                <a:solidFill>
                  <a:srgbClr val="011F5D"/>
                </a:solidFill>
              </a:rPr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765" y="1620935"/>
            <a:ext cx="7923530" cy="3800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6235" marR="123189" indent="-343535">
              <a:lnSpc>
                <a:spcPct val="100099"/>
              </a:lnSpc>
              <a:spcBef>
                <a:spcPts val="120"/>
              </a:spcBef>
              <a:buChar char="•"/>
              <a:tabLst>
                <a:tab pos="356235" algn="l"/>
              </a:tabLst>
            </a:pPr>
            <a:r>
              <a:rPr dirty="0" sz="3000" spc="-75">
                <a:latin typeface="Arial"/>
                <a:cs typeface="Arial"/>
              </a:rPr>
              <a:t>Task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that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implement</a:t>
            </a:r>
            <a:r>
              <a:rPr dirty="0" sz="3000" spc="1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hard</a:t>
            </a:r>
            <a:r>
              <a:rPr dirty="0" sz="3000" spc="-114">
                <a:latin typeface="Arial"/>
                <a:cs typeface="Arial"/>
              </a:rPr>
              <a:t> </a:t>
            </a:r>
            <a:r>
              <a:rPr dirty="0" sz="3000" spc="-35">
                <a:latin typeface="Arial"/>
                <a:cs typeface="Arial"/>
              </a:rPr>
              <a:t>real-</a:t>
            </a:r>
            <a:r>
              <a:rPr dirty="0" sz="3000">
                <a:latin typeface="Arial"/>
                <a:cs typeface="Arial"/>
              </a:rPr>
              <a:t>time</a:t>
            </a:r>
            <a:r>
              <a:rPr dirty="0" sz="3000" spc="2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functions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assigned</a:t>
            </a:r>
            <a:r>
              <a:rPr dirty="0" sz="3000" spc="-8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priorities</a:t>
            </a:r>
            <a:r>
              <a:rPr dirty="0" sz="3000" spc="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above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those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that </a:t>
            </a:r>
            <a:r>
              <a:rPr dirty="0" sz="3000">
                <a:latin typeface="Arial"/>
                <a:cs typeface="Arial"/>
              </a:rPr>
              <a:t>implement</a:t>
            </a:r>
            <a:r>
              <a:rPr dirty="0" sz="3000" spc="7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soft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 spc="-35">
                <a:latin typeface="Arial"/>
                <a:cs typeface="Arial"/>
              </a:rPr>
              <a:t>real-</a:t>
            </a:r>
            <a:r>
              <a:rPr dirty="0" sz="3000">
                <a:latin typeface="Arial"/>
                <a:cs typeface="Arial"/>
              </a:rPr>
              <a:t>time</a:t>
            </a:r>
            <a:r>
              <a:rPr dirty="0" sz="3000" spc="1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functions.</a:t>
            </a:r>
            <a:endParaRPr sz="3000">
              <a:latin typeface="Arial"/>
              <a:cs typeface="Arial"/>
            </a:endParaRPr>
          </a:p>
          <a:p>
            <a:pPr marL="347345" marR="5080" indent="-335280">
              <a:lnSpc>
                <a:spcPts val="3590"/>
              </a:lnSpc>
              <a:spcBef>
                <a:spcPts val="855"/>
              </a:spcBef>
              <a:buChar char="•"/>
              <a:tabLst>
                <a:tab pos="347345" algn="l"/>
                <a:tab pos="351155" algn="l"/>
              </a:tabLst>
            </a:pP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35">
                <a:latin typeface="Arial"/>
                <a:cs typeface="Arial"/>
              </a:rPr>
              <a:t>Must</a:t>
            </a:r>
            <a:r>
              <a:rPr dirty="0" sz="3100" spc="6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also</a:t>
            </a:r>
            <a:r>
              <a:rPr dirty="0" sz="3100" spc="-60">
                <a:latin typeface="Arial"/>
                <a:cs typeface="Arial"/>
              </a:rPr>
              <a:t> take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 spc="50">
                <a:latin typeface="Arial"/>
                <a:cs typeface="Arial"/>
              </a:rPr>
              <a:t>execution</a:t>
            </a:r>
            <a:r>
              <a:rPr dirty="0" sz="3100" spc="-5">
                <a:latin typeface="Arial"/>
                <a:cs typeface="Arial"/>
              </a:rPr>
              <a:t> </a:t>
            </a:r>
            <a:r>
              <a:rPr dirty="0" sz="3100" spc="55">
                <a:latin typeface="Arial"/>
                <a:cs typeface="Arial"/>
              </a:rPr>
              <a:t>times</a:t>
            </a:r>
            <a:r>
              <a:rPr dirty="0" sz="3100" spc="-35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and </a:t>
            </a:r>
            <a:r>
              <a:rPr dirty="0" sz="3000" spc="114">
                <a:latin typeface="Arial"/>
                <a:cs typeface="Arial"/>
              </a:rPr>
              <a:t>processor</a:t>
            </a:r>
            <a:r>
              <a:rPr dirty="0" sz="3000" spc="155">
                <a:latin typeface="Arial"/>
                <a:cs typeface="Arial"/>
              </a:rPr>
              <a:t> </a:t>
            </a:r>
            <a:r>
              <a:rPr dirty="0" sz="3000" spc="120">
                <a:latin typeface="Arial"/>
                <a:cs typeface="Arial"/>
              </a:rPr>
              <a:t>utilization</a:t>
            </a:r>
            <a:r>
              <a:rPr dirty="0" sz="3000" spc="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into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account</a:t>
            </a:r>
            <a:r>
              <a:rPr dirty="0" sz="3000" spc="1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ensure </a:t>
            </a:r>
            <a:r>
              <a:rPr dirty="0" sz="3000">
                <a:latin typeface="Arial"/>
                <a:cs typeface="Arial"/>
              </a:rPr>
              <a:t>the entire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application</a:t>
            </a:r>
            <a:r>
              <a:rPr dirty="0" sz="3000" spc="17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will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never</a:t>
            </a:r>
            <a:r>
              <a:rPr dirty="0" sz="3000" spc="3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miss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3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hard </a:t>
            </a:r>
            <a:r>
              <a:rPr dirty="0" sz="3000" spc="-35">
                <a:latin typeface="Arial"/>
                <a:cs typeface="Arial"/>
              </a:rPr>
              <a:t>real-</a:t>
            </a:r>
            <a:r>
              <a:rPr dirty="0" sz="3000">
                <a:latin typeface="Arial"/>
                <a:cs typeface="Arial"/>
              </a:rPr>
              <a:t>time</a:t>
            </a:r>
            <a:r>
              <a:rPr dirty="0" sz="3000" spc="114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deadline.</a:t>
            </a:r>
            <a:endParaRPr sz="30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84"/>
              </a:spcBef>
            </a:pPr>
            <a:r>
              <a:rPr dirty="0" sz="2650" spc="-1250">
                <a:latin typeface="Arial"/>
                <a:cs typeface="Arial"/>
              </a:rPr>
              <a:t>—</a:t>
            </a:r>
            <a:r>
              <a:rPr dirty="0" sz="2650" spc="14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Rate</a:t>
            </a:r>
            <a:r>
              <a:rPr dirty="0" sz="2650" spc="-160">
                <a:latin typeface="Arial"/>
                <a:cs typeface="Arial"/>
              </a:rPr>
              <a:t> </a:t>
            </a:r>
            <a:r>
              <a:rPr dirty="0" sz="2650" spc="-35">
                <a:latin typeface="Arial"/>
                <a:cs typeface="Arial"/>
              </a:rPr>
              <a:t>monotonic</a:t>
            </a:r>
            <a:r>
              <a:rPr dirty="0" sz="2650" spc="9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scheduling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81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007" y="527793"/>
            <a:ext cx="7437120" cy="5988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11D60"/>
                </a:solidFill>
              </a:rPr>
              <a:t>Rate</a:t>
            </a:r>
            <a:r>
              <a:rPr dirty="0" spc="-100">
                <a:solidFill>
                  <a:srgbClr val="011D60"/>
                </a:solidFill>
              </a:rPr>
              <a:t> </a:t>
            </a:r>
            <a:r>
              <a:rPr dirty="0" spc="75">
                <a:solidFill>
                  <a:srgbClr val="011F5D"/>
                </a:solidFill>
              </a:rPr>
              <a:t>monotonic</a:t>
            </a:r>
            <a:r>
              <a:rPr dirty="0" spc="330">
                <a:solidFill>
                  <a:srgbClr val="011F5D"/>
                </a:solidFill>
              </a:rPr>
              <a:t> </a:t>
            </a:r>
            <a:r>
              <a:rPr dirty="0" spc="65">
                <a:solidFill>
                  <a:srgbClr val="112A6E"/>
                </a:solidFill>
              </a:rPr>
              <a:t>scheduling</a:t>
            </a:r>
            <a:r>
              <a:rPr dirty="0" spc="145">
                <a:solidFill>
                  <a:srgbClr val="112A6E"/>
                </a:solidFill>
              </a:rPr>
              <a:t> </a:t>
            </a:r>
            <a:r>
              <a:rPr dirty="0" spc="-95">
                <a:solidFill>
                  <a:srgbClr val="031D5B"/>
                </a:solidFill>
              </a:rPr>
              <a:t>(RMS)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737" y="1574302"/>
            <a:ext cx="7976870" cy="44894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47345" marR="25400" indent="-335280">
              <a:lnSpc>
                <a:spcPct val="90500"/>
              </a:lnSpc>
              <a:spcBef>
                <a:spcPts val="450"/>
              </a:spcBef>
              <a:buChar char="•"/>
              <a:tabLst>
                <a:tab pos="347345" algn="l"/>
                <a:tab pos="360680" algn="l"/>
              </a:tabLst>
            </a:pP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155">
                <a:latin typeface="Arial"/>
                <a:cs typeface="Arial"/>
              </a:rPr>
              <a:t>A </a:t>
            </a:r>
            <a:r>
              <a:rPr dirty="0" sz="2800" spc="-10">
                <a:latin typeface="Arial"/>
                <a:cs typeface="Arial"/>
              </a:rPr>
              <a:t>common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assignment</a:t>
            </a:r>
            <a:r>
              <a:rPr dirty="0" sz="2800" spc="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technique</a:t>
            </a:r>
            <a:r>
              <a:rPr dirty="0" sz="2800" spc="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which </a:t>
            </a:r>
            <a:r>
              <a:rPr dirty="0" sz="2800">
                <a:latin typeface="Arial"/>
                <a:cs typeface="Arial"/>
              </a:rPr>
              <a:t>assigns</a:t>
            </a:r>
            <a:r>
              <a:rPr dirty="0" sz="2800" spc="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each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task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</a:t>
            </a:r>
            <a:r>
              <a:rPr dirty="0" sz="2800" spc="-195">
                <a:latin typeface="Arial"/>
                <a:cs typeface="Arial"/>
              </a:rPr>
              <a:t> </a:t>
            </a:r>
            <a:r>
              <a:rPr dirty="0" sz="2800" spc="90">
                <a:latin typeface="Arial"/>
                <a:cs typeface="Arial"/>
              </a:rPr>
              <a:t>unique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priority</a:t>
            </a:r>
            <a:r>
              <a:rPr dirty="0" sz="2800" spc="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according</a:t>
            </a:r>
            <a:r>
              <a:rPr dirty="0" sz="2800" spc="5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to </a:t>
            </a:r>
            <a:r>
              <a:rPr dirty="0" sz="2800">
                <a:latin typeface="Arial"/>
                <a:cs typeface="Arial"/>
              </a:rPr>
              <a:t>tasks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periodic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execution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rate.</a:t>
            </a:r>
            <a:endParaRPr sz="2800">
              <a:latin typeface="Arial"/>
              <a:cs typeface="Arial"/>
            </a:endParaRPr>
          </a:p>
          <a:p>
            <a:pPr lvl="1" marL="746125" marR="411480" indent="-323850">
              <a:lnSpc>
                <a:spcPts val="2600"/>
              </a:lnSpc>
              <a:spcBef>
                <a:spcPts val="595"/>
              </a:spcBef>
              <a:buChar char="—"/>
              <a:tabLst>
                <a:tab pos="751840" algn="l"/>
              </a:tabLst>
            </a:pPr>
            <a:r>
              <a:rPr dirty="0" sz="2450" spc="-25">
                <a:latin typeface="Arial"/>
                <a:cs typeface="Arial"/>
              </a:rPr>
              <a:t>Highest</a:t>
            </a:r>
            <a:r>
              <a:rPr dirty="0" sz="2450" spc="-3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priority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is</a:t>
            </a:r>
            <a:r>
              <a:rPr dirty="0" sz="2450" spc="-114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assigned</a:t>
            </a:r>
            <a:r>
              <a:rPr dirty="0" sz="2450" spc="-4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to</a:t>
            </a:r>
            <a:r>
              <a:rPr dirty="0" sz="2450" spc="-12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the</a:t>
            </a:r>
            <a:r>
              <a:rPr dirty="0" sz="2450" spc="-16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task</a:t>
            </a:r>
            <a:r>
              <a:rPr dirty="0" sz="2450" spc="-7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that</a:t>
            </a:r>
            <a:r>
              <a:rPr dirty="0" sz="2450" spc="-6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has</a:t>
            </a:r>
            <a:r>
              <a:rPr dirty="0" sz="2450" spc="-14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the 	highest</a:t>
            </a:r>
            <a:r>
              <a:rPr dirty="0" sz="2450" spc="-50">
                <a:latin typeface="Arial"/>
                <a:cs typeface="Arial"/>
              </a:rPr>
              <a:t> </a:t>
            </a:r>
            <a:r>
              <a:rPr dirty="0" sz="2450" spc="-40">
                <a:latin typeface="Arial"/>
                <a:cs typeface="Arial"/>
              </a:rPr>
              <a:t>frequency</a:t>
            </a:r>
            <a:r>
              <a:rPr dirty="0" sz="2450" spc="3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of</a:t>
            </a:r>
            <a:r>
              <a:rPr dirty="0" sz="2450" spc="-155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periodic</a:t>
            </a:r>
            <a:r>
              <a:rPr dirty="0" sz="2450" spc="-1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execution.</a:t>
            </a:r>
            <a:endParaRPr sz="2450">
              <a:latin typeface="Arial"/>
              <a:cs typeface="Arial"/>
            </a:endParaRPr>
          </a:p>
          <a:p>
            <a:pPr lvl="1" marL="748665" marR="487680" indent="-330200">
              <a:lnSpc>
                <a:spcPts val="2600"/>
              </a:lnSpc>
              <a:spcBef>
                <a:spcPts val="565"/>
              </a:spcBef>
              <a:buChar char="—"/>
              <a:tabLst>
                <a:tab pos="752475" algn="l"/>
              </a:tabLst>
            </a:pPr>
            <a:r>
              <a:rPr dirty="0" sz="2500" spc="-55">
                <a:latin typeface="Arial"/>
                <a:cs typeface="Arial"/>
              </a:rPr>
              <a:t>Lowest</a:t>
            </a:r>
            <a:r>
              <a:rPr dirty="0" sz="2500" spc="-12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priority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is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60">
                <a:latin typeface="Arial"/>
                <a:cs typeface="Arial"/>
              </a:rPr>
              <a:t>assigned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the</a:t>
            </a:r>
            <a:r>
              <a:rPr dirty="0" sz="2500" spc="-16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task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that</a:t>
            </a:r>
            <a:r>
              <a:rPr dirty="0" sz="2500" spc="-140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has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the </a:t>
            </a:r>
            <a:r>
              <a:rPr dirty="0" sz="2500" spc="-25">
                <a:latin typeface="Arial"/>
                <a:cs typeface="Arial"/>
              </a:rPr>
              <a:t>	</a:t>
            </a:r>
            <a:r>
              <a:rPr dirty="0" sz="2500" spc="-50">
                <a:latin typeface="Arial"/>
                <a:cs typeface="Arial"/>
              </a:rPr>
              <a:t>lowest</a:t>
            </a:r>
            <a:r>
              <a:rPr dirty="0" sz="2500" spc="-2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frequency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of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40">
                <a:latin typeface="Arial"/>
                <a:cs typeface="Arial"/>
              </a:rPr>
              <a:t>periodic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execution.</a:t>
            </a:r>
            <a:endParaRPr sz="2500">
              <a:latin typeface="Arial"/>
              <a:cs typeface="Arial"/>
            </a:endParaRPr>
          </a:p>
          <a:p>
            <a:pPr lvl="1" marL="746760" marR="1177290" indent="-323850">
              <a:lnSpc>
                <a:spcPts val="2570"/>
              </a:lnSpc>
              <a:spcBef>
                <a:spcPts val="590"/>
              </a:spcBef>
              <a:buChar char="—"/>
              <a:tabLst>
                <a:tab pos="752475" algn="l"/>
              </a:tabLst>
            </a:pPr>
            <a:r>
              <a:rPr dirty="0" sz="2450">
                <a:latin typeface="Arial"/>
                <a:cs typeface="Arial"/>
              </a:rPr>
              <a:t>Can</a:t>
            </a:r>
            <a:r>
              <a:rPr dirty="0" sz="2450" spc="-130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maximize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50">
                <a:latin typeface="Arial"/>
                <a:cs typeface="Arial"/>
              </a:rPr>
              <a:t> </a:t>
            </a:r>
            <a:r>
              <a:rPr dirty="0" sz="2450" spc="-20">
                <a:latin typeface="Arial"/>
                <a:cs typeface="Arial"/>
              </a:rPr>
              <a:t>schedulability</a:t>
            </a:r>
            <a:r>
              <a:rPr dirty="0" sz="2450" spc="-12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of</a:t>
            </a:r>
            <a:r>
              <a:rPr dirty="0" sz="2450" spc="-5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140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entire 	application.</a:t>
            </a:r>
            <a:endParaRPr sz="2450">
              <a:latin typeface="Arial"/>
              <a:cs typeface="Arial"/>
            </a:endParaRPr>
          </a:p>
          <a:p>
            <a:pPr lvl="1" marL="748030" marR="5080" indent="-323850">
              <a:lnSpc>
                <a:spcPct val="88600"/>
              </a:lnSpc>
              <a:spcBef>
                <a:spcPts val="565"/>
              </a:spcBef>
              <a:buChar char="—"/>
              <a:tabLst>
                <a:tab pos="751205" algn="l"/>
              </a:tabLst>
            </a:pPr>
            <a:r>
              <a:rPr dirty="0" sz="2450">
                <a:latin typeface="Arial"/>
                <a:cs typeface="Arial"/>
              </a:rPr>
              <a:t>But</a:t>
            </a:r>
            <a:r>
              <a:rPr dirty="0" sz="2450" spc="-55">
                <a:latin typeface="Arial"/>
                <a:cs typeface="Arial"/>
              </a:rPr>
              <a:t> </a:t>
            </a:r>
            <a:r>
              <a:rPr dirty="0" sz="2450" spc="-30">
                <a:latin typeface="Arial"/>
                <a:cs typeface="Arial"/>
              </a:rPr>
              <a:t>runtime</a:t>
            </a:r>
            <a:r>
              <a:rPr dirty="0" sz="2450" spc="-60">
                <a:latin typeface="Arial"/>
                <a:cs typeface="Arial"/>
              </a:rPr>
              <a:t> </a:t>
            </a:r>
            <a:r>
              <a:rPr dirty="0" sz="2450" spc="-35">
                <a:latin typeface="Arial"/>
                <a:cs typeface="Arial"/>
              </a:rPr>
              <a:t>variations,</a:t>
            </a:r>
            <a:r>
              <a:rPr dirty="0" sz="2450" spc="3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and</a:t>
            </a:r>
            <a:r>
              <a:rPr dirty="0" sz="2450" spc="-15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the</a:t>
            </a:r>
            <a:r>
              <a:rPr dirty="0" sz="2450" spc="-7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fact</a:t>
            </a:r>
            <a:r>
              <a:rPr dirty="0" sz="2450" spc="-14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that</a:t>
            </a:r>
            <a:r>
              <a:rPr dirty="0" sz="2450" spc="-1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not</a:t>
            </a:r>
            <a:r>
              <a:rPr dirty="0" sz="2450" spc="-13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all</a:t>
            </a:r>
            <a:r>
              <a:rPr dirty="0" sz="2450" spc="-114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tasks </a:t>
            </a:r>
            <a:r>
              <a:rPr dirty="0" sz="245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way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periodic,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make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absolute</a:t>
            </a:r>
            <a:r>
              <a:rPr dirty="0" sz="2400" spc="3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calculations</a:t>
            </a:r>
            <a:r>
              <a:rPr dirty="0" sz="2400" spc="9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a </a:t>
            </a:r>
            <a:r>
              <a:rPr dirty="0" sz="2400" spc="-50">
                <a:latin typeface="Arial"/>
                <a:cs typeface="Arial"/>
              </a:rPr>
              <a:t>	</a:t>
            </a:r>
            <a:r>
              <a:rPr dirty="0" sz="2500" spc="-65">
                <a:latin typeface="Arial"/>
                <a:cs typeface="Arial"/>
              </a:rPr>
              <a:t>complex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process.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82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13" rIns="0" bIns="0" rtlCol="0" vert="horz">
            <a:spAutoFit/>
          </a:bodyPr>
          <a:lstStyle/>
          <a:p>
            <a:pPr marL="1016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01D5D"/>
                </a:solidFill>
              </a:rPr>
              <a:t>3.</a:t>
            </a:r>
            <a:r>
              <a:rPr dirty="0" spc="-135">
                <a:solidFill>
                  <a:srgbClr val="001D5D"/>
                </a:solidFill>
              </a:rPr>
              <a:t> </a:t>
            </a:r>
            <a:r>
              <a:rPr dirty="0">
                <a:solidFill>
                  <a:srgbClr val="031C5E"/>
                </a:solidFill>
              </a:rPr>
              <a:t>Co-operative</a:t>
            </a:r>
            <a:r>
              <a:rPr dirty="0" spc="365">
                <a:solidFill>
                  <a:srgbClr val="031C5E"/>
                </a:solidFill>
              </a:rPr>
              <a:t> </a:t>
            </a:r>
            <a:r>
              <a:rPr dirty="0" spc="55">
                <a:solidFill>
                  <a:srgbClr val="0A2167"/>
                </a:solidFill>
              </a:rPr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094" y="1620935"/>
            <a:ext cx="7740015" cy="42348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pure</a:t>
            </a:r>
            <a:r>
              <a:rPr dirty="0" sz="3000" spc="-114">
                <a:latin typeface="Arial"/>
                <a:cs typeface="Arial"/>
              </a:rPr>
              <a:t> </a:t>
            </a:r>
            <a:r>
              <a:rPr dirty="0" sz="3000" spc="-40">
                <a:latin typeface="Arial"/>
                <a:cs typeface="Arial"/>
              </a:rPr>
              <a:t>co-</a:t>
            </a:r>
            <a:r>
              <a:rPr dirty="0" sz="3000">
                <a:latin typeface="Arial"/>
                <a:cs typeface="Arial"/>
              </a:rPr>
              <a:t>operative</a:t>
            </a:r>
            <a:r>
              <a:rPr dirty="0" sz="3000" spc="24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scheduler,</a:t>
            </a:r>
            <a:r>
              <a:rPr dirty="0" sz="3000" spc="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-17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context</a:t>
            </a:r>
            <a:endParaRPr sz="30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35"/>
              </a:spcBef>
            </a:pPr>
            <a:r>
              <a:rPr dirty="0" sz="2950">
                <a:latin typeface="Arial"/>
                <a:cs typeface="Arial"/>
              </a:rPr>
              <a:t>switch</a:t>
            </a:r>
            <a:r>
              <a:rPr dirty="0" sz="2950" spc="9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occur</a:t>
            </a:r>
            <a:r>
              <a:rPr dirty="0" sz="2950" spc="1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only</a:t>
            </a:r>
            <a:r>
              <a:rPr dirty="0" sz="2950" spc="75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when</a:t>
            </a:r>
            <a:endParaRPr sz="2950">
              <a:latin typeface="Arial"/>
              <a:cs typeface="Arial"/>
            </a:endParaRPr>
          </a:p>
          <a:p>
            <a:pPr lvl="1" marL="750570" indent="-342900">
              <a:lnSpc>
                <a:spcPct val="100000"/>
              </a:lnSpc>
              <a:spcBef>
                <a:spcPts val="645"/>
              </a:spcBef>
              <a:buChar char="—"/>
              <a:tabLst>
                <a:tab pos="750570" algn="l"/>
              </a:tabLst>
            </a:pP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Running</a:t>
            </a:r>
            <a:r>
              <a:rPr dirty="0" sz="2600" spc="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state task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enters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Blocked</a:t>
            </a:r>
            <a:r>
              <a:rPr dirty="0" sz="2600" spc="4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state</a:t>
            </a:r>
            <a:endParaRPr sz="2600">
              <a:latin typeface="Arial"/>
              <a:cs typeface="Arial"/>
            </a:endParaRPr>
          </a:p>
          <a:p>
            <a:pPr lvl="1" marL="748665" indent="-349250">
              <a:lnSpc>
                <a:spcPts val="3145"/>
              </a:lnSpc>
              <a:spcBef>
                <a:spcPts val="590"/>
              </a:spcBef>
              <a:buChar char="—"/>
              <a:tabLst>
                <a:tab pos="748665" algn="l"/>
              </a:tabLst>
            </a:pPr>
            <a:r>
              <a:rPr dirty="0" sz="2650">
                <a:latin typeface="Arial"/>
                <a:cs typeface="Arial"/>
              </a:rPr>
              <a:t>Or,</a:t>
            </a:r>
            <a:r>
              <a:rPr dirty="0" sz="2650" spc="40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the</a:t>
            </a:r>
            <a:r>
              <a:rPr dirty="0" sz="2650" spc="-70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Running</a:t>
            </a:r>
            <a:r>
              <a:rPr dirty="0" sz="2650" spc="-6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state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task</a:t>
            </a:r>
            <a:r>
              <a:rPr dirty="0" sz="2650" spc="-12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explicitly</a:t>
            </a:r>
            <a:r>
              <a:rPr dirty="0" sz="2650" spc="-4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calls</a:t>
            </a:r>
            <a:endParaRPr sz="2650">
              <a:latin typeface="Arial"/>
              <a:cs typeface="Arial"/>
            </a:endParaRPr>
          </a:p>
          <a:p>
            <a:pPr marL="751205">
              <a:lnSpc>
                <a:spcPts val="3085"/>
              </a:lnSpc>
            </a:pPr>
            <a:r>
              <a:rPr dirty="0" sz="2600" spc="-10">
                <a:latin typeface="Arial"/>
                <a:cs typeface="Arial"/>
              </a:rPr>
              <a:t>taskYlELD().</a:t>
            </a:r>
            <a:endParaRPr sz="2600">
              <a:latin typeface="Arial"/>
              <a:cs typeface="Arial"/>
            </a:endParaRPr>
          </a:p>
          <a:p>
            <a:pPr marL="346075" marR="5080" indent="-334010">
              <a:lnSpc>
                <a:spcPct val="97500"/>
              </a:lnSpc>
              <a:spcBef>
                <a:spcPts val="775"/>
              </a:spcBef>
              <a:buChar char="•"/>
              <a:tabLst>
                <a:tab pos="346075" algn="l"/>
                <a:tab pos="353695" algn="l"/>
              </a:tabLst>
            </a:pPr>
            <a:r>
              <a:rPr dirty="0" sz="3050">
                <a:latin typeface="Arial"/>
                <a:cs typeface="Arial"/>
              </a:rPr>
              <a:t>	</a:t>
            </a:r>
            <a:r>
              <a:rPr dirty="0" sz="3050" spc="-90">
                <a:latin typeface="Arial"/>
                <a:cs typeface="Arial"/>
              </a:rPr>
              <a:t>Tasks</a:t>
            </a:r>
            <a:r>
              <a:rPr dirty="0" sz="3050" spc="-80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will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never</a:t>
            </a:r>
            <a:r>
              <a:rPr dirty="0" sz="3050" spc="-5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be</a:t>
            </a:r>
            <a:r>
              <a:rPr dirty="0" sz="3050" spc="-204">
                <a:latin typeface="Arial"/>
                <a:cs typeface="Arial"/>
              </a:rPr>
              <a:t> </a:t>
            </a:r>
            <a:r>
              <a:rPr dirty="0" sz="3050" spc="-65">
                <a:latin typeface="Arial"/>
                <a:cs typeface="Arial"/>
              </a:rPr>
              <a:t>pre-</a:t>
            </a:r>
            <a:r>
              <a:rPr dirty="0" sz="3050" spc="-10">
                <a:latin typeface="Arial"/>
                <a:cs typeface="Arial"/>
              </a:rPr>
              <a:t>empted</a:t>
            </a:r>
            <a:r>
              <a:rPr dirty="0" sz="3050" spc="-35">
                <a:latin typeface="Arial"/>
                <a:cs typeface="Arial"/>
              </a:rPr>
              <a:t> </a:t>
            </a:r>
            <a:r>
              <a:rPr dirty="0" sz="3050">
                <a:latin typeface="Arial"/>
                <a:cs typeface="Arial"/>
              </a:rPr>
              <a:t>and</a:t>
            </a:r>
            <a:r>
              <a:rPr dirty="0" sz="3050" spc="-17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tasks</a:t>
            </a:r>
            <a:r>
              <a:rPr dirty="0" sz="3050" spc="-105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of </a:t>
            </a:r>
            <a:r>
              <a:rPr dirty="0" sz="3100" spc="-50">
                <a:latin typeface="Arial"/>
                <a:cs typeface="Arial"/>
              </a:rPr>
              <a:t>equal</a:t>
            </a:r>
            <a:r>
              <a:rPr dirty="0" sz="3100" spc="-170">
                <a:latin typeface="Arial"/>
                <a:cs typeface="Arial"/>
              </a:rPr>
              <a:t> </a:t>
            </a:r>
            <a:r>
              <a:rPr dirty="0" sz="3100" spc="-30">
                <a:latin typeface="Arial"/>
                <a:cs typeface="Arial"/>
              </a:rPr>
              <a:t>priority</a:t>
            </a:r>
            <a:r>
              <a:rPr dirty="0" sz="3100" spc="-11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will</a:t>
            </a:r>
            <a:r>
              <a:rPr dirty="0" sz="3100" spc="-2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not</a:t>
            </a:r>
            <a:r>
              <a:rPr dirty="0" sz="3100" spc="-135">
                <a:latin typeface="Arial"/>
                <a:cs typeface="Arial"/>
              </a:rPr>
              <a:t> </a:t>
            </a:r>
            <a:r>
              <a:rPr dirty="0" sz="3100" spc="-60">
                <a:latin typeface="Arial"/>
                <a:cs typeface="Arial"/>
              </a:rPr>
              <a:t>automatically</a:t>
            </a:r>
            <a:r>
              <a:rPr dirty="0" sz="3100" spc="-4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share </a:t>
            </a:r>
            <a:r>
              <a:rPr dirty="0" sz="3100" spc="-55">
                <a:latin typeface="Arial"/>
                <a:cs typeface="Arial"/>
              </a:rPr>
              <a:t>processing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time.</a:t>
            </a:r>
            <a:endParaRPr sz="3100">
              <a:latin typeface="Arial"/>
              <a:cs typeface="Arial"/>
            </a:endParaRPr>
          </a:p>
          <a:p>
            <a:pPr lvl="1" marL="755015" indent="-355600">
              <a:lnSpc>
                <a:spcPct val="100000"/>
              </a:lnSpc>
              <a:spcBef>
                <a:spcPts val="515"/>
              </a:spcBef>
              <a:buChar char="—"/>
              <a:tabLst>
                <a:tab pos="755015" algn="l"/>
              </a:tabLst>
            </a:pPr>
            <a:r>
              <a:rPr dirty="0" sz="2700" spc="-40">
                <a:latin typeface="Arial"/>
                <a:cs typeface="Arial"/>
              </a:rPr>
              <a:t>Results</a:t>
            </a:r>
            <a:r>
              <a:rPr dirty="0" sz="2700" spc="-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in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less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responsive</a:t>
            </a:r>
            <a:r>
              <a:rPr dirty="0" sz="2700" spc="4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system.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83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8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dirty="0"/>
              <a:t>Co-operative</a:t>
            </a:r>
            <a:r>
              <a:rPr dirty="0" spc="365"/>
              <a:t> </a:t>
            </a:r>
            <a:r>
              <a:rPr dirty="0" spc="55">
                <a:solidFill>
                  <a:srgbClr val="082160"/>
                </a:solidFill>
              </a:rPr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765" y="1608533"/>
            <a:ext cx="7789545" cy="35725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47345" marR="5080" indent="-335280">
              <a:lnSpc>
                <a:spcPts val="3620"/>
              </a:lnSpc>
              <a:spcBef>
                <a:spcPts val="330"/>
              </a:spcBef>
              <a:buChar char="•"/>
              <a:tabLst>
                <a:tab pos="347345" algn="l"/>
                <a:tab pos="363855" algn="l"/>
              </a:tabLst>
            </a:pPr>
            <a:r>
              <a:rPr dirty="0" sz="3100">
                <a:latin typeface="Arial"/>
                <a:cs typeface="Arial"/>
              </a:rPr>
              <a:t>	</a:t>
            </a:r>
            <a:r>
              <a:rPr dirty="0" sz="3100" spc="-235">
                <a:latin typeface="Arial"/>
                <a:cs typeface="Arial"/>
              </a:rPr>
              <a:t>A</a:t>
            </a:r>
            <a:r>
              <a:rPr dirty="0" sz="3100" spc="-114">
                <a:latin typeface="Arial"/>
                <a:cs typeface="Arial"/>
              </a:rPr>
              <a:t> </a:t>
            </a:r>
            <a:r>
              <a:rPr dirty="0" sz="3100" spc="-45">
                <a:latin typeface="Arial"/>
                <a:cs typeface="Arial"/>
              </a:rPr>
              <a:t>hybrid</a:t>
            </a:r>
            <a:r>
              <a:rPr dirty="0" sz="3100" spc="-175">
                <a:latin typeface="Arial"/>
                <a:cs typeface="Arial"/>
              </a:rPr>
              <a:t> </a:t>
            </a:r>
            <a:r>
              <a:rPr dirty="0" sz="3100" spc="-55">
                <a:latin typeface="Arial"/>
                <a:cs typeface="Arial"/>
              </a:rPr>
              <a:t>scheme,</a:t>
            </a:r>
            <a:r>
              <a:rPr dirty="0" sz="3100" spc="-16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it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is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possible</a:t>
            </a:r>
            <a:r>
              <a:rPr dirty="0" sz="3100" spc="-1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that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spc="-35">
                <a:latin typeface="Arial"/>
                <a:cs typeface="Arial"/>
              </a:rPr>
              <a:t>ISRs </a:t>
            </a:r>
            <a:r>
              <a:rPr dirty="0" sz="3100" spc="-25">
                <a:latin typeface="Arial"/>
                <a:cs typeface="Arial"/>
              </a:rPr>
              <a:t>are </a:t>
            </a:r>
            <a:r>
              <a:rPr dirty="0" sz="3100" spc="-45">
                <a:latin typeface="Arial"/>
                <a:cs typeface="Arial"/>
              </a:rPr>
              <a:t>used</a:t>
            </a:r>
            <a:r>
              <a:rPr dirty="0" sz="3100" spc="-17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to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explicitly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 spc="-35">
                <a:latin typeface="Arial"/>
                <a:cs typeface="Arial"/>
              </a:rPr>
              <a:t>cause</a:t>
            </a:r>
            <a:r>
              <a:rPr dirty="0" sz="3100" spc="-13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215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context</a:t>
            </a:r>
            <a:r>
              <a:rPr dirty="0" sz="3100" spc="-5">
                <a:latin typeface="Arial"/>
                <a:cs typeface="Arial"/>
              </a:rPr>
              <a:t> </a:t>
            </a:r>
            <a:r>
              <a:rPr dirty="0" sz="3100" spc="-40">
                <a:latin typeface="Arial"/>
                <a:cs typeface="Arial"/>
              </a:rPr>
              <a:t>switch.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It</a:t>
            </a:r>
            <a:endParaRPr sz="3100">
              <a:latin typeface="Arial"/>
              <a:cs typeface="Arial"/>
            </a:endParaRPr>
          </a:p>
          <a:p>
            <a:pPr marL="462280">
              <a:lnSpc>
                <a:spcPts val="3090"/>
              </a:lnSpc>
              <a:spcBef>
                <a:spcPts val="470"/>
              </a:spcBef>
            </a:pPr>
            <a:r>
              <a:rPr dirty="0" sz="2600" spc="-130">
                <a:latin typeface="Arial"/>
                <a:cs typeface="Arial"/>
              </a:rPr>
              <a:t>—</a:t>
            </a:r>
            <a:r>
              <a:rPr dirty="0" sz="2600" spc="-10">
                <a:latin typeface="Arial"/>
                <a:cs typeface="Arial"/>
              </a:rPr>
              <a:t>allows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synchronization</a:t>
            </a:r>
            <a:r>
              <a:rPr dirty="0" sz="2600" spc="-1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events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cause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pre-</a:t>
            </a:r>
            <a:endParaRPr sz="2600">
              <a:latin typeface="Arial"/>
              <a:cs typeface="Arial"/>
            </a:endParaRPr>
          </a:p>
          <a:p>
            <a:pPr marL="753110">
              <a:lnSpc>
                <a:spcPts val="3210"/>
              </a:lnSpc>
            </a:pPr>
            <a:r>
              <a:rPr dirty="0" sz="2700" spc="-45">
                <a:latin typeface="Arial"/>
                <a:cs typeface="Arial"/>
              </a:rPr>
              <a:t>emption,</a:t>
            </a:r>
            <a:r>
              <a:rPr dirty="0" sz="2700" spc="-14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but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not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temporal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events.</a:t>
            </a:r>
            <a:endParaRPr sz="2700">
              <a:latin typeface="Arial"/>
              <a:cs typeface="Arial"/>
            </a:endParaRPr>
          </a:p>
          <a:p>
            <a:pPr lvl="1" marL="752475" indent="-349250">
              <a:lnSpc>
                <a:spcPts val="3180"/>
              </a:lnSpc>
              <a:spcBef>
                <a:spcPts val="505"/>
              </a:spcBef>
              <a:buChar char="—"/>
              <a:tabLst>
                <a:tab pos="752475" algn="l"/>
              </a:tabLst>
            </a:pPr>
            <a:r>
              <a:rPr dirty="0" sz="2650" spc="-10">
                <a:latin typeface="Arial"/>
                <a:cs typeface="Arial"/>
              </a:rPr>
              <a:t>results</a:t>
            </a:r>
            <a:r>
              <a:rPr dirty="0" sz="2650" spc="-15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1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2650" spc="-60">
                <a:latin typeface="Arial"/>
                <a:cs typeface="Arial"/>
              </a:rPr>
              <a:t>pre-</a:t>
            </a:r>
            <a:r>
              <a:rPr dirty="0" sz="2650" spc="-10">
                <a:latin typeface="Arial"/>
                <a:cs typeface="Arial"/>
              </a:rPr>
              <a:t>emptive</a:t>
            </a:r>
            <a:r>
              <a:rPr dirty="0" sz="2650" spc="6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system</a:t>
            </a:r>
            <a:r>
              <a:rPr dirty="0" sz="2650" spc="-9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without</a:t>
            </a:r>
            <a:r>
              <a:rPr dirty="0" sz="2650" spc="-60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time</a:t>
            </a:r>
            <a:endParaRPr sz="2650">
              <a:latin typeface="Arial"/>
              <a:cs typeface="Arial"/>
            </a:endParaRPr>
          </a:p>
          <a:p>
            <a:pPr marL="755015">
              <a:lnSpc>
                <a:spcPct val="100000"/>
              </a:lnSpc>
            </a:pPr>
            <a:r>
              <a:rPr dirty="0" sz="2600" spc="-10">
                <a:latin typeface="Arial"/>
                <a:cs typeface="Arial"/>
              </a:rPr>
              <a:t>slicing.</a:t>
            </a:r>
            <a:endParaRPr sz="2600">
              <a:latin typeface="Arial"/>
              <a:cs typeface="Arial"/>
            </a:endParaRPr>
          </a:p>
          <a:p>
            <a:pPr lvl="1" marL="750570" marR="325755" indent="-355600">
              <a:lnSpc>
                <a:spcPts val="3060"/>
              </a:lnSpc>
              <a:spcBef>
                <a:spcPts val="825"/>
              </a:spcBef>
              <a:buChar char="—"/>
              <a:tabLst>
                <a:tab pos="751840" algn="l"/>
              </a:tabLst>
            </a:pP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desirable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due</a:t>
            </a:r>
            <a:r>
              <a:rPr dirty="0" sz="2700" spc="-8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its</a:t>
            </a:r>
            <a:r>
              <a:rPr dirty="0" sz="2700" spc="-16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efficiency</a:t>
            </a:r>
            <a:r>
              <a:rPr dirty="0" sz="2700" spc="6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gains</a:t>
            </a:r>
            <a:r>
              <a:rPr dirty="0" sz="2700" spc="-8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and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is</a:t>
            </a:r>
            <a:r>
              <a:rPr dirty="0" sz="2700" spc="-17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a </a:t>
            </a:r>
            <a:r>
              <a:rPr dirty="0" sz="2700" spc="-50">
                <a:latin typeface="Arial"/>
                <a:cs typeface="Arial"/>
              </a:rPr>
              <a:t>	</a:t>
            </a:r>
            <a:r>
              <a:rPr dirty="0" sz="2700" spc="-60">
                <a:latin typeface="Arial"/>
                <a:cs typeface="Arial"/>
              </a:rPr>
              <a:t>common </a:t>
            </a:r>
            <a:r>
              <a:rPr dirty="0" sz="2700" spc="-50">
                <a:latin typeface="Arial"/>
                <a:cs typeface="Arial"/>
              </a:rPr>
              <a:t>scheduler </a:t>
            </a:r>
            <a:r>
              <a:rPr dirty="0" sz="2700" spc="-10">
                <a:latin typeface="Arial"/>
                <a:cs typeface="Arial"/>
              </a:rPr>
              <a:t>configuration.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0645">
              <a:lnSpc>
                <a:spcPts val="1235"/>
              </a:lnSpc>
            </a:pPr>
            <a:r>
              <a:rPr dirty="0" spc="-25"/>
              <a:t>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2026-09-25T21:21:37Z</dcterms:created>
  <dcterms:modified xsi:type="dcterms:W3CDTF">2026-09-25T21:21:37Z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Producer">
    <vt:lpwstr>jsPDF 1.3.2 2016-09-30T20:33:17.116Z:jameshall</vt:lpwstr>
  </property>
  <property fmtid="{D5CDD505-2E9C-101B-9397-08002B2CF9AE}" pid="5" name="LastSaved">
    <vt:filetime>2026-09-26T00:00:00Z</vt:filetime>
  </property>
</Properties>
</file>