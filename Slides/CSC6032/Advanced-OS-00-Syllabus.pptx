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handoutMasterIdLst>
    <p:handoutMasterId r:id="rId10"/>
  </p:handoutMasterIdLst>
  <p:sldIdLst>
    <p:sldId id="256" r:id="rId2"/>
    <p:sldId id="352" r:id="rId3"/>
    <p:sldId id="353" r:id="rId4"/>
    <p:sldId id="354" r:id="rId5"/>
    <p:sldId id="356" r:id="rId6"/>
    <p:sldId id="357" r:id="rId7"/>
    <p:sldId id="358" r:id="rId8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44" y="18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2024/8/15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2024/8/15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68182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s.nthu.edu.tw/~ychung/syllabus/CSC6032-2024-Fall.htm" TargetMode="External"/><Relationship Id="rId2" Type="http://schemas.openxmlformats.org/officeDocument/2006/relationships/hyperlink" Target="https://bb.cuhk.edu.cn/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6032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Advanced Operating Systems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</a:t>
            </a:r>
            <a:r>
              <a:rPr lang="en-US" altLang="zh-CN" sz="2400" dirty="0"/>
              <a:t>Data </a:t>
            </a:r>
            <a:r>
              <a:rPr lang="en-US" altLang="zh-TW" sz="2400" dirty="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4125" y="822251"/>
            <a:ext cx="8138598" cy="377223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Instructor</a:t>
            </a:r>
          </a:p>
          <a:p>
            <a:pPr lvl="1"/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Dr. Yeh-Ching Chung (ychung@cuhk.edu.hk)</a:t>
            </a:r>
          </a:p>
          <a:p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Course T</a:t>
            </a:r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A</a:t>
            </a:r>
            <a:endParaRPr lang="en-US" dirty="0">
              <a:solidFill>
                <a:schemeClr val="bg2">
                  <a:lumMod val="10000"/>
                </a:schemeClr>
              </a:solidFill>
            </a:endParaRPr>
          </a:p>
          <a:p>
            <a:pPr lvl="1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洪世豪</a:t>
            </a:r>
            <a:r>
              <a:rPr lang="zh-CN" altLang="en-US" dirty="0">
                <a:effectLst/>
              </a:rPr>
              <a:t> </a:t>
            </a:r>
            <a:r>
              <a:rPr lang="en-US" altLang="zh-CN" dirty="0">
                <a:effectLst/>
              </a:rPr>
              <a:t>: shihaohong@link.cuhk.edu.cn</a:t>
            </a:r>
            <a:endParaRPr lang="en-US" altLang="zh-CN" dirty="0"/>
          </a:p>
          <a:p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Lectures</a:t>
            </a:r>
          </a:p>
          <a:p>
            <a:pPr lvl="1"/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Tuesday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	09:00am – 10:</a:t>
            </a:r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2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0am	TD 209</a:t>
            </a:r>
          </a:p>
          <a:p>
            <a:pPr lvl="1"/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Thursday	</a:t>
            </a:r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09:00am – 10:20am 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	</a:t>
            </a:r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TD 209</a:t>
            </a:r>
            <a:endParaRPr lang="en-US" dirty="0">
              <a:solidFill>
                <a:schemeClr val="bg2">
                  <a:lumMod val="10000"/>
                </a:schemeClr>
              </a:solidFill>
            </a:endParaRPr>
          </a:p>
          <a:p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Tutorials</a:t>
            </a:r>
          </a:p>
          <a:p>
            <a:pPr lvl="1"/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1 session (TA will announce the time and classrooms)</a:t>
            </a:r>
            <a:endParaRPr lang="en-US" dirty="0">
              <a:solidFill>
                <a:schemeClr val="bg2">
                  <a:lumMod val="10000"/>
                </a:schemeClr>
              </a:solidFill>
            </a:endParaRPr>
          </a:p>
          <a:p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Online Platform</a:t>
            </a:r>
          </a:p>
          <a:p>
            <a:pPr lvl="1"/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Blackboard (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hlinkClick r:id="rId2"/>
              </a:rPr>
              <a:t>https://bb.cuhk.edu.cn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)</a:t>
            </a:r>
          </a:p>
          <a:p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Website</a:t>
            </a:r>
          </a:p>
          <a:p>
            <a:pPr lvl="1"/>
            <a:r>
              <a:rPr lang="en-US" altLang="zh-CN" dirty="0">
                <a:solidFill>
                  <a:schemeClr val="bg2">
                    <a:lumMod val="10000"/>
                  </a:schemeClr>
                </a:solidFill>
                <a:hlinkClick r:id="rId3"/>
              </a:rPr>
              <a:t>http://www.cs.nthu.edu.tw/~ychung/syllabus/CSC6032-2024-Fall.htm</a:t>
            </a:r>
            <a:endParaRPr lang="en-US" altLang="zh-CN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sz="32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Information</a:t>
            </a:r>
          </a:p>
        </p:txBody>
      </p:sp>
    </p:spTree>
    <p:extLst>
      <p:ext uri="{BB962C8B-B14F-4D97-AF65-F5344CB8AC3E}">
        <p14:creationId xmlns:p14="http://schemas.microsoft.com/office/powerpoint/2010/main" val="4104089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038" y="108349"/>
            <a:ext cx="7683652" cy="519113"/>
          </a:xfrm>
        </p:spPr>
        <p:txBody>
          <a:bodyPr/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Textbooks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Reference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4E7B392-61B3-FA29-3056-3DC07CA34E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4126" y="822251"/>
            <a:ext cx="7367776" cy="2568312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Textbooks</a:t>
            </a:r>
          </a:p>
          <a:p>
            <a:pPr lvl="1"/>
            <a:r>
              <a:rPr lang="en-US" sz="2200" dirty="0" err="1">
                <a:solidFill>
                  <a:schemeClr val="bg2">
                    <a:lumMod val="10000"/>
                  </a:schemeClr>
                </a:solidFill>
                <a:cs typeface="Calibri" panose="020F0502020204030204" pitchFamily="34" charset="0"/>
              </a:rPr>
              <a:t>Distribute_OS</a:t>
            </a:r>
            <a:r>
              <a:rPr lang="en-US" sz="2200" dirty="0">
                <a:solidFill>
                  <a:schemeClr val="bg2">
                    <a:lumMod val="10000"/>
                  </a:schemeClr>
                </a:solidFill>
                <a:cs typeface="Calibri" panose="020F0502020204030204" pitchFamily="34" charset="0"/>
              </a:rPr>
              <a:t> by Tanenbaum</a:t>
            </a:r>
          </a:p>
          <a:p>
            <a:pPr lvl="1"/>
            <a:r>
              <a:rPr lang="en-US" sz="2200" dirty="0">
                <a:solidFill>
                  <a:schemeClr val="bg2">
                    <a:lumMod val="10000"/>
                  </a:schemeClr>
                </a:solidFill>
                <a:cs typeface="Calibri" panose="020F0502020204030204" pitchFamily="34" charset="0"/>
              </a:rPr>
              <a:t>Virtualization-From Desktop to Enterprise by </a:t>
            </a:r>
            <a:r>
              <a:rPr lang="en-US" altLang="zh-CN" sz="2200" b="0" i="0" u="none" strike="noStrike" baseline="0" dirty="0">
                <a:solidFill>
                  <a:srgbClr val="060505"/>
                </a:solidFill>
                <a:cs typeface="Calibri" panose="020F0502020204030204" pitchFamily="34" charset="0"/>
              </a:rPr>
              <a:t>Chris Wolf and Erick M. Halter</a:t>
            </a:r>
          </a:p>
          <a:p>
            <a:r>
              <a:rPr lang="en-US" altLang="zh-CN" sz="2400" dirty="0">
                <a:ea typeface="楷体" panose="02010609060101010101" pitchFamily="49" charset="-122"/>
                <a:cs typeface="Calibri" panose="020F0502020204030204" pitchFamily="34" charset="0"/>
              </a:rPr>
              <a:t>References</a:t>
            </a:r>
          </a:p>
          <a:p>
            <a:pPr lvl="1"/>
            <a:r>
              <a:rPr lang="en-US" altLang="zh-CN" sz="2200" dirty="0">
                <a:solidFill>
                  <a:schemeClr val="bg2">
                    <a:lumMod val="10000"/>
                  </a:schemeClr>
                </a:solidFill>
                <a:cs typeface="Calibri" panose="020F0502020204030204" pitchFamily="34" charset="0"/>
              </a:rPr>
              <a:t>Papers</a:t>
            </a:r>
          </a:p>
        </p:txBody>
      </p:sp>
    </p:spTree>
    <p:extLst>
      <p:ext uri="{BB962C8B-B14F-4D97-AF65-F5344CB8AC3E}">
        <p14:creationId xmlns:p14="http://schemas.microsoft.com/office/powerpoint/2010/main" val="22819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313" y="108349"/>
            <a:ext cx="7768378" cy="519113"/>
          </a:xfrm>
        </p:spPr>
        <p:txBody>
          <a:bodyPr/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8881" y="831355"/>
            <a:ext cx="7900450" cy="3707394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en-US" sz="1800" dirty="0"/>
              <a:t>Distributed Systems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en-US" sz="1800" dirty="0"/>
              <a:t>Process and Thread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en-US" sz="1800" dirty="0"/>
              <a:t>Distributed Shared Memory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en-US" sz="1800" dirty="0"/>
              <a:t>Distributed File Systems</a:t>
            </a:r>
          </a:p>
          <a:p>
            <a:pPr>
              <a:spcBef>
                <a:spcPts val="0"/>
              </a:spcBef>
              <a:buSzPct val="70000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Virtualization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	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Virtualization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Virtualization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Support  Virtualization</a:t>
            </a:r>
          </a:p>
        </p:txBody>
      </p:sp>
    </p:spTree>
    <p:extLst>
      <p:ext uri="{BB962C8B-B14F-4D97-AF65-F5344CB8AC3E}">
        <p14:creationId xmlns:p14="http://schemas.microsoft.com/office/powerpoint/2010/main" val="1996120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3026" y="108349"/>
            <a:ext cx="7752664" cy="519113"/>
          </a:xfrm>
        </p:spPr>
        <p:txBody>
          <a:bodyPr/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980" y="822959"/>
            <a:ext cx="7208520" cy="3032761"/>
          </a:xfrm>
        </p:spPr>
        <p:txBody>
          <a:bodyPr>
            <a:noAutofit/>
          </a:bodyPr>
          <a:lstStyle/>
          <a:p>
            <a:r>
              <a:rPr lang="en-US" sz="2000" dirty="0"/>
              <a:t>Class</a:t>
            </a:r>
            <a:r>
              <a:rPr lang="zh-TW" altLang="en-US" sz="2000" dirty="0"/>
              <a:t> </a:t>
            </a:r>
            <a:r>
              <a:rPr lang="en-US" altLang="zh-TW" sz="2000" dirty="0"/>
              <a:t>participation</a:t>
            </a:r>
            <a:r>
              <a:rPr lang="en-US" sz="2000" dirty="0"/>
              <a:t> (10%)</a:t>
            </a:r>
          </a:p>
          <a:p>
            <a:r>
              <a:rPr lang="en-US" altLang="zh-CN" sz="2000" dirty="0"/>
              <a:t>Term</a:t>
            </a:r>
            <a:r>
              <a:rPr lang="en-US" sz="2000" dirty="0"/>
              <a:t> Projects (65%)</a:t>
            </a:r>
          </a:p>
          <a:p>
            <a:r>
              <a:rPr lang="en-US" altLang="zh-CN" sz="2000"/>
              <a:t>Report </a:t>
            </a:r>
            <a:r>
              <a:rPr lang="en-US" sz="2000"/>
              <a:t>(</a:t>
            </a:r>
            <a:r>
              <a:rPr lang="en-US" sz="2000" dirty="0"/>
              <a:t>25%)</a:t>
            </a:r>
          </a:p>
          <a:p>
            <a:r>
              <a:rPr lang="en-US" sz="2000" dirty="0"/>
              <a:t>If you need to apply for a leave for final exam, send email to me with supporting document beforehand.</a:t>
            </a:r>
          </a:p>
          <a:p>
            <a:r>
              <a:rPr lang="en-US" sz="2000" dirty="0"/>
              <a:t>If you are ill, obtain a medical note and email it to me as soon as possible and no later than a week after your absence.</a:t>
            </a:r>
          </a:p>
          <a:p>
            <a:r>
              <a:rPr lang="en-US" sz="2000" dirty="0"/>
              <a:t>Students are responsible to keep track on their marks.</a:t>
            </a:r>
          </a:p>
        </p:txBody>
      </p:sp>
    </p:spTree>
    <p:extLst>
      <p:ext uri="{BB962C8B-B14F-4D97-AF65-F5344CB8AC3E}">
        <p14:creationId xmlns:p14="http://schemas.microsoft.com/office/powerpoint/2010/main" val="821811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1142" y="108349"/>
            <a:ext cx="7734548" cy="519113"/>
          </a:xfrm>
        </p:spPr>
        <p:txBody>
          <a:bodyPr/>
          <a:lstStyle/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Outcome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1142" y="845821"/>
            <a:ext cx="7608498" cy="3264933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Upon completing this course, students will be able to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the theory of Distributed Systems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the theory of Distributed Shared-Memory Systems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the theory of Distributed File Systems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the theory of S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 Virtualization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the theory of C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 Virtualization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the theory of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the theory of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 Virtualization	</a:t>
            </a:r>
          </a:p>
          <a:p>
            <a:pPr lvl="1">
              <a:spcBef>
                <a:spcPts val="0"/>
              </a:spcBef>
              <a:buSzPct val="70000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the theory of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</a:t>
            </a:r>
          </a:p>
        </p:txBody>
      </p:sp>
    </p:spTree>
    <p:extLst>
      <p:ext uri="{BB962C8B-B14F-4D97-AF65-F5344CB8AC3E}">
        <p14:creationId xmlns:p14="http://schemas.microsoft.com/office/powerpoint/2010/main" val="3730986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038" y="108349"/>
            <a:ext cx="7683652" cy="519113"/>
          </a:xfrm>
        </p:spPr>
        <p:txBody>
          <a:bodyPr/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Honesty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2038" y="844153"/>
            <a:ext cx="7443302" cy="367188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Zero Tolerance</a:t>
            </a:r>
          </a:p>
          <a:p>
            <a:pPr lvl="1"/>
            <a:r>
              <a:rPr lang="en-US" sz="2000" dirty="0">
                <a:solidFill>
                  <a:schemeClr val="bg2">
                    <a:lumMod val="10000"/>
                  </a:schemeClr>
                </a:solidFill>
              </a:rPr>
              <a:t>Plagiarism, cheating, misconduct in test/exam will be reported to the School for handing.</a:t>
            </a:r>
          </a:p>
          <a:p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Consequences</a:t>
            </a:r>
          </a:p>
          <a:p>
            <a:pPr lvl="1"/>
            <a:r>
              <a:rPr lang="en-US" sz="2000" dirty="0">
                <a:solidFill>
                  <a:schemeClr val="bg2">
                    <a:lumMod val="10000"/>
                  </a:schemeClr>
                </a:solidFill>
              </a:rPr>
              <a:t>Zero marks for the concerned assignments/test/exam/whole course, reviewable demerits, non-reviewable demerits, suspension of study, dismissal from University.</a:t>
            </a:r>
          </a:p>
          <a:p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University Policy to Academic Honesty</a:t>
            </a:r>
          </a:p>
          <a:p>
            <a:pPr marL="457189" lvl="1" indent="0">
              <a:buNone/>
            </a:pPr>
            <a:r>
              <a:rPr lang="en-US" sz="2000" dirty="0">
                <a:solidFill>
                  <a:schemeClr val="bg2">
                    <a:lumMod val="10000"/>
                  </a:schemeClr>
                </a:solidFill>
              </a:rPr>
              <a:t>http://www.cuhk.edu.cn/departsite/ar/en/Academic.html</a:t>
            </a:r>
          </a:p>
        </p:txBody>
      </p:sp>
    </p:spTree>
    <p:extLst>
      <p:ext uri="{BB962C8B-B14F-4D97-AF65-F5344CB8AC3E}">
        <p14:creationId xmlns:p14="http://schemas.microsoft.com/office/powerpoint/2010/main" val="2385786242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2544</TotalTime>
  <Words>380</Words>
  <Application>Microsoft Office PowerPoint</Application>
  <PresentationFormat>全屏显示(16:9)</PresentationFormat>
  <Paragraphs>62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MS Sans Serif</vt:lpstr>
      <vt:lpstr>楷体</vt:lpstr>
      <vt:lpstr>Arial</vt:lpstr>
      <vt:lpstr>Calibri</vt:lpstr>
      <vt:lpstr>Times New Roman</vt:lpstr>
      <vt:lpstr>Wingdings</vt:lpstr>
      <vt:lpstr>NTHU UniCloud</vt:lpstr>
      <vt:lpstr>CSC6032 – Advanced Operating Systems</vt:lpstr>
      <vt:lpstr>PowerPoint 演示文稿</vt:lpstr>
      <vt:lpstr>Textbooks &amp; Reference</vt:lpstr>
      <vt:lpstr>Course Syllabus</vt:lpstr>
      <vt:lpstr>Course Assessment</vt:lpstr>
      <vt:lpstr>Learning Outcome</vt:lpstr>
      <vt:lpstr>Academic Honesty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 鍾葉青）</cp:lastModifiedBy>
  <cp:revision>282</cp:revision>
  <dcterms:created xsi:type="dcterms:W3CDTF">2015-06-05T07:23:35Z</dcterms:created>
  <dcterms:modified xsi:type="dcterms:W3CDTF">2024-08-15T02:13:29Z</dcterms:modified>
</cp:coreProperties>
</file>