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3"/>
  </p:notesMasterIdLst>
  <p:handoutMasterIdLst>
    <p:handoutMasterId r:id="rId74"/>
  </p:handoutMasterIdLst>
  <p:sldIdLst>
    <p:sldId id="256" r:id="rId2"/>
    <p:sldId id="347" r:id="rId3"/>
    <p:sldId id="348" r:id="rId4"/>
    <p:sldId id="417" r:id="rId5"/>
    <p:sldId id="349" r:id="rId6"/>
    <p:sldId id="350" r:id="rId7"/>
    <p:sldId id="411" r:id="rId8"/>
    <p:sldId id="352" r:id="rId9"/>
    <p:sldId id="437" r:id="rId10"/>
    <p:sldId id="353" r:id="rId11"/>
    <p:sldId id="354" r:id="rId12"/>
    <p:sldId id="438" r:id="rId13"/>
    <p:sldId id="356" r:id="rId14"/>
    <p:sldId id="357" r:id="rId15"/>
    <p:sldId id="358" r:id="rId16"/>
    <p:sldId id="360" r:id="rId17"/>
    <p:sldId id="359" r:id="rId18"/>
    <p:sldId id="413" r:id="rId19"/>
    <p:sldId id="420" r:id="rId20"/>
    <p:sldId id="361" r:id="rId21"/>
    <p:sldId id="419" r:id="rId22"/>
    <p:sldId id="423" r:id="rId23"/>
    <p:sldId id="363" r:id="rId24"/>
    <p:sldId id="393" r:id="rId25"/>
    <p:sldId id="364" r:id="rId26"/>
    <p:sldId id="408" r:id="rId27"/>
    <p:sldId id="404" r:id="rId28"/>
    <p:sldId id="403" r:id="rId29"/>
    <p:sldId id="375" r:id="rId30"/>
    <p:sldId id="426" r:id="rId31"/>
    <p:sldId id="427" r:id="rId32"/>
    <p:sldId id="374" r:id="rId33"/>
    <p:sldId id="429" r:id="rId34"/>
    <p:sldId id="430" r:id="rId35"/>
    <p:sldId id="376" r:id="rId36"/>
    <p:sldId id="377" r:id="rId37"/>
    <p:sldId id="378" r:id="rId38"/>
    <p:sldId id="379" r:id="rId39"/>
    <p:sldId id="366" r:id="rId40"/>
    <p:sldId id="407" r:id="rId41"/>
    <p:sldId id="380" r:id="rId42"/>
    <p:sldId id="381" r:id="rId43"/>
    <p:sldId id="435" r:id="rId44"/>
    <p:sldId id="384" r:id="rId45"/>
    <p:sldId id="385" r:id="rId46"/>
    <p:sldId id="391" r:id="rId47"/>
    <p:sldId id="409" r:id="rId48"/>
    <p:sldId id="400" r:id="rId49"/>
    <p:sldId id="434" r:id="rId50"/>
    <p:sldId id="367" r:id="rId51"/>
    <p:sldId id="369" r:id="rId52"/>
    <p:sldId id="370" r:id="rId53"/>
    <p:sldId id="414" r:id="rId54"/>
    <p:sldId id="371" r:id="rId55"/>
    <p:sldId id="372" r:id="rId56"/>
    <p:sldId id="416" r:id="rId57"/>
    <p:sldId id="386" r:id="rId58"/>
    <p:sldId id="432" r:id="rId59"/>
    <p:sldId id="398" r:id="rId60"/>
    <p:sldId id="389" r:id="rId61"/>
    <p:sldId id="390" r:id="rId62"/>
    <p:sldId id="401" r:id="rId63"/>
    <p:sldId id="431" r:id="rId64"/>
    <p:sldId id="402" r:id="rId65"/>
    <p:sldId id="387" r:id="rId66"/>
    <p:sldId id="392" r:id="rId67"/>
    <p:sldId id="412" r:id="rId68"/>
    <p:sldId id="394" r:id="rId69"/>
    <p:sldId id="395" r:id="rId70"/>
    <p:sldId id="396" r:id="rId71"/>
    <p:sldId id="436" r:id="rId72"/>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varScale="1">
        <p:scale>
          <a:sx n="79" d="100"/>
          <a:sy n="79" d="100"/>
        </p:scale>
        <p:origin x="872" y="60"/>
      </p:cViewPr>
      <p:guideLst>
        <p:guide orient="horz" pos="2160"/>
        <p:guide pos="2880"/>
        <p:guide orient="horz" pos="1620"/>
      </p:guideLst>
    </p:cSldViewPr>
  </p:slideViewPr>
  <p:notesTextViewPr>
    <p:cViewPr>
      <p:scale>
        <a:sx n="1" d="1"/>
        <a:sy n="1" d="1"/>
      </p:scale>
      <p:origin x="0" y="0"/>
    </p:cViewPr>
  </p:notesTextViewPr>
  <p:sorterViewPr>
    <p:cViewPr varScale="1">
      <p:scale>
        <a:sx n="1" d="1"/>
        <a:sy n="1" d="1"/>
      </p:scale>
      <p:origin x="0" y="-17504"/>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2025/7/25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2025/7/25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342900" y="696913"/>
            <a:ext cx="61976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342900" y="696913"/>
            <a:ext cx="61976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419100" y="701675"/>
            <a:ext cx="6240463"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342900" y="696913"/>
            <a:ext cx="61976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342900" y="696913"/>
            <a:ext cx="61976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342900" y="696913"/>
            <a:ext cx="61976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342900" y="696913"/>
            <a:ext cx="61976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342900" y="696913"/>
            <a:ext cx="61976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3261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342900" y="696913"/>
            <a:ext cx="61976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342900" y="696913"/>
            <a:ext cx="61976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342900" y="696913"/>
            <a:ext cx="61976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342900" y="696913"/>
            <a:ext cx="61976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342900" y="696913"/>
            <a:ext cx="61976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342900" y="696913"/>
            <a:ext cx="61976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342900" y="696913"/>
            <a:ext cx="61976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342900" y="696913"/>
            <a:ext cx="61976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342900" y="696913"/>
            <a:ext cx="61976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342900" y="696913"/>
            <a:ext cx="61976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342900" y="696913"/>
            <a:ext cx="61976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342900" y="696913"/>
            <a:ext cx="61976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342900" y="696913"/>
            <a:ext cx="61976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342900" y="696913"/>
            <a:ext cx="61976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342900" y="696913"/>
            <a:ext cx="61976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342900" y="696913"/>
            <a:ext cx="61976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342900" y="696913"/>
            <a:ext cx="61976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342900" y="696913"/>
            <a:ext cx="61976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342900" y="696913"/>
            <a:ext cx="61976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342900" y="696913"/>
            <a:ext cx="61976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342900" y="696913"/>
            <a:ext cx="61976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342900" y="696913"/>
            <a:ext cx="61976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342900" y="696913"/>
            <a:ext cx="61976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342900" y="696913"/>
            <a:ext cx="61976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342900" y="696913"/>
            <a:ext cx="61976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342900" y="696913"/>
            <a:ext cx="61976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342900" y="696913"/>
            <a:ext cx="61976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342900" y="696913"/>
            <a:ext cx="61976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342900" y="696913"/>
            <a:ext cx="61976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342900" y="696913"/>
            <a:ext cx="61976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342900" y="696913"/>
            <a:ext cx="61976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342900" y="696913"/>
            <a:ext cx="61976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342900" y="696913"/>
            <a:ext cx="61976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342900" y="696913"/>
            <a:ext cx="61976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342900" y="696913"/>
            <a:ext cx="61976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342900" y="696913"/>
            <a:ext cx="61976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342900" y="696913"/>
            <a:ext cx="61976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342900" y="696913"/>
            <a:ext cx="61976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342900" y="696913"/>
            <a:ext cx="61976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342900" y="696913"/>
            <a:ext cx="61976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342900" y="696913"/>
            <a:ext cx="61976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342900" y="696913"/>
            <a:ext cx="61976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342900" y="696913"/>
            <a:ext cx="61976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342900" y="696913"/>
            <a:ext cx="61976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342900" y="696913"/>
            <a:ext cx="61976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4235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1.xml"/><Relationship Id="rId4" Type="http://schemas.openxmlformats.org/officeDocument/2006/relationships/image" Target="../media/image28.emf"/></Relationships>
</file>

<file path=ppt/slides/_rels/slide6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102519"/>
          </a:xfrm>
        </p:spPr>
        <p:txBody>
          <a:bodyPr/>
          <a:lstStyle/>
          <a:p>
            <a:pPr algn="ctr"/>
            <a:r>
              <a:rPr lang="en-US" altLang="zh-TW" sz="3600" dirty="0">
                <a:effectLst>
                  <a:outerShdw blurRad="38100" dist="38100" dir="2700000" algn="tl">
                    <a:srgbClr val="000000">
                      <a:alpha val="43137"/>
                    </a:srgbClr>
                  </a:outerShdw>
                </a:effectLst>
              </a:rPr>
              <a:t>CSC3</a:t>
            </a:r>
            <a:r>
              <a:rPr lang="en-US" altLang="zh-CN" sz="3600" dirty="0">
                <a:effectLst>
                  <a:outerShdw blurRad="38100" dist="38100" dir="2700000" algn="tl">
                    <a:srgbClr val="000000">
                      <a:alpha val="43137"/>
                    </a:srgbClr>
                  </a:outerShdw>
                </a:effectLst>
              </a:rPr>
              <a:t>1</a:t>
            </a:r>
            <a:r>
              <a:rPr lang="en-US" altLang="zh-TW" sz="3600" dirty="0">
                <a:effectLst>
                  <a:outerShdw blurRad="38100" dist="38100" dir="2700000" algn="tl">
                    <a:srgbClr val="000000">
                      <a:alpha val="43137"/>
                    </a:srgbClr>
                  </a:outerShdw>
                </a:effectLst>
              </a:rPr>
              <a:t>50 –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TW" sz="2400"/>
              <a:t>Data Science</a:t>
            </a:r>
            <a:endParaRPr lang="en-US" altLang="zh-TW" sz="2400" dirty="0"/>
          </a:p>
          <a:p>
            <a:r>
              <a:rPr lang="en-US" altLang="zh-TW" sz="2400" dirty="0"/>
              <a:t>Chinese University of Hong Kong, Shenzhen</a:t>
            </a:r>
          </a:p>
        </p:txBody>
      </p:sp>
      <p:sp>
        <p:nvSpPr>
          <p:cNvPr id="5" name="灯片编号占位符 4">
            <a:extLst>
              <a:ext uri="{FF2B5EF4-FFF2-40B4-BE49-F238E27FC236}">
                <a16:creationId xmlns:a16="http://schemas.microsoft.com/office/drawing/2014/main" id="{DAFFB0C2-40A6-AD02-D170-530BE0638AE7}"/>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973667" y="152401"/>
            <a:ext cx="6537987" cy="432197"/>
          </a:xfrm>
        </p:spPr>
        <p:txBody>
          <a:bodyPr/>
          <a:lstStyle/>
          <a:p>
            <a:pPr eaLnBrk="1" hangingPunct="1"/>
            <a:r>
              <a:rPr lang="en-US" altLang="en-US" dirty="0"/>
              <a:t>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1058531" y="829733"/>
            <a:ext cx="7010202" cy="3666067"/>
          </a:xfrm>
        </p:spPr>
        <p:txBody>
          <a:bodyPr/>
          <a:lstStyle/>
          <a:p>
            <a:pPr>
              <a:spcBef>
                <a:spcPts val="0"/>
              </a:spcBef>
            </a:pPr>
            <a:r>
              <a:rPr lang="en-US" altLang="en-US" sz="2000" dirty="0"/>
              <a:t>What Operating Systems Do</a:t>
            </a:r>
          </a:p>
          <a:p>
            <a:pPr>
              <a:spcBef>
                <a:spcPts val="0"/>
              </a:spcBef>
            </a:pPr>
            <a:r>
              <a:rPr lang="en-US" altLang="en-US" sz="2000" dirty="0"/>
              <a:t>Computer-System Organization</a:t>
            </a:r>
          </a:p>
          <a:p>
            <a:pPr>
              <a:spcBef>
                <a:spcPts val="0"/>
              </a:spcBef>
            </a:pPr>
            <a:r>
              <a:rPr lang="en-US" altLang="en-US" sz="2000" dirty="0"/>
              <a:t>Computer-System Architecture</a:t>
            </a:r>
          </a:p>
          <a:p>
            <a:pPr>
              <a:spcBef>
                <a:spcPts val="0"/>
              </a:spcBef>
            </a:pPr>
            <a:r>
              <a:rPr lang="en-US" altLang="en-US" sz="2000" dirty="0"/>
              <a:t>Operating-System Operations</a:t>
            </a:r>
          </a:p>
          <a:p>
            <a:pPr>
              <a:spcBef>
                <a:spcPts val="0"/>
              </a:spcBef>
            </a:pPr>
            <a:r>
              <a:rPr lang="en-US" altLang="en-US" sz="2000" dirty="0"/>
              <a:t>Resource Management</a:t>
            </a:r>
          </a:p>
          <a:p>
            <a:pPr>
              <a:spcBef>
                <a:spcPts val="0"/>
              </a:spcBef>
            </a:pPr>
            <a:r>
              <a:rPr lang="en-US" altLang="en-US" sz="2000" dirty="0"/>
              <a:t>Security and Protection</a:t>
            </a:r>
          </a:p>
          <a:p>
            <a:pPr>
              <a:spcBef>
                <a:spcPts val="0"/>
              </a:spcBef>
            </a:pPr>
            <a:r>
              <a:rPr lang="en-US" altLang="en-US" sz="2000" dirty="0"/>
              <a:t>Virtualization</a:t>
            </a:r>
          </a:p>
          <a:p>
            <a:pPr>
              <a:spcBef>
                <a:spcPts val="0"/>
              </a:spcBef>
            </a:pPr>
            <a:r>
              <a:rPr lang="en-US" altLang="en-US" sz="2000" dirty="0"/>
              <a:t>Distributed Systems</a:t>
            </a:r>
          </a:p>
          <a:p>
            <a:pPr>
              <a:spcBef>
                <a:spcPts val="0"/>
              </a:spcBef>
            </a:pPr>
            <a:r>
              <a:rPr lang="en-US" altLang="en-US" sz="2000" dirty="0"/>
              <a:t>Kernel Data Structures</a:t>
            </a:r>
          </a:p>
          <a:p>
            <a:pPr>
              <a:spcBef>
                <a:spcPts val="0"/>
              </a:spcBef>
            </a:pPr>
            <a:r>
              <a:rPr lang="en-US" altLang="en-US" sz="2000" dirty="0"/>
              <a:t>Computing Environments</a:t>
            </a:r>
          </a:p>
          <a:p>
            <a:pPr>
              <a:spcBef>
                <a:spcPts val="0"/>
              </a:spcBef>
            </a:pPr>
            <a:r>
              <a:rPr lang="en-US" altLang="en-US" sz="2000" dirty="0"/>
              <a:t>Free/Libre and Open-Source Operating Systems</a:t>
            </a:r>
          </a:p>
        </p:txBody>
      </p:sp>
      <p:sp>
        <p:nvSpPr>
          <p:cNvPr id="3" name="灯片编号占位符 2">
            <a:extLst>
              <a:ext uri="{FF2B5EF4-FFF2-40B4-BE49-F238E27FC236}">
                <a16:creationId xmlns:a16="http://schemas.microsoft.com/office/drawing/2014/main" id="{9AB1D000-94AF-879E-B57F-4B6548E93CD4}"/>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897467" y="125016"/>
            <a:ext cx="6599899" cy="463153"/>
          </a:xfrm>
        </p:spPr>
        <p:txBody>
          <a:bodyPr/>
          <a:lstStyle/>
          <a:p>
            <a:pPr eaLnBrk="1" hangingPunct="1"/>
            <a:r>
              <a:rPr lang="en-US" altLang="en-US" dirty="0"/>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97467" y="904048"/>
            <a:ext cx="7477191" cy="2567435"/>
          </a:xfrm>
        </p:spPr>
        <p:txBody>
          <a:bodyPr/>
          <a:lstStyle/>
          <a:p>
            <a:pPr>
              <a:spcBef>
                <a:spcPts val="0"/>
              </a:spcBef>
            </a:pPr>
            <a:r>
              <a:rPr lang="en-US" altLang="en-US" sz="2000" dirty="0"/>
              <a:t>Describe the general organization of a computer system and the role of interrupts</a:t>
            </a:r>
          </a:p>
          <a:p>
            <a:pPr>
              <a:spcBef>
                <a:spcPts val="0"/>
              </a:spcBef>
            </a:pPr>
            <a:r>
              <a:rPr lang="en-US" altLang="en-US" sz="2000" dirty="0"/>
              <a:t>Describe the components in a modern, multiprocessor computer system</a:t>
            </a:r>
          </a:p>
          <a:p>
            <a:pPr>
              <a:spcBef>
                <a:spcPts val="0"/>
              </a:spcBef>
            </a:pPr>
            <a:r>
              <a:rPr lang="en-US" altLang="en-US" sz="2000" dirty="0"/>
              <a:t>Illustrate the transition from user mode to kernel mode</a:t>
            </a:r>
          </a:p>
          <a:p>
            <a:pPr>
              <a:spcBef>
                <a:spcPts val="0"/>
              </a:spcBef>
            </a:pPr>
            <a:r>
              <a:rPr lang="en-US" altLang="en-US" sz="2000" dirty="0"/>
              <a:t>Discuss how operating systems are used in various computing environments</a:t>
            </a:r>
          </a:p>
          <a:p>
            <a:pPr>
              <a:spcBef>
                <a:spcPts val="0"/>
              </a:spcBef>
            </a:pPr>
            <a:r>
              <a:rPr lang="en-US" altLang="en-US" sz="2000" dirty="0"/>
              <a:t>Provide examples of free and open-source operating systems</a:t>
            </a:r>
          </a:p>
        </p:txBody>
      </p:sp>
      <p:sp>
        <p:nvSpPr>
          <p:cNvPr id="2" name="灯片编号占位符 1">
            <a:extLst>
              <a:ext uri="{FF2B5EF4-FFF2-40B4-BE49-F238E27FC236}">
                <a16:creationId xmlns:a16="http://schemas.microsoft.com/office/drawing/2014/main" id="{1A288238-5CD2-00AB-1BA7-9577DB7520D2}"/>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905933" y="140205"/>
            <a:ext cx="8058680" cy="463153"/>
          </a:xfrm>
        </p:spPr>
        <p:txBody>
          <a:bodyPr/>
          <a:lstStyle/>
          <a:p>
            <a:pPr eaLnBrk="1" hangingPunct="1"/>
            <a:r>
              <a:rPr lang="en-US" altLang="en-US" sz="3200" dirty="0"/>
              <a:t>What Does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1021710" y="824403"/>
            <a:ext cx="6191890" cy="3087197"/>
          </a:xfrm>
        </p:spPr>
        <p:txBody>
          <a:bodyPr/>
          <a:lstStyle/>
          <a:p>
            <a:r>
              <a:rPr lang="en-US" altLang="en-US" sz="2000" dirty="0"/>
              <a:t>An operating system is “fill in the blanks”</a:t>
            </a:r>
          </a:p>
          <a:p>
            <a:r>
              <a:rPr lang="en-US" altLang="en-US" sz="2000" dirty="0"/>
              <a:t>What about</a:t>
            </a:r>
          </a:p>
          <a:p>
            <a:pPr lvl="1"/>
            <a:r>
              <a:rPr lang="en-US" altLang="en-US" sz="1800" dirty="0"/>
              <a:t>Car </a:t>
            </a:r>
          </a:p>
          <a:p>
            <a:pPr lvl="1"/>
            <a:r>
              <a:rPr lang="en-US" altLang="en-US" sz="1800" dirty="0"/>
              <a:t>Airplane</a:t>
            </a:r>
          </a:p>
          <a:p>
            <a:pPr lvl="1"/>
            <a:r>
              <a:rPr lang="en-US" altLang="en-US" sz="1800" dirty="0"/>
              <a:t>Printer</a:t>
            </a:r>
          </a:p>
          <a:p>
            <a:pPr lvl="1"/>
            <a:r>
              <a:rPr lang="en-US" altLang="en-US" sz="1800" dirty="0"/>
              <a:t>Washing Machine</a:t>
            </a:r>
          </a:p>
          <a:p>
            <a:pPr lvl="1"/>
            <a:r>
              <a:rPr lang="en-US" altLang="en-US" sz="1800" dirty="0"/>
              <a:t>Toaster</a:t>
            </a:r>
          </a:p>
          <a:p>
            <a:pPr lvl="1"/>
            <a:r>
              <a:rPr lang="en-US" altLang="en-US" sz="1800" dirty="0"/>
              <a:t>Compiler</a:t>
            </a:r>
          </a:p>
          <a:p>
            <a:pPr lvl="1"/>
            <a:r>
              <a:rPr lang="en-US" altLang="en-US" sz="1800" dirty="0"/>
              <a:t>…..</a:t>
            </a:r>
          </a:p>
        </p:txBody>
      </p:sp>
      <p:sp>
        <p:nvSpPr>
          <p:cNvPr id="2" name="灯片编号占位符 1">
            <a:extLst>
              <a:ext uri="{FF2B5EF4-FFF2-40B4-BE49-F238E27FC236}">
                <a16:creationId xmlns:a16="http://schemas.microsoft.com/office/drawing/2014/main" id="{9C8A1033-3A21-EA9D-33D7-F1D01BB1BA09}"/>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1007533" y="148828"/>
            <a:ext cx="6650567" cy="432197"/>
          </a:xfrm>
        </p:spPr>
        <p:txBody>
          <a:bodyPr/>
          <a:lstStyle/>
          <a:p>
            <a:pPr eaLnBrk="1" hangingPunct="1"/>
            <a:r>
              <a:rPr lang="en-US" altLang="en-US" sz="3200" dirty="0"/>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1066800" y="821725"/>
            <a:ext cx="7416799" cy="3716408"/>
          </a:xfrm>
        </p:spPr>
        <p:txBody>
          <a:bodyPr/>
          <a:lstStyle/>
          <a:p>
            <a:r>
              <a:rPr lang="en-US" altLang="en-US" sz="2000" dirty="0"/>
              <a:t>A program that acts as an intermediary between a user of a computer and the computer hardware, including the following functions</a:t>
            </a:r>
          </a:p>
          <a:p>
            <a:pPr lvl="1"/>
            <a:r>
              <a:rPr lang="en-US" altLang="en-US" sz="1800" dirty="0"/>
              <a:t>Process management</a:t>
            </a:r>
          </a:p>
          <a:p>
            <a:pPr lvl="1"/>
            <a:r>
              <a:rPr lang="en-US" altLang="en-US" sz="1800" dirty="0"/>
              <a:t>Memory management</a:t>
            </a:r>
          </a:p>
          <a:p>
            <a:pPr lvl="1"/>
            <a:r>
              <a:rPr lang="en-US" altLang="en-US" sz="1800" dirty="0"/>
              <a:t>File management</a:t>
            </a:r>
          </a:p>
          <a:p>
            <a:pPr lvl="1"/>
            <a:r>
              <a:rPr lang="en-US" altLang="en-US" sz="1800" dirty="0"/>
              <a:t>I/O management</a:t>
            </a:r>
            <a:endParaRPr lang="en-US" altLang="en-US" sz="2000" dirty="0"/>
          </a:p>
          <a:p>
            <a:r>
              <a:rPr lang="en-US" altLang="en-US" sz="2000" dirty="0"/>
              <a:t>Operating system goals</a:t>
            </a:r>
          </a:p>
          <a:p>
            <a:pPr lvl="1"/>
            <a:r>
              <a:rPr lang="en-US" altLang="en-US" sz="1800" dirty="0"/>
              <a:t>Execute user programs and make the solving of user problems easier</a:t>
            </a:r>
          </a:p>
          <a:p>
            <a:pPr lvl="1"/>
            <a:r>
              <a:rPr lang="en-US" altLang="en-US" sz="1800" dirty="0"/>
              <a:t>Make the computer system convenient to use</a:t>
            </a:r>
          </a:p>
          <a:p>
            <a:pPr lvl="1"/>
            <a:r>
              <a:rPr lang="en-US" altLang="en-US" sz="1800" dirty="0"/>
              <a:t>Use the computer hardware in an efficient manner</a:t>
            </a:r>
          </a:p>
        </p:txBody>
      </p:sp>
      <p:sp>
        <p:nvSpPr>
          <p:cNvPr id="2" name="灯片编号占位符 1">
            <a:extLst>
              <a:ext uri="{FF2B5EF4-FFF2-40B4-BE49-F238E27FC236}">
                <a16:creationId xmlns:a16="http://schemas.microsoft.com/office/drawing/2014/main" id="{AE951965-D602-B623-9D0E-65E4FCF59F6E}"/>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897467" y="151210"/>
            <a:ext cx="6676099" cy="432197"/>
          </a:xfrm>
        </p:spPr>
        <p:txBody>
          <a:bodyPr/>
          <a:lstStyle/>
          <a:p>
            <a:pPr eaLnBrk="1" hangingPunct="1"/>
            <a:r>
              <a:rPr lang="en-US" altLang="en-US" sz="3200" dirty="0"/>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1041399" y="827482"/>
            <a:ext cx="7425267" cy="3676782"/>
          </a:xfrm>
        </p:spPr>
        <p:txBody>
          <a:bodyPr/>
          <a:lstStyle/>
          <a:p>
            <a:r>
              <a:rPr lang="en-US" altLang="en-US" sz="2000" dirty="0">
                <a:cs typeface="Calibri" panose="020F0502020204030204" pitchFamily="34" charset="0"/>
              </a:rPr>
              <a:t>Computer system can be divided into four components</a:t>
            </a:r>
          </a:p>
          <a:p>
            <a:pPr lvl="1"/>
            <a:r>
              <a:rPr lang="en-US" altLang="en-US" sz="1800" dirty="0">
                <a:cs typeface="Calibri" panose="020F0502020204030204" pitchFamily="34" charset="0"/>
              </a:rPr>
              <a:t>Hardware – provides basic computing resources</a:t>
            </a:r>
          </a:p>
          <a:p>
            <a:pPr lvl="2"/>
            <a:r>
              <a:rPr lang="en-US" altLang="en-US" sz="1600" dirty="0">
                <a:latin typeface="Calibri" panose="020F0502020204030204" pitchFamily="34" charset="0"/>
                <a:cs typeface="Calibri" panose="020F0502020204030204" pitchFamily="34" charset="0"/>
              </a:rPr>
              <a:t>CPU, memory, I/O devices</a:t>
            </a:r>
          </a:p>
          <a:p>
            <a:pPr lvl="1"/>
            <a:r>
              <a:rPr lang="en-US" altLang="en-US" sz="1800" dirty="0">
                <a:cs typeface="Calibri" panose="020F0502020204030204" pitchFamily="34" charset="0"/>
              </a:rPr>
              <a:t>Operating system</a:t>
            </a:r>
          </a:p>
          <a:p>
            <a:pPr lvl="2"/>
            <a:r>
              <a:rPr lang="en-US" altLang="en-US" sz="1600" dirty="0">
                <a:latin typeface="Calibri" panose="020F0502020204030204" pitchFamily="34" charset="0"/>
                <a:cs typeface="Calibri" panose="020F0502020204030204" pitchFamily="34" charset="0"/>
              </a:rPr>
              <a:t>Controls and coordinates use of hardware among various applications and users</a:t>
            </a:r>
          </a:p>
          <a:p>
            <a:pPr lvl="1"/>
            <a:r>
              <a:rPr lang="en-US" altLang="en-US" sz="1800" dirty="0">
                <a:cs typeface="Calibri" panose="020F0502020204030204" pitchFamily="34" charset="0"/>
              </a:rPr>
              <a:t>Application programs – define the ways in which the system resources are used to solve the computing problems of the users</a:t>
            </a:r>
          </a:p>
          <a:p>
            <a:pPr lvl="2"/>
            <a:r>
              <a:rPr lang="en-US" altLang="en-US" sz="1600" dirty="0">
                <a:latin typeface="Calibri" panose="020F0502020204030204" pitchFamily="34" charset="0"/>
                <a:cs typeface="Calibri" panose="020F0502020204030204" pitchFamily="34" charset="0"/>
              </a:rPr>
              <a:t>Word processors, compilers, web browsers, database systems, video games, etc.</a:t>
            </a:r>
          </a:p>
          <a:p>
            <a:pPr lvl="1"/>
            <a:r>
              <a:rPr lang="en-US" altLang="en-US" sz="1800" dirty="0">
                <a:cs typeface="Calibri" panose="020F0502020204030204" pitchFamily="34" charset="0"/>
              </a:rPr>
              <a:t>Users</a:t>
            </a:r>
          </a:p>
          <a:p>
            <a:pPr lvl="2"/>
            <a:r>
              <a:rPr lang="en-US" altLang="en-US" sz="1600" dirty="0">
                <a:latin typeface="Calibri" panose="020F0502020204030204" pitchFamily="34" charset="0"/>
                <a:cs typeface="Calibri" panose="020F0502020204030204" pitchFamily="34" charset="0"/>
              </a:rPr>
              <a:t>People, machines, other computers</a:t>
            </a:r>
          </a:p>
        </p:txBody>
      </p:sp>
      <p:sp>
        <p:nvSpPr>
          <p:cNvPr id="2" name="灯片编号占位符 1">
            <a:extLst>
              <a:ext uri="{FF2B5EF4-FFF2-40B4-BE49-F238E27FC236}">
                <a16:creationId xmlns:a16="http://schemas.microsoft.com/office/drawing/2014/main" id="{FFD2847D-0BAF-3E0C-3A58-39ADF6E2B24C}"/>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922868" y="136922"/>
            <a:ext cx="8221132" cy="432197"/>
          </a:xfrm>
        </p:spPr>
        <p:txBody>
          <a:bodyPr/>
          <a:lstStyle/>
          <a:p>
            <a:pPr eaLnBrk="1" hangingPunct="1"/>
            <a:r>
              <a:rPr lang="en-US" altLang="en-US" sz="3200" dirty="0"/>
              <a:t>Abstraction View of Components of Computers</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3034" y="1076796"/>
            <a:ext cx="4374678" cy="3101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D0CA40CE-6E64-E4F8-016B-C502C3E032F7}"/>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889000" y="151210"/>
            <a:ext cx="6691710" cy="432197"/>
          </a:xfrm>
        </p:spPr>
        <p:txBody>
          <a:bodyPr/>
          <a:lstStyle/>
          <a:p>
            <a:r>
              <a:rPr lang="en-US" altLang="en-US" sz="3200" dirty="0"/>
              <a:t>What Operating Systems Do (1)</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982133" y="809207"/>
            <a:ext cx="7628467" cy="2865326"/>
          </a:xfrm>
        </p:spPr>
        <p:txBody>
          <a:bodyPr/>
          <a:lstStyle/>
          <a:p>
            <a:pPr>
              <a:spcBef>
                <a:spcPts val="0"/>
              </a:spcBef>
            </a:pPr>
            <a:r>
              <a:rPr lang="en-US" altLang="en-US" sz="2000" dirty="0">
                <a:ea typeface="+mn-ea"/>
                <a:cs typeface="Calibri" panose="020F0502020204030204" pitchFamily="34" charset="0"/>
              </a:rPr>
              <a:t>Depends on the point of view</a:t>
            </a:r>
          </a:p>
          <a:p>
            <a:pPr>
              <a:spcBef>
                <a:spcPts val="0"/>
              </a:spcBef>
            </a:pPr>
            <a:r>
              <a:rPr lang="en-US" altLang="en-US" sz="2000" dirty="0">
                <a:ea typeface="+mn-ea"/>
                <a:cs typeface="Calibri" panose="020F0502020204030204" pitchFamily="34" charset="0"/>
              </a:rPr>
              <a:t>Users want convenience, </a:t>
            </a:r>
            <a:r>
              <a:rPr lang="en-US" altLang="en-US" sz="2000" b="1" dirty="0">
                <a:solidFill>
                  <a:srgbClr val="006699"/>
                </a:solidFill>
                <a:ea typeface="+mn-ea"/>
                <a:cs typeface="Calibri" panose="020F0502020204030204" pitchFamily="34" charset="0"/>
              </a:rPr>
              <a:t>ease of use </a:t>
            </a:r>
            <a:r>
              <a:rPr lang="en-US" altLang="en-US" sz="2000" dirty="0">
                <a:ea typeface="+mn-ea"/>
                <a:cs typeface="Calibri" panose="020F0502020204030204" pitchFamily="34" charset="0"/>
              </a:rPr>
              <a:t>and</a:t>
            </a:r>
            <a:r>
              <a:rPr lang="en-US" altLang="en-US" sz="2000" b="1" dirty="0">
                <a:solidFill>
                  <a:srgbClr val="3366FF"/>
                </a:solidFill>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good performance </a:t>
            </a:r>
          </a:p>
          <a:p>
            <a:pPr lvl="1">
              <a:spcBef>
                <a:spcPts val="0"/>
              </a:spcBef>
            </a:pPr>
            <a:r>
              <a:rPr lang="en-US" altLang="en-US" sz="1800" dirty="0">
                <a:ea typeface="+mn-ea"/>
                <a:cs typeface="Calibri" panose="020F0502020204030204" pitchFamily="34" charset="0"/>
              </a:rPr>
              <a:t>Don’</a:t>
            </a:r>
            <a:r>
              <a:rPr lang="en-US" altLang="ja-JP" sz="1800" dirty="0">
                <a:ea typeface="+mn-ea"/>
                <a:cs typeface="Calibri" panose="020F0502020204030204" pitchFamily="34" charset="0"/>
              </a:rPr>
              <a:t>t care about </a:t>
            </a:r>
            <a:r>
              <a:rPr lang="en-US" altLang="ja-JP" sz="1800" b="1" dirty="0">
                <a:solidFill>
                  <a:srgbClr val="006699"/>
                </a:solidFill>
                <a:ea typeface="+mn-ea"/>
                <a:cs typeface="Calibri" panose="020F0502020204030204" pitchFamily="34" charset="0"/>
              </a:rPr>
              <a:t>resource utilization</a:t>
            </a:r>
          </a:p>
          <a:p>
            <a:pPr>
              <a:spcBef>
                <a:spcPts val="0"/>
              </a:spcBef>
            </a:pPr>
            <a:r>
              <a:rPr lang="en-US" altLang="en-US" sz="2000" dirty="0">
                <a:ea typeface="+mn-ea"/>
                <a:cs typeface="Calibri" panose="020F0502020204030204" pitchFamily="34" charset="0"/>
              </a:rPr>
              <a:t>But shared computer such as </a:t>
            </a:r>
            <a:r>
              <a:rPr lang="en-US" altLang="en-US" sz="2000" b="1" dirty="0">
                <a:solidFill>
                  <a:srgbClr val="006699"/>
                </a:solidFill>
                <a:ea typeface="+mn-ea"/>
                <a:cs typeface="Calibri" panose="020F0502020204030204" pitchFamily="34" charset="0"/>
              </a:rPr>
              <a:t>mainframe</a:t>
            </a:r>
            <a:r>
              <a:rPr lang="en-US" altLang="en-US" sz="2000" dirty="0">
                <a:ea typeface="+mn-ea"/>
                <a:cs typeface="Calibri" panose="020F0502020204030204" pitchFamily="34" charset="0"/>
              </a:rPr>
              <a:t> or </a:t>
            </a:r>
            <a:r>
              <a:rPr lang="en-US" altLang="en-US" sz="2000" b="1" dirty="0">
                <a:solidFill>
                  <a:srgbClr val="006699"/>
                </a:solidFill>
                <a:ea typeface="+mn-ea"/>
                <a:cs typeface="Calibri" panose="020F0502020204030204" pitchFamily="34" charset="0"/>
              </a:rPr>
              <a:t>minicomputer</a:t>
            </a:r>
            <a:r>
              <a:rPr lang="en-US" altLang="en-US" sz="2000" dirty="0">
                <a:ea typeface="+mn-ea"/>
                <a:cs typeface="Calibri" panose="020F0502020204030204" pitchFamily="34" charset="0"/>
              </a:rPr>
              <a:t> must keep all users happy</a:t>
            </a:r>
          </a:p>
          <a:p>
            <a:pPr lvl="1">
              <a:spcBef>
                <a:spcPts val="0"/>
              </a:spcBef>
            </a:pPr>
            <a:r>
              <a:rPr lang="en-US" altLang="en-US" sz="1800" dirty="0">
                <a:ea typeface="+mn-ea"/>
                <a:cs typeface="Calibri" panose="020F0502020204030204" pitchFamily="34" charset="0"/>
              </a:rPr>
              <a:t>Operating system is a </a:t>
            </a:r>
            <a:r>
              <a:rPr lang="en-US" altLang="en-US" sz="1800" b="1" dirty="0">
                <a:solidFill>
                  <a:srgbClr val="006699"/>
                </a:solidFill>
                <a:ea typeface="+mn-ea"/>
                <a:cs typeface="Calibri" panose="020F0502020204030204" pitchFamily="34" charset="0"/>
              </a:rPr>
              <a:t>resource allocator </a:t>
            </a:r>
            <a:r>
              <a:rPr lang="en-US" altLang="en-US" sz="1800" dirty="0">
                <a:ea typeface="+mn-ea"/>
                <a:cs typeface="Calibri" panose="020F0502020204030204" pitchFamily="34" charset="0"/>
              </a:rPr>
              <a:t>and </a:t>
            </a:r>
            <a:r>
              <a:rPr lang="en-US" altLang="en-US" sz="1800" b="1" dirty="0">
                <a:solidFill>
                  <a:srgbClr val="006699"/>
                </a:solidFill>
                <a:ea typeface="+mn-ea"/>
                <a:cs typeface="Calibri" panose="020F0502020204030204" pitchFamily="34" charset="0"/>
              </a:rPr>
              <a:t>control program </a:t>
            </a:r>
            <a:r>
              <a:rPr lang="en-US" altLang="en-US" sz="1800" dirty="0">
                <a:ea typeface="+mn-ea"/>
                <a:cs typeface="Calibri" panose="020F0502020204030204" pitchFamily="34" charset="0"/>
              </a:rPr>
              <a:t>making efficient use of HW and managing execution of user programs</a:t>
            </a:r>
          </a:p>
          <a:p>
            <a:pPr>
              <a:spcBef>
                <a:spcPts val="0"/>
              </a:spcBef>
            </a:pPr>
            <a:r>
              <a:rPr lang="en-US" altLang="en-US" sz="2000" dirty="0">
                <a:ea typeface="+mn-ea"/>
                <a:cs typeface="Calibri" panose="020F0502020204030204" pitchFamily="34" charset="0"/>
              </a:rPr>
              <a:t>Users of dedicate systems such as </a:t>
            </a:r>
            <a:r>
              <a:rPr lang="en-US" altLang="en-US" sz="2000" b="1" dirty="0">
                <a:solidFill>
                  <a:srgbClr val="006699"/>
                </a:solidFill>
                <a:ea typeface="+mn-ea"/>
                <a:cs typeface="Calibri" panose="020F0502020204030204" pitchFamily="34" charset="0"/>
              </a:rPr>
              <a:t>workstations</a:t>
            </a:r>
            <a:r>
              <a:rPr lang="en-US" altLang="en-US" sz="2000" dirty="0">
                <a:ea typeface="+mn-ea"/>
                <a:cs typeface="Calibri" panose="020F0502020204030204" pitchFamily="34" charset="0"/>
              </a:rPr>
              <a:t> have dedicated resources but frequently use shared resources from </a:t>
            </a:r>
            <a:r>
              <a:rPr lang="en-US" altLang="en-US" sz="2000" b="1" dirty="0">
                <a:solidFill>
                  <a:srgbClr val="006699"/>
                </a:solidFill>
                <a:ea typeface="+mn-ea"/>
                <a:cs typeface="Calibri" panose="020F0502020204030204" pitchFamily="34" charset="0"/>
              </a:rPr>
              <a:t>servers</a:t>
            </a:r>
          </a:p>
        </p:txBody>
      </p:sp>
      <p:sp>
        <p:nvSpPr>
          <p:cNvPr id="2" name="灯片编号占位符 1">
            <a:extLst>
              <a:ext uri="{FF2B5EF4-FFF2-40B4-BE49-F238E27FC236}">
                <a16:creationId xmlns:a16="http://schemas.microsoft.com/office/drawing/2014/main" id="{0A1ACF09-3AFE-D8C1-BCB5-E9D99A02CC00}"/>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889000" y="151210"/>
            <a:ext cx="6691710" cy="432197"/>
          </a:xfrm>
        </p:spPr>
        <p:txBody>
          <a:bodyPr/>
          <a:lstStyle/>
          <a:p>
            <a:r>
              <a:rPr lang="en-US" altLang="en-US" sz="3200" dirty="0"/>
              <a:t>What Operating Systems Do (2)</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939800" y="817674"/>
            <a:ext cx="7814733" cy="2136399"/>
          </a:xfrm>
        </p:spPr>
        <p:txBody>
          <a:bodyPr/>
          <a:lstStyle/>
          <a:p>
            <a:pPr>
              <a:spcBef>
                <a:spcPts val="0"/>
              </a:spcBef>
            </a:pPr>
            <a:r>
              <a:rPr lang="en-US" altLang="en-US" sz="2000" dirty="0">
                <a:solidFill>
                  <a:srgbClr val="000000"/>
                </a:solidFill>
                <a:ea typeface="+mn-ea"/>
                <a:cs typeface="Calibri" panose="020F0502020204030204" pitchFamily="34" charset="0"/>
              </a:rPr>
              <a:t>Mobile devices like smartphones and tables are resource poor,  optimized for usability and battery life</a:t>
            </a:r>
          </a:p>
          <a:p>
            <a:pPr lvl="1">
              <a:spcBef>
                <a:spcPts val="0"/>
              </a:spcBef>
            </a:pPr>
            <a:r>
              <a:rPr lang="en-US" altLang="en-US" sz="1800" dirty="0">
                <a:solidFill>
                  <a:srgbClr val="000000"/>
                </a:solidFill>
                <a:ea typeface="+mn-ea"/>
                <a:cs typeface="Calibri" panose="020F0502020204030204" pitchFamily="34" charset="0"/>
              </a:rPr>
              <a:t>Mobile user interfaces such as touch screens, voice recognition</a:t>
            </a:r>
          </a:p>
          <a:p>
            <a:pPr>
              <a:spcBef>
                <a:spcPts val="0"/>
              </a:spcBef>
            </a:pPr>
            <a:r>
              <a:rPr lang="en-US" altLang="en-US" sz="2000" dirty="0">
                <a:solidFill>
                  <a:srgbClr val="000000"/>
                </a:solidFill>
                <a:ea typeface="+mn-ea"/>
                <a:cs typeface="Calibri" panose="020F0502020204030204" pitchFamily="34" charset="0"/>
              </a:rPr>
              <a:t>Some computers have little or no user interface, such as embedded computers in devices and automobiles</a:t>
            </a:r>
          </a:p>
          <a:p>
            <a:pPr lvl="1">
              <a:spcBef>
                <a:spcPts val="0"/>
              </a:spcBef>
            </a:pPr>
            <a:r>
              <a:rPr lang="en-US" altLang="en-US" sz="1800" dirty="0">
                <a:solidFill>
                  <a:srgbClr val="000000"/>
                </a:solidFill>
                <a:ea typeface="+mn-ea"/>
                <a:cs typeface="Calibri" panose="020F0502020204030204" pitchFamily="34" charset="0"/>
              </a:rPr>
              <a:t>Run primarily without user intervention</a:t>
            </a:r>
          </a:p>
        </p:txBody>
      </p:sp>
      <p:sp>
        <p:nvSpPr>
          <p:cNvPr id="2" name="灯片编号占位符 1">
            <a:extLst>
              <a:ext uri="{FF2B5EF4-FFF2-40B4-BE49-F238E27FC236}">
                <a16:creationId xmlns:a16="http://schemas.microsoft.com/office/drawing/2014/main" id="{0A1ACF09-3AFE-D8C1-BCB5-E9D99A02CC00}"/>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extLst>
      <p:ext uri="{BB962C8B-B14F-4D97-AF65-F5344CB8AC3E}">
        <p14:creationId xmlns:p14="http://schemas.microsoft.com/office/powerpoint/2010/main" val="4225263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914400" y="146447"/>
            <a:ext cx="6617494" cy="432197"/>
          </a:xfrm>
        </p:spPr>
        <p:txBody>
          <a:bodyPr/>
          <a:lstStyle/>
          <a:p>
            <a:pPr eaLnBrk="1" hangingPunct="1"/>
            <a:r>
              <a:rPr lang="en-US" altLang="en-US" sz="3200" dirty="0"/>
              <a:t>Operating Sy</a:t>
            </a:r>
            <a:r>
              <a:rPr kumimoji="1" lang="en-US" altLang="en-US" sz="3200" dirty="0"/>
              <a:t>st</a:t>
            </a:r>
            <a:r>
              <a:rPr lang="en-US" altLang="en-US" sz="3200" dirty="0"/>
              <a:t>em Definition (1)</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999063" y="813856"/>
            <a:ext cx="7222067" cy="2298626"/>
          </a:xfrm>
        </p:spPr>
        <p:txBody>
          <a:bodyPr/>
          <a:lstStyle/>
          <a:p>
            <a:r>
              <a:rPr lang="en-US" altLang="en-US" sz="2000" dirty="0"/>
              <a:t>Term OS covers many roles</a:t>
            </a:r>
          </a:p>
          <a:p>
            <a:pPr lvl="1"/>
            <a:r>
              <a:rPr lang="en-US" altLang="en-US" sz="1800" dirty="0"/>
              <a:t>Because of myriad designs and uses of OSes</a:t>
            </a:r>
          </a:p>
          <a:p>
            <a:pPr lvl="1"/>
            <a:r>
              <a:rPr lang="en-US" altLang="en-US" sz="1800" dirty="0"/>
              <a:t>Present in toasters through ships, spacecraft, game machines, TVs and industrial control systems</a:t>
            </a:r>
          </a:p>
          <a:p>
            <a:pPr lvl="1"/>
            <a:r>
              <a:rPr lang="en-US" altLang="en-US" sz="1800" dirty="0"/>
              <a:t>Born when fixed use computers for military became more general purpose and needed resource management and program control</a:t>
            </a:r>
          </a:p>
        </p:txBody>
      </p:sp>
      <p:sp>
        <p:nvSpPr>
          <p:cNvPr id="2" name="灯片编号占位符 1">
            <a:extLst>
              <a:ext uri="{FF2B5EF4-FFF2-40B4-BE49-F238E27FC236}">
                <a16:creationId xmlns:a16="http://schemas.microsoft.com/office/drawing/2014/main" id="{8DAD58B5-C534-C791-8299-AE89681DE71F}"/>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895150" y="148828"/>
            <a:ext cx="6672464" cy="432197"/>
          </a:xfrm>
        </p:spPr>
        <p:txBody>
          <a:bodyPr/>
          <a:lstStyle/>
          <a:p>
            <a:pPr eaLnBrk="1" hangingPunct="1"/>
            <a:r>
              <a:rPr lang="en-US" altLang="en-US" sz="3200" dirty="0"/>
              <a:t>Operating Sy</a:t>
            </a:r>
            <a:r>
              <a:rPr kumimoji="1" lang="en-US" altLang="en-US" sz="3200" dirty="0"/>
              <a:t>st</a:t>
            </a:r>
            <a:r>
              <a:rPr lang="en-US" altLang="en-US" sz="3200" dirty="0"/>
              <a:t>em Definition (2)</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895150" y="827773"/>
            <a:ext cx="7767587" cy="2531444"/>
          </a:xfrm>
        </p:spPr>
        <p:txBody>
          <a:bodyPr/>
          <a:lstStyle/>
          <a:p>
            <a:r>
              <a:rPr lang="en-US" altLang="en-US" sz="2000" dirty="0">
                <a:ea typeface="+mn-ea"/>
                <a:cs typeface="Calibri" panose="020F0502020204030204" pitchFamily="34" charset="0"/>
              </a:rPr>
              <a:t>No universally accepted definition</a:t>
            </a:r>
          </a:p>
          <a:p>
            <a:r>
              <a:rPr lang="en-US" altLang="ja-JP" sz="2000" dirty="0">
                <a:ea typeface="+mn-ea"/>
                <a:cs typeface="Calibri" panose="020F0502020204030204" pitchFamily="34" charset="0"/>
              </a:rPr>
              <a:t>“Everything a vendor ships when you order an operating system” is a good approximation</a:t>
            </a:r>
          </a:p>
          <a:p>
            <a:pPr lvl="1"/>
            <a:r>
              <a:rPr lang="en-US" altLang="en-US" sz="2000" dirty="0">
                <a:ea typeface="+mn-ea"/>
                <a:cs typeface="Calibri" panose="020F0502020204030204" pitchFamily="34" charset="0"/>
              </a:rPr>
              <a:t>But varies wildly</a:t>
            </a:r>
          </a:p>
          <a:p>
            <a:r>
              <a:rPr lang="en-US" altLang="ja-JP" sz="2000" dirty="0">
                <a:ea typeface="+mn-ea"/>
                <a:cs typeface="Calibri" panose="020F0502020204030204" pitchFamily="34" charset="0"/>
              </a:rPr>
              <a:t>“The one program running at all times on the computer”</a:t>
            </a:r>
            <a:r>
              <a:rPr lang="ja-JP" altLang="en-US" sz="2000" dirty="0">
                <a:ea typeface="+mn-ea"/>
                <a:cs typeface="Calibri" panose="020F0502020204030204" pitchFamily="34" charset="0"/>
              </a:rPr>
              <a:t> </a:t>
            </a:r>
            <a:r>
              <a:rPr lang="en-US" altLang="ja-JP" sz="2000" dirty="0">
                <a:ea typeface="+mn-ea"/>
                <a:cs typeface="Calibri" panose="020F0502020204030204" pitchFamily="34" charset="0"/>
              </a:rPr>
              <a:t>is the </a:t>
            </a:r>
            <a:r>
              <a:rPr lang="en-US" altLang="ja-JP" sz="2000" b="1" dirty="0">
                <a:solidFill>
                  <a:srgbClr val="006699"/>
                </a:solidFill>
                <a:ea typeface="+mn-ea"/>
                <a:cs typeface="Calibri" panose="020F0502020204030204" pitchFamily="34" charset="0"/>
              </a:rPr>
              <a:t>kernel, </a:t>
            </a:r>
            <a:r>
              <a:rPr lang="en-US" altLang="ja-JP" sz="2000" dirty="0">
                <a:ea typeface="+mn-ea"/>
                <a:cs typeface="Calibri" panose="020F0502020204030204" pitchFamily="34" charset="0"/>
              </a:rPr>
              <a:t>part of the operating system</a:t>
            </a:r>
          </a:p>
        </p:txBody>
      </p:sp>
      <p:sp>
        <p:nvSpPr>
          <p:cNvPr id="2" name="灯片编号占位符 1">
            <a:extLst>
              <a:ext uri="{FF2B5EF4-FFF2-40B4-BE49-F238E27FC236}">
                <a16:creationId xmlns:a16="http://schemas.microsoft.com/office/drawing/2014/main" id="{26F90872-60F9-1848-DEF7-A36081FCED60}"/>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895150" y="148828"/>
            <a:ext cx="6672464" cy="432197"/>
          </a:xfrm>
        </p:spPr>
        <p:txBody>
          <a:bodyPr/>
          <a:lstStyle/>
          <a:p>
            <a:pPr eaLnBrk="1" hangingPunct="1"/>
            <a:r>
              <a:rPr lang="en-US" altLang="en-US" sz="3200" dirty="0"/>
              <a:t>Operating Sy</a:t>
            </a:r>
            <a:r>
              <a:rPr kumimoji="1" lang="en-US" altLang="en-US" sz="3200" dirty="0"/>
              <a:t>st</a:t>
            </a:r>
            <a:r>
              <a:rPr lang="en-US" altLang="en-US" sz="3200" dirty="0"/>
              <a:t>em Definition (3)</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895150" y="837398"/>
            <a:ext cx="7632833" cy="3166712"/>
          </a:xfrm>
        </p:spPr>
        <p:txBody>
          <a:bodyPr/>
          <a:lstStyle/>
          <a:p>
            <a:r>
              <a:rPr lang="en-US" altLang="ja-JP" sz="2000" dirty="0">
                <a:ea typeface="+mn-ea"/>
                <a:cs typeface="Calibri" panose="020F0502020204030204" pitchFamily="34" charset="0"/>
              </a:rPr>
              <a:t>Everything else is either</a:t>
            </a:r>
          </a:p>
          <a:p>
            <a:pPr lvl="1"/>
            <a:r>
              <a:rPr lang="en-US" altLang="ja-JP" sz="2000" dirty="0">
                <a:ea typeface="+mn-ea"/>
                <a:cs typeface="Calibri" panose="020F0502020204030204" pitchFamily="34" charset="0"/>
              </a:rPr>
              <a:t>A </a:t>
            </a:r>
            <a:r>
              <a:rPr lang="en-US" altLang="ja-JP" sz="2000" b="1" i="1" dirty="0">
                <a:solidFill>
                  <a:srgbClr val="006699"/>
                </a:solidFill>
                <a:ea typeface="+mn-ea"/>
                <a:cs typeface="Calibri" panose="020F0502020204030204" pitchFamily="34" charset="0"/>
              </a:rPr>
              <a:t>system program</a:t>
            </a:r>
            <a:r>
              <a:rPr lang="en-US" altLang="ja-JP" sz="2000" b="1" dirty="0">
                <a:solidFill>
                  <a:srgbClr val="3366FF"/>
                </a:solidFill>
                <a:ea typeface="+mn-ea"/>
                <a:cs typeface="Calibri" panose="020F0502020204030204" pitchFamily="34" charset="0"/>
              </a:rPr>
              <a:t> </a:t>
            </a:r>
            <a:r>
              <a:rPr lang="en-US" altLang="ja-JP" sz="2000" dirty="0">
                <a:ea typeface="+mn-ea"/>
                <a:cs typeface="Calibri" panose="020F0502020204030204" pitchFamily="34" charset="0"/>
              </a:rPr>
              <a:t>(ships with the operating system, but not part of the kernel) , or</a:t>
            </a:r>
          </a:p>
          <a:p>
            <a:pPr lvl="1"/>
            <a:r>
              <a:rPr lang="en-US" altLang="ja-JP" sz="2000" dirty="0">
                <a:ea typeface="+mn-ea"/>
                <a:cs typeface="Calibri" panose="020F0502020204030204" pitchFamily="34" charset="0"/>
              </a:rPr>
              <a:t>An </a:t>
            </a:r>
            <a:r>
              <a:rPr lang="en-US" altLang="ja-JP" sz="2000" b="1" i="1" dirty="0">
                <a:solidFill>
                  <a:srgbClr val="006699"/>
                </a:solidFill>
                <a:ea typeface="+mn-ea"/>
                <a:cs typeface="Calibri" panose="020F0502020204030204" pitchFamily="34" charset="0"/>
              </a:rPr>
              <a:t>application program</a:t>
            </a:r>
            <a:r>
              <a:rPr lang="en-US" altLang="ja-JP" sz="2000" dirty="0">
                <a:ea typeface="+mn-ea"/>
                <a:cs typeface="Calibri" panose="020F0502020204030204" pitchFamily="34" charset="0"/>
              </a:rPr>
              <a:t>, all programs not associated with the operating system</a:t>
            </a:r>
          </a:p>
          <a:p>
            <a:r>
              <a:rPr lang="en-US" altLang="en-US" sz="2000" dirty="0">
                <a:ea typeface="+mn-ea"/>
                <a:cs typeface="Calibri" panose="020F0502020204030204" pitchFamily="34" charset="0"/>
              </a:rPr>
              <a:t>Today’s OSes for general purpose and mobile computing also include </a:t>
            </a:r>
            <a:r>
              <a:rPr lang="en-US" altLang="en-US" sz="2000" b="1" i="1" dirty="0">
                <a:solidFill>
                  <a:srgbClr val="006699"/>
                </a:solidFill>
                <a:ea typeface="+mn-ea"/>
                <a:cs typeface="Calibri" panose="020F0502020204030204" pitchFamily="34" charset="0"/>
              </a:rPr>
              <a:t>middleware</a:t>
            </a:r>
            <a:r>
              <a:rPr lang="en-US" altLang="en-US" sz="2000" dirty="0">
                <a:ea typeface="+mn-ea"/>
                <a:cs typeface="Calibri" panose="020F0502020204030204" pitchFamily="34" charset="0"/>
              </a:rPr>
              <a:t> – a set of software frameworks that provide additional services to application developers such as databases, multimedia, graphics </a:t>
            </a:r>
          </a:p>
        </p:txBody>
      </p:sp>
      <p:sp>
        <p:nvSpPr>
          <p:cNvPr id="2" name="灯片编号占位符 1">
            <a:extLst>
              <a:ext uri="{FF2B5EF4-FFF2-40B4-BE49-F238E27FC236}">
                <a16:creationId xmlns:a16="http://schemas.microsoft.com/office/drawing/2014/main" id="{26F90872-60F9-1848-DEF7-A36081FCED60}"/>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extLst>
      <p:ext uri="{BB962C8B-B14F-4D97-AF65-F5344CB8AC3E}">
        <p14:creationId xmlns:p14="http://schemas.microsoft.com/office/powerpoint/2010/main" val="2019765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924025" y="160735"/>
            <a:ext cx="6599535" cy="432197"/>
          </a:xfrm>
        </p:spPr>
        <p:txBody>
          <a:bodyPr/>
          <a:lstStyle/>
          <a:p>
            <a:pPr eaLnBrk="1" hangingPunct="1"/>
            <a:r>
              <a:rPr lang="en-US" altLang="en-US" sz="3200" dirty="0"/>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029903" y="812102"/>
            <a:ext cx="7603958" cy="1398984"/>
          </a:xfrm>
        </p:spPr>
        <p:txBody>
          <a:bodyPr/>
          <a:lstStyle/>
          <a:p>
            <a:r>
              <a:rPr lang="en-US" altLang="en-US" sz="2000" dirty="0">
                <a:ea typeface="+mn-ea"/>
                <a:cs typeface="Calibri" panose="020F0502020204030204" pitchFamily="34" charset="0"/>
              </a:rPr>
              <a:t>Computer system operation</a:t>
            </a:r>
          </a:p>
          <a:p>
            <a:pPr lvl="1"/>
            <a:r>
              <a:rPr lang="en-US" altLang="en-US" sz="1800" dirty="0">
                <a:ea typeface="+mn-ea"/>
                <a:cs typeface="Calibri" panose="020F0502020204030204" pitchFamily="34" charset="0"/>
              </a:rPr>
              <a:t>One or more CPUs, device controllers connect through common </a:t>
            </a:r>
            <a:r>
              <a:rPr lang="en-US" altLang="en-US" sz="1800" b="1" dirty="0">
                <a:solidFill>
                  <a:srgbClr val="006699"/>
                </a:solidFill>
                <a:ea typeface="+mn-ea"/>
                <a:cs typeface="Calibri" panose="020F0502020204030204" pitchFamily="34" charset="0"/>
              </a:rPr>
              <a:t>bus</a:t>
            </a:r>
            <a:r>
              <a:rPr lang="en-US" altLang="en-US" sz="1800" dirty="0">
                <a:ea typeface="+mn-ea"/>
                <a:cs typeface="Calibri" panose="020F0502020204030204" pitchFamily="34" charset="0"/>
              </a:rPr>
              <a:t> providing access to shared memory</a:t>
            </a:r>
          </a:p>
          <a:p>
            <a:pPr lvl="1"/>
            <a:r>
              <a:rPr lang="en-US" altLang="en-US" sz="1800" dirty="0">
                <a:ea typeface="+mn-ea"/>
                <a:cs typeface="Calibri" panose="020F0502020204030204" pitchFamily="34" charset="0"/>
              </a:rPr>
              <a:t>Concurrent execution of CPUs and devices competing for memory cycles</a:t>
            </a:r>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2977" y="2211086"/>
            <a:ext cx="4734144" cy="2309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55E042F-BDD6-68D0-E71E-28B52B316CD8}"/>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75899" y="165497"/>
            <a:ext cx="6635755" cy="432197"/>
          </a:xfrm>
        </p:spPr>
        <p:txBody>
          <a:bodyPr/>
          <a:lstStyle/>
          <a:p>
            <a:pPr eaLnBrk="1" hangingPunct="1"/>
            <a:r>
              <a:rPr lang="en-US" altLang="en-US" sz="3200" dirty="0"/>
              <a:t>Computer 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981778" y="806062"/>
            <a:ext cx="7459578" cy="3377376"/>
          </a:xfrm>
        </p:spPr>
        <p:txBody>
          <a:bodyPr/>
          <a:lstStyle/>
          <a:p>
            <a:r>
              <a:rPr lang="en-US" altLang="en-US" sz="2000" dirty="0">
                <a:ea typeface="+mn-ea"/>
                <a:cs typeface="Calibri" panose="020F0502020204030204" pitchFamily="34" charset="0"/>
              </a:rPr>
              <a:t>I/O devices and the CPU can execute concurrently</a:t>
            </a:r>
          </a:p>
          <a:p>
            <a:r>
              <a:rPr lang="en-US" altLang="en-US" sz="2000" dirty="0">
                <a:ea typeface="+mn-ea"/>
                <a:cs typeface="Calibri" panose="020F0502020204030204" pitchFamily="34" charset="0"/>
              </a:rPr>
              <a:t>Each device controller is in charge of a particular device type</a:t>
            </a:r>
          </a:p>
          <a:p>
            <a:r>
              <a:rPr lang="en-US" altLang="en-US" sz="2000" dirty="0">
                <a:ea typeface="+mn-ea"/>
                <a:cs typeface="Calibri" panose="020F0502020204030204" pitchFamily="34" charset="0"/>
              </a:rPr>
              <a:t>Each device controller has a local buffer</a:t>
            </a:r>
          </a:p>
          <a:p>
            <a:r>
              <a:rPr lang="en-US" altLang="en-US" sz="2000" dirty="0">
                <a:ea typeface="+mn-ea"/>
                <a:cs typeface="Calibri" panose="020F0502020204030204" pitchFamily="34" charset="0"/>
              </a:rPr>
              <a:t>Each device controller type has an operating system </a:t>
            </a:r>
            <a:r>
              <a:rPr lang="en-US" altLang="en-US" sz="2000" b="1" dirty="0">
                <a:solidFill>
                  <a:srgbClr val="006699"/>
                </a:solidFill>
                <a:ea typeface="+mn-ea"/>
                <a:cs typeface="Calibri" panose="020F0502020204030204" pitchFamily="34" charset="0"/>
              </a:rPr>
              <a:t>device driver</a:t>
            </a:r>
            <a:r>
              <a:rPr lang="en-US" altLang="en-US" sz="2000" dirty="0">
                <a:ea typeface="+mn-ea"/>
                <a:cs typeface="Calibri" panose="020F0502020204030204" pitchFamily="34" charset="0"/>
              </a:rPr>
              <a:t> to manage it</a:t>
            </a:r>
          </a:p>
          <a:p>
            <a:r>
              <a:rPr lang="en-US" altLang="en-US" sz="2000" dirty="0">
                <a:ea typeface="+mn-ea"/>
                <a:cs typeface="Calibri" panose="020F0502020204030204" pitchFamily="34" charset="0"/>
              </a:rPr>
              <a:t>CPU moves data from/to main memory to/from local buffers</a:t>
            </a:r>
          </a:p>
          <a:p>
            <a:r>
              <a:rPr lang="en-US" altLang="en-US" sz="2000" dirty="0">
                <a:ea typeface="+mn-ea"/>
                <a:cs typeface="Calibri" panose="020F0502020204030204" pitchFamily="34" charset="0"/>
              </a:rPr>
              <a:t>I/O is from the device to local buffer of controller</a:t>
            </a:r>
          </a:p>
          <a:p>
            <a:r>
              <a:rPr lang="en-US" altLang="en-US" sz="2000" dirty="0">
                <a:ea typeface="+mn-ea"/>
                <a:cs typeface="Calibri" panose="020F0502020204030204" pitchFamily="34" charset="0"/>
              </a:rPr>
              <a:t>Device controller informs CPU that it has finished its operation by causing an </a:t>
            </a:r>
            <a:r>
              <a:rPr lang="en-US" altLang="en-US" sz="2000" b="1" dirty="0">
                <a:solidFill>
                  <a:srgbClr val="006699"/>
                </a:solidFill>
                <a:ea typeface="+mn-ea"/>
                <a:cs typeface="Calibri" panose="020F0502020204030204" pitchFamily="34" charset="0"/>
              </a:rPr>
              <a:t>interrupt</a:t>
            </a:r>
          </a:p>
        </p:txBody>
      </p:sp>
      <p:sp>
        <p:nvSpPr>
          <p:cNvPr id="2" name="灯片编号占位符 1">
            <a:extLst>
              <a:ext uri="{FF2B5EF4-FFF2-40B4-BE49-F238E27FC236}">
                <a16:creationId xmlns:a16="http://schemas.microsoft.com/office/drawing/2014/main" id="{142038AD-5891-D6D8-6412-3BDF4DB935E5}"/>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875899" y="146447"/>
            <a:ext cx="6670283" cy="432197"/>
          </a:xfrm>
        </p:spPr>
        <p:txBody>
          <a:bodyPr/>
          <a:lstStyle/>
          <a:p>
            <a:pPr eaLnBrk="1" hangingPunct="1"/>
            <a:r>
              <a:rPr lang="en-US" altLang="en-US" sz="3200" dirty="0"/>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1020130" y="877271"/>
            <a:ext cx="7392350" cy="2876582"/>
          </a:xfrm>
        </p:spPr>
        <p:txBody>
          <a:bodyPr/>
          <a:lstStyle/>
          <a:p>
            <a:r>
              <a:rPr lang="en-US" altLang="en-US" sz="2000" dirty="0">
                <a:ea typeface="+mn-ea"/>
                <a:cs typeface="Calibri" panose="020F0502020204030204" pitchFamily="34" charset="0"/>
              </a:rPr>
              <a:t>Interrupt transfers control to the interrupt service routine generally, through the </a:t>
            </a:r>
            <a:r>
              <a:rPr lang="en-US" altLang="en-US" sz="2000" b="1" dirty="0">
                <a:solidFill>
                  <a:srgbClr val="006699"/>
                </a:solidFill>
                <a:ea typeface="+mn-ea"/>
                <a:cs typeface="Calibri" panose="020F0502020204030204" pitchFamily="34" charset="0"/>
              </a:rPr>
              <a:t>interrupt vector</a:t>
            </a:r>
            <a:r>
              <a:rPr lang="en-US" altLang="en-US" sz="2000" dirty="0">
                <a:ea typeface="+mn-ea"/>
                <a:cs typeface="Calibri" panose="020F0502020204030204" pitchFamily="34" charset="0"/>
              </a:rPr>
              <a:t>, which contains the addresses of all the service routines</a:t>
            </a:r>
          </a:p>
          <a:p>
            <a:r>
              <a:rPr lang="en-US" altLang="en-US" sz="2000" dirty="0">
                <a:ea typeface="+mn-ea"/>
                <a:cs typeface="Calibri" panose="020F0502020204030204" pitchFamily="34" charset="0"/>
              </a:rPr>
              <a:t>Interrupt architecture must save the address of the interrupted instruction</a:t>
            </a:r>
            <a:endParaRPr lang="en-US" altLang="en-US" sz="2000" i="1" dirty="0">
              <a:ea typeface="+mn-ea"/>
              <a:cs typeface="Calibri" panose="020F0502020204030204" pitchFamily="34" charset="0"/>
            </a:endParaRPr>
          </a:p>
          <a:p>
            <a:r>
              <a:rPr lang="en-US" altLang="en-US" sz="2000" dirty="0">
                <a:ea typeface="+mn-ea"/>
                <a:cs typeface="Calibri" panose="020F0502020204030204" pitchFamily="34" charset="0"/>
              </a:rPr>
              <a:t>A </a:t>
            </a:r>
            <a:r>
              <a:rPr lang="en-US" altLang="en-US" sz="2000" b="1" dirty="0">
                <a:solidFill>
                  <a:srgbClr val="006699"/>
                </a:solidFill>
                <a:ea typeface="+mn-ea"/>
                <a:cs typeface="Calibri" panose="020F0502020204030204" pitchFamily="34" charset="0"/>
              </a:rPr>
              <a:t>trap</a:t>
            </a:r>
            <a:r>
              <a:rPr lang="en-US" altLang="en-US" sz="2000" dirty="0">
                <a:ea typeface="+mn-ea"/>
                <a:cs typeface="Calibri" panose="020F0502020204030204" pitchFamily="34" charset="0"/>
              </a:rPr>
              <a:t> or </a:t>
            </a:r>
            <a:r>
              <a:rPr lang="en-US" altLang="en-US" sz="2000" b="1" dirty="0">
                <a:solidFill>
                  <a:srgbClr val="006699"/>
                </a:solidFill>
                <a:ea typeface="+mn-ea"/>
                <a:cs typeface="Calibri" panose="020F0502020204030204" pitchFamily="34" charset="0"/>
              </a:rPr>
              <a:t>exception </a:t>
            </a:r>
            <a:r>
              <a:rPr lang="en-US" altLang="en-US" sz="2000" dirty="0">
                <a:ea typeface="+mn-ea"/>
                <a:cs typeface="Calibri" panose="020F0502020204030204" pitchFamily="34" charset="0"/>
              </a:rPr>
              <a:t>is a software-generated interrupt caused either by an error or a user request</a:t>
            </a:r>
          </a:p>
          <a:p>
            <a:r>
              <a:rPr lang="en-US" altLang="en-US" sz="2000" dirty="0">
                <a:ea typeface="+mn-ea"/>
                <a:cs typeface="Calibri" panose="020F0502020204030204" pitchFamily="34" charset="0"/>
              </a:rPr>
              <a:t>An operating system is </a:t>
            </a:r>
            <a:r>
              <a:rPr lang="en-US" altLang="en-US" sz="2000" b="1" dirty="0">
                <a:solidFill>
                  <a:srgbClr val="006699"/>
                </a:solidFill>
                <a:ea typeface="+mn-ea"/>
                <a:cs typeface="Calibri" panose="020F0502020204030204" pitchFamily="34" charset="0"/>
              </a:rPr>
              <a:t>interrupt driven</a:t>
            </a:r>
          </a:p>
        </p:txBody>
      </p:sp>
      <p:sp>
        <p:nvSpPr>
          <p:cNvPr id="2" name="灯片编号占位符 1">
            <a:extLst>
              <a:ext uri="{FF2B5EF4-FFF2-40B4-BE49-F238E27FC236}">
                <a16:creationId xmlns:a16="http://schemas.microsoft.com/office/drawing/2014/main" id="{E4B3E11B-A1D4-225C-D28F-A4BB4479C6FD}"/>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904775" y="146447"/>
            <a:ext cx="6619975" cy="432197"/>
          </a:xfrm>
        </p:spPr>
        <p:txBody>
          <a:bodyPr/>
          <a:lstStyle/>
          <a:p>
            <a:pPr eaLnBrk="1" hangingPunct="1"/>
            <a:r>
              <a:rPr lang="en-US" altLang="en-US" sz="3200" dirty="0"/>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768" y="943278"/>
            <a:ext cx="8121166" cy="3545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0D3AC3B-0920-1BC0-B79E-F787EEF53207}"/>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895149" y="101229"/>
            <a:ext cx="6681989" cy="485912"/>
          </a:xfrm>
        </p:spPr>
        <p:txBody>
          <a:bodyPr/>
          <a:lstStyle/>
          <a:p>
            <a:pPr eaLnBrk="1" hangingPunct="1"/>
            <a:r>
              <a:rPr lang="en-US" altLang="en-US" sz="3200" dirty="0"/>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95149" y="925117"/>
            <a:ext cx="7421078" cy="3144466"/>
          </a:xfrm>
        </p:spPr>
        <p:txBody>
          <a:bodyPr/>
          <a:lstStyle/>
          <a:p>
            <a:r>
              <a:rPr lang="en-US" altLang="en-US" sz="2000" dirty="0"/>
              <a:t>The operating system preserves the state of the CPU by storing the registers and the program counter</a:t>
            </a:r>
          </a:p>
          <a:p>
            <a:r>
              <a:rPr lang="en-US" altLang="en-US" sz="2000" dirty="0"/>
              <a:t>Determines which type of interrupt has occurred</a:t>
            </a:r>
          </a:p>
          <a:p>
            <a:r>
              <a:rPr lang="en-US" altLang="en-US" sz="2000" dirty="0"/>
              <a:t>Separate segments of code determine what action should be taken for each type of interrupt</a:t>
            </a:r>
          </a:p>
        </p:txBody>
      </p:sp>
      <p:sp>
        <p:nvSpPr>
          <p:cNvPr id="2" name="灯片编号占位符 1">
            <a:extLst>
              <a:ext uri="{FF2B5EF4-FFF2-40B4-BE49-F238E27FC236}">
                <a16:creationId xmlns:a16="http://schemas.microsoft.com/office/drawing/2014/main" id="{4967AD19-C46D-ED2A-D6C2-9251EF806525}"/>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914400" y="160735"/>
            <a:ext cx="6659166" cy="432197"/>
          </a:xfrm>
        </p:spPr>
        <p:txBody>
          <a:bodyPr/>
          <a:lstStyle/>
          <a:p>
            <a:pPr eaLnBrk="1" hangingPunct="1"/>
            <a:r>
              <a:rPr lang="en-US" altLang="en-US" sz="3200" dirty="0"/>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5971" y="663441"/>
            <a:ext cx="3985042" cy="3927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9B5EC80-5BB8-1C70-32CE-957042DAEFF8}"/>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914400" y="159544"/>
            <a:ext cx="6646069" cy="432197"/>
          </a:xfrm>
        </p:spPr>
        <p:txBody>
          <a:bodyPr/>
          <a:lstStyle/>
          <a:p>
            <a:pPr eaLnBrk="1" hangingPunct="1"/>
            <a:r>
              <a:rPr lang="en-US" altLang="en-US" sz="3200" dirty="0"/>
              <a:t>I/O Structure (1)</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914400" y="933450"/>
            <a:ext cx="7873465" cy="3263977"/>
          </a:xfrm>
        </p:spPr>
        <p:txBody>
          <a:bodyPr/>
          <a:lstStyle/>
          <a:p>
            <a:pPr>
              <a:lnSpc>
                <a:spcPct val="90000"/>
              </a:lnSpc>
            </a:pPr>
            <a:r>
              <a:rPr lang="en-US" altLang="en-US" sz="2000" dirty="0"/>
              <a:t>Two methods for handling I/O</a:t>
            </a:r>
          </a:p>
          <a:p>
            <a:pPr lvl="1">
              <a:lnSpc>
                <a:spcPct val="90000"/>
              </a:lnSpc>
            </a:pPr>
            <a:r>
              <a:rPr lang="en-US" altLang="en-US" sz="1800" dirty="0"/>
              <a:t>After I/O starts, control returns to user program only upon I/O completion</a:t>
            </a:r>
          </a:p>
          <a:p>
            <a:pPr lvl="1">
              <a:lnSpc>
                <a:spcPct val="90000"/>
              </a:lnSpc>
            </a:pPr>
            <a:r>
              <a:rPr lang="en-US" altLang="en-US" sz="1800" dirty="0"/>
              <a:t>After I/O starts, control returns to user program without waiting for I/O completion</a:t>
            </a:r>
          </a:p>
        </p:txBody>
      </p:sp>
      <p:sp>
        <p:nvSpPr>
          <p:cNvPr id="2" name="灯片编号占位符 1">
            <a:extLst>
              <a:ext uri="{FF2B5EF4-FFF2-40B4-BE49-F238E27FC236}">
                <a16:creationId xmlns:a16="http://schemas.microsoft.com/office/drawing/2014/main" id="{227C4C62-03C9-34BE-0532-FCBD004E0D81}"/>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Tree>
    <p:extLst>
      <p:ext uri="{BB962C8B-B14F-4D97-AF65-F5344CB8AC3E}">
        <p14:creationId xmlns:p14="http://schemas.microsoft.com/office/powerpoint/2010/main" val="1570063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885524" y="159544"/>
            <a:ext cx="6674945" cy="432197"/>
          </a:xfrm>
        </p:spPr>
        <p:txBody>
          <a:bodyPr/>
          <a:lstStyle/>
          <a:p>
            <a:pPr eaLnBrk="1" hangingPunct="1"/>
            <a:r>
              <a:rPr lang="en-US" altLang="en-US" sz="3200" dirty="0"/>
              <a:t>I/O Structure (2)</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85524" y="821644"/>
            <a:ext cx="7748337" cy="3755951"/>
          </a:xfrm>
        </p:spPr>
        <p:txBody>
          <a:bodyPr/>
          <a:lstStyle/>
          <a:p>
            <a:pPr>
              <a:lnSpc>
                <a:spcPct val="90000"/>
              </a:lnSpc>
            </a:pPr>
            <a:r>
              <a:rPr lang="en-US" altLang="en-US" sz="2000" dirty="0">
                <a:ea typeface="+mn-ea"/>
                <a:cs typeface="Calibri" panose="020F0502020204030204" pitchFamily="34" charset="0"/>
              </a:rPr>
              <a:t>After I/O starts, control returns to user program only upon I/O completion</a:t>
            </a:r>
          </a:p>
          <a:p>
            <a:pPr lvl="1">
              <a:lnSpc>
                <a:spcPct val="90000"/>
              </a:lnSpc>
            </a:pPr>
            <a:r>
              <a:rPr lang="en-US" altLang="en-US" sz="1800" dirty="0">
                <a:ea typeface="+mn-ea"/>
                <a:cs typeface="Calibri" panose="020F0502020204030204" pitchFamily="34" charset="0"/>
              </a:rPr>
              <a:t>Wait instruction idles the CPU until the next interrupt</a:t>
            </a:r>
          </a:p>
          <a:p>
            <a:pPr lvl="1">
              <a:lnSpc>
                <a:spcPct val="90000"/>
              </a:lnSpc>
            </a:pPr>
            <a:r>
              <a:rPr lang="en-US" altLang="en-US" sz="1800" dirty="0">
                <a:ea typeface="+mn-ea"/>
                <a:cs typeface="Calibri" panose="020F0502020204030204" pitchFamily="34" charset="0"/>
              </a:rPr>
              <a:t>Wait loop (contention for memory access)</a:t>
            </a:r>
          </a:p>
          <a:p>
            <a:pPr lvl="1">
              <a:lnSpc>
                <a:spcPct val="90000"/>
              </a:lnSpc>
            </a:pPr>
            <a:r>
              <a:rPr lang="en-US" altLang="en-US" sz="1800" dirty="0">
                <a:ea typeface="+mn-ea"/>
                <a:cs typeface="Calibri" panose="020F0502020204030204" pitchFamily="34" charset="0"/>
              </a:rPr>
              <a:t>At most one I/O request is outstanding at a time, no simultaneous I/O processing</a:t>
            </a:r>
          </a:p>
          <a:p>
            <a:pPr>
              <a:lnSpc>
                <a:spcPct val="90000"/>
              </a:lnSpc>
            </a:pPr>
            <a:r>
              <a:rPr lang="en-US" altLang="en-US" sz="2000" dirty="0">
                <a:ea typeface="+mn-ea"/>
                <a:cs typeface="Calibri" panose="020F0502020204030204" pitchFamily="34" charset="0"/>
              </a:rPr>
              <a:t>After I/O starts, control returns to user program without waiting for I/O completion</a:t>
            </a:r>
          </a:p>
          <a:p>
            <a:pPr lvl="1">
              <a:lnSpc>
                <a:spcPct val="90000"/>
              </a:lnSpc>
            </a:pPr>
            <a:r>
              <a:rPr lang="en-US" altLang="en-US" sz="1800" b="1" dirty="0">
                <a:solidFill>
                  <a:srgbClr val="006699"/>
                </a:solidFill>
                <a:ea typeface="+mn-ea"/>
                <a:cs typeface="Calibri" panose="020F0502020204030204" pitchFamily="34" charset="0"/>
              </a:rPr>
              <a:t>System call </a:t>
            </a:r>
            <a:r>
              <a:rPr lang="en-US" altLang="en-US" sz="1800" dirty="0">
                <a:ea typeface="+mn-ea"/>
                <a:cs typeface="Calibri" panose="020F0502020204030204" pitchFamily="34" charset="0"/>
              </a:rPr>
              <a:t>– request to the OS to allow user to wait for I/O completion</a:t>
            </a:r>
          </a:p>
          <a:p>
            <a:pPr lvl="1">
              <a:lnSpc>
                <a:spcPct val="90000"/>
              </a:lnSpc>
            </a:pPr>
            <a:r>
              <a:rPr lang="en-US" altLang="en-US" sz="1800" b="1" dirty="0">
                <a:solidFill>
                  <a:srgbClr val="006699"/>
                </a:solidFill>
                <a:ea typeface="+mn-ea"/>
                <a:cs typeface="Calibri" panose="020F0502020204030204" pitchFamily="34" charset="0"/>
              </a:rPr>
              <a:t>Device-status table </a:t>
            </a:r>
            <a:r>
              <a:rPr lang="en-US" altLang="en-US" sz="1800" dirty="0">
                <a:ea typeface="+mn-ea"/>
                <a:cs typeface="Calibri" panose="020F0502020204030204" pitchFamily="34" charset="0"/>
              </a:rPr>
              <a:t>contains entry for each I/O device indicating its type, address, and state</a:t>
            </a:r>
          </a:p>
          <a:p>
            <a:pPr lvl="1">
              <a:lnSpc>
                <a:spcPct val="90000"/>
              </a:lnSpc>
            </a:pPr>
            <a:r>
              <a:rPr lang="en-US" altLang="en-US" sz="1800" dirty="0">
                <a:ea typeface="+mn-ea"/>
                <a:cs typeface="Calibri" panose="020F0502020204030204" pitchFamily="34" charset="0"/>
              </a:rPr>
              <a:t>OS indexes into I/O device table to determine device status and to modify table entry to include interrupt</a:t>
            </a:r>
          </a:p>
        </p:txBody>
      </p:sp>
      <p:sp>
        <p:nvSpPr>
          <p:cNvPr id="2" name="灯片编号占位符 1">
            <a:extLst>
              <a:ext uri="{FF2B5EF4-FFF2-40B4-BE49-F238E27FC236}">
                <a16:creationId xmlns:a16="http://schemas.microsoft.com/office/drawing/2014/main" id="{34252A9A-3BEB-F205-C9E9-74EDD0882099}"/>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895149" y="151210"/>
            <a:ext cx="6636745" cy="432197"/>
          </a:xfrm>
        </p:spPr>
        <p:txBody>
          <a:bodyPr/>
          <a:lstStyle/>
          <a:p>
            <a:pPr eaLnBrk="1" hangingPunct="1"/>
            <a:r>
              <a:rPr lang="en-US" altLang="en-US" sz="3200" dirty="0"/>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972151" y="819242"/>
            <a:ext cx="7421077" cy="3348500"/>
          </a:xfrm>
        </p:spPr>
        <p:txBody>
          <a:bodyPr/>
          <a:lstStyle/>
          <a:p>
            <a:r>
              <a:rPr lang="en-US" altLang="zh-CN" sz="2000" b="1" dirty="0">
                <a:solidFill>
                  <a:srgbClr val="0070C0"/>
                </a:solidFill>
                <a:ea typeface="+mn-ea"/>
                <a:cs typeface="Calibri" panose="020F0502020204030204" pitchFamily="34" charset="0"/>
              </a:rPr>
              <a:t>Bootstrap loader </a:t>
            </a:r>
            <a:r>
              <a:rPr lang="en-US" altLang="zh-CN" sz="2000" dirty="0">
                <a:ea typeface="+mn-ea"/>
                <a:cs typeface="Calibri" panose="020F0502020204030204" pitchFamily="34" charset="0"/>
              </a:rPr>
              <a:t>- A small program that places the operating system of a computer into memory</a:t>
            </a:r>
          </a:p>
          <a:p>
            <a:pPr lvl="1"/>
            <a:r>
              <a:rPr lang="en-US" altLang="en-US" sz="1800" dirty="0">
                <a:ea typeface="+mn-ea"/>
                <a:cs typeface="Calibri" panose="020F0502020204030204" pitchFamily="34" charset="0"/>
              </a:rPr>
              <a:t>Typically stored in ROM or EPROM, generally known as </a:t>
            </a:r>
            <a:r>
              <a:rPr lang="en-US" altLang="en-US" sz="1800" b="1" dirty="0">
                <a:solidFill>
                  <a:srgbClr val="006699"/>
                </a:solidFill>
                <a:ea typeface="+mn-ea"/>
                <a:cs typeface="Calibri" panose="020F0502020204030204" pitchFamily="34" charset="0"/>
              </a:rPr>
              <a:t>firmware</a:t>
            </a:r>
          </a:p>
          <a:p>
            <a:pPr lvl="1"/>
            <a:r>
              <a:rPr lang="en-US" altLang="zh-CN" sz="1800" dirty="0">
                <a:ea typeface="+mn-ea"/>
                <a:cs typeface="Calibri" panose="020F0502020204030204" pitchFamily="34" charset="0"/>
              </a:rPr>
              <a:t>When a computer powers up or restarts, the BIOS performs some initial tests and then transfers control to the master book record, where the bootstrap loader resides </a:t>
            </a:r>
          </a:p>
          <a:p>
            <a:pPr lvl="3">
              <a:buClr>
                <a:srgbClr val="FF0000"/>
              </a:buClr>
            </a:pPr>
            <a:r>
              <a:rPr lang="en-US" altLang="en-US" sz="1600" dirty="0">
                <a:latin typeface="Calibri" panose="020F0502020204030204" pitchFamily="34" charset="0"/>
                <a:cs typeface="Calibri" panose="020F0502020204030204" pitchFamily="34" charset="0"/>
              </a:rPr>
              <a:t>Initialize all aspects of a system</a:t>
            </a:r>
          </a:p>
          <a:p>
            <a:pPr lvl="3">
              <a:buClr>
                <a:srgbClr val="FF0000"/>
              </a:buClr>
            </a:pPr>
            <a:r>
              <a:rPr lang="en-US" altLang="en-US" sz="1600" dirty="0">
                <a:latin typeface="Calibri" panose="020F0502020204030204" pitchFamily="34" charset="0"/>
                <a:cs typeface="Calibri" panose="020F0502020204030204" pitchFamily="34" charset="0"/>
              </a:rPr>
              <a:t>Load operating system kernel and starts execution </a:t>
            </a:r>
          </a:p>
          <a:p>
            <a:pPr lvl="1"/>
            <a:r>
              <a:rPr lang="en-US" altLang="zh-CN" sz="2000" dirty="0">
                <a:ea typeface="+mn-ea"/>
                <a:cs typeface="Calibri" panose="020F0502020204030204" pitchFamily="34" charset="0"/>
              </a:rPr>
              <a:t>Most new computers ship with boot loaders for some version of Windows or macOS</a:t>
            </a:r>
            <a:endParaRPr lang="en-US" altLang="zh-CN" sz="2000" b="1" dirty="0">
              <a:ea typeface="+mn-ea"/>
              <a:cs typeface="Calibri" panose="020F0502020204030204" pitchFamily="34" charset="0"/>
            </a:endParaRPr>
          </a:p>
        </p:txBody>
      </p:sp>
      <p:sp>
        <p:nvSpPr>
          <p:cNvPr id="2" name="灯片编号占位符 1">
            <a:extLst>
              <a:ext uri="{FF2B5EF4-FFF2-40B4-BE49-F238E27FC236}">
                <a16:creationId xmlns:a16="http://schemas.microsoft.com/office/drawing/2014/main" id="{44DCC42D-63FA-A7F0-FEFF-DAE05B4C967F}"/>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289056828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856649" y="148828"/>
            <a:ext cx="6689534" cy="432197"/>
          </a:xfrm>
        </p:spPr>
        <p:txBody>
          <a:bodyPr/>
          <a:lstStyle/>
          <a:p>
            <a:pPr eaLnBrk="1" hangingPunct="1"/>
            <a:r>
              <a:rPr lang="en-US" altLang="en-US" sz="3200" dirty="0"/>
              <a:t>Storage Structure (1)</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56648" y="857251"/>
            <a:ext cx="7526956" cy="3021729"/>
          </a:xfrm>
        </p:spPr>
        <p:txBody>
          <a:bodyPr/>
          <a:lstStyle/>
          <a:p>
            <a:r>
              <a:rPr lang="en-US" altLang="en-US" sz="2000" dirty="0">
                <a:ea typeface="+mn-ea"/>
                <a:cs typeface="Calibri" panose="020F0502020204030204" pitchFamily="34" charset="0"/>
              </a:rPr>
              <a:t>Main memory – only large storage media that the CPU can access directly</a:t>
            </a:r>
          </a:p>
          <a:p>
            <a:pPr lvl="1"/>
            <a:r>
              <a:rPr lang="en-US" altLang="en-US" sz="1800" b="1" dirty="0">
                <a:solidFill>
                  <a:srgbClr val="006699"/>
                </a:solidFill>
                <a:ea typeface="+mn-ea"/>
                <a:cs typeface="Calibri" panose="020F0502020204030204" pitchFamily="34" charset="0"/>
              </a:rPr>
              <a:t>Random access</a:t>
            </a:r>
          </a:p>
          <a:p>
            <a:pPr lvl="1"/>
            <a:r>
              <a:rPr lang="en-US" altLang="en-US" sz="1800" dirty="0">
                <a:ea typeface="+mn-ea"/>
                <a:cs typeface="Calibri" panose="020F0502020204030204" pitchFamily="34" charset="0"/>
              </a:rPr>
              <a:t>Typically </a:t>
            </a:r>
            <a:r>
              <a:rPr lang="en-US" altLang="en-US" sz="1800" b="1" dirty="0">
                <a:solidFill>
                  <a:srgbClr val="006699"/>
                </a:solidFill>
                <a:ea typeface="+mn-ea"/>
                <a:cs typeface="Calibri" panose="020F0502020204030204" pitchFamily="34" charset="0"/>
              </a:rPr>
              <a:t>volatile</a:t>
            </a:r>
          </a:p>
          <a:p>
            <a:pPr lvl="1"/>
            <a:r>
              <a:rPr lang="en-US" altLang="en-US" sz="1800" dirty="0">
                <a:ea typeface="+mn-ea"/>
                <a:cs typeface="Calibri" panose="020F0502020204030204" pitchFamily="34" charset="0"/>
              </a:rPr>
              <a:t>Typically</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random-access</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memory</a:t>
            </a:r>
            <a:r>
              <a:rPr lang="en-US" altLang="en-US" sz="1800" b="1" dirty="0">
                <a:solidFill>
                  <a:srgbClr val="3366FF"/>
                </a:solidFill>
                <a:ea typeface="+mn-ea"/>
                <a:cs typeface="Calibri" panose="020F0502020204030204" pitchFamily="34" charset="0"/>
              </a:rPr>
              <a:t> </a:t>
            </a:r>
            <a:r>
              <a:rPr lang="en-US" altLang="en-US" sz="1800" dirty="0">
                <a:ea typeface="+mn-ea"/>
                <a:cs typeface="Calibri" panose="020F0502020204030204" pitchFamily="34" charset="0"/>
              </a:rPr>
              <a:t>in the form of </a:t>
            </a:r>
            <a:r>
              <a:rPr lang="en-US" altLang="en-US" sz="1800" b="1" dirty="0">
                <a:solidFill>
                  <a:srgbClr val="006699"/>
                </a:solidFill>
                <a:ea typeface="+mn-ea"/>
                <a:cs typeface="Calibri" panose="020F0502020204030204" pitchFamily="34" charset="0"/>
              </a:rPr>
              <a:t>Dynamic Random-access Memory (DRAM)</a:t>
            </a:r>
          </a:p>
          <a:p>
            <a:r>
              <a:rPr lang="en-US" altLang="en-US" sz="2000" dirty="0">
                <a:ea typeface="+mn-ea"/>
                <a:cs typeface="Calibri" panose="020F0502020204030204" pitchFamily="34" charset="0"/>
              </a:rPr>
              <a:t>Secondary storage – extension of main memory that provides large </a:t>
            </a:r>
            <a:r>
              <a:rPr lang="en-US" altLang="en-US" sz="2000" b="1" dirty="0">
                <a:solidFill>
                  <a:srgbClr val="006699"/>
                </a:solidFill>
                <a:ea typeface="+mn-ea"/>
                <a:cs typeface="Calibri" panose="020F0502020204030204" pitchFamily="34" charset="0"/>
              </a:rPr>
              <a:t>nonvolatile </a:t>
            </a:r>
            <a:r>
              <a:rPr lang="en-US" altLang="en-US" sz="2000" dirty="0">
                <a:ea typeface="+mn-ea"/>
                <a:cs typeface="Calibri" panose="020F0502020204030204" pitchFamily="34" charset="0"/>
              </a:rPr>
              <a:t>storage capacity</a:t>
            </a:r>
          </a:p>
        </p:txBody>
      </p:sp>
      <p:sp>
        <p:nvSpPr>
          <p:cNvPr id="2" name="灯片编号占位符 1">
            <a:extLst>
              <a:ext uri="{FF2B5EF4-FFF2-40B4-BE49-F238E27FC236}">
                <a16:creationId xmlns:a16="http://schemas.microsoft.com/office/drawing/2014/main" id="{D36AAA8B-978A-F1B9-7C5F-75915A9F34F3}"/>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extLst>
      <p:ext uri="{BB962C8B-B14F-4D97-AF65-F5344CB8AC3E}">
        <p14:creationId xmlns:p14="http://schemas.microsoft.com/office/powerpoint/2010/main" val="1975106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904775" y="148828"/>
            <a:ext cx="6641407" cy="432197"/>
          </a:xfrm>
        </p:spPr>
        <p:txBody>
          <a:bodyPr/>
          <a:lstStyle/>
          <a:p>
            <a:pPr eaLnBrk="1" hangingPunct="1"/>
            <a:r>
              <a:rPr lang="en-US" altLang="en-US" sz="3200" dirty="0"/>
              <a:t>Storage Structure (2)</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789271" y="824591"/>
            <a:ext cx="7925085" cy="3189143"/>
          </a:xfrm>
        </p:spPr>
        <p:txBody>
          <a:bodyPr/>
          <a:lstStyle/>
          <a:p>
            <a:r>
              <a:rPr lang="en-US" altLang="en-US" sz="2000" b="1" dirty="0">
                <a:solidFill>
                  <a:srgbClr val="006699"/>
                </a:solidFill>
                <a:ea typeface="+mn-ea"/>
                <a:cs typeface="Calibri" panose="020F0502020204030204" pitchFamily="34" charset="0"/>
              </a:rPr>
              <a:t>Hard Disk Drives </a:t>
            </a:r>
            <a:r>
              <a:rPr lang="en-US" altLang="en-US" sz="2000" dirty="0">
                <a:ea typeface="+mn-ea"/>
                <a:cs typeface="Calibri" panose="020F0502020204030204" pitchFamily="34" charset="0"/>
              </a:rPr>
              <a:t>(</a:t>
            </a:r>
            <a:r>
              <a:rPr lang="en-US" altLang="en-US" sz="2000" b="1" dirty="0">
                <a:solidFill>
                  <a:srgbClr val="006699"/>
                </a:solidFill>
                <a:ea typeface="+mn-ea"/>
                <a:cs typeface="Calibri" panose="020F0502020204030204" pitchFamily="34" charset="0"/>
              </a:rPr>
              <a:t>HDD</a:t>
            </a:r>
            <a:r>
              <a:rPr lang="en-US" altLang="en-US" sz="2000" dirty="0">
                <a:ea typeface="+mn-ea"/>
                <a:cs typeface="Calibri" panose="020F0502020204030204" pitchFamily="34" charset="0"/>
              </a:rPr>
              <a:t>) – rigid metal or glass platters covered with magnetic recording material </a:t>
            </a:r>
          </a:p>
          <a:p>
            <a:pPr lvl="1"/>
            <a:r>
              <a:rPr lang="en-US" altLang="en-US" sz="1800" dirty="0">
                <a:ea typeface="+mn-ea"/>
                <a:cs typeface="Calibri" panose="020F0502020204030204" pitchFamily="34" charset="0"/>
              </a:rPr>
              <a:t>Disk surface is logically divided into</a:t>
            </a:r>
            <a:r>
              <a:rPr lang="en-US" altLang="en-US" sz="1800" b="1" dirty="0">
                <a:solidFill>
                  <a:srgbClr val="006699"/>
                </a:solidFill>
                <a:ea typeface="+mn-ea"/>
                <a:cs typeface="Calibri" panose="020F0502020204030204" pitchFamily="34" charset="0"/>
              </a:rPr>
              <a:t> tracks</a:t>
            </a:r>
            <a:r>
              <a:rPr lang="en-US" altLang="en-US" sz="1800" dirty="0">
                <a:ea typeface="+mn-ea"/>
                <a:cs typeface="Calibri" panose="020F0502020204030204" pitchFamily="34" charset="0"/>
              </a:rPr>
              <a:t>, which are subdivided into </a:t>
            </a:r>
            <a:r>
              <a:rPr lang="en-US" altLang="en-US" sz="1800" b="1" dirty="0">
                <a:solidFill>
                  <a:srgbClr val="006699"/>
                </a:solidFill>
                <a:ea typeface="+mn-ea"/>
                <a:cs typeface="Calibri" panose="020F0502020204030204" pitchFamily="34" charset="0"/>
              </a:rPr>
              <a:t>sectors</a:t>
            </a:r>
          </a:p>
          <a:p>
            <a:pPr lvl="1"/>
            <a:r>
              <a:rPr lang="en-US" altLang="en-US" sz="1800" dirty="0">
                <a:ea typeface="+mn-ea"/>
                <a:cs typeface="Calibri" panose="020F0502020204030204" pitchFamily="34" charset="0"/>
              </a:rPr>
              <a:t>The </a:t>
            </a:r>
            <a:r>
              <a:rPr lang="en-US" altLang="en-US" sz="1800" b="1" dirty="0">
                <a:solidFill>
                  <a:srgbClr val="006699"/>
                </a:solidFill>
                <a:ea typeface="+mn-ea"/>
                <a:cs typeface="Calibri" panose="020F0502020204030204" pitchFamily="34" charset="0"/>
              </a:rPr>
              <a:t>disk controller </a:t>
            </a:r>
            <a:r>
              <a:rPr lang="en-US" altLang="en-US" sz="1800" dirty="0">
                <a:ea typeface="+mn-ea"/>
                <a:cs typeface="Calibri" panose="020F0502020204030204" pitchFamily="34" charset="0"/>
              </a:rPr>
              <a:t>determines the logical interaction between the device and the computer </a:t>
            </a:r>
          </a:p>
          <a:p>
            <a:r>
              <a:rPr lang="en-US" altLang="en-US" sz="2000" b="1" dirty="0">
                <a:solidFill>
                  <a:srgbClr val="006699"/>
                </a:solidFill>
                <a:ea typeface="+mn-ea"/>
                <a:cs typeface="Calibri" panose="020F0502020204030204" pitchFamily="34" charset="0"/>
              </a:rPr>
              <a:t>Non-volatile memory</a:t>
            </a:r>
            <a:r>
              <a:rPr lang="en-US" altLang="en-US" sz="2000" dirty="0">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NVM</a:t>
            </a:r>
            <a:r>
              <a:rPr lang="en-US" altLang="en-US" sz="2000" dirty="0">
                <a:ea typeface="+mn-ea"/>
                <a:cs typeface="Calibri" panose="020F0502020204030204" pitchFamily="34" charset="0"/>
              </a:rPr>
              <a:t>)</a:t>
            </a:r>
            <a:r>
              <a:rPr lang="en-US" altLang="en-US" sz="2000" b="1" dirty="0">
                <a:solidFill>
                  <a:srgbClr val="006699"/>
                </a:solidFill>
                <a:ea typeface="+mn-ea"/>
                <a:cs typeface="Calibri" panose="020F0502020204030204" pitchFamily="34" charset="0"/>
              </a:rPr>
              <a:t> </a:t>
            </a:r>
            <a:r>
              <a:rPr lang="en-US" altLang="en-US" sz="2000" dirty="0">
                <a:ea typeface="+mn-ea"/>
                <a:cs typeface="Calibri" panose="020F0502020204030204" pitchFamily="34" charset="0"/>
              </a:rPr>
              <a:t>devices– faster than hard disks, nonvolatile</a:t>
            </a:r>
          </a:p>
          <a:p>
            <a:pPr lvl="1"/>
            <a:r>
              <a:rPr lang="en-US" altLang="en-US" sz="1800" dirty="0">
                <a:ea typeface="+mn-ea"/>
                <a:cs typeface="Calibri" panose="020F0502020204030204" pitchFamily="34" charset="0"/>
              </a:rPr>
              <a:t>Various technologies</a:t>
            </a:r>
          </a:p>
          <a:p>
            <a:pPr lvl="1"/>
            <a:r>
              <a:rPr lang="en-US" altLang="en-US" sz="1800" dirty="0">
                <a:ea typeface="+mn-ea"/>
                <a:cs typeface="Calibri" panose="020F0502020204030204" pitchFamily="34" charset="0"/>
              </a:rPr>
              <a:t>Becoming more popular as capacity and performance increases, price drops</a:t>
            </a:r>
          </a:p>
        </p:txBody>
      </p:sp>
      <p:sp>
        <p:nvSpPr>
          <p:cNvPr id="2" name="灯片编号占位符 1">
            <a:extLst>
              <a:ext uri="{FF2B5EF4-FFF2-40B4-BE49-F238E27FC236}">
                <a16:creationId xmlns:a16="http://schemas.microsoft.com/office/drawing/2014/main" id="{59512EBB-AC04-3C09-9DDE-4FE353B23A20}"/>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895150" y="152401"/>
            <a:ext cx="7623208" cy="432197"/>
          </a:xfrm>
        </p:spPr>
        <p:txBody>
          <a:bodyPr/>
          <a:lstStyle/>
          <a:p>
            <a:r>
              <a:rPr lang="en-US" altLang="en-US" sz="3200" dirty="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3804" y="809625"/>
            <a:ext cx="5615400" cy="3782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37019D40-D569-9B6F-B332-DC21DBB403B0}"/>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1010653" y="158353"/>
            <a:ext cx="6535529" cy="432197"/>
          </a:xfrm>
        </p:spPr>
        <p:txBody>
          <a:bodyPr/>
          <a:lstStyle/>
          <a:p>
            <a:pPr eaLnBrk="1" hangingPunct="1"/>
            <a:r>
              <a:rPr lang="en-US" altLang="en-US" sz="3200" dirty="0"/>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1087655" y="843471"/>
            <a:ext cx="6785810" cy="3398044"/>
          </a:xfrm>
        </p:spPr>
        <p:txBody>
          <a:bodyPr/>
          <a:lstStyle/>
          <a:p>
            <a:r>
              <a:rPr lang="en-US" altLang="en-US" sz="2000" dirty="0">
                <a:ea typeface="+mn-ea"/>
                <a:cs typeface="Calibri" panose="020F0502020204030204" pitchFamily="34" charset="0"/>
              </a:rPr>
              <a:t>Storage systems organized in hierarchy</a:t>
            </a:r>
          </a:p>
          <a:p>
            <a:pPr lvl="1"/>
            <a:r>
              <a:rPr lang="en-US" altLang="en-US" sz="1800" dirty="0">
                <a:ea typeface="+mn-ea"/>
                <a:cs typeface="Calibri" panose="020F0502020204030204" pitchFamily="34" charset="0"/>
              </a:rPr>
              <a:t>Speed</a:t>
            </a:r>
          </a:p>
          <a:p>
            <a:pPr lvl="1"/>
            <a:r>
              <a:rPr lang="en-US" altLang="en-US" sz="1800" dirty="0">
                <a:ea typeface="+mn-ea"/>
                <a:cs typeface="Calibri" panose="020F0502020204030204" pitchFamily="34" charset="0"/>
              </a:rPr>
              <a:t>Cost</a:t>
            </a:r>
          </a:p>
          <a:p>
            <a:pPr lvl="1"/>
            <a:r>
              <a:rPr lang="en-US" altLang="en-US" sz="1800" dirty="0">
                <a:ea typeface="+mn-ea"/>
                <a:cs typeface="Calibri" panose="020F0502020204030204" pitchFamily="34" charset="0"/>
              </a:rPr>
              <a:t>Volatility</a:t>
            </a:r>
          </a:p>
          <a:p>
            <a:r>
              <a:rPr lang="en-US" altLang="en-US" sz="2000" b="1" dirty="0">
                <a:solidFill>
                  <a:srgbClr val="006699"/>
                </a:solidFill>
                <a:ea typeface="+mn-ea"/>
                <a:cs typeface="Calibri" panose="020F0502020204030204" pitchFamily="34" charset="0"/>
              </a:rPr>
              <a:t>Caching</a:t>
            </a:r>
            <a:r>
              <a:rPr lang="en-US" altLang="en-US" sz="2000" dirty="0">
                <a:ea typeface="+mn-ea"/>
                <a:cs typeface="Calibri" panose="020F0502020204030204" pitchFamily="34" charset="0"/>
              </a:rPr>
              <a:t> </a:t>
            </a:r>
          </a:p>
          <a:p>
            <a:pPr lvl="1"/>
            <a:r>
              <a:rPr lang="en-US" altLang="en-US" sz="1800" dirty="0">
                <a:ea typeface="+mn-ea"/>
                <a:cs typeface="Calibri" panose="020F0502020204030204" pitchFamily="34" charset="0"/>
              </a:rPr>
              <a:t>Copy information into faster storage system </a:t>
            </a:r>
          </a:p>
          <a:p>
            <a:pPr lvl="1"/>
            <a:r>
              <a:rPr lang="en-US" altLang="en-US" sz="1800" dirty="0">
                <a:ea typeface="+mn-ea"/>
                <a:cs typeface="Calibri" panose="020F0502020204030204" pitchFamily="34" charset="0"/>
              </a:rPr>
              <a:t>Main memory can be viewed as a cache for secondary storage</a:t>
            </a:r>
          </a:p>
          <a:p>
            <a:r>
              <a:rPr lang="en-US" altLang="en-US" sz="2000" b="1" dirty="0">
                <a:solidFill>
                  <a:srgbClr val="006699"/>
                </a:solidFill>
                <a:ea typeface="+mn-ea"/>
                <a:cs typeface="Calibri" panose="020F0502020204030204" pitchFamily="34" charset="0"/>
              </a:rPr>
              <a:t>Device Driver </a:t>
            </a:r>
            <a:r>
              <a:rPr lang="en-US" altLang="en-US" sz="2000" dirty="0">
                <a:ea typeface="+mn-ea"/>
                <a:cs typeface="Calibri" panose="020F0502020204030204" pitchFamily="34" charset="0"/>
              </a:rPr>
              <a:t>for each device controller to manage I/O</a:t>
            </a:r>
          </a:p>
          <a:p>
            <a:pPr lvl="1"/>
            <a:r>
              <a:rPr lang="en-US" altLang="en-US" sz="1800" dirty="0">
                <a:ea typeface="+mn-ea"/>
                <a:cs typeface="Calibri" panose="020F0502020204030204" pitchFamily="34" charset="0"/>
              </a:rPr>
              <a:t>Provide uniform interface between controller and kernel</a:t>
            </a:r>
          </a:p>
        </p:txBody>
      </p:sp>
      <p:sp>
        <p:nvSpPr>
          <p:cNvPr id="2" name="灯片编号占位符 1">
            <a:extLst>
              <a:ext uri="{FF2B5EF4-FFF2-40B4-BE49-F238E27FC236}">
                <a16:creationId xmlns:a16="http://schemas.microsoft.com/office/drawing/2014/main" id="{5DBAA8BB-92B9-A120-6B99-D76CCE38D0DE}"/>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895149" y="148828"/>
            <a:ext cx="6685561" cy="432197"/>
          </a:xfrm>
        </p:spPr>
        <p:txBody>
          <a:bodyPr/>
          <a:lstStyle/>
          <a:p>
            <a:pPr eaLnBrk="1" hangingPunct="1"/>
            <a:r>
              <a:rPr lang="en-US" altLang="en-US" sz="3200" dirty="0"/>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5900" y="837399"/>
            <a:ext cx="6430586" cy="373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3BCA929-AB16-38DD-110A-721E6E376192}"/>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904775" y="159544"/>
            <a:ext cx="6641407" cy="432197"/>
          </a:xfrm>
        </p:spPr>
        <p:txBody>
          <a:bodyPr/>
          <a:lstStyle/>
          <a:p>
            <a:r>
              <a:rPr lang="en-US" altLang="en-US" sz="3200" dirty="0"/>
              <a:t>How a Modern Computer Work</a:t>
            </a:r>
          </a:p>
        </p:txBody>
      </p:sp>
      <p:grpSp>
        <p:nvGrpSpPr>
          <p:cNvPr id="2" name="组合 1">
            <a:extLst>
              <a:ext uri="{FF2B5EF4-FFF2-40B4-BE49-F238E27FC236}">
                <a16:creationId xmlns:a16="http://schemas.microsoft.com/office/drawing/2014/main" id="{F36EBA43-3FCE-8A5C-C6D3-7455B3687B45}"/>
              </a:ext>
            </a:extLst>
          </p:cNvPr>
          <p:cNvGrpSpPr/>
          <p:nvPr/>
        </p:nvGrpSpPr>
        <p:grpSpPr>
          <a:xfrm>
            <a:off x="2626519" y="885524"/>
            <a:ext cx="3995662" cy="3566729"/>
            <a:chOff x="1978025" y="1352550"/>
            <a:chExt cx="5122863" cy="4583787"/>
          </a:xfrm>
        </p:grpSpPr>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3019646" y="5505450"/>
              <a:ext cx="397792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500" dirty="0">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灯片编号占位符 2">
            <a:extLst>
              <a:ext uri="{FF2B5EF4-FFF2-40B4-BE49-F238E27FC236}">
                <a16:creationId xmlns:a16="http://schemas.microsoft.com/office/drawing/2014/main" id="{3703E7E7-A8B4-0456-2885-DD15C634FCFD}"/>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895149" y="159544"/>
            <a:ext cx="6678418" cy="432197"/>
          </a:xfrm>
        </p:spPr>
        <p:txBody>
          <a:bodyPr/>
          <a:lstStyle/>
          <a:p>
            <a:pPr eaLnBrk="1" hangingPunct="1"/>
            <a:r>
              <a:rPr lang="en-US" altLang="en-US" sz="3200" dirty="0"/>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925455" y="810217"/>
            <a:ext cx="7451699" cy="1790407"/>
          </a:xfrm>
        </p:spPr>
        <p:txBody>
          <a:bodyPr/>
          <a:lstStyle/>
          <a:p>
            <a:r>
              <a:rPr lang="en-US" altLang="en-US" sz="1800" dirty="0"/>
              <a:t>Used for high-speed I/O devices able to transmit information at close to memory speeds</a:t>
            </a:r>
          </a:p>
          <a:p>
            <a:r>
              <a:rPr lang="en-US" altLang="en-US" sz="1800" dirty="0"/>
              <a:t>Device controller transfers blocks of data from buffer storage directly to main memory without CPU intervention</a:t>
            </a:r>
          </a:p>
          <a:p>
            <a:r>
              <a:rPr lang="en-US" altLang="en-US" sz="1800" dirty="0"/>
              <a:t>Only one interrupt is generated per block, rather than the one interrupt per byte</a:t>
            </a:r>
          </a:p>
        </p:txBody>
      </p:sp>
      <p:pic>
        <p:nvPicPr>
          <p:cNvPr id="2" name="Picture 4">
            <a:extLst>
              <a:ext uri="{FF2B5EF4-FFF2-40B4-BE49-F238E27FC236}">
                <a16:creationId xmlns:a16="http://schemas.microsoft.com/office/drawing/2014/main" id="{81B55AAF-FB23-6662-C1D4-12813770EB3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150863" y="2427977"/>
            <a:ext cx="3000884" cy="2174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灯片编号占位符 2">
            <a:extLst>
              <a:ext uri="{FF2B5EF4-FFF2-40B4-BE49-F238E27FC236}">
                <a16:creationId xmlns:a16="http://schemas.microsoft.com/office/drawing/2014/main" id="{F83DB77A-9B89-7696-1DB7-0694FC2D781B}"/>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75899" y="146447"/>
            <a:ext cx="6691714" cy="432197"/>
          </a:xfrm>
        </p:spPr>
        <p:txBody>
          <a:bodyPr/>
          <a:lstStyle/>
          <a:p>
            <a:pPr eaLnBrk="1" hangingPunct="1"/>
            <a:r>
              <a:rPr lang="en-US" altLang="en-US" sz="3200" dirty="0"/>
              <a:t>Operating 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952901" y="847219"/>
            <a:ext cx="7449954" cy="3070264"/>
          </a:xfrm>
        </p:spPr>
        <p:txBody>
          <a:bodyPr/>
          <a:lstStyle/>
          <a:p>
            <a:pPr>
              <a:lnSpc>
                <a:spcPct val="90000"/>
              </a:lnSpc>
            </a:pPr>
            <a:r>
              <a:rPr lang="en-US" altLang="en-US" sz="2000" dirty="0">
                <a:ea typeface="+mn-ea"/>
                <a:cs typeface="Calibri" panose="020F0502020204030204" pitchFamily="34" charset="0"/>
              </a:rPr>
              <a:t>Bootstrap program </a:t>
            </a:r>
          </a:p>
          <a:p>
            <a:pPr lvl="1">
              <a:lnSpc>
                <a:spcPct val="90000"/>
              </a:lnSpc>
            </a:pPr>
            <a:r>
              <a:rPr lang="en-US" altLang="en-US" sz="1800" dirty="0">
                <a:ea typeface="+mn-ea"/>
                <a:cs typeface="Calibri" panose="020F0502020204030204" pitchFamily="34" charset="0"/>
              </a:rPr>
              <a:t>A simple code to initialize the system, and load the kernel</a:t>
            </a:r>
          </a:p>
          <a:p>
            <a:pPr>
              <a:lnSpc>
                <a:spcPct val="90000"/>
              </a:lnSpc>
            </a:pPr>
            <a:r>
              <a:rPr lang="en-US" altLang="en-US" sz="2000" dirty="0">
                <a:ea typeface="+mn-ea"/>
                <a:cs typeface="Calibri" panose="020F0502020204030204" pitchFamily="34" charset="0"/>
              </a:rPr>
              <a:t>Starts </a:t>
            </a:r>
            <a:r>
              <a:rPr lang="en-US" altLang="en-US" sz="2000" b="1" dirty="0">
                <a:solidFill>
                  <a:srgbClr val="006699"/>
                </a:solidFill>
                <a:ea typeface="+mn-ea"/>
                <a:cs typeface="Calibri" panose="020F0502020204030204" pitchFamily="34" charset="0"/>
              </a:rPr>
              <a:t>system daemons </a:t>
            </a:r>
            <a:r>
              <a:rPr lang="en-US" altLang="en-US" sz="2000" dirty="0">
                <a:ea typeface="+mn-ea"/>
                <a:cs typeface="Calibri" panose="020F0502020204030204" pitchFamily="34" charset="0"/>
              </a:rPr>
              <a:t>(services provided outside of the kernel)</a:t>
            </a:r>
          </a:p>
          <a:p>
            <a:pPr>
              <a:lnSpc>
                <a:spcPct val="90000"/>
              </a:lnSpc>
            </a:pPr>
            <a:r>
              <a:rPr lang="en-US" altLang="en-US" sz="2000" dirty="0">
                <a:ea typeface="+mn-ea"/>
                <a:cs typeface="Calibri" panose="020F0502020204030204" pitchFamily="34" charset="0"/>
              </a:rPr>
              <a:t>Kernel</a:t>
            </a:r>
            <a:r>
              <a:rPr lang="en-US" altLang="en-US" sz="2000" b="1" dirty="0">
                <a:solidFill>
                  <a:srgbClr val="3366FF"/>
                </a:solidFill>
                <a:ea typeface="+mn-ea"/>
                <a:cs typeface="Calibri" panose="020F0502020204030204" pitchFamily="34" charset="0"/>
              </a:rPr>
              <a:t> </a:t>
            </a:r>
            <a:r>
              <a:rPr lang="en-US" altLang="en-US" sz="2000" b="1" dirty="0">
                <a:solidFill>
                  <a:srgbClr val="006699"/>
                </a:solidFill>
                <a:ea typeface="+mn-ea"/>
                <a:cs typeface="Calibri" panose="020F0502020204030204" pitchFamily="34" charset="0"/>
              </a:rPr>
              <a:t>interrupt driven </a:t>
            </a:r>
            <a:r>
              <a:rPr lang="en-US" altLang="en-US" sz="2000" dirty="0">
                <a:ea typeface="+mn-ea"/>
                <a:cs typeface="Calibri" panose="020F0502020204030204" pitchFamily="34" charset="0"/>
              </a:rPr>
              <a:t>(hardware and software)</a:t>
            </a:r>
          </a:p>
          <a:p>
            <a:pPr lvl="1">
              <a:lnSpc>
                <a:spcPct val="90000"/>
              </a:lnSpc>
            </a:pPr>
            <a:r>
              <a:rPr lang="en-US" altLang="en-US" sz="1800" dirty="0">
                <a:ea typeface="+mn-ea"/>
                <a:cs typeface="Calibri" panose="020F0502020204030204" pitchFamily="34" charset="0"/>
              </a:rPr>
              <a:t>Hardware interrupt by one of the devices </a:t>
            </a:r>
          </a:p>
          <a:p>
            <a:pPr lvl="1">
              <a:lnSpc>
                <a:spcPct val="90000"/>
              </a:lnSpc>
            </a:pPr>
            <a:r>
              <a:rPr lang="en-US" altLang="en-US" sz="1800" dirty="0">
                <a:ea typeface="+mn-ea"/>
                <a:cs typeface="Calibri" panose="020F0502020204030204" pitchFamily="34" charset="0"/>
              </a:rPr>
              <a:t>Software interrupt (</a:t>
            </a:r>
            <a:r>
              <a:rPr lang="en-US" altLang="en-US" sz="1800" b="1" dirty="0">
                <a:solidFill>
                  <a:srgbClr val="006699"/>
                </a:solidFill>
                <a:ea typeface="+mn-ea"/>
                <a:cs typeface="Calibri" panose="020F0502020204030204" pitchFamily="34" charset="0"/>
              </a:rPr>
              <a:t>exception</a:t>
            </a:r>
            <a:r>
              <a:rPr lang="en-US" altLang="en-US" sz="1800" b="1" dirty="0">
                <a:solidFill>
                  <a:srgbClr val="3366FF"/>
                </a:solidFill>
                <a:ea typeface="+mn-ea"/>
                <a:cs typeface="Calibri" panose="020F0502020204030204" pitchFamily="34" charset="0"/>
              </a:rPr>
              <a:t> </a:t>
            </a:r>
            <a:r>
              <a:rPr lang="en-US" altLang="en-US" sz="1800" dirty="0">
                <a:ea typeface="+mn-ea"/>
                <a:cs typeface="Calibri" panose="020F0502020204030204" pitchFamily="34" charset="0"/>
              </a:rPr>
              <a:t>or </a:t>
            </a:r>
            <a:r>
              <a:rPr lang="en-US" altLang="en-US" sz="1800" b="1" dirty="0">
                <a:solidFill>
                  <a:srgbClr val="006699"/>
                </a:solidFill>
                <a:ea typeface="+mn-ea"/>
                <a:cs typeface="Calibri" panose="020F0502020204030204" pitchFamily="34" charset="0"/>
              </a:rPr>
              <a:t>trap</a:t>
            </a:r>
            <a:r>
              <a:rPr lang="en-US" altLang="en-US" sz="1800" dirty="0">
                <a:ea typeface="+mn-ea"/>
                <a:cs typeface="Calibri" panose="020F0502020204030204" pitchFamily="34" charset="0"/>
              </a:rPr>
              <a:t>)</a:t>
            </a:r>
          </a:p>
          <a:p>
            <a:pPr lvl="2">
              <a:lnSpc>
                <a:spcPct val="90000"/>
              </a:lnSpc>
            </a:pPr>
            <a:r>
              <a:rPr lang="en-US" altLang="en-US" sz="1600" dirty="0">
                <a:latin typeface="Calibri" panose="020F0502020204030204" pitchFamily="34" charset="0"/>
                <a:cs typeface="Calibri" panose="020F0502020204030204" pitchFamily="34" charset="0"/>
              </a:rPr>
              <a:t>Software error (e.g., division by zero)</a:t>
            </a:r>
            <a:endParaRPr lang="en-US" altLang="en-US" sz="1600" b="1" dirty="0">
              <a:solidFill>
                <a:srgbClr val="3366FF"/>
              </a:solidFill>
              <a:latin typeface="Calibri" panose="020F0502020204030204" pitchFamily="34" charset="0"/>
              <a:cs typeface="Calibri" panose="020F0502020204030204" pitchFamily="34" charset="0"/>
            </a:endParaRPr>
          </a:p>
          <a:p>
            <a:pPr lvl="2">
              <a:lnSpc>
                <a:spcPct val="90000"/>
              </a:lnSpc>
            </a:pPr>
            <a:r>
              <a:rPr lang="en-US" altLang="en-US" sz="1600" dirty="0">
                <a:latin typeface="Calibri" panose="020F0502020204030204" pitchFamily="34" charset="0"/>
                <a:cs typeface="Calibri" panose="020F0502020204030204" pitchFamily="34" charset="0"/>
              </a:rPr>
              <a:t>Request for operating system service – </a:t>
            </a:r>
            <a:r>
              <a:rPr lang="en-US" altLang="en-US" sz="1600" b="1" dirty="0">
                <a:solidFill>
                  <a:srgbClr val="006699"/>
                </a:solidFill>
                <a:latin typeface="Calibri" panose="020F0502020204030204" pitchFamily="34" charset="0"/>
                <a:cs typeface="Calibri" panose="020F0502020204030204" pitchFamily="34" charset="0"/>
              </a:rPr>
              <a:t>system call</a:t>
            </a:r>
          </a:p>
          <a:p>
            <a:pPr lvl="2">
              <a:lnSpc>
                <a:spcPct val="90000"/>
              </a:lnSpc>
            </a:pPr>
            <a:r>
              <a:rPr lang="en-US" altLang="en-US" sz="1600" dirty="0">
                <a:latin typeface="Calibri" panose="020F0502020204030204" pitchFamily="34" charset="0"/>
                <a:cs typeface="Calibri" panose="020F0502020204030204" pitchFamily="34" charset="0"/>
              </a:rPr>
              <a:t>Other process problems include infinite loop, processes modifying each other or the operating system</a:t>
            </a:r>
          </a:p>
        </p:txBody>
      </p:sp>
      <p:sp>
        <p:nvSpPr>
          <p:cNvPr id="2" name="灯片编号占位符 1">
            <a:extLst>
              <a:ext uri="{FF2B5EF4-FFF2-40B4-BE49-F238E27FC236}">
                <a16:creationId xmlns:a16="http://schemas.microsoft.com/office/drawing/2014/main" id="{FC21A0EB-E9CE-D8B9-32EA-6C30B36F7A94}"/>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904775" y="153591"/>
            <a:ext cx="6753326" cy="432197"/>
          </a:xfrm>
        </p:spPr>
        <p:txBody>
          <a:bodyPr/>
          <a:lstStyle/>
          <a:p>
            <a:pPr eaLnBrk="1" hangingPunct="1"/>
            <a:r>
              <a:rPr lang="en-US" altLang="en-US" sz="3200"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934581" y="917897"/>
            <a:ext cx="7776281" cy="2306565"/>
          </a:xfrm>
        </p:spPr>
        <p:txBody>
          <a:bodyPr/>
          <a:lstStyle/>
          <a:p>
            <a:pPr>
              <a:lnSpc>
                <a:spcPct val="90000"/>
              </a:lnSpc>
            </a:pPr>
            <a:r>
              <a:rPr lang="en-US" altLang="en-US" sz="2000" dirty="0">
                <a:cs typeface="Calibri" panose="020F0502020204030204" pitchFamily="34" charset="0"/>
              </a:rPr>
              <a:t>Single user cannot always keep CPU and I/O devices busy </a:t>
            </a:r>
          </a:p>
          <a:p>
            <a:pPr>
              <a:lnSpc>
                <a:spcPct val="90000"/>
              </a:lnSpc>
            </a:pPr>
            <a:r>
              <a:rPr lang="en-US" altLang="en-US" sz="2000" dirty="0">
                <a:cs typeface="Calibri" panose="020F0502020204030204" pitchFamily="34" charset="0"/>
              </a:rPr>
              <a:t>Multiprogramming organizes jobs (code and data) so CPU always has one to execute</a:t>
            </a:r>
          </a:p>
          <a:p>
            <a:pPr>
              <a:lnSpc>
                <a:spcPct val="90000"/>
              </a:lnSpc>
            </a:pPr>
            <a:r>
              <a:rPr lang="en-US" altLang="en-US" sz="2000" dirty="0">
                <a:cs typeface="Calibri" panose="020F0502020204030204" pitchFamily="34" charset="0"/>
              </a:rPr>
              <a:t>A subset of total jobs in system is kept in memory</a:t>
            </a:r>
          </a:p>
          <a:p>
            <a:pPr>
              <a:lnSpc>
                <a:spcPct val="90000"/>
              </a:lnSpc>
            </a:pPr>
            <a:r>
              <a:rPr lang="en-US" altLang="en-US" sz="2000" dirty="0">
                <a:cs typeface="Calibri" panose="020F0502020204030204" pitchFamily="34" charset="0"/>
              </a:rPr>
              <a:t>One job selected and run via </a:t>
            </a:r>
            <a:r>
              <a:rPr lang="en-US" altLang="en-US" sz="2000" b="1" dirty="0">
                <a:solidFill>
                  <a:srgbClr val="006699"/>
                </a:solidFill>
                <a:cs typeface="Calibri" panose="020F0502020204030204" pitchFamily="34" charset="0"/>
              </a:rPr>
              <a:t>job scheduling</a:t>
            </a:r>
          </a:p>
          <a:p>
            <a:pPr>
              <a:lnSpc>
                <a:spcPct val="90000"/>
              </a:lnSpc>
            </a:pPr>
            <a:r>
              <a:rPr lang="en-US" altLang="en-US" sz="2000" dirty="0">
                <a:cs typeface="Calibri" panose="020F0502020204030204" pitchFamily="34" charset="0"/>
              </a:rPr>
              <a:t>When job has to wait (for I/O for example), OS switches to another job</a:t>
            </a:r>
          </a:p>
        </p:txBody>
      </p:sp>
      <p:sp>
        <p:nvSpPr>
          <p:cNvPr id="2" name="灯片编号占位符 1">
            <a:extLst>
              <a:ext uri="{FF2B5EF4-FFF2-40B4-BE49-F238E27FC236}">
                <a16:creationId xmlns:a16="http://schemas.microsoft.com/office/drawing/2014/main" id="{43F185DB-8642-A55D-2CD9-0D36F6B9B453}"/>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extLst>
      <p:ext uri="{BB962C8B-B14F-4D97-AF65-F5344CB8AC3E}">
        <p14:creationId xmlns:p14="http://schemas.microsoft.com/office/powerpoint/2010/main" val="3877657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914400" y="153591"/>
            <a:ext cx="6743701" cy="432197"/>
          </a:xfrm>
        </p:spPr>
        <p:txBody>
          <a:bodyPr/>
          <a:lstStyle/>
          <a:p>
            <a:pPr eaLnBrk="1" hangingPunct="1"/>
            <a:r>
              <a:rPr lang="en-US" altLang="en-US" sz="3200"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779646" y="900299"/>
            <a:ext cx="7815714" cy="2623583"/>
          </a:xfrm>
        </p:spPr>
        <p:txBody>
          <a:bodyPr/>
          <a:lstStyle/>
          <a:p>
            <a:pPr>
              <a:lnSpc>
                <a:spcPct val="90000"/>
              </a:lnSpc>
            </a:pPr>
            <a:r>
              <a:rPr lang="en-US" altLang="en-US" sz="2000" dirty="0">
                <a:ea typeface="+mn-ea"/>
                <a:cs typeface="Calibri" panose="020F0502020204030204" pitchFamily="34" charset="0"/>
              </a:rPr>
              <a:t>A logical extension of Batch systems– the CPU switches jobs so frequently that users can interact with each job while it is running, creating </a:t>
            </a:r>
            <a:r>
              <a:rPr lang="en-US" altLang="en-US" sz="2000" b="1" dirty="0">
                <a:solidFill>
                  <a:srgbClr val="006699"/>
                </a:solidFill>
                <a:ea typeface="+mn-ea"/>
                <a:cs typeface="Calibri" panose="020F0502020204030204" pitchFamily="34" charset="0"/>
              </a:rPr>
              <a:t>interactive</a:t>
            </a:r>
            <a:r>
              <a:rPr lang="en-US" altLang="en-US" sz="2000" dirty="0">
                <a:ea typeface="+mn-ea"/>
                <a:cs typeface="Calibri" panose="020F0502020204030204" pitchFamily="34" charset="0"/>
              </a:rPr>
              <a:t> computing</a:t>
            </a:r>
          </a:p>
          <a:p>
            <a:pPr lvl="1">
              <a:lnSpc>
                <a:spcPct val="90000"/>
              </a:lnSpc>
            </a:pPr>
            <a:r>
              <a:rPr lang="en-US" altLang="en-US" sz="1800" b="1" dirty="0">
                <a:solidFill>
                  <a:srgbClr val="006699"/>
                </a:solidFill>
                <a:ea typeface="+mn-ea"/>
                <a:cs typeface="Calibri" panose="020F0502020204030204" pitchFamily="34" charset="0"/>
              </a:rPr>
              <a:t>Response time </a:t>
            </a:r>
            <a:r>
              <a:rPr lang="en-US" altLang="en-US" sz="1800" dirty="0">
                <a:ea typeface="+mn-ea"/>
                <a:cs typeface="Calibri" panose="020F0502020204030204" pitchFamily="34" charset="0"/>
              </a:rPr>
              <a:t>should be &lt; 1 second</a:t>
            </a:r>
          </a:p>
          <a:p>
            <a:pPr lvl="1">
              <a:lnSpc>
                <a:spcPct val="90000"/>
              </a:lnSpc>
            </a:pPr>
            <a:r>
              <a:rPr lang="en-US" altLang="en-US" sz="1800" dirty="0">
                <a:ea typeface="+mn-ea"/>
                <a:cs typeface="Calibri" panose="020F0502020204030204" pitchFamily="34" charset="0"/>
              </a:rPr>
              <a:t>Each user has at least one program executing in memory </a:t>
            </a:r>
            <a:r>
              <a:rPr lang="en-US" altLang="en-US" sz="1800" dirty="0">
                <a:ea typeface="+mn-ea"/>
                <a:cs typeface="Calibri" panose="020F0502020204030204" pitchFamily="34" charset="0"/>
                <a:sym typeface="Wingdings 3" panose="05040102010807070707" pitchFamily="18" charset="2"/>
              </a:rPr>
              <a:t> </a:t>
            </a:r>
            <a:r>
              <a:rPr lang="en-US" altLang="en-US" sz="1800" b="1" dirty="0">
                <a:solidFill>
                  <a:srgbClr val="006699"/>
                </a:solidFill>
                <a:ea typeface="+mn-ea"/>
                <a:cs typeface="Calibri" panose="020F0502020204030204" pitchFamily="34" charset="0"/>
                <a:sym typeface="Wingdings 3" panose="05040102010807070707" pitchFamily="18" charset="2"/>
              </a:rPr>
              <a:t>process</a:t>
            </a:r>
          </a:p>
          <a:p>
            <a:pPr lvl="1">
              <a:lnSpc>
                <a:spcPct val="90000"/>
              </a:lnSpc>
            </a:pPr>
            <a:r>
              <a:rPr lang="en-US" altLang="en-US" sz="1800" dirty="0">
                <a:ea typeface="+mn-ea"/>
                <a:cs typeface="Calibri" panose="020F0502020204030204" pitchFamily="34" charset="0"/>
                <a:sym typeface="Wingdings 3" panose="05040102010807070707" pitchFamily="18" charset="2"/>
              </a:rPr>
              <a:t>If several jobs ready to run at the same time  </a:t>
            </a:r>
            <a:r>
              <a:rPr lang="en-US" altLang="en-US" sz="1800" b="1" dirty="0">
                <a:solidFill>
                  <a:srgbClr val="006699"/>
                </a:solidFill>
                <a:ea typeface="+mn-ea"/>
                <a:cs typeface="Calibri" panose="020F0502020204030204" pitchFamily="34" charset="0"/>
                <a:sym typeface="Wingdings 3" panose="05040102010807070707" pitchFamily="18" charset="2"/>
              </a:rPr>
              <a:t>CPU scheduling</a:t>
            </a:r>
          </a:p>
          <a:p>
            <a:pPr lvl="1">
              <a:lnSpc>
                <a:spcPct val="90000"/>
              </a:lnSpc>
            </a:pPr>
            <a:r>
              <a:rPr lang="en-US" altLang="en-US" sz="1800" dirty="0">
                <a:ea typeface="+mn-ea"/>
                <a:cs typeface="Calibri" panose="020F0502020204030204" pitchFamily="34" charset="0"/>
                <a:sym typeface="Wingdings 3" panose="05040102010807070707" pitchFamily="18" charset="2"/>
              </a:rPr>
              <a:t>If processes don</a:t>
            </a:r>
            <a:r>
              <a:rPr lang="ja-JP" altLang="en-US" sz="1800" dirty="0">
                <a:ea typeface="+mn-ea"/>
                <a:cs typeface="Calibri" panose="020F0502020204030204" pitchFamily="34" charset="0"/>
                <a:sym typeface="Wingdings 3" panose="05040102010807070707" pitchFamily="18" charset="2"/>
              </a:rPr>
              <a:t>’</a:t>
            </a:r>
            <a:r>
              <a:rPr lang="en-US" altLang="ja-JP" sz="1800" dirty="0">
                <a:ea typeface="+mn-ea"/>
                <a:cs typeface="Calibri" panose="020F0502020204030204" pitchFamily="34" charset="0"/>
                <a:sym typeface="Wingdings 3" panose="05040102010807070707" pitchFamily="18" charset="2"/>
              </a:rPr>
              <a:t>t fit in memory, </a:t>
            </a:r>
            <a:r>
              <a:rPr lang="en-US" altLang="ja-JP" sz="1800" b="1" dirty="0">
                <a:solidFill>
                  <a:srgbClr val="006699"/>
                </a:solidFill>
                <a:ea typeface="+mn-ea"/>
                <a:cs typeface="Calibri" panose="020F0502020204030204" pitchFamily="34" charset="0"/>
                <a:sym typeface="Wingdings 3" panose="05040102010807070707" pitchFamily="18" charset="2"/>
              </a:rPr>
              <a:t>swapping</a:t>
            </a:r>
            <a:r>
              <a:rPr lang="en-US" altLang="ja-JP" sz="1800" dirty="0">
                <a:ea typeface="+mn-ea"/>
                <a:cs typeface="Calibri" panose="020F0502020204030204" pitchFamily="34" charset="0"/>
                <a:sym typeface="Wingdings 3" panose="05040102010807070707" pitchFamily="18" charset="2"/>
              </a:rPr>
              <a:t> moves them in and out to run</a:t>
            </a:r>
          </a:p>
          <a:p>
            <a:pPr lvl="1">
              <a:lnSpc>
                <a:spcPct val="90000"/>
              </a:lnSpc>
            </a:pPr>
            <a:r>
              <a:rPr lang="en-US" altLang="en-US" sz="1800" b="1" dirty="0">
                <a:solidFill>
                  <a:srgbClr val="006699"/>
                </a:solidFill>
                <a:ea typeface="+mn-ea"/>
                <a:cs typeface="Calibri" panose="020F0502020204030204" pitchFamily="34" charset="0"/>
                <a:sym typeface="Wingdings 3" panose="05040102010807070707" pitchFamily="18" charset="2"/>
              </a:rPr>
              <a:t>Virtual memory </a:t>
            </a:r>
            <a:r>
              <a:rPr lang="en-US" altLang="en-US" sz="1800" dirty="0">
                <a:ea typeface="+mn-ea"/>
                <a:cs typeface="Calibri" panose="020F0502020204030204" pitchFamily="34" charset="0"/>
                <a:sym typeface="Wingdings 3" panose="05040102010807070707" pitchFamily="18" charset="2"/>
              </a:rPr>
              <a:t>allows execution of processes not completely in memory</a:t>
            </a:r>
          </a:p>
        </p:txBody>
      </p:sp>
      <p:sp>
        <p:nvSpPr>
          <p:cNvPr id="2" name="灯片编号占位符 1">
            <a:extLst>
              <a:ext uri="{FF2B5EF4-FFF2-40B4-BE49-F238E27FC236}">
                <a16:creationId xmlns:a16="http://schemas.microsoft.com/office/drawing/2014/main" id="{0213860B-D994-83A9-F025-47CF2B052C95}"/>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extLst>
      <p:ext uri="{BB962C8B-B14F-4D97-AF65-F5344CB8AC3E}">
        <p14:creationId xmlns:p14="http://schemas.microsoft.com/office/powerpoint/2010/main" val="199077126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924025" y="148828"/>
            <a:ext cx="8040588" cy="432197"/>
          </a:xfrm>
        </p:spPr>
        <p:txBody>
          <a:bodyPr/>
          <a:lstStyle/>
          <a:p>
            <a:pPr eaLnBrk="1" hangingPunct="1"/>
            <a:r>
              <a:rPr lang="en-US" altLang="en-US" sz="3200" dirty="0"/>
              <a:t>Memory Layout for </a:t>
            </a:r>
            <a:r>
              <a:rPr lang="en-US" altLang="en-US" sz="3200" dirty="0" err="1"/>
              <a:t>Multiprogrammed</a:t>
            </a:r>
            <a:r>
              <a:rPr lang="en-US" altLang="en-US" sz="3200" dirty="0"/>
              <a:t>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9575" y="862705"/>
            <a:ext cx="2356297" cy="372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AC7C93C9-2CB3-D341-A459-D4DC3E407B6A}"/>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895149" y="148828"/>
            <a:ext cx="6976074" cy="432197"/>
          </a:xfrm>
        </p:spPr>
        <p:txBody>
          <a:bodyPr/>
          <a:lstStyle/>
          <a:p>
            <a:pPr eaLnBrk="1" hangingPunct="1"/>
            <a:r>
              <a:rPr lang="en-US" altLang="en-US" sz="3200" dirty="0"/>
              <a:t>Dual-Mode Operation (1)</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904775" y="924223"/>
            <a:ext cx="7334450" cy="2829630"/>
          </a:xfrm>
        </p:spPr>
        <p:txBody>
          <a:bodyPr/>
          <a:lstStyle/>
          <a:p>
            <a:pPr>
              <a:lnSpc>
                <a:spcPct val="90000"/>
              </a:lnSpc>
            </a:pPr>
            <a:r>
              <a:rPr lang="en-US" altLang="en-US" sz="2000" b="1" dirty="0">
                <a:solidFill>
                  <a:srgbClr val="006699"/>
                </a:solidFill>
              </a:rPr>
              <a:t>Dual-mode</a:t>
            </a:r>
            <a:r>
              <a:rPr lang="en-US" altLang="en-US" sz="2000" b="1" dirty="0">
                <a:solidFill>
                  <a:srgbClr val="3366FF"/>
                </a:solidFill>
              </a:rPr>
              <a:t> </a:t>
            </a:r>
            <a:r>
              <a:rPr lang="en-US" altLang="en-US" sz="2000" dirty="0"/>
              <a:t>operation allows OS to protect itself and other system components</a:t>
            </a:r>
          </a:p>
          <a:p>
            <a:pPr lvl="1">
              <a:lnSpc>
                <a:spcPct val="90000"/>
              </a:lnSpc>
            </a:pPr>
            <a:r>
              <a:rPr lang="en-US" altLang="en-US" sz="1800" b="1" dirty="0">
                <a:solidFill>
                  <a:srgbClr val="006699"/>
                </a:solidFill>
              </a:rPr>
              <a:t>User mode </a:t>
            </a:r>
            <a:r>
              <a:rPr lang="en-US" altLang="en-US" sz="1800" dirty="0"/>
              <a:t>and </a:t>
            </a:r>
            <a:r>
              <a:rPr lang="en-US" altLang="en-US" sz="1800" b="1" dirty="0">
                <a:solidFill>
                  <a:srgbClr val="006699"/>
                </a:solidFill>
              </a:rPr>
              <a:t>kernel mode </a:t>
            </a:r>
          </a:p>
          <a:p>
            <a:pPr>
              <a:lnSpc>
                <a:spcPct val="90000"/>
              </a:lnSpc>
            </a:pPr>
            <a:endParaRPr lang="en-US" altLang="en-US" sz="2000" b="1" dirty="0">
              <a:solidFill>
                <a:srgbClr val="006699"/>
              </a:solidFill>
            </a:endParaRPr>
          </a:p>
          <a:p>
            <a:pPr>
              <a:lnSpc>
                <a:spcPct val="90000"/>
              </a:lnSpc>
            </a:pPr>
            <a:r>
              <a:rPr lang="en-US" altLang="en-US" sz="2000" b="1" dirty="0">
                <a:solidFill>
                  <a:srgbClr val="006699"/>
                </a:solidFill>
              </a:rPr>
              <a:t>Mode bit </a:t>
            </a:r>
            <a:r>
              <a:rPr lang="en-US" altLang="en-US" sz="2000" dirty="0"/>
              <a:t>provided by hardware </a:t>
            </a:r>
          </a:p>
          <a:p>
            <a:pPr lvl="1">
              <a:lnSpc>
                <a:spcPct val="90000"/>
              </a:lnSpc>
            </a:pPr>
            <a:r>
              <a:rPr lang="en-US" altLang="en-US" sz="1800" dirty="0"/>
              <a:t>Provides ability to distinguish when system is running user code or kernel code.</a:t>
            </a:r>
          </a:p>
          <a:p>
            <a:pPr lvl="1">
              <a:lnSpc>
                <a:spcPct val="90000"/>
              </a:lnSpc>
            </a:pPr>
            <a:r>
              <a:rPr lang="en-US" altLang="en-US" sz="1800" dirty="0"/>
              <a:t>When a user is running </a:t>
            </a:r>
            <a:r>
              <a:rPr lang="en-US" altLang="en-US" sz="1800" dirty="0">
                <a:sym typeface="Wingdings 3" panose="05040102010807070707" pitchFamily="18" charset="2"/>
              </a:rPr>
              <a:t> </a:t>
            </a:r>
            <a:r>
              <a:rPr lang="en-US" altLang="en-US" sz="1800" dirty="0">
                <a:sym typeface="Wingdings" panose="05000000000000000000" pitchFamily="2" charset="2"/>
              </a:rPr>
              <a:t>mode bit is “user”</a:t>
            </a:r>
          </a:p>
          <a:p>
            <a:pPr lvl="1">
              <a:lnSpc>
                <a:spcPct val="90000"/>
              </a:lnSpc>
            </a:pPr>
            <a:r>
              <a:rPr lang="en-US" altLang="en-US" sz="1800" dirty="0"/>
              <a:t>When kernel code is executing </a:t>
            </a:r>
            <a:r>
              <a:rPr lang="en-US" altLang="en-US" sz="1800" dirty="0">
                <a:sym typeface="Wingdings 3" panose="05040102010807070707" pitchFamily="18" charset="2"/>
              </a:rPr>
              <a:t> </a:t>
            </a:r>
            <a:r>
              <a:rPr lang="en-US" altLang="en-US" sz="1800" dirty="0">
                <a:sym typeface="Wingdings" panose="05000000000000000000" pitchFamily="2" charset="2"/>
              </a:rPr>
              <a:t>mode bit is “kernel”</a:t>
            </a:r>
          </a:p>
        </p:txBody>
      </p:sp>
      <p:sp>
        <p:nvSpPr>
          <p:cNvPr id="2" name="灯片编号占位符 1">
            <a:extLst>
              <a:ext uri="{FF2B5EF4-FFF2-40B4-BE49-F238E27FC236}">
                <a16:creationId xmlns:a16="http://schemas.microsoft.com/office/drawing/2014/main" id="{E82FFC0A-02BB-3C8F-A3B8-D4DCC231ABEE}"/>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extLst>
      <p:ext uri="{BB962C8B-B14F-4D97-AF65-F5344CB8AC3E}">
        <p14:creationId xmlns:p14="http://schemas.microsoft.com/office/powerpoint/2010/main" val="3654188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904775" y="102394"/>
            <a:ext cx="6843813" cy="485775"/>
          </a:xfrm>
        </p:spPr>
        <p:txBody>
          <a:bodyPr/>
          <a:lstStyle/>
          <a:p>
            <a:pPr eaLnBrk="1" hangingPunct="1"/>
            <a:r>
              <a:rPr lang="en-US" altLang="en-US" sz="3200" dirty="0"/>
              <a:t>Dual-Mode Operation (2)</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096" y="2213384"/>
            <a:ext cx="7387808" cy="21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17DEC67E-FC90-1292-6E8E-43159DC669F9}"/>
              </a:ext>
            </a:extLst>
          </p:cNvPr>
          <p:cNvSpPr txBox="1">
            <a:spLocks noChangeArrowheads="1"/>
          </p:cNvSpPr>
          <p:nvPr/>
        </p:nvSpPr>
        <p:spPr bwMode="auto">
          <a:xfrm>
            <a:off x="321426" y="891372"/>
            <a:ext cx="8643187" cy="101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90000"/>
              </a:lnSpc>
            </a:pPr>
            <a:r>
              <a:rPr lang="en-US" altLang="en-US" sz="2000" dirty="0">
                <a:latin typeface="Calibri" panose="020F0502020204030204" pitchFamily="34" charset="0"/>
                <a:cs typeface="Calibri" panose="020F0502020204030204" pitchFamily="34" charset="0"/>
                <a:sym typeface="Wingdings" panose="05000000000000000000" pitchFamily="2" charset="2"/>
              </a:rPr>
              <a:t>How do we guarantee that user does not explicitly set the mode bit to kernel?</a:t>
            </a:r>
          </a:p>
          <a:p>
            <a:pPr lvl="1">
              <a:lnSpc>
                <a:spcPct val="90000"/>
              </a:lnSpc>
            </a:pPr>
            <a:r>
              <a:rPr lang="en-US" altLang="en-US" dirty="0">
                <a:latin typeface="Calibri" panose="020F0502020204030204" pitchFamily="34" charset="0"/>
                <a:cs typeface="Calibri" panose="020F0502020204030204" pitchFamily="34" charset="0"/>
              </a:rPr>
              <a:t>System call changes mode to kernel, return from call resets it to user</a:t>
            </a:r>
          </a:p>
          <a:p>
            <a:pPr>
              <a:lnSpc>
                <a:spcPct val="90000"/>
              </a:lnSpc>
            </a:pPr>
            <a:r>
              <a:rPr lang="en-US" altLang="en-US" sz="2000" dirty="0">
                <a:latin typeface="Calibri" panose="020F0502020204030204" pitchFamily="34" charset="0"/>
                <a:cs typeface="Calibri" panose="020F0502020204030204" pitchFamily="34" charset="0"/>
              </a:rPr>
              <a:t>Some instructions designated as </a:t>
            </a:r>
            <a:r>
              <a:rPr lang="en-US" altLang="en-US" sz="2000" b="1" dirty="0">
                <a:solidFill>
                  <a:srgbClr val="006699"/>
                </a:solidFill>
                <a:latin typeface="Calibri" panose="020F0502020204030204" pitchFamily="34" charset="0"/>
                <a:cs typeface="Calibri" panose="020F0502020204030204" pitchFamily="34" charset="0"/>
              </a:rPr>
              <a:t>privileged</a:t>
            </a:r>
            <a:r>
              <a:rPr lang="en-US" altLang="en-US" sz="2000" dirty="0">
                <a:latin typeface="Calibri" panose="020F0502020204030204" pitchFamily="34" charset="0"/>
                <a:cs typeface="Calibri" panose="020F0502020204030204" pitchFamily="34" charset="0"/>
              </a:rPr>
              <a:t>, only executable in kernel mode</a:t>
            </a:r>
          </a:p>
        </p:txBody>
      </p:sp>
      <p:sp>
        <p:nvSpPr>
          <p:cNvPr id="3" name="灯片编号占位符 2">
            <a:extLst>
              <a:ext uri="{FF2B5EF4-FFF2-40B4-BE49-F238E27FC236}">
                <a16:creationId xmlns:a16="http://schemas.microsoft.com/office/drawing/2014/main" id="{5170A12E-0738-EBC8-32A2-F8938527F782}"/>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extLst>
      <p:ext uri="{BB962C8B-B14F-4D97-AF65-F5344CB8AC3E}">
        <p14:creationId xmlns:p14="http://schemas.microsoft.com/office/powerpoint/2010/main" val="421878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904775" y="102394"/>
            <a:ext cx="6843813" cy="485775"/>
          </a:xfrm>
        </p:spPr>
        <p:txBody>
          <a:bodyPr/>
          <a:lstStyle/>
          <a:p>
            <a:pPr eaLnBrk="1" hangingPunct="1"/>
            <a:r>
              <a:rPr lang="en-US" altLang="en-US" sz="3200"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991402" y="824213"/>
            <a:ext cx="7565457" cy="2486877"/>
          </a:xfrm>
        </p:spPr>
        <p:txBody>
          <a:bodyPr/>
          <a:lstStyle/>
          <a:p>
            <a:r>
              <a:rPr lang="en-US" altLang="en-US" sz="2000" dirty="0"/>
              <a:t>Timer to prevent infinite loop (or process hogging resources)</a:t>
            </a:r>
          </a:p>
          <a:p>
            <a:pPr lvl="1"/>
            <a:r>
              <a:rPr lang="en-US" altLang="en-US" sz="1800" dirty="0"/>
              <a:t>Timer is set to interrupt the computer after some time period</a:t>
            </a:r>
          </a:p>
          <a:p>
            <a:pPr lvl="1"/>
            <a:r>
              <a:rPr lang="en-US" altLang="en-US" sz="1800" dirty="0"/>
              <a:t>Keep a counter that is decremented by the physical clock</a:t>
            </a:r>
          </a:p>
          <a:p>
            <a:pPr lvl="1"/>
            <a:r>
              <a:rPr lang="en-US" altLang="en-US" sz="1800" dirty="0"/>
              <a:t>Operating system set the counter (privileged instruction)</a:t>
            </a:r>
          </a:p>
          <a:p>
            <a:pPr lvl="1"/>
            <a:r>
              <a:rPr lang="en-US" altLang="en-US" sz="1800" dirty="0"/>
              <a:t>When counter zero generate an interrupt</a:t>
            </a:r>
          </a:p>
          <a:p>
            <a:pPr lvl="1"/>
            <a:r>
              <a:rPr lang="en-US" altLang="en-US" sz="1800" dirty="0"/>
              <a:t>Set up before scheduling process to regain control or terminate program that exceeds allotted time</a:t>
            </a:r>
          </a:p>
        </p:txBody>
      </p:sp>
      <p:sp>
        <p:nvSpPr>
          <p:cNvPr id="2" name="灯片编号占位符 1">
            <a:extLst>
              <a:ext uri="{FF2B5EF4-FFF2-40B4-BE49-F238E27FC236}">
                <a16:creationId xmlns:a16="http://schemas.microsoft.com/office/drawing/2014/main" id="{1D9A3EC5-8E09-E824-8071-5C20DA6E6AD5}"/>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885525" y="155972"/>
            <a:ext cx="6653514" cy="432197"/>
          </a:xfrm>
        </p:spPr>
        <p:txBody>
          <a:bodyPr/>
          <a:lstStyle/>
          <a:p>
            <a:pPr eaLnBrk="1" hangingPunct="1"/>
            <a:r>
              <a:rPr lang="en-US" altLang="en-US" sz="3200" dirty="0"/>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885526" y="831954"/>
            <a:ext cx="8079087" cy="3701545"/>
          </a:xfrm>
        </p:spPr>
        <p:txBody>
          <a:bodyPr/>
          <a:lstStyle/>
          <a:p>
            <a:pPr>
              <a:lnSpc>
                <a:spcPct val="90000"/>
              </a:lnSpc>
              <a:spcBef>
                <a:spcPts val="300"/>
              </a:spcBef>
            </a:pPr>
            <a:r>
              <a:rPr lang="en-US" altLang="en-US" sz="2000" dirty="0">
                <a:ea typeface="+mn-ea"/>
                <a:cs typeface="Calibri" panose="020F0502020204030204" pitchFamily="34" charset="0"/>
              </a:rPr>
              <a:t>A process (</a:t>
            </a:r>
            <a:r>
              <a:rPr lang="en-US" altLang="en-US" sz="2000" dirty="0">
                <a:solidFill>
                  <a:srgbClr val="000000"/>
                </a:solidFill>
                <a:ea typeface="+mn-ea"/>
                <a:cs typeface="Calibri" panose="020F0502020204030204" pitchFamily="34" charset="0"/>
              </a:rPr>
              <a:t>an </a:t>
            </a:r>
            <a:r>
              <a:rPr lang="en-US" altLang="en-US" sz="2000" b="1" i="1" dirty="0">
                <a:solidFill>
                  <a:srgbClr val="000000"/>
                </a:solidFill>
                <a:ea typeface="+mn-ea"/>
                <a:cs typeface="Calibri" panose="020F0502020204030204" pitchFamily="34" charset="0"/>
              </a:rPr>
              <a:t>active entity</a:t>
            </a:r>
            <a:r>
              <a:rPr lang="en-US" altLang="en-US" sz="2000" dirty="0">
                <a:ea typeface="+mn-ea"/>
                <a:cs typeface="Calibri" panose="020F0502020204030204" pitchFamily="34" charset="0"/>
              </a:rPr>
              <a:t>) is a program (a </a:t>
            </a:r>
            <a:r>
              <a:rPr lang="en-US" altLang="en-US" sz="2000" b="1" i="1" dirty="0">
                <a:ea typeface="+mn-ea"/>
                <a:cs typeface="Calibri" panose="020F0502020204030204" pitchFamily="34" charset="0"/>
              </a:rPr>
              <a:t>passive entity</a:t>
            </a:r>
            <a:r>
              <a:rPr lang="en-US" altLang="en-US" sz="2000" dirty="0">
                <a:ea typeface="+mn-ea"/>
                <a:cs typeface="Calibri" panose="020F0502020204030204" pitchFamily="34" charset="0"/>
              </a:rPr>
              <a:t>) in execution</a:t>
            </a:r>
          </a:p>
          <a:p>
            <a:pPr>
              <a:lnSpc>
                <a:spcPct val="90000"/>
              </a:lnSpc>
              <a:spcBef>
                <a:spcPts val="300"/>
              </a:spcBef>
            </a:pPr>
            <a:r>
              <a:rPr lang="en-US" altLang="en-US" sz="2000" dirty="0">
                <a:ea typeface="+mn-ea"/>
                <a:cs typeface="Calibri" panose="020F0502020204030204" pitchFamily="34" charset="0"/>
              </a:rPr>
              <a:t>Process needs resources to accomplish its task</a:t>
            </a:r>
          </a:p>
          <a:p>
            <a:pPr lvl="1">
              <a:lnSpc>
                <a:spcPct val="90000"/>
              </a:lnSpc>
              <a:spcBef>
                <a:spcPts val="300"/>
              </a:spcBef>
            </a:pPr>
            <a:r>
              <a:rPr lang="en-US" altLang="en-US" sz="1800" dirty="0">
                <a:ea typeface="+mn-ea"/>
                <a:cs typeface="Calibri" panose="020F0502020204030204" pitchFamily="34" charset="0"/>
              </a:rPr>
              <a:t>CPU, memory, I/O, files</a:t>
            </a:r>
          </a:p>
          <a:p>
            <a:pPr lvl="1">
              <a:lnSpc>
                <a:spcPct val="90000"/>
              </a:lnSpc>
              <a:spcBef>
                <a:spcPts val="300"/>
              </a:spcBef>
            </a:pPr>
            <a:r>
              <a:rPr lang="en-US" altLang="en-US" sz="1800" dirty="0">
                <a:ea typeface="+mn-ea"/>
                <a:cs typeface="Calibri" panose="020F0502020204030204" pitchFamily="34" charset="0"/>
              </a:rPr>
              <a:t>Initialization data</a:t>
            </a:r>
          </a:p>
          <a:p>
            <a:pPr>
              <a:lnSpc>
                <a:spcPct val="90000"/>
              </a:lnSpc>
              <a:spcBef>
                <a:spcPts val="300"/>
              </a:spcBef>
            </a:pPr>
            <a:r>
              <a:rPr lang="en-US" altLang="en-US" sz="2000" dirty="0">
                <a:ea typeface="+mn-ea"/>
                <a:cs typeface="Calibri" panose="020F0502020204030204" pitchFamily="34" charset="0"/>
              </a:rPr>
              <a:t>Process termination requires reclaim of any reusable resources</a:t>
            </a:r>
          </a:p>
          <a:p>
            <a:pPr>
              <a:lnSpc>
                <a:spcPct val="90000"/>
              </a:lnSpc>
              <a:spcBef>
                <a:spcPts val="300"/>
              </a:spcBef>
            </a:pPr>
            <a:r>
              <a:rPr lang="en-US" altLang="en-US" sz="2000" dirty="0">
                <a:ea typeface="+mn-ea"/>
                <a:cs typeface="Calibri" panose="020F0502020204030204" pitchFamily="34" charset="0"/>
              </a:rPr>
              <a:t>Single-threaded process has one </a:t>
            </a:r>
            <a:r>
              <a:rPr lang="en-US" altLang="en-US" sz="2000" b="1" dirty="0">
                <a:solidFill>
                  <a:srgbClr val="006699"/>
                </a:solidFill>
                <a:ea typeface="+mn-ea"/>
                <a:cs typeface="Calibri" panose="020F0502020204030204" pitchFamily="34" charset="0"/>
              </a:rPr>
              <a:t>program counter </a:t>
            </a:r>
            <a:r>
              <a:rPr lang="en-US" altLang="en-US" sz="2000" dirty="0">
                <a:ea typeface="+mn-ea"/>
                <a:cs typeface="Calibri" panose="020F0502020204030204" pitchFamily="34" charset="0"/>
              </a:rPr>
              <a:t>specifying location of next instruction to execute</a:t>
            </a:r>
          </a:p>
          <a:p>
            <a:pPr lvl="1">
              <a:lnSpc>
                <a:spcPct val="90000"/>
              </a:lnSpc>
              <a:spcBef>
                <a:spcPts val="300"/>
              </a:spcBef>
            </a:pPr>
            <a:r>
              <a:rPr lang="en-US" altLang="en-US" sz="1800" dirty="0">
                <a:ea typeface="+mn-ea"/>
                <a:cs typeface="Calibri" panose="020F0502020204030204" pitchFamily="34" charset="0"/>
              </a:rPr>
              <a:t>Process executes instructions sequentially, one at a time, until completion</a:t>
            </a:r>
          </a:p>
          <a:p>
            <a:pPr>
              <a:lnSpc>
                <a:spcPct val="90000"/>
              </a:lnSpc>
              <a:spcBef>
                <a:spcPts val="300"/>
              </a:spcBef>
            </a:pPr>
            <a:r>
              <a:rPr lang="en-US" altLang="en-US" sz="2000" dirty="0">
                <a:ea typeface="+mn-ea"/>
                <a:cs typeface="Calibri" panose="020F0502020204030204" pitchFamily="34" charset="0"/>
              </a:rPr>
              <a:t>Multi-threaded process has one program counter per thread</a:t>
            </a:r>
          </a:p>
          <a:p>
            <a:pPr>
              <a:lnSpc>
                <a:spcPct val="90000"/>
              </a:lnSpc>
              <a:spcBef>
                <a:spcPts val="300"/>
              </a:spcBef>
            </a:pPr>
            <a:r>
              <a:rPr lang="en-US" altLang="en-US" sz="2000" dirty="0">
                <a:ea typeface="+mn-ea"/>
                <a:cs typeface="Calibri" panose="020F0502020204030204" pitchFamily="34" charset="0"/>
              </a:rPr>
              <a:t>Typically system has many processes, some user, some operating system running concurrently on one or more CPUs</a:t>
            </a:r>
          </a:p>
          <a:p>
            <a:pPr lvl="1">
              <a:lnSpc>
                <a:spcPct val="90000"/>
              </a:lnSpc>
              <a:spcBef>
                <a:spcPts val="300"/>
              </a:spcBef>
            </a:pPr>
            <a:r>
              <a:rPr lang="en-US" altLang="en-US" sz="1800" dirty="0">
                <a:ea typeface="+mn-ea"/>
                <a:cs typeface="Calibri" panose="020F0502020204030204" pitchFamily="34" charset="0"/>
              </a:rPr>
              <a:t>Concurrency by multiplexing the CPUs among the processes/threads</a:t>
            </a:r>
          </a:p>
        </p:txBody>
      </p:sp>
      <p:sp>
        <p:nvSpPr>
          <p:cNvPr id="2" name="灯片编号占位符 1">
            <a:extLst>
              <a:ext uri="{FF2B5EF4-FFF2-40B4-BE49-F238E27FC236}">
                <a16:creationId xmlns:a16="http://schemas.microsoft.com/office/drawing/2014/main" id="{9F55B5A6-38CE-EFBF-B4CA-A450ED01F15C}"/>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875900" y="155972"/>
            <a:ext cx="6684570" cy="432197"/>
          </a:xfrm>
        </p:spPr>
        <p:txBody>
          <a:bodyPr/>
          <a:lstStyle/>
          <a:p>
            <a:pPr eaLnBrk="1" hangingPunct="1"/>
            <a:r>
              <a:rPr lang="en-US" altLang="en-US" sz="3200" dirty="0"/>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1058779" y="834571"/>
            <a:ext cx="7257448" cy="2553521"/>
          </a:xfrm>
        </p:spPr>
        <p:txBody>
          <a:bodyPr/>
          <a:lstStyle/>
          <a:p>
            <a:r>
              <a:rPr kumimoji="0" lang="en-US" altLang="en-US" sz="2000" dirty="0"/>
              <a:t>An operating system is responsible for the following activities in connection with process management</a:t>
            </a:r>
          </a:p>
          <a:p>
            <a:pPr lvl="1"/>
            <a:r>
              <a:rPr lang="en-US" altLang="en-US" sz="1800" dirty="0"/>
              <a:t>Creating and deleting both user and system processes</a:t>
            </a:r>
          </a:p>
          <a:p>
            <a:pPr lvl="1"/>
            <a:r>
              <a:rPr lang="en-US" altLang="en-US" sz="1800" dirty="0"/>
              <a:t>Suspending and resuming processes</a:t>
            </a:r>
          </a:p>
          <a:p>
            <a:pPr lvl="1"/>
            <a:r>
              <a:rPr lang="en-US" altLang="en-US" sz="1800" dirty="0"/>
              <a:t>Providing mechanisms for process synchronization</a:t>
            </a:r>
          </a:p>
          <a:p>
            <a:pPr lvl="1"/>
            <a:r>
              <a:rPr lang="en-US" altLang="en-US" sz="1800" dirty="0"/>
              <a:t>Providing mechanisms for process communication</a:t>
            </a:r>
          </a:p>
          <a:p>
            <a:pPr lvl="1"/>
            <a:r>
              <a:rPr lang="en-US" altLang="en-US" sz="1800" dirty="0"/>
              <a:t>Providing mechanisms for deadlock handling</a:t>
            </a:r>
          </a:p>
        </p:txBody>
      </p:sp>
      <p:sp>
        <p:nvSpPr>
          <p:cNvPr id="2" name="灯片编号占位符 1">
            <a:extLst>
              <a:ext uri="{FF2B5EF4-FFF2-40B4-BE49-F238E27FC236}">
                <a16:creationId xmlns:a16="http://schemas.microsoft.com/office/drawing/2014/main" id="{0129E44D-BA1A-DA1C-2922-A64436B33C47}"/>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885524" y="159544"/>
            <a:ext cx="6667801" cy="432197"/>
          </a:xfrm>
        </p:spPr>
        <p:txBody>
          <a:bodyPr/>
          <a:lstStyle/>
          <a:p>
            <a:pPr eaLnBrk="1" hangingPunct="1"/>
            <a:r>
              <a:rPr lang="en-US" altLang="en-US" sz="3200" dirty="0"/>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644892" y="827773"/>
            <a:ext cx="8213843" cy="2921856"/>
          </a:xfrm>
        </p:spPr>
        <p:txBody>
          <a:bodyPr/>
          <a:lstStyle/>
          <a:p>
            <a:r>
              <a:rPr lang="en-US" altLang="en-US" sz="2000" dirty="0"/>
              <a:t>To execute a program all (or part) of the instructions must be in memory</a:t>
            </a:r>
          </a:p>
          <a:p>
            <a:r>
              <a:rPr lang="en-US" altLang="en-US" sz="2000" dirty="0"/>
              <a:t>All  (or part) of the data that is needed by the program must be in memory</a:t>
            </a:r>
          </a:p>
          <a:p>
            <a:r>
              <a:rPr lang="en-US" altLang="en-US" sz="2000" dirty="0"/>
              <a:t>Memory management determines what is in memory and when</a:t>
            </a:r>
          </a:p>
          <a:p>
            <a:pPr lvl="1"/>
            <a:r>
              <a:rPr lang="en-US" altLang="en-US" sz="1600" dirty="0"/>
              <a:t>Optimizing CPU utilization and computer response to users</a:t>
            </a:r>
          </a:p>
          <a:p>
            <a:r>
              <a:rPr lang="en-US" altLang="en-US" sz="2000" dirty="0"/>
              <a:t>Memory management activities</a:t>
            </a:r>
          </a:p>
          <a:p>
            <a:pPr lvl="1"/>
            <a:r>
              <a:rPr lang="en-US" altLang="en-US" sz="1600" dirty="0"/>
              <a:t>Keeping track of which parts of memory are currently being used and by whom</a:t>
            </a:r>
          </a:p>
          <a:p>
            <a:pPr lvl="1"/>
            <a:r>
              <a:rPr lang="en-US" altLang="en-US" sz="1600" dirty="0"/>
              <a:t>Deciding which processes (or parts thereof) and data to move into and out of memory</a:t>
            </a:r>
          </a:p>
          <a:p>
            <a:pPr lvl="1"/>
            <a:r>
              <a:rPr lang="en-US" altLang="en-US" sz="1600" dirty="0"/>
              <a:t>Allocating and deallocating memory space as needed</a:t>
            </a:r>
          </a:p>
          <a:p>
            <a:pPr lvl="1">
              <a:buFont typeface="Monotype Sorts" pitchFamily="-84" charset="2"/>
              <a:buNone/>
            </a:pPr>
            <a:endParaRPr lang="en-US" altLang="en-US" sz="2000" dirty="0"/>
          </a:p>
        </p:txBody>
      </p:sp>
      <p:sp>
        <p:nvSpPr>
          <p:cNvPr id="2" name="灯片编号占位符 1">
            <a:extLst>
              <a:ext uri="{FF2B5EF4-FFF2-40B4-BE49-F238E27FC236}">
                <a16:creationId xmlns:a16="http://schemas.microsoft.com/office/drawing/2014/main" id="{73E792FB-A5C6-465A-DF44-40665392B5B8}"/>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904775" y="155972"/>
            <a:ext cx="6592591" cy="432197"/>
          </a:xfrm>
        </p:spPr>
        <p:txBody>
          <a:bodyPr/>
          <a:lstStyle/>
          <a:p>
            <a:pPr eaLnBrk="1" hangingPunct="1"/>
            <a:r>
              <a:rPr lang="en-US" altLang="en-US" sz="3200" dirty="0"/>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1039527" y="827966"/>
            <a:ext cx="7430705" cy="3676655"/>
          </a:xfrm>
        </p:spPr>
        <p:txBody>
          <a:bodyPr/>
          <a:lstStyle/>
          <a:p>
            <a:r>
              <a:rPr lang="en-US" altLang="en-US" sz="2000" dirty="0"/>
              <a:t>Important principle, performed at many levels in a computer (in hardware, operating system, software)</a:t>
            </a:r>
          </a:p>
          <a:p>
            <a:r>
              <a:rPr lang="en-US" altLang="en-US" sz="2000" dirty="0"/>
              <a:t>Information in use copied from slower to faster storage temporarily</a:t>
            </a:r>
          </a:p>
          <a:p>
            <a:r>
              <a:rPr lang="en-US" altLang="en-US" sz="2000" dirty="0"/>
              <a:t>Faster storage (cache) checked first to determine if information is there</a:t>
            </a:r>
          </a:p>
          <a:p>
            <a:pPr lvl="1"/>
            <a:r>
              <a:rPr lang="en-US" altLang="en-US" sz="1800" dirty="0"/>
              <a:t>If it is, information used directly from the cache (fast)</a:t>
            </a:r>
          </a:p>
          <a:p>
            <a:pPr lvl="1"/>
            <a:r>
              <a:rPr lang="en-US" altLang="en-US" sz="1800" dirty="0"/>
              <a:t>If not, data copied to cache and used there</a:t>
            </a:r>
          </a:p>
          <a:p>
            <a:r>
              <a:rPr lang="en-US" altLang="en-US" sz="2000" dirty="0"/>
              <a:t>Cache smaller than storage being cached</a:t>
            </a:r>
          </a:p>
          <a:p>
            <a:pPr lvl="1"/>
            <a:r>
              <a:rPr lang="en-US" altLang="en-US" sz="1800" dirty="0"/>
              <a:t>Cache management important design problem</a:t>
            </a:r>
          </a:p>
          <a:p>
            <a:pPr lvl="1"/>
            <a:r>
              <a:rPr lang="en-US" altLang="en-US" sz="1800" dirty="0"/>
              <a:t>Cache size and replacement policy</a:t>
            </a:r>
          </a:p>
        </p:txBody>
      </p:sp>
      <p:sp>
        <p:nvSpPr>
          <p:cNvPr id="2" name="灯片编号占位符 1">
            <a:extLst>
              <a:ext uri="{FF2B5EF4-FFF2-40B4-BE49-F238E27FC236}">
                <a16:creationId xmlns:a16="http://schemas.microsoft.com/office/drawing/2014/main" id="{2785DBDE-F5F8-B429-396C-D84D43E3AA2D}"/>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885524" y="158353"/>
            <a:ext cx="7680960" cy="432197"/>
          </a:xfrm>
        </p:spPr>
        <p:txBody>
          <a:bodyPr/>
          <a:lstStyle/>
          <a:p>
            <a:pPr eaLnBrk="1" hangingPunct="1"/>
            <a:r>
              <a:rPr lang="en-US" altLang="en-US" sz="32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962526" y="814766"/>
            <a:ext cx="7825339" cy="3709108"/>
          </a:xfrm>
        </p:spPr>
        <p:txBody>
          <a:bodyPr/>
          <a:lstStyle/>
          <a:p>
            <a:r>
              <a:rPr lang="en-US" altLang="en-US" sz="2000" dirty="0">
                <a:ea typeface="+mn-ea"/>
                <a:cs typeface="Calibri" panose="020F0502020204030204" pitchFamily="34" charset="0"/>
              </a:rPr>
              <a:t>Multitasking environments must be careful to use most recent value, no matter where it is stored in the storage hierarchy</a:t>
            </a:r>
            <a:br>
              <a:rPr lang="en-US" altLang="en-US" sz="2000" dirty="0">
                <a:ea typeface="+mn-ea"/>
                <a:cs typeface="Calibri" panose="020F0502020204030204" pitchFamily="34" charset="0"/>
              </a:rPr>
            </a:br>
            <a:br>
              <a:rPr lang="en-US" altLang="en-US" sz="2000" dirty="0">
                <a:ea typeface="+mn-ea"/>
                <a:cs typeface="Calibri" panose="020F0502020204030204" pitchFamily="34" charset="0"/>
              </a:rPr>
            </a:br>
            <a:br>
              <a:rPr lang="en-US" altLang="en-US" sz="2000" dirty="0">
                <a:ea typeface="+mn-ea"/>
                <a:cs typeface="Calibri" panose="020F0502020204030204" pitchFamily="34" charset="0"/>
              </a:rPr>
            </a:br>
            <a:br>
              <a:rPr lang="en-US" altLang="en-US" sz="2000" dirty="0">
                <a:ea typeface="+mn-ea"/>
                <a:cs typeface="Calibri" panose="020F0502020204030204" pitchFamily="34" charset="0"/>
              </a:rPr>
            </a:br>
            <a:endParaRPr lang="en-US" altLang="en-US" sz="2000" dirty="0">
              <a:ea typeface="+mn-ea"/>
              <a:cs typeface="Calibri" panose="020F0502020204030204" pitchFamily="34" charset="0"/>
            </a:endParaRPr>
          </a:p>
          <a:p>
            <a:r>
              <a:rPr lang="en-US" altLang="en-US" sz="2000" dirty="0">
                <a:ea typeface="+mn-ea"/>
                <a:cs typeface="Calibri" panose="020F0502020204030204" pitchFamily="34" charset="0"/>
              </a:rPr>
              <a:t>Multiprocessor environment must provide </a:t>
            </a:r>
            <a:r>
              <a:rPr lang="en-US" altLang="en-US" sz="2000" b="1" dirty="0">
                <a:solidFill>
                  <a:srgbClr val="006699"/>
                </a:solidFill>
                <a:ea typeface="+mn-ea"/>
                <a:cs typeface="Calibri" panose="020F0502020204030204" pitchFamily="34" charset="0"/>
              </a:rPr>
              <a:t>cache coherency </a:t>
            </a:r>
            <a:r>
              <a:rPr lang="en-US" altLang="en-US" sz="2000" dirty="0">
                <a:ea typeface="+mn-ea"/>
                <a:cs typeface="Calibri" panose="020F0502020204030204" pitchFamily="34" charset="0"/>
              </a:rPr>
              <a:t>in hardware such that all CPUs have the most recent value in their cache</a:t>
            </a:r>
          </a:p>
          <a:p>
            <a:r>
              <a:rPr lang="en-US" altLang="en-US" sz="2000" dirty="0">
                <a:ea typeface="+mn-ea"/>
                <a:cs typeface="Calibri" panose="020F0502020204030204" pitchFamily="34" charset="0"/>
              </a:rPr>
              <a:t>Distributed environment situation even more complex</a:t>
            </a:r>
          </a:p>
          <a:p>
            <a:pPr lvl="1"/>
            <a:r>
              <a:rPr lang="en-US" altLang="en-US" sz="1800" dirty="0">
                <a:ea typeface="+mn-ea"/>
                <a:cs typeface="Calibri" panose="020F0502020204030204" pitchFamily="34" charset="0"/>
              </a:rPr>
              <a:t>Several copies of a datum can exist</a:t>
            </a:r>
          </a:p>
          <a:p>
            <a:pPr lvl="1"/>
            <a:r>
              <a:rPr lang="en-US" altLang="en-US" sz="1800" dirty="0">
                <a:ea typeface="+mn-ea"/>
                <a:cs typeface="Calibri" panose="020F0502020204030204" pitchFamily="34" charset="0"/>
              </a:rPr>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7010" y="1668634"/>
            <a:ext cx="6486149" cy="82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B1E49733-5484-AF7A-996C-22D2DC158E57}"/>
              </a:ext>
            </a:extLst>
          </p:cNvPr>
          <p:cNvSpPr>
            <a:spLocks noGrp="1"/>
          </p:cNvSpPr>
          <p:nvPr>
            <p:ph type="sldNum" sz="quarter" idx="10"/>
          </p:nvPr>
        </p:nvSpPr>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885525" y="158353"/>
            <a:ext cx="6618986" cy="432197"/>
          </a:xfrm>
        </p:spPr>
        <p:txBody>
          <a:bodyPr/>
          <a:lstStyle/>
          <a:p>
            <a:pPr eaLnBrk="1" hangingPunct="1"/>
            <a:r>
              <a:rPr lang="en-US" altLang="en-US" sz="3200" dirty="0"/>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885525" y="809425"/>
            <a:ext cx="7680959" cy="3781826"/>
          </a:xfrm>
        </p:spPr>
        <p:txBody>
          <a:bodyPr/>
          <a:lstStyle/>
          <a:p>
            <a:pPr>
              <a:lnSpc>
                <a:spcPct val="90000"/>
              </a:lnSpc>
            </a:pPr>
            <a:r>
              <a:rPr lang="en-US" altLang="en-US" sz="2000" dirty="0">
                <a:ea typeface="+mn-ea"/>
                <a:cs typeface="Calibri" panose="020F0502020204030204" pitchFamily="34" charset="0"/>
              </a:rPr>
              <a:t>OS provides uniform, logical view of information storage</a:t>
            </a:r>
          </a:p>
          <a:p>
            <a:pPr lvl="1">
              <a:lnSpc>
                <a:spcPct val="90000"/>
              </a:lnSpc>
            </a:pPr>
            <a:r>
              <a:rPr lang="en-US" altLang="en-US" sz="1800" dirty="0">
                <a:ea typeface="+mn-ea"/>
                <a:cs typeface="Calibri" panose="020F0502020204030204" pitchFamily="34" charset="0"/>
              </a:rPr>
              <a:t>Abstracts physical properties to logical storage unit  - </a:t>
            </a:r>
            <a:r>
              <a:rPr lang="en-US" altLang="en-US" sz="1800" b="1" dirty="0">
                <a:solidFill>
                  <a:srgbClr val="006699"/>
                </a:solidFill>
                <a:ea typeface="+mn-ea"/>
                <a:cs typeface="Calibri" panose="020F0502020204030204" pitchFamily="34" charset="0"/>
              </a:rPr>
              <a:t>file</a:t>
            </a:r>
          </a:p>
          <a:p>
            <a:pPr lvl="1">
              <a:lnSpc>
                <a:spcPct val="90000"/>
              </a:lnSpc>
            </a:pPr>
            <a:r>
              <a:rPr lang="en-US" altLang="en-US" sz="1800" dirty="0">
                <a:ea typeface="+mn-ea"/>
                <a:cs typeface="Calibri" panose="020F0502020204030204" pitchFamily="34" charset="0"/>
              </a:rPr>
              <a:t>Each medium is controlled by device (i.e., disk drive, tape drive)</a:t>
            </a:r>
          </a:p>
          <a:p>
            <a:pPr lvl="2">
              <a:lnSpc>
                <a:spcPct val="90000"/>
              </a:lnSpc>
            </a:pPr>
            <a:r>
              <a:rPr lang="en-US" altLang="en-US" sz="1600" dirty="0">
                <a:latin typeface="Calibri" panose="020F0502020204030204" pitchFamily="34" charset="0"/>
                <a:cs typeface="Calibri" panose="020F0502020204030204" pitchFamily="34" charset="0"/>
              </a:rPr>
              <a:t>Varying properties include access speed, capacity, data-transfer rate, access method (sequential or random)</a:t>
            </a:r>
          </a:p>
          <a:p>
            <a:pPr>
              <a:lnSpc>
                <a:spcPct val="90000"/>
              </a:lnSpc>
            </a:pPr>
            <a:r>
              <a:rPr lang="en-US" altLang="en-US" sz="2000" dirty="0">
                <a:ea typeface="+mn-ea"/>
                <a:cs typeface="Calibri" panose="020F0502020204030204" pitchFamily="34" charset="0"/>
              </a:rPr>
              <a:t>File-System management</a:t>
            </a:r>
          </a:p>
          <a:p>
            <a:pPr lvl="1">
              <a:lnSpc>
                <a:spcPct val="90000"/>
              </a:lnSpc>
            </a:pPr>
            <a:r>
              <a:rPr lang="en-US" altLang="en-US" sz="1800" dirty="0">
                <a:ea typeface="+mn-ea"/>
                <a:cs typeface="Calibri" panose="020F0502020204030204" pitchFamily="34" charset="0"/>
              </a:rPr>
              <a:t>Files usually organized into directories</a:t>
            </a:r>
          </a:p>
          <a:p>
            <a:pPr lvl="1">
              <a:lnSpc>
                <a:spcPct val="90000"/>
              </a:lnSpc>
            </a:pPr>
            <a:r>
              <a:rPr lang="en-US" altLang="en-US" sz="1800" dirty="0">
                <a:ea typeface="+mn-ea"/>
                <a:cs typeface="Calibri" panose="020F0502020204030204" pitchFamily="34" charset="0"/>
              </a:rPr>
              <a:t>Access control on most systems to determine who can access what</a:t>
            </a:r>
          </a:p>
          <a:p>
            <a:pPr lvl="1">
              <a:lnSpc>
                <a:spcPct val="90000"/>
              </a:lnSpc>
            </a:pPr>
            <a:r>
              <a:rPr lang="en-US" altLang="en-US" sz="1800" dirty="0">
                <a:ea typeface="+mn-ea"/>
                <a:cs typeface="Calibri" panose="020F0502020204030204" pitchFamily="34" charset="0"/>
              </a:rPr>
              <a:t>OS activities include</a:t>
            </a:r>
          </a:p>
          <a:p>
            <a:pPr lvl="2">
              <a:lnSpc>
                <a:spcPct val="90000"/>
              </a:lnSpc>
            </a:pPr>
            <a:r>
              <a:rPr lang="en-US" altLang="en-US" sz="1600" dirty="0">
                <a:latin typeface="Calibri" panose="020F0502020204030204" pitchFamily="34" charset="0"/>
                <a:cs typeface="Calibri" panose="020F0502020204030204" pitchFamily="34" charset="0"/>
              </a:rPr>
              <a:t>Creating and deleting files and directories</a:t>
            </a:r>
          </a:p>
          <a:p>
            <a:pPr lvl="2">
              <a:lnSpc>
                <a:spcPct val="90000"/>
              </a:lnSpc>
            </a:pPr>
            <a:r>
              <a:rPr lang="en-US" altLang="en-US" sz="1600" dirty="0">
                <a:latin typeface="Calibri" panose="020F0502020204030204" pitchFamily="34" charset="0"/>
                <a:cs typeface="Calibri" panose="020F0502020204030204" pitchFamily="34" charset="0"/>
              </a:rPr>
              <a:t>Primitives to manipulate files and directories</a:t>
            </a:r>
          </a:p>
          <a:p>
            <a:pPr lvl="2">
              <a:lnSpc>
                <a:spcPct val="90000"/>
              </a:lnSpc>
            </a:pPr>
            <a:r>
              <a:rPr lang="en-US" altLang="en-US" sz="1600" dirty="0">
                <a:latin typeface="Calibri" panose="020F0502020204030204" pitchFamily="34" charset="0"/>
                <a:cs typeface="Calibri" panose="020F0502020204030204" pitchFamily="34" charset="0"/>
              </a:rPr>
              <a:t>Mapping files onto secondary storage</a:t>
            </a:r>
          </a:p>
          <a:p>
            <a:pPr lvl="2">
              <a:lnSpc>
                <a:spcPct val="90000"/>
              </a:lnSpc>
            </a:pPr>
            <a:r>
              <a:rPr lang="en-US" altLang="en-US" sz="1600" dirty="0">
                <a:latin typeface="Calibri" panose="020F0502020204030204" pitchFamily="34" charset="0"/>
                <a:cs typeface="Calibri" panose="020F0502020204030204" pitchFamily="34" charset="0"/>
              </a:rPr>
              <a:t>Backup files onto stable (non-volatile) storage media</a:t>
            </a:r>
          </a:p>
        </p:txBody>
      </p:sp>
      <p:sp>
        <p:nvSpPr>
          <p:cNvPr id="2" name="灯片编号占位符 1">
            <a:extLst>
              <a:ext uri="{FF2B5EF4-FFF2-40B4-BE49-F238E27FC236}">
                <a16:creationId xmlns:a16="http://schemas.microsoft.com/office/drawing/2014/main" id="{31602150-C362-1D3B-3613-60ADC1D2D210}"/>
              </a:ext>
            </a:extLst>
          </p:cNvPr>
          <p:cNvSpPr>
            <a:spLocks noGrp="1"/>
          </p:cNvSpPr>
          <p:nvPr>
            <p:ph type="sldNum" sz="quarter" idx="10"/>
          </p:nvPr>
        </p:nvSpPr>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895149" y="152401"/>
            <a:ext cx="6629601" cy="432197"/>
          </a:xfrm>
        </p:spPr>
        <p:txBody>
          <a:bodyPr/>
          <a:lstStyle/>
          <a:p>
            <a:pPr eaLnBrk="1" hangingPunct="1"/>
            <a:r>
              <a:rPr lang="en-US" altLang="en-US" sz="3200" dirty="0"/>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981777" y="824965"/>
            <a:ext cx="7565456" cy="3583405"/>
          </a:xfrm>
        </p:spPr>
        <p:txBody>
          <a:bodyPr/>
          <a:lstStyle/>
          <a:p>
            <a:pPr>
              <a:spcBef>
                <a:spcPts val="0"/>
              </a:spcBef>
            </a:pPr>
            <a:r>
              <a:rPr lang="en-US" altLang="en-US" sz="2000" dirty="0">
                <a:ea typeface="+mn-ea"/>
                <a:cs typeface="Calibri" panose="020F0502020204030204" pitchFamily="34" charset="0"/>
              </a:rPr>
              <a:t>Usually disks used to store data that does not fit in main memory or data that must be kept for a </a:t>
            </a:r>
            <a:r>
              <a:rPr lang="ja-JP" altLang="en-US" sz="2000" dirty="0">
                <a:ea typeface="+mn-ea"/>
                <a:cs typeface="Calibri" panose="020F0502020204030204" pitchFamily="34" charset="0"/>
              </a:rPr>
              <a:t>“</a:t>
            </a:r>
            <a:r>
              <a:rPr lang="en-US" altLang="ja-JP" sz="2000" dirty="0">
                <a:ea typeface="+mn-ea"/>
                <a:cs typeface="Calibri" panose="020F0502020204030204" pitchFamily="34" charset="0"/>
              </a:rPr>
              <a:t>long</a:t>
            </a:r>
            <a:r>
              <a:rPr lang="ja-JP" altLang="en-US" sz="2000" dirty="0">
                <a:ea typeface="+mn-ea"/>
                <a:cs typeface="Calibri" panose="020F0502020204030204" pitchFamily="34" charset="0"/>
              </a:rPr>
              <a:t>”</a:t>
            </a:r>
            <a:r>
              <a:rPr lang="en-US" altLang="ja-JP" sz="2000" dirty="0">
                <a:ea typeface="+mn-ea"/>
                <a:cs typeface="Calibri" panose="020F0502020204030204" pitchFamily="34" charset="0"/>
              </a:rPr>
              <a:t> period of time</a:t>
            </a:r>
          </a:p>
          <a:p>
            <a:pPr>
              <a:spcBef>
                <a:spcPts val="0"/>
              </a:spcBef>
            </a:pPr>
            <a:r>
              <a:rPr lang="en-US" altLang="en-US" sz="2000" dirty="0">
                <a:ea typeface="+mn-ea"/>
                <a:cs typeface="Calibri" panose="020F0502020204030204" pitchFamily="34" charset="0"/>
              </a:rPr>
              <a:t>Proper management is of central importance</a:t>
            </a:r>
          </a:p>
          <a:p>
            <a:pPr>
              <a:spcBef>
                <a:spcPts val="0"/>
              </a:spcBef>
            </a:pPr>
            <a:r>
              <a:rPr lang="en-US" altLang="en-US" sz="2000" dirty="0">
                <a:ea typeface="+mn-ea"/>
                <a:cs typeface="Calibri" panose="020F0502020204030204" pitchFamily="34" charset="0"/>
              </a:rPr>
              <a:t>Entire speed of computer operation hinges on disk subsystem and its algorithms</a:t>
            </a:r>
          </a:p>
          <a:p>
            <a:pPr>
              <a:spcBef>
                <a:spcPts val="0"/>
              </a:spcBef>
            </a:pPr>
            <a:r>
              <a:rPr lang="en-US" altLang="en-US" sz="2000" dirty="0">
                <a:ea typeface="+mn-ea"/>
                <a:cs typeface="Calibri" panose="020F0502020204030204" pitchFamily="34" charset="0"/>
              </a:rPr>
              <a:t>OS activities</a:t>
            </a:r>
          </a:p>
          <a:p>
            <a:pPr lvl="1">
              <a:spcBef>
                <a:spcPts val="0"/>
              </a:spcBef>
            </a:pPr>
            <a:r>
              <a:rPr lang="en-US" altLang="en-US" sz="1800" dirty="0">
                <a:ea typeface="+mn-ea"/>
                <a:cs typeface="Calibri" panose="020F0502020204030204" pitchFamily="34" charset="0"/>
              </a:rPr>
              <a:t>Mounting and unmounting</a:t>
            </a:r>
          </a:p>
          <a:p>
            <a:pPr lvl="1">
              <a:spcBef>
                <a:spcPts val="0"/>
              </a:spcBef>
            </a:pPr>
            <a:r>
              <a:rPr lang="en-US" altLang="en-US" sz="1800" dirty="0">
                <a:ea typeface="+mn-ea"/>
                <a:cs typeface="Calibri" panose="020F0502020204030204" pitchFamily="34" charset="0"/>
              </a:rPr>
              <a:t>Free-space management</a:t>
            </a:r>
          </a:p>
          <a:p>
            <a:pPr lvl="1">
              <a:spcBef>
                <a:spcPts val="0"/>
              </a:spcBef>
            </a:pPr>
            <a:r>
              <a:rPr lang="en-US" altLang="en-US" sz="1800" dirty="0">
                <a:ea typeface="+mn-ea"/>
                <a:cs typeface="Calibri" panose="020F0502020204030204" pitchFamily="34" charset="0"/>
              </a:rPr>
              <a:t>Storage allocation</a:t>
            </a:r>
          </a:p>
          <a:p>
            <a:pPr lvl="1">
              <a:spcBef>
                <a:spcPts val="0"/>
              </a:spcBef>
            </a:pPr>
            <a:r>
              <a:rPr lang="en-US" altLang="en-US" sz="1800" dirty="0">
                <a:ea typeface="+mn-ea"/>
                <a:cs typeface="Calibri" panose="020F0502020204030204" pitchFamily="34" charset="0"/>
              </a:rPr>
              <a:t>Disk scheduling</a:t>
            </a:r>
          </a:p>
          <a:p>
            <a:pPr lvl="1">
              <a:spcBef>
                <a:spcPts val="0"/>
              </a:spcBef>
            </a:pPr>
            <a:r>
              <a:rPr lang="en-US" altLang="en-US" sz="1800" dirty="0">
                <a:ea typeface="+mn-ea"/>
                <a:cs typeface="Calibri" panose="020F0502020204030204" pitchFamily="34" charset="0"/>
              </a:rPr>
              <a:t>Partitioning</a:t>
            </a:r>
          </a:p>
          <a:p>
            <a:pPr lvl="1">
              <a:spcBef>
                <a:spcPts val="0"/>
              </a:spcBef>
            </a:pPr>
            <a:r>
              <a:rPr lang="en-US" altLang="en-US" sz="1800" dirty="0">
                <a:ea typeface="+mn-ea"/>
                <a:cs typeface="Calibri" panose="020F0502020204030204" pitchFamily="34" charset="0"/>
              </a:rPr>
              <a:t>Protection</a:t>
            </a:r>
          </a:p>
        </p:txBody>
      </p:sp>
      <p:sp>
        <p:nvSpPr>
          <p:cNvPr id="2" name="灯片编号占位符 1">
            <a:extLst>
              <a:ext uri="{FF2B5EF4-FFF2-40B4-BE49-F238E27FC236}">
                <a16:creationId xmlns:a16="http://schemas.microsoft.com/office/drawing/2014/main" id="{EA622547-BD70-B644-DCF2-7C7340C59402}"/>
              </a:ext>
            </a:extLst>
          </p:cNvPr>
          <p:cNvSpPr>
            <a:spLocks noGrp="1"/>
          </p:cNvSpPr>
          <p:nvPr>
            <p:ph type="sldNum" sz="quarter" idx="10"/>
          </p:nvPr>
        </p:nvSpPr>
        <p:spPr/>
        <p:txBody>
          <a:bodyPr/>
          <a:lstStyle/>
          <a:p>
            <a:fld id="{D9B6BDF2-6896-4B98-8776-C18582F63BA5}" type="slidenum">
              <a:rPr lang="zh-TW" altLang="en-US" smtClean="0"/>
              <a:pPr/>
              <a:t>42</a:t>
            </a:fld>
            <a:endParaRPr lang="zh-TW"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943276" y="167116"/>
            <a:ext cx="7709835" cy="432197"/>
          </a:xfrm>
        </p:spPr>
        <p:txBody>
          <a:bodyPr/>
          <a:lstStyle/>
          <a:p>
            <a:pPr eaLnBrk="1" hangingPunct="1"/>
            <a:r>
              <a:rPr lang="en-US" altLang="en-US" sz="32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943276" y="4184565"/>
            <a:ext cx="7180990" cy="329683"/>
          </a:xfrm>
        </p:spPr>
        <p:txBody>
          <a:bodyPr/>
          <a:lstStyle/>
          <a:p>
            <a:pPr marL="0" indent="0" algn="ctr">
              <a:buNone/>
              <a:defRPr/>
            </a:pPr>
            <a:r>
              <a:rPr lang="en-US" altLang="zh-CN" sz="1800" dirty="0">
                <a:ea typeface="ＭＳ Ｐゴシック" charset="0"/>
                <a:cs typeface="ＭＳ Ｐゴシック" charset="0"/>
              </a:rPr>
              <a:t>Movement between levels of storage hierarchy can be explicit or implicit</a:t>
            </a:r>
            <a:endParaRPr lang="en-US" dirty="0">
              <a:ea typeface="ＭＳ Ｐゴシック" charset="0"/>
              <a:cs typeface="ＭＳ Ｐゴシック" charset="0"/>
            </a:endParaRP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9644" y="953024"/>
            <a:ext cx="7570780" cy="317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63C813D9-0396-7786-1C43-E7D9E1B05D88}"/>
              </a:ext>
            </a:extLst>
          </p:cNvPr>
          <p:cNvSpPr>
            <a:spLocks noGrp="1"/>
          </p:cNvSpPr>
          <p:nvPr>
            <p:ph type="sldNum" sz="quarter" idx="10"/>
          </p:nvPr>
        </p:nvSpPr>
        <p:spPr/>
        <p:txBody>
          <a:bodyPr/>
          <a:lstStyle/>
          <a:p>
            <a:fld id="{D9B6BDF2-6896-4B98-8776-C18582F63BA5}" type="slidenum">
              <a:rPr lang="zh-TW" altLang="en-US" smtClean="0"/>
              <a:pPr/>
              <a:t>43</a:t>
            </a:fld>
            <a:endParaRPr lang="zh-TW" altLang="en-US"/>
          </a:p>
        </p:txBody>
      </p:sp>
    </p:spTree>
    <p:extLst>
      <p:ext uri="{BB962C8B-B14F-4D97-AF65-F5344CB8AC3E}">
        <p14:creationId xmlns:p14="http://schemas.microsoft.com/office/powerpoint/2010/main" val="20237725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895149" y="160735"/>
            <a:ext cx="6629601" cy="432197"/>
          </a:xfrm>
        </p:spPr>
        <p:txBody>
          <a:bodyPr/>
          <a:lstStyle/>
          <a:p>
            <a:pPr eaLnBrk="1" hangingPunct="1"/>
            <a:r>
              <a:rPr lang="en-US" altLang="en-US" sz="3200" dirty="0"/>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981777" y="877491"/>
            <a:ext cx="7199697" cy="3398044"/>
          </a:xfrm>
        </p:spPr>
        <p:txBody>
          <a:bodyPr/>
          <a:lstStyle/>
          <a:p>
            <a:r>
              <a:rPr lang="en-US" altLang="en-US" sz="2000" dirty="0"/>
              <a:t>One purpose of OS is to hide peculiarities of hardware devices from the user</a:t>
            </a:r>
          </a:p>
          <a:p>
            <a:r>
              <a:rPr lang="en-US" altLang="en-US" sz="2000" dirty="0"/>
              <a:t>I/O subsystem responsible for</a:t>
            </a:r>
          </a:p>
          <a:p>
            <a:pPr lvl="1"/>
            <a:r>
              <a:rPr lang="en-US" altLang="en-US" sz="1800"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sz="1800" dirty="0"/>
              <a:t>General device-driver interface</a:t>
            </a:r>
          </a:p>
          <a:p>
            <a:pPr lvl="1"/>
            <a:r>
              <a:rPr lang="en-US" altLang="en-US" sz="1800" dirty="0"/>
              <a:t>Drivers for specific hardware devices</a:t>
            </a:r>
          </a:p>
        </p:txBody>
      </p:sp>
      <p:sp>
        <p:nvSpPr>
          <p:cNvPr id="2" name="灯片编号占位符 1">
            <a:extLst>
              <a:ext uri="{FF2B5EF4-FFF2-40B4-BE49-F238E27FC236}">
                <a16:creationId xmlns:a16="http://schemas.microsoft.com/office/drawing/2014/main" id="{D6F7B04C-2A5B-2473-0D3D-24B50A057C0E}"/>
              </a:ext>
            </a:extLst>
          </p:cNvPr>
          <p:cNvSpPr>
            <a:spLocks noGrp="1"/>
          </p:cNvSpPr>
          <p:nvPr>
            <p:ph type="sldNum" sz="quarter" idx="10"/>
          </p:nvPr>
        </p:nvSpPr>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924025" y="165497"/>
            <a:ext cx="6622157" cy="432197"/>
          </a:xfrm>
        </p:spPr>
        <p:txBody>
          <a:bodyPr/>
          <a:lstStyle/>
          <a:p>
            <a:pPr eaLnBrk="1" hangingPunct="1"/>
            <a:r>
              <a:rPr lang="en-US" altLang="en-US" sz="3200" dirty="0"/>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750771" y="835577"/>
            <a:ext cx="7911966" cy="3684098"/>
          </a:xfrm>
        </p:spPr>
        <p:txBody>
          <a:bodyPr/>
          <a:lstStyle/>
          <a:p>
            <a:pPr>
              <a:lnSpc>
                <a:spcPct val="90000"/>
              </a:lnSpc>
              <a:spcBef>
                <a:spcPts val="0"/>
              </a:spcBef>
            </a:pPr>
            <a:r>
              <a:rPr lang="en-US" altLang="en-US" sz="2000" b="1" dirty="0">
                <a:solidFill>
                  <a:srgbClr val="006699"/>
                </a:solidFill>
                <a:cs typeface="Calibri" panose="020F0502020204030204" pitchFamily="34" charset="0"/>
              </a:rPr>
              <a:t>Protection</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 any mechanism for controlling access of processes or users to resources defined by the OS</a:t>
            </a:r>
          </a:p>
          <a:p>
            <a:pPr>
              <a:lnSpc>
                <a:spcPct val="90000"/>
              </a:lnSpc>
              <a:spcBef>
                <a:spcPts val="0"/>
              </a:spcBef>
            </a:pPr>
            <a:r>
              <a:rPr lang="en-US" altLang="en-US" sz="2000" b="1" dirty="0">
                <a:solidFill>
                  <a:srgbClr val="006699"/>
                </a:solidFill>
                <a:cs typeface="Calibri" panose="020F0502020204030204" pitchFamily="34" charset="0"/>
              </a:rPr>
              <a:t>Security</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 defense of the system against internal and external attacks</a:t>
            </a:r>
          </a:p>
          <a:p>
            <a:pPr lvl="1">
              <a:lnSpc>
                <a:spcPct val="90000"/>
              </a:lnSpc>
              <a:spcBef>
                <a:spcPts val="0"/>
              </a:spcBef>
            </a:pPr>
            <a:r>
              <a:rPr lang="en-US" altLang="en-US" sz="1800" dirty="0">
                <a:cs typeface="Calibri" panose="020F0502020204030204" pitchFamily="34" charset="0"/>
              </a:rPr>
              <a:t>Huge range, including denial-of-service, worms, viruses, identity theft, theft of service</a:t>
            </a:r>
          </a:p>
          <a:p>
            <a:pPr>
              <a:lnSpc>
                <a:spcPct val="90000"/>
              </a:lnSpc>
              <a:spcBef>
                <a:spcPts val="0"/>
              </a:spcBef>
            </a:pPr>
            <a:r>
              <a:rPr lang="en-US" altLang="en-US" sz="2000" dirty="0">
                <a:cs typeface="Calibri" panose="020F0502020204030204" pitchFamily="34" charset="0"/>
              </a:rPr>
              <a:t>Systems generally first distinguish among users, to determine who can do what</a:t>
            </a:r>
          </a:p>
          <a:p>
            <a:pPr lvl="1">
              <a:lnSpc>
                <a:spcPct val="90000"/>
              </a:lnSpc>
              <a:spcBef>
                <a:spcPts val="0"/>
              </a:spcBef>
            </a:pPr>
            <a:r>
              <a:rPr lang="en-US" altLang="en-US" sz="1800" dirty="0">
                <a:cs typeface="Calibri" panose="020F0502020204030204" pitchFamily="34" charset="0"/>
              </a:rPr>
              <a:t>User identities (</a:t>
            </a:r>
            <a:r>
              <a:rPr lang="en-US" altLang="en-US" sz="1800" b="1" dirty="0">
                <a:solidFill>
                  <a:srgbClr val="006699"/>
                </a:solidFill>
                <a:cs typeface="Calibri" panose="020F0502020204030204" pitchFamily="34" charset="0"/>
              </a:rPr>
              <a:t>user IDs</a:t>
            </a:r>
            <a:r>
              <a:rPr lang="en-US" altLang="en-US" sz="1800" dirty="0">
                <a:cs typeface="Calibri" panose="020F0502020204030204" pitchFamily="34" charset="0"/>
              </a:rPr>
              <a:t>, security IDs) include name and associated number, one per user</a:t>
            </a:r>
          </a:p>
          <a:p>
            <a:pPr lvl="1">
              <a:lnSpc>
                <a:spcPct val="90000"/>
              </a:lnSpc>
              <a:spcBef>
                <a:spcPts val="0"/>
              </a:spcBef>
            </a:pPr>
            <a:r>
              <a:rPr lang="en-US" altLang="en-US" sz="1800" dirty="0">
                <a:cs typeface="Calibri" panose="020F0502020204030204" pitchFamily="34" charset="0"/>
              </a:rPr>
              <a:t>User ID then associated with all files, processes of that user to determine access control</a:t>
            </a:r>
          </a:p>
          <a:p>
            <a:pPr lvl="1">
              <a:lnSpc>
                <a:spcPct val="90000"/>
              </a:lnSpc>
              <a:spcBef>
                <a:spcPts val="0"/>
              </a:spcBef>
            </a:pPr>
            <a:r>
              <a:rPr lang="en-US" altLang="en-US" sz="1800" dirty="0">
                <a:cs typeface="Calibri" panose="020F0502020204030204" pitchFamily="34" charset="0"/>
              </a:rPr>
              <a:t>Group identifier (</a:t>
            </a:r>
            <a:r>
              <a:rPr lang="en-US" altLang="en-US" sz="1800" b="1" dirty="0">
                <a:solidFill>
                  <a:srgbClr val="006699"/>
                </a:solidFill>
                <a:cs typeface="Calibri" panose="020F0502020204030204" pitchFamily="34" charset="0"/>
              </a:rPr>
              <a:t>group ID</a:t>
            </a:r>
            <a:r>
              <a:rPr lang="en-US" altLang="en-US" sz="1800" dirty="0">
                <a:cs typeface="Calibri" panose="020F0502020204030204" pitchFamily="34" charset="0"/>
              </a:rPr>
              <a:t>) allows set of users to be defined and controls managed, then also associated with each process, file</a:t>
            </a:r>
          </a:p>
          <a:p>
            <a:pPr lvl="1">
              <a:lnSpc>
                <a:spcPct val="90000"/>
              </a:lnSpc>
              <a:spcBef>
                <a:spcPts val="0"/>
              </a:spcBef>
            </a:pPr>
            <a:r>
              <a:rPr lang="en-US" altLang="en-US" sz="1800" b="1" dirty="0">
                <a:solidFill>
                  <a:srgbClr val="006699"/>
                </a:solidFill>
                <a:cs typeface="Calibri" panose="020F0502020204030204" pitchFamily="34" charset="0"/>
              </a:rPr>
              <a:t>Privilege escalation </a:t>
            </a:r>
            <a:r>
              <a:rPr lang="en-US" altLang="en-US" sz="1800" dirty="0">
                <a:cs typeface="Calibri" panose="020F0502020204030204" pitchFamily="34" charset="0"/>
              </a:rPr>
              <a:t>allows user to change to effective ID with more rights</a:t>
            </a:r>
          </a:p>
        </p:txBody>
      </p:sp>
      <p:sp>
        <p:nvSpPr>
          <p:cNvPr id="2" name="灯片编号占位符 1">
            <a:extLst>
              <a:ext uri="{FF2B5EF4-FFF2-40B4-BE49-F238E27FC236}">
                <a16:creationId xmlns:a16="http://schemas.microsoft.com/office/drawing/2014/main" id="{5881F303-648C-0A31-3CC7-F45C220628F5}"/>
              </a:ext>
            </a:extLst>
          </p:cNvPr>
          <p:cNvSpPr>
            <a:spLocks noGrp="1"/>
          </p:cNvSpPr>
          <p:nvPr>
            <p:ph type="sldNum" sz="quarter" idx="10"/>
          </p:nvPr>
        </p:nvSpPr>
        <p:spPr/>
        <p:txBody>
          <a:bodyPr/>
          <a:lstStyle/>
          <a:p>
            <a:fld id="{D9B6BDF2-6896-4B98-8776-C18582F63BA5}" type="slidenum">
              <a:rPr lang="zh-TW" altLang="en-US" smtClean="0"/>
              <a:pPr/>
              <a:t>45</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924026" y="153591"/>
            <a:ext cx="6566198" cy="432197"/>
          </a:xfrm>
        </p:spPr>
        <p:txBody>
          <a:bodyPr/>
          <a:lstStyle/>
          <a:p>
            <a:pPr eaLnBrk="1" hangingPunct="1"/>
            <a:r>
              <a:rPr lang="en-US" altLang="en-US" sz="3200" dirty="0"/>
              <a:t>Virtualization (1)</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924026" y="816693"/>
            <a:ext cx="7459580" cy="3726432"/>
          </a:xfrm>
        </p:spPr>
        <p:txBody>
          <a:bodyPr/>
          <a:lstStyle/>
          <a:p>
            <a:r>
              <a:rPr lang="en-US" altLang="en-US" sz="2000" dirty="0">
                <a:ea typeface="+mn-ea"/>
                <a:cs typeface="Calibri" panose="020F0502020204030204" pitchFamily="34" charset="0"/>
              </a:rPr>
              <a:t>Allows operating systems to run applications within other OSes</a:t>
            </a:r>
          </a:p>
          <a:p>
            <a:pPr lvl="1"/>
            <a:r>
              <a:rPr lang="en-US" altLang="en-US" sz="1800" dirty="0">
                <a:ea typeface="+mn-ea"/>
                <a:cs typeface="Calibri" panose="020F0502020204030204" pitchFamily="34" charset="0"/>
              </a:rPr>
              <a:t>Vast and growing industry</a:t>
            </a:r>
          </a:p>
          <a:p>
            <a:r>
              <a:rPr lang="en-US" altLang="en-US" sz="2000" b="1" dirty="0">
                <a:solidFill>
                  <a:srgbClr val="006699"/>
                </a:solidFill>
                <a:ea typeface="+mn-ea"/>
                <a:cs typeface="Calibri" panose="020F0502020204030204" pitchFamily="34" charset="0"/>
              </a:rPr>
              <a:t>Emulation</a:t>
            </a:r>
            <a:r>
              <a:rPr lang="en-US" altLang="en-US" sz="2000" dirty="0">
                <a:ea typeface="+mn-ea"/>
                <a:cs typeface="Calibri" panose="020F0502020204030204" pitchFamily="34" charset="0"/>
              </a:rPr>
              <a:t> used when source CPU type different from target type (i.e. PowerPC to Intel x86)</a:t>
            </a:r>
          </a:p>
          <a:p>
            <a:pPr lvl="1"/>
            <a:r>
              <a:rPr lang="en-US" altLang="en-US" sz="1800" dirty="0">
                <a:ea typeface="+mn-ea"/>
                <a:cs typeface="Calibri" panose="020F0502020204030204" pitchFamily="34" charset="0"/>
              </a:rPr>
              <a:t>Generally slowest method</a:t>
            </a:r>
          </a:p>
          <a:p>
            <a:pPr lvl="1"/>
            <a:r>
              <a:rPr lang="en-US" altLang="en-US" sz="1800" dirty="0">
                <a:ea typeface="+mn-ea"/>
                <a:cs typeface="Calibri" panose="020F0502020204030204" pitchFamily="34" charset="0"/>
              </a:rPr>
              <a:t>When computer language not compiled to native code – </a:t>
            </a:r>
            <a:r>
              <a:rPr lang="en-US" altLang="en-US" sz="1800" b="1" dirty="0">
                <a:solidFill>
                  <a:srgbClr val="006699"/>
                </a:solidFill>
                <a:ea typeface="+mn-ea"/>
                <a:cs typeface="Calibri" panose="020F0502020204030204" pitchFamily="34" charset="0"/>
              </a:rPr>
              <a:t>Interpretation</a:t>
            </a:r>
          </a:p>
          <a:p>
            <a:r>
              <a:rPr lang="en-US" altLang="en-US" sz="2000" b="1" dirty="0">
                <a:solidFill>
                  <a:srgbClr val="006699"/>
                </a:solidFill>
                <a:ea typeface="+mn-ea"/>
                <a:cs typeface="Calibri" panose="020F0502020204030204" pitchFamily="34" charset="0"/>
              </a:rPr>
              <a:t>Virtualization</a:t>
            </a:r>
            <a:r>
              <a:rPr lang="en-US" altLang="en-US" sz="2000" dirty="0">
                <a:ea typeface="+mn-ea"/>
                <a:cs typeface="Calibri" panose="020F0502020204030204" pitchFamily="34" charset="0"/>
              </a:rPr>
              <a:t> – OS natively compiled for CPU, running </a:t>
            </a:r>
            <a:r>
              <a:rPr lang="en-US" altLang="en-US" sz="2000" b="1" dirty="0">
                <a:solidFill>
                  <a:srgbClr val="006699"/>
                </a:solidFill>
                <a:ea typeface="+mn-ea"/>
                <a:cs typeface="Calibri" panose="020F0502020204030204" pitchFamily="34" charset="0"/>
              </a:rPr>
              <a:t>guest</a:t>
            </a:r>
            <a:r>
              <a:rPr lang="en-US" altLang="en-US" sz="2000" dirty="0">
                <a:ea typeface="+mn-ea"/>
                <a:cs typeface="Calibri" panose="020F0502020204030204" pitchFamily="34" charset="0"/>
              </a:rPr>
              <a:t> OSes  also natively compiled </a:t>
            </a:r>
          </a:p>
          <a:p>
            <a:pPr lvl="1"/>
            <a:r>
              <a:rPr lang="en-US" altLang="en-US" sz="1800" dirty="0">
                <a:ea typeface="+mn-ea"/>
                <a:cs typeface="Calibri" panose="020F0502020204030204" pitchFamily="34" charset="0"/>
              </a:rPr>
              <a:t>Consider VMware running WinXP guests, each running applications, all on native WinXP </a:t>
            </a:r>
            <a:r>
              <a:rPr lang="en-US" altLang="en-US" sz="1800" b="1" dirty="0">
                <a:solidFill>
                  <a:srgbClr val="006699"/>
                </a:solidFill>
                <a:ea typeface="+mn-ea"/>
                <a:cs typeface="Calibri" panose="020F0502020204030204" pitchFamily="34" charset="0"/>
              </a:rPr>
              <a:t>host </a:t>
            </a:r>
            <a:r>
              <a:rPr lang="en-US" altLang="en-US" sz="1800" dirty="0">
                <a:ea typeface="+mn-ea"/>
                <a:cs typeface="Calibri" panose="020F0502020204030204" pitchFamily="34" charset="0"/>
              </a:rPr>
              <a:t>OS</a:t>
            </a:r>
          </a:p>
          <a:p>
            <a:pPr lvl="1"/>
            <a:r>
              <a:rPr lang="en-US" altLang="en-US" sz="1800" b="1" dirty="0">
                <a:solidFill>
                  <a:srgbClr val="006699"/>
                </a:solidFill>
                <a:ea typeface="+mn-ea"/>
                <a:cs typeface="Calibri" panose="020F0502020204030204" pitchFamily="34" charset="0"/>
              </a:rPr>
              <a:t>VMM</a:t>
            </a:r>
            <a:r>
              <a:rPr lang="en-US" altLang="en-US" sz="1800" dirty="0">
                <a:ea typeface="+mn-ea"/>
                <a:cs typeface="Calibri" panose="020F0502020204030204" pitchFamily="34" charset="0"/>
              </a:rPr>
              <a:t> (virtual machine Manager) provides virtualization services</a:t>
            </a:r>
          </a:p>
        </p:txBody>
      </p:sp>
      <p:sp>
        <p:nvSpPr>
          <p:cNvPr id="2" name="灯片编号占位符 1">
            <a:extLst>
              <a:ext uri="{FF2B5EF4-FFF2-40B4-BE49-F238E27FC236}">
                <a16:creationId xmlns:a16="http://schemas.microsoft.com/office/drawing/2014/main" id="{4CE54178-91DD-A3DC-0640-F6F30649F246}"/>
              </a:ext>
            </a:extLst>
          </p:cNvPr>
          <p:cNvSpPr>
            <a:spLocks noGrp="1"/>
          </p:cNvSpPr>
          <p:nvPr>
            <p:ph type="sldNum" sz="quarter" idx="10"/>
          </p:nvPr>
        </p:nvSpPr>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885524" y="154782"/>
            <a:ext cx="6646370" cy="432197"/>
          </a:xfrm>
        </p:spPr>
        <p:txBody>
          <a:bodyPr/>
          <a:lstStyle/>
          <a:p>
            <a:pPr eaLnBrk="1" hangingPunct="1"/>
            <a:r>
              <a:rPr lang="en-US" altLang="en-US" sz="3200" dirty="0"/>
              <a:t>Virtualization (2)</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924025" y="899249"/>
            <a:ext cx="7507706" cy="3095236"/>
          </a:xfrm>
        </p:spPr>
        <p:txBody>
          <a:bodyPr/>
          <a:lstStyle/>
          <a:p>
            <a:r>
              <a:rPr lang="en-US" altLang="en-US" sz="2000" dirty="0"/>
              <a:t>Use cases involve laptops and desktops running multiple OSes for exploration or compatibility</a:t>
            </a:r>
          </a:p>
          <a:p>
            <a:pPr lvl="1"/>
            <a:r>
              <a:rPr lang="en-US" altLang="en-US" sz="1800" dirty="0"/>
              <a:t>Apple laptop running Mac OS X host, Windows as a guest</a:t>
            </a:r>
          </a:p>
          <a:p>
            <a:pPr lvl="1"/>
            <a:r>
              <a:rPr lang="en-US" altLang="en-US" sz="1800" dirty="0"/>
              <a:t>Developing apps for multiple OSes without having multiple systems</a:t>
            </a:r>
          </a:p>
          <a:p>
            <a:pPr lvl="1"/>
            <a:r>
              <a:rPr lang="en-US" altLang="en-US" sz="1800" dirty="0"/>
              <a:t>Quality assurance testing applications without having multiple systems</a:t>
            </a:r>
          </a:p>
          <a:p>
            <a:pPr lvl="1"/>
            <a:r>
              <a:rPr lang="en-US" altLang="en-US" sz="1800" dirty="0"/>
              <a:t>Executing and managing compute environments within data centers</a:t>
            </a:r>
          </a:p>
          <a:p>
            <a:r>
              <a:rPr lang="en-US" altLang="en-US" sz="2000" dirty="0"/>
              <a:t>VMM can run natively, in which case they are also the host</a:t>
            </a:r>
          </a:p>
          <a:p>
            <a:pPr lvl="1"/>
            <a:r>
              <a:rPr lang="en-US" altLang="en-US" sz="2000" dirty="0"/>
              <a:t>There is no general-purpose host then (VMware ESX and Citrix </a:t>
            </a:r>
            <a:r>
              <a:rPr lang="en-US" altLang="en-US" sz="2000" dirty="0" err="1"/>
              <a:t>XenServer</a:t>
            </a:r>
            <a:r>
              <a:rPr lang="en-US" altLang="en-US" sz="2000" dirty="0"/>
              <a:t>)</a:t>
            </a:r>
          </a:p>
        </p:txBody>
      </p:sp>
      <p:sp>
        <p:nvSpPr>
          <p:cNvPr id="2" name="灯片编号占位符 1">
            <a:extLst>
              <a:ext uri="{FF2B5EF4-FFF2-40B4-BE49-F238E27FC236}">
                <a16:creationId xmlns:a16="http://schemas.microsoft.com/office/drawing/2014/main" id="{A7658D09-0C30-57D9-FF39-D598BB191F36}"/>
              </a:ext>
            </a:extLst>
          </p:cNvPr>
          <p:cNvSpPr>
            <a:spLocks noGrp="1"/>
          </p:cNvSpPr>
          <p:nvPr>
            <p:ph type="sldNum" sz="quarter" idx="10"/>
          </p:nvPr>
        </p:nvSpPr>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885524" y="144066"/>
            <a:ext cx="7584708" cy="451247"/>
          </a:xfrm>
        </p:spPr>
        <p:txBody>
          <a:bodyPr/>
          <a:lstStyle/>
          <a:p>
            <a:pPr eaLnBrk="1" hangingPunct="1"/>
            <a:r>
              <a:rPr lang="en-US" altLang="en-US" sz="3200" dirty="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9085" y="1165623"/>
            <a:ext cx="4797028" cy="3253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A5EF100-019E-9DEB-5B4A-6CE6C62F339F}"/>
              </a:ext>
            </a:extLst>
          </p:cNvPr>
          <p:cNvSpPr>
            <a:spLocks noGrp="1"/>
          </p:cNvSpPr>
          <p:nvPr>
            <p:ph type="sldNum" sz="quarter" idx="10"/>
          </p:nvPr>
        </p:nvSpPr>
        <p:spPr/>
        <p:txBody>
          <a:bodyPr/>
          <a:lstStyle/>
          <a:p>
            <a:fld id="{D9B6BDF2-6896-4B98-8776-C18582F63BA5}" type="slidenum">
              <a:rPr lang="zh-TW" altLang="en-US" smtClean="0"/>
              <a:pPr/>
              <a:t>48</a:t>
            </a:fld>
            <a:endParaRPr lang="zh-TW"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895150" y="155972"/>
            <a:ext cx="6672464" cy="432197"/>
          </a:xfrm>
        </p:spPr>
        <p:txBody>
          <a:bodyPr/>
          <a:lstStyle/>
          <a:p>
            <a:r>
              <a:rPr lang="en-US" altLang="en-US" sz="3200" dirty="0"/>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972151" y="819150"/>
            <a:ext cx="7372951" cy="3608471"/>
          </a:xfrm>
        </p:spPr>
        <p:txBody>
          <a:bodyPr/>
          <a:lstStyle/>
          <a:p>
            <a:r>
              <a:rPr lang="en-US" altLang="en-US" sz="2000" dirty="0">
                <a:ea typeface="+mn-ea"/>
                <a:cs typeface="Calibri" panose="020F0502020204030204" pitchFamily="34" charset="0"/>
              </a:rPr>
              <a:t>Collection of separate, possibly heterogeneous, systems networked together</a:t>
            </a:r>
          </a:p>
          <a:p>
            <a:pPr lvl="1"/>
            <a:r>
              <a:rPr lang="en-US" altLang="en-US" sz="1800" b="1" dirty="0">
                <a:solidFill>
                  <a:srgbClr val="006699"/>
                </a:solidFill>
                <a:ea typeface="+mn-ea"/>
                <a:cs typeface="Calibri" panose="020F0502020204030204" pitchFamily="34" charset="0"/>
              </a:rPr>
              <a:t>Network</a:t>
            </a:r>
            <a:r>
              <a:rPr lang="en-US" altLang="en-US" sz="1800" dirty="0">
                <a:ea typeface="+mn-ea"/>
                <a:cs typeface="Calibri" panose="020F0502020204030204" pitchFamily="34" charset="0"/>
              </a:rPr>
              <a:t> is a communications path, </a:t>
            </a:r>
            <a:r>
              <a:rPr lang="en-US" altLang="en-US" sz="1800" b="1" dirty="0">
                <a:solidFill>
                  <a:srgbClr val="006699"/>
                </a:solidFill>
                <a:ea typeface="+mn-ea"/>
                <a:cs typeface="Calibri" panose="020F0502020204030204" pitchFamily="34" charset="0"/>
              </a:rPr>
              <a:t>TCP/IP </a:t>
            </a:r>
            <a:r>
              <a:rPr lang="en-US" altLang="en-US" sz="1800" dirty="0">
                <a:ea typeface="+mn-ea"/>
                <a:cs typeface="Calibri" panose="020F0502020204030204" pitchFamily="34" charset="0"/>
              </a:rPr>
              <a:t>most common</a:t>
            </a:r>
          </a:p>
          <a:p>
            <a:pPr lvl="2"/>
            <a:r>
              <a:rPr lang="en-US" altLang="en-US" sz="1600" b="1" dirty="0">
                <a:solidFill>
                  <a:srgbClr val="006699"/>
                </a:solidFill>
                <a:latin typeface="Calibri" panose="020F0502020204030204" pitchFamily="34" charset="0"/>
                <a:cs typeface="Calibri" panose="020F0502020204030204" pitchFamily="34" charset="0"/>
              </a:rPr>
              <a:t>Local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LAN</a:t>
            </a:r>
            <a:r>
              <a:rPr lang="en-US" altLang="en-US" sz="1600" dirty="0">
                <a:latin typeface="Calibri" panose="020F0502020204030204" pitchFamily="34" charset="0"/>
                <a:cs typeface="Calibri" panose="020F0502020204030204" pitchFamily="34" charset="0"/>
              </a:rPr>
              <a:t>)</a:t>
            </a:r>
          </a:p>
          <a:p>
            <a:pPr lvl="2"/>
            <a:r>
              <a:rPr lang="en-US" altLang="en-US" sz="1600" b="1" dirty="0">
                <a:solidFill>
                  <a:srgbClr val="006699"/>
                </a:solidFill>
                <a:latin typeface="Calibri" panose="020F0502020204030204" pitchFamily="34" charset="0"/>
                <a:cs typeface="Calibri" panose="020F0502020204030204" pitchFamily="34" charset="0"/>
              </a:rPr>
              <a:t>Wide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WAN</a:t>
            </a:r>
            <a:r>
              <a:rPr lang="en-US" altLang="en-US" sz="1600" dirty="0">
                <a:latin typeface="Calibri" panose="020F0502020204030204" pitchFamily="34" charset="0"/>
                <a:cs typeface="Calibri" panose="020F0502020204030204" pitchFamily="34" charset="0"/>
              </a:rPr>
              <a:t>)</a:t>
            </a:r>
          </a:p>
          <a:p>
            <a:pPr lvl="2"/>
            <a:r>
              <a:rPr lang="en-US" altLang="en-US" sz="1600" b="1" dirty="0">
                <a:solidFill>
                  <a:srgbClr val="006699"/>
                </a:solidFill>
                <a:latin typeface="Calibri" panose="020F0502020204030204" pitchFamily="34" charset="0"/>
                <a:cs typeface="Calibri" panose="020F0502020204030204" pitchFamily="34" charset="0"/>
              </a:rPr>
              <a:t>Metropolitan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MAN</a:t>
            </a:r>
            <a:r>
              <a:rPr lang="en-US" altLang="en-US" sz="1600" dirty="0">
                <a:latin typeface="Calibri" panose="020F0502020204030204" pitchFamily="34" charset="0"/>
                <a:cs typeface="Calibri" panose="020F0502020204030204" pitchFamily="34" charset="0"/>
              </a:rPr>
              <a:t>)</a:t>
            </a:r>
          </a:p>
          <a:p>
            <a:pPr lvl="2"/>
            <a:r>
              <a:rPr lang="en-US" altLang="en-US" sz="1600" b="1" dirty="0">
                <a:solidFill>
                  <a:srgbClr val="006699"/>
                </a:solidFill>
                <a:latin typeface="Calibri" panose="020F0502020204030204" pitchFamily="34" charset="0"/>
                <a:cs typeface="Calibri" panose="020F0502020204030204" pitchFamily="34" charset="0"/>
              </a:rPr>
              <a:t>Personal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PAN</a:t>
            </a:r>
            <a:r>
              <a:rPr lang="en-US" altLang="en-US" sz="1600" dirty="0">
                <a:latin typeface="Calibri" panose="020F0502020204030204" pitchFamily="34" charset="0"/>
                <a:cs typeface="Calibri" panose="020F0502020204030204" pitchFamily="34" charset="0"/>
              </a:rPr>
              <a:t>)</a:t>
            </a:r>
          </a:p>
          <a:p>
            <a:r>
              <a:rPr lang="en-US" altLang="en-US" sz="2000" b="1" dirty="0">
                <a:solidFill>
                  <a:srgbClr val="006699"/>
                </a:solidFill>
                <a:ea typeface="+mn-ea"/>
                <a:cs typeface="Calibri" panose="020F0502020204030204" pitchFamily="34" charset="0"/>
              </a:rPr>
              <a:t>Network Operating System </a:t>
            </a:r>
            <a:r>
              <a:rPr lang="en-US" altLang="en-US" sz="2000" dirty="0">
                <a:ea typeface="+mn-ea"/>
                <a:cs typeface="Calibri" panose="020F0502020204030204" pitchFamily="34" charset="0"/>
              </a:rPr>
              <a:t>provides features between systems across network</a:t>
            </a:r>
          </a:p>
          <a:p>
            <a:pPr lvl="1"/>
            <a:r>
              <a:rPr lang="en-US" altLang="en-US" sz="1800" dirty="0">
                <a:ea typeface="+mn-ea"/>
                <a:cs typeface="Calibri" panose="020F0502020204030204" pitchFamily="34" charset="0"/>
              </a:rPr>
              <a:t>Communication scheme allows systems to exchange messages</a:t>
            </a:r>
          </a:p>
          <a:p>
            <a:pPr lvl="1"/>
            <a:r>
              <a:rPr lang="en-US" altLang="en-US" sz="1800" dirty="0">
                <a:ea typeface="+mn-ea"/>
                <a:cs typeface="Calibri" panose="020F0502020204030204" pitchFamily="34" charset="0"/>
              </a:rPr>
              <a:t>Illusion of a single system</a:t>
            </a:r>
          </a:p>
        </p:txBody>
      </p:sp>
      <p:sp>
        <p:nvSpPr>
          <p:cNvPr id="2" name="灯片编号占位符 1">
            <a:extLst>
              <a:ext uri="{FF2B5EF4-FFF2-40B4-BE49-F238E27FC236}">
                <a16:creationId xmlns:a16="http://schemas.microsoft.com/office/drawing/2014/main" id="{07484BD9-801D-43D3-1CFE-82C8296016CF}"/>
              </a:ext>
            </a:extLst>
          </p:cNvPr>
          <p:cNvSpPr>
            <a:spLocks noGrp="1"/>
          </p:cNvSpPr>
          <p:nvPr>
            <p:ph type="sldNum" sz="quarter" idx="10"/>
          </p:nvPr>
        </p:nvSpPr>
        <p:spPr/>
        <p:txBody>
          <a:bodyPr/>
          <a:lstStyle/>
          <a:p>
            <a:fld id="{D9B6BDF2-6896-4B98-8776-C18582F63BA5}" type="slidenum">
              <a:rPr lang="zh-TW" altLang="en-US" smtClean="0"/>
              <a:pPr/>
              <a:t>49</a:t>
            </a:fld>
            <a:endParaRPr lang="zh-TW" altLang="en-US"/>
          </a:p>
        </p:txBody>
      </p:sp>
    </p:spTree>
    <p:extLst>
      <p:ext uri="{BB962C8B-B14F-4D97-AF65-F5344CB8AC3E}">
        <p14:creationId xmlns:p14="http://schemas.microsoft.com/office/powerpoint/2010/main" val="3827084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904774" y="170260"/>
            <a:ext cx="6612833" cy="419100"/>
          </a:xfrm>
        </p:spPr>
        <p:txBody>
          <a:bodyPr/>
          <a:lstStyle/>
          <a:p>
            <a:r>
              <a:rPr lang="en-US" altLang="en-US" sz="3200" dirty="0"/>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1022237" y="837314"/>
            <a:ext cx="7239731" cy="3676933"/>
          </a:xfrm>
        </p:spPr>
        <p:txBody>
          <a:bodyPr/>
          <a:lstStyle/>
          <a:p>
            <a:r>
              <a:rPr lang="en-US" altLang="en-US" sz="2000" dirty="0">
                <a:ea typeface="+mn-ea"/>
                <a:cs typeface="Calibri" panose="020F0502020204030204" pitchFamily="34" charset="0"/>
              </a:rPr>
              <a:t>Most systems use a single general-purpose processor</a:t>
            </a:r>
          </a:p>
          <a:p>
            <a:pPr lvl="1"/>
            <a:r>
              <a:rPr lang="en-US" altLang="en-US" sz="1800" dirty="0">
                <a:ea typeface="+mn-ea"/>
                <a:cs typeface="Calibri" panose="020F0502020204030204" pitchFamily="34" charset="0"/>
              </a:rPr>
              <a:t>Most systems have special-purpose processors as well</a:t>
            </a:r>
          </a:p>
          <a:p>
            <a:r>
              <a:rPr lang="en-US" altLang="en-US" sz="2000" b="1" dirty="0">
                <a:solidFill>
                  <a:srgbClr val="006699"/>
                </a:solidFill>
                <a:ea typeface="+mn-ea"/>
                <a:cs typeface="Calibri" panose="020F0502020204030204" pitchFamily="34" charset="0"/>
              </a:rPr>
              <a:t>Multiprocessors</a:t>
            </a:r>
            <a:r>
              <a:rPr lang="en-US" altLang="en-US" sz="2000"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systems growing in use and importance</a:t>
            </a:r>
          </a:p>
          <a:p>
            <a:pPr lvl="1"/>
            <a:r>
              <a:rPr lang="en-US" altLang="en-US" sz="1800" dirty="0">
                <a:ea typeface="+mn-ea"/>
                <a:cs typeface="Calibri" panose="020F0502020204030204" pitchFamily="34" charset="0"/>
              </a:rPr>
              <a:t>Also known as </a:t>
            </a:r>
            <a:r>
              <a:rPr lang="en-US" altLang="en-US" sz="1800" b="1" dirty="0">
                <a:solidFill>
                  <a:srgbClr val="006699"/>
                </a:solidFill>
                <a:ea typeface="+mn-ea"/>
                <a:cs typeface="Calibri" panose="020F0502020204030204" pitchFamily="34" charset="0"/>
              </a:rPr>
              <a:t>parallel systems</a:t>
            </a:r>
            <a:r>
              <a:rPr lang="en-US" altLang="en-US" sz="1800" dirty="0">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tightly-coupled systems</a:t>
            </a:r>
          </a:p>
          <a:p>
            <a:pPr lvl="1"/>
            <a:r>
              <a:rPr lang="en-US" altLang="en-US" sz="1800" dirty="0">
                <a:ea typeface="+mn-ea"/>
                <a:cs typeface="Calibri" panose="020F0502020204030204" pitchFamily="34" charset="0"/>
              </a:rPr>
              <a:t>Advantages include</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Increased throughput</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Economy of scale</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Increased reliability </a:t>
            </a:r>
            <a:r>
              <a:rPr lang="en-US" altLang="en-US" sz="1600" dirty="0">
                <a:latin typeface="Calibri" panose="020F0502020204030204" pitchFamily="34" charset="0"/>
                <a:cs typeface="Calibri" panose="020F0502020204030204" pitchFamily="34" charset="0"/>
              </a:rPr>
              <a:t>– graceful degradation or fault tolerance</a:t>
            </a:r>
          </a:p>
          <a:p>
            <a:pPr lvl="1"/>
            <a:r>
              <a:rPr lang="en-US" altLang="en-US" sz="1800" dirty="0">
                <a:ea typeface="+mn-ea"/>
                <a:cs typeface="Calibri" panose="020F0502020204030204" pitchFamily="34" charset="0"/>
              </a:rPr>
              <a:t>Two types</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Asymmetric Multiprocessing</a:t>
            </a:r>
            <a:r>
              <a:rPr lang="en-US" altLang="en-US" sz="1600" b="1" dirty="0">
                <a:solidFill>
                  <a:srgbClr val="3366FF"/>
                </a:solidFill>
                <a:latin typeface="Calibri" panose="020F0502020204030204" pitchFamily="34" charset="0"/>
                <a:cs typeface="Calibri" panose="020F0502020204030204" pitchFamily="34" charset="0"/>
              </a:rPr>
              <a:t> </a:t>
            </a:r>
            <a:r>
              <a:rPr lang="en-US" altLang="en-US" sz="1600" dirty="0">
                <a:latin typeface="Calibri" panose="020F0502020204030204" pitchFamily="34" charset="0"/>
                <a:cs typeface="Calibri" panose="020F0502020204030204" pitchFamily="34" charset="0"/>
              </a:rPr>
              <a:t>– each processor is assigned a specie task</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Symmetric Multiprocessing </a:t>
            </a:r>
            <a:r>
              <a:rPr lang="en-US" altLang="en-US" sz="1600" dirty="0">
                <a:latin typeface="Calibri" panose="020F0502020204030204" pitchFamily="34" charset="0"/>
                <a:cs typeface="Calibri" panose="020F0502020204030204" pitchFamily="34" charset="0"/>
              </a:rPr>
              <a:t>– each processor performs all tasks</a:t>
            </a:r>
          </a:p>
        </p:txBody>
      </p:sp>
      <p:sp>
        <p:nvSpPr>
          <p:cNvPr id="2" name="灯片编号占位符 1">
            <a:extLst>
              <a:ext uri="{FF2B5EF4-FFF2-40B4-BE49-F238E27FC236}">
                <a16:creationId xmlns:a16="http://schemas.microsoft.com/office/drawing/2014/main" id="{7908E4F6-C314-9E84-BC57-C974DBC9ECEF}"/>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Tree>
    <p:extLst>
      <p:ext uri="{BB962C8B-B14F-4D97-AF65-F5344CB8AC3E}">
        <p14:creationId xmlns:p14="http://schemas.microsoft.com/office/powerpoint/2010/main" val="42345177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885524" y="100012"/>
            <a:ext cx="7134526" cy="481013"/>
          </a:xfrm>
        </p:spPr>
        <p:txBody>
          <a:bodyPr/>
          <a:lstStyle/>
          <a:p>
            <a:r>
              <a:rPr lang="en-US" altLang="en-US" sz="3200" dirty="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7284" y="1043102"/>
            <a:ext cx="4309432" cy="3262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17F10AAB-5B78-2DB7-848E-FD7AF1D0003A}"/>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Tree>
    <p:extLst>
      <p:ext uri="{BB962C8B-B14F-4D97-AF65-F5344CB8AC3E}">
        <p14:creationId xmlns:p14="http://schemas.microsoft.com/office/powerpoint/2010/main" val="3834806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866274" y="153591"/>
            <a:ext cx="6672764" cy="432197"/>
          </a:xfrm>
        </p:spPr>
        <p:txBody>
          <a:bodyPr/>
          <a:lstStyle/>
          <a:p>
            <a:r>
              <a:rPr lang="en-US" altLang="en-US" sz="3200"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1007339" y="789952"/>
            <a:ext cx="6390634" cy="1058993"/>
          </a:xfrm>
        </p:spPr>
        <p:txBody>
          <a:bodyPr/>
          <a:lstStyle/>
          <a:p>
            <a:pPr>
              <a:spcBef>
                <a:spcPts val="0"/>
              </a:spcBef>
            </a:pPr>
            <a:r>
              <a:rPr lang="en-US" altLang="en-US" sz="2000" dirty="0">
                <a:ea typeface="+mn-ea"/>
                <a:cs typeface="Calibri" panose="020F0502020204030204" pitchFamily="34" charset="0"/>
              </a:rPr>
              <a:t>Multi-chip and </a:t>
            </a:r>
            <a:r>
              <a:rPr lang="en-US" altLang="en-US" sz="2000" b="1" dirty="0">
                <a:solidFill>
                  <a:srgbClr val="006699"/>
                </a:solidFill>
                <a:ea typeface="+mn-ea"/>
                <a:cs typeface="Calibri" panose="020F0502020204030204" pitchFamily="34" charset="0"/>
              </a:rPr>
              <a:t>multicore</a:t>
            </a:r>
          </a:p>
          <a:p>
            <a:pPr>
              <a:spcBef>
                <a:spcPts val="0"/>
              </a:spcBef>
            </a:pPr>
            <a:r>
              <a:rPr lang="en-US" altLang="en-US" sz="2000" dirty="0">
                <a:ea typeface="+mn-ea"/>
                <a:cs typeface="Calibri" panose="020F0502020204030204" pitchFamily="34" charset="0"/>
              </a:rPr>
              <a:t>Systems containing all  chips</a:t>
            </a:r>
            <a:endParaRPr lang="en-US" altLang="en-US" sz="2000" b="1" dirty="0">
              <a:solidFill>
                <a:srgbClr val="3366FF"/>
              </a:solidFill>
              <a:ea typeface="+mn-ea"/>
              <a:cs typeface="Calibri" panose="020F0502020204030204" pitchFamily="34" charset="0"/>
            </a:endParaRPr>
          </a:p>
          <a:p>
            <a:pPr lvl="1">
              <a:spcBef>
                <a:spcPts val="0"/>
              </a:spcBef>
            </a:pPr>
            <a:r>
              <a:rPr lang="en-US" altLang="en-US" sz="1800" dirty="0">
                <a:ea typeface="+mn-ea"/>
                <a:cs typeface="Calibri" panose="020F0502020204030204" pitchFamily="34" charset="0"/>
              </a:rPr>
              <a:t>Chassis containing multiple separate systems</a:t>
            </a:r>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8654" y="2009535"/>
            <a:ext cx="2882727" cy="257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9E4AF29A-5027-F7F7-85FA-1863DDE557BD}"/>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Tree>
    <p:extLst>
      <p:ext uri="{BB962C8B-B14F-4D97-AF65-F5344CB8AC3E}">
        <p14:creationId xmlns:p14="http://schemas.microsoft.com/office/powerpoint/2010/main" val="27765908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4025" y="82354"/>
            <a:ext cx="7748337" cy="532209"/>
          </a:xfrm>
        </p:spPr>
        <p:txBody>
          <a:bodyPr/>
          <a:lstStyle/>
          <a:p>
            <a:r>
              <a:rPr lang="en-US" altLang="en-US" sz="3200" dirty="0"/>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0375" y="1112044"/>
            <a:ext cx="3330179" cy="3150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CE01B4D-7DD0-F7A7-B7F6-26317F5B3731}"/>
              </a:ext>
            </a:extLst>
          </p:cNvPr>
          <p:cNvSpPr>
            <a:spLocks noGrp="1"/>
          </p:cNvSpPr>
          <p:nvPr>
            <p:ph type="sldNum" sz="quarter" idx="10"/>
          </p:nvPr>
        </p:nvSpPr>
        <p:spPr/>
        <p:txBody>
          <a:bodyPr/>
          <a:lstStyle/>
          <a:p>
            <a:fld id="{D9B6BDF2-6896-4B98-8776-C18582F63BA5}" type="slidenum">
              <a:rPr lang="zh-TW" altLang="en-US" smtClean="0"/>
              <a:pPr/>
              <a:t>53</a:t>
            </a:fld>
            <a:endParaRPr lang="zh-TW" altLang="en-US"/>
          </a:p>
        </p:txBody>
      </p:sp>
    </p:spTree>
    <p:extLst>
      <p:ext uri="{BB962C8B-B14F-4D97-AF65-F5344CB8AC3E}">
        <p14:creationId xmlns:p14="http://schemas.microsoft.com/office/powerpoint/2010/main" val="4280181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904775" y="158353"/>
            <a:ext cx="6606879" cy="432197"/>
          </a:xfrm>
        </p:spPr>
        <p:txBody>
          <a:bodyPr/>
          <a:lstStyle/>
          <a:p>
            <a:r>
              <a:rPr lang="en-US" altLang="en-US" sz="3200" dirty="0"/>
              <a:t>Clustered Systems (1)</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a:xfrm>
            <a:off x="979452" y="829619"/>
            <a:ext cx="7211647" cy="3212990"/>
          </a:xfrm>
        </p:spPr>
        <p:txBody>
          <a:bodyPr/>
          <a:lstStyle/>
          <a:p>
            <a:r>
              <a:rPr lang="en-US" altLang="en-US" sz="2000" dirty="0">
                <a:ea typeface="+mn-ea"/>
                <a:cs typeface="Calibri" panose="020F0502020204030204" pitchFamily="34" charset="0"/>
              </a:rPr>
              <a:t>Like multiprocessor systems, but multiple systems work together</a:t>
            </a:r>
          </a:p>
          <a:p>
            <a:pPr lvl="1"/>
            <a:r>
              <a:rPr lang="en-US" altLang="en-US" sz="1800" dirty="0">
                <a:ea typeface="+mn-ea"/>
                <a:cs typeface="Calibri" panose="020F0502020204030204" pitchFamily="34" charset="0"/>
              </a:rPr>
              <a:t>Usually sharing storage via a </a:t>
            </a:r>
            <a:r>
              <a:rPr lang="en-US" altLang="en-US" sz="1800" b="1" dirty="0">
                <a:solidFill>
                  <a:srgbClr val="006699"/>
                </a:solidFill>
                <a:ea typeface="+mn-ea"/>
                <a:cs typeface="Calibri" panose="020F0502020204030204" pitchFamily="34" charset="0"/>
              </a:rPr>
              <a:t>storage-area network </a:t>
            </a:r>
            <a:r>
              <a:rPr lang="en-US" altLang="en-US" sz="1800" dirty="0">
                <a:ea typeface="+mn-ea"/>
                <a:cs typeface="Calibri" panose="020F0502020204030204" pitchFamily="34" charset="0"/>
              </a:rPr>
              <a:t>(</a:t>
            </a:r>
            <a:r>
              <a:rPr lang="en-US" altLang="en-US" sz="1800" b="1" dirty="0">
                <a:solidFill>
                  <a:srgbClr val="006699"/>
                </a:solidFill>
                <a:ea typeface="+mn-ea"/>
                <a:cs typeface="Calibri" panose="020F0502020204030204" pitchFamily="34" charset="0"/>
              </a:rPr>
              <a:t>SAN</a:t>
            </a:r>
            <a:r>
              <a:rPr lang="en-US" altLang="en-US" sz="1800" dirty="0">
                <a:ea typeface="+mn-ea"/>
                <a:cs typeface="Calibri" panose="020F0502020204030204" pitchFamily="34" charset="0"/>
              </a:rPr>
              <a:t>)</a:t>
            </a:r>
          </a:p>
          <a:p>
            <a:pPr lvl="1"/>
            <a:r>
              <a:rPr lang="en-US" altLang="en-US" sz="1800" dirty="0">
                <a:ea typeface="+mn-ea"/>
                <a:cs typeface="Calibri" panose="020F0502020204030204" pitchFamily="34" charset="0"/>
              </a:rPr>
              <a:t>Provides a </a:t>
            </a:r>
            <a:r>
              <a:rPr lang="en-US" altLang="en-US" sz="1800" b="1" dirty="0">
                <a:solidFill>
                  <a:srgbClr val="006699"/>
                </a:solidFill>
                <a:ea typeface="+mn-ea"/>
                <a:cs typeface="Calibri" panose="020F0502020204030204" pitchFamily="34" charset="0"/>
              </a:rPr>
              <a:t>high-availability</a:t>
            </a:r>
            <a:r>
              <a:rPr lang="en-US" altLang="en-US" sz="1800" b="1" dirty="0">
                <a:ea typeface="+mn-ea"/>
                <a:cs typeface="Calibri" panose="020F0502020204030204" pitchFamily="34" charset="0"/>
              </a:rPr>
              <a:t> </a:t>
            </a:r>
            <a:r>
              <a:rPr lang="en-US" altLang="en-US" sz="1800" dirty="0">
                <a:ea typeface="+mn-ea"/>
                <a:cs typeface="Calibri" panose="020F0502020204030204" pitchFamily="34" charset="0"/>
              </a:rPr>
              <a:t>service which survives failures</a:t>
            </a:r>
          </a:p>
          <a:p>
            <a:pPr lvl="2"/>
            <a:r>
              <a:rPr lang="en-US" altLang="en-US" sz="1600" b="1" dirty="0">
                <a:solidFill>
                  <a:srgbClr val="006699"/>
                </a:solidFill>
                <a:latin typeface="Calibri" panose="020F0502020204030204" pitchFamily="34" charset="0"/>
                <a:cs typeface="Calibri" panose="020F0502020204030204" pitchFamily="34" charset="0"/>
              </a:rPr>
              <a:t>Asymmetric clustering </a:t>
            </a:r>
            <a:r>
              <a:rPr lang="en-US" altLang="en-US" sz="1600" dirty="0">
                <a:latin typeface="Calibri" panose="020F0502020204030204" pitchFamily="34" charset="0"/>
                <a:cs typeface="Calibri" panose="020F0502020204030204" pitchFamily="34" charset="0"/>
              </a:rPr>
              <a:t>has one machine in hot-standby mode</a:t>
            </a:r>
          </a:p>
          <a:p>
            <a:pPr lvl="2"/>
            <a:r>
              <a:rPr lang="en-US" altLang="en-US" sz="1600" b="1" dirty="0">
                <a:solidFill>
                  <a:srgbClr val="006699"/>
                </a:solidFill>
                <a:latin typeface="Calibri" panose="020F0502020204030204" pitchFamily="34" charset="0"/>
                <a:cs typeface="Calibri" panose="020F0502020204030204" pitchFamily="34" charset="0"/>
              </a:rPr>
              <a:t>Symmetric clustering </a:t>
            </a:r>
            <a:r>
              <a:rPr lang="en-US" altLang="en-US" sz="1600" dirty="0">
                <a:latin typeface="Calibri" panose="020F0502020204030204" pitchFamily="34" charset="0"/>
                <a:cs typeface="Calibri" panose="020F0502020204030204" pitchFamily="34" charset="0"/>
              </a:rPr>
              <a:t>has multiple nodes running applications, monitoring each other</a:t>
            </a:r>
          </a:p>
          <a:p>
            <a:pPr lvl="1"/>
            <a:r>
              <a:rPr lang="en-US" altLang="en-US" sz="1800" dirty="0">
                <a:ea typeface="+mn-ea"/>
                <a:cs typeface="Calibri" panose="020F0502020204030204" pitchFamily="34" charset="0"/>
              </a:rPr>
              <a:t>Some clusters are for </a:t>
            </a:r>
            <a:r>
              <a:rPr lang="en-US" altLang="en-US" sz="1800" b="1" dirty="0">
                <a:solidFill>
                  <a:srgbClr val="006699"/>
                </a:solidFill>
                <a:ea typeface="+mn-ea"/>
                <a:cs typeface="Calibri" panose="020F0502020204030204" pitchFamily="34" charset="0"/>
              </a:rPr>
              <a:t>high-performance computing </a:t>
            </a:r>
            <a:r>
              <a:rPr lang="en-US" altLang="en-US" sz="1800" dirty="0">
                <a:ea typeface="+mn-ea"/>
                <a:cs typeface="Calibri" panose="020F0502020204030204" pitchFamily="34" charset="0"/>
              </a:rPr>
              <a:t>(</a:t>
            </a:r>
            <a:r>
              <a:rPr lang="en-US" altLang="en-US" sz="1800" b="1" dirty="0">
                <a:solidFill>
                  <a:srgbClr val="006699"/>
                </a:solidFill>
                <a:ea typeface="+mn-ea"/>
                <a:cs typeface="Calibri" panose="020F0502020204030204" pitchFamily="34" charset="0"/>
              </a:rPr>
              <a:t>HPC</a:t>
            </a:r>
            <a:r>
              <a:rPr lang="en-US" altLang="en-US" sz="1800" dirty="0">
                <a:ea typeface="+mn-ea"/>
                <a:cs typeface="Calibri" panose="020F0502020204030204" pitchFamily="34" charset="0"/>
              </a:rPr>
              <a:t>)</a:t>
            </a:r>
          </a:p>
          <a:p>
            <a:pPr lvl="2"/>
            <a:r>
              <a:rPr lang="en-US" altLang="en-US" sz="1600" dirty="0">
                <a:latin typeface="Calibri" panose="020F0502020204030204" pitchFamily="34" charset="0"/>
                <a:cs typeface="Calibri" panose="020F0502020204030204" pitchFamily="34" charset="0"/>
              </a:rPr>
              <a:t>Applications must be written to use </a:t>
            </a:r>
            <a:r>
              <a:rPr lang="en-US" altLang="en-US" sz="1600" b="1" dirty="0">
                <a:solidFill>
                  <a:srgbClr val="006699"/>
                </a:solidFill>
                <a:latin typeface="Calibri" panose="020F0502020204030204" pitchFamily="34" charset="0"/>
                <a:cs typeface="Calibri" panose="020F0502020204030204" pitchFamily="34" charset="0"/>
              </a:rPr>
              <a:t>parallelization</a:t>
            </a:r>
          </a:p>
          <a:p>
            <a:pPr lvl="1"/>
            <a:r>
              <a:rPr lang="en-US" altLang="en-US" sz="1800" dirty="0">
                <a:ea typeface="+mn-ea"/>
                <a:cs typeface="Calibri" panose="020F0502020204030204" pitchFamily="34" charset="0"/>
              </a:rPr>
              <a:t>Some have</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distributed lock manager </a:t>
            </a:r>
            <a:r>
              <a:rPr lang="en-US" altLang="en-US" sz="1800" dirty="0">
                <a:ea typeface="+mn-ea"/>
                <a:cs typeface="Calibri" panose="020F0502020204030204" pitchFamily="34" charset="0"/>
              </a:rPr>
              <a:t>(</a:t>
            </a:r>
            <a:r>
              <a:rPr lang="en-US" altLang="en-US" sz="1800" b="1" dirty="0">
                <a:solidFill>
                  <a:srgbClr val="006699"/>
                </a:solidFill>
                <a:ea typeface="+mn-ea"/>
                <a:cs typeface="Calibri" panose="020F0502020204030204" pitchFamily="34" charset="0"/>
              </a:rPr>
              <a:t>DLM</a:t>
            </a:r>
            <a:r>
              <a:rPr lang="en-US" altLang="en-US" sz="1800" dirty="0">
                <a:ea typeface="+mn-ea"/>
                <a:cs typeface="Calibri" panose="020F0502020204030204" pitchFamily="34" charset="0"/>
              </a:rPr>
              <a:t>) to avoid conflicting operations</a:t>
            </a:r>
          </a:p>
        </p:txBody>
      </p:sp>
      <p:sp>
        <p:nvSpPr>
          <p:cNvPr id="2" name="灯片编号占位符 1">
            <a:extLst>
              <a:ext uri="{FF2B5EF4-FFF2-40B4-BE49-F238E27FC236}">
                <a16:creationId xmlns:a16="http://schemas.microsoft.com/office/drawing/2014/main" id="{4F9777AC-751B-50EB-148C-EE7E7A628180}"/>
              </a:ext>
            </a:extLst>
          </p:cNvPr>
          <p:cNvSpPr>
            <a:spLocks noGrp="1"/>
          </p:cNvSpPr>
          <p:nvPr>
            <p:ph type="sldNum" sz="quarter" idx="10"/>
          </p:nvPr>
        </p:nvSpPr>
        <p:spPr/>
        <p:txBody>
          <a:bodyPr/>
          <a:lstStyle/>
          <a:p>
            <a:fld id="{D9B6BDF2-6896-4B98-8776-C18582F63BA5}" type="slidenum">
              <a:rPr lang="zh-TW" altLang="en-US" smtClean="0"/>
              <a:pPr/>
              <a:t>54</a:t>
            </a:fld>
            <a:endParaRPr lang="zh-TW" altLang="en-US"/>
          </a:p>
        </p:txBody>
      </p:sp>
    </p:spTree>
    <p:extLst>
      <p:ext uri="{BB962C8B-B14F-4D97-AF65-F5344CB8AC3E}">
        <p14:creationId xmlns:p14="http://schemas.microsoft.com/office/powerpoint/2010/main" val="936710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933651" y="155972"/>
            <a:ext cx="6598243" cy="432197"/>
          </a:xfrm>
        </p:spPr>
        <p:txBody>
          <a:bodyPr/>
          <a:lstStyle/>
          <a:p>
            <a:r>
              <a:rPr lang="en-US" altLang="en-US" sz="3200" dirty="0"/>
              <a:t>Clustered Systems (2)</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1686" y="1347218"/>
            <a:ext cx="5450329" cy="2796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D8B26F4-C4D6-9C1A-8137-22061B5F66BE}"/>
              </a:ext>
            </a:extLst>
          </p:cNvPr>
          <p:cNvSpPr>
            <a:spLocks noGrp="1"/>
          </p:cNvSpPr>
          <p:nvPr>
            <p:ph type="sldNum" sz="quarter" idx="10"/>
          </p:nvPr>
        </p:nvSpPr>
        <p:spPr/>
        <p:txBody>
          <a:bodyPr/>
          <a:lstStyle/>
          <a:p>
            <a:fld id="{D9B6BDF2-6896-4B98-8776-C18582F63BA5}" type="slidenum">
              <a:rPr lang="zh-TW" altLang="en-US" smtClean="0"/>
              <a:pPr/>
              <a:t>55</a:t>
            </a:fld>
            <a:endParaRPr lang="zh-TW" altLang="en-US"/>
          </a:p>
        </p:txBody>
      </p:sp>
    </p:spTree>
    <p:extLst>
      <p:ext uri="{BB962C8B-B14F-4D97-AF65-F5344CB8AC3E}">
        <p14:creationId xmlns:p14="http://schemas.microsoft.com/office/powerpoint/2010/main" val="6751997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895149" y="166688"/>
            <a:ext cx="6602217" cy="432197"/>
          </a:xfrm>
        </p:spPr>
        <p:txBody>
          <a:bodyPr/>
          <a:lstStyle/>
          <a:p>
            <a:r>
              <a:rPr lang="en-US" altLang="en-US" sz="3200" dirty="0"/>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41501" y="847079"/>
            <a:ext cx="4746441" cy="3697528"/>
          </a:xfrm>
          <a:noFill/>
        </p:spPr>
      </p:pic>
      <p:sp>
        <p:nvSpPr>
          <p:cNvPr id="2" name="灯片编号占位符 1">
            <a:extLst>
              <a:ext uri="{FF2B5EF4-FFF2-40B4-BE49-F238E27FC236}">
                <a16:creationId xmlns:a16="http://schemas.microsoft.com/office/drawing/2014/main" id="{D6F17635-3778-6D9F-F3BF-F68E6FDD9DEB}"/>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extLst>
      <p:ext uri="{BB962C8B-B14F-4D97-AF65-F5344CB8AC3E}">
        <p14:creationId xmlns:p14="http://schemas.microsoft.com/office/powerpoint/2010/main" val="40306514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24025" y="128588"/>
            <a:ext cx="6952133" cy="466725"/>
          </a:xfrm>
        </p:spPr>
        <p:txBody>
          <a:bodyPr/>
          <a:lstStyle/>
          <a:p>
            <a:r>
              <a:rPr lang="en-US" altLang="en-US" sz="32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1037629" y="916110"/>
            <a:ext cx="5979187" cy="2327604"/>
          </a:xfrm>
        </p:spPr>
        <p:txBody>
          <a:bodyPr/>
          <a:lstStyle/>
          <a:p>
            <a:r>
              <a:rPr lang="en-US" altLang="en-US" sz="2000" dirty="0">
                <a:cs typeface="Calibri" panose="020F0502020204030204" pitchFamily="34" charset="0"/>
              </a:rPr>
              <a:t>Traditional</a:t>
            </a:r>
          </a:p>
          <a:p>
            <a:r>
              <a:rPr lang="en-US" altLang="en-US" sz="2000" dirty="0">
                <a:cs typeface="Calibri" panose="020F0502020204030204" pitchFamily="34" charset="0"/>
              </a:rPr>
              <a:t>Mobile</a:t>
            </a:r>
          </a:p>
          <a:p>
            <a:r>
              <a:rPr lang="en-US" altLang="en-US" sz="2000" dirty="0">
                <a:cs typeface="Calibri" panose="020F0502020204030204" pitchFamily="34" charset="0"/>
              </a:rPr>
              <a:t>Client Server</a:t>
            </a:r>
          </a:p>
          <a:p>
            <a:r>
              <a:rPr lang="en-US" altLang="en-US" sz="2000" dirty="0">
                <a:cs typeface="Calibri" panose="020F0502020204030204" pitchFamily="34" charset="0"/>
              </a:rPr>
              <a:t>Peer-to-Peer</a:t>
            </a:r>
          </a:p>
          <a:p>
            <a:r>
              <a:rPr lang="en-US" altLang="en-US" sz="2000" dirty="0">
                <a:cs typeface="Calibri" panose="020F0502020204030204" pitchFamily="34" charset="0"/>
              </a:rPr>
              <a:t>Cloud computing</a:t>
            </a:r>
          </a:p>
          <a:p>
            <a:r>
              <a:rPr lang="en-US" altLang="en-US" sz="2000" dirty="0">
                <a:cs typeface="Calibri" panose="020F0502020204030204" pitchFamily="34" charset="0"/>
              </a:rPr>
              <a:t>Real-time Embedded</a:t>
            </a:r>
          </a:p>
        </p:txBody>
      </p:sp>
      <p:sp>
        <p:nvSpPr>
          <p:cNvPr id="2" name="灯片编号占位符 1">
            <a:extLst>
              <a:ext uri="{FF2B5EF4-FFF2-40B4-BE49-F238E27FC236}">
                <a16:creationId xmlns:a16="http://schemas.microsoft.com/office/drawing/2014/main" id="{E0F5CB42-7FD3-C366-A2CA-83645D2BDFA5}"/>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extLst>
      <p:ext uri="{BB962C8B-B14F-4D97-AF65-F5344CB8AC3E}">
        <p14:creationId xmlns:p14="http://schemas.microsoft.com/office/powerpoint/2010/main" val="4248804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875899" y="128588"/>
            <a:ext cx="7000259" cy="466725"/>
          </a:xfrm>
        </p:spPr>
        <p:txBody>
          <a:bodyPr/>
          <a:lstStyle/>
          <a:p>
            <a:r>
              <a:rPr lang="en-US" altLang="en-US" sz="3200" dirty="0"/>
              <a:t>Computing Environments - 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952901" y="813391"/>
            <a:ext cx="7267074" cy="3065590"/>
          </a:xfrm>
        </p:spPr>
        <p:txBody>
          <a:bodyPr/>
          <a:lstStyle/>
          <a:p>
            <a:r>
              <a:rPr lang="en-US" altLang="en-US" sz="2000" dirty="0">
                <a:ea typeface="+mn-ea"/>
                <a:cs typeface="Calibri" panose="020F0502020204030204" pitchFamily="34" charset="0"/>
              </a:rPr>
              <a:t>Stand-alone general-purpose machines</a:t>
            </a:r>
          </a:p>
          <a:p>
            <a:r>
              <a:rPr lang="en-US" altLang="en-US" sz="2000" dirty="0">
                <a:ea typeface="+mn-ea"/>
                <a:cs typeface="Calibri" panose="020F0502020204030204" pitchFamily="34" charset="0"/>
              </a:rPr>
              <a:t>But blurred as most systems interconnect with others (i.e., the Internet)</a:t>
            </a:r>
          </a:p>
          <a:p>
            <a:r>
              <a:rPr lang="en-US" altLang="en-US" sz="2000" b="1" dirty="0">
                <a:solidFill>
                  <a:srgbClr val="006699"/>
                </a:solidFill>
                <a:ea typeface="+mn-ea"/>
                <a:cs typeface="Calibri" panose="020F0502020204030204" pitchFamily="34" charset="0"/>
              </a:rPr>
              <a:t>Portals</a:t>
            </a:r>
            <a:r>
              <a:rPr lang="en-US" altLang="en-US" sz="2000" dirty="0">
                <a:ea typeface="+mn-ea"/>
                <a:cs typeface="Calibri" panose="020F0502020204030204" pitchFamily="34" charset="0"/>
              </a:rPr>
              <a:t> provide web access to internal systems</a:t>
            </a:r>
          </a:p>
          <a:p>
            <a:r>
              <a:rPr lang="en-US" altLang="en-US" sz="2000" b="1" dirty="0">
                <a:solidFill>
                  <a:srgbClr val="006699"/>
                </a:solidFill>
                <a:ea typeface="+mn-ea"/>
                <a:cs typeface="Calibri" panose="020F0502020204030204" pitchFamily="34" charset="0"/>
              </a:rPr>
              <a:t>Network computers </a:t>
            </a:r>
            <a:r>
              <a:rPr lang="en-US" altLang="en-US" sz="2000" dirty="0">
                <a:ea typeface="+mn-ea"/>
                <a:cs typeface="Calibri" panose="020F0502020204030204" pitchFamily="34" charset="0"/>
              </a:rPr>
              <a:t>(</a:t>
            </a:r>
            <a:r>
              <a:rPr lang="en-US" altLang="en-US" sz="2000" b="1" dirty="0">
                <a:solidFill>
                  <a:srgbClr val="006699"/>
                </a:solidFill>
                <a:ea typeface="+mn-ea"/>
                <a:cs typeface="Calibri" panose="020F0502020204030204" pitchFamily="34" charset="0"/>
              </a:rPr>
              <a:t>thin clients</a:t>
            </a:r>
            <a:r>
              <a:rPr lang="en-US" altLang="en-US" sz="2000" dirty="0">
                <a:ea typeface="+mn-ea"/>
                <a:cs typeface="Calibri" panose="020F0502020204030204" pitchFamily="34" charset="0"/>
              </a:rPr>
              <a:t>) are like Web terminals</a:t>
            </a:r>
          </a:p>
          <a:p>
            <a:r>
              <a:rPr lang="en-US" altLang="en-US" sz="2000" dirty="0">
                <a:ea typeface="+mn-ea"/>
                <a:cs typeface="Calibri" panose="020F0502020204030204" pitchFamily="34" charset="0"/>
              </a:rPr>
              <a:t>Mobile computers interconnect via </a:t>
            </a:r>
            <a:r>
              <a:rPr lang="en-US" altLang="en-US" sz="2000" b="1" dirty="0">
                <a:solidFill>
                  <a:srgbClr val="006699"/>
                </a:solidFill>
                <a:ea typeface="+mn-ea"/>
                <a:cs typeface="Calibri" panose="020F0502020204030204" pitchFamily="34" charset="0"/>
              </a:rPr>
              <a:t>wireless networks</a:t>
            </a:r>
          </a:p>
          <a:p>
            <a:r>
              <a:rPr lang="en-US" altLang="en-US" sz="2000" dirty="0">
                <a:ea typeface="+mn-ea"/>
                <a:cs typeface="Calibri" panose="020F0502020204030204" pitchFamily="34" charset="0"/>
              </a:rPr>
              <a:t>Networking becoming ubiquitous – even home systems use </a:t>
            </a:r>
            <a:r>
              <a:rPr lang="en-US" altLang="en-US" sz="2000" b="1" dirty="0">
                <a:solidFill>
                  <a:srgbClr val="006699"/>
                </a:solidFill>
                <a:ea typeface="+mn-ea"/>
                <a:cs typeface="Calibri" panose="020F0502020204030204" pitchFamily="34" charset="0"/>
              </a:rPr>
              <a:t>firewalls</a:t>
            </a:r>
            <a:r>
              <a:rPr lang="en-US" altLang="en-US" sz="2000" dirty="0">
                <a:ea typeface="+mn-ea"/>
                <a:cs typeface="Calibri" panose="020F0502020204030204" pitchFamily="34" charset="0"/>
              </a:rPr>
              <a:t> to protect home computers from Internet attacks</a:t>
            </a:r>
          </a:p>
        </p:txBody>
      </p:sp>
      <p:sp>
        <p:nvSpPr>
          <p:cNvPr id="2" name="灯片编号占位符 1">
            <a:extLst>
              <a:ext uri="{FF2B5EF4-FFF2-40B4-BE49-F238E27FC236}">
                <a16:creationId xmlns:a16="http://schemas.microsoft.com/office/drawing/2014/main" id="{4BE0A546-5313-FFD7-7A2A-F1C1F52F6E40}"/>
              </a:ext>
            </a:extLst>
          </p:cNvPr>
          <p:cNvSpPr>
            <a:spLocks noGrp="1"/>
          </p:cNvSpPr>
          <p:nvPr>
            <p:ph type="sldNum" sz="quarter" idx="10"/>
          </p:nvPr>
        </p:nvSpPr>
        <p:spPr/>
        <p:txBody>
          <a:bodyPr/>
          <a:lstStyle/>
          <a:p>
            <a:fld id="{D9B6BDF2-6896-4B98-8776-C18582F63BA5}" type="slidenum">
              <a:rPr lang="zh-TW" altLang="en-US" smtClean="0"/>
              <a:pPr/>
              <a:t>58</a:t>
            </a:fld>
            <a:endParaRPr lang="zh-TW" altLang="en-US"/>
          </a:p>
        </p:txBody>
      </p:sp>
    </p:spTree>
    <p:extLst>
      <p:ext uri="{BB962C8B-B14F-4D97-AF65-F5344CB8AC3E}">
        <p14:creationId xmlns:p14="http://schemas.microsoft.com/office/powerpoint/2010/main" val="30171297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895150" y="163116"/>
            <a:ext cx="7008220" cy="432197"/>
          </a:xfrm>
        </p:spPr>
        <p:txBody>
          <a:bodyPr/>
          <a:lstStyle/>
          <a:p>
            <a:r>
              <a:rPr lang="en-US" altLang="en-US" sz="3200" dirty="0"/>
              <a:t>Computing Environments - 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991402" y="904792"/>
            <a:ext cx="7411453" cy="2627679"/>
          </a:xfrm>
        </p:spPr>
        <p:txBody>
          <a:bodyPr/>
          <a:lstStyle/>
          <a:p>
            <a:r>
              <a:rPr lang="en-US" altLang="en-US" sz="2000" dirty="0">
                <a:ea typeface="+mn-ea"/>
                <a:cs typeface="Calibri" panose="020F0502020204030204" pitchFamily="34" charset="0"/>
              </a:rPr>
              <a:t>Handheld smartphones, tablets, etc.</a:t>
            </a:r>
          </a:p>
          <a:p>
            <a:r>
              <a:rPr lang="en-US" altLang="en-US" sz="2000" dirty="0">
                <a:ea typeface="+mn-ea"/>
                <a:cs typeface="Calibri" panose="020F0502020204030204" pitchFamily="34" charset="0"/>
              </a:rPr>
              <a:t>What is the functional difference between them and a “traditional” laptop?</a:t>
            </a:r>
          </a:p>
          <a:p>
            <a:r>
              <a:rPr lang="en-US" altLang="en-US" sz="2000" dirty="0">
                <a:ea typeface="+mn-ea"/>
                <a:cs typeface="Calibri" panose="020F0502020204030204" pitchFamily="34" charset="0"/>
              </a:rPr>
              <a:t>Extra feature – more OS features (GPS, gyroscope)</a:t>
            </a:r>
          </a:p>
          <a:p>
            <a:r>
              <a:rPr lang="en-US" altLang="en-US" sz="2000" dirty="0">
                <a:ea typeface="+mn-ea"/>
                <a:cs typeface="Calibri" panose="020F0502020204030204" pitchFamily="34" charset="0"/>
              </a:rPr>
              <a:t>Allows new types of apps like </a:t>
            </a:r>
            <a:r>
              <a:rPr lang="en-US" altLang="en-US" sz="2000" b="1" i="1" dirty="0">
                <a:ea typeface="+mn-ea"/>
                <a:cs typeface="Calibri" panose="020F0502020204030204" pitchFamily="34" charset="0"/>
              </a:rPr>
              <a:t>augmented reality</a:t>
            </a:r>
          </a:p>
          <a:p>
            <a:r>
              <a:rPr lang="en-US" altLang="en-US" sz="2000" dirty="0">
                <a:ea typeface="+mn-ea"/>
                <a:cs typeface="Calibri" panose="020F0502020204030204" pitchFamily="34" charset="0"/>
              </a:rPr>
              <a:t>Use IEEE 802.11 wireless, or cellular data networks for connectivity</a:t>
            </a:r>
          </a:p>
          <a:p>
            <a:r>
              <a:rPr lang="en-US" altLang="en-US" sz="2000" dirty="0">
                <a:ea typeface="+mn-ea"/>
                <a:cs typeface="Calibri" panose="020F0502020204030204" pitchFamily="34" charset="0"/>
              </a:rPr>
              <a:t>Leaders are </a:t>
            </a:r>
            <a:r>
              <a:rPr lang="en-US" altLang="en-US" sz="2000" b="1" dirty="0">
                <a:solidFill>
                  <a:srgbClr val="006699"/>
                </a:solidFill>
                <a:ea typeface="+mn-ea"/>
                <a:cs typeface="Calibri" panose="020F0502020204030204" pitchFamily="34" charset="0"/>
              </a:rPr>
              <a:t>Apple iOS </a:t>
            </a:r>
            <a:r>
              <a:rPr lang="en-US" altLang="en-US" sz="2000" dirty="0">
                <a:ea typeface="+mn-ea"/>
                <a:cs typeface="Calibri" panose="020F0502020204030204" pitchFamily="34" charset="0"/>
              </a:rPr>
              <a:t>and </a:t>
            </a:r>
            <a:r>
              <a:rPr lang="en-US" altLang="en-US" sz="2000" b="1" dirty="0">
                <a:solidFill>
                  <a:srgbClr val="006699"/>
                </a:solidFill>
                <a:ea typeface="+mn-ea"/>
                <a:cs typeface="Calibri" panose="020F0502020204030204" pitchFamily="34" charset="0"/>
              </a:rPr>
              <a:t>Google Android</a:t>
            </a:r>
          </a:p>
        </p:txBody>
      </p:sp>
      <p:sp>
        <p:nvSpPr>
          <p:cNvPr id="2" name="灯片编号占位符 1">
            <a:extLst>
              <a:ext uri="{FF2B5EF4-FFF2-40B4-BE49-F238E27FC236}">
                <a16:creationId xmlns:a16="http://schemas.microsoft.com/office/drawing/2014/main" id="{C436DC7D-AC6A-EACB-A231-450AF144B4F8}"/>
              </a:ext>
            </a:extLst>
          </p:cNvPr>
          <p:cNvSpPr>
            <a:spLocks noGrp="1"/>
          </p:cNvSpPr>
          <p:nvPr>
            <p:ph type="sldNum" sz="quarter" idx="10"/>
          </p:nvPr>
        </p:nvSpPr>
        <p:spPr/>
        <p:txBody>
          <a:bodyPr/>
          <a:lstStyle/>
          <a:p>
            <a:fld id="{D9B6BDF2-6896-4B98-8776-C18582F63BA5}" type="slidenum">
              <a:rPr lang="zh-TW" altLang="en-US" smtClean="0"/>
              <a:pPr/>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885524" y="155972"/>
            <a:ext cx="7489733" cy="432197"/>
          </a:xfrm>
        </p:spPr>
        <p:txBody>
          <a:bodyPr/>
          <a:lstStyle/>
          <a:p>
            <a:pPr eaLnBrk="1" hangingPunct="1"/>
            <a:r>
              <a:rPr lang="en-US" altLang="en-US" sz="3200" dirty="0"/>
              <a:t>Computing Environments - 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631179" y="820534"/>
            <a:ext cx="8124403" cy="1898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80000"/>
            </a:pPr>
            <a:r>
              <a:rPr lang="en-US" altLang="en-US" sz="2000" dirty="0">
                <a:latin typeface="Calibri" panose="020F0502020204030204" pitchFamily="34" charset="0"/>
                <a:ea typeface="+mn-ea"/>
                <a:cs typeface="Calibri" panose="020F0502020204030204" pitchFamily="34" charset="0"/>
              </a:rPr>
              <a:t>Dumb terminals supplanted by smart PCs</a:t>
            </a:r>
          </a:p>
          <a:p>
            <a:pPr>
              <a:lnSpc>
                <a:spcPct val="90000"/>
              </a:lnSpc>
              <a:buSzPct val="80000"/>
            </a:pPr>
            <a:r>
              <a:rPr lang="en-US" altLang="en-US" sz="2000" dirty="0">
                <a:latin typeface="Calibri" panose="020F0502020204030204" pitchFamily="34" charset="0"/>
                <a:ea typeface="+mn-ea"/>
                <a:cs typeface="Calibri" panose="020F0502020204030204" pitchFamily="34" charset="0"/>
              </a:rPr>
              <a:t>Many systems now </a:t>
            </a:r>
            <a:r>
              <a:rPr lang="en-US" altLang="en-US" sz="2000" b="1" dirty="0">
                <a:solidFill>
                  <a:srgbClr val="006699"/>
                </a:solidFill>
                <a:latin typeface="Calibri" panose="020F0502020204030204" pitchFamily="34" charset="0"/>
                <a:ea typeface="+mn-ea"/>
                <a:cs typeface="Calibri" panose="020F0502020204030204" pitchFamily="34" charset="0"/>
              </a:rPr>
              <a:t>servers</a:t>
            </a:r>
            <a:r>
              <a:rPr lang="en-US" altLang="en-US" sz="2000" dirty="0">
                <a:latin typeface="Calibri" panose="020F0502020204030204" pitchFamily="34" charset="0"/>
                <a:ea typeface="+mn-ea"/>
                <a:cs typeface="Calibri" panose="020F0502020204030204" pitchFamily="34" charset="0"/>
              </a:rPr>
              <a:t>, responding to requests generated by </a:t>
            </a:r>
            <a:r>
              <a:rPr lang="en-US" altLang="en-US" sz="2000" b="1" dirty="0">
                <a:solidFill>
                  <a:srgbClr val="006699"/>
                </a:solidFill>
                <a:latin typeface="Calibri" panose="020F0502020204030204" pitchFamily="34" charset="0"/>
                <a:ea typeface="+mn-ea"/>
                <a:cs typeface="Calibri" panose="020F0502020204030204" pitchFamily="34" charset="0"/>
              </a:rPr>
              <a:t>clients</a:t>
            </a:r>
          </a:p>
          <a:p>
            <a:pPr lvl="1">
              <a:lnSpc>
                <a:spcPct val="90000"/>
              </a:lnSpc>
            </a:pPr>
            <a:r>
              <a:rPr lang="en-US" altLang="en-US" b="1" dirty="0">
                <a:solidFill>
                  <a:srgbClr val="006699"/>
                </a:solidFill>
                <a:latin typeface="Calibri" panose="020F0502020204030204" pitchFamily="34" charset="0"/>
                <a:ea typeface="+mn-ea"/>
                <a:cs typeface="Calibri" panose="020F0502020204030204" pitchFamily="34" charset="0"/>
              </a:rPr>
              <a:t>Compute-server system </a:t>
            </a:r>
            <a:r>
              <a:rPr lang="en-US" altLang="en-US" dirty="0">
                <a:latin typeface="Calibri" panose="020F0502020204030204" pitchFamily="34" charset="0"/>
                <a:ea typeface="+mn-ea"/>
                <a:cs typeface="Calibri" panose="020F0502020204030204" pitchFamily="34" charset="0"/>
              </a:rPr>
              <a:t>provides an interface to client to request services (i.e., database)</a:t>
            </a:r>
          </a:p>
          <a:p>
            <a:pPr lvl="1">
              <a:lnSpc>
                <a:spcPct val="90000"/>
              </a:lnSpc>
            </a:pPr>
            <a:r>
              <a:rPr lang="en-US" altLang="en-US" b="1" dirty="0">
                <a:solidFill>
                  <a:srgbClr val="006699"/>
                </a:solidFill>
                <a:latin typeface="Calibri" panose="020F0502020204030204" pitchFamily="34" charset="0"/>
                <a:ea typeface="+mn-ea"/>
                <a:cs typeface="Calibri" panose="020F0502020204030204" pitchFamily="34" charset="0"/>
              </a:rPr>
              <a:t>File-server system </a:t>
            </a:r>
            <a:r>
              <a:rPr lang="en-US" altLang="en-US" dirty="0">
                <a:latin typeface="Calibri" panose="020F0502020204030204" pitchFamily="34" charset="0"/>
                <a:ea typeface="+mn-ea"/>
                <a:cs typeface="Calibri" panose="020F0502020204030204" pitchFamily="34" charset="0"/>
              </a:rPr>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1427" y="2632412"/>
            <a:ext cx="4280394" cy="1861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03F515F4-E10D-C676-0068-0A7F15B77773}"/>
              </a:ext>
            </a:extLst>
          </p:cNvPr>
          <p:cNvSpPr>
            <a:spLocks noGrp="1"/>
          </p:cNvSpPr>
          <p:nvPr>
            <p:ph type="sldNum" sz="quarter" idx="10"/>
          </p:nvPr>
        </p:nvSpPr>
        <p:spPr/>
        <p:txBody>
          <a:bodyPr/>
          <a:lstStyle/>
          <a:p>
            <a:fld id="{D9B6BDF2-6896-4B98-8776-C18582F63BA5}" type="slidenum">
              <a:rPr lang="zh-TW" altLang="en-US" smtClean="0"/>
              <a:pPr/>
              <a:t>60</a:t>
            </a:fld>
            <a:endParaRPr lang="zh-TW"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875900" y="159544"/>
            <a:ext cx="7709750" cy="432197"/>
          </a:xfrm>
        </p:spPr>
        <p:txBody>
          <a:bodyPr/>
          <a:lstStyle/>
          <a:p>
            <a:pPr eaLnBrk="1" hangingPunct="1"/>
            <a:r>
              <a:rPr lang="en-US" altLang="en-US" sz="3200" dirty="0"/>
              <a:t>Computing Environments - 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75900" y="972502"/>
            <a:ext cx="7806854" cy="2838848"/>
          </a:xfrm>
        </p:spPr>
        <p:txBody>
          <a:bodyPr/>
          <a:lstStyle/>
          <a:p>
            <a:pPr>
              <a:spcBef>
                <a:spcPts val="600"/>
              </a:spcBef>
            </a:pPr>
            <a:r>
              <a:rPr lang="en-US" altLang="en-US" sz="2000" dirty="0">
                <a:ea typeface="+mn-ea"/>
                <a:cs typeface="Calibri" panose="020F0502020204030204" pitchFamily="34" charset="0"/>
              </a:rPr>
              <a:t>P2P does not distinguish clients and servers</a:t>
            </a:r>
          </a:p>
          <a:p>
            <a:pPr lvl="1">
              <a:spcBef>
                <a:spcPts val="600"/>
              </a:spcBef>
            </a:pPr>
            <a:r>
              <a:rPr lang="en-US" altLang="en-US" sz="1800" dirty="0">
                <a:ea typeface="+mn-ea"/>
                <a:cs typeface="Calibri" panose="020F0502020204030204" pitchFamily="34" charset="0"/>
              </a:rPr>
              <a:t>Instead all nodes are considered peers</a:t>
            </a:r>
          </a:p>
          <a:p>
            <a:pPr lvl="1">
              <a:spcBef>
                <a:spcPts val="600"/>
              </a:spcBef>
            </a:pPr>
            <a:r>
              <a:rPr lang="en-US" altLang="en-US" sz="1800" dirty="0">
                <a:ea typeface="+mn-ea"/>
                <a:cs typeface="Calibri" panose="020F0502020204030204" pitchFamily="34" charset="0"/>
              </a:rPr>
              <a:t>May each act as client, server or both</a:t>
            </a:r>
          </a:p>
          <a:p>
            <a:pPr lvl="1">
              <a:spcBef>
                <a:spcPts val="600"/>
              </a:spcBef>
            </a:pPr>
            <a:r>
              <a:rPr lang="en-US" altLang="en-US" sz="1800" dirty="0">
                <a:ea typeface="+mn-ea"/>
                <a:cs typeface="Calibri" panose="020F0502020204030204" pitchFamily="34" charset="0"/>
              </a:rPr>
              <a:t>Node must join P2P network</a:t>
            </a:r>
          </a:p>
          <a:p>
            <a:pPr lvl="2">
              <a:spcBef>
                <a:spcPts val="600"/>
              </a:spcBef>
            </a:pPr>
            <a:r>
              <a:rPr lang="en-US" altLang="en-US" sz="1600" dirty="0">
                <a:latin typeface="Calibri" panose="020F0502020204030204" pitchFamily="34" charset="0"/>
                <a:cs typeface="Calibri" panose="020F0502020204030204" pitchFamily="34" charset="0"/>
              </a:rPr>
              <a:t>Registers its service with central lookup service on network, or</a:t>
            </a:r>
          </a:p>
          <a:p>
            <a:pPr lvl="2">
              <a:spcBef>
                <a:spcPts val="600"/>
              </a:spcBef>
            </a:pPr>
            <a:r>
              <a:rPr lang="en-US" altLang="en-US" sz="1600" dirty="0">
                <a:latin typeface="Calibri" panose="020F0502020204030204" pitchFamily="34" charset="0"/>
                <a:cs typeface="Calibri" panose="020F0502020204030204" pitchFamily="34" charset="0"/>
              </a:rPr>
              <a:t>Broadcast request for service and respond to requests for service via </a:t>
            </a:r>
            <a:r>
              <a:rPr lang="en-US" altLang="en-US" sz="1600" b="1" i="1" dirty="0">
                <a:latin typeface="Calibri" panose="020F0502020204030204" pitchFamily="34" charset="0"/>
                <a:cs typeface="Calibri" panose="020F0502020204030204" pitchFamily="34" charset="0"/>
              </a:rPr>
              <a:t>discovery protocol</a:t>
            </a:r>
          </a:p>
          <a:p>
            <a:pPr lvl="1">
              <a:spcBef>
                <a:spcPts val="600"/>
              </a:spcBef>
            </a:pPr>
            <a:r>
              <a:rPr lang="en-US" altLang="en-US" sz="1800" dirty="0">
                <a:ea typeface="+mn-ea"/>
                <a:cs typeface="Calibri" panose="020F0502020204030204" pitchFamily="34" charset="0"/>
              </a:rPr>
              <a:t>Examples include</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Napster</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and</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Gnutella</a:t>
            </a:r>
            <a:r>
              <a:rPr lang="en-US" altLang="en-US" sz="1800" i="1" dirty="0">
                <a:ea typeface="+mn-ea"/>
                <a:cs typeface="Calibri" panose="020F0502020204030204" pitchFamily="34" charset="0"/>
              </a:rPr>
              <a:t>, </a:t>
            </a:r>
            <a:r>
              <a:rPr lang="en-US" altLang="en-US" sz="1800" b="1" kern="1200" dirty="0">
                <a:solidFill>
                  <a:srgbClr val="006699"/>
                </a:solidFill>
                <a:ea typeface="+mn-ea"/>
                <a:cs typeface="Calibri" panose="020F0502020204030204" pitchFamily="34" charset="0"/>
              </a:rPr>
              <a:t>Voice over IP </a:t>
            </a:r>
            <a:r>
              <a:rPr lang="en-US" altLang="en-US" sz="1800" dirty="0">
                <a:ea typeface="+mn-ea"/>
                <a:cs typeface="Calibri" panose="020F0502020204030204" pitchFamily="34" charset="0"/>
              </a:rPr>
              <a:t>(</a:t>
            </a:r>
            <a:r>
              <a:rPr lang="en-US" altLang="en-US" sz="1800" b="1" kern="1200" dirty="0">
                <a:solidFill>
                  <a:srgbClr val="006699"/>
                </a:solidFill>
                <a:ea typeface="+mn-ea"/>
                <a:cs typeface="Calibri" panose="020F0502020204030204" pitchFamily="34" charset="0"/>
              </a:rPr>
              <a:t>VoIP</a:t>
            </a:r>
            <a:r>
              <a:rPr lang="en-US" altLang="en-US" sz="1800" dirty="0">
                <a:ea typeface="+mn-ea"/>
                <a:cs typeface="Calibri" panose="020F0502020204030204" pitchFamily="34" charset="0"/>
              </a:rPr>
              <a:t>)</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63173" y="871497"/>
            <a:ext cx="2001440" cy="152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8778F97-6D67-D1EE-278F-39E7D354FFDD}"/>
              </a:ext>
            </a:extLst>
          </p:cNvPr>
          <p:cNvSpPr>
            <a:spLocks noGrp="1"/>
          </p:cNvSpPr>
          <p:nvPr>
            <p:ph type="sldNum" sz="quarter" idx="10"/>
          </p:nvPr>
        </p:nvSpPr>
        <p:spPr/>
        <p:txBody>
          <a:bodyPr/>
          <a:lstStyle/>
          <a:p>
            <a:fld id="{D9B6BDF2-6896-4B98-8776-C18582F63BA5}" type="slidenum">
              <a:rPr lang="zh-TW" altLang="en-US" smtClean="0"/>
              <a:pPr/>
              <a:t>61</a:t>
            </a:fld>
            <a:endParaRPr lang="zh-TW"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895149" y="148828"/>
            <a:ext cx="8069463" cy="432197"/>
          </a:xfrm>
        </p:spPr>
        <p:txBody>
          <a:bodyPr/>
          <a:lstStyle/>
          <a:p>
            <a:pPr eaLnBrk="1" hangingPunct="1"/>
            <a:r>
              <a:rPr lang="en-US" altLang="en-US" sz="3000" dirty="0"/>
              <a:t>Computing Environments - Cloud Computing (1)</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981777" y="837400"/>
            <a:ext cx="7372951" cy="2003146"/>
          </a:xfrm>
        </p:spPr>
        <p:txBody>
          <a:bodyPr/>
          <a:lstStyle/>
          <a:p>
            <a:r>
              <a:rPr lang="en-US" altLang="en-US" sz="2000" dirty="0">
                <a:ea typeface="+mn-ea"/>
                <a:cs typeface="Calibri" panose="020F0502020204030204" pitchFamily="34" charset="0"/>
              </a:rPr>
              <a:t>Delivers computing, storage, even apps as a service across a network</a:t>
            </a:r>
          </a:p>
          <a:p>
            <a:r>
              <a:rPr lang="en-US" altLang="en-US" sz="2000" dirty="0">
                <a:ea typeface="+mn-ea"/>
                <a:cs typeface="Calibri" panose="020F0502020204030204" pitchFamily="34" charset="0"/>
              </a:rPr>
              <a:t>Logical extension of virtualization because it uses virtualization as the base for it functionality.</a:t>
            </a:r>
          </a:p>
          <a:p>
            <a:pPr lvl="1"/>
            <a:r>
              <a:rPr lang="en-US" altLang="en-US" sz="1800" dirty="0">
                <a:ea typeface="+mn-ea"/>
                <a:cs typeface="Calibri" panose="020F0502020204030204" pitchFamily="34" charset="0"/>
              </a:rPr>
              <a:t>Amazon </a:t>
            </a:r>
            <a:r>
              <a:rPr lang="en-US" altLang="en-US" sz="1800" b="1" kern="1200" dirty="0">
                <a:solidFill>
                  <a:srgbClr val="006699"/>
                </a:solidFill>
                <a:ea typeface="+mn-ea"/>
                <a:cs typeface="Calibri" panose="020F0502020204030204" pitchFamily="34" charset="0"/>
              </a:rPr>
              <a:t>EC2</a:t>
            </a:r>
            <a:r>
              <a:rPr lang="en-US" altLang="en-US" sz="1800" dirty="0">
                <a:ea typeface="+mn-ea"/>
                <a:cs typeface="Calibri" panose="020F0502020204030204" pitchFamily="34" charset="0"/>
              </a:rPr>
              <a:t>  has thousands of servers, millions of virtual machines, petabytes of storage available across the Internet, pay based on usage</a:t>
            </a:r>
          </a:p>
        </p:txBody>
      </p:sp>
      <p:sp>
        <p:nvSpPr>
          <p:cNvPr id="2" name="灯片编号占位符 1">
            <a:extLst>
              <a:ext uri="{FF2B5EF4-FFF2-40B4-BE49-F238E27FC236}">
                <a16:creationId xmlns:a16="http://schemas.microsoft.com/office/drawing/2014/main" id="{384C24B8-BF79-D0D5-6124-54F46185F844}"/>
              </a:ext>
            </a:extLst>
          </p:cNvPr>
          <p:cNvSpPr>
            <a:spLocks noGrp="1"/>
          </p:cNvSpPr>
          <p:nvPr>
            <p:ph type="sldNum" sz="quarter" idx="10"/>
          </p:nvPr>
        </p:nvSpPr>
        <p:spPr/>
        <p:txBody>
          <a:bodyPr/>
          <a:lstStyle/>
          <a:p>
            <a:fld id="{D9B6BDF2-6896-4B98-8776-C18582F63BA5}" type="slidenum">
              <a:rPr lang="zh-TW" altLang="en-US" smtClean="0"/>
              <a:pPr/>
              <a:t>62</a:t>
            </a:fld>
            <a:endParaRPr lang="zh-TW"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885524" y="148828"/>
            <a:ext cx="8079089" cy="432197"/>
          </a:xfrm>
        </p:spPr>
        <p:txBody>
          <a:bodyPr/>
          <a:lstStyle/>
          <a:p>
            <a:pPr eaLnBrk="1" hangingPunct="1"/>
            <a:r>
              <a:rPr lang="en-US" altLang="en-US" sz="3000" dirty="0"/>
              <a:t>Computing Environments - Cloud Computing (2)</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962526" y="833840"/>
            <a:ext cx="7218947" cy="3237647"/>
          </a:xfrm>
        </p:spPr>
        <p:txBody>
          <a:bodyPr/>
          <a:lstStyle/>
          <a:p>
            <a:r>
              <a:rPr lang="en-US" altLang="en-US" sz="2000" dirty="0">
                <a:cs typeface="Calibri" panose="020F0502020204030204" pitchFamily="34" charset="0"/>
              </a:rPr>
              <a:t>Many types</a:t>
            </a:r>
          </a:p>
          <a:p>
            <a:pPr lvl="1"/>
            <a:r>
              <a:rPr lang="en-US" altLang="en-US" sz="1800" b="1" kern="1200" dirty="0">
                <a:solidFill>
                  <a:srgbClr val="006699"/>
                </a:solidFill>
                <a:cs typeface="Calibri" panose="020F0502020204030204" pitchFamily="34" charset="0"/>
              </a:rPr>
              <a:t>Public cloud </a:t>
            </a:r>
            <a:r>
              <a:rPr lang="en-US" altLang="en-US" sz="1800" dirty="0">
                <a:cs typeface="Calibri" panose="020F0502020204030204" pitchFamily="34" charset="0"/>
              </a:rPr>
              <a:t>– available via Internet to anyone willing to pay</a:t>
            </a:r>
          </a:p>
          <a:p>
            <a:pPr lvl="1"/>
            <a:r>
              <a:rPr lang="en-US" altLang="en-US" sz="1800" b="1" kern="1200" dirty="0">
                <a:solidFill>
                  <a:srgbClr val="006699"/>
                </a:solidFill>
                <a:cs typeface="Calibri" panose="020F0502020204030204" pitchFamily="34" charset="0"/>
              </a:rPr>
              <a:t>Private cloud </a:t>
            </a:r>
            <a:r>
              <a:rPr lang="en-US" altLang="en-US" sz="1800" dirty="0">
                <a:cs typeface="Calibri" panose="020F0502020204030204" pitchFamily="34" charset="0"/>
              </a:rPr>
              <a:t>– run by a company for the company’s own use</a:t>
            </a:r>
          </a:p>
          <a:p>
            <a:pPr lvl="1"/>
            <a:r>
              <a:rPr lang="en-US" altLang="en-US" sz="1800" b="1" kern="1200" dirty="0">
                <a:solidFill>
                  <a:srgbClr val="006699"/>
                </a:solidFill>
                <a:cs typeface="Calibri" panose="020F0502020204030204" pitchFamily="34" charset="0"/>
              </a:rPr>
              <a:t>Hybrid cloud </a:t>
            </a:r>
            <a:r>
              <a:rPr lang="en-US" altLang="en-US" sz="1800" dirty="0">
                <a:cs typeface="Calibri" panose="020F0502020204030204" pitchFamily="34" charset="0"/>
              </a:rPr>
              <a:t>– includes both public and private cloud components</a:t>
            </a:r>
          </a:p>
          <a:p>
            <a:pPr lvl="1"/>
            <a:r>
              <a:rPr lang="en-US" altLang="en-US" sz="1800" dirty="0">
                <a:cs typeface="Calibri" panose="020F0502020204030204" pitchFamily="34" charset="0"/>
              </a:rPr>
              <a:t>Software as a Service (</a:t>
            </a:r>
            <a:r>
              <a:rPr lang="en-US" altLang="en-US" sz="1800" b="1" kern="1200" dirty="0">
                <a:solidFill>
                  <a:srgbClr val="006699"/>
                </a:solidFill>
                <a:cs typeface="Calibri" panose="020F0502020204030204" pitchFamily="34" charset="0"/>
              </a:rPr>
              <a:t>SaaS</a:t>
            </a:r>
            <a:r>
              <a:rPr lang="en-US" altLang="en-US" sz="1800" dirty="0">
                <a:cs typeface="Calibri" panose="020F0502020204030204" pitchFamily="34" charset="0"/>
              </a:rPr>
              <a:t>) – one or more applications available via the Internet (i.e., word processor)</a:t>
            </a:r>
          </a:p>
          <a:p>
            <a:pPr lvl="1"/>
            <a:r>
              <a:rPr lang="en-US" altLang="en-US" sz="1800" dirty="0">
                <a:cs typeface="Calibri" panose="020F0502020204030204" pitchFamily="34" charset="0"/>
              </a:rPr>
              <a:t>Platform as a Service (</a:t>
            </a:r>
            <a:r>
              <a:rPr lang="en-US" altLang="en-US" sz="1800" b="1" kern="1200" dirty="0">
                <a:solidFill>
                  <a:srgbClr val="006699"/>
                </a:solidFill>
                <a:cs typeface="Calibri" panose="020F0502020204030204" pitchFamily="34" charset="0"/>
              </a:rPr>
              <a:t>PaaS</a:t>
            </a:r>
            <a:r>
              <a:rPr lang="en-US" altLang="en-US" sz="1800" dirty="0">
                <a:cs typeface="Calibri" panose="020F0502020204030204" pitchFamily="34" charset="0"/>
              </a:rPr>
              <a:t>) – software stack ready for application use via the Internet (i.e., a database server)</a:t>
            </a:r>
          </a:p>
          <a:p>
            <a:pPr lvl="1"/>
            <a:r>
              <a:rPr lang="en-US" altLang="en-US" sz="1800" dirty="0">
                <a:cs typeface="Calibri" panose="020F0502020204030204" pitchFamily="34" charset="0"/>
              </a:rPr>
              <a:t>Infrastructure as a Service (</a:t>
            </a:r>
            <a:r>
              <a:rPr lang="en-US" altLang="en-US" sz="1800" b="1" kern="1200" dirty="0">
                <a:solidFill>
                  <a:srgbClr val="006699"/>
                </a:solidFill>
                <a:cs typeface="Calibri" panose="020F0502020204030204" pitchFamily="34" charset="0"/>
              </a:rPr>
              <a:t>IaaS</a:t>
            </a:r>
            <a:r>
              <a:rPr lang="en-US" altLang="en-US" sz="1800" dirty="0">
                <a:cs typeface="Calibri" panose="020F0502020204030204" pitchFamily="34" charset="0"/>
              </a:rPr>
              <a:t>) – servers or storage available over Internet (i.e., storage available for backup use)</a:t>
            </a:r>
          </a:p>
        </p:txBody>
      </p:sp>
      <p:sp>
        <p:nvSpPr>
          <p:cNvPr id="2" name="灯片编号占位符 1">
            <a:extLst>
              <a:ext uri="{FF2B5EF4-FFF2-40B4-BE49-F238E27FC236}">
                <a16:creationId xmlns:a16="http://schemas.microsoft.com/office/drawing/2014/main" id="{B801D11A-B933-5B20-FE9D-D674F92BEA25}"/>
              </a:ext>
            </a:extLst>
          </p:cNvPr>
          <p:cNvSpPr>
            <a:spLocks noGrp="1"/>
          </p:cNvSpPr>
          <p:nvPr>
            <p:ph type="sldNum" sz="quarter" idx="10"/>
          </p:nvPr>
        </p:nvSpPr>
        <p:spPr/>
        <p:txBody>
          <a:bodyPr/>
          <a:lstStyle/>
          <a:p>
            <a:fld id="{D9B6BDF2-6896-4B98-8776-C18582F63BA5}" type="slidenum">
              <a:rPr lang="zh-TW" altLang="en-US" smtClean="0"/>
              <a:pPr/>
              <a:t>63</a:t>
            </a:fld>
            <a:endParaRPr lang="zh-TW" altLang="en-US"/>
          </a:p>
        </p:txBody>
      </p:sp>
    </p:spTree>
    <p:extLst>
      <p:ext uri="{BB962C8B-B14F-4D97-AF65-F5344CB8AC3E}">
        <p14:creationId xmlns:p14="http://schemas.microsoft.com/office/powerpoint/2010/main" val="28185656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989685" y="811998"/>
            <a:ext cx="7066660" cy="1344909"/>
          </a:xfrm>
        </p:spPr>
        <p:txBody>
          <a:bodyPr/>
          <a:lstStyle/>
          <a:p>
            <a:r>
              <a:rPr lang="en-US" altLang="en-US" sz="2000" dirty="0">
                <a:cs typeface="Calibri" panose="020F0502020204030204" pitchFamily="34" charset="0"/>
              </a:rPr>
              <a:t>Cloud computing environments composed of traditional OSes, plus VMMs, plus cloud management tools</a:t>
            </a:r>
          </a:p>
          <a:p>
            <a:pPr lvl="1"/>
            <a:r>
              <a:rPr lang="en-US" altLang="en-US" sz="1800" dirty="0">
                <a:cs typeface="Calibri" panose="020F0502020204030204" pitchFamily="34" charset="0"/>
              </a:rPr>
              <a:t>Internet connectivity requires security like firewalls</a:t>
            </a:r>
          </a:p>
          <a:p>
            <a:pPr lvl="1"/>
            <a:r>
              <a:rPr lang="en-US" altLang="en-US" sz="1800" dirty="0">
                <a:cs typeface="Calibri" panose="020F0502020204030204" pitchFamily="34" charset="0"/>
              </a:rPr>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1464" y="2352007"/>
            <a:ext cx="2801072" cy="2217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D11AAC45-52AE-9DF4-836E-324BC4BD0420}"/>
              </a:ext>
            </a:extLst>
          </p:cNvPr>
          <p:cNvSpPr>
            <a:spLocks noGrp="1"/>
          </p:cNvSpPr>
          <p:nvPr>
            <p:ph type="sldNum" sz="quarter" idx="10"/>
          </p:nvPr>
        </p:nvSpPr>
        <p:spPr/>
        <p:txBody>
          <a:bodyPr/>
          <a:lstStyle/>
          <a:p>
            <a:fld id="{D9B6BDF2-6896-4B98-8776-C18582F63BA5}" type="slidenum">
              <a:rPr lang="zh-TW" altLang="en-US" smtClean="0"/>
              <a:pPr/>
              <a:t>64</a:t>
            </a:fld>
            <a:endParaRPr lang="zh-TW" altLang="en-US"/>
          </a:p>
        </p:txBody>
      </p:sp>
      <p:sp>
        <p:nvSpPr>
          <p:cNvPr id="3" name="Rectangle 2">
            <a:extLst>
              <a:ext uri="{FF2B5EF4-FFF2-40B4-BE49-F238E27FC236}">
                <a16:creationId xmlns:a16="http://schemas.microsoft.com/office/drawing/2014/main" id="{A1FEBDB3-7416-50A8-22B4-25DC5EEB6EBF}"/>
              </a:ext>
            </a:extLst>
          </p:cNvPr>
          <p:cNvSpPr txBox="1">
            <a:spLocks noChangeArrowheads="1"/>
          </p:cNvSpPr>
          <p:nvPr/>
        </p:nvSpPr>
        <p:spPr bwMode="auto">
          <a:xfrm>
            <a:off x="885524" y="148828"/>
            <a:ext cx="7983347" cy="43219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sz="3000" dirty="0"/>
              <a:t>Computing Environments - </a:t>
            </a:r>
            <a:r>
              <a:rPr lang="en-US" altLang="en-US" sz="3000" kern="0" dirty="0"/>
              <a:t>Cloud Computing (3)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972152" y="77629"/>
            <a:ext cx="8078715" cy="533400"/>
          </a:xfrm>
        </p:spPr>
        <p:txBody>
          <a:bodyPr/>
          <a:lstStyle/>
          <a:p>
            <a:r>
              <a:rPr lang="en-US" altLang="en-US" sz="2600" dirty="0"/>
              <a:t>Computing Environments - 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1013861" y="875210"/>
            <a:ext cx="7257447" cy="2936394"/>
          </a:xfrm>
        </p:spPr>
        <p:txBody>
          <a:bodyPr/>
          <a:lstStyle/>
          <a:p>
            <a:r>
              <a:rPr lang="en-US" altLang="en-US" sz="2000" dirty="0">
                <a:ea typeface="+mn-ea"/>
                <a:cs typeface="Calibri" panose="020F0502020204030204" pitchFamily="34" charset="0"/>
              </a:rPr>
              <a:t>Real-time embedded systems most prevalent form of computers</a:t>
            </a:r>
          </a:p>
          <a:p>
            <a:pPr lvl="1"/>
            <a:r>
              <a:rPr lang="en-US" altLang="en-US" sz="1800" dirty="0">
                <a:ea typeface="+mn-ea"/>
                <a:cs typeface="Calibri" panose="020F0502020204030204" pitchFamily="34" charset="0"/>
              </a:rPr>
              <a:t>Vary considerable, special purpose, limited purpose OS,  </a:t>
            </a:r>
            <a:r>
              <a:rPr lang="en-US" altLang="en-US" sz="1800" b="1" kern="1200" dirty="0">
                <a:solidFill>
                  <a:srgbClr val="006699"/>
                </a:solidFill>
                <a:ea typeface="+mn-ea"/>
                <a:cs typeface="Calibri" panose="020F0502020204030204" pitchFamily="34" charset="0"/>
              </a:rPr>
              <a:t>real-time OS</a:t>
            </a:r>
          </a:p>
          <a:p>
            <a:pPr lvl="1"/>
            <a:r>
              <a:rPr lang="en-US" altLang="en-US" sz="1800" dirty="0">
                <a:ea typeface="+mn-ea"/>
                <a:cs typeface="Calibri" panose="020F0502020204030204" pitchFamily="34" charset="0"/>
              </a:rPr>
              <a:t>Use expanding</a:t>
            </a:r>
          </a:p>
          <a:p>
            <a:r>
              <a:rPr lang="en-US" altLang="en-US" sz="2000" dirty="0">
                <a:ea typeface="+mn-ea"/>
                <a:cs typeface="Calibri" panose="020F0502020204030204" pitchFamily="34" charset="0"/>
              </a:rPr>
              <a:t>Many other special computing environments as well</a:t>
            </a:r>
          </a:p>
          <a:p>
            <a:pPr lvl="1"/>
            <a:r>
              <a:rPr lang="en-US" altLang="en-US" sz="1800" dirty="0">
                <a:ea typeface="+mn-ea"/>
                <a:cs typeface="Calibri" panose="020F0502020204030204" pitchFamily="34" charset="0"/>
              </a:rPr>
              <a:t>Some have OSes, some perform tasks without an OS</a:t>
            </a:r>
          </a:p>
          <a:p>
            <a:r>
              <a:rPr lang="en-US" altLang="en-US" sz="2000" dirty="0">
                <a:ea typeface="+mn-ea"/>
                <a:cs typeface="Calibri" panose="020F0502020204030204" pitchFamily="34" charset="0"/>
              </a:rPr>
              <a:t>Real-time OS has well-defined fixed time constraints</a:t>
            </a:r>
          </a:p>
          <a:p>
            <a:pPr lvl="1"/>
            <a:r>
              <a:rPr lang="en-US" altLang="en-US" sz="1800" dirty="0">
                <a:ea typeface="+mn-ea"/>
                <a:cs typeface="Calibri" panose="020F0502020204030204" pitchFamily="34" charset="0"/>
              </a:rPr>
              <a:t>Processing </a:t>
            </a:r>
            <a:r>
              <a:rPr lang="en-US" altLang="en-US" sz="1800" b="1" i="1" dirty="0">
                <a:ea typeface="+mn-ea"/>
                <a:cs typeface="Calibri" panose="020F0502020204030204" pitchFamily="34" charset="0"/>
              </a:rPr>
              <a:t>must</a:t>
            </a:r>
            <a:r>
              <a:rPr lang="en-US" altLang="en-US" sz="1800" dirty="0">
                <a:ea typeface="+mn-ea"/>
                <a:cs typeface="Calibri" panose="020F0502020204030204" pitchFamily="34" charset="0"/>
              </a:rPr>
              <a:t> be done within constraint</a:t>
            </a:r>
          </a:p>
          <a:p>
            <a:pPr lvl="1"/>
            <a:r>
              <a:rPr lang="en-US" altLang="en-US" sz="1800" dirty="0">
                <a:ea typeface="+mn-ea"/>
                <a:cs typeface="Calibri" panose="020F0502020204030204" pitchFamily="34" charset="0"/>
              </a:rPr>
              <a:t>Correct operation only if constraints met</a:t>
            </a:r>
          </a:p>
        </p:txBody>
      </p:sp>
      <p:sp>
        <p:nvSpPr>
          <p:cNvPr id="2" name="灯片编号占位符 1">
            <a:extLst>
              <a:ext uri="{FF2B5EF4-FFF2-40B4-BE49-F238E27FC236}">
                <a16:creationId xmlns:a16="http://schemas.microsoft.com/office/drawing/2014/main" id="{4544995C-36B3-9005-DF44-004CB9CCC695}"/>
              </a:ext>
            </a:extLst>
          </p:cNvPr>
          <p:cNvSpPr>
            <a:spLocks noGrp="1"/>
          </p:cNvSpPr>
          <p:nvPr>
            <p:ph type="sldNum" sz="quarter" idx="10"/>
          </p:nvPr>
        </p:nvSpPr>
        <p:spPr/>
        <p:txBody>
          <a:bodyPr/>
          <a:lstStyle/>
          <a:p>
            <a:fld id="{D9B6BDF2-6896-4B98-8776-C18582F63BA5}" type="slidenum">
              <a:rPr lang="zh-TW" altLang="en-US" smtClean="0"/>
              <a:pPr/>
              <a:t>65</a:t>
            </a:fld>
            <a:endParaRPr lang="zh-TW"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875899" y="151210"/>
            <a:ext cx="7372951" cy="432197"/>
          </a:xfrm>
        </p:spPr>
        <p:txBody>
          <a:bodyPr/>
          <a:lstStyle/>
          <a:p>
            <a:r>
              <a:rPr lang="en-US" altLang="en-US" sz="3200" dirty="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1020278" y="828444"/>
            <a:ext cx="7498080" cy="3736865"/>
          </a:xfrm>
        </p:spPr>
        <p:txBody>
          <a:bodyPr/>
          <a:lstStyle/>
          <a:p>
            <a:r>
              <a:rPr lang="en-US" altLang="en-US" sz="1600" dirty="0">
                <a:ea typeface="+mn-ea"/>
                <a:cs typeface="Calibri" panose="020F0502020204030204" pitchFamily="34" charset="0"/>
              </a:rPr>
              <a:t>Operating systems made available in source-code format rather than just binary </a:t>
            </a:r>
            <a:r>
              <a:rPr lang="en-US" altLang="en-US" sz="1600" b="1" kern="1200" dirty="0">
                <a:solidFill>
                  <a:srgbClr val="006699"/>
                </a:solidFill>
                <a:ea typeface="+mn-ea"/>
                <a:cs typeface="Calibri" panose="020F0502020204030204" pitchFamily="34" charset="0"/>
              </a:rPr>
              <a:t>closed-source</a:t>
            </a:r>
            <a:r>
              <a:rPr lang="en-US" altLang="en-US" sz="1600" b="1" dirty="0">
                <a:solidFill>
                  <a:srgbClr val="3366FF"/>
                </a:solidFill>
                <a:ea typeface="+mn-ea"/>
                <a:cs typeface="Calibri" panose="020F0502020204030204" pitchFamily="34" charset="0"/>
              </a:rPr>
              <a:t> </a:t>
            </a:r>
            <a:r>
              <a:rPr lang="en-US" altLang="en-US" sz="1600" dirty="0">
                <a:ea typeface="+mn-ea"/>
                <a:cs typeface="Calibri" panose="020F0502020204030204" pitchFamily="34" charset="0"/>
              </a:rPr>
              <a:t>and</a:t>
            </a:r>
            <a:r>
              <a:rPr lang="en-US" altLang="en-US" sz="1600" b="1" dirty="0">
                <a:solidFill>
                  <a:srgbClr val="3366FF"/>
                </a:solidFill>
                <a:ea typeface="+mn-ea"/>
                <a:cs typeface="Calibri" panose="020F0502020204030204" pitchFamily="34" charset="0"/>
              </a:rPr>
              <a:t> </a:t>
            </a:r>
            <a:r>
              <a:rPr lang="en-US" altLang="en-US" sz="1600" b="1" kern="1200" dirty="0">
                <a:solidFill>
                  <a:srgbClr val="006699"/>
                </a:solidFill>
                <a:ea typeface="+mn-ea"/>
                <a:cs typeface="Calibri" panose="020F0502020204030204" pitchFamily="34" charset="0"/>
              </a:rPr>
              <a:t>proprietary</a:t>
            </a:r>
          </a:p>
          <a:p>
            <a:r>
              <a:rPr lang="en-US" altLang="en-US" sz="1600" dirty="0">
                <a:ea typeface="+mn-ea"/>
                <a:cs typeface="Calibri" panose="020F0502020204030204" pitchFamily="34" charset="0"/>
              </a:rPr>
              <a:t>Counter to the </a:t>
            </a:r>
            <a:r>
              <a:rPr lang="en-US" altLang="en-US" sz="1600" b="1" kern="1200" dirty="0">
                <a:solidFill>
                  <a:srgbClr val="006699"/>
                </a:solidFill>
                <a:ea typeface="+mn-ea"/>
                <a:cs typeface="Calibri" panose="020F0502020204030204" pitchFamily="34" charset="0"/>
              </a:rPr>
              <a:t>copy protection </a:t>
            </a:r>
            <a:r>
              <a:rPr lang="en-US" altLang="en-US" sz="1600" dirty="0">
                <a:solidFill>
                  <a:srgbClr val="000000"/>
                </a:solidFill>
                <a:ea typeface="+mn-ea"/>
                <a:cs typeface="Calibri" panose="020F0502020204030204" pitchFamily="34" charset="0"/>
              </a:rPr>
              <a:t>and </a:t>
            </a:r>
            <a:r>
              <a:rPr lang="en-US" altLang="en-US" sz="1600" b="1" kern="1200" dirty="0">
                <a:solidFill>
                  <a:srgbClr val="006699"/>
                </a:solidFill>
                <a:ea typeface="+mn-ea"/>
                <a:cs typeface="Calibri" panose="020F0502020204030204" pitchFamily="34" charset="0"/>
              </a:rPr>
              <a:t>Digital Rights Management </a:t>
            </a:r>
            <a:r>
              <a:rPr lang="en-US" altLang="en-US" sz="1600" dirty="0">
                <a:ea typeface="+mn-ea"/>
                <a:cs typeface="Calibri" panose="020F0502020204030204" pitchFamily="34" charset="0"/>
              </a:rPr>
              <a:t>(</a:t>
            </a:r>
            <a:r>
              <a:rPr lang="en-US" altLang="en-US" sz="1600" b="1" kern="1200" dirty="0">
                <a:solidFill>
                  <a:srgbClr val="006699"/>
                </a:solidFill>
                <a:ea typeface="+mn-ea"/>
                <a:cs typeface="Calibri" panose="020F0502020204030204" pitchFamily="34" charset="0"/>
              </a:rPr>
              <a:t>DRM</a:t>
            </a:r>
            <a:r>
              <a:rPr lang="en-US" altLang="en-US" sz="1600" dirty="0">
                <a:ea typeface="+mn-ea"/>
                <a:cs typeface="Calibri" panose="020F0502020204030204" pitchFamily="34" charset="0"/>
              </a:rPr>
              <a:t>) </a:t>
            </a:r>
            <a:r>
              <a:rPr lang="en-US" altLang="en-US" sz="1600" dirty="0">
                <a:solidFill>
                  <a:srgbClr val="000000"/>
                </a:solidFill>
                <a:ea typeface="+mn-ea"/>
                <a:cs typeface="Calibri" panose="020F0502020204030204" pitchFamily="34" charset="0"/>
              </a:rPr>
              <a:t>movement</a:t>
            </a:r>
          </a:p>
          <a:p>
            <a:r>
              <a:rPr lang="en-US" altLang="en-US" sz="1600" dirty="0">
                <a:solidFill>
                  <a:srgbClr val="000000"/>
                </a:solidFill>
                <a:ea typeface="+mn-ea"/>
                <a:cs typeface="Calibri" panose="020F0502020204030204" pitchFamily="34" charset="0"/>
              </a:rPr>
              <a:t>Started by </a:t>
            </a:r>
            <a:r>
              <a:rPr lang="en-US" altLang="en-US" sz="1600" b="1" kern="1200" dirty="0">
                <a:solidFill>
                  <a:srgbClr val="006699"/>
                </a:solidFill>
                <a:ea typeface="+mn-ea"/>
                <a:cs typeface="Calibri" panose="020F0502020204030204" pitchFamily="34" charset="0"/>
              </a:rPr>
              <a:t>Free Software Foundation </a:t>
            </a:r>
            <a:r>
              <a:rPr lang="en-US" altLang="en-US" sz="1600" dirty="0">
                <a:solidFill>
                  <a:srgbClr val="000000"/>
                </a:solidFill>
                <a:ea typeface="+mn-ea"/>
                <a:cs typeface="Calibri" panose="020F0502020204030204" pitchFamily="34" charset="0"/>
              </a:rPr>
              <a:t>(</a:t>
            </a:r>
            <a:r>
              <a:rPr lang="en-US" altLang="en-US" sz="1600" b="1" kern="1200" dirty="0">
                <a:solidFill>
                  <a:srgbClr val="006699"/>
                </a:solidFill>
                <a:ea typeface="+mn-ea"/>
                <a:cs typeface="Calibri" panose="020F0502020204030204" pitchFamily="34" charset="0"/>
              </a:rPr>
              <a:t>FSF</a:t>
            </a:r>
            <a:r>
              <a:rPr lang="en-US" altLang="en-US" sz="1600" dirty="0">
                <a:ea typeface="+mn-ea"/>
                <a:cs typeface="Calibri" panose="020F0502020204030204" pitchFamily="34" charset="0"/>
              </a:rPr>
              <a:t>)</a:t>
            </a:r>
            <a:r>
              <a:rPr lang="en-US" altLang="en-US" sz="1600" dirty="0">
                <a:solidFill>
                  <a:srgbClr val="000000"/>
                </a:solidFill>
                <a:ea typeface="+mn-ea"/>
                <a:cs typeface="Calibri" panose="020F0502020204030204" pitchFamily="34" charset="0"/>
              </a:rPr>
              <a:t>, which has </a:t>
            </a:r>
            <a:r>
              <a:rPr lang="ja-JP" altLang="en-US" sz="1600" dirty="0">
                <a:solidFill>
                  <a:srgbClr val="000000"/>
                </a:solidFill>
                <a:ea typeface="+mn-ea"/>
                <a:cs typeface="Calibri" panose="020F0502020204030204" pitchFamily="34" charset="0"/>
              </a:rPr>
              <a:t>“</a:t>
            </a:r>
            <a:r>
              <a:rPr lang="en-US" altLang="ja-JP" sz="1600" dirty="0">
                <a:solidFill>
                  <a:srgbClr val="000000"/>
                </a:solidFill>
                <a:ea typeface="+mn-ea"/>
                <a:cs typeface="Calibri" panose="020F0502020204030204" pitchFamily="34" charset="0"/>
              </a:rPr>
              <a:t>copyleft</a:t>
            </a:r>
            <a:r>
              <a:rPr lang="ja-JP" altLang="en-US" sz="1600" dirty="0">
                <a:solidFill>
                  <a:srgbClr val="000000"/>
                </a:solidFill>
                <a:ea typeface="+mn-ea"/>
                <a:cs typeface="Calibri" panose="020F0502020204030204" pitchFamily="34" charset="0"/>
              </a:rPr>
              <a:t>”</a:t>
            </a:r>
            <a:r>
              <a:rPr lang="en-US" altLang="ja-JP" sz="1600" dirty="0">
                <a:solidFill>
                  <a:srgbClr val="000000"/>
                </a:solidFill>
                <a:ea typeface="+mn-ea"/>
                <a:cs typeface="Calibri" panose="020F0502020204030204" pitchFamily="34" charset="0"/>
              </a:rPr>
              <a:t> </a:t>
            </a:r>
            <a:r>
              <a:rPr lang="en-US" altLang="ja-JP" sz="1600" b="1" kern="1200" dirty="0">
                <a:solidFill>
                  <a:srgbClr val="006699"/>
                </a:solidFill>
                <a:ea typeface="+mn-ea"/>
                <a:cs typeface="Calibri" panose="020F0502020204030204" pitchFamily="34" charset="0"/>
              </a:rPr>
              <a:t>GNU Public License </a:t>
            </a:r>
            <a:r>
              <a:rPr lang="en-US" altLang="ja-JP" sz="1600" dirty="0">
                <a:ea typeface="+mn-ea"/>
                <a:cs typeface="Calibri" panose="020F0502020204030204" pitchFamily="34" charset="0"/>
              </a:rPr>
              <a:t>(</a:t>
            </a:r>
            <a:r>
              <a:rPr lang="en-US" altLang="ja-JP" sz="1600" b="1" kern="1200" dirty="0">
                <a:solidFill>
                  <a:srgbClr val="006699"/>
                </a:solidFill>
                <a:ea typeface="+mn-ea"/>
                <a:cs typeface="Calibri" panose="020F0502020204030204" pitchFamily="34" charset="0"/>
              </a:rPr>
              <a:t>GPL</a:t>
            </a:r>
            <a:r>
              <a:rPr lang="en-US" altLang="ja-JP" sz="1600" dirty="0">
                <a:ea typeface="+mn-ea"/>
                <a:cs typeface="Calibri" panose="020F0502020204030204" pitchFamily="34" charset="0"/>
              </a:rPr>
              <a:t>)</a:t>
            </a:r>
          </a:p>
          <a:p>
            <a:pPr lvl="1"/>
            <a:r>
              <a:rPr lang="en-US" altLang="en-US" sz="1600" dirty="0">
                <a:ea typeface="+mn-ea"/>
                <a:cs typeface="Calibri" panose="020F0502020204030204" pitchFamily="34" charset="0"/>
              </a:rPr>
              <a:t>Free software and open-source software are two different ideas championed by different groups of people</a:t>
            </a:r>
          </a:p>
          <a:p>
            <a:pPr lvl="2"/>
            <a:r>
              <a:rPr lang="en-US" altLang="en-US" sz="1600" b="1" dirty="0">
                <a:solidFill>
                  <a:srgbClr val="663300"/>
                </a:solidFill>
                <a:latin typeface="Calibri" panose="020F0502020204030204" pitchFamily="34" charset="0"/>
                <a:cs typeface="Calibri" panose="020F0502020204030204" pitchFamily="34" charset="0"/>
              </a:rPr>
              <a:t>https://www.gnu.org/philosophy/open-source-misses-the-point.en.html</a:t>
            </a:r>
          </a:p>
          <a:p>
            <a:r>
              <a:rPr lang="en-US" altLang="en-US" sz="1600" dirty="0">
                <a:solidFill>
                  <a:srgbClr val="000000"/>
                </a:solidFill>
                <a:ea typeface="+mn-ea"/>
                <a:cs typeface="Calibri" panose="020F0502020204030204" pitchFamily="34" charset="0"/>
              </a:rPr>
              <a:t>Examples include </a:t>
            </a:r>
            <a:r>
              <a:rPr lang="en-US" altLang="en-US" sz="1600" b="1" kern="1200" dirty="0">
                <a:solidFill>
                  <a:srgbClr val="006699"/>
                </a:solidFill>
                <a:ea typeface="+mn-ea"/>
                <a:cs typeface="Calibri" panose="020F0502020204030204" pitchFamily="34" charset="0"/>
              </a:rPr>
              <a:t>GNU/Linux </a:t>
            </a:r>
            <a:r>
              <a:rPr lang="en-US" altLang="en-US" sz="1600" dirty="0">
                <a:ea typeface="+mn-ea"/>
                <a:cs typeface="Calibri" panose="020F0502020204030204" pitchFamily="34" charset="0"/>
              </a:rPr>
              <a:t>and </a:t>
            </a:r>
            <a:r>
              <a:rPr lang="en-US" altLang="en-US" sz="1600" b="1" kern="1200" dirty="0">
                <a:solidFill>
                  <a:srgbClr val="006699"/>
                </a:solidFill>
                <a:ea typeface="+mn-ea"/>
                <a:cs typeface="Calibri" panose="020F0502020204030204" pitchFamily="34" charset="0"/>
              </a:rPr>
              <a:t>BSD UNIX </a:t>
            </a:r>
            <a:r>
              <a:rPr lang="en-US" altLang="en-US" sz="1600" dirty="0">
                <a:solidFill>
                  <a:srgbClr val="000000"/>
                </a:solidFill>
                <a:ea typeface="+mn-ea"/>
                <a:cs typeface="Calibri" panose="020F0502020204030204" pitchFamily="34" charset="0"/>
              </a:rPr>
              <a:t>(including core of </a:t>
            </a:r>
            <a:r>
              <a:rPr lang="en-US" altLang="en-US" sz="1600" b="1" kern="1200" dirty="0">
                <a:solidFill>
                  <a:srgbClr val="006699"/>
                </a:solidFill>
                <a:ea typeface="+mn-ea"/>
                <a:cs typeface="Calibri" panose="020F0502020204030204" pitchFamily="34" charset="0"/>
              </a:rPr>
              <a:t>Mac</a:t>
            </a:r>
            <a:r>
              <a:rPr lang="en-US" altLang="en-US" sz="1600" b="1" dirty="0">
                <a:solidFill>
                  <a:srgbClr val="3366FF"/>
                </a:solidFill>
                <a:ea typeface="+mn-ea"/>
                <a:cs typeface="Calibri" panose="020F0502020204030204" pitchFamily="34" charset="0"/>
              </a:rPr>
              <a:t> </a:t>
            </a:r>
            <a:r>
              <a:rPr lang="en-US" altLang="en-US" sz="1600" b="1" kern="1200" dirty="0">
                <a:solidFill>
                  <a:srgbClr val="006699"/>
                </a:solidFill>
                <a:ea typeface="+mn-ea"/>
                <a:cs typeface="Calibri" panose="020F0502020204030204" pitchFamily="34" charset="0"/>
              </a:rPr>
              <a:t>OS X</a:t>
            </a:r>
            <a:r>
              <a:rPr lang="en-US" altLang="en-US" sz="1600" dirty="0">
                <a:solidFill>
                  <a:srgbClr val="000000"/>
                </a:solidFill>
                <a:ea typeface="+mn-ea"/>
                <a:cs typeface="Calibri" panose="020F0502020204030204" pitchFamily="34" charset="0"/>
              </a:rPr>
              <a:t>), and many more</a:t>
            </a:r>
          </a:p>
          <a:p>
            <a:r>
              <a:rPr lang="en-US" altLang="en-US" sz="1600" dirty="0">
                <a:solidFill>
                  <a:srgbClr val="000000"/>
                </a:solidFill>
                <a:ea typeface="+mn-ea"/>
                <a:cs typeface="Calibri" panose="020F0502020204030204" pitchFamily="34" charset="0"/>
              </a:rPr>
              <a:t>Can use VMM like VMware Player (Free on Windows), </a:t>
            </a:r>
            <a:r>
              <a:rPr lang="en-US" altLang="en-US" sz="1600" dirty="0" err="1">
                <a:solidFill>
                  <a:srgbClr val="000000"/>
                </a:solidFill>
                <a:ea typeface="+mn-ea"/>
                <a:cs typeface="Calibri" panose="020F0502020204030204" pitchFamily="34" charset="0"/>
              </a:rPr>
              <a:t>Virtualbox</a:t>
            </a:r>
            <a:r>
              <a:rPr lang="en-US" altLang="en-US" sz="1600" dirty="0">
                <a:solidFill>
                  <a:srgbClr val="000000"/>
                </a:solidFill>
                <a:ea typeface="+mn-ea"/>
                <a:cs typeface="Calibri" panose="020F0502020204030204" pitchFamily="34" charset="0"/>
              </a:rPr>
              <a:t> (open source and free on many platforms - </a:t>
            </a:r>
            <a:r>
              <a:rPr lang="en-US" altLang="en-US" sz="1600" dirty="0">
                <a:ea typeface="+mn-ea"/>
                <a:cs typeface="Calibri" panose="020F0502020204030204" pitchFamily="34" charset="0"/>
              </a:rPr>
              <a:t>http://www.virtualbox.com) </a:t>
            </a:r>
          </a:p>
          <a:p>
            <a:pPr lvl="1"/>
            <a:r>
              <a:rPr lang="en-US" altLang="en-US" sz="1600" dirty="0">
                <a:solidFill>
                  <a:srgbClr val="000000"/>
                </a:solidFill>
                <a:ea typeface="+mn-ea"/>
                <a:cs typeface="Calibri" panose="020F0502020204030204" pitchFamily="34" charset="0"/>
              </a:rPr>
              <a:t>Use to run guest operating systems for exploration</a:t>
            </a:r>
          </a:p>
        </p:txBody>
      </p:sp>
      <p:sp>
        <p:nvSpPr>
          <p:cNvPr id="2" name="灯片编号占位符 1">
            <a:extLst>
              <a:ext uri="{FF2B5EF4-FFF2-40B4-BE49-F238E27FC236}">
                <a16:creationId xmlns:a16="http://schemas.microsoft.com/office/drawing/2014/main" id="{D16A4C72-C1F8-2A58-F84B-FB192FA6058E}"/>
              </a:ext>
            </a:extLst>
          </p:cNvPr>
          <p:cNvSpPr>
            <a:spLocks noGrp="1"/>
          </p:cNvSpPr>
          <p:nvPr>
            <p:ph type="sldNum" sz="quarter" idx="10"/>
          </p:nvPr>
        </p:nvSpPr>
        <p:spPr/>
        <p:txBody>
          <a:bodyPr/>
          <a:lstStyle/>
          <a:p>
            <a:fld id="{D9B6BDF2-6896-4B98-8776-C18582F63BA5}" type="slidenum">
              <a:rPr lang="zh-TW" altLang="en-US" smtClean="0"/>
              <a:pPr/>
              <a:t>66</a:t>
            </a:fld>
            <a:endParaRPr lang="zh-TW"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875899" y="148828"/>
            <a:ext cx="6692905" cy="432197"/>
          </a:xfrm>
        </p:spPr>
        <p:txBody>
          <a:bodyPr/>
          <a:lstStyle/>
          <a:p>
            <a:pPr eaLnBrk="1" hangingPunct="1"/>
            <a:r>
              <a:rPr lang="en-US" altLang="en-US" sz="3200" dirty="0"/>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1376412" y="827089"/>
            <a:ext cx="6285297" cy="3725660"/>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95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95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95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95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95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95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95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950" dirty="0">
              <a:latin typeface="Verdana" panose="020B0604030504040204" pitchFamily="34" charset="0"/>
            </a:endParaRPr>
          </a:p>
          <a:p>
            <a:pPr>
              <a:spcBef>
                <a:spcPct val="0"/>
              </a:spcBef>
              <a:buClrTx/>
              <a:buSzTx/>
              <a:buFontTx/>
              <a:buNone/>
            </a:pPr>
            <a:r>
              <a:rPr kumimoji="0" lang="en-US" altLang="en-US" sz="95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95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95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95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950" dirty="0">
              <a:latin typeface="Verdana" panose="020B0604030504040204" pitchFamily="34" charset="0"/>
            </a:endParaRPr>
          </a:p>
          <a:p>
            <a:pPr>
              <a:spcBef>
                <a:spcPct val="0"/>
              </a:spcBef>
              <a:buClrTx/>
              <a:buSzTx/>
              <a:buFontTx/>
              <a:buNone/>
            </a:pPr>
            <a:r>
              <a:rPr kumimoji="0" lang="en-US" altLang="en-US" sz="95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95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95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950" dirty="0">
                <a:latin typeface="Verdana" panose="020B0604030504040204" pitchFamily="34" charset="0"/>
              </a:rPr>
              <a:t>“virtual appliances” can run. </a:t>
            </a:r>
            <a:r>
              <a:rPr kumimoji="0" lang="en-US" altLang="en-US" sz="950" dirty="0" err="1">
                <a:latin typeface="Verdana" panose="020B0604030504040204" pitchFamily="34" charset="0"/>
              </a:rPr>
              <a:t>Virtualbox</a:t>
            </a:r>
            <a:r>
              <a:rPr kumimoji="0" lang="en-US" altLang="en-US" sz="950" dirty="0">
                <a:latin typeface="Verdana" panose="020B0604030504040204" pitchFamily="34" charset="0"/>
              </a:rPr>
              <a:t> (http://www.virtualbox.com) provides a free, open-source</a:t>
            </a:r>
          </a:p>
          <a:p>
            <a:pPr>
              <a:spcBef>
                <a:spcPct val="0"/>
              </a:spcBef>
              <a:buClrTx/>
              <a:buSzTx/>
              <a:buFontTx/>
              <a:buNone/>
            </a:pPr>
            <a:r>
              <a:rPr kumimoji="0" lang="en-US" altLang="en-US" sz="95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950" dirty="0">
                <a:latin typeface="Verdana" panose="020B0604030504040204" pitchFamily="34" charset="0"/>
              </a:rPr>
              <a:t>hundreds of operating systems without dedicated hardware.</a:t>
            </a:r>
          </a:p>
          <a:p>
            <a:pPr>
              <a:spcBef>
                <a:spcPct val="0"/>
              </a:spcBef>
              <a:buClrTx/>
              <a:buSzTx/>
              <a:buFontTx/>
              <a:buNone/>
            </a:pPr>
            <a:endParaRPr kumimoji="0" lang="en-US" altLang="en-US" sz="950" dirty="0">
              <a:latin typeface="Verdana" panose="020B0604030504040204" pitchFamily="34" charset="0"/>
            </a:endParaRPr>
          </a:p>
          <a:p>
            <a:pPr>
              <a:spcBef>
                <a:spcPct val="0"/>
              </a:spcBef>
              <a:buClrTx/>
              <a:buSzTx/>
              <a:buFontTx/>
              <a:buNone/>
            </a:pPr>
            <a:r>
              <a:rPr kumimoji="0" lang="en-US" altLang="en-US" sz="95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95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95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95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950" dirty="0">
                <a:latin typeface="Verdana" panose="020B0604030504040204" pitchFamily="34" charset="0"/>
              </a:rPr>
              <a:t>how much interest, time, and disk space a student has.</a:t>
            </a:r>
          </a:p>
        </p:txBody>
      </p:sp>
      <p:sp>
        <p:nvSpPr>
          <p:cNvPr id="2" name="灯片编号占位符 1">
            <a:extLst>
              <a:ext uri="{FF2B5EF4-FFF2-40B4-BE49-F238E27FC236}">
                <a16:creationId xmlns:a16="http://schemas.microsoft.com/office/drawing/2014/main" id="{6DDF44F3-1A92-3DA7-EA7D-150D78309DBE}"/>
              </a:ext>
            </a:extLst>
          </p:cNvPr>
          <p:cNvSpPr>
            <a:spLocks noGrp="1"/>
          </p:cNvSpPr>
          <p:nvPr>
            <p:ph type="sldNum" sz="quarter" idx="10"/>
          </p:nvPr>
        </p:nvSpPr>
        <p:spPr/>
        <p:txBody>
          <a:bodyPr/>
          <a:lstStyle/>
          <a:p>
            <a:fld id="{D9B6BDF2-6896-4B98-8776-C18582F63BA5}" type="slidenum">
              <a:rPr lang="zh-TW" altLang="en-US" smtClean="0"/>
              <a:pPr/>
              <a:t>67</a:t>
            </a:fld>
            <a:endParaRPr lang="zh-TW"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895149" y="165497"/>
            <a:ext cx="6762951" cy="432197"/>
          </a:xfrm>
        </p:spPr>
        <p:txBody>
          <a:bodyPr/>
          <a:lstStyle/>
          <a:p>
            <a:r>
              <a:rPr lang="en-US" altLang="en-US" sz="3200" dirty="0"/>
              <a:t>Kernel Data Structures (1)</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a:xfrm>
            <a:off x="717083" y="815278"/>
            <a:ext cx="7531768" cy="3063703"/>
          </a:xfrm>
        </p:spPr>
        <p:txBody>
          <a:bodyPr/>
          <a:lstStyle/>
          <a:p>
            <a:pPr>
              <a:defRPr/>
            </a:pPr>
            <a:r>
              <a:rPr lang="en-US" sz="2000" dirty="0">
                <a:ea typeface="ＭＳ Ｐゴシック" charset="-128"/>
              </a:rPr>
              <a:t>Many similar to standard programming data structures</a:t>
            </a:r>
          </a:p>
          <a:p>
            <a:pPr>
              <a:defRPr/>
            </a:pPr>
            <a:r>
              <a:rPr lang="en-US" sz="2000" b="1" i="1" dirty="0">
                <a:ea typeface="ＭＳ Ｐゴシック" charset="-128"/>
              </a:rPr>
              <a:t>Singly linked list</a:t>
            </a:r>
          </a:p>
          <a:p>
            <a:pPr>
              <a:buFont typeface="Monotype Sorts" charset="0"/>
              <a:buChar char="n"/>
              <a:defRPr/>
            </a:pPr>
            <a:endParaRPr lang="en-US" sz="2000" dirty="0">
              <a:ea typeface="ＭＳ Ｐゴシック" charset="-128"/>
            </a:endParaRPr>
          </a:p>
          <a:p>
            <a:pPr marL="0" indent="0">
              <a:buNone/>
              <a:defRPr/>
            </a:pPr>
            <a:endParaRPr lang="en-US" sz="2000" dirty="0">
              <a:ea typeface="ＭＳ Ｐゴシック" charset="-128"/>
            </a:endParaRPr>
          </a:p>
          <a:p>
            <a:pPr>
              <a:defRPr/>
            </a:pPr>
            <a:r>
              <a:rPr lang="en-US" sz="2000" b="1" i="1" dirty="0">
                <a:ea typeface="ＭＳ Ｐゴシック" charset="-128"/>
              </a:rPr>
              <a:t>Doubly linked list</a:t>
            </a:r>
          </a:p>
          <a:p>
            <a:pPr>
              <a:buFont typeface="Monotype Sorts" charset="0"/>
              <a:buChar char="n"/>
              <a:defRPr/>
            </a:pPr>
            <a:endParaRPr lang="en-US" sz="2000" dirty="0">
              <a:ea typeface="ＭＳ Ｐゴシック" charset="-128"/>
            </a:endParaRPr>
          </a:p>
          <a:p>
            <a:pPr marL="0" indent="0">
              <a:buNone/>
              <a:defRPr/>
            </a:pPr>
            <a:endParaRPr lang="en-US" sz="2000" dirty="0">
              <a:ea typeface="ＭＳ Ｐゴシック" charset="-128"/>
            </a:endParaRPr>
          </a:p>
          <a:p>
            <a:pPr>
              <a:defRPr/>
            </a:pPr>
            <a:r>
              <a:rPr lang="en-US" sz="2000" b="1" i="1" dirty="0">
                <a:ea typeface="ＭＳ Ｐゴシック" charset="-128"/>
              </a:rPr>
              <a:t>Circular linked list</a:t>
            </a:r>
            <a:endParaRPr lang="en-US" sz="2000" dirty="0">
              <a:ea typeface="ＭＳ Ｐゴシック" charset="-128"/>
            </a:endParaRPr>
          </a:p>
          <a:p>
            <a:pPr marL="0" indent="0">
              <a:buNone/>
              <a:defRPr/>
            </a:pPr>
            <a:endParaRPr lang="en-US" sz="2000" dirty="0">
              <a:ea typeface="ＭＳ Ｐゴシック" charset="-128"/>
            </a:endParaRPr>
          </a:p>
          <a:p>
            <a:pPr>
              <a:buFont typeface="Monotype Sorts" charset="0"/>
              <a:buChar char="n"/>
              <a:defRPr/>
            </a:pPr>
            <a:endParaRPr lang="en-US" sz="2000"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78844" y="1734144"/>
            <a:ext cx="5199460"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8598" y="2724150"/>
            <a:ext cx="5269706" cy="71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46710" y="3741266"/>
            <a:ext cx="5131594"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5619DA0A-D8D5-1F75-C3C6-555A87D857D7}"/>
              </a:ext>
            </a:extLst>
          </p:cNvPr>
          <p:cNvSpPr>
            <a:spLocks noGrp="1"/>
          </p:cNvSpPr>
          <p:nvPr>
            <p:ph type="sldNum" sz="quarter" idx="10"/>
          </p:nvPr>
        </p:nvSpPr>
        <p:spPr/>
        <p:txBody>
          <a:bodyPr/>
          <a:lstStyle/>
          <a:p>
            <a:fld id="{D9B6BDF2-6896-4B98-8776-C18582F63BA5}" type="slidenum">
              <a:rPr lang="zh-TW" altLang="en-US" smtClean="0"/>
              <a:pPr/>
              <a:t>68</a:t>
            </a:fld>
            <a:endParaRPr lang="zh-TW" altLang="en-US"/>
          </a:p>
        </p:txBody>
      </p:sp>
    </p:spTree>
    <p:extLst>
      <p:ext uri="{BB962C8B-B14F-4D97-AF65-F5344CB8AC3E}">
        <p14:creationId xmlns:p14="http://schemas.microsoft.com/office/powerpoint/2010/main" val="16996380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904775" y="163116"/>
            <a:ext cx="6753325" cy="432197"/>
          </a:xfrm>
        </p:spPr>
        <p:txBody>
          <a:bodyPr/>
          <a:lstStyle/>
          <a:p>
            <a:r>
              <a:rPr lang="en-US" altLang="en-US" sz="3200" dirty="0"/>
              <a:t>Kernel Data Structures (2) </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1068404" y="789469"/>
            <a:ext cx="6278693" cy="1028699"/>
          </a:xfrm>
        </p:spPr>
        <p:txBody>
          <a:bodyPr/>
          <a:lstStyle/>
          <a:p>
            <a:r>
              <a:rPr lang="en-US" altLang="en-US" sz="2000" b="1" dirty="0">
                <a:solidFill>
                  <a:srgbClr val="3366FF"/>
                </a:solidFill>
              </a:rPr>
              <a:t>Binary search tree </a:t>
            </a:r>
            <a:r>
              <a:rPr lang="en-US" altLang="en-US" sz="2000" dirty="0"/>
              <a:t>left &lt;= right</a:t>
            </a:r>
          </a:p>
          <a:p>
            <a:pPr lvl="1"/>
            <a:r>
              <a:rPr lang="en-US" altLang="en-US" sz="1800" dirty="0"/>
              <a:t>Search performance is </a:t>
            </a:r>
            <a:r>
              <a:rPr lang="en-US" altLang="en-US" sz="1800" i="1" dirty="0"/>
              <a:t>O</a:t>
            </a:r>
            <a:r>
              <a:rPr lang="en-US" altLang="en-US" sz="1800" dirty="0"/>
              <a:t>(</a:t>
            </a:r>
            <a:r>
              <a:rPr lang="en-US" altLang="en-US" sz="1800" i="1" dirty="0"/>
              <a:t>n</a:t>
            </a:r>
            <a:r>
              <a:rPr lang="en-US" altLang="en-US" sz="1800" dirty="0"/>
              <a:t>)</a:t>
            </a:r>
          </a:p>
          <a:p>
            <a:pPr lvl="1"/>
            <a:r>
              <a:rPr lang="en-US" altLang="en-US" sz="1800" b="1" dirty="0">
                <a:solidFill>
                  <a:srgbClr val="3366FF"/>
                </a:solidFill>
              </a:rPr>
              <a:t>Balanced binary search tree </a:t>
            </a:r>
            <a:r>
              <a:rPr lang="en-US" altLang="en-US" sz="1800" dirty="0"/>
              <a:t>is </a:t>
            </a:r>
            <a:r>
              <a:rPr lang="en-US" altLang="en-US" sz="1800" i="1" dirty="0"/>
              <a:t>O</a:t>
            </a:r>
            <a:r>
              <a:rPr lang="en-US" altLang="en-US" sz="1800" dirty="0"/>
              <a:t>(</a:t>
            </a:r>
            <a:r>
              <a:rPr lang="en-US" altLang="en-US" sz="1800" i="1" dirty="0"/>
              <a:t>log n</a:t>
            </a:r>
            <a:r>
              <a:rPr lang="en-US" altLang="en-US" sz="1800" dirty="0"/>
              <a:t>)</a:t>
            </a:r>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5993" y="2091328"/>
            <a:ext cx="2732014" cy="213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B44EE6AD-1F0B-9C05-F53E-3276EEAD434A}"/>
              </a:ext>
            </a:extLst>
          </p:cNvPr>
          <p:cNvSpPr>
            <a:spLocks noGrp="1"/>
          </p:cNvSpPr>
          <p:nvPr>
            <p:ph type="sldNum" sz="quarter" idx="10"/>
          </p:nvPr>
        </p:nvSpPr>
        <p:spPr/>
        <p:txBody>
          <a:bodyPr/>
          <a:lstStyle/>
          <a:p>
            <a:fld id="{D9B6BDF2-6896-4B98-8776-C18582F63BA5}" type="slidenum">
              <a:rPr lang="zh-TW" altLang="en-US" smtClean="0"/>
              <a:pPr/>
              <a:t>69</a:t>
            </a:fld>
            <a:endParaRPr lang="zh-TW" altLang="en-US"/>
          </a:p>
        </p:txBody>
      </p:sp>
    </p:spTree>
    <p:extLst>
      <p:ext uri="{BB962C8B-B14F-4D97-AF65-F5344CB8AC3E}">
        <p14:creationId xmlns:p14="http://schemas.microsoft.com/office/powerpoint/2010/main" val="37847975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914400" y="163116"/>
            <a:ext cx="6743700" cy="432197"/>
          </a:xfrm>
        </p:spPr>
        <p:txBody>
          <a:bodyPr/>
          <a:lstStyle/>
          <a:p>
            <a:r>
              <a:rPr lang="en-US" altLang="en-US" sz="3200" dirty="0">
                <a:cs typeface="Calibri" panose="020F0502020204030204" pitchFamily="34" charset="0"/>
              </a:rPr>
              <a:t>Kernel Data Structures (3)</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1018067" y="925116"/>
            <a:ext cx="7509915" cy="3444866"/>
          </a:xfrm>
        </p:spPr>
        <p:txBody>
          <a:bodyPr/>
          <a:lstStyle/>
          <a:p>
            <a:r>
              <a:rPr lang="en-US" altLang="en-US" sz="2000" b="1" dirty="0">
                <a:solidFill>
                  <a:srgbClr val="3366FF"/>
                </a:solidFill>
              </a:rPr>
              <a:t>Hash function </a:t>
            </a:r>
            <a:r>
              <a:rPr lang="en-US" altLang="en-US" sz="2000" dirty="0"/>
              <a:t>can create a</a:t>
            </a:r>
            <a:r>
              <a:rPr lang="en-US" altLang="en-US" sz="2000" b="1" dirty="0">
                <a:solidFill>
                  <a:srgbClr val="3366FF"/>
                </a:solidFill>
              </a:rPr>
              <a:t> hash map</a:t>
            </a: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pPr marL="0" indent="0">
              <a:buNone/>
            </a:pPr>
            <a:endParaRPr lang="en-US" altLang="en-US" sz="2000" b="1" i="1" dirty="0">
              <a:solidFill>
                <a:srgbClr val="3366FF"/>
              </a:solidFill>
            </a:endParaRPr>
          </a:p>
          <a:p>
            <a:pPr>
              <a:buFont typeface="Monotype Sorts" pitchFamily="-84" charset="2"/>
              <a:buNone/>
            </a:pPr>
            <a:endParaRPr lang="en-US" altLang="en-US" sz="2000" b="1" i="1" dirty="0">
              <a:solidFill>
                <a:srgbClr val="3366FF"/>
              </a:solidFill>
            </a:endParaRPr>
          </a:p>
          <a:p>
            <a:r>
              <a:rPr lang="en-US" altLang="en-US" sz="2000" b="1" dirty="0">
                <a:solidFill>
                  <a:srgbClr val="3366FF"/>
                </a:solidFill>
              </a:rPr>
              <a:t>Bitmap</a:t>
            </a:r>
            <a:r>
              <a:rPr lang="en-US" altLang="en-US" sz="2000" dirty="0"/>
              <a:t> – string of </a:t>
            </a:r>
            <a:r>
              <a:rPr lang="en-US" altLang="en-US" sz="2000" i="1" dirty="0"/>
              <a:t>n</a:t>
            </a:r>
            <a:r>
              <a:rPr lang="en-US" altLang="en-US" sz="2000" dirty="0"/>
              <a:t> binary digits representing the status of </a:t>
            </a:r>
            <a:r>
              <a:rPr lang="en-US" altLang="en-US" sz="2000" i="1" dirty="0"/>
              <a:t>n</a:t>
            </a:r>
            <a:r>
              <a:rPr lang="en-US" altLang="en-US" sz="2000" dirty="0"/>
              <a:t> items</a:t>
            </a:r>
          </a:p>
          <a:p>
            <a:r>
              <a:rPr lang="en-US" altLang="en-US" sz="2000" dirty="0"/>
              <a:t>Linux data structures defined in </a:t>
            </a:r>
            <a:r>
              <a:rPr lang="en-US" altLang="en-US" sz="2000" b="1" i="1" dirty="0"/>
              <a:t>include</a:t>
            </a:r>
            <a:r>
              <a:rPr lang="en-US" altLang="en-US" sz="2000" dirty="0"/>
              <a:t> files </a:t>
            </a:r>
            <a:r>
              <a:rPr lang="en-US" altLang="en-US" sz="2000" dirty="0">
                <a:latin typeface="Courier New" panose="02070309020205020404" pitchFamily="49" charset="0"/>
                <a:cs typeface="Courier New" panose="02070309020205020404" pitchFamily="49" charset="0"/>
              </a:rPr>
              <a:t>&lt;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list.h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kfifo.h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rbtree.h</a:t>
            </a:r>
            <a:r>
              <a:rPr lang="en-US" altLang="en-US" sz="2000" dirty="0">
                <a:latin typeface="Courier New" panose="02070309020205020404" pitchFamily="49" charset="0"/>
                <a:cs typeface="Courier New" panose="02070309020205020404" pitchFamily="49" charset="0"/>
              </a:rPr>
              <a:t>&gt;</a:t>
            </a:r>
            <a:endParaRPr lang="en-US" altLang="en-US" sz="2000" dirty="0"/>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2244" y="1445919"/>
            <a:ext cx="3655219"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A2569EB-5B83-0335-A8EA-848E6CF60733}"/>
              </a:ext>
            </a:extLst>
          </p:cNvPr>
          <p:cNvSpPr>
            <a:spLocks noGrp="1"/>
          </p:cNvSpPr>
          <p:nvPr>
            <p:ph type="sldNum" sz="quarter" idx="10"/>
          </p:nvPr>
        </p:nvSpPr>
        <p:spPr/>
        <p:txBody>
          <a:bodyPr/>
          <a:lstStyle/>
          <a:p>
            <a:fld id="{D9B6BDF2-6896-4B98-8776-C18582F63BA5}" type="slidenum">
              <a:rPr lang="zh-TW" altLang="en-US" smtClean="0"/>
              <a:pPr/>
              <a:t>70</a:t>
            </a:fld>
            <a:endParaRPr lang="zh-TW" altLang="en-US"/>
          </a:p>
        </p:txBody>
      </p:sp>
    </p:spTree>
    <p:extLst>
      <p:ext uri="{BB962C8B-B14F-4D97-AF65-F5344CB8AC3E}">
        <p14:creationId xmlns:p14="http://schemas.microsoft.com/office/powerpoint/2010/main" val="23373518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95B4141-7440-A3FD-7C2A-2971C5242A0D}"/>
              </a:ext>
            </a:extLst>
          </p:cNvPr>
          <p:cNvSpPr>
            <a:spLocks noGrp="1"/>
          </p:cNvSpPr>
          <p:nvPr>
            <p:ph type="sldNum" sz="quarter" idx="10"/>
          </p:nvPr>
        </p:nvSpPr>
        <p:spPr/>
        <p:txBody>
          <a:bodyPr/>
          <a:lstStyle/>
          <a:p>
            <a:fld id="{D9B6BDF2-6896-4B98-8776-C18582F63BA5}" type="slidenum">
              <a:rPr lang="zh-TW" altLang="en-US" smtClean="0"/>
              <a:pPr/>
              <a:t>71</a:t>
            </a:fld>
            <a:endParaRPr lang="zh-TW" altLang="en-US"/>
          </a:p>
        </p:txBody>
      </p:sp>
      <p:sp>
        <p:nvSpPr>
          <p:cNvPr id="5" name="Rectangle 2">
            <a:extLst>
              <a:ext uri="{FF2B5EF4-FFF2-40B4-BE49-F238E27FC236}">
                <a16:creationId xmlns:a16="http://schemas.microsoft.com/office/drawing/2014/main" id="{78256E24-10D0-2DC9-F2CB-CB3430051D5A}"/>
              </a:ext>
            </a:extLst>
          </p:cNvPr>
          <p:cNvSpPr txBox="1">
            <a:spLocks noChangeArrowheads="1"/>
          </p:cNvSpPr>
          <p:nvPr/>
        </p:nvSpPr>
        <p:spPr bwMode="auto">
          <a:xfrm>
            <a:off x="435543" y="2757037"/>
            <a:ext cx="7772400" cy="15954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kern="0" dirty="0"/>
              <a:t>End of </a:t>
            </a:r>
            <a:r>
              <a:rPr lang="en-US" altLang="en-US" kern="0"/>
              <a:t>Chapter 1</a:t>
            </a:r>
            <a:endParaRPr lang="en-US" altLang="en-US" kern="0" dirty="0"/>
          </a:p>
        </p:txBody>
      </p:sp>
    </p:spTree>
    <p:extLst>
      <p:ext uri="{BB962C8B-B14F-4D97-AF65-F5344CB8AC3E}">
        <p14:creationId xmlns:p14="http://schemas.microsoft.com/office/powerpoint/2010/main" val="14316067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2538</TotalTime>
  <Words>4151</Words>
  <Application>Microsoft Office PowerPoint</Application>
  <PresentationFormat>全屏显示(16:9)</PresentationFormat>
  <Paragraphs>527</Paragraphs>
  <Slides>71</Slides>
  <Notes>56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71</vt:i4>
      </vt:variant>
    </vt:vector>
  </HeadingPairs>
  <TitlesOfParts>
    <vt:vector size="82" baseType="lpstr">
      <vt:lpstr>Monotype Sorts</vt:lpstr>
      <vt:lpstr>ＭＳ Ｐゴシック</vt:lpstr>
      <vt:lpstr>MS Sans Serif</vt:lpstr>
      <vt:lpstr>Arial</vt:lpstr>
      <vt:lpstr>Calibri</vt:lpstr>
      <vt:lpstr>Courier New</vt:lpstr>
      <vt:lpstr>Times New Roman</vt:lpstr>
      <vt:lpstr>Verdana</vt:lpstr>
      <vt:lpstr>Wingdings</vt:lpstr>
      <vt:lpstr>Wingdings 3</vt:lpstr>
      <vt:lpstr>NTHU UniCloud</vt:lpstr>
      <vt:lpstr>CSC3150 – Operating Systems</vt:lpstr>
      <vt:lpstr>Introduction</vt:lpstr>
      <vt:lpstr>Objectives</vt:lpstr>
      <vt:lpstr>What Does Operating System Mean</vt:lpstr>
      <vt:lpstr>What is an Operating System</vt:lpstr>
      <vt:lpstr>Computer System Structure</vt:lpstr>
      <vt:lpstr>Abstraction View of Components of Computers</vt:lpstr>
      <vt:lpstr>What Operating Systems Do (1)</vt:lpstr>
      <vt:lpstr>What Operating Systems Do (2)</vt:lpstr>
      <vt:lpstr>Operating System Definition (1)</vt:lpstr>
      <vt:lpstr>Operating System Definition (2)</vt:lpstr>
      <vt:lpstr>Operating System Definition (3)</vt:lpstr>
      <vt:lpstr>Computer System Organization</vt:lpstr>
      <vt:lpstr>Computer System Operation</vt:lpstr>
      <vt:lpstr>Common Functions of Interrupts</vt:lpstr>
      <vt:lpstr>Interrupt Timeline</vt:lpstr>
      <vt:lpstr>Interrupt Handling</vt:lpstr>
      <vt:lpstr>Interrupt-Drive I/O Cycle</vt:lpstr>
      <vt:lpstr>I/O Structure (1)</vt:lpstr>
      <vt:lpstr>I/O Structure (2)</vt:lpstr>
      <vt:lpstr>Computer Startup</vt:lpstr>
      <vt:lpstr>Storage Structure (1)</vt:lpstr>
      <vt:lpstr>Storage Structure (2)</vt:lpstr>
      <vt:lpstr>Storage Definitions and Notation Review</vt:lpstr>
      <vt:lpstr>Storage Hierarchy</vt:lpstr>
      <vt:lpstr>Storage-Device Hierarchy</vt:lpstr>
      <vt:lpstr>How a Modern Computer Work</vt:lpstr>
      <vt:lpstr>Direct Memory Access Structure</vt:lpstr>
      <vt:lpstr>Operating System Operations</vt:lpstr>
      <vt:lpstr>Multiprogramming (Batch System)</vt:lpstr>
      <vt:lpstr>Multitasking (Timesharing)</vt:lpstr>
      <vt:lpstr>Memory Layout for Multiprogrammed System</vt:lpstr>
      <vt:lpstr>Dual-Mode Operation (1)</vt:lpstr>
      <vt:lpstr>Dual-Mode Operation (2)</vt:lpstr>
      <vt:lpstr>Timer</vt:lpstr>
      <vt:lpstr>Process Management</vt:lpstr>
      <vt:lpstr>Process Management Activities</vt:lpstr>
      <vt:lpstr>Memory Management</vt:lpstr>
      <vt:lpstr>Caching</vt:lpstr>
      <vt:lpstr>Migration of Data “A” from Disk to Register</vt:lpstr>
      <vt:lpstr>File-System Management</vt:lpstr>
      <vt:lpstr>Mass-Storage Management</vt:lpstr>
      <vt:lpstr>Characteristics of Various Types of Storage</vt:lpstr>
      <vt:lpstr>I/O Subsystem</vt:lpstr>
      <vt:lpstr>Protection and Security</vt:lpstr>
      <vt:lpstr>Virtualization (1)</vt:lpstr>
      <vt:lpstr>Virtualization (2)</vt:lpstr>
      <vt:lpstr>Computing Environments - Virtualization</vt:lpstr>
      <vt:lpstr>Distributed Systems</vt:lpstr>
      <vt:lpstr>Computer-System Architecture</vt:lpstr>
      <vt:lpstr>Symmetric Multiprocessing Architecture</vt:lpstr>
      <vt:lpstr>Dual-Core Design</vt:lpstr>
      <vt:lpstr>Non-Uniform Memory Access System</vt:lpstr>
      <vt:lpstr>Clustered Systems (1)</vt:lpstr>
      <vt:lpstr>Clustered Systems (2)</vt:lpstr>
      <vt:lpstr>PC Motherboard</vt:lpstr>
      <vt:lpstr>Computing Environments</vt:lpstr>
      <vt:lpstr>Computing Environments - Traditional</vt:lpstr>
      <vt:lpstr>Computing Environments - Mobile</vt:lpstr>
      <vt:lpstr>Computing Environments - Client Server</vt:lpstr>
      <vt:lpstr>Computing Environments - Peer-to-Peer</vt:lpstr>
      <vt:lpstr>Computing Environments - Cloud Computing (1)</vt:lpstr>
      <vt:lpstr>Computing Environments - Cloud Computing (2)</vt:lpstr>
      <vt:lpstr>PowerPoint 演示文稿</vt:lpstr>
      <vt:lpstr>Computing Environments - Real-Time Embedded Systems</vt:lpstr>
      <vt:lpstr>Free and Open-Source Operating Systems</vt:lpstr>
      <vt:lpstr>The Study of Operating Systems</vt:lpstr>
      <vt:lpstr>Kernel Data Structures (1)</vt:lpstr>
      <vt:lpstr>Kernel Data Structures (2) </vt:lpstr>
      <vt:lpstr>Kernel Data Structures (3)</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288</cp:revision>
  <dcterms:created xsi:type="dcterms:W3CDTF">2015-06-05T07:23:35Z</dcterms:created>
  <dcterms:modified xsi:type="dcterms:W3CDTF">2025-07-25T03:24:52Z</dcterms:modified>
</cp:coreProperties>
</file>