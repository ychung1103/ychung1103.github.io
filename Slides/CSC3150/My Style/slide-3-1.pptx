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256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7" r:id="rId10"/>
    <p:sldId id="419" r:id="rId11"/>
    <p:sldId id="469" r:id="rId12"/>
    <p:sldId id="421" r:id="rId13"/>
    <p:sldId id="422" r:id="rId14"/>
    <p:sldId id="423" r:id="rId15"/>
    <p:sldId id="501" r:id="rId16"/>
    <p:sldId id="500" r:id="rId17"/>
    <p:sldId id="426" r:id="rId18"/>
    <p:sldId id="428" r:id="rId19"/>
    <p:sldId id="429" r:id="rId20"/>
    <p:sldId id="431" r:id="rId21"/>
    <p:sldId id="430" r:id="rId22"/>
    <p:sldId id="432" r:id="rId23"/>
    <p:sldId id="478" r:id="rId24"/>
    <p:sldId id="434" r:id="rId25"/>
    <p:sldId id="471" r:id="rId26"/>
    <p:sldId id="502" r:id="rId27"/>
    <p:sldId id="435" r:id="rId28"/>
    <p:sldId id="436" r:id="rId29"/>
    <p:sldId id="437" r:id="rId30"/>
    <p:sldId id="516" r:id="rId31"/>
    <p:sldId id="503" r:id="rId32"/>
    <p:sldId id="490" r:id="rId33"/>
    <p:sldId id="491" r:id="rId34"/>
    <p:sldId id="492" r:id="rId35"/>
    <p:sldId id="521" r:id="rId36"/>
    <p:sldId id="522" r:id="rId37"/>
    <p:sldId id="523" r:id="rId38"/>
    <p:sldId id="524" r:id="rId39"/>
    <p:sldId id="525" r:id="rId4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32" y="26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252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2025/7/25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2025/7/25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0D38BF-69C0-4827-8412-7858C3DF1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4858F79-C01D-482F-8DDE-C80780DD0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012D2EB-E5CC-432C-AA35-77EFC9F89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3456285-A128-4E7C-BB44-15A078AA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D856385-0064-4BB9-8988-568621472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89C8C6F-0009-4DC3-B43A-17955C7C8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9629EB-AB81-479E-8FE7-E7DEFE839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6953B83-564C-41A0-B89B-0BB8D611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336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A1752F3-9769-4F81-A848-54098A15C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831E14A-C331-4555-A8C3-1457C596F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0ABAF6A-CE19-4868-B5E3-A38DB65B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3351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D3C1504-DE2D-4887-8827-E09054DAE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F122118-23A7-4491-BF21-7CA9F458B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6BB2CE-B3E7-43A0-B4C8-E70E2791B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399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8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–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TW" sz="2400"/>
              <a:t>Data Science</a:t>
            </a:r>
            <a:endParaRPr lang="en-US" altLang="zh-TW" sz="2400" dirty="0"/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86CFC-5101-70C9-B3E7-FE5067F824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71451"/>
            <a:ext cx="624721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1400" y="862013"/>
            <a:ext cx="6546454" cy="3032654"/>
          </a:xfrm>
        </p:spPr>
        <p:txBody>
          <a:bodyPr/>
          <a:lstStyle/>
          <a:p>
            <a:r>
              <a:rPr lang="en-US" altLang="en-US" sz="2000" dirty="0"/>
              <a:t>Process Concept</a:t>
            </a:r>
          </a:p>
          <a:p>
            <a:r>
              <a:rPr lang="en-US" altLang="en-US" sz="2000" dirty="0"/>
              <a:t>Process Scheduling</a:t>
            </a:r>
          </a:p>
          <a:p>
            <a:r>
              <a:rPr lang="en-US" altLang="en-US" sz="2000" dirty="0"/>
              <a:t>Operations on Processes</a:t>
            </a:r>
          </a:p>
          <a:p>
            <a:r>
              <a:rPr lang="en-US" altLang="en-US" sz="2000" dirty="0"/>
              <a:t>Interprocess Communication</a:t>
            </a:r>
          </a:p>
          <a:p>
            <a:r>
              <a:rPr lang="en-US" altLang="en-US" sz="2000" dirty="0"/>
              <a:t>IPC in Shared-Memory Systems</a:t>
            </a:r>
          </a:p>
          <a:p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IPC in Message-Passing Systems</a:t>
            </a:r>
          </a:p>
          <a:p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Examples of IPC Systems</a:t>
            </a:r>
          </a:p>
          <a:p>
            <a:r>
              <a:rPr lang="en-US" altLang="en-US" sz="2000" dirty="0">
                <a:solidFill>
                  <a:schemeClr val="bg1">
                    <a:lumMod val="75000"/>
                  </a:schemeClr>
                </a:solidFill>
              </a:rPr>
              <a:t>Communication in Client-Server Systems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2929CD-85D8-5B9F-86E1-39200F7A6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467" y="177403"/>
            <a:ext cx="6760633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7238" y="828278"/>
            <a:ext cx="7355495" cy="357439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1800" dirty="0"/>
              <a:t>Identify the separate components of a process and illustrate how they are represented and scheduled in an operating system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Describe how processes are created and terminated in an operating system, including developing programs using the appropriate system calls that perform these operations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Describe and contrast interprocess communication using shared memory and message passing</a:t>
            </a:r>
          </a:p>
          <a:p>
            <a:pPr>
              <a:spcBef>
                <a:spcPts val="0"/>
              </a:spcBef>
            </a:pPr>
            <a:r>
              <a:rPr lang="en-US" altLang="en-US" sz="1800" dirty="0">
                <a:solidFill>
                  <a:schemeClr val="bg1">
                    <a:lumMod val="75000"/>
                  </a:schemeClr>
                </a:solidFill>
              </a:rPr>
              <a:t>Design programs that uses pipes and POSIX shared memory to perform interprocess communication</a:t>
            </a:r>
          </a:p>
          <a:p>
            <a:pPr>
              <a:spcBef>
                <a:spcPts val="0"/>
              </a:spcBef>
            </a:pPr>
            <a:r>
              <a:rPr lang="en-US" altLang="en-US" sz="1800" dirty="0">
                <a:solidFill>
                  <a:schemeClr val="bg1">
                    <a:lumMod val="75000"/>
                  </a:schemeClr>
                </a:solidFill>
              </a:rPr>
              <a:t>Describe client-server communication using sockets and remote procedure calls</a:t>
            </a:r>
          </a:p>
          <a:p>
            <a:pPr>
              <a:spcBef>
                <a:spcPts val="0"/>
              </a:spcBef>
            </a:pPr>
            <a:r>
              <a:rPr lang="en-US" altLang="en-US" sz="1800" dirty="0">
                <a:solidFill>
                  <a:schemeClr val="bg1">
                    <a:lumMod val="75000"/>
                  </a:schemeClr>
                </a:solidFill>
              </a:rPr>
              <a:t>Design kernel modules that interact with the Linux operating system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0AA976-FBCD-5B13-4DB5-0AF547F11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0533" y="166688"/>
            <a:ext cx="6025092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Concept (1)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199" y="829509"/>
            <a:ext cx="8043333" cy="364935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An operating system executes a variety of programs that run as a process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Process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– a program in execution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Process execution must progress in a sequential fashion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No parallel execution of instructions in a  single process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Multiple parts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The program code, also called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text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section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Current activity including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program</a:t>
            </a: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counter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, processor registers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Stack</a:t>
            </a: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containing temporary data</a:t>
            </a:r>
          </a:p>
          <a:p>
            <a:pPr lvl="2"/>
            <a:r>
              <a:rPr lang="en-US" altLang="en-US" sz="1600" dirty="0">
                <a:ea typeface="+mn-ea"/>
              </a:rPr>
              <a:t>Function parameters, return addresses, local variables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Data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section</a:t>
            </a: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containing global variables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Heap</a:t>
            </a: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containing memory dynamically allocated during run time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FC0AF0-338D-889E-D6D3-5F68180FE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172641"/>
            <a:ext cx="601662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Concept (2)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902495"/>
            <a:ext cx="7620000" cy="2856706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A program (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an executable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file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) is a passive entity stored on disk 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A program becomes a process when it is loaded into memory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Execution of program started via GUI mouse clicks, command line entry of its name, etc.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One program can be several processes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Consider multiple users executing the same program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E6D434-59E7-594E-A48A-C18B3EF21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0533" y="166688"/>
            <a:ext cx="677756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800" y="1026387"/>
            <a:ext cx="2098279" cy="3357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0FFFE8-6292-D41C-0737-3C21DB249A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0533" y="147298"/>
            <a:ext cx="7125910" cy="432197"/>
          </a:xfrm>
        </p:spPr>
        <p:txBody>
          <a:bodyPr/>
          <a:lstStyle/>
          <a:p>
            <a:r>
              <a:rPr lang="en-US" altLang="en-US" sz="3200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352" y="1016000"/>
            <a:ext cx="7057464" cy="335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05BDB0-47D3-73ED-2981-18D8D9CF70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467" y="171451"/>
            <a:ext cx="595458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States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7467" y="799176"/>
            <a:ext cx="7154334" cy="178965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As a process executes, it changes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state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New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:  The process is being created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Ready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:  The process is waiting to be assigned to a processor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Running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:  Instructions are being executed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Waiting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:  The process is waiting for some event to occur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Terminated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:  The process has finished execution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D957BC-C03E-79EB-2155-F79C74458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39021E48-109A-C04C-94AE-E05C970A72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725" y="2784362"/>
            <a:ext cx="4501122" cy="1754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333" y="145427"/>
            <a:ext cx="672676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334" y="844979"/>
            <a:ext cx="7283843" cy="32020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Information associated with each process (also called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task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control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block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), including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Process state – running, waiting, etc.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Program counter – location of instruction to next execute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CPU registers – contents of all process-centric registers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CPU scheduling information- priorities, scheduling queue pointers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Memory-management information – memory allocated to the process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Accounting information – CPU used, clock time elapsed since start, time limits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I/O status information – I/O devices allocated to process, list of open files</a:t>
            </a:r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177" y="1265938"/>
            <a:ext cx="1607154" cy="261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45393A-2E77-7E31-FEDE-903B26DB4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5" y="172641"/>
            <a:ext cx="659537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0441" y="798898"/>
            <a:ext cx="7683046" cy="2781402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So far, process has a single thread of execution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Consider having multiple program counters per process</a:t>
            </a:r>
          </a:p>
          <a:p>
            <a:pPr lvl="1"/>
            <a:r>
              <a:rPr lang="en-US" altLang="en-US" sz="2000" dirty="0">
                <a:ea typeface="+mn-ea"/>
                <a:cs typeface="Calibri" panose="020F0502020204030204" pitchFamily="34" charset="0"/>
              </a:rPr>
              <a:t>Multiple locations can execute at once</a:t>
            </a:r>
          </a:p>
          <a:p>
            <a:pPr lvl="2"/>
            <a:r>
              <a:rPr lang="en-US" altLang="en-US" dirty="0">
                <a:ea typeface="+mn-ea"/>
              </a:rPr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ea typeface="+mn-ea"/>
              </a:rPr>
              <a:t>threads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Must then have storage for thread details, multiple program counters in PCB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Explore details in Chapter 4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50E738-A796-C752-4AC0-75A998D46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49B161E-EAED-4DCF-B609-D8AB274D0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1451"/>
            <a:ext cx="6972501" cy="432197"/>
          </a:xfrm>
        </p:spPr>
        <p:txBody>
          <a:bodyPr/>
          <a:lstStyle/>
          <a:p>
            <a:r>
              <a:rPr lang="en-US" altLang="en-US" sz="3200" dirty="0"/>
              <a:t>Process Representation in Linux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363C44F-7AD0-4380-824D-C4E77F3B3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35638" y="802429"/>
            <a:ext cx="6134899" cy="2135975"/>
          </a:xfrm>
        </p:spPr>
        <p:txBody>
          <a:bodyPr/>
          <a:lstStyle/>
          <a:p>
            <a:r>
              <a:rPr lang="en-US" altLang="en-US" sz="2000" b="1" dirty="0">
                <a:cs typeface="Calibri" panose="020F0502020204030204" pitchFamily="34" charset="0"/>
              </a:rPr>
              <a:t>Represented by the C structure </a:t>
            </a:r>
            <a:r>
              <a:rPr lang="en-US" altLang="en-US" sz="2000" b="1" dirty="0" err="1">
                <a:cs typeface="Calibri" panose="020F0502020204030204" pitchFamily="34" charset="0"/>
              </a:rPr>
              <a:t>task_struct</a:t>
            </a:r>
            <a:br>
              <a:rPr lang="en-US" altLang="en-US" sz="2000" b="1" dirty="0">
                <a:cs typeface="Calibri" panose="020F0502020204030204" pitchFamily="34" charset="0"/>
              </a:rPr>
            </a:br>
            <a:r>
              <a:rPr lang="en-US" altLang="en-US" sz="1600" b="1" dirty="0" err="1">
                <a:cs typeface="Calibri" panose="020F0502020204030204" pitchFamily="34" charset="0"/>
              </a:rPr>
              <a:t>pid</a:t>
            </a:r>
            <a:r>
              <a:rPr lang="en-US" altLang="en-US" sz="1600" b="1" dirty="0">
                <a:cs typeface="Calibri" panose="020F0502020204030204" pitchFamily="34" charset="0"/>
              </a:rPr>
              <a:t> </a:t>
            </a:r>
            <a:r>
              <a:rPr lang="en-US" altLang="en-US" sz="1600" b="1" dirty="0" err="1">
                <a:cs typeface="Calibri" panose="020F0502020204030204" pitchFamily="34" charset="0"/>
              </a:rPr>
              <a:t>t_pid</a:t>
            </a:r>
            <a:r>
              <a:rPr lang="en-US" altLang="en-US" sz="1600" b="1" dirty="0">
                <a:cs typeface="Calibri" panose="020F0502020204030204" pitchFamily="34" charset="0"/>
              </a:rPr>
              <a:t>; 			/* process identifier */ </a:t>
            </a:r>
            <a:br>
              <a:rPr lang="en-US" altLang="en-US" sz="1600" b="1" dirty="0">
                <a:cs typeface="Calibri" panose="020F0502020204030204" pitchFamily="34" charset="0"/>
              </a:rPr>
            </a:br>
            <a:r>
              <a:rPr lang="en-US" altLang="en-US" sz="1600" b="1" dirty="0">
                <a:cs typeface="Calibri" panose="020F0502020204030204" pitchFamily="34" charset="0"/>
              </a:rPr>
              <a:t>long state; 			/* state of the process */ </a:t>
            </a:r>
            <a:br>
              <a:rPr lang="en-US" altLang="en-US" sz="1600" b="1" dirty="0">
                <a:cs typeface="Calibri" panose="020F0502020204030204" pitchFamily="34" charset="0"/>
              </a:rPr>
            </a:br>
            <a:r>
              <a:rPr lang="en-US" altLang="en-US" sz="1600" b="1" dirty="0">
                <a:cs typeface="Calibri" panose="020F0502020204030204" pitchFamily="34" charset="0"/>
              </a:rPr>
              <a:t>unsigned int </a:t>
            </a:r>
            <a:r>
              <a:rPr lang="en-US" altLang="en-US" sz="1600" b="1" dirty="0" err="1">
                <a:cs typeface="Calibri" panose="020F0502020204030204" pitchFamily="34" charset="0"/>
              </a:rPr>
              <a:t>time_slice</a:t>
            </a:r>
            <a:r>
              <a:rPr lang="en-US" altLang="en-US" sz="1600" b="1" dirty="0">
                <a:cs typeface="Calibri" panose="020F0502020204030204" pitchFamily="34" charset="0"/>
              </a:rPr>
              <a:t> 	/* scheduling information */ </a:t>
            </a:r>
            <a:br>
              <a:rPr lang="en-US" altLang="en-US" sz="1600" b="1" dirty="0">
                <a:cs typeface="Calibri" panose="020F0502020204030204" pitchFamily="34" charset="0"/>
              </a:rPr>
            </a:br>
            <a:r>
              <a:rPr lang="en-US" altLang="en-US" sz="1600" b="1" dirty="0">
                <a:cs typeface="Calibri" panose="020F0502020204030204" pitchFamily="34" charset="0"/>
              </a:rPr>
              <a:t>struct </a:t>
            </a:r>
            <a:r>
              <a:rPr lang="en-US" altLang="en-US" sz="1600" b="1" dirty="0" err="1">
                <a:cs typeface="Calibri" panose="020F0502020204030204" pitchFamily="34" charset="0"/>
              </a:rPr>
              <a:t>task_struct</a:t>
            </a:r>
            <a:r>
              <a:rPr lang="en-US" altLang="en-US" sz="1600" b="1" dirty="0">
                <a:cs typeface="Calibri" panose="020F0502020204030204" pitchFamily="34" charset="0"/>
              </a:rPr>
              <a:t> *parent;/* this process</a:t>
            </a:r>
            <a:r>
              <a:rPr lang="ja-JP" altLang="en-US" sz="1600" b="1" dirty="0">
                <a:cs typeface="Calibri" panose="020F0502020204030204" pitchFamily="34" charset="0"/>
              </a:rPr>
              <a:t>’</a:t>
            </a:r>
            <a:r>
              <a:rPr lang="en-US" altLang="ja-JP" sz="1600" b="1" dirty="0">
                <a:cs typeface="Calibri" panose="020F0502020204030204" pitchFamily="34" charset="0"/>
              </a:rPr>
              <a:t>s parent */ </a:t>
            </a:r>
            <a:br>
              <a:rPr lang="en-US" altLang="ja-JP" sz="1600" b="1" dirty="0">
                <a:cs typeface="Calibri" panose="020F0502020204030204" pitchFamily="34" charset="0"/>
              </a:rPr>
            </a:br>
            <a:r>
              <a:rPr lang="en-US" altLang="ja-JP" sz="1600" b="1" dirty="0">
                <a:cs typeface="Calibri" panose="020F0502020204030204" pitchFamily="34" charset="0"/>
              </a:rPr>
              <a:t>struct </a:t>
            </a:r>
            <a:r>
              <a:rPr lang="en-US" altLang="ja-JP" sz="1600" b="1" dirty="0" err="1">
                <a:cs typeface="Calibri" panose="020F0502020204030204" pitchFamily="34" charset="0"/>
              </a:rPr>
              <a:t>list_head</a:t>
            </a:r>
            <a:r>
              <a:rPr lang="en-US" altLang="ja-JP" sz="1600" b="1" dirty="0">
                <a:cs typeface="Calibri" panose="020F0502020204030204" pitchFamily="34" charset="0"/>
              </a:rPr>
              <a:t> children; /* this process</a:t>
            </a:r>
            <a:r>
              <a:rPr lang="ja-JP" altLang="en-US" sz="1600" b="1" dirty="0">
                <a:cs typeface="Calibri" panose="020F0502020204030204" pitchFamily="34" charset="0"/>
              </a:rPr>
              <a:t>’</a:t>
            </a:r>
            <a:r>
              <a:rPr lang="en-US" altLang="ja-JP" sz="1600" b="1" dirty="0">
                <a:cs typeface="Calibri" panose="020F0502020204030204" pitchFamily="34" charset="0"/>
              </a:rPr>
              <a:t>s children */ </a:t>
            </a:r>
            <a:br>
              <a:rPr lang="en-US" altLang="ja-JP" sz="1600" b="1" dirty="0">
                <a:cs typeface="Calibri" panose="020F0502020204030204" pitchFamily="34" charset="0"/>
              </a:rPr>
            </a:br>
            <a:r>
              <a:rPr lang="en-US" altLang="ja-JP" sz="1600" b="1" dirty="0">
                <a:cs typeface="Calibri" panose="020F0502020204030204" pitchFamily="34" charset="0"/>
              </a:rPr>
              <a:t>struct </a:t>
            </a:r>
            <a:r>
              <a:rPr lang="en-US" altLang="ja-JP" sz="1600" b="1" dirty="0" err="1">
                <a:cs typeface="Calibri" panose="020F0502020204030204" pitchFamily="34" charset="0"/>
              </a:rPr>
              <a:t>files_struct</a:t>
            </a:r>
            <a:r>
              <a:rPr lang="en-US" altLang="ja-JP" sz="1600" b="1" dirty="0">
                <a:cs typeface="Calibri" panose="020F0502020204030204" pitchFamily="34" charset="0"/>
              </a:rPr>
              <a:t> *files;/* list of open files */ </a:t>
            </a:r>
            <a:br>
              <a:rPr lang="en-US" altLang="ja-JP" sz="1600" b="1" dirty="0">
                <a:cs typeface="Calibri" panose="020F0502020204030204" pitchFamily="34" charset="0"/>
              </a:rPr>
            </a:br>
            <a:r>
              <a:rPr lang="en-US" altLang="ja-JP" sz="1600" b="1" dirty="0">
                <a:cs typeface="Calibri" panose="020F0502020204030204" pitchFamily="34" charset="0"/>
              </a:rPr>
              <a:t>struct </a:t>
            </a:r>
            <a:r>
              <a:rPr lang="en-US" altLang="ja-JP" sz="1600" b="1" dirty="0" err="1">
                <a:cs typeface="Calibri" panose="020F0502020204030204" pitchFamily="34" charset="0"/>
              </a:rPr>
              <a:t>mm_struct</a:t>
            </a:r>
            <a:r>
              <a:rPr lang="en-US" altLang="ja-JP" sz="1600" b="1" dirty="0">
                <a:cs typeface="Calibri" panose="020F0502020204030204" pitchFamily="34" charset="0"/>
              </a:rPr>
              <a:t> *mm; 	/* address space of this process */</a:t>
            </a:r>
            <a:endParaRPr lang="en-US" altLang="en-US" sz="1600" b="1" dirty="0">
              <a:cs typeface="Calibri" panose="020F0502020204030204" pitchFamily="34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88" y="3040936"/>
            <a:ext cx="4325925" cy="1489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F9C8D4-4411-969A-82FD-4E134CCFE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29099"/>
            <a:ext cx="680115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0279" y="839562"/>
            <a:ext cx="7411452" cy="3135671"/>
          </a:xfrm>
        </p:spPr>
        <p:txBody>
          <a:bodyPr/>
          <a:lstStyle/>
          <a:p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Process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scheduler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selects among available processes for next execution on CPU core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Goal -- Maximize CPU use, quickly switch processes onto CPU core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Maintains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scheduling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queues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of processes</a:t>
            </a:r>
          </a:p>
          <a:p>
            <a:pPr lvl="1"/>
            <a:r>
              <a:rPr lang="en-US" altLang="en-US" sz="18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Ready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queue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– set of all processes residing in main memory, ready and waiting to execute</a:t>
            </a:r>
          </a:p>
          <a:p>
            <a:pPr lvl="1"/>
            <a:r>
              <a:rPr lang="en-US" altLang="en-US" sz="18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Wait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queues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– set of processes waiting for an event (i.e., I/O)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Processes migrate among the various queues</a:t>
            </a:r>
          </a:p>
          <a:p>
            <a:pPr marL="0" indent="0">
              <a:buNone/>
            </a:pPr>
            <a:endParaRPr lang="en-US" altLang="en-US" sz="2000" dirty="0"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E00DA5-43F3-8068-9987-E080E6D10A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0393" y="175311"/>
            <a:ext cx="5693569" cy="431082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Ready and Waiting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5" y="866274"/>
            <a:ext cx="6019696" cy="358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63B46F-1F70-1CAD-F20A-EC6CBB16A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70260"/>
            <a:ext cx="704710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184" y="895708"/>
            <a:ext cx="6247785" cy="3605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52E8A6-AB95-2F6B-D7D2-263977A96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73832"/>
            <a:ext cx="666382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025" y="831056"/>
            <a:ext cx="7661710" cy="3529188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When CPU switches to another process, the system must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save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the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state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of the old process and load the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saved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state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for the new process via a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context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switch</a:t>
            </a:r>
          </a:p>
          <a:p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Context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of a process represented in the PCB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Context-switch time is pure overhead; the system does no useful work while switching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The more complex the OS and the PCB </a:t>
            </a:r>
            <a:r>
              <a:rPr lang="en-US" altLang="en-US" sz="1800" dirty="0"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 the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longer the context switch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Time dependent on hardware support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Some hardware provides multiple sets of registers per CPU </a:t>
            </a:r>
            <a:r>
              <a:rPr lang="en-US" altLang="en-US" sz="1800" dirty="0"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 multiple contexts loaded at once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AD31C3-3989-F7E0-FD8F-1848C6D523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71451"/>
            <a:ext cx="7061898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27" y="836106"/>
            <a:ext cx="86434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14313" indent="-214313">
              <a:spcBef>
                <a:spcPct val="0"/>
              </a:spcBef>
              <a:buClr>
                <a:srgbClr val="C00000"/>
              </a:buClr>
              <a:buSzTx/>
            </a:pPr>
            <a:r>
              <a:rPr kumimoji="0"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en-US" altLang="en-US" sz="2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 switch </a:t>
            </a:r>
            <a:r>
              <a:rPr kumimoji="0"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occurs when the CPU  switches from one process to another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513" y="1318661"/>
            <a:ext cx="3993546" cy="326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0F1F13-BE1C-6B8A-AF28-FEEA2B426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BBC0AC-B98E-4CA8-AAF2-66A00A4CE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69253"/>
            <a:ext cx="729594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Multitasking in Mobile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FFB47D-06A3-4D85-B582-64A48F2C1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399" y="817060"/>
            <a:ext cx="7854215" cy="355281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Some mobile systems (e.g., early version of iOS)  allow only one process to run, others suspended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Due to screen real estate, user interface limits iOS provides for a 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Single </a:t>
            </a:r>
            <a:r>
              <a:rPr lang="en-US" altLang="en-US" sz="1800" b="1" kern="1200" dirty="0">
                <a:solidFill>
                  <a:srgbClr val="006699"/>
                </a:solidFill>
                <a:cs typeface="Calibri" panose="020F0502020204030204" pitchFamily="34" charset="0"/>
              </a:rPr>
              <a:t>foreground</a:t>
            </a:r>
            <a:r>
              <a:rPr lang="en-US" altLang="en-US" sz="1800" dirty="0">
                <a:cs typeface="Calibri" panose="020F0502020204030204" pitchFamily="34" charset="0"/>
              </a:rPr>
              <a:t> process- controlled via user interface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Multiple </a:t>
            </a:r>
            <a:r>
              <a:rPr lang="en-US" altLang="en-US" sz="1800" b="1" kern="1200" dirty="0">
                <a:solidFill>
                  <a:srgbClr val="006699"/>
                </a:solidFill>
                <a:cs typeface="Calibri" panose="020F0502020204030204" pitchFamily="34" charset="0"/>
              </a:rPr>
              <a:t>background</a:t>
            </a:r>
            <a:r>
              <a:rPr lang="en-US" altLang="en-US" sz="1800" dirty="0">
                <a:cs typeface="Calibri" panose="020F0502020204030204" pitchFamily="34" charset="0"/>
              </a:rPr>
              <a:t> processes– in memory, running, but not on the display, and with limits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Limits include single, short task, receiving notification of events, specific long-running tasks like audio playback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Android runs foreground and background, with fewer limits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Background process uses a </a:t>
            </a:r>
            <a:r>
              <a:rPr lang="en-US" altLang="en-US" sz="1800" b="1" kern="1200" dirty="0">
                <a:solidFill>
                  <a:srgbClr val="006699"/>
                </a:solidFill>
                <a:cs typeface="Calibri" panose="020F0502020204030204" pitchFamily="34" charset="0"/>
              </a:rPr>
              <a:t>service</a:t>
            </a:r>
            <a:r>
              <a:rPr lang="en-US" altLang="en-US" sz="1800" dirty="0">
                <a:cs typeface="Calibri" panose="020F0502020204030204" pitchFamily="34" charset="0"/>
              </a:rPr>
              <a:t> to perform tasks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Service can keep running even if background process is suspended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Service has no user interface, small memory use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98E9F7-10FE-7611-18B4-513244F94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63116"/>
            <a:ext cx="676295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1027" y="828865"/>
            <a:ext cx="6843562" cy="1288694"/>
          </a:xfrm>
        </p:spPr>
        <p:txBody>
          <a:bodyPr/>
          <a:lstStyle/>
          <a:p>
            <a:r>
              <a:rPr lang="en-US" altLang="en-US" sz="2000" dirty="0"/>
              <a:t>System must provide mechanisms for</a:t>
            </a:r>
          </a:p>
          <a:p>
            <a:pPr lvl="1"/>
            <a:r>
              <a:rPr lang="en-US" altLang="en-US" sz="2000" dirty="0"/>
              <a:t> Process creation</a:t>
            </a:r>
          </a:p>
          <a:p>
            <a:pPr lvl="1"/>
            <a:r>
              <a:rPr lang="en-US" altLang="en-US" sz="2000" dirty="0"/>
              <a:t> Process termination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19AC9D-70F8-B490-9CC8-6C673E536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34753"/>
            <a:ext cx="6762951" cy="462013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Creation (1)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2153" y="819741"/>
            <a:ext cx="7892714" cy="3550129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Parent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process creates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children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processes, which, in turn creates other processes, forming a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tree</a:t>
            </a:r>
            <a:r>
              <a:rPr lang="en-US" altLang="en-US" sz="2000" dirty="0">
                <a:cs typeface="Calibri" panose="020F0502020204030204" pitchFamily="34" charset="0"/>
              </a:rPr>
              <a:t> of processes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Generally, process identified and managed via a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process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identifier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pid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Resource sharing options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Parent and children share all resources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Children share subset of parent</a:t>
            </a:r>
            <a:r>
              <a:rPr lang="ja-JP" altLang="en-US" sz="1800" dirty="0">
                <a:cs typeface="Calibri" panose="020F0502020204030204" pitchFamily="34" charset="0"/>
              </a:rPr>
              <a:t>’</a:t>
            </a:r>
            <a:r>
              <a:rPr lang="en-US" altLang="ja-JP" sz="1800" dirty="0">
                <a:cs typeface="Calibri" panose="020F0502020204030204" pitchFamily="34" charset="0"/>
              </a:rPr>
              <a:t>s resources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Parent and child share no resources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Execution options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Parent and children execute concurrently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Parent waits until children terminate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32B7B7-EC7E-C62E-3384-5BE9B07A9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63116"/>
            <a:ext cx="677257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Creation (2)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2151" y="803782"/>
            <a:ext cx="7507705" cy="246880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Address space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Child duplicate of parent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Child has a program loaded into it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UNIX examples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0000"/>
                </a:solidFill>
                <a:cs typeface="Calibri" panose="020F0502020204030204" pitchFamily="34" charset="0"/>
              </a:rPr>
              <a:t>fork()</a:t>
            </a:r>
            <a:r>
              <a:rPr lang="en-US" altLang="en-US" sz="1800" dirty="0">
                <a:solidFill>
                  <a:srgbClr val="000000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system call creates new process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0000"/>
                </a:solidFill>
                <a:cs typeface="Calibri" panose="020F0502020204030204" pitchFamily="34" charset="0"/>
              </a:rPr>
              <a:t>exec()</a:t>
            </a:r>
            <a:r>
              <a:rPr lang="en-US" altLang="en-US" sz="1800" dirty="0">
                <a:cs typeface="Calibri" panose="020F0502020204030204" pitchFamily="34" charset="0"/>
              </a:rPr>
              <a:t> system call used after a </a:t>
            </a:r>
            <a:r>
              <a:rPr lang="en-US" altLang="en-US" sz="1800" b="1" dirty="0">
                <a:solidFill>
                  <a:srgbClr val="000000"/>
                </a:solidFill>
                <a:cs typeface="Calibri" panose="020F0502020204030204" pitchFamily="34" charset="0"/>
              </a:rPr>
              <a:t>fork()</a:t>
            </a:r>
            <a:r>
              <a:rPr lang="en-US" altLang="en-US" sz="1800" dirty="0">
                <a:cs typeface="Calibri" panose="020F0502020204030204" pitchFamily="34" charset="0"/>
              </a:rPr>
              <a:t> to replace the process</a:t>
            </a:r>
            <a:r>
              <a:rPr lang="en-US" altLang="ja-JP" sz="1800" dirty="0">
                <a:cs typeface="Calibri" panose="020F0502020204030204" pitchFamily="34" charset="0"/>
              </a:rPr>
              <a:t> memory space with a new program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Parent process calls </a:t>
            </a:r>
            <a:r>
              <a:rPr lang="en-US" altLang="en-US" sz="1800" b="1" dirty="0">
                <a:cs typeface="Calibri" panose="020F0502020204030204" pitchFamily="34" charset="0"/>
              </a:rPr>
              <a:t>wait() </a:t>
            </a:r>
            <a:r>
              <a:rPr lang="en-US" altLang="en-US" sz="1800" dirty="0">
                <a:cs typeface="Calibri" panose="020F0502020204030204" pitchFamily="34" charset="0"/>
              </a:rPr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410" y="3440581"/>
            <a:ext cx="5711554" cy="1148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9A027F-110A-A657-EF38-EF1891086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66688"/>
            <a:ext cx="666532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3" y="1058779"/>
            <a:ext cx="7639769" cy="328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A26275-710E-9718-F3AB-C2598F9077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0260"/>
            <a:ext cx="716776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7" r="3296" b="1849"/>
          <a:stretch/>
        </p:blipFill>
        <p:spPr bwMode="auto">
          <a:xfrm>
            <a:off x="2666199" y="849763"/>
            <a:ext cx="3436218" cy="3723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835C08-A508-49A7-2BEA-431DC94C5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71451"/>
            <a:ext cx="786384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Create a Separate Process via Windows API</a:t>
            </a:r>
          </a:p>
        </p:txBody>
      </p:sp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2"/>
          <a:stretch/>
        </p:blipFill>
        <p:spPr bwMode="auto">
          <a:xfrm>
            <a:off x="3152775" y="815994"/>
            <a:ext cx="2757138" cy="3765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8B4589-8308-F12E-A0EF-81B645F68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70260"/>
            <a:ext cx="677257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Termination (1)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2152" y="845986"/>
            <a:ext cx="7401827" cy="3552759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cs typeface="Calibri" panose="020F0502020204030204" pitchFamily="34" charset="0"/>
              </a:rPr>
              <a:t>exit()</a:t>
            </a:r>
            <a:r>
              <a:rPr lang="en-US" altLang="en-US" sz="2000" dirty="0">
                <a:cs typeface="Calibri" panose="020F0502020204030204" pitchFamily="34" charset="0"/>
              </a:rPr>
              <a:t> system call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Return  status data from child to parent (via </a:t>
            </a:r>
            <a:r>
              <a:rPr lang="en-US" altLang="en-US" sz="1800" b="1" dirty="0">
                <a:solidFill>
                  <a:srgbClr val="000000"/>
                </a:solidFill>
                <a:cs typeface="Calibri" panose="020F0502020204030204" pitchFamily="34" charset="0"/>
              </a:rPr>
              <a:t>wait()</a:t>
            </a:r>
            <a:r>
              <a:rPr lang="en-US" altLang="en-US" sz="1800" dirty="0"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Process</a:t>
            </a:r>
            <a:r>
              <a:rPr lang="ja-JP" altLang="en-US" sz="1800" dirty="0">
                <a:cs typeface="Calibri" panose="020F0502020204030204" pitchFamily="34" charset="0"/>
              </a:rPr>
              <a:t> </a:t>
            </a:r>
            <a:r>
              <a:rPr lang="en-US" altLang="ja-JP" sz="1800" dirty="0">
                <a:cs typeface="Calibri" panose="020F0502020204030204" pitchFamily="34" charset="0"/>
              </a:rPr>
              <a:t>resources are deallocated by operating system</a:t>
            </a:r>
            <a:endParaRPr lang="en-US" altLang="en-US" sz="1800" dirty="0">
              <a:cs typeface="Calibri" panose="020F0502020204030204" pitchFamily="34" charset="0"/>
            </a:endParaRPr>
          </a:p>
          <a:p>
            <a:r>
              <a:rPr lang="en-US" altLang="en-US" sz="2000" dirty="0">
                <a:cs typeface="Calibri" panose="020F0502020204030204" pitchFamily="34" charset="0"/>
              </a:rPr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cs typeface="Calibri" panose="020F0502020204030204" pitchFamily="34" charset="0"/>
              </a:rPr>
              <a:t>abort()</a:t>
            </a:r>
            <a:r>
              <a:rPr lang="en-US" altLang="en-US" sz="2000" dirty="0">
                <a:cs typeface="Calibri" panose="020F0502020204030204" pitchFamily="34" charset="0"/>
              </a:rPr>
              <a:t> system call.  Some reasons for doing so: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Child has exceeded allocated resources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Task assigned to child is no longer required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The parent is exiting, and the operating systems does not allow  a child to continue if its parent terminates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5BDA462-FAEC-9036-5022-B7F3352AA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39613"/>
            <a:ext cx="673407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Termination (2)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025" y="836320"/>
            <a:ext cx="7777213" cy="347579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/>
              <a:t>Some operating systems do not allow child to exists if its parent has terminated.  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If a process terminates, then all its children must also be terminated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/>
              <a:t>Cascading termination - </a:t>
            </a:r>
            <a:r>
              <a:rPr lang="en-US" altLang="en-US" sz="1800" dirty="0"/>
              <a:t>All children, grandchildren, etc.,  are  terminated.</a:t>
            </a:r>
            <a:endParaRPr lang="en-US" altLang="en-US" sz="1800" b="1" dirty="0"/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The termination is initiated by the operating system.</a:t>
            </a:r>
            <a:endParaRPr lang="en-US" altLang="en-US" sz="1800" b="1" dirty="0"/>
          </a:p>
          <a:p>
            <a:pPr>
              <a:spcBef>
                <a:spcPts val="0"/>
              </a:spcBef>
            </a:pPr>
            <a:r>
              <a:rPr lang="en-US" altLang="en-US" sz="2000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sz="2000" dirty="0"/>
              <a:t>system </a:t>
            </a:r>
            <a:r>
              <a:rPr lang="en-US" altLang="en-US" sz="2000" dirty="0" err="1"/>
              <a:t>call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altLang="en-US" sz="2000" dirty="0" err="1"/>
              <a:t>The</a:t>
            </a:r>
            <a:r>
              <a:rPr lang="en-US" altLang="en-US" sz="2000" dirty="0"/>
              <a:t> call returns status information and the pid of the terminated process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pid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wait(&amp;status); 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sz="2000" dirty="0"/>
              <a:t>) process is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If parent terminated without invoking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wait()</a:t>
            </a:r>
            <a:r>
              <a:rPr lang="en-US" altLang="en-US" sz="2000" dirty="0"/>
              <a:t>, process is an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EAABFF-E00F-807C-8773-C1D2C7DE5F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47089"/>
            <a:ext cx="7170821" cy="432197"/>
          </a:xfrm>
        </p:spPr>
        <p:txBody>
          <a:bodyPr/>
          <a:lstStyle/>
          <a:p>
            <a:r>
              <a:rPr lang="en-US" altLang="en-US" sz="32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9903" y="825726"/>
            <a:ext cx="7546206" cy="3091756"/>
          </a:xfrm>
        </p:spPr>
        <p:txBody>
          <a:bodyPr/>
          <a:lstStyle/>
          <a:p>
            <a:r>
              <a:rPr lang="en-US" altLang="en-US" sz="2000" dirty="0"/>
              <a:t>Mobile operating systems often have to terminate processes to reclaim system resources such as memory. From </a:t>
            </a:r>
            <a:r>
              <a:rPr lang="en-US" altLang="en-US" sz="2000" b="1" dirty="0"/>
              <a:t>most</a:t>
            </a:r>
            <a:r>
              <a:rPr lang="en-US" altLang="en-US" sz="2000" dirty="0"/>
              <a:t> to </a:t>
            </a:r>
            <a:r>
              <a:rPr lang="en-US" altLang="en-US" sz="2000" b="1" dirty="0"/>
              <a:t>least</a:t>
            </a:r>
            <a:r>
              <a:rPr lang="en-US" altLang="en-US" sz="2000" dirty="0"/>
              <a:t> important:</a:t>
            </a:r>
          </a:p>
          <a:p>
            <a:pPr lvl="1"/>
            <a:r>
              <a:rPr lang="en-US" altLang="en-US" sz="1800" dirty="0"/>
              <a:t>Foreground process</a:t>
            </a:r>
          </a:p>
          <a:p>
            <a:pPr lvl="1"/>
            <a:r>
              <a:rPr lang="en-US" altLang="en-US" sz="1800" dirty="0"/>
              <a:t>Visible process</a:t>
            </a:r>
          </a:p>
          <a:p>
            <a:pPr lvl="1"/>
            <a:r>
              <a:rPr lang="en-US" altLang="en-US" sz="1800" dirty="0"/>
              <a:t>Service process</a:t>
            </a:r>
          </a:p>
          <a:p>
            <a:pPr lvl="1"/>
            <a:r>
              <a:rPr lang="en-US" altLang="en-US" sz="1800" dirty="0"/>
              <a:t>Background process</a:t>
            </a:r>
          </a:p>
          <a:p>
            <a:pPr lvl="1"/>
            <a:r>
              <a:rPr lang="en-US" altLang="en-US" sz="1800" dirty="0"/>
              <a:t>Empty process</a:t>
            </a:r>
          </a:p>
          <a:p>
            <a:r>
              <a:rPr lang="en-US" altLang="en-US" sz="2000" dirty="0"/>
              <a:t>Android will begin terminating processes that are least important.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8FAF52-09A3-D1F0-BCB7-B36C559E6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7524"/>
            <a:ext cx="7979344" cy="546994"/>
          </a:xfrm>
        </p:spPr>
        <p:txBody>
          <a:bodyPr/>
          <a:lstStyle/>
          <a:p>
            <a:r>
              <a:rPr lang="en-US" altLang="en-US" sz="3200" dirty="0"/>
              <a:t>Multiprocess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1263" y="853196"/>
            <a:ext cx="8296977" cy="238089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Many web browsers ran as single process (some still do)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If one web site causes trouble, entire browser can hang or crash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Google Chrome Browser is </a:t>
            </a:r>
            <a:r>
              <a:rPr lang="en-US" altLang="en-US" sz="2000" dirty="0" err="1">
                <a:cs typeface="Calibri" panose="020F0502020204030204" pitchFamily="34" charset="0"/>
              </a:rPr>
              <a:t>multiprocess</a:t>
            </a:r>
            <a:r>
              <a:rPr lang="en-US" altLang="en-US" sz="2000" dirty="0">
                <a:cs typeface="Calibri" panose="020F0502020204030204" pitchFamily="34" charset="0"/>
              </a:rPr>
              <a:t> with 3 different types of processes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Browser</a:t>
            </a:r>
            <a:r>
              <a:rPr lang="en-US" altLang="en-US" sz="1800" dirty="0">
                <a:cs typeface="Calibri" panose="020F0502020204030204" pitchFamily="34" charset="0"/>
              </a:rPr>
              <a:t> process manages user interface, disk and network I/O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Renderer</a:t>
            </a:r>
            <a:r>
              <a:rPr lang="en-US" altLang="en-US" sz="1800" dirty="0">
                <a:cs typeface="Calibri" panose="020F0502020204030204" pitchFamily="34" charset="0"/>
              </a:rPr>
              <a:t> process renders web pages, deals with HTML, </a:t>
            </a:r>
            <a:r>
              <a:rPr lang="en-US" altLang="en-US" sz="1800" dirty="0" err="1">
                <a:cs typeface="Calibri" panose="020F0502020204030204" pitchFamily="34" charset="0"/>
              </a:rPr>
              <a:t>Javascript</a:t>
            </a:r>
            <a:r>
              <a:rPr lang="en-US" altLang="en-US" sz="1800" dirty="0">
                <a:cs typeface="Calibri" panose="020F0502020204030204" pitchFamily="34" charset="0"/>
              </a:rPr>
              <a:t>. A new renderer created for each website opened</a:t>
            </a:r>
          </a:p>
          <a:p>
            <a:pPr lvl="2">
              <a:spcBef>
                <a:spcPts val="0"/>
              </a:spcBef>
            </a:pPr>
            <a:r>
              <a:rPr lang="en-US" altLang="en-US" sz="1600" dirty="0"/>
              <a:t>Runs in </a:t>
            </a:r>
            <a:r>
              <a:rPr lang="en-US" altLang="en-US" sz="1600" b="1" dirty="0">
                <a:solidFill>
                  <a:srgbClr val="006699"/>
                </a:solidFill>
              </a:rPr>
              <a:t>sandbox</a:t>
            </a:r>
            <a:r>
              <a:rPr lang="en-US" altLang="en-US" sz="1600" dirty="0"/>
              <a:t> restricting disk and network I/O, minimizing effect of security exploits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Plug-in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process for each type of plug-in</a:t>
            </a:r>
            <a:endParaRPr lang="en-US" altLang="en-US" sz="2000" dirty="0"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</a:pPr>
            <a:endParaRPr lang="en-US" altLang="en-US" sz="2000" dirty="0">
              <a:cs typeface="Calibri" panose="020F0502020204030204" pitchFamily="34" charset="0"/>
            </a:endParaRPr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408" y="3413516"/>
            <a:ext cx="5826908" cy="117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DC0DE6-F200-2D3D-5AF0-1C6B38EC9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45665"/>
            <a:ext cx="6612933" cy="432197"/>
          </a:xfrm>
        </p:spPr>
        <p:txBody>
          <a:bodyPr/>
          <a:lstStyle/>
          <a:p>
            <a:r>
              <a:rPr lang="en-US" altLang="en-US" sz="3200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2525" y="817460"/>
            <a:ext cx="7854215" cy="365828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Processes within a system may be </a:t>
            </a:r>
            <a:r>
              <a:rPr lang="en-US" altLang="en-US" sz="2000" b="1" i="1" dirty="0">
                <a:cs typeface="Calibri" panose="020F0502020204030204" pitchFamily="34" charset="0"/>
              </a:rPr>
              <a:t>independent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or </a:t>
            </a:r>
            <a:r>
              <a:rPr lang="en-US" altLang="en-US" sz="2000" b="1" i="1" dirty="0">
                <a:cs typeface="Calibri" panose="020F0502020204030204" pitchFamily="34" charset="0"/>
              </a:rPr>
              <a:t>cooperating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Cooperating process can affect or be affected by other processes, including sharing data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Reasons for cooperating processes: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Information sharing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Computation speedup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Modularity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Convenience	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Cooperating processes need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interprocess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communication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IPC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Two models of IPC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Shared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memory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Message passing</a:t>
            </a:r>
          </a:p>
          <a:p>
            <a:pPr lvl="1">
              <a:spcBef>
                <a:spcPts val="0"/>
              </a:spcBef>
            </a:pPr>
            <a:endParaRPr lang="en-US" altLang="en-US" sz="2000" dirty="0"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9DD8E9-6169-FF93-76B0-F0EC48E72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1451"/>
            <a:ext cx="676295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Communications Models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5C5AEC-CFD0-596D-D9F8-8F45848B4F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3BB406A-5A43-2FD5-63D4-C4C74B0DD08B}"/>
              </a:ext>
            </a:extLst>
          </p:cNvPr>
          <p:cNvGrpSpPr/>
          <p:nvPr/>
        </p:nvGrpSpPr>
        <p:grpSpPr>
          <a:xfrm>
            <a:off x="2127183" y="1088960"/>
            <a:ext cx="5208985" cy="3319198"/>
            <a:chOff x="2040556" y="968102"/>
            <a:chExt cx="5208985" cy="3319198"/>
          </a:xfrm>
        </p:grpSpPr>
        <p:pic>
          <p:nvPicPr>
            <p:cNvPr id="61444" name="Picture 1">
              <a:extLst>
                <a:ext uri="{FF2B5EF4-FFF2-40B4-BE49-F238E27FC236}">
                  <a16:creationId xmlns:a16="http://schemas.microsoft.com/office/drawing/2014/main" id="{3ED38AED-C0F5-4084-BE69-BF6EFD7FF5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66"/>
            <a:stretch/>
          </p:blipFill>
          <p:spPr bwMode="auto">
            <a:xfrm>
              <a:off x="2040556" y="968102"/>
              <a:ext cx="5208985" cy="3048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87FD2E1-3751-A347-93E3-7EBDBB44EC75}"/>
                </a:ext>
              </a:extLst>
            </p:cNvPr>
            <p:cNvGrpSpPr/>
            <p:nvPr/>
          </p:nvGrpSpPr>
          <p:grpSpPr>
            <a:xfrm>
              <a:off x="2551182" y="3987218"/>
              <a:ext cx="4411377" cy="300082"/>
              <a:chOff x="2551182" y="3987218"/>
              <a:chExt cx="4411377" cy="300082"/>
            </a:xfrm>
          </p:grpSpPr>
          <p:sp>
            <p:nvSpPr>
              <p:cNvPr id="61443" name="Rectangle 3">
                <a:extLst>
                  <a:ext uri="{FF2B5EF4-FFF2-40B4-BE49-F238E27FC236}">
                    <a16:creationId xmlns:a16="http://schemas.microsoft.com/office/drawing/2014/main" id="{00B4232E-A93C-4613-91D0-E8A0948B6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1182" y="3987218"/>
                <a:ext cx="1725442" cy="300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110000"/>
                  <a:buFont typeface="Wingdings" panose="05000000000000000000" pitchFamily="2" charset="2"/>
                  <a:buChar char="§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110000"/>
                  <a:buFont typeface="Arial" panose="020B0604020202020204" pitchFamily="34" charset="0"/>
                  <a:buChar char="•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13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(a) Shared memory</a:t>
                </a:r>
                <a:endParaRPr kumimoji="0" lang="en-US" altLang="en-US" sz="135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AFCA20A-4E79-4C00-1E0E-F94D94205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6845" y="3987218"/>
                <a:ext cx="1785714" cy="300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110000"/>
                  <a:buFont typeface="Wingdings" panose="05000000000000000000" pitchFamily="2" charset="2"/>
                  <a:buChar char="§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110000"/>
                  <a:buFont typeface="Arial" panose="020B0604020202020204" pitchFamily="34" charset="0"/>
                  <a:buChar char="•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13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(b) Message passing</a:t>
                </a:r>
                <a:r>
                  <a:rPr kumimoji="0" lang="en-US" altLang="en-US" sz="1350" dirty="0">
                    <a:latin typeface="Arial" panose="020B0604020202020204" pitchFamily="34" charset="0"/>
                  </a:rPr>
                  <a:t> </a:t>
                </a: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1" y="171451"/>
            <a:ext cx="674370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2468" y="881955"/>
            <a:ext cx="6959064" cy="323765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Paradigm for cooperating processes:</a:t>
            </a:r>
          </a:p>
          <a:p>
            <a:pPr lvl="1">
              <a:spcBef>
                <a:spcPts val="0"/>
              </a:spcBef>
            </a:pPr>
            <a:r>
              <a:rPr lang="en-US" altLang="en-US" sz="1800" i="1" dirty="0">
                <a:cs typeface="Calibri" panose="020F0502020204030204" pitchFamily="34" charset="0"/>
              </a:rPr>
              <a:t>producer</a:t>
            </a:r>
            <a:r>
              <a:rPr lang="en-US" altLang="en-US" sz="1800" dirty="0">
                <a:cs typeface="Calibri" panose="020F0502020204030204" pitchFamily="34" charset="0"/>
              </a:rPr>
              <a:t> process produces information that is consumed by a </a:t>
            </a:r>
            <a:r>
              <a:rPr lang="en-US" altLang="en-US" sz="1800" i="1" dirty="0">
                <a:cs typeface="Calibri" panose="020F0502020204030204" pitchFamily="34" charset="0"/>
              </a:rPr>
              <a:t>consumer</a:t>
            </a:r>
            <a:r>
              <a:rPr lang="en-US" altLang="en-US" sz="1800" dirty="0">
                <a:cs typeface="Calibri" panose="020F0502020204030204" pitchFamily="34" charset="0"/>
              </a:rPr>
              <a:t> process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Two variations</a:t>
            </a:r>
          </a:p>
          <a:p>
            <a:pPr lvl="1">
              <a:spcBef>
                <a:spcPts val="0"/>
              </a:spcBef>
            </a:pP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unbounded-buffer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places no practical limit on the size of the buffer:</a:t>
            </a:r>
          </a:p>
          <a:p>
            <a:pPr lvl="2">
              <a:spcBef>
                <a:spcPts val="0"/>
              </a:spcBef>
            </a:pPr>
            <a:r>
              <a:rPr lang="en-US" altLang="en-US" sz="1800" dirty="0"/>
              <a:t>Producer never waits</a:t>
            </a:r>
          </a:p>
          <a:p>
            <a:pPr lvl="2">
              <a:spcBef>
                <a:spcPts val="0"/>
              </a:spcBef>
            </a:pPr>
            <a:r>
              <a:rPr lang="en-US" altLang="en-US" sz="1800" dirty="0"/>
              <a:t>Consumer waits if there is no buffer to consume</a:t>
            </a:r>
          </a:p>
          <a:p>
            <a:pPr lvl="1">
              <a:spcBef>
                <a:spcPts val="0"/>
              </a:spcBef>
            </a:pP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bounded-buffer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assumes that there is a fixed buffer size</a:t>
            </a:r>
          </a:p>
          <a:p>
            <a:pPr lvl="2">
              <a:spcBef>
                <a:spcPts val="0"/>
              </a:spcBef>
            </a:pPr>
            <a:r>
              <a:rPr lang="en-US" altLang="en-US" sz="1800" dirty="0"/>
              <a:t>Producer must wait if all buffers are full</a:t>
            </a:r>
          </a:p>
          <a:p>
            <a:pPr lvl="2">
              <a:spcBef>
                <a:spcPts val="0"/>
              </a:spcBef>
            </a:pPr>
            <a:r>
              <a:rPr lang="en-US" altLang="en-US" sz="1800" dirty="0"/>
              <a:t>Consumer waits if there is no buffer to consume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6A9864-FA96-4BF0-1A0F-A8DD692CE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3276" y="139063"/>
            <a:ext cx="721000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1030" y="809617"/>
            <a:ext cx="7488452" cy="264585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Synchronization is discussed in great details in Chapters 6 &amp; 7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6E52B4-C9CE-D1E1-EB2E-FB80EC5CB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9EE88E8-FB94-4EA2-914B-EA028820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22459"/>
            <a:ext cx="7873466" cy="516105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Bounded-Buffer – Shared-Memory Solution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6B4B2DB-0CD0-402C-8F68-104A05E1E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1027" y="924533"/>
            <a:ext cx="7315200" cy="352544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Shared data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#define BUFFER_SIZE 10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typedef struct {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	. . .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} item;</a:t>
            </a:r>
          </a:p>
          <a:p>
            <a:pPr marL="1198960" lvl="3">
              <a:spcBef>
                <a:spcPts val="0"/>
              </a:spcBef>
              <a:buNone/>
            </a:pPr>
            <a:endParaRPr lang="en-US" altLang="en-US" sz="2000" b="1" dirty="0"/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item buffer[BUFFER_SIZE];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int in = 0;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int out = 0;</a:t>
            </a:r>
          </a:p>
          <a:p>
            <a:pPr marL="1198960" lvl="3">
              <a:spcBef>
                <a:spcPts val="0"/>
              </a:spcBef>
              <a:buNone/>
            </a:pPr>
            <a:endParaRPr lang="en-US" altLang="en-US" sz="1600" dirty="0"/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Solution is correct, but can only use </a:t>
            </a:r>
            <a:r>
              <a:rPr lang="en-US" altLang="en-US" sz="2000" b="1" dirty="0">
                <a:cs typeface="Calibri" panose="020F0502020204030204" pitchFamily="34" charset="0"/>
              </a:rPr>
              <a:t>BUFFER_SIZE-1</a:t>
            </a:r>
            <a:r>
              <a:rPr lang="en-US" altLang="en-US" sz="2000" dirty="0">
                <a:cs typeface="Calibri" panose="020F0502020204030204" pitchFamily="34" charset="0"/>
              </a:rPr>
              <a:t> element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9A2460-1C83-4315-70B0-AB3BBE6EE7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B426FA82-2801-4913-A63A-AF57E713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901" y="166688"/>
            <a:ext cx="670519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Producer Process – Shared Memory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18AC823-35A6-4F95-9F20-D71790E77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62701" y="890587"/>
            <a:ext cx="4792103" cy="33623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item </a:t>
            </a:r>
            <a:r>
              <a:rPr lang="en-US" altLang="en-US" sz="2000" b="1" dirty="0" err="1">
                <a:cs typeface="Calibri" panose="020F0502020204030204" pitchFamily="34" charset="0"/>
              </a:rPr>
              <a:t>next_produced</a:t>
            </a:r>
            <a:r>
              <a:rPr lang="en-US" altLang="en-US" sz="2000" b="1" dirty="0">
                <a:cs typeface="Calibri" panose="020F0502020204030204" pitchFamily="34" charset="0"/>
              </a:rPr>
              <a:t>; </a:t>
            </a:r>
            <a:br>
              <a:rPr lang="en-US" altLang="en-US" sz="2000" b="1" dirty="0">
                <a:cs typeface="Calibri" panose="020F0502020204030204" pitchFamily="34" charset="0"/>
              </a:rPr>
            </a:br>
            <a:endParaRPr lang="en-US" altLang="en-US" sz="2000" b="1" dirty="0">
              <a:cs typeface="Calibri" panose="020F0502020204030204" pitchFamily="34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buffer[in] = </a:t>
            </a:r>
            <a:r>
              <a:rPr lang="en-US" altLang="en-US" sz="2000" b="1" dirty="0" err="1">
                <a:cs typeface="Calibri" panose="020F0502020204030204" pitchFamily="34" charset="0"/>
              </a:rPr>
              <a:t>next_produced</a:t>
            </a:r>
            <a:r>
              <a:rPr lang="en-US" altLang="en-US" sz="2000" b="1" dirty="0">
                <a:cs typeface="Calibri" panose="020F0502020204030204" pitchFamily="34" charset="0"/>
              </a:rPr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}</a:t>
            </a:r>
            <a:r>
              <a:rPr lang="en-US" altLang="en-US" sz="2000" dirty="0">
                <a:cs typeface="Calibri" panose="020F0502020204030204" pitchFamily="34" charset="0"/>
              </a:rPr>
              <a:t> </a:t>
            </a:r>
          </a:p>
          <a:p>
            <a:pPr marL="5375672" lvl="4">
              <a:buNone/>
            </a:pPr>
            <a:endParaRPr lang="en-US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588122-F07F-0B92-832E-080FD1EC0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5A24975-CF06-4A73-8D26-DA0E6F7E6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53401"/>
            <a:ext cx="6914551" cy="43374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Consumer Process – Shared Memory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383804-C100-4255-A1BD-B8DC67A9F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0792" y="914401"/>
            <a:ext cx="6420050" cy="352284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item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2000" b="1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683794-36F2-6451-F8FE-CB57886E7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61489"/>
            <a:ext cx="681611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What about Filling all the Buffers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651" y="858151"/>
            <a:ext cx="7276698" cy="3088208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Suppose that we wanted to provide a solution to the consumer-producer problem that fills </a:t>
            </a:r>
            <a:r>
              <a:rPr lang="en-US" altLang="en-US" sz="2000" b="1" dirty="0">
                <a:solidFill>
                  <a:srgbClr val="000000"/>
                </a:solidFill>
                <a:cs typeface="Calibri" panose="020F0502020204030204" pitchFamily="34" charset="0"/>
              </a:rPr>
              <a:t>all</a:t>
            </a: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the buffers. 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We can do so by having an integer </a:t>
            </a:r>
            <a:r>
              <a:rPr lang="en-US" altLang="en-US" sz="2000" b="1" dirty="0">
                <a:cs typeface="Calibri" panose="020F0502020204030204" pitchFamily="34" charset="0"/>
              </a:rPr>
              <a:t>counter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that keeps track of the number of full buffers.  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Initially, </a:t>
            </a:r>
            <a:r>
              <a:rPr lang="en-US" altLang="en-US" sz="2000" b="1" dirty="0">
                <a:cs typeface="Calibri" panose="020F0502020204030204" pitchFamily="34" charset="0"/>
              </a:rPr>
              <a:t>counter</a:t>
            </a:r>
            <a:r>
              <a:rPr lang="en-US" altLang="en-US" sz="2000" dirty="0">
                <a:cs typeface="Calibri" panose="020F0502020204030204" pitchFamily="34" charset="0"/>
              </a:rPr>
              <a:t> is set to 0. 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The integer </a:t>
            </a:r>
            <a:r>
              <a:rPr lang="en-US" altLang="en-US" sz="2000" b="1" dirty="0">
                <a:cs typeface="Calibri" panose="020F0502020204030204" pitchFamily="34" charset="0"/>
              </a:rPr>
              <a:t>counter</a:t>
            </a:r>
            <a:r>
              <a:rPr lang="en-US" altLang="en-US" sz="2000" dirty="0">
                <a:cs typeface="Calibri" panose="020F0502020204030204" pitchFamily="34" charset="0"/>
              </a:rPr>
              <a:t> is incremented by the producer after it produces a new buffer.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The integer </a:t>
            </a:r>
            <a:r>
              <a:rPr lang="en-US" altLang="en-US" sz="2000" b="1" dirty="0">
                <a:cs typeface="Calibri" panose="020F0502020204030204" pitchFamily="34" charset="0"/>
              </a:rPr>
              <a:t>counter</a:t>
            </a:r>
            <a:r>
              <a:rPr lang="en-US" altLang="en-US" sz="2000" dirty="0">
                <a:cs typeface="Calibri" panose="020F0502020204030204" pitchFamily="34" charset="0"/>
              </a:rPr>
              <a:t> is and is decremented by the consumer after it consumes a buffer.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9FD097-5871-1D4B-D59E-8E7432326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9252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FBA2318-657D-42C6-AB7B-E9BBF4DA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61489"/>
            <a:ext cx="675332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Producer 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32980AD2-3FC6-4309-A775-93AFA5595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9924" y="944165"/>
            <a:ext cx="6160168" cy="356045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while (counter == BUFFER_SIZE) 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buffer[in] =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in = (in + 1) % BUFFER_SIZE;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counter++;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342AB3-6274-1751-4786-4982512D9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346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F7414AA-B215-4A20-88A1-C865671BE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56145"/>
            <a:ext cx="6785573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Consumer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7E5C80C-620B-4BAE-A990-B50235C7D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32547" y="946548"/>
            <a:ext cx="6275672" cy="332706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while (true) {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while (counter == 0) 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	; /* do nothing */ 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</a:t>
            </a:r>
            <a:r>
              <a:rPr lang="en-US" altLang="en-US" sz="2000" b="1" dirty="0" err="1">
                <a:cs typeface="Calibri" panose="020F0502020204030204" pitchFamily="34" charset="0"/>
              </a:rPr>
              <a:t>next_consumed</a:t>
            </a:r>
            <a:r>
              <a:rPr lang="en-US" altLang="en-US" sz="2000" b="1" dirty="0">
                <a:cs typeface="Calibri" panose="020F0502020204030204" pitchFamily="34" charset="0"/>
              </a:rPr>
              <a:t> = buffer[out]; 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out = (out + 1) % BUFFER_SIZE; 	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        counter--; 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/* consume the item in next consumed */ 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}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3A7276-6FDA-B87C-0D04-791382A39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1936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68950"/>
            <a:ext cx="674370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Race Condition (1)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04468" y="807185"/>
            <a:ext cx="7233140" cy="375519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0000"/>
                </a:solidFill>
                <a:cs typeface="Calibri" panose="020F0502020204030204" pitchFamily="34" charset="0"/>
              </a:rPr>
              <a:t>counter++ </a:t>
            </a:r>
            <a:r>
              <a:rPr lang="en-US" altLang="en-US" sz="1700" dirty="0">
                <a:cs typeface="Calibri" panose="020F0502020204030204" pitchFamily="34" charset="0"/>
              </a:rPr>
              <a:t>could be implemented as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b="1" dirty="0">
                <a:cs typeface="Calibri" panose="020F0502020204030204" pitchFamily="34" charset="0"/>
              </a:rPr>
              <a:t>     </a:t>
            </a: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register1 = counter</a:t>
            </a:r>
            <a:b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</a:b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     register1 = register1 + 1</a:t>
            </a:r>
            <a:b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</a:b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     counter = register1</a:t>
            </a:r>
            <a:endParaRPr lang="en-US" altLang="en-US" sz="1700" dirty="0">
              <a:solidFill>
                <a:srgbClr val="0000FF"/>
              </a:solidFill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0000"/>
                </a:solidFill>
                <a:cs typeface="Calibri" panose="020F0502020204030204" pitchFamily="34" charset="0"/>
              </a:rPr>
              <a:t>counter--</a:t>
            </a: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 </a:t>
            </a:r>
            <a:r>
              <a:rPr lang="en-US" altLang="en-US" sz="1700" dirty="0">
                <a:cs typeface="Calibri" panose="020F0502020204030204" pitchFamily="34" charset="0"/>
              </a:rPr>
              <a:t>could be implemented as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b="1" dirty="0">
                <a:cs typeface="Calibri" panose="020F0502020204030204" pitchFamily="34" charset="0"/>
              </a:rPr>
              <a:t>     </a:t>
            </a: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register2 = counter</a:t>
            </a:r>
            <a:b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</a:b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     register2 = register2 - 1</a:t>
            </a:r>
            <a:b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</a:b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     counter = register2</a:t>
            </a:r>
            <a:endParaRPr lang="en-US" altLang="en-US" sz="1700" dirty="0">
              <a:solidFill>
                <a:schemeClr val="tx2"/>
              </a:solidFill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700" dirty="0">
                <a:cs typeface="Calibri" panose="020F0502020204030204" pitchFamily="34" charset="0"/>
              </a:rPr>
              <a:t>Consider this execution interleaving with</a:t>
            </a:r>
            <a:r>
              <a:rPr lang="ja-JP" altLang="en-US" sz="1700" dirty="0">
                <a:cs typeface="Calibri" panose="020F0502020204030204" pitchFamily="34" charset="0"/>
              </a:rPr>
              <a:t> </a:t>
            </a:r>
            <a:r>
              <a:rPr lang="en-US" altLang="ja-JP" sz="1700" dirty="0">
                <a:cs typeface="Calibri" panose="020F0502020204030204" pitchFamily="34" charset="0"/>
              </a:rPr>
              <a:t>count = 5</a:t>
            </a:r>
            <a:r>
              <a:rPr lang="ja-JP" altLang="en-US" sz="1700" dirty="0">
                <a:cs typeface="Calibri" panose="020F0502020204030204" pitchFamily="34" charset="0"/>
              </a:rPr>
              <a:t> </a:t>
            </a:r>
            <a:r>
              <a:rPr lang="en-US" altLang="ja-JP" sz="1700" dirty="0">
                <a:cs typeface="Calibri" panose="020F0502020204030204" pitchFamily="34" charset="0"/>
              </a:rPr>
              <a:t>initially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700" dirty="0">
                <a:cs typeface="Calibri" panose="020F0502020204030204" pitchFamily="34" charset="0"/>
              </a:rPr>
              <a:t>	S0: producer execute </a:t>
            </a: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register1 = counter</a:t>
            </a:r>
            <a:r>
              <a:rPr lang="en-US" altLang="en-US" sz="1700" b="1" dirty="0">
                <a:cs typeface="Calibri" panose="020F0502020204030204" pitchFamily="34" charset="0"/>
              </a:rPr>
              <a:t>           </a:t>
            </a:r>
            <a:r>
              <a:rPr lang="en-US" altLang="en-US" sz="1700" dirty="0">
                <a:cs typeface="Calibri" panose="020F0502020204030204" pitchFamily="34" charset="0"/>
              </a:rPr>
              <a:t>{register1 = 5}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dirty="0">
                <a:cs typeface="Calibri" panose="020F0502020204030204" pitchFamily="34" charset="0"/>
              </a:rPr>
              <a:t>S1: producer execute </a:t>
            </a: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register1 = register1 + 1   </a:t>
            </a:r>
            <a:r>
              <a:rPr lang="en-US" altLang="en-US" sz="1700" dirty="0">
                <a:cs typeface="Calibri" panose="020F0502020204030204" pitchFamily="34" charset="0"/>
              </a:rPr>
              <a:t>{register1 = 6} 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dirty="0">
                <a:cs typeface="Calibri" panose="020F0502020204030204" pitchFamily="34" charset="0"/>
              </a:rPr>
              <a:t>S2: consumer execute </a:t>
            </a: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register2 = counter</a:t>
            </a:r>
            <a:r>
              <a:rPr lang="en-US" altLang="en-US" sz="1700" b="1" dirty="0">
                <a:cs typeface="Calibri" panose="020F0502020204030204" pitchFamily="34" charset="0"/>
              </a:rPr>
              <a:t>          </a:t>
            </a:r>
            <a:r>
              <a:rPr lang="en-US" altLang="en-US" sz="1700" dirty="0">
                <a:cs typeface="Calibri" panose="020F0502020204030204" pitchFamily="34" charset="0"/>
              </a:rPr>
              <a:t>{register2 = 5} 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dirty="0">
                <a:cs typeface="Calibri" panose="020F0502020204030204" pitchFamily="34" charset="0"/>
              </a:rPr>
              <a:t>S3: consumer execute </a:t>
            </a: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register2 = register2 – 1  </a:t>
            </a:r>
            <a:r>
              <a:rPr lang="en-US" altLang="en-US" sz="1700" dirty="0">
                <a:cs typeface="Calibri" panose="020F0502020204030204" pitchFamily="34" charset="0"/>
              </a:rPr>
              <a:t>{register2 = 4} 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dirty="0">
                <a:cs typeface="Calibri" panose="020F0502020204030204" pitchFamily="34" charset="0"/>
              </a:rPr>
              <a:t>S4: producer execute </a:t>
            </a: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counter = register1            </a:t>
            </a:r>
            <a:r>
              <a:rPr lang="en-US" altLang="en-US" sz="1700" dirty="0">
                <a:cs typeface="Calibri" panose="020F0502020204030204" pitchFamily="34" charset="0"/>
              </a:rPr>
              <a:t>{counter = 6 } 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dirty="0">
                <a:cs typeface="Calibri" panose="020F0502020204030204" pitchFamily="34" charset="0"/>
              </a:rPr>
              <a:t>S5: consumer execute </a:t>
            </a: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counter = register2           </a:t>
            </a:r>
            <a:r>
              <a:rPr lang="en-US" altLang="en-US" sz="1700" dirty="0">
                <a:cs typeface="Calibri" panose="020F0502020204030204" pitchFamily="34" charset="0"/>
              </a:rPr>
              <a:t>{counter = 4}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D8B848-A50D-1A48-3B09-835CD77D6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105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68950"/>
            <a:ext cx="675332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Race Condition (2)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9528" y="883444"/>
            <a:ext cx="7401827" cy="131620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Question – why was there no race condition in the first solution (where at most N – 1) buffers can be filled?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More in Chapter 6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8402B5-6A2F-EC73-9FF5-41C93E26F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9292441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2527</TotalTime>
  <Words>2213</Words>
  <Application>Microsoft Office PowerPoint</Application>
  <PresentationFormat>全屏显示(16:9)</PresentationFormat>
  <Paragraphs>287</Paragraphs>
  <Slides>39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7" baseType="lpstr">
      <vt:lpstr>Monotype Sorts</vt:lpstr>
      <vt:lpstr>MS Sans Serif</vt:lpstr>
      <vt:lpstr>Arial</vt:lpstr>
      <vt:lpstr>Calibri</vt:lpstr>
      <vt:lpstr>Courier New</vt:lpstr>
      <vt:lpstr>Times New Roman</vt:lpstr>
      <vt:lpstr>Wingdings</vt:lpstr>
      <vt:lpstr>NTHU UniCloud</vt:lpstr>
      <vt:lpstr>CSC3150 – Operating Systems</vt:lpstr>
      <vt:lpstr>Outline</vt:lpstr>
      <vt:lpstr>Objectives</vt:lpstr>
      <vt:lpstr>Process Concept (1)</vt:lpstr>
      <vt:lpstr>Process Concept (2)</vt:lpstr>
      <vt:lpstr>Process in Memory</vt:lpstr>
      <vt:lpstr>Memory Layout of a C Program</vt:lpstr>
      <vt:lpstr>Process States</vt:lpstr>
      <vt:lpstr>Process Control Block (PCB)</vt:lpstr>
      <vt:lpstr>Threads</vt:lpstr>
      <vt:lpstr>Process Representation in Linux</vt:lpstr>
      <vt:lpstr>Process Scheduling</vt:lpstr>
      <vt:lpstr>Ready and Waiting Queues</vt:lpstr>
      <vt:lpstr>Representation of Process Scheduling</vt:lpstr>
      <vt:lpstr>Context Switch</vt:lpstr>
      <vt:lpstr>CPU Switch From Process to Process</vt:lpstr>
      <vt:lpstr>Multitasking in Mobile Systems</vt:lpstr>
      <vt:lpstr>Operations on Processes</vt:lpstr>
      <vt:lpstr>Process Creation (1)</vt:lpstr>
      <vt:lpstr>Process Creation (2)</vt:lpstr>
      <vt:lpstr>A Tree of Processes in Linux</vt:lpstr>
      <vt:lpstr>C Program Forking Separate Process</vt:lpstr>
      <vt:lpstr>Create a Separate Process via Windows API</vt:lpstr>
      <vt:lpstr>Process Termination (1)</vt:lpstr>
      <vt:lpstr>Process Termination (2)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What about Filling all the Buffers</vt:lpstr>
      <vt:lpstr>Producer </vt:lpstr>
      <vt:lpstr>Consumer</vt:lpstr>
      <vt:lpstr>Race Condition (1)</vt:lpstr>
      <vt:lpstr>Race Condition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279</cp:revision>
  <dcterms:created xsi:type="dcterms:W3CDTF">2015-06-05T07:23:35Z</dcterms:created>
  <dcterms:modified xsi:type="dcterms:W3CDTF">2025-07-25T09:20:10Z</dcterms:modified>
</cp:coreProperties>
</file>