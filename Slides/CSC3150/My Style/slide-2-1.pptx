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56" r:id="rId2"/>
    <p:sldId id="275" r:id="rId3"/>
    <p:sldId id="287" r:id="rId4"/>
    <p:sldId id="277" r:id="rId5"/>
    <p:sldId id="332" r:id="rId6"/>
    <p:sldId id="288" r:id="rId7"/>
    <p:sldId id="336" r:id="rId8"/>
    <p:sldId id="278" r:id="rId9"/>
    <p:sldId id="365" r:id="rId10"/>
    <p:sldId id="289" r:id="rId11"/>
    <p:sldId id="377" r:id="rId12"/>
    <p:sldId id="366" r:id="rId13"/>
    <p:sldId id="279" r:id="rId14"/>
    <p:sldId id="290" r:id="rId15"/>
    <p:sldId id="367" r:id="rId16"/>
    <p:sldId id="294" r:id="rId17"/>
    <p:sldId id="293" r:id="rId18"/>
    <p:sldId id="295" r:id="rId19"/>
    <p:sldId id="296" r:id="rId20"/>
    <p:sldId id="280" r:id="rId21"/>
    <p:sldId id="349" r:id="rId22"/>
    <p:sldId id="343" r:id="rId23"/>
    <p:sldId id="339" r:id="rId24"/>
    <p:sldId id="335" r:id="rId25"/>
    <p:sldId id="344" r:id="rId26"/>
    <p:sldId id="345" r:id="rId27"/>
    <p:sldId id="298" r:id="rId28"/>
    <p:sldId id="302" r:id="rId29"/>
    <p:sldId id="329" r:id="rId30"/>
    <p:sldId id="351" r:id="rId31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72" y="6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2025/7/25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2025/7/25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6A822E9-8F13-47AB-9E4E-B18AB2E1F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CCEF3C-8989-4032-A095-D133C1713EDA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520E619-9440-4535-B6E9-BC7E8804B9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55EEC95-E703-4EFF-BB87-4741BBEEC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A7699670-5331-4C7F-B66F-45A2105BA3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5D0AF2-D85B-4E4E-89AE-3DAF63F14019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E043F316-76DC-4F8D-B0C9-695562CD82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C70DB475-EF8D-4192-AEB8-E04565EC3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BC80CB84-F22A-4E50-BCC7-BE380B839A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2ED08A-93DF-4843-AA94-E1F59DEAFF3D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BCE3858-17A1-4688-9E78-D1CB3192F2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3A259DE-418E-40E8-9000-C1E0B35B4F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4E9377DB-301A-432B-896E-B411521787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BCF9BC1-3B73-458F-8E78-3016D7399B9A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91F4615-F5F9-4EB9-B78C-EB9FE2EAD4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EF9DFDBA-3559-40A7-BFB4-DC81E20F7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B596B35-4CD3-4163-AF7F-24933E1BA8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43B5A6-DAB1-4C28-92DE-EA01C365D9F5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9E165D1-8C08-4127-8C5B-7DE96DC759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0D7D365-DEDC-42FE-8651-B0FD5E855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6479304-D0E3-440A-A086-9BB2C9CFAC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6656675-4F11-44EE-82F1-FC6523A16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058421E6-E063-489A-8DF8-5F745E5E47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E92DC9-9D0F-4D4C-91FC-78D0BF0662BE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3B7DAC96-1713-46BA-A342-1270F3A89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6B80E63-F60F-4332-9942-3F6416C22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07A81BB-96CB-4FBB-BD88-CC3658B578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DD7F04E-9A25-4DC3-8673-2856EE538D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E8E015A-A900-45D1-8E21-4D4C7F581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F5AE06-AC16-4C3D-AAAD-B4FC1F4406E5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4BEFE14-B474-43E0-8C51-D424A37B8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504A065-E088-4655-A67E-8FE45E3966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C4F45F0E-DA1B-4093-B016-7B3B6EA0A1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F2FF164-6E8A-4BC1-B191-9D9705F2419E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B332595-CDB0-4A7B-95ED-0E9FB62206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F34B16C-62B1-4DE4-BAA8-BDAFA4CB4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041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42979D8-D279-4F81-8D96-576A16CDE2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14EC126-86A2-4EFB-B04B-99231C6B4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EFC9295D-20C0-40F6-A890-07561CD023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ED19BE-233D-4E15-858D-397EA24C558C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0945398-3953-4662-8AB2-3599D73528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564743-CEA6-4703-B1E3-72C2EA3754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AE28D529-1073-4615-9C35-6D7E43A25A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7E548C-774C-4A0A-B49B-D7561E8DC014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1D0FB5B-1D70-4814-9519-570E54CA96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DE796A1-E6DA-46E5-BEF3-64070886D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FE56B275-0BAF-4D11-8861-A6AD21BD70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51DE52-A2FA-4DD9-8778-F3F9593F4483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7A31EF38-9D9C-4353-9BE3-64660DFC1B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C6D288B-294C-425D-B18E-3E0F65AD6C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0B7197EB-9EA5-440C-BF44-3CCC1D8BD1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0ADBD1-0CFE-4524-B710-0FA45B67A62C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E333021-2AC7-4A64-BBE4-34E7715675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4293FD2-C714-429D-A3AA-6BC581EAC2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A507351B-D712-437E-98E7-F662A74309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32DF0B5-6DB1-40E4-9D70-8430FC6C4E9F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8FC88A25-20C1-4AB0-93D3-5CD9170E7C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8BD605D-FC05-4B6D-A985-DA551A53D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445F60E8-26A3-44B1-86D8-9C36811F53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6AA71C-5868-45F1-8571-E62C9C187BD1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5B0F2F1-AA3B-4D59-8C21-560A66CEF4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FBCF461-AEF4-401D-A191-C0EBC12EA3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B33BAED9-5B7F-401E-8726-45B92938F1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4DCFB8B-285E-42B0-B046-73E0330D4A8F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B657D37-F8DF-4FB6-8D67-D127E38E37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C019F071-D51D-4D64-A7F6-5CFAF4BF22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C49C35A4-2B09-4044-B684-3B5B5F9682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08F1016-771D-4116-83C0-1A8A1142BC71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1DD9E6BF-77D7-41D8-8E40-BCC9A7C43C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CFA8695-0190-4832-B30E-DCEC8A596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7E047762-40E7-43E4-9B43-6F5B9B32A8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0E5D39-9A86-4ED8-8691-ECA7B1C1AF77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821DBEC8-DA42-4F41-9C7D-8E648A61D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B717F07-BEFA-48AC-9D42-A9B51A92B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1514A1A8-4D19-49E4-AD69-33EE6FA1E3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AB6457-4452-4B30-ACCB-2E4E288B7868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8B2F8D86-D304-421E-AE9F-BEFAD389F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769BACE-8F2A-4C1E-AEFD-C18F7DDF46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C4C0C4A-430D-41D5-A904-65099801C6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B63C8E0-78C6-4F6F-BA2A-437611695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A4A3CAE1-31FF-4E63-B6A6-075591DFA6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10DEEF-5D5D-44BF-A0DE-0E03A5EA1C92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F0A60D48-E453-4779-93AB-8A9C169F68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9F5150A2-7B6E-44C9-9CAF-F609E5225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7894F0F2-FD38-4F50-86A3-9FE80E8C35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2D33BCA-48B6-413D-B8C9-5493EE24D4C3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9A027089-8C5B-48CD-83C9-82E7AC69E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91160DD-71A0-4AAF-853F-F6A1ACFA1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CB2C34C3-250A-468E-9851-CC70D79D96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33955B-1D85-408C-9962-CCCFD1FD963F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1D1DE534-1DD7-4472-AA58-C1DE0867DF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8FC13BC3-8933-45F1-9859-967FA4C5C9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704E6CA-49C0-4A2A-AEC1-BB04B55A48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158379-05CF-4CC2-AD21-075AE5A4BA6F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64E6DB56-0C3E-477D-B270-81C5BEB648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A9C3227-4B51-4748-9D4A-8F77C8BB8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67783A79-83B8-4D49-BBC2-5D548B427C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8928C3-9072-42C2-A825-768E263084C4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0DB4D94A-E0FC-49E4-83E5-A10A268ED5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95357CA5-7158-4580-8BAB-76FAF5908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3150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C13BE5-D8A7-4853-BC45-711A6C1142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6BA1119-0E5B-4C51-B6FA-28152283A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0124" y="174826"/>
            <a:ext cx="619361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Outline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1102DF7-4A96-4DB4-93EE-EFEEB0DC3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0057" y="815642"/>
            <a:ext cx="6437310" cy="3764450"/>
          </a:xfrm>
        </p:spPr>
        <p:txBody>
          <a:bodyPr/>
          <a:lstStyle/>
          <a:p>
            <a:r>
              <a:rPr lang="en-US" altLang="en-US" sz="2000" dirty="0">
                <a:solidFill>
                  <a:srgbClr val="FF0000"/>
                </a:solidFill>
              </a:rPr>
              <a:t>Operating System Services</a:t>
            </a:r>
          </a:p>
          <a:p>
            <a:r>
              <a:rPr lang="en-US" altLang="en-US" sz="2000" dirty="0">
                <a:solidFill>
                  <a:srgbClr val="FF0000"/>
                </a:solidFill>
              </a:rPr>
              <a:t>User and Operating System-Interface</a:t>
            </a:r>
          </a:p>
          <a:p>
            <a:r>
              <a:rPr lang="en-US" altLang="en-US" sz="2000" dirty="0">
                <a:solidFill>
                  <a:srgbClr val="FF0000"/>
                </a:solidFill>
              </a:rPr>
              <a:t>System Calls</a:t>
            </a:r>
          </a:p>
          <a:p>
            <a:r>
              <a:rPr lang="en-US" altLang="en-US" sz="2000" dirty="0">
                <a:solidFill>
                  <a:srgbClr val="FF0000"/>
                </a:solidFill>
              </a:rPr>
              <a:t>System Services</a:t>
            </a:r>
          </a:p>
          <a:p>
            <a:r>
              <a:rPr lang="en-US" altLang="en-US" sz="2000" dirty="0"/>
              <a:t>Linkers and Loaders</a:t>
            </a:r>
          </a:p>
          <a:p>
            <a:r>
              <a:rPr lang="en-US" altLang="en-US" sz="2000" dirty="0"/>
              <a:t>Why Applications are Operating System Specific</a:t>
            </a:r>
          </a:p>
          <a:p>
            <a:r>
              <a:rPr lang="en-US" altLang="en-US" sz="2000" dirty="0"/>
              <a:t>Design and Implementation</a:t>
            </a:r>
          </a:p>
          <a:p>
            <a:r>
              <a:rPr lang="en-US" altLang="en-US" sz="2000" dirty="0"/>
              <a:t>Operating System Structure</a:t>
            </a:r>
          </a:p>
          <a:p>
            <a:r>
              <a:rPr lang="en-US" altLang="en-US" sz="2000" dirty="0"/>
              <a:t>Building and Booting an Operating System</a:t>
            </a:r>
          </a:p>
          <a:p>
            <a:r>
              <a:rPr lang="en-US" altLang="en-US" sz="2000" dirty="0"/>
              <a:t>Operating System Debugging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FCA291-ABD3-A8B7-9180-3519648D59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ED6B521-18A7-4439-A63E-29BB58B6F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848" y="108349"/>
            <a:ext cx="7809842" cy="519113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Objectives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D078653-D1C2-4F9E-AC34-145815C46F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045" y="925117"/>
            <a:ext cx="7444672" cy="3193729"/>
          </a:xfrm>
        </p:spPr>
        <p:txBody>
          <a:bodyPr/>
          <a:lstStyle/>
          <a:p>
            <a:r>
              <a:rPr lang="en-US" altLang="en-US" sz="2000" dirty="0">
                <a:solidFill>
                  <a:srgbClr val="FF0000"/>
                </a:solidFill>
              </a:rPr>
              <a:t>Identify services provided by an operating system</a:t>
            </a:r>
          </a:p>
          <a:p>
            <a:r>
              <a:rPr lang="en-US" altLang="en-US" sz="2000" dirty="0">
                <a:solidFill>
                  <a:srgbClr val="FF0000"/>
                </a:solidFill>
              </a:rPr>
              <a:t>Illustrate how system calls are used to provide operating system services</a:t>
            </a:r>
          </a:p>
          <a:p>
            <a:r>
              <a:rPr lang="en-US" altLang="en-US" sz="2000" dirty="0"/>
              <a:t>Compare and contrast monolithic, layered, microkernel, modular, and hybrid strategies for designing operating systems</a:t>
            </a:r>
          </a:p>
          <a:p>
            <a:r>
              <a:rPr lang="en-US" altLang="en-US" sz="2000" dirty="0"/>
              <a:t>Illustrate the process for booting an operating system</a:t>
            </a:r>
          </a:p>
          <a:p>
            <a:r>
              <a:rPr lang="en-US" altLang="en-US" sz="2000" dirty="0"/>
              <a:t>Apply tools for monitoring operating system performance</a:t>
            </a:r>
          </a:p>
          <a:p>
            <a:r>
              <a:rPr lang="en-US" altLang="en-US" sz="2000" dirty="0"/>
              <a:t>Design and implement kernel modules for interacting with a Linux kernel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E851F0-F582-3EA6-7F82-5D06CD0E12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4C24230-0BCA-4F21-BEE9-496253FB27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308" y="110364"/>
            <a:ext cx="661129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Operating System Services (1)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273FD5E-1C82-4A27-94EC-32DCB0EF2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308" y="804332"/>
            <a:ext cx="7594597" cy="3699934"/>
          </a:xfrm>
          <a:noFill/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An operating system provides environments and services to programs and users, including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FF0000"/>
                </a:solidFill>
                <a:cs typeface="Calibri" panose="020F0502020204030204" pitchFamily="34" charset="0"/>
              </a:rPr>
              <a:t>User interface </a:t>
            </a:r>
            <a:r>
              <a:rPr lang="en-US" altLang="en-US" sz="1800" dirty="0">
                <a:cs typeface="Calibri" panose="020F0502020204030204" pitchFamily="34" charset="0"/>
              </a:rPr>
              <a:t>- Almost all operating systems have a user interface (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UI</a:t>
            </a:r>
            <a:r>
              <a:rPr lang="en-US" altLang="en-US" sz="1800" dirty="0">
                <a:cs typeface="Calibri" panose="020F0502020204030204" pitchFamily="34" charset="0"/>
              </a:rPr>
              <a:t>)</a:t>
            </a:r>
          </a:p>
          <a:p>
            <a:pPr lvl="2">
              <a:spcBef>
                <a:spcPts val="0"/>
              </a:spcBef>
            </a:pPr>
            <a:r>
              <a:rPr lang="en-US" altLang="en-US" sz="1800" dirty="0"/>
              <a:t>Varies between </a:t>
            </a:r>
            <a:r>
              <a:rPr lang="en-US" altLang="en-US" sz="1800" b="1" dirty="0">
                <a:solidFill>
                  <a:srgbClr val="006699"/>
                </a:solidFill>
              </a:rPr>
              <a:t>Command-Line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(</a:t>
            </a:r>
            <a:r>
              <a:rPr lang="en-US" altLang="en-US" sz="1800" b="1" dirty="0">
                <a:solidFill>
                  <a:srgbClr val="006699"/>
                </a:solidFill>
              </a:rPr>
              <a:t>CLI</a:t>
            </a:r>
            <a:r>
              <a:rPr lang="en-US" altLang="en-US" sz="1800" dirty="0"/>
              <a:t>)</a:t>
            </a:r>
            <a:r>
              <a:rPr lang="en-US" altLang="en-US" sz="1800" dirty="0">
                <a:solidFill>
                  <a:srgbClr val="000000"/>
                </a:solidFill>
              </a:rPr>
              <a:t>, </a:t>
            </a:r>
            <a:r>
              <a:rPr lang="en-US" altLang="en-US" sz="1800" b="1" dirty="0">
                <a:solidFill>
                  <a:srgbClr val="006699"/>
                </a:solidFill>
              </a:rPr>
              <a:t>Graphics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</a:rPr>
              <a:t>User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</a:rPr>
              <a:t>Interface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(</a:t>
            </a:r>
            <a:r>
              <a:rPr lang="en-US" altLang="en-US" sz="1800" b="1" dirty="0">
                <a:solidFill>
                  <a:srgbClr val="006699"/>
                </a:solidFill>
              </a:rPr>
              <a:t>GUI</a:t>
            </a:r>
            <a:r>
              <a:rPr lang="en-US" altLang="en-US" sz="1800" dirty="0"/>
              <a:t>)</a:t>
            </a:r>
            <a:r>
              <a:rPr lang="en-US" altLang="en-US" sz="1800" dirty="0">
                <a:solidFill>
                  <a:srgbClr val="000000"/>
                </a:solidFill>
              </a:rPr>
              <a:t>,</a:t>
            </a:r>
            <a:r>
              <a:rPr lang="en-US" altLang="en-US" sz="1800" b="1" dirty="0">
                <a:solidFill>
                  <a:srgbClr val="3366FF"/>
                </a:solidFill>
              </a:rPr>
              <a:t>  </a:t>
            </a:r>
            <a:r>
              <a:rPr lang="en-US" altLang="en-US" sz="1800" b="1" dirty="0">
                <a:solidFill>
                  <a:srgbClr val="006699"/>
                </a:solidFill>
              </a:rPr>
              <a:t>touch-screen</a:t>
            </a:r>
            <a:r>
              <a:rPr lang="en-US" altLang="en-US" sz="1800" b="1" dirty="0">
                <a:solidFill>
                  <a:srgbClr val="3366FF"/>
                </a:solidFill>
              </a:rPr>
              <a:t>,  </a:t>
            </a:r>
            <a:r>
              <a:rPr lang="en-US" altLang="en-US" sz="1800" b="1" dirty="0">
                <a:solidFill>
                  <a:srgbClr val="006699"/>
                </a:solidFill>
              </a:rPr>
              <a:t>Batch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FF0000"/>
                </a:solidFill>
                <a:cs typeface="Calibri" panose="020F0502020204030204" pitchFamily="34" charset="0"/>
              </a:rPr>
              <a:t>Program execution manipulation </a:t>
            </a:r>
            <a:r>
              <a:rPr lang="en-US" altLang="en-US" sz="1800" dirty="0">
                <a:cs typeface="Calibri" panose="020F0502020204030204" pitchFamily="34" charset="0"/>
              </a:rPr>
              <a:t>- The system must be able to load a program into memory and to run that program, end execution, either normally or abnormally (indicating error)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FF0000"/>
                </a:solidFill>
                <a:cs typeface="Calibri" panose="020F0502020204030204" pitchFamily="34" charset="0"/>
              </a:rPr>
              <a:t>I/O operations </a:t>
            </a:r>
            <a:r>
              <a:rPr lang="en-US" altLang="en-US" sz="1800" dirty="0">
                <a:cs typeface="Calibri" panose="020F0502020204030204" pitchFamily="34" charset="0"/>
              </a:rPr>
              <a:t>-  A running program may require I/O, which may involve a file or an I/O device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FF0000"/>
                </a:solidFill>
                <a:cs typeface="Calibri" panose="020F0502020204030204" pitchFamily="34" charset="0"/>
              </a:rPr>
              <a:t>File-system manipulation </a:t>
            </a:r>
            <a:r>
              <a:rPr lang="en-US" altLang="en-US" sz="1800" dirty="0">
                <a:cs typeface="Calibri" panose="020F0502020204030204" pitchFamily="34" charset="0"/>
              </a:rPr>
              <a:t>-  The file system is of particular interest. Programs need to read and write files and directories, create and delete them, search them, list file Information, permission management.</a:t>
            </a:r>
            <a:endParaRPr lang="en-US" altLang="en-US" sz="1800" b="1" dirty="0"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9950AD-E10D-AE83-BF54-20A03AD17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53D310B-2F05-42DF-BD11-7984E309A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2868" y="165497"/>
            <a:ext cx="6831674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Operating System Services (2)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7DE154C-EBA1-44B0-9AA5-AD6DB9C31D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4933" y="810394"/>
            <a:ext cx="8280399" cy="3744673"/>
          </a:xfrm>
          <a:noFill/>
        </p:spPr>
        <p:txBody>
          <a:bodyPr/>
          <a:lstStyle/>
          <a:p>
            <a:r>
              <a:rPr lang="en-US" altLang="en-US" sz="2000" dirty="0">
                <a:cs typeface="Calibri" panose="020F0502020204030204" pitchFamily="34" charset="0"/>
              </a:rPr>
              <a:t>An operating system provides environments and services to programs and users, including (Cont.)</a:t>
            </a:r>
            <a:endParaRPr lang="en-US" altLang="en-US" sz="2000" b="1" dirty="0">
              <a:cs typeface="Calibri" panose="020F0502020204030204" pitchFamily="34" charset="0"/>
            </a:endParaRPr>
          </a:p>
          <a:p>
            <a:pPr lvl="1"/>
            <a:r>
              <a:rPr lang="en-US" altLang="en-US" sz="1800" b="1" dirty="0">
                <a:solidFill>
                  <a:srgbClr val="FF0000"/>
                </a:solidFill>
                <a:cs typeface="Calibri" panose="020F0502020204030204" pitchFamily="34" charset="0"/>
              </a:rPr>
              <a:t>Communications</a:t>
            </a:r>
            <a:r>
              <a:rPr lang="en-US" altLang="en-US" sz="1800" dirty="0">
                <a:cs typeface="Calibri" panose="020F0502020204030204" pitchFamily="34" charset="0"/>
              </a:rPr>
              <a:t> – Processes may exchange information, on the same computer or between computers over a network</a:t>
            </a:r>
          </a:p>
          <a:p>
            <a:pPr lvl="2"/>
            <a:r>
              <a:rPr lang="en-US" altLang="en-US" sz="1800" dirty="0"/>
              <a:t>Communications may be via shared memory or through message passing (packets moved by the OS)</a:t>
            </a:r>
          </a:p>
          <a:p>
            <a:pPr lvl="1"/>
            <a:r>
              <a:rPr lang="en-US" altLang="en-US" sz="1800" b="1" dirty="0">
                <a:solidFill>
                  <a:srgbClr val="FF0000"/>
                </a:solidFill>
                <a:cs typeface="Calibri" panose="020F0502020204030204" pitchFamily="34" charset="0"/>
              </a:rPr>
              <a:t>Error detection </a:t>
            </a:r>
            <a:r>
              <a:rPr lang="en-US" altLang="en-US" sz="1800" dirty="0">
                <a:cs typeface="Calibri" panose="020F0502020204030204" pitchFamily="34" charset="0"/>
              </a:rPr>
              <a:t>– OS needs to be constantly aware of possible errors</a:t>
            </a:r>
          </a:p>
          <a:p>
            <a:pPr lvl="2"/>
            <a:r>
              <a:rPr lang="en-US" altLang="en-US" sz="1800" dirty="0"/>
              <a:t>May occur in the CPU and memory hardware, in I/O devices, in user program</a:t>
            </a:r>
          </a:p>
          <a:p>
            <a:pPr lvl="2"/>
            <a:r>
              <a:rPr lang="en-US" altLang="en-US" sz="1800" dirty="0"/>
              <a:t>For each type of error, OS should take the appropriate action to ensure correct and consistent computing</a:t>
            </a:r>
          </a:p>
          <a:p>
            <a:pPr lvl="2"/>
            <a:r>
              <a:rPr lang="en-US" altLang="en-US" sz="1800" dirty="0"/>
              <a:t>Debugging facilities can greatly enhance the user’</a:t>
            </a:r>
            <a:r>
              <a:rPr lang="en-US" altLang="ja-JP" sz="1800" dirty="0"/>
              <a:t>s and programmer’s abilities to efficiently use the system</a:t>
            </a:r>
            <a:endParaRPr lang="en-US" altLang="en-US" sz="1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6306068-51D9-C0B5-303F-B2314C4BCC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A9EE909-C5A2-41F1-A857-667DFBB54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934" y="165497"/>
            <a:ext cx="679384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Operating System Services (3)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3A7443B-7ADA-4411-B376-7A65FA9BD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8134" y="813541"/>
            <a:ext cx="7814734" cy="375845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Another set of OS functions exists for ensuring the efficient operation of the system itself via resource sharing</a:t>
            </a:r>
          </a:p>
          <a:p>
            <a:pPr lvl="1">
              <a:lnSpc>
                <a:spcPct val="90000"/>
              </a:lnSpc>
            </a:pPr>
            <a:r>
              <a:rPr lang="en-US" altLang="en-US" sz="1700" b="1" dirty="0">
                <a:solidFill>
                  <a:srgbClr val="FF0000"/>
                </a:solidFill>
              </a:rPr>
              <a:t>Resource allocation </a:t>
            </a:r>
            <a:r>
              <a:rPr lang="en-US" altLang="en-US" sz="1700" b="1" dirty="0"/>
              <a:t>- </a:t>
            </a:r>
            <a:r>
              <a:rPr lang="en-US" altLang="en-US" sz="1700" dirty="0"/>
              <a:t>When  multiple users or multiple jobs running concurrently, resources must be allocated to each of them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Many types of resources - CPU cycles, main memory, file storage, I/O devices.</a:t>
            </a:r>
          </a:p>
          <a:p>
            <a:pPr lvl="1">
              <a:lnSpc>
                <a:spcPct val="90000"/>
              </a:lnSpc>
            </a:pPr>
            <a:r>
              <a:rPr lang="en-US" altLang="en-US" sz="1700" b="1" dirty="0">
                <a:solidFill>
                  <a:srgbClr val="FF0000"/>
                </a:solidFill>
              </a:rPr>
              <a:t>Logging</a:t>
            </a:r>
            <a:r>
              <a:rPr lang="en-US" altLang="en-US" sz="1700" b="1" dirty="0"/>
              <a:t> -</a:t>
            </a:r>
            <a:r>
              <a:rPr lang="en-US" altLang="en-US" sz="1700" dirty="0"/>
              <a:t> To keep track of which users use how much and what kinds of computer resources</a:t>
            </a:r>
          </a:p>
          <a:p>
            <a:pPr lvl="1">
              <a:lnSpc>
                <a:spcPct val="90000"/>
              </a:lnSpc>
            </a:pPr>
            <a:r>
              <a:rPr lang="en-US" altLang="en-US" sz="1700" b="1" dirty="0">
                <a:solidFill>
                  <a:srgbClr val="FF0000"/>
                </a:solidFill>
              </a:rPr>
              <a:t>Protection and security </a:t>
            </a:r>
            <a:r>
              <a:rPr lang="en-US" altLang="en-US" sz="1700" b="1" dirty="0"/>
              <a:t>- </a:t>
            </a:r>
            <a:r>
              <a:rPr lang="en-US" altLang="en-US" sz="1700" dirty="0"/>
              <a:t>The owners of information stored in a multiuser or networked computer system may want to control use of that information, concurrent processes should not interfere with each other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Protection involves ensuring that all access to system resources is controlled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Security of the system from outsiders requires user authentication, extends to defending external I/O devices from invalid access attempts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45E052-D6C4-B79E-9174-B915F7A6E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184A6F67-063F-4959-9060-0C6E5AFA8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154782"/>
            <a:ext cx="7933268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A Functionality View of OS Services</a:t>
            </a:r>
          </a:p>
        </p:txBody>
      </p:sp>
      <p:pic>
        <p:nvPicPr>
          <p:cNvPr id="17411" name="Picture 2">
            <a:extLst>
              <a:ext uri="{FF2B5EF4-FFF2-40B4-BE49-F238E27FC236}">
                <a16:creationId xmlns:a16="http://schemas.microsoft.com/office/drawing/2014/main" id="{881CA9B9-B059-4545-AFC1-C78134667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713" y="991984"/>
            <a:ext cx="6764954" cy="3368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54F31C-F978-1C56-BA7C-EBB25D02B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48B5D98-8B47-4D7E-ACEF-BDB67E334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068" y="165497"/>
            <a:ext cx="703844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Command Line interpreter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E634D89-B552-404F-9BDB-6AB7E838A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2068" y="858706"/>
            <a:ext cx="7738533" cy="2493883"/>
          </a:xfrm>
        </p:spPr>
        <p:txBody>
          <a:bodyPr/>
          <a:lstStyle/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CLI allows direct command entry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Sometimes implemented in kernel, sometimes by systems program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Sometimes multiple flavors implemented –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shells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Primarily fetches a command from user and executes it</a:t>
            </a:r>
          </a:p>
          <a:p>
            <a:r>
              <a:rPr lang="en-US" altLang="en-US" sz="2000" dirty="0">
                <a:ea typeface="+mn-ea"/>
                <a:cs typeface="Calibri" panose="020F0502020204030204" pitchFamily="34" charset="0"/>
              </a:rPr>
              <a:t>Sometimes commands built-in, sometimes just names of programs</a:t>
            </a:r>
          </a:p>
          <a:p>
            <a:pPr lvl="1"/>
            <a:r>
              <a:rPr lang="en-US" altLang="en-US" sz="2000" dirty="0">
                <a:ea typeface="+mn-ea"/>
                <a:cs typeface="Calibri" panose="020F0502020204030204" pitchFamily="34" charset="0"/>
              </a:rPr>
              <a:t>If the latter, adding new features doesn’</a:t>
            </a:r>
            <a:r>
              <a:rPr lang="en-US" altLang="ja-JP" sz="2000" dirty="0">
                <a:ea typeface="+mn-ea"/>
                <a:cs typeface="Calibri" panose="020F0502020204030204" pitchFamily="34" charset="0"/>
              </a:rPr>
              <a:t>t require shell modification</a:t>
            </a:r>
            <a:endParaRPr lang="en-US" altLang="en-US" sz="2000" dirty="0"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B78E42-AC5C-7590-EEDB-899767002E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6DF5F8A-F2E3-4D74-9C52-A032EB053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467" y="165497"/>
            <a:ext cx="7814733" cy="432197"/>
          </a:xfrm>
        </p:spPr>
        <p:txBody>
          <a:bodyPr/>
          <a:lstStyle/>
          <a:p>
            <a:pPr eaLnBrk="1" hangingPunct="1"/>
            <a:r>
              <a:rPr lang="en-US" altLang="en-US" sz="3200" dirty="0" err="1"/>
              <a:t>Bourne</a:t>
            </a:r>
            <a:r>
              <a:rPr lang="en-US" altLang="en-US" sz="3200" dirty="0"/>
              <a:t> Shell Command Interpreter</a:t>
            </a:r>
          </a:p>
        </p:txBody>
      </p:sp>
      <p:pic>
        <p:nvPicPr>
          <p:cNvPr id="21507" name="Picture 2">
            <a:extLst>
              <a:ext uri="{FF2B5EF4-FFF2-40B4-BE49-F238E27FC236}">
                <a16:creationId xmlns:a16="http://schemas.microsoft.com/office/drawing/2014/main" id="{1A3B6206-A655-48E2-8075-716970A25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520" y="852817"/>
            <a:ext cx="5373945" cy="37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8D4251-791E-E21D-013D-DE71B2D8A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02E63FB-6DD1-46DC-8471-F576D57E7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1" y="160735"/>
            <a:ext cx="6657182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User Operating System Interface - GUI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D7BD939-320C-4E60-8319-6ADBC111D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1" y="872728"/>
            <a:ext cx="7577666" cy="3398044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User-friendly </a:t>
            </a:r>
            <a:r>
              <a:rPr lang="en-US" altLang="en-US" sz="20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desktop</a:t>
            </a:r>
            <a:r>
              <a:rPr lang="en-US" altLang="en-US" sz="2000" dirty="0">
                <a:ea typeface="+mn-ea"/>
                <a:cs typeface="Calibri" panose="020F0502020204030204" pitchFamily="34" charset="0"/>
              </a:rPr>
              <a:t> metaphor interface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Usually mouse, keyboard, and monitor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Icons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 represent files, programs, actions, </a:t>
            </a:r>
            <a:r>
              <a:rPr lang="en-US" altLang="en-US" sz="1800" dirty="0" err="1">
                <a:ea typeface="+mn-ea"/>
                <a:cs typeface="Calibri" panose="020F0502020204030204" pitchFamily="34" charset="0"/>
              </a:rPr>
              <a:t>etc</a:t>
            </a:r>
            <a:endParaRPr lang="en-US" altLang="en-US" sz="1800" dirty="0">
              <a:ea typeface="+mn-ea"/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Various mouse buttons over objects in the interface cause various actions (provide information, options, execute function, open directory (known as a </a:t>
            </a:r>
            <a:r>
              <a:rPr lang="en-US" altLang="en-US" sz="1800" b="1" dirty="0">
                <a:solidFill>
                  <a:srgbClr val="006699"/>
                </a:solidFill>
                <a:ea typeface="+mn-ea"/>
                <a:cs typeface="Calibri" panose="020F0502020204030204" pitchFamily="34" charset="0"/>
              </a:rPr>
              <a:t>folder</a:t>
            </a:r>
            <a:r>
              <a:rPr lang="en-US" altLang="en-US" sz="1800" dirty="0">
                <a:ea typeface="+mn-ea"/>
                <a:cs typeface="Calibri" panose="020F0502020204030204" pitchFamily="34" charset="0"/>
              </a:rPr>
              <a:t>)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Invented at Xerox PARC</a:t>
            </a:r>
          </a:p>
          <a:p>
            <a:pPr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Many systems now include both CLI and GUI interfaces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Microsoft Windows is GUI with CLI </a:t>
            </a:r>
            <a:r>
              <a:rPr lang="ja-JP" altLang="en-US" sz="1800" dirty="0">
                <a:ea typeface="+mn-ea"/>
                <a:cs typeface="Calibri" panose="020F0502020204030204" pitchFamily="34" charset="0"/>
              </a:rPr>
              <a:t>“</a:t>
            </a:r>
            <a:r>
              <a:rPr lang="en-US" altLang="ja-JP" sz="1800" dirty="0">
                <a:ea typeface="+mn-ea"/>
                <a:cs typeface="Calibri" panose="020F0502020204030204" pitchFamily="34" charset="0"/>
              </a:rPr>
              <a:t>command</a:t>
            </a:r>
            <a:r>
              <a:rPr lang="ja-JP" altLang="en-US" sz="1800" dirty="0">
                <a:ea typeface="+mn-ea"/>
                <a:cs typeface="Calibri" panose="020F0502020204030204" pitchFamily="34" charset="0"/>
              </a:rPr>
              <a:t>”</a:t>
            </a:r>
            <a:r>
              <a:rPr lang="en-US" altLang="ja-JP" sz="1800" dirty="0">
                <a:ea typeface="+mn-ea"/>
                <a:cs typeface="Calibri" panose="020F0502020204030204" pitchFamily="34" charset="0"/>
              </a:rPr>
              <a:t> shell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Apple Mac OS X is </a:t>
            </a:r>
            <a:r>
              <a:rPr lang="ja-JP" altLang="en-US" sz="1800" dirty="0">
                <a:ea typeface="+mn-ea"/>
                <a:cs typeface="Calibri" panose="020F0502020204030204" pitchFamily="34" charset="0"/>
              </a:rPr>
              <a:t>“</a:t>
            </a:r>
            <a:r>
              <a:rPr lang="en-US" altLang="ja-JP" sz="1800" dirty="0">
                <a:ea typeface="+mn-ea"/>
                <a:cs typeface="Calibri" panose="020F0502020204030204" pitchFamily="34" charset="0"/>
              </a:rPr>
              <a:t>Aqua</a:t>
            </a:r>
            <a:r>
              <a:rPr lang="ja-JP" altLang="en-US" sz="1800" dirty="0">
                <a:ea typeface="+mn-ea"/>
                <a:cs typeface="Calibri" panose="020F0502020204030204" pitchFamily="34" charset="0"/>
              </a:rPr>
              <a:t>”</a:t>
            </a:r>
            <a:r>
              <a:rPr lang="en-US" altLang="ja-JP" sz="1800" dirty="0">
                <a:ea typeface="+mn-ea"/>
                <a:cs typeface="Calibri" panose="020F0502020204030204" pitchFamily="34" charset="0"/>
              </a:rPr>
              <a:t> GUI interface with UNIX kernel underneath and shells available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Unix and Linux have CLI with optional GUI interfaces (CDE, KDE, GNOME)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9466AC-45E1-C39D-84D6-B86457C59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E085D8E-E398-4442-A204-AD137376E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067" y="171451"/>
            <a:ext cx="667411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Touchscreen Interfaces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E55E5F6-E4A2-477B-85A4-044819521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6000" y="877738"/>
            <a:ext cx="5155301" cy="1780795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ea typeface="ＭＳ Ｐゴシック" charset="-128"/>
              </a:rPr>
              <a:t>Touchscreen devices require new interfaces</a:t>
            </a:r>
          </a:p>
          <a:p>
            <a:pPr lvl="1">
              <a:defRPr/>
            </a:pPr>
            <a:r>
              <a:rPr lang="en-US" sz="1800" dirty="0">
                <a:ea typeface="ＭＳ Ｐゴシック" charset="-128"/>
              </a:rPr>
              <a:t>Mouse not possible or not desired</a:t>
            </a:r>
          </a:p>
          <a:p>
            <a:pPr lvl="1">
              <a:defRPr/>
            </a:pPr>
            <a:r>
              <a:rPr lang="en-US" sz="1800" dirty="0">
                <a:ea typeface="ＭＳ Ｐゴシック" charset="-128"/>
              </a:rPr>
              <a:t>Actions and selection based on gestures</a:t>
            </a:r>
          </a:p>
          <a:p>
            <a:pPr lvl="1">
              <a:defRPr/>
            </a:pPr>
            <a:r>
              <a:rPr lang="en-US" sz="1800" dirty="0">
                <a:ea typeface="ＭＳ Ｐゴシック" charset="-128"/>
              </a:rPr>
              <a:t>Virtual keyboard for text entry</a:t>
            </a:r>
          </a:p>
          <a:p>
            <a:pPr>
              <a:defRPr/>
            </a:pPr>
            <a:r>
              <a:rPr lang="en-US" sz="2000" dirty="0">
                <a:ea typeface="ＭＳ Ｐゴシック" charset="-128"/>
              </a:rPr>
              <a:t>Voice commands</a:t>
            </a:r>
          </a:p>
        </p:txBody>
      </p:sp>
      <p:pic>
        <p:nvPicPr>
          <p:cNvPr id="25604" name="Picture 2">
            <a:extLst>
              <a:ext uri="{FF2B5EF4-FFF2-40B4-BE49-F238E27FC236}">
                <a16:creationId xmlns:a16="http://schemas.microsoft.com/office/drawing/2014/main" id="{CCAA7F76-25AE-454A-9EE9-98408A611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768" y="877738"/>
            <a:ext cx="2040632" cy="3628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46815A-B45D-8777-2F30-2F21BC5E83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3933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551A60BE-6FD2-4F4A-A1E6-2481BBFE0F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170260"/>
            <a:ext cx="668218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The Mac OS X GUI</a:t>
            </a:r>
          </a:p>
        </p:txBody>
      </p:sp>
      <p:pic>
        <p:nvPicPr>
          <p:cNvPr id="27651" name="Picture 2">
            <a:extLst>
              <a:ext uri="{FF2B5EF4-FFF2-40B4-BE49-F238E27FC236}">
                <a16:creationId xmlns:a16="http://schemas.microsoft.com/office/drawing/2014/main" id="{B0B2C641-FBF3-4549-BC82-4C37E0EC9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816" y="959644"/>
            <a:ext cx="6085284" cy="3423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32DE17-7AA1-DBC1-1B4A-9B7B3EBD3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B842699-2411-46DA-9E86-71B3FFE9F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0533" y="165497"/>
            <a:ext cx="6651361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System Calls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2749591-DE3A-4DDD-A1C5-F255815745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0532" y="882966"/>
            <a:ext cx="7462356" cy="253187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Programming interface to the services provided by the OS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Typically written in a high-level language (C or C++)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Mostly accessed by programs via a high-level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Application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Programming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Interface</a:t>
            </a:r>
            <a:r>
              <a:rPr lang="en-US" altLang="en-US" sz="20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solidFill>
                  <a:srgbClr val="000000"/>
                </a:solidFill>
                <a:cs typeface="Calibri" panose="020F0502020204030204" pitchFamily="34" charset="0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cs typeface="Calibri" panose="020F0502020204030204" pitchFamily="34" charset="0"/>
              </a:rPr>
              <a:t>API</a:t>
            </a:r>
            <a:r>
              <a:rPr lang="en-US" altLang="en-US" sz="2000" dirty="0">
                <a:solidFill>
                  <a:srgbClr val="000000"/>
                </a:solidFill>
                <a:cs typeface="Calibri" panose="020F0502020204030204" pitchFamily="34" charset="0"/>
              </a:rPr>
              <a:t>)</a:t>
            </a:r>
            <a:r>
              <a:rPr lang="en-US" altLang="en-US" sz="2000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2000" dirty="0">
                <a:cs typeface="Calibri" panose="020F0502020204030204" pitchFamily="34" charset="0"/>
              </a:rPr>
              <a:t>rather than direct system call use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Three most common APIs are Win32 API for Windows, POSIX API for POSIX-based systems (including virtually all versions of UNIX, Linux, and Mac OS X), and Java API for the Java virtual machine (JVM)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55144004-C2FB-40D0-9742-3DE46A26D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693" y="3570209"/>
            <a:ext cx="6538778" cy="3139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kumimoji="1" lang="en-US" altLang="en-US" sz="1600" dirty="0">
                <a:latin typeface="+mn-lt"/>
              </a:rPr>
              <a:t>Note that the system-call names used throughout this text are generic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6365B8-C9FB-DCB0-261D-18EE47B72A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C14F633-D8B3-443E-B572-5804D4ED7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160735"/>
            <a:ext cx="6654800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Example of System Calls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538ABAD4-459A-43EE-99FF-36E56E658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830223"/>
            <a:ext cx="7645400" cy="432197"/>
          </a:xfrm>
        </p:spPr>
        <p:txBody>
          <a:bodyPr/>
          <a:lstStyle/>
          <a:p>
            <a:r>
              <a:rPr lang="en-US" altLang="en-US" sz="2000" dirty="0"/>
              <a:t>System call sequence to copy the contents of one file to another file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68BA481-212D-FEEA-2389-7BC08664D257}"/>
              </a:ext>
            </a:extLst>
          </p:cNvPr>
          <p:cNvGrpSpPr/>
          <p:nvPr/>
        </p:nvGrpSpPr>
        <p:grpSpPr>
          <a:xfrm>
            <a:off x="2345531" y="1499711"/>
            <a:ext cx="4452938" cy="3013472"/>
            <a:chOff x="1458913" y="1965325"/>
            <a:chExt cx="5937250" cy="4017963"/>
          </a:xfrm>
        </p:grpSpPr>
        <p:pic>
          <p:nvPicPr>
            <p:cNvPr id="31748" name="Picture 5">
              <a:extLst>
                <a:ext uri="{FF2B5EF4-FFF2-40B4-BE49-F238E27FC236}">
                  <a16:creationId xmlns:a16="http://schemas.microsoft.com/office/drawing/2014/main" id="{AAE1048A-764C-48F0-A738-BA0A29DCBE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8913" y="1965325"/>
              <a:ext cx="5937250" cy="401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49" name="Line 6">
              <a:extLst>
                <a:ext uri="{FF2B5EF4-FFF2-40B4-BE49-F238E27FC236}">
                  <a16:creationId xmlns:a16="http://schemas.microsoft.com/office/drawing/2014/main" id="{829D7286-9D2A-4CC2-99A2-293356FA0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2022475"/>
              <a:ext cx="0" cy="420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  <p:sp>
          <p:nvSpPr>
            <p:cNvPr id="31750" name="Line 7">
              <a:extLst>
                <a:ext uri="{FF2B5EF4-FFF2-40B4-BE49-F238E27FC236}">
                  <a16:creationId xmlns:a16="http://schemas.microsoft.com/office/drawing/2014/main" id="{C5566A3B-AF3E-428A-96FC-E638B3477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363" y="2012950"/>
              <a:ext cx="0" cy="430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sz="1350"/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F003B6D-C7FB-B998-7CDB-31DA3253F9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84E76C4-FCC0-48D3-9013-1569EF2B2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165497"/>
            <a:ext cx="662860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Example of Standard API</a:t>
            </a:r>
          </a:p>
        </p:txBody>
      </p:sp>
      <p:pic>
        <p:nvPicPr>
          <p:cNvPr id="33795" name="Picture 2">
            <a:extLst>
              <a:ext uri="{FF2B5EF4-FFF2-40B4-BE49-F238E27FC236}">
                <a16:creationId xmlns:a16="http://schemas.microsoft.com/office/drawing/2014/main" id="{03F4BF88-895B-4F86-8811-FEB2E93B9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031" y="820870"/>
            <a:ext cx="3692902" cy="3766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325984-C7DF-28DF-B71D-561782B9AF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BE3AADB-0F3C-4172-8054-CC2DDF747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0533" y="163116"/>
            <a:ext cx="6609689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System Call Implementation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7C2873A-43D0-43EF-AF6C-1C08F69448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599" y="872728"/>
            <a:ext cx="7653867" cy="3597672"/>
          </a:xfrm>
        </p:spPr>
        <p:txBody>
          <a:bodyPr/>
          <a:lstStyle/>
          <a:p>
            <a:r>
              <a:rPr lang="en-US" altLang="en-US" sz="2000" dirty="0"/>
              <a:t>Typically, a number is  associated with each system call</a:t>
            </a:r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System-call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maintains a table indexed according to these numbers</a:t>
            </a:r>
          </a:p>
          <a:p>
            <a:r>
              <a:rPr lang="en-US" altLang="en-US" sz="2000" dirty="0"/>
              <a:t>The system call interface invokes  the intended system call in OS kernel and returns status of the system call and any return values</a:t>
            </a:r>
          </a:p>
          <a:p>
            <a:r>
              <a:rPr lang="en-US" altLang="en-US" sz="2000" dirty="0"/>
              <a:t>The caller need know nothing about how the system call is implemented</a:t>
            </a:r>
          </a:p>
          <a:p>
            <a:pPr lvl="1"/>
            <a:r>
              <a:rPr lang="en-US" altLang="en-US" sz="1800" dirty="0"/>
              <a:t>Just needs to obey API and understand what OS will do as a result call</a:t>
            </a:r>
          </a:p>
          <a:p>
            <a:pPr lvl="1"/>
            <a:r>
              <a:rPr lang="en-US" altLang="en-US" sz="1800" dirty="0"/>
              <a:t>Most details of  OS interface hidden from programmer by API  </a:t>
            </a:r>
          </a:p>
          <a:p>
            <a:pPr lvl="2"/>
            <a:r>
              <a:rPr lang="en-US" altLang="en-US" sz="1600" dirty="0"/>
              <a:t>Managed by run-time support library (set of functions built into libraries included with compiler)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FEB192-1F06-788D-CD75-C49569132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699CD33-3BF1-41C4-ABEC-D6F4D3F643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8267" y="158353"/>
            <a:ext cx="7916333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API – System Call – OS Relationship</a:t>
            </a:r>
          </a:p>
        </p:txBody>
      </p:sp>
      <p:pic>
        <p:nvPicPr>
          <p:cNvPr id="37891" name="Picture 2">
            <a:extLst>
              <a:ext uri="{FF2B5EF4-FFF2-40B4-BE49-F238E27FC236}">
                <a16:creationId xmlns:a16="http://schemas.microsoft.com/office/drawing/2014/main" id="{B2409951-BBCF-4A1C-8570-76F67408B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927" y="947077"/>
            <a:ext cx="5669756" cy="3461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336FFC-A253-90EE-B5AC-5E0D94B630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E227535-43B6-4813-B8B2-3BC580705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467" y="163116"/>
            <a:ext cx="6683243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System Call Parameter Passing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769B199-F416-4325-B349-7CDA49598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5999" y="806581"/>
            <a:ext cx="7306733" cy="377388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Often, more information is required than simply identity of desired system call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cs typeface="Calibri" panose="020F0502020204030204" pitchFamily="34" charset="0"/>
              </a:rPr>
              <a:t>Exact type and amount of information vary according to OS and call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Three general methods used to pass parameters to the OS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cs typeface="Calibri" panose="020F0502020204030204" pitchFamily="34" charset="0"/>
              </a:rPr>
              <a:t>Simplest:  pass the parameters in registers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 In some cases, may be more parameters than registers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cs typeface="Calibri" panose="020F0502020204030204" pitchFamily="34" charset="0"/>
              </a:rPr>
              <a:t>Parameters stored in a block</a:t>
            </a:r>
            <a:r>
              <a:rPr lang="en-US" altLang="en-US" sz="1800" i="1" dirty="0">
                <a:cs typeface="Calibri" panose="020F0502020204030204" pitchFamily="34" charset="0"/>
              </a:rPr>
              <a:t>, </a:t>
            </a:r>
            <a:r>
              <a:rPr lang="en-US" altLang="en-US" sz="1800" dirty="0">
                <a:cs typeface="Calibri" panose="020F0502020204030204" pitchFamily="34" charset="0"/>
              </a:rPr>
              <a:t>or table, in memory, and address of block passed as a parameter in a register 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This approach taken by Linux and Solaris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cs typeface="Calibri" panose="020F0502020204030204" pitchFamily="34" charset="0"/>
              </a:rPr>
              <a:t>Parameters placed, or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pushed</a:t>
            </a:r>
            <a:r>
              <a:rPr lang="en-US" altLang="en-US" sz="1800" i="1" dirty="0">
                <a:cs typeface="Calibri" panose="020F0502020204030204" pitchFamily="34" charset="0"/>
              </a:rPr>
              <a:t>, </a:t>
            </a:r>
            <a:r>
              <a:rPr lang="en-US" altLang="en-US" sz="1800" dirty="0">
                <a:cs typeface="Calibri" panose="020F0502020204030204" pitchFamily="34" charset="0"/>
              </a:rPr>
              <a:t>onto the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stack</a:t>
            </a:r>
            <a:r>
              <a:rPr lang="en-US" altLang="en-US" sz="1800" i="1" dirty="0"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cs typeface="Calibri" panose="020F0502020204030204" pitchFamily="34" charset="0"/>
              </a:rPr>
              <a:t>by the program and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popped</a:t>
            </a:r>
            <a:r>
              <a:rPr lang="en-US" altLang="en-US" sz="1800" i="1" dirty="0"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cs typeface="Calibri" panose="020F0502020204030204" pitchFamily="34" charset="0"/>
              </a:rPr>
              <a:t>off the stack by the operating system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cs typeface="Calibri" panose="020F0502020204030204" pitchFamily="34" charset="0"/>
              </a:rPr>
              <a:t>Block and stack methods do not limit the number or length of parameters being passed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3AB811-EFF9-FC04-5F05-8240311C1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91C706E-593F-465E-8A89-60A10A2A9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468" y="155972"/>
            <a:ext cx="6655858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Parameter Passing via Table</a:t>
            </a:r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id="{DF782059-8E55-48AA-A75F-C88C61777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760" y="1232298"/>
            <a:ext cx="5873353" cy="3087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8BD609-4E5C-0EFF-0CA4-8191FB5E8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81CC25A-92E8-44D5-853F-5EA5E0E48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160735"/>
            <a:ext cx="673139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Types of System Calls (1)</a:t>
            </a:r>
          </a:p>
        </p:txBody>
      </p:sp>
      <p:sp>
        <p:nvSpPr>
          <p:cNvPr id="44035" name="Rectangle 4">
            <a:extLst>
              <a:ext uri="{FF2B5EF4-FFF2-40B4-BE49-F238E27FC236}">
                <a16:creationId xmlns:a16="http://schemas.microsoft.com/office/drawing/2014/main" id="{4FFFE9F1-36B8-4D67-9C3C-A4A661B03E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6733" y="872728"/>
            <a:ext cx="7493000" cy="329287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Process control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create process, terminate process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end, abort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load, execute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get process attributes, set process attributes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wait for time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wait event, signal event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allocate and free memory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Dump memory if error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Debugger</a:t>
            </a:r>
            <a:r>
              <a:rPr lang="en-US" altLang="en-US" sz="1800" dirty="0">
                <a:cs typeface="Calibri" panose="020F0502020204030204" pitchFamily="34" charset="0"/>
              </a:rPr>
              <a:t> for determining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bugs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,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single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step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cs typeface="Calibri" panose="020F0502020204030204" pitchFamily="34" charset="0"/>
              </a:rPr>
              <a:t>execution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Locks</a:t>
            </a:r>
            <a:r>
              <a:rPr lang="en-US" altLang="en-US" sz="1800" dirty="0">
                <a:cs typeface="Calibri" panose="020F0502020204030204" pitchFamily="34" charset="0"/>
              </a:rPr>
              <a:t> for managing access to shared data between processes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D37EA9-C68B-8F35-AC7C-962E1DC4A6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>
            <a:extLst>
              <a:ext uri="{FF2B5EF4-FFF2-40B4-BE49-F238E27FC236}">
                <a16:creationId xmlns:a16="http://schemas.microsoft.com/office/drawing/2014/main" id="{4156D97E-B3F7-4D08-9926-F21EAB5326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1545" y="829999"/>
            <a:ext cx="6029722" cy="361500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1800" dirty="0"/>
              <a:t>File management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Create file, delete file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Open, close file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Read, write, reposition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Get and set file attributes</a:t>
            </a:r>
          </a:p>
          <a:p>
            <a:pPr>
              <a:spcBef>
                <a:spcPts val="0"/>
              </a:spcBef>
            </a:pPr>
            <a:r>
              <a:rPr lang="en-US" altLang="en-US" sz="1800" dirty="0"/>
              <a:t>Device management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Request device, release device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Read, write, reposition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Get device attributes, set device attributes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Logically attach or detach devices</a:t>
            </a:r>
          </a:p>
          <a:p>
            <a:pPr>
              <a:spcBef>
                <a:spcPts val="0"/>
              </a:spcBef>
            </a:pPr>
            <a:r>
              <a:rPr lang="en-US" altLang="en-US" sz="1800" dirty="0"/>
              <a:t>Information maintenance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Get time or date, set time or date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Get system data, set system data</a:t>
            </a:r>
          </a:p>
          <a:p>
            <a:pPr lvl="1">
              <a:spcBef>
                <a:spcPts val="0"/>
              </a:spcBef>
            </a:pPr>
            <a:r>
              <a:rPr lang="en-US" altLang="en-US" sz="1600" dirty="0"/>
              <a:t>Get and set process, file, or device attributes</a:t>
            </a: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1101D3E-F01E-4DD1-88DC-B60A703EA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0533" y="169069"/>
            <a:ext cx="6663268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Types of System Calls (2)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6EA363-20CA-31C9-F4C4-ED09102B2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F170523-A8A8-43C6-820A-D68F85AF0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70260"/>
            <a:ext cx="6617494" cy="432197"/>
          </a:xfrm>
        </p:spPr>
        <p:txBody>
          <a:bodyPr/>
          <a:lstStyle/>
          <a:p>
            <a:pPr eaLnBrk="1" hangingPunct="1"/>
            <a:r>
              <a:rPr lang="en-US" altLang="en-US" dirty="0"/>
              <a:t>Types of System Calls (3)</a:t>
            </a:r>
          </a:p>
        </p:txBody>
      </p:sp>
      <p:sp>
        <p:nvSpPr>
          <p:cNvPr id="48131" name="Rectangle 4">
            <a:extLst>
              <a:ext uri="{FF2B5EF4-FFF2-40B4-BE49-F238E27FC236}">
                <a16:creationId xmlns:a16="http://schemas.microsoft.com/office/drawing/2014/main" id="{3E675A7B-D65B-4A2E-A667-61009784B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58333" y="829443"/>
            <a:ext cx="7315200" cy="3480091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Communications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Create, delete communication connection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Send, receive messages if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message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passing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model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cs typeface="Calibri" panose="020F0502020204030204" pitchFamily="34" charset="0"/>
              </a:rPr>
              <a:t>to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host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name</a:t>
            </a:r>
            <a:r>
              <a:rPr lang="en-US" altLang="en-US" sz="1800" dirty="0">
                <a:cs typeface="Calibri" panose="020F0502020204030204" pitchFamily="34" charset="0"/>
              </a:rPr>
              <a:t> or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process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name</a:t>
            </a:r>
          </a:p>
          <a:p>
            <a:pPr lvl="2">
              <a:spcBef>
                <a:spcPts val="0"/>
              </a:spcBef>
            </a:pPr>
            <a:r>
              <a:rPr lang="en-US" altLang="en-US" sz="1800" dirty="0"/>
              <a:t>From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</a:rPr>
              <a:t>client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to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</a:rPr>
              <a:t>server</a:t>
            </a:r>
          </a:p>
          <a:p>
            <a:pPr lvl="1">
              <a:spcBef>
                <a:spcPts val="0"/>
              </a:spcBef>
            </a:pP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Shared-memory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cs typeface="Calibri" panose="020F0502020204030204" pitchFamily="34" charset="0"/>
              </a:rPr>
              <a:t>model</a:t>
            </a:r>
            <a:r>
              <a:rPr lang="en-US" altLang="en-US" sz="1800" b="1" dirty="0">
                <a:solidFill>
                  <a:srgbClr val="3366FF"/>
                </a:solidFill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cs typeface="Calibri" panose="020F0502020204030204" pitchFamily="34" charset="0"/>
              </a:rPr>
              <a:t>create and gain access to memory regions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Transfer status information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Attach and detach remote devices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Protection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Control access to resources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Get and set permissions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Allow and deny user access</a:t>
            </a:r>
          </a:p>
          <a:p>
            <a:pPr marL="342900" lvl="1" indent="0">
              <a:spcBef>
                <a:spcPts val="0"/>
              </a:spcBef>
              <a:buNone/>
            </a:pPr>
            <a:endParaRPr lang="en-US" altLang="en-US" sz="1800" dirty="0"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A17853-98D1-9ECC-AFF5-081F3A247B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D6FCD919-BAE3-4B7B-809E-209E2FB09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133704"/>
            <a:ext cx="7890933" cy="445778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Examples of Windows and Unix System Calls</a:t>
            </a:r>
          </a:p>
        </p:txBody>
      </p:sp>
      <p:pic>
        <p:nvPicPr>
          <p:cNvPr id="52227" name="Picture 4">
            <a:extLst>
              <a:ext uri="{FF2B5EF4-FFF2-40B4-BE49-F238E27FC236}">
                <a16:creationId xmlns:a16="http://schemas.microsoft.com/office/drawing/2014/main" id="{33A2F2E0-9064-41AD-8CF6-9D5D6130B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631" y="838994"/>
            <a:ext cx="3474636" cy="3755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0EDEEA6-065F-238D-87C0-10BE95846A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B422D298-022D-44F2-A04B-38156195F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933" y="166688"/>
            <a:ext cx="6611674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Standard C Library Example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3B6F1633-75BA-44BA-8653-0681C68C7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0" y="812136"/>
            <a:ext cx="7958667" cy="432197"/>
          </a:xfrm>
        </p:spPr>
        <p:txBody>
          <a:bodyPr/>
          <a:lstStyle/>
          <a:p>
            <a:r>
              <a:rPr lang="en-US" altLang="en-US" sz="2000" dirty="0"/>
              <a:t>C program invoking </a:t>
            </a:r>
            <a:r>
              <a:rPr lang="en-US" altLang="en-US" sz="2000" dirty="0" err="1"/>
              <a:t>printf</a:t>
            </a:r>
            <a:r>
              <a:rPr lang="en-US" altLang="en-US" sz="2000" dirty="0"/>
              <a:t>() library call, which calls write() system call</a:t>
            </a:r>
          </a:p>
        </p:txBody>
      </p:sp>
      <p:pic>
        <p:nvPicPr>
          <p:cNvPr id="54276" name="Picture 2">
            <a:extLst>
              <a:ext uri="{FF2B5EF4-FFF2-40B4-BE49-F238E27FC236}">
                <a16:creationId xmlns:a16="http://schemas.microsoft.com/office/drawing/2014/main" id="{89B408DE-A663-4E0E-A0FA-8F2D1E87A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737" y="1207354"/>
            <a:ext cx="3310467" cy="3398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43665EF-962E-0896-259E-E1A6FE7C8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99A476BD-0E04-4E34-92A4-16BA034F5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161926"/>
            <a:ext cx="6669485" cy="432197"/>
          </a:xfrm>
        </p:spPr>
        <p:txBody>
          <a:bodyPr/>
          <a:lstStyle/>
          <a:p>
            <a:r>
              <a:rPr lang="en-US" altLang="en-US" sz="3200" dirty="0"/>
              <a:t>Example - Arduino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1F501235-9681-4141-B622-1D7728DD9E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8067" y="934498"/>
            <a:ext cx="4574646" cy="2629902"/>
          </a:xfrm>
        </p:spPr>
        <p:txBody>
          <a:bodyPr/>
          <a:lstStyle/>
          <a:p>
            <a:r>
              <a:rPr lang="en-US" altLang="en-US" sz="2000" dirty="0"/>
              <a:t>Single-tasking</a:t>
            </a:r>
          </a:p>
          <a:p>
            <a:r>
              <a:rPr lang="en-US" altLang="en-US" sz="2000" dirty="0"/>
              <a:t>No operating system</a:t>
            </a:r>
          </a:p>
          <a:p>
            <a:r>
              <a:rPr lang="en-US" altLang="en-US" sz="2000" dirty="0"/>
              <a:t>Programs (sketch) loaded via USB into flash memory</a:t>
            </a:r>
          </a:p>
          <a:p>
            <a:r>
              <a:rPr lang="en-US" altLang="en-US" sz="2000" dirty="0"/>
              <a:t>Single memory space</a:t>
            </a:r>
          </a:p>
          <a:p>
            <a:r>
              <a:rPr lang="en-US" altLang="en-US" sz="2000" dirty="0"/>
              <a:t>Boot loader loads program</a:t>
            </a:r>
          </a:p>
          <a:p>
            <a:r>
              <a:rPr lang="en-US" altLang="en-US" sz="2000" dirty="0"/>
              <a:t>Program exit -&gt; shell reloaded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61E38B-9BD3-16C8-871C-87D5D8D60F92}"/>
              </a:ext>
            </a:extLst>
          </p:cNvPr>
          <p:cNvGrpSpPr/>
          <p:nvPr/>
        </p:nvGrpSpPr>
        <p:grpSpPr>
          <a:xfrm>
            <a:off x="5192713" y="1256799"/>
            <a:ext cx="3443287" cy="2629902"/>
            <a:chOff x="4441031" y="949568"/>
            <a:chExt cx="3443287" cy="2629902"/>
          </a:xfrm>
        </p:grpSpPr>
        <p:sp>
          <p:nvSpPr>
            <p:cNvPr id="56324" name="Rectangle 5">
              <a:extLst>
                <a:ext uri="{FF2B5EF4-FFF2-40B4-BE49-F238E27FC236}">
                  <a16:creationId xmlns:a16="http://schemas.microsoft.com/office/drawing/2014/main" id="{EE74204F-304A-484C-931B-3D190F5E8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031" y="3279388"/>
              <a:ext cx="3443287" cy="300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SzPct val="90000"/>
                <a:buFont typeface="Monotype Sorts" pitchFamily="-84" charset="2"/>
                <a:buNone/>
              </a:pPr>
              <a:r>
                <a:rPr lang="en-US" altLang="en-US" sz="1350" dirty="0"/>
                <a:t>At system startup          running a program</a:t>
              </a:r>
            </a:p>
          </p:txBody>
        </p:sp>
        <p:pic>
          <p:nvPicPr>
            <p:cNvPr id="56325" name="Picture 2">
              <a:extLst>
                <a:ext uri="{FF2B5EF4-FFF2-40B4-BE49-F238E27FC236}">
                  <a16:creationId xmlns:a16="http://schemas.microsoft.com/office/drawing/2014/main" id="{3D7E9EC8-C0AA-4A87-B993-D1E4AABF44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4715" y="949568"/>
              <a:ext cx="2948369" cy="2317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886450-8276-B285-ABE0-790A2A6AF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C7AD885-D28A-4AE1-BCC0-082E8F9D4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161926"/>
            <a:ext cx="6627416" cy="432197"/>
          </a:xfrm>
        </p:spPr>
        <p:txBody>
          <a:bodyPr/>
          <a:lstStyle/>
          <a:p>
            <a:r>
              <a:rPr lang="en-US" altLang="en-US" sz="3200" dirty="0"/>
              <a:t>Example - FreeBSD</a:t>
            </a:r>
          </a:p>
        </p:txBody>
      </p:sp>
      <p:pic>
        <p:nvPicPr>
          <p:cNvPr id="57348" name="Picture 2">
            <a:extLst>
              <a:ext uri="{FF2B5EF4-FFF2-40B4-BE49-F238E27FC236}">
                <a16:creationId xmlns:a16="http://schemas.microsoft.com/office/drawing/2014/main" id="{A51BFFAE-589E-4BC3-AFB7-2D6A9C24A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115" y="1148780"/>
            <a:ext cx="2024063" cy="2930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3553DF37-09AA-4821-AFCB-D93A473E1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9000" y="807086"/>
            <a:ext cx="5942013" cy="312245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/>
              <a:t>Unix variant</a:t>
            </a:r>
          </a:p>
          <a:p>
            <a:pPr>
              <a:spcBef>
                <a:spcPts val="0"/>
              </a:spcBef>
            </a:pPr>
            <a:r>
              <a:rPr lang="en-US" altLang="en-US" sz="2000" dirty="0"/>
              <a:t>Multitasking</a:t>
            </a:r>
          </a:p>
          <a:p>
            <a:pPr>
              <a:spcBef>
                <a:spcPts val="0"/>
              </a:spcBef>
            </a:pPr>
            <a:r>
              <a:rPr lang="en-US" altLang="en-US" sz="2000" dirty="0"/>
              <a:t>User login -&gt; invoke user’</a:t>
            </a:r>
            <a:r>
              <a:rPr lang="en-US" altLang="ja-JP" sz="2000" dirty="0"/>
              <a:t>s choice of shell</a:t>
            </a:r>
          </a:p>
          <a:p>
            <a:pPr>
              <a:spcBef>
                <a:spcPts val="0"/>
              </a:spcBef>
            </a:pPr>
            <a:r>
              <a:rPr lang="en-US" altLang="en-US" sz="2000" dirty="0"/>
              <a:t>Shell executes fork() system call to create process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Executes exec() to load program into process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Shell waits for process to terminate or continues with user commands</a:t>
            </a:r>
          </a:p>
          <a:p>
            <a:pPr>
              <a:spcBef>
                <a:spcPts val="0"/>
              </a:spcBef>
            </a:pPr>
            <a:r>
              <a:rPr lang="en-US" altLang="en-US" sz="2000" dirty="0"/>
              <a:t>Process exits with</a:t>
            </a:r>
          </a:p>
          <a:p>
            <a:pPr lvl="1">
              <a:spcBef>
                <a:spcPts val="0"/>
              </a:spcBef>
            </a:pPr>
            <a:r>
              <a:rPr lang="en-US" altLang="en-US" sz="2000" dirty="0"/>
              <a:t> </a:t>
            </a:r>
            <a:r>
              <a:rPr lang="en-US" altLang="en-US" sz="1800" dirty="0"/>
              <a:t>code = 0 – no error 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/>
              <a:t> code &gt; 0 – error code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E96484B-F2E4-DCA9-DD98-F31DF8C8CB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BAB5C763-1598-4AB4-AB9B-F1C1B35DA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200" y="163116"/>
            <a:ext cx="6566694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System Services (1)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A46F960-9F83-4DB3-8C85-8EB4B59F5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5200" y="823467"/>
            <a:ext cx="7797800" cy="3325203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System programs provide a convenient environment for program development and execution.  They can be divided into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File manipulation 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Status information sometimes stored in a file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Programming language support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Program loading and execution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Communications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Background services</a:t>
            </a:r>
          </a:p>
          <a:p>
            <a:pPr lvl="1"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Application programs</a:t>
            </a:r>
          </a:p>
          <a:p>
            <a:pPr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Most users’</a:t>
            </a:r>
            <a:r>
              <a:rPr lang="ja-JP" altLang="en-US" sz="2000" dirty="0">
                <a:ea typeface="+mn-ea"/>
                <a:cs typeface="Calibri" panose="020F0502020204030204" pitchFamily="34" charset="0"/>
              </a:rPr>
              <a:t> </a:t>
            </a:r>
            <a:r>
              <a:rPr lang="en-US" altLang="ja-JP" sz="2000" dirty="0">
                <a:ea typeface="+mn-ea"/>
                <a:cs typeface="Calibri" panose="020F0502020204030204" pitchFamily="34" charset="0"/>
              </a:rPr>
              <a:t>view of the operating system is defined by system programs, not the actual system calls</a:t>
            </a:r>
            <a:endParaRPr lang="en-US" altLang="en-US" sz="2000" dirty="0"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27729B-BA26-30EC-68B9-7AC3761506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4EAC52B-9D2D-4A55-866C-947C20391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2867" y="163116"/>
            <a:ext cx="6609027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System Services (2)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9895B5E-8C8B-46CB-ACFE-27F5984414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9533" y="864131"/>
            <a:ext cx="8305800" cy="3597802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Provide a convenient environment for program development and execution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cs typeface="Calibri" panose="020F0502020204030204" pitchFamily="34" charset="0"/>
              </a:rPr>
              <a:t>Some of them are simply user interfaces to system calls; others are considerably more complex</a:t>
            </a:r>
            <a:endParaRPr lang="en-US" altLang="en-US" sz="2000" dirty="0"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File management - Create, delete, copy, rename, print, dump, list, and generally manipulate files and directories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cs typeface="Calibri" panose="020F0502020204030204" pitchFamily="34" charset="0"/>
              </a:rPr>
              <a:t>Status information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Some ask the system for info - date, time, amount of available memory, disk space, number of users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Others provide detailed performance, logging, and debugging information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Typically, these programs format and print the output to the terminal or other output devices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Some systems implement  a </a:t>
            </a:r>
            <a:r>
              <a:rPr lang="en-US" altLang="en-US" sz="1800" dirty="0">
                <a:solidFill>
                  <a:srgbClr val="006699"/>
                </a:solidFill>
                <a:cs typeface="Calibri" panose="020F0502020204030204" pitchFamily="34" charset="0"/>
              </a:rPr>
              <a:t>registry</a:t>
            </a:r>
            <a:r>
              <a:rPr lang="en-US" altLang="en-US" sz="1800" dirty="0">
                <a:cs typeface="Calibri" panose="020F0502020204030204" pitchFamily="34" charset="0"/>
              </a:rPr>
              <a:t> - used to store and retrieve configuration information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4DF0AC-6B97-8781-870E-BE7B05E3F8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4F248A6-FEC6-47A1-A99A-98ABBC6C3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933" y="163116"/>
            <a:ext cx="6633105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System Services (3)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AC26365-FF38-4159-8CB6-E4B6F33D9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1401" y="835291"/>
            <a:ext cx="7594334" cy="3765584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File modification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Text editors to create and modify files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Special commands to search contents of files or perform transformations of the text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Programming-language support - Compilers, assemblers, debuggers and interpreters sometimes provided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Program loading and execution- Absolute loaders, relocatable loaders, linkage editors, and overlay-loaders, debugging systems for higher-level and machine language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>
                <a:ea typeface="+mn-ea"/>
                <a:cs typeface="Calibri" panose="020F0502020204030204" pitchFamily="34" charset="0"/>
              </a:rPr>
              <a:t>Communications - Provide the mechanism for creating virtual connections among processes, users, and computer systems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ea typeface="+mn-ea"/>
                <a:cs typeface="Calibri" panose="020F0502020204030204" pitchFamily="34" charset="0"/>
              </a:rPr>
              <a:t>Allow users to send messages to one another</a:t>
            </a:r>
            <a:r>
              <a:rPr lang="ja-JP" altLang="en-US" sz="1800" dirty="0">
                <a:ea typeface="+mn-ea"/>
                <a:cs typeface="Calibri" panose="020F0502020204030204" pitchFamily="34" charset="0"/>
              </a:rPr>
              <a:t>’</a:t>
            </a:r>
            <a:r>
              <a:rPr lang="en-US" altLang="ja-JP" sz="1800" dirty="0">
                <a:ea typeface="+mn-ea"/>
                <a:cs typeface="Calibri" panose="020F0502020204030204" pitchFamily="34" charset="0"/>
              </a:rPr>
              <a:t>s screens, browse web pages, send electronic-mail messages, log in remotely, transfer files from one machine to another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973E3A-2615-9A35-5617-1FC1E9888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9B64704-3592-4DF7-85E7-FB2DB85811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5" y="163116"/>
            <a:ext cx="6618986" cy="43219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System Services (4)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93ED54D-5EE3-433B-820F-AFAE8BC4B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1402" y="904775"/>
            <a:ext cx="7392202" cy="3426593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Background Services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Launch at boot time</a:t>
            </a:r>
          </a:p>
          <a:p>
            <a:pPr lvl="2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/>
              <a:t>Some for system startup, then terminate</a:t>
            </a:r>
          </a:p>
          <a:p>
            <a:pPr lvl="2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/>
              <a:t>Some from system boot to shutdown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Provide facilities like disk checking, process scheduling, error logging, printing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Run in user context not kernel context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Known as </a:t>
            </a:r>
            <a:r>
              <a:rPr lang="en-US" altLang="en-US" sz="1800" dirty="0">
                <a:solidFill>
                  <a:srgbClr val="006699"/>
                </a:solidFill>
                <a:cs typeface="Calibri" panose="020F0502020204030204" pitchFamily="34" charset="0"/>
              </a:rPr>
              <a:t>services</a:t>
            </a:r>
            <a:r>
              <a:rPr lang="en-US" altLang="en-US" sz="1800" dirty="0">
                <a:cs typeface="Calibri" panose="020F0502020204030204" pitchFamily="34" charset="0"/>
              </a:rPr>
              <a:t>, </a:t>
            </a:r>
            <a:r>
              <a:rPr lang="en-US" altLang="en-US" sz="1800" dirty="0">
                <a:solidFill>
                  <a:srgbClr val="006699"/>
                </a:solidFill>
                <a:cs typeface="Calibri" panose="020F0502020204030204" pitchFamily="34" charset="0"/>
              </a:rPr>
              <a:t>subsystems</a:t>
            </a:r>
            <a:r>
              <a:rPr lang="en-US" altLang="en-US" sz="1800" dirty="0">
                <a:cs typeface="Calibri" panose="020F0502020204030204" pitchFamily="34" charset="0"/>
              </a:rPr>
              <a:t>, </a:t>
            </a:r>
            <a:r>
              <a:rPr lang="en-US" altLang="en-US" sz="1800" dirty="0">
                <a:solidFill>
                  <a:srgbClr val="006699"/>
                </a:solidFill>
                <a:cs typeface="Calibri" panose="020F0502020204030204" pitchFamily="34" charset="0"/>
              </a:rPr>
              <a:t>daemons</a:t>
            </a:r>
            <a:r>
              <a:rPr lang="en-US" altLang="en-US" sz="1800" dirty="0">
                <a:cs typeface="Calibri" panose="020F0502020204030204" pitchFamily="34" charset="0"/>
              </a:rPr>
              <a:t> </a:t>
            </a:r>
            <a:endParaRPr lang="en-US" altLang="en-US" sz="2000" dirty="0"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en-US" sz="2000" dirty="0">
                <a:cs typeface="Calibri" panose="020F0502020204030204" pitchFamily="34" charset="0"/>
              </a:rPr>
              <a:t>Application programs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Don’t pertain to system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Run by users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Not typically considered part of OS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sz="1800" dirty="0">
                <a:cs typeface="Calibri" panose="020F0502020204030204" pitchFamily="34" charset="0"/>
              </a:rPr>
              <a:t>Launched by command line, mouse click, finger poke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057F23-988D-7CE4-5503-5D554BABA0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2551</TotalTime>
  <Words>1808</Words>
  <Application>Microsoft Office PowerPoint</Application>
  <PresentationFormat>全屏显示(16:9)</PresentationFormat>
  <Paragraphs>254</Paragraphs>
  <Slides>30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Monotype Sorts</vt:lpstr>
      <vt:lpstr>ＭＳ Ｐゴシック</vt:lpstr>
      <vt:lpstr>MS Sans Serif</vt:lpstr>
      <vt:lpstr>Arial</vt:lpstr>
      <vt:lpstr>Calibri</vt:lpstr>
      <vt:lpstr>Times New Roman</vt:lpstr>
      <vt:lpstr>Wingdings</vt:lpstr>
      <vt:lpstr>NTHU UniCloud</vt:lpstr>
      <vt:lpstr>CSC3150 –Operating Systems</vt:lpstr>
      <vt:lpstr>Outline</vt:lpstr>
      <vt:lpstr>Objectives</vt:lpstr>
      <vt:lpstr>Operating System Services (1)</vt:lpstr>
      <vt:lpstr>Operating System Services (2)</vt:lpstr>
      <vt:lpstr>Operating System Services (3)</vt:lpstr>
      <vt:lpstr>A Functionality View of OS Services</vt:lpstr>
      <vt:lpstr>Command Line interpreter </vt:lpstr>
      <vt:lpstr>Bourne Shell Command Interpreter</vt:lpstr>
      <vt:lpstr>User Operating System Interface - GUI</vt:lpstr>
      <vt:lpstr>Touchscreen Interfaces</vt:lpstr>
      <vt:lpstr>The Mac OS X GUI</vt:lpstr>
      <vt:lpstr>System Calls</vt:lpstr>
      <vt:lpstr>Example of System Calls</vt:lpstr>
      <vt:lpstr>Example of Standard API</vt:lpstr>
      <vt:lpstr>System Call Implementation</vt:lpstr>
      <vt:lpstr>API – System Call – OS Relationship</vt:lpstr>
      <vt:lpstr>System Call Parameter Passing</vt:lpstr>
      <vt:lpstr>Parameter Passing via Table</vt:lpstr>
      <vt:lpstr>Types of System Calls (1)</vt:lpstr>
      <vt:lpstr>Types of System Calls (2)</vt:lpstr>
      <vt:lpstr>Types of System Calls (3)</vt:lpstr>
      <vt:lpstr>Examples of Windows and Unix System Calls</vt:lpstr>
      <vt:lpstr>Standard C Library Example</vt:lpstr>
      <vt:lpstr>Example - Arduino</vt:lpstr>
      <vt:lpstr>Example - FreeBSD</vt:lpstr>
      <vt:lpstr>System Services (1)</vt:lpstr>
      <vt:lpstr>System Services (2)</vt:lpstr>
      <vt:lpstr>System Services (3)</vt:lpstr>
      <vt:lpstr>System Services (4)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290</cp:revision>
  <dcterms:created xsi:type="dcterms:W3CDTF">2015-06-05T07:23:35Z</dcterms:created>
  <dcterms:modified xsi:type="dcterms:W3CDTF">2025-07-25T03:40:46Z</dcterms:modified>
</cp:coreProperties>
</file>