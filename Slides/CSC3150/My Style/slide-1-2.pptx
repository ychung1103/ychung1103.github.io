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1"/>
  </p:notesMasterIdLst>
  <p:handoutMasterIdLst>
    <p:handoutMasterId r:id="rId42"/>
  </p:handoutMasterIdLst>
  <p:sldIdLst>
    <p:sldId id="256" r:id="rId2"/>
    <p:sldId id="347" r:id="rId3"/>
    <p:sldId id="348" r:id="rId4"/>
    <p:sldId id="377" r:id="rId5"/>
    <p:sldId id="378" r:id="rId6"/>
    <p:sldId id="379" r:id="rId7"/>
    <p:sldId id="366" r:id="rId8"/>
    <p:sldId id="407" r:id="rId9"/>
    <p:sldId id="380" r:id="rId10"/>
    <p:sldId id="381" r:id="rId11"/>
    <p:sldId id="435" r:id="rId12"/>
    <p:sldId id="384" r:id="rId13"/>
    <p:sldId id="385" r:id="rId14"/>
    <p:sldId id="391" r:id="rId15"/>
    <p:sldId id="409" r:id="rId16"/>
    <p:sldId id="400" r:id="rId17"/>
    <p:sldId id="434" r:id="rId18"/>
    <p:sldId id="367" r:id="rId19"/>
    <p:sldId id="369" r:id="rId20"/>
    <p:sldId id="370" r:id="rId21"/>
    <p:sldId id="414" r:id="rId22"/>
    <p:sldId id="371" r:id="rId23"/>
    <p:sldId id="372" r:id="rId24"/>
    <p:sldId id="416" r:id="rId25"/>
    <p:sldId id="386" r:id="rId26"/>
    <p:sldId id="432" r:id="rId27"/>
    <p:sldId id="398" r:id="rId28"/>
    <p:sldId id="389" r:id="rId29"/>
    <p:sldId id="390" r:id="rId30"/>
    <p:sldId id="401" r:id="rId31"/>
    <p:sldId id="431" r:id="rId32"/>
    <p:sldId id="402" r:id="rId33"/>
    <p:sldId id="387" r:id="rId34"/>
    <p:sldId id="392" r:id="rId35"/>
    <p:sldId id="412" r:id="rId36"/>
    <p:sldId id="394" r:id="rId37"/>
    <p:sldId id="395" r:id="rId38"/>
    <p:sldId id="396" r:id="rId39"/>
    <p:sldId id="436" r:id="rId40"/>
  </p:sldIdLst>
  <p:sldSz cx="9144000" cy="5143500" type="screen16x9"/>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guide id="3" orient="horz" pos="162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4F81BD"/>
    <a:srgbClr val="8064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9" d="100"/>
          <a:sy n="79" d="100"/>
        </p:scale>
        <p:origin x="872" y="60"/>
      </p:cViewPr>
      <p:guideLst>
        <p:guide orient="horz" pos="2160"/>
        <p:guide pos="2880"/>
        <p:guide orient="horz" pos="1620"/>
      </p:guideLst>
    </p:cSldViewPr>
  </p:slideViewPr>
  <p:notesTextViewPr>
    <p:cViewPr>
      <p:scale>
        <a:sx n="1" d="1"/>
        <a:sy n="1" d="1"/>
      </p:scale>
      <p:origin x="0" y="0"/>
    </p:cViewPr>
  </p:notesTextViewPr>
  <p:sorterViewPr>
    <p:cViewPr varScale="1">
      <p:scale>
        <a:sx n="1" d="1"/>
        <a:sy n="1" d="1"/>
      </p:scale>
      <p:origin x="0" y="-8544"/>
    </p:cViewPr>
  </p:sorterViewPr>
  <p:notesViewPr>
    <p:cSldViewPr snapToGrid="0">
      <p:cViewPr varScale="1">
        <p:scale>
          <a:sx n="65" d="100"/>
          <a:sy n="65" d="100"/>
        </p:scale>
        <p:origin x="3082" y="4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5BDCE37-E9BE-4280-8D68-34E43D66CEDB}" type="datetimeFigureOut">
              <a:rPr lang="zh-TW" altLang="en-US" smtClean="0"/>
              <a:pPr/>
              <a:t>2025/7/25</a:t>
            </a:fld>
            <a:endParaRPr lang="zh-TW" alt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2BED679-6CF9-4493-8C9A-6F31F985AAEA}" type="slidenum">
              <a:rPr lang="zh-TW" altLang="en-US" smtClean="0"/>
              <a:pPr/>
              <a:t>‹#›</a:t>
            </a:fld>
            <a:endParaRPr lang="zh-TW" altLang="en-US"/>
          </a:p>
        </p:txBody>
      </p:sp>
    </p:spTree>
    <p:extLst>
      <p:ext uri="{BB962C8B-B14F-4D97-AF65-F5344CB8AC3E}">
        <p14:creationId xmlns:p14="http://schemas.microsoft.com/office/powerpoint/2010/main" val="414868276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FBA883-381C-409E-9635-BB54B21745E4}" type="datetimeFigureOut">
              <a:rPr lang="zh-TW" altLang="en-US" smtClean="0"/>
              <a:pPr/>
              <a:t>2025/7/25</a:t>
            </a:fld>
            <a:endParaRPr lang="zh-TW"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6C40E4-B9C8-417B-AB00-3BF7F8038A2D}" type="slidenum">
              <a:rPr lang="zh-TW" altLang="en-US" smtClean="0"/>
              <a:pPr/>
              <a:t>‹#›</a:t>
            </a:fld>
            <a:endParaRPr lang="zh-TW" altLang="en-US"/>
          </a:p>
        </p:txBody>
      </p:sp>
    </p:spTree>
    <p:extLst>
      <p:ext uri="{BB962C8B-B14F-4D97-AF65-F5344CB8AC3E}">
        <p14:creationId xmlns:p14="http://schemas.microsoft.com/office/powerpoint/2010/main" val="40581552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E37BB01D-B0D0-4671-8FE7-094A3CF41696}"/>
              </a:ext>
            </a:extLst>
          </p:cNvPr>
          <p:cNvSpPr>
            <a:spLocks noGrp="1" noRot="1" noChangeAspect="1" noChangeArrowheads="1" noTextEdit="1"/>
          </p:cNvSpPr>
          <p:nvPr>
            <p:ph type="sldImg"/>
          </p:nvPr>
        </p:nvSpPr>
        <p:spPr>
          <a:xfrm>
            <a:off x="342900" y="696913"/>
            <a:ext cx="6197600" cy="3486150"/>
          </a:xfrm>
          <a:ln/>
        </p:spPr>
      </p:sp>
      <p:sp>
        <p:nvSpPr>
          <p:cNvPr id="8195" name="Rectangle 3">
            <a:extLst>
              <a:ext uri="{FF2B5EF4-FFF2-40B4-BE49-F238E27FC236}">
                <a16:creationId xmlns:a16="http://schemas.microsoft.com/office/drawing/2014/main" id="{1C49927E-475C-4CE6-A5F7-A2AEC03D2AA3}"/>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BF5B941C-6C70-45EA-B271-B429EAE6B09F}"/>
              </a:ext>
            </a:extLst>
          </p:cNvPr>
          <p:cNvSpPr>
            <a:spLocks noGrp="1" noRot="1" noChangeAspect="1" noChangeArrowheads="1" noTextEdit="1"/>
          </p:cNvSpPr>
          <p:nvPr>
            <p:ph type="sldImg"/>
          </p:nvPr>
        </p:nvSpPr>
        <p:spPr>
          <a:xfrm>
            <a:off x="342900" y="696913"/>
            <a:ext cx="6197600" cy="3486150"/>
          </a:xfrm>
          <a:ln/>
        </p:spPr>
      </p:sp>
      <p:sp>
        <p:nvSpPr>
          <p:cNvPr id="10243" name="Rectangle 3">
            <a:extLst>
              <a:ext uri="{FF2B5EF4-FFF2-40B4-BE49-F238E27FC236}">
                <a16:creationId xmlns:a16="http://schemas.microsoft.com/office/drawing/2014/main" id="{0BC52257-B091-492A-BB7A-D3E9A29F264E}"/>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613D277C-8B8F-4523-80FE-71129E615B82}"/>
              </a:ext>
            </a:extLst>
          </p:cNvPr>
          <p:cNvSpPr>
            <a:spLocks noGrp="1" noRot="1" noChangeAspect="1" noChangeArrowheads="1" noTextEdit="1"/>
          </p:cNvSpPr>
          <p:nvPr>
            <p:ph type="sldImg"/>
          </p:nvPr>
        </p:nvSpPr>
        <p:spPr>
          <a:xfrm>
            <a:off x="342900" y="696913"/>
            <a:ext cx="6197600" cy="3486150"/>
          </a:xfrm>
          <a:ln/>
        </p:spPr>
      </p:sp>
      <p:sp>
        <p:nvSpPr>
          <p:cNvPr id="70659" name="Rectangle 3">
            <a:extLst>
              <a:ext uri="{FF2B5EF4-FFF2-40B4-BE49-F238E27FC236}">
                <a16:creationId xmlns:a16="http://schemas.microsoft.com/office/drawing/2014/main" id="{14169C85-AF33-4BBC-A46F-47B5A7D6A7E5}"/>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6B585EF5-7930-45AD-B664-C6D80F420C80}"/>
              </a:ext>
            </a:extLst>
          </p:cNvPr>
          <p:cNvSpPr>
            <a:spLocks noGrp="1" noRot="1" noChangeAspect="1" noChangeArrowheads="1" noTextEdit="1"/>
          </p:cNvSpPr>
          <p:nvPr>
            <p:ph type="sldImg"/>
          </p:nvPr>
        </p:nvSpPr>
        <p:spPr>
          <a:xfrm>
            <a:off x="342900" y="696913"/>
            <a:ext cx="6197600" cy="3486150"/>
          </a:xfrm>
          <a:ln/>
        </p:spPr>
      </p:sp>
      <p:sp>
        <p:nvSpPr>
          <p:cNvPr id="72707" name="Rectangle 3">
            <a:extLst>
              <a:ext uri="{FF2B5EF4-FFF2-40B4-BE49-F238E27FC236}">
                <a16:creationId xmlns:a16="http://schemas.microsoft.com/office/drawing/2014/main" id="{C3AA076D-DCC9-489F-884A-D43E6793BA2F}"/>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6A88387A-220D-46DE-87B0-5AB53B8B9714}"/>
              </a:ext>
            </a:extLst>
          </p:cNvPr>
          <p:cNvSpPr>
            <a:spLocks noGrp="1" noRot="1" noChangeAspect="1" noChangeArrowheads="1" noTextEdit="1"/>
          </p:cNvSpPr>
          <p:nvPr>
            <p:ph type="sldImg"/>
          </p:nvPr>
        </p:nvSpPr>
        <p:spPr>
          <a:xfrm>
            <a:off x="342900" y="696913"/>
            <a:ext cx="6197600" cy="3486150"/>
          </a:xfrm>
          <a:ln/>
        </p:spPr>
      </p:sp>
      <p:sp>
        <p:nvSpPr>
          <p:cNvPr id="74755" name="Rectangle 3">
            <a:extLst>
              <a:ext uri="{FF2B5EF4-FFF2-40B4-BE49-F238E27FC236}">
                <a16:creationId xmlns:a16="http://schemas.microsoft.com/office/drawing/2014/main" id="{AACB5DF9-CFCC-45D6-AED8-0DFB1F853FEB}"/>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B4EB6689-0573-4E96-ABEC-0606AE2C09F1}"/>
              </a:ext>
            </a:extLst>
          </p:cNvPr>
          <p:cNvSpPr>
            <a:spLocks noGrp="1" noRot="1" noChangeAspect="1" noChangeArrowheads="1" noTextEdit="1"/>
          </p:cNvSpPr>
          <p:nvPr>
            <p:ph type="sldImg"/>
          </p:nvPr>
        </p:nvSpPr>
        <p:spPr>
          <a:xfrm>
            <a:off x="342900" y="696913"/>
            <a:ext cx="6197600" cy="3486150"/>
          </a:xfrm>
          <a:ln/>
        </p:spPr>
      </p:sp>
      <p:sp>
        <p:nvSpPr>
          <p:cNvPr id="80899" name="Rectangle 3">
            <a:extLst>
              <a:ext uri="{FF2B5EF4-FFF2-40B4-BE49-F238E27FC236}">
                <a16:creationId xmlns:a16="http://schemas.microsoft.com/office/drawing/2014/main" id="{1B13B122-1B3A-46FE-9DCF-D26B9C451EE4}"/>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a:extLst>
              <a:ext uri="{FF2B5EF4-FFF2-40B4-BE49-F238E27FC236}">
                <a16:creationId xmlns:a16="http://schemas.microsoft.com/office/drawing/2014/main" id="{1630E1CF-99A4-4AEE-822B-EB5954B36B09}"/>
              </a:ext>
            </a:extLst>
          </p:cNvPr>
          <p:cNvSpPr>
            <a:spLocks noGrp="1" noRot="1" noChangeAspect="1" noChangeArrowheads="1" noTextEdit="1"/>
          </p:cNvSpPr>
          <p:nvPr>
            <p:ph type="sldImg"/>
          </p:nvPr>
        </p:nvSpPr>
        <p:spPr>
          <a:xfrm>
            <a:off x="342900" y="696913"/>
            <a:ext cx="6197600" cy="3486150"/>
          </a:xfrm>
          <a:ln/>
        </p:spPr>
      </p:sp>
      <p:sp>
        <p:nvSpPr>
          <p:cNvPr id="84995" name="Rectangle 3">
            <a:extLst>
              <a:ext uri="{FF2B5EF4-FFF2-40B4-BE49-F238E27FC236}">
                <a16:creationId xmlns:a16="http://schemas.microsoft.com/office/drawing/2014/main" id="{FFDF815E-E69D-4A6E-908C-546EA2D0824E}"/>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DA32F06E-769C-4B1C-9E7C-D9FC05F6F8C7}"/>
              </a:ext>
            </a:extLst>
          </p:cNvPr>
          <p:cNvSpPr>
            <a:spLocks noGrp="1" noRot="1" noChangeAspect="1" noChangeArrowheads="1" noTextEdit="1"/>
          </p:cNvSpPr>
          <p:nvPr>
            <p:ph type="sldImg"/>
          </p:nvPr>
        </p:nvSpPr>
        <p:spPr>
          <a:xfrm>
            <a:off x="342900" y="696913"/>
            <a:ext cx="6197600" cy="3486150"/>
          </a:xfrm>
          <a:ln/>
        </p:spPr>
      </p:sp>
      <p:sp>
        <p:nvSpPr>
          <p:cNvPr id="76803" name="Rectangle 3">
            <a:extLst>
              <a:ext uri="{FF2B5EF4-FFF2-40B4-BE49-F238E27FC236}">
                <a16:creationId xmlns:a16="http://schemas.microsoft.com/office/drawing/2014/main" id="{F41AD308-933F-4670-85F5-08B34300D603}"/>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a:extLst>
              <a:ext uri="{FF2B5EF4-FFF2-40B4-BE49-F238E27FC236}">
                <a16:creationId xmlns:a16="http://schemas.microsoft.com/office/drawing/2014/main" id="{D4551F08-E163-4B78-BDB8-468F317C6B03}"/>
              </a:ext>
            </a:extLst>
          </p:cNvPr>
          <p:cNvSpPr>
            <a:spLocks noGrp="1" noRot="1" noChangeAspect="1" noChangeArrowheads="1" noTextEdit="1"/>
          </p:cNvSpPr>
          <p:nvPr>
            <p:ph type="sldImg"/>
          </p:nvPr>
        </p:nvSpPr>
        <p:spPr>
          <a:xfrm>
            <a:off x="342900" y="696913"/>
            <a:ext cx="6197600" cy="3486150"/>
          </a:xfrm>
          <a:ln/>
        </p:spPr>
      </p:sp>
      <p:sp>
        <p:nvSpPr>
          <p:cNvPr id="78851" name="Rectangle 3">
            <a:extLst>
              <a:ext uri="{FF2B5EF4-FFF2-40B4-BE49-F238E27FC236}">
                <a16:creationId xmlns:a16="http://schemas.microsoft.com/office/drawing/2014/main" id="{AC3A3A05-AF23-43D6-95CB-5F6DB21E7037}"/>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a:extLst>
              <a:ext uri="{FF2B5EF4-FFF2-40B4-BE49-F238E27FC236}">
                <a16:creationId xmlns:a16="http://schemas.microsoft.com/office/drawing/2014/main" id="{ECC7FDDF-4DBE-4749-A693-95E4CEB96B45}"/>
              </a:ext>
            </a:extLst>
          </p:cNvPr>
          <p:cNvSpPr>
            <a:spLocks noGrp="1" noRot="1" noChangeAspect="1" noChangeArrowheads="1" noTextEdit="1"/>
          </p:cNvSpPr>
          <p:nvPr>
            <p:ph type="sldImg"/>
          </p:nvPr>
        </p:nvSpPr>
        <p:spPr>
          <a:xfrm>
            <a:off x="342900" y="696913"/>
            <a:ext cx="6197600" cy="3486150"/>
          </a:xfrm>
          <a:ln/>
        </p:spPr>
      </p:sp>
      <p:sp>
        <p:nvSpPr>
          <p:cNvPr id="82947" name="Rectangle 3">
            <a:extLst>
              <a:ext uri="{FF2B5EF4-FFF2-40B4-BE49-F238E27FC236}">
                <a16:creationId xmlns:a16="http://schemas.microsoft.com/office/drawing/2014/main" id="{9247B18B-E0DC-42EF-8000-B3A4416D7F49}"/>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3156805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a:extLst>
              <a:ext uri="{FF2B5EF4-FFF2-40B4-BE49-F238E27FC236}">
                <a16:creationId xmlns:a16="http://schemas.microsoft.com/office/drawing/2014/main" id="{911B757C-11F6-4804-BBBA-51D10766365A}"/>
              </a:ext>
            </a:extLst>
          </p:cNvPr>
          <p:cNvSpPr>
            <a:spLocks noGrp="1" noRot="1" noChangeAspect="1" noChangeArrowheads="1" noTextEdit="1"/>
          </p:cNvSpPr>
          <p:nvPr>
            <p:ph type="sldImg"/>
          </p:nvPr>
        </p:nvSpPr>
        <p:spPr>
          <a:xfrm>
            <a:off x="342900" y="696913"/>
            <a:ext cx="6197600" cy="3486150"/>
          </a:xfrm>
          <a:ln/>
        </p:spPr>
      </p:sp>
      <p:sp>
        <p:nvSpPr>
          <p:cNvPr id="87043" name="Rectangle 3">
            <a:extLst>
              <a:ext uri="{FF2B5EF4-FFF2-40B4-BE49-F238E27FC236}">
                <a16:creationId xmlns:a16="http://schemas.microsoft.com/office/drawing/2014/main" id="{0AC8E09B-CF1C-49E5-863A-C8016F142BE5}"/>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a:extLst>
              <a:ext uri="{FF2B5EF4-FFF2-40B4-BE49-F238E27FC236}">
                <a16:creationId xmlns:a16="http://schemas.microsoft.com/office/drawing/2014/main" id="{F7F05CA5-3915-46C5-B3F7-080E3C487494}"/>
              </a:ext>
            </a:extLst>
          </p:cNvPr>
          <p:cNvSpPr>
            <a:spLocks noGrp="1" noRot="1" noChangeAspect="1" noChangeArrowheads="1" noTextEdit="1"/>
          </p:cNvSpPr>
          <p:nvPr>
            <p:ph type="sldImg"/>
          </p:nvPr>
        </p:nvSpPr>
        <p:spPr>
          <a:xfrm>
            <a:off x="342900" y="696913"/>
            <a:ext cx="6197600" cy="3486150"/>
          </a:xfrm>
          <a:ln/>
        </p:spPr>
      </p:sp>
      <p:sp>
        <p:nvSpPr>
          <p:cNvPr id="89091" name="Rectangle 3">
            <a:extLst>
              <a:ext uri="{FF2B5EF4-FFF2-40B4-BE49-F238E27FC236}">
                <a16:creationId xmlns:a16="http://schemas.microsoft.com/office/drawing/2014/main" id="{2F62E373-C1E7-4913-829D-D4F7CEE65810}"/>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a:extLst>
              <a:ext uri="{FF2B5EF4-FFF2-40B4-BE49-F238E27FC236}">
                <a16:creationId xmlns:a16="http://schemas.microsoft.com/office/drawing/2014/main" id="{7998D125-052E-430C-A5E5-045AF42622E7}"/>
              </a:ext>
            </a:extLst>
          </p:cNvPr>
          <p:cNvSpPr>
            <a:spLocks noGrp="1" noRot="1" noChangeAspect="1" noChangeArrowheads="1" noTextEdit="1"/>
          </p:cNvSpPr>
          <p:nvPr>
            <p:ph type="sldImg"/>
          </p:nvPr>
        </p:nvSpPr>
        <p:spPr>
          <a:xfrm>
            <a:off x="342900" y="696913"/>
            <a:ext cx="6197600" cy="3486150"/>
          </a:xfrm>
          <a:ln/>
        </p:spPr>
      </p:sp>
      <p:sp>
        <p:nvSpPr>
          <p:cNvPr id="91139" name="Rectangle 3">
            <a:extLst>
              <a:ext uri="{FF2B5EF4-FFF2-40B4-BE49-F238E27FC236}">
                <a16:creationId xmlns:a16="http://schemas.microsoft.com/office/drawing/2014/main" id="{854BE39E-4EE8-44E7-927E-467747CCDC4D}"/>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a:extLst>
              <a:ext uri="{FF2B5EF4-FFF2-40B4-BE49-F238E27FC236}">
                <a16:creationId xmlns:a16="http://schemas.microsoft.com/office/drawing/2014/main" id="{758CADB1-93CB-4274-A8D1-692400277852}"/>
              </a:ext>
            </a:extLst>
          </p:cNvPr>
          <p:cNvSpPr>
            <a:spLocks noGrp="1" noRot="1" noChangeAspect="1" noChangeArrowheads="1" noTextEdit="1"/>
          </p:cNvSpPr>
          <p:nvPr>
            <p:ph type="sldImg"/>
          </p:nvPr>
        </p:nvSpPr>
        <p:spPr>
          <a:xfrm>
            <a:off x="342900" y="696913"/>
            <a:ext cx="6197600" cy="3486150"/>
          </a:xfrm>
          <a:ln/>
        </p:spPr>
      </p:sp>
      <p:sp>
        <p:nvSpPr>
          <p:cNvPr id="93187" name="Rectangle 3">
            <a:extLst>
              <a:ext uri="{FF2B5EF4-FFF2-40B4-BE49-F238E27FC236}">
                <a16:creationId xmlns:a16="http://schemas.microsoft.com/office/drawing/2014/main" id="{B72E9B2A-EB18-4339-B030-69967F55A4B7}"/>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a:extLst>
              <a:ext uri="{FF2B5EF4-FFF2-40B4-BE49-F238E27FC236}">
                <a16:creationId xmlns:a16="http://schemas.microsoft.com/office/drawing/2014/main" id="{B2BD6E28-4416-466E-9B96-F46B9236EFA0}"/>
              </a:ext>
            </a:extLst>
          </p:cNvPr>
          <p:cNvSpPr>
            <a:spLocks noGrp="1" noRot="1" noChangeAspect="1" noChangeArrowheads="1" noTextEdit="1"/>
          </p:cNvSpPr>
          <p:nvPr>
            <p:ph type="sldImg"/>
          </p:nvPr>
        </p:nvSpPr>
        <p:spPr>
          <a:xfrm>
            <a:off x="342900" y="696913"/>
            <a:ext cx="6197600" cy="3486150"/>
          </a:xfrm>
          <a:ln/>
        </p:spPr>
      </p:sp>
      <p:sp>
        <p:nvSpPr>
          <p:cNvPr id="95235" name="Rectangle 3">
            <a:extLst>
              <a:ext uri="{FF2B5EF4-FFF2-40B4-BE49-F238E27FC236}">
                <a16:creationId xmlns:a16="http://schemas.microsoft.com/office/drawing/2014/main" id="{EB7937B3-A5D5-4AE2-BC95-CEE0E5EA00E0}"/>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59D70ADE-4177-45D4-B042-C72A3AF4FD6C}"/>
              </a:ext>
            </a:extLst>
          </p:cNvPr>
          <p:cNvSpPr>
            <a:spLocks noGrp="1" noRot="1" noChangeAspect="1" noChangeArrowheads="1" noTextEdit="1"/>
          </p:cNvSpPr>
          <p:nvPr>
            <p:ph type="sldImg"/>
          </p:nvPr>
        </p:nvSpPr>
        <p:spPr>
          <a:xfrm>
            <a:off x="342900" y="696913"/>
            <a:ext cx="6197600" cy="3486150"/>
          </a:xfrm>
          <a:ln/>
        </p:spPr>
      </p:sp>
      <p:sp>
        <p:nvSpPr>
          <p:cNvPr id="49155" name="Rectangle 3">
            <a:extLst>
              <a:ext uri="{FF2B5EF4-FFF2-40B4-BE49-F238E27FC236}">
                <a16:creationId xmlns:a16="http://schemas.microsoft.com/office/drawing/2014/main" id="{9845E423-F7A0-49A5-85DD-F75CACE8C294}"/>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05360257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D0CF294F-1963-42C7-A1B8-DE28A28FD0D5}"/>
              </a:ext>
            </a:extLst>
          </p:cNvPr>
          <p:cNvSpPr>
            <a:spLocks noGrp="1" noRot="1" noChangeAspect="1" noChangeArrowheads="1" noTextEdit="1"/>
          </p:cNvSpPr>
          <p:nvPr>
            <p:ph type="sldImg"/>
          </p:nvPr>
        </p:nvSpPr>
        <p:spPr>
          <a:xfrm>
            <a:off x="342900" y="696913"/>
            <a:ext cx="6197600" cy="3486150"/>
          </a:xfrm>
          <a:ln/>
        </p:spPr>
      </p:sp>
      <p:sp>
        <p:nvSpPr>
          <p:cNvPr id="51203" name="Rectangle 3">
            <a:extLst>
              <a:ext uri="{FF2B5EF4-FFF2-40B4-BE49-F238E27FC236}">
                <a16:creationId xmlns:a16="http://schemas.microsoft.com/office/drawing/2014/main" id="{9B743749-804F-4046-95C8-7448913085BF}"/>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34564740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5BC952F1-69DB-4826-90B8-43407F666E38}"/>
              </a:ext>
            </a:extLst>
          </p:cNvPr>
          <p:cNvSpPr>
            <a:spLocks noGrp="1" noRot="1" noChangeAspect="1" noChangeArrowheads="1" noTextEdit="1"/>
          </p:cNvSpPr>
          <p:nvPr>
            <p:ph type="sldImg"/>
          </p:nvPr>
        </p:nvSpPr>
        <p:spPr>
          <a:xfrm>
            <a:off x="342900" y="696913"/>
            <a:ext cx="6197600" cy="3486150"/>
          </a:xfrm>
          <a:ln/>
        </p:spPr>
      </p:sp>
      <p:sp>
        <p:nvSpPr>
          <p:cNvPr id="53251" name="Rectangle 3">
            <a:extLst>
              <a:ext uri="{FF2B5EF4-FFF2-40B4-BE49-F238E27FC236}">
                <a16:creationId xmlns:a16="http://schemas.microsoft.com/office/drawing/2014/main" id="{7181C0DC-0BF2-45FF-BE72-90467A2E1B4F}"/>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61929823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35192CAD-8D91-4D40-AA61-971837660FF4}"/>
              </a:ext>
            </a:extLst>
          </p:cNvPr>
          <p:cNvSpPr>
            <a:spLocks noGrp="1" noRot="1" noChangeAspect="1" noChangeArrowheads="1" noTextEdit="1"/>
          </p:cNvSpPr>
          <p:nvPr>
            <p:ph type="sldImg"/>
          </p:nvPr>
        </p:nvSpPr>
        <p:spPr>
          <a:xfrm>
            <a:off x="342900" y="696913"/>
            <a:ext cx="6197600" cy="3486150"/>
          </a:xfrm>
          <a:ln/>
        </p:spPr>
      </p:sp>
      <p:sp>
        <p:nvSpPr>
          <p:cNvPr id="56323" name="Rectangle 3">
            <a:extLst>
              <a:ext uri="{FF2B5EF4-FFF2-40B4-BE49-F238E27FC236}">
                <a16:creationId xmlns:a16="http://schemas.microsoft.com/office/drawing/2014/main" id="{193C388B-A9BF-43E9-BE5C-A9011280A0E8}"/>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83958269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a:extLst>
              <a:ext uri="{FF2B5EF4-FFF2-40B4-BE49-F238E27FC236}">
                <a16:creationId xmlns:a16="http://schemas.microsoft.com/office/drawing/2014/main" id="{1E8609E4-2FA6-4985-9D67-5FCD713B133E}"/>
              </a:ext>
            </a:extLst>
          </p:cNvPr>
          <p:cNvSpPr>
            <a:spLocks noGrp="1" noRot="1" noChangeAspect="1" noChangeArrowheads="1" noTextEdit="1"/>
          </p:cNvSpPr>
          <p:nvPr>
            <p:ph type="sldImg"/>
          </p:nvPr>
        </p:nvSpPr>
        <p:spPr>
          <a:xfrm>
            <a:off x="342900" y="696913"/>
            <a:ext cx="6197600" cy="3486150"/>
          </a:xfrm>
          <a:ln/>
        </p:spPr>
      </p:sp>
      <p:sp>
        <p:nvSpPr>
          <p:cNvPr id="103427" name="Rectangle 3">
            <a:extLst>
              <a:ext uri="{FF2B5EF4-FFF2-40B4-BE49-F238E27FC236}">
                <a16:creationId xmlns:a16="http://schemas.microsoft.com/office/drawing/2014/main" id="{BE4AB7D9-4D3B-49B7-A873-A570C1E105A3}"/>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a:extLst>
              <a:ext uri="{FF2B5EF4-FFF2-40B4-BE49-F238E27FC236}">
                <a16:creationId xmlns:a16="http://schemas.microsoft.com/office/drawing/2014/main" id="{2879CCAE-5999-4F9C-B096-A4124463BA56}"/>
              </a:ext>
            </a:extLst>
          </p:cNvPr>
          <p:cNvSpPr>
            <a:spLocks noGrp="1" noRot="1" noChangeAspect="1" noChangeArrowheads="1" noTextEdit="1"/>
          </p:cNvSpPr>
          <p:nvPr>
            <p:ph type="sldImg"/>
          </p:nvPr>
        </p:nvSpPr>
        <p:spPr>
          <a:xfrm>
            <a:off x="342900" y="696913"/>
            <a:ext cx="6197600" cy="3486150"/>
          </a:xfrm>
          <a:ln/>
        </p:spPr>
      </p:sp>
      <p:sp>
        <p:nvSpPr>
          <p:cNvPr id="105475" name="Rectangle 3">
            <a:extLst>
              <a:ext uri="{FF2B5EF4-FFF2-40B4-BE49-F238E27FC236}">
                <a16:creationId xmlns:a16="http://schemas.microsoft.com/office/drawing/2014/main" id="{127FEFA8-9D45-40D3-A1F0-799DC10A2EFE}"/>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a:extLst>
              <a:ext uri="{FF2B5EF4-FFF2-40B4-BE49-F238E27FC236}">
                <a16:creationId xmlns:a16="http://schemas.microsoft.com/office/drawing/2014/main" id="{6547A43D-05BF-453A-830D-AFDB612267D2}"/>
              </a:ext>
            </a:extLst>
          </p:cNvPr>
          <p:cNvSpPr>
            <a:spLocks noGrp="1" noRot="1" noChangeAspect="1" noChangeArrowheads="1" noTextEdit="1"/>
          </p:cNvSpPr>
          <p:nvPr>
            <p:ph type="sldImg"/>
          </p:nvPr>
        </p:nvSpPr>
        <p:spPr>
          <a:xfrm>
            <a:off x="342900" y="696913"/>
            <a:ext cx="6197600" cy="3486150"/>
          </a:xfrm>
          <a:ln/>
        </p:spPr>
      </p:sp>
      <p:sp>
        <p:nvSpPr>
          <p:cNvPr id="107523" name="Rectangle 3">
            <a:extLst>
              <a:ext uri="{FF2B5EF4-FFF2-40B4-BE49-F238E27FC236}">
                <a16:creationId xmlns:a16="http://schemas.microsoft.com/office/drawing/2014/main" id="{6239D267-6630-4441-AAD5-6EBECFC6D832}"/>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a:extLst>
              <a:ext uri="{FF2B5EF4-FFF2-40B4-BE49-F238E27FC236}">
                <a16:creationId xmlns:a16="http://schemas.microsoft.com/office/drawing/2014/main" id="{6547A43D-05BF-453A-830D-AFDB612267D2}"/>
              </a:ext>
            </a:extLst>
          </p:cNvPr>
          <p:cNvSpPr>
            <a:spLocks noGrp="1" noRot="1" noChangeAspect="1" noChangeArrowheads="1" noTextEdit="1"/>
          </p:cNvSpPr>
          <p:nvPr>
            <p:ph type="sldImg"/>
          </p:nvPr>
        </p:nvSpPr>
        <p:spPr>
          <a:xfrm>
            <a:off x="342900" y="696913"/>
            <a:ext cx="6197600" cy="3486150"/>
          </a:xfrm>
          <a:ln/>
        </p:spPr>
      </p:sp>
      <p:sp>
        <p:nvSpPr>
          <p:cNvPr id="107523" name="Rectangle 3">
            <a:extLst>
              <a:ext uri="{FF2B5EF4-FFF2-40B4-BE49-F238E27FC236}">
                <a16:creationId xmlns:a16="http://schemas.microsoft.com/office/drawing/2014/main" id="{6239D267-6630-4441-AAD5-6EBECFC6D832}"/>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23381728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a:extLst>
              <a:ext uri="{FF2B5EF4-FFF2-40B4-BE49-F238E27FC236}">
                <a16:creationId xmlns:a16="http://schemas.microsoft.com/office/drawing/2014/main" id="{97859DD6-BC94-4BD7-A1B1-5F19EE224C42}"/>
              </a:ext>
            </a:extLst>
          </p:cNvPr>
          <p:cNvSpPr>
            <a:spLocks noGrp="1" noRot="1" noChangeAspect="1" noChangeArrowheads="1" noTextEdit="1"/>
          </p:cNvSpPr>
          <p:nvPr>
            <p:ph type="sldImg"/>
          </p:nvPr>
        </p:nvSpPr>
        <p:spPr>
          <a:xfrm>
            <a:off x="342900" y="696913"/>
            <a:ext cx="6197600" cy="3486150"/>
          </a:xfrm>
          <a:ln/>
        </p:spPr>
      </p:sp>
      <p:sp>
        <p:nvSpPr>
          <p:cNvPr id="109571" name="Rectangle 3">
            <a:extLst>
              <a:ext uri="{FF2B5EF4-FFF2-40B4-BE49-F238E27FC236}">
                <a16:creationId xmlns:a16="http://schemas.microsoft.com/office/drawing/2014/main" id="{4650457B-4F99-4189-9BD5-63C91DCDB78E}"/>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a:extLst>
              <a:ext uri="{FF2B5EF4-FFF2-40B4-BE49-F238E27FC236}">
                <a16:creationId xmlns:a16="http://schemas.microsoft.com/office/drawing/2014/main" id="{06069D3D-AC19-4939-8422-88ECED6ED43E}"/>
              </a:ext>
            </a:extLst>
          </p:cNvPr>
          <p:cNvSpPr>
            <a:spLocks noGrp="1" noRot="1" noChangeAspect="1" noChangeArrowheads="1" noTextEdit="1"/>
          </p:cNvSpPr>
          <p:nvPr>
            <p:ph type="sldImg"/>
          </p:nvPr>
        </p:nvSpPr>
        <p:spPr>
          <a:xfrm>
            <a:off x="342900" y="696913"/>
            <a:ext cx="6197600" cy="3486150"/>
          </a:xfrm>
          <a:ln/>
        </p:spPr>
      </p:sp>
      <p:sp>
        <p:nvSpPr>
          <p:cNvPr id="112643" name="Rectangle 3">
            <a:extLst>
              <a:ext uri="{FF2B5EF4-FFF2-40B4-BE49-F238E27FC236}">
                <a16:creationId xmlns:a16="http://schemas.microsoft.com/office/drawing/2014/main" id="{2E50F47B-95E4-459A-8DDE-53FCF760EDF8}"/>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a:extLst>
              <a:ext uri="{FF2B5EF4-FFF2-40B4-BE49-F238E27FC236}">
                <a16:creationId xmlns:a16="http://schemas.microsoft.com/office/drawing/2014/main" id="{17CA9BD9-E623-4E66-A683-125891C2F87F}"/>
              </a:ext>
            </a:extLst>
          </p:cNvPr>
          <p:cNvSpPr>
            <a:spLocks noGrp="1" noRot="1" noChangeAspect="1" noChangeArrowheads="1" noTextEdit="1"/>
          </p:cNvSpPr>
          <p:nvPr>
            <p:ph type="sldImg"/>
          </p:nvPr>
        </p:nvSpPr>
        <p:spPr>
          <a:xfrm>
            <a:off x="342900" y="696913"/>
            <a:ext cx="6197600" cy="3486150"/>
          </a:xfrm>
          <a:ln/>
        </p:spPr>
      </p:sp>
      <p:sp>
        <p:nvSpPr>
          <p:cNvPr id="114691" name="Rectangle 3">
            <a:extLst>
              <a:ext uri="{FF2B5EF4-FFF2-40B4-BE49-F238E27FC236}">
                <a16:creationId xmlns:a16="http://schemas.microsoft.com/office/drawing/2014/main" id="{2849FF62-7A4B-455B-B716-C39D5DEA5660}"/>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a:extLst>
              <a:ext uri="{FF2B5EF4-FFF2-40B4-BE49-F238E27FC236}">
                <a16:creationId xmlns:a16="http://schemas.microsoft.com/office/drawing/2014/main" id="{5570E0E3-E6FE-43E1-B5DE-3ED5EFEADE0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4F5F97B-5F60-4081-9DA6-42B9182CD2F7}" type="slidenum">
              <a:rPr lang="en-US" altLang="en-US">
                <a:latin typeface="Times New Roman" panose="02020603050405020304" pitchFamily="18" charset="0"/>
              </a:rPr>
              <a:pPr/>
              <a:t>39</a:t>
            </a:fld>
            <a:endParaRPr lang="en-US" altLang="en-US">
              <a:latin typeface="Times New Roman" panose="02020603050405020304" pitchFamily="18" charset="0"/>
            </a:endParaRPr>
          </a:p>
        </p:txBody>
      </p:sp>
      <p:sp>
        <p:nvSpPr>
          <p:cNvPr id="116739" name="Rectangle 2">
            <a:extLst>
              <a:ext uri="{FF2B5EF4-FFF2-40B4-BE49-F238E27FC236}">
                <a16:creationId xmlns:a16="http://schemas.microsoft.com/office/drawing/2014/main" id="{DF8656C1-DC3D-4F7B-8EEC-2DA77E212E2B}"/>
              </a:ext>
            </a:extLst>
          </p:cNvPr>
          <p:cNvSpPr>
            <a:spLocks noGrp="1" noRot="1" noChangeAspect="1" noChangeArrowheads="1" noTextEdit="1"/>
          </p:cNvSpPr>
          <p:nvPr>
            <p:ph type="sldImg"/>
          </p:nvPr>
        </p:nvSpPr>
        <p:spPr>
          <a:ln/>
        </p:spPr>
      </p:sp>
      <p:sp>
        <p:nvSpPr>
          <p:cNvPr id="116740" name="Rectangle 3">
            <a:extLst>
              <a:ext uri="{FF2B5EF4-FFF2-40B4-BE49-F238E27FC236}">
                <a16:creationId xmlns:a16="http://schemas.microsoft.com/office/drawing/2014/main" id="{2D181A27-FF52-4ECA-8E86-80B80103307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41842357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dirty="0"/>
          </a:p>
        </p:txBody>
      </p:sp>
      <p:sp>
        <p:nvSpPr>
          <p:cNvPr id="3" name="內容版面配置區 2"/>
          <p:cNvSpPr>
            <a:spLocks noGrp="1"/>
          </p:cNvSpPr>
          <p:nvPr>
            <p:ph idx="1"/>
          </p:nvPr>
        </p:nvSpPr>
        <p:spPr/>
        <p:txBody>
          <a:bodyPr/>
          <a:lstStyle>
            <a:lvl3pPr>
              <a:defRPr sz="2000">
                <a:latin typeface="Calibri" pitchFamily="34" charset="0"/>
                <a:ea typeface="標楷體" pitchFamily="65" charset="-120"/>
                <a:cs typeface="Calibri" pitchFamily="34" charset="0"/>
              </a:defRPr>
            </a:lvl3pPr>
            <a:lvl4pPr>
              <a:defRPr sz="1800">
                <a:latin typeface="Calibri" pitchFamily="34" charset="0"/>
                <a:ea typeface="標楷體" pitchFamily="65" charset="-120"/>
                <a:cs typeface="Calibri" pitchFamily="34" charset="0"/>
              </a:defRPr>
            </a:lvl4pPr>
            <a:lvl5pPr>
              <a:defRPr sz="1600">
                <a:latin typeface="Calibri" pitchFamily="34" charset="0"/>
                <a:ea typeface="標楷體" pitchFamily="65" charset="-120"/>
                <a:cs typeface="Calibri" pitchFamily="34" charset="0"/>
              </a:defRPr>
            </a:lvl5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4400287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3305177"/>
            <a:ext cx="7772400" cy="1021556"/>
          </a:xfrm>
        </p:spPr>
        <p:txBody>
          <a:bodyPr anchor="t"/>
          <a:lstStyle>
            <a:lvl1pPr algn="l">
              <a:defRPr sz="3200" b="1" cap="all"/>
            </a:lvl1pPr>
          </a:lstStyle>
          <a:p>
            <a:r>
              <a:rPr lang="en-US" altLang="zh-TW" dirty="0"/>
              <a:t>Click to edit Master title style</a:t>
            </a:r>
            <a:endParaRPr lang="zh-TW" altLang="en-US" dirty="0"/>
          </a:p>
        </p:txBody>
      </p:sp>
      <p:sp>
        <p:nvSpPr>
          <p:cNvPr id="3" name="文字版面配置區 2"/>
          <p:cNvSpPr>
            <a:spLocks noGrp="1"/>
          </p:cNvSpPr>
          <p:nvPr>
            <p:ph type="body" idx="1"/>
          </p:nvPr>
        </p:nvSpPr>
        <p:spPr>
          <a:xfrm>
            <a:off x="722313" y="2180035"/>
            <a:ext cx="7772400" cy="1125140"/>
          </a:xfrm>
        </p:spPr>
        <p:txBody>
          <a:bodyPr anchor="b"/>
          <a:lstStyle>
            <a:lvl1pPr marL="0" indent="0">
              <a:buNone/>
              <a:defRPr sz="2800"/>
            </a:lvl1pPr>
            <a:lvl2pPr marL="342891" indent="0">
              <a:buNone/>
              <a:defRPr sz="1351"/>
            </a:lvl2pPr>
            <a:lvl3pPr marL="685783" indent="0">
              <a:buNone/>
              <a:defRPr sz="1200"/>
            </a:lvl3pPr>
            <a:lvl4pPr marL="1028674" indent="0">
              <a:buNone/>
              <a:defRPr sz="1051"/>
            </a:lvl4pPr>
            <a:lvl5pPr marL="1371566" indent="0">
              <a:buNone/>
              <a:defRPr sz="1051"/>
            </a:lvl5pPr>
            <a:lvl6pPr marL="1714457" indent="0">
              <a:buNone/>
              <a:defRPr sz="1051"/>
            </a:lvl6pPr>
            <a:lvl7pPr marL="2057349" indent="0">
              <a:buNone/>
              <a:defRPr sz="1051"/>
            </a:lvl7pPr>
            <a:lvl8pPr marL="2400240" indent="0">
              <a:buNone/>
              <a:defRPr sz="1051"/>
            </a:lvl8pPr>
            <a:lvl9pPr marL="2743131" indent="0">
              <a:buNone/>
              <a:defRPr sz="1051"/>
            </a:lvl9pPr>
          </a:lstStyle>
          <a:p>
            <a:pPr lvl="0"/>
            <a:r>
              <a:rPr lang="en-US" altLang="zh-TW" dirty="0"/>
              <a:t>Click to edit Master text styles</a:t>
            </a:r>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2702514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Click to edit Master title style</a:t>
            </a:r>
            <a:endParaRPr lang="zh-TW" altLang="en-US" dirty="0"/>
          </a:p>
        </p:txBody>
      </p:sp>
      <p:sp>
        <p:nvSpPr>
          <p:cNvPr id="3" name="內容版面配置區 2"/>
          <p:cNvSpPr>
            <a:spLocks noGrp="1"/>
          </p:cNvSpPr>
          <p:nvPr>
            <p:ph sz="half" idx="1"/>
          </p:nvPr>
        </p:nvSpPr>
        <p:spPr>
          <a:xfrm>
            <a:off x="457200" y="844152"/>
            <a:ext cx="4038600" cy="3170774"/>
          </a:xfrm>
        </p:spPr>
        <p:txBody>
          <a:bodyPr/>
          <a:lstStyle>
            <a:lvl1pPr>
              <a:defRPr sz="2800"/>
            </a:lvl1pPr>
            <a:lvl2pPr>
              <a:defRPr sz="2400"/>
            </a:lvl2pPr>
            <a:lvl3pPr>
              <a:defRPr sz="1800"/>
            </a:lvl3pPr>
            <a:lvl4pPr>
              <a:defRPr sz="1600"/>
            </a:lvl4pPr>
            <a:lvl5pPr>
              <a:defRPr sz="1600"/>
            </a:lvl5pPr>
            <a:lvl6pPr>
              <a:defRPr sz="1351"/>
            </a:lvl6pPr>
            <a:lvl7pPr>
              <a:defRPr sz="1351"/>
            </a:lvl7pPr>
            <a:lvl8pPr>
              <a:defRPr sz="1351"/>
            </a:lvl8pPr>
            <a:lvl9pPr>
              <a:defRPr sz="1351"/>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內容版面配置區 3"/>
          <p:cNvSpPr>
            <a:spLocks noGrp="1"/>
          </p:cNvSpPr>
          <p:nvPr>
            <p:ph sz="half" idx="2"/>
          </p:nvPr>
        </p:nvSpPr>
        <p:spPr>
          <a:xfrm>
            <a:off x="4648200" y="844152"/>
            <a:ext cx="4038600" cy="3170774"/>
          </a:xfrm>
        </p:spPr>
        <p:txBody>
          <a:bodyPr/>
          <a:lstStyle>
            <a:lvl1pPr>
              <a:defRPr sz="2800"/>
            </a:lvl1pPr>
            <a:lvl2pPr>
              <a:defRPr sz="2400"/>
            </a:lvl2pPr>
            <a:lvl3pPr>
              <a:defRPr sz="1800"/>
            </a:lvl3pPr>
            <a:lvl4pPr>
              <a:defRPr sz="1600"/>
            </a:lvl4pPr>
            <a:lvl5pPr>
              <a:defRPr sz="1600"/>
            </a:lvl5pPr>
            <a:lvl6pPr>
              <a:defRPr sz="1351"/>
            </a:lvl6pPr>
            <a:lvl7pPr>
              <a:defRPr sz="1351"/>
            </a:lvl7pPr>
            <a:lvl8pPr>
              <a:defRPr sz="1351"/>
            </a:lvl8pPr>
            <a:lvl9pPr>
              <a:defRPr sz="1351"/>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4498504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比對">
    <p:spTree>
      <p:nvGrpSpPr>
        <p:cNvPr id="1" name=""/>
        <p:cNvGrpSpPr/>
        <p:nvPr/>
      </p:nvGrpSpPr>
      <p:grpSpPr>
        <a:xfrm>
          <a:off x="0" y="0"/>
          <a:ext cx="0" cy="0"/>
          <a:chOff x="0" y="0"/>
          <a:chExt cx="0" cy="0"/>
        </a:xfrm>
      </p:grpSpPr>
      <p:sp>
        <p:nvSpPr>
          <p:cNvPr id="3" name="文字版面配置區 2"/>
          <p:cNvSpPr>
            <a:spLocks noGrp="1"/>
          </p:cNvSpPr>
          <p:nvPr>
            <p:ph type="body" idx="1"/>
          </p:nvPr>
        </p:nvSpPr>
        <p:spPr>
          <a:xfrm>
            <a:off x="457201" y="951580"/>
            <a:ext cx="4040188" cy="479822"/>
          </a:xfrm>
        </p:spPr>
        <p:txBody>
          <a:bodyPr anchor="b"/>
          <a:lstStyle>
            <a:lvl1pPr marL="0" indent="0">
              <a:buNone/>
              <a:defRPr sz="2000" b="1"/>
            </a:lvl1pPr>
            <a:lvl2pPr marL="342891" indent="0">
              <a:buNone/>
              <a:defRPr sz="1500" b="1"/>
            </a:lvl2pPr>
            <a:lvl3pPr marL="685783" indent="0">
              <a:buNone/>
              <a:defRPr sz="1351" b="1"/>
            </a:lvl3pPr>
            <a:lvl4pPr marL="1028674" indent="0">
              <a:buNone/>
              <a:defRPr sz="1200" b="1"/>
            </a:lvl4pPr>
            <a:lvl5pPr marL="1371566" indent="0">
              <a:buNone/>
              <a:defRPr sz="1200" b="1"/>
            </a:lvl5pPr>
            <a:lvl6pPr marL="1714457" indent="0">
              <a:buNone/>
              <a:defRPr sz="1200" b="1"/>
            </a:lvl6pPr>
            <a:lvl7pPr marL="2057349" indent="0">
              <a:buNone/>
              <a:defRPr sz="1200" b="1"/>
            </a:lvl7pPr>
            <a:lvl8pPr marL="2400240" indent="0">
              <a:buNone/>
              <a:defRPr sz="1200" b="1"/>
            </a:lvl8pPr>
            <a:lvl9pPr marL="2743131" indent="0">
              <a:buNone/>
              <a:defRPr sz="1200" b="1"/>
            </a:lvl9pPr>
          </a:lstStyle>
          <a:p>
            <a:pPr lvl="0"/>
            <a:r>
              <a:rPr lang="en-US" altLang="zh-TW"/>
              <a:t>Click to edit Master text styles</a:t>
            </a:r>
          </a:p>
        </p:txBody>
      </p:sp>
      <p:sp>
        <p:nvSpPr>
          <p:cNvPr id="4" name="內容版面配置區 3"/>
          <p:cNvSpPr>
            <a:spLocks noGrp="1"/>
          </p:cNvSpPr>
          <p:nvPr>
            <p:ph sz="half" idx="2"/>
          </p:nvPr>
        </p:nvSpPr>
        <p:spPr>
          <a:xfrm>
            <a:off x="457201" y="1431401"/>
            <a:ext cx="4040188" cy="2963466"/>
          </a:xfrm>
        </p:spPr>
        <p:txBody>
          <a:bodyPr/>
          <a:lstStyle>
            <a:lvl1pPr>
              <a:defRPr sz="2000"/>
            </a:lvl1pPr>
            <a:lvl2pPr>
              <a:defRPr sz="1600"/>
            </a:lvl2pPr>
            <a:lvl3pPr>
              <a:defRPr sz="1400"/>
            </a:lvl3pPr>
            <a:lvl4pPr>
              <a:defRPr sz="1400"/>
            </a:lvl4pPr>
            <a:lvl5pPr>
              <a:defRPr sz="1400"/>
            </a:lvl5pPr>
            <a:lvl6pPr>
              <a:defRPr sz="1200"/>
            </a:lvl6pPr>
            <a:lvl7pPr>
              <a:defRPr sz="1200"/>
            </a:lvl7pPr>
            <a:lvl8pPr>
              <a:defRPr sz="1200"/>
            </a:lvl8pPr>
            <a:lvl9pPr>
              <a:defRPr sz="1200"/>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文字版面配置區 4"/>
          <p:cNvSpPr>
            <a:spLocks noGrp="1"/>
          </p:cNvSpPr>
          <p:nvPr>
            <p:ph type="body" sz="quarter" idx="3"/>
          </p:nvPr>
        </p:nvSpPr>
        <p:spPr>
          <a:xfrm>
            <a:off x="4645029" y="951580"/>
            <a:ext cx="4041775" cy="479822"/>
          </a:xfrm>
        </p:spPr>
        <p:txBody>
          <a:bodyPr anchor="b"/>
          <a:lstStyle>
            <a:lvl1pPr marL="0" indent="0">
              <a:buNone/>
              <a:defRPr sz="2000" b="1"/>
            </a:lvl1pPr>
            <a:lvl2pPr marL="342891" indent="0">
              <a:buNone/>
              <a:defRPr sz="1500" b="1"/>
            </a:lvl2pPr>
            <a:lvl3pPr marL="685783" indent="0">
              <a:buNone/>
              <a:defRPr sz="1351" b="1"/>
            </a:lvl3pPr>
            <a:lvl4pPr marL="1028674" indent="0">
              <a:buNone/>
              <a:defRPr sz="1200" b="1"/>
            </a:lvl4pPr>
            <a:lvl5pPr marL="1371566" indent="0">
              <a:buNone/>
              <a:defRPr sz="1200" b="1"/>
            </a:lvl5pPr>
            <a:lvl6pPr marL="1714457" indent="0">
              <a:buNone/>
              <a:defRPr sz="1200" b="1"/>
            </a:lvl6pPr>
            <a:lvl7pPr marL="2057349" indent="0">
              <a:buNone/>
              <a:defRPr sz="1200" b="1"/>
            </a:lvl7pPr>
            <a:lvl8pPr marL="2400240" indent="0">
              <a:buNone/>
              <a:defRPr sz="1200" b="1"/>
            </a:lvl8pPr>
            <a:lvl9pPr marL="2743131" indent="0">
              <a:buNone/>
              <a:defRPr sz="1200" b="1"/>
            </a:lvl9pPr>
          </a:lstStyle>
          <a:p>
            <a:pPr lvl="0"/>
            <a:r>
              <a:rPr lang="en-US" altLang="zh-TW"/>
              <a:t>Click to edit Master text styles</a:t>
            </a:r>
          </a:p>
        </p:txBody>
      </p:sp>
      <p:sp>
        <p:nvSpPr>
          <p:cNvPr id="6" name="內容版面配置區 5"/>
          <p:cNvSpPr>
            <a:spLocks noGrp="1"/>
          </p:cNvSpPr>
          <p:nvPr>
            <p:ph sz="quarter" idx="4"/>
          </p:nvPr>
        </p:nvSpPr>
        <p:spPr>
          <a:xfrm>
            <a:off x="4645029" y="1431401"/>
            <a:ext cx="4041775" cy="2963466"/>
          </a:xfrm>
        </p:spPr>
        <p:txBody>
          <a:bodyPr/>
          <a:lstStyle>
            <a:lvl1pPr>
              <a:defRPr sz="2000"/>
            </a:lvl1pPr>
            <a:lvl2pPr>
              <a:defRPr sz="1600"/>
            </a:lvl2pPr>
            <a:lvl3pPr>
              <a:defRPr sz="1400"/>
            </a:lvl3pPr>
            <a:lvl4pPr>
              <a:defRPr sz="1400"/>
            </a:lvl4pPr>
            <a:lvl5pPr>
              <a:defRPr sz="1400"/>
            </a:lvl5pPr>
            <a:lvl6pPr>
              <a:defRPr sz="1200"/>
            </a:lvl6pPr>
            <a:lvl7pPr>
              <a:defRPr sz="1200"/>
            </a:lvl7pPr>
            <a:lvl8pPr>
              <a:defRPr sz="1200"/>
            </a:lvl8pPr>
            <a:lvl9pPr>
              <a:defRPr sz="12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7"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
        <p:nvSpPr>
          <p:cNvPr id="8" name="標題 1"/>
          <p:cNvSpPr>
            <a:spLocks noGrp="1"/>
          </p:cNvSpPr>
          <p:nvPr>
            <p:ph type="title"/>
          </p:nvPr>
        </p:nvSpPr>
        <p:spPr>
          <a:xfrm>
            <a:off x="468315" y="108349"/>
            <a:ext cx="8207375" cy="519113"/>
          </a:xfrm>
        </p:spPr>
        <p:txBody>
          <a:bodyPr/>
          <a:lstStyle/>
          <a:p>
            <a:r>
              <a:rPr lang="en-US" altLang="zh-TW" dirty="0"/>
              <a:t>Click to edit Master title style</a:t>
            </a:r>
            <a:endParaRPr lang="zh-TW" altLang="en-US" dirty="0"/>
          </a:p>
        </p:txBody>
      </p:sp>
    </p:spTree>
    <p:extLst>
      <p:ext uri="{BB962C8B-B14F-4D97-AF65-F5344CB8AC3E}">
        <p14:creationId xmlns:p14="http://schemas.microsoft.com/office/powerpoint/2010/main" val="14055619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3968081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1620286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4" y="204787"/>
            <a:ext cx="3008313" cy="871538"/>
          </a:xfrm>
        </p:spPr>
        <p:txBody>
          <a:bodyPr anchor="b"/>
          <a:lstStyle>
            <a:lvl1pPr algn="l">
              <a:defRPr sz="1500" b="1"/>
            </a:lvl1pPr>
          </a:lstStyle>
          <a:p>
            <a:r>
              <a:rPr lang="en-US" altLang="zh-TW"/>
              <a:t>Click to edit Master title style</a:t>
            </a:r>
            <a:endParaRPr lang="zh-TW" altLang="en-US"/>
          </a:p>
        </p:txBody>
      </p:sp>
      <p:sp>
        <p:nvSpPr>
          <p:cNvPr id="3" name="內容版面配置區 2"/>
          <p:cNvSpPr>
            <a:spLocks noGrp="1"/>
          </p:cNvSpPr>
          <p:nvPr>
            <p:ph idx="1"/>
          </p:nvPr>
        </p:nvSpPr>
        <p:spPr>
          <a:xfrm>
            <a:off x="3575050" y="204791"/>
            <a:ext cx="5111751"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文字版面配置區 3"/>
          <p:cNvSpPr>
            <a:spLocks noGrp="1"/>
          </p:cNvSpPr>
          <p:nvPr>
            <p:ph type="body" sz="half" idx="2"/>
          </p:nvPr>
        </p:nvSpPr>
        <p:spPr>
          <a:xfrm>
            <a:off x="457204" y="1076328"/>
            <a:ext cx="3008313" cy="3518297"/>
          </a:xfrm>
        </p:spPr>
        <p:txBody>
          <a:bodyPr/>
          <a:lstStyle>
            <a:lvl1pPr marL="0" indent="0">
              <a:buNone/>
              <a:defRPr sz="1051"/>
            </a:lvl1pPr>
            <a:lvl2pPr marL="342891" indent="0">
              <a:buNone/>
              <a:defRPr sz="900"/>
            </a:lvl2pPr>
            <a:lvl3pPr marL="685783" indent="0">
              <a:buNone/>
              <a:defRPr sz="751"/>
            </a:lvl3pPr>
            <a:lvl4pPr marL="1028674" indent="0">
              <a:buNone/>
              <a:defRPr sz="675"/>
            </a:lvl4pPr>
            <a:lvl5pPr marL="1371566" indent="0">
              <a:buNone/>
              <a:defRPr sz="675"/>
            </a:lvl5pPr>
            <a:lvl6pPr marL="1714457" indent="0">
              <a:buNone/>
              <a:defRPr sz="675"/>
            </a:lvl6pPr>
            <a:lvl7pPr marL="2057349" indent="0">
              <a:buNone/>
              <a:defRPr sz="675"/>
            </a:lvl7pPr>
            <a:lvl8pPr marL="2400240" indent="0">
              <a:buNone/>
              <a:defRPr sz="675"/>
            </a:lvl8pPr>
            <a:lvl9pPr marL="2743131" indent="0">
              <a:buNone/>
              <a:defRPr sz="675"/>
            </a:lvl9pPr>
          </a:lstStyle>
          <a:p>
            <a:pPr lvl="0"/>
            <a:r>
              <a:rPr lang="en-US" altLang="zh-TW"/>
              <a:t>Click to edit Master text styles</a:t>
            </a:r>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8599769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3600450"/>
            <a:ext cx="5486400" cy="425054"/>
          </a:xfrm>
        </p:spPr>
        <p:txBody>
          <a:bodyPr anchor="b"/>
          <a:lstStyle>
            <a:lvl1pPr algn="l">
              <a:defRPr sz="1500" b="1"/>
            </a:lvl1pPr>
          </a:lstStyle>
          <a:p>
            <a:r>
              <a:rPr lang="en-US" altLang="zh-TW"/>
              <a:t>Click to edit Master title style</a:t>
            </a:r>
            <a:endParaRPr lang="zh-TW" altLang="en-US"/>
          </a:p>
        </p:txBody>
      </p:sp>
      <p:sp>
        <p:nvSpPr>
          <p:cNvPr id="3" name="圖片版面配置區 2"/>
          <p:cNvSpPr>
            <a:spLocks noGrp="1"/>
          </p:cNvSpPr>
          <p:nvPr>
            <p:ph type="pic" idx="1"/>
          </p:nvPr>
        </p:nvSpPr>
        <p:spPr>
          <a:xfrm>
            <a:off x="1792288" y="459581"/>
            <a:ext cx="5486400" cy="3086100"/>
          </a:xfrm>
        </p:spPr>
        <p:txBody>
          <a:bodyPr/>
          <a:lstStyle>
            <a:lvl1pPr marL="0" indent="0">
              <a:buNone/>
              <a:defRPr sz="2400"/>
            </a:lvl1pPr>
            <a:lvl2pPr marL="342891" indent="0">
              <a:buNone/>
              <a:defRPr sz="2100"/>
            </a:lvl2pPr>
            <a:lvl3pPr marL="685783" indent="0">
              <a:buNone/>
              <a:defRPr sz="1800"/>
            </a:lvl3pPr>
            <a:lvl4pPr marL="1028674" indent="0">
              <a:buNone/>
              <a:defRPr sz="1500"/>
            </a:lvl4pPr>
            <a:lvl5pPr marL="1371566" indent="0">
              <a:buNone/>
              <a:defRPr sz="1500"/>
            </a:lvl5pPr>
            <a:lvl6pPr marL="1714457" indent="0">
              <a:buNone/>
              <a:defRPr sz="1500"/>
            </a:lvl6pPr>
            <a:lvl7pPr marL="2057349" indent="0">
              <a:buNone/>
              <a:defRPr sz="1500"/>
            </a:lvl7pPr>
            <a:lvl8pPr marL="2400240" indent="0">
              <a:buNone/>
              <a:defRPr sz="1500"/>
            </a:lvl8pPr>
            <a:lvl9pPr marL="2743131" indent="0">
              <a:buNone/>
              <a:defRPr sz="1500"/>
            </a:lvl9pPr>
          </a:lstStyle>
          <a:p>
            <a:pPr lvl="0"/>
            <a:r>
              <a:rPr lang="en-US" altLang="zh-TW" noProof="0"/>
              <a:t>Click icon to add picture</a:t>
            </a:r>
            <a:endParaRPr lang="zh-TW" altLang="en-US" noProof="0"/>
          </a:p>
        </p:txBody>
      </p:sp>
      <p:sp>
        <p:nvSpPr>
          <p:cNvPr id="4" name="文字版面配置區 3"/>
          <p:cNvSpPr>
            <a:spLocks noGrp="1"/>
          </p:cNvSpPr>
          <p:nvPr>
            <p:ph type="body" sz="half" idx="2"/>
          </p:nvPr>
        </p:nvSpPr>
        <p:spPr>
          <a:xfrm>
            <a:off x="1792288" y="4025505"/>
            <a:ext cx="5486400" cy="603647"/>
          </a:xfrm>
        </p:spPr>
        <p:txBody>
          <a:bodyPr/>
          <a:lstStyle>
            <a:lvl1pPr marL="0" indent="0">
              <a:buNone/>
              <a:defRPr sz="1051"/>
            </a:lvl1pPr>
            <a:lvl2pPr marL="342891" indent="0">
              <a:buNone/>
              <a:defRPr sz="900"/>
            </a:lvl2pPr>
            <a:lvl3pPr marL="685783" indent="0">
              <a:buNone/>
              <a:defRPr sz="751"/>
            </a:lvl3pPr>
            <a:lvl4pPr marL="1028674" indent="0">
              <a:buNone/>
              <a:defRPr sz="675"/>
            </a:lvl4pPr>
            <a:lvl5pPr marL="1371566" indent="0">
              <a:buNone/>
              <a:defRPr sz="675"/>
            </a:lvl5pPr>
            <a:lvl6pPr marL="1714457" indent="0">
              <a:buNone/>
              <a:defRPr sz="675"/>
            </a:lvl6pPr>
            <a:lvl7pPr marL="2057349" indent="0">
              <a:buNone/>
              <a:defRPr sz="675"/>
            </a:lvl7pPr>
            <a:lvl8pPr marL="2400240" indent="0">
              <a:buNone/>
              <a:defRPr sz="675"/>
            </a:lvl8pPr>
            <a:lvl9pPr marL="2743131" indent="0">
              <a:buNone/>
              <a:defRPr sz="675"/>
            </a:lvl9pPr>
          </a:lstStyle>
          <a:p>
            <a:pPr lvl="0"/>
            <a:r>
              <a:rPr lang="en-US" altLang="zh-TW"/>
              <a:t>Click to edit Master text styles</a:t>
            </a:r>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7516622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直排文字版面配置區 2"/>
          <p:cNvSpPr>
            <a:spLocks noGrp="1"/>
          </p:cNvSpPr>
          <p:nvPr>
            <p:ph type="body" orient="vert" idx="1"/>
          </p:nvPr>
        </p:nvSpPr>
        <p:spPr/>
        <p:txBody>
          <a:bodyPr vert="eaVert"/>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5337722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直排標題及文字">
    <p:spTree>
      <p:nvGrpSpPr>
        <p:cNvPr id="1" name=""/>
        <p:cNvGrpSpPr/>
        <p:nvPr/>
      </p:nvGrpSpPr>
      <p:grpSpPr>
        <a:xfrm>
          <a:off x="0" y="0"/>
          <a:ext cx="0" cy="0"/>
          <a:chOff x="0" y="0"/>
          <a:chExt cx="0" cy="0"/>
        </a:xfrm>
      </p:grpSpPr>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4945518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Only" preserve="1">
  <p:cSld name="物件">
    <p:spTree>
      <p:nvGrpSpPr>
        <p:cNvPr id="1" name=""/>
        <p:cNvGrpSpPr/>
        <p:nvPr/>
      </p:nvGrpSpPr>
      <p:grpSpPr>
        <a:xfrm>
          <a:off x="0" y="0"/>
          <a:ext cx="0" cy="0"/>
          <a:chOff x="0" y="0"/>
          <a:chExt cx="0" cy="0"/>
        </a:xfrm>
      </p:grpSpPr>
      <p:sp>
        <p:nvSpPr>
          <p:cNvPr id="2" name="內容版面配置區 1"/>
          <p:cNvSpPr>
            <a:spLocks noGrp="1"/>
          </p:cNvSpPr>
          <p:nvPr>
            <p:ph/>
          </p:nvPr>
        </p:nvSpPr>
        <p:spPr>
          <a:xfrm>
            <a:off x="457200" y="54771"/>
            <a:ext cx="8229600" cy="1275160"/>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0822411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標題及表格">
    <p:spTree>
      <p:nvGrpSpPr>
        <p:cNvPr id="1" name=""/>
        <p:cNvGrpSpPr/>
        <p:nvPr/>
      </p:nvGrpSpPr>
      <p:grpSpPr>
        <a:xfrm>
          <a:off x="0" y="0"/>
          <a:ext cx="0" cy="0"/>
          <a:chOff x="0" y="0"/>
          <a:chExt cx="0" cy="0"/>
        </a:xfrm>
      </p:grpSpPr>
      <p:sp>
        <p:nvSpPr>
          <p:cNvPr id="3" name="表格版面配置區 2"/>
          <p:cNvSpPr>
            <a:spLocks noGrp="1"/>
          </p:cNvSpPr>
          <p:nvPr>
            <p:ph type="tbl" idx="1"/>
          </p:nvPr>
        </p:nvSpPr>
        <p:spPr>
          <a:xfrm>
            <a:off x="457200" y="844156"/>
            <a:ext cx="8229600" cy="485775"/>
          </a:xfrm>
        </p:spPr>
        <p:txBody>
          <a:bodyPr/>
          <a:lstStyle/>
          <a:p>
            <a:pPr lvl="0"/>
            <a:r>
              <a:rPr lang="en-US" altLang="zh-TW" noProof="0"/>
              <a:t>Click icon to add table</a:t>
            </a:r>
            <a:endParaRPr lang="zh-TW" altLang="en-US" noProof="0"/>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2295952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1_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1597823"/>
            <a:ext cx="7772400" cy="1102519"/>
          </a:xfrm>
        </p:spPr>
        <p:txBody>
          <a:bodyPr/>
          <a:lstStyle>
            <a:lvl1pPr algn="ctr">
              <a:defRPr sz="4000"/>
            </a:lvl1pPr>
          </a:lstStyle>
          <a:p>
            <a:r>
              <a:rPr lang="en-US" altLang="zh-TW"/>
              <a:t>Click to edit Master title style</a:t>
            </a:r>
            <a:endParaRPr lang="zh-TW" altLang="en-US"/>
          </a:p>
        </p:txBody>
      </p:sp>
      <p:sp>
        <p:nvSpPr>
          <p:cNvPr id="3" name="副標題 2"/>
          <p:cNvSpPr>
            <a:spLocks noGrp="1"/>
          </p:cNvSpPr>
          <p:nvPr>
            <p:ph type="subTitle" idx="1"/>
          </p:nvPr>
        </p:nvSpPr>
        <p:spPr>
          <a:xfrm>
            <a:off x="1371600" y="2914650"/>
            <a:ext cx="6400800" cy="1314450"/>
          </a:xfrm>
        </p:spPr>
        <p:txBody>
          <a:bodyPr/>
          <a:lstStyle>
            <a:lvl1pPr marL="0" indent="0" algn="ctr">
              <a:buNone/>
              <a:defRPr/>
            </a:lvl1pPr>
            <a:lvl2pPr marL="342891" indent="0" algn="ctr">
              <a:buNone/>
              <a:defRPr/>
            </a:lvl2pPr>
            <a:lvl3pPr marL="685783" indent="0" algn="ctr">
              <a:buNone/>
              <a:defRPr/>
            </a:lvl3pPr>
            <a:lvl4pPr marL="1028674" indent="0" algn="ctr">
              <a:buNone/>
              <a:defRPr/>
            </a:lvl4pPr>
            <a:lvl5pPr marL="1371566" indent="0" algn="ctr">
              <a:buNone/>
              <a:defRPr/>
            </a:lvl5pPr>
            <a:lvl6pPr marL="1714457" indent="0" algn="ctr">
              <a:buNone/>
              <a:defRPr/>
            </a:lvl6pPr>
            <a:lvl7pPr marL="2057349" indent="0" algn="ctr">
              <a:buNone/>
              <a:defRPr/>
            </a:lvl7pPr>
            <a:lvl8pPr marL="2400240" indent="0" algn="ctr">
              <a:buNone/>
              <a:defRPr/>
            </a:lvl8pPr>
            <a:lvl9pPr marL="2743131" indent="0" algn="ctr">
              <a:buNone/>
              <a:defRPr/>
            </a:lvl9pPr>
          </a:lstStyle>
          <a:p>
            <a:r>
              <a:rPr lang="en-US" altLang="zh-TW"/>
              <a:t>Click to edit Master subtitle style</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9270784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4.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Rectangle 17"/>
          <p:cNvSpPr>
            <a:spLocks noGrp="1" noChangeArrowheads="1"/>
          </p:cNvSpPr>
          <p:nvPr>
            <p:ph type="title"/>
          </p:nvPr>
        </p:nvSpPr>
        <p:spPr bwMode="auto">
          <a:xfrm>
            <a:off x="787401" y="108349"/>
            <a:ext cx="7888289" cy="51911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TW" altLang="en-US" dirty="0"/>
              <a:t>按一下以編輯母片標題樣式</a:t>
            </a:r>
          </a:p>
        </p:txBody>
      </p:sp>
      <p:sp>
        <p:nvSpPr>
          <p:cNvPr id="1028" name="Rectangle 18"/>
          <p:cNvSpPr>
            <a:spLocks noGrp="1" noChangeArrowheads="1"/>
          </p:cNvSpPr>
          <p:nvPr>
            <p:ph type="body" idx="1"/>
          </p:nvPr>
        </p:nvSpPr>
        <p:spPr bwMode="auto">
          <a:xfrm>
            <a:off x="457200" y="844153"/>
            <a:ext cx="8229600" cy="36718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TW" altLang="en-US" dirty="0"/>
              <a:t>按一下以編輯母片</a:t>
            </a:r>
          </a:p>
          <a:p>
            <a:pPr lvl="1"/>
            <a:r>
              <a:rPr lang="zh-TW" altLang="en-US" dirty="0"/>
              <a:t>按一下以編輯母片</a:t>
            </a:r>
          </a:p>
          <a:p>
            <a:pPr lvl="1"/>
            <a:endParaRPr lang="zh-TW" altLang="en-US" dirty="0"/>
          </a:p>
          <a:p>
            <a:pPr lvl="0"/>
            <a:endParaRPr lang="en-US" altLang="zh-TW" dirty="0"/>
          </a:p>
        </p:txBody>
      </p:sp>
      <p:pic>
        <p:nvPicPr>
          <p:cNvPr id="1029" name="Picture 25" descr="name"/>
          <p:cNvPicPr>
            <a:picLocks noChangeAspect="1" noChangeArrowheads="1"/>
          </p:cNvPicPr>
          <p:nvPr/>
        </p:nvPicPr>
        <p:blipFill>
          <a:blip r:embed="rId15" cstate="print"/>
          <a:srcRect/>
          <a:stretch>
            <a:fillRect/>
          </a:stretch>
        </p:blipFill>
        <p:spPr bwMode="auto">
          <a:xfrm>
            <a:off x="2" y="4768455"/>
            <a:ext cx="3833813" cy="148828"/>
          </a:xfrm>
          <a:prstGeom prst="rect">
            <a:avLst/>
          </a:prstGeom>
          <a:noFill/>
          <a:ln w="9525">
            <a:noFill/>
            <a:miter lim="800000"/>
            <a:headEnd/>
            <a:tailEnd/>
          </a:ln>
        </p:spPr>
      </p:pic>
      <p:sp>
        <p:nvSpPr>
          <p:cNvPr id="8" name="矩形 7"/>
          <p:cNvSpPr/>
          <p:nvPr/>
        </p:nvSpPr>
        <p:spPr>
          <a:xfrm>
            <a:off x="569246" y="4936332"/>
            <a:ext cx="2731837" cy="230832"/>
          </a:xfrm>
          <a:prstGeom prst="rect">
            <a:avLst/>
          </a:prstGeom>
        </p:spPr>
        <p:txBody>
          <a:bodyPr wrap="none">
            <a:spAutoFit/>
          </a:bodyPr>
          <a:lstStyle/>
          <a:p>
            <a:pPr algn="ctr">
              <a:defRPr/>
            </a:pPr>
            <a:r>
              <a:rPr lang="en-US" sz="900" b="1" dirty="0">
                <a:solidFill>
                  <a:schemeClr val="bg1"/>
                </a:solidFill>
                <a:latin typeface="Arial" pitchFamily="34" charset="0"/>
                <a:ea typeface="新細明體" pitchFamily="18" charset="-120"/>
                <a:cs typeface="Arial" pitchFamily="34" charset="0"/>
              </a:rPr>
              <a:t>National Tsing Hua University ® copyright OIA</a:t>
            </a:r>
            <a:endParaRPr lang="zh-TW" altLang="en-US" sz="900" b="1" dirty="0">
              <a:solidFill>
                <a:schemeClr val="bg1"/>
              </a:solidFill>
              <a:latin typeface="Arial" pitchFamily="34" charset="0"/>
              <a:ea typeface="新細明體" pitchFamily="18" charset="-120"/>
              <a:cs typeface="Arial" pitchFamily="34" charset="0"/>
            </a:endParaRPr>
          </a:p>
        </p:txBody>
      </p:sp>
      <p:sp>
        <p:nvSpPr>
          <p:cNvPr id="4105" name="Rectangle 9"/>
          <p:cNvSpPr>
            <a:spLocks noChangeArrowheads="1"/>
          </p:cNvSpPr>
          <p:nvPr/>
        </p:nvSpPr>
        <p:spPr bwMode="auto">
          <a:xfrm>
            <a:off x="0" y="681041"/>
            <a:ext cx="9144000" cy="108347"/>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351">
              <a:ea typeface="新細明體" pitchFamily="18" charset="-120"/>
            </a:endParaRPr>
          </a:p>
        </p:txBody>
      </p:sp>
      <p:sp>
        <p:nvSpPr>
          <p:cNvPr id="4106" name="Rectangle 10"/>
          <p:cNvSpPr>
            <a:spLocks noChangeArrowheads="1"/>
          </p:cNvSpPr>
          <p:nvPr userDrawn="1"/>
        </p:nvSpPr>
        <p:spPr bwMode="auto">
          <a:xfrm>
            <a:off x="0" y="4624387"/>
            <a:ext cx="9144000" cy="539354"/>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351">
              <a:ea typeface="新細明體" pitchFamily="18" charset="-120"/>
            </a:endParaRPr>
          </a:p>
        </p:txBody>
      </p:sp>
      <p:sp>
        <p:nvSpPr>
          <p:cNvPr id="1043" name="Rectangle 19"/>
          <p:cNvSpPr>
            <a:spLocks noGrp="1" noChangeArrowheads="1"/>
          </p:cNvSpPr>
          <p:nvPr>
            <p:ph type="sldNum" sz="quarter" idx="4"/>
          </p:nvPr>
        </p:nvSpPr>
        <p:spPr bwMode="auto">
          <a:xfrm>
            <a:off x="6831013" y="4893471"/>
            <a:ext cx="2133600" cy="25479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900">
                <a:solidFill>
                  <a:schemeClr val="bg1"/>
                </a:solidFill>
                <a:latin typeface="Arial" pitchFamily="34" charset="0"/>
                <a:ea typeface="新細明體" pitchFamily="18" charset="-120"/>
              </a:defRPr>
            </a:lvl1pPr>
          </a:lstStyle>
          <a:p>
            <a:fld id="{D9B6BDF2-6896-4B98-8776-C18582F63BA5}" type="slidenum">
              <a:rPr lang="zh-TW" altLang="en-US" smtClean="0"/>
              <a:pPr/>
              <a:t>‹#›</a:t>
            </a:fld>
            <a:endParaRPr lang="zh-TW" altLang="en-US"/>
          </a:p>
        </p:txBody>
      </p:sp>
      <p:pic>
        <p:nvPicPr>
          <p:cNvPr id="7" name="圖片 6"/>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35060" y="96457"/>
            <a:ext cx="888965" cy="518914"/>
          </a:xfrm>
          <a:prstGeom prst="rect">
            <a:avLst/>
          </a:prstGeom>
        </p:spPr>
      </p:pic>
      <p:pic>
        <p:nvPicPr>
          <p:cNvPr id="12" name="圖片 11"/>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46309" y="4683590"/>
            <a:ext cx="741091" cy="427061"/>
          </a:xfrm>
          <a:prstGeom prst="rect">
            <a:avLst/>
          </a:prstGeom>
        </p:spPr>
      </p:pic>
      <p:pic>
        <p:nvPicPr>
          <p:cNvPr id="13" name="圖片 12"/>
          <p:cNvPicPr>
            <a:picLocks noChangeAspect="1"/>
          </p:cNvPicPr>
          <p:nvPr userDrawn="1"/>
        </p:nvPicPr>
        <p:blipFill>
          <a:blip r:embed="rId18" cstate="print">
            <a:extLst>
              <a:ext uri="{28A0092B-C50C-407E-A947-70E740481C1C}">
                <a14:useLocalDpi xmlns:a14="http://schemas.microsoft.com/office/drawing/2010/main" val="0"/>
              </a:ext>
            </a:extLst>
          </a:blip>
          <a:stretch>
            <a:fillRect/>
          </a:stretch>
        </p:blipFill>
        <p:spPr>
          <a:xfrm>
            <a:off x="788062" y="4681942"/>
            <a:ext cx="2030503" cy="400434"/>
          </a:xfrm>
          <a:prstGeom prst="rect">
            <a:avLst/>
          </a:prstGeom>
        </p:spPr>
      </p:pic>
    </p:spTree>
    <p:extLst>
      <p:ext uri="{BB962C8B-B14F-4D97-AF65-F5344CB8AC3E}">
        <p14:creationId xmlns:p14="http://schemas.microsoft.com/office/powerpoint/2010/main" val="25729887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hdr="0" ftr="0" dt="0"/>
  <p:txStyles>
    <p:titleStyle>
      <a:lvl1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j-cs"/>
        </a:defRPr>
      </a:lvl1pPr>
      <a:lvl2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5pPr>
      <a:lvl6pPr marL="342891" algn="l" rtl="0" eaLnBrk="1" fontAlgn="base" hangingPunct="1">
        <a:spcBef>
          <a:spcPct val="0"/>
        </a:spcBef>
        <a:spcAft>
          <a:spcPct val="0"/>
        </a:spcAft>
        <a:defRPr kumimoji="1" sz="2251" b="1">
          <a:solidFill>
            <a:schemeClr val="tx2"/>
          </a:solidFill>
          <a:latin typeface="MS Sans Serif"/>
          <a:ea typeface="MS Sans Serif"/>
          <a:cs typeface="MS Sans Serif"/>
        </a:defRPr>
      </a:lvl6pPr>
      <a:lvl7pPr marL="685783" algn="l" rtl="0" eaLnBrk="1" fontAlgn="base" hangingPunct="1">
        <a:spcBef>
          <a:spcPct val="0"/>
        </a:spcBef>
        <a:spcAft>
          <a:spcPct val="0"/>
        </a:spcAft>
        <a:defRPr kumimoji="1" sz="2251" b="1">
          <a:solidFill>
            <a:schemeClr val="tx2"/>
          </a:solidFill>
          <a:latin typeface="MS Sans Serif"/>
          <a:ea typeface="MS Sans Serif"/>
          <a:cs typeface="MS Sans Serif"/>
        </a:defRPr>
      </a:lvl7pPr>
      <a:lvl8pPr marL="1028674" algn="l" rtl="0" eaLnBrk="1" fontAlgn="base" hangingPunct="1">
        <a:spcBef>
          <a:spcPct val="0"/>
        </a:spcBef>
        <a:spcAft>
          <a:spcPct val="0"/>
        </a:spcAft>
        <a:defRPr kumimoji="1" sz="2251" b="1">
          <a:solidFill>
            <a:schemeClr val="tx2"/>
          </a:solidFill>
          <a:latin typeface="MS Sans Serif"/>
          <a:ea typeface="MS Sans Serif"/>
          <a:cs typeface="MS Sans Serif"/>
        </a:defRPr>
      </a:lvl8pPr>
      <a:lvl9pPr marL="1371566" algn="l" rtl="0" eaLnBrk="1" fontAlgn="base" hangingPunct="1">
        <a:spcBef>
          <a:spcPct val="0"/>
        </a:spcBef>
        <a:spcAft>
          <a:spcPct val="0"/>
        </a:spcAft>
        <a:defRPr kumimoji="1" sz="2251" b="1">
          <a:solidFill>
            <a:schemeClr val="tx2"/>
          </a:solidFill>
          <a:latin typeface="MS Sans Serif"/>
          <a:ea typeface="MS Sans Serif"/>
          <a:cs typeface="MS Sans Serif"/>
        </a:defRPr>
      </a:lvl9pPr>
    </p:titleStyle>
    <p:bodyStyle>
      <a:lvl1pPr marL="257168" indent="-257168" algn="l" rtl="0" eaLnBrk="1" fontAlgn="base" hangingPunct="1">
        <a:spcBef>
          <a:spcPct val="20000"/>
        </a:spcBef>
        <a:spcAft>
          <a:spcPct val="0"/>
        </a:spcAft>
        <a:buClr>
          <a:srgbClr val="0000FF"/>
        </a:buClr>
        <a:buSzPct val="80000"/>
        <a:buFont typeface="Wingdings" pitchFamily="2" charset="2"/>
        <a:buChar char="l"/>
        <a:defRPr kumimoji="1" sz="2800">
          <a:solidFill>
            <a:schemeClr val="tx1"/>
          </a:solidFill>
          <a:latin typeface="Calibri" pitchFamily="34" charset="0"/>
          <a:ea typeface="標楷體" pitchFamily="65" charset="-120"/>
          <a:cs typeface="+mn-cs"/>
        </a:defRPr>
      </a:lvl1pPr>
      <a:lvl2pPr marL="557199" indent="-214308" algn="l" rtl="0" eaLnBrk="1" fontAlgn="base" hangingPunct="1">
        <a:spcBef>
          <a:spcPct val="20000"/>
        </a:spcBef>
        <a:spcAft>
          <a:spcPct val="0"/>
        </a:spcAft>
        <a:buClr>
          <a:srgbClr val="0000FF"/>
        </a:buClr>
        <a:buSzPct val="90000"/>
        <a:buFont typeface="Arial" charset="0"/>
        <a:buChar char="–"/>
        <a:defRPr kumimoji="1" sz="2400">
          <a:solidFill>
            <a:schemeClr val="tx1"/>
          </a:solidFill>
          <a:latin typeface="Calibri" pitchFamily="34" charset="0"/>
          <a:ea typeface="標楷體" pitchFamily="65" charset="-120"/>
        </a:defRPr>
      </a:lvl2pPr>
      <a:lvl3pPr marL="857229" indent="-171446" algn="l" rtl="0" eaLnBrk="1" fontAlgn="base" hangingPunct="1">
        <a:spcBef>
          <a:spcPct val="20000"/>
        </a:spcBef>
        <a:spcAft>
          <a:spcPct val="0"/>
        </a:spcAft>
        <a:buChar char="•"/>
        <a:defRPr kumimoji="1" sz="1800">
          <a:solidFill>
            <a:schemeClr val="tx1"/>
          </a:solidFill>
          <a:latin typeface="+mn-lt"/>
          <a:ea typeface="+mn-ea"/>
        </a:defRPr>
      </a:lvl3pPr>
      <a:lvl4pPr marL="1200121" indent="-171446" algn="l" rtl="0" eaLnBrk="1" fontAlgn="base" hangingPunct="1">
        <a:spcBef>
          <a:spcPct val="20000"/>
        </a:spcBef>
        <a:spcAft>
          <a:spcPct val="0"/>
        </a:spcAft>
        <a:buChar char="–"/>
        <a:defRPr kumimoji="1" sz="1500">
          <a:solidFill>
            <a:schemeClr val="tx1"/>
          </a:solidFill>
          <a:latin typeface="+mn-lt"/>
          <a:ea typeface="+mn-ea"/>
        </a:defRPr>
      </a:lvl4pPr>
      <a:lvl5pPr marL="1543012" indent="-171446" algn="l" rtl="0" eaLnBrk="1" fontAlgn="base" hangingPunct="1">
        <a:spcBef>
          <a:spcPct val="20000"/>
        </a:spcBef>
        <a:spcAft>
          <a:spcPct val="0"/>
        </a:spcAft>
        <a:buChar char="»"/>
        <a:defRPr kumimoji="1" sz="1500">
          <a:solidFill>
            <a:schemeClr val="tx1"/>
          </a:solidFill>
          <a:latin typeface="+mn-lt"/>
          <a:ea typeface="+mn-ea"/>
        </a:defRPr>
      </a:lvl5pPr>
      <a:lvl6pPr marL="1885904" indent="-171446" algn="l" rtl="0" eaLnBrk="1" fontAlgn="base" hangingPunct="1">
        <a:spcBef>
          <a:spcPct val="20000"/>
        </a:spcBef>
        <a:spcAft>
          <a:spcPct val="0"/>
        </a:spcAft>
        <a:buChar char="»"/>
        <a:defRPr kumimoji="1" sz="1500">
          <a:solidFill>
            <a:schemeClr val="tx1"/>
          </a:solidFill>
          <a:latin typeface="+mn-lt"/>
          <a:ea typeface="+mn-ea"/>
        </a:defRPr>
      </a:lvl6pPr>
      <a:lvl7pPr marL="2228795" indent="-171446" algn="l" rtl="0" eaLnBrk="1" fontAlgn="base" hangingPunct="1">
        <a:spcBef>
          <a:spcPct val="20000"/>
        </a:spcBef>
        <a:spcAft>
          <a:spcPct val="0"/>
        </a:spcAft>
        <a:buChar char="»"/>
        <a:defRPr kumimoji="1" sz="1500">
          <a:solidFill>
            <a:schemeClr val="tx1"/>
          </a:solidFill>
          <a:latin typeface="+mn-lt"/>
          <a:ea typeface="+mn-ea"/>
        </a:defRPr>
      </a:lvl7pPr>
      <a:lvl8pPr marL="2571686" indent="-171446" algn="l" rtl="0" eaLnBrk="1" fontAlgn="base" hangingPunct="1">
        <a:spcBef>
          <a:spcPct val="20000"/>
        </a:spcBef>
        <a:spcAft>
          <a:spcPct val="0"/>
        </a:spcAft>
        <a:buChar char="»"/>
        <a:defRPr kumimoji="1" sz="1500">
          <a:solidFill>
            <a:schemeClr val="tx1"/>
          </a:solidFill>
          <a:latin typeface="+mn-lt"/>
          <a:ea typeface="+mn-ea"/>
        </a:defRPr>
      </a:lvl8pPr>
      <a:lvl9pPr marL="2914578" indent="-171446" algn="l" rtl="0" eaLnBrk="1" fontAlgn="base" hangingPunct="1">
        <a:spcBef>
          <a:spcPct val="20000"/>
        </a:spcBef>
        <a:spcAft>
          <a:spcPct val="0"/>
        </a:spcAft>
        <a:buChar char="»"/>
        <a:defRPr kumimoji="1" sz="1500">
          <a:solidFill>
            <a:schemeClr val="tx1"/>
          </a:solidFill>
          <a:latin typeface="+mn-lt"/>
          <a:ea typeface="+mn-ea"/>
        </a:defRPr>
      </a:lvl9pPr>
    </p:bodyStyle>
    <p:otherStyle>
      <a:defPPr>
        <a:defRPr lang="zh-TW"/>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6.emf"/><Relationship Id="rId1" Type="http://schemas.openxmlformats.org/officeDocument/2006/relationships/slideLayout" Target="../slideLayouts/slideLayout1.xml"/><Relationship Id="rId4" Type="http://schemas.openxmlformats.org/officeDocument/2006/relationships/image" Target="../media/image18.emf"/></Relationships>
</file>

<file path=ppt/slides/_rels/slide37.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826534"/>
            <a:ext cx="7772400" cy="1102519"/>
          </a:xfrm>
        </p:spPr>
        <p:txBody>
          <a:bodyPr/>
          <a:lstStyle/>
          <a:p>
            <a:pPr algn="ctr"/>
            <a:r>
              <a:rPr lang="en-US" altLang="zh-TW" sz="3600" dirty="0">
                <a:effectLst>
                  <a:outerShdw blurRad="38100" dist="38100" dir="2700000" algn="tl">
                    <a:srgbClr val="000000">
                      <a:alpha val="43137"/>
                    </a:srgbClr>
                  </a:outerShdw>
                </a:effectLst>
              </a:rPr>
              <a:t>CSC3</a:t>
            </a:r>
            <a:r>
              <a:rPr lang="en-US" altLang="zh-CN" sz="3600" dirty="0">
                <a:effectLst>
                  <a:outerShdw blurRad="38100" dist="38100" dir="2700000" algn="tl">
                    <a:srgbClr val="000000">
                      <a:alpha val="43137"/>
                    </a:srgbClr>
                  </a:outerShdw>
                </a:effectLst>
              </a:rPr>
              <a:t>1</a:t>
            </a:r>
            <a:r>
              <a:rPr lang="en-US" altLang="zh-TW" sz="3600" dirty="0">
                <a:effectLst>
                  <a:outerShdw blurRad="38100" dist="38100" dir="2700000" algn="tl">
                    <a:srgbClr val="000000">
                      <a:alpha val="43137"/>
                    </a:srgbClr>
                  </a:outerShdw>
                </a:effectLst>
              </a:rPr>
              <a:t>50 – Operating Systems</a:t>
            </a:r>
            <a:endParaRPr lang="zh-TW" altLang="en-US" sz="3600" dirty="0">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1371600" y="2548824"/>
            <a:ext cx="6400800" cy="1801796"/>
          </a:xfrm>
        </p:spPr>
        <p:txBody>
          <a:bodyPr/>
          <a:lstStyle/>
          <a:p>
            <a:r>
              <a:rPr lang="en-US" altLang="zh-TW" sz="2400" dirty="0">
                <a:effectLst>
                  <a:outerShdw blurRad="38100" dist="38100" dir="2700000" algn="tl">
                    <a:srgbClr val="000000">
                      <a:alpha val="43137"/>
                    </a:srgbClr>
                  </a:outerShdw>
                </a:effectLst>
              </a:rPr>
              <a:t>Prof. </a:t>
            </a:r>
            <a:r>
              <a:rPr lang="en-US" altLang="zh-TW" sz="2400" dirty="0" err="1">
                <a:effectLst>
                  <a:outerShdw blurRad="38100" dist="38100" dir="2700000" algn="tl">
                    <a:srgbClr val="000000">
                      <a:alpha val="43137"/>
                    </a:srgbClr>
                  </a:outerShdw>
                </a:effectLst>
              </a:rPr>
              <a:t>Yeh-Ching</a:t>
            </a:r>
            <a:r>
              <a:rPr lang="en-US" altLang="zh-TW" sz="2400" dirty="0">
                <a:effectLst>
                  <a:outerShdw blurRad="38100" dist="38100" dir="2700000" algn="tl">
                    <a:srgbClr val="000000">
                      <a:alpha val="43137"/>
                    </a:srgbClr>
                  </a:outerShdw>
                </a:effectLst>
              </a:rPr>
              <a:t> Chung</a:t>
            </a:r>
          </a:p>
          <a:p>
            <a:endParaRPr lang="en-US" altLang="zh-TW" sz="2400" dirty="0">
              <a:effectLst>
                <a:outerShdw blurRad="38100" dist="38100" dir="2700000" algn="tl">
                  <a:srgbClr val="000000">
                    <a:alpha val="43137"/>
                  </a:srgbClr>
                </a:outerShdw>
              </a:effectLst>
            </a:endParaRPr>
          </a:p>
          <a:p>
            <a:r>
              <a:rPr lang="en-US" altLang="zh-TW" sz="2400" dirty="0"/>
              <a:t>School of </a:t>
            </a:r>
            <a:r>
              <a:rPr lang="en-US" altLang="zh-TW" sz="2400"/>
              <a:t>Data Science</a:t>
            </a:r>
            <a:endParaRPr lang="en-US" altLang="zh-TW" sz="2400" dirty="0"/>
          </a:p>
          <a:p>
            <a:r>
              <a:rPr lang="en-US" altLang="zh-TW" sz="2400" dirty="0"/>
              <a:t>Chinese University of Hong Kong, Shenzhen</a:t>
            </a:r>
          </a:p>
        </p:txBody>
      </p:sp>
      <p:sp>
        <p:nvSpPr>
          <p:cNvPr id="5" name="灯片编号占位符 4">
            <a:extLst>
              <a:ext uri="{FF2B5EF4-FFF2-40B4-BE49-F238E27FC236}">
                <a16:creationId xmlns:a16="http://schemas.microsoft.com/office/drawing/2014/main" id="{DAFFB0C2-40A6-AD02-D170-530BE0638AE7}"/>
              </a:ext>
            </a:extLst>
          </p:cNvPr>
          <p:cNvSpPr>
            <a:spLocks noGrp="1"/>
          </p:cNvSpPr>
          <p:nvPr>
            <p:ph type="sldNum" sz="quarter" idx="10"/>
          </p:nvPr>
        </p:nvSpPr>
        <p:spPr/>
        <p:txBody>
          <a:bodyPr/>
          <a:lstStyle/>
          <a:p>
            <a:fld id="{D9B6BDF2-6896-4B98-8776-C18582F63BA5}" type="slidenum">
              <a:rPr lang="zh-TW" altLang="en-US" smtClean="0"/>
              <a:pPr/>
              <a:t>1</a:t>
            </a:fld>
            <a:endParaRPr lang="zh-TW" altLang="en-US"/>
          </a:p>
        </p:txBody>
      </p:sp>
    </p:spTree>
    <p:extLst>
      <p:ext uri="{BB962C8B-B14F-4D97-AF65-F5344CB8AC3E}">
        <p14:creationId xmlns:p14="http://schemas.microsoft.com/office/powerpoint/2010/main" val="4064680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1776E12C-0A8F-49FF-8988-D53352F14B90}"/>
              </a:ext>
            </a:extLst>
          </p:cNvPr>
          <p:cNvSpPr>
            <a:spLocks noGrp="1" noChangeArrowheads="1"/>
          </p:cNvSpPr>
          <p:nvPr>
            <p:ph type="title" idx="4294967295"/>
          </p:nvPr>
        </p:nvSpPr>
        <p:spPr>
          <a:xfrm>
            <a:off x="973667" y="152401"/>
            <a:ext cx="6537987" cy="432197"/>
          </a:xfrm>
        </p:spPr>
        <p:txBody>
          <a:bodyPr/>
          <a:lstStyle/>
          <a:p>
            <a:pPr eaLnBrk="1" hangingPunct="1"/>
            <a:r>
              <a:rPr lang="en-US" altLang="en-US" dirty="0"/>
              <a:t>Introduction</a:t>
            </a:r>
          </a:p>
        </p:txBody>
      </p:sp>
      <p:sp>
        <p:nvSpPr>
          <p:cNvPr id="7171" name="Rectangle 3">
            <a:extLst>
              <a:ext uri="{FF2B5EF4-FFF2-40B4-BE49-F238E27FC236}">
                <a16:creationId xmlns:a16="http://schemas.microsoft.com/office/drawing/2014/main" id="{D002EA22-F1BB-4F36-8EAD-4A3CBBBFD932}"/>
              </a:ext>
            </a:extLst>
          </p:cNvPr>
          <p:cNvSpPr>
            <a:spLocks noGrp="1" noChangeArrowheads="1"/>
          </p:cNvSpPr>
          <p:nvPr>
            <p:ph type="body" idx="4294967295"/>
          </p:nvPr>
        </p:nvSpPr>
        <p:spPr>
          <a:xfrm>
            <a:off x="1058531" y="829733"/>
            <a:ext cx="7010202" cy="3666067"/>
          </a:xfrm>
        </p:spPr>
        <p:txBody>
          <a:bodyPr/>
          <a:lstStyle/>
          <a:p>
            <a:pPr>
              <a:spcBef>
                <a:spcPts val="0"/>
              </a:spcBef>
            </a:pPr>
            <a:r>
              <a:rPr lang="en-US" altLang="en-US" sz="2000" dirty="0">
                <a:solidFill>
                  <a:schemeClr val="bg1">
                    <a:lumMod val="75000"/>
                  </a:schemeClr>
                </a:solidFill>
              </a:rPr>
              <a:t>What Operating Systems Do</a:t>
            </a:r>
          </a:p>
          <a:p>
            <a:pPr>
              <a:spcBef>
                <a:spcPts val="0"/>
              </a:spcBef>
            </a:pPr>
            <a:r>
              <a:rPr lang="en-US" altLang="en-US" sz="2000" dirty="0">
                <a:solidFill>
                  <a:schemeClr val="bg1">
                    <a:lumMod val="75000"/>
                  </a:schemeClr>
                </a:solidFill>
              </a:rPr>
              <a:t>Computer-System Organization</a:t>
            </a:r>
          </a:p>
          <a:p>
            <a:pPr>
              <a:spcBef>
                <a:spcPts val="0"/>
              </a:spcBef>
            </a:pPr>
            <a:r>
              <a:rPr lang="en-US" altLang="en-US" sz="2000" dirty="0">
                <a:solidFill>
                  <a:schemeClr val="bg1">
                    <a:lumMod val="75000"/>
                  </a:schemeClr>
                </a:solidFill>
              </a:rPr>
              <a:t>Computer-System Architecture</a:t>
            </a:r>
          </a:p>
          <a:p>
            <a:pPr>
              <a:spcBef>
                <a:spcPts val="0"/>
              </a:spcBef>
            </a:pPr>
            <a:r>
              <a:rPr lang="en-US" altLang="en-US" sz="2000" dirty="0">
                <a:solidFill>
                  <a:srgbClr val="FF0000"/>
                </a:solidFill>
              </a:rPr>
              <a:t>Operating-System Operations</a:t>
            </a:r>
          </a:p>
          <a:p>
            <a:pPr>
              <a:spcBef>
                <a:spcPts val="0"/>
              </a:spcBef>
            </a:pPr>
            <a:r>
              <a:rPr lang="en-US" altLang="en-US" sz="2000" dirty="0">
                <a:solidFill>
                  <a:srgbClr val="FF0000"/>
                </a:solidFill>
              </a:rPr>
              <a:t>Resource Management</a:t>
            </a:r>
          </a:p>
          <a:p>
            <a:pPr>
              <a:spcBef>
                <a:spcPts val="0"/>
              </a:spcBef>
            </a:pPr>
            <a:r>
              <a:rPr lang="en-US" altLang="en-US" sz="2000" dirty="0">
                <a:solidFill>
                  <a:srgbClr val="FF0000"/>
                </a:solidFill>
              </a:rPr>
              <a:t>Security and Protection</a:t>
            </a:r>
          </a:p>
          <a:p>
            <a:pPr>
              <a:spcBef>
                <a:spcPts val="0"/>
              </a:spcBef>
            </a:pPr>
            <a:r>
              <a:rPr lang="en-US" altLang="en-US" sz="2000" dirty="0">
                <a:solidFill>
                  <a:srgbClr val="FF0000"/>
                </a:solidFill>
              </a:rPr>
              <a:t>Virtualization</a:t>
            </a:r>
          </a:p>
          <a:p>
            <a:pPr>
              <a:spcBef>
                <a:spcPts val="0"/>
              </a:spcBef>
            </a:pPr>
            <a:r>
              <a:rPr lang="en-US" altLang="en-US" sz="2000" dirty="0">
                <a:solidFill>
                  <a:srgbClr val="FF0000"/>
                </a:solidFill>
              </a:rPr>
              <a:t>Distributed Systems</a:t>
            </a:r>
          </a:p>
          <a:p>
            <a:pPr>
              <a:spcBef>
                <a:spcPts val="0"/>
              </a:spcBef>
            </a:pPr>
            <a:r>
              <a:rPr lang="en-US" altLang="en-US" sz="2000" dirty="0">
                <a:solidFill>
                  <a:srgbClr val="FF0000"/>
                </a:solidFill>
              </a:rPr>
              <a:t>Kernel Data Structures</a:t>
            </a:r>
          </a:p>
          <a:p>
            <a:pPr>
              <a:spcBef>
                <a:spcPts val="0"/>
              </a:spcBef>
            </a:pPr>
            <a:r>
              <a:rPr lang="en-US" altLang="en-US" sz="2000" dirty="0">
                <a:solidFill>
                  <a:srgbClr val="FF0000"/>
                </a:solidFill>
              </a:rPr>
              <a:t>Computing Environments</a:t>
            </a:r>
          </a:p>
          <a:p>
            <a:pPr>
              <a:spcBef>
                <a:spcPts val="0"/>
              </a:spcBef>
            </a:pPr>
            <a:r>
              <a:rPr lang="en-US" altLang="en-US" sz="2000" dirty="0">
                <a:solidFill>
                  <a:srgbClr val="FF0000"/>
                </a:solidFill>
              </a:rPr>
              <a:t>Free/Libre and Open-Source Operating Systems</a:t>
            </a:r>
          </a:p>
        </p:txBody>
      </p:sp>
      <p:sp>
        <p:nvSpPr>
          <p:cNvPr id="3" name="灯片编号占位符 2">
            <a:extLst>
              <a:ext uri="{FF2B5EF4-FFF2-40B4-BE49-F238E27FC236}">
                <a16:creationId xmlns:a16="http://schemas.microsoft.com/office/drawing/2014/main" id="{9AB1D000-94AF-879E-B57F-4B6548E93CD4}"/>
              </a:ext>
            </a:extLst>
          </p:cNvPr>
          <p:cNvSpPr>
            <a:spLocks noGrp="1"/>
          </p:cNvSpPr>
          <p:nvPr>
            <p:ph type="sldNum" sz="quarter" idx="10"/>
          </p:nvPr>
        </p:nvSpPr>
        <p:spPr/>
        <p:txBody>
          <a:bodyPr/>
          <a:lstStyle/>
          <a:p>
            <a:fld id="{D9B6BDF2-6896-4B98-8776-C18582F63BA5}" type="slidenum">
              <a:rPr lang="zh-TW" altLang="en-US" smtClean="0"/>
              <a:pPr/>
              <a:t>2</a:t>
            </a:fld>
            <a:endParaRPr lang="zh-TW"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FB756355-6FC3-4D1A-BBDC-6B9FBCD76A54}"/>
              </a:ext>
            </a:extLst>
          </p:cNvPr>
          <p:cNvSpPr>
            <a:spLocks noGrp="1" noChangeArrowheads="1"/>
          </p:cNvSpPr>
          <p:nvPr>
            <p:ph type="title" idx="4294967295"/>
          </p:nvPr>
        </p:nvSpPr>
        <p:spPr>
          <a:xfrm>
            <a:off x="897467" y="125016"/>
            <a:ext cx="6599899" cy="463153"/>
          </a:xfrm>
        </p:spPr>
        <p:txBody>
          <a:bodyPr/>
          <a:lstStyle/>
          <a:p>
            <a:pPr eaLnBrk="1" hangingPunct="1"/>
            <a:r>
              <a:rPr lang="en-US" altLang="en-US" dirty="0"/>
              <a:t>Objectives</a:t>
            </a:r>
          </a:p>
        </p:txBody>
      </p:sp>
      <p:sp>
        <p:nvSpPr>
          <p:cNvPr id="9219" name="Rectangle 3">
            <a:extLst>
              <a:ext uri="{FF2B5EF4-FFF2-40B4-BE49-F238E27FC236}">
                <a16:creationId xmlns:a16="http://schemas.microsoft.com/office/drawing/2014/main" id="{6838C557-FE18-4536-BEF7-BBF21B888B10}"/>
              </a:ext>
            </a:extLst>
          </p:cNvPr>
          <p:cNvSpPr>
            <a:spLocks noGrp="1" noChangeArrowheads="1"/>
          </p:cNvSpPr>
          <p:nvPr>
            <p:ph type="body" idx="4294967295"/>
          </p:nvPr>
        </p:nvSpPr>
        <p:spPr>
          <a:xfrm>
            <a:off x="897467" y="904048"/>
            <a:ext cx="7477191" cy="2939819"/>
          </a:xfrm>
        </p:spPr>
        <p:txBody>
          <a:bodyPr/>
          <a:lstStyle/>
          <a:p>
            <a:pPr>
              <a:spcBef>
                <a:spcPts val="0"/>
              </a:spcBef>
            </a:pPr>
            <a:r>
              <a:rPr lang="en-US" altLang="en-US" sz="2000" dirty="0">
                <a:solidFill>
                  <a:schemeClr val="bg1">
                    <a:lumMod val="65000"/>
                  </a:schemeClr>
                </a:solidFill>
              </a:rPr>
              <a:t>Describe the general organization of a computer system and the role of interrupts</a:t>
            </a:r>
          </a:p>
          <a:p>
            <a:pPr>
              <a:spcBef>
                <a:spcPts val="0"/>
              </a:spcBef>
            </a:pPr>
            <a:r>
              <a:rPr lang="en-US" altLang="en-US" sz="2000" dirty="0">
                <a:solidFill>
                  <a:schemeClr val="bg1">
                    <a:lumMod val="65000"/>
                  </a:schemeClr>
                </a:solidFill>
              </a:rPr>
              <a:t>Describe the components in a modern, multiprocessor computer system</a:t>
            </a:r>
          </a:p>
          <a:p>
            <a:pPr>
              <a:spcBef>
                <a:spcPts val="0"/>
              </a:spcBef>
            </a:pPr>
            <a:r>
              <a:rPr lang="en-US" altLang="en-US" sz="2000" dirty="0">
                <a:solidFill>
                  <a:schemeClr val="bg1">
                    <a:lumMod val="65000"/>
                  </a:schemeClr>
                </a:solidFill>
              </a:rPr>
              <a:t>Illustrate the transition from user mode to kernel mode</a:t>
            </a:r>
          </a:p>
          <a:p>
            <a:pPr>
              <a:spcBef>
                <a:spcPts val="0"/>
              </a:spcBef>
            </a:pPr>
            <a:r>
              <a:rPr lang="en-US" altLang="en-US" sz="2000" dirty="0">
                <a:solidFill>
                  <a:srgbClr val="FF0000"/>
                </a:solidFill>
              </a:rPr>
              <a:t>Discuss how operating systems are used in various computing environments</a:t>
            </a:r>
          </a:p>
          <a:p>
            <a:pPr>
              <a:spcBef>
                <a:spcPts val="0"/>
              </a:spcBef>
            </a:pPr>
            <a:r>
              <a:rPr lang="en-US" altLang="en-US" sz="2000" dirty="0">
                <a:solidFill>
                  <a:srgbClr val="FF0000"/>
                </a:solidFill>
              </a:rPr>
              <a:t>Provide examples of free and open-source operating systems</a:t>
            </a:r>
          </a:p>
        </p:txBody>
      </p:sp>
      <p:sp>
        <p:nvSpPr>
          <p:cNvPr id="2" name="灯片编号占位符 1">
            <a:extLst>
              <a:ext uri="{FF2B5EF4-FFF2-40B4-BE49-F238E27FC236}">
                <a16:creationId xmlns:a16="http://schemas.microsoft.com/office/drawing/2014/main" id="{1A288238-5CD2-00AB-1BA7-9577DB7520D2}"/>
              </a:ext>
            </a:extLst>
          </p:cNvPr>
          <p:cNvSpPr>
            <a:spLocks noGrp="1"/>
          </p:cNvSpPr>
          <p:nvPr>
            <p:ph type="sldNum" sz="quarter" idx="10"/>
          </p:nvPr>
        </p:nvSpPr>
        <p:spPr/>
        <p:txBody>
          <a:bodyPr/>
          <a:lstStyle/>
          <a:p>
            <a:fld id="{D9B6BDF2-6896-4B98-8776-C18582F63BA5}" type="slidenum">
              <a:rPr lang="zh-TW" altLang="en-US" smtClean="0"/>
              <a:pPr/>
              <a:t>3</a:t>
            </a:fld>
            <a:endParaRPr lang="zh-TW"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DA50E938-3020-46E3-B296-A67E7CFD9384}"/>
              </a:ext>
            </a:extLst>
          </p:cNvPr>
          <p:cNvSpPr>
            <a:spLocks noGrp="1" noChangeArrowheads="1"/>
          </p:cNvSpPr>
          <p:nvPr>
            <p:ph type="title" idx="4294967295"/>
          </p:nvPr>
        </p:nvSpPr>
        <p:spPr>
          <a:xfrm>
            <a:off x="885525" y="155972"/>
            <a:ext cx="6653514" cy="432197"/>
          </a:xfrm>
        </p:spPr>
        <p:txBody>
          <a:bodyPr/>
          <a:lstStyle/>
          <a:p>
            <a:pPr eaLnBrk="1" hangingPunct="1"/>
            <a:r>
              <a:rPr lang="en-US" altLang="en-US" sz="3200" dirty="0"/>
              <a:t>Process Management</a:t>
            </a:r>
          </a:p>
        </p:txBody>
      </p:sp>
      <p:sp>
        <p:nvSpPr>
          <p:cNvPr id="69635" name="Rectangle 3">
            <a:extLst>
              <a:ext uri="{FF2B5EF4-FFF2-40B4-BE49-F238E27FC236}">
                <a16:creationId xmlns:a16="http://schemas.microsoft.com/office/drawing/2014/main" id="{D4C6DC0E-B371-44AD-AC31-D9E79C80218B}"/>
              </a:ext>
            </a:extLst>
          </p:cNvPr>
          <p:cNvSpPr>
            <a:spLocks noGrp="1" noChangeArrowheads="1"/>
          </p:cNvSpPr>
          <p:nvPr>
            <p:ph type="body" idx="4294967295"/>
          </p:nvPr>
        </p:nvSpPr>
        <p:spPr>
          <a:xfrm>
            <a:off x="885526" y="831954"/>
            <a:ext cx="8079087" cy="3701545"/>
          </a:xfrm>
        </p:spPr>
        <p:txBody>
          <a:bodyPr/>
          <a:lstStyle/>
          <a:p>
            <a:pPr>
              <a:lnSpc>
                <a:spcPct val="90000"/>
              </a:lnSpc>
              <a:spcBef>
                <a:spcPts val="300"/>
              </a:spcBef>
            </a:pPr>
            <a:r>
              <a:rPr lang="en-US" altLang="en-US" sz="2000" dirty="0">
                <a:ea typeface="+mn-ea"/>
                <a:cs typeface="Calibri" panose="020F0502020204030204" pitchFamily="34" charset="0"/>
              </a:rPr>
              <a:t>A process (</a:t>
            </a:r>
            <a:r>
              <a:rPr lang="en-US" altLang="en-US" sz="2000" dirty="0">
                <a:solidFill>
                  <a:srgbClr val="000000"/>
                </a:solidFill>
                <a:ea typeface="+mn-ea"/>
                <a:cs typeface="Calibri" panose="020F0502020204030204" pitchFamily="34" charset="0"/>
              </a:rPr>
              <a:t>an </a:t>
            </a:r>
            <a:r>
              <a:rPr lang="en-US" altLang="en-US" sz="2000" b="1" i="1" dirty="0">
                <a:solidFill>
                  <a:srgbClr val="000000"/>
                </a:solidFill>
                <a:ea typeface="+mn-ea"/>
                <a:cs typeface="Calibri" panose="020F0502020204030204" pitchFamily="34" charset="0"/>
              </a:rPr>
              <a:t>active entity</a:t>
            </a:r>
            <a:r>
              <a:rPr lang="en-US" altLang="en-US" sz="2000" dirty="0">
                <a:ea typeface="+mn-ea"/>
                <a:cs typeface="Calibri" panose="020F0502020204030204" pitchFamily="34" charset="0"/>
              </a:rPr>
              <a:t>) is a program (a </a:t>
            </a:r>
            <a:r>
              <a:rPr lang="en-US" altLang="en-US" sz="2000" b="1" i="1" dirty="0">
                <a:ea typeface="+mn-ea"/>
                <a:cs typeface="Calibri" panose="020F0502020204030204" pitchFamily="34" charset="0"/>
              </a:rPr>
              <a:t>passive entity</a:t>
            </a:r>
            <a:r>
              <a:rPr lang="en-US" altLang="en-US" sz="2000" dirty="0">
                <a:ea typeface="+mn-ea"/>
                <a:cs typeface="Calibri" panose="020F0502020204030204" pitchFamily="34" charset="0"/>
              </a:rPr>
              <a:t>) in execution</a:t>
            </a:r>
          </a:p>
          <a:p>
            <a:pPr>
              <a:lnSpc>
                <a:spcPct val="90000"/>
              </a:lnSpc>
              <a:spcBef>
                <a:spcPts val="300"/>
              </a:spcBef>
            </a:pPr>
            <a:r>
              <a:rPr lang="en-US" altLang="en-US" sz="2000" dirty="0">
                <a:ea typeface="+mn-ea"/>
                <a:cs typeface="Calibri" panose="020F0502020204030204" pitchFamily="34" charset="0"/>
              </a:rPr>
              <a:t>Process needs resources to accomplish its task</a:t>
            </a:r>
          </a:p>
          <a:p>
            <a:pPr lvl="1">
              <a:lnSpc>
                <a:spcPct val="90000"/>
              </a:lnSpc>
              <a:spcBef>
                <a:spcPts val="300"/>
              </a:spcBef>
            </a:pPr>
            <a:r>
              <a:rPr lang="en-US" altLang="en-US" sz="1800" dirty="0">
                <a:ea typeface="+mn-ea"/>
                <a:cs typeface="Calibri" panose="020F0502020204030204" pitchFamily="34" charset="0"/>
              </a:rPr>
              <a:t>CPU, memory, I/O, files</a:t>
            </a:r>
          </a:p>
          <a:p>
            <a:pPr lvl="1">
              <a:lnSpc>
                <a:spcPct val="90000"/>
              </a:lnSpc>
              <a:spcBef>
                <a:spcPts val="300"/>
              </a:spcBef>
            </a:pPr>
            <a:r>
              <a:rPr lang="en-US" altLang="en-US" sz="1800" dirty="0">
                <a:ea typeface="+mn-ea"/>
                <a:cs typeface="Calibri" panose="020F0502020204030204" pitchFamily="34" charset="0"/>
              </a:rPr>
              <a:t>Initialization data</a:t>
            </a:r>
          </a:p>
          <a:p>
            <a:pPr>
              <a:lnSpc>
                <a:spcPct val="90000"/>
              </a:lnSpc>
              <a:spcBef>
                <a:spcPts val="300"/>
              </a:spcBef>
            </a:pPr>
            <a:r>
              <a:rPr lang="en-US" altLang="en-US" sz="2000" dirty="0">
                <a:ea typeface="+mn-ea"/>
                <a:cs typeface="Calibri" panose="020F0502020204030204" pitchFamily="34" charset="0"/>
              </a:rPr>
              <a:t>Process termination requires reclaim of any reusable resources</a:t>
            </a:r>
          </a:p>
          <a:p>
            <a:pPr>
              <a:lnSpc>
                <a:spcPct val="90000"/>
              </a:lnSpc>
              <a:spcBef>
                <a:spcPts val="300"/>
              </a:spcBef>
            </a:pPr>
            <a:r>
              <a:rPr lang="en-US" altLang="en-US" sz="2000" dirty="0">
                <a:ea typeface="+mn-ea"/>
                <a:cs typeface="Calibri" panose="020F0502020204030204" pitchFamily="34" charset="0"/>
              </a:rPr>
              <a:t>Single-threaded process has one </a:t>
            </a:r>
            <a:r>
              <a:rPr lang="en-US" altLang="en-US" sz="2000" b="1" dirty="0">
                <a:solidFill>
                  <a:srgbClr val="006699"/>
                </a:solidFill>
                <a:ea typeface="+mn-ea"/>
                <a:cs typeface="Calibri" panose="020F0502020204030204" pitchFamily="34" charset="0"/>
              </a:rPr>
              <a:t>program counter </a:t>
            </a:r>
            <a:r>
              <a:rPr lang="en-US" altLang="en-US" sz="2000" dirty="0">
                <a:ea typeface="+mn-ea"/>
                <a:cs typeface="Calibri" panose="020F0502020204030204" pitchFamily="34" charset="0"/>
              </a:rPr>
              <a:t>specifying location of next instruction to execute</a:t>
            </a:r>
          </a:p>
          <a:p>
            <a:pPr lvl="1">
              <a:lnSpc>
                <a:spcPct val="90000"/>
              </a:lnSpc>
              <a:spcBef>
                <a:spcPts val="300"/>
              </a:spcBef>
            </a:pPr>
            <a:r>
              <a:rPr lang="en-US" altLang="en-US" sz="1800" dirty="0">
                <a:ea typeface="+mn-ea"/>
                <a:cs typeface="Calibri" panose="020F0502020204030204" pitchFamily="34" charset="0"/>
              </a:rPr>
              <a:t>Process executes instructions sequentially, one at a time, until completion</a:t>
            </a:r>
          </a:p>
          <a:p>
            <a:pPr>
              <a:lnSpc>
                <a:spcPct val="90000"/>
              </a:lnSpc>
              <a:spcBef>
                <a:spcPts val="300"/>
              </a:spcBef>
            </a:pPr>
            <a:r>
              <a:rPr lang="en-US" altLang="en-US" sz="2000" dirty="0">
                <a:ea typeface="+mn-ea"/>
                <a:cs typeface="Calibri" panose="020F0502020204030204" pitchFamily="34" charset="0"/>
              </a:rPr>
              <a:t>Multi-threaded process has one program counter per thread</a:t>
            </a:r>
          </a:p>
          <a:p>
            <a:pPr>
              <a:lnSpc>
                <a:spcPct val="90000"/>
              </a:lnSpc>
              <a:spcBef>
                <a:spcPts val="300"/>
              </a:spcBef>
            </a:pPr>
            <a:r>
              <a:rPr lang="en-US" altLang="en-US" sz="2000" dirty="0">
                <a:ea typeface="+mn-ea"/>
                <a:cs typeface="Calibri" panose="020F0502020204030204" pitchFamily="34" charset="0"/>
              </a:rPr>
              <a:t>Typically system has many processes, some user, some operating system running concurrently on one or more CPUs</a:t>
            </a:r>
          </a:p>
          <a:p>
            <a:pPr lvl="1">
              <a:lnSpc>
                <a:spcPct val="90000"/>
              </a:lnSpc>
              <a:spcBef>
                <a:spcPts val="300"/>
              </a:spcBef>
            </a:pPr>
            <a:r>
              <a:rPr lang="en-US" altLang="en-US" sz="1800" dirty="0">
                <a:ea typeface="+mn-ea"/>
                <a:cs typeface="Calibri" panose="020F0502020204030204" pitchFamily="34" charset="0"/>
              </a:rPr>
              <a:t>Concurrency by multiplexing the CPUs among the processes/threads</a:t>
            </a:r>
          </a:p>
        </p:txBody>
      </p:sp>
      <p:sp>
        <p:nvSpPr>
          <p:cNvPr id="2" name="灯片编号占位符 1">
            <a:extLst>
              <a:ext uri="{FF2B5EF4-FFF2-40B4-BE49-F238E27FC236}">
                <a16:creationId xmlns:a16="http://schemas.microsoft.com/office/drawing/2014/main" id="{9F55B5A6-38CE-EFBF-B4CA-A450ED01F15C}"/>
              </a:ext>
            </a:extLst>
          </p:cNvPr>
          <p:cNvSpPr>
            <a:spLocks noGrp="1"/>
          </p:cNvSpPr>
          <p:nvPr>
            <p:ph type="sldNum" sz="quarter" idx="10"/>
          </p:nvPr>
        </p:nvSpPr>
        <p:spPr/>
        <p:txBody>
          <a:bodyPr/>
          <a:lstStyle/>
          <a:p>
            <a:fld id="{D9B6BDF2-6896-4B98-8776-C18582F63BA5}" type="slidenum">
              <a:rPr lang="zh-TW" altLang="en-US" smtClean="0"/>
              <a:pPr/>
              <a:t>4</a:t>
            </a:fld>
            <a:endParaRPr lang="zh-TW"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4E63581D-8ED3-4026-94C0-CCB0731C5397}"/>
              </a:ext>
            </a:extLst>
          </p:cNvPr>
          <p:cNvSpPr>
            <a:spLocks noGrp="1" noChangeArrowheads="1"/>
          </p:cNvSpPr>
          <p:nvPr>
            <p:ph type="title" idx="4294967295"/>
          </p:nvPr>
        </p:nvSpPr>
        <p:spPr>
          <a:xfrm>
            <a:off x="875900" y="155972"/>
            <a:ext cx="6684570" cy="432197"/>
          </a:xfrm>
        </p:spPr>
        <p:txBody>
          <a:bodyPr/>
          <a:lstStyle/>
          <a:p>
            <a:pPr eaLnBrk="1" hangingPunct="1"/>
            <a:r>
              <a:rPr lang="en-US" altLang="en-US" sz="3200" dirty="0"/>
              <a:t>Process Management Activities</a:t>
            </a:r>
          </a:p>
        </p:txBody>
      </p:sp>
      <p:sp>
        <p:nvSpPr>
          <p:cNvPr id="71683" name="Rectangle 3">
            <a:extLst>
              <a:ext uri="{FF2B5EF4-FFF2-40B4-BE49-F238E27FC236}">
                <a16:creationId xmlns:a16="http://schemas.microsoft.com/office/drawing/2014/main" id="{5F49578D-CEFD-4613-A40B-360A0128FDA1}"/>
              </a:ext>
            </a:extLst>
          </p:cNvPr>
          <p:cNvSpPr>
            <a:spLocks noGrp="1" noChangeArrowheads="1"/>
          </p:cNvSpPr>
          <p:nvPr>
            <p:ph type="body" idx="4294967295"/>
          </p:nvPr>
        </p:nvSpPr>
        <p:spPr>
          <a:xfrm>
            <a:off x="1058779" y="834571"/>
            <a:ext cx="7257448" cy="2553521"/>
          </a:xfrm>
        </p:spPr>
        <p:txBody>
          <a:bodyPr/>
          <a:lstStyle/>
          <a:p>
            <a:r>
              <a:rPr kumimoji="0" lang="en-US" altLang="en-US" sz="2000" dirty="0"/>
              <a:t>An operating system is responsible for the following activities in connection with process management</a:t>
            </a:r>
          </a:p>
          <a:p>
            <a:pPr lvl="1"/>
            <a:r>
              <a:rPr lang="en-US" altLang="en-US" sz="1800" dirty="0"/>
              <a:t>Creating and deleting both user and system processes</a:t>
            </a:r>
          </a:p>
          <a:p>
            <a:pPr lvl="1"/>
            <a:r>
              <a:rPr lang="en-US" altLang="en-US" sz="1800" dirty="0"/>
              <a:t>Suspending and resuming processes</a:t>
            </a:r>
          </a:p>
          <a:p>
            <a:pPr lvl="1"/>
            <a:r>
              <a:rPr lang="en-US" altLang="en-US" sz="1800" dirty="0"/>
              <a:t>Providing mechanisms for process synchronization</a:t>
            </a:r>
          </a:p>
          <a:p>
            <a:pPr lvl="1"/>
            <a:r>
              <a:rPr lang="en-US" altLang="en-US" sz="1800" dirty="0"/>
              <a:t>Providing mechanisms for process communication</a:t>
            </a:r>
          </a:p>
          <a:p>
            <a:pPr lvl="1"/>
            <a:r>
              <a:rPr lang="en-US" altLang="en-US" sz="1800" dirty="0"/>
              <a:t>Providing mechanisms for deadlock handling</a:t>
            </a:r>
          </a:p>
        </p:txBody>
      </p:sp>
      <p:sp>
        <p:nvSpPr>
          <p:cNvPr id="2" name="灯片编号占位符 1">
            <a:extLst>
              <a:ext uri="{FF2B5EF4-FFF2-40B4-BE49-F238E27FC236}">
                <a16:creationId xmlns:a16="http://schemas.microsoft.com/office/drawing/2014/main" id="{0129E44D-BA1A-DA1C-2922-A64436B33C47}"/>
              </a:ext>
            </a:extLst>
          </p:cNvPr>
          <p:cNvSpPr>
            <a:spLocks noGrp="1"/>
          </p:cNvSpPr>
          <p:nvPr>
            <p:ph type="sldNum" sz="quarter" idx="10"/>
          </p:nvPr>
        </p:nvSpPr>
        <p:spPr/>
        <p:txBody>
          <a:bodyPr/>
          <a:lstStyle/>
          <a:p>
            <a:fld id="{D9B6BDF2-6896-4B98-8776-C18582F63BA5}" type="slidenum">
              <a:rPr lang="zh-TW" altLang="en-US" smtClean="0"/>
              <a:pPr/>
              <a:t>5</a:t>
            </a:fld>
            <a:endParaRPr lang="zh-TW"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E2DBCB9D-11F1-4C2F-AE3C-A4279C1AC3B6}"/>
              </a:ext>
            </a:extLst>
          </p:cNvPr>
          <p:cNvSpPr>
            <a:spLocks noGrp="1" noChangeArrowheads="1"/>
          </p:cNvSpPr>
          <p:nvPr>
            <p:ph type="title" idx="4294967295"/>
          </p:nvPr>
        </p:nvSpPr>
        <p:spPr>
          <a:xfrm>
            <a:off x="885524" y="159544"/>
            <a:ext cx="6667801" cy="432197"/>
          </a:xfrm>
        </p:spPr>
        <p:txBody>
          <a:bodyPr/>
          <a:lstStyle/>
          <a:p>
            <a:pPr eaLnBrk="1" hangingPunct="1"/>
            <a:r>
              <a:rPr lang="en-US" altLang="en-US" sz="3200" dirty="0"/>
              <a:t>Memory Management</a:t>
            </a:r>
          </a:p>
        </p:txBody>
      </p:sp>
      <p:sp>
        <p:nvSpPr>
          <p:cNvPr id="73731" name="Rectangle 3">
            <a:extLst>
              <a:ext uri="{FF2B5EF4-FFF2-40B4-BE49-F238E27FC236}">
                <a16:creationId xmlns:a16="http://schemas.microsoft.com/office/drawing/2014/main" id="{CB3E2804-3594-4FE6-B024-FDD528C64534}"/>
              </a:ext>
            </a:extLst>
          </p:cNvPr>
          <p:cNvSpPr>
            <a:spLocks noGrp="1" noChangeArrowheads="1"/>
          </p:cNvSpPr>
          <p:nvPr>
            <p:ph type="body" idx="4294967295"/>
          </p:nvPr>
        </p:nvSpPr>
        <p:spPr>
          <a:xfrm>
            <a:off x="644892" y="827773"/>
            <a:ext cx="8213843" cy="2921856"/>
          </a:xfrm>
        </p:spPr>
        <p:txBody>
          <a:bodyPr/>
          <a:lstStyle/>
          <a:p>
            <a:r>
              <a:rPr lang="en-US" altLang="en-US" sz="2000" dirty="0"/>
              <a:t>To execute a program all (or part) of the instructions must be in memory</a:t>
            </a:r>
          </a:p>
          <a:p>
            <a:r>
              <a:rPr lang="en-US" altLang="en-US" sz="2000" dirty="0"/>
              <a:t>All  (or part) of the data that is needed by the program must be in memory</a:t>
            </a:r>
          </a:p>
          <a:p>
            <a:r>
              <a:rPr lang="en-US" altLang="en-US" sz="2000" dirty="0"/>
              <a:t>Memory management determines what is in memory and when</a:t>
            </a:r>
          </a:p>
          <a:p>
            <a:pPr lvl="1"/>
            <a:r>
              <a:rPr lang="en-US" altLang="en-US" sz="1600" dirty="0"/>
              <a:t>Optimizing CPU utilization and computer response to users</a:t>
            </a:r>
          </a:p>
          <a:p>
            <a:r>
              <a:rPr lang="en-US" altLang="en-US" sz="2000" dirty="0"/>
              <a:t>Memory management activities</a:t>
            </a:r>
          </a:p>
          <a:p>
            <a:pPr lvl="1"/>
            <a:r>
              <a:rPr lang="en-US" altLang="en-US" sz="1600" dirty="0"/>
              <a:t>Keeping track of which parts of memory are currently being used and by whom</a:t>
            </a:r>
          </a:p>
          <a:p>
            <a:pPr lvl="1"/>
            <a:r>
              <a:rPr lang="en-US" altLang="en-US" sz="1600" dirty="0"/>
              <a:t>Deciding which processes (or parts thereof) and data to move into and out of memory</a:t>
            </a:r>
          </a:p>
          <a:p>
            <a:pPr lvl="1"/>
            <a:r>
              <a:rPr lang="en-US" altLang="en-US" sz="1600" dirty="0"/>
              <a:t>Allocating and deallocating memory space as needed</a:t>
            </a:r>
          </a:p>
          <a:p>
            <a:pPr lvl="1">
              <a:buFont typeface="Monotype Sorts" pitchFamily="-84" charset="2"/>
              <a:buNone/>
            </a:pPr>
            <a:endParaRPr lang="en-US" altLang="en-US" sz="2000" dirty="0"/>
          </a:p>
        </p:txBody>
      </p:sp>
      <p:sp>
        <p:nvSpPr>
          <p:cNvPr id="2" name="灯片编号占位符 1">
            <a:extLst>
              <a:ext uri="{FF2B5EF4-FFF2-40B4-BE49-F238E27FC236}">
                <a16:creationId xmlns:a16="http://schemas.microsoft.com/office/drawing/2014/main" id="{73E792FB-A5C6-465A-DF44-40665392B5B8}"/>
              </a:ext>
            </a:extLst>
          </p:cNvPr>
          <p:cNvSpPr>
            <a:spLocks noGrp="1"/>
          </p:cNvSpPr>
          <p:nvPr>
            <p:ph type="sldNum" sz="quarter" idx="10"/>
          </p:nvPr>
        </p:nvSpPr>
        <p:spPr/>
        <p:txBody>
          <a:bodyPr/>
          <a:lstStyle/>
          <a:p>
            <a:fld id="{D9B6BDF2-6896-4B98-8776-C18582F63BA5}" type="slidenum">
              <a:rPr lang="zh-TW" altLang="en-US" smtClean="0"/>
              <a:pPr/>
              <a:t>6</a:t>
            </a:fld>
            <a:endParaRPr lang="zh-TW"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a:extLst>
              <a:ext uri="{FF2B5EF4-FFF2-40B4-BE49-F238E27FC236}">
                <a16:creationId xmlns:a16="http://schemas.microsoft.com/office/drawing/2014/main" id="{A537DDAE-40B0-4C82-9422-BF166B9CB73E}"/>
              </a:ext>
            </a:extLst>
          </p:cNvPr>
          <p:cNvSpPr>
            <a:spLocks noGrp="1" noChangeArrowheads="1"/>
          </p:cNvSpPr>
          <p:nvPr>
            <p:ph type="title" idx="4294967295"/>
          </p:nvPr>
        </p:nvSpPr>
        <p:spPr>
          <a:xfrm>
            <a:off x="904775" y="155972"/>
            <a:ext cx="6592591" cy="432197"/>
          </a:xfrm>
        </p:spPr>
        <p:txBody>
          <a:bodyPr/>
          <a:lstStyle/>
          <a:p>
            <a:pPr eaLnBrk="1" hangingPunct="1"/>
            <a:r>
              <a:rPr lang="en-US" altLang="en-US" sz="3200" dirty="0"/>
              <a:t>Caching</a:t>
            </a:r>
          </a:p>
        </p:txBody>
      </p:sp>
      <p:sp>
        <p:nvSpPr>
          <p:cNvPr id="79875" name="Rectangle 3">
            <a:extLst>
              <a:ext uri="{FF2B5EF4-FFF2-40B4-BE49-F238E27FC236}">
                <a16:creationId xmlns:a16="http://schemas.microsoft.com/office/drawing/2014/main" id="{23317C17-2529-4CC8-A78E-1D282D609B22}"/>
              </a:ext>
            </a:extLst>
          </p:cNvPr>
          <p:cNvSpPr>
            <a:spLocks noGrp="1" noChangeArrowheads="1"/>
          </p:cNvSpPr>
          <p:nvPr>
            <p:ph type="body" idx="4294967295"/>
          </p:nvPr>
        </p:nvSpPr>
        <p:spPr>
          <a:xfrm>
            <a:off x="1039527" y="827966"/>
            <a:ext cx="7430705" cy="3676655"/>
          </a:xfrm>
        </p:spPr>
        <p:txBody>
          <a:bodyPr/>
          <a:lstStyle/>
          <a:p>
            <a:r>
              <a:rPr lang="en-US" altLang="en-US" sz="2000" dirty="0"/>
              <a:t>Important principle, performed at many levels in a computer (in hardware, operating system, software)</a:t>
            </a:r>
          </a:p>
          <a:p>
            <a:r>
              <a:rPr lang="en-US" altLang="en-US" sz="2000" dirty="0"/>
              <a:t>Information in use copied from slower to faster storage temporarily</a:t>
            </a:r>
          </a:p>
          <a:p>
            <a:r>
              <a:rPr lang="en-US" altLang="en-US" sz="2000" dirty="0"/>
              <a:t>Faster storage (cache) checked first to determine if information is there</a:t>
            </a:r>
          </a:p>
          <a:p>
            <a:pPr lvl="1"/>
            <a:r>
              <a:rPr lang="en-US" altLang="en-US" sz="1800" dirty="0"/>
              <a:t>If it is, information used directly from the cache (fast)</a:t>
            </a:r>
          </a:p>
          <a:p>
            <a:pPr lvl="1"/>
            <a:r>
              <a:rPr lang="en-US" altLang="en-US" sz="1800" dirty="0"/>
              <a:t>If not, data copied to cache and used there</a:t>
            </a:r>
          </a:p>
          <a:p>
            <a:r>
              <a:rPr lang="en-US" altLang="en-US" sz="2000" dirty="0"/>
              <a:t>Cache smaller than storage being cached</a:t>
            </a:r>
          </a:p>
          <a:p>
            <a:pPr lvl="1"/>
            <a:r>
              <a:rPr lang="en-US" altLang="en-US" sz="1800" dirty="0"/>
              <a:t>Cache management important design problem</a:t>
            </a:r>
          </a:p>
          <a:p>
            <a:pPr lvl="1"/>
            <a:r>
              <a:rPr lang="en-US" altLang="en-US" sz="1800" dirty="0"/>
              <a:t>Cache size and replacement policy</a:t>
            </a:r>
          </a:p>
        </p:txBody>
      </p:sp>
      <p:sp>
        <p:nvSpPr>
          <p:cNvPr id="2" name="灯片编号占位符 1">
            <a:extLst>
              <a:ext uri="{FF2B5EF4-FFF2-40B4-BE49-F238E27FC236}">
                <a16:creationId xmlns:a16="http://schemas.microsoft.com/office/drawing/2014/main" id="{2785DBDE-F5F8-B429-396C-D84D43E3AA2D}"/>
              </a:ext>
            </a:extLst>
          </p:cNvPr>
          <p:cNvSpPr>
            <a:spLocks noGrp="1"/>
          </p:cNvSpPr>
          <p:nvPr>
            <p:ph type="sldNum" sz="quarter" idx="10"/>
          </p:nvPr>
        </p:nvSpPr>
        <p:spPr/>
        <p:txBody>
          <a:bodyPr/>
          <a:lstStyle/>
          <a:p>
            <a:fld id="{D9B6BDF2-6896-4B98-8776-C18582F63BA5}" type="slidenum">
              <a:rPr lang="zh-TW" altLang="en-US" smtClean="0"/>
              <a:pPr/>
              <a:t>7</a:t>
            </a:fld>
            <a:endParaRPr lang="zh-TW"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a:extLst>
              <a:ext uri="{FF2B5EF4-FFF2-40B4-BE49-F238E27FC236}">
                <a16:creationId xmlns:a16="http://schemas.microsoft.com/office/drawing/2014/main" id="{DFB955E8-3E23-4ED8-ACD1-D8F4ED9EAA88}"/>
              </a:ext>
            </a:extLst>
          </p:cNvPr>
          <p:cNvSpPr>
            <a:spLocks noGrp="1" noChangeArrowheads="1"/>
          </p:cNvSpPr>
          <p:nvPr>
            <p:ph type="title" idx="4294967295"/>
          </p:nvPr>
        </p:nvSpPr>
        <p:spPr>
          <a:xfrm>
            <a:off x="885524" y="158353"/>
            <a:ext cx="7680960" cy="432197"/>
          </a:xfrm>
        </p:spPr>
        <p:txBody>
          <a:bodyPr/>
          <a:lstStyle/>
          <a:p>
            <a:pPr eaLnBrk="1" hangingPunct="1"/>
            <a:r>
              <a:rPr lang="en-US" altLang="en-US" sz="3200" dirty="0"/>
              <a:t>Migration of Data “A” from Disk to Register</a:t>
            </a:r>
          </a:p>
        </p:txBody>
      </p:sp>
      <p:sp>
        <p:nvSpPr>
          <p:cNvPr id="83971" name="Rectangle 3">
            <a:extLst>
              <a:ext uri="{FF2B5EF4-FFF2-40B4-BE49-F238E27FC236}">
                <a16:creationId xmlns:a16="http://schemas.microsoft.com/office/drawing/2014/main" id="{2977E9C9-146A-4591-9F2A-95F7D8433681}"/>
              </a:ext>
            </a:extLst>
          </p:cNvPr>
          <p:cNvSpPr>
            <a:spLocks noGrp="1" noChangeArrowheads="1"/>
          </p:cNvSpPr>
          <p:nvPr>
            <p:ph type="body" idx="4294967295"/>
          </p:nvPr>
        </p:nvSpPr>
        <p:spPr>
          <a:xfrm>
            <a:off x="962526" y="814766"/>
            <a:ext cx="7825339" cy="3709108"/>
          </a:xfrm>
        </p:spPr>
        <p:txBody>
          <a:bodyPr/>
          <a:lstStyle/>
          <a:p>
            <a:r>
              <a:rPr lang="en-US" altLang="en-US" sz="2000" dirty="0">
                <a:ea typeface="+mn-ea"/>
                <a:cs typeface="Calibri" panose="020F0502020204030204" pitchFamily="34" charset="0"/>
              </a:rPr>
              <a:t>Multitasking environments must be careful to use most recent value, no matter where it is stored in the storage hierarchy</a:t>
            </a:r>
            <a:br>
              <a:rPr lang="en-US" altLang="en-US" sz="2000" dirty="0">
                <a:ea typeface="+mn-ea"/>
                <a:cs typeface="Calibri" panose="020F0502020204030204" pitchFamily="34" charset="0"/>
              </a:rPr>
            </a:br>
            <a:br>
              <a:rPr lang="en-US" altLang="en-US" sz="2000" dirty="0">
                <a:ea typeface="+mn-ea"/>
                <a:cs typeface="Calibri" panose="020F0502020204030204" pitchFamily="34" charset="0"/>
              </a:rPr>
            </a:br>
            <a:br>
              <a:rPr lang="en-US" altLang="en-US" sz="2000" dirty="0">
                <a:ea typeface="+mn-ea"/>
                <a:cs typeface="Calibri" panose="020F0502020204030204" pitchFamily="34" charset="0"/>
              </a:rPr>
            </a:br>
            <a:br>
              <a:rPr lang="en-US" altLang="en-US" sz="2000" dirty="0">
                <a:ea typeface="+mn-ea"/>
                <a:cs typeface="Calibri" panose="020F0502020204030204" pitchFamily="34" charset="0"/>
              </a:rPr>
            </a:br>
            <a:endParaRPr lang="en-US" altLang="en-US" sz="2000" dirty="0">
              <a:ea typeface="+mn-ea"/>
              <a:cs typeface="Calibri" panose="020F0502020204030204" pitchFamily="34" charset="0"/>
            </a:endParaRPr>
          </a:p>
          <a:p>
            <a:r>
              <a:rPr lang="en-US" altLang="en-US" sz="2000" dirty="0">
                <a:ea typeface="+mn-ea"/>
                <a:cs typeface="Calibri" panose="020F0502020204030204" pitchFamily="34" charset="0"/>
              </a:rPr>
              <a:t>Multiprocessor environment must provide </a:t>
            </a:r>
            <a:r>
              <a:rPr lang="en-US" altLang="en-US" sz="2000" b="1" dirty="0">
                <a:solidFill>
                  <a:srgbClr val="006699"/>
                </a:solidFill>
                <a:ea typeface="+mn-ea"/>
                <a:cs typeface="Calibri" panose="020F0502020204030204" pitchFamily="34" charset="0"/>
              </a:rPr>
              <a:t>cache coherency </a:t>
            </a:r>
            <a:r>
              <a:rPr lang="en-US" altLang="en-US" sz="2000" dirty="0">
                <a:ea typeface="+mn-ea"/>
                <a:cs typeface="Calibri" panose="020F0502020204030204" pitchFamily="34" charset="0"/>
              </a:rPr>
              <a:t>in hardware such that all CPUs have the most recent value in their cache</a:t>
            </a:r>
          </a:p>
          <a:p>
            <a:r>
              <a:rPr lang="en-US" altLang="en-US" sz="2000" dirty="0">
                <a:ea typeface="+mn-ea"/>
                <a:cs typeface="Calibri" panose="020F0502020204030204" pitchFamily="34" charset="0"/>
              </a:rPr>
              <a:t>Distributed environment situation even more complex</a:t>
            </a:r>
          </a:p>
          <a:p>
            <a:pPr lvl="1"/>
            <a:r>
              <a:rPr lang="en-US" altLang="en-US" sz="1800" dirty="0">
                <a:ea typeface="+mn-ea"/>
                <a:cs typeface="Calibri" panose="020F0502020204030204" pitchFamily="34" charset="0"/>
              </a:rPr>
              <a:t>Several copies of a datum can exist</a:t>
            </a:r>
          </a:p>
          <a:p>
            <a:pPr lvl="1"/>
            <a:r>
              <a:rPr lang="en-US" altLang="en-US" sz="1800" dirty="0">
                <a:ea typeface="+mn-ea"/>
                <a:cs typeface="Calibri" panose="020F0502020204030204" pitchFamily="34" charset="0"/>
              </a:rPr>
              <a:t>Various solutions covered in Chapter 19</a:t>
            </a:r>
          </a:p>
        </p:txBody>
      </p:sp>
      <p:pic>
        <p:nvPicPr>
          <p:cNvPr id="83972" name="Picture 2">
            <a:extLst>
              <a:ext uri="{FF2B5EF4-FFF2-40B4-BE49-F238E27FC236}">
                <a16:creationId xmlns:a16="http://schemas.microsoft.com/office/drawing/2014/main" id="{1848E92C-E063-45B0-A246-5F252E49F28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17010" y="1668634"/>
            <a:ext cx="6486149" cy="820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a:extLst>
              <a:ext uri="{FF2B5EF4-FFF2-40B4-BE49-F238E27FC236}">
                <a16:creationId xmlns:a16="http://schemas.microsoft.com/office/drawing/2014/main" id="{B1E49733-5484-AF7A-996C-22D2DC158E57}"/>
              </a:ext>
            </a:extLst>
          </p:cNvPr>
          <p:cNvSpPr>
            <a:spLocks noGrp="1"/>
          </p:cNvSpPr>
          <p:nvPr>
            <p:ph type="sldNum" sz="quarter" idx="10"/>
          </p:nvPr>
        </p:nvSpPr>
        <p:spPr/>
        <p:txBody>
          <a:bodyPr/>
          <a:lstStyle/>
          <a:p>
            <a:fld id="{D9B6BDF2-6896-4B98-8776-C18582F63BA5}" type="slidenum">
              <a:rPr lang="zh-TW" altLang="en-US" smtClean="0"/>
              <a:pPr/>
              <a:t>8</a:t>
            </a:fld>
            <a:endParaRPr lang="zh-TW"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34356D79-FDD9-4791-982C-EE2F463757A8}"/>
              </a:ext>
            </a:extLst>
          </p:cNvPr>
          <p:cNvSpPr>
            <a:spLocks noGrp="1" noChangeArrowheads="1"/>
          </p:cNvSpPr>
          <p:nvPr>
            <p:ph type="title" idx="4294967295"/>
          </p:nvPr>
        </p:nvSpPr>
        <p:spPr>
          <a:xfrm>
            <a:off x="885525" y="158353"/>
            <a:ext cx="6618986" cy="432197"/>
          </a:xfrm>
        </p:spPr>
        <p:txBody>
          <a:bodyPr/>
          <a:lstStyle/>
          <a:p>
            <a:pPr eaLnBrk="1" hangingPunct="1"/>
            <a:r>
              <a:rPr lang="en-US" altLang="en-US" sz="3200" dirty="0"/>
              <a:t>File-System Management</a:t>
            </a:r>
          </a:p>
        </p:txBody>
      </p:sp>
      <p:sp>
        <p:nvSpPr>
          <p:cNvPr id="75779" name="Rectangle 3">
            <a:extLst>
              <a:ext uri="{FF2B5EF4-FFF2-40B4-BE49-F238E27FC236}">
                <a16:creationId xmlns:a16="http://schemas.microsoft.com/office/drawing/2014/main" id="{1F5FDAA8-710E-46B8-93CA-E18EDA4EF350}"/>
              </a:ext>
            </a:extLst>
          </p:cNvPr>
          <p:cNvSpPr>
            <a:spLocks noGrp="1" noChangeArrowheads="1"/>
          </p:cNvSpPr>
          <p:nvPr>
            <p:ph type="body" idx="4294967295"/>
          </p:nvPr>
        </p:nvSpPr>
        <p:spPr>
          <a:xfrm>
            <a:off x="885525" y="809425"/>
            <a:ext cx="7680959" cy="3781826"/>
          </a:xfrm>
        </p:spPr>
        <p:txBody>
          <a:bodyPr/>
          <a:lstStyle/>
          <a:p>
            <a:pPr>
              <a:lnSpc>
                <a:spcPct val="90000"/>
              </a:lnSpc>
            </a:pPr>
            <a:r>
              <a:rPr lang="en-US" altLang="en-US" sz="2000" dirty="0">
                <a:ea typeface="+mn-ea"/>
                <a:cs typeface="Calibri" panose="020F0502020204030204" pitchFamily="34" charset="0"/>
              </a:rPr>
              <a:t>OS provides uniform, logical view of information storage</a:t>
            </a:r>
          </a:p>
          <a:p>
            <a:pPr lvl="1">
              <a:lnSpc>
                <a:spcPct val="90000"/>
              </a:lnSpc>
            </a:pPr>
            <a:r>
              <a:rPr lang="en-US" altLang="en-US" sz="1800" dirty="0">
                <a:ea typeface="+mn-ea"/>
                <a:cs typeface="Calibri" panose="020F0502020204030204" pitchFamily="34" charset="0"/>
              </a:rPr>
              <a:t>Abstracts physical properties to logical storage unit  - </a:t>
            </a:r>
            <a:r>
              <a:rPr lang="en-US" altLang="en-US" sz="1800" b="1" dirty="0">
                <a:solidFill>
                  <a:srgbClr val="006699"/>
                </a:solidFill>
                <a:ea typeface="+mn-ea"/>
                <a:cs typeface="Calibri" panose="020F0502020204030204" pitchFamily="34" charset="0"/>
              </a:rPr>
              <a:t>file</a:t>
            </a:r>
          </a:p>
          <a:p>
            <a:pPr lvl="1">
              <a:lnSpc>
                <a:spcPct val="90000"/>
              </a:lnSpc>
            </a:pPr>
            <a:r>
              <a:rPr lang="en-US" altLang="en-US" sz="1800" dirty="0">
                <a:ea typeface="+mn-ea"/>
                <a:cs typeface="Calibri" panose="020F0502020204030204" pitchFamily="34" charset="0"/>
              </a:rPr>
              <a:t>Each medium is controlled by device (i.e., disk drive, tape drive)</a:t>
            </a:r>
          </a:p>
          <a:p>
            <a:pPr lvl="2">
              <a:lnSpc>
                <a:spcPct val="90000"/>
              </a:lnSpc>
            </a:pPr>
            <a:r>
              <a:rPr lang="en-US" altLang="en-US" sz="1600" dirty="0">
                <a:latin typeface="Calibri" panose="020F0502020204030204" pitchFamily="34" charset="0"/>
                <a:cs typeface="Calibri" panose="020F0502020204030204" pitchFamily="34" charset="0"/>
              </a:rPr>
              <a:t>Varying properties include access speed, capacity, data-transfer rate, access method (sequential or random)</a:t>
            </a:r>
          </a:p>
          <a:p>
            <a:pPr>
              <a:lnSpc>
                <a:spcPct val="90000"/>
              </a:lnSpc>
            </a:pPr>
            <a:r>
              <a:rPr lang="en-US" altLang="en-US" sz="2000" dirty="0">
                <a:ea typeface="+mn-ea"/>
                <a:cs typeface="Calibri" panose="020F0502020204030204" pitchFamily="34" charset="0"/>
              </a:rPr>
              <a:t>File-System management</a:t>
            </a:r>
          </a:p>
          <a:p>
            <a:pPr lvl="1">
              <a:lnSpc>
                <a:spcPct val="90000"/>
              </a:lnSpc>
            </a:pPr>
            <a:r>
              <a:rPr lang="en-US" altLang="en-US" sz="1800" dirty="0">
                <a:ea typeface="+mn-ea"/>
                <a:cs typeface="Calibri" panose="020F0502020204030204" pitchFamily="34" charset="0"/>
              </a:rPr>
              <a:t>Files usually organized into directories</a:t>
            </a:r>
          </a:p>
          <a:p>
            <a:pPr lvl="1">
              <a:lnSpc>
                <a:spcPct val="90000"/>
              </a:lnSpc>
            </a:pPr>
            <a:r>
              <a:rPr lang="en-US" altLang="en-US" sz="1800" dirty="0">
                <a:ea typeface="+mn-ea"/>
                <a:cs typeface="Calibri" panose="020F0502020204030204" pitchFamily="34" charset="0"/>
              </a:rPr>
              <a:t>Access control on most systems to determine who can access what</a:t>
            </a:r>
          </a:p>
          <a:p>
            <a:pPr lvl="1">
              <a:lnSpc>
                <a:spcPct val="90000"/>
              </a:lnSpc>
            </a:pPr>
            <a:r>
              <a:rPr lang="en-US" altLang="en-US" sz="1800" dirty="0">
                <a:ea typeface="+mn-ea"/>
                <a:cs typeface="Calibri" panose="020F0502020204030204" pitchFamily="34" charset="0"/>
              </a:rPr>
              <a:t>OS activities include</a:t>
            </a:r>
          </a:p>
          <a:p>
            <a:pPr lvl="2">
              <a:lnSpc>
                <a:spcPct val="90000"/>
              </a:lnSpc>
            </a:pPr>
            <a:r>
              <a:rPr lang="en-US" altLang="en-US" sz="1600" dirty="0">
                <a:latin typeface="Calibri" panose="020F0502020204030204" pitchFamily="34" charset="0"/>
                <a:cs typeface="Calibri" panose="020F0502020204030204" pitchFamily="34" charset="0"/>
              </a:rPr>
              <a:t>Creating and deleting files and directories</a:t>
            </a:r>
          </a:p>
          <a:p>
            <a:pPr lvl="2">
              <a:lnSpc>
                <a:spcPct val="90000"/>
              </a:lnSpc>
            </a:pPr>
            <a:r>
              <a:rPr lang="en-US" altLang="en-US" sz="1600" dirty="0">
                <a:latin typeface="Calibri" panose="020F0502020204030204" pitchFamily="34" charset="0"/>
                <a:cs typeface="Calibri" panose="020F0502020204030204" pitchFamily="34" charset="0"/>
              </a:rPr>
              <a:t>Primitives to manipulate files and directories</a:t>
            </a:r>
          </a:p>
          <a:p>
            <a:pPr lvl="2">
              <a:lnSpc>
                <a:spcPct val="90000"/>
              </a:lnSpc>
            </a:pPr>
            <a:r>
              <a:rPr lang="en-US" altLang="en-US" sz="1600" dirty="0">
                <a:latin typeface="Calibri" panose="020F0502020204030204" pitchFamily="34" charset="0"/>
                <a:cs typeface="Calibri" panose="020F0502020204030204" pitchFamily="34" charset="0"/>
              </a:rPr>
              <a:t>Mapping files onto secondary storage</a:t>
            </a:r>
          </a:p>
          <a:p>
            <a:pPr lvl="2">
              <a:lnSpc>
                <a:spcPct val="90000"/>
              </a:lnSpc>
            </a:pPr>
            <a:r>
              <a:rPr lang="en-US" altLang="en-US" sz="1600" dirty="0">
                <a:latin typeface="Calibri" panose="020F0502020204030204" pitchFamily="34" charset="0"/>
                <a:cs typeface="Calibri" panose="020F0502020204030204" pitchFamily="34" charset="0"/>
              </a:rPr>
              <a:t>Backup files onto stable (non-volatile) storage media</a:t>
            </a:r>
          </a:p>
        </p:txBody>
      </p:sp>
      <p:sp>
        <p:nvSpPr>
          <p:cNvPr id="2" name="灯片编号占位符 1">
            <a:extLst>
              <a:ext uri="{FF2B5EF4-FFF2-40B4-BE49-F238E27FC236}">
                <a16:creationId xmlns:a16="http://schemas.microsoft.com/office/drawing/2014/main" id="{31602150-C362-1D3B-3613-60ADC1D2D210}"/>
              </a:ext>
            </a:extLst>
          </p:cNvPr>
          <p:cNvSpPr>
            <a:spLocks noGrp="1"/>
          </p:cNvSpPr>
          <p:nvPr>
            <p:ph type="sldNum" sz="quarter" idx="10"/>
          </p:nvPr>
        </p:nvSpPr>
        <p:spPr/>
        <p:txBody>
          <a:bodyPr/>
          <a:lstStyle/>
          <a:p>
            <a:fld id="{D9B6BDF2-6896-4B98-8776-C18582F63BA5}" type="slidenum">
              <a:rPr lang="zh-TW" altLang="en-US" smtClean="0"/>
              <a:pPr/>
              <a:t>9</a:t>
            </a:fld>
            <a:endParaRPr lang="zh-TW"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B1040BCA-887F-4395-9A85-D19BCFAF11EF}"/>
              </a:ext>
            </a:extLst>
          </p:cNvPr>
          <p:cNvSpPr>
            <a:spLocks noGrp="1" noChangeArrowheads="1"/>
          </p:cNvSpPr>
          <p:nvPr>
            <p:ph type="title" idx="4294967295"/>
          </p:nvPr>
        </p:nvSpPr>
        <p:spPr>
          <a:xfrm>
            <a:off x="895149" y="152401"/>
            <a:ext cx="6629601" cy="432197"/>
          </a:xfrm>
        </p:spPr>
        <p:txBody>
          <a:bodyPr/>
          <a:lstStyle/>
          <a:p>
            <a:pPr eaLnBrk="1" hangingPunct="1"/>
            <a:r>
              <a:rPr lang="en-US" altLang="en-US" sz="3200" dirty="0"/>
              <a:t>Mass-Storage Management</a:t>
            </a:r>
          </a:p>
        </p:txBody>
      </p:sp>
      <p:sp>
        <p:nvSpPr>
          <p:cNvPr id="77827" name="Rectangle 3">
            <a:extLst>
              <a:ext uri="{FF2B5EF4-FFF2-40B4-BE49-F238E27FC236}">
                <a16:creationId xmlns:a16="http://schemas.microsoft.com/office/drawing/2014/main" id="{0C2520A7-ADB5-4458-BC11-9B331339D636}"/>
              </a:ext>
            </a:extLst>
          </p:cNvPr>
          <p:cNvSpPr>
            <a:spLocks noGrp="1" noChangeArrowheads="1"/>
          </p:cNvSpPr>
          <p:nvPr>
            <p:ph type="body" idx="4294967295"/>
          </p:nvPr>
        </p:nvSpPr>
        <p:spPr>
          <a:xfrm>
            <a:off x="981777" y="824965"/>
            <a:ext cx="7565456" cy="3583405"/>
          </a:xfrm>
        </p:spPr>
        <p:txBody>
          <a:bodyPr/>
          <a:lstStyle/>
          <a:p>
            <a:pPr>
              <a:spcBef>
                <a:spcPts val="0"/>
              </a:spcBef>
            </a:pPr>
            <a:r>
              <a:rPr lang="en-US" altLang="en-US" sz="2000" dirty="0">
                <a:ea typeface="+mn-ea"/>
                <a:cs typeface="Calibri" panose="020F0502020204030204" pitchFamily="34" charset="0"/>
              </a:rPr>
              <a:t>Usually disks used to store data that does not fit in main memory or data that must be kept for a </a:t>
            </a:r>
            <a:r>
              <a:rPr lang="ja-JP" altLang="en-US" sz="2000" dirty="0">
                <a:ea typeface="+mn-ea"/>
                <a:cs typeface="Calibri" panose="020F0502020204030204" pitchFamily="34" charset="0"/>
              </a:rPr>
              <a:t>“</a:t>
            </a:r>
            <a:r>
              <a:rPr lang="en-US" altLang="ja-JP" sz="2000" dirty="0">
                <a:ea typeface="+mn-ea"/>
                <a:cs typeface="Calibri" panose="020F0502020204030204" pitchFamily="34" charset="0"/>
              </a:rPr>
              <a:t>long</a:t>
            </a:r>
            <a:r>
              <a:rPr lang="ja-JP" altLang="en-US" sz="2000" dirty="0">
                <a:ea typeface="+mn-ea"/>
                <a:cs typeface="Calibri" panose="020F0502020204030204" pitchFamily="34" charset="0"/>
              </a:rPr>
              <a:t>”</a:t>
            </a:r>
            <a:r>
              <a:rPr lang="en-US" altLang="ja-JP" sz="2000" dirty="0">
                <a:ea typeface="+mn-ea"/>
                <a:cs typeface="Calibri" panose="020F0502020204030204" pitchFamily="34" charset="0"/>
              </a:rPr>
              <a:t> period of time</a:t>
            </a:r>
          </a:p>
          <a:p>
            <a:pPr>
              <a:spcBef>
                <a:spcPts val="0"/>
              </a:spcBef>
            </a:pPr>
            <a:r>
              <a:rPr lang="en-US" altLang="en-US" sz="2000" dirty="0">
                <a:ea typeface="+mn-ea"/>
                <a:cs typeface="Calibri" panose="020F0502020204030204" pitchFamily="34" charset="0"/>
              </a:rPr>
              <a:t>Proper management is of central importance</a:t>
            </a:r>
          </a:p>
          <a:p>
            <a:pPr>
              <a:spcBef>
                <a:spcPts val="0"/>
              </a:spcBef>
            </a:pPr>
            <a:r>
              <a:rPr lang="en-US" altLang="en-US" sz="2000" dirty="0">
                <a:ea typeface="+mn-ea"/>
                <a:cs typeface="Calibri" panose="020F0502020204030204" pitchFamily="34" charset="0"/>
              </a:rPr>
              <a:t>Entire speed of computer operation hinges on disk subsystem and its algorithms</a:t>
            </a:r>
          </a:p>
          <a:p>
            <a:pPr>
              <a:spcBef>
                <a:spcPts val="0"/>
              </a:spcBef>
            </a:pPr>
            <a:r>
              <a:rPr lang="en-US" altLang="en-US" sz="2000" dirty="0">
                <a:ea typeface="+mn-ea"/>
                <a:cs typeface="Calibri" panose="020F0502020204030204" pitchFamily="34" charset="0"/>
              </a:rPr>
              <a:t>OS activities</a:t>
            </a:r>
          </a:p>
          <a:p>
            <a:pPr lvl="1">
              <a:spcBef>
                <a:spcPts val="0"/>
              </a:spcBef>
            </a:pPr>
            <a:r>
              <a:rPr lang="en-US" altLang="en-US" sz="1800" dirty="0">
                <a:ea typeface="+mn-ea"/>
                <a:cs typeface="Calibri" panose="020F0502020204030204" pitchFamily="34" charset="0"/>
              </a:rPr>
              <a:t>Mounting and unmounting</a:t>
            </a:r>
          </a:p>
          <a:p>
            <a:pPr lvl="1">
              <a:spcBef>
                <a:spcPts val="0"/>
              </a:spcBef>
            </a:pPr>
            <a:r>
              <a:rPr lang="en-US" altLang="en-US" sz="1800" dirty="0">
                <a:ea typeface="+mn-ea"/>
                <a:cs typeface="Calibri" panose="020F0502020204030204" pitchFamily="34" charset="0"/>
              </a:rPr>
              <a:t>Free-space management</a:t>
            </a:r>
          </a:p>
          <a:p>
            <a:pPr lvl="1">
              <a:spcBef>
                <a:spcPts val="0"/>
              </a:spcBef>
            </a:pPr>
            <a:r>
              <a:rPr lang="en-US" altLang="en-US" sz="1800" dirty="0">
                <a:ea typeface="+mn-ea"/>
                <a:cs typeface="Calibri" panose="020F0502020204030204" pitchFamily="34" charset="0"/>
              </a:rPr>
              <a:t>Storage allocation</a:t>
            </a:r>
          </a:p>
          <a:p>
            <a:pPr lvl="1">
              <a:spcBef>
                <a:spcPts val="0"/>
              </a:spcBef>
            </a:pPr>
            <a:r>
              <a:rPr lang="en-US" altLang="en-US" sz="1800" dirty="0">
                <a:ea typeface="+mn-ea"/>
                <a:cs typeface="Calibri" panose="020F0502020204030204" pitchFamily="34" charset="0"/>
              </a:rPr>
              <a:t>Disk scheduling</a:t>
            </a:r>
          </a:p>
          <a:p>
            <a:pPr lvl="1">
              <a:spcBef>
                <a:spcPts val="0"/>
              </a:spcBef>
            </a:pPr>
            <a:r>
              <a:rPr lang="en-US" altLang="en-US" sz="1800" dirty="0">
                <a:ea typeface="+mn-ea"/>
                <a:cs typeface="Calibri" panose="020F0502020204030204" pitchFamily="34" charset="0"/>
              </a:rPr>
              <a:t>Partitioning</a:t>
            </a:r>
          </a:p>
          <a:p>
            <a:pPr lvl="1">
              <a:spcBef>
                <a:spcPts val="0"/>
              </a:spcBef>
            </a:pPr>
            <a:r>
              <a:rPr lang="en-US" altLang="en-US" sz="1800" dirty="0">
                <a:ea typeface="+mn-ea"/>
                <a:cs typeface="Calibri" panose="020F0502020204030204" pitchFamily="34" charset="0"/>
              </a:rPr>
              <a:t>Protection</a:t>
            </a:r>
          </a:p>
        </p:txBody>
      </p:sp>
      <p:sp>
        <p:nvSpPr>
          <p:cNvPr id="2" name="灯片编号占位符 1">
            <a:extLst>
              <a:ext uri="{FF2B5EF4-FFF2-40B4-BE49-F238E27FC236}">
                <a16:creationId xmlns:a16="http://schemas.microsoft.com/office/drawing/2014/main" id="{EA622547-BD70-B644-DCF2-7C7340C59402}"/>
              </a:ext>
            </a:extLst>
          </p:cNvPr>
          <p:cNvSpPr>
            <a:spLocks noGrp="1"/>
          </p:cNvSpPr>
          <p:nvPr>
            <p:ph type="sldNum" sz="quarter" idx="10"/>
          </p:nvPr>
        </p:nvSpPr>
        <p:spPr/>
        <p:txBody>
          <a:bodyPr/>
          <a:lstStyle/>
          <a:p>
            <a:fld id="{D9B6BDF2-6896-4B98-8776-C18582F63BA5}" type="slidenum">
              <a:rPr lang="zh-TW" altLang="en-US" smtClean="0"/>
              <a:pPr/>
              <a:t>10</a:t>
            </a:fld>
            <a:endParaRPr lang="zh-TW"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AA8D59F3-EABB-4542-87C7-F8AE7CD1FD34}"/>
              </a:ext>
            </a:extLst>
          </p:cNvPr>
          <p:cNvSpPr>
            <a:spLocks noGrp="1" noChangeArrowheads="1"/>
          </p:cNvSpPr>
          <p:nvPr>
            <p:ph type="title" idx="4294967295"/>
          </p:nvPr>
        </p:nvSpPr>
        <p:spPr>
          <a:xfrm>
            <a:off x="943276" y="167116"/>
            <a:ext cx="7709835" cy="432197"/>
          </a:xfrm>
        </p:spPr>
        <p:txBody>
          <a:bodyPr/>
          <a:lstStyle/>
          <a:p>
            <a:pPr eaLnBrk="1" hangingPunct="1"/>
            <a:r>
              <a:rPr lang="en-US" altLang="en-US" sz="3200" dirty="0"/>
              <a:t>Characteristics of Various Types of Storage</a:t>
            </a:r>
          </a:p>
        </p:txBody>
      </p:sp>
      <p:sp>
        <p:nvSpPr>
          <p:cNvPr id="39939" name="Rectangle 3">
            <a:extLst>
              <a:ext uri="{FF2B5EF4-FFF2-40B4-BE49-F238E27FC236}">
                <a16:creationId xmlns:a16="http://schemas.microsoft.com/office/drawing/2014/main" id="{CD4D4AE1-901A-6A46-BAD0-039ED90103A5}"/>
              </a:ext>
            </a:extLst>
          </p:cNvPr>
          <p:cNvSpPr>
            <a:spLocks noGrp="1" noChangeArrowheads="1"/>
          </p:cNvSpPr>
          <p:nvPr>
            <p:ph type="body" idx="4294967295"/>
          </p:nvPr>
        </p:nvSpPr>
        <p:spPr>
          <a:xfrm>
            <a:off x="943276" y="4184565"/>
            <a:ext cx="7180990" cy="329683"/>
          </a:xfrm>
        </p:spPr>
        <p:txBody>
          <a:bodyPr/>
          <a:lstStyle/>
          <a:p>
            <a:pPr marL="0" indent="0" algn="ctr">
              <a:buNone/>
              <a:defRPr/>
            </a:pPr>
            <a:r>
              <a:rPr lang="en-US" altLang="zh-CN" sz="1800" dirty="0">
                <a:ea typeface="ＭＳ Ｐゴシック" charset="0"/>
                <a:cs typeface="ＭＳ Ｐゴシック" charset="0"/>
              </a:rPr>
              <a:t>Movement between levels of storage hierarchy can be explicit or implicit</a:t>
            </a:r>
            <a:endParaRPr lang="en-US" dirty="0">
              <a:ea typeface="ＭＳ Ｐゴシック" charset="0"/>
              <a:cs typeface="ＭＳ Ｐゴシック" charset="0"/>
            </a:endParaRPr>
          </a:p>
        </p:txBody>
      </p:sp>
      <p:pic>
        <p:nvPicPr>
          <p:cNvPr id="81924" name="Picture 4">
            <a:extLst>
              <a:ext uri="{FF2B5EF4-FFF2-40B4-BE49-F238E27FC236}">
                <a16:creationId xmlns:a16="http://schemas.microsoft.com/office/drawing/2014/main" id="{E7E6D134-C41F-4C06-AAAF-DB2716C6C89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9644" y="953024"/>
            <a:ext cx="7570780" cy="3178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a:extLst>
              <a:ext uri="{FF2B5EF4-FFF2-40B4-BE49-F238E27FC236}">
                <a16:creationId xmlns:a16="http://schemas.microsoft.com/office/drawing/2014/main" id="{63C813D9-0396-7786-1C43-E7D9E1B05D88}"/>
              </a:ext>
            </a:extLst>
          </p:cNvPr>
          <p:cNvSpPr>
            <a:spLocks noGrp="1"/>
          </p:cNvSpPr>
          <p:nvPr>
            <p:ph type="sldNum" sz="quarter" idx="10"/>
          </p:nvPr>
        </p:nvSpPr>
        <p:spPr/>
        <p:txBody>
          <a:bodyPr/>
          <a:lstStyle/>
          <a:p>
            <a:fld id="{D9B6BDF2-6896-4B98-8776-C18582F63BA5}" type="slidenum">
              <a:rPr lang="zh-TW" altLang="en-US" smtClean="0"/>
              <a:pPr/>
              <a:t>11</a:t>
            </a:fld>
            <a:endParaRPr lang="zh-TW" altLang="en-US"/>
          </a:p>
        </p:txBody>
      </p:sp>
    </p:spTree>
    <p:extLst>
      <p:ext uri="{BB962C8B-B14F-4D97-AF65-F5344CB8AC3E}">
        <p14:creationId xmlns:p14="http://schemas.microsoft.com/office/powerpoint/2010/main" val="20237725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a:extLst>
              <a:ext uri="{FF2B5EF4-FFF2-40B4-BE49-F238E27FC236}">
                <a16:creationId xmlns:a16="http://schemas.microsoft.com/office/drawing/2014/main" id="{9FAB78C6-879F-4288-AFC0-331D64167D98}"/>
              </a:ext>
            </a:extLst>
          </p:cNvPr>
          <p:cNvSpPr>
            <a:spLocks noGrp="1" noChangeArrowheads="1"/>
          </p:cNvSpPr>
          <p:nvPr>
            <p:ph type="title" idx="4294967295"/>
          </p:nvPr>
        </p:nvSpPr>
        <p:spPr>
          <a:xfrm>
            <a:off x="895149" y="160735"/>
            <a:ext cx="6629601" cy="432197"/>
          </a:xfrm>
        </p:spPr>
        <p:txBody>
          <a:bodyPr/>
          <a:lstStyle/>
          <a:p>
            <a:pPr eaLnBrk="1" hangingPunct="1"/>
            <a:r>
              <a:rPr lang="en-US" altLang="en-US" sz="3200" dirty="0"/>
              <a:t>I/O Subsystem</a:t>
            </a:r>
          </a:p>
        </p:txBody>
      </p:sp>
      <p:sp>
        <p:nvSpPr>
          <p:cNvPr id="86019" name="Rectangle 3">
            <a:extLst>
              <a:ext uri="{FF2B5EF4-FFF2-40B4-BE49-F238E27FC236}">
                <a16:creationId xmlns:a16="http://schemas.microsoft.com/office/drawing/2014/main" id="{962FE659-1FE7-4FFD-9815-CAC2C16E7482}"/>
              </a:ext>
            </a:extLst>
          </p:cNvPr>
          <p:cNvSpPr>
            <a:spLocks noGrp="1" noChangeArrowheads="1"/>
          </p:cNvSpPr>
          <p:nvPr>
            <p:ph type="body" idx="4294967295"/>
          </p:nvPr>
        </p:nvSpPr>
        <p:spPr>
          <a:xfrm>
            <a:off x="981777" y="877491"/>
            <a:ext cx="7199697" cy="3398044"/>
          </a:xfrm>
        </p:spPr>
        <p:txBody>
          <a:bodyPr/>
          <a:lstStyle/>
          <a:p>
            <a:r>
              <a:rPr lang="en-US" altLang="en-US" sz="2000" dirty="0"/>
              <a:t>One purpose of OS is to hide peculiarities of hardware devices from the user</a:t>
            </a:r>
          </a:p>
          <a:p>
            <a:r>
              <a:rPr lang="en-US" altLang="en-US" sz="2000" dirty="0"/>
              <a:t>I/O subsystem responsible for</a:t>
            </a:r>
          </a:p>
          <a:p>
            <a:pPr lvl="1"/>
            <a:r>
              <a:rPr lang="en-US" altLang="en-US" sz="1800" dirty="0"/>
              <a:t>Memory management of I/O including buffering (storing data temporarily while it is being transferred), caching (storing parts of data in faster storage for performance), spooling (the overlapping of output of one job with input of other jobs)</a:t>
            </a:r>
          </a:p>
          <a:p>
            <a:pPr lvl="1"/>
            <a:r>
              <a:rPr lang="en-US" altLang="en-US" sz="1800" dirty="0"/>
              <a:t>General device-driver interface</a:t>
            </a:r>
          </a:p>
          <a:p>
            <a:pPr lvl="1"/>
            <a:r>
              <a:rPr lang="en-US" altLang="en-US" sz="1800" dirty="0"/>
              <a:t>Drivers for specific hardware devices</a:t>
            </a:r>
          </a:p>
        </p:txBody>
      </p:sp>
      <p:sp>
        <p:nvSpPr>
          <p:cNvPr id="2" name="灯片编号占位符 1">
            <a:extLst>
              <a:ext uri="{FF2B5EF4-FFF2-40B4-BE49-F238E27FC236}">
                <a16:creationId xmlns:a16="http://schemas.microsoft.com/office/drawing/2014/main" id="{D6F7B04C-2A5B-2473-0D3D-24B50A057C0E}"/>
              </a:ext>
            </a:extLst>
          </p:cNvPr>
          <p:cNvSpPr>
            <a:spLocks noGrp="1"/>
          </p:cNvSpPr>
          <p:nvPr>
            <p:ph type="sldNum" sz="quarter" idx="10"/>
          </p:nvPr>
        </p:nvSpPr>
        <p:spPr/>
        <p:txBody>
          <a:bodyPr/>
          <a:lstStyle/>
          <a:p>
            <a:fld id="{D9B6BDF2-6896-4B98-8776-C18582F63BA5}" type="slidenum">
              <a:rPr lang="zh-TW" altLang="en-US" smtClean="0"/>
              <a:pPr/>
              <a:t>12</a:t>
            </a:fld>
            <a:endParaRPr lang="zh-TW"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a:extLst>
              <a:ext uri="{FF2B5EF4-FFF2-40B4-BE49-F238E27FC236}">
                <a16:creationId xmlns:a16="http://schemas.microsoft.com/office/drawing/2014/main" id="{55965502-F3D9-4181-9CA3-BC0EE691634C}"/>
              </a:ext>
            </a:extLst>
          </p:cNvPr>
          <p:cNvSpPr>
            <a:spLocks noGrp="1" noChangeArrowheads="1"/>
          </p:cNvSpPr>
          <p:nvPr>
            <p:ph type="title" idx="4294967295"/>
          </p:nvPr>
        </p:nvSpPr>
        <p:spPr>
          <a:xfrm>
            <a:off x="924025" y="165497"/>
            <a:ext cx="6622157" cy="432197"/>
          </a:xfrm>
        </p:spPr>
        <p:txBody>
          <a:bodyPr/>
          <a:lstStyle/>
          <a:p>
            <a:pPr eaLnBrk="1" hangingPunct="1"/>
            <a:r>
              <a:rPr lang="en-US" altLang="en-US" sz="3200" dirty="0"/>
              <a:t>Protection and Security</a:t>
            </a:r>
          </a:p>
        </p:txBody>
      </p:sp>
      <p:sp>
        <p:nvSpPr>
          <p:cNvPr id="88067" name="Rectangle 3">
            <a:extLst>
              <a:ext uri="{FF2B5EF4-FFF2-40B4-BE49-F238E27FC236}">
                <a16:creationId xmlns:a16="http://schemas.microsoft.com/office/drawing/2014/main" id="{83C732FA-AE52-4ECB-BBB8-46683EE73ACD}"/>
              </a:ext>
            </a:extLst>
          </p:cNvPr>
          <p:cNvSpPr>
            <a:spLocks noGrp="1" noChangeArrowheads="1"/>
          </p:cNvSpPr>
          <p:nvPr>
            <p:ph type="body" idx="4294967295"/>
          </p:nvPr>
        </p:nvSpPr>
        <p:spPr>
          <a:xfrm>
            <a:off x="750771" y="835577"/>
            <a:ext cx="7911966" cy="3684098"/>
          </a:xfrm>
        </p:spPr>
        <p:txBody>
          <a:bodyPr/>
          <a:lstStyle/>
          <a:p>
            <a:pPr>
              <a:lnSpc>
                <a:spcPct val="90000"/>
              </a:lnSpc>
              <a:spcBef>
                <a:spcPts val="0"/>
              </a:spcBef>
            </a:pPr>
            <a:r>
              <a:rPr lang="en-US" altLang="en-US" sz="2000" b="1" dirty="0">
                <a:solidFill>
                  <a:srgbClr val="006699"/>
                </a:solidFill>
                <a:cs typeface="Calibri" panose="020F0502020204030204" pitchFamily="34" charset="0"/>
              </a:rPr>
              <a:t>Protection</a:t>
            </a:r>
            <a:r>
              <a:rPr lang="en-US" altLang="en-US" sz="2000" b="1" dirty="0">
                <a:solidFill>
                  <a:srgbClr val="3366FF"/>
                </a:solidFill>
                <a:cs typeface="Calibri" panose="020F0502020204030204" pitchFamily="34" charset="0"/>
              </a:rPr>
              <a:t> </a:t>
            </a:r>
            <a:r>
              <a:rPr lang="en-US" altLang="en-US" sz="2000" dirty="0">
                <a:cs typeface="Calibri" panose="020F0502020204030204" pitchFamily="34" charset="0"/>
              </a:rPr>
              <a:t>– any mechanism for controlling access of processes or users to resources defined by the OS</a:t>
            </a:r>
          </a:p>
          <a:p>
            <a:pPr>
              <a:lnSpc>
                <a:spcPct val="90000"/>
              </a:lnSpc>
              <a:spcBef>
                <a:spcPts val="0"/>
              </a:spcBef>
            </a:pPr>
            <a:r>
              <a:rPr lang="en-US" altLang="en-US" sz="2000" b="1" dirty="0">
                <a:solidFill>
                  <a:srgbClr val="006699"/>
                </a:solidFill>
                <a:cs typeface="Calibri" panose="020F0502020204030204" pitchFamily="34" charset="0"/>
              </a:rPr>
              <a:t>Security</a:t>
            </a:r>
            <a:r>
              <a:rPr lang="en-US" altLang="en-US" sz="2000" b="1" dirty="0">
                <a:solidFill>
                  <a:srgbClr val="3366FF"/>
                </a:solidFill>
                <a:cs typeface="Calibri" panose="020F0502020204030204" pitchFamily="34" charset="0"/>
              </a:rPr>
              <a:t> </a:t>
            </a:r>
            <a:r>
              <a:rPr lang="en-US" altLang="en-US" sz="2000" dirty="0">
                <a:cs typeface="Calibri" panose="020F0502020204030204" pitchFamily="34" charset="0"/>
              </a:rPr>
              <a:t>– defense of the system against internal and external attacks</a:t>
            </a:r>
          </a:p>
          <a:p>
            <a:pPr lvl="1">
              <a:lnSpc>
                <a:spcPct val="90000"/>
              </a:lnSpc>
              <a:spcBef>
                <a:spcPts val="0"/>
              </a:spcBef>
            </a:pPr>
            <a:r>
              <a:rPr lang="en-US" altLang="en-US" sz="1800" dirty="0">
                <a:cs typeface="Calibri" panose="020F0502020204030204" pitchFamily="34" charset="0"/>
              </a:rPr>
              <a:t>Huge range, including denial-of-service, worms, viruses, identity theft, theft of service</a:t>
            </a:r>
          </a:p>
          <a:p>
            <a:pPr>
              <a:lnSpc>
                <a:spcPct val="90000"/>
              </a:lnSpc>
              <a:spcBef>
                <a:spcPts val="0"/>
              </a:spcBef>
            </a:pPr>
            <a:r>
              <a:rPr lang="en-US" altLang="en-US" sz="2000" dirty="0">
                <a:cs typeface="Calibri" panose="020F0502020204030204" pitchFamily="34" charset="0"/>
              </a:rPr>
              <a:t>Systems generally first distinguish among users, to determine who can do what</a:t>
            </a:r>
          </a:p>
          <a:p>
            <a:pPr lvl="1">
              <a:lnSpc>
                <a:spcPct val="90000"/>
              </a:lnSpc>
              <a:spcBef>
                <a:spcPts val="0"/>
              </a:spcBef>
            </a:pPr>
            <a:r>
              <a:rPr lang="en-US" altLang="en-US" sz="1800" dirty="0">
                <a:cs typeface="Calibri" panose="020F0502020204030204" pitchFamily="34" charset="0"/>
              </a:rPr>
              <a:t>User identities (</a:t>
            </a:r>
            <a:r>
              <a:rPr lang="en-US" altLang="en-US" sz="1800" b="1" dirty="0">
                <a:solidFill>
                  <a:srgbClr val="006699"/>
                </a:solidFill>
                <a:cs typeface="Calibri" panose="020F0502020204030204" pitchFamily="34" charset="0"/>
              </a:rPr>
              <a:t>user IDs</a:t>
            </a:r>
            <a:r>
              <a:rPr lang="en-US" altLang="en-US" sz="1800" dirty="0">
                <a:cs typeface="Calibri" panose="020F0502020204030204" pitchFamily="34" charset="0"/>
              </a:rPr>
              <a:t>, security IDs) include name and associated number, one per user</a:t>
            </a:r>
          </a:p>
          <a:p>
            <a:pPr lvl="1">
              <a:lnSpc>
                <a:spcPct val="90000"/>
              </a:lnSpc>
              <a:spcBef>
                <a:spcPts val="0"/>
              </a:spcBef>
            </a:pPr>
            <a:r>
              <a:rPr lang="en-US" altLang="en-US" sz="1800" dirty="0">
                <a:cs typeface="Calibri" panose="020F0502020204030204" pitchFamily="34" charset="0"/>
              </a:rPr>
              <a:t>User ID then associated with all files, processes of that user to determine access control</a:t>
            </a:r>
          </a:p>
          <a:p>
            <a:pPr lvl="1">
              <a:lnSpc>
                <a:spcPct val="90000"/>
              </a:lnSpc>
              <a:spcBef>
                <a:spcPts val="0"/>
              </a:spcBef>
            </a:pPr>
            <a:r>
              <a:rPr lang="en-US" altLang="en-US" sz="1800" dirty="0">
                <a:cs typeface="Calibri" panose="020F0502020204030204" pitchFamily="34" charset="0"/>
              </a:rPr>
              <a:t>Group identifier (</a:t>
            </a:r>
            <a:r>
              <a:rPr lang="en-US" altLang="en-US" sz="1800" b="1" dirty="0">
                <a:solidFill>
                  <a:srgbClr val="006699"/>
                </a:solidFill>
                <a:cs typeface="Calibri" panose="020F0502020204030204" pitchFamily="34" charset="0"/>
              </a:rPr>
              <a:t>group ID</a:t>
            </a:r>
            <a:r>
              <a:rPr lang="en-US" altLang="en-US" sz="1800" dirty="0">
                <a:cs typeface="Calibri" panose="020F0502020204030204" pitchFamily="34" charset="0"/>
              </a:rPr>
              <a:t>) allows set of users to be defined and controls managed, then also associated with each process, file</a:t>
            </a:r>
          </a:p>
          <a:p>
            <a:pPr lvl="1">
              <a:lnSpc>
                <a:spcPct val="90000"/>
              </a:lnSpc>
              <a:spcBef>
                <a:spcPts val="0"/>
              </a:spcBef>
            </a:pPr>
            <a:r>
              <a:rPr lang="en-US" altLang="en-US" sz="1800" b="1" dirty="0">
                <a:solidFill>
                  <a:srgbClr val="006699"/>
                </a:solidFill>
                <a:cs typeface="Calibri" panose="020F0502020204030204" pitchFamily="34" charset="0"/>
              </a:rPr>
              <a:t>Privilege escalation </a:t>
            </a:r>
            <a:r>
              <a:rPr lang="en-US" altLang="en-US" sz="1800" dirty="0">
                <a:cs typeface="Calibri" panose="020F0502020204030204" pitchFamily="34" charset="0"/>
              </a:rPr>
              <a:t>allows user to change to effective ID with more rights</a:t>
            </a:r>
          </a:p>
        </p:txBody>
      </p:sp>
      <p:sp>
        <p:nvSpPr>
          <p:cNvPr id="2" name="灯片编号占位符 1">
            <a:extLst>
              <a:ext uri="{FF2B5EF4-FFF2-40B4-BE49-F238E27FC236}">
                <a16:creationId xmlns:a16="http://schemas.microsoft.com/office/drawing/2014/main" id="{5881F303-648C-0A31-3CC7-F45C220628F5}"/>
              </a:ext>
            </a:extLst>
          </p:cNvPr>
          <p:cNvSpPr>
            <a:spLocks noGrp="1"/>
          </p:cNvSpPr>
          <p:nvPr>
            <p:ph type="sldNum" sz="quarter" idx="10"/>
          </p:nvPr>
        </p:nvSpPr>
        <p:spPr/>
        <p:txBody>
          <a:bodyPr/>
          <a:lstStyle/>
          <a:p>
            <a:fld id="{D9B6BDF2-6896-4B98-8776-C18582F63BA5}" type="slidenum">
              <a:rPr lang="zh-TW" altLang="en-US" smtClean="0"/>
              <a:pPr/>
              <a:t>13</a:t>
            </a:fld>
            <a:endParaRPr lang="zh-TW"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a:extLst>
              <a:ext uri="{FF2B5EF4-FFF2-40B4-BE49-F238E27FC236}">
                <a16:creationId xmlns:a16="http://schemas.microsoft.com/office/drawing/2014/main" id="{03622BC2-D8A3-4714-B19A-26A06CC05772}"/>
              </a:ext>
            </a:extLst>
          </p:cNvPr>
          <p:cNvSpPr>
            <a:spLocks noGrp="1" noChangeArrowheads="1"/>
          </p:cNvSpPr>
          <p:nvPr>
            <p:ph type="title" idx="4294967295"/>
          </p:nvPr>
        </p:nvSpPr>
        <p:spPr>
          <a:xfrm>
            <a:off x="924026" y="153591"/>
            <a:ext cx="6566198" cy="432197"/>
          </a:xfrm>
        </p:spPr>
        <p:txBody>
          <a:bodyPr/>
          <a:lstStyle/>
          <a:p>
            <a:pPr eaLnBrk="1" hangingPunct="1"/>
            <a:r>
              <a:rPr lang="en-US" altLang="en-US" sz="3200" dirty="0"/>
              <a:t>Virtualization (1)</a:t>
            </a:r>
          </a:p>
        </p:txBody>
      </p:sp>
      <p:sp>
        <p:nvSpPr>
          <p:cNvPr id="90115" name="Rectangle 3">
            <a:extLst>
              <a:ext uri="{FF2B5EF4-FFF2-40B4-BE49-F238E27FC236}">
                <a16:creationId xmlns:a16="http://schemas.microsoft.com/office/drawing/2014/main" id="{C3AAFBD5-73DB-46BC-A327-5E1260FD7D4E}"/>
              </a:ext>
            </a:extLst>
          </p:cNvPr>
          <p:cNvSpPr>
            <a:spLocks noGrp="1" noChangeArrowheads="1"/>
          </p:cNvSpPr>
          <p:nvPr>
            <p:ph type="body" idx="4294967295"/>
          </p:nvPr>
        </p:nvSpPr>
        <p:spPr>
          <a:xfrm>
            <a:off x="924026" y="816693"/>
            <a:ext cx="7459580" cy="3726432"/>
          </a:xfrm>
        </p:spPr>
        <p:txBody>
          <a:bodyPr/>
          <a:lstStyle/>
          <a:p>
            <a:r>
              <a:rPr lang="en-US" altLang="en-US" sz="2000" dirty="0">
                <a:ea typeface="+mn-ea"/>
                <a:cs typeface="Calibri" panose="020F0502020204030204" pitchFamily="34" charset="0"/>
              </a:rPr>
              <a:t>Allows operating systems to run applications within other OSes</a:t>
            </a:r>
          </a:p>
          <a:p>
            <a:pPr lvl="1"/>
            <a:r>
              <a:rPr lang="en-US" altLang="en-US" sz="1800" dirty="0">
                <a:ea typeface="+mn-ea"/>
                <a:cs typeface="Calibri" panose="020F0502020204030204" pitchFamily="34" charset="0"/>
              </a:rPr>
              <a:t>Vast and growing industry</a:t>
            </a:r>
          </a:p>
          <a:p>
            <a:r>
              <a:rPr lang="en-US" altLang="en-US" sz="2000" b="1" dirty="0">
                <a:solidFill>
                  <a:srgbClr val="006699"/>
                </a:solidFill>
                <a:ea typeface="+mn-ea"/>
                <a:cs typeface="Calibri" panose="020F0502020204030204" pitchFamily="34" charset="0"/>
              </a:rPr>
              <a:t>Emulation</a:t>
            </a:r>
            <a:r>
              <a:rPr lang="en-US" altLang="en-US" sz="2000" dirty="0">
                <a:ea typeface="+mn-ea"/>
                <a:cs typeface="Calibri" panose="020F0502020204030204" pitchFamily="34" charset="0"/>
              </a:rPr>
              <a:t> used when source CPU type different from target type (i.e. PowerPC to Intel x86)</a:t>
            </a:r>
          </a:p>
          <a:p>
            <a:pPr lvl="1"/>
            <a:r>
              <a:rPr lang="en-US" altLang="en-US" sz="1800" dirty="0">
                <a:ea typeface="+mn-ea"/>
                <a:cs typeface="Calibri" panose="020F0502020204030204" pitchFamily="34" charset="0"/>
              </a:rPr>
              <a:t>Generally slowest method</a:t>
            </a:r>
          </a:p>
          <a:p>
            <a:pPr lvl="1"/>
            <a:r>
              <a:rPr lang="en-US" altLang="en-US" sz="1800" dirty="0">
                <a:ea typeface="+mn-ea"/>
                <a:cs typeface="Calibri" panose="020F0502020204030204" pitchFamily="34" charset="0"/>
              </a:rPr>
              <a:t>When computer language not compiled to native code – </a:t>
            </a:r>
            <a:r>
              <a:rPr lang="en-US" altLang="en-US" sz="1800" b="1" dirty="0">
                <a:solidFill>
                  <a:srgbClr val="006699"/>
                </a:solidFill>
                <a:ea typeface="+mn-ea"/>
                <a:cs typeface="Calibri" panose="020F0502020204030204" pitchFamily="34" charset="0"/>
              </a:rPr>
              <a:t>Interpretation</a:t>
            </a:r>
          </a:p>
          <a:p>
            <a:r>
              <a:rPr lang="en-US" altLang="en-US" sz="2000" b="1" dirty="0">
                <a:solidFill>
                  <a:srgbClr val="006699"/>
                </a:solidFill>
                <a:ea typeface="+mn-ea"/>
                <a:cs typeface="Calibri" panose="020F0502020204030204" pitchFamily="34" charset="0"/>
              </a:rPr>
              <a:t>Virtualization</a:t>
            </a:r>
            <a:r>
              <a:rPr lang="en-US" altLang="en-US" sz="2000" dirty="0">
                <a:ea typeface="+mn-ea"/>
                <a:cs typeface="Calibri" panose="020F0502020204030204" pitchFamily="34" charset="0"/>
              </a:rPr>
              <a:t> – OS natively compiled for CPU, running </a:t>
            </a:r>
            <a:r>
              <a:rPr lang="en-US" altLang="en-US" sz="2000" b="1" dirty="0">
                <a:solidFill>
                  <a:srgbClr val="006699"/>
                </a:solidFill>
                <a:ea typeface="+mn-ea"/>
                <a:cs typeface="Calibri" panose="020F0502020204030204" pitchFamily="34" charset="0"/>
              </a:rPr>
              <a:t>guest</a:t>
            </a:r>
            <a:r>
              <a:rPr lang="en-US" altLang="en-US" sz="2000" dirty="0">
                <a:ea typeface="+mn-ea"/>
                <a:cs typeface="Calibri" panose="020F0502020204030204" pitchFamily="34" charset="0"/>
              </a:rPr>
              <a:t> OSes  also natively compiled </a:t>
            </a:r>
          </a:p>
          <a:p>
            <a:pPr lvl="1"/>
            <a:r>
              <a:rPr lang="en-US" altLang="en-US" sz="1800" dirty="0">
                <a:ea typeface="+mn-ea"/>
                <a:cs typeface="Calibri" panose="020F0502020204030204" pitchFamily="34" charset="0"/>
              </a:rPr>
              <a:t>Consider VMware running WinXP guests, each running applications, all on native WinXP </a:t>
            </a:r>
            <a:r>
              <a:rPr lang="en-US" altLang="en-US" sz="1800" b="1" dirty="0">
                <a:solidFill>
                  <a:srgbClr val="006699"/>
                </a:solidFill>
                <a:ea typeface="+mn-ea"/>
                <a:cs typeface="Calibri" panose="020F0502020204030204" pitchFamily="34" charset="0"/>
              </a:rPr>
              <a:t>host </a:t>
            </a:r>
            <a:r>
              <a:rPr lang="en-US" altLang="en-US" sz="1800" dirty="0">
                <a:ea typeface="+mn-ea"/>
                <a:cs typeface="Calibri" panose="020F0502020204030204" pitchFamily="34" charset="0"/>
              </a:rPr>
              <a:t>OS</a:t>
            </a:r>
          </a:p>
          <a:p>
            <a:pPr lvl="1"/>
            <a:r>
              <a:rPr lang="en-US" altLang="en-US" sz="1800" b="1" dirty="0">
                <a:solidFill>
                  <a:srgbClr val="006699"/>
                </a:solidFill>
                <a:ea typeface="+mn-ea"/>
                <a:cs typeface="Calibri" panose="020F0502020204030204" pitchFamily="34" charset="0"/>
              </a:rPr>
              <a:t>VMM</a:t>
            </a:r>
            <a:r>
              <a:rPr lang="en-US" altLang="en-US" sz="1800" dirty="0">
                <a:ea typeface="+mn-ea"/>
                <a:cs typeface="Calibri" panose="020F0502020204030204" pitchFamily="34" charset="0"/>
              </a:rPr>
              <a:t> (virtual machine Manager) provides virtualization services</a:t>
            </a:r>
          </a:p>
        </p:txBody>
      </p:sp>
      <p:sp>
        <p:nvSpPr>
          <p:cNvPr id="2" name="灯片编号占位符 1">
            <a:extLst>
              <a:ext uri="{FF2B5EF4-FFF2-40B4-BE49-F238E27FC236}">
                <a16:creationId xmlns:a16="http://schemas.microsoft.com/office/drawing/2014/main" id="{4CE54178-91DD-A3DC-0640-F6F30649F246}"/>
              </a:ext>
            </a:extLst>
          </p:cNvPr>
          <p:cNvSpPr>
            <a:spLocks noGrp="1"/>
          </p:cNvSpPr>
          <p:nvPr>
            <p:ph type="sldNum" sz="quarter" idx="10"/>
          </p:nvPr>
        </p:nvSpPr>
        <p:spPr/>
        <p:txBody>
          <a:bodyPr/>
          <a:lstStyle/>
          <a:p>
            <a:fld id="{D9B6BDF2-6896-4B98-8776-C18582F63BA5}" type="slidenum">
              <a:rPr lang="zh-TW" altLang="en-US" smtClean="0"/>
              <a:pPr/>
              <a:t>14</a:t>
            </a:fld>
            <a:endParaRPr lang="zh-TW"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a:extLst>
              <a:ext uri="{FF2B5EF4-FFF2-40B4-BE49-F238E27FC236}">
                <a16:creationId xmlns:a16="http://schemas.microsoft.com/office/drawing/2014/main" id="{5AAFF784-E85C-41DD-9564-2AFE9F2AF854}"/>
              </a:ext>
            </a:extLst>
          </p:cNvPr>
          <p:cNvSpPr>
            <a:spLocks noGrp="1" noChangeArrowheads="1"/>
          </p:cNvSpPr>
          <p:nvPr>
            <p:ph type="title" idx="4294967295"/>
          </p:nvPr>
        </p:nvSpPr>
        <p:spPr>
          <a:xfrm>
            <a:off x="885524" y="154782"/>
            <a:ext cx="6646370" cy="432197"/>
          </a:xfrm>
        </p:spPr>
        <p:txBody>
          <a:bodyPr/>
          <a:lstStyle/>
          <a:p>
            <a:pPr eaLnBrk="1" hangingPunct="1"/>
            <a:r>
              <a:rPr lang="en-US" altLang="en-US" sz="3200" dirty="0"/>
              <a:t>Virtualization (2)</a:t>
            </a:r>
          </a:p>
        </p:txBody>
      </p:sp>
      <p:sp>
        <p:nvSpPr>
          <p:cNvPr id="92163" name="Rectangle 3">
            <a:extLst>
              <a:ext uri="{FF2B5EF4-FFF2-40B4-BE49-F238E27FC236}">
                <a16:creationId xmlns:a16="http://schemas.microsoft.com/office/drawing/2014/main" id="{739FC5C6-2924-4E47-B256-294439530617}"/>
              </a:ext>
            </a:extLst>
          </p:cNvPr>
          <p:cNvSpPr>
            <a:spLocks noGrp="1" noChangeArrowheads="1"/>
          </p:cNvSpPr>
          <p:nvPr>
            <p:ph type="body" idx="4294967295"/>
          </p:nvPr>
        </p:nvSpPr>
        <p:spPr>
          <a:xfrm>
            <a:off x="924025" y="899249"/>
            <a:ext cx="7507706" cy="3095236"/>
          </a:xfrm>
        </p:spPr>
        <p:txBody>
          <a:bodyPr/>
          <a:lstStyle/>
          <a:p>
            <a:r>
              <a:rPr lang="en-US" altLang="en-US" sz="2000" dirty="0"/>
              <a:t>Use cases involve laptops and desktops running multiple OSes for exploration or compatibility</a:t>
            </a:r>
          </a:p>
          <a:p>
            <a:pPr lvl="1"/>
            <a:r>
              <a:rPr lang="en-US" altLang="en-US" sz="1800" dirty="0"/>
              <a:t>Apple laptop running Mac OS X host, Windows as a guest</a:t>
            </a:r>
          </a:p>
          <a:p>
            <a:pPr lvl="1"/>
            <a:r>
              <a:rPr lang="en-US" altLang="en-US" sz="1800" dirty="0"/>
              <a:t>Developing apps for multiple OSes without having multiple systems</a:t>
            </a:r>
          </a:p>
          <a:p>
            <a:pPr lvl="1"/>
            <a:r>
              <a:rPr lang="en-US" altLang="en-US" sz="1800" dirty="0"/>
              <a:t>Quality assurance testing applications without having multiple systems</a:t>
            </a:r>
          </a:p>
          <a:p>
            <a:pPr lvl="1"/>
            <a:r>
              <a:rPr lang="en-US" altLang="en-US" sz="1800" dirty="0"/>
              <a:t>Executing and managing compute environments within data centers</a:t>
            </a:r>
          </a:p>
          <a:p>
            <a:r>
              <a:rPr lang="en-US" altLang="en-US" sz="2000" dirty="0"/>
              <a:t>VMM can run natively, in which case they are also the host</a:t>
            </a:r>
          </a:p>
          <a:p>
            <a:pPr lvl="1"/>
            <a:r>
              <a:rPr lang="en-US" altLang="en-US" sz="2000" dirty="0"/>
              <a:t>There is no general-purpose host then (VMware ESX and Citrix </a:t>
            </a:r>
            <a:r>
              <a:rPr lang="en-US" altLang="en-US" sz="2000" dirty="0" err="1"/>
              <a:t>XenServer</a:t>
            </a:r>
            <a:r>
              <a:rPr lang="en-US" altLang="en-US" sz="2000" dirty="0"/>
              <a:t>)</a:t>
            </a:r>
          </a:p>
        </p:txBody>
      </p:sp>
      <p:sp>
        <p:nvSpPr>
          <p:cNvPr id="2" name="灯片编号占位符 1">
            <a:extLst>
              <a:ext uri="{FF2B5EF4-FFF2-40B4-BE49-F238E27FC236}">
                <a16:creationId xmlns:a16="http://schemas.microsoft.com/office/drawing/2014/main" id="{A7658D09-0C30-57D9-FF39-D598BB191F36}"/>
              </a:ext>
            </a:extLst>
          </p:cNvPr>
          <p:cNvSpPr>
            <a:spLocks noGrp="1"/>
          </p:cNvSpPr>
          <p:nvPr>
            <p:ph type="sldNum" sz="quarter" idx="10"/>
          </p:nvPr>
        </p:nvSpPr>
        <p:spPr/>
        <p:txBody>
          <a:bodyPr/>
          <a:lstStyle/>
          <a:p>
            <a:fld id="{D9B6BDF2-6896-4B98-8776-C18582F63BA5}" type="slidenum">
              <a:rPr lang="zh-TW" altLang="en-US" smtClean="0"/>
              <a:pPr/>
              <a:t>15</a:t>
            </a:fld>
            <a:endParaRPr lang="zh-TW"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a:extLst>
              <a:ext uri="{FF2B5EF4-FFF2-40B4-BE49-F238E27FC236}">
                <a16:creationId xmlns:a16="http://schemas.microsoft.com/office/drawing/2014/main" id="{967AD9E5-C263-4DD7-BF7C-15DD636247AC}"/>
              </a:ext>
            </a:extLst>
          </p:cNvPr>
          <p:cNvSpPr>
            <a:spLocks noGrp="1" noChangeArrowheads="1"/>
          </p:cNvSpPr>
          <p:nvPr>
            <p:ph type="title" idx="4294967295"/>
          </p:nvPr>
        </p:nvSpPr>
        <p:spPr>
          <a:xfrm>
            <a:off x="885524" y="144066"/>
            <a:ext cx="7584708" cy="451247"/>
          </a:xfrm>
        </p:spPr>
        <p:txBody>
          <a:bodyPr/>
          <a:lstStyle/>
          <a:p>
            <a:pPr eaLnBrk="1" hangingPunct="1"/>
            <a:r>
              <a:rPr lang="en-US" altLang="en-US" sz="3200" dirty="0"/>
              <a:t>Computing Environments - Virtualization</a:t>
            </a:r>
          </a:p>
        </p:txBody>
      </p:sp>
      <p:pic>
        <p:nvPicPr>
          <p:cNvPr id="94211" name="Picture 1" descr="1_20.pdf">
            <a:extLst>
              <a:ext uri="{FF2B5EF4-FFF2-40B4-BE49-F238E27FC236}">
                <a16:creationId xmlns:a16="http://schemas.microsoft.com/office/drawing/2014/main" id="{6757256A-1C41-4B7F-99E9-C6E76C868B3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199085" y="1165623"/>
            <a:ext cx="4797028" cy="32539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a:extLst>
              <a:ext uri="{FF2B5EF4-FFF2-40B4-BE49-F238E27FC236}">
                <a16:creationId xmlns:a16="http://schemas.microsoft.com/office/drawing/2014/main" id="{4A5EF100-019E-9DEB-5B4A-6CE6C62F339F}"/>
              </a:ext>
            </a:extLst>
          </p:cNvPr>
          <p:cNvSpPr>
            <a:spLocks noGrp="1"/>
          </p:cNvSpPr>
          <p:nvPr>
            <p:ph type="sldNum" sz="quarter" idx="10"/>
          </p:nvPr>
        </p:nvSpPr>
        <p:spPr/>
        <p:txBody>
          <a:bodyPr/>
          <a:lstStyle/>
          <a:p>
            <a:fld id="{D9B6BDF2-6896-4B98-8776-C18582F63BA5}" type="slidenum">
              <a:rPr lang="zh-TW" altLang="en-US" smtClean="0"/>
              <a:pPr/>
              <a:t>16</a:t>
            </a:fld>
            <a:endParaRPr lang="zh-TW"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Title 1">
            <a:extLst>
              <a:ext uri="{FF2B5EF4-FFF2-40B4-BE49-F238E27FC236}">
                <a16:creationId xmlns:a16="http://schemas.microsoft.com/office/drawing/2014/main" id="{D0ECE790-B0BE-4135-98DE-2C481E02F542}"/>
              </a:ext>
            </a:extLst>
          </p:cNvPr>
          <p:cNvSpPr>
            <a:spLocks noGrp="1" noChangeArrowheads="1"/>
          </p:cNvSpPr>
          <p:nvPr>
            <p:ph type="title" idx="4294967295"/>
          </p:nvPr>
        </p:nvSpPr>
        <p:spPr>
          <a:xfrm>
            <a:off x="895150" y="155972"/>
            <a:ext cx="6672464" cy="432197"/>
          </a:xfrm>
        </p:spPr>
        <p:txBody>
          <a:bodyPr/>
          <a:lstStyle/>
          <a:p>
            <a:r>
              <a:rPr lang="en-US" altLang="en-US" sz="3200" dirty="0"/>
              <a:t>Distributed Systems</a:t>
            </a:r>
          </a:p>
        </p:txBody>
      </p:sp>
      <p:sp>
        <p:nvSpPr>
          <p:cNvPr id="96259" name="Content Placeholder 2">
            <a:extLst>
              <a:ext uri="{FF2B5EF4-FFF2-40B4-BE49-F238E27FC236}">
                <a16:creationId xmlns:a16="http://schemas.microsoft.com/office/drawing/2014/main" id="{3ECA8FF4-005A-4361-BF3A-BAC35BECFBC5}"/>
              </a:ext>
            </a:extLst>
          </p:cNvPr>
          <p:cNvSpPr>
            <a:spLocks noGrp="1" noChangeArrowheads="1"/>
          </p:cNvSpPr>
          <p:nvPr>
            <p:ph idx="4294967295"/>
          </p:nvPr>
        </p:nvSpPr>
        <p:spPr>
          <a:xfrm>
            <a:off x="972151" y="819150"/>
            <a:ext cx="7372951" cy="3608471"/>
          </a:xfrm>
        </p:spPr>
        <p:txBody>
          <a:bodyPr/>
          <a:lstStyle/>
          <a:p>
            <a:r>
              <a:rPr lang="en-US" altLang="en-US" sz="2000" dirty="0">
                <a:ea typeface="+mn-ea"/>
                <a:cs typeface="Calibri" panose="020F0502020204030204" pitchFamily="34" charset="0"/>
              </a:rPr>
              <a:t>Collection of separate, possibly heterogeneous, systems networked together</a:t>
            </a:r>
          </a:p>
          <a:p>
            <a:pPr lvl="1"/>
            <a:r>
              <a:rPr lang="en-US" altLang="en-US" sz="1800" b="1" dirty="0">
                <a:solidFill>
                  <a:srgbClr val="006699"/>
                </a:solidFill>
                <a:ea typeface="+mn-ea"/>
                <a:cs typeface="Calibri" panose="020F0502020204030204" pitchFamily="34" charset="0"/>
              </a:rPr>
              <a:t>Network</a:t>
            </a:r>
            <a:r>
              <a:rPr lang="en-US" altLang="en-US" sz="1800" dirty="0">
                <a:ea typeface="+mn-ea"/>
                <a:cs typeface="Calibri" panose="020F0502020204030204" pitchFamily="34" charset="0"/>
              </a:rPr>
              <a:t> is a communications path, </a:t>
            </a:r>
            <a:r>
              <a:rPr lang="en-US" altLang="en-US" sz="1800" b="1" dirty="0">
                <a:solidFill>
                  <a:srgbClr val="006699"/>
                </a:solidFill>
                <a:ea typeface="+mn-ea"/>
                <a:cs typeface="Calibri" panose="020F0502020204030204" pitchFamily="34" charset="0"/>
              </a:rPr>
              <a:t>TCP/IP </a:t>
            </a:r>
            <a:r>
              <a:rPr lang="en-US" altLang="en-US" sz="1800" dirty="0">
                <a:ea typeface="+mn-ea"/>
                <a:cs typeface="Calibri" panose="020F0502020204030204" pitchFamily="34" charset="0"/>
              </a:rPr>
              <a:t>most common</a:t>
            </a:r>
          </a:p>
          <a:p>
            <a:pPr lvl="2"/>
            <a:r>
              <a:rPr lang="en-US" altLang="en-US" sz="1600" b="1" dirty="0">
                <a:solidFill>
                  <a:srgbClr val="006699"/>
                </a:solidFill>
                <a:latin typeface="Calibri" panose="020F0502020204030204" pitchFamily="34" charset="0"/>
                <a:cs typeface="Calibri" panose="020F0502020204030204" pitchFamily="34" charset="0"/>
              </a:rPr>
              <a:t>Local Area Network </a:t>
            </a:r>
            <a:r>
              <a:rPr lang="en-US" altLang="en-US" sz="1600" dirty="0">
                <a:latin typeface="Calibri" panose="020F0502020204030204" pitchFamily="34" charset="0"/>
                <a:cs typeface="Calibri" panose="020F0502020204030204" pitchFamily="34" charset="0"/>
              </a:rPr>
              <a:t>(</a:t>
            </a:r>
            <a:r>
              <a:rPr lang="en-US" altLang="en-US" sz="1600" b="1" dirty="0">
                <a:solidFill>
                  <a:srgbClr val="006699"/>
                </a:solidFill>
                <a:latin typeface="Calibri" panose="020F0502020204030204" pitchFamily="34" charset="0"/>
                <a:cs typeface="Calibri" panose="020F0502020204030204" pitchFamily="34" charset="0"/>
              </a:rPr>
              <a:t>LAN</a:t>
            </a:r>
            <a:r>
              <a:rPr lang="en-US" altLang="en-US" sz="1600" dirty="0">
                <a:latin typeface="Calibri" panose="020F0502020204030204" pitchFamily="34" charset="0"/>
                <a:cs typeface="Calibri" panose="020F0502020204030204" pitchFamily="34" charset="0"/>
              </a:rPr>
              <a:t>)</a:t>
            </a:r>
          </a:p>
          <a:p>
            <a:pPr lvl="2"/>
            <a:r>
              <a:rPr lang="en-US" altLang="en-US" sz="1600" b="1" dirty="0">
                <a:solidFill>
                  <a:srgbClr val="006699"/>
                </a:solidFill>
                <a:latin typeface="Calibri" panose="020F0502020204030204" pitchFamily="34" charset="0"/>
                <a:cs typeface="Calibri" panose="020F0502020204030204" pitchFamily="34" charset="0"/>
              </a:rPr>
              <a:t>Wide Area Network </a:t>
            </a:r>
            <a:r>
              <a:rPr lang="en-US" altLang="en-US" sz="1600" dirty="0">
                <a:latin typeface="Calibri" panose="020F0502020204030204" pitchFamily="34" charset="0"/>
                <a:cs typeface="Calibri" panose="020F0502020204030204" pitchFamily="34" charset="0"/>
              </a:rPr>
              <a:t>(</a:t>
            </a:r>
            <a:r>
              <a:rPr lang="en-US" altLang="en-US" sz="1600" b="1" dirty="0">
                <a:solidFill>
                  <a:srgbClr val="006699"/>
                </a:solidFill>
                <a:latin typeface="Calibri" panose="020F0502020204030204" pitchFamily="34" charset="0"/>
                <a:cs typeface="Calibri" panose="020F0502020204030204" pitchFamily="34" charset="0"/>
              </a:rPr>
              <a:t>WAN</a:t>
            </a:r>
            <a:r>
              <a:rPr lang="en-US" altLang="en-US" sz="1600" dirty="0">
                <a:latin typeface="Calibri" panose="020F0502020204030204" pitchFamily="34" charset="0"/>
                <a:cs typeface="Calibri" panose="020F0502020204030204" pitchFamily="34" charset="0"/>
              </a:rPr>
              <a:t>)</a:t>
            </a:r>
          </a:p>
          <a:p>
            <a:pPr lvl="2"/>
            <a:r>
              <a:rPr lang="en-US" altLang="en-US" sz="1600" b="1" dirty="0">
                <a:solidFill>
                  <a:srgbClr val="006699"/>
                </a:solidFill>
                <a:latin typeface="Calibri" panose="020F0502020204030204" pitchFamily="34" charset="0"/>
                <a:cs typeface="Calibri" panose="020F0502020204030204" pitchFamily="34" charset="0"/>
              </a:rPr>
              <a:t>Metropolitan Area Network </a:t>
            </a:r>
            <a:r>
              <a:rPr lang="en-US" altLang="en-US" sz="1600" dirty="0">
                <a:latin typeface="Calibri" panose="020F0502020204030204" pitchFamily="34" charset="0"/>
                <a:cs typeface="Calibri" panose="020F0502020204030204" pitchFamily="34" charset="0"/>
              </a:rPr>
              <a:t>(</a:t>
            </a:r>
            <a:r>
              <a:rPr lang="en-US" altLang="en-US" sz="1600" b="1" dirty="0">
                <a:solidFill>
                  <a:srgbClr val="006699"/>
                </a:solidFill>
                <a:latin typeface="Calibri" panose="020F0502020204030204" pitchFamily="34" charset="0"/>
                <a:cs typeface="Calibri" panose="020F0502020204030204" pitchFamily="34" charset="0"/>
              </a:rPr>
              <a:t>MAN</a:t>
            </a:r>
            <a:r>
              <a:rPr lang="en-US" altLang="en-US" sz="1600" dirty="0">
                <a:latin typeface="Calibri" panose="020F0502020204030204" pitchFamily="34" charset="0"/>
                <a:cs typeface="Calibri" panose="020F0502020204030204" pitchFamily="34" charset="0"/>
              </a:rPr>
              <a:t>)</a:t>
            </a:r>
          </a:p>
          <a:p>
            <a:pPr lvl="2"/>
            <a:r>
              <a:rPr lang="en-US" altLang="en-US" sz="1600" b="1" dirty="0">
                <a:solidFill>
                  <a:srgbClr val="006699"/>
                </a:solidFill>
                <a:latin typeface="Calibri" panose="020F0502020204030204" pitchFamily="34" charset="0"/>
                <a:cs typeface="Calibri" panose="020F0502020204030204" pitchFamily="34" charset="0"/>
              </a:rPr>
              <a:t>Personal Area Network </a:t>
            </a:r>
            <a:r>
              <a:rPr lang="en-US" altLang="en-US" sz="1600" dirty="0">
                <a:latin typeface="Calibri" panose="020F0502020204030204" pitchFamily="34" charset="0"/>
                <a:cs typeface="Calibri" panose="020F0502020204030204" pitchFamily="34" charset="0"/>
              </a:rPr>
              <a:t>(</a:t>
            </a:r>
            <a:r>
              <a:rPr lang="en-US" altLang="en-US" sz="1600" b="1" dirty="0">
                <a:solidFill>
                  <a:srgbClr val="006699"/>
                </a:solidFill>
                <a:latin typeface="Calibri" panose="020F0502020204030204" pitchFamily="34" charset="0"/>
                <a:cs typeface="Calibri" panose="020F0502020204030204" pitchFamily="34" charset="0"/>
              </a:rPr>
              <a:t>PAN</a:t>
            </a:r>
            <a:r>
              <a:rPr lang="en-US" altLang="en-US" sz="1600" dirty="0">
                <a:latin typeface="Calibri" panose="020F0502020204030204" pitchFamily="34" charset="0"/>
                <a:cs typeface="Calibri" panose="020F0502020204030204" pitchFamily="34" charset="0"/>
              </a:rPr>
              <a:t>)</a:t>
            </a:r>
          </a:p>
          <a:p>
            <a:r>
              <a:rPr lang="en-US" altLang="en-US" sz="2000" b="1" dirty="0">
                <a:solidFill>
                  <a:srgbClr val="006699"/>
                </a:solidFill>
                <a:ea typeface="+mn-ea"/>
                <a:cs typeface="Calibri" panose="020F0502020204030204" pitchFamily="34" charset="0"/>
              </a:rPr>
              <a:t>Network Operating System </a:t>
            </a:r>
            <a:r>
              <a:rPr lang="en-US" altLang="en-US" sz="2000" dirty="0">
                <a:ea typeface="+mn-ea"/>
                <a:cs typeface="Calibri" panose="020F0502020204030204" pitchFamily="34" charset="0"/>
              </a:rPr>
              <a:t>provides features between systems across network</a:t>
            </a:r>
          </a:p>
          <a:p>
            <a:pPr lvl="1"/>
            <a:r>
              <a:rPr lang="en-US" altLang="en-US" sz="1800" dirty="0">
                <a:ea typeface="+mn-ea"/>
                <a:cs typeface="Calibri" panose="020F0502020204030204" pitchFamily="34" charset="0"/>
              </a:rPr>
              <a:t>Communication scheme allows systems to exchange messages</a:t>
            </a:r>
          </a:p>
          <a:p>
            <a:pPr lvl="1"/>
            <a:r>
              <a:rPr lang="en-US" altLang="en-US" sz="1800" dirty="0">
                <a:ea typeface="+mn-ea"/>
                <a:cs typeface="Calibri" panose="020F0502020204030204" pitchFamily="34" charset="0"/>
              </a:rPr>
              <a:t>Illusion of a single system</a:t>
            </a:r>
          </a:p>
        </p:txBody>
      </p:sp>
      <p:sp>
        <p:nvSpPr>
          <p:cNvPr id="2" name="灯片编号占位符 1">
            <a:extLst>
              <a:ext uri="{FF2B5EF4-FFF2-40B4-BE49-F238E27FC236}">
                <a16:creationId xmlns:a16="http://schemas.microsoft.com/office/drawing/2014/main" id="{07484BD9-801D-43D3-1CFE-82C8296016CF}"/>
              </a:ext>
            </a:extLst>
          </p:cNvPr>
          <p:cNvSpPr>
            <a:spLocks noGrp="1"/>
          </p:cNvSpPr>
          <p:nvPr>
            <p:ph type="sldNum" sz="quarter" idx="10"/>
          </p:nvPr>
        </p:nvSpPr>
        <p:spPr/>
        <p:txBody>
          <a:bodyPr/>
          <a:lstStyle/>
          <a:p>
            <a:fld id="{D9B6BDF2-6896-4B98-8776-C18582F63BA5}" type="slidenum">
              <a:rPr lang="zh-TW" altLang="en-US" smtClean="0"/>
              <a:pPr/>
              <a:t>17</a:t>
            </a:fld>
            <a:endParaRPr lang="zh-TW" altLang="en-US"/>
          </a:p>
        </p:txBody>
      </p:sp>
    </p:spTree>
    <p:extLst>
      <p:ext uri="{BB962C8B-B14F-4D97-AF65-F5344CB8AC3E}">
        <p14:creationId xmlns:p14="http://schemas.microsoft.com/office/powerpoint/2010/main" val="38270844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a:extLst>
              <a:ext uri="{FF2B5EF4-FFF2-40B4-BE49-F238E27FC236}">
                <a16:creationId xmlns:a16="http://schemas.microsoft.com/office/drawing/2014/main" id="{241EA749-5F42-4DDF-91AF-C39281ECA8AD}"/>
              </a:ext>
            </a:extLst>
          </p:cNvPr>
          <p:cNvSpPr>
            <a:spLocks noGrp="1" noChangeArrowheads="1"/>
          </p:cNvSpPr>
          <p:nvPr>
            <p:ph type="title" idx="4294967295"/>
          </p:nvPr>
        </p:nvSpPr>
        <p:spPr>
          <a:xfrm>
            <a:off x="904774" y="170260"/>
            <a:ext cx="6612833" cy="419100"/>
          </a:xfrm>
        </p:spPr>
        <p:txBody>
          <a:bodyPr/>
          <a:lstStyle/>
          <a:p>
            <a:r>
              <a:rPr lang="en-US" altLang="en-US" sz="3200" dirty="0"/>
              <a:t>Computer-System Architecture</a:t>
            </a:r>
          </a:p>
        </p:txBody>
      </p:sp>
      <p:sp>
        <p:nvSpPr>
          <p:cNvPr id="48131" name="Content Placeholder 2">
            <a:extLst>
              <a:ext uri="{FF2B5EF4-FFF2-40B4-BE49-F238E27FC236}">
                <a16:creationId xmlns:a16="http://schemas.microsoft.com/office/drawing/2014/main" id="{4D3327B7-8FD8-4AB6-82B1-9B1A1B47B9CD}"/>
              </a:ext>
            </a:extLst>
          </p:cNvPr>
          <p:cNvSpPr>
            <a:spLocks noGrp="1" noChangeArrowheads="1"/>
          </p:cNvSpPr>
          <p:nvPr>
            <p:ph idx="4294967295"/>
          </p:nvPr>
        </p:nvSpPr>
        <p:spPr>
          <a:xfrm>
            <a:off x="1022237" y="837314"/>
            <a:ext cx="7239731" cy="3676933"/>
          </a:xfrm>
        </p:spPr>
        <p:txBody>
          <a:bodyPr/>
          <a:lstStyle/>
          <a:p>
            <a:r>
              <a:rPr lang="en-US" altLang="en-US" sz="2000" dirty="0">
                <a:ea typeface="+mn-ea"/>
                <a:cs typeface="Calibri" panose="020F0502020204030204" pitchFamily="34" charset="0"/>
              </a:rPr>
              <a:t>Most systems use a single general-purpose processor</a:t>
            </a:r>
          </a:p>
          <a:p>
            <a:pPr lvl="1"/>
            <a:r>
              <a:rPr lang="en-US" altLang="en-US" sz="1800" dirty="0">
                <a:ea typeface="+mn-ea"/>
                <a:cs typeface="Calibri" panose="020F0502020204030204" pitchFamily="34" charset="0"/>
              </a:rPr>
              <a:t>Most systems have special-purpose processors as well</a:t>
            </a:r>
          </a:p>
          <a:p>
            <a:r>
              <a:rPr lang="en-US" altLang="en-US" sz="2000" b="1" dirty="0">
                <a:solidFill>
                  <a:srgbClr val="006699"/>
                </a:solidFill>
                <a:ea typeface="+mn-ea"/>
                <a:cs typeface="Calibri" panose="020F0502020204030204" pitchFamily="34" charset="0"/>
              </a:rPr>
              <a:t>Multiprocessors</a:t>
            </a:r>
            <a:r>
              <a:rPr lang="en-US" altLang="en-US" sz="2000" dirty="0">
                <a:solidFill>
                  <a:srgbClr val="3366FF"/>
                </a:solidFill>
                <a:ea typeface="+mn-ea"/>
                <a:cs typeface="Calibri" panose="020F0502020204030204" pitchFamily="34" charset="0"/>
              </a:rPr>
              <a:t> </a:t>
            </a:r>
            <a:r>
              <a:rPr lang="en-US" altLang="en-US" sz="2000" dirty="0">
                <a:ea typeface="+mn-ea"/>
                <a:cs typeface="Calibri" panose="020F0502020204030204" pitchFamily="34" charset="0"/>
              </a:rPr>
              <a:t>systems growing in use and importance</a:t>
            </a:r>
          </a:p>
          <a:p>
            <a:pPr lvl="1"/>
            <a:r>
              <a:rPr lang="en-US" altLang="en-US" sz="1800" dirty="0">
                <a:ea typeface="+mn-ea"/>
                <a:cs typeface="Calibri" panose="020F0502020204030204" pitchFamily="34" charset="0"/>
              </a:rPr>
              <a:t>Also known as </a:t>
            </a:r>
            <a:r>
              <a:rPr lang="en-US" altLang="en-US" sz="1800" b="1" dirty="0">
                <a:solidFill>
                  <a:srgbClr val="006699"/>
                </a:solidFill>
                <a:ea typeface="+mn-ea"/>
                <a:cs typeface="Calibri" panose="020F0502020204030204" pitchFamily="34" charset="0"/>
              </a:rPr>
              <a:t>parallel systems</a:t>
            </a:r>
            <a:r>
              <a:rPr lang="en-US" altLang="en-US" sz="1800" dirty="0">
                <a:ea typeface="+mn-ea"/>
                <a:cs typeface="Calibri" panose="020F0502020204030204" pitchFamily="34" charset="0"/>
              </a:rPr>
              <a:t>, </a:t>
            </a:r>
            <a:r>
              <a:rPr lang="en-US" altLang="en-US" sz="1800" b="1" dirty="0">
                <a:solidFill>
                  <a:srgbClr val="006699"/>
                </a:solidFill>
                <a:ea typeface="+mn-ea"/>
                <a:cs typeface="Calibri" panose="020F0502020204030204" pitchFamily="34" charset="0"/>
              </a:rPr>
              <a:t>tightly-coupled systems</a:t>
            </a:r>
          </a:p>
          <a:p>
            <a:pPr lvl="1"/>
            <a:r>
              <a:rPr lang="en-US" altLang="en-US" sz="1800" dirty="0">
                <a:ea typeface="+mn-ea"/>
                <a:cs typeface="Calibri" panose="020F0502020204030204" pitchFamily="34" charset="0"/>
              </a:rPr>
              <a:t>Advantages include</a:t>
            </a:r>
          </a:p>
          <a:p>
            <a:pPr marL="900113" lvl="2" indent="-257175">
              <a:buFont typeface="Arial" panose="020B0604020202020204" pitchFamily="34" charset="0"/>
              <a:buAutoNum type="arabicPeriod"/>
            </a:pPr>
            <a:r>
              <a:rPr lang="en-US" altLang="en-US" sz="1600" b="1" dirty="0">
                <a:solidFill>
                  <a:srgbClr val="006699"/>
                </a:solidFill>
                <a:latin typeface="Calibri" panose="020F0502020204030204" pitchFamily="34" charset="0"/>
                <a:cs typeface="Calibri" panose="020F0502020204030204" pitchFamily="34" charset="0"/>
              </a:rPr>
              <a:t>Increased throughput</a:t>
            </a:r>
          </a:p>
          <a:p>
            <a:pPr marL="900113" lvl="2" indent="-257175">
              <a:buFont typeface="Arial" panose="020B0604020202020204" pitchFamily="34" charset="0"/>
              <a:buAutoNum type="arabicPeriod"/>
            </a:pPr>
            <a:r>
              <a:rPr lang="en-US" altLang="en-US" sz="1600" b="1" dirty="0">
                <a:solidFill>
                  <a:srgbClr val="006699"/>
                </a:solidFill>
                <a:latin typeface="Calibri" panose="020F0502020204030204" pitchFamily="34" charset="0"/>
                <a:cs typeface="Calibri" panose="020F0502020204030204" pitchFamily="34" charset="0"/>
              </a:rPr>
              <a:t>Economy of scale</a:t>
            </a:r>
          </a:p>
          <a:p>
            <a:pPr marL="900113" lvl="2" indent="-257175">
              <a:buFont typeface="Arial" panose="020B0604020202020204" pitchFamily="34" charset="0"/>
              <a:buAutoNum type="arabicPeriod"/>
            </a:pPr>
            <a:r>
              <a:rPr lang="en-US" altLang="en-US" sz="1600" b="1" dirty="0">
                <a:solidFill>
                  <a:srgbClr val="006699"/>
                </a:solidFill>
                <a:latin typeface="Calibri" panose="020F0502020204030204" pitchFamily="34" charset="0"/>
                <a:cs typeface="Calibri" panose="020F0502020204030204" pitchFamily="34" charset="0"/>
              </a:rPr>
              <a:t>Increased reliability </a:t>
            </a:r>
            <a:r>
              <a:rPr lang="en-US" altLang="en-US" sz="1600" dirty="0">
                <a:latin typeface="Calibri" panose="020F0502020204030204" pitchFamily="34" charset="0"/>
                <a:cs typeface="Calibri" panose="020F0502020204030204" pitchFamily="34" charset="0"/>
              </a:rPr>
              <a:t>– graceful degradation or fault tolerance</a:t>
            </a:r>
          </a:p>
          <a:p>
            <a:pPr lvl="1"/>
            <a:r>
              <a:rPr lang="en-US" altLang="en-US" sz="1800" dirty="0">
                <a:ea typeface="+mn-ea"/>
                <a:cs typeface="Calibri" panose="020F0502020204030204" pitchFamily="34" charset="0"/>
              </a:rPr>
              <a:t>Two types</a:t>
            </a:r>
          </a:p>
          <a:p>
            <a:pPr marL="900113" lvl="2" indent="-257175">
              <a:buFont typeface="Arial" panose="020B0604020202020204" pitchFamily="34" charset="0"/>
              <a:buAutoNum type="arabicPeriod"/>
            </a:pPr>
            <a:r>
              <a:rPr lang="en-US" altLang="en-US" sz="1600" b="1" dirty="0">
                <a:solidFill>
                  <a:srgbClr val="006699"/>
                </a:solidFill>
                <a:latin typeface="Calibri" panose="020F0502020204030204" pitchFamily="34" charset="0"/>
                <a:cs typeface="Calibri" panose="020F0502020204030204" pitchFamily="34" charset="0"/>
              </a:rPr>
              <a:t>Asymmetric Multiprocessing</a:t>
            </a:r>
            <a:r>
              <a:rPr lang="en-US" altLang="en-US" sz="1600" b="1" dirty="0">
                <a:solidFill>
                  <a:srgbClr val="3366FF"/>
                </a:solidFill>
                <a:latin typeface="Calibri" panose="020F0502020204030204" pitchFamily="34" charset="0"/>
                <a:cs typeface="Calibri" panose="020F0502020204030204" pitchFamily="34" charset="0"/>
              </a:rPr>
              <a:t> </a:t>
            </a:r>
            <a:r>
              <a:rPr lang="en-US" altLang="en-US" sz="1600" dirty="0">
                <a:latin typeface="Calibri" panose="020F0502020204030204" pitchFamily="34" charset="0"/>
                <a:cs typeface="Calibri" panose="020F0502020204030204" pitchFamily="34" charset="0"/>
              </a:rPr>
              <a:t>– each processor is assigned a specie task</a:t>
            </a:r>
          </a:p>
          <a:p>
            <a:pPr marL="900113" lvl="2" indent="-257175">
              <a:buFont typeface="Arial" panose="020B0604020202020204" pitchFamily="34" charset="0"/>
              <a:buAutoNum type="arabicPeriod"/>
            </a:pPr>
            <a:r>
              <a:rPr lang="en-US" altLang="en-US" sz="1600" b="1" dirty="0">
                <a:solidFill>
                  <a:srgbClr val="006699"/>
                </a:solidFill>
                <a:latin typeface="Calibri" panose="020F0502020204030204" pitchFamily="34" charset="0"/>
                <a:cs typeface="Calibri" panose="020F0502020204030204" pitchFamily="34" charset="0"/>
              </a:rPr>
              <a:t>Symmetric Multiprocessing </a:t>
            </a:r>
            <a:r>
              <a:rPr lang="en-US" altLang="en-US" sz="1600" dirty="0">
                <a:latin typeface="Calibri" panose="020F0502020204030204" pitchFamily="34" charset="0"/>
                <a:cs typeface="Calibri" panose="020F0502020204030204" pitchFamily="34" charset="0"/>
              </a:rPr>
              <a:t>– each processor performs all tasks</a:t>
            </a:r>
          </a:p>
        </p:txBody>
      </p:sp>
      <p:sp>
        <p:nvSpPr>
          <p:cNvPr id="2" name="灯片编号占位符 1">
            <a:extLst>
              <a:ext uri="{FF2B5EF4-FFF2-40B4-BE49-F238E27FC236}">
                <a16:creationId xmlns:a16="http://schemas.microsoft.com/office/drawing/2014/main" id="{7908E4F6-C314-9E84-BC57-C974DBC9ECEF}"/>
              </a:ext>
            </a:extLst>
          </p:cNvPr>
          <p:cNvSpPr>
            <a:spLocks noGrp="1"/>
          </p:cNvSpPr>
          <p:nvPr>
            <p:ph type="sldNum" sz="quarter" idx="10"/>
          </p:nvPr>
        </p:nvSpPr>
        <p:spPr/>
        <p:txBody>
          <a:bodyPr/>
          <a:lstStyle/>
          <a:p>
            <a:fld id="{D9B6BDF2-6896-4B98-8776-C18582F63BA5}" type="slidenum">
              <a:rPr lang="zh-TW" altLang="en-US" smtClean="0"/>
              <a:pPr/>
              <a:t>18</a:t>
            </a:fld>
            <a:endParaRPr lang="zh-TW" altLang="en-US"/>
          </a:p>
        </p:txBody>
      </p:sp>
    </p:spTree>
    <p:extLst>
      <p:ext uri="{BB962C8B-B14F-4D97-AF65-F5344CB8AC3E}">
        <p14:creationId xmlns:p14="http://schemas.microsoft.com/office/powerpoint/2010/main" val="42345177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a:extLst>
              <a:ext uri="{FF2B5EF4-FFF2-40B4-BE49-F238E27FC236}">
                <a16:creationId xmlns:a16="http://schemas.microsoft.com/office/drawing/2014/main" id="{C1410AFB-466A-4B08-A8E9-FA44DF2206BF}"/>
              </a:ext>
            </a:extLst>
          </p:cNvPr>
          <p:cNvSpPr>
            <a:spLocks noGrp="1" noChangeArrowheads="1"/>
          </p:cNvSpPr>
          <p:nvPr>
            <p:ph type="title" idx="4294967295"/>
          </p:nvPr>
        </p:nvSpPr>
        <p:spPr>
          <a:xfrm>
            <a:off x="885524" y="100012"/>
            <a:ext cx="7134526" cy="481013"/>
          </a:xfrm>
        </p:spPr>
        <p:txBody>
          <a:bodyPr/>
          <a:lstStyle/>
          <a:p>
            <a:r>
              <a:rPr lang="en-US" altLang="en-US" sz="3200" dirty="0"/>
              <a:t>Symmetric Multiprocessing Architecture</a:t>
            </a:r>
          </a:p>
        </p:txBody>
      </p:sp>
      <p:pic>
        <p:nvPicPr>
          <p:cNvPr id="50179" name="Picture 2">
            <a:extLst>
              <a:ext uri="{FF2B5EF4-FFF2-40B4-BE49-F238E27FC236}">
                <a16:creationId xmlns:a16="http://schemas.microsoft.com/office/drawing/2014/main" id="{61A30DEF-BA94-447F-8812-ADBD513F7DA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17284" y="1043102"/>
            <a:ext cx="4309432" cy="32625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a:extLst>
              <a:ext uri="{FF2B5EF4-FFF2-40B4-BE49-F238E27FC236}">
                <a16:creationId xmlns:a16="http://schemas.microsoft.com/office/drawing/2014/main" id="{17F10AAB-5B78-2DB7-848E-FD7AF1D0003A}"/>
              </a:ext>
            </a:extLst>
          </p:cNvPr>
          <p:cNvSpPr>
            <a:spLocks noGrp="1"/>
          </p:cNvSpPr>
          <p:nvPr>
            <p:ph type="sldNum" sz="quarter" idx="10"/>
          </p:nvPr>
        </p:nvSpPr>
        <p:spPr/>
        <p:txBody>
          <a:bodyPr/>
          <a:lstStyle/>
          <a:p>
            <a:fld id="{D9B6BDF2-6896-4B98-8776-C18582F63BA5}" type="slidenum">
              <a:rPr lang="zh-TW" altLang="en-US" smtClean="0"/>
              <a:pPr/>
              <a:t>19</a:t>
            </a:fld>
            <a:endParaRPr lang="zh-TW" altLang="en-US"/>
          </a:p>
        </p:txBody>
      </p:sp>
    </p:spTree>
    <p:extLst>
      <p:ext uri="{BB962C8B-B14F-4D97-AF65-F5344CB8AC3E}">
        <p14:creationId xmlns:p14="http://schemas.microsoft.com/office/powerpoint/2010/main" val="3834806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a:extLst>
              <a:ext uri="{FF2B5EF4-FFF2-40B4-BE49-F238E27FC236}">
                <a16:creationId xmlns:a16="http://schemas.microsoft.com/office/drawing/2014/main" id="{20841D46-E229-498E-9F1F-A94657CB7458}"/>
              </a:ext>
            </a:extLst>
          </p:cNvPr>
          <p:cNvSpPr>
            <a:spLocks noGrp="1" noChangeArrowheads="1"/>
          </p:cNvSpPr>
          <p:nvPr>
            <p:ph type="title"/>
          </p:nvPr>
        </p:nvSpPr>
        <p:spPr>
          <a:xfrm>
            <a:off x="866274" y="153591"/>
            <a:ext cx="6672764" cy="432197"/>
          </a:xfrm>
        </p:spPr>
        <p:txBody>
          <a:bodyPr/>
          <a:lstStyle/>
          <a:p>
            <a:r>
              <a:rPr lang="en-US" altLang="en-US" sz="3200" dirty="0"/>
              <a:t>Dual-Core Design</a:t>
            </a:r>
          </a:p>
        </p:txBody>
      </p:sp>
      <p:sp>
        <p:nvSpPr>
          <p:cNvPr id="52227" name="Content Placeholder 1">
            <a:extLst>
              <a:ext uri="{FF2B5EF4-FFF2-40B4-BE49-F238E27FC236}">
                <a16:creationId xmlns:a16="http://schemas.microsoft.com/office/drawing/2014/main" id="{2C6B238E-3C2D-4092-8CEA-97744AAE8F40}"/>
              </a:ext>
            </a:extLst>
          </p:cNvPr>
          <p:cNvSpPr>
            <a:spLocks noGrp="1" noChangeArrowheads="1"/>
          </p:cNvSpPr>
          <p:nvPr>
            <p:ph sz="half" idx="1"/>
          </p:nvPr>
        </p:nvSpPr>
        <p:spPr>
          <a:xfrm>
            <a:off x="1007339" y="789952"/>
            <a:ext cx="6390634" cy="1058993"/>
          </a:xfrm>
        </p:spPr>
        <p:txBody>
          <a:bodyPr/>
          <a:lstStyle/>
          <a:p>
            <a:pPr>
              <a:spcBef>
                <a:spcPts val="0"/>
              </a:spcBef>
            </a:pPr>
            <a:r>
              <a:rPr lang="en-US" altLang="en-US" sz="2000" dirty="0">
                <a:ea typeface="+mn-ea"/>
                <a:cs typeface="Calibri" panose="020F0502020204030204" pitchFamily="34" charset="0"/>
              </a:rPr>
              <a:t>Multi-chip and </a:t>
            </a:r>
            <a:r>
              <a:rPr lang="en-US" altLang="en-US" sz="2000" b="1" dirty="0">
                <a:solidFill>
                  <a:srgbClr val="006699"/>
                </a:solidFill>
                <a:ea typeface="+mn-ea"/>
                <a:cs typeface="Calibri" panose="020F0502020204030204" pitchFamily="34" charset="0"/>
              </a:rPr>
              <a:t>multicore</a:t>
            </a:r>
          </a:p>
          <a:p>
            <a:pPr>
              <a:spcBef>
                <a:spcPts val="0"/>
              </a:spcBef>
            </a:pPr>
            <a:r>
              <a:rPr lang="en-US" altLang="en-US" sz="2000" dirty="0">
                <a:ea typeface="+mn-ea"/>
                <a:cs typeface="Calibri" panose="020F0502020204030204" pitchFamily="34" charset="0"/>
              </a:rPr>
              <a:t>Systems containing all  chips</a:t>
            </a:r>
            <a:endParaRPr lang="en-US" altLang="en-US" sz="2000" b="1" dirty="0">
              <a:solidFill>
                <a:srgbClr val="3366FF"/>
              </a:solidFill>
              <a:ea typeface="+mn-ea"/>
              <a:cs typeface="Calibri" panose="020F0502020204030204" pitchFamily="34" charset="0"/>
            </a:endParaRPr>
          </a:p>
          <a:p>
            <a:pPr lvl="1">
              <a:spcBef>
                <a:spcPts val="0"/>
              </a:spcBef>
            </a:pPr>
            <a:r>
              <a:rPr lang="en-US" altLang="en-US" sz="1800" dirty="0">
                <a:ea typeface="+mn-ea"/>
                <a:cs typeface="Calibri" panose="020F0502020204030204" pitchFamily="34" charset="0"/>
              </a:rPr>
              <a:t>Chassis containing multiple separate systems</a:t>
            </a:r>
          </a:p>
        </p:txBody>
      </p:sp>
      <p:pic>
        <p:nvPicPr>
          <p:cNvPr id="52228" name="Picture 2">
            <a:extLst>
              <a:ext uri="{FF2B5EF4-FFF2-40B4-BE49-F238E27FC236}">
                <a16:creationId xmlns:a16="http://schemas.microsoft.com/office/drawing/2014/main" id="{77155B73-8D6F-4B94-A72D-0EA688D4891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98654" y="2009535"/>
            <a:ext cx="2882727" cy="25700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a:extLst>
              <a:ext uri="{FF2B5EF4-FFF2-40B4-BE49-F238E27FC236}">
                <a16:creationId xmlns:a16="http://schemas.microsoft.com/office/drawing/2014/main" id="{9E4AF29A-5027-F7F7-85FA-1863DDE557BD}"/>
              </a:ext>
            </a:extLst>
          </p:cNvPr>
          <p:cNvSpPr>
            <a:spLocks noGrp="1"/>
          </p:cNvSpPr>
          <p:nvPr>
            <p:ph type="sldNum" sz="quarter" idx="10"/>
          </p:nvPr>
        </p:nvSpPr>
        <p:spPr/>
        <p:txBody>
          <a:bodyPr/>
          <a:lstStyle/>
          <a:p>
            <a:fld id="{D9B6BDF2-6896-4B98-8776-C18582F63BA5}" type="slidenum">
              <a:rPr lang="zh-TW" altLang="en-US" smtClean="0"/>
              <a:pPr/>
              <a:t>20</a:t>
            </a:fld>
            <a:endParaRPr lang="zh-TW" altLang="en-US"/>
          </a:p>
        </p:txBody>
      </p:sp>
    </p:spTree>
    <p:extLst>
      <p:ext uri="{BB962C8B-B14F-4D97-AF65-F5344CB8AC3E}">
        <p14:creationId xmlns:p14="http://schemas.microsoft.com/office/powerpoint/2010/main" val="27765908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a:extLst>
              <a:ext uri="{FF2B5EF4-FFF2-40B4-BE49-F238E27FC236}">
                <a16:creationId xmlns:a16="http://schemas.microsoft.com/office/drawing/2014/main" id="{82AFAD1E-E934-45C6-9563-2F384ACE5648}"/>
              </a:ext>
            </a:extLst>
          </p:cNvPr>
          <p:cNvSpPr>
            <a:spLocks noGrp="1" noChangeArrowheads="1"/>
          </p:cNvSpPr>
          <p:nvPr>
            <p:ph type="title"/>
          </p:nvPr>
        </p:nvSpPr>
        <p:spPr>
          <a:xfrm>
            <a:off x="924025" y="82354"/>
            <a:ext cx="7748337" cy="532209"/>
          </a:xfrm>
        </p:spPr>
        <p:txBody>
          <a:bodyPr/>
          <a:lstStyle/>
          <a:p>
            <a:r>
              <a:rPr lang="en-US" altLang="en-US" sz="3200" dirty="0"/>
              <a:t>Non-Uniform Memory Access System</a:t>
            </a:r>
          </a:p>
        </p:txBody>
      </p:sp>
      <p:pic>
        <p:nvPicPr>
          <p:cNvPr id="54275" name="Picture 2">
            <a:extLst>
              <a:ext uri="{FF2B5EF4-FFF2-40B4-BE49-F238E27FC236}">
                <a16:creationId xmlns:a16="http://schemas.microsoft.com/office/drawing/2014/main" id="{95963655-0AB0-4CCC-A2C8-392BB4B36F4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00375" y="1112044"/>
            <a:ext cx="3330179" cy="3150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a:extLst>
              <a:ext uri="{FF2B5EF4-FFF2-40B4-BE49-F238E27FC236}">
                <a16:creationId xmlns:a16="http://schemas.microsoft.com/office/drawing/2014/main" id="{4CE01B4D-7DD0-F7A7-B7F6-26317F5B3731}"/>
              </a:ext>
            </a:extLst>
          </p:cNvPr>
          <p:cNvSpPr>
            <a:spLocks noGrp="1"/>
          </p:cNvSpPr>
          <p:nvPr>
            <p:ph type="sldNum" sz="quarter" idx="10"/>
          </p:nvPr>
        </p:nvSpPr>
        <p:spPr/>
        <p:txBody>
          <a:bodyPr/>
          <a:lstStyle/>
          <a:p>
            <a:fld id="{D9B6BDF2-6896-4B98-8776-C18582F63BA5}" type="slidenum">
              <a:rPr lang="zh-TW" altLang="en-US" smtClean="0"/>
              <a:pPr/>
              <a:t>21</a:t>
            </a:fld>
            <a:endParaRPr lang="zh-TW" altLang="en-US"/>
          </a:p>
        </p:txBody>
      </p:sp>
    </p:spTree>
    <p:extLst>
      <p:ext uri="{BB962C8B-B14F-4D97-AF65-F5344CB8AC3E}">
        <p14:creationId xmlns:p14="http://schemas.microsoft.com/office/powerpoint/2010/main" val="42801811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itle 1">
            <a:extLst>
              <a:ext uri="{FF2B5EF4-FFF2-40B4-BE49-F238E27FC236}">
                <a16:creationId xmlns:a16="http://schemas.microsoft.com/office/drawing/2014/main" id="{4773C3BE-9EC6-4AC9-BFED-6703722AE48E}"/>
              </a:ext>
            </a:extLst>
          </p:cNvPr>
          <p:cNvSpPr>
            <a:spLocks noGrp="1" noChangeArrowheads="1"/>
          </p:cNvSpPr>
          <p:nvPr>
            <p:ph type="title" idx="4294967295"/>
          </p:nvPr>
        </p:nvSpPr>
        <p:spPr>
          <a:xfrm>
            <a:off x="904775" y="158353"/>
            <a:ext cx="6606879" cy="432197"/>
          </a:xfrm>
        </p:spPr>
        <p:txBody>
          <a:bodyPr/>
          <a:lstStyle/>
          <a:p>
            <a:r>
              <a:rPr lang="en-US" altLang="en-US" sz="3200" dirty="0"/>
              <a:t>Clustered Systems (1)</a:t>
            </a:r>
          </a:p>
        </p:txBody>
      </p:sp>
      <p:sp>
        <p:nvSpPr>
          <p:cNvPr id="55299" name="Content Placeholder 2">
            <a:extLst>
              <a:ext uri="{FF2B5EF4-FFF2-40B4-BE49-F238E27FC236}">
                <a16:creationId xmlns:a16="http://schemas.microsoft.com/office/drawing/2014/main" id="{2F915434-FD64-4DB0-A829-8C9E2B7AC5B5}"/>
              </a:ext>
            </a:extLst>
          </p:cNvPr>
          <p:cNvSpPr>
            <a:spLocks noGrp="1" noChangeArrowheads="1"/>
          </p:cNvSpPr>
          <p:nvPr>
            <p:ph idx="4294967295"/>
          </p:nvPr>
        </p:nvSpPr>
        <p:spPr>
          <a:xfrm>
            <a:off x="979452" y="829619"/>
            <a:ext cx="7211647" cy="3212990"/>
          </a:xfrm>
        </p:spPr>
        <p:txBody>
          <a:bodyPr/>
          <a:lstStyle/>
          <a:p>
            <a:r>
              <a:rPr lang="en-US" altLang="en-US" sz="2000" dirty="0">
                <a:ea typeface="+mn-ea"/>
                <a:cs typeface="Calibri" panose="020F0502020204030204" pitchFamily="34" charset="0"/>
              </a:rPr>
              <a:t>Like multiprocessor systems, but multiple systems work together</a:t>
            </a:r>
          </a:p>
          <a:p>
            <a:pPr lvl="1"/>
            <a:r>
              <a:rPr lang="en-US" altLang="en-US" sz="1800" dirty="0">
                <a:ea typeface="+mn-ea"/>
                <a:cs typeface="Calibri" panose="020F0502020204030204" pitchFamily="34" charset="0"/>
              </a:rPr>
              <a:t>Usually sharing storage via a </a:t>
            </a:r>
            <a:r>
              <a:rPr lang="en-US" altLang="en-US" sz="1800" b="1" dirty="0">
                <a:solidFill>
                  <a:srgbClr val="006699"/>
                </a:solidFill>
                <a:ea typeface="+mn-ea"/>
                <a:cs typeface="Calibri" panose="020F0502020204030204" pitchFamily="34" charset="0"/>
              </a:rPr>
              <a:t>storage-area network </a:t>
            </a:r>
            <a:r>
              <a:rPr lang="en-US" altLang="en-US" sz="1800" dirty="0">
                <a:ea typeface="+mn-ea"/>
                <a:cs typeface="Calibri" panose="020F0502020204030204" pitchFamily="34" charset="0"/>
              </a:rPr>
              <a:t>(</a:t>
            </a:r>
            <a:r>
              <a:rPr lang="en-US" altLang="en-US" sz="1800" b="1" dirty="0">
                <a:solidFill>
                  <a:srgbClr val="006699"/>
                </a:solidFill>
                <a:ea typeface="+mn-ea"/>
                <a:cs typeface="Calibri" panose="020F0502020204030204" pitchFamily="34" charset="0"/>
              </a:rPr>
              <a:t>SAN</a:t>
            </a:r>
            <a:r>
              <a:rPr lang="en-US" altLang="en-US" sz="1800" dirty="0">
                <a:ea typeface="+mn-ea"/>
                <a:cs typeface="Calibri" panose="020F0502020204030204" pitchFamily="34" charset="0"/>
              </a:rPr>
              <a:t>)</a:t>
            </a:r>
          </a:p>
          <a:p>
            <a:pPr lvl="1"/>
            <a:r>
              <a:rPr lang="en-US" altLang="en-US" sz="1800" dirty="0">
                <a:ea typeface="+mn-ea"/>
                <a:cs typeface="Calibri" panose="020F0502020204030204" pitchFamily="34" charset="0"/>
              </a:rPr>
              <a:t>Provides a </a:t>
            </a:r>
            <a:r>
              <a:rPr lang="en-US" altLang="en-US" sz="1800" b="1" dirty="0">
                <a:solidFill>
                  <a:srgbClr val="006699"/>
                </a:solidFill>
                <a:ea typeface="+mn-ea"/>
                <a:cs typeface="Calibri" panose="020F0502020204030204" pitchFamily="34" charset="0"/>
              </a:rPr>
              <a:t>high-availability</a:t>
            </a:r>
            <a:r>
              <a:rPr lang="en-US" altLang="en-US" sz="1800" b="1" dirty="0">
                <a:ea typeface="+mn-ea"/>
                <a:cs typeface="Calibri" panose="020F0502020204030204" pitchFamily="34" charset="0"/>
              </a:rPr>
              <a:t> </a:t>
            </a:r>
            <a:r>
              <a:rPr lang="en-US" altLang="en-US" sz="1800" dirty="0">
                <a:ea typeface="+mn-ea"/>
                <a:cs typeface="Calibri" panose="020F0502020204030204" pitchFamily="34" charset="0"/>
              </a:rPr>
              <a:t>service which survives failures</a:t>
            </a:r>
          </a:p>
          <a:p>
            <a:pPr lvl="2"/>
            <a:r>
              <a:rPr lang="en-US" altLang="en-US" sz="1600" b="1" dirty="0">
                <a:solidFill>
                  <a:srgbClr val="006699"/>
                </a:solidFill>
                <a:latin typeface="Calibri" panose="020F0502020204030204" pitchFamily="34" charset="0"/>
                <a:cs typeface="Calibri" panose="020F0502020204030204" pitchFamily="34" charset="0"/>
              </a:rPr>
              <a:t>Asymmetric clustering </a:t>
            </a:r>
            <a:r>
              <a:rPr lang="en-US" altLang="en-US" sz="1600" dirty="0">
                <a:latin typeface="Calibri" panose="020F0502020204030204" pitchFamily="34" charset="0"/>
                <a:cs typeface="Calibri" panose="020F0502020204030204" pitchFamily="34" charset="0"/>
              </a:rPr>
              <a:t>has one machine in hot-standby mode</a:t>
            </a:r>
          </a:p>
          <a:p>
            <a:pPr lvl="2"/>
            <a:r>
              <a:rPr lang="en-US" altLang="en-US" sz="1600" b="1" dirty="0">
                <a:solidFill>
                  <a:srgbClr val="006699"/>
                </a:solidFill>
                <a:latin typeface="Calibri" panose="020F0502020204030204" pitchFamily="34" charset="0"/>
                <a:cs typeface="Calibri" panose="020F0502020204030204" pitchFamily="34" charset="0"/>
              </a:rPr>
              <a:t>Symmetric clustering </a:t>
            </a:r>
            <a:r>
              <a:rPr lang="en-US" altLang="en-US" sz="1600" dirty="0">
                <a:latin typeface="Calibri" panose="020F0502020204030204" pitchFamily="34" charset="0"/>
                <a:cs typeface="Calibri" panose="020F0502020204030204" pitchFamily="34" charset="0"/>
              </a:rPr>
              <a:t>has multiple nodes running applications, monitoring each other</a:t>
            </a:r>
          </a:p>
          <a:p>
            <a:pPr lvl="1"/>
            <a:r>
              <a:rPr lang="en-US" altLang="en-US" sz="1800" dirty="0">
                <a:ea typeface="+mn-ea"/>
                <a:cs typeface="Calibri" panose="020F0502020204030204" pitchFamily="34" charset="0"/>
              </a:rPr>
              <a:t>Some clusters are for </a:t>
            </a:r>
            <a:r>
              <a:rPr lang="en-US" altLang="en-US" sz="1800" b="1" dirty="0">
                <a:solidFill>
                  <a:srgbClr val="006699"/>
                </a:solidFill>
                <a:ea typeface="+mn-ea"/>
                <a:cs typeface="Calibri" panose="020F0502020204030204" pitchFamily="34" charset="0"/>
              </a:rPr>
              <a:t>high-performance computing </a:t>
            </a:r>
            <a:r>
              <a:rPr lang="en-US" altLang="en-US" sz="1800" dirty="0">
                <a:ea typeface="+mn-ea"/>
                <a:cs typeface="Calibri" panose="020F0502020204030204" pitchFamily="34" charset="0"/>
              </a:rPr>
              <a:t>(</a:t>
            </a:r>
            <a:r>
              <a:rPr lang="en-US" altLang="en-US" sz="1800" b="1" dirty="0">
                <a:solidFill>
                  <a:srgbClr val="006699"/>
                </a:solidFill>
                <a:ea typeface="+mn-ea"/>
                <a:cs typeface="Calibri" panose="020F0502020204030204" pitchFamily="34" charset="0"/>
              </a:rPr>
              <a:t>HPC</a:t>
            </a:r>
            <a:r>
              <a:rPr lang="en-US" altLang="en-US" sz="1800" dirty="0">
                <a:ea typeface="+mn-ea"/>
                <a:cs typeface="Calibri" panose="020F0502020204030204" pitchFamily="34" charset="0"/>
              </a:rPr>
              <a:t>)</a:t>
            </a:r>
          </a:p>
          <a:p>
            <a:pPr lvl="2"/>
            <a:r>
              <a:rPr lang="en-US" altLang="en-US" sz="1600" dirty="0">
                <a:latin typeface="Calibri" panose="020F0502020204030204" pitchFamily="34" charset="0"/>
                <a:cs typeface="Calibri" panose="020F0502020204030204" pitchFamily="34" charset="0"/>
              </a:rPr>
              <a:t>Applications must be written to use </a:t>
            </a:r>
            <a:r>
              <a:rPr lang="en-US" altLang="en-US" sz="1600" b="1" dirty="0">
                <a:solidFill>
                  <a:srgbClr val="006699"/>
                </a:solidFill>
                <a:latin typeface="Calibri" panose="020F0502020204030204" pitchFamily="34" charset="0"/>
                <a:cs typeface="Calibri" panose="020F0502020204030204" pitchFamily="34" charset="0"/>
              </a:rPr>
              <a:t>parallelization</a:t>
            </a:r>
          </a:p>
          <a:p>
            <a:pPr lvl="1"/>
            <a:r>
              <a:rPr lang="en-US" altLang="en-US" sz="1800" dirty="0">
                <a:ea typeface="+mn-ea"/>
                <a:cs typeface="Calibri" panose="020F0502020204030204" pitchFamily="34" charset="0"/>
              </a:rPr>
              <a:t>Some have</a:t>
            </a:r>
            <a:r>
              <a:rPr lang="en-US" altLang="en-US" sz="1800" b="1" dirty="0">
                <a:solidFill>
                  <a:srgbClr val="3366FF"/>
                </a:solidFill>
                <a:ea typeface="+mn-ea"/>
                <a:cs typeface="Calibri" panose="020F0502020204030204" pitchFamily="34" charset="0"/>
              </a:rPr>
              <a:t> </a:t>
            </a:r>
            <a:r>
              <a:rPr lang="en-US" altLang="en-US" sz="1800" b="1" dirty="0">
                <a:solidFill>
                  <a:srgbClr val="006699"/>
                </a:solidFill>
                <a:ea typeface="+mn-ea"/>
                <a:cs typeface="Calibri" panose="020F0502020204030204" pitchFamily="34" charset="0"/>
              </a:rPr>
              <a:t>distributed lock manager </a:t>
            </a:r>
            <a:r>
              <a:rPr lang="en-US" altLang="en-US" sz="1800" dirty="0">
                <a:ea typeface="+mn-ea"/>
                <a:cs typeface="Calibri" panose="020F0502020204030204" pitchFamily="34" charset="0"/>
              </a:rPr>
              <a:t>(</a:t>
            </a:r>
            <a:r>
              <a:rPr lang="en-US" altLang="en-US" sz="1800" b="1" dirty="0">
                <a:solidFill>
                  <a:srgbClr val="006699"/>
                </a:solidFill>
                <a:ea typeface="+mn-ea"/>
                <a:cs typeface="Calibri" panose="020F0502020204030204" pitchFamily="34" charset="0"/>
              </a:rPr>
              <a:t>DLM</a:t>
            </a:r>
            <a:r>
              <a:rPr lang="en-US" altLang="en-US" sz="1800" dirty="0">
                <a:ea typeface="+mn-ea"/>
                <a:cs typeface="Calibri" panose="020F0502020204030204" pitchFamily="34" charset="0"/>
              </a:rPr>
              <a:t>) to avoid conflicting operations</a:t>
            </a:r>
          </a:p>
        </p:txBody>
      </p:sp>
      <p:sp>
        <p:nvSpPr>
          <p:cNvPr id="2" name="灯片编号占位符 1">
            <a:extLst>
              <a:ext uri="{FF2B5EF4-FFF2-40B4-BE49-F238E27FC236}">
                <a16:creationId xmlns:a16="http://schemas.microsoft.com/office/drawing/2014/main" id="{4F9777AC-751B-50EB-148C-EE7E7A628180}"/>
              </a:ext>
            </a:extLst>
          </p:cNvPr>
          <p:cNvSpPr>
            <a:spLocks noGrp="1"/>
          </p:cNvSpPr>
          <p:nvPr>
            <p:ph type="sldNum" sz="quarter" idx="10"/>
          </p:nvPr>
        </p:nvSpPr>
        <p:spPr/>
        <p:txBody>
          <a:bodyPr/>
          <a:lstStyle/>
          <a:p>
            <a:fld id="{D9B6BDF2-6896-4B98-8776-C18582F63BA5}" type="slidenum">
              <a:rPr lang="zh-TW" altLang="en-US" smtClean="0"/>
              <a:pPr/>
              <a:t>22</a:t>
            </a:fld>
            <a:endParaRPr lang="zh-TW" altLang="en-US"/>
          </a:p>
        </p:txBody>
      </p:sp>
    </p:spTree>
    <p:extLst>
      <p:ext uri="{BB962C8B-B14F-4D97-AF65-F5344CB8AC3E}">
        <p14:creationId xmlns:p14="http://schemas.microsoft.com/office/powerpoint/2010/main" val="936710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itle 1">
            <a:extLst>
              <a:ext uri="{FF2B5EF4-FFF2-40B4-BE49-F238E27FC236}">
                <a16:creationId xmlns:a16="http://schemas.microsoft.com/office/drawing/2014/main" id="{399C69F4-7B4D-4100-A321-7296749C9C1C}"/>
              </a:ext>
            </a:extLst>
          </p:cNvPr>
          <p:cNvSpPr>
            <a:spLocks noGrp="1" noChangeArrowheads="1"/>
          </p:cNvSpPr>
          <p:nvPr>
            <p:ph type="title" idx="4294967295"/>
          </p:nvPr>
        </p:nvSpPr>
        <p:spPr>
          <a:xfrm>
            <a:off x="933651" y="155972"/>
            <a:ext cx="6598243" cy="432197"/>
          </a:xfrm>
        </p:spPr>
        <p:txBody>
          <a:bodyPr/>
          <a:lstStyle/>
          <a:p>
            <a:r>
              <a:rPr lang="en-US" altLang="en-US" sz="3200" dirty="0"/>
              <a:t>Clustered Systems (2)</a:t>
            </a:r>
          </a:p>
        </p:txBody>
      </p:sp>
      <p:pic>
        <p:nvPicPr>
          <p:cNvPr id="57347" name="Picture 2">
            <a:extLst>
              <a:ext uri="{FF2B5EF4-FFF2-40B4-BE49-F238E27FC236}">
                <a16:creationId xmlns:a16="http://schemas.microsoft.com/office/drawing/2014/main" id="{372567EC-7590-4FE5-8D94-D772F81D0FD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71686" y="1347218"/>
            <a:ext cx="5450329" cy="27965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a:extLst>
              <a:ext uri="{FF2B5EF4-FFF2-40B4-BE49-F238E27FC236}">
                <a16:creationId xmlns:a16="http://schemas.microsoft.com/office/drawing/2014/main" id="{8D8B26F4-C4D6-9C1A-8137-22061B5F66BE}"/>
              </a:ext>
            </a:extLst>
          </p:cNvPr>
          <p:cNvSpPr>
            <a:spLocks noGrp="1"/>
          </p:cNvSpPr>
          <p:nvPr>
            <p:ph type="sldNum" sz="quarter" idx="10"/>
          </p:nvPr>
        </p:nvSpPr>
        <p:spPr/>
        <p:txBody>
          <a:bodyPr/>
          <a:lstStyle/>
          <a:p>
            <a:fld id="{D9B6BDF2-6896-4B98-8776-C18582F63BA5}" type="slidenum">
              <a:rPr lang="zh-TW" altLang="en-US" smtClean="0"/>
              <a:pPr/>
              <a:t>23</a:t>
            </a:fld>
            <a:endParaRPr lang="zh-TW" altLang="en-US"/>
          </a:p>
        </p:txBody>
      </p:sp>
    </p:spTree>
    <p:extLst>
      <p:ext uri="{BB962C8B-B14F-4D97-AF65-F5344CB8AC3E}">
        <p14:creationId xmlns:p14="http://schemas.microsoft.com/office/powerpoint/2010/main" val="6751997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a:extLst>
              <a:ext uri="{FF2B5EF4-FFF2-40B4-BE49-F238E27FC236}">
                <a16:creationId xmlns:a16="http://schemas.microsoft.com/office/drawing/2014/main" id="{80D2F35F-C53D-47E7-B577-3884591241BC}"/>
              </a:ext>
            </a:extLst>
          </p:cNvPr>
          <p:cNvSpPr>
            <a:spLocks noGrp="1" noChangeArrowheads="1"/>
          </p:cNvSpPr>
          <p:nvPr>
            <p:ph type="title"/>
          </p:nvPr>
        </p:nvSpPr>
        <p:spPr>
          <a:xfrm>
            <a:off x="895149" y="166688"/>
            <a:ext cx="6602217" cy="432197"/>
          </a:xfrm>
        </p:spPr>
        <p:txBody>
          <a:bodyPr/>
          <a:lstStyle/>
          <a:p>
            <a:r>
              <a:rPr lang="en-US" altLang="en-US" sz="3200" dirty="0"/>
              <a:t>PC Motherboard</a:t>
            </a:r>
          </a:p>
        </p:txBody>
      </p:sp>
      <p:pic>
        <p:nvPicPr>
          <p:cNvPr id="58371" name="Picture 5">
            <a:extLst>
              <a:ext uri="{FF2B5EF4-FFF2-40B4-BE49-F238E27FC236}">
                <a16:creationId xmlns:a16="http://schemas.microsoft.com/office/drawing/2014/main" id="{5878A734-D8F6-4F7D-8433-2C96A52E7C0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241501" y="847079"/>
            <a:ext cx="4746441" cy="3697528"/>
          </a:xfrm>
          <a:noFill/>
        </p:spPr>
      </p:pic>
      <p:sp>
        <p:nvSpPr>
          <p:cNvPr id="2" name="灯片编号占位符 1">
            <a:extLst>
              <a:ext uri="{FF2B5EF4-FFF2-40B4-BE49-F238E27FC236}">
                <a16:creationId xmlns:a16="http://schemas.microsoft.com/office/drawing/2014/main" id="{D6F17635-3778-6D9F-F3BF-F68E6FDD9DEB}"/>
              </a:ext>
            </a:extLst>
          </p:cNvPr>
          <p:cNvSpPr>
            <a:spLocks noGrp="1"/>
          </p:cNvSpPr>
          <p:nvPr>
            <p:ph type="sldNum" sz="quarter" idx="10"/>
          </p:nvPr>
        </p:nvSpPr>
        <p:spPr/>
        <p:txBody>
          <a:bodyPr/>
          <a:lstStyle/>
          <a:p>
            <a:fld id="{D9B6BDF2-6896-4B98-8776-C18582F63BA5}" type="slidenum">
              <a:rPr lang="zh-TW" altLang="en-US" smtClean="0"/>
              <a:pPr/>
              <a:t>24</a:t>
            </a:fld>
            <a:endParaRPr lang="zh-TW" altLang="en-US"/>
          </a:p>
        </p:txBody>
      </p:sp>
    </p:spTree>
    <p:extLst>
      <p:ext uri="{BB962C8B-B14F-4D97-AF65-F5344CB8AC3E}">
        <p14:creationId xmlns:p14="http://schemas.microsoft.com/office/powerpoint/2010/main" val="40306514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Title 1">
            <a:extLst>
              <a:ext uri="{FF2B5EF4-FFF2-40B4-BE49-F238E27FC236}">
                <a16:creationId xmlns:a16="http://schemas.microsoft.com/office/drawing/2014/main" id="{71B8082F-3362-4A0A-8D0E-FB22B1147508}"/>
              </a:ext>
            </a:extLst>
          </p:cNvPr>
          <p:cNvSpPr>
            <a:spLocks noGrp="1" noChangeArrowheads="1"/>
          </p:cNvSpPr>
          <p:nvPr>
            <p:ph type="title" idx="4294967295"/>
          </p:nvPr>
        </p:nvSpPr>
        <p:spPr>
          <a:xfrm>
            <a:off x="924025" y="128588"/>
            <a:ext cx="6952133" cy="466725"/>
          </a:xfrm>
        </p:spPr>
        <p:txBody>
          <a:bodyPr/>
          <a:lstStyle/>
          <a:p>
            <a:r>
              <a:rPr lang="en-US" altLang="en-US" sz="3200" dirty="0"/>
              <a:t>Computing Environments</a:t>
            </a:r>
          </a:p>
        </p:txBody>
      </p:sp>
      <p:sp>
        <p:nvSpPr>
          <p:cNvPr id="100355" name="Content Placeholder 2">
            <a:extLst>
              <a:ext uri="{FF2B5EF4-FFF2-40B4-BE49-F238E27FC236}">
                <a16:creationId xmlns:a16="http://schemas.microsoft.com/office/drawing/2014/main" id="{3405E8D5-FD1B-4039-BB1E-A9B3B0779F95}"/>
              </a:ext>
            </a:extLst>
          </p:cNvPr>
          <p:cNvSpPr>
            <a:spLocks noGrp="1" noChangeArrowheads="1"/>
          </p:cNvSpPr>
          <p:nvPr>
            <p:ph idx="4294967295"/>
          </p:nvPr>
        </p:nvSpPr>
        <p:spPr>
          <a:xfrm>
            <a:off x="1037629" y="916110"/>
            <a:ext cx="5979187" cy="2327604"/>
          </a:xfrm>
        </p:spPr>
        <p:txBody>
          <a:bodyPr/>
          <a:lstStyle/>
          <a:p>
            <a:r>
              <a:rPr lang="en-US" altLang="en-US" sz="2000" dirty="0">
                <a:cs typeface="Calibri" panose="020F0502020204030204" pitchFamily="34" charset="0"/>
              </a:rPr>
              <a:t>Traditional</a:t>
            </a:r>
          </a:p>
          <a:p>
            <a:r>
              <a:rPr lang="en-US" altLang="en-US" sz="2000" dirty="0">
                <a:cs typeface="Calibri" panose="020F0502020204030204" pitchFamily="34" charset="0"/>
              </a:rPr>
              <a:t>Mobile</a:t>
            </a:r>
          </a:p>
          <a:p>
            <a:r>
              <a:rPr lang="en-US" altLang="en-US" sz="2000" dirty="0">
                <a:cs typeface="Calibri" panose="020F0502020204030204" pitchFamily="34" charset="0"/>
              </a:rPr>
              <a:t>Client Server</a:t>
            </a:r>
          </a:p>
          <a:p>
            <a:r>
              <a:rPr lang="en-US" altLang="en-US" sz="2000" dirty="0">
                <a:cs typeface="Calibri" panose="020F0502020204030204" pitchFamily="34" charset="0"/>
              </a:rPr>
              <a:t>Peer-to-Peer</a:t>
            </a:r>
          </a:p>
          <a:p>
            <a:r>
              <a:rPr lang="en-US" altLang="en-US" sz="2000" dirty="0">
                <a:cs typeface="Calibri" panose="020F0502020204030204" pitchFamily="34" charset="0"/>
              </a:rPr>
              <a:t>Cloud computing</a:t>
            </a:r>
          </a:p>
          <a:p>
            <a:r>
              <a:rPr lang="en-US" altLang="en-US" sz="2000" dirty="0">
                <a:cs typeface="Calibri" panose="020F0502020204030204" pitchFamily="34" charset="0"/>
              </a:rPr>
              <a:t>Real-time Embedded</a:t>
            </a:r>
          </a:p>
        </p:txBody>
      </p:sp>
      <p:sp>
        <p:nvSpPr>
          <p:cNvPr id="2" name="灯片编号占位符 1">
            <a:extLst>
              <a:ext uri="{FF2B5EF4-FFF2-40B4-BE49-F238E27FC236}">
                <a16:creationId xmlns:a16="http://schemas.microsoft.com/office/drawing/2014/main" id="{E0F5CB42-7FD3-C366-A2CA-83645D2BDFA5}"/>
              </a:ext>
            </a:extLst>
          </p:cNvPr>
          <p:cNvSpPr>
            <a:spLocks noGrp="1"/>
          </p:cNvSpPr>
          <p:nvPr>
            <p:ph type="sldNum" sz="quarter" idx="10"/>
          </p:nvPr>
        </p:nvSpPr>
        <p:spPr/>
        <p:txBody>
          <a:bodyPr/>
          <a:lstStyle/>
          <a:p>
            <a:fld id="{D9B6BDF2-6896-4B98-8776-C18582F63BA5}" type="slidenum">
              <a:rPr lang="zh-TW" altLang="en-US" smtClean="0"/>
              <a:pPr/>
              <a:t>25</a:t>
            </a:fld>
            <a:endParaRPr lang="zh-TW" altLang="en-US"/>
          </a:p>
        </p:txBody>
      </p:sp>
    </p:spTree>
    <p:extLst>
      <p:ext uri="{BB962C8B-B14F-4D97-AF65-F5344CB8AC3E}">
        <p14:creationId xmlns:p14="http://schemas.microsoft.com/office/powerpoint/2010/main" val="4248804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Title 1">
            <a:extLst>
              <a:ext uri="{FF2B5EF4-FFF2-40B4-BE49-F238E27FC236}">
                <a16:creationId xmlns:a16="http://schemas.microsoft.com/office/drawing/2014/main" id="{71B8082F-3362-4A0A-8D0E-FB22B1147508}"/>
              </a:ext>
            </a:extLst>
          </p:cNvPr>
          <p:cNvSpPr>
            <a:spLocks noGrp="1" noChangeArrowheads="1"/>
          </p:cNvSpPr>
          <p:nvPr>
            <p:ph type="title" idx="4294967295"/>
          </p:nvPr>
        </p:nvSpPr>
        <p:spPr>
          <a:xfrm>
            <a:off x="875899" y="128588"/>
            <a:ext cx="7000259" cy="466725"/>
          </a:xfrm>
        </p:spPr>
        <p:txBody>
          <a:bodyPr/>
          <a:lstStyle/>
          <a:p>
            <a:r>
              <a:rPr lang="en-US" altLang="en-US" sz="3200" dirty="0"/>
              <a:t>Computing Environments - Traditional</a:t>
            </a:r>
          </a:p>
        </p:txBody>
      </p:sp>
      <p:sp>
        <p:nvSpPr>
          <p:cNvPr id="100355" name="Content Placeholder 2">
            <a:extLst>
              <a:ext uri="{FF2B5EF4-FFF2-40B4-BE49-F238E27FC236}">
                <a16:creationId xmlns:a16="http://schemas.microsoft.com/office/drawing/2014/main" id="{3405E8D5-FD1B-4039-BB1E-A9B3B0779F95}"/>
              </a:ext>
            </a:extLst>
          </p:cNvPr>
          <p:cNvSpPr>
            <a:spLocks noGrp="1" noChangeArrowheads="1"/>
          </p:cNvSpPr>
          <p:nvPr>
            <p:ph idx="4294967295"/>
          </p:nvPr>
        </p:nvSpPr>
        <p:spPr>
          <a:xfrm>
            <a:off x="952901" y="813391"/>
            <a:ext cx="7267074" cy="3065590"/>
          </a:xfrm>
        </p:spPr>
        <p:txBody>
          <a:bodyPr/>
          <a:lstStyle/>
          <a:p>
            <a:r>
              <a:rPr lang="en-US" altLang="en-US" sz="2000" dirty="0">
                <a:ea typeface="+mn-ea"/>
                <a:cs typeface="Calibri" panose="020F0502020204030204" pitchFamily="34" charset="0"/>
              </a:rPr>
              <a:t>Stand-alone general-purpose machines</a:t>
            </a:r>
          </a:p>
          <a:p>
            <a:r>
              <a:rPr lang="en-US" altLang="en-US" sz="2000" dirty="0">
                <a:ea typeface="+mn-ea"/>
                <a:cs typeface="Calibri" panose="020F0502020204030204" pitchFamily="34" charset="0"/>
              </a:rPr>
              <a:t>But blurred as most systems interconnect with others (i.e., the Internet)</a:t>
            </a:r>
          </a:p>
          <a:p>
            <a:r>
              <a:rPr lang="en-US" altLang="en-US" sz="2000" b="1" dirty="0">
                <a:solidFill>
                  <a:srgbClr val="006699"/>
                </a:solidFill>
                <a:ea typeface="+mn-ea"/>
                <a:cs typeface="Calibri" panose="020F0502020204030204" pitchFamily="34" charset="0"/>
              </a:rPr>
              <a:t>Portals</a:t>
            </a:r>
            <a:r>
              <a:rPr lang="en-US" altLang="en-US" sz="2000" dirty="0">
                <a:ea typeface="+mn-ea"/>
                <a:cs typeface="Calibri" panose="020F0502020204030204" pitchFamily="34" charset="0"/>
              </a:rPr>
              <a:t> provide web access to internal systems</a:t>
            </a:r>
          </a:p>
          <a:p>
            <a:r>
              <a:rPr lang="en-US" altLang="en-US" sz="2000" b="1" dirty="0">
                <a:solidFill>
                  <a:srgbClr val="006699"/>
                </a:solidFill>
                <a:ea typeface="+mn-ea"/>
                <a:cs typeface="Calibri" panose="020F0502020204030204" pitchFamily="34" charset="0"/>
              </a:rPr>
              <a:t>Network computers </a:t>
            </a:r>
            <a:r>
              <a:rPr lang="en-US" altLang="en-US" sz="2000" dirty="0">
                <a:ea typeface="+mn-ea"/>
                <a:cs typeface="Calibri" panose="020F0502020204030204" pitchFamily="34" charset="0"/>
              </a:rPr>
              <a:t>(</a:t>
            </a:r>
            <a:r>
              <a:rPr lang="en-US" altLang="en-US" sz="2000" b="1" dirty="0">
                <a:solidFill>
                  <a:srgbClr val="006699"/>
                </a:solidFill>
                <a:ea typeface="+mn-ea"/>
                <a:cs typeface="Calibri" panose="020F0502020204030204" pitchFamily="34" charset="0"/>
              </a:rPr>
              <a:t>thin clients</a:t>
            </a:r>
            <a:r>
              <a:rPr lang="en-US" altLang="en-US" sz="2000" dirty="0">
                <a:ea typeface="+mn-ea"/>
                <a:cs typeface="Calibri" panose="020F0502020204030204" pitchFamily="34" charset="0"/>
              </a:rPr>
              <a:t>) are like Web terminals</a:t>
            </a:r>
          </a:p>
          <a:p>
            <a:r>
              <a:rPr lang="en-US" altLang="en-US" sz="2000" dirty="0">
                <a:ea typeface="+mn-ea"/>
                <a:cs typeface="Calibri" panose="020F0502020204030204" pitchFamily="34" charset="0"/>
              </a:rPr>
              <a:t>Mobile computers interconnect via </a:t>
            </a:r>
            <a:r>
              <a:rPr lang="en-US" altLang="en-US" sz="2000" b="1" dirty="0">
                <a:solidFill>
                  <a:srgbClr val="006699"/>
                </a:solidFill>
                <a:ea typeface="+mn-ea"/>
                <a:cs typeface="Calibri" panose="020F0502020204030204" pitchFamily="34" charset="0"/>
              </a:rPr>
              <a:t>wireless networks</a:t>
            </a:r>
          </a:p>
          <a:p>
            <a:r>
              <a:rPr lang="en-US" altLang="en-US" sz="2000" dirty="0">
                <a:ea typeface="+mn-ea"/>
                <a:cs typeface="Calibri" panose="020F0502020204030204" pitchFamily="34" charset="0"/>
              </a:rPr>
              <a:t>Networking becoming ubiquitous – even home systems use </a:t>
            </a:r>
            <a:r>
              <a:rPr lang="en-US" altLang="en-US" sz="2000" b="1" dirty="0">
                <a:solidFill>
                  <a:srgbClr val="006699"/>
                </a:solidFill>
                <a:ea typeface="+mn-ea"/>
                <a:cs typeface="Calibri" panose="020F0502020204030204" pitchFamily="34" charset="0"/>
              </a:rPr>
              <a:t>firewalls</a:t>
            </a:r>
            <a:r>
              <a:rPr lang="en-US" altLang="en-US" sz="2000" dirty="0">
                <a:ea typeface="+mn-ea"/>
                <a:cs typeface="Calibri" panose="020F0502020204030204" pitchFamily="34" charset="0"/>
              </a:rPr>
              <a:t> to protect home computers from Internet attacks</a:t>
            </a:r>
          </a:p>
        </p:txBody>
      </p:sp>
      <p:sp>
        <p:nvSpPr>
          <p:cNvPr id="2" name="灯片编号占位符 1">
            <a:extLst>
              <a:ext uri="{FF2B5EF4-FFF2-40B4-BE49-F238E27FC236}">
                <a16:creationId xmlns:a16="http://schemas.microsoft.com/office/drawing/2014/main" id="{4BE0A546-5313-FFD7-7A2A-F1C1F52F6E40}"/>
              </a:ext>
            </a:extLst>
          </p:cNvPr>
          <p:cNvSpPr>
            <a:spLocks noGrp="1"/>
          </p:cNvSpPr>
          <p:nvPr>
            <p:ph type="sldNum" sz="quarter" idx="10"/>
          </p:nvPr>
        </p:nvSpPr>
        <p:spPr/>
        <p:txBody>
          <a:bodyPr/>
          <a:lstStyle/>
          <a:p>
            <a:fld id="{D9B6BDF2-6896-4B98-8776-C18582F63BA5}" type="slidenum">
              <a:rPr lang="zh-TW" altLang="en-US" smtClean="0"/>
              <a:pPr/>
              <a:t>26</a:t>
            </a:fld>
            <a:endParaRPr lang="zh-TW" altLang="en-US"/>
          </a:p>
        </p:txBody>
      </p:sp>
    </p:spTree>
    <p:extLst>
      <p:ext uri="{BB962C8B-B14F-4D97-AF65-F5344CB8AC3E}">
        <p14:creationId xmlns:p14="http://schemas.microsoft.com/office/powerpoint/2010/main" val="30171297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Title 1">
            <a:extLst>
              <a:ext uri="{FF2B5EF4-FFF2-40B4-BE49-F238E27FC236}">
                <a16:creationId xmlns:a16="http://schemas.microsoft.com/office/drawing/2014/main" id="{A1829908-11E3-4B1B-A3D2-0806808B690B}"/>
              </a:ext>
            </a:extLst>
          </p:cNvPr>
          <p:cNvSpPr>
            <a:spLocks noGrp="1" noChangeArrowheads="1"/>
          </p:cNvSpPr>
          <p:nvPr>
            <p:ph type="title" idx="4294967295"/>
          </p:nvPr>
        </p:nvSpPr>
        <p:spPr>
          <a:xfrm>
            <a:off x="895150" y="163116"/>
            <a:ext cx="7008220" cy="432197"/>
          </a:xfrm>
        </p:spPr>
        <p:txBody>
          <a:bodyPr/>
          <a:lstStyle/>
          <a:p>
            <a:r>
              <a:rPr lang="en-US" altLang="en-US" sz="3200" dirty="0"/>
              <a:t>Computing Environments - Mobile</a:t>
            </a:r>
          </a:p>
        </p:txBody>
      </p:sp>
      <p:sp>
        <p:nvSpPr>
          <p:cNvPr id="101379" name="Content Placeholder 2">
            <a:extLst>
              <a:ext uri="{FF2B5EF4-FFF2-40B4-BE49-F238E27FC236}">
                <a16:creationId xmlns:a16="http://schemas.microsoft.com/office/drawing/2014/main" id="{08F08BF4-93C5-4EF8-B50D-2C9206FFF051}"/>
              </a:ext>
            </a:extLst>
          </p:cNvPr>
          <p:cNvSpPr>
            <a:spLocks noGrp="1" noChangeArrowheads="1"/>
          </p:cNvSpPr>
          <p:nvPr>
            <p:ph idx="4294967295"/>
          </p:nvPr>
        </p:nvSpPr>
        <p:spPr>
          <a:xfrm>
            <a:off x="991402" y="904792"/>
            <a:ext cx="7411453" cy="2627679"/>
          </a:xfrm>
        </p:spPr>
        <p:txBody>
          <a:bodyPr/>
          <a:lstStyle/>
          <a:p>
            <a:r>
              <a:rPr lang="en-US" altLang="en-US" sz="2000" dirty="0">
                <a:ea typeface="+mn-ea"/>
                <a:cs typeface="Calibri" panose="020F0502020204030204" pitchFamily="34" charset="0"/>
              </a:rPr>
              <a:t>Handheld smartphones, tablets, etc.</a:t>
            </a:r>
          </a:p>
          <a:p>
            <a:r>
              <a:rPr lang="en-US" altLang="en-US" sz="2000" dirty="0">
                <a:ea typeface="+mn-ea"/>
                <a:cs typeface="Calibri" panose="020F0502020204030204" pitchFamily="34" charset="0"/>
              </a:rPr>
              <a:t>What is the functional difference between them and a “traditional” laptop?</a:t>
            </a:r>
          </a:p>
          <a:p>
            <a:r>
              <a:rPr lang="en-US" altLang="en-US" sz="2000" dirty="0">
                <a:ea typeface="+mn-ea"/>
                <a:cs typeface="Calibri" panose="020F0502020204030204" pitchFamily="34" charset="0"/>
              </a:rPr>
              <a:t>Extra feature – more OS features (GPS, gyroscope)</a:t>
            </a:r>
          </a:p>
          <a:p>
            <a:r>
              <a:rPr lang="en-US" altLang="en-US" sz="2000" dirty="0">
                <a:ea typeface="+mn-ea"/>
                <a:cs typeface="Calibri" panose="020F0502020204030204" pitchFamily="34" charset="0"/>
              </a:rPr>
              <a:t>Allows new types of apps like </a:t>
            </a:r>
            <a:r>
              <a:rPr lang="en-US" altLang="en-US" sz="2000" b="1" i="1" dirty="0">
                <a:ea typeface="+mn-ea"/>
                <a:cs typeface="Calibri" panose="020F0502020204030204" pitchFamily="34" charset="0"/>
              </a:rPr>
              <a:t>augmented reality</a:t>
            </a:r>
          </a:p>
          <a:p>
            <a:r>
              <a:rPr lang="en-US" altLang="en-US" sz="2000" dirty="0">
                <a:ea typeface="+mn-ea"/>
                <a:cs typeface="Calibri" panose="020F0502020204030204" pitchFamily="34" charset="0"/>
              </a:rPr>
              <a:t>Use IEEE 802.11 wireless, or cellular data networks for connectivity</a:t>
            </a:r>
          </a:p>
          <a:p>
            <a:r>
              <a:rPr lang="en-US" altLang="en-US" sz="2000" dirty="0">
                <a:ea typeface="+mn-ea"/>
                <a:cs typeface="Calibri" panose="020F0502020204030204" pitchFamily="34" charset="0"/>
              </a:rPr>
              <a:t>Leaders are </a:t>
            </a:r>
            <a:r>
              <a:rPr lang="en-US" altLang="en-US" sz="2000" b="1" dirty="0">
                <a:solidFill>
                  <a:srgbClr val="006699"/>
                </a:solidFill>
                <a:ea typeface="+mn-ea"/>
                <a:cs typeface="Calibri" panose="020F0502020204030204" pitchFamily="34" charset="0"/>
              </a:rPr>
              <a:t>Apple iOS </a:t>
            </a:r>
            <a:r>
              <a:rPr lang="en-US" altLang="en-US" sz="2000" dirty="0">
                <a:ea typeface="+mn-ea"/>
                <a:cs typeface="Calibri" panose="020F0502020204030204" pitchFamily="34" charset="0"/>
              </a:rPr>
              <a:t>and </a:t>
            </a:r>
            <a:r>
              <a:rPr lang="en-US" altLang="en-US" sz="2000" b="1" dirty="0">
                <a:solidFill>
                  <a:srgbClr val="006699"/>
                </a:solidFill>
                <a:ea typeface="+mn-ea"/>
                <a:cs typeface="Calibri" panose="020F0502020204030204" pitchFamily="34" charset="0"/>
              </a:rPr>
              <a:t>Google Android</a:t>
            </a:r>
          </a:p>
        </p:txBody>
      </p:sp>
      <p:sp>
        <p:nvSpPr>
          <p:cNvPr id="2" name="灯片编号占位符 1">
            <a:extLst>
              <a:ext uri="{FF2B5EF4-FFF2-40B4-BE49-F238E27FC236}">
                <a16:creationId xmlns:a16="http://schemas.microsoft.com/office/drawing/2014/main" id="{C436DC7D-AC6A-EACB-A231-450AF144B4F8}"/>
              </a:ext>
            </a:extLst>
          </p:cNvPr>
          <p:cNvSpPr>
            <a:spLocks noGrp="1"/>
          </p:cNvSpPr>
          <p:nvPr>
            <p:ph type="sldNum" sz="quarter" idx="10"/>
          </p:nvPr>
        </p:nvSpPr>
        <p:spPr/>
        <p:txBody>
          <a:bodyPr/>
          <a:lstStyle/>
          <a:p>
            <a:fld id="{D9B6BDF2-6896-4B98-8776-C18582F63BA5}" type="slidenum">
              <a:rPr lang="zh-TW" altLang="en-US" smtClean="0"/>
              <a:pPr/>
              <a:t>27</a:t>
            </a:fld>
            <a:endParaRPr lang="zh-TW"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a:extLst>
              <a:ext uri="{FF2B5EF4-FFF2-40B4-BE49-F238E27FC236}">
                <a16:creationId xmlns:a16="http://schemas.microsoft.com/office/drawing/2014/main" id="{7362B21A-8A5E-4F20-9A05-0BE89E8793A7}"/>
              </a:ext>
            </a:extLst>
          </p:cNvPr>
          <p:cNvSpPr>
            <a:spLocks noGrp="1" noChangeArrowheads="1"/>
          </p:cNvSpPr>
          <p:nvPr>
            <p:ph type="title" idx="4294967295"/>
          </p:nvPr>
        </p:nvSpPr>
        <p:spPr>
          <a:xfrm>
            <a:off x="885524" y="155972"/>
            <a:ext cx="7489733" cy="432197"/>
          </a:xfrm>
        </p:spPr>
        <p:txBody>
          <a:bodyPr/>
          <a:lstStyle/>
          <a:p>
            <a:pPr eaLnBrk="1" hangingPunct="1"/>
            <a:r>
              <a:rPr lang="en-US" altLang="en-US" sz="3200" dirty="0"/>
              <a:t>Computing Environments - Client Server</a:t>
            </a:r>
          </a:p>
        </p:txBody>
      </p:sp>
      <p:sp>
        <p:nvSpPr>
          <p:cNvPr id="102403" name="Rectangle 4">
            <a:extLst>
              <a:ext uri="{FF2B5EF4-FFF2-40B4-BE49-F238E27FC236}">
                <a16:creationId xmlns:a16="http://schemas.microsoft.com/office/drawing/2014/main" id="{CF60D9FD-B67C-4C64-ACD2-8A9A5FAEFAE5}"/>
              </a:ext>
            </a:extLst>
          </p:cNvPr>
          <p:cNvSpPr>
            <a:spLocks noChangeArrowheads="1"/>
          </p:cNvSpPr>
          <p:nvPr/>
        </p:nvSpPr>
        <p:spPr bwMode="auto">
          <a:xfrm>
            <a:off x="631179" y="820534"/>
            <a:ext cx="8124403" cy="1898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110000"/>
              <a:buFont typeface="Wingdings" panose="05000000000000000000" pitchFamily="2" charset="2"/>
              <a:buChar char="§"/>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110000"/>
              <a:buFont typeface="Arial" panose="020B0604020202020204" pitchFamily="34" charset="0"/>
              <a:buChar char="•"/>
              <a:defRPr kumimoji="1">
                <a:solidFill>
                  <a:schemeClr val="tx1"/>
                </a:solidFill>
                <a:latin typeface="Helvetica" panose="020B0604020202020204" pitchFamily="34" charset="0"/>
                <a:ea typeface="MS PGothic" panose="020B0600070205080204" pitchFamily="34" charset="-128"/>
              </a:defRPr>
            </a:lvl2pPr>
            <a:lvl3pPr marL="108585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lnSpc>
                <a:spcPct val="90000"/>
              </a:lnSpc>
              <a:buSzPct val="80000"/>
            </a:pPr>
            <a:r>
              <a:rPr lang="en-US" altLang="en-US" sz="2000" dirty="0">
                <a:latin typeface="Calibri" panose="020F0502020204030204" pitchFamily="34" charset="0"/>
                <a:ea typeface="+mn-ea"/>
                <a:cs typeface="Calibri" panose="020F0502020204030204" pitchFamily="34" charset="0"/>
              </a:rPr>
              <a:t>Dumb terminals supplanted by smart PCs</a:t>
            </a:r>
          </a:p>
          <a:p>
            <a:pPr>
              <a:lnSpc>
                <a:spcPct val="90000"/>
              </a:lnSpc>
              <a:buSzPct val="80000"/>
            </a:pPr>
            <a:r>
              <a:rPr lang="en-US" altLang="en-US" sz="2000" dirty="0">
                <a:latin typeface="Calibri" panose="020F0502020204030204" pitchFamily="34" charset="0"/>
                <a:ea typeface="+mn-ea"/>
                <a:cs typeface="Calibri" panose="020F0502020204030204" pitchFamily="34" charset="0"/>
              </a:rPr>
              <a:t>Many systems now </a:t>
            </a:r>
            <a:r>
              <a:rPr lang="en-US" altLang="en-US" sz="2000" b="1" dirty="0">
                <a:solidFill>
                  <a:srgbClr val="006699"/>
                </a:solidFill>
                <a:latin typeface="Calibri" panose="020F0502020204030204" pitchFamily="34" charset="0"/>
                <a:ea typeface="+mn-ea"/>
                <a:cs typeface="Calibri" panose="020F0502020204030204" pitchFamily="34" charset="0"/>
              </a:rPr>
              <a:t>servers</a:t>
            </a:r>
            <a:r>
              <a:rPr lang="en-US" altLang="en-US" sz="2000" dirty="0">
                <a:latin typeface="Calibri" panose="020F0502020204030204" pitchFamily="34" charset="0"/>
                <a:ea typeface="+mn-ea"/>
                <a:cs typeface="Calibri" panose="020F0502020204030204" pitchFamily="34" charset="0"/>
              </a:rPr>
              <a:t>, responding to requests generated by </a:t>
            </a:r>
            <a:r>
              <a:rPr lang="en-US" altLang="en-US" sz="2000" b="1" dirty="0">
                <a:solidFill>
                  <a:srgbClr val="006699"/>
                </a:solidFill>
                <a:latin typeface="Calibri" panose="020F0502020204030204" pitchFamily="34" charset="0"/>
                <a:ea typeface="+mn-ea"/>
                <a:cs typeface="Calibri" panose="020F0502020204030204" pitchFamily="34" charset="0"/>
              </a:rPr>
              <a:t>clients</a:t>
            </a:r>
          </a:p>
          <a:p>
            <a:pPr lvl="1">
              <a:lnSpc>
                <a:spcPct val="90000"/>
              </a:lnSpc>
            </a:pPr>
            <a:r>
              <a:rPr lang="en-US" altLang="en-US" b="1" dirty="0">
                <a:solidFill>
                  <a:srgbClr val="006699"/>
                </a:solidFill>
                <a:latin typeface="Calibri" panose="020F0502020204030204" pitchFamily="34" charset="0"/>
                <a:ea typeface="+mn-ea"/>
                <a:cs typeface="Calibri" panose="020F0502020204030204" pitchFamily="34" charset="0"/>
              </a:rPr>
              <a:t>Compute-server system </a:t>
            </a:r>
            <a:r>
              <a:rPr lang="en-US" altLang="en-US" dirty="0">
                <a:latin typeface="Calibri" panose="020F0502020204030204" pitchFamily="34" charset="0"/>
                <a:ea typeface="+mn-ea"/>
                <a:cs typeface="Calibri" panose="020F0502020204030204" pitchFamily="34" charset="0"/>
              </a:rPr>
              <a:t>provides an interface to client to request services (i.e., database)</a:t>
            </a:r>
          </a:p>
          <a:p>
            <a:pPr lvl="1">
              <a:lnSpc>
                <a:spcPct val="90000"/>
              </a:lnSpc>
            </a:pPr>
            <a:r>
              <a:rPr lang="en-US" altLang="en-US" b="1" dirty="0">
                <a:solidFill>
                  <a:srgbClr val="006699"/>
                </a:solidFill>
                <a:latin typeface="Calibri" panose="020F0502020204030204" pitchFamily="34" charset="0"/>
                <a:ea typeface="+mn-ea"/>
                <a:cs typeface="Calibri" panose="020F0502020204030204" pitchFamily="34" charset="0"/>
              </a:rPr>
              <a:t>File-server system </a:t>
            </a:r>
            <a:r>
              <a:rPr lang="en-US" altLang="en-US" dirty="0">
                <a:latin typeface="Calibri" panose="020F0502020204030204" pitchFamily="34" charset="0"/>
                <a:ea typeface="+mn-ea"/>
                <a:cs typeface="Calibri" panose="020F0502020204030204" pitchFamily="34" charset="0"/>
              </a:rPr>
              <a:t>provides interface for clients to store and retrieve files</a:t>
            </a:r>
          </a:p>
        </p:txBody>
      </p:sp>
      <p:pic>
        <p:nvPicPr>
          <p:cNvPr id="102404" name="Picture 1" descr="1_18.pdf">
            <a:extLst>
              <a:ext uri="{FF2B5EF4-FFF2-40B4-BE49-F238E27FC236}">
                <a16:creationId xmlns:a16="http://schemas.microsoft.com/office/drawing/2014/main" id="{3F572163-5430-4601-AD15-704330FF5D3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411427" y="2632412"/>
            <a:ext cx="4280394" cy="18616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a:extLst>
              <a:ext uri="{FF2B5EF4-FFF2-40B4-BE49-F238E27FC236}">
                <a16:creationId xmlns:a16="http://schemas.microsoft.com/office/drawing/2014/main" id="{03F515F4-E10D-C676-0068-0A7F15B77773}"/>
              </a:ext>
            </a:extLst>
          </p:cNvPr>
          <p:cNvSpPr>
            <a:spLocks noGrp="1"/>
          </p:cNvSpPr>
          <p:nvPr>
            <p:ph type="sldNum" sz="quarter" idx="10"/>
          </p:nvPr>
        </p:nvSpPr>
        <p:spPr/>
        <p:txBody>
          <a:bodyPr/>
          <a:lstStyle/>
          <a:p>
            <a:fld id="{D9B6BDF2-6896-4B98-8776-C18582F63BA5}" type="slidenum">
              <a:rPr lang="zh-TW" altLang="en-US" smtClean="0"/>
              <a:pPr/>
              <a:t>28</a:t>
            </a:fld>
            <a:endParaRPr lang="zh-TW"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a:extLst>
              <a:ext uri="{FF2B5EF4-FFF2-40B4-BE49-F238E27FC236}">
                <a16:creationId xmlns:a16="http://schemas.microsoft.com/office/drawing/2014/main" id="{BB647B75-B333-4E93-8EF1-19CAA860382B}"/>
              </a:ext>
            </a:extLst>
          </p:cNvPr>
          <p:cNvSpPr>
            <a:spLocks noGrp="1" noChangeArrowheads="1"/>
          </p:cNvSpPr>
          <p:nvPr>
            <p:ph type="title" idx="4294967295"/>
          </p:nvPr>
        </p:nvSpPr>
        <p:spPr>
          <a:xfrm>
            <a:off x="875900" y="159544"/>
            <a:ext cx="7709750" cy="432197"/>
          </a:xfrm>
        </p:spPr>
        <p:txBody>
          <a:bodyPr/>
          <a:lstStyle/>
          <a:p>
            <a:pPr eaLnBrk="1" hangingPunct="1"/>
            <a:r>
              <a:rPr lang="en-US" altLang="en-US" sz="3200" dirty="0"/>
              <a:t>Computing Environments - Peer-to-Peer</a:t>
            </a:r>
          </a:p>
        </p:txBody>
      </p:sp>
      <p:sp>
        <p:nvSpPr>
          <p:cNvPr id="104451" name="Rectangle 3">
            <a:extLst>
              <a:ext uri="{FF2B5EF4-FFF2-40B4-BE49-F238E27FC236}">
                <a16:creationId xmlns:a16="http://schemas.microsoft.com/office/drawing/2014/main" id="{7366DDF6-F84D-4FDE-9942-CC6839DC10B1}"/>
              </a:ext>
            </a:extLst>
          </p:cNvPr>
          <p:cNvSpPr>
            <a:spLocks noGrp="1" noChangeArrowheads="1"/>
          </p:cNvSpPr>
          <p:nvPr>
            <p:ph type="body" idx="4294967295"/>
          </p:nvPr>
        </p:nvSpPr>
        <p:spPr>
          <a:xfrm>
            <a:off x="875900" y="972502"/>
            <a:ext cx="7806854" cy="2838848"/>
          </a:xfrm>
        </p:spPr>
        <p:txBody>
          <a:bodyPr/>
          <a:lstStyle/>
          <a:p>
            <a:pPr>
              <a:spcBef>
                <a:spcPts val="600"/>
              </a:spcBef>
            </a:pPr>
            <a:r>
              <a:rPr lang="en-US" altLang="en-US" sz="2000" dirty="0">
                <a:ea typeface="+mn-ea"/>
                <a:cs typeface="Calibri" panose="020F0502020204030204" pitchFamily="34" charset="0"/>
              </a:rPr>
              <a:t>P2P does not distinguish clients and servers</a:t>
            </a:r>
          </a:p>
          <a:p>
            <a:pPr lvl="1">
              <a:spcBef>
                <a:spcPts val="600"/>
              </a:spcBef>
            </a:pPr>
            <a:r>
              <a:rPr lang="en-US" altLang="en-US" sz="1800" dirty="0">
                <a:ea typeface="+mn-ea"/>
                <a:cs typeface="Calibri" panose="020F0502020204030204" pitchFamily="34" charset="0"/>
              </a:rPr>
              <a:t>Instead all nodes are considered peers</a:t>
            </a:r>
          </a:p>
          <a:p>
            <a:pPr lvl="1">
              <a:spcBef>
                <a:spcPts val="600"/>
              </a:spcBef>
            </a:pPr>
            <a:r>
              <a:rPr lang="en-US" altLang="en-US" sz="1800" dirty="0">
                <a:ea typeface="+mn-ea"/>
                <a:cs typeface="Calibri" panose="020F0502020204030204" pitchFamily="34" charset="0"/>
              </a:rPr>
              <a:t>May each act as client, server or both</a:t>
            </a:r>
          </a:p>
          <a:p>
            <a:pPr lvl="1">
              <a:spcBef>
                <a:spcPts val="600"/>
              </a:spcBef>
            </a:pPr>
            <a:r>
              <a:rPr lang="en-US" altLang="en-US" sz="1800" dirty="0">
                <a:ea typeface="+mn-ea"/>
                <a:cs typeface="Calibri" panose="020F0502020204030204" pitchFamily="34" charset="0"/>
              </a:rPr>
              <a:t>Node must join P2P network</a:t>
            </a:r>
          </a:p>
          <a:p>
            <a:pPr lvl="2">
              <a:spcBef>
                <a:spcPts val="600"/>
              </a:spcBef>
            </a:pPr>
            <a:r>
              <a:rPr lang="en-US" altLang="en-US" sz="1600" dirty="0">
                <a:latin typeface="Calibri" panose="020F0502020204030204" pitchFamily="34" charset="0"/>
                <a:cs typeface="Calibri" panose="020F0502020204030204" pitchFamily="34" charset="0"/>
              </a:rPr>
              <a:t>Registers its service with central lookup service on network, or</a:t>
            </a:r>
          </a:p>
          <a:p>
            <a:pPr lvl="2">
              <a:spcBef>
                <a:spcPts val="600"/>
              </a:spcBef>
            </a:pPr>
            <a:r>
              <a:rPr lang="en-US" altLang="en-US" sz="1600" dirty="0">
                <a:latin typeface="Calibri" panose="020F0502020204030204" pitchFamily="34" charset="0"/>
                <a:cs typeface="Calibri" panose="020F0502020204030204" pitchFamily="34" charset="0"/>
              </a:rPr>
              <a:t>Broadcast request for service and respond to requests for service via </a:t>
            </a:r>
            <a:r>
              <a:rPr lang="en-US" altLang="en-US" sz="1600" b="1" i="1" dirty="0">
                <a:latin typeface="Calibri" panose="020F0502020204030204" pitchFamily="34" charset="0"/>
                <a:cs typeface="Calibri" panose="020F0502020204030204" pitchFamily="34" charset="0"/>
              </a:rPr>
              <a:t>discovery protocol</a:t>
            </a:r>
          </a:p>
          <a:p>
            <a:pPr lvl="1">
              <a:spcBef>
                <a:spcPts val="600"/>
              </a:spcBef>
            </a:pPr>
            <a:r>
              <a:rPr lang="en-US" altLang="en-US" sz="1800" dirty="0">
                <a:ea typeface="+mn-ea"/>
                <a:cs typeface="Calibri" panose="020F0502020204030204" pitchFamily="34" charset="0"/>
              </a:rPr>
              <a:t>Examples include</a:t>
            </a:r>
            <a:r>
              <a:rPr lang="en-US" altLang="en-US" sz="1800" i="1" dirty="0">
                <a:ea typeface="+mn-ea"/>
                <a:cs typeface="Calibri" panose="020F0502020204030204" pitchFamily="34" charset="0"/>
              </a:rPr>
              <a:t> </a:t>
            </a:r>
            <a:r>
              <a:rPr lang="en-US" altLang="en-US" sz="1800" dirty="0">
                <a:ea typeface="+mn-ea"/>
                <a:cs typeface="Calibri" panose="020F0502020204030204" pitchFamily="34" charset="0"/>
              </a:rPr>
              <a:t>Napster</a:t>
            </a:r>
            <a:r>
              <a:rPr lang="en-US" altLang="en-US" sz="1800" i="1" dirty="0">
                <a:ea typeface="+mn-ea"/>
                <a:cs typeface="Calibri" panose="020F0502020204030204" pitchFamily="34" charset="0"/>
              </a:rPr>
              <a:t> </a:t>
            </a:r>
            <a:r>
              <a:rPr lang="en-US" altLang="en-US" sz="1800" dirty="0">
                <a:ea typeface="+mn-ea"/>
                <a:cs typeface="Calibri" panose="020F0502020204030204" pitchFamily="34" charset="0"/>
              </a:rPr>
              <a:t>and</a:t>
            </a:r>
            <a:r>
              <a:rPr lang="en-US" altLang="en-US" sz="1800" i="1" dirty="0">
                <a:ea typeface="+mn-ea"/>
                <a:cs typeface="Calibri" panose="020F0502020204030204" pitchFamily="34" charset="0"/>
              </a:rPr>
              <a:t> </a:t>
            </a:r>
            <a:r>
              <a:rPr lang="en-US" altLang="en-US" sz="1800" dirty="0">
                <a:ea typeface="+mn-ea"/>
                <a:cs typeface="Calibri" panose="020F0502020204030204" pitchFamily="34" charset="0"/>
              </a:rPr>
              <a:t>Gnutella</a:t>
            </a:r>
            <a:r>
              <a:rPr lang="en-US" altLang="en-US" sz="1800" i="1" dirty="0">
                <a:ea typeface="+mn-ea"/>
                <a:cs typeface="Calibri" panose="020F0502020204030204" pitchFamily="34" charset="0"/>
              </a:rPr>
              <a:t>, </a:t>
            </a:r>
            <a:r>
              <a:rPr lang="en-US" altLang="en-US" sz="1800" b="1" kern="1200" dirty="0">
                <a:solidFill>
                  <a:srgbClr val="006699"/>
                </a:solidFill>
                <a:ea typeface="+mn-ea"/>
                <a:cs typeface="Calibri" panose="020F0502020204030204" pitchFamily="34" charset="0"/>
              </a:rPr>
              <a:t>Voice over IP </a:t>
            </a:r>
            <a:r>
              <a:rPr lang="en-US" altLang="en-US" sz="1800" dirty="0">
                <a:ea typeface="+mn-ea"/>
                <a:cs typeface="Calibri" panose="020F0502020204030204" pitchFamily="34" charset="0"/>
              </a:rPr>
              <a:t>(</a:t>
            </a:r>
            <a:r>
              <a:rPr lang="en-US" altLang="en-US" sz="1800" b="1" kern="1200" dirty="0">
                <a:solidFill>
                  <a:srgbClr val="006699"/>
                </a:solidFill>
                <a:ea typeface="+mn-ea"/>
                <a:cs typeface="Calibri" panose="020F0502020204030204" pitchFamily="34" charset="0"/>
              </a:rPr>
              <a:t>VoIP</a:t>
            </a:r>
            <a:r>
              <a:rPr lang="en-US" altLang="en-US" sz="1800" dirty="0">
                <a:ea typeface="+mn-ea"/>
                <a:cs typeface="Calibri" panose="020F0502020204030204" pitchFamily="34" charset="0"/>
              </a:rPr>
              <a:t>)</a:t>
            </a:r>
            <a:r>
              <a:rPr lang="en-US" altLang="en-US" sz="1800" i="1" dirty="0">
                <a:ea typeface="+mn-ea"/>
                <a:cs typeface="Calibri" panose="020F0502020204030204" pitchFamily="34" charset="0"/>
              </a:rPr>
              <a:t> </a:t>
            </a:r>
            <a:r>
              <a:rPr lang="en-US" altLang="en-US" sz="1800" dirty="0">
                <a:ea typeface="+mn-ea"/>
                <a:cs typeface="Calibri" panose="020F0502020204030204" pitchFamily="34" charset="0"/>
              </a:rPr>
              <a:t>such as Skype </a:t>
            </a:r>
          </a:p>
        </p:txBody>
      </p:sp>
      <p:pic>
        <p:nvPicPr>
          <p:cNvPr id="104452" name="Picture 1" descr="1_19.pdf">
            <a:extLst>
              <a:ext uri="{FF2B5EF4-FFF2-40B4-BE49-F238E27FC236}">
                <a16:creationId xmlns:a16="http://schemas.microsoft.com/office/drawing/2014/main" id="{E2A18885-21B9-47B4-84C9-50C4EA2B2CD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963173" y="871497"/>
            <a:ext cx="2001440" cy="1520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a:extLst>
              <a:ext uri="{FF2B5EF4-FFF2-40B4-BE49-F238E27FC236}">
                <a16:creationId xmlns:a16="http://schemas.microsoft.com/office/drawing/2014/main" id="{E8778F97-6D67-D1EE-278F-39E7D354FFDD}"/>
              </a:ext>
            </a:extLst>
          </p:cNvPr>
          <p:cNvSpPr>
            <a:spLocks noGrp="1"/>
          </p:cNvSpPr>
          <p:nvPr>
            <p:ph type="sldNum" sz="quarter" idx="10"/>
          </p:nvPr>
        </p:nvSpPr>
        <p:spPr/>
        <p:txBody>
          <a:bodyPr/>
          <a:lstStyle/>
          <a:p>
            <a:fld id="{D9B6BDF2-6896-4B98-8776-C18582F63BA5}" type="slidenum">
              <a:rPr lang="zh-TW" altLang="en-US" smtClean="0"/>
              <a:pPr/>
              <a:t>29</a:t>
            </a:fld>
            <a:endParaRPr lang="zh-TW"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a:extLst>
              <a:ext uri="{FF2B5EF4-FFF2-40B4-BE49-F238E27FC236}">
                <a16:creationId xmlns:a16="http://schemas.microsoft.com/office/drawing/2014/main" id="{241386D3-7914-4E0D-BD20-DCD46A75AE38}"/>
              </a:ext>
            </a:extLst>
          </p:cNvPr>
          <p:cNvSpPr>
            <a:spLocks noGrp="1" noChangeArrowheads="1"/>
          </p:cNvSpPr>
          <p:nvPr>
            <p:ph type="title" idx="4294967295"/>
          </p:nvPr>
        </p:nvSpPr>
        <p:spPr>
          <a:xfrm>
            <a:off x="895149" y="148828"/>
            <a:ext cx="8069463" cy="432197"/>
          </a:xfrm>
        </p:spPr>
        <p:txBody>
          <a:bodyPr/>
          <a:lstStyle/>
          <a:p>
            <a:pPr eaLnBrk="1" hangingPunct="1"/>
            <a:r>
              <a:rPr lang="en-US" altLang="en-US" sz="3000" dirty="0"/>
              <a:t>Computing Environments - Cloud Computing (1)</a:t>
            </a:r>
          </a:p>
        </p:txBody>
      </p:sp>
      <p:sp>
        <p:nvSpPr>
          <p:cNvPr id="106499" name="Rectangle 3">
            <a:extLst>
              <a:ext uri="{FF2B5EF4-FFF2-40B4-BE49-F238E27FC236}">
                <a16:creationId xmlns:a16="http://schemas.microsoft.com/office/drawing/2014/main" id="{63BBC9B6-44FC-4182-AE85-87D204920BBC}"/>
              </a:ext>
            </a:extLst>
          </p:cNvPr>
          <p:cNvSpPr>
            <a:spLocks noGrp="1" noChangeArrowheads="1"/>
          </p:cNvSpPr>
          <p:nvPr>
            <p:ph type="body" idx="4294967295"/>
          </p:nvPr>
        </p:nvSpPr>
        <p:spPr>
          <a:xfrm>
            <a:off x="981777" y="837400"/>
            <a:ext cx="7372951" cy="2003146"/>
          </a:xfrm>
        </p:spPr>
        <p:txBody>
          <a:bodyPr/>
          <a:lstStyle/>
          <a:p>
            <a:r>
              <a:rPr lang="en-US" altLang="en-US" sz="2000" dirty="0">
                <a:ea typeface="+mn-ea"/>
                <a:cs typeface="Calibri" panose="020F0502020204030204" pitchFamily="34" charset="0"/>
              </a:rPr>
              <a:t>Delivers computing, storage, even apps as a service across a network</a:t>
            </a:r>
          </a:p>
          <a:p>
            <a:r>
              <a:rPr lang="en-US" altLang="en-US" sz="2000" dirty="0">
                <a:ea typeface="+mn-ea"/>
                <a:cs typeface="Calibri" panose="020F0502020204030204" pitchFamily="34" charset="0"/>
              </a:rPr>
              <a:t>Logical extension of virtualization because it uses virtualization as the base for it functionality.</a:t>
            </a:r>
          </a:p>
          <a:p>
            <a:pPr lvl="1"/>
            <a:r>
              <a:rPr lang="en-US" altLang="en-US" sz="1800" dirty="0">
                <a:ea typeface="+mn-ea"/>
                <a:cs typeface="Calibri" panose="020F0502020204030204" pitchFamily="34" charset="0"/>
              </a:rPr>
              <a:t>Amazon </a:t>
            </a:r>
            <a:r>
              <a:rPr lang="en-US" altLang="en-US" sz="1800" b="1" kern="1200" dirty="0">
                <a:solidFill>
                  <a:srgbClr val="006699"/>
                </a:solidFill>
                <a:ea typeface="+mn-ea"/>
                <a:cs typeface="Calibri" panose="020F0502020204030204" pitchFamily="34" charset="0"/>
              </a:rPr>
              <a:t>EC2</a:t>
            </a:r>
            <a:r>
              <a:rPr lang="en-US" altLang="en-US" sz="1800" dirty="0">
                <a:ea typeface="+mn-ea"/>
                <a:cs typeface="Calibri" panose="020F0502020204030204" pitchFamily="34" charset="0"/>
              </a:rPr>
              <a:t>  has thousands of servers, millions of virtual machines, petabytes of storage available across the Internet, pay based on usage</a:t>
            </a:r>
          </a:p>
        </p:txBody>
      </p:sp>
      <p:sp>
        <p:nvSpPr>
          <p:cNvPr id="2" name="灯片编号占位符 1">
            <a:extLst>
              <a:ext uri="{FF2B5EF4-FFF2-40B4-BE49-F238E27FC236}">
                <a16:creationId xmlns:a16="http://schemas.microsoft.com/office/drawing/2014/main" id="{384C24B8-BF79-D0D5-6124-54F46185F844}"/>
              </a:ext>
            </a:extLst>
          </p:cNvPr>
          <p:cNvSpPr>
            <a:spLocks noGrp="1"/>
          </p:cNvSpPr>
          <p:nvPr>
            <p:ph type="sldNum" sz="quarter" idx="10"/>
          </p:nvPr>
        </p:nvSpPr>
        <p:spPr/>
        <p:txBody>
          <a:bodyPr/>
          <a:lstStyle/>
          <a:p>
            <a:fld id="{D9B6BDF2-6896-4B98-8776-C18582F63BA5}" type="slidenum">
              <a:rPr lang="zh-TW" altLang="en-US" smtClean="0"/>
              <a:pPr/>
              <a:t>30</a:t>
            </a:fld>
            <a:endParaRPr lang="zh-TW"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a:extLst>
              <a:ext uri="{FF2B5EF4-FFF2-40B4-BE49-F238E27FC236}">
                <a16:creationId xmlns:a16="http://schemas.microsoft.com/office/drawing/2014/main" id="{241386D3-7914-4E0D-BD20-DCD46A75AE38}"/>
              </a:ext>
            </a:extLst>
          </p:cNvPr>
          <p:cNvSpPr>
            <a:spLocks noGrp="1" noChangeArrowheads="1"/>
          </p:cNvSpPr>
          <p:nvPr>
            <p:ph type="title" idx="4294967295"/>
          </p:nvPr>
        </p:nvSpPr>
        <p:spPr>
          <a:xfrm>
            <a:off x="885524" y="148828"/>
            <a:ext cx="8079089" cy="432197"/>
          </a:xfrm>
        </p:spPr>
        <p:txBody>
          <a:bodyPr/>
          <a:lstStyle/>
          <a:p>
            <a:pPr eaLnBrk="1" hangingPunct="1"/>
            <a:r>
              <a:rPr lang="en-US" altLang="en-US" sz="3000" dirty="0"/>
              <a:t>Computing Environments - Cloud Computing (2)</a:t>
            </a:r>
          </a:p>
        </p:txBody>
      </p:sp>
      <p:sp>
        <p:nvSpPr>
          <p:cNvPr id="106499" name="Rectangle 3">
            <a:extLst>
              <a:ext uri="{FF2B5EF4-FFF2-40B4-BE49-F238E27FC236}">
                <a16:creationId xmlns:a16="http://schemas.microsoft.com/office/drawing/2014/main" id="{63BBC9B6-44FC-4182-AE85-87D204920BBC}"/>
              </a:ext>
            </a:extLst>
          </p:cNvPr>
          <p:cNvSpPr>
            <a:spLocks noGrp="1" noChangeArrowheads="1"/>
          </p:cNvSpPr>
          <p:nvPr>
            <p:ph type="body" idx="4294967295"/>
          </p:nvPr>
        </p:nvSpPr>
        <p:spPr>
          <a:xfrm>
            <a:off x="962526" y="833840"/>
            <a:ext cx="7218947" cy="3237647"/>
          </a:xfrm>
        </p:spPr>
        <p:txBody>
          <a:bodyPr/>
          <a:lstStyle/>
          <a:p>
            <a:r>
              <a:rPr lang="en-US" altLang="en-US" sz="2000" dirty="0">
                <a:cs typeface="Calibri" panose="020F0502020204030204" pitchFamily="34" charset="0"/>
              </a:rPr>
              <a:t>Many types</a:t>
            </a:r>
          </a:p>
          <a:p>
            <a:pPr lvl="1"/>
            <a:r>
              <a:rPr lang="en-US" altLang="en-US" sz="1800" b="1" kern="1200" dirty="0">
                <a:solidFill>
                  <a:srgbClr val="006699"/>
                </a:solidFill>
                <a:cs typeface="Calibri" panose="020F0502020204030204" pitchFamily="34" charset="0"/>
              </a:rPr>
              <a:t>Public cloud </a:t>
            </a:r>
            <a:r>
              <a:rPr lang="en-US" altLang="en-US" sz="1800" dirty="0">
                <a:cs typeface="Calibri" panose="020F0502020204030204" pitchFamily="34" charset="0"/>
              </a:rPr>
              <a:t>– available via Internet to anyone willing to pay</a:t>
            </a:r>
          </a:p>
          <a:p>
            <a:pPr lvl="1"/>
            <a:r>
              <a:rPr lang="en-US" altLang="en-US" sz="1800" b="1" kern="1200" dirty="0">
                <a:solidFill>
                  <a:srgbClr val="006699"/>
                </a:solidFill>
                <a:cs typeface="Calibri" panose="020F0502020204030204" pitchFamily="34" charset="0"/>
              </a:rPr>
              <a:t>Private cloud </a:t>
            </a:r>
            <a:r>
              <a:rPr lang="en-US" altLang="en-US" sz="1800" dirty="0">
                <a:cs typeface="Calibri" panose="020F0502020204030204" pitchFamily="34" charset="0"/>
              </a:rPr>
              <a:t>– run by a company for the company’s own use</a:t>
            </a:r>
          </a:p>
          <a:p>
            <a:pPr lvl="1"/>
            <a:r>
              <a:rPr lang="en-US" altLang="en-US" sz="1800" b="1" kern="1200" dirty="0">
                <a:solidFill>
                  <a:srgbClr val="006699"/>
                </a:solidFill>
                <a:cs typeface="Calibri" panose="020F0502020204030204" pitchFamily="34" charset="0"/>
              </a:rPr>
              <a:t>Hybrid cloud </a:t>
            </a:r>
            <a:r>
              <a:rPr lang="en-US" altLang="en-US" sz="1800" dirty="0">
                <a:cs typeface="Calibri" panose="020F0502020204030204" pitchFamily="34" charset="0"/>
              </a:rPr>
              <a:t>– includes both public and private cloud components</a:t>
            </a:r>
          </a:p>
          <a:p>
            <a:pPr lvl="1"/>
            <a:r>
              <a:rPr lang="en-US" altLang="en-US" sz="1800" dirty="0">
                <a:cs typeface="Calibri" panose="020F0502020204030204" pitchFamily="34" charset="0"/>
              </a:rPr>
              <a:t>Software as a Service (</a:t>
            </a:r>
            <a:r>
              <a:rPr lang="en-US" altLang="en-US" sz="1800" b="1" kern="1200" dirty="0">
                <a:solidFill>
                  <a:srgbClr val="006699"/>
                </a:solidFill>
                <a:cs typeface="Calibri" panose="020F0502020204030204" pitchFamily="34" charset="0"/>
              </a:rPr>
              <a:t>SaaS</a:t>
            </a:r>
            <a:r>
              <a:rPr lang="en-US" altLang="en-US" sz="1800" dirty="0">
                <a:cs typeface="Calibri" panose="020F0502020204030204" pitchFamily="34" charset="0"/>
              </a:rPr>
              <a:t>) – one or more applications available via the Internet (i.e., word processor)</a:t>
            </a:r>
          </a:p>
          <a:p>
            <a:pPr lvl="1"/>
            <a:r>
              <a:rPr lang="en-US" altLang="en-US" sz="1800" dirty="0">
                <a:cs typeface="Calibri" panose="020F0502020204030204" pitchFamily="34" charset="0"/>
              </a:rPr>
              <a:t>Platform as a Service (</a:t>
            </a:r>
            <a:r>
              <a:rPr lang="en-US" altLang="en-US" sz="1800" b="1" kern="1200" dirty="0">
                <a:solidFill>
                  <a:srgbClr val="006699"/>
                </a:solidFill>
                <a:cs typeface="Calibri" panose="020F0502020204030204" pitchFamily="34" charset="0"/>
              </a:rPr>
              <a:t>PaaS</a:t>
            </a:r>
            <a:r>
              <a:rPr lang="en-US" altLang="en-US" sz="1800" dirty="0">
                <a:cs typeface="Calibri" panose="020F0502020204030204" pitchFamily="34" charset="0"/>
              </a:rPr>
              <a:t>) – software stack ready for application use via the Internet (i.e., a database server)</a:t>
            </a:r>
          </a:p>
          <a:p>
            <a:pPr lvl="1"/>
            <a:r>
              <a:rPr lang="en-US" altLang="en-US" sz="1800" dirty="0">
                <a:cs typeface="Calibri" panose="020F0502020204030204" pitchFamily="34" charset="0"/>
              </a:rPr>
              <a:t>Infrastructure as a Service (</a:t>
            </a:r>
            <a:r>
              <a:rPr lang="en-US" altLang="en-US" sz="1800" b="1" kern="1200" dirty="0">
                <a:solidFill>
                  <a:srgbClr val="006699"/>
                </a:solidFill>
                <a:cs typeface="Calibri" panose="020F0502020204030204" pitchFamily="34" charset="0"/>
              </a:rPr>
              <a:t>IaaS</a:t>
            </a:r>
            <a:r>
              <a:rPr lang="en-US" altLang="en-US" sz="1800" dirty="0">
                <a:cs typeface="Calibri" panose="020F0502020204030204" pitchFamily="34" charset="0"/>
              </a:rPr>
              <a:t>) – servers or storage available over Internet (i.e., storage available for backup use)</a:t>
            </a:r>
          </a:p>
        </p:txBody>
      </p:sp>
      <p:sp>
        <p:nvSpPr>
          <p:cNvPr id="2" name="灯片编号占位符 1">
            <a:extLst>
              <a:ext uri="{FF2B5EF4-FFF2-40B4-BE49-F238E27FC236}">
                <a16:creationId xmlns:a16="http://schemas.microsoft.com/office/drawing/2014/main" id="{B801D11A-B933-5B20-FE9D-D674F92BEA25}"/>
              </a:ext>
            </a:extLst>
          </p:cNvPr>
          <p:cNvSpPr>
            <a:spLocks noGrp="1"/>
          </p:cNvSpPr>
          <p:nvPr>
            <p:ph type="sldNum" sz="quarter" idx="10"/>
          </p:nvPr>
        </p:nvSpPr>
        <p:spPr/>
        <p:txBody>
          <a:bodyPr/>
          <a:lstStyle/>
          <a:p>
            <a:fld id="{D9B6BDF2-6896-4B98-8776-C18582F63BA5}" type="slidenum">
              <a:rPr lang="zh-TW" altLang="en-US" smtClean="0"/>
              <a:pPr/>
              <a:t>31</a:t>
            </a:fld>
            <a:endParaRPr lang="zh-TW" altLang="en-US"/>
          </a:p>
        </p:txBody>
      </p:sp>
    </p:spTree>
    <p:extLst>
      <p:ext uri="{BB962C8B-B14F-4D97-AF65-F5344CB8AC3E}">
        <p14:creationId xmlns:p14="http://schemas.microsoft.com/office/powerpoint/2010/main" val="28185656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3">
            <a:extLst>
              <a:ext uri="{FF2B5EF4-FFF2-40B4-BE49-F238E27FC236}">
                <a16:creationId xmlns:a16="http://schemas.microsoft.com/office/drawing/2014/main" id="{FD6537A6-ABBB-418B-A303-F33ED361BE06}"/>
              </a:ext>
            </a:extLst>
          </p:cNvPr>
          <p:cNvSpPr>
            <a:spLocks noGrp="1" noChangeArrowheads="1"/>
          </p:cNvSpPr>
          <p:nvPr>
            <p:ph type="body" idx="4294967295"/>
          </p:nvPr>
        </p:nvSpPr>
        <p:spPr>
          <a:xfrm>
            <a:off x="989685" y="811998"/>
            <a:ext cx="7066660" cy="1344909"/>
          </a:xfrm>
        </p:spPr>
        <p:txBody>
          <a:bodyPr/>
          <a:lstStyle/>
          <a:p>
            <a:r>
              <a:rPr lang="en-US" altLang="en-US" sz="2000" dirty="0">
                <a:cs typeface="Calibri" panose="020F0502020204030204" pitchFamily="34" charset="0"/>
              </a:rPr>
              <a:t>Cloud computing environments composed of traditional OSes, plus VMMs, plus cloud management tools</a:t>
            </a:r>
          </a:p>
          <a:p>
            <a:pPr lvl="1"/>
            <a:r>
              <a:rPr lang="en-US" altLang="en-US" sz="1800" dirty="0">
                <a:cs typeface="Calibri" panose="020F0502020204030204" pitchFamily="34" charset="0"/>
              </a:rPr>
              <a:t>Internet connectivity requires security like firewalls</a:t>
            </a:r>
          </a:p>
          <a:p>
            <a:pPr lvl="1"/>
            <a:r>
              <a:rPr lang="en-US" altLang="en-US" sz="1800" dirty="0">
                <a:cs typeface="Calibri" panose="020F0502020204030204" pitchFamily="34" charset="0"/>
              </a:rPr>
              <a:t>Load balancers spread traffic across multiple applications</a:t>
            </a:r>
          </a:p>
        </p:txBody>
      </p:sp>
      <p:pic>
        <p:nvPicPr>
          <p:cNvPr id="108547" name="Picture 1" descr="1_21.pdf">
            <a:extLst>
              <a:ext uri="{FF2B5EF4-FFF2-40B4-BE49-F238E27FC236}">
                <a16:creationId xmlns:a16="http://schemas.microsoft.com/office/drawing/2014/main" id="{013FD59D-83E6-4294-8C1F-125F5B808E1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171464" y="2352007"/>
            <a:ext cx="2801072" cy="2217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a:extLst>
              <a:ext uri="{FF2B5EF4-FFF2-40B4-BE49-F238E27FC236}">
                <a16:creationId xmlns:a16="http://schemas.microsoft.com/office/drawing/2014/main" id="{D11AAC45-52AE-9DF4-836E-324BC4BD0420}"/>
              </a:ext>
            </a:extLst>
          </p:cNvPr>
          <p:cNvSpPr>
            <a:spLocks noGrp="1"/>
          </p:cNvSpPr>
          <p:nvPr>
            <p:ph type="sldNum" sz="quarter" idx="10"/>
          </p:nvPr>
        </p:nvSpPr>
        <p:spPr/>
        <p:txBody>
          <a:bodyPr/>
          <a:lstStyle/>
          <a:p>
            <a:fld id="{D9B6BDF2-6896-4B98-8776-C18582F63BA5}" type="slidenum">
              <a:rPr lang="zh-TW" altLang="en-US" smtClean="0"/>
              <a:pPr/>
              <a:t>32</a:t>
            </a:fld>
            <a:endParaRPr lang="zh-TW" altLang="en-US"/>
          </a:p>
        </p:txBody>
      </p:sp>
      <p:sp>
        <p:nvSpPr>
          <p:cNvPr id="3" name="Rectangle 2">
            <a:extLst>
              <a:ext uri="{FF2B5EF4-FFF2-40B4-BE49-F238E27FC236}">
                <a16:creationId xmlns:a16="http://schemas.microsoft.com/office/drawing/2014/main" id="{A1FEBDB3-7416-50A8-22B4-25DC5EEB6EBF}"/>
              </a:ext>
            </a:extLst>
          </p:cNvPr>
          <p:cNvSpPr txBox="1">
            <a:spLocks noChangeArrowheads="1"/>
          </p:cNvSpPr>
          <p:nvPr/>
        </p:nvSpPr>
        <p:spPr bwMode="auto">
          <a:xfrm>
            <a:off x="885524" y="148828"/>
            <a:ext cx="7983347" cy="432197"/>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j-cs"/>
              </a:defRPr>
            </a:lvl1pPr>
            <a:lvl2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5pPr>
            <a:lvl6pPr marL="342891" algn="l" rtl="0" eaLnBrk="1" fontAlgn="base" hangingPunct="1">
              <a:spcBef>
                <a:spcPct val="0"/>
              </a:spcBef>
              <a:spcAft>
                <a:spcPct val="0"/>
              </a:spcAft>
              <a:defRPr kumimoji="1" sz="2251" b="1">
                <a:solidFill>
                  <a:schemeClr val="tx2"/>
                </a:solidFill>
                <a:latin typeface="MS Sans Serif"/>
                <a:ea typeface="MS Sans Serif"/>
                <a:cs typeface="MS Sans Serif"/>
              </a:defRPr>
            </a:lvl6pPr>
            <a:lvl7pPr marL="685783" algn="l" rtl="0" eaLnBrk="1" fontAlgn="base" hangingPunct="1">
              <a:spcBef>
                <a:spcPct val="0"/>
              </a:spcBef>
              <a:spcAft>
                <a:spcPct val="0"/>
              </a:spcAft>
              <a:defRPr kumimoji="1" sz="2251" b="1">
                <a:solidFill>
                  <a:schemeClr val="tx2"/>
                </a:solidFill>
                <a:latin typeface="MS Sans Serif"/>
                <a:ea typeface="MS Sans Serif"/>
                <a:cs typeface="MS Sans Serif"/>
              </a:defRPr>
            </a:lvl7pPr>
            <a:lvl8pPr marL="1028674" algn="l" rtl="0" eaLnBrk="1" fontAlgn="base" hangingPunct="1">
              <a:spcBef>
                <a:spcPct val="0"/>
              </a:spcBef>
              <a:spcAft>
                <a:spcPct val="0"/>
              </a:spcAft>
              <a:defRPr kumimoji="1" sz="2251" b="1">
                <a:solidFill>
                  <a:schemeClr val="tx2"/>
                </a:solidFill>
                <a:latin typeface="MS Sans Serif"/>
                <a:ea typeface="MS Sans Serif"/>
                <a:cs typeface="MS Sans Serif"/>
              </a:defRPr>
            </a:lvl8pPr>
            <a:lvl9pPr marL="1371566" algn="l" rtl="0" eaLnBrk="1" fontAlgn="base" hangingPunct="1">
              <a:spcBef>
                <a:spcPct val="0"/>
              </a:spcBef>
              <a:spcAft>
                <a:spcPct val="0"/>
              </a:spcAft>
              <a:defRPr kumimoji="1" sz="2251" b="1">
                <a:solidFill>
                  <a:schemeClr val="tx2"/>
                </a:solidFill>
                <a:latin typeface="MS Sans Serif"/>
                <a:ea typeface="MS Sans Serif"/>
                <a:cs typeface="MS Sans Serif"/>
              </a:defRPr>
            </a:lvl9pPr>
          </a:lstStyle>
          <a:p>
            <a:r>
              <a:rPr lang="en-US" altLang="en-US" sz="3000" dirty="0"/>
              <a:t>Computing Environments - </a:t>
            </a:r>
            <a:r>
              <a:rPr lang="en-US" altLang="en-US" sz="3000" kern="0" dirty="0"/>
              <a:t>Cloud Computing (3)</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Title 1">
            <a:extLst>
              <a:ext uri="{FF2B5EF4-FFF2-40B4-BE49-F238E27FC236}">
                <a16:creationId xmlns:a16="http://schemas.microsoft.com/office/drawing/2014/main" id="{2697C8B9-0041-4830-8C83-5FF8CFAF01C1}"/>
              </a:ext>
            </a:extLst>
          </p:cNvPr>
          <p:cNvSpPr>
            <a:spLocks noGrp="1" noChangeArrowheads="1"/>
          </p:cNvSpPr>
          <p:nvPr>
            <p:ph type="title" idx="4294967295"/>
          </p:nvPr>
        </p:nvSpPr>
        <p:spPr>
          <a:xfrm>
            <a:off x="972152" y="77629"/>
            <a:ext cx="8078715" cy="533400"/>
          </a:xfrm>
        </p:spPr>
        <p:txBody>
          <a:bodyPr/>
          <a:lstStyle/>
          <a:p>
            <a:r>
              <a:rPr lang="en-US" altLang="en-US" sz="2600" dirty="0"/>
              <a:t>Computing Environments - Real-Time Embedded Systems</a:t>
            </a:r>
          </a:p>
        </p:txBody>
      </p:sp>
      <p:sp>
        <p:nvSpPr>
          <p:cNvPr id="110595" name="Content Placeholder 2">
            <a:extLst>
              <a:ext uri="{FF2B5EF4-FFF2-40B4-BE49-F238E27FC236}">
                <a16:creationId xmlns:a16="http://schemas.microsoft.com/office/drawing/2014/main" id="{265F30E9-05CB-4D61-971C-5E1743F20FFE}"/>
              </a:ext>
            </a:extLst>
          </p:cNvPr>
          <p:cNvSpPr>
            <a:spLocks noGrp="1" noChangeArrowheads="1"/>
          </p:cNvSpPr>
          <p:nvPr>
            <p:ph idx="4294967295"/>
          </p:nvPr>
        </p:nvSpPr>
        <p:spPr>
          <a:xfrm>
            <a:off x="1013861" y="875210"/>
            <a:ext cx="7257447" cy="2936394"/>
          </a:xfrm>
        </p:spPr>
        <p:txBody>
          <a:bodyPr/>
          <a:lstStyle/>
          <a:p>
            <a:r>
              <a:rPr lang="en-US" altLang="en-US" sz="2000" dirty="0">
                <a:ea typeface="+mn-ea"/>
                <a:cs typeface="Calibri" panose="020F0502020204030204" pitchFamily="34" charset="0"/>
              </a:rPr>
              <a:t>Real-time embedded systems most prevalent form of computers</a:t>
            </a:r>
          </a:p>
          <a:p>
            <a:pPr lvl="1"/>
            <a:r>
              <a:rPr lang="en-US" altLang="en-US" sz="1800" dirty="0">
                <a:ea typeface="+mn-ea"/>
                <a:cs typeface="Calibri" panose="020F0502020204030204" pitchFamily="34" charset="0"/>
              </a:rPr>
              <a:t>Vary considerable, special purpose, limited purpose OS,  </a:t>
            </a:r>
            <a:r>
              <a:rPr lang="en-US" altLang="en-US" sz="1800" b="1" kern="1200" dirty="0">
                <a:solidFill>
                  <a:srgbClr val="006699"/>
                </a:solidFill>
                <a:ea typeface="+mn-ea"/>
                <a:cs typeface="Calibri" panose="020F0502020204030204" pitchFamily="34" charset="0"/>
              </a:rPr>
              <a:t>real-time OS</a:t>
            </a:r>
          </a:p>
          <a:p>
            <a:pPr lvl="1"/>
            <a:r>
              <a:rPr lang="en-US" altLang="en-US" sz="1800" dirty="0">
                <a:ea typeface="+mn-ea"/>
                <a:cs typeface="Calibri" panose="020F0502020204030204" pitchFamily="34" charset="0"/>
              </a:rPr>
              <a:t>Use expanding</a:t>
            </a:r>
          </a:p>
          <a:p>
            <a:r>
              <a:rPr lang="en-US" altLang="en-US" sz="2000" dirty="0">
                <a:ea typeface="+mn-ea"/>
                <a:cs typeface="Calibri" panose="020F0502020204030204" pitchFamily="34" charset="0"/>
              </a:rPr>
              <a:t>Many other special computing environments as well</a:t>
            </a:r>
          </a:p>
          <a:p>
            <a:pPr lvl="1"/>
            <a:r>
              <a:rPr lang="en-US" altLang="en-US" sz="1800" dirty="0">
                <a:ea typeface="+mn-ea"/>
                <a:cs typeface="Calibri" panose="020F0502020204030204" pitchFamily="34" charset="0"/>
              </a:rPr>
              <a:t>Some have OSes, some perform tasks without an OS</a:t>
            </a:r>
          </a:p>
          <a:p>
            <a:r>
              <a:rPr lang="en-US" altLang="en-US" sz="2000" dirty="0">
                <a:ea typeface="+mn-ea"/>
                <a:cs typeface="Calibri" panose="020F0502020204030204" pitchFamily="34" charset="0"/>
              </a:rPr>
              <a:t>Real-time OS has well-defined fixed time constraints</a:t>
            </a:r>
          </a:p>
          <a:p>
            <a:pPr lvl="1"/>
            <a:r>
              <a:rPr lang="en-US" altLang="en-US" sz="1800" dirty="0">
                <a:ea typeface="+mn-ea"/>
                <a:cs typeface="Calibri" panose="020F0502020204030204" pitchFamily="34" charset="0"/>
              </a:rPr>
              <a:t>Processing </a:t>
            </a:r>
            <a:r>
              <a:rPr lang="en-US" altLang="en-US" sz="1800" b="1" i="1" dirty="0">
                <a:ea typeface="+mn-ea"/>
                <a:cs typeface="Calibri" panose="020F0502020204030204" pitchFamily="34" charset="0"/>
              </a:rPr>
              <a:t>must</a:t>
            </a:r>
            <a:r>
              <a:rPr lang="en-US" altLang="en-US" sz="1800" dirty="0">
                <a:ea typeface="+mn-ea"/>
                <a:cs typeface="Calibri" panose="020F0502020204030204" pitchFamily="34" charset="0"/>
              </a:rPr>
              <a:t> be done within constraint</a:t>
            </a:r>
          </a:p>
          <a:p>
            <a:pPr lvl="1"/>
            <a:r>
              <a:rPr lang="en-US" altLang="en-US" sz="1800" dirty="0">
                <a:ea typeface="+mn-ea"/>
                <a:cs typeface="Calibri" panose="020F0502020204030204" pitchFamily="34" charset="0"/>
              </a:rPr>
              <a:t>Correct operation only if constraints met</a:t>
            </a:r>
          </a:p>
        </p:txBody>
      </p:sp>
      <p:sp>
        <p:nvSpPr>
          <p:cNvPr id="2" name="灯片编号占位符 1">
            <a:extLst>
              <a:ext uri="{FF2B5EF4-FFF2-40B4-BE49-F238E27FC236}">
                <a16:creationId xmlns:a16="http://schemas.microsoft.com/office/drawing/2014/main" id="{4544995C-36B3-9005-DF44-004CB9CCC695}"/>
              </a:ext>
            </a:extLst>
          </p:cNvPr>
          <p:cNvSpPr>
            <a:spLocks noGrp="1"/>
          </p:cNvSpPr>
          <p:nvPr>
            <p:ph type="sldNum" sz="quarter" idx="10"/>
          </p:nvPr>
        </p:nvSpPr>
        <p:spPr/>
        <p:txBody>
          <a:bodyPr/>
          <a:lstStyle/>
          <a:p>
            <a:fld id="{D9B6BDF2-6896-4B98-8776-C18582F63BA5}" type="slidenum">
              <a:rPr lang="zh-TW" altLang="en-US" smtClean="0"/>
              <a:pPr/>
              <a:t>33</a:t>
            </a:fld>
            <a:endParaRPr lang="zh-TW" alt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Title 1">
            <a:extLst>
              <a:ext uri="{FF2B5EF4-FFF2-40B4-BE49-F238E27FC236}">
                <a16:creationId xmlns:a16="http://schemas.microsoft.com/office/drawing/2014/main" id="{2E44F3F0-E6BE-450E-AA66-38706C8ED153}"/>
              </a:ext>
            </a:extLst>
          </p:cNvPr>
          <p:cNvSpPr>
            <a:spLocks noGrp="1" noChangeArrowheads="1"/>
          </p:cNvSpPr>
          <p:nvPr>
            <p:ph type="title" idx="4294967295"/>
          </p:nvPr>
        </p:nvSpPr>
        <p:spPr>
          <a:xfrm>
            <a:off x="875899" y="151210"/>
            <a:ext cx="7372951" cy="432197"/>
          </a:xfrm>
        </p:spPr>
        <p:txBody>
          <a:bodyPr/>
          <a:lstStyle/>
          <a:p>
            <a:r>
              <a:rPr lang="en-US" altLang="en-US" sz="3200" dirty="0"/>
              <a:t>Free and Open-Source Operating Systems</a:t>
            </a:r>
          </a:p>
        </p:txBody>
      </p:sp>
      <p:sp>
        <p:nvSpPr>
          <p:cNvPr id="111619" name="Content Placeholder 2">
            <a:extLst>
              <a:ext uri="{FF2B5EF4-FFF2-40B4-BE49-F238E27FC236}">
                <a16:creationId xmlns:a16="http://schemas.microsoft.com/office/drawing/2014/main" id="{4884E438-06FD-4EC5-ACD4-9B0F212ABB7B}"/>
              </a:ext>
            </a:extLst>
          </p:cNvPr>
          <p:cNvSpPr>
            <a:spLocks noGrp="1" noChangeArrowheads="1"/>
          </p:cNvSpPr>
          <p:nvPr>
            <p:ph idx="4294967295"/>
          </p:nvPr>
        </p:nvSpPr>
        <p:spPr>
          <a:xfrm>
            <a:off x="1020278" y="828444"/>
            <a:ext cx="7498080" cy="3736865"/>
          </a:xfrm>
        </p:spPr>
        <p:txBody>
          <a:bodyPr/>
          <a:lstStyle/>
          <a:p>
            <a:r>
              <a:rPr lang="en-US" altLang="en-US" sz="1600" dirty="0">
                <a:ea typeface="+mn-ea"/>
                <a:cs typeface="Calibri" panose="020F0502020204030204" pitchFamily="34" charset="0"/>
              </a:rPr>
              <a:t>Operating systems made available in source-code format rather than just binary </a:t>
            </a:r>
            <a:r>
              <a:rPr lang="en-US" altLang="en-US" sz="1600" b="1" kern="1200" dirty="0">
                <a:solidFill>
                  <a:srgbClr val="006699"/>
                </a:solidFill>
                <a:ea typeface="+mn-ea"/>
                <a:cs typeface="Calibri" panose="020F0502020204030204" pitchFamily="34" charset="0"/>
              </a:rPr>
              <a:t>closed-source</a:t>
            </a:r>
            <a:r>
              <a:rPr lang="en-US" altLang="en-US" sz="1600" b="1" dirty="0">
                <a:solidFill>
                  <a:srgbClr val="3366FF"/>
                </a:solidFill>
                <a:ea typeface="+mn-ea"/>
                <a:cs typeface="Calibri" panose="020F0502020204030204" pitchFamily="34" charset="0"/>
              </a:rPr>
              <a:t> </a:t>
            </a:r>
            <a:r>
              <a:rPr lang="en-US" altLang="en-US" sz="1600" dirty="0">
                <a:ea typeface="+mn-ea"/>
                <a:cs typeface="Calibri" panose="020F0502020204030204" pitchFamily="34" charset="0"/>
              </a:rPr>
              <a:t>and</a:t>
            </a:r>
            <a:r>
              <a:rPr lang="en-US" altLang="en-US" sz="1600" b="1" dirty="0">
                <a:solidFill>
                  <a:srgbClr val="3366FF"/>
                </a:solidFill>
                <a:ea typeface="+mn-ea"/>
                <a:cs typeface="Calibri" panose="020F0502020204030204" pitchFamily="34" charset="0"/>
              </a:rPr>
              <a:t> </a:t>
            </a:r>
            <a:r>
              <a:rPr lang="en-US" altLang="en-US" sz="1600" b="1" kern="1200" dirty="0">
                <a:solidFill>
                  <a:srgbClr val="006699"/>
                </a:solidFill>
                <a:ea typeface="+mn-ea"/>
                <a:cs typeface="Calibri" panose="020F0502020204030204" pitchFamily="34" charset="0"/>
              </a:rPr>
              <a:t>proprietary</a:t>
            </a:r>
          </a:p>
          <a:p>
            <a:r>
              <a:rPr lang="en-US" altLang="en-US" sz="1600" dirty="0">
                <a:ea typeface="+mn-ea"/>
                <a:cs typeface="Calibri" panose="020F0502020204030204" pitchFamily="34" charset="0"/>
              </a:rPr>
              <a:t>Counter to the </a:t>
            </a:r>
            <a:r>
              <a:rPr lang="en-US" altLang="en-US" sz="1600" b="1" kern="1200" dirty="0">
                <a:solidFill>
                  <a:srgbClr val="006699"/>
                </a:solidFill>
                <a:ea typeface="+mn-ea"/>
                <a:cs typeface="Calibri" panose="020F0502020204030204" pitchFamily="34" charset="0"/>
              </a:rPr>
              <a:t>copy protection </a:t>
            </a:r>
            <a:r>
              <a:rPr lang="en-US" altLang="en-US" sz="1600" dirty="0">
                <a:solidFill>
                  <a:srgbClr val="000000"/>
                </a:solidFill>
                <a:ea typeface="+mn-ea"/>
                <a:cs typeface="Calibri" panose="020F0502020204030204" pitchFamily="34" charset="0"/>
              </a:rPr>
              <a:t>and </a:t>
            </a:r>
            <a:r>
              <a:rPr lang="en-US" altLang="en-US" sz="1600" b="1" kern="1200" dirty="0">
                <a:solidFill>
                  <a:srgbClr val="006699"/>
                </a:solidFill>
                <a:ea typeface="+mn-ea"/>
                <a:cs typeface="Calibri" panose="020F0502020204030204" pitchFamily="34" charset="0"/>
              </a:rPr>
              <a:t>Digital Rights Management </a:t>
            </a:r>
            <a:r>
              <a:rPr lang="en-US" altLang="en-US" sz="1600" dirty="0">
                <a:ea typeface="+mn-ea"/>
                <a:cs typeface="Calibri" panose="020F0502020204030204" pitchFamily="34" charset="0"/>
              </a:rPr>
              <a:t>(</a:t>
            </a:r>
            <a:r>
              <a:rPr lang="en-US" altLang="en-US" sz="1600" b="1" kern="1200" dirty="0">
                <a:solidFill>
                  <a:srgbClr val="006699"/>
                </a:solidFill>
                <a:ea typeface="+mn-ea"/>
                <a:cs typeface="Calibri" panose="020F0502020204030204" pitchFamily="34" charset="0"/>
              </a:rPr>
              <a:t>DRM</a:t>
            </a:r>
            <a:r>
              <a:rPr lang="en-US" altLang="en-US" sz="1600" dirty="0">
                <a:ea typeface="+mn-ea"/>
                <a:cs typeface="Calibri" panose="020F0502020204030204" pitchFamily="34" charset="0"/>
              </a:rPr>
              <a:t>) </a:t>
            </a:r>
            <a:r>
              <a:rPr lang="en-US" altLang="en-US" sz="1600" dirty="0">
                <a:solidFill>
                  <a:srgbClr val="000000"/>
                </a:solidFill>
                <a:ea typeface="+mn-ea"/>
                <a:cs typeface="Calibri" panose="020F0502020204030204" pitchFamily="34" charset="0"/>
              </a:rPr>
              <a:t>movement</a:t>
            </a:r>
          </a:p>
          <a:p>
            <a:r>
              <a:rPr lang="en-US" altLang="en-US" sz="1600" dirty="0">
                <a:solidFill>
                  <a:srgbClr val="000000"/>
                </a:solidFill>
                <a:ea typeface="+mn-ea"/>
                <a:cs typeface="Calibri" panose="020F0502020204030204" pitchFamily="34" charset="0"/>
              </a:rPr>
              <a:t>Started by </a:t>
            </a:r>
            <a:r>
              <a:rPr lang="en-US" altLang="en-US" sz="1600" b="1" kern="1200" dirty="0">
                <a:solidFill>
                  <a:srgbClr val="006699"/>
                </a:solidFill>
                <a:ea typeface="+mn-ea"/>
                <a:cs typeface="Calibri" panose="020F0502020204030204" pitchFamily="34" charset="0"/>
              </a:rPr>
              <a:t>Free Software Foundation </a:t>
            </a:r>
            <a:r>
              <a:rPr lang="en-US" altLang="en-US" sz="1600" dirty="0">
                <a:solidFill>
                  <a:srgbClr val="000000"/>
                </a:solidFill>
                <a:ea typeface="+mn-ea"/>
                <a:cs typeface="Calibri" panose="020F0502020204030204" pitchFamily="34" charset="0"/>
              </a:rPr>
              <a:t>(</a:t>
            </a:r>
            <a:r>
              <a:rPr lang="en-US" altLang="en-US" sz="1600" b="1" kern="1200" dirty="0">
                <a:solidFill>
                  <a:srgbClr val="006699"/>
                </a:solidFill>
                <a:ea typeface="+mn-ea"/>
                <a:cs typeface="Calibri" panose="020F0502020204030204" pitchFamily="34" charset="0"/>
              </a:rPr>
              <a:t>FSF</a:t>
            </a:r>
            <a:r>
              <a:rPr lang="en-US" altLang="en-US" sz="1600" dirty="0">
                <a:ea typeface="+mn-ea"/>
                <a:cs typeface="Calibri" panose="020F0502020204030204" pitchFamily="34" charset="0"/>
              </a:rPr>
              <a:t>)</a:t>
            </a:r>
            <a:r>
              <a:rPr lang="en-US" altLang="en-US" sz="1600" dirty="0">
                <a:solidFill>
                  <a:srgbClr val="000000"/>
                </a:solidFill>
                <a:ea typeface="+mn-ea"/>
                <a:cs typeface="Calibri" panose="020F0502020204030204" pitchFamily="34" charset="0"/>
              </a:rPr>
              <a:t>, which has </a:t>
            </a:r>
            <a:r>
              <a:rPr lang="ja-JP" altLang="en-US" sz="1600" dirty="0">
                <a:solidFill>
                  <a:srgbClr val="000000"/>
                </a:solidFill>
                <a:ea typeface="+mn-ea"/>
                <a:cs typeface="Calibri" panose="020F0502020204030204" pitchFamily="34" charset="0"/>
              </a:rPr>
              <a:t>“</a:t>
            </a:r>
            <a:r>
              <a:rPr lang="en-US" altLang="ja-JP" sz="1600" dirty="0">
                <a:solidFill>
                  <a:srgbClr val="000000"/>
                </a:solidFill>
                <a:ea typeface="+mn-ea"/>
                <a:cs typeface="Calibri" panose="020F0502020204030204" pitchFamily="34" charset="0"/>
              </a:rPr>
              <a:t>copyleft</a:t>
            </a:r>
            <a:r>
              <a:rPr lang="ja-JP" altLang="en-US" sz="1600" dirty="0">
                <a:solidFill>
                  <a:srgbClr val="000000"/>
                </a:solidFill>
                <a:ea typeface="+mn-ea"/>
                <a:cs typeface="Calibri" panose="020F0502020204030204" pitchFamily="34" charset="0"/>
              </a:rPr>
              <a:t>”</a:t>
            </a:r>
            <a:r>
              <a:rPr lang="en-US" altLang="ja-JP" sz="1600" dirty="0">
                <a:solidFill>
                  <a:srgbClr val="000000"/>
                </a:solidFill>
                <a:ea typeface="+mn-ea"/>
                <a:cs typeface="Calibri" panose="020F0502020204030204" pitchFamily="34" charset="0"/>
              </a:rPr>
              <a:t> </a:t>
            </a:r>
            <a:r>
              <a:rPr lang="en-US" altLang="ja-JP" sz="1600" b="1" kern="1200" dirty="0">
                <a:solidFill>
                  <a:srgbClr val="006699"/>
                </a:solidFill>
                <a:ea typeface="+mn-ea"/>
                <a:cs typeface="Calibri" panose="020F0502020204030204" pitchFamily="34" charset="0"/>
              </a:rPr>
              <a:t>GNU Public License </a:t>
            </a:r>
            <a:r>
              <a:rPr lang="en-US" altLang="ja-JP" sz="1600" dirty="0">
                <a:ea typeface="+mn-ea"/>
                <a:cs typeface="Calibri" panose="020F0502020204030204" pitchFamily="34" charset="0"/>
              </a:rPr>
              <a:t>(</a:t>
            </a:r>
            <a:r>
              <a:rPr lang="en-US" altLang="ja-JP" sz="1600" b="1" kern="1200" dirty="0">
                <a:solidFill>
                  <a:srgbClr val="006699"/>
                </a:solidFill>
                <a:ea typeface="+mn-ea"/>
                <a:cs typeface="Calibri" panose="020F0502020204030204" pitchFamily="34" charset="0"/>
              </a:rPr>
              <a:t>GPL</a:t>
            </a:r>
            <a:r>
              <a:rPr lang="en-US" altLang="ja-JP" sz="1600" dirty="0">
                <a:ea typeface="+mn-ea"/>
                <a:cs typeface="Calibri" panose="020F0502020204030204" pitchFamily="34" charset="0"/>
              </a:rPr>
              <a:t>)</a:t>
            </a:r>
          </a:p>
          <a:p>
            <a:pPr lvl="1"/>
            <a:r>
              <a:rPr lang="en-US" altLang="en-US" sz="1600" dirty="0">
                <a:ea typeface="+mn-ea"/>
                <a:cs typeface="Calibri" panose="020F0502020204030204" pitchFamily="34" charset="0"/>
              </a:rPr>
              <a:t>Free software and open-source software are two different ideas championed by different groups of people</a:t>
            </a:r>
          </a:p>
          <a:p>
            <a:pPr lvl="2"/>
            <a:r>
              <a:rPr lang="en-US" altLang="en-US" sz="1600" b="1" dirty="0">
                <a:solidFill>
                  <a:srgbClr val="663300"/>
                </a:solidFill>
                <a:latin typeface="Calibri" panose="020F0502020204030204" pitchFamily="34" charset="0"/>
                <a:cs typeface="Calibri" panose="020F0502020204030204" pitchFamily="34" charset="0"/>
              </a:rPr>
              <a:t>https://www.gnu.org/philosophy/open-source-misses-the-point.en.html</a:t>
            </a:r>
          </a:p>
          <a:p>
            <a:r>
              <a:rPr lang="en-US" altLang="en-US" sz="1600" dirty="0">
                <a:solidFill>
                  <a:srgbClr val="000000"/>
                </a:solidFill>
                <a:ea typeface="+mn-ea"/>
                <a:cs typeface="Calibri" panose="020F0502020204030204" pitchFamily="34" charset="0"/>
              </a:rPr>
              <a:t>Examples include </a:t>
            </a:r>
            <a:r>
              <a:rPr lang="en-US" altLang="en-US" sz="1600" b="1" kern="1200" dirty="0">
                <a:solidFill>
                  <a:srgbClr val="006699"/>
                </a:solidFill>
                <a:ea typeface="+mn-ea"/>
                <a:cs typeface="Calibri" panose="020F0502020204030204" pitchFamily="34" charset="0"/>
              </a:rPr>
              <a:t>GNU/Linux </a:t>
            </a:r>
            <a:r>
              <a:rPr lang="en-US" altLang="en-US" sz="1600" dirty="0">
                <a:ea typeface="+mn-ea"/>
                <a:cs typeface="Calibri" panose="020F0502020204030204" pitchFamily="34" charset="0"/>
              </a:rPr>
              <a:t>and </a:t>
            </a:r>
            <a:r>
              <a:rPr lang="en-US" altLang="en-US" sz="1600" b="1" kern="1200" dirty="0">
                <a:solidFill>
                  <a:srgbClr val="006699"/>
                </a:solidFill>
                <a:ea typeface="+mn-ea"/>
                <a:cs typeface="Calibri" panose="020F0502020204030204" pitchFamily="34" charset="0"/>
              </a:rPr>
              <a:t>BSD UNIX </a:t>
            </a:r>
            <a:r>
              <a:rPr lang="en-US" altLang="en-US" sz="1600" dirty="0">
                <a:solidFill>
                  <a:srgbClr val="000000"/>
                </a:solidFill>
                <a:ea typeface="+mn-ea"/>
                <a:cs typeface="Calibri" panose="020F0502020204030204" pitchFamily="34" charset="0"/>
              </a:rPr>
              <a:t>(including core of </a:t>
            </a:r>
            <a:r>
              <a:rPr lang="en-US" altLang="en-US" sz="1600" b="1" kern="1200" dirty="0">
                <a:solidFill>
                  <a:srgbClr val="006699"/>
                </a:solidFill>
                <a:ea typeface="+mn-ea"/>
                <a:cs typeface="Calibri" panose="020F0502020204030204" pitchFamily="34" charset="0"/>
              </a:rPr>
              <a:t>Mac</a:t>
            </a:r>
            <a:r>
              <a:rPr lang="en-US" altLang="en-US" sz="1600" b="1" dirty="0">
                <a:solidFill>
                  <a:srgbClr val="3366FF"/>
                </a:solidFill>
                <a:ea typeface="+mn-ea"/>
                <a:cs typeface="Calibri" panose="020F0502020204030204" pitchFamily="34" charset="0"/>
              </a:rPr>
              <a:t> </a:t>
            </a:r>
            <a:r>
              <a:rPr lang="en-US" altLang="en-US" sz="1600" b="1" kern="1200" dirty="0">
                <a:solidFill>
                  <a:srgbClr val="006699"/>
                </a:solidFill>
                <a:ea typeface="+mn-ea"/>
                <a:cs typeface="Calibri" panose="020F0502020204030204" pitchFamily="34" charset="0"/>
              </a:rPr>
              <a:t>OS X</a:t>
            </a:r>
            <a:r>
              <a:rPr lang="en-US" altLang="en-US" sz="1600" dirty="0">
                <a:solidFill>
                  <a:srgbClr val="000000"/>
                </a:solidFill>
                <a:ea typeface="+mn-ea"/>
                <a:cs typeface="Calibri" panose="020F0502020204030204" pitchFamily="34" charset="0"/>
              </a:rPr>
              <a:t>), and many more</a:t>
            </a:r>
          </a:p>
          <a:p>
            <a:r>
              <a:rPr lang="en-US" altLang="en-US" sz="1600" dirty="0">
                <a:solidFill>
                  <a:srgbClr val="000000"/>
                </a:solidFill>
                <a:ea typeface="+mn-ea"/>
                <a:cs typeface="Calibri" panose="020F0502020204030204" pitchFamily="34" charset="0"/>
              </a:rPr>
              <a:t>Can use VMM like VMware Player (Free on Windows), </a:t>
            </a:r>
            <a:r>
              <a:rPr lang="en-US" altLang="en-US" sz="1600" dirty="0" err="1">
                <a:solidFill>
                  <a:srgbClr val="000000"/>
                </a:solidFill>
                <a:ea typeface="+mn-ea"/>
                <a:cs typeface="Calibri" panose="020F0502020204030204" pitchFamily="34" charset="0"/>
              </a:rPr>
              <a:t>Virtualbox</a:t>
            </a:r>
            <a:r>
              <a:rPr lang="en-US" altLang="en-US" sz="1600" dirty="0">
                <a:solidFill>
                  <a:srgbClr val="000000"/>
                </a:solidFill>
                <a:ea typeface="+mn-ea"/>
                <a:cs typeface="Calibri" panose="020F0502020204030204" pitchFamily="34" charset="0"/>
              </a:rPr>
              <a:t> (open source and free on many platforms - </a:t>
            </a:r>
            <a:r>
              <a:rPr lang="en-US" altLang="en-US" sz="1600" dirty="0">
                <a:ea typeface="+mn-ea"/>
                <a:cs typeface="Calibri" panose="020F0502020204030204" pitchFamily="34" charset="0"/>
              </a:rPr>
              <a:t>http://www.virtualbox.com) </a:t>
            </a:r>
          </a:p>
          <a:p>
            <a:pPr lvl="1"/>
            <a:r>
              <a:rPr lang="en-US" altLang="en-US" sz="1600" dirty="0">
                <a:solidFill>
                  <a:srgbClr val="000000"/>
                </a:solidFill>
                <a:ea typeface="+mn-ea"/>
                <a:cs typeface="Calibri" panose="020F0502020204030204" pitchFamily="34" charset="0"/>
              </a:rPr>
              <a:t>Use to run guest operating systems for exploration</a:t>
            </a:r>
          </a:p>
        </p:txBody>
      </p:sp>
      <p:sp>
        <p:nvSpPr>
          <p:cNvPr id="2" name="灯片编号占位符 1">
            <a:extLst>
              <a:ext uri="{FF2B5EF4-FFF2-40B4-BE49-F238E27FC236}">
                <a16:creationId xmlns:a16="http://schemas.microsoft.com/office/drawing/2014/main" id="{D16A4C72-C1F8-2A58-F84B-FB192FA6058E}"/>
              </a:ext>
            </a:extLst>
          </p:cNvPr>
          <p:cNvSpPr>
            <a:spLocks noGrp="1"/>
          </p:cNvSpPr>
          <p:nvPr>
            <p:ph type="sldNum" sz="quarter" idx="10"/>
          </p:nvPr>
        </p:nvSpPr>
        <p:spPr/>
        <p:txBody>
          <a:bodyPr/>
          <a:lstStyle/>
          <a:p>
            <a:fld id="{D9B6BDF2-6896-4B98-8776-C18582F63BA5}" type="slidenum">
              <a:rPr lang="zh-TW" altLang="en-US" smtClean="0"/>
              <a:pPr/>
              <a:t>34</a:t>
            </a:fld>
            <a:endParaRPr lang="zh-TW"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a:extLst>
              <a:ext uri="{FF2B5EF4-FFF2-40B4-BE49-F238E27FC236}">
                <a16:creationId xmlns:a16="http://schemas.microsoft.com/office/drawing/2014/main" id="{ECECFDC0-04E7-4125-BDC9-A8852EAD52A0}"/>
              </a:ext>
            </a:extLst>
          </p:cNvPr>
          <p:cNvSpPr>
            <a:spLocks noGrp="1" noChangeArrowheads="1"/>
          </p:cNvSpPr>
          <p:nvPr>
            <p:ph type="title" idx="4294967295"/>
          </p:nvPr>
        </p:nvSpPr>
        <p:spPr>
          <a:xfrm>
            <a:off x="875899" y="148828"/>
            <a:ext cx="6692905" cy="432197"/>
          </a:xfrm>
        </p:spPr>
        <p:txBody>
          <a:bodyPr/>
          <a:lstStyle/>
          <a:p>
            <a:pPr eaLnBrk="1" hangingPunct="1"/>
            <a:r>
              <a:rPr lang="en-US" altLang="en-US" sz="3200" dirty="0"/>
              <a:t>The Study of Operating Systems</a:t>
            </a:r>
          </a:p>
        </p:txBody>
      </p:sp>
      <p:sp>
        <p:nvSpPr>
          <p:cNvPr id="113667" name="Rectangle 1">
            <a:extLst>
              <a:ext uri="{FF2B5EF4-FFF2-40B4-BE49-F238E27FC236}">
                <a16:creationId xmlns:a16="http://schemas.microsoft.com/office/drawing/2014/main" id="{A9ADB72A-C379-40B9-96E3-D4FAFB9F20C1}"/>
              </a:ext>
            </a:extLst>
          </p:cNvPr>
          <p:cNvSpPr>
            <a:spLocks noChangeArrowheads="1"/>
          </p:cNvSpPr>
          <p:nvPr/>
        </p:nvSpPr>
        <p:spPr bwMode="auto">
          <a:xfrm>
            <a:off x="1376412" y="827089"/>
            <a:ext cx="6285297" cy="3725660"/>
          </a:xfrm>
          <a:prstGeom prst="rect">
            <a:avLst/>
          </a:prstGeom>
          <a:solidFill>
            <a:srgbClr val="CEEBFA"/>
          </a:solidFill>
          <a:ln w="9525" algn="ctr">
            <a:solidFill>
              <a:schemeClr val="tx1"/>
            </a:solidFill>
            <a:round/>
            <a:headEnd/>
            <a:tailEnd/>
          </a:ln>
        </p:spPr>
        <p:txBody>
          <a:bodyPr wrap="none"/>
          <a:lstStyle>
            <a:lvl1pPr>
              <a:spcBef>
                <a:spcPct val="35000"/>
              </a:spcBef>
              <a:buClr>
                <a:srgbClr val="993300"/>
              </a:buClr>
              <a:buSzPct val="110000"/>
              <a:buFont typeface="Wingdings" panose="05000000000000000000" pitchFamily="2" charset="2"/>
              <a:buChar char="§"/>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110000"/>
              <a:buFont typeface="Arial" panose="020B0604020202020204" pitchFamily="34" charset="0"/>
              <a:buChar char="•"/>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en-US" altLang="en-US" sz="950" dirty="0">
                <a:latin typeface="Verdana" panose="020B0604030504040204" pitchFamily="34" charset="0"/>
              </a:rPr>
              <a:t>There has never been a more interesting time to study operating systems, and it has never been </a:t>
            </a:r>
          </a:p>
          <a:p>
            <a:pPr>
              <a:spcBef>
                <a:spcPct val="0"/>
              </a:spcBef>
              <a:buClrTx/>
              <a:buSzTx/>
              <a:buFontTx/>
              <a:buNone/>
            </a:pPr>
            <a:r>
              <a:rPr kumimoji="0" lang="en-US" altLang="en-US" sz="950" dirty="0">
                <a:latin typeface="Verdana" panose="020B0604030504040204" pitchFamily="34" charset="0"/>
              </a:rPr>
              <a:t>easier. The open-source movement has overtaken operating systems, causing many of them to be</a:t>
            </a:r>
          </a:p>
          <a:p>
            <a:pPr>
              <a:spcBef>
                <a:spcPct val="0"/>
              </a:spcBef>
              <a:buClrTx/>
              <a:buSzTx/>
              <a:buFontTx/>
              <a:buNone/>
            </a:pPr>
            <a:r>
              <a:rPr kumimoji="0" lang="en-US" altLang="en-US" sz="950" dirty="0">
                <a:latin typeface="Verdana" panose="020B0604030504040204" pitchFamily="34" charset="0"/>
              </a:rPr>
              <a:t>made available in both source and binary (executable) format. The list of operating</a:t>
            </a:r>
          </a:p>
          <a:p>
            <a:pPr>
              <a:spcBef>
                <a:spcPct val="0"/>
              </a:spcBef>
              <a:buClrTx/>
              <a:buSzTx/>
              <a:buFontTx/>
              <a:buNone/>
            </a:pPr>
            <a:r>
              <a:rPr kumimoji="0" lang="en-US" altLang="en-US" sz="950" dirty="0">
                <a:latin typeface="Verdana" panose="020B0604030504040204" pitchFamily="34" charset="0"/>
              </a:rPr>
              <a:t>systems available in both formats includes Linux, BUSD UNIX, Solaris, and part of macOS. </a:t>
            </a:r>
          </a:p>
          <a:p>
            <a:pPr>
              <a:spcBef>
                <a:spcPct val="0"/>
              </a:spcBef>
              <a:buClrTx/>
              <a:buSzTx/>
              <a:buFontTx/>
              <a:buNone/>
            </a:pPr>
            <a:r>
              <a:rPr kumimoji="0" lang="en-US" altLang="en-US" sz="950" dirty="0">
                <a:latin typeface="Verdana" panose="020B0604030504040204" pitchFamily="34" charset="0"/>
              </a:rPr>
              <a:t>The availability of source code allows us to study operating systems from the inside out. </a:t>
            </a:r>
          </a:p>
          <a:p>
            <a:pPr>
              <a:spcBef>
                <a:spcPct val="0"/>
              </a:spcBef>
              <a:buClrTx/>
              <a:buSzTx/>
              <a:buFontTx/>
              <a:buNone/>
            </a:pPr>
            <a:r>
              <a:rPr kumimoji="0" lang="en-US" altLang="en-US" sz="950" dirty="0">
                <a:latin typeface="Verdana" panose="020B0604030504040204" pitchFamily="34" charset="0"/>
              </a:rPr>
              <a:t>Questions that we could once answer only by looking at documentation or the behavior of an</a:t>
            </a:r>
          </a:p>
          <a:p>
            <a:pPr>
              <a:spcBef>
                <a:spcPct val="0"/>
              </a:spcBef>
              <a:buClrTx/>
              <a:buSzTx/>
              <a:buFontTx/>
              <a:buNone/>
            </a:pPr>
            <a:r>
              <a:rPr kumimoji="0" lang="en-US" altLang="en-US" sz="950" dirty="0">
                <a:latin typeface="Verdana" panose="020B0604030504040204" pitchFamily="34" charset="0"/>
              </a:rPr>
              <a:t>operating system we can now answer by examining the code itself.</a:t>
            </a:r>
          </a:p>
          <a:p>
            <a:pPr>
              <a:spcBef>
                <a:spcPct val="0"/>
              </a:spcBef>
              <a:buClrTx/>
              <a:buSzTx/>
              <a:buFontTx/>
              <a:buNone/>
            </a:pPr>
            <a:endParaRPr kumimoji="0" lang="en-US" altLang="en-US" sz="950" dirty="0">
              <a:latin typeface="Verdana" panose="020B0604030504040204" pitchFamily="34" charset="0"/>
            </a:endParaRPr>
          </a:p>
          <a:p>
            <a:pPr>
              <a:spcBef>
                <a:spcPct val="0"/>
              </a:spcBef>
              <a:buClrTx/>
              <a:buSzTx/>
              <a:buFontTx/>
              <a:buNone/>
            </a:pPr>
            <a:r>
              <a:rPr kumimoji="0" lang="en-US" altLang="en-US" sz="950" dirty="0">
                <a:latin typeface="Verdana" panose="020B0604030504040204" pitchFamily="34" charset="0"/>
              </a:rPr>
              <a:t>Operating systems that are no longer commercially viable have been open-sourced as well, enabling </a:t>
            </a:r>
          </a:p>
          <a:p>
            <a:pPr>
              <a:spcBef>
                <a:spcPct val="0"/>
              </a:spcBef>
              <a:buClrTx/>
              <a:buSzTx/>
              <a:buFontTx/>
              <a:buNone/>
            </a:pPr>
            <a:r>
              <a:rPr kumimoji="0" lang="en-US" altLang="en-US" sz="950" dirty="0">
                <a:latin typeface="Verdana" panose="020B0604030504040204" pitchFamily="34" charset="0"/>
              </a:rPr>
              <a:t>us to study how systems operated in a time of fewer CPU, memory, and storage resources. </a:t>
            </a:r>
          </a:p>
          <a:p>
            <a:pPr>
              <a:spcBef>
                <a:spcPct val="0"/>
              </a:spcBef>
              <a:buClrTx/>
              <a:buSzTx/>
              <a:buFontTx/>
              <a:buNone/>
            </a:pPr>
            <a:r>
              <a:rPr kumimoji="0" lang="en-US" altLang="en-US" sz="950" dirty="0">
                <a:latin typeface="Verdana" panose="020B0604030504040204" pitchFamily="34" charset="0"/>
              </a:rPr>
              <a:t>An extensive but incomplete list of open-source operating-system projects is available</a:t>
            </a:r>
          </a:p>
          <a:p>
            <a:pPr>
              <a:spcBef>
                <a:spcPct val="0"/>
              </a:spcBef>
              <a:buClrTx/>
              <a:buSzTx/>
              <a:buFontTx/>
              <a:buNone/>
            </a:pPr>
            <a:r>
              <a:rPr kumimoji="0" lang="en-US" altLang="en-US" sz="950" dirty="0">
                <a:latin typeface="Verdana" panose="020B0604030504040204" pitchFamily="34" charset="0"/>
              </a:rPr>
              <a:t>from https://curlie.org/Computers/Software/Operating_Systems/Open_Source/</a:t>
            </a:r>
          </a:p>
          <a:p>
            <a:pPr>
              <a:spcBef>
                <a:spcPct val="0"/>
              </a:spcBef>
              <a:buClrTx/>
              <a:buSzTx/>
              <a:buFontTx/>
              <a:buNone/>
            </a:pPr>
            <a:endParaRPr kumimoji="0" lang="en-US" altLang="en-US" sz="950" dirty="0">
              <a:latin typeface="Verdana" panose="020B0604030504040204" pitchFamily="34" charset="0"/>
            </a:endParaRPr>
          </a:p>
          <a:p>
            <a:pPr>
              <a:spcBef>
                <a:spcPct val="0"/>
              </a:spcBef>
              <a:buClrTx/>
              <a:buSzTx/>
              <a:buFontTx/>
              <a:buNone/>
            </a:pPr>
            <a:r>
              <a:rPr kumimoji="0" lang="en-US" altLang="en-US" sz="950" dirty="0">
                <a:latin typeface="Verdana" panose="020B0604030504040204" pitchFamily="34" charset="0"/>
              </a:rPr>
              <a:t>In addition, the rise of virtualization as a mainstream (and frequently free) computer function </a:t>
            </a:r>
          </a:p>
          <a:p>
            <a:pPr>
              <a:spcBef>
                <a:spcPct val="0"/>
              </a:spcBef>
              <a:buClrTx/>
              <a:buSzTx/>
              <a:buFontTx/>
              <a:buNone/>
            </a:pPr>
            <a:r>
              <a:rPr kumimoji="0" lang="en-US" altLang="en-US" sz="950" dirty="0">
                <a:latin typeface="Verdana" panose="020B0604030504040204" pitchFamily="34" charset="0"/>
              </a:rPr>
              <a:t>makes it possible to run many operating systems on top of one core system. For example, VMware</a:t>
            </a:r>
          </a:p>
          <a:p>
            <a:pPr>
              <a:spcBef>
                <a:spcPct val="0"/>
              </a:spcBef>
              <a:buClrTx/>
              <a:buSzTx/>
              <a:buFontTx/>
              <a:buNone/>
            </a:pPr>
            <a:r>
              <a:rPr kumimoji="0" lang="en-US" altLang="en-US" sz="950" dirty="0">
                <a:latin typeface="Verdana" panose="020B0604030504040204" pitchFamily="34" charset="0"/>
              </a:rPr>
              <a:t>(http://www.vmware.com) provides a free “player” for Windows on which hundreds of free</a:t>
            </a:r>
          </a:p>
          <a:p>
            <a:pPr>
              <a:spcBef>
                <a:spcPct val="0"/>
              </a:spcBef>
              <a:buClrTx/>
              <a:buSzTx/>
              <a:buFontTx/>
              <a:buNone/>
            </a:pPr>
            <a:r>
              <a:rPr kumimoji="0" lang="en-US" altLang="en-US" sz="950" dirty="0">
                <a:latin typeface="Verdana" panose="020B0604030504040204" pitchFamily="34" charset="0"/>
              </a:rPr>
              <a:t>“virtual appliances” can run. </a:t>
            </a:r>
            <a:r>
              <a:rPr kumimoji="0" lang="en-US" altLang="en-US" sz="950" dirty="0" err="1">
                <a:latin typeface="Verdana" panose="020B0604030504040204" pitchFamily="34" charset="0"/>
              </a:rPr>
              <a:t>Virtualbox</a:t>
            </a:r>
            <a:r>
              <a:rPr kumimoji="0" lang="en-US" altLang="en-US" sz="950" dirty="0">
                <a:latin typeface="Verdana" panose="020B0604030504040204" pitchFamily="34" charset="0"/>
              </a:rPr>
              <a:t> (http://www.virtualbox.com) provides a free, open-source</a:t>
            </a:r>
          </a:p>
          <a:p>
            <a:pPr>
              <a:spcBef>
                <a:spcPct val="0"/>
              </a:spcBef>
              <a:buClrTx/>
              <a:buSzTx/>
              <a:buFontTx/>
              <a:buNone/>
            </a:pPr>
            <a:r>
              <a:rPr kumimoji="0" lang="en-US" altLang="en-US" sz="950" dirty="0">
                <a:latin typeface="Verdana" panose="020B0604030504040204" pitchFamily="34" charset="0"/>
              </a:rPr>
              <a:t>virtual machine manager on many operating systems. Using such tools, students can try out </a:t>
            </a:r>
          </a:p>
          <a:p>
            <a:pPr>
              <a:spcBef>
                <a:spcPct val="0"/>
              </a:spcBef>
              <a:buClrTx/>
              <a:buSzTx/>
              <a:buFontTx/>
              <a:buNone/>
            </a:pPr>
            <a:r>
              <a:rPr kumimoji="0" lang="en-US" altLang="en-US" sz="950" dirty="0">
                <a:latin typeface="Verdana" panose="020B0604030504040204" pitchFamily="34" charset="0"/>
              </a:rPr>
              <a:t>hundreds of operating systems without dedicated hardware.</a:t>
            </a:r>
          </a:p>
          <a:p>
            <a:pPr>
              <a:spcBef>
                <a:spcPct val="0"/>
              </a:spcBef>
              <a:buClrTx/>
              <a:buSzTx/>
              <a:buFontTx/>
              <a:buNone/>
            </a:pPr>
            <a:endParaRPr kumimoji="0" lang="en-US" altLang="en-US" sz="950" dirty="0">
              <a:latin typeface="Verdana" panose="020B0604030504040204" pitchFamily="34" charset="0"/>
            </a:endParaRPr>
          </a:p>
          <a:p>
            <a:pPr>
              <a:spcBef>
                <a:spcPct val="0"/>
              </a:spcBef>
              <a:buClrTx/>
              <a:buSzTx/>
              <a:buFontTx/>
              <a:buNone/>
            </a:pPr>
            <a:r>
              <a:rPr kumimoji="0" lang="en-US" altLang="en-US" sz="950" dirty="0">
                <a:latin typeface="Verdana" panose="020B0604030504040204" pitchFamily="34" charset="0"/>
              </a:rPr>
              <a:t>The advent of open-source operating systems has also made it easier to make the move from </a:t>
            </a:r>
          </a:p>
          <a:p>
            <a:pPr>
              <a:spcBef>
                <a:spcPct val="0"/>
              </a:spcBef>
              <a:buClrTx/>
              <a:buSzTx/>
              <a:buFontTx/>
              <a:buNone/>
            </a:pPr>
            <a:r>
              <a:rPr kumimoji="0" lang="en-US" altLang="en-US" sz="950" dirty="0">
                <a:latin typeface="Verdana" panose="020B0604030504040204" pitchFamily="34" charset="0"/>
              </a:rPr>
              <a:t>student to operating-system developer. With some knowledge, some effort, and an Internet </a:t>
            </a:r>
          </a:p>
          <a:p>
            <a:pPr>
              <a:spcBef>
                <a:spcPct val="0"/>
              </a:spcBef>
              <a:buClrTx/>
              <a:buSzTx/>
              <a:buFontTx/>
              <a:buNone/>
            </a:pPr>
            <a:r>
              <a:rPr kumimoji="0" lang="en-US" altLang="en-US" sz="950" dirty="0">
                <a:latin typeface="Verdana" panose="020B0604030504040204" pitchFamily="34" charset="0"/>
              </a:rPr>
              <a:t>connection, a student can even create a new operating-system distribution. Just a few years ago, </a:t>
            </a:r>
          </a:p>
          <a:p>
            <a:pPr>
              <a:spcBef>
                <a:spcPct val="0"/>
              </a:spcBef>
              <a:buClrTx/>
              <a:buSzTx/>
              <a:buFontTx/>
              <a:buNone/>
            </a:pPr>
            <a:r>
              <a:rPr kumimoji="0" lang="en-US" altLang="en-US" sz="950" dirty="0">
                <a:latin typeface="Verdana" panose="020B0604030504040204" pitchFamily="34" charset="0"/>
              </a:rPr>
              <a:t>it was difficult or impossible to get access to source code. Now, such access is limited only by</a:t>
            </a:r>
          </a:p>
          <a:p>
            <a:pPr>
              <a:spcBef>
                <a:spcPct val="0"/>
              </a:spcBef>
              <a:buClrTx/>
              <a:buSzTx/>
              <a:buFontTx/>
              <a:buNone/>
            </a:pPr>
            <a:r>
              <a:rPr kumimoji="0" lang="en-US" altLang="en-US" sz="950" dirty="0">
                <a:latin typeface="Verdana" panose="020B0604030504040204" pitchFamily="34" charset="0"/>
              </a:rPr>
              <a:t>how much interest, time, and disk space a student has.</a:t>
            </a:r>
          </a:p>
        </p:txBody>
      </p:sp>
      <p:sp>
        <p:nvSpPr>
          <p:cNvPr id="2" name="灯片编号占位符 1">
            <a:extLst>
              <a:ext uri="{FF2B5EF4-FFF2-40B4-BE49-F238E27FC236}">
                <a16:creationId xmlns:a16="http://schemas.microsoft.com/office/drawing/2014/main" id="{6DDF44F3-1A92-3DA7-EA7D-150D78309DBE}"/>
              </a:ext>
            </a:extLst>
          </p:cNvPr>
          <p:cNvSpPr>
            <a:spLocks noGrp="1"/>
          </p:cNvSpPr>
          <p:nvPr>
            <p:ph type="sldNum" sz="quarter" idx="10"/>
          </p:nvPr>
        </p:nvSpPr>
        <p:spPr/>
        <p:txBody>
          <a:bodyPr/>
          <a:lstStyle/>
          <a:p>
            <a:fld id="{D9B6BDF2-6896-4B98-8776-C18582F63BA5}" type="slidenum">
              <a:rPr lang="zh-TW" altLang="en-US" smtClean="0"/>
              <a:pPr/>
              <a:t>35</a:t>
            </a:fld>
            <a:endParaRPr lang="zh-TW" alt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Title 1">
            <a:extLst>
              <a:ext uri="{FF2B5EF4-FFF2-40B4-BE49-F238E27FC236}">
                <a16:creationId xmlns:a16="http://schemas.microsoft.com/office/drawing/2014/main" id="{02D8B42B-EF2E-45B0-B775-843D1784DFC8}"/>
              </a:ext>
            </a:extLst>
          </p:cNvPr>
          <p:cNvSpPr>
            <a:spLocks noGrp="1" noChangeArrowheads="1"/>
          </p:cNvSpPr>
          <p:nvPr>
            <p:ph type="title"/>
          </p:nvPr>
        </p:nvSpPr>
        <p:spPr>
          <a:xfrm>
            <a:off x="895149" y="165497"/>
            <a:ext cx="6762951" cy="432197"/>
          </a:xfrm>
        </p:spPr>
        <p:txBody>
          <a:bodyPr/>
          <a:lstStyle/>
          <a:p>
            <a:r>
              <a:rPr lang="en-US" altLang="en-US" sz="3200" dirty="0"/>
              <a:t>Kernel Data Structures (1)</a:t>
            </a:r>
          </a:p>
        </p:txBody>
      </p:sp>
      <p:sp>
        <p:nvSpPr>
          <p:cNvPr id="3" name="Content Placeholder 2">
            <a:extLst>
              <a:ext uri="{FF2B5EF4-FFF2-40B4-BE49-F238E27FC236}">
                <a16:creationId xmlns:a16="http://schemas.microsoft.com/office/drawing/2014/main" id="{C11DE956-D8D2-CC41-A503-584A2927E681}"/>
              </a:ext>
            </a:extLst>
          </p:cNvPr>
          <p:cNvSpPr>
            <a:spLocks noGrp="1"/>
          </p:cNvSpPr>
          <p:nvPr>
            <p:ph idx="1"/>
          </p:nvPr>
        </p:nvSpPr>
        <p:spPr>
          <a:xfrm>
            <a:off x="717083" y="815278"/>
            <a:ext cx="7531768" cy="3063703"/>
          </a:xfrm>
        </p:spPr>
        <p:txBody>
          <a:bodyPr/>
          <a:lstStyle/>
          <a:p>
            <a:pPr>
              <a:defRPr/>
            </a:pPr>
            <a:r>
              <a:rPr lang="en-US" sz="2000" dirty="0">
                <a:ea typeface="ＭＳ Ｐゴシック" charset="-128"/>
              </a:rPr>
              <a:t>Many similar to standard programming data structures</a:t>
            </a:r>
          </a:p>
          <a:p>
            <a:pPr>
              <a:defRPr/>
            </a:pPr>
            <a:r>
              <a:rPr lang="en-US" sz="2000" b="1" i="1" dirty="0">
                <a:ea typeface="ＭＳ Ｐゴシック" charset="-128"/>
              </a:rPr>
              <a:t>Singly linked list</a:t>
            </a:r>
          </a:p>
          <a:p>
            <a:pPr>
              <a:buFont typeface="Monotype Sorts" charset="0"/>
              <a:buChar char="n"/>
              <a:defRPr/>
            </a:pPr>
            <a:endParaRPr lang="en-US" sz="2000" dirty="0">
              <a:ea typeface="ＭＳ Ｐゴシック" charset="-128"/>
            </a:endParaRPr>
          </a:p>
          <a:p>
            <a:pPr marL="0" indent="0">
              <a:buNone/>
              <a:defRPr/>
            </a:pPr>
            <a:endParaRPr lang="en-US" sz="2000" dirty="0">
              <a:ea typeface="ＭＳ Ｐゴシック" charset="-128"/>
            </a:endParaRPr>
          </a:p>
          <a:p>
            <a:pPr>
              <a:defRPr/>
            </a:pPr>
            <a:r>
              <a:rPr lang="en-US" sz="2000" b="1" i="1" dirty="0">
                <a:ea typeface="ＭＳ Ｐゴシック" charset="-128"/>
              </a:rPr>
              <a:t>Doubly linked list</a:t>
            </a:r>
          </a:p>
          <a:p>
            <a:pPr>
              <a:buFont typeface="Monotype Sorts" charset="0"/>
              <a:buChar char="n"/>
              <a:defRPr/>
            </a:pPr>
            <a:endParaRPr lang="en-US" sz="2000" dirty="0">
              <a:ea typeface="ＭＳ Ｐゴシック" charset="-128"/>
            </a:endParaRPr>
          </a:p>
          <a:p>
            <a:pPr marL="0" indent="0">
              <a:buNone/>
              <a:defRPr/>
            </a:pPr>
            <a:endParaRPr lang="en-US" sz="2000" dirty="0">
              <a:ea typeface="ＭＳ Ｐゴシック" charset="-128"/>
            </a:endParaRPr>
          </a:p>
          <a:p>
            <a:pPr>
              <a:defRPr/>
            </a:pPr>
            <a:r>
              <a:rPr lang="en-US" sz="2000" b="1" i="1" dirty="0">
                <a:ea typeface="ＭＳ Ｐゴシック" charset="-128"/>
              </a:rPr>
              <a:t>Circular linked list</a:t>
            </a:r>
            <a:endParaRPr lang="en-US" sz="2000" dirty="0">
              <a:ea typeface="ＭＳ Ｐゴシック" charset="-128"/>
            </a:endParaRPr>
          </a:p>
          <a:p>
            <a:pPr marL="0" indent="0">
              <a:buNone/>
              <a:defRPr/>
            </a:pPr>
            <a:endParaRPr lang="en-US" sz="2000" dirty="0">
              <a:ea typeface="ＭＳ Ｐゴシック" charset="-128"/>
            </a:endParaRPr>
          </a:p>
          <a:p>
            <a:pPr>
              <a:buFont typeface="Monotype Sorts" charset="0"/>
              <a:buChar char="n"/>
              <a:defRPr/>
            </a:pPr>
            <a:endParaRPr lang="en-US" sz="2000" dirty="0">
              <a:ea typeface="ＭＳ Ｐゴシック" charset="-128"/>
            </a:endParaRPr>
          </a:p>
        </p:txBody>
      </p:sp>
      <p:pic>
        <p:nvPicPr>
          <p:cNvPr id="97284" name="Picture 3" descr="1_13.pdf">
            <a:extLst>
              <a:ext uri="{FF2B5EF4-FFF2-40B4-BE49-F238E27FC236}">
                <a16:creationId xmlns:a16="http://schemas.microsoft.com/office/drawing/2014/main" id="{4CBBE9AD-6B50-486E-B252-7F99E7A1C47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178844" y="1734144"/>
            <a:ext cx="5199460" cy="584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7285" name="Picture 4" descr="1_14.pdf">
            <a:extLst>
              <a:ext uri="{FF2B5EF4-FFF2-40B4-BE49-F238E27FC236}">
                <a16:creationId xmlns:a16="http://schemas.microsoft.com/office/drawing/2014/main" id="{423A57C8-D754-48D8-8979-4E21B236659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108598" y="2724150"/>
            <a:ext cx="5269706" cy="7119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7286" name="Picture 5" descr="1_15.pdf">
            <a:extLst>
              <a:ext uri="{FF2B5EF4-FFF2-40B4-BE49-F238E27FC236}">
                <a16:creationId xmlns:a16="http://schemas.microsoft.com/office/drawing/2014/main" id="{5E7F7BE3-E7AF-4915-8591-E144B61CDF9D}"/>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246710" y="3741266"/>
            <a:ext cx="5131594" cy="842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a:extLst>
              <a:ext uri="{FF2B5EF4-FFF2-40B4-BE49-F238E27FC236}">
                <a16:creationId xmlns:a16="http://schemas.microsoft.com/office/drawing/2014/main" id="{5619DA0A-D8D5-1F75-C3C6-555A87D857D7}"/>
              </a:ext>
            </a:extLst>
          </p:cNvPr>
          <p:cNvSpPr>
            <a:spLocks noGrp="1"/>
          </p:cNvSpPr>
          <p:nvPr>
            <p:ph type="sldNum" sz="quarter" idx="10"/>
          </p:nvPr>
        </p:nvSpPr>
        <p:spPr/>
        <p:txBody>
          <a:bodyPr/>
          <a:lstStyle/>
          <a:p>
            <a:fld id="{D9B6BDF2-6896-4B98-8776-C18582F63BA5}" type="slidenum">
              <a:rPr lang="zh-TW" altLang="en-US" smtClean="0"/>
              <a:pPr/>
              <a:t>36</a:t>
            </a:fld>
            <a:endParaRPr lang="zh-TW" altLang="en-US"/>
          </a:p>
        </p:txBody>
      </p:sp>
    </p:spTree>
    <p:extLst>
      <p:ext uri="{BB962C8B-B14F-4D97-AF65-F5344CB8AC3E}">
        <p14:creationId xmlns:p14="http://schemas.microsoft.com/office/powerpoint/2010/main" val="169963800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Title 1">
            <a:extLst>
              <a:ext uri="{FF2B5EF4-FFF2-40B4-BE49-F238E27FC236}">
                <a16:creationId xmlns:a16="http://schemas.microsoft.com/office/drawing/2014/main" id="{656A40C1-7358-4598-8602-0BC4B24F65A0}"/>
              </a:ext>
            </a:extLst>
          </p:cNvPr>
          <p:cNvSpPr>
            <a:spLocks noGrp="1" noChangeArrowheads="1"/>
          </p:cNvSpPr>
          <p:nvPr>
            <p:ph type="title"/>
          </p:nvPr>
        </p:nvSpPr>
        <p:spPr>
          <a:xfrm>
            <a:off x="904775" y="163116"/>
            <a:ext cx="6753325" cy="432197"/>
          </a:xfrm>
        </p:spPr>
        <p:txBody>
          <a:bodyPr/>
          <a:lstStyle/>
          <a:p>
            <a:r>
              <a:rPr lang="en-US" altLang="en-US" sz="3200" dirty="0"/>
              <a:t>Kernel Data Structures (2) </a:t>
            </a:r>
          </a:p>
        </p:txBody>
      </p:sp>
      <p:sp>
        <p:nvSpPr>
          <p:cNvPr id="98307" name="Content Placeholder 2">
            <a:extLst>
              <a:ext uri="{FF2B5EF4-FFF2-40B4-BE49-F238E27FC236}">
                <a16:creationId xmlns:a16="http://schemas.microsoft.com/office/drawing/2014/main" id="{0E8AFC19-2093-47C9-8C49-C7118EC3C581}"/>
              </a:ext>
            </a:extLst>
          </p:cNvPr>
          <p:cNvSpPr>
            <a:spLocks noGrp="1" noChangeArrowheads="1"/>
          </p:cNvSpPr>
          <p:nvPr>
            <p:ph sz="half" idx="1"/>
          </p:nvPr>
        </p:nvSpPr>
        <p:spPr>
          <a:xfrm>
            <a:off x="1068404" y="789469"/>
            <a:ext cx="6278693" cy="1028699"/>
          </a:xfrm>
        </p:spPr>
        <p:txBody>
          <a:bodyPr/>
          <a:lstStyle/>
          <a:p>
            <a:r>
              <a:rPr lang="en-US" altLang="en-US" sz="2000" b="1" dirty="0">
                <a:solidFill>
                  <a:srgbClr val="3366FF"/>
                </a:solidFill>
              </a:rPr>
              <a:t>Binary search tree </a:t>
            </a:r>
            <a:r>
              <a:rPr lang="en-US" altLang="en-US" sz="2000" dirty="0"/>
              <a:t>left &lt;= right</a:t>
            </a:r>
          </a:p>
          <a:p>
            <a:pPr lvl="1"/>
            <a:r>
              <a:rPr lang="en-US" altLang="en-US" sz="1800" dirty="0"/>
              <a:t>Search performance is </a:t>
            </a:r>
            <a:r>
              <a:rPr lang="en-US" altLang="en-US" sz="1800" i="1" dirty="0"/>
              <a:t>O</a:t>
            </a:r>
            <a:r>
              <a:rPr lang="en-US" altLang="en-US" sz="1800" dirty="0"/>
              <a:t>(</a:t>
            </a:r>
            <a:r>
              <a:rPr lang="en-US" altLang="en-US" sz="1800" i="1" dirty="0"/>
              <a:t>n</a:t>
            </a:r>
            <a:r>
              <a:rPr lang="en-US" altLang="en-US" sz="1800" dirty="0"/>
              <a:t>)</a:t>
            </a:r>
          </a:p>
          <a:p>
            <a:pPr lvl="1"/>
            <a:r>
              <a:rPr lang="en-US" altLang="en-US" sz="1800" b="1" dirty="0">
                <a:solidFill>
                  <a:srgbClr val="3366FF"/>
                </a:solidFill>
              </a:rPr>
              <a:t>Balanced binary search tree </a:t>
            </a:r>
            <a:r>
              <a:rPr lang="en-US" altLang="en-US" sz="1800" dirty="0"/>
              <a:t>is </a:t>
            </a:r>
            <a:r>
              <a:rPr lang="en-US" altLang="en-US" sz="1800" i="1" dirty="0"/>
              <a:t>O</a:t>
            </a:r>
            <a:r>
              <a:rPr lang="en-US" altLang="en-US" sz="1800" dirty="0"/>
              <a:t>(</a:t>
            </a:r>
            <a:r>
              <a:rPr lang="en-US" altLang="en-US" sz="1800" i="1" dirty="0"/>
              <a:t>log n</a:t>
            </a:r>
            <a:r>
              <a:rPr lang="en-US" altLang="en-US" sz="1800" dirty="0"/>
              <a:t>)</a:t>
            </a:r>
          </a:p>
        </p:txBody>
      </p:sp>
      <p:pic>
        <p:nvPicPr>
          <p:cNvPr id="98308" name="Picture 1" descr="1_16.pdf">
            <a:extLst>
              <a:ext uri="{FF2B5EF4-FFF2-40B4-BE49-F238E27FC236}">
                <a16:creationId xmlns:a16="http://schemas.microsoft.com/office/drawing/2014/main" id="{8A7EC466-9A66-4BE5-B140-99E2169313D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205993" y="2091328"/>
            <a:ext cx="2732014" cy="21324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a:extLst>
              <a:ext uri="{FF2B5EF4-FFF2-40B4-BE49-F238E27FC236}">
                <a16:creationId xmlns:a16="http://schemas.microsoft.com/office/drawing/2014/main" id="{B44EE6AD-1F0B-9C05-F53E-3276EEAD434A}"/>
              </a:ext>
            </a:extLst>
          </p:cNvPr>
          <p:cNvSpPr>
            <a:spLocks noGrp="1"/>
          </p:cNvSpPr>
          <p:nvPr>
            <p:ph type="sldNum" sz="quarter" idx="10"/>
          </p:nvPr>
        </p:nvSpPr>
        <p:spPr/>
        <p:txBody>
          <a:bodyPr/>
          <a:lstStyle/>
          <a:p>
            <a:fld id="{D9B6BDF2-6896-4B98-8776-C18582F63BA5}" type="slidenum">
              <a:rPr lang="zh-TW" altLang="en-US" smtClean="0"/>
              <a:pPr/>
              <a:t>37</a:t>
            </a:fld>
            <a:endParaRPr lang="zh-TW" altLang="en-US"/>
          </a:p>
        </p:txBody>
      </p:sp>
    </p:spTree>
    <p:extLst>
      <p:ext uri="{BB962C8B-B14F-4D97-AF65-F5344CB8AC3E}">
        <p14:creationId xmlns:p14="http://schemas.microsoft.com/office/powerpoint/2010/main" val="378479754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Title 1">
            <a:extLst>
              <a:ext uri="{FF2B5EF4-FFF2-40B4-BE49-F238E27FC236}">
                <a16:creationId xmlns:a16="http://schemas.microsoft.com/office/drawing/2014/main" id="{6DFC2181-041F-4221-8028-84EBEE448D21}"/>
              </a:ext>
            </a:extLst>
          </p:cNvPr>
          <p:cNvSpPr>
            <a:spLocks noGrp="1" noChangeArrowheads="1"/>
          </p:cNvSpPr>
          <p:nvPr>
            <p:ph type="title"/>
          </p:nvPr>
        </p:nvSpPr>
        <p:spPr>
          <a:xfrm>
            <a:off x="914400" y="163116"/>
            <a:ext cx="6743700" cy="432197"/>
          </a:xfrm>
        </p:spPr>
        <p:txBody>
          <a:bodyPr/>
          <a:lstStyle/>
          <a:p>
            <a:r>
              <a:rPr lang="en-US" altLang="en-US" sz="3200" dirty="0">
                <a:cs typeface="Calibri" panose="020F0502020204030204" pitchFamily="34" charset="0"/>
              </a:rPr>
              <a:t>Kernel Data Structures (3)</a:t>
            </a:r>
          </a:p>
        </p:txBody>
      </p:sp>
      <p:sp>
        <p:nvSpPr>
          <p:cNvPr id="99331" name="Content Placeholder 2">
            <a:extLst>
              <a:ext uri="{FF2B5EF4-FFF2-40B4-BE49-F238E27FC236}">
                <a16:creationId xmlns:a16="http://schemas.microsoft.com/office/drawing/2014/main" id="{68AEA443-4F4C-44F5-BED3-7DA9622A4396}"/>
              </a:ext>
            </a:extLst>
          </p:cNvPr>
          <p:cNvSpPr>
            <a:spLocks noGrp="1" noChangeArrowheads="1"/>
          </p:cNvSpPr>
          <p:nvPr>
            <p:ph sz="half" idx="1"/>
          </p:nvPr>
        </p:nvSpPr>
        <p:spPr>
          <a:xfrm>
            <a:off x="1018067" y="925116"/>
            <a:ext cx="7509915" cy="3444866"/>
          </a:xfrm>
        </p:spPr>
        <p:txBody>
          <a:bodyPr/>
          <a:lstStyle/>
          <a:p>
            <a:r>
              <a:rPr lang="en-US" altLang="en-US" sz="2000" b="1" dirty="0">
                <a:solidFill>
                  <a:srgbClr val="3366FF"/>
                </a:solidFill>
              </a:rPr>
              <a:t>Hash function </a:t>
            </a:r>
            <a:r>
              <a:rPr lang="en-US" altLang="en-US" sz="2000" dirty="0"/>
              <a:t>can create a</a:t>
            </a:r>
            <a:r>
              <a:rPr lang="en-US" altLang="en-US" sz="2000" b="1" dirty="0">
                <a:solidFill>
                  <a:srgbClr val="3366FF"/>
                </a:solidFill>
              </a:rPr>
              <a:t> hash map</a:t>
            </a:r>
          </a:p>
          <a:p>
            <a:endParaRPr lang="en-US" altLang="en-US" sz="2000" b="1" i="1" dirty="0">
              <a:solidFill>
                <a:srgbClr val="3366FF"/>
              </a:solidFill>
            </a:endParaRPr>
          </a:p>
          <a:p>
            <a:endParaRPr lang="en-US" altLang="en-US" sz="2000" b="1" i="1" dirty="0">
              <a:solidFill>
                <a:srgbClr val="3366FF"/>
              </a:solidFill>
            </a:endParaRPr>
          </a:p>
          <a:p>
            <a:endParaRPr lang="en-US" altLang="en-US" sz="2000" b="1" i="1" dirty="0">
              <a:solidFill>
                <a:srgbClr val="3366FF"/>
              </a:solidFill>
            </a:endParaRPr>
          </a:p>
          <a:p>
            <a:pPr marL="0" indent="0">
              <a:buNone/>
            </a:pPr>
            <a:endParaRPr lang="en-US" altLang="en-US" sz="2000" b="1" i="1" dirty="0">
              <a:solidFill>
                <a:srgbClr val="3366FF"/>
              </a:solidFill>
            </a:endParaRPr>
          </a:p>
          <a:p>
            <a:pPr>
              <a:buFont typeface="Monotype Sorts" pitchFamily="-84" charset="2"/>
              <a:buNone/>
            </a:pPr>
            <a:endParaRPr lang="en-US" altLang="en-US" sz="2000" b="1" i="1" dirty="0">
              <a:solidFill>
                <a:srgbClr val="3366FF"/>
              </a:solidFill>
            </a:endParaRPr>
          </a:p>
          <a:p>
            <a:r>
              <a:rPr lang="en-US" altLang="en-US" sz="2000" b="1" dirty="0">
                <a:solidFill>
                  <a:srgbClr val="3366FF"/>
                </a:solidFill>
              </a:rPr>
              <a:t>Bitmap</a:t>
            </a:r>
            <a:r>
              <a:rPr lang="en-US" altLang="en-US" sz="2000" dirty="0"/>
              <a:t> – string of </a:t>
            </a:r>
            <a:r>
              <a:rPr lang="en-US" altLang="en-US" sz="2000" i="1" dirty="0"/>
              <a:t>n</a:t>
            </a:r>
            <a:r>
              <a:rPr lang="en-US" altLang="en-US" sz="2000" dirty="0"/>
              <a:t> binary digits representing the status of </a:t>
            </a:r>
            <a:r>
              <a:rPr lang="en-US" altLang="en-US" sz="2000" i="1" dirty="0"/>
              <a:t>n</a:t>
            </a:r>
            <a:r>
              <a:rPr lang="en-US" altLang="en-US" sz="2000" dirty="0"/>
              <a:t> items</a:t>
            </a:r>
          </a:p>
          <a:p>
            <a:r>
              <a:rPr lang="en-US" altLang="en-US" sz="2000" dirty="0"/>
              <a:t>Linux data structures defined in </a:t>
            </a:r>
            <a:r>
              <a:rPr lang="en-US" altLang="en-US" sz="2000" b="1" i="1" dirty="0"/>
              <a:t>include</a:t>
            </a:r>
            <a:r>
              <a:rPr lang="en-US" altLang="en-US" sz="2000" dirty="0"/>
              <a:t> files </a:t>
            </a:r>
            <a:r>
              <a:rPr lang="en-US" altLang="en-US" sz="2000" dirty="0">
                <a:latin typeface="Courier New" panose="02070309020205020404" pitchFamily="49" charset="0"/>
                <a:cs typeface="Courier New" panose="02070309020205020404" pitchFamily="49" charset="0"/>
              </a:rPr>
              <a:t>&lt;</a:t>
            </a:r>
            <a:r>
              <a:rPr lang="en-US" altLang="en-US" sz="2000" dirty="0" err="1">
                <a:latin typeface="Courier New" panose="02070309020205020404" pitchFamily="49" charset="0"/>
                <a:cs typeface="Courier New" panose="02070309020205020404" pitchFamily="49" charset="0"/>
              </a:rPr>
              <a:t>linux</a:t>
            </a:r>
            <a:r>
              <a:rPr lang="en-US" altLang="en-US" sz="2000" dirty="0">
                <a:latin typeface="Courier New" panose="02070309020205020404" pitchFamily="49" charset="0"/>
                <a:cs typeface="Courier New" panose="02070309020205020404" pitchFamily="49" charset="0"/>
              </a:rPr>
              <a:t>/</a:t>
            </a:r>
            <a:r>
              <a:rPr lang="en-US" altLang="en-US" sz="2000" dirty="0" err="1">
                <a:latin typeface="Courier New" panose="02070309020205020404" pitchFamily="49" charset="0"/>
                <a:cs typeface="Courier New" panose="02070309020205020404" pitchFamily="49" charset="0"/>
              </a:rPr>
              <a:t>list.h</a:t>
            </a:r>
            <a:r>
              <a:rPr lang="en-US" altLang="en-US" sz="2000" dirty="0">
                <a:latin typeface="Courier New" panose="02070309020205020404" pitchFamily="49" charset="0"/>
                <a:cs typeface="Courier New" panose="02070309020205020404" pitchFamily="49" charset="0"/>
              </a:rPr>
              <a:t>&gt;, &lt;</a:t>
            </a:r>
            <a:r>
              <a:rPr lang="en-US" altLang="en-US" sz="2000" dirty="0" err="1">
                <a:latin typeface="Courier New" panose="02070309020205020404" pitchFamily="49" charset="0"/>
                <a:cs typeface="Courier New" panose="02070309020205020404" pitchFamily="49" charset="0"/>
              </a:rPr>
              <a:t>linux</a:t>
            </a:r>
            <a:r>
              <a:rPr lang="en-US" altLang="en-US" sz="2000" dirty="0">
                <a:latin typeface="Courier New" panose="02070309020205020404" pitchFamily="49" charset="0"/>
                <a:cs typeface="Courier New" panose="02070309020205020404" pitchFamily="49" charset="0"/>
              </a:rPr>
              <a:t>/</a:t>
            </a:r>
            <a:r>
              <a:rPr lang="en-US" altLang="en-US" sz="2000" dirty="0" err="1">
                <a:latin typeface="Courier New" panose="02070309020205020404" pitchFamily="49" charset="0"/>
                <a:cs typeface="Courier New" panose="02070309020205020404" pitchFamily="49" charset="0"/>
              </a:rPr>
              <a:t>kfifo.h</a:t>
            </a:r>
            <a:r>
              <a:rPr lang="en-US" altLang="en-US" sz="2000" dirty="0">
                <a:latin typeface="Courier New" panose="02070309020205020404" pitchFamily="49" charset="0"/>
                <a:cs typeface="Courier New" panose="02070309020205020404" pitchFamily="49" charset="0"/>
              </a:rPr>
              <a:t>&gt;, &lt;</a:t>
            </a:r>
            <a:r>
              <a:rPr lang="en-US" altLang="en-US" sz="2000" dirty="0" err="1">
                <a:latin typeface="Courier New" panose="02070309020205020404" pitchFamily="49" charset="0"/>
                <a:cs typeface="Courier New" panose="02070309020205020404" pitchFamily="49" charset="0"/>
              </a:rPr>
              <a:t>linux</a:t>
            </a:r>
            <a:r>
              <a:rPr lang="en-US" altLang="en-US" sz="2000" dirty="0">
                <a:latin typeface="Courier New" panose="02070309020205020404" pitchFamily="49" charset="0"/>
                <a:cs typeface="Courier New" panose="02070309020205020404" pitchFamily="49" charset="0"/>
              </a:rPr>
              <a:t>/</a:t>
            </a:r>
            <a:r>
              <a:rPr lang="en-US" altLang="en-US" sz="2000" dirty="0" err="1">
                <a:latin typeface="Courier New" panose="02070309020205020404" pitchFamily="49" charset="0"/>
                <a:cs typeface="Courier New" panose="02070309020205020404" pitchFamily="49" charset="0"/>
              </a:rPr>
              <a:t>rbtree.h</a:t>
            </a:r>
            <a:r>
              <a:rPr lang="en-US" altLang="en-US" sz="2000" dirty="0">
                <a:latin typeface="Courier New" panose="02070309020205020404" pitchFamily="49" charset="0"/>
                <a:cs typeface="Courier New" panose="02070309020205020404" pitchFamily="49" charset="0"/>
              </a:rPr>
              <a:t>&gt;</a:t>
            </a:r>
            <a:endParaRPr lang="en-US" altLang="en-US" sz="2000" dirty="0"/>
          </a:p>
        </p:txBody>
      </p:sp>
      <p:pic>
        <p:nvPicPr>
          <p:cNvPr id="99332" name="Picture 3" descr="1_17.pdf">
            <a:extLst>
              <a:ext uri="{FF2B5EF4-FFF2-40B4-BE49-F238E27FC236}">
                <a16:creationId xmlns:a16="http://schemas.microsoft.com/office/drawing/2014/main" id="{AAB8F4DC-3B59-48C6-B567-82DFFF272A1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712244" y="1445919"/>
            <a:ext cx="3655219" cy="1471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a:extLst>
              <a:ext uri="{FF2B5EF4-FFF2-40B4-BE49-F238E27FC236}">
                <a16:creationId xmlns:a16="http://schemas.microsoft.com/office/drawing/2014/main" id="{CA2569EB-5B83-0335-A8EA-848E6CF60733}"/>
              </a:ext>
            </a:extLst>
          </p:cNvPr>
          <p:cNvSpPr>
            <a:spLocks noGrp="1"/>
          </p:cNvSpPr>
          <p:nvPr>
            <p:ph type="sldNum" sz="quarter" idx="10"/>
          </p:nvPr>
        </p:nvSpPr>
        <p:spPr/>
        <p:txBody>
          <a:bodyPr/>
          <a:lstStyle/>
          <a:p>
            <a:fld id="{D9B6BDF2-6896-4B98-8776-C18582F63BA5}" type="slidenum">
              <a:rPr lang="zh-TW" altLang="en-US" smtClean="0"/>
              <a:pPr/>
              <a:t>38</a:t>
            </a:fld>
            <a:endParaRPr lang="zh-TW" altLang="en-US"/>
          </a:p>
        </p:txBody>
      </p:sp>
    </p:spTree>
    <p:extLst>
      <p:ext uri="{BB962C8B-B14F-4D97-AF65-F5344CB8AC3E}">
        <p14:creationId xmlns:p14="http://schemas.microsoft.com/office/powerpoint/2010/main" val="233735186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F95B4141-7440-A3FD-7C2A-2971C5242A0D}"/>
              </a:ext>
            </a:extLst>
          </p:cNvPr>
          <p:cNvSpPr>
            <a:spLocks noGrp="1"/>
          </p:cNvSpPr>
          <p:nvPr>
            <p:ph type="sldNum" sz="quarter" idx="10"/>
          </p:nvPr>
        </p:nvSpPr>
        <p:spPr/>
        <p:txBody>
          <a:bodyPr/>
          <a:lstStyle/>
          <a:p>
            <a:fld id="{D9B6BDF2-6896-4B98-8776-C18582F63BA5}" type="slidenum">
              <a:rPr lang="zh-TW" altLang="en-US" smtClean="0"/>
              <a:pPr/>
              <a:t>39</a:t>
            </a:fld>
            <a:endParaRPr lang="zh-TW" altLang="en-US"/>
          </a:p>
        </p:txBody>
      </p:sp>
      <p:sp>
        <p:nvSpPr>
          <p:cNvPr id="5" name="Rectangle 2">
            <a:extLst>
              <a:ext uri="{FF2B5EF4-FFF2-40B4-BE49-F238E27FC236}">
                <a16:creationId xmlns:a16="http://schemas.microsoft.com/office/drawing/2014/main" id="{78256E24-10D0-2DC9-F2CB-CB3430051D5A}"/>
              </a:ext>
            </a:extLst>
          </p:cNvPr>
          <p:cNvSpPr txBox="1">
            <a:spLocks noChangeArrowheads="1"/>
          </p:cNvSpPr>
          <p:nvPr/>
        </p:nvSpPr>
        <p:spPr bwMode="auto">
          <a:xfrm>
            <a:off x="435543" y="2757037"/>
            <a:ext cx="7772400" cy="159543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j-cs"/>
              </a:defRPr>
            </a:lvl1pPr>
            <a:lvl2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5pPr>
            <a:lvl6pPr marL="342891" algn="l" rtl="0" eaLnBrk="1" fontAlgn="base" hangingPunct="1">
              <a:spcBef>
                <a:spcPct val="0"/>
              </a:spcBef>
              <a:spcAft>
                <a:spcPct val="0"/>
              </a:spcAft>
              <a:defRPr kumimoji="1" sz="2251" b="1">
                <a:solidFill>
                  <a:schemeClr val="tx2"/>
                </a:solidFill>
                <a:latin typeface="MS Sans Serif"/>
                <a:ea typeface="MS Sans Serif"/>
                <a:cs typeface="MS Sans Serif"/>
              </a:defRPr>
            </a:lvl6pPr>
            <a:lvl7pPr marL="685783" algn="l" rtl="0" eaLnBrk="1" fontAlgn="base" hangingPunct="1">
              <a:spcBef>
                <a:spcPct val="0"/>
              </a:spcBef>
              <a:spcAft>
                <a:spcPct val="0"/>
              </a:spcAft>
              <a:defRPr kumimoji="1" sz="2251" b="1">
                <a:solidFill>
                  <a:schemeClr val="tx2"/>
                </a:solidFill>
                <a:latin typeface="MS Sans Serif"/>
                <a:ea typeface="MS Sans Serif"/>
                <a:cs typeface="MS Sans Serif"/>
              </a:defRPr>
            </a:lvl7pPr>
            <a:lvl8pPr marL="1028674" algn="l" rtl="0" eaLnBrk="1" fontAlgn="base" hangingPunct="1">
              <a:spcBef>
                <a:spcPct val="0"/>
              </a:spcBef>
              <a:spcAft>
                <a:spcPct val="0"/>
              </a:spcAft>
              <a:defRPr kumimoji="1" sz="2251" b="1">
                <a:solidFill>
                  <a:schemeClr val="tx2"/>
                </a:solidFill>
                <a:latin typeface="MS Sans Serif"/>
                <a:ea typeface="MS Sans Serif"/>
                <a:cs typeface="MS Sans Serif"/>
              </a:defRPr>
            </a:lvl8pPr>
            <a:lvl9pPr marL="1371566" algn="l" rtl="0" eaLnBrk="1" fontAlgn="base" hangingPunct="1">
              <a:spcBef>
                <a:spcPct val="0"/>
              </a:spcBef>
              <a:spcAft>
                <a:spcPct val="0"/>
              </a:spcAft>
              <a:defRPr kumimoji="1" sz="2251" b="1">
                <a:solidFill>
                  <a:schemeClr val="tx2"/>
                </a:solidFill>
                <a:latin typeface="MS Sans Serif"/>
                <a:ea typeface="MS Sans Serif"/>
                <a:cs typeface="MS Sans Serif"/>
              </a:defRPr>
            </a:lvl9pPr>
          </a:lstStyle>
          <a:p>
            <a:r>
              <a:rPr lang="en-US" altLang="en-US" kern="0" dirty="0"/>
              <a:t>End of </a:t>
            </a:r>
            <a:r>
              <a:rPr lang="en-US" altLang="en-US" kern="0"/>
              <a:t>Chapter 1</a:t>
            </a:r>
            <a:endParaRPr lang="en-US" altLang="en-US" kern="0" dirty="0"/>
          </a:p>
        </p:txBody>
      </p:sp>
    </p:spTree>
    <p:extLst>
      <p:ext uri="{BB962C8B-B14F-4D97-AF65-F5344CB8AC3E}">
        <p14:creationId xmlns:p14="http://schemas.microsoft.com/office/powerpoint/2010/main" val="143160674"/>
      </p:ext>
    </p:extLst>
  </p:cSld>
  <p:clrMapOvr>
    <a:masterClrMapping/>
  </p:clrMapOvr>
</p:sld>
</file>

<file path=ppt/theme/theme1.xml><?xml version="1.0" encoding="utf-8"?>
<a:theme xmlns:a="http://schemas.openxmlformats.org/drawingml/2006/main" name="NTHU UniCloud">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預設簡報設計">
      <a:majorFont>
        <a:latin typeface="MS Sans Serif"/>
        <a:ea typeface="MS Sans Serif"/>
        <a:cs typeface="MS Sans Serif"/>
      </a:majorFont>
      <a:minorFont>
        <a:latin typeface="Arial"/>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spDef>
    <a:ln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lnDef>
    <a:txDef>
      <a:spPr>
        <a:noFill/>
      </a:spPr>
      <a:bodyPr wrap="none" rtlCol="0" anchor="ctr" anchorCtr="1">
        <a:spAutoFit/>
      </a:bodyPr>
      <a:lstStyle>
        <a:defPPr>
          <a:defRPr dirty="0" smtClean="0">
            <a:ea typeface="標楷體" pitchFamily="65" charset="-120"/>
            <a:cs typeface="Calibri" pitchFamily="34" charset="0"/>
          </a:defRPr>
        </a:defPPr>
      </a:lstStyle>
    </a:txDef>
  </a:objectDefaults>
  <a:extraClrSchemeLst>
    <a:extraClrScheme>
      <a:clrScheme name="預設簡報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預設簡報設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預設簡報設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預設簡報設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預設簡報設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預設簡報設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預設簡報設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預設簡報設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預設簡報設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預設簡報設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預設簡報設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預設簡報設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NTHU UniCloud" id="{771810AA-CEBD-463A-B947-7C0DFAF8BB54}" vid="{30CF6CD1-9989-4B2E-8702-709C1DF65D8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NTHU UniCloud</Template>
  <TotalTime>2551</TotalTime>
  <Words>2484</Words>
  <Application>Microsoft Office PowerPoint</Application>
  <PresentationFormat>全屏显示(16:9)</PresentationFormat>
  <Paragraphs>320</Paragraphs>
  <Slides>39</Slides>
  <Notes>27</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39</vt:i4>
      </vt:variant>
    </vt:vector>
  </HeadingPairs>
  <TitlesOfParts>
    <vt:vector size="49" baseType="lpstr">
      <vt:lpstr>Monotype Sorts</vt:lpstr>
      <vt:lpstr>MS PGothic</vt:lpstr>
      <vt:lpstr>MS Sans Serif</vt:lpstr>
      <vt:lpstr>Arial</vt:lpstr>
      <vt:lpstr>Calibri</vt:lpstr>
      <vt:lpstr>Courier New</vt:lpstr>
      <vt:lpstr>Times New Roman</vt:lpstr>
      <vt:lpstr>Verdana</vt:lpstr>
      <vt:lpstr>Wingdings</vt:lpstr>
      <vt:lpstr>NTHU UniCloud</vt:lpstr>
      <vt:lpstr>CSC3150 – Operating Systems</vt:lpstr>
      <vt:lpstr>Introduction</vt:lpstr>
      <vt:lpstr>Objectives</vt:lpstr>
      <vt:lpstr>Process Management</vt:lpstr>
      <vt:lpstr>Process Management Activities</vt:lpstr>
      <vt:lpstr>Memory Management</vt:lpstr>
      <vt:lpstr>Caching</vt:lpstr>
      <vt:lpstr>Migration of Data “A” from Disk to Register</vt:lpstr>
      <vt:lpstr>File-System Management</vt:lpstr>
      <vt:lpstr>Mass-Storage Management</vt:lpstr>
      <vt:lpstr>Characteristics of Various Types of Storage</vt:lpstr>
      <vt:lpstr>I/O Subsystem</vt:lpstr>
      <vt:lpstr>Protection and Security</vt:lpstr>
      <vt:lpstr>Virtualization (1)</vt:lpstr>
      <vt:lpstr>Virtualization (2)</vt:lpstr>
      <vt:lpstr>Computing Environments - Virtualization</vt:lpstr>
      <vt:lpstr>Distributed Systems</vt:lpstr>
      <vt:lpstr>Computer-System Architecture</vt:lpstr>
      <vt:lpstr>Symmetric Multiprocessing Architecture</vt:lpstr>
      <vt:lpstr>Dual-Core Design</vt:lpstr>
      <vt:lpstr>Non-Uniform Memory Access System</vt:lpstr>
      <vt:lpstr>Clustered Systems (1)</vt:lpstr>
      <vt:lpstr>Clustered Systems (2)</vt:lpstr>
      <vt:lpstr>PC Motherboard</vt:lpstr>
      <vt:lpstr>Computing Environments</vt:lpstr>
      <vt:lpstr>Computing Environments - Traditional</vt:lpstr>
      <vt:lpstr>Computing Environments - Mobile</vt:lpstr>
      <vt:lpstr>Computing Environments - Client Server</vt:lpstr>
      <vt:lpstr>Computing Environments - Peer-to-Peer</vt:lpstr>
      <vt:lpstr>Computing Environments - Cloud Computing (1)</vt:lpstr>
      <vt:lpstr>Computing Environments - Cloud Computing (2)</vt:lpstr>
      <vt:lpstr>PowerPoint 演示文稿</vt:lpstr>
      <vt:lpstr>Computing Environments - Real-Time Embedded Systems</vt:lpstr>
      <vt:lpstr>Free and Open-Source Operating Systems</vt:lpstr>
      <vt:lpstr>The Study of Operating Systems</vt:lpstr>
      <vt:lpstr>Kernel Data Structures (1)</vt:lpstr>
      <vt:lpstr>Kernel Data Structures (2) </vt:lpstr>
      <vt:lpstr>Kernel Data Structures (3)</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Open 5G / IoT Cloud Platform</dc:title>
  <dc:creator>Wu-Chun Chung</dc:creator>
  <cp:lastModifiedBy>Yeh-Ching Chung</cp:lastModifiedBy>
  <cp:revision>288</cp:revision>
  <dcterms:created xsi:type="dcterms:W3CDTF">2015-06-05T07:23:35Z</dcterms:created>
  <dcterms:modified xsi:type="dcterms:W3CDTF">2025-07-25T03:18:16Z</dcterms:modified>
</cp:coreProperties>
</file>