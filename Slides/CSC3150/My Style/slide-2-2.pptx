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handoutMasterIdLst>
    <p:handoutMasterId r:id="rId35"/>
  </p:handoutMasterIdLst>
  <p:sldIdLst>
    <p:sldId id="256" r:id="rId2"/>
    <p:sldId id="275" r:id="rId3"/>
    <p:sldId id="287" r:id="rId4"/>
    <p:sldId id="368" r:id="rId5"/>
    <p:sldId id="369" r:id="rId6"/>
    <p:sldId id="282" r:id="rId7"/>
    <p:sldId id="370" r:id="rId8"/>
    <p:sldId id="333" r:id="rId9"/>
    <p:sldId id="352" r:id="rId10"/>
    <p:sldId id="353" r:id="rId11"/>
    <p:sldId id="305" r:id="rId12"/>
    <p:sldId id="306" r:id="rId13"/>
    <p:sldId id="371" r:id="rId14"/>
    <p:sldId id="307" r:id="rId15"/>
    <p:sldId id="310" r:id="rId16"/>
    <p:sldId id="354" r:id="rId17"/>
    <p:sldId id="313" r:id="rId18"/>
    <p:sldId id="355" r:id="rId19"/>
    <p:sldId id="356" r:id="rId20"/>
    <p:sldId id="372" r:id="rId21"/>
    <p:sldId id="357" r:id="rId22"/>
    <p:sldId id="358" r:id="rId23"/>
    <p:sldId id="359" r:id="rId24"/>
    <p:sldId id="286" r:id="rId25"/>
    <p:sldId id="374" r:id="rId26"/>
    <p:sldId id="373" r:id="rId27"/>
    <p:sldId id="342" r:id="rId28"/>
    <p:sldId id="361" r:id="rId29"/>
    <p:sldId id="301" r:id="rId30"/>
    <p:sldId id="360" r:id="rId31"/>
    <p:sldId id="375" r:id="rId32"/>
    <p:sldId id="378" r:id="rId33"/>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95" autoAdjust="0"/>
    <p:restoredTop sz="94660"/>
  </p:normalViewPr>
  <p:slideViewPr>
    <p:cSldViewPr snapToGrid="0">
      <p:cViewPr varScale="1">
        <p:scale>
          <a:sx n="79" d="100"/>
          <a:sy n="79" d="100"/>
        </p:scale>
        <p:origin x="872" y="60"/>
      </p:cViewPr>
      <p:guideLst>
        <p:guide orient="horz" pos="2160"/>
        <p:guide pos="2880"/>
        <p:guide orient="horz" pos="162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2025/7/25</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2025/7/25</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A6A822E9-8F13-47AB-9E4E-B18AB2E1FD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CCEF3C-8989-4032-A095-D133C1713EDA}"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8195" name="Rectangle 2">
            <a:extLst>
              <a:ext uri="{FF2B5EF4-FFF2-40B4-BE49-F238E27FC236}">
                <a16:creationId xmlns:a16="http://schemas.microsoft.com/office/drawing/2014/main" id="{3520E619-9440-4535-B6E9-BC7E8804B9A6}"/>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E55EEC95-E703-4EFF-BB87-4741BBEECC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A7699670-5331-4C7F-B66F-45A2105BA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55D0AF2-D85B-4E4E-89AE-3DAF63F14019}"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10243" name="Rectangle 2">
            <a:extLst>
              <a:ext uri="{FF2B5EF4-FFF2-40B4-BE49-F238E27FC236}">
                <a16:creationId xmlns:a16="http://schemas.microsoft.com/office/drawing/2014/main" id="{E043F316-76DC-4F8D-B0C9-695562CD827A}"/>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C70DB475-EF8D-4192-AEB8-E04565EC34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1F9D4368-2D5B-44CF-9769-7950A1E38A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D9A8E8-F4EA-46C2-B927-AF9B295CD51A}"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69635" name="Rectangle 2">
            <a:extLst>
              <a:ext uri="{FF2B5EF4-FFF2-40B4-BE49-F238E27FC236}">
                <a16:creationId xmlns:a16="http://schemas.microsoft.com/office/drawing/2014/main" id="{84751EBF-BF03-4EB3-AC59-8937FFC05BA1}"/>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363753AF-4080-4D90-93A4-E186735701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23AA3413-AA5F-4107-A578-F7FB97A1FD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3D0DC0-01F3-4FB1-9D33-C3D72C571382}"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71683" name="Rectangle 2">
            <a:extLst>
              <a:ext uri="{FF2B5EF4-FFF2-40B4-BE49-F238E27FC236}">
                <a16:creationId xmlns:a16="http://schemas.microsoft.com/office/drawing/2014/main" id="{AE841BF5-F8CC-496C-9A26-9FAB38639DD6}"/>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C7518A12-53B7-447C-9D59-09B9E72ECC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246EB841-3BA3-411E-B258-F2A764F737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114B98F-007C-43DF-A60D-1A7EAA91CCA7}"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
        <p:nvSpPr>
          <p:cNvPr id="73731" name="Rectangle 2">
            <a:extLst>
              <a:ext uri="{FF2B5EF4-FFF2-40B4-BE49-F238E27FC236}">
                <a16:creationId xmlns:a16="http://schemas.microsoft.com/office/drawing/2014/main" id="{8A048B8E-E398-4745-90F2-A532AC12A286}"/>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BA8F3B7A-4DFD-4CE0-A7BC-C9EB40B83D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35B19350-9654-4398-A98D-823F09730D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F99FAC0-3371-4115-9278-16B190E658AE}"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75779" name="Rectangle 2">
            <a:extLst>
              <a:ext uri="{FF2B5EF4-FFF2-40B4-BE49-F238E27FC236}">
                <a16:creationId xmlns:a16="http://schemas.microsoft.com/office/drawing/2014/main" id="{794AAB47-390A-4A95-8D6A-7698FE87FC2D}"/>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3AE11E17-0B37-495A-8D01-1E4B31D7DA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192ACBA4-A8FC-4E7A-80E9-AEAA75E564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D74938-55F7-4DC8-8764-970D10855290}"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78851" name="Rectangle 2">
            <a:extLst>
              <a:ext uri="{FF2B5EF4-FFF2-40B4-BE49-F238E27FC236}">
                <a16:creationId xmlns:a16="http://schemas.microsoft.com/office/drawing/2014/main" id="{09CC13A3-9CCE-4E8B-9A2A-FF400F3C45A1}"/>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A0F89BD5-8969-4268-BAAE-9A14BFA626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960C12AF-FD80-4BCF-8312-D4A136EA7A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D3A00BB-B4EE-42A4-AC24-302EB7D43EBC}"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80899" name="Rectangle 2">
            <a:extLst>
              <a:ext uri="{FF2B5EF4-FFF2-40B4-BE49-F238E27FC236}">
                <a16:creationId xmlns:a16="http://schemas.microsoft.com/office/drawing/2014/main" id="{72A2FE60-2ABA-4FD7-97DD-436C8BB9AE4D}"/>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75EC551F-647E-4616-B2E2-80AFFE0CA8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5F0601A3-B0CC-45B3-BBD4-0046CD87CF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16E5EEC-C07B-41DB-9CC3-1F02D0C0767C}"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82947" name="Rectangle 2">
            <a:extLst>
              <a:ext uri="{FF2B5EF4-FFF2-40B4-BE49-F238E27FC236}">
                <a16:creationId xmlns:a16="http://schemas.microsoft.com/office/drawing/2014/main" id="{DE277AD2-08FD-4FEB-9A71-97B80E63EA93}"/>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23FE59D0-CE1B-473F-8138-7566D6FAE1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A139EA7E-C5A3-4A16-AE42-C345AB123C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E57B5D2-DE8D-4EF9-889E-79B8E6EF3011}"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84995" name="Rectangle 2">
            <a:extLst>
              <a:ext uri="{FF2B5EF4-FFF2-40B4-BE49-F238E27FC236}">
                <a16:creationId xmlns:a16="http://schemas.microsoft.com/office/drawing/2014/main" id="{F853F4E3-8609-4C8C-A077-0E107BD51068}"/>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5D9017D7-59E4-444C-8B7D-582A16EDD8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E2AF9071-C2C8-4AE5-BF05-7904ECEB51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699B845-CED4-49E0-AFEF-48FD2C002C7A}"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87043" name="Rectangle 2">
            <a:extLst>
              <a:ext uri="{FF2B5EF4-FFF2-40B4-BE49-F238E27FC236}">
                <a16:creationId xmlns:a16="http://schemas.microsoft.com/office/drawing/2014/main" id="{4B359B74-A383-48FE-9C98-33D67BCB90F5}"/>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0CA34FAE-AB9D-469A-A39F-2D79F9D915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ACECBD7C-C5C5-49AB-A072-BF89D7C9BD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672991-CDC8-4F84-B8EB-CEEB23288ED8}"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89091" name="Rectangle 2">
            <a:extLst>
              <a:ext uri="{FF2B5EF4-FFF2-40B4-BE49-F238E27FC236}">
                <a16:creationId xmlns:a16="http://schemas.microsoft.com/office/drawing/2014/main" id="{EA73A052-CF76-4A71-B05B-5EEB72534B36}"/>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77FC5D12-EFEF-4B63-BAC5-16C49C6E5E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514AB2F1-7ECF-4654-B476-67C4FF1936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F372007-FB99-4F76-A744-2252F6525800}"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
        <p:nvSpPr>
          <p:cNvPr id="91139" name="Rectangle 2">
            <a:extLst>
              <a:ext uri="{FF2B5EF4-FFF2-40B4-BE49-F238E27FC236}">
                <a16:creationId xmlns:a16="http://schemas.microsoft.com/office/drawing/2014/main" id="{9CA4A4BF-9303-4366-B3C9-87C09BA7CEAE}"/>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0B9BD875-4589-4ADD-BA0B-1F2DD177BA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77F536C2-9FE0-4E79-A5E0-AFC384E498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491145-9F31-486F-A264-8B0A4A9C13B7}"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93187" name="Rectangle 2">
            <a:extLst>
              <a:ext uri="{FF2B5EF4-FFF2-40B4-BE49-F238E27FC236}">
                <a16:creationId xmlns:a16="http://schemas.microsoft.com/office/drawing/2014/main" id="{0D70963F-80A9-4E2C-BCB3-A8CDD51A9811}"/>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7E07D860-A14E-4FF1-8A49-679D6FBCDC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296D8EEA-686B-4379-9B06-52B63A1D3E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96CA01E-772D-40E8-9027-AB0D47C6C4E8}"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97283" name="Rectangle 2">
            <a:extLst>
              <a:ext uri="{FF2B5EF4-FFF2-40B4-BE49-F238E27FC236}">
                <a16:creationId xmlns:a16="http://schemas.microsoft.com/office/drawing/2014/main" id="{8D8E1EBF-2FD7-4B13-B103-9850A8F9C1FA}"/>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119EDC26-9459-43B0-9D0F-8C9D2D2BD7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C3DDD192-3990-4BAC-9FF7-B9EB07B563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2C44763-2F58-4848-BA5C-68BECC72D524}"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99331" name="Rectangle 2">
            <a:extLst>
              <a:ext uri="{FF2B5EF4-FFF2-40B4-BE49-F238E27FC236}">
                <a16:creationId xmlns:a16="http://schemas.microsoft.com/office/drawing/2014/main" id="{421BC8AC-63BB-4B03-AA64-444FBA516D1E}"/>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4C39D2BE-4C7A-463F-BE60-F42C3A682D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687F8760-28E9-4161-9350-142B4464B1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7E4E2C5-D11C-4ED8-A539-FE2C8C2C856E}"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101379" name="Rectangle 2">
            <a:extLst>
              <a:ext uri="{FF2B5EF4-FFF2-40B4-BE49-F238E27FC236}">
                <a16:creationId xmlns:a16="http://schemas.microsoft.com/office/drawing/2014/main" id="{9C9D9664-3E42-4464-B2E1-AA6A02DCB114}"/>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22C97BE7-F67C-448D-B392-2A74287586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AF406669-42D7-44B4-8C43-273FF77AB6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884C1EA-EE61-4B32-9717-6561C81C069A}"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103427" name="Rectangle 2">
            <a:extLst>
              <a:ext uri="{FF2B5EF4-FFF2-40B4-BE49-F238E27FC236}">
                <a16:creationId xmlns:a16="http://schemas.microsoft.com/office/drawing/2014/main" id="{AA286D85-5926-4E35-9302-DEB3B5EC290F}"/>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AFF0D118-2E86-45EB-A309-2BCA801CF7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15F842D0-B50C-43ED-A81B-735CB2F3CF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930AB3E-7AE2-4050-BFC0-A3100E231CFB}"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106499" name="Rectangle 2">
            <a:extLst>
              <a:ext uri="{FF2B5EF4-FFF2-40B4-BE49-F238E27FC236}">
                <a16:creationId xmlns:a16="http://schemas.microsoft.com/office/drawing/2014/main" id="{DB6535EE-412E-4748-B2FF-406F43550123}"/>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E17BF8DC-D131-402D-A170-25C5EFBC8B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C285C7AB-481B-4C36-9D5E-6A373E3AAECE}"/>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12595288-A8A1-4275-86ED-41647E9CAC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A5C6E0C8-8D05-4FC0-A615-BF217235A26B}"/>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06CCCF2B-4119-4DD1-8801-4FD12407E5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66AC6290-0A8F-4410-8EE6-B928A0A295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9BE7E25-DF2F-4168-BE5E-41CED28D4157}"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112643" name="Rectangle 2">
            <a:extLst>
              <a:ext uri="{FF2B5EF4-FFF2-40B4-BE49-F238E27FC236}">
                <a16:creationId xmlns:a16="http://schemas.microsoft.com/office/drawing/2014/main" id="{496B7A25-594B-4B19-95B7-A771AB982E5D}"/>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46A41592-F994-49A3-B7D1-777A14B85A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BB5927D9-28F8-431E-8A5D-E38622E7F6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17D4F6E-605C-4FD9-9638-53697B67B85A}"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114691" name="Rectangle 2">
            <a:extLst>
              <a:ext uri="{FF2B5EF4-FFF2-40B4-BE49-F238E27FC236}">
                <a16:creationId xmlns:a16="http://schemas.microsoft.com/office/drawing/2014/main" id="{D1BDAEE5-6C5F-4F98-A849-714E2F1C5DC5}"/>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859DDBEE-280C-4117-953E-E0EAAF1882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5570E0E3-E6FE-43E1-B5DE-3ED5EFEADE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F5F97B-5F60-4081-9DA6-42B9182CD2F7}"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DF8656C1-DC3D-4F7B-8EEC-2DA77E212E2B}"/>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2D181A27-FF52-4ECA-8E86-80B80103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5570E0E3-E6FE-43E1-B5DE-3ED5EFEADE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F5F97B-5F60-4081-9DA6-42B9182CD2F7}" type="slidenum">
              <a:rPr lang="en-US" altLang="en-US">
                <a:latin typeface="Times New Roman" panose="02020603050405020304" pitchFamily="18" charset="0"/>
              </a:rPr>
              <a:pPr/>
              <a:t>32</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DF8656C1-DC3D-4F7B-8EEC-2DA77E212E2B}"/>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2D181A27-FF52-4ECA-8E86-80B80103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84235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3">
            <a:extLst>
              <a:ext uri="{FF2B5EF4-FFF2-40B4-BE49-F238E27FC236}">
                <a16:creationId xmlns:a16="http://schemas.microsoft.com/office/drawing/2014/main" id="{4C67FEB8-36D3-4CC5-9713-36EE82A172D2}"/>
              </a:ext>
            </a:extLst>
          </p:cNvPr>
          <p:cNvSpPr/>
          <p:nvPr userDrawn="1"/>
        </p:nvSpPr>
        <p:spPr>
          <a:xfrm>
            <a:off x="669958" y="4681829"/>
            <a:ext cx="2192188" cy="400110"/>
          </a:xfrm>
          <a:prstGeom prst="rect">
            <a:avLst/>
          </a:prstGeom>
        </p:spPr>
        <p:txBody>
          <a:bodyPr wrap="square">
            <a:spAutoFit/>
          </a:bodyPr>
          <a:lstStyle/>
          <a:p>
            <a:pPr algn="ctr">
              <a:spcAft>
                <a:spcPts val="0"/>
              </a:spcAft>
            </a:pPr>
            <a:r>
              <a:rPr lang="zh-CN"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香港中文大学（深圳）数据科学院</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CUHK-SZ School of Data Science</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6003" y="826534"/>
            <a:ext cx="8547653" cy="1307066"/>
          </a:xfrm>
        </p:spPr>
        <p:txBody>
          <a:bodyPr/>
          <a:lstStyle/>
          <a:p>
            <a:pPr algn="ctr"/>
            <a:r>
              <a:rPr lang="en-US" altLang="zh-TW" sz="3600" dirty="0">
                <a:effectLst>
                  <a:outerShdw blurRad="38100" dist="38100" dir="2700000" algn="tl">
                    <a:srgbClr val="000000">
                      <a:alpha val="43137"/>
                    </a:srgbClr>
                  </a:outerShdw>
                </a:effectLst>
              </a:rPr>
              <a:t>CSC</a:t>
            </a:r>
            <a:r>
              <a:rPr lang="en-US" altLang="zh-CN" sz="3600" dirty="0">
                <a:effectLst>
                  <a:outerShdw blurRad="38100" dist="38100" dir="2700000" algn="tl">
                    <a:srgbClr val="000000">
                      <a:alpha val="43137"/>
                    </a:srgbClr>
                  </a:outerShdw>
                </a:effectLst>
              </a:rPr>
              <a:t>3150</a:t>
            </a:r>
            <a:r>
              <a:rPr lang="en-US" altLang="zh-TW" sz="3600" dirty="0">
                <a:effectLst>
                  <a:outerShdw blurRad="38100" dist="38100" dir="2700000" algn="tl">
                    <a:srgbClr val="000000">
                      <a:alpha val="43137"/>
                    </a:srgbClr>
                  </a:outerShdw>
                </a:effectLst>
              </a:rPr>
              <a:t> –Operating Systems</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a:t>
            </a:r>
            <a:r>
              <a:rPr lang="en-US" altLang="zh-CN" sz="2400" dirty="0"/>
              <a:t>Data </a:t>
            </a:r>
            <a:r>
              <a:rPr lang="en-US" altLang="zh-TW" sz="2400" dirty="0"/>
              <a:t>Science</a:t>
            </a:r>
          </a:p>
          <a:p>
            <a:r>
              <a:rPr lang="en-US" altLang="zh-TW" sz="2400" dirty="0"/>
              <a:t>Chinese University of Hong Kong, Shenzhen</a:t>
            </a:r>
          </a:p>
        </p:txBody>
      </p:sp>
      <p:sp>
        <p:nvSpPr>
          <p:cNvPr id="4" name="灯片编号占位符 3">
            <a:extLst>
              <a:ext uri="{FF2B5EF4-FFF2-40B4-BE49-F238E27FC236}">
                <a16:creationId xmlns:a16="http://schemas.microsoft.com/office/drawing/2014/main" id="{A8C13BE5-D8A7-4853-BC45-711A6C11425C}"/>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6BA1119-0E5B-4C51-B6FA-28152283ADA3}"/>
              </a:ext>
            </a:extLst>
          </p:cNvPr>
          <p:cNvSpPr>
            <a:spLocks noGrp="1" noChangeArrowheads="1"/>
          </p:cNvSpPr>
          <p:nvPr>
            <p:ph type="title"/>
          </p:nvPr>
        </p:nvSpPr>
        <p:spPr>
          <a:xfrm>
            <a:off x="890124" y="174826"/>
            <a:ext cx="6193619" cy="432197"/>
          </a:xfrm>
        </p:spPr>
        <p:txBody>
          <a:bodyPr/>
          <a:lstStyle/>
          <a:p>
            <a:pPr eaLnBrk="1" hangingPunct="1"/>
            <a:r>
              <a:rPr lang="en-US" altLang="en-US" sz="3200" dirty="0"/>
              <a:t>Outline</a:t>
            </a:r>
          </a:p>
        </p:txBody>
      </p:sp>
      <p:sp>
        <p:nvSpPr>
          <p:cNvPr id="7171" name="Rectangle 3">
            <a:extLst>
              <a:ext uri="{FF2B5EF4-FFF2-40B4-BE49-F238E27FC236}">
                <a16:creationId xmlns:a16="http://schemas.microsoft.com/office/drawing/2014/main" id="{B1102DF7-4A96-4DB4-93EE-EFEEB0DC39AF}"/>
              </a:ext>
            </a:extLst>
          </p:cNvPr>
          <p:cNvSpPr>
            <a:spLocks noGrp="1" noChangeArrowheads="1"/>
          </p:cNvSpPr>
          <p:nvPr>
            <p:ph type="body" idx="1"/>
          </p:nvPr>
        </p:nvSpPr>
        <p:spPr>
          <a:xfrm>
            <a:off x="1060057" y="839918"/>
            <a:ext cx="6437310" cy="3618794"/>
          </a:xfrm>
        </p:spPr>
        <p:txBody>
          <a:bodyPr/>
          <a:lstStyle/>
          <a:p>
            <a:r>
              <a:rPr lang="en-US" altLang="en-US" sz="2000" dirty="0"/>
              <a:t>Operating System Services</a:t>
            </a:r>
          </a:p>
          <a:p>
            <a:r>
              <a:rPr lang="en-US" altLang="en-US" sz="2000" dirty="0"/>
              <a:t>User and Operating System-Interface</a:t>
            </a:r>
          </a:p>
          <a:p>
            <a:r>
              <a:rPr lang="en-US" altLang="en-US" sz="2000" dirty="0"/>
              <a:t>System Calls</a:t>
            </a:r>
          </a:p>
          <a:p>
            <a:r>
              <a:rPr lang="en-US" altLang="en-US" sz="2000" dirty="0"/>
              <a:t>System Services</a:t>
            </a:r>
          </a:p>
          <a:p>
            <a:r>
              <a:rPr lang="en-US" altLang="en-US" sz="2000" dirty="0">
                <a:solidFill>
                  <a:srgbClr val="FF0000"/>
                </a:solidFill>
              </a:rPr>
              <a:t>Linkers and Loaders</a:t>
            </a:r>
          </a:p>
          <a:p>
            <a:r>
              <a:rPr lang="en-US" altLang="en-US" sz="2000" dirty="0">
                <a:solidFill>
                  <a:srgbClr val="FF0000"/>
                </a:solidFill>
              </a:rPr>
              <a:t>Why Applications are Operating System Specific</a:t>
            </a:r>
          </a:p>
          <a:p>
            <a:r>
              <a:rPr lang="en-US" altLang="en-US" sz="2000" dirty="0">
                <a:solidFill>
                  <a:srgbClr val="FF0000"/>
                </a:solidFill>
              </a:rPr>
              <a:t>Design and Implementation</a:t>
            </a:r>
          </a:p>
          <a:p>
            <a:r>
              <a:rPr lang="en-US" altLang="en-US" sz="2000" dirty="0">
                <a:solidFill>
                  <a:srgbClr val="FF0000"/>
                </a:solidFill>
              </a:rPr>
              <a:t>Operating System Structure</a:t>
            </a:r>
          </a:p>
          <a:p>
            <a:r>
              <a:rPr lang="en-US" altLang="en-US" sz="2000" dirty="0">
                <a:solidFill>
                  <a:srgbClr val="FF0000"/>
                </a:solidFill>
              </a:rPr>
              <a:t>Building and Booting an Operating System</a:t>
            </a:r>
          </a:p>
          <a:p>
            <a:r>
              <a:rPr lang="en-US" altLang="en-US" sz="2000" dirty="0">
                <a:solidFill>
                  <a:srgbClr val="FF0000"/>
                </a:solidFill>
              </a:rPr>
              <a:t>Operating System Debugging</a:t>
            </a:r>
          </a:p>
        </p:txBody>
      </p:sp>
      <p:sp>
        <p:nvSpPr>
          <p:cNvPr id="2" name="灯片编号占位符 1">
            <a:extLst>
              <a:ext uri="{FF2B5EF4-FFF2-40B4-BE49-F238E27FC236}">
                <a16:creationId xmlns:a16="http://schemas.microsoft.com/office/drawing/2014/main" id="{28FCA291-ABD3-A8B7-9180-3519648D5935}"/>
              </a:ext>
            </a:extLst>
          </p:cNvPr>
          <p:cNvSpPr>
            <a:spLocks noGrp="1"/>
          </p:cNvSpPr>
          <p:nvPr>
            <p:ph type="sldNum" sz="quarter" idx="10"/>
          </p:nvPr>
        </p:nvSpPr>
        <p:spPr/>
        <p:txBody>
          <a:bodyPr/>
          <a:lstStyle/>
          <a:p>
            <a:fld id="{D9B6BDF2-6896-4B98-8776-C18582F63BA5}"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AED6B521-18A7-4439-A63E-29BB58B6FD3B}"/>
              </a:ext>
            </a:extLst>
          </p:cNvPr>
          <p:cNvSpPr>
            <a:spLocks noGrp="1" noChangeArrowheads="1"/>
          </p:cNvSpPr>
          <p:nvPr>
            <p:ph type="title"/>
          </p:nvPr>
        </p:nvSpPr>
        <p:spPr>
          <a:xfrm>
            <a:off x="865848" y="108349"/>
            <a:ext cx="7809842" cy="519113"/>
          </a:xfrm>
        </p:spPr>
        <p:txBody>
          <a:bodyPr/>
          <a:lstStyle/>
          <a:p>
            <a:pPr eaLnBrk="1" hangingPunct="1"/>
            <a:r>
              <a:rPr lang="en-US" altLang="en-US" sz="3200" dirty="0"/>
              <a:t>Objectives</a:t>
            </a:r>
          </a:p>
        </p:txBody>
      </p:sp>
      <p:sp>
        <p:nvSpPr>
          <p:cNvPr id="9219" name="Rectangle 3">
            <a:extLst>
              <a:ext uri="{FF2B5EF4-FFF2-40B4-BE49-F238E27FC236}">
                <a16:creationId xmlns:a16="http://schemas.microsoft.com/office/drawing/2014/main" id="{6D078653-D1C2-4F9E-AC34-145815C46F6A}"/>
              </a:ext>
            </a:extLst>
          </p:cNvPr>
          <p:cNvSpPr>
            <a:spLocks noGrp="1" noChangeArrowheads="1"/>
          </p:cNvSpPr>
          <p:nvPr>
            <p:ph type="body" idx="1"/>
          </p:nvPr>
        </p:nvSpPr>
        <p:spPr>
          <a:xfrm>
            <a:off x="971045" y="925117"/>
            <a:ext cx="7444672" cy="3193729"/>
          </a:xfrm>
        </p:spPr>
        <p:txBody>
          <a:bodyPr/>
          <a:lstStyle/>
          <a:p>
            <a:r>
              <a:rPr lang="en-US" altLang="en-US" sz="2000" dirty="0"/>
              <a:t>Identify services provided by an operating system</a:t>
            </a:r>
          </a:p>
          <a:p>
            <a:r>
              <a:rPr lang="en-US" altLang="en-US" sz="2000" dirty="0"/>
              <a:t>Illustrate how system calls are used to provide operating system services</a:t>
            </a:r>
          </a:p>
          <a:p>
            <a:r>
              <a:rPr lang="en-US" altLang="en-US" sz="2000" dirty="0">
                <a:solidFill>
                  <a:srgbClr val="FF0000"/>
                </a:solidFill>
              </a:rPr>
              <a:t>Compare and contrast monolithic, layered, microkernel, modular, and hybrid strategies for designing operating systems</a:t>
            </a:r>
          </a:p>
          <a:p>
            <a:r>
              <a:rPr lang="en-US" altLang="en-US" sz="2000" dirty="0">
                <a:solidFill>
                  <a:srgbClr val="FF0000"/>
                </a:solidFill>
              </a:rPr>
              <a:t>Illustrate the process for booting an operating system</a:t>
            </a:r>
          </a:p>
          <a:p>
            <a:r>
              <a:rPr lang="en-US" altLang="en-US" sz="2000" dirty="0">
                <a:solidFill>
                  <a:srgbClr val="FF0000"/>
                </a:solidFill>
              </a:rPr>
              <a:t>Apply tools for monitoring operating system performance</a:t>
            </a:r>
          </a:p>
          <a:p>
            <a:r>
              <a:rPr lang="en-US" altLang="en-US" sz="2000" dirty="0">
                <a:solidFill>
                  <a:srgbClr val="FF0000"/>
                </a:solidFill>
              </a:rPr>
              <a:t>Design and implement kernel modules for interacting with a Linux kernel</a:t>
            </a:r>
          </a:p>
        </p:txBody>
      </p:sp>
      <p:sp>
        <p:nvSpPr>
          <p:cNvPr id="2" name="灯片编号占位符 1">
            <a:extLst>
              <a:ext uri="{FF2B5EF4-FFF2-40B4-BE49-F238E27FC236}">
                <a16:creationId xmlns:a16="http://schemas.microsoft.com/office/drawing/2014/main" id="{44E851F0-F582-3EA6-7F82-5D06CD0E12C3}"/>
              </a:ext>
            </a:extLst>
          </p:cNvPr>
          <p:cNvSpPr>
            <a:spLocks noGrp="1"/>
          </p:cNvSpPr>
          <p:nvPr>
            <p:ph type="sldNum" sz="quarter" idx="10"/>
          </p:nvPr>
        </p:nvSpPr>
        <p:spPr/>
        <p:txBody>
          <a:bodyPr/>
          <a:lstStyle/>
          <a:p>
            <a:fld id="{D9B6BDF2-6896-4B98-8776-C18582F63BA5}"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B139628D-AE2A-46FB-AA5B-FECFA241AAEF}"/>
              </a:ext>
            </a:extLst>
          </p:cNvPr>
          <p:cNvSpPr>
            <a:spLocks noGrp="1" noChangeArrowheads="1"/>
          </p:cNvSpPr>
          <p:nvPr>
            <p:ph type="title"/>
          </p:nvPr>
        </p:nvSpPr>
        <p:spPr>
          <a:xfrm>
            <a:off x="904775" y="108349"/>
            <a:ext cx="7770915" cy="519113"/>
          </a:xfrm>
        </p:spPr>
        <p:txBody>
          <a:bodyPr/>
          <a:lstStyle/>
          <a:p>
            <a:r>
              <a:rPr lang="en-US" altLang="en-US" sz="3200" dirty="0"/>
              <a:t>Linkers and Loaders</a:t>
            </a:r>
          </a:p>
        </p:txBody>
      </p:sp>
      <p:sp>
        <p:nvSpPr>
          <p:cNvPr id="66563" name="Content Placeholder 2">
            <a:extLst>
              <a:ext uri="{FF2B5EF4-FFF2-40B4-BE49-F238E27FC236}">
                <a16:creationId xmlns:a16="http://schemas.microsoft.com/office/drawing/2014/main" id="{F413004A-DAD3-4F03-A509-ECD5943DEFDE}"/>
              </a:ext>
            </a:extLst>
          </p:cNvPr>
          <p:cNvSpPr>
            <a:spLocks noGrp="1" noChangeArrowheads="1"/>
          </p:cNvSpPr>
          <p:nvPr>
            <p:ph idx="1"/>
          </p:nvPr>
        </p:nvSpPr>
        <p:spPr>
          <a:xfrm>
            <a:off x="728455" y="872933"/>
            <a:ext cx="8027303" cy="3659566"/>
          </a:xfrm>
        </p:spPr>
        <p:txBody>
          <a:bodyPr/>
          <a:lstStyle/>
          <a:p>
            <a:pPr>
              <a:spcBef>
                <a:spcPts val="0"/>
              </a:spcBef>
            </a:pPr>
            <a:r>
              <a:rPr lang="en-US" altLang="en-US" sz="1800" dirty="0">
                <a:ea typeface="+mn-ea"/>
                <a:cs typeface="Calibri" panose="020F0502020204030204" pitchFamily="34" charset="0"/>
              </a:rPr>
              <a:t>Source code compiled into object files designed to be loaded into any physical memory location – </a:t>
            </a:r>
            <a:r>
              <a:rPr lang="en-US" altLang="en-US" sz="1800" b="1" dirty="0">
                <a:solidFill>
                  <a:srgbClr val="006699"/>
                </a:solidFill>
                <a:ea typeface="+mn-ea"/>
                <a:cs typeface="Calibri" panose="020F0502020204030204" pitchFamily="34" charset="0"/>
              </a:rPr>
              <a:t>relocatable</a:t>
            </a:r>
            <a:r>
              <a:rPr lang="en-US" altLang="en-US" sz="1800" b="1" dirty="0">
                <a:solidFill>
                  <a:srgbClr val="3366FF"/>
                </a:solidFill>
                <a:ea typeface="+mn-ea"/>
                <a:cs typeface="Calibri" panose="020F0502020204030204" pitchFamily="34" charset="0"/>
              </a:rPr>
              <a:t> </a:t>
            </a:r>
            <a:r>
              <a:rPr lang="en-US" altLang="en-US" sz="1800" b="1" dirty="0">
                <a:solidFill>
                  <a:srgbClr val="006699"/>
                </a:solidFill>
                <a:ea typeface="+mn-ea"/>
                <a:cs typeface="Calibri" panose="020F0502020204030204" pitchFamily="34" charset="0"/>
              </a:rPr>
              <a:t>object</a:t>
            </a:r>
            <a:r>
              <a:rPr lang="en-US" altLang="en-US" sz="1800" b="1" dirty="0">
                <a:solidFill>
                  <a:srgbClr val="3366FF"/>
                </a:solidFill>
                <a:ea typeface="+mn-ea"/>
                <a:cs typeface="Calibri" panose="020F0502020204030204" pitchFamily="34" charset="0"/>
              </a:rPr>
              <a:t> </a:t>
            </a:r>
            <a:r>
              <a:rPr lang="en-US" altLang="en-US" sz="1800" b="1" dirty="0">
                <a:solidFill>
                  <a:srgbClr val="006699"/>
                </a:solidFill>
                <a:ea typeface="+mn-ea"/>
                <a:cs typeface="Calibri" panose="020F0502020204030204" pitchFamily="34" charset="0"/>
              </a:rPr>
              <a:t>file</a:t>
            </a:r>
          </a:p>
          <a:p>
            <a:pPr>
              <a:spcBef>
                <a:spcPts val="0"/>
              </a:spcBef>
            </a:pPr>
            <a:r>
              <a:rPr lang="en-US" altLang="en-US" sz="1800" b="1" dirty="0">
                <a:solidFill>
                  <a:srgbClr val="006699"/>
                </a:solidFill>
                <a:ea typeface="+mn-ea"/>
                <a:cs typeface="Calibri" panose="020F0502020204030204" pitchFamily="34" charset="0"/>
              </a:rPr>
              <a:t>Linker</a:t>
            </a:r>
            <a:r>
              <a:rPr lang="en-US" altLang="en-US" sz="1800" b="1" dirty="0">
                <a:solidFill>
                  <a:srgbClr val="3366FF"/>
                </a:solidFill>
                <a:ea typeface="+mn-ea"/>
                <a:cs typeface="Calibri" panose="020F0502020204030204" pitchFamily="34" charset="0"/>
              </a:rPr>
              <a:t> </a:t>
            </a:r>
            <a:r>
              <a:rPr lang="en-US" altLang="en-US" sz="1800" dirty="0">
                <a:ea typeface="+mn-ea"/>
                <a:cs typeface="Calibri" panose="020F0502020204030204" pitchFamily="34" charset="0"/>
              </a:rPr>
              <a:t>combines these into single binary </a:t>
            </a:r>
            <a:r>
              <a:rPr lang="en-US" altLang="en-US" sz="1800" b="1" dirty="0">
                <a:solidFill>
                  <a:srgbClr val="006699"/>
                </a:solidFill>
                <a:ea typeface="+mn-ea"/>
                <a:cs typeface="Calibri" panose="020F0502020204030204" pitchFamily="34" charset="0"/>
              </a:rPr>
              <a:t>executable</a:t>
            </a:r>
            <a:r>
              <a:rPr lang="en-US" altLang="en-US" sz="1800" dirty="0">
                <a:ea typeface="+mn-ea"/>
                <a:cs typeface="Calibri" panose="020F0502020204030204" pitchFamily="34" charset="0"/>
              </a:rPr>
              <a:t> file</a:t>
            </a:r>
          </a:p>
          <a:p>
            <a:pPr lvl="1">
              <a:spcBef>
                <a:spcPts val="0"/>
              </a:spcBef>
            </a:pPr>
            <a:r>
              <a:rPr lang="en-US" altLang="en-US" sz="1800" dirty="0">
                <a:ea typeface="+mn-ea"/>
                <a:cs typeface="Calibri" panose="020F0502020204030204" pitchFamily="34" charset="0"/>
              </a:rPr>
              <a:t>Also brings in libraries</a:t>
            </a:r>
          </a:p>
          <a:p>
            <a:pPr>
              <a:spcBef>
                <a:spcPts val="0"/>
              </a:spcBef>
            </a:pPr>
            <a:r>
              <a:rPr lang="en-US" altLang="en-US" sz="1800" dirty="0">
                <a:ea typeface="+mn-ea"/>
                <a:cs typeface="Calibri" panose="020F0502020204030204" pitchFamily="34" charset="0"/>
              </a:rPr>
              <a:t>Program resides on secondary storage as binary executable</a:t>
            </a:r>
          </a:p>
          <a:p>
            <a:pPr>
              <a:spcBef>
                <a:spcPts val="0"/>
              </a:spcBef>
            </a:pPr>
            <a:r>
              <a:rPr lang="en-US" altLang="en-US" sz="1800" dirty="0">
                <a:ea typeface="+mn-ea"/>
                <a:cs typeface="Calibri" panose="020F0502020204030204" pitchFamily="34" charset="0"/>
              </a:rPr>
              <a:t>Must be brought into memory by </a:t>
            </a:r>
            <a:r>
              <a:rPr lang="en-US" altLang="en-US" sz="1800" b="1" dirty="0">
                <a:solidFill>
                  <a:srgbClr val="006699"/>
                </a:solidFill>
                <a:ea typeface="+mn-ea"/>
                <a:cs typeface="Calibri" panose="020F0502020204030204" pitchFamily="34" charset="0"/>
              </a:rPr>
              <a:t>loader</a:t>
            </a:r>
            <a:r>
              <a:rPr lang="en-US" altLang="en-US" sz="1800" dirty="0">
                <a:ea typeface="+mn-ea"/>
                <a:cs typeface="Calibri" panose="020F0502020204030204" pitchFamily="34" charset="0"/>
              </a:rPr>
              <a:t> to be executed</a:t>
            </a:r>
          </a:p>
          <a:p>
            <a:pPr lvl="1">
              <a:spcBef>
                <a:spcPts val="0"/>
              </a:spcBef>
            </a:pPr>
            <a:r>
              <a:rPr lang="en-US" altLang="en-US" sz="1800" b="1" dirty="0">
                <a:solidFill>
                  <a:srgbClr val="006699"/>
                </a:solidFill>
                <a:ea typeface="+mn-ea"/>
                <a:cs typeface="Calibri" panose="020F0502020204030204" pitchFamily="34" charset="0"/>
              </a:rPr>
              <a:t>Relocation</a:t>
            </a:r>
            <a:r>
              <a:rPr lang="en-US" altLang="en-US" sz="1800" dirty="0">
                <a:ea typeface="+mn-ea"/>
                <a:cs typeface="Calibri" panose="020F0502020204030204" pitchFamily="34" charset="0"/>
              </a:rPr>
              <a:t> assigns final addresses to program parts and adjusts code and data in program to match those addresses</a:t>
            </a:r>
          </a:p>
          <a:p>
            <a:pPr>
              <a:spcBef>
                <a:spcPts val="0"/>
              </a:spcBef>
            </a:pPr>
            <a:r>
              <a:rPr lang="en-US" altLang="en-US" sz="1800" dirty="0">
                <a:ea typeface="+mn-ea"/>
                <a:cs typeface="Calibri" panose="020F0502020204030204" pitchFamily="34" charset="0"/>
              </a:rPr>
              <a:t>Modern general purpose systems don’t link libraries into executables</a:t>
            </a:r>
          </a:p>
          <a:p>
            <a:pPr lvl="1">
              <a:spcBef>
                <a:spcPts val="0"/>
              </a:spcBef>
            </a:pPr>
            <a:r>
              <a:rPr lang="en-US" altLang="en-US" sz="1800" dirty="0">
                <a:ea typeface="+mn-ea"/>
                <a:cs typeface="Calibri" panose="020F0502020204030204" pitchFamily="34" charset="0"/>
              </a:rPr>
              <a:t>Rather, </a:t>
            </a:r>
            <a:r>
              <a:rPr lang="en-US" altLang="en-US" sz="1800" b="1" dirty="0">
                <a:solidFill>
                  <a:srgbClr val="006699"/>
                </a:solidFill>
                <a:ea typeface="+mn-ea"/>
                <a:cs typeface="Calibri" panose="020F0502020204030204" pitchFamily="34" charset="0"/>
              </a:rPr>
              <a:t>dynamically</a:t>
            </a:r>
            <a:r>
              <a:rPr lang="en-US" altLang="en-US" sz="1800" b="1" dirty="0">
                <a:solidFill>
                  <a:srgbClr val="3366FF"/>
                </a:solidFill>
                <a:ea typeface="+mn-ea"/>
                <a:cs typeface="Calibri" panose="020F0502020204030204" pitchFamily="34" charset="0"/>
              </a:rPr>
              <a:t> </a:t>
            </a:r>
            <a:r>
              <a:rPr lang="en-US" altLang="en-US" sz="1800" b="1" dirty="0">
                <a:solidFill>
                  <a:srgbClr val="006699"/>
                </a:solidFill>
                <a:ea typeface="+mn-ea"/>
                <a:cs typeface="Calibri" panose="020F0502020204030204" pitchFamily="34" charset="0"/>
              </a:rPr>
              <a:t>linked</a:t>
            </a:r>
            <a:r>
              <a:rPr lang="en-US" altLang="en-US" sz="1800" b="1" dirty="0">
                <a:solidFill>
                  <a:srgbClr val="3366FF"/>
                </a:solidFill>
                <a:ea typeface="+mn-ea"/>
                <a:cs typeface="Calibri" panose="020F0502020204030204" pitchFamily="34" charset="0"/>
              </a:rPr>
              <a:t> </a:t>
            </a:r>
            <a:r>
              <a:rPr lang="en-US" altLang="en-US" sz="1800" b="1" dirty="0">
                <a:solidFill>
                  <a:srgbClr val="006699"/>
                </a:solidFill>
                <a:ea typeface="+mn-ea"/>
                <a:cs typeface="Calibri" panose="020F0502020204030204" pitchFamily="34" charset="0"/>
              </a:rPr>
              <a:t>libraries</a:t>
            </a:r>
            <a:r>
              <a:rPr lang="en-US" altLang="en-US" sz="1800" b="1" dirty="0">
                <a:solidFill>
                  <a:srgbClr val="3366FF"/>
                </a:solidFill>
                <a:ea typeface="+mn-ea"/>
                <a:cs typeface="Calibri" panose="020F0502020204030204" pitchFamily="34" charset="0"/>
              </a:rPr>
              <a:t> </a:t>
            </a:r>
            <a:r>
              <a:rPr lang="en-US" altLang="en-US" sz="1800" dirty="0">
                <a:ea typeface="+mn-ea"/>
                <a:cs typeface="Calibri" panose="020F0502020204030204" pitchFamily="34" charset="0"/>
              </a:rPr>
              <a:t>(in Windows, </a:t>
            </a:r>
            <a:r>
              <a:rPr lang="en-US" altLang="en-US" sz="1800" b="1" dirty="0">
                <a:solidFill>
                  <a:srgbClr val="006699"/>
                </a:solidFill>
                <a:ea typeface="+mn-ea"/>
                <a:cs typeface="Calibri" panose="020F0502020204030204" pitchFamily="34" charset="0"/>
              </a:rPr>
              <a:t>DLLs</a:t>
            </a:r>
            <a:r>
              <a:rPr lang="en-US" altLang="en-US" sz="1800" dirty="0">
                <a:ea typeface="+mn-ea"/>
                <a:cs typeface="Calibri" panose="020F0502020204030204" pitchFamily="34" charset="0"/>
              </a:rPr>
              <a:t>) are loaded as needed, shared by all that use the same version of that same library (loaded once)</a:t>
            </a:r>
          </a:p>
          <a:p>
            <a:pPr>
              <a:spcBef>
                <a:spcPts val="0"/>
              </a:spcBef>
            </a:pPr>
            <a:r>
              <a:rPr lang="en-US" altLang="en-US" sz="1800" dirty="0">
                <a:ea typeface="+mn-ea"/>
                <a:cs typeface="Calibri" panose="020F0502020204030204" pitchFamily="34" charset="0"/>
              </a:rPr>
              <a:t>Object, executable files have standard formats, so operating system knows how to load and start them</a:t>
            </a:r>
          </a:p>
        </p:txBody>
      </p:sp>
      <p:sp>
        <p:nvSpPr>
          <p:cNvPr id="2" name="灯片编号占位符 1">
            <a:extLst>
              <a:ext uri="{FF2B5EF4-FFF2-40B4-BE49-F238E27FC236}">
                <a16:creationId xmlns:a16="http://schemas.microsoft.com/office/drawing/2014/main" id="{50DE6F6F-939F-3770-0D38-113F02D912BD}"/>
              </a:ext>
            </a:extLst>
          </p:cNvPr>
          <p:cNvSpPr>
            <a:spLocks noGrp="1"/>
          </p:cNvSpPr>
          <p:nvPr>
            <p:ph type="sldNum" sz="quarter" idx="10"/>
          </p:nvPr>
        </p:nvSpPr>
        <p:spPr/>
        <p:txBody>
          <a:bodyPr/>
          <a:lstStyle/>
          <a:p>
            <a:fld id="{D9B6BDF2-6896-4B98-8776-C18582F63BA5}" type="slidenum">
              <a:rPr lang="zh-TW" altLang="en-US" smtClean="0"/>
              <a:pPr/>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2C7140E0-64EE-48A3-941C-70C6BCDF8D79}"/>
              </a:ext>
            </a:extLst>
          </p:cNvPr>
          <p:cNvSpPr>
            <a:spLocks noGrp="1" noChangeArrowheads="1"/>
          </p:cNvSpPr>
          <p:nvPr>
            <p:ph type="title"/>
          </p:nvPr>
        </p:nvSpPr>
        <p:spPr>
          <a:xfrm>
            <a:off x="943276" y="169069"/>
            <a:ext cx="6600524" cy="432197"/>
          </a:xfrm>
        </p:spPr>
        <p:txBody>
          <a:bodyPr/>
          <a:lstStyle/>
          <a:p>
            <a:r>
              <a:rPr lang="en-US" altLang="en-US" sz="3200" dirty="0"/>
              <a:t>The Role of the Linker and Loader</a:t>
            </a:r>
          </a:p>
        </p:txBody>
      </p:sp>
      <p:pic>
        <p:nvPicPr>
          <p:cNvPr id="67587" name="Content Placeholder 6">
            <a:extLst>
              <a:ext uri="{FF2B5EF4-FFF2-40B4-BE49-F238E27FC236}">
                <a16:creationId xmlns:a16="http://schemas.microsoft.com/office/drawing/2014/main" id="{CD8E9885-D5F1-451A-B45F-8C24EB28DFFA}"/>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3020123" y="902069"/>
            <a:ext cx="3307060" cy="3487051"/>
          </a:xfrm>
        </p:spPr>
      </p:pic>
      <p:sp>
        <p:nvSpPr>
          <p:cNvPr id="2" name="灯片编号占位符 1">
            <a:extLst>
              <a:ext uri="{FF2B5EF4-FFF2-40B4-BE49-F238E27FC236}">
                <a16:creationId xmlns:a16="http://schemas.microsoft.com/office/drawing/2014/main" id="{615602D2-9123-4C12-1F9A-16FFD70A4023}"/>
              </a:ext>
            </a:extLst>
          </p:cNvPr>
          <p:cNvSpPr>
            <a:spLocks noGrp="1"/>
          </p:cNvSpPr>
          <p:nvPr>
            <p:ph type="sldNum" sz="quarter" idx="10"/>
          </p:nvPr>
        </p:nvSpPr>
        <p:spPr/>
        <p:txBody>
          <a:bodyPr/>
          <a:lstStyle/>
          <a:p>
            <a:fld id="{D9B6BDF2-6896-4B98-8776-C18582F63BA5}" type="slidenum">
              <a:rPr lang="zh-TW" altLang="en-US" smtClean="0"/>
              <a:pPr/>
              <a:t>5</a:t>
            </a:fld>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26">
            <a:extLst>
              <a:ext uri="{FF2B5EF4-FFF2-40B4-BE49-F238E27FC236}">
                <a16:creationId xmlns:a16="http://schemas.microsoft.com/office/drawing/2014/main" id="{9580D1A4-1911-40B7-90C7-4F5EE514923B}"/>
              </a:ext>
            </a:extLst>
          </p:cNvPr>
          <p:cNvSpPr>
            <a:spLocks noGrp="1" noChangeArrowheads="1"/>
          </p:cNvSpPr>
          <p:nvPr>
            <p:ph type="title"/>
          </p:nvPr>
        </p:nvSpPr>
        <p:spPr>
          <a:xfrm>
            <a:off x="895148" y="144394"/>
            <a:ext cx="7940843" cy="432197"/>
          </a:xfrm>
        </p:spPr>
        <p:txBody>
          <a:bodyPr/>
          <a:lstStyle/>
          <a:p>
            <a:pPr eaLnBrk="1" hangingPunct="1"/>
            <a:r>
              <a:rPr lang="en-US" altLang="en-US" sz="3000" dirty="0"/>
              <a:t>Why Applications are Operating System Specific</a:t>
            </a:r>
          </a:p>
        </p:txBody>
      </p:sp>
      <p:sp>
        <p:nvSpPr>
          <p:cNvPr id="68611" name="Rectangle 1027">
            <a:extLst>
              <a:ext uri="{FF2B5EF4-FFF2-40B4-BE49-F238E27FC236}">
                <a16:creationId xmlns:a16="http://schemas.microsoft.com/office/drawing/2014/main" id="{672EE902-C4A8-4076-BE5F-A5B41CC5B7F0}"/>
              </a:ext>
            </a:extLst>
          </p:cNvPr>
          <p:cNvSpPr>
            <a:spLocks noGrp="1" noChangeArrowheads="1"/>
          </p:cNvSpPr>
          <p:nvPr>
            <p:ph idx="1"/>
          </p:nvPr>
        </p:nvSpPr>
        <p:spPr>
          <a:xfrm>
            <a:off x="616017" y="819952"/>
            <a:ext cx="8181471" cy="3742423"/>
          </a:xfrm>
        </p:spPr>
        <p:txBody>
          <a:bodyPr/>
          <a:lstStyle/>
          <a:p>
            <a:pPr>
              <a:spcBef>
                <a:spcPts val="0"/>
              </a:spcBef>
            </a:pPr>
            <a:r>
              <a:rPr lang="en-US" altLang="en-US" sz="1800" dirty="0">
                <a:cs typeface="Calibri" panose="020F0502020204030204" pitchFamily="34" charset="0"/>
              </a:rPr>
              <a:t>Apps compiled on one system usually not executable on another operating system</a:t>
            </a:r>
          </a:p>
          <a:p>
            <a:pPr>
              <a:spcBef>
                <a:spcPts val="0"/>
              </a:spcBef>
            </a:pPr>
            <a:r>
              <a:rPr lang="en-US" altLang="en-US" sz="1800" dirty="0">
                <a:cs typeface="Calibri" panose="020F0502020204030204" pitchFamily="34" charset="0"/>
              </a:rPr>
              <a:t>Each operating system provides its own unique system calls</a:t>
            </a:r>
          </a:p>
          <a:p>
            <a:pPr lvl="1">
              <a:spcBef>
                <a:spcPts val="0"/>
              </a:spcBef>
            </a:pPr>
            <a:r>
              <a:rPr lang="en-US" altLang="en-US" sz="1800" dirty="0">
                <a:cs typeface="Calibri" panose="020F0502020204030204" pitchFamily="34" charset="0"/>
              </a:rPr>
              <a:t>Own file formats, etc.</a:t>
            </a:r>
          </a:p>
          <a:p>
            <a:pPr>
              <a:spcBef>
                <a:spcPts val="0"/>
              </a:spcBef>
            </a:pPr>
            <a:r>
              <a:rPr lang="en-US" altLang="en-US" sz="1800" dirty="0">
                <a:cs typeface="Calibri" panose="020F0502020204030204" pitchFamily="34" charset="0"/>
              </a:rPr>
              <a:t>Apps can be multi-operating system</a:t>
            </a:r>
          </a:p>
          <a:p>
            <a:pPr lvl="1">
              <a:spcBef>
                <a:spcPts val="0"/>
              </a:spcBef>
            </a:pPr>
            <a:r>
              <a:rPr lang="en-US" altLang="en-US" sz="1800" dirty="0">
                <a:cs typeface="Calibri" panose="020F0502020204030204" pitchFamily="34" charset="0"/>
              </a:rPr>
              <a:t>Written in interpreted language like Python, Ruby, and interpreter available on multiple operating systems</a:t>
            </a:r>
          </a:p>
          <a:p>
            <a:pPr lvl="1">
              <a:spcBef>
                <a:spcPts val="0"/>
              </a:spcBef>
            </a:pPr>
            <a:r>
              <a:rPr lang="en-US" altLang="en-US" sz="1800" dirty="0">
                <a:cs typeface="Calibri" panose="020F0502020204030204" pitchFamily="34" charset="0"/>
              </a:rPr>
              <a:t>App written in language that includes a VM containing the running app (like Java)</a:t>
            </a:r>
          </a:p>
          <a:p>
            <a:pPr lvl="1">
              <a:spcBef>
                <a:spcPts val="0"/>
              </a:spcBef>
            </a:pPr>
            <a:r>
              <a:rPr lang="en-US" altLang="en-US" sz="1800" dirty="0">
                <a:cs typeface="Calibri" panose="020F0502020204030204" pitchFamily="34" charset="0"/>
              </a:rPr>
              <a:t>Use standard language (like C), compile separately on each operating system to run on each</a:t>
            </a:r>
          </a:p>
          <a:p>
            <a:pPr>
              <a:spcBef>
                <a:spcPts val="0"/>
              </a:spcBef>
            </a:pPr>
            <a:r>
              <a:rPr lang="en-US" altLang="en-US" sz="1800" b="1" dirty="0">
                <a:solidFill>
                  <a:srgbClr val="006699"/>
                </a:solidFill>
                <a:cs typeface="Calibri" panose="020F0502020204030204" pitchFamily="34" charset="0"/>
              </a:rPr>
              <a:t>Application</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Binary</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Interface</a:t>
            </a:r>
            <a:r>
              <a:rPr lang="en-US" altLang="en-US" sz="1800" b="1" dirty="0">
                <a:solidFill>
                  <a:srgbClr val="3366FF"/>
                </a:solidFill>
                <a:cs typeface="Calibri" panose="020F0502020204030204" pitchFamily="34" charset="0"/>
              </a:rPr>
              <a:t> </a:t>
            </a:r>
            <a:r>
              <a:rPr lang="en-US" altLang="en-US" sz="1800" dirty="0">
                <a:cs typeface="Calibri" panose="020F0502020204030204" pitchFamily="34" charset="0"/>
              </a:rPr>
              <a:t>(</a:t>
            </a:r>
            <a:r>
              <a:rPr lang="en-US" altLang="en-US" sz="1800" b="1" dirty="0">
                <a:solidFill>
                  <a:srgbClr val="006699"/>
                </a:solidFill>
                <a:cs typeface="Calibri" panose="020F0502020204030204" pitchFamily="34" charset="0"/>
              </a:rPr>
              <a:t>ABI</a:t>
            </a:r>
            <a:r>
              <a:rPr lang="en-US" altLang="en-US" sz="1800" dirty="0">
                <a:cs typeface="Calibri" panose="020F0502020204030204" pitchFamily="34" charset="0"/>
              </a:rPr>
              <a:t>) is architecture equivalent of API </a:t>
            </a:r>
          </a:p>
          <a:p>
            <a:pPr lvl="1">
              <a:spcBef>
                <a:spcPts val="0"/>
              </a:spcBef>
            </a:pPr>
            <a:r>
              <a:rPr lang="en-US" altLang="en-US" sz="1800" dirty="0">
                <a:cs typeface="Calibri" panose="020F0502020204030204" pitchFamily="34" charset="0"/>
              </a:rPr>
              <a:t>Defines how different components of binary code can interface for a given operating system on a given architecture, CPU, etc. </a:t>
            </a:r>
          </a:p>
        </p:txBody>
      </p:sp>
      <p:sp>
        <p:nvSpPr>
          <p:cNvPr id="2" name="灯片编号占位符 1">
            <a:extLst>
              <a:ext uri="{FF2B5EF4-FFF2-40B4-BE49-F238E27FC236}">
                <a16:creationId xmlns:a16="http://schemas.microsoft.com/office/drawing/2014/main" id="{1C1F3B65-0C70-BCBC-E5C1-F30882B7462B}"/>
              </a:ext>
            </a:extLst>
          </p:cNvPr>
          <p:cNvSpPr>
            <a:spLocks noGrp="1"/>
          </p:cNvSpPr>
          <p:nvPr>
            <p:ph type="sldNum" sz="quarter" idx="10"/>
          </p:nvPr>
        </p:nvSpPr>
        <p:spPr/>
        <p:txBody>
          <a:bodyPr/>
          <a:lstStyle/>
          <a:p>
            <a:fld id="{D9B6BDF2-6896-4B98-8776-C18582F63BA5}" type="slidenum">
              <a:rPr lang="zh-TW" altLang="en-US" smtClean="0"/>
              <a:pPr/>
              <a:t>6</a:t>
            </a:fld>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26">
            <a:extLst>
              <a:ext uri="{FF2B5EF4-FFF2-40B4-BE49-F238E27FC236}">
                <a16:creationId xmlns:a16="http://schemas.microsoft.com/office/drawing/2014/main" id="{D00B8CF2-4503-4D02-BCAF-03B386FC6B16}"/>
              </a:ext>
            </a:extLst>
          </p:cNvPr>
          <p:cNvSpPr>
            <a:spLocks noGrp="1" noChangeArrowheads="1"/>
          </p:cNvSpPr>
          <p:nvPr>
            <p:ph type="title"/>
          </p:nvPr>
        </p:nvSpPr>
        <p:spPr>
          <a:xfrm>
            <a:off x="895149" y="145231"/>
            <a:ext cx="6841533" cy="432197"/>
          </a:xfrm>
        </p:spPr>
        <p:txBody>
          <a:bodyPr/>
          <a:lstStyle/>
          <a:p>
            <a:pPr eaLnBrk="1" hangingPunct="1"/>
            <a:r>
              <a:rPr lang="en-US" altLang="en-US" sz="3200" dirty="0"/>
              <a:t>Design and Implementation</a:t>
            </a:r>
          </a:p>
        </p:txBody>
      </p:sp>
      <p:sp>
        <p:nvSpPr>
          <p:cNvPr id="70659" name="Rectangle 1027">
            <a:extLst>
              <a:ext uri="{FF2B5EF4-FFF2-40B4-BE49-F238E27FC236}">
                <a16:creationId xmlns:a16="http://schemas.microsoft.com/office/drawing/2014/main" id="{ED7882A4-6BC0-4135-94AC-5AE6FAF5E5A6}"/>
              </a:ext>
            </a:extLst>
          </p:cNvPr>
          <p:cNvSpPr>
            <a:spLocks noGrp="1" noChangeArrowheads="1"/>
          </p:cNvSpPr>
          <p:nvPr>
            <p:ph idx="1"/>
          </p:nvPr>
        </p:nvSpPr>
        <p:spPr>
          <a:xfrm>
            <a:off x="1001026" y="819343"/>
            <a:ext cx="7372953" cy="3627532"/>
          </a:xfrm>
        </p:spPr>
        <p:txBody>
          <a:bodyPr/>
          <a:lstStyle/>
          <a:p>
            <a:pPr>
              <a:spcBef>
                <a:spcPts val="0"/>
              </a:spcBef>
            </a:pPr>
            <a:r>
              <a:rPr lang="en-US" altLang="en-US" sz="2000" dirty="0">
                <a:cs typeface="Calibri" panose="020F0502020204030204" pitchFamily="34" charset="0"/>
              </a:rPr>
              <a:t>Design and Implementation of OS is not </a:t>
            </a:r>
            <a:r>
              <a:rPr lang="ja-JP" altLang="en-US" sz="2000" dirty="0">
                <a:cs typeface="Calibri" panose="020F0502020204030204" pitchFamily="34" charset="0"/>
              </a:rPr>
              <a:t>“</a:t>
            </a:r>
            <a:r>
              <a:rPr lang="en-US" altLang="ja-JP" sz="2000" dirty="0">
                <a:cs typeface="Calibri" panose="020F0502020204030204" pitchFamily="34" charset="0"/>
              </a:rPr>
              <a:t>solvable”, but some approaches have proven successful</a:t>
            </a:r>
            <a:endParaRPr lang="en-US" altLang="en-US" sz="2000" dirty="0">
              <a:cs typeface="Calibri" panose="020F0502020204030204" pitchFamily="34" charset="0"/>
            </a:endParaRPr>
          </a:p>
          <a:p>
            <a:pPr>
              <a:spcBef>
                <a:spcPts val="0"/>
              </a:spcBef>
            </a:pPr>
            <a:r>
              <a:rPr lang="en-US" altLang="en-US" sz="2000" dirty="0">
                <a:cs typeface="Calibri" panose="020F0502020204030204" pitchFamily="34" charset="0"/>
              </a:rPr>
              <a:t>Internal structure of different Operating Systems  can vary widely</a:t>
            </a:r>
          </a:p>
          <a:p>
            <a:pPr>
              <a:spcBef>
                <a:spcPts val="0"/>
              </a:spcBef>
            </a:pPr>
            <a:r>
              <a:rPr lang="en-US" altLang="en-US" sz="2000" dirty="0">
                <a:cs typeface="Calibri" panose="020F0502020204030204" pitchFamily="34" charset="0"/>
              </a:rPr>
              <a:t>Start the design by defining goals and specifications </a:t>
            </a:r>
          </a:p>
          <a:p>
            <a:pPr>
              <a:spcBef>
                <a:spcPts val="0"/>
              </a:spcBef>
            </a:pPr>
            <a:r>
              <a:rPr lang="en-US" altLang="en-US" sz="2000" dirty="0">
                <a:cs typeface="Calibri" panose="020F0502020204030204" pitchFamily="34" charset="0"/>
              </a:rPr>
              <a:t>Affected by choice of hardware, type of system</a:t>
            </a:r>
          </a:p>
          <a:p>
            <a:pPr>
              <a:spcBef>
                <a:spcPts val="0"/>
              </a:spcBef>
            </a:pPr>
            <a:r>
              <a:rPr lang="en-US" altLang="en-US" sz="2000" b="1" dirty="0">
                <a:solidFill>
                  <a:srgbClr val="006699"/>
                </a:solidFill>
                <a:cs typeface="Calibri" panose="020F0502020204030204" pitchFamily="34" charset="0"/>
              </a:rPr>
              <a:t>User</a:t>
            </a:r>
            <a:r>
              <a:rPr lang="en-US" altLang="en-US" sz="2000" b="1" dirty="0">
                <a:solidFill>
                  <a:srgbClr val="3366FF"/>
                </a:solidFill>
                <a:cs typeface="Calibri" panose="020F0502020204030204" pitchFamily="34" charset="0"/>
              </a:rPr>
              <a:t> </a:t>
            </a:r>
            <a:r>
              <a:rPr lang="en-US" altLang="en-US" sz="2000" dirty="0">
                <a:cs typeface="Calibri" panose="020F0502020204030204" pitchFamily="34" charset="0"/>
              </a:rPr>
              <a:t>goals and </a:t>
            </a:r>
            <a:r>
              <a:rPr lang="en-US" altLang="en-US" sz="2000" b="1" dirty="0">
                <a:solidFill>
                  <a:srgbClr val="006699"/>
                </a:solidFill>
                <a:cs typeface="Calibri" panose="020F0502020204030204" pitchFamily="34" charset="0"/>
              </a:rPr>
              <a:t>System</a:t>
            </a:r>
            <a:r>
              <a:rPr lang="en-US" altLang="en-US" sz="2000" b="1" dirty="0">
                <a:solidFill>
                  <a:srgbClr val="3366FF"/>
                </a:solidFill>
                <a:cs typeface="Calibri" panose="020F0502020204030204" pitchFamily="34" charset="0"/>
              </a:rPr>
              <a:t> </a:t>
            </a:r>
            <a:r>
              <a:rPr lang="en-US" altLang="en-US" sz="2000" dirty="0">
                <a:cs typeface="Calibri" panose="020F0502020204030204" pitchFamily="34" charset="0"/>
              </a:rPr>
              <a:t>goals</a:t>
            </a:r>
          </a:p>
          <a:p>
            <a:pPr lvl="1">
              <a:spcBef>
                <a:spcPts val="0"/>
              </a:spcBef>
            </a:pPr>
            <a:r>
              <a:rPr lang="en-US" altLang="en-US" sz="1800" dirty="0">
                <a:cs typeface="Calibri" panose="020F0502020204030204" pitchFamily="34" charset="0"/>
              </a:rPr>
              <a:t>User goals – operating system should be convenient to use, easy to learn, reliable, safe, and fast</a:t>
            </a:r>
          </a:p>
          <a:p>
            <a:pPr lvl="1">
              <a:spcBef>
                <a:spcPts val="0"/>
              </a:spcBef>
            </a:pPr>
            <a:r>
              <a:rPr lang="en-US" altLang="en-US" sz="1800" dirty="0">
                <a:cs typeface="Calibri" panose="020F0502020204030204" pitchFamily="34" charset="0"/>
              </a:rPr>
              <a:t>System goals – operating system should be easy to design, implement, and maintain, as well as flexible, reliable, error-free, and efficient</a:t>
            </a:r>
          </a:p>
          <a:p>
            <a:pPr>
              <a:spcBef>
                <a:spcPts val="0"/>
              </a:spcBef>
            </a:pPr>
            <a:r>
              <a:rPr lang="en-US" altLang="en-US" sz="2000" dirty="0">
                <a:cs typeface="Calibri" panose="020F0502020204030204" pitchFamily="34" charset="0"/>
              </a:rPr>
              <a:t>Specifying and designing an OS is highly creative task of </a:t>
            </a:r>
            <a:r>
              <a:rPr lang="en-US" altLang="en-US" sz="2000" b="1" dirty="0">
                <a:solidFill>
                  <a:srgbClr val="006699"/>
                </a:solidFill>
                <a:cs typeface="Calibri" panose="020F0502020204030204" pitchFamily="34" charset="0"/>
              </a:rPr>
              <a:t>software</a:t>
            </a:r>
            <a:r>
              <a:rPr lang="en-US" altLang="en-US" sz="2000" b="1" dirty="0">
                <a:solidFill>
                  <a:srgbClr val="3366FF"/>
                </a:solidFill>
                <a:cs typeface="Calibri" panose="020F0502020204030204" pitchFamily="34" charset="0"/>
              </a:rPr>
              <a:t> </a:t>
            </a:r>
            <a:r>
              <a:rPr lang="en-US" altLang="en-US" sz="2000" b="1" dirty="0">
                <a:solidFill>
                  <a:srgbClr val="006699"/>
                </a:solidFill>
                <a:cs typeface="Calibri" panose="020F0502020204030204" pitchFamily="34" charset="0"/>
              </a:rPr>
              <a:t>engineering</a:t>
            </a:r>
          </a:p>
          <a:p>
            <a:pPr>
              <a:spcBef>
                <a:spcPts val="0"/>
              </a:spcBef>
            </a:pPr>
            <a:endParaRPr lang="en-US" altLang="en-US" sz="2000" dirty="0">
              <a:cs typeface="Calibri" panose="020F0502020204030204" pitchFamily="34" charset="0"/>
            </a:endParaRPr>
          </a:p>
        </p:txBody>
      </p:sp>
      <p:sp>
        <p:nvSpPr>
          <p:cNvPr id="2" name="灯片编号占位符 1">
            <a:extLst>
              <a:ext uri="{FF2B5EF4-FFF2-40B4-BE49-F238E27FC236}">
                <a16:creationId xmlns:a16="http://schemas.microsoft.com/office/drawing/2014/main" id="{741CE211-27AB-0347-E815-238308707E8C}"/>
              </a:ext>
            </a:extLst>
          </p:cNvPr>
          <p:cNvSpPr>
            <a:spLocks noGrp="1"/>
          </p:cNvSpPr>
          <p:nvPr>
            <p:ph type="sldNum" sz="quarter" idx="10"/>
          </p:nvPr>
        </p:nvSpPr>
        <p:spPr/>
        <p:txBody>
          <a:bodyPr/>
          <a:lstStyle/>
          <a:p>
            <a:fld id="{D9B6BDF2-6896-4B98-8776-C18582F63BA5}" type="slidenum">
              <a:rPr lang="zh-TW" altLang="en-US" smtClean="0"/>
              <a:pPr/>
              <a:t>7</a:t>
            </a:fld>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39A46DEA-C931-4E75-8A7D-1F653B2ABC18}"/>
              </a:ext>
            </a:extLst>
          </p:cNvPr>
          <p:cNvSpPr>
            <a:spLocks noGrp="1" noChangeArrowheads="1"/>
          </p:cNvSpPr>
          <p:nvPr>
            <p:ph type="title"/>
          </p:nvPr>
        </p:nvSpPr>
        <p:spPr>
          <a:xfrm>
            <a:off x="904775" y="104411"/>
            <a:ext cx="7198958" cy="432197"/>
          </a:xfrm>
        </p:spPr>
        <p:txBody>
          <a:bodyPr/>
          <a:lstStyle/>
          <a:p>
            <a:pPr eaLnBrk="1" hangingPunct="1"/>
            <a:r>
              <a:rPr lang="en-US" altLang="en-US" sz="3200" dirty="0"/>
              <a:t>Policy and Mechanism</a:t>
            </a:r>
          </a:p>
        </p:txBody>
      </p:sp>
      <p:sp>
        <p:nvSpPr>
          <p:cNvPr id="72707" name="Rectangle 3">
            <a:extLst>
              <a:ext uri="{FF2B5EF4-FFF2-40B4-BE49-F238E27FC236}">
                <a16:creationId xmlns:a16="http://schemas.microsoft.com/office/drawing/2014/main" id="{0D1CF5C7-7F67-4FFA-B5D4-75EB6F865E5C}"/>
              </a:ext>
            </a:extLst>
          </p:cNvPr>
          <p:cNvSpPr>
            <a:spLocks noGrp="1" noChangeArrowheads="1"/>
          </p:cNvSpPr>
          <p:nvPr>
            <p:ph type="body" idx="1"/>
          </p:nvPr>
        </p:nvSpPr>
        <p:spPr>
          <a:xfrm>
            <a:off x="904775" y="856494"/>
            <a:ext cx="7498080" cy="3272743"/>
          </a:xfrm>
        </p:spPr>
        <p:txBody>
          <a:bodyPr/>
          <a:lstStyle/>
          <a:p>
            <a:r>
              <a:rPr lang="en-US" altLang="en-US" sz="2000" b="1" dirty="0">
                <a:solidFill>
                  <a:srgbClr val="006699"/>
                </a:solidFill>
                <a:ea typeface="+mn-ea"/>
                <a:cs typeface="Calibri" panose="020F0502020204030204" pitchFamily="34" charset="0"/>
              </a:rPr>
              <a:t>Policy</a:t>
            </a:r>
            <a:r>
              <a:rPr lang="en-US" altLang="en-US" sz="2000" b="1" dirty="0">
                <a:ea typeface="+mn-ea"/>
                <a:cs typeface="Calibri" panose="020F0502020204030204" pitchFamily="34" charset="0"/>
              </a:rPr>
              <a:t>:   What </a:t>
            </a:r>
            <a:r>
              <a:rPr lang="en-US" altLang="en-US" sz="2000" dirty="0">
                <a:ea typeface="+mn-ea"/>
                <a:cs typeface="Calibri" panose="020F0502020204030204" pitchFamily="34" charset="0"/>
              </a:rPr>
              <a:t>needs to be done?</a:t>
            </a:r>
            <a:r>
              <a:rPr lang="en-US" altLang="en-US" sz="2000" b="1" dirty="0">
                <a:ea typeface="+mn-ea"/>
                <a:cs typeface="Calibri" panose="020F0502020204030204" pitchFamily="34" charset="0"/>
              </a:rPr>
              <a:t> </a:t>
            </a:r>
          </a:p>
          <a:p>
            <a:pPr lvl="1"/>
            <a:r>
              <a:rPr lang="en-US" altLang="en-US" sz="1800" dirty="0">
                <a:ea typeface="+mn-ea"/>
                <a:cs typeface="Calibri" panose="020F0502020204030204" pitchFamily="34" charset="0"/>
              </a:rPr>
              <a:t>Example: Interrupt after every 100 seconds</a:t>
            </a:r>
          </a:p>
          <a:p>
            <a:r>
              <a:rPr lang="en-US" altLang="en-US" sz="2000" b="1" dirty="0">
                <a:solidFill>
                  <a:srgbClr val="006699"/>
                </a:solidFill>
                <a:ea typeface="+mn-ea"/>
                <a:cs typeface="Calibri" panose="020F0502020204030204" pitchFamily="34" charset="0"/>
              </a:rPr>
              <a:t>Mechanism</a:t>
            </a:r>
            <a:r>
              <a:rPr lang="en-US" altLang="en-US" sz="2000" b="1" dirty="0">
                <a:ea typeface="+mn-ea"/>
                <a:cs typeface="Calibri" panose="020F0502020204030204" pitchFamily="34" charset="0"/>
              </a:rPr>
              <a:t>:  How</a:t>
            </a:r>
            <a:r>
              <a:rPr lang="en-US" altLang="en-US" sz="2000" dirty="0">
                <a:ea typeface="+mn-ea"/>
                <a:cs typeface="Calibri" panose="020F0502020204030204" pitchFamily="34" charset="0"/>
              </a:rPr>
              <a:t> to do something?</a:t>
            </a:r>
          </a:p>
          <a:p>
            <a:pPr lvl="1"/>
            <a:r>
              <a:rPr lang="en-US" altLang="en-US" sz="1800" dirty="0">
                <a:ea typeface="+mn-ea"/>
                <a:cs typeface="Calibri" panose="020F0502020204030204" pitchFamily="34" charset="0"/>
              </a:rPr>
              <a:t>Example: timer</a:t>
            </a:r>
          </a:p>
          <a:p>
            <a:r>
              <a:rPr lang="en-US" altLang="en-US" sz="2000" dirty="0">
                <a:ea typeface="+mn-ea"/>
                <a:cs typeface="Calibri" panose="020F0502020204030204" pitchFamily="34" charset="0"/>
              </a:rPr>
              <a:t>Important principle: separate policy from mechanism</a:t>
            </a:r>
          </a:p>
          <a:p>
            <a:r>
              <a:rPr lang="en-US" altLang="en-US" sz="2000" dirty="0">
                <a:ea typeface="+mn-ea"/>
                <a:cs typeface="Calibri" panose="020F0502020204030204" pitchFamily="34" charset="0"/>
              </a:rPr>
              <a:t>The separation of policy from mechanism is a very important principle, it allows maximum flexibility if policy decisions are to be changed later</a:t>
            </a:r>
          </a:p>
          <a:p>
            <a:pPr lvl="1"/>
            <a:r>
              <a:rPr lang="en-US" altLang="en-US" sz="1800" dirty="0">
                <a:ea typeface="+mn-ea"/>
                <a:cs typeface="Calibri" panose="020F0502020204030204" pitchFamily="34" charset="0"/>
              </a:rPr>
              <a:t>Example: change 100 to 200</a:t>
            </a:r>
          </a:p>
          <a:p>
            <a:pPr>
              <a:buFont typeface="Monotype Sorts" pitchFamily="-84" charset="2"/>
              <a:buNone/>
            </a:pPr>
            <a:endParaRPr lang="en-US" altLang="en-US" sz="2000" dirty="0">
              <a:ea typeface="+mn-ea"/>
              <a:cs typeface="Calibri" panose="020F0502020204030204" pitchFamily="34" charset="0"/>
            </a:endParaRPr>
          </a:p>
        </p:txBody>
      </p:sp>
      <p:sp>
        <p:nvSpPr>
          <p:cNvPr id="2" name="灯片编号占位符 1">
            <a:extLst>
              <a:ext uri="{FF2B5EF4-FFF2-40B4-BE49-F238E27FC236}">
                <a16:creationId xmlns:a16="http://schemas.microsoft.com/office/drawing/2014/main" id="{217FD4FD-DB9A-1123-FAF9-E90A9EA99674}"/>
              </a:ext>
            </a:extLst>
          </p:cNvPr>
          <p:cNvSpPr>
            <a:spLocks noGrp="1"/>
          </p:cNvSpPr>
          <p:nvPr>
            <p:ph type="sldNum" sz="quarter" idx="10"/>
          </p:nvPr>
        </p:nvSpPr>
        <p:spPr/>
        <p:txBody>
          <a:bodyPr/>
          <a:lstStyle/>
          <a:p>
            <a:fld id="{D9B6BDF2-6896-4B98-8776-C18582F63BA5}" type="slidenum">
              <a:rPr lang="zh-TW" altLang="en-US" smtClean="0"/>
              <a:pPr/>
              <a:t>8</a:t>
            </a:fld>
            <a:endParaRPr lang="zh-TW"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A9B47C81-CC5F-41DF-A7CB-841B5D4FAD93}"/>
              </a:ext>
            </a:extLst>
          </p:cNvPr>
          <p:cNvSpPr>
            <a:spLocks noGrp="1" noChangeArrowheads="1"/>
          </p:cNvSpPr>
          <p:nvPr>
            <p:ph type="title"/>
          </p:nvPr>
        </p:nvSpPr>
        <p:spPr>
          <a:xfrm>
            <a:off x="895149" y="163116"/>
            <a:ext cx="6673655" cy="432197"/>
          </a:xfrm>
        </p:spPr>
        <p:txBody>
          <a:bodyPr/>
          <a:lstStyle/>
          <a:p>
            <a:pPr eaLnBrk="1" hangingPunct="1"/>
            <a:r>
              <a:rPr lang="en-US" altLang="en-US" sz="3200" dirty="0"/>
              <a:t>Implementation</a:t>
            </a:r>
          </a:p>
        </p:txBody>
      </p:sp>
      <p:sp>
        <p:nvSpPr>
          <p:cNvPr id="74755" name="Rectangle 3">
            <a:extLst>
              <a:ext uri="{FF2B5EF4-FFF2-40B4-BE49-F238E27FC236}">
                <a16:creationId xmlns:a16="http://schemas.microsoft.com/office/drawing/2014/main" id="{E46642F7-9177-432C-8182-DEEABD676CA3}"/>
              </a:ext>
            </a:extLst>
          </p:cNvPr>
          <p:cNvSpPr>
            <a:spLocks noGrp="1" noChangeArrowheads="1"/>
          </p:cNvSpPr>
          <p:nvPr>
            <p:ph type="body" idx="1"/>
          </p:nvPr>
        </p:nvSpPr>
        <p:spPr>
          <a:xfrm>
            <a:off x="991403" y="819149"/>
            <a:ext cx="7430703" cy="3733599"/>
          </a:xfrm>
        </p:spPr>
        <p:txBody>
          <a:bodyPr/>
          <a:lstStyle/>
          <a:p>
            <a:pPr>
              <a:spcBef>
                <a:spcPts val="0"/>
              </a:spcBef>
            </a:pPr>
            <a:r>
              <a:rPr lang="en-US" altLang="en-US" sz="2000" dirty="0">
                <a:ea typeface="+mn-ea"/>
                <a:cs typeface="Calibri" panose="020F0502020204030204" pitchFamily="34" charset="0"/>
              </a:rPr>
              <a:t>Much variation</a:t>
            </a:r>
          </a:p>
          <a:p>
            <a:pPr lvl="1">
              <a:spcBef>
                <a:spcPts val="0"/>
              </a:spcBef>
            </a:pPr>
            <a:r>
              <a:rPr lang="en-US" altLang="en-US" sz="1800" dirty="0">
                <a:ea typeface="+mn-ea"/>
                <a:cs typeface="Calibri" panose="020F0502020204030204" pitchFamily="34" charset="0"/>
              </a:rPr>
              <a:t>Early OSes in assembly language</a:t>
            </a:r>
          </a:p>
          <a:p>
            <a:pPr lvl="1">
              <a:spcBef>
                <a:spcPts val="0"/>
              </a:spcBef>
            </a:pPr>
            <a:r>
              <a:rPr lang="en-US" altLang="en-US" sz="1800" dirty="0">
                <a:ea typeface="+mn-ea"/>
                <a:cs typeface="Calibri" panose="020F0502020204030204" pitchFamily="34" charset="0"/>
              </a:rPr>
              <a:t>Then system programming languages like Algol, PL/1</a:t>
            </a:r>
          </a:p>
          <a:p>
            <a:pPr lvl="1">
              <a:spcBef>
                <a:spcPts val="0"/>
              </a:spcBef>
            </a:pPr>
            <a:r>
              <a:rPr lang="en-US" altLang="en-US" sz="1800" dirty="0">
                <a:ea typeface="+mn-ea"/>
                <a:cs typeface="Calibri" panose="020F0502020204030204" pitchFamily="34" charset="0"/>
              </a:rPr>
              <a:t>Now C, C++</a:t>
            </a:r>
          </a:p>
          <a:p>
            <a:pPr>
              <a:spcBef>
                <a:spcPts val="0"/>
              </a:spcBef>
            </a:pPr>
            <a:r>
              <a:rPr lang="en-US" altLang="en-US" sz="2000" dirty="0">
                <a:ea typeface="+mn-ea"/>
                <a:cs typeface="Calibri" panose="020F0502020204030204" pitchFamily="34" charset="0"/>
              </a:rPr>
              <a:t>Actually usually a mix of languages</a:t>
            </a:r>
          </a:p>
          <a:p>
            <a:pPr lvl="1">
              <a:spcBef>
                <a:spcPts val="0"/>
              </a:spcBef>
            </a:pPr>
            <a:r>
              <a:rPr lang="en-US" altLang="en-US" sz="1800" dirty="0">
                <a:ea typeface="+mn-ea"/>
                <a:cs typeface="Calibri" panose="020F0502020204030204" pitchFamily="34" charset="0"/>
              </a:rPr>
              <a:t>Lowest levels in assembly</a:t>
            </a:r>
          </a:p>
          <a:p>
            <a:pPr lvl="1">
              <a:spcBef>
                <a:spcPts val="0"/>
              </a:spcBef>
            </a:pPr>
            <a:r>
              <a:rPr lang="en-US" altLang="en-US" sz="1800" dirty="0">
                <a:ea typeface="+mn-ea"/>
                <a:cs typeface="Calibri" panose="020F0502020204030204" pitchFamily="34" charset="0"/>
              </a:rPr>
              <a:t>Main body in C</a:t>
            </a:r>
          </a:p>
          <a:p>
            <a:pPr lvl="1">
              <a:spcBef>
                <a:spcPts val="0"/>
              </a:spcBef>
            </a:pPr>
            <a:r>
              <a:rPr lang="en-US" altLang="en-US" sz="1800" dirty="0">
                <a:ea typeface="+mn-ea"/>
                <a:cs typeface="Calibri" panose="020F0502020204030204" pitchFamily="34" charset="0"/>
              </a:rPr>
              <a:t>Systems programs in C, C++, scripting languages like PERL, Python, shell scripts</a:t>
            </a:r>
          </a:p>
          <a:p>
            <a:pPr>
              <a:spcBef>
                <a:spcPts val="0"/>
              </a:spcBef>
            </a:pPr>
            <a:r>
              <a:rPr lang="en-US" altLang="en-US" sz="2000" dirty="0">
                <a:ea typeface="+mn-ea"/>
                <a:cs typeface="Calibri" panose="020F0502020204030204" pitchFamily="34" charset="0"/>
              </a:rPr>
              <a:t>More high-level language easier to</a:t>
            </a:r>
            <a:r>
              <a:rPr lang="en-US" altLang="en-US" sz="2000" b="1" dirty="0">
                <a:solidFill>
                  <a:srgbClr val="3366FF"/>
                </a:solidFill>
                <a:ea typeface="+mn-ea"/>
                <a:cs typeface="Calibri" panose="020F0502020204030204" pitchFamily="34" charset="0"/>
              </a:rPr>
              <a:t> </a:t>
            </a:r>
            <a:r>
              <a:rPr lang="en-US" altLang="en-US" sz="2000" b="1" dirty="0">
                <a:solidFill>
                  <a:srgbClr val="006699"/>
                </a:solidFill>
                <a:ea typeface="+mn-ea"/>
                <a:cs typeface="Calibri" panose="020F0502020204030204" pitchFamily="34" charset="0"/>
              </a:rPr>
              <a:t>port</a:t>
            </a:r>
            <a:r>
              <a:rPr lang="en-US" altLang="en-US" sz="2000" b="1" dirty="0">
                <a:solidFill>
                  <a:srgbClr val="3366FF"/>
                </a:solidFill>
                <a:ea typeface="+mn-ea"/>
                <a:cs typeface="Calibri" panose="020F0502020204030204" pitchFamily="34" charset="0"/>
              </a:rPr>
              <a:t> </a:t>
            </a:r>
            <a:r>
              <a:rPr lang="en-US" altLang="en-US" sz="2000" dirty="0">
                <a:ea typeface="+mn-ea"/>
                <a:cs typeface="Calibri" panose="020F0502020204030204" pitchFamily="34" charset="0"/>
              </a:rPr>
              <a:t>to other hardware</a:t>
            </a:r>
          </a:p>
          <a:p>
            <a:pPr lvl="1">
              <a:spcBef>
                <a:spcPts val="0"/>
              </a:spcBef>
            </a:pPr>
            <a:r>
              <a:rPr lang="en-US" altLang="en-US" sz="1800" dirty="0">
                <a:ea typeface="+mn-ea"/>
                <a:cs typeface="Calibri" panose="020F0502020204030204" pitchFamily="34" charset="0"/>
              </a:rPr>
              <a:t>But slower</a:t>
            </a:r>
          </a:p>
          <a:p>
            <a:pPr>
              <a:spcBef>
                <a:spcPts val="0"/>
              </a:spcBef>
            </a:pPr>
            <a:r>
              <a:rPr lang="en-US" altLang="en-US" sz="2000" b="1" dirty="0">
                <a:solidFill>
                  <a:srgbClr val="006699"/>
                </a:solidFill>
                <a:ea typeface="+mn-ea"/>
                <a:cs typeface="Calibri" panose="020F0502020204030204" pitchFamily="34" charset="0"/>
              </a:rPr>
              <a:t>Emulation</a:t>
            </a:r>
            <a:r>
              <a:rPr lang="en-US" altLang="en-US" sz="2000" dirty="0">
                <a:ea typeface="+mn-ea"/>
                <a:cs typeface="Calibri" panose="020F0502020204030204" pitchFamily="34" charset="0"/>
              </a:rPr>
              <a:t> can allow an OS to run on non-native hardware</a:t>
            </a:r>
          </a:p>
        </p:txBody>
      </p:sp>
      <p:sp>
        <p:nvSpPr>
          <p:cNvPr id="2" name="灯片编号占位符 1">
            <a:extLst>
              <a:ext uri="{FF2B5EF4-FFF2-40B4-BE49-F238E27FC236}">
                <a16:creationId xmlns:a16="http://schemas.microsoft.com/office/drawing/2014/main" id="{2BA77D49-C2A6-DCD5-1CBC-7ED6A1A4BFBC}"/>
              </a:ext>
            </a:extLst>
          </p:cNvPr>
          <p:cNvSpPr>
            <a:spLocks noGrp="1"/>
          </p:cNvSpPr>
          <p:nvPr>
            <p:ph type="sldNum" sz="quarter" idx="10"/>
          </p:nvPr>
        </p:nvSpPr>
        <p:spPr/>
        <p:txBody>
          <a:bodyPr/>
          <a:lstStyle/>
          <a:p>
            <a:fld id="{D9B6BDF2-6896-4B98-8776-C18582F63BA5}" type="slidenum">
              <a:rPr lang="zh-TW" altLang="en-US" smtClean="0"/>
              <a:pPr/>
              <a:t>9</a:t>
            </a:fld>
            <a:endParaRPr lang="zh-TW"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6CD12CFE-09B0-48A4-9AEE-9A58E11BB892}"/>
              </a:ext>
            </a:extLst>
          </p:cNvPr>
          <p:cNvSpPr>
            <a:spLocks noGrp="1" noChangeArrowheads="1"/>
          </p:cNvSpPr>
          <p:nvPr>
            <p:ph type="title"/>
          </p:nvPr>
        </p:nvSpPr>
        <p:spPr>
          <a:xfrm>
            <a:off x="875899" y="165497"/>
            <a:ext cx="6782201" cy="432197"/>
          </a:xfrm>
        </p:spPr>
        <p:txBody>
          <a:bodyPr/>
          <a:lstStyle/>
          <a:p>
            <a:r>
              <a:rPr lang="en-US" altLang="en-US" sz="3200" dirty="0"/>
              <a:t>Operating System Structure</a:t>
            </a:r>
          </a:p>
        </p:txBody>
      </p:sp>
      <p:sp>
        <p:nvSpPr>
          <p:cNvPr id="76803" name="Content Placeholder 2">
            <a:extLst>
              <a:ext uri="{FF2B5EF4-FFF2-40B4-BE49-F238E27FC236}">
                <a16:creationId xmlns:a16="http://schemas.microsoft.com/office/drawing/2014/main" id="{7C77CAAD-91EB-4676-A633-22880A53EEF1}"/>
              </a:ext>
            </a:extLst>
          </p:cNvPr>
          <p:cNvSpPr>
            <a:spLocks noGrp="1" noChangeArrowheads="1"/>
          </p:cNvSpPr>
          <p:nvPr>
            <p:ph idx="1"/>
          </p:nvPr>
        </p:nvSpPr>
        <p:spPr>
          <a:xfrm>
            <a:off x="1082478" y="890162"/>
            <a:ext cx="6704359" cy="2232184"/>
          </a:xfrm>
        </p:spPr>
        <p:txBody>
          <a:bodyPr/>
          <a:lstStyle/>
          <a:p>
            <a:r>
              <a:rPr lang="en-US" altLang="en-US" sz="2000" dirty="0"/>
              <a:t>General-purpose OS is very large program</a:t>
            </a:r>
          </a:p>
          <a:p>
            <a:r>
              <a:rPr lang="en-US" altLang="en-US" sz="2000" dirty="0"/>
              <a:t>Various ways to structure ones</a:t>
            </a:r>
          </a:p>
          <a:p>
            <a:pPr lvl="1"/>
            <a:r>
              <a:rPr lang="en-US" altLang="en-US" sz="2000" dirty="0"/>
              <a:t>Simple structure – MS-DOS</a:t>
            </a:r>
          </a:p>
          <a:p>
            <a:pPr lvl="1"/>
            <a:r>
              <a:rPr lang="en-US" altLang="en-US" sz="2000" dirty="0"/>
              <a:t>More complex – UNIX</a:t>
            </a:r>
          </a:p>
          <a:p>
            <a:pPr lvl="1"/>
            <a:r>
              <a:rPr lang="en-US" altLang="en-US" sz="2000" dirty="0"/>
              <a:t>Layered – an abstraction</a:t>
            </a:r>
          </a:p>
          <a:p>
            <a:pPr lvl="1"/>
            <a:r>
              <a:rPr lang="en-US" altLang="en-US" sz="2000" dirty="0"/>
              <a:t>Microkernel – Mach</a:t>
            </a:r>
          </a:p>
        </p:txBody>
      </p:sp>
      <p:sp>
        <p:nvSpPr>
          <p:cNvPr id="2" name="灯片编号占位符 1">
            <a:extLst>
              <a:ext uri="{FF2B5EF4-FFF2-40B4-BE49-F238E27FC236}">
                <a16:creationId xmlns:a16="http://schemas.microsoft.com/office/drawing/2014/main" id="{B2D75954-7B76-8D12-2626-8E1A25A14C1A}"/>
              </a:ext>
            </a:extLst>
          </p:cNvPr>
          <p:cNvSpPr>
            <a:spLocks noGrp="1"/>
          </p:cNvSpPr>
          <p:nvPr>
            <p:ph type="sldNum" sz="quarter" idx="10"/>
          </p:nvPr>
        </p:nvSpPr>
        <p:spPr/>
        <p:txBody>
          <a:bodyPr/>
          <a:lstStyle/>
          <a:p>
            <a:fld id="{D9B6BDF2-6896-4B98-8776-C18582F63BA5}" type="slidenum">
              <a:rPr lang="zh-TW" altLang="en-US" smtClean="0"/>
              <a:pPr/>
              <a:t>10</a:t>
            </a:fld>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E377E7B4-9EBE-4C2B-8887-F7A7B2906CE0}"/>
              </a:ext>
            </a:extLst>
          </p:cNvPr>
          <p:cNvSpPr>
            <a:spLocks noGrp="1" noChangeArrowheads="1"/>
          </p:cNvSpPr>
          <p:nvPr>
            <p:ph type="title"/>
          </p:nvPr>
        </p:nvSpPr>
        <p:spPr>
          <a:xfrm>
            <a:off x="895149" y="144379"/>
            <a:ext cx="7892715" cy="452387"/>
          </a:xfrm>
        </p:spPr>
        <p:txBody>
          <a:bodyPr/>
          <a:lstStyle/>
          <a:p>
            <a:pPr eaLnBrk="1" hangingPunct="1"/>
            <a:r>
              <a:rPr lang="en-US" altLang="en-US" sz="3200" dirty="0"/>
              <a:t>Monolithic Structure – Original UNIX</a:t>
            </a:r>
          </a:p>
        </p:txBody>
      </p:sp>
      <p:sp>
        <p:nvSpPr>
          <p:cNvPr id="77827" name="Rectangle 3">
            <a:extLst>
              <a:ext uri="{FF2B5EF4-FFF2-40B4-BE49-F238E27FC236}">
                <a16:creationId xmlns:a16="http://schemas.microsoft.com/office/drawing/2014/main" id="{FC6D798A-4128-40D0-B643-81391EF1733D}"/>
              </a:ext>
            </a:extLst>
          </p:cNvPr>
          <p:cNvSpPr>
            <a:spLocks noGrp="1" noChangeArrowheads="1"/>
          </p:cNvSpPr>
          <p:nvPr>
            <p:ph type="body" idx="1"/>
          </p:nvPr>
        </p:nvSpPr>
        <p:spPr>
          <a:xfrm>
            <a:off x="972153" y="866776"/>
            <a:ext cx="7709834" cy="2954454"/>
          </a:xfrm>
        </p:spPr>
        <p:txBody>
          <a:bodyPr/>
          <a:lstStyle/>
          <a:p>
            <a:r>
              <a:rPr lang="en-US" altLang="en-US" sz="2000" dirty="0"/>
              <a:t>UNIX – limited by hardware functionality, the original UNIX operating system had limited structuring.  </a:t>
            </a:r>
          </a:p>
          <a:p>
            <a:r>
              <a:rPr lang="en-US" altLang="en-US" sz="2000" dirty="0"/>
              <a:t>The UNIX OS consists of two separable parts</a:t>
            </a:r>
          </a:p>
          <a:p>
            <a:pPr lvl="1"/>
            <a:r>
              <a:rPr lang="en-US" altLang="en-US" sz="1800" dirty="0"/>
              <a:t>Systems programs</a:t>
            </a:r>
          </a:p>
          <a:p>
            <a:pPr lvl="1"/>
            <a:r>
              <a:rPr lang="en-US" altLang="en-US" sz="1800" dirty="0"/>
              <a:t>The kernel</a:t>
            </a:r>
          </a:p>
          <a:p>
            <a:pPr lvl="2"/>
            <a:r>
              <a:rPr lang="en-US" altLang="en-US" sz="1600" dirty="0"/>
              <a:t>Consists of everything below the system-call interface and above the physical hardware</a:t>
            </a:r>
          </a:p>
          <a:p>
            <a:pPr lvl="2"/>
            <a:r>
              <a:rPr lang="en-US" altLang="en-US" sz="1600" dirty="0"/>
              <a:t>Provides the file system, CPU scheduling, memory management, and other operating-system functions; a large number of functions for one level</a:t>
            </a:r>
          </a:p>
        </p:txBody>
      </p:sp>
      <p:sp>
        <p:nvSpPr>
          <p:cNvPr id="2" name="灯片编号占位符 1">
            <a:extLst>
              <a:ext uri="{FF2B5EF4-FFF2-40B4-BE49-F238E27FC236}">
                <a16:creationId xmlns:a16="http://schemas.microsoft.com/office/drawing/2014/main" id="{AF624260-7837-C48B-355F-8563262559FE}"/>
              </a:ext>
            </a:extLst>
          </p:cNvPr>
          <p:cNvSpPr>
            <a:spLocks noGrp="1"/>
          </p:cNvSpPr>
          <p:nvPr>
            <p:ph type="sldNum" sz="quarter" idx="10"/>
          </p:nvPr>
        </p:nvSpPr>
        <p:spPr/>
        <p:txBody>
          <a:bodyPr/>
          <a:lstStyle/>
          <a:p>
            <a:fld id="{D9B6BDF2-6896-4B98-8776-C18582F63BA5}" type="slidenum">
              <a:rPr lang="zh-TW" altLang="en-US" smtClean="0"/>
              <a:pPr/>
              <a:t>11</a:t>
            </a:fld>
            <a:endParaRPr lang="zh-TW"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3CFC2B06-0A35-4F30-AA6D-A9E4B2E7F3AA}"/>
              </a:ext>
            </a:extLst>
          </p:cNvPr>
          <p:cNvSpPr>
            <a:spLocks noGrp="1" noChangeArrowheads="1"/>
          </p:cNvSpPr>
          <p:nvPr>
            <p:ph type="title"/>
          </p:nvPr>
        </p:nvSpPr>
        <p:spPr>
          <a:xfrm>
            <a:off x="904774" y="154782"/>
            <a:ext cx="7430703" cy="432197"/>
          </a:xfrm>
        </p:spPr>
        <p:txBody>
          <a:bodyPr/>
          <a:lstStyle/>
          <a:p>
            <a:pPr eaLnBrk="1" hangingPunct="1"/>
            <a:r>
              <a:rPr lang="en-US" altLang="en-US" sz="3200" dirty="0"/>
              <a:t>Traditional UNIX System Structure</a:t>
            </a:r>
          </a:p>
        </p:txBody>
      </p:sp>
      <p:sp>
        <p:nvSpPr>
          <p:cNvPr id="43011" name="TextBox 1">
            <a:extLst>
              <a:ext uri="{FF2B5EF4-FFF2-40B4-BE49-F238E27FC236}">
                <a16:creationId xmlns:a16="http://schemas.microsoft.com/office/drawing/2014/main" id="{5706A7FC-049C-41F9-8FDB-970715988494}"/>
              </a:ext>
            </a:extLst>
          </p:cNvPr>
          <p:cNvSpPr txBox="1">
            <a:spLocks noChangeArrowheads="1"/>
          </p:cNvSpPr>
          <p:nvPr/>
        </p:nvSpPr>
        <p:spPr bwMode="auto">
          <a:xfrm>
            <a:off x="972151" y="813707"/>
            <a:ext cx="51732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342900" indent="-342900">
              <a:buClr>
                <a:srgbClr val="0000FF"/>
              </a:buClr>
              <a:buSzPct val="90000"/>
              <a:buFont typeface="Wingdings" panose="05000000000000000000" pitchFamily="2" charset="2"/>
              <a:buChar char="l"/>
              <a:defRPr/>
            </a:pPr>
            <a:r>
              <a:rPr lang="en-US" altLang="en-US" sz="2000" dirty="0">
                <a:latin typeface="Calibri" panose="020F0502020204030204" pitchFamily="34" charset="0"/>
                <a:cs typeface="Calibri" panose="020F0502020204030204" pitchFamily="34" charset="0"/>
              </a:rPr>
              <a:t>Beyond simple but not fully layered</a:t>
            </a:r>
          </a:p>
        </p:txBody>
      </p:sp>
      <p:pic>
        <p:nvPicPr>
          <p:cNvPr id="79876" name="Picture 2">
            <a:extLst>
              <a:ext uri="{FF2B5EF4-FFF2-40B4-BE49-F238E27FC236}">
                <a16:creationId xmlns:a16="http://schemas.microsoft.com/office/drawing/2014/main" id="{0AF4FCDF-1BC0-40A0-B88F-416549435D1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10546" y="1327205"/>
            <a:ext cx="5327651" cy="321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0E7D235E-AB29-B37C-0D42-4BA71EE5EC8F}"/>
              </a:ext>
            </a:extLst>
          </p:cNvPr>
          <p:cNvSpPr>
            <a:spLocks noGrp="1"/>
          </p:cNvSpPr>
          <p:nvPr>
            <p:ph type="sldNum" sz="quarter" idx="10"/>
          </p:nvPr>
        </p:nvSpPr>
        <p:spPr/>
        <p:txBody>
          <a:bodyPr/>
          <a:lstStyle/>
          <a:p>
            <a:fld id="{D9B6BDF2-6896-4B98-8776-C18582F63BA5}" type="slidenum">
              <a:rPr lang="zh-TW" altLang="en-US" smtClean="0"/>
              <a:pPr/>
              <a:t>12</a:t>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C38BB792-4B15-4757-85D3-D0B6840E07CC}"/>
              </a:ext>
            </a:extLst>
          </p:cNvPr>
          <p:cNvSpPr>
            <a:spLocks noGrp="1" noChangeArrowheads="1"/>
          </p:cNvSpPr>
          <p:nvPr>
            <p:ph type="title"/>
          </p:nvPr>
        </p:nvSpPr>
        <p:spPr>
          <a:xfrm>
            <a:off x="933651" y="161926"/>
            <a:ext cx="6591099" cy="432197"/>
          </a:xfrm>
        </p:spPr>
        <p:txBody>
          <a:bodyPr/>
          <a:lstStyle/>
          <a:p>
            <a:pPr eaLnBrk="1" hangingPunct="1"/>
            <a:r>
              <a:rPr lang="en-US" altLang="en-US" sz="3200" dirty="0"/>
              <a:t>Linux System Structure</a:t>
            </a:r>
          </a:p>
        </p:txBody>
      </p:sp>
      <p:sp>
        <p:nvSpPr>
          <p:cNvPr id="81923" name="TextBox 1">
            <a:extLst>
              <a:ext uri="{FF2B5EF4-FFF2-40B4-BE49-F238E27FC236}">
                <a16:creationId xmlns:a16="http://schemas.microsoft.com/office/drawing/2014/main" id="{40FACBEC-A814-4EAA-BD5E-E6B0EC8188F9}"/>
              </a:ext>
            </a:extLst>
          </p:cNvPr>
          <p:cNvSpPr txBox="1">
            <a:spLocks noChangeArrowheads="1"/>
          </p:cNvSpPr>
          <p:nvPr/>
        </p:nvSpPr>
        <p:spPr bwMode="auto">
          <a:xfrm>
            <a:off x="933651" y="854810"/>
            <a:ext cx="61963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285750" indent="-285750">
              <a:spcBef>
                <a:spcPct val="0"/>
              </a:spcBef>
              <a:buClr>
                <a:srgbClr val="0000FF"/>
              </a:buClr>
              <a:buSzTx/>
              <a:buFont typeface="Wingdings" panose="05000000000000000000" pitchFamily="2" charset="2"/>
              <a:buChar char="l"/>
            </a:pPr>
            <a:r>
              <a:rPr kumimoji="0" lang="en-US" altLang="en-US" sz="2000" dirty="0">
                <a:latin typeface="Calibri" panose="020F0502020204030204" pitchFamily="34" charset="0"/>
                <a:cs typeface="Calibri" panose="020F0502020204030204" pitchFamily="34" charset="0"/>
              </a:rPr>
              <a:t>Monolithic plus modular design</a:t>
            </a:r>
          </a:p>
        </p:txBody>
      </p:sp>
      <p:pic>
        <p:nvPicPr>
          <p:cNvPr id="81924" name="Picture 3">
            <a:extLst>
              <a:ext uri="{FF2B5EF4-FFF2-40B4-BE49-F238E27FC236}">
                <a16:creationId xmlns:a16="http://schemas.microsoft.com/office/drawing/2014/main" id="{3916281A-E631-49D0-A316-EE6C756C916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2092" y="880047"/>
            <a:ext cx="2342657" cy="3619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C836A7A4-9217-A393-54B7-5C5799588C93}"/>
              </a:ext>
            </a:extLst>
          </p:cNvPr>
          <p:cNvSpPr>
            <a:spLocks noGrp="1"/>
          </p:cNvSpPr>
          <p:nvPr>
            <p:ph type="sldNum" sz="quarter" idx="10"/>
          </p:nvPr>
        </p:nvSpPr>
        <p:spPr/>
        <p:txBody>
          <a:bodyPr/>
          <a:lstStyle/>
          <a:p>
            <a:fld id="{D9B6BDF2-6896-4B98-8776-C18582F63BA5}" type="slidenum">
              <a:rPr lang="zh-TW" altLang="en-US" smtClean="0"/>
              <a:pPr/>
              <a:t>13</a:t>
            </a:fld>
            <a:endParaRPr lang="zh-TW"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7D347B9A-F212-4276-94F4-7598F322B291}"/>
              </a:ext>
            </a:extLst>
          </p:cNvPr>
          <p:cNvSpPr>
            <a:spLocks noGrp="1" noChangeArrowheads="1"/>
          </p:cNvSpPr>
          <p:nvPr>
            <p:ph type="title"/>
          </p:nvPr>
        </p:nvSpPr>
        <p:spPr>
          <a:xfrm>
            <a:off x="914400" y="155972"/>
            <a:ext cx="6617494" cy="432197"/>
          </a:xfrm>
        </p:spPr>
        <p:txBody>
          <a:bodyPr/>
          <a:lstStyle/>
          <a:p>
            <a:pPr eaLnBrk="1" hangingPunct="1"/>
            <a:r>
              <a:rPr lang="en-US" altLang="en-US" sz="3200" dirty="0"/>
              <a:t>Layered Approach</a:t>
            </a:r>
          </a:p>
        </p:txBody>
      </p:sp>
      <p:sp>
        <p:nvSpPr>
          <p:cNvPr id="83971" name="Rectangle 3">
            <a:extLst>
              <a:ext uri="{FF2B5EF4-FFF2-40B4-BE49-F238E27FC236}">
                <a16:creationId xmlns:a16="http://schemas.microsoft.com/office/drawing/2014/main" id="{EF88837C-C3AF-4F6B-BDE3-AD82D9B29A62}"/>
              </a:ext>
            </a:extLst>
          </p:cNvPr>
          <p:cNvSpPr>
            <a:spLocks noGrp="1" noChangeArrowheads="1"/>
          </p:cNvSpPr>
          <p:nvPr>
            <p:ph type="body" idx="1"/>
          </p:nvPr>
        </p:nvSpPr>
        <p:spPr>
          <a:xfrm>
            <a:off x="452386" y="1147392"/>
            <a:ext cx="5553777" cy="2394706"/>
          </a:xfrm>
        </p:spPr>
        <p:txBody>
          <a:bodyPr/>
          <a:lstStyle/>
          <a:p>
            <a:r>
              <a:rPr lang="en-US" altLang="en-US" sz="2000" dirty="0"/>
              <a:t>The operating system is divided into a number of layers (levels), each built on top of lower layers.  The bottom layer (layer 0), is the hardware; the highest (layer N) is the user interface.</a:t>
            </a:r>
          </a:p>
          <a:p>
            <a:r>
              <a:rPr lang="en-US" altLang="en-US" sz="2000" dirty="0"/>
              <a:t>With modularity, layers are selected such that each uses functions (operations) and services of only lower-level layers</a:t>
            </a:r>
          </a:p>
        </p:txBody>
      </p:sp>
      <p:pic>
        <p:nvPicPr>
          <p:cNvPr id="83972" name="Picture 2">
            <a:extLst>
              <a:ext uri="{FF2B5EF4-FFF2-40B4-BE49-F238E27FC236}">
                <a16:creationId xmlns:a16="http://schemas.microsoft.com/office/drawing/2014/main" id="{407A23F2-DA55-4CEE-97C1-871903D963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01409" y="1400042"/>
            <a:ext cx="2660969" cy="2466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79DA0A73-70AE-C221-453E-D6EE5FCBE856}"/>
              </a:ext>
            </a:extLst>
          </p:cNvPr>
          <p:cNvSpPr>
            <a:spLocks noGrp="1"/>
          </p:cNvSpPr>
          <p:nvPr>
            <p:ph type="sldNum" sz="quarter" idx="10"/>
          </p:nvPr>
        </p:nvSpPr>
        <p:spPr/>
        <p:txBody>
          <a:bodyPr/>
          <a:lstStyle/>
          <a:p>
            <a:fld id="{D9B6BDF2-6896-4B98-8776-C18582F63BA5}" type="slidenum">
              <a:rPr lang="zh-TW" altLang="en-US" smtClean="0"/>
              <a:pPr/>
              <a:t>14</a:t>
            </a:fld>
            <a:endParaRPr lang="zh-TW"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A877023E-2F55-41F6-99AD-606BBD5F506F}"/>
              </a:ext>
            </a:extLst>
          </p:cNvPr>
          <p:cNvSpPr>
            <a:spLocks noGrp="1" noChangeArrowheads="1"/>
          </p:cNvSpPr>
          <p:nvPr>
            <p:ph type="title"/>
          </p:nvPr>
        </p:nvSpPr>
        <p:spPr>
          <a:xfrm>
            <a:off x="924025" y="155972"/>
            <a:ext cx="6649541" cy="432197"/>
          </a:xfrm>
        </p:spPr>
        <p:txBody>
          <a:bodyPr/>
          <a:lstStyle/>
          <a:p>
            <a:pPr eaLnBrk="1" hangingPunct="1"/>
            <a:r>
              <a:rPr lang="en-US" altLang="en-US" sz="3200" dirty="0"/>
              <a:t>Microkernels</a:t>
            </a:r>
          </a:p>
        </p:txBody>
      </p:sp>
      <p:sp>
        <p:nvSpPr>
          <p:cNvPr id="86019" name="Rectangle 3">
            <a:extLst>
              <a:ext uri="{FF2B5EF4-FFF2-40B4-BE49-F238E27FC236}">
                <a16:creationId xmlns:a16="http://schemas.microsoft.com/office/drawing/2014/main" id="{F3C84D0A-C5EC-46A8-A546-5363A149B9F9}"/>
              </a:ext>
            </a:extLst>
          </p:cNvPr>
          <p:cNvSpPr>
            <a:spLocks noGrp="1" noChangeArrowheads="1"/>
          </p:cNvSpPr>
          <p:nvPr>
            <p:ph idx="1"/>
          </p:nvPr>
        </p:nvSpPr>
        <p:spPr>
          <a:xfrm>
            <a:off x="924025" y="811806"/>
            <a:ext cx="7784570" cy="3642972"/>
          </a:xfrm>
        </p:spPr>
        <p:txBody>
          <a:bodyPr/>
          <a:lstStyle/>
          <a:p>
            <a:pPr>
              <a:spcBef>
                <a:spcPts val="0"/>
              </a:spcBef>
            </a:pPr>
            <a:r>
              <a:rPr lang="en-US" altLang="en-US" sz="2000" dirty="0">
                <a:ea typeface="+mn-ea"/>
                <a:cs typeface="Calibri" panose="020F0502020204030204" pitchFamily="34" charset="0"/>
              </a:rPr>
              <a:t>Moves as much from the kernel into user space</a:t>
            </a:r>
          </a:p>
          <a:p>
            <a:pPr>
              <a:spcBef>
                <a:spcPts val="0"/>
              </a:spcBef>
            </a:pPr>
            <a:r>
              <a:rPr lang="en-US" altLang="en-US" sz="2000" b="1" dirty="0">
                <a:solidFill>
                  <a:srgbClr val="006699"/>
                </a:solidFill>
                <a:ea typeface="+mn-ea"/>
                <a:cs typeface="Calibri" panose="020F0502020204030204" pitchFamily="34" charset="0"/>
              </a:rPr>
              <a:t>Mach</a:t>
            </a:r>
            <a:r>
              <a:rPr lang="en-US" altLang="en-US" sz="2000" dirty="0">
                <a:ea typeface="+mn-ea"/>
                <a:cs typeface="Calibri" panose="020F0502020204030204" pitchFamily="34" charset="0"/>
              </a:rPr>
              <a:t> is an example of </a:t>
            </a:r>
            <a:r>
              <a:rPr lang="en-US" altLang="en-US" sz="2000" b="1" dirty="0">
                <a:solidFill>
                  <a:srgbClr val="006699"/>
                </a:solidFill>
                <a:ea typeface="+mn-ea"/>
                <a:cs typeface="Calibri" panose="020F0502020204030204" pitchFamily="34" charset="0"/>
              </a:rPr>
              <a:t>microkernel</a:t>
            </a:r>
          </a:p>
          <a:p>
            <a:pPr lvl="1">
              <a:spcBef>
                <a:spcPts val="0"/>
              </a:spcBef>
            </a:pPr>
            <a:r>
              <a:rPr lang="en-US" altLang="en-US" sz="1800" dirty="0">
                <a:ea typeface="+mn-ea"/>
                <a:cs typeface="Calibri" panose="020F0502020204030204" pitchFamily="34" charset="0"/>
              </a:rPr>
              <a:t>Mac OS X kernel (</a:t>
            </a:r>
            <a:r>
              <a:rPr lang="en-US" altLang="en-US" sz="1800" b="1" dirty="0">
                <a:solidFill>
                  <a:srgbClr val="006699"/>
                </a:solidFill>
                <a:ea typeface="+mn-ea"/>
                <a:cs typeface="Calibri" panose="020F0502020204030204" pitchFamily="34" charset="0"/>
              </a:rPr>
              <a:t>Darwin</a:t>
            </a:r>
            <a:r>
              <a:rPr lang="en-US" altLang="en-US" sz="1800" dirty="0">
                <a:ea typeface="+mn-ea"/>
                <a:cs typeface="Calibri" panose="020F0502020204030204" pitchFamily="34" charset="0"/>
              </a:rPr>
              <a:t>) partly based on Mach</a:t>
            </a:r>
          </a:p>
          <a:p>
            <a:pPr>
              <a:spcBef>
                <a:spcPts val="0"/>
              </a:spcBef>
            </a:pPr>
            <a:r>
              <a:rPr lang="en-US" altLang="en-US" sz="2000" dirty="0">
                <a:ea typeface="+mn-ea"/>
                <a:cs typeface="Calibri" panose="020F0502020204030204" pitchFamily="34" charset="0"/>
              </a:rPr>
              <a:t>Communication takes place between user modules using </a:t>
            </a:r>
            <a:r>
              <a:rPr lang="en-US" altLang="en-US" sz="2000" b="1" dirty="0">
                <a:solidFill>
                  <a:srgbClr val="006699"/>
                </a:solidFill>
                <a:ea typeface="+mn-ea"/>
                <a:cs typeface="Calibri" panose="020F0502020204030204" pitchFamily="34" charset="0"/>
              </a:rPr>
              <a:t>message</a:t>
            </a:r>
            <a:r>
              <a:rPr lang="en-US" altLang="en-US" sz="2000" b="1" dirty="0">
                <a:solidFill>
                  <a:srgbClr val="3366FF"/>
                </a:solidFill>
                <a:ea typeface="+mn-ea"/>
                <a:cs typeface="Calibri" panose="020F0502020204030204" pitchFamily="34" charset="0"/>
              </a:rPr>
              <a:t> </a:t>
            </a:r>
            <a:r>
              <a:rPr lang="en-US" altLang="en-US" sz="2000" b="1" dirty="0">
                <a:solidFill>
                  <a:srgbClr val="006699"/>
                </a:solidFill>
                <a:ea typeface="+mn-ea"/>
                <a:cs typeface="Calibri" panose="020F0502020204030204" pitchFamily="34" charset="0"/>
              </a:rPr>
              <a:t>passing</a:t>
            </a:r>
          </a:p>
          <a:p>
            <a:pPr>
              <a:spcBef>
                <a:spcPts val="0"/>
              </a:spcBef>
            </a:pPr>
            <a:r>
              <a:rPr lang="en-US" altLang="en-US" sz="2000" dirty="0">
                <a:ea typeface="+mn-ea"/>
                <a:cs typeface="Calibri" panose="020F0502020204030204" pitchFamily="34" charset="0"/>
              </a:rPr>
              <a:t>Benefits:</a:t>
            </a:r>
          </a:p>
          <a:p>
            <a:pPr lvl="1">
              <a:spcBef>
                <a:spcPts val="0"/>
              </a:spcBef>
            </a:pPr>
            <a:r>
              <a:rPr lang="en-US" altLang="en-US" sz="1800" dirty="0">
                <a:ea typeface="+mn-ea"/>
                <a:cs typeface="Calibri" panose="020F0502020204030204" pitchFamily="34" charset="0"/>
              </a:rPr>
              <a:t>Easier to extend a microkernel</a:t>
            </a:r>
          </a:p>
          <a:p>
            <a:pPr lvl="1">
              <a:spcBef>
                <a:spcPts val="0"/>
              </a:spcBef>
            </a:pPr>
            <a:r>
              <a:rPr lang="en-US" altLang="en-US" sz="1800" dirty="0">
                <a:ea typeface="+mn-ea"/>
                <a:cs typeface="Calibri" panose="020F0502020204030204" pitchFamily="34" charset="0"/>
              </a:rPr>
              <a:t>Easier to port the operating system to new architectures</a:t>
            </a:r>
          </a:p>
          <a:p>
            <a:pPr lvl="1">
              <a:spcBef>
                <a:spcPts val="0"/>
              </a:spcBef>
            </a:pPr>
            <a:r>
              <a:rPr lang="en-US" altLang="en-US" sz="1800" dirty="0">
                <a:ea typeface="+mn-ea"/>
                <a:cs typeface="Calibri" panose="020F0502020204030204" pitchFamily="34" charset="0"/>
              </a:rPr>
              <a:t>More reliable (less code is running in kernel mode)</a:t>
            </a:r>
          </a:p>
          <a:p>
            <a:pPr lvl="1">
              <a:spcBef>
                <a:spcPts val="0"/>
              </a:spcBef>
            </a:pPr>
            <a:r>
              <a:rPr lang="en-US" altLang="en-US" sz="1800" dirty="0">
                <a:ea typeface="+mn-ea"/>
                <a:cs typeface="Calibri" panose="020F0502020204030204" pitchFamily="34" charset="0"/>
              </a:rPr>
              <a:t>More secure</a:t>
            </a:r>
          </a:p>
          <a:p>
            <a:pPr>
              <a:spcBef>
                <a:spcPts val="0"/>
              </a:spcBef>
            </a:pPr>
            <a:r>
              <a:rPr lang="en-US" altLang="en-US" sz="2000" dirty="0">
                <a:ea typeface="+mn-ea"/>
                <a:cs typeface="Calibri" panose="020F0502020204030204" pitchFamily="34" charset="0"/>
              </a:rPr>
              <a:t>Detriments:</a:t>
            </a:r>
          </a:p>
          <a:p>
            <a:pPr lvl="1">
              <a:spcBef>
                <a:spcPts val="0"/>
              </a:spcBef>
            </a:pPr>
            <a:r>
              <a:rPr lang="en-US" altLang="en-US" sz="1800" dirty="0">
                <a:ea typeface="+mn-ea"/>
                <a:cs typeface="Calibri" panose="020F0502020204030204" pitchFamily="34" charset="0"/>
              </a:rPr>
              <a:t>Performance overhead of user space to kernel space communication</a:t>
            </a:r>
          </a:p>
        </p:txBody>
      </p:sp>
      <p:sp>
        <p:nvSpPr>
          <p:cNvPr id="2" name="灯片编号占位符 1">
            <a:extLst>
              <a:ext uri="{FF2B5EF4-FFF2-40B4-BE49-F238E27FC236}">
                <a16:creationId xmlns:a16="http://schemas.microsoft.com/office/drawing/2014/main" id="{99923368-4D38-CFBE-8176-808297453B49}"/>
              </a:ext>
            </a:extLst>
          </p:cNvPr>
          <p:cNvSpPr>
            <a:spLocks noGrp="1"/>
          </p:cNvSpPr>
          <p:nvPr>
            <p:ph type="sldNum" sz="quarter" idx="10"/>
          </p:nvPr>
        </p:nvSpPr>
        <p:spPr/>
        <p:txBody>
          <a:bodyPr/>
          <a:lstStyle/>
          <a:p>
            <a:fld id="{D9B6BDF2-6896-4B98-8776-C18582F63BA5}" type="slidenum">
              <a:rPr lang="zh-TW" altLang="en-US" smtClean="0"/>
              <a:pPr/>
              <a:t>15</a:t>
            </a:fld>
            <a:endParaRPr lang="zh-TW"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31DBEE6C-3A88-4D5B-9245-EF2BF859C9CF}"/>
              </a:ext>
            </a:extLst>
          </p:cNvPr>
          <p:cNvSpPr>
            <a:spLocks noGrp="1" noChangeArrowheads="1"/>
          </p:cNvSpPr>
          <p:nvPr>
            <p:ph type="title"/>
          </p:nvPr>
        </p:nvSpPr>
        <p:spPr>
          <a:xfrm>
            <a:off x="904776" y="160735"/>
            <a:ext cx="6655694" cy="432197"/>
          </a:xfrm>
        </p:spPr>
        <p:txBody>
          <a:bodyPr/>
          <a:lstStyle/>
          <a:p>
            <a:pPr eaLnBrk="1" hangingPunct="1"/>
            <a:r>
              <a:rPr lang="en-US" altLang="en-US" sz="3200" dirty="0"/>
              <a:t>Microkernel System Structure </a:t>
            </a:r>
          </a:p>
        </p:txBody>
      </p:sp>
      <p:pic>
        <p:nvPicPr>
          <p:cNvPr id="88067" name="Picture 2">
            <a:extLst>
              <a:ext uri="{FF2B5EF4-FFF2-40B4-BE49-F238E27FC236}">
                <a16:creationId xmlns:a16="http://schemas.microsoft.com/office/drawing/2014/main" id="{25A0E5C8-7A5F-457D-83DE-F96A7C9EEDA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44905" y="1158517"/>
            <a:ext cx="6545721" cy="316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AEEB582B-475C-45F6-447C-7F67A328C8F5}"/>
              </a:ext>
            </a:extLst>
          </p:cNvPr>
          <p:cNvSpPr>
            <a:spLocks noGrp="1"/>
          </p:cNvSpPr>
          <p:nvPr>
            <p:ph type="sldNum" sz="quarter" idx="10"/>
          </p:nvPr>
        </p:nvSpPr>
        <p:spPr/>
        <p:txBody>
          <a:bodyPr/>
          <a:lstStyle/>
          <a:p>
            <a:fld id="{D9B6BDF2-6896-4B98-8776-C18582F63BA5}" type="slidenum">
              <a:rPr lang="zh-TW" altLang="en-US" smtClean="0"/>
              <a:pPr/>
              <a:t>16</a:t>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8954A814-12BC-495B-A1ED-BBB6D763DFC8}"/>
              </a:ext>
            </a:extLst>
          </p:cNvPr>
          <p:cNvSpPr>
            <a:spLocks noGrp="1" noChangeArrowheads="1"/>
          </p:cNvSpPr>
          <p:nvPr>
            <p:ph type="title"/>
          </p:nvPr>
        </p:nvSpPr>
        <p:spPr>
          <a:xfrm>
            <a:off x="924025" y="161926"/>
            <a:ext cx="6619775" cy="432197"/>
          </a:xfrm>
        </p:spPr>
        <p:txBody>
          <a:bodyPr/>
          <a:lstStyle/>
          <a:p>
            <a:pPr eaLnBrk="1" hangingPunct="1"/>
            <a:r>
              <a:rPr lang="en-US" altLang="en-US" sz="3200" dirty="0"/>
              <a:t>Modules</a:t>
            </a:r>
          </a:p>
        </p:txBody>
      </p:sp>
      <p:sp>
        <p:nvSpPr>
          <p:cNvPr id="90115" name="Rectangle 3">
            <a:extLst>
              <a:ext uri="{FF2B5EF4-FFF2-40B4-BE49-F238E27FC236}">
                <a16:creationId xmlns:a16="http://schemas.microsoft.com/office/drawing/2014/main" id="{C37B4459-CB96-4BE9-94C0-89761665269A}"/>
              </a:ext>
            </a:extLst>
          </p:cNvPr>
          <p:cNvSpPr>
            <a:spLocks noGrp="1" noChangeArrowheads="1"/>
          </p:cNvSpPr>
          <p:nvPr>
            <p:ph type="body" idx="1"/>
          </p:nvPr>
        </p:nvSpPr>
        <p:spPr>
          <a:xfrm>
            <a:off x="1078029" y="779646"/>
            <a:ext cx="7199697" cy="3438569"/>
          </a:xfrm>
        </p:spPr>
        <p:txBody>
          <a:bodyPr/>
          <a:lstStyle/>
          <a:p>
            <a:r>
              <a:rPr lang="en-US" altLang="en-US" sz="2000" dirty="0">
                <a:ea typeface="+mn-ea"/>
                <a:cs typeface="Calibri" panose="020F0502020204030204" pitchFamily="34" charset="0"/>
              </a:rPr>
              <a:t>Many modern operating systems implement </a:t>
            </a:r>
            <a:r>
              <a:rPr lang="en-US" altLang="en-US" sz="2000" b="1" dirty="0">
                <a:solidFill>
                  <a:srgbClr val="006699"/>
                </a:solidFill>
                <a:ea typeface="+mn-ea"/>
                <a:cs typeface="Calibri" panose="020F0502020204030204" pitchFamily="34" charset="0"/>
              </a:rPr>
              <a:t>loadable</a:t>
            </a:r>
            <a:r>
              <a:rPr lang="en-US" altLang="en-US" sz="2000" dirty="0">
                <a:ea typeface="+mn-ea"/>
                <a:cs typeface="Calibri" panose="020F0502020204030204" pitchFamily="34" charset="0"/>
              </a:rPr>
              <a:t> </a:t>
            </a:r>
            <a:r>
              <a:rPr lang="en-US" altLang="en-US" sz="2000" b="1" dirty="0">
                <a:solidFill>
                  <a:srgbClr val="006699"/>
                </a:solidFill>
                <a:ea typeface="+mn-ea"/>
                <a:cs typeface="Calibri" panose="020F0502020204030204" pitchFamily="34" charset="0"/>
              </a:rPr>
              <a:t>kernel</a:t>
            </a:r>
            <a:r>
              <a:rPr lang="en-US" altLang="en-US" sz="2000" b="1" dirty="0">
                <a:solidFill>
                  <a:srgbClr val="3366FF"/>
                </a:solidFill>
                <a:ea typeface="+mn-ea"/>
                <a:cs typeface="Calibri" panose="020F0502020204030204" pitchFamily="34" charset="0"/>
              </a:rPr>
              <a:t> </a:t>
            </a:r>
            <a:r>
              <a:rPr lang="en-US" altLang="en-US" sz="2000" dirty="0">
                <a:ea typeface="+mn-ea"/>
                <a:cs typeface="Calibri" panose="020F0502020204030204" pitchFamily="34" charset="0"/>
              </a:rPr>
              <a:t>mo</a:t>
            </a:r>
            <a:r>
              <a:rPr lang="en-US" altLang="en-US" sz="2000" b="1" dirty="0">
                <a:solidFill>
                  <a:srgbClr val="006699"/>
                </a:solidFill>
                <a:ea typeface="+mn-ea"/>
                <a:cs typeface="Calibri" panose="020F0502020204030204" pitchFamily="34" charset="0"/>
              </a:rPr>
              <a:t>dules</a:t>
            </a:r>
            <a:r>
              <a:rPr lang="en-US" altLang="en-US" sz="2000" b="1" dirty="0">
                <a:solidFill>
                  <a:srgbClr val="3366FF"/>
                </a:solidFill>
                <a:ea typeface="+mn-ea"/>
                <a:cs typeface="Calibri" panose="020F0502020204030204" pitchFamily="34" charset="0"/>
              </a:rPr>
              <a:t> </a:t>
            </a:r>
            <a:r>
              <a:rPr lang="en-US" altLang="en-US" sz="2000" dirty="0">
                <a:ea typeface="+mn-ea"/>
                <a:cs typeface="Calibri" panose="020F0502020204030204" pitchFamily="34" charset="0"/>
              </a:rPr>
              <a:t>(</a:t>
            </a:r>
            <a:r>
              <a:rPr lang="en-US" altLang="en-US" sz="2000" b="1" dirty="0">
                <a:solidFill>
                  <a:srgbClr val="006699"/>
                </a:solidFill>
                <a:ea typeface="+mn-ea"/>
                <a:cs typeface="Calibri" panose="020F0502020204030204" pitchFamily="34" charset="0"/>
              </a:rPr>
              <a:t>LKMs</a:t>
            </a:r>
            <a:r>
              <a:rPr lang="en-US" altLang="en-US" sz="2000" dirty="0">
                <a:ea typeface="+mn-ea"/>
                <a:cs typeface="Calibri" panose="020F0502020204030204" pitchFamily="34" charset="0"/>
              </a:rPr>
              <a:t>)</a:t>
            </a:r>
          </a:p>
          <a:p>
            <a:pPr lvl="1"/>
            <a:r>
              <a:rPr lang="en-US" altLang="en-US" sz="1800" dirty="0">
                <a:ea typeface="+mn-ea"/>
                <a:cs typeface="Calibri" panose="020F0502020204030204" pitchFamily="34" charset="0"/>
              </a:rPr>
              <a:t>Uses object-oriented approach</a:t>
            </a:r>
          </a:p>
          <a:p>
            <a:pPr lvl="1"/>
            <a:r>
              <a:rPr lang="en-US" altLang="en-US" sz="1800" dirty="0">
                <a:ea typeface="+mn-ea"/>
                <a:cs typeface="Calibri" panose="020F0502020204030204" pitchFamily="34" charset="0"/>
              </a:rPr>
              <a:t>Each core component is separate</a:t>
            </a:r>
          </a:p>
          <a:p>
            <a:pPr lvl="1"/>
            <a:r>
              <a:rPr lang="en-US" altLang="en-US" sz="1800" dirty="0">
                <a:ea typeface="+mn-ea"/>
                <a:cs typeface="Calibri" panose="020F0502020204030204" pitchFamily="34" charset="0"/>
              </a:rPr>
              <a:t>Each talks to the others over known interfaces</a:t>
            </a:r>
          </a:p>
          <a:p>
            <a:pPr lvl="1"/>
            <a:r>
              <a:rPr lang="en-US" altLang="en-US" sz="1800" dirty="0">
                <a:ea typeface="+mn-ea"/>
                <a:cs typeface="Calibri" panose="020F0502020204030204" pitchFamily="34" charset="0"/>
              </a:rPr>
              <a:t>Each is loadable as needed within the kernel</a:t>
            </a:r>
          </a:p>
          <a:p>
            <a:r>
              <a:rPr lang="en-US" altLang="en-US" sz="2000" dirty="0">
                <a:ea typeface="+mn-ea"/>
                <a:cs typeface="Calibri" panose="020F0502020204030204" pitchFamily="34" charset="0"/>
              </a:rPr>
              <a:t>Overall, similar to layers but with more flexible</a:t>
            </a:r>
          </a:p>
          <a:p>
            <a:pPr lvl="1"/>
            <a:r>
              <a:rPr lang="en-US" altLang="en-US" sz="2000" dirty="0">
                <a:ea typeface="+mn-ea"/>
                <a:cs typeface="Calibri" panose="020F0502020204030204" pitchFamily="34" charset="0"/>
              </a:rPr>
              <a:t>Linux, Solaris, etc.</a:t>
            </a:r>
          </a:p>
        </p:txBody>
      </p:sp>
      <p:sp>
        <p:nvSpPr>
          <p:cNvPr id="2" name="灯片编号占位符 1">
            <a:extLst>
              <a:ext uri="{FF2B5EF4-FFF2-40B4-BE49-F238E27FC236}">
                <a16:creationId xmlns:a16="http://schemas.microsoft.com/office/drawing/2014/main" id="{BD4A030B-306C-1C4E-A3DA-9A3C0840328F}"/>
              </a:ext>
            </a:extLst>
          </p:cNvPr>
          <p:cNvSpPr>
            <a:spLocks noGrp="1"/>
          </p:cNvSpPr>
          <p:nvPr>
            <p:ph type="sldNum" sz="quarter" idx="10"/>
          </p:nvPr>
        </p:nvSpPr>
        <p:spPr/>
        <p:txBody>
          <a:bodyPr/>
          <a:lstStyle/>
          <a:p>
            <a:fld id="{D9B6BDF2-6896-4B98-8776-C18582F63BA5}" type="slidenum">
              <a:rPr lang="zh-TW" altLang="en-US" smtClean="0"/>
              <a:pPr/>
              <a:t>17</a:t>
            </a:fld>
            <a:endParaRPr lang="zh-TW"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A0BB8BEE-979C-4417-91EE-00F82403335A}"/>
              </a:ext>
            </a:extLst>
          </p:cNvPr>
          <p:cNvSpPr>
            <a:spLocks noGrp="1" noChangeArrowheads="1"/>
          </p:cNvSpPr>
          <p:nvPr>
            <p:ph type="title"/>
          </p:nvPr>
        </p:nvSpPr>
        <p:spPr>
          <a:xfrm>
            <a:off x="895149" y="170260"/>
            <a:ext cx="6762951" cy="432197"/>
          </a:xfrm>
        </p:spPr>
        <p:txBody>
          <a:bodyPr/>
          <a:lstStyle/>
          <a:p>
            <a:pPr eaLnBrk="1" hangingPunct="1"/>
            <a:r>
              <a:rPr lang="en-US" altLang="en-US" sz="3200" dirty="0"/>
              <a:t>Hybrid Systems</a:t>
            </a:r>
          </a:p>
        </p:txBody>
      </p:sp>
      <p:sp>
        <p:nvSpPr>
          <p:cNvPr id="92163" name="Rectangle 3">
            <a:extLst>
              <a:ext uri="{FF2B5EF4-FFF2-40B4-BE49-F238E27FC236}">
                <a16:creationId xmlns:a16="http://schemas.microsoft.com/office/drawing/2014/main" id="{D41C8CF6-730E-4ECC-9656-D3926F90EEBB}"/>
              </a:ext>
            </a:extLst>
          </p:cNvPr>
          <p:cNvSpPr>
            <a:spLocks noGrp="1" noChangeArrowheads="1"/>
          </p:cNvSpPr>
          <p:nvPr>
            <p:ph type="body" idx="1"/>
          </p:nvPr>
        </p:nvSpPr>
        <p:spPr>
          <a:xfrm>
            <a:off x="1001028" y="925116"/>
            <a:ext cx="7623208" cy="3521756"/>
          </a:xfrm>
        </p:spPr>
        <p:txBody>
          <a:bodyPr/>
          <a:lstStyle/>
          <a:p>
            <a:r>
              <a:rPr lang="en-US" altLang="en-US" sz="2000" dirty="0">
                <a:cs typeface="Calibri" panose="020F0502020204030204" pitchFamily="34" charset="0"/>
              </a:rPr>
              <a:t>Most modern operating systems are not one pure model</a:t>
            </a:r>
          </a:p>
          <a:p>
            <a:pPr lvl="1"/>
            <a:r>
              <a:rPr lang="en-US" altLang="en-US" sz="1800" dirty="0">
                <a:cs typeface="Calibri" panose="020F0502020204030204" pitchFamily="34" charset="0"/>
              </a:rPr>
              <a:t>Hybrid combines multiple approaches to address performance, security, usability needs</a:t>
            </a:r>
          </a:p>
          <a:p>
            <a:pPr lvl="1"/>
            <a:r>
              <a:rPr lang="en-US" altLang="en-US" sz="1800" dirty="0">
                <a:cs typeface="Calibri" panose="020F0502020204030204" pitchFamily="34" charset="0"/>
              </a:rPr>
              <a:t>Linux and Solaris kernels in kernel address space, so monolithic, plus modular for dynamic loading of functionality</a:t>
            </a:r>
          </a:p>
          <a:p>
            <a:pPr lvl="1"/>
            <a:r>
              <a:rPr lang="en-US" altLang="en-US" sz="1800" dirty="0">
                <a:cs typeface="Calibri" panose="020F0502020204030204" pitchFamily="34" charset="0"/>
              </a:rPr>
              <a:t>Windows mostly monolithic, plus microkernel for different subsystem </a:t>
            </a:r>
            <a:r>
              <a:rPr lang="en-US" altLang="en-US" sz="1800" b="1" i="1" dirty="0">
                <a:cs typeface="Calibri" panose="020F0502020204030204" pitchFamily="34" charset="0"/>
              </a:rPr>
              <a:t>personalities</a:t>
            </a:r>
          </a:p>
          <a:p>
            <a:r>
              <a:rPr lang="en-US" altLang="en-US" sz="2000" dirty="0">
                <a:cs typeface="Calibri" panose="020F0502020204030204" pitchFamily="34" charset="0"/>
              </a:rPr>
              <a:t>Apple Mac OS X hybrid, layered, </a:t>
            </a:r>
            <a:r>
              <a:rPr lang="en-US" altLang="en-US" sz="2000" b="1" dirty="0">
                <a:solidFill>
                  <a:srgbClr val="006699"/>
                </a:solidFill>
                <a:cs typeface="Calibri" panose="020F0502020204030204" pitchFamily="34" charset="0"/>
              </a:rPr>
              <a:t>Aqua</a:t>
            </a:r>
            <a:r>
              <a:rPr lang="en-US" altLang="en-US" sz="2000" dirty="0">
                <a:cs typeface="Calibri" panose="020F0502020204030204" pitchFamily="34" charset="0"/>
              </a:rPr>
              <a:t> UI plus </a:t>
            </a:r>
            <a:r>
              <a:rPr lang="en-US" altLang="en-US" sz="2000" b="1" dirty="0">
                <a:solidFill>
                  <a:srgbClr val="006699"/>
                </a:solidFill>
                <a:cs typeface="Calibri" panose="020F0502020204030204" pitchFamily="34" charset="0"/>
              </a:rPr>
              <a:t>Cocoa</a:t>
            </a:r>
            <a:r>
              <a:rPr lang="en-US" altLang="en-US" sz="2000" dirty="0">
                <a:cs typeface="Calibri" panose="020F0502020204030204" pitchFamily="34" charset="0"/>
              </a:rPr>
              <a:t> programming environment</a:t>
            </a:r>
          </a:p>
          <a:p>
            <a:pPr lvl="1"/>
            <a:r>
              <a:rPr lang="en-US" altLang="en-US" sz="1800" dirty="0">
                <a:cs typeface="Calibri" panose="020F0502020204030204" pitchFamily="34" charset="0"/>
              </a:rPr>
              <a:t>Below is kernel consisting of Mach microkernel and BSD Unix parts, plus I/O kit and dynamically loadable modules (called </a:t>
            </a:r>
            <a:r>
              <a:rPr lang="en-US" altLang="en-US" sz="1800" b="1" dirty="0">
                <a:solidFill>
                  <a:srgbClr val="006699"/>
                </a:solidFill>
                <a:cs typeface="Calibri" panose="020F0502020204030204" pitchFamily="34" charset="0"/>
              </a:rPr>
              <a:t>kernel</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extensions</a:t>
            </a:r>
            <a:r>
              <a:rPr lang="en-US" altLang="en-US" sz="1800" dirty="0">
                <a:cs typeface="Calibri" panose="020F0502020204030204" pitchFamily="34" charset="0"/>
              </a:rPr>
              <a:t>)</a:t>
            </a:r>
          </a:p>
        </p:txBody>
      </p:sp>
      <p:sp>
        <p:nvSpPr>
          <p:cNvPr id="2" name="灯片编号占位符 1">
            <a:extLst>
              <a:ext uri="{FF2B5EF4-FFF2-40B4-BE49-F238E27FC236}">
                <a16:creationId xmlns:a16="http://schemas.microsoft.com/office/drawing/2014/main" id="{C6743134-4CB9-4C27-0A9A-DEC96DDD813E}"/>
              </a:ext>
            </a:extLst>
          </p:cNvPr>
          <p:cNvSpPr>
            <a:spLocks noGrp="1"/>
          </p:cNvSpPr>
          <p:nvPr>
            <p:ph type="sldNum" sz="quarter" idx="10"/>
          </p:nvPr>
        </p:nvSpPr>
        <p:spPr/>
        <p:txBody>
          <a:bodyPr/>
          <a:lstStyle/>
          <a:p>
            <a:fld id="{D9B6BDF2-6896-4B98-8776-C18582F63BA5}" type="slidenum">
              <a:rPr lang="zh-TW" altLang="en-US" smtClean="0"/>
              <a:pPr/>
              <a:t>18</a:t>
            </a:fld>
            <a:endParaRPr lang="zh-TW"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467BA55D-7A8C-4023-B3F3-3F18F7F62918}"/>
              </a:ext>
            </a:extLst>
          </p:cNvPr>
          <p:cNvSpPr>
            <a:spLocks noGrp="1" noChangeArrowheads="1"/>
          </p:cNvSpPr>
          <p:nvPr>
            <p:ph type="title"/>
          </p:nvPr>
        </p:nvSpPr>
        <p:spPr>
          <a:xfrm>
            <a:off x="875899" y="108349"/>
            <a:ext cx="7799791" cy="519113"/>
          </a:xfrm>
        </p:spPr>
        <p:txBody>
          <a:bodyPr/>
          <a:lstStyle/>
          <a:p>
            <a:r>
              <a:rPr lang="en-US" altLang="en-US" sz="3200" dirty="0"/>
              <a:t>MacOS and iOS Structure</a:t>
            </a:r>
          </a:p>
        </p:txBody>
      </p:sp>
      <p:pic>
        <p:nvPicPr>
          <p:cNvPr id="94211" name="Content Placeholder 4">
            <a:extLst>
              <a:ext uri="{FF2B5EF4-FFF2-40B4-BE49-F238E27FC236}">
                <a16:creationId xmlns:a16="http://schemas.microsoft.com/office/drawing/2014/main" id="{4C8FD787-1D63-4CDB-A6AC-662FE711E4DB}"/>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2742915" y="987942"/>
            <a:ext cx="4065758" cy="3348441"/>
          </a:xfrm>
        </p:spPr>
      </p:pic>
      <p:sp>
        <p:nvSpPr>
          <p:cNvPr id="2" name="灯片编号占位符 1">
            <a:extLst>
              <a:ext uri="{FF2B5EF4-FFF2-40B4-BE49-F238E27FC236}">
                <a16:creationId xmlns:a16="http://schemas.microsoft.com/office/drawing/2014/main" id="{D9589425-3EE0-8BB8-8D84-575BBD2F729F}"/>
              </a:ext>
            </a:extLst>
          </p:cNvPr>
          <p:cNvSpPr>
            <a:spLocks noGrp="1"/>
          </p:cNvSpPr>
          <p:nvPr>
            <p:ph type="sldNum" sz="quarter" idx="10"/>
          </p:nvPr>
        </p:nvSpPr>
        <p:spPr/>
        <p:txBody>
          <a:bodyPr/>
          <a:lstStyle/>
          <a:p>
            <a:fld id="{D9B6BDF2-6896-4B98-8776-C18582F63BA5}" type="slidenum">
              <a:rPr lang="zh-TW" altLang="en-US" smtClean="0"/>
              <a:pPr/>
              <a:t>19</a:t>
            </a:fld>
            <a:endParaRPr lang="zh-TW"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a:extLst>
              <a:ext uri="{FF2B5EF4-FFF2-40B4-BE49-F238E27FC236}">
                <a16:creationId xmlns:a16="http://schemas.microsoft.com/office/drawing/2014/main" id="{F920D189-3A2A-4433-B759-AE4A29C629C2}"/>
              </a:ext>
            </a:extLst>
          </p:cNvPr>
          <p:cNvSpPr>
            <a:spLocks noGrp="1" noChangeArrowheads="1"/>
          </p:cNvSpPr>
          <p:nvPr>
            <p:ph type="title"/>
          </p:nvPr>
        </p:nvSpPr>
        <p:spPr>
          <a:xfrm>
            <a:off x="875899" y="108349"/>
            <a:ext cx="7799791" cy="519113"/>
          </a:xfrm>
        </p:spPr>
        <p:txBody>
          <a:bodyPr/>
          <a:lstStyle/>
          <a:p>
            <a:r>
              <a:rPr lang="en-US" altLang="en-US" sz="3200" dirty="0"/>
              <a:t>Darwin</a:t>
            </a:r>
          </a:p>
        </p:txBody>
      </p:sp>
      <p:pic>
        <p:nvPicPr>
          <p:cNvPr id="95235" name="Content Placeholder 5">
            <a:extLst>
              <a:ext uri="{FF2B5EF4-FFF2-40B4-BE49-F238E27FC236}">
                <a16:creationId xmlns:a16="http://schemas.microsoft.com/office/drawing/2014/main" id="{C076D8A7-0015-48E2-9BB0-037DED9A3FA5}"/>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3106103" y="1027676"/>
            <a:ext cx="3257550" cy="3397359"/>
          </a:xfrm>
        </p:spPr>
      </p:pic>
      <p:sp>
        <p:nvSpPr>
          <p:cNvPr id="2" name="灯片编号占位符 1">
            <a:extLst>
              <a:ext uri="{FF2B5EF4-FFF2-40B4-BE49-F238E27FC236}">
                <a16:creationId xmlns:a16="http://schemas.microsoft.com/office/drawing/2014/main" id="{56D84B08-FD17-DB86-5354-3FD0E0A10307}"/>
              </a:ext>
            </a:extLst>
          </p:cNvPr>
          <p:cNvSpPr>
            <a:spLocks noGrp="1"/>
          </p:cNvSpPr>
          <p:nvPr>
            <p:ph type="sldNum" sz="quarter" idx="10"/>
          </p:nvPr>
        </p:nvSpPr>
        <p:spPr/>
        <p:txBody>
          <a:bodyPr/>
          <a:lstStyle/>
          <a:p>
            <a:fld id="{D9B6BDF2-6896-4B98-8776-C18582F63BA5}" type="slidenum">
              <a:rPr lang="zh-TW" altLang="en-US" smtClean="0"/>
              <a:pPr/>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63762A3F-E3BF-4B1B-8ABF-9D43E9D3C2CF}"/>
              </a:ext>
            </a:extLst>
          </p:cNvPr>
          <p:cNvSpPr>
            <a:spLocks noGrp="1" noChangeArrowheads="1"/>
          </p:cNvSpPr>
          <p:nvPr>
            <p:ph type="title"/>
          </p:nvPr>
        </p:nvSpPr>
        <p:spPr>
          <a:xfrm>
            <a:off x="875899" y="159544"/>
            <a:ext cx="6663139" cy="432197"/>
          </a:xfrm>
        </p:spPr>
        <p:txBody>
          <a:bodyPr/>
          <a:lstStyle/>
          <a:p>
            <a:pPr eaLnBrk="1" hangingPunct="1"/>
            <a:r>
              <a:rPr lang="en-US" altLang="en-US" sz="3200" dirty="0"/>
              <a:t>iOS</a:t>
            </a:r>
          </a:p>
        </p:txBody>
      </p:sp>
      <p:sp>
        <p:nvSpPr>
          <p:cNvPr id="96259" name="Rectangle 3">
            <a:extLst>
              <a:ext uri="{FF2B5EF4-FFF2-40B4-BE49-F238E27FC236}">
                <a16:creationId xmlns:a16="http://schemas.microsoft.com/office/drawing/2014/main" id="{13D559C0-E4A0-4AA2-953F-F1E8A81C31FB}"/>
              </a:ext>
            </a:extLst>
          </p:cNvPr>
          <p:cNvSpPr>
            <a:spLocks noGrp="1" noChangeArrowheads="1"/>
          </p:cNvSpPr>
          <p:nvPr>
            <p:ph type="body" idx="1"/>
          </p:nvPr>
        </p:nvSpPr>
        <p:spPr>
          <a:xfrm>
            <a:off x="519764" y="967026"/>
            <a:ext cx="6035040" cy="3398044"/>
          </a:xfrm>
        </p:spPr>
        <p:txBody>
          <a:bodyPr/>
          <a:lstStyle/>
          <a:p>
            <a:r>
              <a:rPr lang="en-US" altLang="en-US" sz="2000" dirty="0">
                <a:cs typeface="Calibri" panose="020F0502020204030204" pitchFamily="34" charset="0"/>
              </a:rPr>
              <a:t>Apple mobile OS for </a:t>
            </a:r>
            <a:r>
              <a:rPr lang="en-US" altLang="en-US" sz="2000" b="1" i="1" dirty="0">
                <a:cs typeface="Calibri" panose="020F0502020204030204" pitchFamily="34" charset="0"/>
              </a:rPr>
              <a:t>iPhone</a:t>
            </a:r>
            <a:r>
              <a:rPr lang="en-US" altLang="en-US" sz="2000" dirty="0">
                <a:cs typeface="Calibri" panose="020F0502020204030204" pitchFamily="34" charset="0"/>
              </a:rPr>
              <a:t>, </a:t>
            </a:r>
            <a:r>
              <a:rPr lang="en-US" altLang="en-US" sz="2000" b="1" i="1" dirty="0">
                <a:cs typeface="Calibri" panose="020F0502020204030204" pitchFamily="34" charset="0"/>
              </a:rPr>
              <a:t>iPad</a:t>
            </a:r>
            <a:endParaRPr lang="en-US" altLang="en-US" sz="2000" dirty="0">
              <a:cs typeface="Calibri" panose="020F0502020204030204" pitchFamily="34" charset="0"/>
            </a:endParaRPr>
          </a:p>
          <a:p>
            <a:pPr lvl="1"/>
            <a:r>
              <a:rPr lang="en-US" altLang="en-US" sz="1800" dirty="0">
                <a:cs typeface="Calibri" panose="020F0502020204030204" pitchFamily="34" charset="0"/>
              </a:rPr>
              <a:t>Structured on Mac OS X, added functionality</a:t>
            </a:r>
          </a:p>
          <a:p>
            <a:pPr lvl="1"/>
            <a:r>
              <a:rPr lang="en-US" altLang="en-US" sz="1800" dirty="0">
                <a:cs typeface="Calibri" panose="020F0502020204030204" pitchFamily="34" charset="0"/>
              </a:rPr>
              <a:t>Does not run OS X applications natively</a:t>
            </a:r>
          </a:p>
          <a:p>
            <a:pPr lvl="2"/>
            <a:r>
              <a:rPr lang="en-US" altLang="en-US" sz="1600" dirty="0"/>
              <a:t>Also runs on different CPU architecture (ARM vs. Intel)</a:t>
            </a:r>
          </a:p>
          <a:p>
            <a:pPr lvl="1"/>
            <a:r>
              <a:rPr lang="en-US" altLang="en-US" sz="1800" b="1" dirty="0">
                <a:solidFill>
                  <a:srgbClr val="006699"/>
                </a:solidFill>
                <a:cs typeface="Calibri" panose="020F0502020204030204" pitchFamily="34" charset="0"/>
              </a:rPr>
              <a:t>Cocoa</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Touch</a:t>
            </a:r>
            <a:r>
              <a:rPr lang="en-US" altLang="en-US" sz="1800" b="1" dirty="0">
                <a:solidFill>
                  <a:srgbClr val="3366FF"/>
                </a:solidFill>
                <a:cs typeface="Calibri" panose="020F0502020204030204" pitchFamily="34" charset="0"/>
              </a:rPr>
              <a:t> </a:t>
            </a:r>
            <a:r>
              <a:rPr lang="en-US" altLang="en-US" sz="1800" dirty="0">
                <a:cs typeface="Calibri" panose="020F0502020204030204" pitchFamily="34" charset="0"/>
              </a:rPr>
              <a:t>Objective-C API for developing apps</a:t>
            </a:r>
          </a:p>
          <a:p>
            <a:pPr lvl="1"/>
            <a:r>
              <a:rPr lang="en-US" altLang="en-US" sz="1800" b="1" dirty="0">
                <a:solidFill>
                  <a:srgbClr val="006699"/>
                </a:solidFill>
                <a:cs typeface="Calibri" panose="020F0502020204030204" pitchFamily="34" charset="0"/>
              </a:rPr>
              <a:t>Media</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services</a:t>
            </a:r>
            <a:r>
              <a:rPr lang="en-US" altLang="en-US" sz="1800" b="1" dirty="0">
                <a:solidFill>
                  <a:srgbClr val="3366FF"/>
                </a:solidFill>
                <a:cs typeface="Calibri" panose="020F0502020204030204" pitchFamily="34" charset="0"/>
              </a:rPr>
              <a:t> </a:t>
            </a:r>
            <a:r>
              <a:rPr lang="en-US" altLang="en-US" sz="1800" dirty="0">
                <a:cs typeface="Calibri" panose="020F0502020204030204" pitchFamily="34" charset="0"/>
              </a:rPr>
              <a:t>layer for graphics, audio, video</a:t>
            </a:r>
          </a:p>
          <a:p>
            <a:pPr lvl="1"/>
            <a:r>
              <a:rPr lang="en-US" altLang="en-US" sz="1800" b="1" dirty="0">
                <a:solidFill>
                  <a:srgbClr val="006699"/>
                </a:solidFill>
                <a:cs typeface="Calibri" panose="020F0502020204030204" pitchFamily="34" charset="0"/>
              </a:rPr>
              <a:t>Core</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services</a:t>
            </a:r>
            <a:r>
              <a:rPr lang="en-US" altLang="en-US" sz="1800" b="1" dirty="0">
                <a:solidFill>
                  <a:srgbClr val="3366FF"/>
                </a:solidFill>
                <a:cs typeface="Calibri" panose="020F0502020204030204" pitchFamily="34" charset="0"/>
              </a:rPr>
              <a:t> </a:t>
            </a:r>
            <a:r>
              <a:rPr lang="en-US" altLang="en-US" sz="1800" dirty="0">
                <a:cs typeface="Calibri" panose="020F0502020204030204" pitchFamily="34" charset="0"/>
              </a:rPr>
              <a:t>provides cloud computing, databases</a:t>
            </a:r>
          </a:p>
          <a:p>
            <a:pPr lvl="1"/>
            <a:r>
              <a:rPr lang="en-US" altLang="en-US" sz="1800" dirty="0">
                <a:cs typeface="Calibri" panose="020F0502020204030204" pitchFamily="34" charset="0"/>
              </a:rPr>
              <a:t>Core operating system, based on Mac OS X kernel</a:t>
            </a:r>
          </a:p>
        </p:txBody>
      </p:sp>
      <p:pic>
        <p:nvPicPr>
          <p:cNvPr id="96260" name="Picture 1" descr="2_17.pdf">
            <a:extLst>
              <a:ext uri="{FF2B5EF4-FFF2-40B4-BE49-F238E27FC236}">
                <a16:creationId xmlns:a16="http://schemas.microsoft.com/office/drawing/2014/main" id="{2E339495-3C55-43FC-A1DA-C5BF72DE9CC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34439" y="1109004"/>
            <a:ext cx="2133600" cy="2232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88DC911F-0F49-4758-ABC1-8493B6EC69AA}"/>
              </a:ext>
            </a:extLst>
          </p:cNvPr>
          <p:cNvSpPr>
            <a:spLocks noGrp="1"/>
          </p:cNvSpPr>
          <p:nvPr>
            <p:ph type="sldNum" sz="quarter" idx="10"/>
          </p:nvPr>
        </p:nvSpPr>
        <p:spPr/>
        <p:txBody>
          <a:bodyPr/>
          <a:lstStyle/>
          <a:p>
            <a:fld id="{D9B6BDF2-6896-4B98-8776-C18582F63BA5}" type="slidenum">
              <a:rPr lang="zh-TW" altLang="en-US" smtClean="0"/>
              <a:pPr/>
              <a:t>21</a:t>
            </a:fld>
            <a:endParaRPr lang="zh-TW" altLang="en-US"/>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F97DAC17-7FD8-4F1D-98AA-E8448344947F}"/>
              </a:ext>
            </a:extLst>
          </p:cNvPr>
          <p:cNvSpPr>
            <a:spLocks noGrp="1" noChangeArrowheads="1"/>
          </p:cNvSpPr>
          <p:nvPr>
            <p:ph type="title"/>
          </p:nvPr>
        </p:nvSpPr>
        <p:spPr>
          <a:xfrm>
            <a:off x="885524" y="163116"/>
            <a:ext cx="6639226" cy="432197"/>
          </a:xfrm>
        </p:spPr>
        <p:txBody>
          <a:bodyPr/>
          <a:lstStyle/>
          <a:p>
            <a:pPr eaLnBrk="1" hangingPunct="1"/>
            <a:r>
              <a:rPr lang="en-US" altLang="en-US" sz="3200" dirty="0"/>
              <a:t>Android</a:t>
            </a:r>
          </a:p>
        </p:txBody>
      </p:sp>
      <p:sp>
        <p:nvSpPr>
          <p:cNvPr id="98307" name="Rectangle 3">
            <a:extLst>
              <a:ext uri="{FF2B5EF4-FFF2-40B4-BE49-F238E27FC236}">
                <a16:creationId xmlns:a16="http://schemas.microsoft.com/office/drawing/2014/main" id="{83BD71DB-F618-4925-8C3A-9C2CA2E1E4A9}"/>
              </a:ext>
            </a:extLst>
          </p:cNvPr>
          <p:cNvSpPr>
            <a:spLocks noGrp="1" noChangeArrowheads="1"/>
          </p:cNvSpPr>
          <p:nvPr>
            <p:ph type="body" idx="1"/>
          </p:nvPr>
        </p:nvSpPr>
        <p:spPr>
          <a:xfrm>
            <a:off x="885524" y="804056"/>
            <a:ext cx="7652084" cy="3816071"/>
          </a:xfrm>
        </p:spPr>
        <p:txBody>
          <a:bodyPr/>
          <a:lstStyle/>
          <a:p>
            <a:pPr>
              <a:spcBef>
                <a:spcPts val="0"/>
              </a:spcBef>
            </a:pPr>
            <a:r>
              <a:rPr lang="en-US" altLang="en-US" sz="2000" dirty="0"/>
              <a:t>Developed by Open Handset Alliance (mostly Google)</a:t>
            </a:r>
          </a:p>
          <a:p>
            <a:pPr lvl="1">
              <a:spcBef>
                <a:spcPts val="0"/>
              </a:spcBef>
            </a:pPr>
            <a:r>
              <a:rPr lang="en-US" altLang="en-US" sz="1800" dirty="0"/>
              <a:t>Open Source</a:t>
            </a:r>
          </a:p>
          <a:p>
            <a:pPr>
              <a:spcBef>
                <a:spcPts val="0"/>
              </a:spcBef>
            </a:pPr>
            <a:r>
              <a:rPr lang="en-US" altLang="en-US" sz="2000" dirty="0"/>
              <a:t>Similar stack to iOS</a:t>
            </a:r>
          </a:p>
          <a:p>
            <a:pPr>
              <a:spcBef>
                <a:spcPts val="0"/>
              </a:spcBef>
            </a:pPr>
            <a:r>
              <a:rPr lang="en-US" altLang="en-US" sz="2000" dirty="0"/>
              <a:t>Based on Linux kernel but modified</a:t>
            </a:r>
          </a:p>
          <a:p>
            <a:pPr lvl="1">
              <a:spcBef>
                <a:spcPts val="0"/>
              </a:spcBef>
            </a:pPr>
            <a:r>
              <a:rPr lang="en-US" altLang="en-US" sz="1800" dirty="0"/>
              <a:t>Provides process, memory, device-driver management</a:t>
            </a:r>
          </a:p>
          <a:p>
            <a:pPr lvl="1">
              <a:spcBef>
                <a:spcPts val="0"/>
              </a:spcBef>
            </a:pPr>
            <a:r>
              <a:rPr lang="en-US" altLang="en-US" sz="1800" dirty="0"/>
              <a:t>Adds power management </a:t>
            </a:r>
          </a:p>
          <a:p>
            <a:pPr>
              <a:spcBef>
                <a:spcPts val="0"/>
              </a:spcBef>
            </a:pPr>
            <a:r>
              <a:rPr lang="en-US" altLang="en-US" sz="2000" dirty="0"/>
              <a:t>Runtime environment includes core set of libraries and Dalvik virtual machine</a:t>
            </a:r>
          </a:p>
          <a:p>
            <a:pPr lvl="1">
              <a:spcBef>
                <a:spcPts val="0"/>
              </a:spcBef>
            </a:pPr>
            <a:r>
              <a:rPr lang="en-US" altLang="en-US" sz="1800" dirty="0"/>
              <a:t>Apps developed in Java plus Android API</a:t>
            </a:r>
          </a:p>
          <a:p>
            <a:pPr lvl="2">
              <a:spcBef>
                <a:spcPts val="0"/>
              </a:spcBef>
            </a:pPr>
            <a:r>
              <a:rPr lang="en-US" altLang="en-US" sz="1600" dirty="0"/>
              <a:t>Java class files compiled to Java bytecode then translated to executable </a:t>
            </a:r>
            <a:r>
              <a:rPr lang="en-US" altLang="en-US" sz="1600" dirty="0" err="1"/>
              <a:t>thnn</a:t>
            </a:r>
            <a:r>
              <a:rPr lang="en-US" altLang="en-US" sz="1600" dirty="0"/>
              <a:t> runs in Dalvik VM</a:t>
            </a:r>
          </a:p>
          <a:p>
            <a:pPr>
              <a:spcBef>
                <a:spcPts val="0"/>
              </a:spcBef>
            </a:pPr>
            <a:r>
              <a:rPr lang="en-US" altLang="en-US" sz="2000" dirty="0"/>
              <a:t>Libraries include frameworks for web browser (</a:t>
            </a:r>
            <a:r>
              <a:rPr lang="en-US" altLang="en-US" sz="2000" dirty="0" err="1"/>
              <a:t>webkit</a:t>
            </a:r>
            <a:r>
              <a:rPr lang="en-US" altLang="en-US" sz="2000" dirty="0"/>
              <a:t>), database (SQLite), multimedia, smaller </a:t>
            </a:r>
            <a:r>
              <a:rPr lang="en-US" altLang="en-US" sz="2000" dirty="0" err="1"/>
              <a:t>libc</a:t>
            </a:r>
            <a:endParaRPr lang="en-US" altLang="en-US" sz="2000" dirty="0"/>
          </a:p>
        </p:txBody>
      </p:sp>
      <p:sp>
        <p:nvSpPr>
          <p:cNvPr id="2" name="灯片编号占位符 1">
            <a:extLst>
              <a:ext uri="{FF2B5EF4-FFF2-40B4-BE49-F238E27FC236}">
                <a16:creationId xmlns:a16="http://schemas.microsoft.com/office/drawing/2014/main" id="{C3F56CDC-37F5-8709-A6FA-15DE0C9B1B88}"/>
              </a:ext>
            </a:extLst>
          </p:cNvPr>
          <p:cNvSpPr>
            <a:spLocks noGrp="1"/>
          </p:cNvSpPr>
          <p:nvPr>
            <p:ph type="sldNum" sz="quarter" idx="10"/>
          </p:nvPr>
        </p:nvSpPr>
        <p:spPr/>
        <p:txBody>
          <a:bodyPr/>
          <a:lstStyle/>
          <a:p>
            <a:fld id="{D9B6BDF2-6896-4B98-8776-C18582F63BA5}" type="slidenum">
              <a:rPr lang="zh-TW" altLang="en-US" smtClean="0"/>
              <a:pPr/>
              <a:t>22</a:t>
            </a:fld>
            <a:endParaRPr lang="zh-TW"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FC21E0EC-5FB3-49AA-BCD8-C3D6E372FADB}"/>
              </a:ext>
            </a:extLst>
          </p:cNvPr>
          <p:cNvSpPr>
            <a:spLocks noGrp="1" noChangeArrowheads="1"/>
          </p:cNvSpPr>
          <p:nvPr>
            <p:ph type="title"/>
          </p:nvPr>
        </p:nvSpPr>
        <p:spPr>
          <a:xfrm>
            <a:off x="895149" y="160735"/>
            <a:ext cx="6762951" cy="432197"/>
          </a:xfrm>
        </p:spPr>
        <p:txBody>
          <a:bodyPr/>
          <a:lstStyle/>
          <a:p>
            <a:pPr eaLnBrk="1" hangingPunct="1"/>
            <a:r>
              <a:rPr lang="en-US" altLang="en-US" sz="3200" dirty="0"/>
              <a:t>Android Architecture</a:t>
            </a:r>
          </a:p>
        </p:txBody>
      </p:sp>
      <p:pic>
        <p:nvPicPr>
          <p:cNvPr id="100355" name="Picture 2">
            <a:extLst>
              <a:ext uri="{FF2B5EF4-FFF2-40B4-BE49-F238E27FC236}">
                <a16:creationId xmlns:a16="http://schemas.microsoft.com/office/drawing/2014/main" id="{CE010BEA-C2AD-4086-B512-90CFB1E171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64706" y="832048"/>
            <a:ext cx="2414588" cy="3754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FE36F0B0-9F72-747E-7DE4-A7A97AE7B6C7}"/>
              </a:ext>
            </a:extLst>
          </p:cNvPr>
          <p:cNvSpPr>
            <a:spLocks noGrp="1"/>
          </p:cNvSpPr>
          <p:nvPr>
            <p:ph type="sldNum" sz="quarter" idx="10"/>
          </p:nvPr>
        </p:nvSpPr>
        <p:spPr/>
        <p:txBody>
          <a:bodyPr/>
          <a:lstStyle/>
          <a:p>
            <a:fld id="{D9B6BDF2-6896-4B98-8776-C18582F63BA5}" type="slidenum">
              <a:rPr lang="zh-TW" altLang="en-US" smtClean="0"/>
              <a:pPr/>
              <a:t>23</a:t>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C9F5FAE9-B3B0-4D57-809D-900A4BADF1A7}"/>
              </a:ext>
            </a:extLst>
          </p:cNvPr>
          <p:cNvSpPr>
            <a:spLocks noGrp="1" noChangeArrowheads="1"/>
          </p:cNvSpPr>
          <p:nvPr>
            <p:ph type="title"/>
          </p:nvPr>
        </p:nvSpPr>
        <p:spPr>
          <a:xfrm>
            <a:off x="904775" y="139195"/>
            <a:ext cx="7960092" cy="432197"/>
          </a:xfrm>
        </p:spPr>
        <p:txBody>
          <a:bodyPr/>
          <a:lstStyle/>
          <a:p>
            <a:pPr eaLnBrk="1" hangingPunct="1"/>
            <a:r>
              <a:rPr lang="en-US" altLang="en-US" sz="3200" dirty="0"/>
              <a:t>Building and Booting an Operating System</a:t>
            </a:r>
          </a:p>
        </p:txBody>
      </p:sp>
      <p:sp>
        <p:nvSpPr>
          <p:cNvPr id="102403" name="Rectangle 3">
            <a:extLst>
              <a:ext uri="{FF2B5EF4-FFF2-40B4-BE49-F238E27FC236}">
                <a16:creationId xmlns:a16="http://schemas.microsoft.com/office/drawing/2014/main" id="{7BC1B242-4FA3-45A6-A6E0-A52D65A52BBD}"/>
              </a:ext>
            </a:extLst>
          </p:cNvPr>
          <p:cNvSpPr>
            <a:spLocks noGrp="1" noChangeArrowheads="1"/>
          </p:cNvSpPr>
          <p:nvPr>
            <p:ph type="body" idx="1"/>
          </p:nvPr>
        </p:nvSpPr>
        <p:spPr>
          <a:xfrm>
            <a:off x="972153" y="865585"/>
            <a:ext cx="7632832" cy="3648663"/>
          </a:xfrm>
        </p:spPr>
        <p:txBody>
          <a:bodyPr/>
          <a:lstStyle/>
          <a:p>
            <a:r>
              <a:rPr lang="en-US" altLang="en-US" sz="2000" dirty="0"/>
              <a:t>Operating systems generally designed to run on a class of systems with variety of peripherals</a:t>
            </a:r>
          </a:p>
          <a:p>
            <a:r>
              <a:rPr lang="en-US" altLang="en-US" sz="2000" dirty="0"/>
              <a:t>Commonly, operating system already installed on purchased computer</a:t>
            </a:r>
          </a:p>
          <a:p>
            <a:pPr lvl="1"/>
            <a:r>
              <a:rPr lang="en-US" altLang="en-US" sz="1800" dirty="0"/>
              <a:t>But can build and install some other operating systems</a:t>
            </a:r>
          </a:p>
          <a:p>
            <a:pPr lvl="1"/>
            <a:r>
              <a:rPr lang="en-US" altLang="en-US" sz="1800" dirty="0"/>
              <a:t>If generating an operating system from scratch</a:t>
            </a:r>
          </a:p>
          <a:p>
            <a:pPr lvl="2"/>
            <a:r>
              <a:rPr lang="en-US" altLang="en-US" sz="1600" dirty="0"/>
              <a:t>Write the operating system source code</a:t>
            </a:r>
          </a:p>
          <a:p>
            <a:pPr lvl="2"/>
            <a:r>
              <a:rPr lang="en-US" altLang="en-US" sz="1600" dirty="0"/>
              <a:t>Configure the operating system for the system on which it will run</a:t>
            </a:r>
          </a:p>
          <a:p>
            <a:pPr lvl="2"/>
            <a:r>
              <a:rPr lang="en-US" altLang="en-US" sz="1600" dirty="0"/>
              <a:t>Compile the operating system</a:t>
            </a:r>
          </a:p>
          <a:p>
            <a:pPr lvl="2"/>
            <a:r>
              <a:rPr lang="en-US" altLang="en-US" sz="1600" dirty="0"/>
              <a:t>Install the operating system</a:t>
            </a:r>
          </a:p>
          <a:p>
            <a:pPr lvl="2"/>
            <a:r>
              <a:rPr lang="en-US" altLang="en-US" sz="1600" dirty="0"/>
              <a:t>Boot the computer and its new operating system</a:t>
            </a:r>
          </a:p>
        </p:txBody>
      </p:sp>
      <p:sp>
        <p:nvSpPr>
          <p:cNvPr id="2" name="灯片编号占位符 1">
            <a:extLst>
              <a:ext uri="{FF2B5EF4-FFF2-40B4-BE49-F238E27FC236}">
                <a16:creationId xmlns:a16="http://schemas.microsoft.com/office/drawing/2014/main" id="{B6220EA5-AA1E-B345-E465-F706C38B0390}"/>
              </a:ext>
            </a:extLst>
          </p:cNvPr>
          <p:cNvSpPr>
            <a:spLocks noGrp="1"/>
          </p:cNvSpPr>
          <p:nvPr>
            <p:ph type="sldNum" sz="quarter" idx="10"/>
          </p:nvPr>
        </p:nvSpPr>
        <p:spPr/>
        <p:txBody>
          <a:bodyPr/>
          <a:lstStyle/>
          <a:p>
            <a:fld id="{D9B6BDF2-6896-4B98-8776-C18582F63BA5}" type="slidenum">
              <a:rPr lang="zh-TW" altLang="en-US" smtClean="0"/>
              <a:pPr/>
              <a:t>24</a:t>
            </a:fld>
            <a:endParaRPr lang="zh-TW"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a:extLst>
              <a:ext uri="{FF2B5EF4-FFF2-40B4-BE49-F238E27FC236}">
                <a16:creationId xmlns:a16="http://schemas.microsoft.com/office/drawing/2014/main" id="{82DD2A02-B2A8-4458-811E-DE9B33D11308}"/>
              </a:ext>
            </a:extLst>
          </p:cNvPr>
          <p:cNvSpPr>
            <a:spLocks noGrp="1" noChangeArrowheads="1"/>
          </p:cNvSpPr>
          <p:nvPr>
            <p:ph type="title"/>
          </p:nvPr>
        </p:nvSpPr>
        <p:spPr>
          <a:xfrm>
            <a:off x="904775" y="103756"/>
            <a:ext cx="6639025" cy="521886"/>
          </a:xfrm>
        </p:spPr>
        <p:txBody>
          <a:bodyPr/>
          <a:lstStyle/>
          <a:p>
            <a:r>
              <a:rPr lang="en-US" altLang="en-US" sz="3200" dirty="0"/>
              <a:t>Building and Booting Linux</a:t>
            </a:r>
          </a:p>
        </p:txBody>
      </p:sp>
      <p:sp>
        <p:nvSpPr>
          <p:cNvPr id="104451" name="Content Placeholder 2">
            <a:extLst>
              <a:ext uri="{FF2B5EF4-FFF2-40B4-BE49-F238E27FC236}">
                <a16:creationId xmlns:a16="http://schemas.microsoft.com/office/drawing/2014/main" id="{F7DA67EF-ED36-4BB1-AB0B-F42969C15CFB}"/>
              </a:ext>
            </a:extLst>
          </p:cNvPr>
          <p:cNvSpPr>
            <a:spLocks noGrp="1" noChangeArrowheads="1"/>
          </p:cNvSpPr>
          <p:nvPr>
            <p:ph idx="1"/>
          </p:nvPr>
        </p:nvSpPr>
        <p:spPr>
          <a:xfrm>
            <a:off x="904775" y="925117"/>
            <a:ext cx="7324825" cy="2722858"/>
          </a:xfrm>
        </p:spPr>
        <p:txBody>
          <a:bodyPr/>
          <a:lstStyle/>
          <a:p>
            <a:r>
              <a:rPr lang="en-US" altLang="en-US" sz="2000" dirty="0">
                <a:ea typeface="+mn-ea"/>
                <a:cs typeface="Calibri" panose="020F0502020204030204" pitchFamily="34" charset="0"/>
              </a:rPr>
              <a:t>Download Linux source code (</a:t>
            </a:r>
            <a:r>
              <a:rPr lang="en-US" altLang="en-US" sz="2000" dirty="0">
                <a:solidFill>
                  <a:srgbClr val="996600"/>
                </a:solidFill>
                <a:ea typeface="+mn-ea"/>
                <a:cs typeface="Calibri" panose="020F0502020204030204" pitchFamily="34" charset="0"/>
              </a:rPr>
              <a:t>http://www.kernel.org</a:t>
            </a:r>
            <a:r>
              <a:rPr lang="en-US" altLang="en-US" sz="2000" dirty="0">
                <a:ea typeface="+mn-ea"/>
                <a:cs typeface="Calibri" panose="020F0502020204030204" pitchFamily="34" charset="0"/>
              </a:rPr>
              <a:t>)</a:t>
            </a:r>
          </a:p>
          <a:p>
            <a:r>
              <a:rPr lang="en-US" altLang="en-US" sz="2000" dirty="0">
                <a:ea typeface="+mn-ea"/>
                <a:cs typeface="Calibri" panose="020F0502020204030204" pitchFamily="34" charset="0"/>
              </a:rPr>
              <a:t>Configure kernel via “make </a:t>
            </a:r>
            <a:r>
              <a:rPr lang="en-US" altLang="en-US" sz="2000" dirty="0" err="1">
                <a:ea typeface="+mn-ea"/>
                <a:cs typeface="Calibri" panose="020F0502020204030204" pitchFamily="34" charset="0"/>
              </a:rPr>
              <a:t>menuconfig</a:t>
            </a:r>
            <a:r>
              <a:rPr lang="en-US" altLang="en-US" sz="2000" dirty="0">
                <a:ea typeface="+mn-ea"/>
                <a:cs typeface="Calibri" panose="020F0502020204030204" pitchFamily="34" charset="0"/>
              </a:rPr>
              <a:t>”</a:t>
            </a:r>
          </a:p>
          <a:p>
            <a:r>
              <a:rPr lang="en-US" altLang="en-US" sz="2000" dirty="0">
                <a:ea typeface="+mn-ea"/>
                <a:cs typeface="Calibri" panose="020F0502020204030204" pitchFamily="34" charset="0"/>
              </a:rPr>
              <a:t>Compile the kernel using “make”</a:t>
            </a:r>
          </a:p>
          <a:p>
            <a:pPr lvl="1"/>
            <a:r>
              <a:rPr lang="en-US" altLang="en-US" sz="2000" dirty="0">
                <a:ea typeface="+mn-ea"/>
                <a:cs typeface="Calibri" panose="020F0502020204030204" pitchFamily="34" charset="0"/>
              </a:rPr>
              <a:t>Produces </a:t>
            </a:r>
            <a:r>
              <a:rPr lang="en-US" altLang="en-US" sz="2000" dirty="0" err="1">
                <a:ea typeface="+mn-ea"/>
                <a:cs typeface="Calibri" panose="020F0502020204030204" pitchFamily="34" charset="0"/>
              </a:rPr>
              <a:t>vmlinuz</a:t>
            </a:r>
            <a:r>
              <a:rPr lang="en-US" altLang="en-US" sz="2000" dirty="0">
                <a:ea typeface="+mn-ea"/>
                <a:cs typeface="Calibri" panose="020F0502020204030204" pitchFamily="34" charset="0"/>
              </a:rPr>
              <a:t>, the kernel image</a:t>
            </a:r>
          </a:p>
          <a:p>
            <a:pPr lvl="1"/>
            <a:r>
              <a:rPr lang="en-US" altLang="en-US" sz="2000" dirty="0">
                <a:ea typeface="+mn-ea"/>
                <a:cs typeface="Calibri" panose="020F0502020204030204" pitchFamily="34" charset="0"/>
              </a:rPr>
              <a:t>Compile kernel modules via “make modules”</a:t>
            </a:r>
          </a:p>
          <a:p>
            <a:pPr lvl="1"/>
            <a:r>
              <a:rPr lang="en-US" altLang="en-US" sz="2000" dirty="0">
                <a:ea typeface="+mn-ea"/>
                <a:cs typeface="Calibri" panose="020F0502020204030204" pitchFamily="34" charset="0"/>
              </a:rPr>
              <a:t>Install kernel modules into </a:t>
            </a:r>
            <a:r>
              <a:rPr lang="en-US" altLang="en-US" sz="2000" dirty="0" err="1">
                <a:ea typeface="+mn-ea"/>
                <a:cs typeface="Calibri" panose="020F0502020204030204" pitchFamily="34" charset="0"/>
              </a:rPr>
              <a:t>vmlinuz</a:t>
            </a:r>
            <a:r>
              <a:rPr lang="en-US" altLang="en-US" sz="2000" dirty="0">
                <a:ea typeface="+mn-ea"/>
                <a:cs typeface="Calibri" panose="020F0502020204030204" pitchFamily="34" charset="0"/>
              </a:rPr>
              <a:t> via “make </a:t>
            </a:r>
            <a:r>
              <a:rPr lang="en-US" altLang="en-US" sz="2000" dirty="0" err="1">
                <a:ea typeface="+mn-ea"/>
                <a:cs typeface="Calibri" panose="020F0502020204030204" pitchFamily="34" charset="0"/>
              </a:rPr>
              <a:t>modules_install</a:t>
            </a:r>
            <a:r>
              <a:rPr lang="en-US" altLang="en-US" sz="2000" dirty="0">
                <a:ea typeface="+mn-ea"/>
                <a:cs typeface="Calibri" panose="020F0502020204030204" pitchFamily="34" charset="0"/>
              </a:rPr>
              <a:t>”</a:t>
            </a:r>
          </a:p>
          <a:p>
            <a:pPr lvl="1"/>
            <a:r>
              <a:rPr lang="en-US" altLang="en-US" sz="2000" dirty="0">
                <a:ea typeface="+mn-ea"/>
                <a:cs typeface="Calibri" panose="020F0502020204030204" pitchFamily="34" charset="0"/>
              </a:rPr>
              <a:t>Install new kernel on the system via “make install”</a:t>
            </a:r>
          </a:p>
          <a:p>
            <a:endParaRPr lang="en-US" altLang="en-US" sz="2000" dirty="0">
              <a:ea typeface="+mn-ea"/>
              <a:cs typeface="Calibri" panose="020F0502020204030204" pitchFamily="34" charset="0"/>
            </a:endParaRPr>
          </a:p>
        </p:txBody>
      </p:sp>
      <p:sp>
        <p:nvSpPr>
          <p:cNvPr id="2" name="灯片编号占位符 1">
            <a:extLst>
              <a:ext uri="{FF2B5EF4-FFF2-40B4-BE49-F238E27FC236}">
                <a16:creationId xmlns:a16="http://schemas.microsoft.com/office/drawing/2014/main" id="{B4D35E98-C6E0-F5D0-E390-E00E8120AC2B}"/>
              </a:ext>
            </a:extLst>
          </p:cNvPr>
          <p:cNvSpPr>
            <a:spLocks noGrp="1"/>
          </p:cNvSpPr>
          <p:nvPr>
            <p:ph type="sldNum" sz="quarter" idx="10"/>
          </p:nvPr>
        </p:nvSpPr>
        <p:spPr/>
        <p:txBody>
          <a:bodyPr/>
          <a:lstStyle/>
          <a:p>
            <a:fld id="{D9B6BDF2-6896-4B98-8776-C18582F63BA5}" type="slidenum">
              <a:rPr lang="zh-TW" altLang="en-US" smtClean="0"/>
              <a:pPr/>
              <a:t>25</a:t>
            </a:fld>
            <a:endParaRPr lang="zh-TW"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EB1F4D2D-A1F6-4F80-AAF7-B44F6C42031E}"/>
              </a:ext>
            </a:extLst>
          </p:cNvPr>
          <p:cNvSpPr>
            <a:spLocks noGrp="1" noChangeArrowheads="1"/>
          </p:cNvSpPr>
          <p:nvPr>
            <p:ph type="title"/>
          </p:nvPr>
        </p:nvSpPr>
        <p:spPr>
          <a:xfrm>
            <a:off x="895150" y="106987"/>
            <a:ext cx="6686752" cy="480154"/>
          </a:xfrm>
        </p:spPr>
        <p:txBody>
          <a:bodyPr/>
          <a:lstStyle/>
          <a:p>
            <a:pPr eaLnBrk="1" hangingPunct="1"/>
            <a:r>
              <a:rPr lang="en-US" altLang="en-US" sz="3200" dirty="0"/>
              <a:t>System Boot</a:t>
            </a:r>
          </a:p>
        </p:txBody>
      </p:sp>
      <p:sp>
        <p:nvSpPr>
          <p:cNvPr id="105475" name="Rectangle 3">
            <a:extLst>
              <a:ext uri="{FF2B5EF4-FFF2-40B4-BE49-F238E27FC236}">
                <a16:creationId xmlns:a16="http://schemas.microsoft.com/office/drawing/2014/main" id="{84966C5E-EDB7-4314-801D-4E54D9A7265D}"/>
              </a:ext>
            </a:extLst>
          </p:cNvPr>
          <p:cNvSpPr>
            <a:spLocks noGrp="1" noChangeArrowheads="1"/>
          </p:cNvSpPr>
          <p:nvPr>
            <p:ph type="body" idx="1"/>
          </p:nvPr>
        </p:nvSpPr>
        <p:spPr>
          <a:xfrm>
            <a:off x="658127" y="789272"/>
            <a:ext cx="7827746" cy="3754074"/>
          </a:xfrm>
        </p:spPr>
        <p:txBody>
          <a:bodyPr/>
          <a:lstStyle/>
          <a:p>
            <a:pPr>
              <a:spcBef>
                <a:spcPts val="0"/>
              </a:spcBef>
              <a:spcAft>
                <a:spcPts val="600"/>
              </a:spcAft>
            </a:pPr>
            <a:r>
              <a:rPr lang="en-US" altLang="en-US" sz="1800" dirty="0">
                <a:ea typeface="+mn-ea"/>
                <a:cs typeface="Calibri" panose="020F0502020204030204" pitchFamily="34" charset="0"/>
              </a:rPr>
              <a:t>When power initialized on system, execution starts at a fixed memory location</a:t>
            </a:r>
          </a:p>
          <a:p>
            <a:pPr>
              <a:spcBef>
                <a:spcPts val="0"/>
              </a:spcBef>
              <a:spcAft>
                <a:spcPts val="600"/>
              </a:spcAft>
            </a:pPr>
            <a:r>
              <a:rPr lang="en-US" altLang="en-US" sz="1800" dirty="0">
                <a:ea typeface="+mn-ea"/>
                <a:cs typeface="Calibri" panose="020F0502020204030204" pitchFamily="34" charset="0"/>
              </a:rPr>
              <a:t>Operating system must be made available to hardware so hardware can start it</a:t>
            </a:r>
          </a:p>
          <a:p>
            <a:pPr lvl="1">
              <a:spcBef>
                <a:spcPts val="0"/>
              </a:spcBef>
              <a:spcAft>
                <a:spcPts val="600"/>
              </a:spcAft>
            </a:pPr>
            <a:r>
              <a:rPr lang="en-US" altLang="en-US" sz="1600" dirty="0">
                <a:ea typeface="+mn-ea"/>
                <a:cs typeface="Calibri" panose="020F0502020204030204" pitchFamily="34" charset="0"/>
              </a:rPr>
              <a:t>Small piece of code – </a:t>
            </a:r>
            <a:r>
              <a:rPr lang="en-US" altLang="en-US" sz="1600" b="1" dirty="0">
                <a:solidFill>
                  <a:srgbClr val="006699"/>
                </a:solidFill>
                <a:ea typeface="+mn-ea"/>
                <a:cs typeface="Calibri" panose="020F0502020204030204" pitchFamily="34" charset="0"/>
              </a:rPr>
              <a:t>bootstrap</a:t>
            </a:r>
            <a:r>
              <a:rPr lang="en-US" altLang="en-US" sz="1600" b="1" dirty="0">
                <a:solidFill>
                  <a:srgbClr val="3366FF"/>
                </a:solidFill>
                <a:ea typeface="+mn-ea"/>
                <a:cs typeface="Calibri" panose="020F0502020204030204" pitchFamily="34" charset="0"/>
              </a:rPr>
              <a:t> </a:t>
            </a:r>
            <a:r>
              <a:rPr lang="en-US" altLang="en-US" sz="1600" b="1" dirty="0">
                <a:solidFill>
                  <a:srgbClr val="006699"/>
                </a:solidFill>
                <a:ea typeface="+mn-ea"/>
                <a:cs typeface="Calibri" panose="020F0502020204030204" pitchFamily="34" charset="0"/>
              </a:rPr>
              <a:t>loader</a:t>
            </a:r>
            <a:r>
              <a:rPr lang="en-US" altLang="en-US" sz="1600" dirty="0">
                <a:ea typeface="+mn-ea"/>
                <a:cs typeface="Calibri" panose="020F0502020204030204" pitchFamily="34" charset="0"/>
              </a:rPr>
              <a:t>, </a:t>
            </a:r>
            <a:r>
              <a:rPr lang="en-US" altLang="en-US" sz="1600" b="1" dirty="0">
                <a:solidFill>
                  <a:srgbClr val="006699"/>
                </a:solidFill>
                <a:ea typeface="+mn-ea"/>
                <a:cs typeface="Calibri" panose="020F0502020204030204" pitchFamily="34" charset="0"/>
              </a:rPr>
              <a:t>BIOS</a:t>
            </a:r>
            <a:r>
              <a:rPr lang="en-US" altLang="en-US" sz="1600" dirty="0">
                <a:ea typeface="+mn-ea"/>
                <a:cs typeface="Calibri" panose="020F0502020204030204" pitchFamily="34" charset="0"/>
              </a:rPr>
              <a:t>, stored in </a:t>
            </a:r>
            <a:r>
              <a:rPr lang="en-US" altLang="en-US" sz="1600" b="1" dirty="0">
                <a:solidFill>
                  <a:srgbClr val="006699"/>
                </a:solidFill>
                <a:ea typeface="+mn-ea"/>
                <a:cs typeface="Calibri" panose="020F0502020204030204" pitchFamily="34" charset="0"/>
              </a:rPr>
              <a:t>ROM</a:t>
            </a:r>
            <a:r>
              <a:rPr lang="en-US" altLang="en-US" sz="1600" dirty="0">
                <a:ea typeface="+mn-ea"/>
                <a:cs typeface="Calibri" panose="020F0502020204030204" pitchFamily="34" charset="0"/>
              </a:rPr>
              <a:t> or </a:t>
            </a:r>
            <a:r>
              <a:rPr lang="en-US" altLang="en-US" sz="1600" b="1" dirty="0">
                <a:solidFill>
                  <a:srgbClr val="006699"/>
                </a:solidFill>
                <a:ea typeface="+mn-ea"/>
                <a:cs typeface="Calibri" panose="020F0502020204030204" pitchFamily="34" charset="0"/>
              </a:rPr>
              <a:t>EEPROM</a:t>
            </a:r>
            <a:r>
              <a:rPr lang="en-US" altLang="en-US" sz="1600" dirty="0">
                <a:ea typeface="+mn-ea"/>
                <a:cs typeface="Calibri" panose="020F0502020204030204" pitchFamily="34" charset="0"/>
              </a:rPr>
              <a:t> locates the kernel, loads it into memory, and starts it</a:t>
            </a:r>
          </a:p>
          <a:p>
            <a:pPr lvl="1">
              <a:spcBef>
                <a:spcPts val="0"/>
              </a:spcBef>
              <a:spcAft>
                <a:spcPts val="600"/>
              </a:spcAft>
            </a:pPr>
            <a:r>
              <a:rPr lang="en-US" altLang="en-US" sz="1600" dirty="0">
                <a:ea typeface="+mn-ea"/>
                <a:cs typeface="Calibri" panose="020F0502020204030204" pitchFamily="34" charset="0"/>
              </a:rPr>
              <a:t>Sometimes two-step process where </a:t>
            </a:r>
            <a:r>
              <a:rPr lang="en-US" altLang="en-US" sz="1600" b="1" dirty="0">
                <a:solidFill>
                  <a:srgbClr val="006699"/>
                </a:solidFill>
                <a:ea typeface="+mn-ea"/>
                <a:cs typeface="Calibri" panose="020F0502020204030204" pitchFamily="34" charset="0"/>
              </a:rPr>
              <a:t>boot</a:t>
            </a:r>
            <a:r>
              <a:rPr lang="en-US" altLang="en-US" sz="1600" b="1" dirty="0">
                <a:solidFill>
                  <a:srgbClr val="3366FF"/>
                </a:solidFill>
                <a:ea typeface="+mn-ea"/>
                <a:cs typeface="Calibri" panose="020F0502020204030204" pitchFamily="34" charset="0"/>
              </a:rPr>
              <a:t> </a:t>
            </a:r>
            <a:r>
              <a:rPr lang="en-US" altLang="en-US" sz="1600" b="1" dirty="0">
                <a:solidFill>
                  <a:srgbClr val="006699"/>
                </a:solidFill>
                <a:ea typeface="+mn-ea"/>
                <a:cs typeface="Calibri" panose="020F0502020204030204" pitchFamily="34" charset="0"/>
              </a:rPr>
              <a:t>block</a:t>
            </a:r>
            <a:r>
              <a:rPr lang="en-US" altLang="en-US" sz="1600" b="1" dirty="0">
                <a:solidFill>
                  <a:srgbClr val="3366FF"/>
                </a:solidFill>
                <a:ea typeface="+mn-ea"/>
                <a:cs typeface="Calibri" panose="020F0502020204030204" pitchFamily="34" charset="0"/>
              </a:rPr>
              <a:t> </a:t>
            </a:r>
            <a:r>
              <a:rPr lang="en-US" altLang="en-US" sz="1600" dirty="0">
                <a:ea typeface="+mn-ea"/>
                <a:cs typeface="Calibri" panose="020F0502020204030204" pitchFamily="34" charset="0"/>
              </a:rPr>
              <a:t>at fixed location loaded by ROM code, which loads bootstrap loader from disk</a:t>
            </a:r>
          </a:p>
          <a:p>
            <a:pPr lvl="1">
              <a:spcBef>
                <a:spcPts val="0"/>
              </a:spcBef>
              <a:spcAft>
                <a:spcPts val="600"/>
              </a:spcAft>
            </a:pPr>
            <a:r>
              <a:rPr lang="en-US" altLang="en-US" sz="1600" dirty="0">
                <a:ea typeface="+mn-ea"/>
                <a:cs typeface="Calibri" panose="020F0502020204030204" pitchFamily="34" charset="0"/>
              </a:rPr>
              <a:t>Modern systems replace BIOS with </a:t>
            </a:r>
            <a:r>
              <a:rPr lang="en-US" altLang="en-US" sz="1600" b="1" dirty="0">
                <a:solidFill>
                  <a:srgbClr val="006699"/>
                </a:solidFill>
                <a:ea typeface="+mn-ea"/>
                <a:cs typeface="Calibri" panose="020F0502020204030204" pitchFamily="34" charset="0"/>
              </a:rPr>
              <a:t>Unified</a:t>
            </a:r>
            <a:r>
              <a:rPr lang="en-US" altLang="en-US" sz="1600" b="1" dirty="0">
                <a:solidFill>
                  <a:srgbClr val="3366FF"/>
                </a:solidFill>
                <a:ea typeface="+mn-ea"/>
                <a:cs typeface="Calibri" panose="020F0502020204030204" pitchFamily="34" charset="0"/>
              </a:rPr>
              <a:t> </a:t>
            </a:r>
            <a:r>
              <a:rPr lang="en-US" altLang="en-US" sz="1600" b="1" dirty="0">
                <a:solidFill>
                  <a:srgbClr val="006699"/>
                </a:solidFill>
                <a:ea typeface="+mn-ea"/>
                <a:cs typeface="Calibri" panose="020F0502020204030204" pitchFamily="34" charset="0"/>
              </a:rPr>
              <a:t>Extensible</a:t>
            </a:r>
            <a:r>
              <a:rPr lang="en-US" altLang="en-US" sz="1600" b="1" dirty="0">
                <a:solidFill>
                  <a:srgbClr val="3366FF"/>
                </a:solidFill>
                <a:ea typeface="+mn-ea"/>
                <a:cs typeface="Calibri" panose="020F0502020204030204" pitchFamily="34" charset="0"/>
              </a:rPr>
              <a:t> </a:t>
            </a:r>
            <a:r>
              <a:rPr lang="en-US" altLang="en-US" sz="1600" b="1" dirty="0">
                <a:solidFill>
                  <a:srgbClr val="006699"/>
                </a:solidFill>
                <a:ea typeface="+mn-ea"/>
                <a:cs typeface="Calibri" panose="020F0502020204030204" pitchFamily="34" charset="0"/>
              </a:rPr>
              <a:t>Firmware</a:t>
            </a:r>
            <a:r>
              <a:rPr lang="en-US" altLang="en-US" sz="1600" b="1" dirty="0">
                <a:solidFill>
                  <a:srgbClr val="3366FF"/>
                </a:solidFill>
                <a:ea typeface="+mn-ea"/>
                <a:cs typeface="Calibri" panose="020F0502020204030204" pitchFamily="34" charset="0"/>
              </a:rPr>
              <a:t> </a:t>
            </a:r>
            <a:r>
              <a:rPr lang="en-US" altLang="en-US" sz="1600" b="1" dirty="0">
                <a:solidFill>
                  <a:srgbClr val="006699"/>
                </a:solidFill>
                <a:ea typeface="+mn-ea"/>
                <a:cs typeface="Calibri" panose="020F0502020204030204" pitchFamily="34" charset="0"/>
              </a:rPr>
              <a:t>Interface</a:t>
            </a:r>
            <a:r>
              <a:rPr lang="en-US" altLang="en-US" sz="1600" b="1" dirty="0">
                <a:solidFill>
                  <a:srgbClr val="3366FF"/>
                </a:solidFill>
                <a:ea typeface="+mn-ea"/>
                <a:cs typeface="Calibri" panose="020F0502020204030204" pitchFamily="34" charset="0"/>
              </a:rPr>
              <a:t> </a:t>
            </a:r>
            <a:r>
              <a:rPr lang="en-US" altLang="en-US" sz="1600" dirty="0">
                <a:ea typeface="+mn-ea"/>
                <a:cs typeface="Calibri" panose="020F0502020204030204" pitchFamily="34" charset="0"/>
              </a:rPr>
              <a:t>(</a:t>
            </a:r>
            <a:r>
              <a:rPr lang="en-US" altLang="en-US" sz="1600" b="1" dirty="0">
                <a:solidFill>
                  <a:srgbClr val="006699"/>
                </a:solidFill>
                <a:ea typeface="+mn-ea"/>
                <a:cs typeface="Calibri" panose="020F0502020204030204" pitchFamily="34" charset="0"/>
              </a:rPr>
              <a:t>UEFI</a:t>
            </a:r>
            <a:r>
              <a:rPr lang="en-US" altLang="en-US" sz="1600" dirty="0">
                <a:ea typeface="+mn-ea"/>
                <a:cs typeface="Calibri" panose="020F0502020204030204" pitchFamily="34" charset="0"/>
              </a:rPr>
              <a:t>)</a:t>
            </a:r>
          </a:p>
          <a:p>
            <a:pPr>
              <a:spcBef>
                <a:spcPts val="0"/>
              </a:spcBef>
              <a:spcAft>
                <a:spcPts val="600"/>
              </a:spcAft>
            </a:pPr>
            <a:r>
              <a:rPr lang="en-US" altLang="en-US" sz="1800" dirty="0">
                <a:ea typeface="+mn-ea"/>
                <a:cs typeface="Calibri" panose="020F0502020204030204" pitchFamily="34" charset="0"/>
              </a:rPr>
              <a:t>Common bootstrap loader, </a:t>
            </a:r>
            <a:r>
              <a:rPr lang="en-US" altLang="en-US" sz="1800" b="1" dirty="0">
                <a:solidFill>
                  <a:srgbClr val="006699"/>
                </a:solidFill>
                <a:ea typeface="+mn-ea"/>
                <a:cs typeface="Calibri" panose="020F0502020204030204" pitchFamily="34" charset="0"/>
              </a:rPr>
              <a:t>GRUB</a:t>
            </a:r>
            <a:r>
              <a:rPr lang="en-US" altLang="en-US" sz="1800" dirty="0">
                <a:ea typeface="+mn-ea"/>
                <a:cs typeface="Calibri" panose="020F0502020204030204" pitchFamily="34" charset="0"/>
              </a:rPr>
              <a:t>, allows selection of kernel from multiple disks, versions, kernel options</a:t>
            </a:r>
          </a:p>
          <a:p>
            <a:pPr>
              <a:spcBef>
                <a:spcPts val="0"/>
              </a:spcBef>
              <a:spcAft>
                <a:spcPts val="600"/>
              </a:spcAft>
            </a:pPr>
            <a:r>
              <a:rPr lang="en-US" altLang="en-US" sz="1800" dirty="0">
                <a:ea typeface="+mn-ea"/>
                <a:cs typeface="Calibri" panose="020F0502020204030204" pitchFamily="34" charset="0"/>
              </a:rPr>
              <a:t>Kernel loads and system is then </a:t>
            </a:r>
            <a:r>
              <a:rPr lang="en-US" altLang="en-US" sz="1800" b="1" dirty="0">
                <a:solidFill>
                  <a:srgbClr val="006699"/>
                </a:solidFill>
                <a:ea typeface="+mn-ea"/>
                <a:cs typeface="Calibri" panose="020F0502020204030204" pitchFamily="34" charset="0"/>
              </a:rPr>
              <a:t>running</a:t>
            </a:r>
          </a:p>
          <a:p>
            <a:pPr>
              <a:spcBef>
                <a:spcPts val="0"/>
              </a:spcBef>
              <a:spcAft>
                <a:spcPts val="600"/>
              </a:spcAft>
            </a:pPr>
            <a:r>
              <a:rPr lang="en-US" altLang="en-US" sz="1800" dirty="0">
                <a:ea typeface="+mn-ea"/>
                <a:cs typeface="Calibri" panose="020F0502020204030204" pitchFamily="34" charset="0"/>
              </a:rPr>
              <a:t>Boot loaders frequently allow various boot states, such as single user mode</a:t>
            </a:r>
          </a:p>
        </p:txBody>
      </p:sp>
      <p:sp>
        <p:nvSpPr>
          <p:cNvPr id="2" name="灯片编号占位符 1">
            <a:extLst>
              <a:ext uri="{FF2B5EF4-FFF2-40B4-BE49-F238E27FC236}">
                <a16:creationId xmlns:a16="http://schemas.microsoft.com/office/drawing/2014/main" id="{12A3AD55-8060-5C4B-58DA-945099434277}"/>
              </a:ext>
            </a:extLst>
          </p:cNvPr>
          <p:cNvSpPr>
            <a:spLocks noGrp="1"/>
          </p:cNvSpPr>
          <p:nvPr>
            <p:ph type="sldNum" sz="quarter" idx="10"/>
          </p:nvPr>
        </p:nvSpPr>
        <p:spPr/>
        <p:txBody>
          <a:bodyPr/>
          <a:lstStyle/>
          <a:p>
            <a:fld id="{D9B6BDF2-6896-4B98-8776-C18582F63BA5}" type="slidenum">
              <a:rPr lang="zh-TW" altLang="en-US" smtClean="0"/>
              <a:pPr/>
              <a:t>26</a:t>
            </a:fld>
            <a:endParaRPr lang="zh-TW"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D37D0B20-2573-4F33-B46D-85291214EDD3}"/>
              </a:ext>
            </a:extLst>
          </p:cNvPr>
          <p:cNvSpPr>
            <a:spLocks noGrp="1" noChangeArrowheads="1"/>
          </p:cNvSpPr>
          <p:nvPr>
            <p:ph type="title"/>
          </p:nvPr>
        </p:nvSpPr>
        <p:spPr>
          <a:xfrm>
            <a:off x="914400" y="119975"/>
            <a:ext cx="6743700" cy="454307"/>
          </a:xfrm>
        </p:spPr>
        <p:txBody>
          <a:bodyPr/>
          <a:lstStyle/>
          <a:p>
            <a:pPr eaLnBrk="1" hangingPunct="1"/>
            <a:r>
              <a:rPr lang="en-US" altLang="en-US" sz="3200" dirty="0"/>
              <a:t>Operating System Debugging</a:t>
            </a:r>
          </a:p>
        </p:txBody>
      </p:sp>
      <p:sp>
        <p:nvSpPr>
          <p:cNvPr id="107523" name="Content Placeholder 2">
            <a:extLst>
              <a:ext uri="{FF2B5EF4-FFF2-40B4-BE49-F238E27FC236}">
                <a16:creationId xmlns:a16="http://schemas.microsoft.com/office/drawing/2014/main" id="{09BD28EB-4A21-4422-9ABC-1A17E1FEC3C0}"/>
              </a:ext>
            </a:extLst>
          </p:cNvPr>
          <p:cNvSpPr>
            <a:spLocks noGrp="1" noChangeArrowheads="1"/>
          </p:cNvSpPr>
          <p:nvPr>
            <p:ph idx="1"/>
          </p:nvPr>
        </p:nvSpPr>
        <p:spPr>
          <a:xfrm>
            <a:off x="340378" y="910209"/>
            <a:ext cx="8624235" cy="3517411"/>
          </a:xfrm>
        </p:spPr>
        <p:txBody>
          <a:bodyPr/>
          <a:lstStyle/>
          <a:p>
            <a:r>
              <a:rPr lang="en-US" altLang="en-US" sz="1800" b="1" dirty="0">
                <a:solidFill>
                  <a:srgbClr val="006699"/>
                </a:solidFill>
                <a:cs typeface="Calibri" panose="020F0502020204030204" pitchFamily="34" charset="0"/>
              </a:rPr>
              <a:t>Debugging</a:t>
            </a:r>
            <a:r>
              <a:rPr lang="en-US" altLang="en-US" sz="1800" dirty="0">
                <a:solidFill>
                  <a:srgbClr val="3366FF"/>
                </a:solidFill>
                <a:cs typeface="Calibri" panose="020F0502020204030204" pitchFamily="34" charset="0"/>
              </a:rPr>
              <a:t> </a:t>
            </a:r>
            <a:r>
              <a:rPr lang="en-US" altLang="en-US" sz="1800" dirty="0">
                <a:cs typeface="Calibri" panose="020F0502020204030204" pitchFamily="34" charset="0"/>
              </a:rPr>
              <a:t>is finding and fixing errors, or </a:t>
            </a:r>
            <a:r>
              <a:rPr lang="en-US" altLang="en-US" sz="1800" b="1" dirty="0">
                <a:solidFill>
                  <a:srgbClr val="006699"/>
                </a:solidFill>
                <a:cs typeface="Calibri" panose="020F0502020204030204" pitchFamily="34" charset="0"/>
              </a:rPr>
              <a:t>bugs</a:t>
            </a:r>
          </a:p>
          <a:p>
            <a:r>
              <a:rPr lang="en-US" altLang="en-US" sz="1800" dirty="0">
                <a:cs typeface="Calibri" panose="020F0502020204030204" pitchFamily="34" charset="0"/>
              </a:rPr>
              <a:t>Also</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performance</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tuning</a:t>
            </a:r>
          </a:p>
          <a:p>
            <a:r>
              <a:rPr lang="en-US" altLang="en-US" sz="1800" dirty="0">
                <a:cs typeface="Calibri" panose="020F0502020204030204" pitchFamily="34" charset="0"/>
              </a:rPr>
              <a:t>OS generate </a:t>
            </a:r>
            <a:r>
              <a:rPr lang="en-US" altLang="en-US" sz="1800" b="1" dirty="0">
                <a:solidFill>
                  <a:srgbClr val="006699"/>
                </a:solidFill>
                <a:cs typeface="Calibri" panose="020F0502020204030204" pitchFamily="34" charset="0"/>
              </a:rPr>
              <a:t>log</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files</a:t>
            </a:r>
            <a:r>
              <a:rPr lang="en-US" altLang="en-US" sz="1800" dirty="0">
                <a:solidFill>
                  <a:srgbClr val="3366FF"/>
                </a:solidFill>
                <a:cs typeface="Calibri" panose="020F0502020204030204" pitchFamily="34" charset="0"/>
              </a:rPr>
              <a:t> </a:t>
            </a:r>
            <a:r>
              <a:rPr lang="en-US" altLang="en-US" sz="1800" dirty="0">
                <a:solidFill>
                  <a:srgbClr val="000000"/>
                </a:solidFill>
                <a:cs typeface="Calibri" panose="020F0502020204030204" pitchFamily="34" charset="0"/>
              </a:rPr>
              <a:t>containing error information</a:t>
            </a:r>
          </a:p>
          <a:p>
            <a:r>
              <a:rPr lang="en-US" altLang="en-US" sz="1800" dirty="0">
                <a:solidFill>
                  <a:srgbClr val="000000"/>
                </a:solidFill>
                <a:cs typeface="Calibri" panose="020F0502020204030204" pitchFamily="34" charset="0"/>
              </a:rPr>
              <a:t>Failure of an application can generate </a:t>
            </a:r>
            <a:r>
              <a:rPr lang="en-US" altLang="en-US" sz="1800" b="1" dirty="0">
                <a:solidFill>
                  <a:srgbClr val="006699"/>
                </a:solidFill>
                <a:cs typeface="Calibri" panose="020F0502020204030204" pitchFamily="34" charset="0"/>
              </a:rPr>
              <a:t>core</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dump</a:t>
            </a:r>
            <a:r>
              <a:rPr lang="en-US" altLang="en-US" sz="1800" dirty="0">
                <a:solidFill>
                  <a:srgbClr val="3366FF"/>
                </a:solidFill>
                <a:cs typeface="Calibri" panose="020F0502020204030204" pitchFamily="34" charset="0"/>
              </a:rPr>
              <a:t> </a:t>
            </a:r>
            <a:r>
              <a:rPr lang="en-US" altLang="en-US" sz="1800" dirty="0">
                <a:solidFill>
                  <a:srgbClr val="000000"/>
                </a:solidFill>
                <a:cs typeface="Calibri" panose="020F0502020204030204" pitchFamily="34" charset="0"/>
              </a:rPr>
              <a:t>file capturing memory of the process</a:t>
            </a:r>
          </a:p>
          <a:p>
            <a:r>
              <a:rPr lang="en-US" altLang="en-US" sz="1800" dirty="0">
                <a:solidFill>
                  <a:srgbClr val="000000"/>
                </a:solidFill>
                <a:cs typeface="Calibri" panose="020F0502020204030204" pitchFamily="34" charset="0"/>
              </a:rPr>
              <a:t>Operating system failure can generate </a:t>
            </a:r>
            <a:r>
              <a:rPr lang="en-US" altLang="en-US" sz="1800" b="1" dirty="0">
                <a:solidFill>
                  <a:srgbClr val="006699"/>
                </a:solidFill>
                <a:cs typeface="Calibri" panose="020F0502020204030204" pitchFamily="34" charset="0"/>
              </a:rPr>
              <a:t>crash</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dump</a:t>
            </a:r>
            <a:r>
              <a:rPr lang="en-US" altLang="en-US" sz="1800" dirty="0">
                <a:solidFill>
                  <a:srgbClr val="3366FF"/>
                </a:solidFill>
                <a:cs typeface="Calibri" panose="020F0502020204030204" pitchFamily="34" charset="0"/>
              </a:rPr>
              <a:t> </a:t>
            </a:r>
            <a:r>
              <a:rPr lang="en-US" altLang="en-US" sz="1800" dirty="0">
                <a:solidFill>
                  <a:srgbClr val="000000"/>
                </a:solidFill>
                <a:cs typeface="Calibri" panose="020F0502020204030204" pitchFamily="34" charset="0"/>
              </a:rPr>
              <a:t>file containing kernel memory</a:t>
            </a:r>
          </a:p>
          <a:p>
            <a:r>
              <a:rPr lang="en-US" altLang="en-US" sz="1800" dirty="0">
                <a:solidFill>
                  <a:srgbClr val="000000"/>
                </a:solidFill>
                <a:cs typeface="Calibri" panose="020F0502020204030204" pitchFamily="34" charset="0"/>
              </a:rPr>
              <a:t>Beyond crashes, performance tuning can optimize system performance</a:t>
            </a:r>
          </a:p>
          <a:p>
            <a:pPr lvl="1"/>
            <a:r>
              <a:rPr lang="en-US" altLang="en-US" sz="1600" dirty="0">
                <a:solidFill>
                  <a:srgbClr val="000000"/>
                </a:solidFill>
                <a:cs typeface="Calibri" panose="020F0502020204030204" pitchFamily="34" charset="0"/>
              </a:rPr>
              <a:t>Sometimes using </a:t>
            </a:r>
            <a:r>
              <a:rPr lang="en-US" altLang="en-US" sz="1600" b="1" i="1" dirty="0">
                <a:solidFill>
                  <a:srgbClr val="000000"/>
                </a:solidFill>
                <a:cs typeface="Calibri" panose="020F0502020204030204" pitchFamily="34" charset="0"/>
              </a:rPr>
              <a:t>trace listings</a:t>
            </a:r>
            <a:r>
              <a:rPr lang="en-US" altLang="en-US" sz="1600" dirty="0">
                <a:solidFill>
                  <a:srgbClr val="000000"/>
                </a:solidFill>
                <a:cs typeface="Calibri" panose="020F0502020204030204" pitchFamily="34" charset="0"/>
              </a:rPr>
              <a:t> of activities, recorded for analysis</a:t>
            </a:r>
          </a:p>
          <a:p>
            <a:pPr lvl="1"/>
            <a:r>
              <a:rPr lang="en-US" altLang="en-US" sz="1600" b="1" dirty="0">
                <a:solidFill>
                  <a:srgbClr val="006699"/>
                </a:solidFill>
                <a:cs typeface="Calibri" panose="020F0502020204030204" pitchFamily="34" charset="0"/>
              </a:rPr>
              <a:t>Profiling</a:t>
            </a:r>
            <a:r>
              <a:rPr lang="en-US" altLang="en-US" sz="1600" dirty="0">
                <a:solidFill>
                  <a:srgbClr val="000000"/>
                </a:solidFill>
                <a:cs typeface="Calibri" panose="020F0502020204030204" pitchFamily="34" charset="0"/>
              </a:rPr>
              <a:t> is periodic sampling of instruction pointer to look for statistical trends</a:t>
            </a:r>
          </a:p>
          <a:p>
            <a:pPr marL="0" indent="0">
              <a:buNone/>
            </a:pPr>
            <a:r>
              <a:rPr lang="en-US" altLang="en-US" sz="1800" dirty="0">
                <a:solidFill>
                  <a:srgbClr val="000000"/>
                </a:solidFill>
                <a:cs typeface="Calibri" panose="020F0502020204030204" pitchFamily="34" charset="0"/>
              </a:rPr>
              <a:t>Kernighan’s</a:t>
            </a:r>
            <a:r>
              <a:rPr lang="en-US" altLang="ja-JP" sz="1800" dirty="0">
                <a:solidFill>
                  <a:srgbClr val="000000"/>
                </a:solidFill>
                <a:cs typeface="Calibri" panose="020F0502020204030204" pitchFamily="34" charset="0"/>
              </a:rPr>
              <a:t> Law: “</a:t>
            </a:r>
            <a:r>
              <a:rPr lang="en-US" altLang="ja-JP" sz="1800" dirty="0">
                <a:cs typeface="Calibri" panose="020F0502020204030204" pitchFamily="34" charset="0"/>
              </a:rPr>
              <a:t>Debugging is twice as hard as writing the code in the first place. Therefore, if you write the code as cleverly as possible, you are, by definition, not smart enough to debug it.</a:t>
            </a:r>
            <a:r>
              <a:rPr lang="ja-JP" altLang="en-US" sz="1800" dirty="0">
                <a:cs typeface="Calibri" panose="020F0502020204030204" pitchFamily="34" charset="0"/>
              </a:rPr>
              <a:t>”</a:t>
            </a:r>
            <a:endParaRPr lang="en-US" altLang="en-US" sz="1800" dirty="0">
              <a:solidFill>
                <a:srgbClr val="000000"/>
              </a:solidFill>
              <a:cs typeface="Calibri" panose="020F0502020204030204" pitchFamily="34" charset="0"/>
            </a:endParaRPr>
          </a:p>
        </p:txBody>
      </p:sp>
      <p:sp>
        <p:nvSpPr>
          <p:cNvPr id="2" name="灯片编号占位符 1">
            <a:extLst>
              <a:ext uri="{FF2B5EF4-FFF2-40B4-BE49-F238E27FC236}">
                <a16:creationId xmlns:a16="http://schemas.microsoft.com/office/drawing/2014/main" id="{CFFF9EF8-6B3A-4AF9-B13C-7E03A06297F8}"/>
              </a:ext>
            </a:extLst>
          </p:cNvPr>
          <p:cNvSpPr>
            <a:spLocks noGrp="1"/>
          </p:cNvSpPr>
          <p:nvPr>
            <p:ph type="sldNum" sz="quarter" idx="10"/>
          </p:nvPr>
        </p:nvSpPr>
        <p:spPr/>
        <p:txBody>
          <a:bodyPr/>
          <a:lstStyle/>
          <a:p>
            <a:fld id="{D9B6BDF2-6896-4B98-8776-C18582F63BA5}" type="slidenum">
              <a:rPr lang="zh-TW" altLang="en-US" smtClean="0"/>
              <a:pPr/>
              <a:t>27</a:t>
            </a:fld>
            <a:endParaRPr lang="zh-TW"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a:extLst>
              <a:ext uri="{FF2B5EF4-FFF2-40B4-BE49-F238E27FC236}">
                <a16:creationId xmlns:a16="http://schemas.microsoft.com/office/drawing/2014/main" id="{FBDC80E5-B72D-4043-9076-486889434A4D}"/>
              </a:ext>
            </a:extLst>
          </p:cNvPr>
          <p:cNvSpPr>
            <a:spLocks noGrp="1" noChangeArrowheads="1"/>
          </p:cNvSpPr>
          <p:nvPr>
            <p:ph type="title"/>
          </p:nvPr>
        </p:nvSpPr>
        <p:spPr>
          <a:xfrm>
            <a:off x="895149" y="165497"/>
            <a:ext cx="6616505" cy="432197"/>
          </a:xfrm>
        </p:spPr>
        <p:txBody>
          <a:bodyPr/>
          <a:lstStyle/>
          <a:p>
            <a:pPr eaLnBrk="1" hangingPunct="1"/>
            <a:r>
              <a:rPr lang="en-US" altLang="en-US" sz="3200" dirty="0"/>
              <a:t>Performance Tuning</a:t>
            </a:r>
          </a:p>
        </p:txBody>
      </p:sp>
      <p:sp>
        <p:nvSpPr>
          <p:cNvPr id="109571" name="Content Placeholder 2">
            <a:extLst>
              <a:ext uri="{FF2B5EF4-FFF2-40B4-BE49-F238E27FC236}">
                <a16:creationId xmlns:a16="http://schemas.microsoft.com/office/drawing/2014/main" id="{5960A5C5-E69B-4534-A6AA-022222737FDF}"/>
              </a:ext>
            </a:extLst>
          </p:cNvPr>
          <p:cNvSpPr>
            <a:spLocks noGrp="1" noChangeArrowheads="1"/>
          </p:cNvSpPr>
          <p:nvPr>
            <p:ph idx="1"/>
          </p:nvPr>
        </p:nvSpPr>
        <p:spPr>
          <a:xfrm>
            <a:off x="721895" y="759857"/>
            <a:ext cx="8242718" cy="1115615"/>
          </a:xfrm>
        </p:spPr>
        <p:txBody>
          <a:bodyPr/>
          <a:lstStyle/>
          <a:p>
            <a:r>
              <a:rPr lang="en-US" altLang="en-US" sz="1800" dirty="0"/>
              <a:t>Improve performance by removing bottlenecks</a:t>
            </a:r>
          </a:p>
          <a:p>
            <a:r>
              <a:rPr lang="en-US" altLang="en-US" sz="1800" dirty="0"/>
              <a:t>OS must provide means of computing and displaying measures of system behavior</a:t>
            </a:r>
            <a:endParaRPr lang="en-US" altLang="en-US" sz="1800" dirty="0">
              <a:solidFill>
                <a:srgbClr val="000000"/>
              </a:solidFill>
            </a:endParaRPr>
          </a:p>
          <a:p>
            <a:r>
              <a:rPr lang="en-US" altLang="en-US" sz="1800" dirty="0">
                <a:solidFill>
                  <a:srgbClr val="000000"/>
                </a:solidFill>
              </a:rPr>
              <a:t>For example, “top” program or Windows Task Manager (WTM)</a:t>
            </a:r>
            <a:endParaRPr lang="en-US" altLang="en-US" sz="1800" dirty="0"/>
          </a:p>
        </p:txBody>
      </p:sp>
      <p:pic>
        <p:nvPicPr>
          <p:cNvPr id="109572" name="Picture 2">
            <a:extLst>
              <a:ext uri="{FF2B5EF4-FFF2-40B4-BE49-F238E27FC236}">
                <a16:creationId xmlns:a16="http://schemas.microsoft.com/office/drawing/2014/main" id="{4DA4B68A-E5CA-40EB-BEDC-C4CD4DBC1943}"/>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175867" y="1875472"/>
            <a:ext cx="4792265"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42063FB1-386D-FCC8-44C3-FD67B9501E7F}"/>
              </a:ext>
            </a:extLst>
          </p:cNvPr>
          <p:cNvSpPr>
            <a:spLocks noGrp="1"/>
          </p:cNvSpPr>
          <p:nvPr>
            <p:ph type="sldNum" sz="quarter" idx="10"/>
          </p:nvPr>
        </p:nvSpPr>
        <p:spPr/>
        <p:txBody>
          <a:bodyPr/>
          <a:lstStyle/>
          <a:p>
            <a:fld id="{D9B6BDF2-6896-4B98-8776-C18582F63BA5}" type="slidenum">
              <a:rPr lang="zh-TW" altLang="en-US" smtClean="0"/>
              <a:pPr/>
              <a:t>28</a:t>
            </a:fld>
            <a:endParaRPr lang="zh-TW"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3E5AB062-C148-4A7D-BB07-8D5065AEF458}"/>
              </a:ext>
            </a:extLst>
          </p:cNvPr>
          <p:cNvSpPr>
            <a:spLocks noGrp="1" noChangeArrowheads="1"/>
          </p:cNvSpPr>
          <p:nvPr>
            <p:ph type="title"/>
          </p:nvPr>
        </p:nvSpPr>
        <p:spPr>
          <a:xfrm>
            <a:off x="933651" y="165497"/>
            <a:ext cx="6599434" cy="432197"/>
          </a:xfrm>
        </p:spPr>
        <p:txBody>
          <a:bodyPr/>
          <a:lstStyle/>
          <a:p>
            <a:pPr eaLnBrk="1" hangingPunct="1"/>
            <a:r>
              <a:rPr lang="en-US" altLang="en-US" sz="3200" dirty="0"/>
              <a:t>Tracing</a:t>
            </a:r>
          </a:p>
        </p:txBody>
      </p:sp>
      <p:sp>
        <p:nvSpPr>
          <p:cNvPr id="111619" name="Content Placeholder 2">
            <a:extLst>
              <a:ext uri="{FF2B5EF4-FFF2-40B4-BE49-F238E27FC236}">
                <a16:creationId xmlns:a16="http://schemas.microsoft.com/office/drawing/2014/main" id="{AEB41930-1685-412F-A8A7-319AF8289000}"/>
              </a:ext>
            </a:extLst>
          </p:cNvPr>
          <p:cNvSpPr txBox="1">
            <a:spLocks/>
          </p:cNvSpPr>
          <p:nvPr/>
        </p:nvSpPr>
        <p:spPr bwMode="auto">
          <a:xfrm>
            <a:off x="1001028" y="910276"/>
            <a:ext cx="7642458" cy="2882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200150" indent="-28575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r>
              <a:rPr lang="en-US" altLang="en-US" sz="2000" dirty="0">
                <a:solidFill>
                  <a:srgbClr val="000000"/>
                </a:solidFill>
                <a:latin typeface="Calibri" panose="020F0502020204030204" pitchFamily="34" charset="0"/>
                <a:cs typeface="Calibri" panose="020F0502020204030204" pitchFamily="34" charset="0"/>
              </a:rPr>
              <a:t>Collects data for a specific event, such as steps involved in a system call invocation</a:t>
            </a:r>
          </a:p>
          <a:p>
            <a:r>
              <a:rPr lang="en-US" altLang="en-US" sz="2000" dirty="0">
                <a:solidFill>
                  <a:srgbClr val="000000"/>
                </a:solidFill>
                <a:latin typeface="Calibri" panose="020F0502020204030204" pitchFamily="34" charset="0"/>
                <a:cs typeface="Calibri" panose="020F0502020204030204" pitchFamily="34" charset="0"/>
              </a:rPr>
              <a:t>Tools include</a:t>
            </a:r>
          </a:p>
          <a:p>
            <a:pPr lvl="1"/>
            <a:r>
              <a:rPr lang="en-US" altLang="en-US" sz="2000" dirty="0" err="1">
                <a:solidFill>
                  <a:srgbClr val="000000"/>
                </a:solidFill>
                <a:latin typeface="Calibri" panose="020F0502020204030204" pitchFamily="34" charset="0"/>
                <a:cs typeface="Calibri" panose="020F0502020204030204" pitchFamily="34" charset="0"/>
              </a:rPr>
              <a:t>strace</a:t>
            </a:r>
            <a:r>
              <a:rPr lang="en-US" altLang="en-US" sz="2000" dirty="0">
                <a:solidFill>
                  <a:srgbClr val="000000"/>
                </a:solidFill>
                <a:latin typeface="Calibri" panose="020F0502020204030204" pitchFamily="34" charset="0"/>
                <a:cs typeface="Calibri" panose="020F0502020204030204" pitchFamily="34" charset="0"/>
              </a:rPr>
              <a:t> – trace system calls invoked by a process</a:t>
            </a:r>
          </a:p>
          <a:p>
            <a:pPr lvl="1"/>
            <a:r>
              <a:rPr lang="en-US" altLang="en-US" sz="2000" dirty="0" err="1">
                <a:solidFill>
                  <a:srgbClr val="000000"/>
                </a:solidFill>
                <a:latin typeface="Calibri" panose="020F0502020204030204" pitchFamily="34" charset="0"/>
                <a:cs typeface="Calibri" panose="020F0502020204030204" pitchFamily="34" charset="0"/>
              </a:rPr>
              <a:t>gdb</a:t>
            </a:r>
            <a:r>
              <a:rPr lang="en-US" altLang="en-US" sz="2000" dirty="0">
                <a:solidFill>
                  <a:srgbClr val="000000"/>
                </a:solidFill>
                <a:latin typeface="Calibri" panose="020F0502020204030204" pitchFamily="34" charset="0"/>
                <a:cs typeface="Calibri" panose="020F0502020204030204" pitchFamily="34" charset="0"/>
              </a:rPr>
              <a:t> – source-level debugger</a:t>
            </a:r>
          </a:p>
          <a:p>
            <a:pPr lvl="1"/>
            <a:r>
              <a:rPr lang="en-US" altLang="en-US" sz="2000" dirty="0">
                <a:solidFill>
                  <a:srgbClr val="000000"/>
                </a:solidFill>
                <a:latin typeface="Calibri" panose="020F0502020204030204" pitchFamily="34" charset="0"/>
                <a:cs typeface="Calibri" panose="020F0502020204030204" pitchFamily="34" charset="0"/>
              </a:rPr>
              <a:t>perf – collection of Linux performance tools</a:t>
            </a:r>
          </a:p>
          <a:p>
            <a:pPr lvl="1"/>
            <a:r>
              <a:rPr lang="en-US" altLang="en-US" sz="2000" dirty="0" err="1">
                <a:solidFill>
                  <a:srgbClr val="000000"/>
                </a:solidFill>
                <a:latin typeface="Calibri" panose="020F0502020204030204" pitchFamily="34" charset="0"/>
                <a:cs typeface="Calibri" panose="020F0502020204030204" pitchFamily="34" charset="0"/>
              </a:rPr>
              <a:t>tcpdump</a:t>
            </a:r>
            <a:r>
              <a:rPr lang="en-US" altLang="en-US" sz="2000" dirty="0">
                <a:solidFill>
                  <a:srgbClr val="000000"/>
                </a:solidFill>
                <a:latin typeface="Calibri" panose="020F0502020204030204" pitchFamily="34" charset="0"/>
                <a:cs typeface="Calibri" panose="020F0502020204030204" pitchFamily="34" charset="0"/>
              </a:rPr>
              <a:t> – collects network packets</a:t>
            </a:r>
          </a:p>
        </p:txBody>
      </p:sp>
      <p:sp>
        <p:nvSpPr>
          <p:cNvPr id="2" name="灯片编号占位符 1">
            <a:extLst>
              <a:ext uri="{FF2B5EF4-FFF2-40B4-BE49-F238E27FC236}">
                <a16:creationId xmlns:a16="http://schemas.microsoft.com/office/drawing/2014/main" id="{921E9AB2-EE2F-82B1-26C7-AC390A7AB8D2}"/>
              </a:ext>
            </a:extLst>
          </p:cNvPr>
          <p:cNvSpPr>
            <a:spLocks noGrp="1"/>
          </p:cNvSpPr>
          <p:nvPr>
            <p:ph type="sldNum" sz="quarter" idx="10"/>
          </p:nvPr>
        </p:nvSpPr>
        <p:spPr/>
        <p:txBody>
          <a:bodyPr/>
          <a:lstStyle/>
          <a:p>
            <a:fld id="{D9B6BDF2-6896-4B98-8776-C18582F63BA5}" type="slidenum">
              <a:rPr lang="zh-TW" altLang="en-US" smtClean="0"/>
              <a:pPr/>
              <a:t>29</a:t>
            </a:fld>
            <a:endParaRPr lang="zh-TW"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7F382614-8441-442A-8EB2-AD9636A59B18}"/>
              </a:ext>
            </a:extLst>
          </p:cNvPr>
          <p:cNvSpPr>
            <a:spLocks noGrp="1" noChangeArrowheads="1"/>
          </p:cNvSpPr>
          <p:nvPr>
            <p:ph type="title"/>
          </p:nvPr>
        </p:nvSpPr>
        <p:spPr>
          <a:xfrm>
            <a:off x="962526" y="165497"/>
            <a:ext cx="6609849" cy="432197"/>
          </a:xfrm>
        </p:spPr>
        <p:txBody>
          <a:bodyPr/>
          <a:lstStyle/>
          <a:p>
            <a:pPr eaLnBrk="1" hangingPunct="1"/>
            <a:r>
              <a:rPr lang="en-US" altLang="en-US" sz="3200" dirty="0"/>
              <a:t>BCC</a:t>
            </a:r>
          </a:p>
        </p:txBody>
      </p:sp>
      <p:sp>
        <p:nvSpPr>
          <p:cNvPr id="113667" name="Content Placeholder 2">
            <a:extLst>
              <a:ext uri="{FF2B5EF4-FFF2-40B4-BE49-F238E27FC236}">
                <a16:creationId xmlns:a16="http://schemas.microsoft.com/office/drawing/2014/main" id="{4EA39B5D-A2AE-4C8D-8F8F-C51BEE190F60}"/>
              </a:ext>
            </a:extLst>
          </p:cNvPr>
          <p:cNvSpPr txBox="1">
            <a:spLocks/>
          </p:cNvSpPr>
          <p:nvPr/>
        </p:nvSpPr>
        <p:spPr bwMode="auto">
          <a:xfrm>
            <a:off x="128621" y="958580"/>
            <a:ext cx="8835992" cy="3392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ts val="0"/>
              </a:spcBef>
            </a:pPr>
            <a:r>
              <a:rPr lang="en-US" altLang="en-US" dirty="0">
                <a:solidFill>
                  <a:srgbClr val="000000"/>
                </a:solidFill>
              </a:rPr>
              <a:t>Debugging interactions between user-level and kernel code nearly impossible without toolset that understands both and an instrument their actions</a:t>
            </a:r>
          </a:p>
          <a:p>
            <a:pPr>
              <a:spcBef>
                <a:spcPts val="0"/>
              </a:spcBef>
            </a:pPr>
            <a:r>
              <a:rPr lang="en-US" altLang="en-US" dirty="0">
                <a:solidFill>
                  <a:srgbClr val="000000"/>
                </a:solidFill>
              </a:rPr>
              <a:t>BCC (BPF Compiler Collection) is a rich toolkit providing tracing features for Linux</a:t>
            </a:r>
          </a:p>
          <a:p>
            <a:pPr lvl="1">
              <a:spcBef>
                <a:spcPts val="0"/>
              </a:spcBef>
            </a:pPr>
            <a:r>
              <a:rPr lang="en-US" altLang="en-US" sz="2000" dirty="0">
                <a:solidFill>
                  <a:srgbClr val="000000"/>
                </a:solidFill>
              </a:rPr>
              <a:t>See also the original </a:t>
            </a:r>
            <a:r>
              <a:rPr lang="en-US" altLang="en-US" sz="2000" dirty="0" err="1">
                <a:solidFill>
                  <a:srgbClr val="000000"/>
                </a:solidFill>
              </a:rPr>
              <a:t>DTrace</a:t>
            </a:r>
            <a:endParaRPr lang="en-US" altLang="en-US" sz="2000" dirty="0">
              <a:solidFill>
                <a:srgbClr val="000000"/>
              </a:solidFill>
            </a:endParaRPr>
          </a:p>
          <a:p>
            <a:pPr>
              <a:spcBef>
                <a:spcPts val="0"/>
              </a:spcBef>
            </a:pPr>
            <a:r>
              <a:rPr lang="en-US" altLang="en-US" sz="2000" dirty="0">
                <a:solidFill>
                  <a:srgbClr val="000000"/>
                </a:solidFill>
              </a:rPr>
              <a:t>For example, disksnoop.py traces disk I/O activity</a:t>
            </a:r>
          </a:p>
          <a:p>
            <a:pPr>
              <a:spcBef>
                <a:spcPts val="0"/>
              </a:spcBef>
            </a:pPr>
            <a:endParaRPr lang="en-US" altLang="en-US" sz="2000" dirty="0">
              <a:solidFill>
                <a:srgbClr val="000000"/>
              </a:solidFill>
            </a:endParaRPr>
          </a:p>
          <a:p>
            <a:pPr marL="0" indent="0">
              <a:spcBef>
                <a:spcPts val="0"/>
              </a:spcBef>
              <a:buNone/>
            </a:pPr>
            <a:endParaRPr lang="en-US" altLang="en-US" sz="2000" dirty="0">
              <a:solidFill>
                <a:srgbClr val="000000"/>
              </a:solidFill>
            </a:endParaRPr>
          </a:p>
          <a:p>
            <a:pPr marL="0" indent="0">
              <a:spcBef>
                <a:spcPts val="0"/>
              </a:spcBef>
              <a:buNone/>
            </a:pPr>
            <a:endParaRPr lang="en-US" altLang="en-US" sz="2000" dirty="0">
              <a:solidFill>
                <a:srgbClr val="000000"/>
              </a:solidFill>
            </a:endParaRPr>
          </a:p>
          <a:p>
            <a:pPr>
              <a:spcBef>
                <a:spcPts val="0"/>
              </a:spcBef>
            </a:pPr>
            <a:endParaRPr lang="en-US" altLang="en-US" sz="2000" dirty="0">
              <a:solidFill>
                <a:srgbClr val="000000"/>
              </a:solidFill>
            </a:endParaRPr>
          </a:p>
          <a:p>
            <a:pPr>
              <a:spcBef>
                <a:spcPts val="0"/>
              </a:spcBef>
            </a:pPr>
            <a:endParaRPr lang="en-US" altLang="en-US" sz="2000" dirty="0">
              <a:solidFill>
                <a:srgbClr val="000000"/>
              </a:solidFill>
            </a:endParaRPr>
          </a:p>
          <a:p>
            <a:pPr>
              <a:spcBef>
                <a:spcPts val="0"/>
              </a:spcBef>
            </a:pPr>
            <a:r>
              <a:rPr lang="en-US" altLang="en-US" sz="2000" dirty="0">
                <a:solidFill>
                  <a:srgbClr val="000000"/>
                </a:solidFill>
              </a:rPr>
              <a:t>Many other tools (next slide)</a:t>
            </a:r>
          </a:p>
        </p:txBody>
      </p:sp>
      <p:pic>
        <p:nvPicPr>
          <p:cNvPr id="113668" name="Picture 2">
            <a:extLst>
              <a:ext uri="{FF2B5EF4-FFF2-40B4-BE49-F238E27FC236}">
                <a16:creationId xmlns:a16="http://schemas.microsoft.com/office/drawing/2014/main" id="{B1120918-AE53-48E2-B5A4-20DE389868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2984" y="2571750"/>
            <a:ext cx="4668931" cy="122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43804C7D-FF81-E23B-5B19-0980B3BAB729}"/>
              </a:ext>
            </a:extLst>
          </p:cNvPr>
          <p:cNvSpPr>
            <a:spLocks noGrp="1"/>
          </p:cNvSpPr>
          <p:nvPr>
            <p:ph type="sldNum" sz="quarter" idx="10"/>
          </p:nvPr>
        </p:nvSpPr>
        <p:spPr/>
        <p:txBody>
          <a:bodyPr/>
          <a:lstStyle/>
          <a:p>
            <a:fld id="{D9B6BDF2-6896-4B98-8776-C18582F63BA5}" type="slidenum">
              <a:rPr lang="zh-TW" altLang="en-US" smtClean="0"/>
              <a:pPr/>
              <a:t>30</a:t>
            </a:fld>
            <a:endParaRPr lang="zh-TW"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A3232E78-1799-45A9-9B95-C16D5B631AF1}"/>
              </a:ext>
            </a:extLst>
          </p:cNvPr>
          <p:cNvSpPr>
            <a:spLocks noGrp="1" noChangeArrowheads="1"/>
          </p:cNvSpPr>
          <p:nvPr>
            <p:ph type="title"/>
          </p:nvPr>
        </p:nvSpPr>
        <p:spPr>
          <a:xfrm>
            <a:off x="875899" y="165497"/>
            <a:ext cx="6635755" cy="432197"/>
          </a:xfrm>
        </p:spPr>
        <p:txBody>
          <a:bodyPr/>
          <a:lstStyle/>
          <a:p>
            <a:pPr eaLnBrk="1" hangingPunct="1"/>
            <a:r>
              <a:rPr lang="en-US" altLang="en-US" sz="3200" dirty="0"/>
              <a:t>Linux bcc/BPF Tracing Tools</a:t>
            </a:r>
          </a:p>
        </p:txBody>
      </p:sp>
      <p:pic>
        <p:nvPicPr>
          <p:cNvPr id="115715" name="Picture 3">
            <a:extLst>
              <a:ext uri="{FF2B5EF4-FFF2-40B4-BE49-F238E27FC236}">
                <a16:creationId xmlns:a16="http://schemas.microsoft.com/office/drawing/2014/main" id="{4785D27E-8BE3-4317-8EE3-9C44AB56CCA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20"/>
          <a:stretch/>
        </p:blipFill>
        <p:spPr bwMode="auto">
          <a:xfrm>
            <a:off x="1810754" y="873611"/>
            <a:ext cx="5263816" cy="3579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F95B4141-7440-A3FD-7C2A-2971C5242A0D}"/>
              </a:ext>
            </a:extLst>
          </p:cNvPr>
          <p:cNvSpPr>
            <a:spLocks noGrp="1"/>
          </p:cNvSpPr>
          <p:nvPr>
            <p:ph type="sldNum" sz="quarter" idx="10"/>
          </p:nvPr>
        </p:nvSpPr>
        <p:spPr/>
        <p:txBody>
          <a:bodyPr/>
          <a:lstStyle/>
          <a:p>
            <a:fld id="{D9B6BDF2-6896-4B98-8776-C18582F63BA5}" type="slidenum">
              <a:rPr lang="zh-TW" altLang="en-US" smtClean="0"/>
              <a:pPr/>
              <a:t>31</a:t>
            </a:fld>
            <a:endParaRPr lang="zh-TW"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95B4141-7440-A3FD-7C2A-2971C5242A0D}"/>
              </a:ext>
            </a:extLst>
          </p:cNvPr>
          <p:cNvSpPr>
            <a:spLocks noGrp="1"/>
          </p:cNvSpPr>
          <p:nvPr>
            <p:ph type="sldNum" sz="quarter" idx="10"/>
          </p:nvPr>
        </p:nvSpPr>
        <p:spPr/>
        <p:txBody>
          <a:bodyPr/>
          <a:lstStyle/>
          <a:p>
            <a:fld id="{D9B6BDF2-6896-4B98-8776-C18582F63BA5}" type="slidenum">
              <a:rPr lang="zh-TW" altLang="en-US" smtClean="0"/>
              <a:pPr/>
              <a:t>32</a:t>
            </a:fld>
            <a:endParaRPr lang="zh-TW" altLang="en-US"/>
          </a:p>
        </p:txBody>
      </p:sp>
      <p:sp>
        <p:nvSpPr>
          <p:cNvPr id="5" name="Rectangle 2">
            <a:extLst>
              <a:ext uri="{FF2B5EF4-FFF2-40B4-BE49-F238E27FC236}">
                <a16:creationId xmlns:a16="http://schemas.microsoft.com/office/drawing/2014/main" id="{78256E24-10D0-2DC9-F2CB-CB3430051D5A}"/>
              </a:ext>
            </a:extLst>
          </p:cNvPr>
          <p:cNvSpPr txBox="1">
            <a:spLocks noChangeArrowheads="1"/>
          </p:cNvSpPr>
          <p:nvPr/>
        </p:nvSpPr>
        <p:spPr bwMode="auto">
          <a:xfrm>
            <a:off x="435543" y="2757037"/>
            <a:ext cx="7772400" cy="15954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r>
              <a:rPr lang="en-US" altLang="en-US" kern="0" dirty="0"/>
              <a:t>End of Chapter 2</a:t>
            </a:r>
          </a:p>
        </p:txBody>
      </p:sp>
    </p:spTree>
    <p:extLst>
      <p:ext uri="{BB962C8B-B14F-4D97-AF65-F5344CB8AC3E}">
        <p14:creationId xmlns:p14="http://schemas.microsoft.com/office/powerpoint/2010/main" val="143160674"/>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2548</TotalTime>
  <Words>1779</Words>
  <Application>Microsoft Office PowerPoint</Application>
  <PresentationFormat>全屏显示(16:9)</PresentationFormat>
  <Paragraphs>261</Paragraphs>
  <Slides>32</Slides>
  <Notes>25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32</vt:i4>
      </vt:variant>
    </vt:vector>
  </HeadingPairs>
  <TitlesOfParts>
    <vt:vector size="39" baseType="lpstr">
      <vt:lpstr>Monotype Sorts</vt:lpstr>
      <vt:lpstr>MS Sans Serif</vt:lpstr>
      <vt:lpstr>Arial</vt:lpstr>
      <vt:lpstr>Calibri</vt:lpstr>
      <vt:lpstr>Times New Roman</vt:lpstr>
      <vt:lpstr>Wingdings</vt:lpstr>
      <vt:lpstr>NTHU UniCloud</vt:lpstr>
      <vt:lpstr>CSC3150 –Operating Systems</vt:lpstr>
      <vt:lpstr>Outline</vt:lpstr>
      <vt:lpstr>Objectives</vt:lpstr>
      <vt:lpstr>Linkers and Loaders</vt:lpstr>
      <vt:lpstr>The Role of the Linker and Loader</vt:lpstr>
      <vt:lpstr>Why Applications are Operating System Specific</vt:lpstr>
      <vt:lpstr>Design and Implementation</vt:lpstr>
      <vt:lpstr>Policy and Mechanism</vt:lpstr>
      <vt:lpstr>Implementation</vt:lpstr>
      <vt:lpstr>Operating System Structure</vt:lpstr>
      <vt:lpstr>Monolithic Structure – Original UNIX</vt:lpstr>
      <vt:lpstr>Traditional UNIX System Structure</vt:lpstr>
      <vt:lpstr>Linux System Structure</vt:lpstr>
      <vt:lpstr>Layered Approach</vt:lpstr>
      <vt:lpstr>Microkernels</vt:lpstr>
      <vt:lpstr>Microkernel System Structure </vt:lpstr>
      <vt:lpstr>Modules</vt:lpstr>
      <vt:lpstr>Hybrid Systems</vt:lpstr>
      <vt:lpstr>MacOS and iOS Structure</vt:lpstr>
      <vt:lpstr>Darwin</vt:lpstr>
      <vt:lpstr>iOS</vt:lpstr>
      <vt:lpstr>Android</vt:lpstr>
      <vt:lpstr>Android Architecture</vt:lpstr>
      <vt:lpstr>Building and Booting an Operating System</vt:lpstr>
      <vt:lpstr>Building and Booting Linux</vt:lpstr>
      <vt:lpstr>System Boot</vt:lpstr>
      <vt:lpstr>Operating System Debugging</vt:lpstr>
      <vt:lpstr>Performance Tuning</vt:lpstr>
      <vt:lpstr>Tracing</vt:lpstr>
      <vt:lpstr>BCC</vt:lpstr>
      <vt:lpstr>Linux bcc/BPF Tracing Tools</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cp:lastModifiedBy>
  <cp:revision>287</cp:revision>
  <dcterms:created xsi:type="dcterms:W3CDTF">2015-06-05T07:23:35Z</dcterms:created>
  <dcterms:modified xsi:type="dcterms:W3CDTF">2025-07-25T03:35:52Z</dcterms:modified>
</cp:coreProperties>
</file>