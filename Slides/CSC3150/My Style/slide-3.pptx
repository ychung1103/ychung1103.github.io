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2"/>
  </p:notesMasterIdLst>
  <p:handoutMasterIdLst>
    <p:handoutMasterId r:id="rId73"/>
  </p:handoutMasterIdLst>
  <p:sldIdLst>
    <p:sldId id="256" r:id="rId2"/>
    <p:sldId id="411" r:id="rId3"/>
    <p:sldId id="412" r:id="rId4"/>
    <p:sldId id="413" r:id="rId5"/>
    <p:sldId id="468" r:id="rId6"/>
    <p:sldId id="414" r:id="rId7"/>
    <p:sldId id="499" r:id="rId8"/>
    <p:sldId id="415" r:id="rId9"/>
    <p:sldId id="417" r:id="rId10"/>
    <p:sldId id="419" r:id="rId11"/>
    <p:sldId id="469" r:id="rId12"/>
    <p:sldId id="421" r:id="rId13"/>
    <p:sldId id="422" r:id="rId14"/>
    <p:sldId id="423" r:id="rId15"/>
    <p:sldId id="501" r:id="rId16"/>
    <p:sldId id="500" r:id="rId17"/>
    <p:sldId id="426" r:id="rId18"/>
    <p:sldId id="428" r:id="rId19"/>
    <p:sldId id="429" r:id="rId20"/>
    <p:sldId id="431" r:id="rId21"/>
    <p:sldId id="430" r:id="rId22"/>
    <p:sldId id="432" r:id="rId23"/>
    <p:sldId id="478" r:id="rId24"/>
    <p:sldId id="434" r:id="rId25"/>
    <p:sldId id="471" r:id="rId26"/>
    <p:sldId id="502" r:id="rId27"/>
    <p:sldId id="435" r:id="rId28"/>
    <p:sldId id="436" r:id="rId29"/>
    <p:sldId id="437" r:id="rId30"/>
    <p:sldId id="516" r:id="rId31"/>
    <p:sldId id="503" r:id="rId32"/>
    <p:sldId id="490" r:id="rId33"/>
    <p:sldId id="491" r:id="rId34"/>
    <p:sldId id="492" r:id="rId35"/>
    <p:sldId id="521" r:id="rId36"/>
    <p:sldId id="522" r:id="rId37"/>
    <p:sldId id="523" r:id="rId38"/>
    <p:sldId id="524" r:id="rId39"/>
    <p:sldId id="525" r:id="rId40"/>
    <p:sldId id="479" r:id="rId41"/>
    <p:sldId id="473" r:id="rId42"/>
    <p:sldId id="476" r:id="rId43"/>
    <p:sldId id="445" r:id="rId44"/>
    <p:sldId id="446" r:id="rId45"/>
    <p:sldId id="447" r:id="rId46"/>
    <p:sldId id="448" r:id="rId47"/>
    <p:sldId id="518" r:id="rId48"/>
    <p:sldId id="520" r:id="rId49"/>
    <p:sldId id="451" r:id="rId50"/>
    <p:sldId id="496" r:id="rId51"/>
    <p:sldId id="497" r:id="rId52"/>
    <p:sldId id="498" r:id="rId53"/>
    <p:sldId id="455" r:id="rId54"/>
    <p:sldId id="507" r:id="rId55"/>
    <p:sldId id="508" r:id="rId56"/>
    <p:sldId id="509" r:id="rId57"/>
    <p:sldId id="510" r:id="rId58"/>
    <p:sldId id="457" r:id="rId59"/>
    <p:sldId id="511" r:id="rId60"/>
    <p:sldId id="512" r:id="rId61"/>
    <p:sldId id="513" r:id="rId62"/>
    <p:sldId id="458" r:id="rId63"/>
    <p:sldId id="459" r:id="rId64"/>
    <p:sldId id="460" r:id="rId65"/>
    <p:sldId id="461" r:id="rId66"/>
    <p:sldId id="514" r:id="rId67"/>
    <p:sldId id="462" r:id="rId68"/>
    <p:sldId id="477" r:id="rId69"/>
    <p:sldId id="463" r:id="rId70"/>
    <p:sldId id="378" r:id="rId71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32" y="264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4996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2025/7/25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2025/7/25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DF96DF-3F74-4EB3-AA2E-7D9494973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557FD8-EB60-4E74-935E-C71DFE670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CFB357-A457-418B-BC82-12A779287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AC72817-56C5-4C77-BF6F-D63723000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97593-0041-4772-A59B-E780BE22D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7EF500-B7A4-4BC7-84F3-DC9FCA5B5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5D7E6C-E4BC-4E16-83B1-ED424A354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D47F81-B4E3-449F-BAFA-037C27364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F52C5D-9955-47A2-9EA6-38FEB66EF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218432-9C5A-4AD0-9E05-B7796597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F878B3E-8479-4A7F-B924-0DB8314B2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82D934-92EA-49D5-A68F-69E0FE530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9AB2CB0-7084-4003-8F6F-84F247F5E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808F682-D9AD-4570-A2CA-1F45861E4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975521-C031-44A8-80BF-39B38B75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A3DECD5-2795-49AC-8BF6-9DFEFF419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B1EDE5-9E4C-42E1-B87C-545C7237B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24A6F99-D8AD-44C9-8834-3BFC2627F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783162-EACC-46A4-B314-BFAA15B50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DCB06C7-C4C1-4DF4-AE1C-75C2D1E2F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CFEC24-8D51-4AAB-8657-81C987750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FAB513B-E127-4650-9171-574B0AF72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DD103-275F-46A0-BEB3-576DC18D6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ADCDDC-7641-41D4-AAB2-2DC5DA954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40D38BF-69C0-4827-8412-7858C3DF17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4858F79-C01D-482F-8DDE-C80780DD0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C96916-1BAE-4A4E-BF94-2604763DB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FEBB5C8-282F-4906-80B9-C81D70161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7605DEB-C81B-41F2-ABA8-D21CD717F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20811E7-D32E-4B74-9C5E-4F2EBBA71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97FF49F-1D45-469B-875E-F2DC1DDA4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9FD0D0-FC60-49A7-A825-489FF222C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06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6C03FFC-61A1-4E2B-BB58-CEF8239A9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1C4ACA0-7908-4D31-AF21-00AD91730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4A77185-263F-40EF-B517-050039163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3895C72-BFF8-4918-95C2-8FFB7A879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99F2A1A-F415-4861-9317-8DF50F438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8EDBADE-A031-473C-85B2-8404A6820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3A7F482-09C8-4234-BA8B-E06C78451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97F5174-3BAF-4B1B-846E-3DB7430B2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6F678B6-0AFA-4070-84E8-E0DDD2DCB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07DE2B4-6350-4A16-8897-F8F2804C1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8301404-D876-4FA9-9859-EB43354FA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B83674B-F150-4C3E-831A-26B553169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254272E-8B5C-40B4-A4EA-B3AC21558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D1E1BBA-BF49-429D-819D-3CEAF021F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31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239251B-FC33-4D40-B148-0129E1B72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7AC1CC3-87E4-46BB-A172-67B5A6F5F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9012D2EB-E5CC-432C-AA35-77EFC9F894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3456285-A128-4E7C-BB44-15A078AAE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D856385-0064-4BB9-8988-5686214725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89C8C6F-0009-4DC3-B43A-17955C7C8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49629EB-AB81-479E-8FE7-E7DEFE8390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6953B83-564C-41A0-B89B-0BB8D611B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99320A21-45B3-4D4F-B9F5-FC693444B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284F21-9F1A-4F22-8037-297481AD2DC1}" type="slidenum">
              <a:rPr lang="en-US" altLang="en-US" smtClean="0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803AA6F-012E-4DAD-92CC-4E7392256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5ACDDC3-7FDA-4C42-9ED7-C40439660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5336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8A1752F3-9769-4F81-A848-54098A15C8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29CD1A-AE72-4F61-8821-1DA62212AA59}" type="slidenum">
              <a:rPr lang="en-US" altLang="en-US" smtClean="0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831E14A-C331-4555-A8C3-1457C596F4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0ABAF6A-CE19-4868-B5E3-A38DB65BE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3351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4D3C1504-DE2D-4887-8827-E09054DAE8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BF11701-DA1F-421D-A56C-66611BA250E3}" type="slidenum">
              <a:rPr lang="en-US" altLang="en-US" smtClean="0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1F122118-23A7-4491-BF21-7CA9F458B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76BB2CE-B3E7-43A0-B4C8-E70E2791B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8399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634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872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DE71AF2-BE40-466B-B1D6-529EC4391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63544B4-63EF-4C2F-8659-49A75C26F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66F45FA-B662-4E14-83BC-2CA84F5CF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7B2FD97-934F-4AF8-A525-6E87AD2A0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D492BA8-9072-4CF5-A54A-DE5E3CE45A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3B894CE-C3E8-4116-9227-ABEEFBBE3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C8FA0E1-3EB3-4E2B-963D-980FCF3F4D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3C93D2C-31D7-493E-84F1-0B33AC4A1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10BBC64-6D22-40D9-8A39-A922F2B55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EFA5C88-3591-4F38-8DE2-ED780B85B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794A5A-A3D6-4F4A-AC5D-7848682BF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B19849-C4BE-437E-8FA6-62C406FD6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968B1FC-40C0-4209-B546-5BC55506C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1D34BBE-98B7-491C-B523-E80B67BE0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451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6735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7B3A5B9D-7073-4B04-815D-4C28F8C62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C76B9EF-EFF6-4934-98D1-D26E322C1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BD35E56-DD67-4ECB-BD37-13A2B5AEEC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671B6D1F-21BA-45DA-B276-24F324AE8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138AA6B-8B83-46B1-9A6E-00FA4154E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F978D44-4AC2-455B-BA58-C9B7F48E1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E6962208-A29D-4A10-9198-5929731D8B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BDBB8E9B-EDCD-470E-8881-2446C3488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459F42AB-B2FE-430D-B9BB-6A59FD8514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6AA9600B-65A8-48A0-AEBE-270116A2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9AF59525-78E1-4DD8-A170-40C6713E65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3C1A84E-D626-48F7-9E90-4ECA8C9E4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CB6525D0-C6FC-4582-B2A0-7ABC039688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66B3374-7828-4D2F-A3CB-4C44E319D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4346804A-C554-4977-937C-189AD5B0D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6DEE86A-65F8-40A4-9764-141440772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2C699AE-42EF-4ED2-8387-CB52FD5573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7CC3844-787A-4A53-A206-0A1C33362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454A392F-FA1E-4AA5-9D5A-3DF2596D7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07B613B1-0A3B-4DB4-B957-B63CB6628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3029FECB-27E2-4224-86B6-18EB5F828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BD96AFF-203C-437E-94F6-276A8EF05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79B685D-D33A-4C9E-AEC1-D2DFA67D00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CEEA52D-F721-4D9B-9317-6AD73159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FA0F68A-BCAA-45B1-A89C-BCD5C5E6E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71B20DB-2F60-43E4-8C82-8E3C6650E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1358D55-194B-4251-8EB7-586E9A80E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F661D109-31FD-4BA0-87F2-4B254366E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F8E2826C-ECE4-478F-AF2E-818747742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7F1F8D25-5A9A-4DEE-8199-BF48C3B4B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DD978D27-7A45-4707-9571-686345521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0F720247-6A7A-40C8-A560-7ACEAC13E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8C7272E3-D47D-40CB-9DDB-74FA84462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71ACBF84-7E20-4056-909C-C5D64438B8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5570E0E3-E6FE-43E1-B5DE-3ED5EFEADE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F5F97B-5F60-4081-9DA6-42B9182CD2F7}" type="slidenum">
              <a:rPr lang="en-US" altLang="en-US">
                <a:latin typeface="Times New Roman" panose="02020603050405020304" pitchFamily="18" charset="0"/>
              </a:rPr>
              <a:pPr/>
              <a:t>70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DF8656C1-DC3D-4F7B-8EEC-2DA77E212E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2D181A27-FF52-4ECA-8E86-80B8010330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235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–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TW" sz="2400"/>
              <a:t>Data Science</a:t>
            </a:r>
            <a:endParaRPr lang="en-US" altLang="zh-TW" sz="2400" dirty="0"/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A86CFC-5101-70C9-B3E7-FE5067F824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F2AA79-94D9-4276-9C41-F8DFF3001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71451"/>
            <a:ext cx="624721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C7B4A6B-A9B9-465A-90EA-66F577052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1400" y="862013"/>
            <a:ext cx="6546454" cy="3032654"/>
          </a:xfrm>
        </p:spPr>
        <p:txBody>
          <a:bodyPr/>
          <a:lstStyle/>
          <a:p>
            <a:r>
              <a:rPr lang="en-US" altLang="en-US" sz="2000" dirty="0"/>
              <a:t>Process Concept</a:t>
            </a:r>
          </a:p>
          <a:p>
            <a:r>
              <a:rPr lang="en-US" altLang="en-US" sz="2000" dirty="0"/>
              <a:t>Process Scheduling</a:t>
            </a:r>
          </a:p>
          <a:p>
            <a:r>
              <a:rPr lang="en-US" altLang="en-US" sz="2000" dirty="0"/>
              <a:t>Operations on Processes</a:t>
            </a:r>
          </a:p>
          <a:p>
            <a:r>
              <a:rPr lang="en-US" altLang="en-US" sz="2000" dirty="0"/>
              <a:t>Interprocess Communication</a:t>
            </a:r>
          </a:p>
          <a:p>
            <a:r>
              <a:rPr lang="en-US" altLang="en-US" sz="2000" dirty="0"/>
              <a:t>IPC in Shared-Memory Systems</a:t>
            </a:r>
          </a:p>
          <a:p>
            <a:r>
              <a:rPr lang="en-US" altLang="en-US" sz="2000" dirty="0"/>
              <a:t>IPC in Message-Passing Systems</a:t>
            </a:r>
          </a:p>
          <a:p>
            <a:r>
              <a:rPr lang="en-US" altLang="en-US" sz="2000" dirty="0"/>
              <a:t>Examples of IPC Systems</a:t>
            </a:r>
          </a:p>
          <a:p>
            <a:r>
              <a:rPr lang="en-US" altLang="en-US" sz="2000" dirty="0"/>
              <a:t>Communication in Client-Server Systems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2929CD-85D8-5B9F-86E1-39200F7A6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8163CEC-73A6-4E96-880E-3A57C5F4B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467" y="177403"/>
            <a:ext cx="6760633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Objectives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0DD2938-EA4E-48BC-A833-20DE32AC1B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7238" y="828278"/>
            <a:ext cx="7355495" cy="357439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1800" dirty="0"/>
              <a:t>Identify the separate components of a process and illustrate how they are represented and scheduled in an operating system</a:t>
            </a:r>
          </a:p>
          <a:p>
            <a:pPr>
              <a:spcBef>
                <a:spcPts val="0"/>
              </a:spcBef>
            </a:pPr>
            <a:r>
              <a:rPr lang="en-US" altLang="en-US" sz="1800" dirty="0"/>
              <a:t>Describe how processes are created and terminated in an operating system, including developing programs using the appropriate system calls that perform these operations</a:t>
            </a:r>
          </a:p>
          <a:p>
            <a:pPr>
              <a:spcBef>
                <a:spcPts val="0"/>
              </a:spcBef>
            </a:pPr>
            <a:r>
              <a:rPr lang="en-US" altLang="en-US" sz="1800" dirty="0"/>
              <a:t>Describe and contrast interprocess communication using shared memory and message passing</a:t>
            </a:r>
          </a:p>
          <a:p>
            <a:pPr>
              <a:spcBef>
                <a:spcPts val="0"/>
              </a:spcBef>
            </a:pPr>
            <a:r>
              <a:rPr lang="en-US" altLang="en-US" sz="1800" dirty="0"/>
              <a:t>Design programs that uses pipes and POSIX shared memory to perform interprocess communication</a:t>
            </a:r>
          </a:p>
          <a:p>
            <a:pPr>
              <a:spcBef>
                <a:spcPts val="0"/>
              </a:spcBef>
            </a:pPr>
            <a:r>
              <a:rPr lang="en-US" altLang="en-US" sz="1800" dirty="0"/>
              <a:t>Describe client-server communication using sockets and remote procedure calls</a:t>
            </a:r>
          </a:p>
          <a:p>
            <a:pPr>
              <a:spcBef>
                <a:spcPts val="0"/>
              </a:spcBef>
            </a:pPr>
            <a:r>
              <a:rPr lang="en-US" altLang="en-US" sz="1800" dirty="0"/>
              <a:t>Design kernel modules that interact with the Linux operating system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0AA976-FBCD-5B13-4DB5-0AF547F11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0533" y="166688"/>
            <a:ext cx="6025092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Concept (1)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199" y="829509"/>
            <a:ext cx="8043333" cy="364935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An operating system executes a variety of programs that run as a process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Process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 – a program in execution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Process execution must progress in a sequential fashion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No parallel execution of instructions in a  single process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Multiple parts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The program code, also called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text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section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Current activity including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program</a:t>
            </a: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counter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, processor registers</a:t>
            </a:r>
          </a:p>
          <a:p>
            <a:pPr lvl="1"/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Stack</a:t>
            </a: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containing temporary data</a:t>
            </a:r>
          </a:p>
          <a:p>
            <a:pPr lvl="2"/>
            <a:r>
              <a:rPr lang="en-US" altLang="en-US" sz="1600" dirty="0">
                <a:ea typeface="+mn-ea"/>
              </a:rPr>
              <a:t>Function parameters, return addresses, local variables</a:t>
            </a:r>
          </a:p>
          <a:p>
            <a:pPr lvl="1"/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Data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section</a:t>
            </a: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containing global variables</a:t>
            </a:r>
          </a:p>
          <a:p>
            <a:pPr lvl="1"/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Heap</a:t>
            </a: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containing memory dynamically allocated during run time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FC0AF0-338D-889E-D6D3-5F68180FE2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9FB78B1-A72C-494F-9718-8FF44F750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0" y="172641"/>
            <a:ext cx="601662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Concept (2)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99AC1A-7079-467A-A88A-5DCC86E3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902495"/>
            <a:ext cx="7620000" cy="2856706"/>
          </a:xfrm>
        </p:spPr>
        <p:txBody>
          <a:bodyPr/>
          <a:lstStyle/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A program (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an executable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file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) is a passive entity stored on disk 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A program becomes a process when it is loaded into memory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Execution of program started via GUI mouse clicks, command line entry of its name, etc.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One program can be several processes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Consider multiple users executing the same program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BE6D434-59E7-594E-A48A-C18B3EF21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AFA67C-5037-4199-ADB3-2B949804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0533" y="166688"/>
            <a:ext cx="677756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in Memory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800" y="1026387"/>
            <a:ext cx="2098279" cy="3357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0FFFE8-6292-D41C-0737-3C21DB249A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F0918BC-EE47-4B64-B75C-97D41C08D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0533" y="147298"/>
            <a:ext cx="7125910" cy="432197"/>
          </a:xfrm>
        </p:spPr>
        <p:txBody>
          <a:bodyPr/>
          <a:lstStyle/>
          <a:p>
            <a:r>
              <a:rPr lang="en-US" altLang="en-US" sz="3200" dirty="0"/>
              <a:t>Memory Layout of a C Program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352" y="1016000"/>
            <a:ext cx="7057464" cy="335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05BDB0-47D3-73ED-2981-18D8D9CF70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90CFA9-9E5C-4419-8C0A-3AE15BC7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467" y="171451"/>
            <a:ext cx="595458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States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24CBB90-3DD4-48C6-830E-D5B680DA8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7467" y="799176"/>
            <a:ext cx="7154334" cy="178965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As a process executes, it changes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state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New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:  The process is being created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Ready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:  The process is waiting to be assigned to a processor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Running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:  Instructions are being executed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Waiting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:  The process is waiting for some event to occur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ea typeface="+mn-ea"/>
                <a:cs typeface="Calibri" panose="020F0502020204030204" pitchFamily="34" charset="0"/>
              </a:rPr>
              <a:t>Terminated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:  The process has finished execution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D957BC-C03E-79EB-2155-F79C74458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39021E48-109A-C04C-94AE-E05C970A72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725" y="2784362"/>
            <a:ext cx="4501122" cy="1754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14ED24-AEFF-4F38-8076-4F8FF58C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1333" y="145427"/>
            <a:ext cx="672676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Control Block (PCB)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EEAF946-6112-4200-8913-ED1F42CE1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5334" y="844979"/>
            <a:ext cx="7283843" cy="320208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Information associated with each process (also called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task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control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block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), including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Process state – running, waiting, etc.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Program counter – location of instruction to next execute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CPU registers – contents of all process-centric registers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CPU scheduling information- priorities, scheduling queue pointers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Memory-management information – memory allocated to the process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Accounting information – CPU used, clock time elapsed since start, time limits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I/O status information – I/O devices allocated to process, list of open files</a:t>
            </a:r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4C1B42D7-9239-4535-8C25-EF8AF0D926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177" y="1265938"/>
            <a:ext cx="1607154" cy="2611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45393A-2E77-7E31-FEDE-903B26DB4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D9066D-6E62-480A-A448-F88C6FB24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5" y="172641"/>
            <a:ext cx="6595374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Threads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FE53719-71CB-4158-A535-768E646E4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0441" y="798898"/>
            <a:ext cx="7683046" cy="2781402"/>
          </a:xfrm>
        </p:spPr>
        <p:txBody>
          <a:bodyPr/>
          <a:lstStyle/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So far, process has a single thread of execution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Consider having multiple program counters per process</a:t>
            </a:r>
          </a:p>
          <a:p>
            <a:pPr lvl="1"/>
            <a:r>
              <a:rPr lang="en-US" altLang="en-US" sz="2000" dirty="0">
                <a:ea typeface="+mn-ea"/>
                <a:cs typeface="Calibri" panose="020F0502020204030204" pitchFamily="34" charset="0"/>
              </a:rPr>
              <a:t>Multiple locations can execute at once</a:t>
            </a:r>
          </a:p>
          <a:p>
            <a:pPr lvl="2"/>
            <a:r>
              <a:rPr lang="en-US" altLang="en-US" dirty="0">
                <a:ea typeface="+mn-ea"/>
              </a:rPr>
              <a:t>Multiple threads of control -&gt; </a:t>
            </a:r>
            <a:r>
              <a:rPr lang="en-US" altLang="en-US" b="1" kern="1200" dirty="0">
                <a:solidFill>
                  <a:srgbClr val="006699"/>
                </a:solidFill>
                <a:ea typeface="+mn-ea"/>
              </a:rPr>
              <a:t>threads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Must then have storage for thread details, multiple program counters in PCB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Explore details in Chapter 4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50E738-A796-C752-4AC0-75A998D468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49B161E-EAED-4DCF-B609-D8AB274D0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71451"/>
            <a:ext cx="6972501" cy="432197"/>
          </a:xfrm>
        </p:spPr>
        <p:txBody>
          <a:bodyPr/>
          <a:lstStyle/>
          <a:p>
            <a:r>
              <a:rPr lang="en-US" altLang="en-US" sz="3200" dirty="0"/>
              <a:t>Process Representation in Linux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1363C44F-7AD0-4380-824D-C4E77F3B3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35638" y="802429"/>
            <a:ext cx="6134899" cy="2135975"/>
          </a:xfrm>
        </p:spPr>
        <p:txBody>
          <a:bodyPr/>
          <a:lstStyle/>
          <a:p>
            <a:r>
              <a:rPr lang="en-US" altLang="en-US" sz="2000" b="1" dirty="0">
                <a:cs typeface="Calibri" panose="020F0502020204030204" pitchFamily="34" charset="0"/>
              </a:rPr>
              <a:t>Represented by the C structure </a:t>
            </a:r>
            <a:r>
              <a:rPr lang="en-US" altLang="en-US" sz="2000" b="1" dirty="0" err="1">
                <a:cs typeface="Calibri" panose="020F0502020204030204" pitchFamily="34" charset="0"/>
              </a:rPr>
              <a:t>task_struct</a:t>
            </a:r>
            <a:br>
              <a:rPr lang="en-US" altLang="en-US" sz="2000" b="1" dirty="0">
                <a:cs typeface="Calibri" panose="020F0502020204030204" pitchFamily="34" charset="0"/>
              </a:rPr>
            </a:br>
            <a:r>
              <a:rPr lang="en-US" altLang="en-US" sz="1600" b="1" dirty="0" err="1">
                <a:cs typeface="Calibri" panose="020F0502020204030204" pitchFamily="34" charset="0"/>
              </a:rPr>
              <a:t>pid</a:t>
            </a:r>
            <a:r>
              <a:rPr lang="en-US" altLang="en-US" sz="1600" b="1" dirty="0">
                <a:cs typeface="Calibri" panose="020F0502020204030204" pitchFamily="34" charset="0"/>
              </a:rPr>
              <a:t> </a:t>
            </a:r>
            <a:r>
              <a:rPr lang="en-US" altLang="en-US" sz="1600" b="1" dirty="0" err="1">
                <a:cs typeface="Calibri" panose="020F0502020204030204" pitchFamily="34" charset="0"/>
              </a:rPr>
              <a:t>t_pid</a:t>
            </a:r>
            <a:r>
              <a:rPr lang="en-US" altLang="en-US" sz="1600" b="1" dirty="0">
                <a:cs typeface="Calibri" panose="020F0502020204030204" pitchFamily="34" charset="0"/>
              </a:rPr>
              <a:t>; 			/* process identifier */ </a:t>
            </a:r>
            <a:br>
              <a:rPr lang="en-US" altLang="en-US" sz="1600" b="1" dirty="0">
                <a:cs typeface="Calibri" panose="020F0502020204030204" pitchFamily="34" charset="0"/>
              </a:rPr>
            </a:br>
            <a:r>
              <a:rPr lang="en-US" altLang="en-US" sz="1600" b="1" dirty="0">
                <a:cs typeface="Calibri" panose="020F0502020204030204" pitchFamily="34" charset="0"/>
              </a:rPr>
              <a:t>long state; 			/* state of the process */ </a:t>
            </a:r>
            <a:br>
              <a:rPr lang="en-US" altLang="en-US" sz="1600" b="1" dirty="0">
                <a:cs typeface="Calibri" panose="020F0502020204030204" pitchFamily="34" charset="0"/>
              </a:rPr>
            </a:br>
            <a:r>
              <a:rPr lang="en-US" altLang="en-US" sz="1600" b="1" dirty="0">
                <a:cs typeface="Calibri" panose="020F0502020204030204" pitchFamily="34" charset="0"/>
              </a:rPr>
              <a:t>unsigned int </a:t>
            </a:r>
            <a:r>
              <a:rPr lang="en-US" altLang="en-US" sz="1600" b="1" dirty="0" err="1">
                <a:cs typeface="Calibri" panose="020F0502020204030204" pitchFamily="34" charset="0"/>
              </a:rPr>
              <a:t>time_slice</a:t>
            </a:r>
            <a:r>
              <a:rPr lang="en-US" altLang="en-US" sz="1600" b="1" dirty="0">
                <a:cs typeface="Calibri" panose="020F0502020204030204" pitchFamily="34" charset="0"/>
              </a:rPr>
              <a:t> 	/* scheduling information */ </a:t>
            </a:r>
            <a:br>
              <a:rPr lang="en-US" altLang="en-US" sz="1600" b="1" dirty="0">
                <a:cs typeface="Calibri" panose="020F0502020204030204" pitchFamily="34" charset="0"/>
              </a:rPr>
            </a:br>
            <a:r>
              <a:rPr lang="en-US" altLang="en-US" sz="1600" b="1" dirty="0">
                <a:cs typeface="Calibri" panose="020F0502020204030204" pitchFamily="34" charset="0"/>
              </a:rPr>
              <a:t>struct </a:t>
            </a:r>
            <a:r>
              <a:rPr lang="en-US" altLang="en-US" sz="1600" b="1" dirty="0" err="1">
                <a:cs typeface="Calibri" panose="020F0502020204030204" pitchFamily="34" charset="0"/>
              </a:rPr>
              <a:t>task_struct</a:t>
            </a:r>
            <a:r>
              <a:rPr lang="en-US" altLang="en-US" sz="1600" b="1" dirty="0">
                <a:cs typeface="Calibri" panose="020F0502020204030204" pitchFamily="34" charset="0"/>
              </a:rPr>
              <a:t> *parent;/* this process</a:t>
            </a:r>
            <a:r>
              <a:rPr lang="ja-JP" altLang="en-US" sz="1600" b="1" dirty="0">
                <a:cs typeface="Calibri" panose="020F0502020204030204" pitchFamily="34" charset="0"/>
              </a:rPr>
              <a:t>’</a:t>
            </a:r>
            <a:r>
              <a:rPr lang="en-US" altLang="ja-JP" sz="1600" b="1" dirty="0">
                <a:cs typeface="Calibri" panose="020F0502020204030204" pitchFamily="34" charset="0"/>
              </a:rPr>
              <a:t>s parent */ </a:t>
            </a:r>
            <a:br>
              <a:rPr lang="en-US" altLang="ja-JP" sz="1600" b="1" dirty="0">
                <a:cs typeface="Calibri" panose="020F0502020204030204" pitchFamily="34" charset="0"/>
              </a:rPr>
            </a:br>
            <a:r>
              <a:rPr lang="en-US" altLang="ja-JP" sz="1600" b="1" dirty="0">
                <a:cs typeface="Calibri" panose="020F0502020204030204" pitchFamily="34" charset="0"/>
              </a:rPr>
              <a:t>struct </a:t>
            </a:r>
            <a:r>
              <a:rPr lang="en-US" altLang="ja-JP" sz="1600" b="1" dirty="0" err="1">
                <a:cs typeface="Calibri" panose="020F0502020204030204" pitchFamily="34" charset="0"/>
              </a:rPr>
              <a:t>list_head</a:t>
            </a:r>
            <a:r>
              <a:rPr lang="en-US" altLang="ja-JP" sz="1600" b="1" dirty="0">
                <a:cs typeface="Calibri" panose="020F0502020204030204" pitchFamily="34" charset="0"/>
              </a:rPr>
              <a:t> children; /* this process</a:t>
            </a:r>
            <a:r>
              <a:rPr lang="ja-JP" altLang="en-US" sz="1600" b="1" dirty="0">
                <a:cs typeface="Calibri" panose="020F0502020204030204" pitchFamily="34" charset="0"/>
              </a:rPr>
              <a:t>’</a:t>
            </a:r>
            <a:r>
              <a:rPr lang="en-US" altLang="ja-JP" sz="1600" b="1" dirty="0">
                <a:cs typeface="Calibri" panose="020F0502020204030204" pitchFamily="34" charset="0"/>
              </a:rPr>
              <a:t>s children */ </a:t>
            </a:r>
            <a:br>
              <a:rPr lang="en-US" altLang="ja-JP" sz="1600" b="1" dirty="0">
                <a:cs typeface="Calibri" panose="020F0502020204030204" pitchFamily="34" charset="0"/>
              </a:rPr>
            </a:br>
            <a:r>
              <a:rPr lang="en-US" altLang="ja-JP" sz="1600" b="1" dirty="0">
                <a:cs typeface="Calibri" panose="020F0502020204030204" pitchFamily="34" charset="0"/>
              </a:rPr>
              <a:t>struct </a:t>
            </a:r>
            <a:r>
              <a:rPr lang="en-US" altLang="ja-JP" sz="1600" b="1" dirty="0" err="1">
                <a:cs typeface="Calibri" panose="020F0502020204030204" pitchFamily="34" charset="0"/>
              </a:rPr>
              <a:t>files_struct</a:t>
            </a:r>
            <a:r>
              <a:rPr lang="en-US" altLang="ja-JP" sz="1600" b="1" dirty="0">
                <a:cs typeface="Calibri" panose="020F0502020204030204" pitchFamily="34" charset="0"/>
              </a:rPr>
              <a:t> *files;/* list of open files */ </a:t>
            </a:r>
            <a:br>
              <a:rPr lang="en-US" altLang="ja-JP" sz="1600" b="1" dirty="0">
                <a:cs typeface="Calibri" panose="020F0502020204030204" pitchFamily="34" charset="0"/>
              </a:rPr>
            </a:br>
            <a:r>
              <a:rPr lang="en-US" altLang="ja-JP" sz="1600" b="1" dirty="0">
                <a:cs typeface="Calibri" panose="020F0502020204030204" pitchFamily="34" charset="0"/>
              </a:rPr>
              <a:t>struct </a:t>
            </a:r>
            <a:r>
              <a:rPr lang="en-US" altLang="ja-JP" sz="1600" b="1" dirty="0" err="1">
                <a:cs typeface="Calibri" panose="020F0502020204030204" pitchFamily="34" charset="0"/>
              </a:rPr>
              <a:t>mm_struct</a:t>
            </a:r>
            <a:r>
              <a:rPr lang="en-US" altLang="ja-JP" sz="1600" b="1" dirty="0">
                <a:cs typeface="Calibri" panose="020F0502020204030204" pitchFamily="34" charset="0"/>
              </a:rPr>
              <a:t> *mm; 	/* address space of this process */</a:t>
            </a:r>
            <a:endParaRPr lang="en-US" altLang="en-US" sz="1600" b="1" dirty="0">
              <a:cs typeface="Calibri" panose="020F0502020204030204" pitchFamily="34" charset="0"/>
            </a:endParaRPr>
          </a:p>
        </p:txBody>
      </p:sp>
      <p:pic>
        <p:nvPicPr>
          <p:cNvPr id="26628" name="Picture 1">
            <a:extLst>
              <a:ext uri="{FF2B5EF4-FFF2-40B4-BE49-F238E27FC236}">
                <a16:creationId xmlns:a16="http://schemas.microsoft.com/office/drawing/2014/main" id="{93AD06B9-FDEF-4097-849B-AE5BDEF25F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88" y="3040936"/>
            <a:ext cx="4325925" cy="1489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F9C8D4-4411-969A-82FD-4E134CCFE5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D14E00-AC36-46B6-804B-3B1E61B7A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29099"/>
            <a:ext cx="680115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E4484-1299-4947-B075-F0D9269BB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0279" y="839562"/>
            <a:ext cx="7411452" cy="3135671"/>
          </a:xfrm>
        </p:spPr>
        <p:txBody>
          <a:bodyPr/>
          <a:lstStyle/>
          <a:p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Process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scheduler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selects among available processes for next execution on CPU core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Goal -- Maximize CPU use, quickly switch processes onto CPU core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Maintains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scheduling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queues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of processes</a:t>
            </a:r>
          </a:p>
          <a:p>
            <a:pPr lvl="1"/>
            <a:r>
              <a:rPr lang="en-US" altLang="en-US" sz="18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Ready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queue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– set of all processes residing in main memory, ready and waiting to execute</a:t>
            </a:r>
          </a:p>
          <a:p>
            <a:pPr lvl="1"/>
            <a:r>
              <a:rPr lang="en-US" altLang="en-US" sz="18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Wait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queues</a:t>
            </a:r>
            <a:r>
              <a:rPr lang="en-US" altLang="en-US" sz="18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– set of processes waiting for an event (i.e., I/O)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Processes migrate among the various queues</a:t>
            </a:r>
          </a:p>
          <a:p>
            <a:pPr marL="0" indent="0">
              <a:buNone/>
            </a:pPr>
            <a:endParaRPr lang="en-US" altLang="en-US" sz="2000" dirty="0"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E00DA5-43F3-8068-9987-E080E6D10A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9FFB59-5D7F-4075-B911-2B593B517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0393" y="175311"/>
            <a:ext cx="5693569" cy="431082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Ready and Waiting Queues</a:t>
            </a:r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BCBD9C55-CB2E-45AE-A528-0022312EC9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15" y="866274"/>
            <a:ext cx="6019696" cy="3580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63B46F-1F70-1CAD-F20A-EC6CBB16A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8DB7F06-1635-4E8A-B106-08B7519E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651" y="170260"/>
            <a:ext cx="704710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Representation of Process Scheduling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184" y="895708"/>
            <a:ext cx="6247785" cy="3605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52E8A6-AB95-2F6B-D7D2-263977A961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9EF2C8-62D9-4AD3-A3DB-7E8B031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025" y="173832"/>
            <a:ext cx="666382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Context Switch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E77FD9-7213-4CFD-BE76-B9508F46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4025" y="831056"/>
            <a:ext cx="7661710" cy="3529188"/>
          </a:xfrm>
        </p:spPr>
        <p:txBody>
          <a:bodyPr/>
          <a:lstStyle/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When CPU switches to another process, the system must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save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the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state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of the old process and load the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saved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state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for the new process via a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context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switch</a:t>
            </a:r>
          </a:p>
          <a:p>
            <a:r>
              <a:rPr lang="en-US" altLang="en-US" sz="2000" b="1" kern="1200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Context</a:t>
            </a:r>
            <a:r>
              <a:rPr lang="en-US" altLang="en-US" sz="2000" b="1" dirty="0">
                <a:solidFill>
                  <a:srgbClr val="3366FF"/>
                </a:solidFill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of a process represented in the PCB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Context-switch time is pure overhead; the system does no useful work while switching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The more complex the OS and the PCB </a:t>
            </a:r>
            <a:r>
              <a:rPr lang="en-US" altLang="en-US" sz="1800" dirty="0"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 the 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longer the context switch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Time dependent on hardware support</a:t>
            </a:r>
          </a:p>
          <a:p>
            <a:pPr lvl="1"/>
            <a:r>
              <a:rPr lang="en-US" altLang="en-US" sz="1800" dirty="0">
                <a:ea typeface="+mn-ea"/>
                <a:cs typeface="Calibri" panose="020F0502020204030204" pitchFamily="34" charset="0"/>
              </a:rPr>
              <a:t>Some hardware provides multiple sets of registers per CPU </a:t>
            </a:r>
            <a:r>
              <a:rPr lang="en-US" altLang="en-US" sz="1800" dirty="0"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 multiple contexts loaded at once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AD31C3-3989-F7E0-FD8F-1848C6D523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94884C-D89B-43C5-8278-E1AFFD1E5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71451"/>
            <a:ext cx="7061898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CPU Switch From Process to Process</a:t>
            </a:r>
          </a:p>
        </p:txBody>
      </p:sp>
      <p:sp>
        <p:nvSpPr>
          <p:cNvPr id="33795" name="TextBox 1">
            <a:extLst>
              <a:ext uri="{FF2B5EF4-FFF2-40B4-BE49-F238E27FC236}">
                <a16:creationId xmlns:a16="http://schemas.microsoft.com/office/drawing/2014/main" id="{2AC6A249-89C1-4E3A-A92E-5E91F7A2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27" y="836106"/>
            <a:ext cx="86434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14313" indent="-214313">
              <a:spcBef>
                <a:spcPct val="0"/>
              </a:spcBef>
              <a:buClr>
                <a:srgbClr val="C00000"/>
              </a:buClr>
              <a:buSzTx/>
            </a:pPr>
            <a:r>
              <a:rPr kumimoji="0"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kumimoji="0" lang="en-US" altLang="en-US" sz="2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 switch </a:t>
            </a:r>
            <a:r>
              <a:rPr kumimoji="0"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occurs when the CPU  switches from one process to another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513" y="1318661"/>
            <a:ext cx="3993546" cy="326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0F1F13-BE1C-6B8A-AF28-FEEA2B426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1BBC0AC-B98E-4CA8-AAF2-66A00A4CE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69253"/>
            <a:ext cx="729594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Multitasking in Mobile Systems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CFFB47D-06A3-4D85-B582-64A48F2C1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399" y="817060"/>
            <a:ext cx="7854215" cy="355281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Some mobile systems (e.g., early version of iOS)  allow only one process to run, others suspended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Due to screen real estate, user interface limits iOS provides for a 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Single </a:t>
            </a:r>
            <a:r>
              <a:rPr lang="en-US" altLang="en-US" sz="1800" b="1" kern="1200" dirty="0">
                <a:solidFill>
                  <a:srgbClr val="006699"/>
                </a:solidFill>
                <a:cs typeface="Calibri" panose="020F0502020204030204" pitchFamily="34" charset="0"/>
              </a:rPr>
              <a:t>foreground</a:t>
            </a:r>
            <a:r>
              <a:rPr lang="en-US" altLang="en-US" sz="1800" dirty="0">
                <a:cs typeface="Calibri" panose="020F0502020204030204" pitchFamily="34" charset="0"/>
              </a:rPr>
              <a:t> process- controlled via user interface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Multiple </a:t>
            </a:r>
            <a:r>
              <a:rPr lang="en-US" altLang="en-US" sz="1800" b="1" kern="1200" dirty="0">
                <a:solidFill>
                  <a:srgbClr val="006699"/>
                </a:solidFill>
                <a:cs typeface="Calibri" panose="020F0502020204030204" pitchFamily="34" charset="0"/>
              </a:rPr>
              <a:t>background</a:t>
            </a:r>
            <a:r>
              <a:rPr lang="en-US" altLang="en-US" sz="1800" dirty="0">
                <a:cs typeface="Calibri" panose="020F0502020204030204" pitchFamily="34" charset="0"/>
              </a:rPr>
              <a:t> processes– in memory, running, but not on the display, and with limits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Limits include single, short task, receiving notification of events, specific long-running tasks like audio playback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Android runs foreground and background, with fewer limits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Background process uses a </a:t>
            </a:r>
            <a:r>
              <a:rPr lang="en-US" altLang="en-US" sz="1800" b="1" kern="1200" dirty="0">
                <a:solidFill>
                  <a:srgbClr val="006699"/>
                </a:solidFill>
                <a:cs typeface="Calibri" panose="020F0502020204030204" pitchFamily="34" charset="0"/>
              </a:rPr>
              <a:t>service</a:t>
            </a:r>
            <a:r>
              <a:rPr lang="en-US" altLang="en-US" sz="1800" dirty="0">
                <a:cs typeface="Calibri" panose="020F0502020204030204" pitchFamily="34" charset="0"/>
              </a:rPr>
              <a:t> to perform tasks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Service can keep running even if background process is suspended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Service has no user interface, small memory use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98E9F7-10FE-7611-18B4-513244F944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9C18A1-E10D-464E-ADF5-DBECC250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63116"/>
            <a:ext cx="676295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Operations on Processes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EED5598-4581-4F9D-8CEF-0D1A5A5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1027" y="828865"/>
            <a:ext cx="6843562" cy="1288694"/>
          </a:xfrm>
        </p:spPr>
        <p:txBody>
          <a:bodyPr/>
          <a:lstStyle/>
          <a:p>
            <a:r>
              <a:rPr lang="en-US" altLang="en-US" sz="2000" dirty="0"/>
              <a:t>System must provide mechanisms for</a:t>
            </a:r>
          </a:p>
          <a:p>
            <a:pPr lvl="1"/>
            <a:r>
              <a:rPr lang="en-US" altLang="en-US" sz="2000" dirty="0"/>
              <a:t> Process creation</a:t>
            </a:r>
          </a:p>
          <a:p>
            <a:pPr lvl="1"/>
            <a:r>
              <a:rPr lang="en-US" altLang="en-US" sz="2000" dirty="0"/>
              <a:t> Process termination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19AC9D-70F8-B490-9CC8-6C673E536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072917A-2F04-4923-8279-E4AEA8CC4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34753"/>
            <a:ext cx="6762951" cy="462013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Creation (1)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7F79436-9B7B-4340-B99C-8D1E08889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2153" y="819741"/>
            <a:ext cx="7892714" cy="3550129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Parent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process creates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children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processes, which, in turn creates other processes, forming a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tree</a:t>
            </a:r>
            <a:r>
              <a:rPr lang="en-US" altLang="en-US" sz="2000" dirty="0">
                <a:cs typeface="Calibri" panose="020F0502020204030204" pitchFamily="34" charset="0"/>
              </a:rPr>
              <a:t> of processes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Generally, process identified and managed via a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process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identifier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pid</a:t>
            </a:r>
            <a:r>
              <a:rPr lang="en-US" altLang="en-US" sz="2000" dirty="0">
                <a:cs typeface="Calibri" panose="020F0502020204030204" pitchFamily="34" charset="0"/>
              </a:rPr>
              <a:t>)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Resource sharing options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Parent and children share all resources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Children share subset of parent</a:t>
            </a:r>
            <a:r>
              <a:rPr lang="ja-JP" altLang="en-US" sz="1800" dirty="0">
                <a:cs typeface="Calibri" panose="020F0502020204030204" pitchFamily="34" charset="0"/>
              </a:rPr>
              <a:t>’</a:t>
            </a:r>
            <a:r>
              <a:rPr lang="en-US" altLang="ja-JP" sz="1800" dirty="0">
                <a:cs typeface="Calibri" panose="020F0502020204030204" pitchFamily="34" charset="0"/>
              </a:rPr>
              <a:t>s resources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Parent and child share no resources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Execution options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Parent and children execute concurrently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Parent waits until children terminate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32B7B7-EC7E-C62E-3384-5BE9B07A9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63116"/>
            <a:ext cx="677257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Creation (2)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2151" y="803782"/>
            <a:ext cx="7507705" cy="246880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Address space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Child duplicate of parent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Child has a program loaded into it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UNIX examples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0000"/>
                </a:solidFill>
                <a:cs typeface="Calibri" panose="020F0502020204030204" pitchFamily="34" charset="0"/>
              </a:rPr>
              <a:t>fork()</a:t>
            </a:r>
            <a:r>
              <a:rPr lang="en-US" altLang="en-US" sz="1800" dirty="0">
                <a:solidFill>
                  <a:srgbClr val="000000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cs typeface="Calibri" panose="020F0502020204030204" pitchFamily="34" charset="0"/>
              </a:rPr>
              <a:t>system call creates new process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0000"/>
                </a:solidFill>
                <a:cs typeface="Calibri" panose="020F0502020204030204" pitchFamily="34" charset="0"/>
              </a:rPr>
              <a:t>exec()</a:t>
            </a:r>
            <a:r>
              <a:rPr lang="en-US" altLang="en-US" sz="1800" dirty="0">
                <a:cs typeface="Calibri" panose="020F0502020204030204" pitchFamily="34" charset="0"/>
              </a:rPr>
              <a:t> system call used after a </a:t>
            </a:r>
            <a:r>
              <a:rPr lang="en-US" altLang="en-US" sz="1800" b="1" dirty="0">
                <a:solidFill>
                  <a:srgbClr val="000000"/>
                </a:solidFill>
                <a:cs typeface="Calibri" panose="020F0502020204030204" pitchFamily="34" charset="0"/>
              </a:rPr>
              <a:t>fork()</a:t>
            </a:r>
            <a:r>
              <a:rPr lang="en-US" altLang="en-US" sz="1800" dirty="0">
                <a:cs typeface="Calibri" panose="020F0502020204030204" pitchFamily="34" charset="0"/>
              </a:rPr>
              <a:t> to replace the process</a:t>
            </a:r>
            <a:r>
              <a:rPr lang="en-US" altLang="ja-JP" sz="1800" dirty="0">
                <a:cs typeface="Calibri" panose="020F0502020204030204" pitchFamily="34" charset="0"/>
              </a:rPr>
              <a:t> memory space with a new program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Parent process calls </a:t>
            </a:r>
            <a:r>
              <a:rPr lang="en-US" altLang="en-US" sz="1800" b="1" dirty="0">
                <a:cs typeface="Calibri" panose="020F0502020204030204" pitchFamily="34" charset="0"/>
              </a:rPr>
              <a:t>wait() </a:t>
            </a:r>
            <a:r>
              <a:rPr lang="en-US" altLang="en-US" sz="1800" dirty="0">
                <a:cs typeface="Calibri" panose="020F0502020204030204" pitchFamily="34" charset="0"/>
              </a:rPr>
              <a:t>waiting for the child to terminate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410" y="3440581"/>
            <a:ext cx="5711554" cy="1148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9A027F-110A-A657-EF38-EF18910867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39237D4-E7AC-45FA-BF2A-B2DEBB175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66688"/>
            <a:ext cx="666532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A Tree of Processes in Linux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3" y="1058779"/>
            <a:ext cx="7639769" cy="328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A26275-710E-9718-F3AB-C2598F9077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909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E1AA525-61E4-4CE5-B1B8-BBEC4CC5E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70260"/>
            <a:ext cx="7167764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 Program Forking Separate Process</a:t>
            </a:r>
          </a:p>
        </p:txBody>
      </p:sp>
      <p:pic>
        <p:nvPicPr>
          <p:cNvPr id="48131" name="Picture 5" descr="Screen Shot 2012-12-04 at 11.21.10 AM.png">
            <a:extLst>
              <a:ext uri="{FF2B5EF4-FFF2-40B4-BE49-F238E27FC236}">
                <a16:creationId xmlns:a16="http://schemas.microsoft.com/office/drawing/2014/main" id="{D4AAA5E2-276C-448A-B064-DFAFD90230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7" r="3296" b="1849"/>
          <a:stretch/>
        </p:blipFill>
        <p:spPr bwMode="auto">
          <a:xfrm>
            <a:off x="2666199" y="849763"/>
            <a:ext cx="3436218" cy="3723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835C08-A508-49A7-2BEA-431DC94C5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F4113AE-3A57-4A41-B077-3753934F4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71451"/>
            <a:ext cx="786384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Create a Separate Process via Windows API</a:t>
            </a:r>
          </a:p>
        </p:txBody>
      </p:sp>
      <p:pic>
        <p:nvPicPr>
          <p:cNvPr id="50179" name="Picture 1" descr="Screen Shot 2012-12-04 at 11.23.48 AM.png">
            <a:extLst>
              <a:ext uri="{FF2B5EF4-FFF2-40B4-BE49-F238E27FC236}">
                <a16:creationId xmlns:a16="http://schemas.microsoft.com/office/drawing/2014/main" id="{92929ABB-1259-4492-BE46-EE3BC21BF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2"/>
          <a:stretch/>
        </p:blipFill>
        <p:spPr bwMode="auto">
          <a:xfrm>
            <a:off x="3152775" y="815994"/>
            <a:ext cx="2757138" cy="3765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68B4589-8308-F12E-A0EF-81B645F68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3A2AC5D-C916-47B2-8787-ACB9BD2F9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70260"/>
            <a:ext cx="6772576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Termination (1)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AB8093C-E173-4473-A450-3BC8EBA8D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2152" y="845986"/>
            <a:ext cx="7401827" cy="3552759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cs typeface="Calibri" panose="020F0502020204030204" pitchFamily="34" charset="0"/>
              </a:rPr>
              <a:t>exit()</a:t>
            </a:r>
            <a:r>
              <a:rPr lang="en-US" altLang="en-US" sz="2000" dirty="0">
                <a:cs typeface="Calibri" panose="020F0502020204030204" pitchFamily="34" charset="0"/>
              </a:rPr>
              <a:t> system call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Return  status data from child to parent (via </a:t>
            </a:r>
            <a:r>
              <a:rPr lang="en-US" altLang="en-US" sz="1800" b="1" dirty="0">
                <a:solidFill>
                  <a:srgbClr val="000000"/>
                </a:solidFill>
                <a:cs typeface="Calibri" panose="020F0502020204030204" pitchFamily="34" charset="0"/>
              </a:rPr>
              <a:t>wait()</a:t>
            </a:r>
            <a:r>
              <a:rPr lang="en-US" altLang="en-US" sz="1800" dirty="0"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Process</a:t>
            </a:r>
            <a:r>
              <a:rPr lang="ja-JP" altLang="en-US" sz="1800" dirty="0">
                <a:cs typeface="Calibri" panose="020F0502020204030204" pitchFamily="34" charset="0"/>
              </a:rPr>
              <a:t> </a:t>
            </a:r>
            <a:r>
              <a:rPr lang="en-US" altLang="ja-JP" sz="1800" dirty="0">
                <a:cs typeface="Calibri" panose="020F0502020204030204" pitchFamily="34" charset="0"/>
              </a:rPr>
              <a:t>resources are deallocated by operating system</a:t>
            </a:r>
            <a:endParaRPr lang="en-US" altLang="en-US" sz="1800" dirty="0">
              <a:cs typeface="Calibri" panose="020F0502020204030204" pitchFamily="34" charset="0"/>
            </a:endParaRPr>
          </a:p>
          <a:p>
            <a:r>
              <a:rPr lang="en-US" altLang="en-US" sz="2000" dirty="0">
                <a:cs typeface="Calibri" panose="020F0502020204030204" pitchFamily="34" charset="0"/>
              </a:rPr>
              <a:t>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cs typeface="Calibri" panose="020F0502020204030204" pitchFamily="34" charset="0"/>
              </a:rPr>
              <a:t>abort()</a:t>
            </a:r>
            <a:r>
              <a:rPr lang="en-US" altLang="en-US" sz="2000" dirty="0">
                <a:cs typeface="Calibri" panose="020F0502020204030204" pitchFamily="34" charset="0"/>
              </a:rPr>
              <a:t> system call.  Some reasons for doing so: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Child has exceeded allocated resources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Task assigned to child is no longer required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The parent is exiting, and the operating systems does not allow  a child to continue if its parent terminates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5BDA462-FAEC-9036-5022-B7F3352AA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0622719-68BE-4BB0-B168-1A3AE8D09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025" y="139613"/>
            <a:ext cx="673407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Process Termination (2)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7E8DAD2-CD54-4141-B861-1A2932EF0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4025" y="836320"/>
            <a:ext cx="7777213" cy="347579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/>
              <a:t>Some operating systems do not allow child to exists if its parent has terminated.  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If a process terminates, then all its children must also be terminated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/>
              <a:t>Cascading termination - </a:t>
            </a:r>
            <a:r>
              <a:rPr lang="en-US" altLang="en-US" sz="1800" dirty="0"/>
              <a:t>All children, grandchildren, etc.,  are  terminated.</a:t>
            </a:r>
            <a:endParaRPr lang="en-US" altLang="en-US" sz="1800" b="1" dirty="0"/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The termination is initiated by the operating system.</a:t>
            </a:r>
            <a:endParaRPr lang="en-US" altLang="en-US" sz="1800" b="1" dirty="0"/>
          </a:p>
          <a:p>
            <a:pPr>
              <a:spcBef>
                <a:spcPts val="0"/>
              </a:spcBef>
            </a:pPr>
            <a:r>
              <a:rPr lang="en-US" altLang="en-US" sz="2000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sz="2000" dirty="0"/>
              <a:t>system </a:t>
            </a:r>
            <a:r>
              <a:rPr lang="en-US" altLang="en-US" sz="2000" dirty="0" err="1"/>
              <a:t>call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altLang="en-US" sz="2000" dirty="0" err="1"/>
              <a:t>The</a:t>
            </a:r>
            <a:r>
              <a:rPr lang="en-US" altLang="en-US" sz="2000" dirty="0"/>
              <a:t> call returns status information and the pid of the terminated process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pid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wait(&amp;status); </a:t>
            </a:r>
          </a:p>
          <a:p>
            <a:pPr>
              <a:spcBef>
                <a:spcPts val="0"/>
              </a:spcBef>
            </a:pPr>
            <a:r>
              <a:rPr lang="en-US" altLang="en-US" sz="2000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sz="2000" dirty="0"/>
              <a:t>) process is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zombie</a:t>
            </a:r>
          </a:p>
          <a:p>
            <a:pPr>
              <a:spcBef>
                <a:spcPts val="0"/>
              </a:spcBef>
            </a:pPr>
            <a:r>
              <a:rPr lang="en-US" altLang="en-US" sz="2000" dirty="0"/>
              <a:t>If parent terminated without invoking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wait()</a:t>
            </a:r>
            <a:r>
              <a:rPr lang="en-US" altLang="en-US" sz="2000" dirty="0"/>
              <a:t>, process is an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orphan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EAABFF-E00F-807C-8773-C1D2C7DE5F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CCF9DC54-118C-447A-A3AB-7C2E98996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775" y="147089"/>
            <a:ext cx="7170821" cy="432197"/>
          </a:xfrm>
        </p:spPr>
        <p:txBody>
          <a:bodyPr/>
          <a:lstStyle/>
          <a:p>
            <a:r>
              <a:rPr lang="en-US" altLang="en-US" sz="3200" dirty="0"/>
              <a:t>Android Process Importance Hierarchy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8675C949-6A9A-4638-902C-843874920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9903" y="825726"/>
            <a:ext cx="7546206" cy="3091756"/>
          </a:xfrm>
        </p:spPr>
        <p:txBody>
          <a:bodyPr/>
          <a:lstStyle/>
          <a:p>
            <a:r>
              <a:rPr lang="en-US" altLang="en-US" sz="2000" dirty="0"/>
              <a:t>Mobile operating systems often have to terminate processes to reclaim system resources such as memory. From </a:t>
            </a:r>
            <a:r>
              <a:rPr lang="en-US" altLang="en-US" sz="2000" b="1" dirty="0"/>
              <a:t>most</a:t>
            </a:r>
            <a:r>
              <a:rPr lang="en-US" altLang="en-US" sz="2000" dirty="0"/>
              <a:t> to </a:t>
            </a:r>
            <a:r>
              <a:rPr lang="en-US" altLang="en-US" sz="2000" b="1" dirty="0"/>
              <a:t>least</a:t>
            </a:r>
            <a:r>
              <a:rPr lang="en-US" altLang="en-US" sz="2000" dirty="0"/>
              <a:t> important:</a:t>
            </a:r>
          </a:p>
          <a:p>
            <a:pPr lvl="1"/>
            <a:r>
              <a:rPr lang="en-US" altLang="en-US" sz="1800" dirty="0"/>
              <a:t>Foreground process</a:t>
            </a:r>
          </a:p>
          <a:p>
            <a:pPr lvl="1"/>
            <a:r>
              <a:rPr lang="en-US" altLang="en-US" sz="1800" dirty="0"/>
              <a:t>Visible process</a:t>
            </a:r>
          </a:p>
          <a:p>
            <a:pPr lvl="1"/>
            <a:r>
              <a:rPr lang="en-US" altLang="en-US" sz="1800" dirty="0"/>
              <a:t>Service process</a:t>
            </a:r>
          </a:p>
          <a:p>
            <a:pPr lvl="1"/>
            <a:r>
              <a:rPr lang="en-US" altLang="en-US" sz="1800" dirty="0"/>
              <a:t>Background process</a:t>
            </a:r>
          </a:p>
          <a:p>
            <a:pPr lvl="1"/>
            <a:r>
              <a:rPr lang="en-US" altLang="en-US" sz="1800" dirty="0"/>
              <a:t>Empty process</a:t>
            </a:r>
          </a:p>
          <a:p>
            <a:r>
              <a:rPr lang="en-US" altLang="en-US" sz="2000" dirty="0"/>
              <a:t>Android will begin terminating processes that are least important.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8FAF52-09A3-D1F0-BCB7-B36C559E6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6E94F8E-122F-4FED-9B3D-FD01E2845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07524"/>
            <a:ext cx="7979344" cy="546994"/>
          </a:xfrm>
        </p:spPr>
        <p:txBody>
          <a:bodyPr/>
          <a:lstStyle/>
          <a:p>
            <a:r>
              <a:rPr lang="en-US" altLang="en-US" sz="3200" dirty="0"/>
              <a:t>Multiprocess Architecture – Chrome Browser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360D7C25-6ED1-40E0-9C1E-876BC3EC8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1263" y="853196"/>
            <a:ext cx="8296977" cy="238089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Many web browsers ran as single process (some still do)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If one web site causes trouble, entire browser can hang or crash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Google Chrome Browser is </a:t>
            </a:r>
            <a:r>
              <a:rPr lang="en-US" altLang="en-US" sz="2000" dirty="0" err="1">
                <a:cs typeface="Calibri" panose="020F0502020204030204" pitchFamily="34" charset="0"/>
              </a:rPr>
              <a:t>multiprocess</a:t>
            </a:r>
            <a:r>
              <a:rPr lang="en-US" altLang="en-US" sz="2000" dirty="0">
                <a:cs typeface="Calibri" panose="020F0502020204030204" pitchFamily="34" charset="0"/>
              </a:rPr>
              <a:t> with 3 different types of processes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Browser</a:t>
            </a:r>
            <a:r>
              <a:rPr lang="en-US" altLang="en-US" sz="1800" dirty="0">
                <a:cs typeface="Calibri" panose="020F0502020204030204" pitchFamily="34" charset="0"/>
              </a:rPr>
              <a:t> process manages user interface, disk and network I/O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Renderer</a:t>
            </a:r>
            <a:r>
              <a:rPr lang="en-US" altLang="en-US" sz="1800" dirty="0">
                <a:cs typeface="Calibri" panose="020F0502020204030204" pitchFamily="34" charset="0"/>
              </a:rPr>
              <a:t> process renders web pages, deals with HTML, </a:t>
            </a:r>
            <a:r>
              <a:rPr lang="en-US" altLang="en-US" sz="1800" dirty="0" err="1">
                <a:cs typeface="Calibri" panose="020F0502020204030204" pitchFamily="34" charset="0"/>
              </a:rPr>
              <a:t>Javascript</a:t>
            </a:r>
            <a:r>
              <a:rPr lang="en-US" altLang="en-US" sz="1800" dirty="0">
                <a:cs typeface="Calibri" panose="020F0502020204030204" pitchFamily="34" charset="0"/>
              </a:rPr>
              <a:t>. A new renderer created for each website opened</a:t>
            </a:r>
          </a:p>
          <a:p>
            <a:pPr lvl="2">
              <a:spcBef>
                <a:spcPts val="0"/>
              </a:spcBef>
            </a:pPr>
            <a:r>
              <a:rPr lang="en-US" altLang="en-US" sz="1600" dirty="0"/>
              <a:t>Runs in </a:t>
            </a:r>
            <a:r>
              <a:rPr lang="en-US" altLang="en-US" sz="1600" b="1" dirty="0">
                <a:solidFill>
                  <a:srgbClr val="006699"/>
                </a:solidFill>
              </a:rPr>
              <a:t>sandbox</a:t>
            </a:r>
            <a:r>
              <a:rPr lang="en-US" altLang="en-US" sz="1600" dirty="0"/>
              <a:t> restricting disk and network I/O, minimizing effect of security exploits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Plug-in</a:t>
            </a:r>
            <a:r>
              <a:rPr lang="en-US" altLang="en-US" sz="18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cs typeface="Calibri" panose="020F0502020204030204" pitchFamily="34" charset="0"/>
              </a:rPr>
              <a:t>process for each type of plug-in</a:t>
            </a:r>
            <a:endParaRPr lang="en-US" altLang="en-US" sz="2000" dirty="0"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</a:pPr>
            <a:endParaRPr lang="en-US" altLang="en-US" sz="2000" dirty="0">
              <a:cs typeface="Calibri" panose="020F0502020204030204" pitchFamily="34" charset="0"/>
            </a:endParaRPr>
          </a:p>
        </p:txBody>
      </p:sp>
      <p:pic>
        <p:nvPicPr>
          <p:cNvPr id="57348" name="Picture 1">
            <a:extLst>
              <a:ext uri="{FF2B5EF4-FFF2-40B4-BE49-F238E27FC236}">
                <a16:creationId xmlns:a16="http://schemas.microsoft.com/office/drawing/2014/main" id="{FC10B725-AB13-417A-BEE0-FCE2190A3E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408" y="3413516"/>
            <a:ext cx="5826908" cy="117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DC0DE6-F200-2D3D-5AF0-1C6B38EC9E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9D0E5E8-A027-43B0-871E-ED73DF85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45665"/>
            <a:ext cx="6612933" cy="432197"/>
          </a:xfrm>
        </p:spPr>
        <p:txBody>
          <a:bodyPr/>
          <a:lstStyle/>
          <a:p>
            <a:r>
              <a:rPr lang="en-US" altLang="en-US" sz="3200" dirty="0"/>
              <a:t>Interprocess Communication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EF26BE1-FCB0-440F-8834-E9B667D3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2525" y="817460"/>
            <a:ext cx="7854215" cy="365828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Processes within a system may be </a:t>
            </a:r>
            <a:r>
              <a:rPr lang="en-US" altLang="en-US" sz="2000" b="1" i="1" dirty="0">
                <a:cs typeface="Calibri" panose="020F0502020204030204" pitchFamily="34" charset="0"/>
              </a:rPr>
              <a:t>independent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or </a:t>
            </a:r>
            <a:r>
              <a:rPr lang="en-US" altLang="en-US" sz="2000" b="1" i="1" dirty="0">
                <a:cs typeface="Calibri" panose="020F0502020204030204" pitchFamily="34" charset="0"/>
              </a:rPr>
              <a:t>cooperating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Cooperating process can affect or be affected by other processes, including sharing data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Reasons for cooperating processes: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Information sharing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Computation speedup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Modularity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Convenience	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Cooperating processes need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interprocess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communication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IPC</a:t>
            </a:r>
            <a:r>
              <a:rPr lang="en-US" altLang="en-US" sz="2000" dirty="0">
                <a:cs typeface="Calibri" panose="020F0502020204030204" pitchFamily="34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Two models of IPC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Shared</a:t>
            </a:r>
            <a:r>
              <a:rPr lang="en-US" altLang="en-US" sz="18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memory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Message passing</a:t>
            </a:r>
          </a:p>
          <a:p>
            <a:pPr lvl="1">
              <a:spcBef>
                <a:spcPts val="0"/>
              </a:spcBef>
            </a:pPr>
            <a:endParaRPr lang="en-US" altLang="en-US" sz="2000" dirty="0"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9DD8E9-6169-FF93-76B0-F0EC48E72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71451"/>
            <a:ext cx="676295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Communications Models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5C5AEC-CFD0-596D-D9F8-8F45848B4F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3BB406A-5A43-2FD5-63D4-C4C74B0DD08B}"/>
              </a:ext>
            </a:extLst>
          </p:cNvPr>
          <p:cNvGrpSpPr/>
          <p:nvPr/>
        </p:nvGrpSpPr>
        <p:grpSpPr>
          <a:xfrm>
            <a:off x="2127183" y="1088960"/>
            <a:ext cx="5208985" cy="3319198"/>
            <a:chOff x="2040556" y="968102"/>
            <a:chExt cx="5208985" cy="3319198"/>
          </a:xfrm>
        </p:grpSpPr>
        <p:pic>
          <p:nvPicPr>
            <p:cNvPr id="61444" name="Picture 1">
              <a:extLst>
                <a:ext uri="{FF2B5EF4-FFF2-40B4-BE49-F238E27FC236}">
                  <a16:creationId xmlns:a16="http://schemas.microsoft.com/office/drawing/2014/main" id="{3ED38AED-C0F5-4084-BE69-BF6EFD7FF5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566"/>
            <a:stretch/>
          </p:blipFill>
          <p:spPr bwMode="auto">
            <a:xfrm>
              <a:off x="2040556" y="968102"/>
              <a:ext cx="5208985" cy="3048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87FD2E1-3751-A347-93E3-7EBDBB44EC75}"/>
                </a:ext>
              </a:extLst>
            </p:cNvPr>
            <p:cNvGrpSpPr/>
            <p:nvPr/>
          </p:nvGrpSpPr>
          <p:grpSpPr>
            <a:xfrm>
              <a:off x="2551182" y="3987218"/>
              <a:ext cx="4411377" cy="300082"/>
              <a:chOff x="2551182" y="3987218"/>
              <a:chExt cx="4411377" cy="300082"/>
            </a:xfrm>
          </p:grpSpPr>
          <p:sp>
            <p:nvSpPr>
              <p:cNvPr id="61443" name="Rectangle 3">
                <a:extLst>
                  <a:ext uri="{FF2B5EF4-FFF2-40B4-BE49-F238E27FC236}">
                    <a16:creationId xmlns:a16="http://schemas.microsoft.com/office/drawing/2014/main" id="{00B4232E-A93C-4613-91D0-E8A0948B6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1182" y="3987218"/>
                <a:ext cx="1725442" cy="3000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110000"/>
                  <a:buFont typeface="Wingdings" panose="05000000000000000000" pitchFamily="2" charset="2"/>
                  <a:buChar char="§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110000"/>
                  <a:buFont typeface="Arial" panose="020B0604020202020204" pitchFamily="34" charset="0"/>
                  <a:buChar char="•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13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(a) Shared memory</a:t>
                </a:r>
                <a:endParaRPr kumimoji="0" lang="en-US" altLang="en-US" sz="135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AFCA20A-4E79-4C00-1E0E-F94D94205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6845" y="3987218"/>
                <a:ext cx="1785714" cy="3000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110000"/>
                  <a:buFont typeface="Wingdings" panose="05000000000000000000" pitchFamily="2" charset="2"/>
                  <a:buChar char="§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110000"/>
                  <a:buFont typeface="Arial" panose="020B0604020202020204" pitchFamily="34" charset="0"/>
                  <a:buChar char="•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13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(b) Message passing</a:t>
                </a:r>
                <a:r>
                  <a:rPr kumimoji="0" lang="en-US" altLang="en-US" sz="1350" dirty="0">
                    <a:latin typeface="Arial" panose="020B0604020202020204" pitchFamily="34" charset="0"/>
                  </a:rPr>
                  <a:t> </a:t>
                </a: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9141823-0818-4D21-8248-27E5004AC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1" y="171451"/>
            <a:ext cx="674370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Producer-Consumer Problem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9B8C2EA-F3A4-449A-81E9-2FC5EC36E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2468" y="881955"/>
            <a:ext cx="6959064" cy="323765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Paradigm for cooperating processes:</a:t>
            </a:r>
          </a:p>
          <a:p>
            <a:pPr lvl="1">
              <a:spcBef>
                <a:spcPts val="0"/>
              </a:spcBef>
            </a:pPr>
            <a:r>
              <a:rPr lang="en-US" altLang="en-US" sz="1800" i="1" dirty="0">
                <a:cs typeface="Calibri" panose="020F0502020204030204" pitchFamily="34" charset="0"/>
              </a:rPr>
              <a:t>producer</a:t>
            </a:r>
            <a:r>
              <a:rPr lang="en-US" altLang="en-US" sz="1800" dirty="0">
                <a:cs typeface="Calibri" panose="020F0502020204030204" pitchFamily="34" charset="0"/>
              </a:rPr>
              <a:t> process produces information that is consumed by a </a:t>
            </a:r>
            <a:r>
              <a:rPr lang="en-US" altLang="en-US" sz="1800" i="1" dirty="0">
                <a:cs typeface="Calibri" panose="020F0502020204030204" pitchFamily="34" charset="0"/>
              </a:rPr>
              <a:t>consumer</a:t>
            </a:r>
            <a:r>
              <a:rPr lang="en-US" altLang="en-US" sz="1800" dirty="0">
                <a:cs typeface="Calibri" panose="020F0502020204030204" pitchFamily="34" charset="0"/>
              </a:rPr>
              <a:t> process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Two variations</a:t>
            </a:r>
          </a:p>
          <a:p>
            <a:pPr lvl="1">
              <a:spcBef>
                <a:spcPts val="0"/>
              </a:spcBef>
            </a:pP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unbounded-buffer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places no practical limit on the size of the buffer:</a:t>
            </a:r>
          </a:p>
          <a:p>
            <a:pPr lvl="2">
              <a:spcBef>
                <a:spcPts val="0"/>
              </a:spcBef>
            </a:pPr>
            <a:r>
              <a:rPr lang="en-US" altLang="en-US" sz="1800" dirty="0"/>
              <a:t>Producer never waits</a:t>
            </a:r>
          </a:p>
          <a:p>
            <a:pPr lvl="2">
              <a:spcBef>
                <a:spcPts val="0"/>
              </a:spcBef>
            </a:pPr>
            <a:r>
              <a:rPr lang="en-US" altLang="en-US" sz="1800" dirty="0"/>
              <a:t>Consumer waits if there is no buffer to consume</a:t>
            </a:r>
          </a:p>
          <a:p>
            <a:pPr lvl="1">
              <a:spcBef>
                <a:spcPts val="0"/>
              </a:spcBef>
            </a:pP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bounded-buffer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assumes that there is a fixed buffer size</a:t>
            </a:r>
          </a:p>
          <a:p>
            <a:pPr lvl="2">
              <a:spcBef>
                <a:spcPts val="0"/>
              </a:spcBef>
            </a:pPr>
            <a:r>
              <a:rPr lang="en-US" altLang="en-US" sz="1800" dirty="0"/>
              <a:t>Producer must wait if all buffers are full</a:t>
            </a:r>
          </a:p>
          <a:p>
            <a:pPr lvl="2">
              <a:spcBef>
                <a:spcPts val="0"/>
              </a:spcBef>
            </a:pPr>
            <a:r>
              <a:rPr lang="en-US" altLang="en-US" sz="1800" dirty="0"/>
              <a:t>Consumer waits if there is no buffer to consume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6A9864-FA96-4BF0-1A0F-A8DD692CE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1982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75428CE-94A1-42F8-AA1B-55485F581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3276" y="139063"/>
            <a:ext cx="721000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IPC – Shared Memory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0C2EA05-1541-4195-8AE7-131E61118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1030" y="809617"/>
            <a:ext cx="7488452" cy="264585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Major issues is to provide mechanism that will allow the user processes to synchronize their actions when they access shared memory. 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Synchronization is discussed in great details in Chapters 6 &amp; 7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6E52B4-C9CE-D1E1-EB2E-FB80EC5CB4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9EE88E8-FB94-4EA2-914B-EA0288206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22459"/>
            <a:ext cx="7873466" cy="516105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Bounded-Buffer – Shared-Memory Solution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6B4B2DB-0CD0-402C-8F68-104A05E1E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1027" y="924533"/>
            <a:ext cx="7315200" cy="3525441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Shared data</a:t>
            </a:r>
          </a:p>
          <a:p>
            <a:pPr marL="1198960" lvl="3">
              <a:spcBef>
                <a:spcPts val="0"/>
              </a:spcBef>
              <a:buNone/>
            </a:pPr>
            <a:r>
              <a:rPr lang="en-US" altLang="en-US" sz="2000" b="1" dirty="0"/>
              <a:t>#define BUFFER_SIZE 10</a:t>
            </a:r>
          </a:p>
          <a:p>
            <a:pPr marL="1198960" lvl="3">
              <a:spcBef>
                <a:spcPts val="0"/>
              </a:spcBef>
              <a:buNone/>
            </a:pPr>
            <a:r>
              <a:rPr lang="en-US" altLang="en-US" sz="2000" b="1" dirty="0"/>
              <a:t>typedef struct {</a:t>
            </a:r>
          </a:p>
          <a:p>
            <a:pPr marL="1198960" lvl="3">
              <a:spcBef>
                <a:spcPts val="0"/>
              </a:spcBef>
              <a:buNone/>
            </a:pPr>
            <a:r>
              <a:rPr lang="en-US" altLang="en-US" sz="2000" b="1" dirty="0"/>
              <a:t>	. . .</a:t>
            </a:r>
          </a:p>
          <a:p>
            <a:pPr marL="1198960" lvl="3">
              <a:spcBef>
                <a:spcPts val="0"/>
              </a:spcBef>
              <a:buNone/>
            </a:pPr>
            <a:r>
              <a:rPr lang="en-US" altLang="en-US" sz="2000" b="1" dirty="0"/>
              <a:t>} item;</a:t>
            </a:r>
          </a:p>
          <a:p>
            <a:pPr marL="1198960" lvl="3">
              <a:spcBef>
                <a:spcPts val="0"/>
              </a:spcBef>
              <a:buNone/>
            </a:pPr>
            <a:endParaRPr lang="en-US" altLang="en-US" sz="2000" b="1" dirty="0"/>
          </a:p>
          <a:p>
            <a:pPr marL="1198960" lvl="3">
              <a:spcBef>
                <a:spcPts val="0"/>
              </a:spcBef>
              <a:buNone/>
            </a:pPr>
            <a:r>
              <a:rPr lang="en-US" altLang="en-US" sz="2000" b="1" dirty="0"/>
              <a:t>item buffer[BUFFER_SIZE];</a:t>
            </a:r>
          </a:p>
          <a:p>
            <a:pPr marL="1198960" lvl="3">
              <a:spcBef>
                <a:spcPts val="0"/>
              </a:spcBef>
              <a:buNone/>
            </a:pPr>
            <a:r>
              <a:rPr lang="en-US" altLang="en-US" sz="2000" b="1" dirty="0"/>
              <a:t>int in = 0;</a:t>
            </a:r>
          </a:p>
          <a:p>
            <a:pPr marL="1198960" lvl="3">
              <a:spcBef>
                <a:spcPts val="0"/>
              </a:spcBef>
              <a:buNone/>
            </a:pPr>
            <a:r>
              <a:rPr lang="en-US" altLang="en-US" sz="2000" b="1" dirty="0"/>
              <a:t>int out = 0;</a:t>
            </a:r>
          </a:p>
          <a:p>
            <a:pPr marL="1198960" lvl="3">
              <a:spcBef>
                <a:spcPts val="0"/>
              </a:spcBef>
              <a:buNone/>
            </a:pPr>
            <a:endParaRPr lang="en-US" altLang="en-US" sz="1600" dirty="0"/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Solution is correct, but can only use </a:t>
            </a:r>
            <a:r>
              <a:rPr lang="en-US" altLang="en-US" sz="2000" b="1" dirty="0">
                <a:cs typeface="Calibri" panose="020F0502020204030204" pitchFamily="34" charset="0"/>
              </a:rPr>
              <a:t>BUFFER_SIZE-1</a:t>
            </a:r>
            <a:r>
              <a:rPr lang="en-US" altLang="en-US" sz="2000" dirty="0">
                <a:cs typeface="Calibri" panose="020F0502020204030204" pitchFamily="34" charset="0"/>
              </a:rPr>
              <a:t> element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9A2460-1C83-4315-70B0-AB3BBE6EE7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B426FA82-2801-4913-A63A-AF57E7132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2901" y="166688"/>
            <a:ext cx="670519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Producer Process – Shared Memory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918AC823-35A6-4F95-9F20-D71790E77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62701" y="890587"/>
            <a:ext cx="4792103" cy="336232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item </a:t>
            </a:r>
            <a:r>
              <a:rPr lang="en-US" altLang="en-US" sz="2000" b="1" dirty="0" err="1">
                <a:cs typeface="Calibri" panose="020F0502020204030204" pitchFamily="34" charset="0"/>
              </a:rPr>
              <a:t>next_produced</a:t>
            </a:r>
            <a:r>
              <a:rPr lang="en-US" altLang="en-US" sz="2000" b="1" dirty="0">
                <a:cs typeface="Calibri" panose="020F0502020204030204" pitchFamily="34" charset="0"/>
              </a:rPr>
              <a:t>; </a:t>
            </a:r>
            <a:br>
              <a:rPr lang="en-US" altLang="en-US" sz="2000" b="1" dirty="0">
                <a:cs typeface="Calibri" panose="020F0502020204030204" pitchFamily="34" charset="0"/>
              </a:rPr>
            </a:br>
            <a:endParaRPr lang="en-US" altLang="en-US" sz="2000" b="1" dirty="0">
              <a:cs typeface="Calibri" panose="020F0502020204030204" pitchFamily="34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/* produce an item in next produced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while (((in + 1) % BUFFER_SIZE) == out)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	; /* do nothing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buffer[in] = </a:t>
            </a:r>
            <a:r>
              <a:rPr lang="en-US" altLang="en-US" sz="2000" b="1" dirty="0" err="1">
                <a:cs typeface="Calibri" panose="020F0502020204030204" pitchFamily="34" charset="0"/>
              </a:rPr>
              <a:t>next_produced</a:t>
            </a:r>
            <a:r>
              <a:rPr lang="en-US" altLang="en-US" sz="2000" b="1" dirty="0">
                <a:cs typeface="Calibri" panose="020F0502020204030204" pitchFamily="34" charset="0"/>
              </a:rPr>
              <a:t>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in = (in + 1) % BUFFER_SIZE;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}</a:t>
            </a:r>
            <a:r>
              <a:rPr lang="en-US" altLang="en-US" sz="2000" dirty="0">
                <a:cs typeface="Calibri" panose="020F0502020204030204" pitchFamily="34" charset="0"/>
              </a:rPr>
              <a:t> </a:t>
            </a:r>
          </a:p>
          <a:p>
            <a:pPr marL="5375672" lvl="4">
              <a:buNone/>
            </a:pPr>
            <a:endParaRPr lang="en-US" altLang="en-US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588122-F07F-0B92-832E-080FD1EC07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5A24975-CF06-4A73-8D26-DA0E6F7E6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025" y="153401"/>
            <a:ext cx="6914551" cy="43374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Consumer Process – Shared Memory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4383804-C100-4255-A1BD-B8DC67A9F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0792" y="914401"/>
            <a:ext cx="6420050" cy="352284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item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2000" b="1" dirty="0">
                <a:latin typeface="Courier New" panose="02070309020205020404" pitchFamily="49" charset="0"/>
              </a:rPr>
              <a:t>; 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endParaRPr lang="en-US" altLang="en-US" sz="2000" b="1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while (true) {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	while (in == out)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; /* do nothing */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2000" b="1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out = (out + 1) % BUFFER_SIZE;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endParaRPr lang="en-US" altLang="en-US" sz="2000" b="1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A683794-36F2-6451-F8FE-CB57886E7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>
            <a:extLst>
              <a:ext uri="{FF2B5EF4-FFF2-40B4-BE49-F238E27FC236}">
                <a16:creationId xmlns:a16="http://schemas.microsoft.com/office/drawing/2014/main" id="{1BEBBC13-DD8A-4F8B-B4E0-C68E29E1B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651" y="161489"/>
            <a:ext cx="681611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What about Filling all the Buffers</a:t>
            </a:r>
          </a:p>
        </p:txBody>
      </p:sp>
      <p:sp>
        <p:nvSpPr>
          <p:cNvPr id="11266" name="Rectangle 5">
            <a:extLst>
              <a:ext uri="{FF2B5EF4-FFF2-40B4-BE49-F238E27FC236}">
                <a16:creationId xmlns:a16="http://schemas.microsoft.com/office/drawing/2014/main" id="{368FAB7E-F41C-4FB5-A127-15C3BFC35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651" y="858151"/>
            <a:ext cx="7276698" cy="3088208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Suppose that we wanted to provide a solution to the consumer-producer problem that fills </a:t>
            </a:r>
            <a:r>
              <a:rPr lang="en-US" altLang="en-US" sz="2000" b="1" dirty="0">
                <a:solidFill>
                  <a:srgbClr val="000000"/>
                </a:solidFill>
                <a:cs typeface="Calibri" panose="020F0502020204030204" pitchFamily="34" charset="0"/>
              </a:rPr>
              <a:t>all</a:t>
            </a:r>
            <a:r>
              <a:rPr lang="en-US" altLang="en-US" sz="2000" dirty="0">
                <a:solidFill>
                  <a:srgbClr val="000000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the buffers. 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We can do so by having an integer </a:t>
            </a:r>
            <a:r>
              <a:rPr lang="en-US" altLang="en-US" sz="2000" b="1" dirty="0">
                <a:cs typeface="Calibri" panose="020F0502020204030204" pitchFamily="34" charset="0"/>
              </a:rPr>
              <a:t>counter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that keeps track of the number of full buffers.  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Initially, </a:t>
            </a:r>
            <a:r>
              <a:rPr lang="en-US" altLang="en-US" sz="2000" b="1" dirty="0">
                <a:cs typeface="Calibri" panose="020F0502020204030204" pitchFamily="34" charset="0"/>
              </a:rPr>
              <a:t>counter</a:t>
            </a:r>
            <a:r>
              <a:rPr lang="en-US" altLang="en-US" sz="2000" dirty="0">
                <a:cs typeface="Calibri" panose="020F0502020204030204" pitchFamily="34" charset="0"/>
              </a:rPr>
              <a:t> is set to 0. 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The integer </a:t>
            </a:r>
            <a:r>
              <a:rPr lang="en-US" altLang="en-US" sz="2000" b="1" dirty="0">
                <a:cs typeface="Calibri" panose="020F0502020204030204" pitchFamily="34" charset="0"/>
              </a:rPr>
              <a:t>counter</a:t>
            </a:r>
            <a:r>
              <a:rPr lang="en-US" altLang="en-US" sz="2000" dirty="0">
                <a:cs typeface="Calibri" panose="020F0502020204030204" pitchFamily="34" charset="0"/>
              </a:rPr>
              <a:t> is incremented by the producer after it produces a new buffer.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The integer </a:t>
            </a:r>
            <a:r>
              <a:rPr lang="en-US" altLang="en-US" sz="2000" b="1" dirty="0">
                <a:cs typeface="Calibri" panose="020F0502020204030204" pitchFamily="34" charset="0"/>
              </a:rPr>
              <a:t>counter</a:t>
            </a:r>
            <a:r>
              <a:rPr lang="en-US" altLang="en-US" sz="2000" dirty="0">
                <a:cs typeface="Calibri" panose="020F0502020204030204" pitchFamily="34" charset="0"/>
              </a:rPr>
              <a:t> is and is decremented by the consumer after it consumes a buffer.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9FD097-5871-1D4B-D59E-8E74323261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92523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6FBA2318-657D-42C6-AB7B-E9BBF4DA2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775" y="161489"/>
            <a:ext cx="675332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Producer 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32980AD2-3FC6-4309-A775-93AFA5595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9924" y="944165"/>
            <a:ext cx="6160168" cy="3560457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while (true) {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	/* produce an item in next produced */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while (counter == BUFFER_SIZE) 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buffer[in] =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2000" b="1" dirty="0">
                <a:latin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in = (in + 1) % BUFFER_SIZE;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counter++;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342AB3-6274-1751-4786-4982512D99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9346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F7414AA-B215-4A20-88A1-C865671BE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56145"/>
            <a:ext cx="6785573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Consumer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F7E5C80C-620B-4BAE-A990-B50235C7D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32547" y="946548"/>
            <a:ext cx="6275672" cy="3327069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while (true) {</a:t>
            </a:r>
          </a:p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while (counter == 0) </a:t>
            </a:r>
          </a:p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	; /* do nothing */ </a:t>
            </a:r>
          </a:p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</a:t>
            </a:r>
            <a:r>
              <a:rPr lang="en-US" altLang="en-US" sz="2000" b="1" dirty="0" err="1">
                <a:cs typeface="Calibri" panose="020F0502020204030204" pitchFamily="34" charset="0"/>
              </a:rPr>
              <a:t>next_consumed</a:t>
            </a:r>
            <a:r>
              <a:rPr lang="en-US" altLang="en-US" sz="2000" b="1" dirty="0">
                <a:cs typeface="Calibri" panose="020F0502020204030204" pitchFamily="34" charset="0"/>
              </a:rPr>
              <a:t> = buffer[out]; </a:t>
            </a:r>
          </a:p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out = (out + 1) % BUFFER_SIZE; 	</a:t>
            </a:r>
          </a:p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        counter--; </a:t>
            </a:r>
          </a:p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	/* consume the item in next consumed */ </a:t>
            </a:r>
          </a:p>
          <a:p>
            <a:pPr marL="0" indent="0">
              <a:buNone/>
            </a:pPr>
            <a:r>
              <a:rPr lang="en-US" altLang="en-US" sz="2000" b="1" dirty="0">
                <a:cs typeface="Calibri" panose="020F0502020204030204" pitchFamily="34" charset="0"/>
              </a:rPr>
              <a:t>}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3A7276-6FDA-B87C-0D04-791382A397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19366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68950"/>
            <a:ext cx="674370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Race Condition (1)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04468" y="807185"/>
            <a:ext cx="7233140" cy="375519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0000"/>
                </a:solidFill>
                <a:cs typeface="Calibri" panose="020F0502020204030204" pitchFamily="34" charset="0"/>
              </a:rPr>
              <a:t>counter++ </a:t>
            </a:r>
            <a:r>
              <a:rPr lang="en-US" altLang="en-US" sz="1700" dirty="0">
                <a:cs typeface="Calibri" panose="020F0502020204030204" pitchFamily="34" charset="0"/>
              </a:rPr>
              <a:t>could be implemented as</a:t>
            </a:r>
            <a:br>
              <a:rPr lang="en-US" altLang="en-US" sz="1700" dirty="0">
                <a:cs typeface="Calibri" panose="020F0502020204030204" pitchFamily="34" charset="0"/>
              </a:rPr>
            </a:br>
            <a:r>
              <a:rPr lang="en-US" altLang="en-US" sz="1700" b="1" dirty="0">
                <a:cs typeface="Calibri" panose="020F0502020204030204" pitchFamily="34" charset="0"/>
              </a:rPr>
              <a:t>     </a:t>
            </a:r>
            <a: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  <a:t>register1 = counter</a:t>
            </a:r>
            <a:b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</a:br>
            <a: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  <a:t>     register1 = register1 + 1</a:t>
            </a:r>
            <a:b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</a:br>
            <a: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  <a:t>     counter = register1</a:t>
            </a:r>
            <a:endParaRPr lang="en-US" altLang="en-US" sz="1700" dirty="0">
              <a:solidFill>
                <a:srgbClr val="0000FF"/>
              </a:solidFill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0000"/>
                </a:solidFill>
                <a:cs typeface="Calibri" panose="020F0502020204030204" pitchFamily="34" charset="0"/>
              </a:rPr>
              <a:t>counter--</a:t>
            </a:r>
            <a: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  <a:t> </a:t>
            </a:r>
            <a:r>
              <a:rPr lang="en-US" altLang="en-US" sz="1700" dirty="0">
                <a:cs typeface="Calibri" panose="020F0502020204030204" pitchFamily="34" charset="0"/>
              </a:rPr>
              <a:t>could be implemented as</a:t>
            </a:r>
            <a:br>
              <a:rPr lang="en-US" altLang="en-US" sz="1700" dirty="0">
                <a:cs typeface="Calibri" panose="020F0502020204030204" pitchFamily="34" charset="0"/>
              </a:rPr>
            </a:br>
            <a:r>
              <a:rPr lang="en-US" altLang="en-US" sz="1700" b="1" dirty="0">
                <a:cs typeface="Calibri" panose="020F0502020204030204" pitchFamily="34" charset="0"/>
              </a:rPr>
              <a:t>     </a:t>
            </a:r>
            <a: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  <a:t>register2 = counter</a:t>
            </a:r>
            <a:b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</a:br>
            <a: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  <a:t>     register2 = register2 - 1</a:t>
            </a:r>
            <a:b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</a:br>
            <a: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  <a:t>     counter = register2</a:t>
            </a:r>
            <a:endParaRPr lang="en-US" altLang="en-US" sz="1700" dirty="0">
              <a:solidFill>
                <a:schemeClr val="tx2"/>
              </a:solidFill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700" dirty="0">
                <a:cs typeface="Calibri" panose="020F0502020204030204" pitchFamily="34" charset="0"/>
              </a:rPr>
              <a:t>Consider this execution interleaving with</a:t>
            </a:r>
            <a:r>
              <a:rPr lang="ja-JP" altLang="en-US" sz="1700" dirty="0">
                <a:cs typeface="Calibri" panose="020F0502020204030204" pitchFamily="34" charset="0"/>
              </a:rPr>
              <a:t> </a:t>
            </a:r>
            <a:r>
              <a:rPr lang="en-US" altLang="ja-JP" sz="1700" dirty="0">
                <a:cs typeface="Calibri" panose="020F0502020204030204" pitchFamily="34" charset="0"/>
              </a:rPr>
              <a:t>count = 5</a:t>
            </a:r>
            <a:r>
              <a:rPr lang="ja-JP" altLang="en-US" sz="1700" dirty="0">
                <a:cs typeface="Calibri" panose="020F0502020204030204" pitchFamily="34" charset="0"/>
              </a:rPr>
              <a:t> </a:t>
            </a:r>
            <a:r>
              <a:rPr lang="en-US" altLang="ja-JP" sz="1700" dirty="0">
                <a:cs typeface="Calibri" panose="020F0502020204030204" pitchFamily="34" charset="0"/>
              </a:rPr>
              <a:t>initially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700" dirty="0">
                <a:cs typeface="Calibri" panose="020F0502020204030204" pitchFamily="34" charset="0"/>
              </a:rPr>
              <a:t>	S0: producer execute </a:t>
            </a:r>
            <a: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  <a:t>register1 = counter</a:t>
            </a:r>
            <a:r>
              <a:rPr lang="en-US" altLang="en-US" sz="1700" b="1" dirty="0">
                <a:cs typeface="Calibri" panose="020F0502020204030204" pitchFamily="34" charset="0"/>
              </a:rPr>
              <a:t>           </a:t>
            </a:r>
            <a:r>
              <a:rPr lang="en-US" altLang="en-US" sz="1700" dirty="0">
                <a:cs typeface="Calibri" panose="020F0502020204030204" pitchFamily="34" charset="0"/>
              </a:rPr>
              <a:t>{register1 = 5}</a:t>
            </a:r>
            <a:br>
              <a:rPr lang="en-US" altLang="en-US" sz="1700" dirty="0">
                <a:cs typeface="Calibri" panose="020F0502020204030204" pitchFamily="34" charset="0"/>
              </a:rPr>
            </a:br>
            <a:r>
              <a:rPr lang="en-US" altLang="en-US" sz="1700" dirty="0">
                <a:cs typeface="Calibri" panose="020F0502020204030204" pitchFamily="34" charset="0"/>
              </a:rPr>
              <a:t>S1: producer execute </a:t>
            </a:r>
            <a: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  <a:t>register1 = register1 + 1   </a:t>
            </a:r>
            <a:r>
              <a:rPr lang="en-US" altLang="en-US" sz="1700" dirty="0">
                <a:cs typeface="Calibri" panose="020F0502020204030204" pitchFamily="34" charset="0"/>
              </a:rPr>
              <a:t>{register1 = 6} </a:t>
            </a:r>
            <a:br>
              <a:rPr lang="en-US" altLang="en-US" sz="1700" dirty="0">
                <a:cs typeface="Calibri" panose="020F0502020204030204" pitchFamily="34" charset="0"/>
              </a:rPr>
            </a:br>
            <a:r>
              <a:rPr lang="en-US" altLang="en-US" sz="1700" dirty="0">
                <a:cs typeface="Calibri" panose="020F0502020204030204" pitchFamily="34" charset="0"/>
              </a:rPr>
              <a:t>S2: consumer execute </a:t>
            </a:r>
            <a: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  <a:t>register2 = counter</a:t>
            </a:r>
            <a:r>
              <a:rPr lang="en-US" altLang="en-US" sz="1700" b="1" dirty="0">
                <a:cs typeface="Calibri" panose="020F0502020204030204" pitchFamily="34" charset="0"/>
              </a:rPr>
              <a:t>          </a:t>
            </a:r>
            <a:r>
              <a:rPr lang="en-US" altLang="en-US" sz="1700" dirty="0">
                <a:cs typeface="Calibri" panose="020F0502020204030204" pitchFamily="34" charset="0"/>
              </a:rPr>
              <a:t>{register2 = 5} </a:t>
            </a:r>
            <a:br>
              <a:rPr lang="en-US" altLang="en-US" sz="1700" dirty="0">
                <a:cs typeface="Calibri" panose="020F0502020204030204" pitchFamily="34" charset="0"/>
              </a:rPr>
            </a:br>
            <a:r>
              <a:rPr lang="en-US" altLang="en-US" sz="1700" dirty="0">
                <a:cs typeface="Calibri" panose="020F0502020204030204" pitchFamily="34" charset="0"/>
              </a:rPr>
              <a:t>S3: consumer execute </a:t>
            </a:r>
            <a: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  <a:t>register2 = register2 – 1  </a:t>
            </a:r>
            <a:r>
              <a:rPr lang="en-US" altLang="en-US" sz="1700" dirty="0">
                <a:cs typeface="Calibri" panose="020F0502020204030204" pitchFamily="34" charset="0"/>
              </a:rPr>
              <a:t>{register2 = 4} </a:t>
            </a:r>
            <a:br>
              <a:rPr lang="en-US" altLang="en-US" sz="1700" dirty="0">
                <a:cs typeface="Calibri" panose="020F0502020204030204" pitchFamily="34" charset="0"/>
              </a:rPr>
            </a:br>
            <a:r>
              <a:rPr lang="en-US" altLang="en-US" sz="1700" dirty="0">
                <a:cs typeface="Calibri" panose="020F0502020204030204" pitchFamily="34" charset="0"/>
              </a:rPr>
              <a:t>S4: producer execute </a:t>
            </a:r>
            <a:r>
              <a:rPr lang="en-US" altLang="en-US" sz="1700" b="1" dirty="0">
                <a:solidFill>
                  <a:srgbClr val="0000FF"/>
                </a:solidFill>
                <a:cs typeface="Calibri" panose="020F0502020204030204" pitchFamily="34" charset="0"/>
              </a:rPr>
              <a:t>counter = register1            </a:t>
            </a:r>
            <a:r>
              <a:rPr lang="en-US" altLang="en-US" sz="1700" dirty="0">
                <a:cs typeface="Calibri" panose="020F0502020204030204" pitchFamily="34" charset="0"/>
              </a:rPr>
              <a:t>{counter = 6 } </a:t>
            </a:r>
            <a:br>
              <a:rPr lang="en-US" altLang="en-US" sz="1700" dirty="0">
                <a:cs typeface="Calibri" panose="020F0502020204030204" pitchFamily="34" charset="0"/>
              </a:rPr>
            </a:br>
            <a:r>
              <a:rPr lang="en-US" altLang="en-US" sz="1700" dirty="0">
                <a:cs typeface="Calibri" panose="020F0502020204030204" pitchFamily="34" charset="0"/>
              </a:rPr>
              <a:t>S5: consumer execute </a:t>
            </a:r>
            <a:r>
              <a:rPr lang="en-US" altLang="en-US" sz="1700" b="1" dirty="0">
                <a:solidFill>
                  <a:schemeClr val="tx2"/>
                </a:solidFill>
                <a:cs typeface="Calibri" panose="020F0502020204030204" pitchFamily="34" charset="0"/>
              </a:rPr>
              <a:t>counter = register2           </a:t>
            </a:r>
            <a:r>
              <a:rPr lang="en-US" altLang="en-US" sz="1700" dirty="0">
                <a:cs typeface="Calibri" panose="020F0502020204030204" pitchFamily="34" charset="0"/>
              </a:rPr>
              <a:t>{counter = 4}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D8B848-A50D-1A48-3B09-835CD77D6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1058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775" y="168950"/>
            <a:ext cx="675332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Race Condition (2)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9528" y="883444"/>
            <a:ext cx="7401827" cy="135924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cs typeface="Calibri" panose="020F0502020204030204" pitchFamily="34" charset="0"/>
              </a:rPr>
              <a:t>Question – why was there no race condition in the first solution (where at most N – 1) buffers can be filled?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cs typeface="Calibri" panose="020F0502020204030204" pitchFamily="34" charset="0"/>
              </a:rPr>
              <a:t>More in Chapter 6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58402B5-6A2F-EC73-9FF5-41C93E26F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92924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F3F2B4A-DE70-43EF-BB61-6A78698FE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00449"/>
            <a:ext cx="7188696" cy="49631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Message Passing (1)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0AECD7B-E784-4C8C-8677-1B9EFF192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2525" y="901304"/>
            <a:ext cx="7401829" cy="328568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>
                <a:cs typeface="Calibri" panose="020F0502020204030204" pitchFamily="34" charset="0"/>
              </a:rPr>
              <a:t>send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i="1" dirty="0">
                <a:cs typeface="Calibri" panose="020F0502020204030204" pitchFamily="34" charset="0"/>
              </a:rPr>
              <a:t>message</a:t>
            </a:r>
            <a:r>
              <a:rPr lang="en-US" altLang="en-US" sz="2000" dirty="0">
                <a:cs typeface="Calibri" panose="020F0502020204030204" pitchFamily="34" charset="0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>
                <a:cs typeface="Calibri" panose="020F0502020204030204" pitchFamily="34" charset="0"/>
              </a:rPr>
              <a:t>receive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i="1" dirty="0">
                <a:cs typeface="Calibri" panose="020F0502020204030204" pitchFamily="34" charset="0"/>
              </a:rPr>
              <a:t>message</a:t>
            </a:r>
            <a:r>
              <a:rPr lang="en-US" altLang="en-US" sz="2000" dirty="0">
                <a:cs typeface="Calibri" panose="020F0502020204030204" pitchFamily="34" charset="0"/>
              </a:rPr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The</a:t>
            </a:r>
            <a:r>
              <a:rPr lang="en-US" altLang="en-US" sz="2000" i="1" dirty="0">
                <a:cs typeface="Calibri" panose="020F0502020204030204" pitchFamily="34" charset="0"/>
              </a:rPr>
              <a:t> message</a:t>
            </a:r>
            <a:r>
              <a:rPr lang="en-US" altLang="en-US" sz="2000" dirty="0">
                <a:cs typeface="Calibri" panose="020F0502020204030204" pitchFamily="34" charset="0"/>
              </a:rPr>
              <a:t> size is either fixed or variable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33ABC3-010D-4CA5-2708-3F1E54E67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833C5ED-B4D0-4EF0-A04C-582581174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3277" y="165497"/>
            <a:ext cx="695295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Message Passing (2)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A6A6236-9FD7-4CF5-AFB2-3C81D1F5D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8266" y="857149"/>
            <a:ext cx="8171848" cy="354159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000" dirty="0"/>
              <a:t>If processes </a:t>
            </a:r>
            <a:r>
              <a:rPr lang="en-US" altLang="en-US" sz="2000" i="1" dirty="0"/>
              <a:t>P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Q</a:t>
            </a:r>
            <a:r>
              <a:rPr lang="en-US" altLang="en-US" sz="2000" dirty="0"/>
              <a:t> wish to communicate, they need to: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Establish a </a:t>
            </a:r>
            <a:r>
              <a:rPr lang="en-US" altLang="en-US" sz="1800" b="1" i="1" dirty="0"/>
              <a:t>communication</a:t>
            </a:r>
            <a:r>
              <a:rPr lang="en-US" altLang="en-US" sz="1800" b="1" dirty="0"/>
              <a:t> </a:t>
            </a:r>
            <a:r>
              <a:rPr lang="en-US" altLang="en-US" sz="1800" b="1" i="1" dirty="0"/>
              <a:t>link</a:t>
            </a:r>
            <a:r>
              <a:rPr lang="en-US" altLang="en-US" sz="1800" b="1" dirty="0"/>
              <a:t> </a:t>
            </a:r>
            <a:r>
              <a:rPr lang="en-US" altLang="en-US" sz="1800" dirty="0"/>
              <a:t>between them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Exchange messages via send/receive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000" dirty="0"/>
              <a:t>Implementation issues: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How are links established?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Can a link be associated with more than two processes?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How many links can there be between every pair of communicating processes?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What is the capacity of a link?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Is the size of a message that the link can accommodate fixed or variable?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1800" dirty="0"/>
              <a:t>Is a link unidirectional or bi-directional?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8F60FF-C4B2-CC6D-D3C2-E4993842A4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81AC626-0A50-457E-ACC9-A83EC0103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98068"/>
            <a:ext cx="7038086" cy="491292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Implementation of Communication Link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D1C4DEC-BA4C-4FF4-8D99-3F8564557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79730" y="882356"/>
            <a:ext cx="6618083" cy="282337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Physical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Logical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 Automatic or explicit buffering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222937-3C8A-A719-566B-51A5D7F089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42199CC-6297-4236-868D-6C5181663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4" y="111854"/>
            <a:ext cx="6791826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Direct Communication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A7D9FE3-3D61-44CD-BD78-77CFC4A0B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274" y="872728"/>
            <a:ext cx="7969718" cy="3141007"/>
          </a:xfrm>
        </p:spPr>
        <p:txBody>
          <a:bodyPr/>
          <a:lstStyle/>
          <a:p>
            <a:r>
              <a:rPr lang="en-US" altLang="en-US" sz="2000" dirty="0"/>
              <a:t>Processes must name each other explicitly: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</a:rPr>
              <a:t>send</a:t>
            </a:r>
            <a:r>
              <a:rPr lang="en-US" altLang="en-US" sz="2000" dirty="0"/>
              <a:t> (</a:t>
            </a:r>
            <a:r>
              <a:rPr lang="en-US" altLang="en-US" sz="2000" i="1" dirty="0"/>
              <a:t>P, message</a:t>
            </a:r>
            <a:r>
              <a:rPr lang="en-US" altLang="en-US" sz="2000" dirty="0"/>
              <a:t>) – send a message to process P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</a:rPr>
              <a:t>receive</a:t>
            </a:r>
            <a:r>
              <a:rPr lang="en-US" altLang="en-US" sz="2000" dirty="0"/>
              <a:t>(</a:t>
            </a:r>
            <a:r>
              <a:rPr lang="en-US" altLang="en-US" sz="2000" i="1" dirty="0"/>
              <a:t>Q, message</a:t>
            </a:r>
            <a:r>
              <a:rPr lang="en-US" altLang="en-US" sz="2000" dirty="0"/>
              <a:t>) – receive a message from process Q</a:t>
            </a:r>
          </a:p>
          <a:p>
            <a:r>
              <a:rPr lang="en-US" altLang="en-US" sz="2000" dirty="0"/>
              <a:t>Properties of communication link</a:t>
            </a:r>
          </a:p>
          <a:p>
            <a:pPr lvl="1"/>
            <a:r>
              <a:rPr lang="en-US" altLang="en-US" sz="2000" dirty="0"/>
              <a:t>Links are established automatically</a:t>
            </a:r>
          </a:p>
          <a:p>
            <a:pPr lvl="1"/>
            <a:r>
              <a:rPr lang="en-US" altLang="en-US" sz="2000" dirty="0"/>
              <a:t>A link is associated with exactly one pair of communicating processes</a:t>
            </a:r>
          </a:p>
          <a:p>
            <a:pPr lvl="1"/>
            <a:r>
              <a:rPr lang="en-US" altLang="en-US" sz="2000" dirty="0"/>
              <a:t>Between each pair there exists exactly one link</a:t>
            </a:r>
          </a:p>
          <a:p>
            <a:pPr lvl="1"/>
            <a:r>
              <a:rPr lang="en-US" altLang="en-US" sz="2000" dirty="0"/>
              <a:t>The link may be unidirectional, but is usually bi-directional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654056-7A92-F46F-09CF-67353B3805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143D8FC-6F48-4E94-BF58-37342F331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36568"/>
            <a:ext cx="6772576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Indirect Communication (1)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D569671-6F8E-4503-8E83-6B359504B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2526" y="860822"/>
            <a:ext cx="7517331" cy="3537923"/>
          </a:xfrm>
        </p:spPr>
        <p:txBody>
          <a:bodyPr/>
          <a:lstStyle/>
          <a:p>
            <a:r>
              <a:rPr lang="en-US" altLang="en-US" sz="2000" dirty="0"/>
              <a:t>Messages are directed and received from mailboxes (also referred to as ports)</a:t>
            </a:r>
          </a:p>
          <a:p>
            <a:pPr lvl="1"/>
            <a:r>
              <a:rPr lang="en-US" altLang="en-US" sz="2000" dirty="0"/>
              <a:t>Each mailbox has a unique id</a:t>
            </a:r>
          </a:p>
          <a:p>
            <a:pPr lvl="1"/>
            <a:r>
              <a:rPr lang="en-US" altLang="en-US" sz="2000" dirty="0"/>
              <a:t>Processes can communicate only if they share a mailbox</a:t>
            </a:r>
          </a:p>
          <a:p>
            <a:r>
              <a:rPr lang="en-US" altLang="en-US" sz="2000" dirty="0"/>
              <a:t>Properties of communication link</a:t>
            </a:r>
          </a:p>
          <a:p>
            <a:pPr lvl="1"/>
            <a:r>
              <a:rPr lang="en-US" altLang="en-US" sz="2000" dirty="0"/>
              <a:t>Link established only if processes share a common mailbox</a:t>
            </a:r>
          </a:p>
          <a:p>
            <a:pPr lvl="1"/>
            <a:r>
              <a:rPr lang="en-US" altLang="en-US" sz="2000" dirty="0"/>
              <a:t>A link may be associated with many processes</a:t>
            </a:r>
          </a:p>
          <a:p>
            <a:pPr lvl="1"/>
            <a:r>
              <a:rPr lang="en-US" altLang="en-US" sz="2000" dirty="0"/>
              <a:t>Each pair of processes may share several communication links</a:t>
            </a:r>
          </a:p>
          <a:p>
            <a:pPr lvl="1"/>
            <a:r>
              <a:rPr lang="en-US" altLang="en-US" sz="2000" dirty="0"/>
              <a:t>Link may be unidirectional or bi-directional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1DC9659-D30E-B6F3-4D84-C860DE700A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>
            <a:extLst>
              <a:ext uri="{FF2B5EF4-FFF2-40B4-BE49-F238E27FC236}">
                <a16:creationId xmlns:a16="http://schemas.microsoft.com/office/drawing/2014/main" id="{34E55BDD-A170-4015-BADB-B0ED48E46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9528" y="851297"/>
            <a:ext cx="7045693" cy="2865834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Operations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Create a new mailbox (port)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Send and receive messages through mailbox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Delete a mailbox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Primitives are defined as:</a:t>
            </a:r>
          </a:p>
          <a:p>
            <a:pPr lvl="1"/>
            <a:r>
              <a:rPr lang="en-US" altLang="en-US" sz="2000" b="1" dirty="0">
                <a:cs typeface="Calibri" panose="020F0502020204030204" pitchFamily="34" charset="0"/>
              </a:rPr>
              <a:t>send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i="1" dirty="0">
                <a:cs typeface="Calibri" panose="020F0502020204030204" pitchFamily="34" charset="0"/>
              </a:rPr>
              <a:t>A, message</a:t>
            </a:r>
            <a:r>
              <a:rPr lang="en-US" altLang="en-US" sz="2000" dirty="0">
                <a:cs typeface="Calibri" panose="020F0502020204030204" pitchFamily="34" charset="0"/>
              </a:rPr>
              <a:t>) – send a message to mailbox A</a:t>
            </a:r>
          </a:p>
          <a:p>
            <a:pPr lvl="1"/>
            <a:r>
              <a:rPr lang="en-US" altLang="en-US" sz="2000" b="1" dirty="0">
                <a:cs typeface="Calibri" panose="020F0502020204030204" pitchFamily="34" charset="0"/>
              </a:rPr>
              <a:t>receive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i="1" dirty="0">
                <a:cs typeface="Calibri" panose="020F0502020204030204" pitchFamily="34" charset="0"/>
              </a:rPr>
              <a:t>A, message</a:t>
            </a:r>
            <a:r>
              <a:rPr lang="en-US" altLang="en-US" sz="2000" dirty="0">
                <a:cs typeface="Calibri" panose="020F0502020204030204" pitchFamily="34" charset="0"/>
              </a:rPr>
              <a:t>) – receive a message from mailbox A</a:t>
            </a: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F04958A-396F-4A7F-8CBA-0260CD196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0744" y="173279"/>
            <a:ext cx="596026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Indirect Communication (2)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00A0FE-5D6F-D660-B6F1-E7F351F96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0278" y="845344"/>
            <a:ext cx="7565457" cy="3398044"/>
          </a:xfrm>
        </p:spPr>
        <p:txBody>
          <a:bodyPr/>
          <a:lstStyle/>
          <a:p>
            <a:r>
              <a:rPr lang="en-US" altLang="en-US" sz="2000" dirty="0"/>
              <a:t>Mailbox sharing</a:t>
            </a:r>
          </a:p>
          <a:p>
            <a:pPr lvl="1"/>
            <a:r>
              <a:rPr lang="en-US" altLang="en-US" sz="2000" i="1" dirty="0"/>
              <a:t>P</a:t>
            </a:r>
            <a:r>
              <a:rPr lang="en-US" altLang="en-US" sz="2000" i="1" baseline="-25000" dirty="0"/>
              <a:t>1</a:t>
            </a:r>
            <a:r>
              <a:rPr lang="en-US" altLang="en-US" sz="2000" i="1" dirty="0"/>
              <a:t>, P</a:t>
            </a:r>
            <a:r>
              <a:rPr lang="en-US" altLang="en-US" sz="2000" i="1" baseline="-25000" dirty="0"/>
              <a:t>2</a:t>
            </a:r>
            <a:r>
              <a:rPr lang="en-US" altLang="en-US" sz="2000" i="1" dirty="0"/>
              <a:t>,</a:t>
            </a:r>
            <a:r>
              <a:rPr lang="en-US" altLang="en-US" sz="2000" dirty="0"/>
              <a:t> and</a:t>
            </a:r>
            <a:r>
              <a:rPr lang="en-US" altLang="en-US" sz="2000" i="1" dirty="0"/>
              <a:t> P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share mailbox A</a:t>
            </a:r>
          </a:p>
          <a:p>
            <a:pPr lvl="1"/>
            <a:r>
              <a:rPr lang="en-US" altLang="en-US" sz="2000" i="1" dirty="0"/>
              <a:t>P</a:t>
            </a:r>
            <a:r>
              <a:rPr lang="en-US" altLang="en-US" sz="2000" i="1" baseline="-25000" dirty="0"/>
              <a:t>1</a:t>
            </a:r>
            <a:r>
              <a:rPr lang="en-US" altLang="en-US" sz="2000" dirty="0"/>
              <a:t>, sends;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2</a:t>
            </a:r>
            <a:r>
              <a:rPr lang="en-US" altLang="en-US" sz="2000" i="1" dirty="0"/>
              <a:t> </a:t>
            </a:r>
            <a:r>
              <a:rPr lang="en-US" altLang="en-US" sz="2000" dirty="0"/>
              <a:t>and</a:t>
            </a:r>
            <a:r>
              <a:rPr lang="en-US" altLang="en-US" sz="2000" i="1" dirty="0"/>
              <a:t> P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receive</a:t>
            </a:r>
          </a:p>
          <a:p>
            <a:pPr lvl="1"/>
            <a:r>
              <a:rPr lang="en-US" altLang="en-US" sz="2000" dirty="0"/>
              <a:t>Who gets the message?</a:t>
            </a:r>
          </a:p>
          <a:p>
            <a:r>
              <a:rPr lang="en-US" altLang="en-US" sz="2000" dirty="0"/>
              <a:t>Solutions</a:t>
            </a:r>
          </a:p>
          <a:p>
            <a:pPr lvl="1"/>
            <a:r>
              <a:rPr lang="en-US" altLang="en-US" sz="2000" dirty="0"/>
              <a:t>Allow a link to be associated with at most two processes</a:t>
            </a:r>
          </a:p>
          <a:p>
            <a:pPr lvl="1"/>
            <a:r>
              <a:rPr lang="en-US" altLang="en-US" sz="2000" dirty="0"/>
              <a:t>Allow only one process at a time to execute a receive operation</a:t>
            </a:r>
          </a:p>
          <a:p>
            <a:pPr lvl="1"/>
            <a:r>
              <a:rPr lang="en-US" altLang="en-US" sz="2000" dirty="0"/>
              <a:t>Allow the system to select arbitrarily the receiver.  Sender is notified who the receiver was.</a:t>
            </a: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025" y="135377"/>
            <a:ext cx="699576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Indirect Communication (3)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727C83C-A6D1-7BEA-10B1-87A1119932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66DE404-CE0D-4099-B2D8-AC3784357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4" y="134217"/>
            <a:ext cx="6791826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Synchronization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7B9D991-600B-415B-8F62-A95ED2FAF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9904" y="835082"/>
            <a:ext cx="7413342" cy="3650291"/>
          </a:xfrm>
        </p:spPr>
        <p:txBody>
          <a:bodyPr/>
          <a:lstStyle/>
          <a:p>
            <a:pPr marL="284560" indent="-284560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Blocking</a:t>
            </a:r>
            <a:r>
              <a:rPr lang="en-US" sz="2000" dirty="0">
                <a:cs typeface="Calibri" panose="020F0502020204030204" pitchFamily="34" charset="0"/>
              </a:rPr>
              <a:t> is considered </a:t>
            </a:r>
            <a:r>
              <a:rPr 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synchronous</a:t>
            </a:r>
          </a:p>
          <a:p>
            <a:pPr marL="598885" lvl="1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b="1" dirty="0">
                <a:cs typeface="Calibri" panose="020F0502020204030204" pitchFamily="34" charset="0"/>
              </a:rPr>
              <a:t>Blocking send </a:t>
            </a:r>
            <a:r>
              <a:rPr lang="en-US" sz="1800" dirty="0">
                <a:cs typeface="Calibri" panose="020F0502020204030204" pitchFamily="34" charset="0"/>
              </a:rPr>
              <a:t>--</a:t>
            </a:r>
            <a:r>
              <a:rPr lang="en-US" sz="1800" b="1" dirty="0">
                <a:cs typeface="Calibri" panose="020F0502020204030204" pitchFamily="34" charset="0"/>
              </a:rPr>
              <a:t> </a:t>
            </a:r>
            <a:r>
              <a:rPr lang="en-US" sz="1800" dirty="0">
                <a:cs typeface="Calibri" panose="020F0502020204030204" pitchFamily="34" charset="0"/>
              </a:rPr>
              <a:t>the sender is blocked until the message is received</a:t>
            </a:r>
          </a:p>
          <a:p>
            <a:pPr marL="598885" lvl="1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b="1" dirty="0">
                <a:cs typeface="Calibri" panose="020F0502020204030204" pitchFamily="34" charset="0"/>
              </a:rPr>
              <a:t>Blocking receive </a:t>
            </a:r>
            <a:r>
              <a:rPr lang="en-US" sz="1800" dirty="0">
                <a:cs typeface="Calibri" panose="020F0502020204030204" pitchFamily="34" charset="0"/>
              </a:rPr>
              <a:t>--</a:t>
            </a:r>
            <a:r>
              <a:rPr lang="en-US" sz="1800" b="1" dirty="0">
                <a:cs typeface="Calibri" panose="020F0502020204030204" pitchFamily="34" charset="0"/>
              </a:rPr>
              <a:t> </a:t>
            </a:r>
            <a:r>
              <a:rPr lang="en-US" sz="1800" dirty="0">
                <a:cs typeface="Calibri" panose="020F0502020204030204" pitchFamily="34" charset="0"/>
              </a:rPr>
              <a:t>the receiver is  blocked until a message is available</a:t>
            </a:r>
          </a:p>
          <a:p>
            <a:pPr marL="284560" indent="-284560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Non-blocking</a:t>
            </a:r>
            <a:r>
              <a:rPr lang="en-US" sz="2000" dirty="0">
                <a:cs typeface="Calibri" panose="020F0502020204030204" pitchFamily="34" charset="0"/>
              </a:rPr>
              <a:t> is considered </a:t>
            </a:r>
            <a:r>
              <a:rPr 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asynchronous</a:t>
            </a:r>
          </a:p>
          <a:p>
            <a:pPr marL="598885" lvl="1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b="1" dirty="0">
                <a:cs typeface="Calibri" panose="020F0502020204030204" pitchFamily="34" charset="0"/>
              </a:rPr>
              <a:t>Non-blocking send</a:t>
            </a:r>
            <a:r>
              <a:rPr lang="en-US" sz="1800" dirty="0">
                <a:cs typeface="Calibri" panose="020F0502020204030204" pitchFamily="34" charset="0"/>
              </a:rPr>
              <a:t> -- the sender sends the message and continue</a:t>
            </a:r>
          </a:p>
          <a:p>
            <a:pPr marL="598885" lvl="1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b="1" dirty="0">
                <a:cs typeface="Calibri" panose="020F0502020204030204" pitchFamily="34" charset="0"/>
              </a:rPr>
              <a:t>Non-blocking receive</a:t>
            </a:r>
            <a:r>
              <a:rPr lang="en-US" sz="1800" dirty="0">
                <a:cs typeface="Calibri" panose="020F0502020204030204" pitchFamily="34" charset="0"/>
              </a:rPr>
              <a:t> -- the receiver receives:</a:t>
            </a:r>
          </a:p>
          <a:p>
            <a:pPr marL="856060" lvl="2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/>
              <a:t>A valid message,  or </a:t>
            </a:r>
          </a:p>
          <a:p>
            <a:pPr marL="856060" lvl="2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/>
              <a:t>Null message</a:t>
            </a:r>
          </a:p>
          <a:p>
            <a:pPr marL="298847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dirty="0">
                <a:ea typeface="ＭＳ Ｐゴシック" charset="0"/>
                <a:cs typeface="Calibri" panose="020F0502020204030204" pitchFamily="34" charset="0"/>
              </a:rPr>
              <a:t>Different combinations possible</a:t>
            </a:r>
          </a:p>
          <a:p>
            <a:pPr marL="598885" lvl="1" indent="-255985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dirty="0">
                <a:ea typeface="ＭＳ Ｐゴシック" charset="0"/>
                <a:cs typeface="Calibri" panose="020F0502020204030204" pitchFamily="34" charset="0"/>
              </a:rPr>
              <a:t>If both send and receive are blocking, we have a </a:t>
            </a:r>
            <a:r>
              <a:rPr 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rendezvous</a:t>
            </a:r>
          </a:p>
          <a:p>
            <a:pPr marL="298847" indent="-255985">
              <a:spcBef>
                <a:spcPts val="0"/>
              </a:spcBef>
              <a:spcAft>
                <a:spcPts val="600"/>
              </a:spcAft>
              <a:defRPr/>
            </a:pPr>
            <a:endParaRPr lang="en-US" sz="2000" dirty="0">
              <a:cs typeface="Calibri" panose="020F0502020204030204" pitchFamily="34" charset="0"/>
            </a:endParaRPr>
          </a:p>
          <a:p>
            <a:pPr marL="856060" lvl="2" indent="-255985">
              <a:spcBef>
                <a:spcPts val="0"/>
              </a:spcBef>
              <a:spcAft>
                <a:spcPts val="600"/>
              </a:spcAft>
              <a:buFont typeface="Monotype Sorts" pitchFamily="-84" charset="2"/>
              <a:buChar char="l"/>
              <a:defRPr/>
            </a:pPr>
            <a:endParaRPr 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4A266A3-4428-BFD5-55D4-90613E816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9241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09036" y="835718"/>
            <a:ext cx="6830331" cy="323576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b="1" dirty="0">
                <a:cs typeface="Calibri" panose="020F0502020204030204" pitchFamily="34" charset="0"/>
              </a:rPr>
              <a:t>Producer</a:t>
            </a:r>
          </a:p>
          <a:p>
            <a:pPr>
              <a:spcBef>
                <a:spcPts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sz="1800" b="1" dirty="0">
                <a:cs typeface="Calibri" panose="020F0502020204030204" pitchFamily="34" charset="0"/>
              </a:rPr>
              <a:t>           </a:t>
            </a:r>
            <a:r>
              <a:rPr kumimoji="0" lang="en-US" altLang="en-US" sz="1800" b="1" dirty="0">
                <a:cs typeface="Calibri" panose="020F0502020204030204" pitchFamily="34" charset="0"/>
              </a:rPr>
              <a:t>message </a:t>
            </a:r>
            <a:r>
              <a:rPr kumimoji="0" lang="en-US" altLang="en-US" sz="1800" b="1" dirty="0" err="1">
                <a:cs typeface="Calibri" panose="020F0502020204030204" pitchFamily="34" charset="0"/>
              </a:rPr>
              <a:t>next_produced</a:t>
            </a:r>
            <a:r>
              <a:rPr kumimoji="0" lang="en-US" altLang="en-US" sz="1800" b="1" dirty="0">
                <a:cs typeface="Calibri" panose="020F0502020204030204" pitchFamily="34" charset="0"/>
              </a:rPr>
              <a:t>;</a:t>
            </a:r>
            <a:br>
              <a:rPr kumimoji="0" lang="en-US" altLang="en-US" sz="1800" b="1" dirty="0">
                <a:cs typeface="Calibri" panose="020F0502020204030204" pitchFamily="34" charset="0"/>
              </a:rPr>
            </a:br>
            <a:r>
              <a:rPr kumimoji="0" lang="en-US" altLang="en-US" sz="1800" b="1" dirty="0">
                <a:cs typeface="Calibri" panose="020F0502020204030204" pitchFamily="34" charset="0"/>
              </a:rPr>
              <a:t>       while (true) {</a:t>
            </a:r>
            <a:br>
              <a:rPr kumimoji="0" lang="en-US" altLang="en-US" sz="1800" b="1" dirty="0">
                <a:cs typeface="Calibri" panose="020F0502020204030204" pitchFamily="34" charset="0"/>
              </a:rPr>
            </a:br>
            <a:r>
              <a:rPr kumimoji="0" lang="en-US" altLang="en-US" sz="1800" b="1" dirty="0">
                <a:cs typeface="Calibri" panose="020F0502020204030204" pitchFamily="34" charset="0"/>
              </a:rPr>
              <a:t>	/* produce an item in </a:t>
            </a:r>
            <a:r>
              <a:rPr kumimoji="0" lang="en-US" altLang="en-US" sz="1800" b="1" dirty="0" err="1">
                <a:cs typeface="Calibri" panose="020F0502020204030204" pitchFamily="34" charset="0"/>
              </a:rPr>
              <a:t>next_produced</a:t>
            </a:r>
            <a:r>
              <a:rPr kumimoji="0" lang="en-US" altLang="en-US" sz="1800" b="1" dirty="0">
                <a:cs typeface="Calibri" panose="020F0502020204030204" pitchFamily="34" charset="0"/>
              </a:rPr>
              <a:t> */ </a:t>
            </a:r>
          </a:p>
          <a:p>
            <a:pPr>
              <a:spcBef>
                <a:spcPts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sz="1800" b="1" dirty="0">
                <a:cs typeface="Calibri" panose="020F0502020204030204" pitchFamily="34" charset="0"/>
              </a:rPr>
              <a:t>                send(</a:t>
            </a:r>
            <a:r>
              <a:rPr kumimoji="0" lang="en-US" altLang="en-US" sz="1800" b="1" dirty="0" err="1">
                <a:cs typeface="Calibri" panose="020F0502020204030204" pitchFamily="34" charset="0"/>
              </a:rPr>
              <a:t>next_produced</a:t>
            </a:r>
            <a:r>
              <a:rPr kumimoji="0" lang="en-US" altLang="en-US" sz="1800" b="1" dirty="0">
                <a:cs typeface="Calibri" panose="020F0502020204030204" pitchFamily="34" charset="0"/>
              </a:rPr>
              <a:t>);  } </a:t>
            </a:r>
          </a:p>
          <a:p>
            <a:pPr>
              <a:spcBef>
                <a:spcPts val="0"/>
              </a:spcBef>
            </a:pPr>
            <a:r>
              <a:rPr lang="en-US" altLang="en-US" sz="2000" b="1" dirty="0">
                <a:cs typeface="Calibri" panose="020F0502020204030204" pitchFamily="34" charset="0"/>
              </a:rPr>
              <a:t>Consumer</a:t>
            </a:r>
          </a:p>
          <a:p>
            <a:pPr>
              <a:spcBef>
                <a:spcPts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sz="1800" b="1" dirty="0">
                <a:cs typeface="Calibri" panose="020F0502020204030204" pitchFamily="34" charset="0"/>
              </a:rPr>
              <a:t>            </a:t>
            </a:r>
            <a:r>
              <a:rPr kumimoji="0" lang="en-US" altLang="en-US" sz="1800" b="1" dirty="0">
                <a:cs typeface="Calibri" panose="020F0502020204030204" pitchFamily="34" charset="0"/>
              </a:rPr>
              <a:t>message </a:t>
            </a:r>
            <a:r>
              <a:rPr kumimoji="0" lang="en-US" altLang="en-US" sz="1800" b="1" dirty="0" err="1">
                <a:cs typeface="Calibri" panose="020F0502020204030204" pitchFamily="34" charset="0"/>
              </a:rPr>
              <a:t>next_consumed</a:t>
            </a:r>
            <a:r>
              <a:rPr kumimoji="0" lang="en-US" altLang="en-US" sz="1800" b="1" dirty="0">
                <a:cs typeface="Calibri" panose="020F0502020204030204" pitchFamily="34" charset="0"/>
              </a:rPr>
              <a:t>;</a:t>
            </a:r>
            <a:br>
              <a:rPr kumimoji="0" lang="en-US" altLang="en-US" sz="1800" b="1" dirty="0">
                <a:cs typeface="Calibri" panose="020F0502020204030204" pitchFamily="34" charset="0"/>
              </a:rPr>
            </a:br>
            <a:r>
              <a:rPr kumimoji="0" lang="en-US" altLang="en-US" sz="1800" b="1" dirty="0">
                <a:cs typeface="Calibri" panose="020F0502020204030204" pitchFamily="34" charset="0"/>
              </a:rPr>
              <a:t>       while (true) {</a:t>
            </a:r>
          </a:p>
          <a:p>
            <a:pPr>
              <a:spcBef>
                <a:spcPts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sz="1800" b="1" dirty="0">
                <a:cs typeface="Calibri" panose="020F0502020204030204" pitchFamily="34" charset="0"/>
              </a:rPr>
              <a:t>               /* consume the item in </a:t>
            </a:r>
            <a:r>
              <a:rPr kumimoji="0" lang="en-US" altLang="en-US" sz="1800" b="1" dirty="0" err="1">
                <a:cs typeface="Calibri" panose="020F0502020204030204" pitchFamily="34" charset="0"/>
              </a:rPr>
              <a:t>next_consumed</a:t>
            </a:r>
            <a:r>
              <a:rPr kumimoji="0" lang="en-US" altLang="en-US" sz="1800" b="1" dirty="0">
                <a:cs typeface="Calibri" panose="020F0502020204030204" pitchFamily="34" charset="0"/>
              </a:rPr>
              <a:t> */ </a:t>
            </a:r>
            <a:br>
              <a:rPr kumimoji="0" lang="en-US" altLang="en-US" sz="1800" b="1" dirty="0">
                <a:cs typeface="Calibri" panose="020F0502020204030204" pitchFamily="34" charset="0"/>
              </a:rPr>
            </a:br>
            <a:r>
              <a:rPr kumimoji="0" lang="en-US" altLang="en-US" sz="1800" b="1" dirty="0">
                <a:cs typeface="Calibri" panose="020F0502020204030204" pitchFamily="34" charset="0"/>
              </a:rPr>
              <a:t>	 receive(</a:t>
            </a:r>
            <a:r>
              <a:rPr kumimoji="0" lang="en-US" altLang="en-US" sz="1800" b="1" dirty="0" err="1">
                <a:cs typeface="Calibri" panose="020F0502020204030204" pitchFamily="34" charset="0"/>
              </a:rPr>
              <a:t>next_consumed</a:t>
            </a:r>
            <a:r>
              <a:rPr kumimoji="0" lang="en-US" altLang="en-US" sz="1800" b="1" dirty="0">
                <a:cs typeface="Calibri" panose="020F0502020204030204" pitchFamily="34" charset="0"/>
              </a:rPr>
              <a:t>)</a:t>
            </a:r>
            <a:br>
              <a:rPr kumimoji="0" lang="en-US" altLang="en-US" sz="1800" b="1" dirty="0">
                <a:cs typeface="Calibri" panose="020F0502020204030204" pitchFamily="34" charset="0"/>
              </a:rPr>
            </a:br>
            <a:r>
              <a:rPr kumimoji="0" lang="en-US" altLang="en-US" sz="2000" b="1" dirty="0">
                <a:cs typeface="Calibri" panose="020F0502020204030204" pitchFamily="34" charset="0"/>
              </a:rPr>
              <a:t>  }</a:t>
            </a:r>
            <a:endParaRPr lang="en-US" altLang="en-US" sz="2000" b="1" dirty="0">
              <a:cs typeface="Calibri" panose="020F050202020403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025" y="135377"/>
            <a:ext cx="702283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Producer-Consumer - Message Passing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02A9EE0-98F6-B54F-D208-367CE310DD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24406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FCCDAF0-ADCB-498D-ABA7-61D9ACD7A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4" y="172641"/>
            <a:ext cx="6791826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Buffering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9F3FAE0B-E324-4D81-9059-93D9D79F3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532" y="872728"/>
            <a:ext cx="6121666" cy="2881125"/>
          </a:xfrm>
        </p:spPr>
        <p:txBody>
          <a:bodyPr/>
          <a:lstStyle/>
          <a:p>
            <a:r>
              <a:rPr lang="en-US" altLang="en-US" sz="2000" dirty="0"/>
              <a:t>Queue of messages attached to the link</a:t>
            </a:r>
          </a:p>
          <a:p>
            <a:r>
              <a:rPr lang="en-US" altLang="en-US" sz="2000" dirty="0"/>
              <a:t>Implemented in one of three ways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2000" dirty="0">
                <a:solidFill>
                  <a:srgbClr val="CC6600"/>
                </a:solidFill>
              </a:rPr>
              <a:t>1.</a:t>
            </a:r>
            <a:r>
              <a:rPr lang="en-US" altLang="en-US" sz="2000" dirty="0"/>
              <a:t>	Zero capacity – no messages are queued on a link</a:t>
            </a:r>
            <a:br>
              <a:rPr lang="en-US" altLang="en-US" sz="2000" dirty="0"/>
            </a:br>
            <a:r>
              <a:rPr lang="en-US" altLang="en-US" sz="2000" dirty="0"/>
              <a:t>Sender must wait for receiver (rendezvous)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2000" dirty="0">
                <a:solidFill>
                  <a:srgbClr val="CC6600"/>
                </a:solidFill>
              </a:rPr>
              <a:t>2.</a:t>
            </a:r>
            <a:r>
              <a:rPr lang="en-US" altLang="en-US" sz="2000" dirty="0"/>
              <a:t>	Bounded capacity – finite length of </a:t>
            </a:r>
            <a:r>
              <a:rPr lang="en-US" altLang="en-US" sz="2000" i="1" dirty="0"/>
              <a:t>n</a:t>
            </a:r>
            <a:r>
              <a:rPr lang="en-US" altLang="en-US" sz="2000" dirty="0"/>
              <a:t> messages</a:t>
            </a:r>
            <a:br>
              <a:rPr lang="en-US" altLang="en-US" sz="2000" dirty="0"/>
            </a:br>
            <a:r>
              <a:rPr lang="en-US" altLang="en-US" sz="2000" dirty="0"/>
              <a:t>Sender must wait if link full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2000" dirty="0">
                <a:solidFill>
                  <a:srgbClr val="CC6600"/>
                </a:solidFill>
              </a:rPr>
              <a:t>3.</a:t>
            </a:r>
            <a:r>
              <a:rPr lang="en-US" altLang="en-US" sz="2000" dirty="0"/>
              <a:t>	Unbounded capacity – infinite length </a:t>
            </a:r>
            <a:br>
              <a:rPr lang="en-US" altLang="en-US" sz="2000" dirty="0"/>
            </a:br>
            <a:r>
              <a:rPr lang="en-US" altLang="en-US" sz="2000" dirty="0"/>
              <a:t>Sender never waits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800204-B6BB-5F6C-EE56-CBF09A0B68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177B0164-79AB-466A-AEF8-910811B2B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5899" y="169069"/>
            <a:ext cx="6879833" cy="432197"/>
          </a:xfrm>
        </p:spPr>
        <p:txBody>
          <a:bodyPr/>
          <a:lstStyle/>
          <a:p>
            <a:r>
              <a:rPr lang="en-US" altLang="en-US" sz="3200" dirty="0"/>
              <a:t>Examples of IPC Systems - POSIX</a:t>
            </a:r>
          </a:p>
        </p:txBody>
      </p:sp>
      <p:sp>
        <p:nvSpPr>
          <p:cNvPr id="96259" name="Content Placeholder 2">
            <a:extLst>
              <a:ext uri="{FF2B5EF4-FFF2-40B4-BE49-F238E27FC236}">
                <a16:creationId xmlns:a16="http://schemas.microsoft.com/office/drawing/2014/main" id="{97B56D75-D444-495A-8F21-29317312A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6530" y="872728"/>
            <a:ext cx="7247823" cy="3622270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POSIX Shared Memory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Process first creates shared memory segment</a:t>
            </a:r>
            <a:br>
              <a:rPr lang="en-US" altLang="en-US" sz="2000" dirty="0">
                <a:cs typeface="Calibri" panose="020F0502020204030204" pitchFamily="34" charset="0"/>
              </a:rPr>
            </a:br>
            <a:r>
              <a:rPr lang="en-US" altLang="en-US" sz="2000" b="1" dirty="0" err="1">
                <a:cs typeface="Calibri" panose="020F0502020204030204" pitchFamily="34" charset="0"/>
              </a:rPr>
              <a:t>shm_fd</a:t>
            </a:r>
            <a:r>
              <a:rPr lang="en-US" altLang="en-US" sz="2000" b="1" dirty="0">
                <a:cs typeface="Calibri" panose="020F0502020204030204" pitchFamily="34" charset="0"/>
              </a:rPr>
              <a:t> = </a:t>
            </a:r>
            <a:r>
              <a:rPr lang="en-US" altLang="en-US" sz="2000" b="1" dirty="0" err="1">
                <a:cs typeface="Calibri" panose="020F0502020204030204" pitchFamily="34" charset="0"/>
              </a:rPr>
              <a:t>shm_open</a:t>
            </a:r>
            <a:r>
              <a:rPr lang="en-US" altLang="en-US" sz="2000" b="1" dirty="0">
                <a:cs typeface="Calibri" panose="020F0502020204030204" pitchFamily="34" charset="0"/>
              </a:rPr>
              <a:t>(name, O CREAT | O RDWR, 0666);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Also used to open an existing segment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Set the size of the object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cs typeface="Calibri" panose="020F0502020204030204" pitchFamily="34" charset="0"/>
              </a:rPr>
              <a:t>	            </a:t>
            </a:r>
            <a:r>
              <a:rPr lang="en-US" altLang="en-US" sz="2000" b="1" dirty="0" err="1">
                <a:cs typeface="Calibri" panose="020F0502020204030204" pitchFamily="34" charset="0"/>
              </a:rPr>
              <a:t>ftruncate</a:t>
            </a:r>
            <a:r>
              <a:rPr lang="en-US" altLang="en-US" sz="2000" b="1" dirty="0">
                <a:cs typeface="Calibri" panose="020F0502020204030204" pitchFamily="34" charset="0"/>
              </a:rPr>
              <a:t>(</a:t>
            </a:r>
            <a:r>
              <a:rPr lang="en-US" altLang="en-US" sz="2000" b="1" dirty="0" err="1">
                <a:cs typeface="Calibri" panose="020F0502020204030204" pitchFamily="34" charset="0"/>
              </a:rPr>
              <a:t>shm_fd</a:t>
            </a:r>
            <a:r>
              <a:rPr lang="en-US" altLang="en-US" sz="2000" b="1" dirty="0">
                <a:cs typeface="Calibri" panose="020F0502020204030204" pitchFamily="34" charset="0"/>
              </a:rPr>
              <a:t>, 4096); 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Use </a:t>
            </a:r>
            <a:r>
              <a:rPr lang="en-US" altLang="en-US" sz="2000" b="1" dirty="0" err="1">
                <a:cs typeface="Calibri" panose="020F0502020204030204" pitchFamily="34" charset="0"/>
              </a:rPr>
              <a:t>mmap</a:t>
            </a:r>
            <a:r>
              <a:rPr lang="en-US" altLang="en-US" sz="2000" b="1" dirty="0">
                <a:cs typeface="Calibri" panose="020F0502020204030204" pitchFamily="34" charset="0"/>
              </a:rPr>
              <a:t>() </a:t>
            </a:r>
            <a:r>
              <a:rPr lang="en-US" altLang="en-US" sz="2000" dirty="0">
                <a:cs typeface="Calibri" panose="020F0502020204030204" pitchFamily="34" charset="0"/>
              </a:rPr>
              <a:t>to memory-map a file pointer to the shared memory object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Reading and writing to shared memory is done by using the pointer returned by </a:t>
            </a:r>
            <a:r>
              <a:rPr lang="en-US" altLang="en-US" sz="2000" b="1" dirty="0" err="1">
                <a:cs typeface="Calibri" panose="020F0502020204030204" pitchFamily="34" charset="0"/>
              </a:rPr>
              <a:t>mmap</a:t>
            </a:r>
            <a:r>
              <a:rPr lang="en-US" altLang="en-US" sz="2000" b="1" dirty="0">
                <a:cs typeface="Calibri" panose="020F0502020204030204" pitchFamily="34" charset="0"/>
              </a:rPr>
              <a:t>()</a:t>
            </a:r>
            <a:r>
              <a:rPr lang="en-US" altLang="en-US" sz="2000" dirty="0">
                <a:cs typeface="Calibri" panose="020F0502020204030204" pitchFamily="34" charset="0"/>
              </a:rPr>
              <a:t>.</a:t>
            </a:r>
            <a:br>
              <a:rPr lang="en-US" altLang="en-US" sz="2000" dirty="0">
                <a:cs typeface="Calibri" panose="020F0502020204030204" pitchFamily="34" charset="0"/>
              </a:rPr>
            </a:br>
            <a:br>
              <a:rPr lang="en-US" altLang="en-US" sz="2000" dirty="0">
                <a:cs typeface="Calibri" panose="020F0502020204030204" pitchFamily="34" charset="0"/>
              </a:rPr>
            </a:br>
            <a:endParaRPr lang="en-US" altLang="en-US" sz="2000" b="1" dirty="0"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936BCD-E10D-6C27-4C03-81723C230F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>
            <a:extLst>
              <a:ext uri="{FF2B5EF4-FFF2-40B4-BE49-F238E27FC236}">
                <a16:creationId xmlns:a16="http://schemas.microsoft.com/office/drawing/2014/main" id="{1C323C46-CF44-41D6-BAB1-2E6334C38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5" y="164307"/>
            <a:ext cx="6866836" cy="432197"/>
          </a:xfrm>
        </p:spPr>
        <p:txBody>
          <a:bodyPr/>
          <a:lstStyle/>
          <a:p>
            <a:r>
              <a:rPr lang="en-US" altLang="en-US" sz="3200" dirty="0"/>
              <a:t>IPC POSIX Producer</a:t>
            </a:r>
          </a:p>
        </p:txBody>
      </p:sp>
      <p:pic>
        <p:nvPicPr>
          <p:cNvPr id="98307" name="Picture 1" descr="Screen Shot 2013-03-14 at 6.46.57 PM.png">
            <a:extLst>
              <a:ext uri="{FF2B5EF4-FFF2-40B4-BE49-F238E27FC236}">
                <a16:creationId xmlns:a16="http://schemas.microsoft.com/office/drawing/2014/main" id="{61A9851A-030D-4A31-97DA-D34C1F0D8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585" y="816836"/>
            <a:ext cx="2458315" cy="3771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F64D66-A0E0-C73A-E915-37B1C43510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72CAE47D-3817-440B-8694-F512695F8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5" y="175022"/>
            <a:ext cx="6847586" cy="432197"/>
          </a:xfrm>
        </p:spPr>
        <p:txBody>
          <a:bodyPr/>
          <a:lstStyle/>
          <a:p>
            <a:r>
              <a:rPr lang="en-US" altLang="en-US" sz="3200" dirty="0"/>
              <a:t>IPC POSIX Consumer</a:t>
            </a:r>
          </a:p>
        </p:txBody>
      </p:sp>
      <p:pic>
        <p:nvPicPr>
          <p:cNvPr id="100355" name="Picture 1" descr="Screen Shot 2013-03-12 at 1.38.41 PM.png">
            <a:extLst>
              <a:ext uri="{FF2B5EF4-FFF2-40B4-BE49-F238E27FC236}">
                <a16:creationId xmlns:a16="http://schemas.microsoft.com/office/drawing/2014/main" id="{0B653FB0-9968-4B72-95FF-0DAED2D58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720" y="852011"/>
            <a:ext cx="3009823" cy="376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37D9D8-185B-6A7A-0F29-E86A99B33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35415C98-6AA0-438D-B9AC-E2E8638637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27671"/>
            <a:ext cx="6772576" cy="432197"/>
          </a:xfrm>
        </p:spPr>
        <p:txBody>
          <a:bodyPr/>
          <a:lstStyle/>
          <a:p>
            <a:r>
              <a:rPr lang="en-US" altLang="en-US" sz="3200" dirty="0"/>
              <a:t>Examples of IPC Systems - Mach</a:t>
            </a:r>
          </a:p>
        </p:txBody>
      </p:sp>
      <p:sp>
        <p:nvSpPr>
          <p:cNvPr id="102403" name="Content Placeholder 2">
            <a:extLst>
              <a:ext uri="{FF2B5EF4-FFF2-40B4-BE49-F238E27FC236}">
                <a16:creationId xmlns:a16="http://schemas.microsoft.com/office/drawing/2014/main" id="{F7B5A04B-9E69-4538-9F47-9CD69C217C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3160" y="863103"/>
            <a:ext cx="7678078" cy="3699272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Mach communication is message based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Even system calls are messages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Each task gets two ports at creation  - Kernel and Notify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Messages are sent and received using the </a:t>
            </a:r>
            <a:r>
              <a:rPr lang="en-US" altLang="en-US" sz="1800" b="1" dirty="0" err="1">
                <a:cs typeface="Calibri" panose="020F0502020204030204" pitchFamily="34" charset="0"/>
              </a:rPr>
              <a:t>mach_msg</a:t>
            </a:r>
            <a:r>
              <a:rPr lang="en-US" altLang="en-US" sz="1800" b="1" dirty="0">
                <a:cs typeface="Calibri" panose="020F0502020204030204" pitchFamily="34" charset="0"/>
              </a:rPr>
              <a:t>() </a:t>
            </a:r>
            <a:r>
              <a:rPr lang="en-US" altLang="en-US" sz="1800" dirty="0">
                <a:cs typeface="Calibri" panose="020F0502020204030204" pitchFamily="34" charset="0"/>
              </a:rPr>
              <a:t>function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Ports needed for communication, created via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1800" b="1" dirty="0">
                <a:cs typeface="Calibri" panose="020F0502020204030204" pitchFamily="34" charset="0"/>
              </a:rPr>
              <a:t>	      </a:t>
            </a:r>
            <a:r>
              <a:rPr lang="en-US" altLang="en-US" sz="1800" b="1" dirty="0" err="1">
                <a:cs typeface="Calibri" panose="020F0502020204030204" pitchFamily="34" charset="0"/>
              </a:rPr>
              <a:t>mach_port_allocate</a:t>
            </a:r>
            <a:r>
              <a:rPr lang="en-US" altLang="en-US" sz="1800" b="1" dirty="0">
                <a:cs typeface="Calibri" panose="020F0502020204030204" pitchFamily="34" charset="0"/>
              </a:rPr>
              <a:t>()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Send and receive are flexible; for example four options if mailbox full:</a:t>
            </a:r>
          </a:p>
          <a:p>
            <a:pPr lvl="2"/>
            <a:r>
              <a:rPr lang="en-US" altLang="en-US" sz="1800" dirty="0"/>
              <a:t>Wait indefinitely</a:t>
            </a:r>
          </a:p>
          <a:p>
            <a:pPr lvl="2"/>
            <a:r>
              <a:rPr lang="en-US" altLang="en-US" sz="1800" dirty="0"/>
              <a:t>Wait at most n milliseconds</a:t>
            </a:r>
          </a:p>
          <a:p>
            <a:pPr lvl="2"/>
            <a:r>
              <a:rPr lang="en-US" altLang="en-US" sz="1800" dirty="0"/>
              <a:t>Return immediately</a:t>
            </a:r>
          </a:p>
          <a:p>
            <a:pPr lvl="2"/>
            <a:r>
              <a:rPr lang="en-US" altLang="en-US" sz="1800" dirty="0"/>
              <a:t>Temporarily cache a message</a:t>
            </a:r>
          </a:p>
          <a:p>
            <a:pPr lvl="1"/>
            <a:endParaRPr lang="en-US" altLang="en-US" sz="2000" b="1" dirty="0"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F1E4AC5-7279-FD9D-13B0-255BC4397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17415A41-B77C-44C2-A3A9-F61E201A8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025" y="108349"/>
            <a:ext cx="7751665" cy="519113"/>
          </a:xfrm>
        </p:spPr>
        <p:txBody>
          <a:bodyPr/>
          <a:lstStyle/>
          <a:p>
            <a:r>
              <a:rPr lang="en-US" altLang="en-US" sz="3200" dirty="0"/>
              <a:t>Mach Messages</a:t>
            </a: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1448A0B1-912B-4A5D-AA68-2FA59417A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9073" y="933651"/>
            <a:ext cx="409194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#include&lt;mach/mach.h&gt;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struct message {</a:t>
            </a:r>
            <a:br>
              <a:rPr kumimoji="0" lang="en-US" altLang="en-US" sz="2000" b="1" dirty="0">
                <a:latin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</a:rPr>
              <a:t>	</a:t>
            </a:r>
            <a:r>
              <a:rPr kumimoji="0" lang="en-US" altLang="en-US" sz="2000" b="1" dirty="0" err="1">
                <a:latin typeface="Courier New" panose="02070309020205020404" pitchFamily="49" charset="0"/>
              </a:rPr>
              <a:t>mach_msg_header_t</a:t>
            </a:r>
            <a:r>
              <a:rPr kumimoji="0" lang="en-US" altLang="en-US" sz="2000" b="1" dirty="0">
                <a:latin typeface="Courier New" panose="02070309020205020404" pitchFamily="49" charset="0"/>
              </a:rPr>
              <a:t> header;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	int data;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};</a:t>
            </a:r>
            <a:br>
              <a:rPr kumimoji="0" lang="en-US" altLang="en-US" sz="2000" b="1" dirty="0">
                <a:latin typeface="Courier New" panose="02070309020205020404" pitchFamily="49" charset="0"/>
              </a:rPr>
            </a:br>
            <a:br>
              <a:rPr kumimoji="0" lang="en-US" altLang="en-US" sz="2000" b="1" dirty="0">
                <a:latin typeface="Courier New" panose="02070309020205020404" pitchFamily="49" charset="0"/>
              </a:rPr>
            </a:br>
            <a:r>
              <a:rPr kumimoji="0" lang="en-US" altLang="en-US" sz="2000" b="1" dirty="0" err="1">
                <a:latin typeface="Courier New" panose="02070309020205020404" pitchFamily="49" charset="0"/>
              </a:rPr>
              <a:t>mach</a:t>
            </a:r>
            <a:r>
              <a:rPr kumimoji="0" lang="en-US" altLang="en-US" sz="2000" b="1" dirty="0">
                <a:latin typeface="Courier New" panose="02070309020205020404" pitchFamily="49" charset="0"/>
              </a:rPr>
              <a:t> port t client;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 err="1">
                <a:latin typeface="Courier New" panose="02070309020205020404" pitchFamily="49" charset="0"/>
              </a:rPr>
              <a:t>mach</a:t>
            </a:r>
            <a:r>
              <a:rPr kumimoji="0" lang="en-US" altLang="en-US" sz="2000" b="1" dirty="0">
                <a:latin typeface="Courier New" panose="02070309020205020404" pitchFamily="49" charset="0"/>
              </a:rPr>
              <a:t> port t server;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21B515-3346-2662-BC17-4E35F24F64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>
            <a:extLst>
              <a:ext uri="{FF2B5EF4-FFF2-40B4-BE49-F238E27FC236}">
                <a16:creationId xmlns:a16="http://schemas.microsoft.com/office/drawing/2014/main" id="{BAB29CD7-9B87-4A97-899F-BD574BE8E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651" y="169069"/>
            <a:ext cx="6610149" cy="432197"/>
          </a:xfrm>
        </p:spPr>
        <p:txBody>
          <a:bodyPr/>
          <a:lstStyle/>
          <a:p>
            <a:r>
              <a:rPr lang="en-US" altLang="en-US" sz="3200" dirty="0"/>
              <a:t>Mach Message Passing - Client</a:t>
            </a:r>
          </a:p>
        </p:txBody>
      </p:sp>
      <p:pic>
        <p:nvPicPr>
          <p:cNvPr id="105475" name="Picture 2">
            <a:extLst>
              <a:ext uri="{FF2B5EF4-FFF2-40B4-BE49-F238E27FC236}">
                <a16:creationId xmlns:a16="http://schemas.microsoft.com/office/drawing/2014/main" id="{14AE9FBD-1D09-463A-8495-50DD2E8C5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657" y="818750"/>
            <a:ext cx="5516890" cy="3772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FFFB8F-088A-761C-D23D-20A3DBB5BA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>
            <a:extLst>
              <a:ext uri="{FF2B5EF4-FFF2-40B4-BE49-F238E27FC236}">
                <a16:creationId xmlns:a16="http://schemas.microsoft.com/office/drawing/2014/main" id="{3CD3F126-E414-445F-91C4-4B40C1B15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69069"/>
            <a:ext cx="6629401" cy="432197"/>
          </a:xfrm>
        </p:spPr>
        <p:txBody>
          <a:bodyPr/>
          <a:lstStyle/>
          <a:p>
            <a:r>
              <a:rPr lang="en-US" altLang="en-US" sz="3200" dirty="0"/>
              <a:t>Mach Message Passing - Server</a:t>
            </a:r>
          </a:p>
        </p:txBody>
      </p:sp>
      <p:pic>
        <p:nvPicPr>
          <p:cNvPr id="106499" name="Picture 2">
            <a:extLst>
              <a:ext uri="{FF2B5EF4-FFF2-40B4-BE49-F238E27FC236}">
                <a16:creationId xmlns:a16="http://schemas.microsoft.com/office/drawing/2014/main" id="{1E944D3E-85FF-4626-840A-0177C14FA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395" y="999392"/>
            <a:ext cx="6821803" cy="3144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E7F8180-C175-88E5-692A-6F7BB7048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>
            <a:extLst>
              <a:ext uri="{FF2B5EF4-FFF2-40B4-BE49-F238E27FC236}">
                <a16:creationId xmlns:a16="http://schemas.microsoft.com/office/drawing/2014/main" id="{9AA84AD8-45BC-496F-93D4-85BB20F8D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651" y="128003"/>
            <a:ext cx="7101251" cy="432197"/>
          </a:xfrm>
        </p:spPr>
        <p:txBody>
          <a:bodyPr/>
          <a:lstStyle/>
          <a:p>
            <a:r>
              <a:rPr lang="en-US" altLang="en-US" sz="3200" dirty="0"/>
              <a:t>Examples of IPC Systems – Windows</a:t>
            </a:r>
          </a:p>
        </p:txBody>
      </p:sp>
      <p:sp>
        <p:nvSpPr>
          <p:cNvPr id="107523" name="Content Placeholder 2">
            <a:extLst>
              <a:ext uri="{FF2B5EF4-FFF2-40B4-BE49-F238E27FC236}">
                <a16:creationId xmlns:a16="http://schemas.microsoft.com/office/drawing/2014/main" id="{31766832-DFC8-4A86-A2CF-46CA4D6FAF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4774" y="807832"/>
            <a:ext cx="7815713" cy="3706414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Message-passing centric via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advanced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local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procedure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call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cs typeface="Calibri" panose="020F0502020204030204" pitchFamily="3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LPC</a:t>
            </a:r>
            <a:r>
              <a:rPr lang="en-US" altLang="en-US" sz="2000" b="1" dirty="0">
                <a:solidFill>
                  <a:srgbClr val="000000"/>
                </a:solidFill>
                <a:cs typeface="Calibri" panose="020F0502020204030204" pitchFamily="34" charset="0"/>
              </a:rPr>
              <a:t>)</a:t>
            </a:r>
            <a:r>
              <a:rPr lang="en-US" altLang="en-US" sz="2000" dirty="0">
                <a:cs typeface="Calibri" panose="020F0502020204030204" pitchFamily="34" charset="0"/>
              </a:rPr>
              <a:t> facility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Only works between processes on the same system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Uses ports (like mailboxes) to establish and maintain communication channels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Communication works as follows:</a:t>
            </a:r>
          </a:p>
          <a:p>
            <a:pPr lvl="2"/>
            <a:r>
              <a:rPr lang="en-US" altLang="en-US" sz="1600" dirty="0"/>
              <a:t>The client opens a handle to the subsystem’</a:t>
            </a:r>
            <a:r>
              <a:rPr lang="en-US" altLang="ja-JP" sz="1600" dirty="0"/>
              <a:t>s </a:t>
            </a:r>
            <a:r>
              <a:rPr lang="en-US" altLang="ja-JP" sz="1600" b="1" dirty="0">
                <a:solidFill>
                  <a:srgbClr val="006699"/>
                </a:solidFill>
              </a:rPr>
              <a:t>connection</a:t>
            </a:r>
            <a:r>
              <a:rPr lang="en-US" altLang="ja-JP" sz="1600" b="1" dirty="0">
                <a:solidFill>
                  <a:srgbClr val="0000FF"/>
                </a:solidFill>
              </a:rPr>
              <a:t> </a:t>
            </a:r>
            <a:r>
              <a:rPr lang="en-US" altLang="ja-JP" sz="1600" b="1" dirty="0">
                <a:solidFill>
                  <a:srgbClr val="006699"/>
                </a:solidFill>
              </a:rPr>
              <a:t>port</a:t>
            </a:r>
            <a:r>
              <a:rPr lang="en-US" altLang="ja-JP" sz="1600" dirty="0"/>
              <a:t> object.</a:t>
            </a:r>
          </a:p>
          <a:p>
            <a:pPr lvl="2"/>
            <a:r>
              <a:rPr lang="en-US" altLang="en-US" sz="1600" dirty="0"/>
              <a:t>The client sends a connection request.</a:t>
            </a:r>
          </a:p>
          <a:p>
            <a:pPr lvl="2"/>
            <a:r>
              <a:rPr lang="en-US" altLang="en-US" sz="1600" dirty="0"/>
              <a:t>The server creates two private </a:t>
            </a:r>
            <a:r>
              <a:rPr lang="en-US" altLang="en-US" sz="1600" b="1" dirty="0">
                <a:solidFill>
                  <a:srgbClr val="006699"/>
                </a:solidFill>
              </a:rPr>
              <a:t>communication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b="1" dirty="0">
                <a:solidFill>
                  <a:srgbClr val="006699"/>
                </a:solidFill>
              </a:rPr>
              <a:t>ports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and returns the handle to one of them to the client.</a:t>
            </a:r>
          </a:p>
          <a:p>
            <a:pPr lvl="2"/>
            <a:r>
              <a:rPr lang="en-US" altLang="en-US" sz="1600" dirty="0"/>
              <a:t>The client and server use the corresponding port handle to send messages or callbacks and to listen for replies.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017ECE-444D-1B1A-0E35-B606839221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1870AEF7-4CF4-41BC-81BB-29CC7F55A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71451"/>
            <a:ext cx="6884495" cy="432197"/>
          </a:xfrm>
        </p:spPr>
        <p:txBody>
          <a:bodyPr/>
          <a:lstStyle/>
          <a:p>
            <a:r>
              <a:rPr lang="en-US" altLang="en-US" sz="3200" dirty="0"/>
              <a:t>Local Procedure Calls in Windows</a:t>
            </a:r>
          </a:p>
        </p:txBody>
      </p:sp>
      <p:pic>
        <p:nvPicPr>
          <p:cNvPr id="109571" name="Picture 1">
            <a:extLst>
              <a:ext uri="{FF2B5EF4-FFF2-40B4-BE49-F238E27FC236}">
                <a16:creationId xmlns:a16="http://schemas.microsoft.com/office/drawing/2014/main" id="{0D6084EA-7656-42CC-8EAC-D97ED13454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792" y="895149"/>
            <a:ext cx="6887411" cy="3542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23F61BD-F722-259C-098C-B3FB86588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C25BF9C1-AE04-4A77-B3E6-FD94636BD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24626"/>
            <a:ext cx="6762951" cy="432197"/>
          </a:xfrm>
        </p:spPr>
        <p:txBody>
          <a:bodyPr/>
          <a:lstStyle/>
          <a:p>
            <a:pPr eaLnBrk="1" hangingPunct="1"/>
            <a:r>
              <a:rPr lang="en-US" altLang="en-US" dirty="0"/>
              <a:t>Pipes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C682366-2987-469E-AF71-AD20FF741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2152" y="865585"/>
            <a:ext cx="7488453" cy="339840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/>
              <a:t>Acts as a conduit allowing two processes to communicate</a:t>
            </a:r>
          </a:p>
          <a:p>
            <a:pPr>
              <a:spcBef>
                <a:spcPts val="0"/>
              </a:spcBef>
            </a:pPr>
            <a:r>
              <a:rPr lang="en-US" altLang="en-US" sz="2000" dirty="0"/>
              <a:t>Issues: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Is communication unidirectional or bidirectional?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In the case of two-way communication, is it half or full-duplex?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Must there exist a relationship (i.e., </a:t>
            </a:r>
            <a:r>
              <a:rPr lang="en-US" altLang="en-US" sz="1800" b="1" i="1" dirty="0"/>
              <a:t>parent-child</a:t>
            </a:r>
            <a:r>
              <a:rPr lang="en-US" altLang="en-US" sz="1800" dirty="0"/>
              <a:t>) between the communicating processes?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Can the pipes be used over a network?</a:t>
            </a:r>
          </a:p>
          <a:p>
            <a:pPr>
              <a:spcBef>
                <a:spcPts val="0"/>
              </a:spcBef>
            </a:pPr>
            <a:r>
              <a:rPr lang="en-US" altLang="en-US" sz="2000" b="1" dirty="0"/>
              <a:t>Ordinary pipes </a:t>
            </a:r>
            <a:r>
              <a:rPr lang="en-US" altLang="en-US" sz="2000" dirty="0"/>
              <a:t>– cannot be accessed  from outside the process that created it. Typically, a parent process creates a pipe and uses it to communicate with a child process that it created. </a:t>
            </a:r>
          </a:p>
          <a:p>
            <a:pPr>
              <a:spcBef>
                <a:spcPts val="0"/>
              </a:spcBef>
            </a:pPr>
            <a:r>
              <a:rPr lang="en-US" altLang="en-US" sz="2000" b="1" dirty="0"/>
              <a:t>Named pipes </a:t>
            </a:r>
            <a:r>
              <a:rPr lang="en-US" altLang="en-US" sz="2000" dirty="0"/>
              <a:t>– can be accessed without a parent-child relationship.</a:t>
            </a:r>
          </a:p>
          <a:p>
            <a:pPr>
              <a:spcBef>
                <a:spcPts val="0"/>
              </a:spcBef>
              <a:buFont typeface="Monotype Sorts" pitchFamily="-84" charset="2"/>
              <a:buNone/>
            </a:pPr>
            <a:endParaRPr lang="en-US" altLang="en-US" sz="2000" dirty="0"/>
          </a:p>
          <a:p>
            <a:pPr lvl="1">
              <a:spcBef>
                <a:spcPts val="0"/>
              </a:spcBef>
            </a:pPr>
            <a:endParaRPr lang="en-US" altLang="en-US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4C0027-0708-1478-2FE7-5CECF62E2A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>
            <a:extLst>
              <a:ext uri="{FF2B5EF4-FFF2-40B4-BE49-F238E27FC236}">
                <a16:creationId xmlns:a16="http://schemas.microsoft.com/office/drawing/2014/main" id="{39BA9E19-E982-409D-855A-7A7246EB3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775" y="122908"/>
            <a:ext cx="6753325" cy="432197"/>
          </a:xfrm>
        </p:spPr>
        <p:txBody>
          <a:bodyPr/>
          <a:lstStyle/>
          <a:p>
            <a:r>
              <a:rPr lang="en-US" altLang="en-US" sz="3200" dirty="0"/>
              <a:t>Ordinary Pipes</a:t>
            </a:r>
          </a:p>
        </p:txBody>
      </p:sp>
      <p:sp>
        <p:nvSpPr>
          <p:cNvPr id="113667" name="Content Placeholder 7">
            <a:extLst>
              <a:ext uri="{FF2B5EF4-FFF2-40B4-BE49-F238E27FC236}">
                <a16:creationId xmlns:a16="http://schemas.microsoft.com/office/drawing/2014/main" id="{F5BD8B2E-EBB3-49C3-9C8D-A24250F50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48641" y="805554"/>
            <a:ext cx="8171848" cy="3698081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Ordinary Pipes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allow communication in standard producer-consumer style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Producer writes to one end (the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write-end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of the pipe)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Consumer reads from the other end (the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read-end</a:t>
            </a:r>
            <a:r>
              <a:rPr lang="en-US" altLang="en-US" sz="2000" i="1" dirty="0"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of the pipe)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Ordinary pipes are therefore unidirectional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Require parent-child relationship between communicating processes</a:t>
            </a:r>
          </a:p>
          <a:p>
            <a:endParaRPr lang="en-US" altLang="en-US" sz="2000" dirty="0">
              <a:cs typeface="Calibri" panose="020F050202020403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cs typeface="Calibri" panose="020F0502020204030204" pitchFamily="34" charset="0"/>
            </a:endParaRPr>
          </a:p>
          <a:p>
            <a:r>
              <a:rPr lang="en-US" altLang="en-US" sz="2000" dirty="0">
                <a:cs typeface="Calibri" panose="020F0502020204030204" pitchFamily="34" charset="0"/>
              </a:rPr>
              <a:t>Windows calls these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anonymous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pipes</a:t>
            </a:r>
          </a:p>
        </p:txBody>
      </p:sp>
      <p:pic>
        <p:nvPicPr>
          <p:cNvPr id="113668" name="Picture 1">
            <a:extLst>
              <a:ext uri="{FF2B5EF4-FFF2-40B4-BE49-F238E27FC236}">
                <a16:creationId xmlns:a16="http://schemas.microsoft.com/office/drawing/2014/main" id="{7F3119A2-4C8F-4927-A524-86ABC2A54F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484" y="2887580"/>
            <a:ext cx="3259288" cy="110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115B1B-8A50-F200-7D06-0F7967C7DF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60</a:t>
            </a:fld>
            <a:endParaRPr lang="zh-TW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6">
            <a:extLst>
              <a:ext uri="{FF2B5EF4-FFF2-40B4-BE49-F238E27FC236}">
                <a16:creationId xmlns:a16="http://schemas.microsoft.com/office/drawing/2014/main" id="{F46E3781-78DE-4BB1-BE01-A0E3071BA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63116"/>
            <a:ext cx="6784482" cy="432197"/>
          </a:xfrm>
        </p:spPr>
        <p:txBody>
          <a:bodyPr/>
          <a:lstStyle/>
          <a:p>
            <a:r>
              <a:rPr lang="en-US" altLang="en-US" sz="3200" dirty="0"/>
              <a:t>Named Pipes</a:t>
            </a:r>
          </a:p>
        </p:txBody>
      </p:sp>
      <p:sp>
        <p:nvSpPr>
          <p:cNvPr id="115715" name="Content Placeholder 7">
            <a:extLst>
              <a:ext uri="{FF2B5EF4-FFF2-40B4-BE49-F238E27FC236}">
                <a16:creationId xmlns:a16="http://schemas.microsoft.com/office/drawing/2014/main" id="{18F2E9C8-16A0-4DAA-AF49-56C9A6E9D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1777" y="925116"/>
            <a:ext cx="7218947" cy="3398044"/>
          </a:xfrm>
        </p:spPr>
        <p:txBody>
          <a:bodyPr/>
          <a:lstStyle/>
          <a:p>
            <a:r>
              <a:rPr lang="en-US" altLang="en-US" sz="2000" dirty="0"/>
              <a:t>Named Pipes are more powerful than ordinary pipes</a:t>
            </a:r>
          </a:p>
          <a:p>
            <a:r>
              <a:rPr lang="en-US" altLang="en-US" sz="2000" dirty="0"/>
              <a:t>Communication is bidirectional</a:t>
            </a:r>
          </a:p>
          <a:p>
            <a:r>
              <a:rPr lang="en-US" altLang="en-US" sz="2000" dirty="0"/>
              <a:t>No parent-child relationship is necessary between the communicating processes</a:t>
            </a:r>
          </a:p>
          <a:p>
            <a:r>
              <a:rPr lang="en-US" altLang="en-US" sz="2000" dirty="0"/>
              <a:t>Several processes can use the named pipe for communication</a:t>
            </a:r>
          </a:p>
          <a:p>
            <a:r>
              <a:rPr lang="en-US" altLang="en-US" sz="2000" dirty="0"/>
              <a:t>Provided on both UNIX and Windows systems</a:t>
            </a:r>
          </a:p>
          <a:p>
            <a:endParaRPr lang="en-US" altLang="en-US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BE03DC-E06C-716F-F475-9E5130CE3E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75C715D-993B-44C7-ADB7-9A677E467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5899" y="177403"/>
            <a:ext cx="753658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Communications in Client-Server Systems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4D67705B-FB5C-413D-B899-1A626A2B7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0278" y="925116"/>
            <a:ext cx="5885347" cy="788181"/>
          </a:xfrm>
        </p:spPr>
        <p:txBody>
          <a:bodyPr/>
          <a:lstStyle/>
          <a:p>
            <a:r>
              <a:rPr lang="en-US" altLang="en-US" sz="2000" dirty="0"/>
              <a:t>Sockets</a:t>
            </a:r>
          </a:p>
          <a:p>
            <a:r>
              <a:rPr lang="en-US" altLang="en-US" sz="2000" dirty="0"/>
              <a:t>Remote Procedure Calls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FCE532-7786-D90C-3D85-7F5274CE5F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9A89FFA0-4422-4D97-8EC3-0539C7C28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77403"/>
            <a:ext cx="676295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Sockets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EE1CFE9-1B2A-4F4F-8A26-40D04D747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2526" y="865585"/>
            <a:ext cx="7498079" cy="3398044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A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socket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is defined as an endpoint for communication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Concatenation of IP address and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port</a:t>
            </a:r>
            <a:r>
              <a:rPr lang="en-US" altLang="en-US" sz="2000" dirty="0">
                <a:cs typeface="Calibri" panose="020F0502020204030204" pitchFamily="34" charset="0"/>
              </a:rPr>
              <a:t> – a number included at start of message packet to differentiate network services on a host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The socket </a:t>
            </a:r>
            <a:r>
              <a:rPr lang="en-US" altLang="en-US" sz="2000" b="1" dirty="0">
                <a:cs typeface="Calibri" panose="020F0502020204030204" pitchFamily="34" charset="0"/>
              </a:rPr>
              <a:t>161.25.19.8:1625</a:t>
            </a:r>
            <a:r>
              <a:rPr lang="en-US" altLang="en-US" sz="2000" dirty="0">
                <a:cs typeface="Calibri" panose="020F0502020204030204" pitchFamily="34" charset="0"/>
              </a:rPr>
              <a:t> refers to port </a:t>
            </a:r>
            <a:r>
              <a:rPr lang="en-US" altLang="en-US" sz="2000" b="1" dirty="0">
                <a:cs typeface="Calibri" panose="020F0502020204030204" pitchFamily="34" charset="0"/>
              </a:rPr>
              <a:t>1625</a:t>
            </a:r>
            <a:r>
              <a:rPr lang="en-US" altLang="en-US" sz="2000" dirty="0">
                <a:cs typeface="Calibri" panose="020F0502020204030204" pitchFamily="34" charset="0"/>
              </a:rPr>
              <a:t> on host </a:t>
            </a:r>
            <a:r>
              <a:rPr lang="en-US" altLang="en-US" sz="2000" b="1" dirty="0">
                <a:cs typeface="Calibri" panose="020F0502020204030204" pitchFamily="34" charset="0"/>
              </a:rPr>
              <a:t>161.25.19.8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Communication consists between a pair of sockets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All ports below 1024 are </a:t>
            </a:r>
            <a:r>
              <a:rPr lang="en-US" altLang="en-US" sz="2000" b="1" i="1" dirty="0">
                <a:cs typeface="Calibri" panose="020F0502020204030204" pitchFamily="34" charset="0"/>
              </a:rPr>
              <a:t>well known</a:t>
            </a:r>
            <a:r>
              <a:rPr lang="en-US" altLang="en-US" sz="2000" dirty="0">
                <a:cs typeface="Calibri" panose="020F0502020204030204" pitchFamily="34" charset="0"/>
              </a:rPr>
              <a:t>, used for standard services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Special IP address 127.0.0.1 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loopback</a:t>
            </a:r>
            <a:r>
              <a:rPr lang="en-US" altLang="en-US" sz="2000" dirty="0">
                <a:cs typeface="Calibri" panose="020F0502020204030204" pitchFamily="34" charset="0"/>
              </a:rPr>
              <a:t>) to refer to system on which process is running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406D2A2-2A82-6148-6D83-3445D4E715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63</a:t>
            </a:fld>
            <a:endParaRPr lang="zh-TW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2ED2E090-F4D8-4519-90FE-FAC4503D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70260"/>
            <a:ext cx="698798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Socket Communication</a:t>
            </a:r>
          </a:p>
        </p:txBody>
      </p:sp>
      <p:pic>
        <p:nvPicPr>
          <p:cNvPr id="121859" name="Picture 1">
            <a:extLst>
              <a:ext uri="{FF2B5EF4-FFF2-40B4-BE49-F238E27FC236}">
                <a16:creationId xmlns:a16="http://schemas.microsoft.com/office/drawing/2014/main" id="{4D63FFD0-5A8A-4D78-9147-3649FE9110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266" y="1257300"/>
            <a:ext cx="4080272" cy="2778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A7C98B9-824D-9EAF-A13C-792F7A161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64</a:t>
            </a:fld>
            <a:endParaRPr lang="zh-TW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AC43FE53-E6DD-4685-9922-7444BF8AF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70260"/>
            <a:ext cx="676295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Sockets in Java (1)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DE461F4-16B3-46F4-BD43-800014F0C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9880" y="824208"/>
            <a:ext cx="4292867" cy="3398044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Three types of sockets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Connection-oriented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TCP</a:t>
            </a:r>
            <a:r>
              <a:rPr lang="en-US" altLang="en-US" sz="2000" dirty="0"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Connectionless</a:t>
            </a:r>
            <a:r>
              <a:rPr lang="en-US" altLang="en-US" sz="2000" dirty="0">
                <a:cs typeface="Calibri" panose="020F0502020204030204" pitchFamily="34" charset="0"/>
              </a:rPr>
              <a:t> 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UDP</a:t>
            </a:r>
            <a:r>
              <a:rPr lang="en-US" altLang="en-US" sz="2000" dirty="0"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altLang="en-US" sz="2000" b="1" dirty="0" err="1">
                <a:cs typeface="Calibri" panose="020F0502020204030204" pitchFamily="34" charset="0"/>
              </a:rPr>
              <a:t>MulticastSocket</a:t>
            </a:r>
            <a:r>
              <a:rPr lang="en-US" altLang="en-US" sz="2000" dirty="0">
                <a:cs typeface="Calibri" panose="020F0502020204030204" pitchFamily="34" charset="0"/>
              </a:rPr>
              <a:t> class– data can be sent to multiple recipients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Consider this “Date” server in Java</a:t>
            </a:r>
          </a:p>
        </p:txBody>
      </p:sp>
      <p:pic>
        <p:nvPicPr>
          <p:cNvPr id="123908" name="Picture 1">
            <a:extLst>
              <a:ext uri="{FF2B5EF4-FFF2-40B4-BE49-F238E27FC236}">
                <a16:creationId xmlns:a16="http://schemas.microsoft.com/office/drawing/2014/main" id="{EEE0770C-1450-4345-BEEA-A9C8ED78C9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410" y="853083"/>
            <a:ext cx="3724830" cy="3711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AC4D8E9-A455-0247-ADA7-0FDB19F986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65</a:t>
            </a:fld>
            <a:endParaRPr lang="zh-TW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C7511513-CD31-4692-851D-D1DB58E82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Sockets in Java (2)</a:t>
            </a:r>
          </a:p>
        </p:txBody>
      </p:sp>
      <p:pic>
        <p:nvPicPr>
          <p:cNvPr id="125956" name="Picture 3">
            <a:extLst>
              <a:ext uri="{FF2B5EF4-FFF2-40B4-BE49-F238E27FC236}">
                <a16:creationId xmlns:a16="http://schemas.microsoft.com/office/drawing/2014/main" id="{80564BD1-BFAE-4AE7-BD99-CC3DE4A875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987" y="853964"/>
            <a:ext cx="4044613" cy="3718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BBAE555-3291-687D-6989-6B62FC1929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66</a:t>
            </a:fld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77334D-B567-FF56-DA34-F49C800976EA}"/>
              </a:ext>
            </a:extLst>
          </p:cNvPr>
          <p:cNvSpPr txBox="1">
            <a:spLocks noChangeArrowheads="1"/>
          </p:cNvSpPr>
          <p:nvPr/>
        </p:nvSpPr>
        <p:spPr>
          <a:xfrm>
            <a:off x="531755" y="853964"/>
            <a:ext cx="3578234" cy="393363"/>
          </a:xfrm>
          <a:prstGeom prst="rect">
            <a:avLst/>
          </a:prstGeom>
        </p:spPr>
        <p:txBody>
          <a:bodyPr/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0" lang="en-US" altLang="en-US" sz="2000" dirty="0">
                <a:latin typeface="+mn-lt"/>
              </a:rPr>
              <a:t>The equivalent date client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E01BCD28-A345-4D38-A597-097FF1FEF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775" y="175022"/>
            <a:ext cx="675332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Remote Procedure Calls (1)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CDEC6CAE-EDD4-4F10-873D-FB38F22E6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1776" y="853679"/>
            <a:ext cx="7430703" cy="3650456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Remote procedure call (RPC) abstracts procedure calls between processes on networked systems</a:t>
            </a:r>
          </a:p>
          <a:p>
            <a:pPr lvl="1"/>
            <a:r>
              <a:rPr lang="en-US" altLang="en-US" sz="2000" dirty="0">
                <a:cs typeface="Calibri" panose="020F0502020204030204" pitchFamily="34" charset="0"/>
              </a:rPr>
              <a:t>Again uses ports for service differentiation</a:t>
            </a:r>
          </a:p>
          <a:p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Stubs</a:t>
            </a:r>
            <a:r>
              <a:rPr lang="en-US" altLang="en-US" sz="2000" dirty="0">
                <a:cs typeface="Calibri" panose="020F0502020204030204" pitchFamily="34" charset="0"/>
              </a:rPr>
              <a:t> – client-side proxy for the actual procedure on the server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The client-side stub locates the server and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marshalls</a:t>
            </a:r>
            <a:r>
              <a:rPr lang="en-US" altLang="en-US" sz="2000" dirty="0">
                <a:cs typeface="Calibri" panose="020F0502020204030204" pitchFamily="34" charset="0"/>
              </a:rPr>
              <a:t> the parameters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The server-side stub receives this message, unpacks the marshalled parameters, and performs the procedure on the server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On Windows, stub code compile from specification written in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Microsoft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Interface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Definition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Language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MIDL</a:t>
            </a:r>
            <a:r>
              <a:rPr lang="en-US" altLang="en-US" sz="2000" dirty="0">
                <a:cs typeface="Calibri" panose="020F0502020204030204" pitchFamily="34" charset="0"/>
              </a:rPr>
              <a:t>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33F396-6021-6A7B-3C39-050E262AEB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67</a:t>
            </a:fld>
            <a:endParaRPr lang="zh-TW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CFC0513-6498-44D9-8826-FE7B637CB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72641"/>
            <a:ext cx="711775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Remote Procedure Calls (2)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2D773B3E-1F58-47D6-A600-27575633E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1402" y="900729"/>
            <a:ext cx="7209322" cy="2545115"/>
          </a:xfrm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Data representation handled via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External Data Representation</a:t>
            </a:r>
            <a:r>
              <a:rPr lang="en-US" altLang="en-US" sz="20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XDL</a:t>
            </a:r>
            <a:r>
              <a:rPr lang="en-US" altLang="en-US" sz="2000" dirty="0">
                <a:cs typeface="Calibri" panose="020F0502020204030204" pitchFamily="34" charset="0"/>
              </a:rPr>
              <a:t>) format to account for different architectures</a:t>
            </a:r>
          </a:p>
          <a:p>
            <a:pPr lvl="1"/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Big-endian</a:t>
            </a:r>
            <a:r>
              <a:rPr lang="en-US" altLang="en-US" sz="1800" b="1" dirty="0">
                <a:solidFill>
                  <a:srgbClr val="0000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cs typeface="Calibri" panose="020F0502020204030204" pitchFamily="34" charset="0"/>
              </a:rPr>
              <a:t>and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little-endian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Remote communication has more failure scenarios than local</a:t>
            </a:r>
          </a:p>
          <a:p>
            <a:pPr lvl="1"/>
            <a:r>
              <a:rPr lang="en-US" altLang="en-US" sz="1800" dirty="0">
                <a:cs typeface="Calibri" panose="020F0502020204030204" pitchFamily="34" charset="0"/>
              </a:rPr>
              <a:t>Messages can be delivered </a:t>
            </a:r>
            <a:r>
              <a:rPr lang="en-US" altLang="en-US" sz="1800" b="1" i="1" dirty="0">
                <a:cs typeface="Calibri" panose="020F0502020204030204" pitchFamily="34" charset="0"/>
              </a:rPr>
              <a:t>exactly once </a:t>
            </a:r>
            <a:r>
              <a:rPr lang="en-US" altLang="en-US" sz="1800" dirty="0">
                <a:cs typeface="Calibri" panose="020F0502020204030204" pitchFamily="34" charset="0"/>
              </a:rPr>
              <a:t>rather than </a:t>
            </a:r>
            <a:r>
              <a:rPr lang="en-US" altLang="en-US" sz="1800" b="1" i="1" dirty="0">
                <a:cs typeface="Calibri" panose="020F0502020204030204" pitchFamily="34" charset="0"/>
              </a:rPr>
              <a:t>at most once</a:t>
            </a:r>
          </a:p>
          <a:p>
            <a:r>
              <a:rPr lang="en-US" altLang="en-US" sz="2000" dirty="0">
                <a:cs typeface="Calibri" panose="020F0502020204030204" pitchFamily="34" charset="0"/>
              </a:rPr>
              <a:t>OS typically provides a rendezvous (or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matchmaker</a:t>
            </a:r>
            <a:r>
              <a:rPr lang="en-US" altLang="en-US" sz="2000" dirty="0">
                <a:cs typeface="Calibri" panose="020F0502020204030204" pitchFamily="34" charset="0"/>
              </a:rPr>
              <a:t>) service to connect client and server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8421FA-0863-F146-7952-36C69C4533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68</a:t>
            </a:fld>
            <a:endParaRPr lang="zh-TW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D538A429-F2A7-4F7C-87E2-EEC652982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775" y="172641"/>
            <a:ext cx="675332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Execution of RPC</a:t>
            </a:r>
          </a:p>
        </p:txBody>
      </p:sp>
      <p:pic>
        <p:nvPicPr>
          <p:cNvPr id="131075" name="Picture 1">
            <a:extLst>
              <a:ext uri="{FF2B5EF4-FFF2-40B4-BE49-F238E27FC236}">
                <a16:creationId xmlns:a16="http://schemas.microsoft.com/office/drawing/2014/main" id="{ECFE0A42-3507-487F-9D40-A6D4040A6D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05" y="861980"/>
            <a:ext cx="3076440" cy="3701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EA9B8B-E8C6-41C3-9005-8B0E550CA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69</a:t>
            </a:fld>
            <a:endParaRPr lang="zh-TW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5B4141-7440-A3FD-7C2A-2971C5242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70</a:t>
            </a:fld>
            <a:endParaRPr lang="zh-TW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256E24-10D0-2DC9-F2CB-CB3430051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43" y="2757037"/>
            <a:ext cx="7772400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en-US" kern="0" dirty="0"/>
              <a:t>End of Chapter 3</a:t>
            </a:r>
          </a:p>
        </p:txBody>
      </p:sp>
    </p:spTree>
    <p:extLst>
      <p:ext uri="{BB962C8B-B14F-4D97-AF65-F5344CB8AC3E}">
        <p14:creationId xmlns:p14="http://schemas.microsoft.com/office/powerpoint/2010/main" val="143160674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2525</TotalTime>
  <Words>3680</Words>
  <Application>Microsoft Office PowerPoint</Application>
  <PresentationFormat>全屏显示(16:9)</PresentationFormat>
  <Paragraphs>507</Paragraphs>
  <Slides>70</Slides>
  <Notes>62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79" baseType="lpstr">
      <vt:lpstr>Monotype Sorts</vt:lpstr>
      <vt:lpstr>ＭＳ Ｐゴシック</vt:lpstr>
      <vt:lpstr>MS Sans Serif</vt:lpstr>
      <vt:lpstr>Arial</vt:lpstr>
      <vt:lpstr>Calibri</vt:lpstr>
      <vt:lpstr>Courier New</vt:lpstr>
      <vt:lpstr>Times New Roman</vt:lpstr>
      <vt:lpstr>Wingdings</vt:lpstr>
      <vt:lpstr>NTHU UniCloud</vt:lpstr>
      <vt:lpstr>CSC3150 – Operating Systems</vt:lpstr>
      <vt:lpstr>Outline</vt:lpstr>
      <vt:lpstr>Objectives</vt:lpstr>
      <vt:lpstr>Process Concept (1)</vt:lpstr>
      <vt:lpstr>Process Concept (2)</vt:lpstr>
      <vt:lpstr>Process in Memory</vt:lpstr>
      <vt:lpstr>Memory Layout of a C Program</vt:lpstr>
      <vt:lpstr>Process States</vt:lpstr>
      <vt:lpstr>Process Control Block (PCB)</vt:lpstr>
      <vt:lpstr>Threads</vt:lpstr>
      <vt:lpstr>Process Representation in Linux</vt:lpstr>
      <vt:lpstr>Process Scheduling</vt:lpstr>
      <vt:lpstr>Ready and Waiting Queues</vt:lpstr>
      <vt:lpstr>Representation of Process Scheduling</vt:lpstr>
      <vt:lpstr>Context Switch</vt:lpstr>
      <vt:lpstr>CPU Switch From Process to Process</vt:lpstr>
      <vt:lpstr>Multitasking in Mobile Systems</vt:lpstr>
      <vt:lpstr>Operations on Processes</vt:lpstr>
      <vt:lpstr>Process Creation (1)</vt:lpstr>
      <vt:lpstr>Process Creation (2)</vt:lpstr>
      <vt:lpstr>A Tree of Processes in Linux</vt:lpstr>
      <vt:lpstr>C Program Forking Separate Process</vt:lpstr>
      <vt:lpstr>Create a Separate Process via Windows API</vt:lpstr>
      <vt:lpstr>Process Termination (1)</vt:lpstr>
      <vt:lpstr>Process Termination (2)</vt:lpstr>
      <vt:lpstr>Android Process Importance Hierarchy</vt:lpstr>
      <vt:lpstr>Multiprocess Architecture – Chrome Browser</vt:lpstr>
      <vt:lpstr>Interprocess Communication</vt:lpstr>
      <vt:lpstr>Communications Models </vt:lpstr>
      <vt:lpstr>Producer-Consumer Problem</vt:lpstr>
      <vt:lpstr>IPC – Shared Memory</vt:lpstr>
      <vt:lpstr>Bounded-Buffer – Shared-Memory Solution</vt:lpstr>
      <vt:lpstr>Producer Process – Shared Memory</vt:lpstr>
      <vt:lpstr>Consumer Process – Shared Memory</vt:lpstr>
      <vt:lpstr>What about Filling all the Buffers</vt:lpstr>
      <vt:lpstr>Producer </vt:lpstr>
      <vt:lpstr>Consumer</vt:lpstr>
      <vt:lpstr>Race Condition (1)</vt:lpstr>
      <vt:lpstr>Race Condition (2)</vt:lpstr>
      <vt:lpstr>Message Passing (1)</vt:lpstr>
      <vt:lpstr>Message Passing (2)</vt:lpstr>
      <vt:lpstr>Implementation of Communication Link</vt:lpstr>
      <vt:lpstr>Direct Communication</vt:lpstr>
      <vt:lpstr>Indirect Communication (1)</vt:lpstr>
      <vt:lpstr>Indirect Communication (2)</vt:lpstr>
      <vt:lpstr>Indirect Communication (3)</vt:lpstr>
      <vt:lpstr>Synchronization</vt:lpstr>
      <vt:lpstr>Producer-Consumer - Message Passing</vt:lpstr>
      <vt:lpstr>Buffering</vt:lpstr>
      <vt:lpstr>Examples of IPC Systems - POSIX</vt:lpstr>
      <vt:lpstr>IPC POSIX Producer</vt:lpstr>
      <vt:lpstr>IPC POSIX Consumer</vt:lpstr>
      <vt:lpstr>Examples of IPC Systems - Mach</vt:lpstr>
      <vt:lpstr>Mach Messages</vt:lpstr>
      <vt:lpstr>Mach Message Passing - Client</vt:lpstr>
      <vt:lpstr>Mach Message Passing - Server</vt:lpstr>
      <vt:lpstr>Examples of IPC Systems – Windows</vt:lpstr>
      <vt:lpstr>Local Procedure Calls in Windows</vt:lpstr>
      <vt:lpstr>Pipes</vt:lpstr>
      <vt:lpstr>Ordinary Pipes</vt:lpstr>
      <vt:lpstr>Named Pipes</vt:lpstr>
      <vt:lpstr>Communications in Client-Server Systems</vt:lpstr>
      <vt:lpstr>Sockets</vt:lpstr>
      <vt:lpstr>Socket Communication</vt:lpstr>
      <vt:lpstr>Sockets in Java (1)</vt:lpstr>
      <vt:lpstr>Sockets in Java (2)</vt:lpstr>
      <vt:lpstr>Remote Procedure Calls (1)</vt:lpstr>
      <vt:lpstr>Remote Procedure Calls (2)</vt:lpstr>
      <vt:lpstr>Execution of RPC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278</cp:revision>
  <dcterms:created xsi:type="dcterms:W3CDTF">2015-06-05T07:23:35Z</dcterms:created>
  <dcterms:modified xsi:type="dcterms:W3CDTF">2025-07-25T09:20:39Z</dcterms:modified>
</cp:coreProperties>
</file>