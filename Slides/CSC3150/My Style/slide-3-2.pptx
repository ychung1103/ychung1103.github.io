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56" r:id="rId2"/>
    <p:sldId id="411" r:id="rId3"/>
    <p:sldId id="412" r:id="rId4"/>
    <p:sldId id="479" r:id="rId5"/>
    <p:sldId id="473" r:id="rId6"/>
    <p:sldId id="476" r:id="rId7"/>
    <p:sldId id="445" r:id="rId8"/>
    <p:sldId id="446" r:id="rId9"/>
    <p:sldId id="447" r:id="rId10"/>
    <p:sldId id="448" r:id="rId11"/>
    <p:sldId id="518" r:id="rId12"/>
    <p:sldId id="520" r:id="rId13"/>
    <p:sldId id="451" r:id="rId14"/>
    <p:sldId id="496" r:id="rId15"/>
    <p:sldId id="497" r:id="rId16"/>
    <p:sldId id="498" r:id="rId17"/>
    <p:sldId id="455" r:id="rId18"/>
    <p:sldId id="507" r:id="rId19"/>
    <p:sldId id="508" r:id="rId20"/>
    <p:sldId id="509" r:id="rId21"/>
    <p:sldId id="510" r:id="rId22"/>
    <p:sldId id="457" r:id="rId23"/>
    <p:sldId id="511" r:id="rId24"/>
    <p:sldId id="512" r:id="rId25"/>
    <p:sldId id="513" r:id="rId26"/>
    <p:sldId id="458" r:id="rId27"/>
    <p:sldId id="459" r:id="rId28"/>
    <p:sldId id="460" r:id="rId29"/>
    <p:sldId id="461" r:id="rId30"/>
    <p:sldId id="514" r:id="rId31"/>
    <p:sldId id="462" r:id="rId32"/>
    <p:sldId id="477" r:id="rId33"/>
    <p:sldId id="463" r:id="rId34"/>
    <p:sldId id="378" r:id="rId35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38" autoAdjust="0"/>
  </p:normalViewPr>
  <p:slideViewPr>
    <p:cSldViewPr snapToGrid="0">
      <p:cViewPr varScale="1">
        <p:scale>
          <a:sx n="74" d="100"/>
          <a:sy n="74" d="100"/>
        </p:scale>
        <p:origin x="1012" y="3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2025/7/25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2025/7/25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7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B3A5B9D-7073-4B04-815D-4C28F8C62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C76B9EF-EFF6-4934-98D1-D26E322C1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BD35E56-DD67-4ECB-BD37-13A2B5AEE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71B6D1F-21BA-45DA-B276-24F324AE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138AA6B-8B83-46B1-9A6E-00FA4154E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F978D44-4AC2-455B-BA58-C9B7F48E1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6962208-A29D-4A10-9198-5929731D8B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BDBB8E9B-EDCD-470E-8881-2446C3488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459F42AB-B2FE-430D-B9BB-6A59FD8514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6AA9600B-65A8-48A0-AEBE-270116A2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AF59525-78E1-4DD8-A170-40C6713E6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3C1A84E-D626-48F7-9E90-4ECA8C9E4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B6525D0-C6FC-4582-B2A0-7ABC03968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66B3374-7828-4D2F-A3CB-4C44E319D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346804A-C554-4977-937C-189AD5B0D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6DEE86A-65F8-40A4-9764-141440772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454A392F-FA1E-4AA5-9D5A-3DF2596D7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07B613B1-0A3B-4DB4-B957-B63CB6628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8E2826C-ECE4-478F-AF2E-818747742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F1F8D25-5A9A-4DEE-8199-BF48C3B4B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D978D27-7A45-4707-9571-686345521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0F720247-6A7A-40C8-A560-7ACEAC13E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C7272E3-D47D-40CB-9DDB-74FA84462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1ACBF84-7E20-4056-909C-C5D64438B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5570E0E3-E6FE-43E1-B5DE-3ED5EFEADE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F5F97B-5F60-4081-9DA6-42B9182CD2F7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DF8656C1-DC3D-4F7B-8EEC-2DA77E212E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2D181A27-FF52-4ECA-8E86-80B801033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235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–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TW" sz="2400"/>
              <a:t>Data Science</a:t>
            </a:r>
            <a:endParaRPr lang="en-US" altLang="zh-TW" sz="2400" dirty="0"/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A86CFC-5101-70C9-B3E7-FE5067F824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71451"/>
            <a:ext cx="624721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1400" y="862013"/>
            <a:ext cx="6546454" cy="3032654"/>
          </a:xfrm>
        </p:spPr>
        <p:txBody>
          <a:bodyPr/>
          <a:lstStyle/>
          <a:p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</a:rPr>
              <a:t>Process Concept</a:t>
            </a:r>
          </a:p>
          <a:p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</a:rPr>
              <a:t>Process Scheduling</a:t>
            </a:r>
          </a:p>
          <a:p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</a:rPr>
              <a:t>Operations on Processes</a:t>
            </a:r>
          </a:p>
          <a:p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</a:rPr>
              <a:t>Interprocess Communication</a:t>
            </a:r>
          </a:p>
          <a:p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</a:rPr>
              <a:t>IPC in Shared-Memory Systems</a:t>
            </a:r>
          </a:p>
          <a:p>
            <a:r>
              <a:rPr lang="en-US" altLang="en-US" sz="2000" dirty="0"/>
              <a:t>IPC in Message-Passing Systems</a:t>
            </a:r>
          </a:p>
          <a:p>
            <a:r>
              <a:rPr lang="en-US" altLang="en-US" sz="2000" dirty="0"/>
              <a:t>Examples of IPC Systems</a:t>
            </a:r>
          </a:p>
          <a:p>
            <a:r>
              <a:rPr lang="en-US" altLang="en-US" sz="2000" dirty="0"/>
              <a:t>Communication in Client-Server Systems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2929CD-85D8-5B9F-86E1-39200F7A6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467" y="177403"/>
            <a:ext cx="6760633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7238" y="828278"/>
            <a:ext cx="7355495" cy="357439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</a:rPr>
              <a:t>Identify the separate components of a process and illustrate how they are represented and scheduled in an operating system</a:t>
            </a:r>
          </a:p>
          <a:p>
            <a:pPr>
              <a:spcBef>
                <a:spcPts val="0"/>
              </a:spcBef>
            </a:pP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</a:rPr>
              <a:t>Describe how processes are created and terminated in an operating system, including developing programs using the appropriate system calls that perform these operations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Describe and contrast interprocess communication using shared memory and message passing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Design programs that uses pipes and POSIX shared memory to perform interprocess communication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Describe client-server communication using sockets and remote procedure calls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Design kernel modules that interact with the Linux operating system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0AA976-FBCD-5B13-4DB5-0AF547F11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0449"/>
            <a:ext cx="7188696" cy="49631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Message Passing (1)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2525" y="901304"/>
            <a:ext cx="7401829" cy="328568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cs typeface="Calibri" panose="020F0502020204030204" pitchFamily="34" charset="0"/>
              </a:rPr>
              <a:t>send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i="1" dirty="0">
                <a:cs typeface="Calibri" panose="020F0502020204030204" pitchFamily="34" charset="0"/>
              </a:rPr>
              <a:t>message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cs typeface="Calibri" panose="020F0502020204030204" pitchFamily="34" charset="0"/>
              </a:rPr>
              <a:t>receive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i="1" dirty="0">
                <a:cs typeface="Calibri" panose="020F0502020204030204" pitchFamily="34" charset="0"/>
              </a:rPr>
              <a:t>message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The</a:t>
            </a:r>
            <a:r>
              <a:rPr lang="en-US" altLang="en-US" sz="2000" i="1" dirty="0">
                <a:cs typeface="Calibri" panose="020F0502020204030204" pitchFamily="34" charset="0"/>
              </a:rPr>
              <a:t> message</a:t>
            </a:r>
            <a:r>
              <a:rPr lang="en-US" altLang="en-US" sz="2000" dirty="0">
                <a:cs typeface="Calibri" panose="020F0502020204030204" pitchFamily="34" charset="0"/>
              </a:rPr>
              <a:t> size is either fixed or variable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3ABC3-010D-4CA5-2708-3F1E54E67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3277" y="165497"/>
            <a:ext cx="695295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Message Passing (2)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8266" y="857149"/>
            <a:ext cx="8171848" cy="354159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/>
              <a:t>If processes </a:t>
            </a:r>
            <a:r>
              <a:rPr lang="en-US" altLang="en-US" sz="2000" i="1" dirty="0"/>
              <a:t>P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Q</a:t>
            </a:r>
            <a:r>
              <a:rPr lang="en-US" altLang="en-US" sz="2000" dirty="0"/>
              <a:t> wish to communicate, they need to: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Establish a </a:t>
            </a:r>
            <a:r>
              <a:rPr lang="en-US" altLang="en-US" sz="1800" b="1" i="1" dirty="0"/>
              <a:t>communication</a:t>
            </a:r>
            <a:r>
              <a:rPr lang="en-US" altLang="en-US" sz="1800" b="1" dirty="0"/>
              <a:t> </a:t>
            </a:r>
            <a:r>
              <a:rPr lang="en-US" altLang="en-US" sz="1800" b="1" i="1" dirty="0"/>
              <a:t>link</a:t>
            </a:r>
            <a:r>
              <a:rPr lang="en-US" altLang="en-US" sz="1800" b="1" dirty="0"/>
              <a:t> </a:t>
            </a:r>
            <a:r>
              <a:rPr lang="en-US" altLang="en-US" sz="1800" dirty="0"/>
              <a:t>between them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Exchange messages via send/receive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/>
              <a:t>Implementation issues: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How are links established?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Can a link be associated with more than two processes?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How many links can there be between every pair of communicating processes?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What is the capacity of a link?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Is the size of a message that the link can accommodate fixed or variable?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Is a link unidirectional or bi-directional?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8F60FF-C4B2-CC6D-D3C2-E4993842A4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98068"/>
            <a:ext cx="7038086" cy="491292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9730" y="882356"/>
            <a:ext cx="6618083" cy="282337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Physical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Logical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Automatic or explicit buffering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222937-3C8A-A719-566B-51A5D7F089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11854"/>
            <a:ext cx="679182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274" y="872728"/>
            <a:ext cx="7969718" cy="3141007"/>
          </a:xfrm>
        </p:spPr>
        <p:txBody>
          <a:bodyPr/>
          <a:lstStyle/>
          <a:p>
            <a:r>
              <a:rPr lang="en-US" altLang="en-US" sz="2000" dirty="0"/>
              <a:t>Processes must name each other explicitly: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send</a:t>
            </a:r>
            <a:r>
              <a:rPr lang="en-US" altLang="en-US" sz="2000" dirty="0"/>
              <a:t> (</a:t>
            </a:r>
            <a:r>
              <a:rPr lang="en-US" altLang="en-US" sz="2000" i="1" dirty="0"/>
              <a:t>P, message</a:t>
            </a:r>
            <a:r>
              <a:rPr lang="en-US" altLang="en-US" sz="2000" dirty="0"/>
              <a:t>) – send a message to process P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receive</a:t>
            </a:r>
            <a:r>
              <a:rPr lang="en-US" altLang="en-US" sz="2000" dirty="0"/>
              <a:t>(</a:t>
            </a:r>
            <a:r>
              <a:rPr lang="en-US" altLang="en-US" sz="2000" i="1" dirty="0"/>
              <a:t>Q, message</a:t>
            </a:r>
            <a:r>
              <a:rPr lang="en-US" altLang="en-US" sz="2000" dirty="0"/>
              <a:t>) – receive a message from process Q</a:t>
            </a:r>
          </a:p>
          <a:p>
            <a:r>
              <a:rPr lang="en-US" altLang="en-US" sz="2000" dirty="0"/>
              <a:t>Properties of communication link</a:t>
            </a:r>
          </a:p>
          <a:p>
            <a:pPr lvl="1"/>
            <a:r>
              <a:rPr lang="en-US" altLang="en-US" sz="2000" dirty="0"/>
              <a:t>Links are established automatically</a:t>
            </a:r>
          </a:p>
          <a:p>
            <a:pPr lvl="1"/>
            <a:r>
              <a:rPr lang="en-US" altLang="en-US" sz="2000" dirty="0"/>
              <a:t>A link is associated with exactly one pair of communicating processes</a:t>
            </a:r>
          </a:p>
          <a:p>
            <a:pPr lvl="1"/>
            <a:r>
              <a:rPr lang="en-US" altLang="en-US" sz="2000" dirty="0"/>
              <a:t>Between each pair there exists exactly one link</a:t>
            </a:r>
          </a:p>
          <a:p>
            <a:pPr lvl="1"/>
            <a:r>
              <a:rPr lang="en-US" altLang="en-US" sz="2000" dirty="0"/>
              <a:t>The link may be unidirectional, but is usually bi-directional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654056-7A92-F46F-09CF-67353B380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36568"/>
            <a:ext cx="677257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Indirect Communication (1)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2526" y="860822"/>
            <a:ext cx="7517331" cy="3537923"/>
          </a:xfrm>
        </p:spPr>
        <p:txBody>
          <a:bodyPr/>
          <a:lstStyle/>
          <a:p>
            <a:r>
              <a:rPr lang="en-US" altLang="en-US" sz="2000" dirty="0"/>
              <a:t>Messages are directed and received from mailboxes (also referred to as ports)</a:t>
            </a:r>
          </a:p>
          <a:p>
            <a:pPr lvl="1"/>
            <a:r>
              <a:rPr lang="en-US" altLang="en-US" sz="2000" dirty="0"/>
              <a:t>Each mailbox has a unique id</a:t>
            </a:r>
          </a:p>
          <a:p>
            <a:pPr lvl="1"/>
            <a:r>
              <a:rPr lang="en-US" altLang="en-US" sz="2000" dirty="0"/>
              <a:t>Processes can communicate only if they share a mailbox</a:t>
            </a:r>
          </a:p>
          <a:p>
            <a:r>
              <a:rPr lang="en-US" altLang="en-US" sz="2000" dirty="0"/>
              <a:t>Properties of communication link</a:t>
            </a:r>
          </a:p>
          <a:p>
            <a:pPr lvl="1"/>
            <a:r>
              <a:rPr lang="en-US" altLang="en-US" sz="2000" dirty="0"/>
              <a:t>Link established only if processes share a common mailbox</a:t>
            </a:r>
          </a:p>
          <a:p>
            <a:pPr lvl="1"/>
            <a:r>
              <a:rPr lang="en-US" altLang="en-US" sz="2000" dirty="0"/>
              <a:t>A link may be associated with many processes</a:t>
            </a:r>
          </a:p>
          <a:p>
            <a:pPr lvl="1"/>
            <a:r>
              <a:rPr lang="en-US" altLang="en-US" sz="2000" dirty="0"/>
              <a:t>Each pair of processes may share several communication links</a:t>
            </a:r>
          </a:p>
          <a:p>
            <a:pPr lvl="1"/>
            <a:r>
              <a:rPr lang="en-US" altLang="en-US" sz="2000" dirty="0"/>
              <a:t>Link may be unidirectional or bi-directional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DC9659-D30E-B6F3-4D84-C860DE700A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9528" y="851297"/>
            <a:ext cx="7045693" cy="2865834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Operations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Create a new mailbox (port)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Send and receive messages through mailbox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Delete a mailbox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Primitives are defined as:</a:t>
            </a:r>
          </a:p>
          <a:p>
            <a:pPr lvl="1"/>
            <a:r>
              <a:rPr lang="en-US" altLang="en-US" sz="2000" b="1" dirty="0">
                <a:cs typeface="Calibri" panose="020F0502020204030204" pitchFamily="34" charset="0"/>
              </a:rPr>
              <a:t>send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i="1" dirty="0">
                <a:cs typeface="Calibri" panose="020F0502020204030204" pitchFamily="34" charset="0"/>
              </a:rPr>
              <a:t>A, message</a:t>
            </a:r>
            <a:r>
              <a:rPr lang="en-US" altLang="en-US" sz="2000" dirty="0">
                <a:cs typeface="Calibri" panose="020F0502020204030204" pitchFamily="34" charset="0"/>
              </a:rPr>
              <a:t>) – send a message to mailbox A</a:t>
            </a:r>
          </a:p>
          <a:p>
            <a:pPr lvl="1"/>
            <a:r>
              <a:rPr lang="en-US" altLang="en-US" sz="2000" b="1" dirty="0">
                <a:cs typeface="Calibri" panose="020F0502020204030204" pitchFamily="34" charset="0"/>
              </a:rPr>
              <a:t>receive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i="1" dirty="0">
                <a:cs typeface="Calibri" panose="020F0502020204030204" pitchFamily="34" charset="0"/>
              </a:rPr>
              <a:t>A, message</a:t>
            </a:r>
            <a:r>
              <a:rPr lang="en-US" altLang="en-US" sz="2000" dirty="0">
                <a:cs typeface="Calibri" panose="020F0502020204030204" pitchFamily="34" charset="0"/>
              </a:rPr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0744" y="173279"/>
            <a:ext cx="596026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Indirect Communication (2)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00A0FE-5D6F-D660-B6F1-E7F351F96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0278" y="845344"/>
            <a:ext cx="7565457" cy="3398044"/>
          </a:xfrm>
        </p:spPr>
        <p:txBody>
          <a:bodyPr/>
          <a:lstStyle/>
          <a:p>
            <a:r>
              <a:rPr lang="en-US" altLang="en-US" sz="2000" dirty="0"/>
              <a:t>Mailbox sharing</a:t>
            </a:r>
          </a:p>
          <a:p>
            <a:pPr lvl="1"/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i="1" dirty="0"/>
              <a:t>, P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,</a:t>
            </a:r>
            <a:r>
              <a:rPr lang="en-US" altLang="en-US" sz="2000" dirty="0"/>
              <a:t> and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share mailbox A</a:t>
            </a:r>
          </a:p>
          <a:p>
            <a:pPr lvl="1"/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, sends;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 </a:t>
            </a:r>
            <a:r>
              <a:rPr lang="en-US" altLang="en-US" sz="2000" dirty="0"/>
              <a:t>and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receive</a:t>
            </a:r>
          </a:p>
          <a:p>
            <a:pPr lvl="1"/>
            <a:r>
              <a:rPr lang="en-US" altLang="en-US" sz="2000" dirty="0"/>
              <a:t>Who gets the message?</a:t>
            </a:r>
          </a:p>
          <a:p>
            <a:r>
              <a:rPr lang="en-US" altLang="en-US" sz="2000" dirty="0"/>
              <a:t>Solutions</a:t>
            </a:r>
          </a:p>
          <a:p>
            <a:pPr lvl="1"/>
            <a:r>
              <a:rPr lang="en-US" altLang="en-US" sz="2000" dirty="0"/>
              <a:t>Allow a link to be associated with at most two processes</a:t>
            </a:r>
          </a:p>
          <a:p>
            <a:pPr lvl="1"/>
            <a:r>
              <a:rPr lang="en-US" altLang="en-US" sz="2000" dirty="0"/>
              <a:t>Allow only one process at a time to execute a receive operation</a:t>
            </a:r>
          </a:p>
          <a:p>
            <a:pPr lvl="1"/>
            <a:r>
              <a:rPr lang="en-US" altLang="en-US" sz="2000" dirty="0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35377"/>
            <a:ext cx="699576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Indirect Communication (3)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27C83C-A6D1-7BEA-10B1-87A111993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34217"/>
            <a:ext cx="679182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9904" y="835082"/>
            <a:ext cx="7413342" cy="3650291"/>
          </a:xfrm>
        </p:spPr>
        <p:txBody>
          <a:bodyPr/>
          <a:lstStyle/>
          <a:p>
            <a:pPr marL="284560" indent="-28456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Blocking</a:t>
            </a:r>
            <a:r>
              <a:rPr lang="en-US" sz="2000" dirty="0">
                <a:cs typeface="Calibri" panose="020F0502020204030204" pitchFamily="34" charset="0"/>
              </a:rPr>
              <a:t> is considered </a:t>
            </a:r>
            <a:r>
              <a:rPr 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synchronous</a:t>
            </a:r>
          </a:p>
          <a:p>
            <a:pPr marL="598885" lvl="1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b="1" dirty="0">
                <a:cs typeface="Calibri" panose="020F0502020204030204" pitchFamily="34" charset="0"/>
              </a:rPr>
              <a:t>Blocking send </a:t>
            </a:r>
            <a:r>
              <a:rPr lang="en-US" sz="1800" dirty="0">
                <a:cs typeface="Calibri" panose="020F0502020204030204" pitchFamily="34" charset="0"/>
              </a:rPr>
              <a:t>--</a:t>
            </a:r>
            <a:r>
              <a:rPr lang="en-US" sz="1800" b="1" dirty="0">
                <a:cs typeface="Calibri" panose="020F0502020204030204" pitchFamily="34" charset="0"/>
              </a:rPr>
              <a:t> </a:t>
            </a:r>
            <a:r>
              <a:rPr lang="en-US" sz="1800" dirty="0">
                <a:cs typeface="Calibri" panose="020F0502020204030204" pitchFamily="34" charset="0"/>
              </a:rPr>
              <a:t>the sender is blocked until the message is received</a:t>
            </a:r>
          </a:p>
          <a:p>
            <a:pPr marL="598885" lvl="1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b="1" dirty="0">
                <a:cs typeface="Calibri" panose="020F0502020204030204" pitchFamily="34" charset="0"/>
              </a:rPr>
              <a:t>Blocking receive </a:t>
            </a:r>
            <a:r>
              <a:rPr lang="en-US" sz="1800" dirty="0">
                <a:cs typeface="Calibri" panose="020F0502020204030204" pitchFamily="34" charset="0"/>
              </a:rPr>
              <a:t>--</a:t>
            </a:r>
            <a:r>
              <a:rPr lang="en-US" sz="1800" b="1" dirty="0">
                <a:cs typeface="Calibri" panose="020F0502020204030204" pitchFamily="34" charset="0"/>
              </a:rPr>
              <a:t> </a:t>
            </a:r>
            <a:r>
              <a:rPr lang="en-US" sz="1800" dirty="0">
                <a:cs typeface="Calibri" panose="020F0502020204030204" pitchFamily="34" charset="0"/>
              </a:rPr>
              <a:t>the receiver is  blocked until a message is available</a:t>
            </a:r>
          </a:p>
          <a:p>
            <a:pPr marL="284560" indent="-28456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Non-blocking</a:t>
            </a:r>
            <a:r>
              <a:rPr lang="en-US" sz="2000" dirty="0">
                <a:cs typeface="Calibri" panose="020F0502020204030204" pitchFamily="34" charset="0"/>
              </a:rPr>
              <a:t> is considered </a:t>
            </a:r>
            <a:r>
              <a:rPr 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asynchronous</a:t>
            </a:r>
          </a:p>
          <a:p>
            <a:pPr marL="598885" lvl="1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b="1" dirty="0">
                <a:cs typeface="Calibri" panose="020F0502020204030204" pitchFamily="34" charset="0"/>
              </a:rPr>
              <a:t>Non-blocking send</a:t>
            </a:r>
            <a:r>
              <a:rPr lang="en-US" sz="1800" dirty="0">
                <a:cs typeface="Calibri" panose="020F0502020204030204" pitchFamily="34" charset="0"/>
              </a:rPr>
              <a:t> -- the sender sends the message and continue</a:t>
            </a:r>
          </a:p>
          <a:p>
            <a:pPr marL="598885" lvl="1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b="1" dirty="0">
                <a:cs typeface="Calibri" panose="020F0502020204030204" pitchFamily="34" charset="0"/>
              </a:rPr>
              <a:t>Non-blocking receive</a:t>
            </a:r>
            <a:r>
              <a:rPr lang="en-US" sz="1800" dirty="0">
                <a:cs typeface="Calibri" panose="020F0502020204030204" pitchFamily="34" charset="0"/>
              </a:rPr>
              <a:t> -- the receiver receives:</a:t>
            </a:r>
          </a:p>
          <a:p>
            <a:pPr marL="856060" lvl="2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/>
              <a:t>A valid message,  or </a:t>
            </a:r>
          </a:p>
          <a:p>
            <a:pPr marL="856060" lvl="2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/>
              <a:t>Null message</a:t>
            </a:r>
          </a:p>
          <a:p>
            <a:pPr marL="298847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dirty="0">
                <a:ea typeface="ＭＳ Ｐゴシック" charset="0"/>
                <a:cs typeface="Calibri" panose="020F0502020204030204" pitchFamily="34" charset="0"/>
              </a:rPr>
              <a:t>Different combinations possible</a:t>
            </a:r>
          </a:p>
          <a:p>
            <a:pPr marL="598885" lvl="1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dirty="0">
                <a:ea typeface="ＭＳ Ｐゴシック" charset="0"/>
                <a:cs typeface="Calibri" panose="020F0502020204030204" pitchFamily="34" charset="0"/>
              </a:rPr>
              <a:t>If both send and receive are blocking, we have a </a:t>
            </a:r>
            <a:r>
              <a:rPr 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rendezvous</a:t>
            </a:r>
          </a:p>
          <a:p>
            <a:pPr marL="298847" indent="-255985">
              <a:spcBef>
                <a:spcPts val="0"/>
              </a:spcBef>
              <a:spcAft>
                <a:spcPts val="600"/>
              </a:spcAft>
              <a:defRPr/>
            </a:pPr>
            <a:endParaRPr lang="en-US" sz="2000" dirty="0">
              <a:cs typeface="Calibri" panose="020F0502020204030204" pitchFamily="34" charset="0"/>
            </a:endParaRPr>
          </a:p>
          <a:p>
            <a:pPr marL="856060" lvl="2" indent="-255985">
              <a:spcBef>
                <a:spcPts val="0"/>
              </a:spcBef>
              <a:spcAft>
                <a:spcPts val="600"/>
              </a:spcAft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4A266A3-4428-BFD5-55D4-90613E816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09036" y="835718"/>
            <a:ext cx="6830331" cy="323576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b="1" dirty="0">
                <a:cs typeface="Calibri" panose="020F0502020204030204" pitchFamily="34" charset="0"/>
              </a:rPr>
              <a:t>Producer</a:t>
            </a:r>
          </a:p>
          <a:p>
            <a:pPr>
              <a:spcBef>
                <a:spcPts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sz="1800" b="1" dirty="0">
                <a:cs typeface="Calibri" panose="020F0502020204030204" pitchFamily="34" charset="0"/>
              </a:rPr>
              <a:t>           </a:t>
            </a:r>
            <a:r>
              <a:rPr kumimoji="0" lang="en-US" altLang="en-US" sz="1800" b="1" dirty="0">
                <a:cs typeface="Calibri" panose="020F0502020204030204" pitchFamily="34" charset="0"/>
              </a:rPr>
              <a:t>message 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next_produced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;</a:t>
            </a:r>
            <a:br>
              <a:rPr kumimoji="0" lang="en-US" altLang="en-US" sz="1800" b="1" dirty="0">
                <a:cs typeface="Calibri" panose="020F0502020204030204" pitchFamily="34" charset="0"/>
              </a:rPr>
            </a:br>
            <a:r>
              <a:rPr kumimoji="0" lang="en-US" altLang="en-US" sz="1800" b="1" dirty="0">
                <a:cs typeface="Calibri" panose="020F0502020204030204" pitchFamily="34" charset="0"/>
              </a:rPr>
              <a:t>       while (true) {</a:t>
            </a:r>
            <a:br>
              <a:rPr kumimoji="0" lang="en-US" altLang="en-US" sz="1800" b="1" dirty="0">
                <a:cs typeface="Calibri" panose="020F0502020204030204" pitchFamily="34" charset="0"/>
              </a:rPr>
            </a:br>
            <a:r>
              <a:rPr kumimoji="0" lang="en-US" altLang="en-US" sz="1800" b="1" dirty="0">
                <a:cs typeface="Calibri" panose="020F0502020204030204" pitchFamily="34" charset="0"/>
              </a:rPr>
              <a:t>	/* produce an item in 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next_produced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 */ </a:t>
            </a:r>
          </a:p>
          <a:p>
            <a:pPr>
              <a:spcBef>
                <a:spcPts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sz="1800" b="1" dirty="0">
                <a:cs typeface="Calibri" panose="020F0502020204030204" pitchFamily="34" charset="0"/>
              </a:rPr>
              <a:t>                send(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next_produced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);  } </a:t>
            </a:r>
          </a:p>
          <a:p>
            <a:pPr>
              <a:spcBef>
                <a:spcPts val="0"/>
              </a:spcBef>
            </a:pPr>
            <a:r>
              <a:rPr lang="en-US" altLang="en-US" sz="2000" b="1" dirty="0">
                <a:cs typeface="Calibri" panose="020F0502020204030204" pitchFamily="34" charset="0"/>
              </a:rPr>
              <a:t>Consumer</a:t>
            </a:r>
          </a:p>
          <a:p>
            <a:pPr>
              <a:spcBef>
                <a:spcPts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sz="1800" b="1" dirty="0">
                <a:cs typeface="Calibri" panose="020F0502020204030204" pitchFamily="34" charset="0"/>
              </a:rPr>
              <a:t>            </a:t>
            </a:r>
            <a:r>
              <a:rPr kumimoji="0" lang="en-US" altLang="en-US" sz="1800" b="1" dirty="0">
                <a:cs typeface="Calibri" panose="020F0502020204030204" pitchFamily="34" charset="0"/>
              </a:rPr>
              <a:t>message 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next_consumed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;</a:t>
            </a:r>
            <a:br>
              <a:rPr kumimoji="0" lang="en-US" altLang="en-US" sz="1800" b="1" dirty="0">
                <a:cs typeface="Calibri" panose="020F0502020204030204" pitchFamily="34" charset="0"/>
              </a:rPr>
            </a:br>
            <a:r>
              <a:rPr kumimoji="0" lang="en-US" altLang="en-US" sz="1800" b="1" dirty="0">
                <a:cs typeface="Calibri" panose="020F0502020204030204" pitchFamily="34" charset="0"/>
              </a:rPr>
              <a:t>       while (true) {</a:t>
            </a:r>
          </a:p>
          <a:p>
            <a:pPr>
              <a:spcBef>
                <a:spcPts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sz="1800" b="1" dirty="0">
                <a:cs typeface="Calibri" panose="020F0502020204030204" pitchFamily="34" charset="0"/>
              </a:rPr>
              <a:t>               /* consume the item in 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next_consumed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 */ </a:t>
            </a:r>
            <a:br>
              <a:rPr kumimoji="0" lang="en-US" altLang="en-US" sz="1800" b="1" dirty="0">
                <a:cs typeface="Calibri" panose="020F0502020204030204" pitchFamily="34" charset="0"/>
              </a:rPr>
            </a:br>
            <a:r>
              <a:rPr kumimoji="0" lang="en-US" altLang="en-US" sz="1800" b="1" dirty="0">
                <a:cs typeface="Calibri" panose="020F0502020204030204" pitchFamily="34" charset="0"/>
              </a:rPr>
              <a:t>	 receive(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next_consumed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)</a:t>
            </a:r>
            <a:br>
              <a:rPr kumimoji="0" lang="en-US" altLang="en-US" sz="1800" b="1" dirty="0">
                <a:cs typeface="Calibri" panose="020F0502020204030204" pitchFamily="34" charset="0"/>
              </a:rPr>
            </a:br>
            <a:r>
              <a:rPr kumimoji="0" lang="en-US" altLang="en-US" sz="2000" b="1" dirty="0">
                <a:cs typeface="Calibri" panose="020F0502020204030204" pitchFamily="34" charset="0"/>
              </a:rPr>
              <a:t>  }</a:t>
            </a:r>
            <a:endParaRPr lang="en-US" altLang="en-US" sz="2000" b="1" dirty="0">
              <a:cs typeface="Calibri" panose="020F050202020403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35377"/>
            <a:ext cx="702283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Producer-Consumer - Message Passing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2A9EE0-98F6-B54F-D208-367CE310DD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440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FCCDAF0-ADCB-498D-ABA7-61D9ACD7A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72641"/>
            <a:ext cx="679182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Buffering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F3FAE0B-E324-4D81-9059-93D9D79F3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532" y="872728"/>
            <a:ext cx="6121666" cy="2881125"/>
          </a:xfrm>
        </p:spPr>
        <p:txBody>
          <a:bodyPr/>
          <a:lstStyle/>
          <a:p>
            <a:r>
              <a:rPr lang="en-US" altLang="en-US" sz="2000" dirty="0"/>
              <a:t>Queue of messages attached to the link</a:t>
            </a:r>
          </a:p>
          <a:p>
            <a:r>
              <a:rPr lang="en-US" altLang="en-US" sz="2000" dirty="0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1.</a:t>
            </a:r>
            <a:r>
              <a:rPr lang="en-US" altLang="en-US" sz="2000" dirty="0"/>
              <a:t>	Zero capacity – no messages are queued on a link</a:t>
            </a:r>
            <a:br>
              <a:rPr lang="en-US" altLang="en-US" sz="2000" dirty="0"/>
            </a:br>
            <a:r>
              <a:rPr lang="en-US" altLang="en-US" sz="2000" dirty="0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2.</a:t>
            </a:r>
            <a:r>
              <a:rPr lang="en-US" altLang="en-US" sz="2000" dirty="0"/>
              <a:t>	Bounded capacity – finite length of </a:t>
            </a:r>
            <a:r>
              <a:rPr lang="en-US" altLang="en-US" sz="2000" i="1" dirty="0"/>
              <a:t>n</a:t>
            </a:r>
            <a:r>
              <a:rPr lang="en-US" altLang="en-US" sz="2000" dirty="0"/>
              <a:t> messages</a:t>
            </a:r>
            <a:br>
              <a:rPr lang="en-US" altLang="en-US" sz="2000" dirty="0"/>
            </a:br>
            <a:r>
              <a:rPr lang="en-US" altLang="en-US" sz="2000" dirty="0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3.</a:t>
            </a:r>
            <a:r>
              <a:rPr lang="en-US" altLang="en-US" sz="2000" dirty="0"/>
              <a:t>	Unbounded capacity – infinite length </a:t>
            </a:r>
            <a:br>
              <a:rPr lang="en-US" altLang="en-US" sz="2000" dirty="0"/>
            </a:br>
            <a:r>
              <a:rPr lang="en-US" altLang="en-US" sz="2000" dirty="0"/>
              <a:t>Sender never waits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800204-B6BB-5F6C-EE56-CBF09A0B68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177B0164-79AB-466A-AEF8-910811B2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5899" y="169069"/>
            <a:ext cx="6879833" cy="432197"/>
          </a:xfrm>
        </p:spPr>
        <p:txBody>
          <a:bodyPr/>
          <a:lstStyle/>
          <a:p>
            <a:r>
              <a:rPr lang="en-US" altLang="en-US" sz="3200" dirty="0"/>
              <a:t>Examples of IPC Systems - POSIX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97B56D75-D444-495A-8F21-29317312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6530" y="872728"/>
            <a:ext cx="7247823" cy="3622270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POSIX Shared Memory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Process first creates shared memory segment</a:t>
            </a:r>
            <a:br>
              <a:rPr lang="en-US" altLang="en-US" sz="2000" dirty="0">
                <a:cs typeface="Calibri" panose="020F0502020204030204" pitchFamily="34" charset="0"/>
              </a:rPr>
            </a:br>
            <a:r>
              <a:rPr lang="en-US" altLang="en-US" sz="2000" b="1" dirty="0" err="1">
                <a:cs typeface="Calibri" panose="020F0502020204030204" pitchFamily="34" charset="0"/>
              </a:rPr>
              <a:t>shm_fd</a:t>
            </a:r>
            <a:r>
              <a:rPr lang="en-US" altLang="en-US" sz="2000" b="1" dirty="0">
                <a:cs typeface="Calibri" panose="020F0502020204030204" pitchFamily="34" charset="0"/>
              </a:rPr>
              <a:t> = </a:t>
            </a:r>
            <a:r>
              <a:rPr lang="en-US" altLang="en-US" sz="2000" b="1" dirty="0" err="1">
                <a:cs typeface="Calibri" panose="020F0502020204030204" pitchFamily="34" charset="0"/>
              </a:rPr>
              <a:t>shm_open</a:t>
            </a:r>
            <a:r>
              <a:rPr lang="en-US" altLang="en-US" sz="2000" b="1" dirty="0">
                <a:cs typeface="Calibri" panose="020F0502020204030204" pitchFamily="34" charset="0"/>
              </a:rPr>
              <a:t>(name, O CREAT | O RDWR, 0666);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Also used to open an existing segment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Set the size of the object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cs typeface="Calibri" panose="020F0502020204030204" pitchFamily="34" charset="0"/>
              </a:rPr>
              <a:t>	            </a:t>
            </a:r>
            <a:r>
              <a:rPr lang="en-US" altLang="en-US" sz="2000" b="1" dirty="0" err="1">
                <a:cs typeface="Calibri" panose="020F0502020204030204" pitchFamily="34" charset="0"/>
              </a:rPr>
              <a:t>ftruncate</a:t>
            </a:r>
            <a:r>
              <a:rPr lang="en-US" altLang="en-US" sz="2000" b="1" dirty="0">
                <a:cs typeface="Calibri" panose="020F0502020204030204" pitchFamily="34" charset="0"/>
              </a:rPr>
              <a:t>(</a:t>
            </a:r>
            <a:r>
              <a:rPr lang="en-US" altLang="en-US" sz="2000" b="1" dirty="0" err="1">
                <a:cs typeface="Calibri" panose="020F0502020204030204" pitchFamily="34" charset="0"/>
              </a:rPr>
              <a:t>shm_fd</a:t>
            </a:r>
            <a:r>
              <a:rPr lang="en-US" altLang="en-US" sz="2000" b="1" dirty="0">
                <a:cs typeface="Calibri" panose="020F0502020204030204" pitchFamily="34" charset="0"/>
              </a:rPr>
              <a:t>, 4096); 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Use </a:t>
            </a:r>
            <a:r>
              <a:rPr lang="en-US" altLang="en-US" sz="2000" b="1" dirty="0" err="1">
                <a:cs typeface="Calibri" panose="020F0502020204030204" pitchFamily="34" charset="0"/>
              </a:rPr>
              <a:t>mmap</a:t>
            </a:r>
            <a:r>
              <a:rPr lang="en-US" altLang="en-US" sz="2000" b="1" dirty="0">
                <a:cs typeface="Calibri" panose="020F0502020204030204" pitchFamily="34" charset="0"/>
              </a:rPr>
              <a:t>() </a:t>
            </a:r>
            <a:r>
              <a:rPr lang="en-US" altLang="en-US" sz="2000" dirty="0">
                <a:cs typeface="Calibri" panose="020F0502020204030204" pitchFamily="34" charset="0"/>
              </a:rPr>
              <a:t>to memory-map a file pointer to the shared memory object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Reading and writing to shared memory is done by using the pointer returned by </a:t>
            </a:r>
            <a:r>
              <a:rPr lang="en-US" altLang="en-US" sz="2000" b="1" dirty="0" err="1">
                <a:cs typeface="Calibri" panose="020F0502020204030204" pitchFamily="34" charset="0"/>
              </a:rPr>
              <a:t>mmap</a:t>
            </a:r>
            <a:r>
              <a:rPr lang="en-US" altLang="en-US" sz="2000" b="1" dirty="0">
                <a:cs typeface="Calibri" panose="020F0502020204030204" pitchFamily="34" charset="0"/>
              </a:rPr>
              <a:t>()</a:t>
            </a:r>
            <a:r>
              <a:rPr lang="en-US" altLang="en-US" sz="2000" dirty="0">
                <a:cs typeface="Calibri" panose="020F0502020204030204" pitchFamily="34" charset="0"/>
              </a:rPr>
              <a:t>.</a:t>
            </a:r>
            <a:br>
              <a:rPr lang="en-US" altLang="en-US" sz="2000" dirty="0">
                <a:cs typeface="Calibri" panose="020F0502020204030204" pitchFamily="34" charset="0"/>
              </a:rPr>
            </a:br>
            <a:br>
              <a:rPr lang="en-US" altLang="en-US" sz="2000" dirty="0">
                <a:cs typeface="Calibri" panose="020F0502020204030204" pitchFamily="34" charset="0"/>
              </a:rPr>
            </a:br>
            <a:endParaRPr lang="en-US" altLang="en-US" sz="2000" b="1" dirty="0"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936BCD-E10D-6C27-4C03-81723C230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1C323C46-CF44-41D6-BAB1-2E6334C38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5" y="164307"/>
            <a:ext cx="6866836" cy="432197"/>
          </a:xfrm>
        </p:spPr>
        <p:txBody>
          <a:bodyPr/>
          <a:lstStyle/>
          <a:p>
            <a:r>
              <a:rPr lang="en-US" altLang="en-US" sz="3200" dirty="0"/>
              <a:t>IPC POSIX Producer</a:t>
            </a:r>
          </a:p>
        </p:txBody>
      </p:sp>
      <p:pic>
        <p:nvPicPr>
          <p:cNvPr id="98307" name="Picture 1" descr="Screen Shot 2013-03-14 at 6.46.57 PM.png">
            <a:extLst>
              <a:ext uri="{FF2B5EF4-FFF2-40B4-BE49-F238E27FC236}">
                <a16:creationId xmlns:a16="http://schemas.microsoft.com/office/drawing/2014/main" id="{61A9851A-030D-4A31-97DA-D34C1F0D8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585" y="816836"/>
            <a:ext cx="2458315" cy="3771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F64D66-A0E0-C73A-E915-37B1C43510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72CAE47D-3817-440B-8694-F512695F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5" y="175022"/>
            <a:ext cx="6847586" cy="432197"/>
          </a:xfrm>
        </p:spPr>
        <p:txBody>
          <a:bodyPr/>
          <a:lstStyle/>
          <a:p>
            <a:r>
              <a:rPr lang="en-US" altLang="en-US" sz="3200" dirty="0"/>
              <a:t>IPC POSIX Consumer</a:t>
            </a:r>
          </a:p>
        </p:txBody>
      </p:sp>
      <p:pic>
        <p:nvPicPr>
          <p:cNvPr id="100355" name="Picture 1" descr="Screen Shot 2013-03-12 at 1.38.41 PM.png">
            <a:extLst>
              <a:ext uri="{FF2B5EF4-FFF2-40B4-BE49-F238E27FC236}">
                <a16:creationId xmlns:a16="http://schemas.microsoft.com/office/drawing/2014/main" id="{0B653FB0-9968-4B72-95FF-0DAED2D58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720" y="852011"/>
            <a:ext cx="3009823" cy="376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37D9D8-185B-6A7A-0F29-E86A99B33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35415C98-6AA0-438D-B9AC-E2E863863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27671"/>
            <a:ext cx="6772576" cy="432197"/>
          </a:xfrm>
        </p:spPr>
        <p:txBody>
          <a:bodyPr/>
          <a:lstStyle/>
          <a:p>
            <a:r>
              <a:rPr lang="en-US" altLang="en-US" sz="3200" dirty="0"/>
              <a:t>Examples of IPC Systems - Mach</a:t>
            </a:r>
          </a:p>
        </p:txBody>
      </p:sp>
      <p:sp>
        <p:nvSpPr>
          <p:cNvPr id="102403" name="Content Placeholder 2">
            <a:extLst>
              <a:ext uri="{FF2B5EF4-FFF2-40B4-BE49-F238E27FC236}">
                <a16:creationId xmlns:a16="http://schemas.microsoft.com/office/drawing/2014/main" id="{F7B5A04B-9E69-4538-9F47-9CD69C217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3160" y="863103"/>
            <a:ext cx="7678078" cy="3699272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Mach communication is message based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Even system calls are messages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Each task gets two ports at creation  - Kernel and Notify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Messages are sent and received using the </a:t>
            </a:r>
            <a:r>
              <a:rPr lang="en-US" altLang="en-US" sz="1800" b="1" dirty="0" err="1">
                <a:cs typeface="Calibri" panose="020F0502020204030204" pitchFamily="34" charset="0"/>
              </a:rPr>
              <a:t>mach_msg</a:t>
            </a:r>
            <a:r>
              <a:rPr lang="en-US" altLang="en-US" sz="1800" b="1" dirty="0">
                <a:cs typeface="Calibri" panose="020F0502020204030204" pitchFamily="34" charset="0"/>
              </a:rPr>
              <a:t>() </a:t>
            </a:r>
            <a:r>
              <a:rPr lang="en-US" altLang="en-US" sz="1800" dirty="0">
                <a:cs typeface="Calibri" panose="020F0502020204030204" pitchFamily="34" charset="0"/>
              </a:rPr>
              <a:t>function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Ports needed for communication,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1800" b="1" dirty="0">
                <a:cs typeface="Calibri" panose="020F0502020204030204" pitchFamily="34" charset="0"/>
              </a:rPr>
              <a:t>	      </a:t>
            </a:r>
            <a:r>
              <a:rPr lang="en-US" altLang="en-US" sz="1800" b="1" dirty="0" err="1">
                <a:cs typeface="Calibri" panose="020F0502020204030204" pitchFamily="34" charset="0"/>
              </a:rPr>
              <a:t>mach_port_allocate</a:t>
            </a:r>
            <a:r>
              <a:rPr lang="en-US" altLang="en-US" sz="1800" b="1" dirty="0">
                <a:cs typeface="Calibri" panose="020F0502020204030204" pitchFamily="34" charset="0"/>
              </a:rPr>
              <a:t>()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Send and receive are flexible; for example four options if mailbox full:</a:t>
            </a:r>
          </a:p>
          <a:p>
            <a:pPr lvl="2"/>
            <a:r>
              <a:rPr lang="en-US" altLang="en-US" sz="1800" dirty="0"/>
              <a:t>Wait indefinitely</a:t>
            </a:r>
          </a:p>
          <a:p>
            <a:pPr lvl="2"/>
            <a:r>
              <a:rPr lang="en-US" altLang="en-US" sz="1800" dirty="0"/>
              <a:t>Wait at most n milliseconds</a:t>
            </a:r>
          </a:p>
          <a:p>
            <a:pPr lvl="2"/>
            <a:r>
              <a:rPr lang="en-US" altLang="en-US" sz="1800" dirty="0"/>
              <a:t>Return immediately</a:t>
            </a:r>
          </a:p>
          <a:p>
            <a:pPr lvl="2"/>
            <a:r>
              <a:rPr lang="en-US" altLang="en-US" sz="1800" dirty="0"/>
              <a:t>Temporarily cache a message</a:t>
            </a:r>
          </a:p>
          <a:p>
            <a:pPr lvl="1"/>
            <a:endParaRPr lang="en-US" altLang="en-US" sz="2000" b="1" dirty="0"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1E4AC5-7279-FD9D-13B0-255BC4397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17415A41-B77C-44C2-A3A9-F61E201A8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08349"/>
            <a:ext cx="7751665" cy="519113"/>
          </a:xfrm>
        </p:spPr>
        <p:txBody>
          <a:bodyPr/>
          <a:lstStyle/>
          <a:p>
            <a:r>
              <a:rPr lang="en-US" altLang="en-US" sz="3200" dirty="0"/>
              <a:t>Mach Messages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1448A0B1-912B-4A5D-AA68-2FA59417A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073" y="933651"/>
            <a:ext cx="409194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#include&lt;mach/mach.h&gt;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struct message {</a:t>
            </a:r>
            <a:br>
              <a:rPr kumimoji="0" lang="en-US" altLang="en-US" sz="2000" b="1" dirty="0">
                <a:latin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</a:rPr>
              <a:t>	</a:t>
            </a:r>
            <a:r>
              <a:rPr kumimoji="0" lang="en-US" altLang="en-US" sz="2000" b="1" dirty="0" err="1">
                <a:latin typeface="Courier New" panose="02070309020205020404" pitchFamily="49" charset="0"/>
              </a:rPr>
              <a:t>mach_msg_header_t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header;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	int data;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};</a:t>
            </a:r>
            <a:br>
              <a:rPr kumimoji="0" lang="en-US" altLang="en-US" sz="2000" b="1" dirty="0">
                <a:latin typeface="Courier New" panose="02070309020205020404" pitchFamily="49" charset="0"/>
              </a:rPr>
            </a:br>
            <a:br>
              <a:rPr kumimoji="0" lang="en-US" altLang="en-US" sz="2000" b="1" dirty="0">
                <a:latin typeface="Courier New" panose="02070309020205020404" pitchFamily="49" charset="0"/>
              </a:rPr>
            </a:br>
            <a:r>
              <a:rPr kumimoji="0" lang="en-US" altLang="en-US" sz="2000" b="1" dirty="0" err="1">
                <a:latin typeface="Courier New" panose="02070309020205020404" pitchFamily="49" charset="0"/>
              </a:rPr>
              <a:t>mach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port t client;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 err="1">
                <a:latin typeface="Courier New" panose="02070309020205020404" pitchFamily="49" charset="0"/>
              </a:rPr>
              <a:t>mach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port t server;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21B515-3346-2662-BC17-4E35F24F6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BAB29CD7-9B87-4A97-899F-BD574BE8E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69069"/>
            <a:ext cx="6610149" cy="432197"/>
          </a:xfrm>
        </p:spPr>
        <p:txBody>
          <a:bodyPr/>
          <a:lstStyle/>
          <a:p>
            <a:r>
              <a:rPr lang="en-US" altLang="en-US" sz="3200" dirty="0"/>
              <a:t>Mach Message Passing - Client</a:t>
            </a:r>
          </a:p>
        </p:txBody>
      </p:sp>
      <p:pic>
        <p:nvPicPr>
          <p:cNvPr id="105475" name="Picture 2">
            <a:extLst>
              <a:ext uri="{FF2B5EF4-FFF2-40B4-BE49-F238E27FC236}">
                <a16:creationId xmlns:a16="http://schemas.microsoft.com/office/drawing/2014/main" id="{14AE9FBD-1D09-463A-8495-50DD2E8C5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657" y="818750"/>
            <a:ext cx="5516890" cy="3772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FFFB8F-088A-761C-D23D-20A3DBB5B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3CD3F126-E414-445F-91C4-4B40C1B15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69069"/>
            <a:ext cx="6629401" cy="432197"/>
          </a:xfrm>
        </p:spPr>
        <p:txBody>
          <a:bodyPr/>
          <a:lstStyle/>
          <a:p>
            <a:r>
              <a:rPr lang="en-US" altLang="en-US" sz="3200" dirty="0"/>
              <a:t>Mach Message Passing - Server</a:t>
            </a:r>
          </a:p>
        </p:txBody>
      </p:sp>
      <p:pic>
        <p:nvPicPr>
          <p:cNvPr id="106499" name="Picture 2">
            <a:extLst>
              <a:ext uri="{FF2B5EF4-FFF2-40B4-BE49-F238E27FC236}">
                <a16:creationId xmlns:a16="http://schemas.microsoft.com/office/drawing/2014/main" id="{1E944D3E-85FF-4626-840A-0177C14F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395" y="999392"/>
            <a:ext cx="6821803" cy="314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7F8180-C175-88E5-692A-6F7BB7048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>
            <a:extLst>
              <a:ext uri="{FF2B5EF4-FFF2-40B4-BE49-F238E27FC236}">
                <a16:creationId xmlns:a16="http://schemas.microsoft.com/office/drawing/2014/main" id="{9AA84AD8-45BC-496F-93D4-85BB20F8D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28003"/>
            <a:ext cx="7101251" cy="432197"/>
          </a:xfrm>
        </p:spPr>
        <p:txBody>
          <a:bodyPr/>
          <a:lstStyle/>
          <a:p>
            <a:r>
              <a:rPr lang="en-US" altLang="en-US" sz="3200" dirty="0"/>
              <a:t>Examples of IPC Systems – Windows</a:t>
            </a:r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31766832-DFC8-4A86-A2CF-46CA4D6FAF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4774" y="807832"/>
            <a:ext cx="7815713" cy="3706414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Message-passing centric via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advanced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local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procedure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call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LPC</a:t>
            </a:r>
            <a:r>
              <a:rPr lang="en-US" altLang="en-US" sz="2000" b="1" dirty="0">
                <a:solidFill>
                  <a:srgbClr val="000000"/>
                </a:solidFill>
                <a:cs typeface="Calibri" panose="020F0502020204030204" pitchFamily="34" charset="0"/>
              </a:rPr>
              <a:t>)</a:t>
            </a:r>
            <a:r>
              <a:rPr lang="en-US" altLang="en-US" sz="2000" dirty="0">
                <a:cs typeface="Calibri" panose="020F0502020204030204" pitchFamily="34" charset="0"/>
              </a:rPr>
              <a:t> facility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Only works between processes on the same system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Uses ports (like mailboxes) to establish and maintain communication channels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Communication works as follows:</a:t>
            </a:r>
          </a:p>
          <a:p>
            <a:pPr lvl="2"/>
            <a:r>
              <a:rPr lang="en-US" altLang="en-US" sz="1600" dirty="0"/>
              <a:t>The client opens a handle to the subsystem’</a:t>
            </a:r>
            <a:r>
              <a:rPr lang="en-US" altLang="ja-JP" sz="1600" dirty="0"/>
              <a:t>s </a:t>
            </a:r>
            <a:r>
              <a:rPr lang="en-US" altLang="ja-JP" sz="1600" b="1" dirty="0">
                <a:solidFill>
                  <a:srgbClr val="006699"/>
                </a:solidFill>
              </a:rPr>
              <a:t>connection</a:t>
            </a:r>
            <a:r>
              <a:rPr lang="en-US" altLang="ja-JP" sz="1600" b="1" dirty="0">
                <a:solidFill>
                  <a:srgbClr val="0000FF"/>
                </a:solidFill>
              </a:rPr>
              <a:t> </a:t>
            </a:r>
            <a:r>
              <a:rPr lang="en-US" altLang="ja-JP" sz="1600" b="1" dirty="0">
                <a:solidFill>
                  <a:srgbClr val="006699"/>
                </a:solidFill>
              </a:rPr>
              <a:t>port</a:t>
            </a:r>
            <a:r>
              <a:rPr lang="en-US" altLang="ja-JP" sz="1600" dirty="0"/>
              <a:t> object.</a:t>
            </a:r>
          </a:p>
          <a:p>
            <a:pPr lvl="2"/>
            <a:r>
              <a:rPr lang="en-US" altLang="en-US" sz="1600" dirty="0"/>
              <a:t>The client sends a connection request.</a:t>
            </a:r>
          </a:p>
          <a:p>
            <a:pPr lvl="2"/>
            <a:r>
              <a:rPr lang="en-US" altLang="en-US" sz="1600" dirty="0"/>
              <a:t>The server creates two private </a:t>
            </a:r>
            <a:r>
              <a:rPr lang="en-US" altLang="en-US" sz="1600" b="1" dirty="0">
                <a:solidFill>
                  <a:srgbClr val="006699"/>
                </a:solidFill>
              </a:rPr>
              <a:t>communication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b="1" dirty="0">
                <a:solidFill>
                  <a:srgbClr val="006699"/>
                </a:solidFill>
              </a:rPr>
              <a:t>ports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and returns the handle to one of them to the client.</a:t>
            </a:r>
          </a:p>
          <a:p>
            <a:pPr lvl="2"/>
            <a:r>
              <a:rPr lang="en-US" altLang="en-US" sz="1600" dirty="0"/>
              <a:t>The client and server use the corresponding port handle to send messages or callbacks and to listen for replies.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017ECE-444D-1B1A-0E35-B606839221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1870AEF7-4CF4-41BC-81BB-29CC7F55A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71451"/>
            <a:ext cx="6884495" cy="432197"/>
          </a:xfrm>
        </p:spPr>
        <p:txBody>
          <a:bodyPr/>
          <a:lstStyle/>
          <a:p>
            <a:r>
              <a:rPr lang="en-US" altLang="en-US" sz="3200" dirty="0"/>
              <a:t>Local Procedure Calls in Windows</a:t>
            </a:r>
          </a:p>
        </p:txBody>
      </p:sp>
      <p:pic>
        <p:nvPicPr>
          <p:cNvPr id="109571" name="Picture 1">
            <a:extLst>
              <a:ext uri="{FF2B5EF4-FFF2-40B4-BE49-F238E27FC236}">
                <a16:creationId xmlns:a16="http://schemas.microsoft.com/office/drawing/2014/main" id="{0D6084EA-7656-42CC-8EAC-D97ED13454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792" y="895149"/>
            <a:ext cx="6887411" cy="3542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3F61BD-F722-259C-098C-B3FB86588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25BF9C1-AE04-4A77-B3E6-FD94636BD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24626"/>
            <a:ext cx="6762951" cy="432197"/>
          </a:xfrm>
        </p:spPr>
        <p:txBody>
          <a:bodyPr/>
          <a:lstStyle/>
          <a:p>
            <a:pPr eaLnBrk="1" hangingPunct="1"/>
            <a:r>
              <a:rPr lang="en-US" altLang="en-US" dirty="0"/>
              <a:t>Pipes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682366-2987-469E-AF71-AD20FF741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2152" y="865585"/>
            <a:ext cx="7488453" cy="339840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/>
              <a:t>Acts as a conduit allowing two processes to communicate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Issues: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Is communication unidirectional or bidirectional?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In the case of two-way communication, is it half or full-duplex?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Must there exist a relationship (i.e., </a:t>
            </a:r>
            <a:r>
              <a:rPr lang="en-US" altLang="en-US" sz="1800" b="1" i="1" dirty="0"/>
              <a:t>parent-child</a:t>
            </a:r>
            <a:r>
              <a:rPr lang="en-US" altLang="en-US" sz="1800" dirty="0"/>
              <a:t>) between the communicating processes?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Can the pipes be used over a network?</a:t>
            </a:r>
          </a:p>
          <a:p>
            <a:pPr>
              <a:spcBef>
                <a:spcPts val="0"/>
              </a:spcBef>
            </a:pPr>
            <a:r>
              <a:rPr lang="en-US" altLang="en-US" sz="2000" b="1" dirty="0"/>
              <a:t>Ordinary pipes </a:t>
            </a:r>
            <a:r>
              <a:rPr lang="en-US" altLang="en-US" sz="2000" dirty="0"/>
              <a:t>– cannot be accessed  from outside the process that created it. Typically, a parent process creates a pipe and uses it to communicate with a child process that it created. </a:t>
            </a:r>
          </a:p>
          <a:p>
            <a:pPr>
              <a:spcBef>
                <a:spcPts val="0"/>
              </a:spcBef>
            </a:pPr>
            <a:r>
              <a:rPr lang="en-US" altLang="en-US" sz="2000" b="1" dirty="0"/>
              <a:t>Named pipes </a:t>
            </a:r>
            <a:r>
              <a:rPr lang="en-US" altLang="en-US" sz="2000" dirty="0"/>
              <a:t>– can be accessed without a parent-child relationship.</a:t>
            </a: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endParaRPr lang="en-US" altLang="en-US" sz="2000" dirty="0"/>
          </a:p>
          <a:p>
            <a:pPr lvl="1">
              <a:spcBef>
                <a:spcPts val="0"/>
              </a:spcBef>
            </a:pPr>
            <a:endParaRPr lang="en-US" alt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4C0027-0708-1478-2FE7-5CECF62E2A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22908"/>
            <a:ext cx="6753325" cy="432197"/>
          </a:xfrm>
        </p:spPr>
        <p:txBody>
          <a:bodyPr/>
          <a:lstStyle/>
          <a:p>
            <a:r>
              <a:rPr lang="en-US" altLang="en-US" sz="3200" dirty="0"/>
              <a:t>Ordinary Pipes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8641" y="805554"/>
            <a:ext cx="8171848" cy="3698081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Ordinary Pipes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allow communication in standard producer-consumer style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Producer writes to one end (the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write-end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of the pipe)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Consumer reads from the other end (the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read-end</a:t>
            </a:r>
            <a:r>
              <a:rPr lang="en-US" altLang="en-US" sz="2000" i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of the pipe)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Ordinary pipes are therefore unidirectional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Require parent-child relationship between communicating processes</a:t>
            </a:r>
          </a:p>
          <a:p>
            <a:endParaRPr lang="en-US" altLang="en-US" sz="2000" dirty="0">
              <a:cs typeface="Calibri" panose="020F050202020403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cs typeface="Calibri" panose="020F0502020204030204" pitchFamily="34" charset="0"/>
            </a:endParaRPr>
          </a:p>
          <a:p>
            <a:r>
              <a:rPr lang="en-US" altLang="en-US" sz="2000" dirty="0">
                <a:cs typeface="Calibri" panose="020F0502020204030204" pitchFamily="34" charset="0"/>
              </a:rPr>
              <a:t>Windows calls these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anonymous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484" y="2887580"/>
            <a:ext cx="3259288" cy="110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115B1B-8A50-F200-7D06-0F7967C7D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>
            <a:extLst>
              <a:ext uri="{FF2B5EF4-FFF2-40B4-BE49-F238E27FC236}">
                <a16:creationId xmlns:a16="http://schemas.microsoft.com/office/drawing/2014/main" id="{F46E3781-78DE-4BB1-BE01-A0E3071BA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63116"/>
            <a:ext cx="6784482" cy="432197"/>
          </a:xfrm>
        </p:spPr>
        <p:txBody>
          <a:bodyPr/>
          <a:lstStyle/>
          <a:p>
            <a:r>
              <a:rPr lang="en-US" altLang="en-US" sz="3200" dirty="0"/>
              <a:t>Named Pipes</a:t>
            </a:r>
          </a:p>
        </p:txBody>
      </p:sp>
      <p:sp>
        <p:nvSpPr>
          <p:cNvPr id="115715" name="Content Placeholder 7">
            <a:extLst>
              <a:ext uri="{FF2B5EF4-FFF2-40B4-BE49-F238E27FC236}">
                <a16:creationId xmlns:a16="http://schemas.microsoft.com/office/drawing/2014/main" id="{18F2E9C8-16A0-4DAA-AF49-56C9A6E9D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1777" y="925116"/>
            <a:ext cx="7218947" cy="3398044"/>
          </a:xfrm>
        </p:spPr>
        <p:txBody>
          <a:bodyPr/>
          <a:lstStyle/>
          <a:p>
            <a:r>
              <a:rPr lang="en-US" altLang="en-US" sz="2000" dirty="0"/>
              <a:t>Named Pipes are more powerful than ordinary pipes</a:t>
            </a:r>
          </a:p>
          <a:p>
            <a:r>
              <a:rPr lang="en-US" altLang="en-US" sz="2000" dirty="0"/>
              <a:t>Communication is bidirectional</a:t>
            </a:r>
          </a:p>
          <a:p>
            <a:r>
              <a:rPr lang="en-US" altLang="en-US" sz="2000" dirty="0"/>
              <a:t>No parent-child relationship is necessary between the communicating processes</a:t>
            </a:r>
          </a:p>
          <a:p>
            <a:r>
              <a:rPr lang="en-US" altLang="en-US" sz="2000" dirty="0"/>
              <a:t>Several processes can use the named pipe for communication</a:t>
            </a:r>
          </a:p>
          <a:p>
            <a:r>
              <a:rPr lang="en-US" altLang="en-US" sz="2000" dirty="0"/>
              <a:t>Provided on both UNIX and Windows systems</a:t>
            </a:r>
          </a:p>
          <a:p>
            <a:endParaRPr lang="en-US" alt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BE03DC-E06C-716F-F475-9E5130CE3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5899" y="177403"/>
            <a:ext cx="753658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0278" y="925116"/>
            <a:ext cx="5885347" cy="788181"/>
          </a:xfrm>
        </p:spPr>
        <p:txBody>
          <a:bodyPr/>
          <a:lstStyle/>
          <a:p>
            <a:r>
              <a:rPr lang="en-US" altLang="en-US" sz="2000" dirty="0"/>
              <a:t>Sockets</a:t>
            </a:r>
          </a:p>
          <a:p>
            <a:r>
              <a:rPr lang="en-US" altLang="en-US" sz="2000" dirty="0"/>
              <a:t>Remote Procedure Calls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FCE532-7786-D90C-3D85-7F5274CE5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7403"/>
            <a:ext cx="676295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2526" y="865585"/>
            <a:ext cx="7498079" cy="3398044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A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socket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is defined as an endpoint for communication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Concatenation of IP address and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port</a:t>
            </a:r>
            <a:r>
              <a:rPr lang="en-US" altLang="en-US" sz="2000" dirty="0">
                <a:cs typeface="Calibri" panose="020F0502020204030204" pitchFamily="34" charset="0"/>
              </a:rPr>
              <a:t> – a number included at start of message packet to differentiate network services on a host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The socket </a:t>
            </a:r>
            <a:r>
              <a:rPr lang="en-US" altLang="en-US" sz="2000" b="1" dirty="0">
                <a:cs typeface="Calibri" panose="020F0502020204030204" pitchFamily="34" charset="0"/>
              </a:rPr>
              <a:t>161.25.19.8:1625</a:t>
            </a:r>
            <a:r>
              <a:rPr lang="en-US" altLang="en-US" sz="2000" dirty="0">
                <a:cs typeface="Calibri" panose="020F0502020204030204" pitchFamily="34" charset="0"/>
              </a:rPr>
              <a:t> refers to port </a:t>
            </a:r>
            <a:r>
              <a:rPr lang="en-US" altLang="en-US" sz="2000" b="1" dirty="0">
                <a:cs typeface="Calibri" panose="020F0502020204030204" pitchFamily="34" charset="0"/>
              </a:rPr>
              <a:t>1625</a:t>
            </a:r>
            <a:r>
              <a:rPr lang="en-US" altLang="en-US" sz="2000" dirty="0">
                <a:cs typeface="Calibri" panose="020F0502020204030204" pitchFamily="34" charset="0"/>
              </a:rPr>
              <a:t> on host </a:t>
            </a:r>
            <a:r>
              <a:rPr lang="en-US" altLang="en-US" sz="2000" b="1" dirty="0">
                <a:cs typeface="Calibri" panose="020F0502020204030204" pitchFamily="34" charset="0"/>
              </a:rPr>
              <a:t>161.25.19.8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Communication consists between a pair of sockets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All ports below 1024 are </a:t>
            </a:r>
            <a:r>
              <a:rPr lang="en-US" altLang="en-US" sz="2000" b="1" i="1" dirty="0">
                <a:cs typeface="Calibri" panose="020F0502020204030204" pitchFamily="34" charset="0"/>
              </a:rPr>
              <a:t>well known</a:t>
            </a:r>
            <a:r>
              <a:rPr lang="en-US" altLang="en-US" sz="2000" dirty="0">
                <a:cs typeface="Calibri" panose="020F0502020204030204" pitchFamily="34" charset="0"/>
              </a:rPr>
              <a:t>, used for standard services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Special IP address 127.0.0.1 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loopback</a:t>
            </a:r>
            <a:r>
              <a:rPr lang="en-US" altLang="en-US" sz="2000" dirty="0">
                <a:cs typeface="Calibri" panose="020F0502020204030204" pitchFamily="34" charset="0"/>
              </a:rPr>
              <a:t>) to refer to system on which process is running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406D2A2-2A82-6148-6D83-3445D4E715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0260"/>
            <a:ext cx="698798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266" y="1257300"/>
            <a:ext cx="4080272" cy="2778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7C98B9-824D-9EAF-A13C-792F7A161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0260"/>
            <a:ext cx="676295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Sockets in Java (1)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9880" y="824208"/>
            <a:ext cx="4292867" cy="3398044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Three types of sockets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Connection-oriented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TCP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Connectionless</a:t>
            </a:r>
            <a:r>
              <a:rPr lang="en-US" altLang="en-US" sz="2000" dirty="0">
                <a:cs typeface="Calibri" panose="020F0502020204030204" pitchFamily="34" charset="0"/>
              </a:rPr>
              <a:t> 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UDP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altLang="en-US" sz="2000" b="1" dirty="0" err="1">
                <a:cs typeface="Calibri" panose="020F0502020204030204" pitchFamily="34" charset="0"/>
              </a:rPr>
              <a:t>MulticastSocket</a:t>
            </a:r>
            <a:r>
              <a:rPr lang="en-US" altLang="en-US" sz="2000" dirty="0">
                <a:cs typeface="Calibri" panose="020F0502020204030204" pitchFamily="34" charset="0"/>
              </a:rPr>
              <a:t> class– data can be sent to multiple recipients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Consider this “Date” server in Java</a:t>
            </a:r>
          </a:p>
        </p:txBody>
      </p:sp>
      <p:pic>
        <p:nvPicPr>
          <p:cNvPr id="123908" name="Picture 1">
            <a:extLst>
              <a:ext uri="{FF2B5EF4-FFF2-40B4-BE49-F238E27FC236}">
                <a16:creationId xmlns:a16="http://schemas.microsoft.com/office/drawing/2014/main" id="{EEE0770C-1450-4345-BEEA-A9C8ED78C9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410" y="853083"/>
            <a:ext cx="3724830" cy="3711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AC4D8E9-A455-0247-ADA7-0FDB19F986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C7511513-CD31-4692-851D-D1DB58E8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Sockets in Java (2)</a:t>
            </a:r>
          </a:p>
        </p:txBody>
      </p:sp>
      <p:pic>
        <p:nvPicPr>
          <p:cNvPr id="125956" name="Picture 3">
            <a:extLst>
              <a:ext uri="{FF2B5EF4-FFF2-40B4-BE49-F238E27FC236}">
                <a16:creationId xmlns:a16="http://schemas.microsoft.com/office/drawing/2014/main" id="{80564BD1-BFAE-4AE7-BD99-CC3DE4A875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987" y="853964"/>
            <a:ext cx="4044613" cy="3718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BBAE555-3291-687D-6989-6B62FC192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77334D-B567-FF56-DA34-F49C800976EA}"/>
              </a:ext>
            </a:extLst>
          </p:cNvPr>
          <p:cNvSpPr txBox="1">
            <a:spLocks noChangeArrowheads="1"/>
          </p:cNvSpPr>
          <p:nvPr/>
        </p:nvSpPr>
        <p:spPr>
          <a:xfrm>
            <a:off x="531755" y="853964"/>
            <a:ext cx="3578234" cy="393363"/>
          </a:xfrm>
          <a:prstGeom prst="rect">
            <a:avLst/>
          </a:prstGeom>
        </p:spPr>
        <p:txBody>
          <a:bodyPr/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0" lang="en-US" altLang="en-US" sz="2000" dirty="0">
                <a:latin typeface="+mn-lt"/>
              </a:rPr>
              <a:t>The equivalent date client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01BCD28-A345-4D38-A597-097FF1FEF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75022"/>
            <a:ext cx="675332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Remote Procedure Calls (1)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DEC6CAE-EDD4-4F10-873D-FB38F22E6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1776" y="853679"/>
            <a:ext cx="7430703" cy="3650456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Remote procedure call (RPC) abstracts procedure calls between processes on networked systems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Again uses ports for service differentiation</a:t>
            </a:r>
          </a:p>
          <a:p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Stubs</a:t>
            </a:r>
            <a:r>
              <a:rPr lang="en-US" altLang="en-US" sz="2000" dirty="0">
                <a:cs typeface="Calibri" panose="020F0502020204030204" pitchFamily="34" charset="0"/>
              </a:rPr>
              <a:t> – client-side proxy for the actual procedure on the server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The client-side stub locates the server and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marshalls</a:t>
            </a:r>
            <a:r>
              <a:rPr lang="en-US" altLang="en-US" sz="2000" dirty="0">
                <a:cs typeface="Calibri" panose="020F0502020204030204" pitchFamily="34" charset="0"/>
              </a:rPr>
              <a:t> the parameters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The server-side stub receives this message, unpacks the marshalled parameters, and performs the procedure on the server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On Windows, stub code compile from specification written in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Microsoft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Interface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Definition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Language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MIDL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33F396-6021-6A7B-3C39-050E262AE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CFC0513-6498-44D9-8826-FE7B637CB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2641"/>
            <a:ext cx="711775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Remote Procedure Calls (2)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D773B3E-1F58-47D6-A600-27575633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1402" y="900729"/>
            <a:ext cx="7209322" cy="2545115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Data representation handled via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External Data Representation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XDL</a:t>
            </a:r>
            <a:r>
              <a:rPr lang="en-US" altLang="en-US" sz="2000" dirty="0">
                <a:cs typeface="Calibri" panose="020F0502020204030204" pitchFamily="34" charset="0"/>
              </a:rPr>
              <a:t>) format to account for different architectures</a:t>
            </a: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Big-endian</a:t>
            </a:r>
            <a:r>
              <a:rPr lang="en-US" altLang="en-US" sz="18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cs typeface="Calibri" panose="020F0502020204030204" pitchFamily="34" charset="0"/>
              </a:rPr>
              <a:t>and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little-endian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Remote communication has more failure scenarios than local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Messages can be delivered </a:t>
            </a:r>
            <a:r>
              <a:rPr lang="en-US" altLang="en-US" sz="1800" b="1" i="1" dirty="0">
                <a:cs typeface="Calibri" panose="020F0502020204030204" pitchFamily="34" charset="0"/>
              </a:rPr>
              <a:t>exactly once </a:t>
            </a:r>
            <a:r>
              <a:rPr lang="en-US" altLang="en-US" sz="1800" dirty="0">
                <a:cs typeface="Calibri" panose="020F0502020204030204" pitchFamily="34" charset="0"/>
              </a:rPr>
              <a:t>rather than </a:t>
            </a:r>
            <a:r>
              <a:rPr lang="en-US" altLang="en-US" sz="1800" b="1" i="1" dirty="0">
                <a:cs typeface="Calibri" panose="020F0502020204030204" pitchFamily="34" charset="0"/>
              </a:rPr>
              <a:t>at most once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OS typically provides a rendezvous (or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matchmaker</a:t>
            </a:r>
            <a:r>
              <a:rPr lang="en-US" altLang="en-US" sz="2000" dirty="0">
                <a:cs typeface="Calibri" panose="020F0502020204030204" pitchFamily="34" charset="0"/>
              </a:rPr>
              <a:t>) service to connect client and server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8421FA-0863-F146-7952-36C69C4533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538A429-F2A7-4F7C-87E2-EEC652982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72641"/>
            <a:ext cx="675332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Execution of RPC</a:t>
            </a:r>
          </a:p>
        </p:txBody>
      </p:sp>
      <p:pic>
        <p:nvPicPr>
          <p:cNvPr id="131075" name="Picture 1">
            <a:extLst>
              <a:ext uri="{FF2B5EF4-FFF2-40B4-BE49-F238E27FC236}">
                <a16:creationId xmlns:a16="http://schemas.microsoft.com/office/drawing/2014/main" id="{ECFE0A42-3507-487F-9D40-A6D4040A6D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05" y="861980"/>
            <a:ext cx="3076440" cy="3701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EA9B8B-E8C6-41C3-9005-8B0E550CA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5B4141-7440-A3FD-7C2A-2971C5242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256E24-10D0-2DC9-F2CB-CB3430051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43" y="2757037"/>
            <a:ext cx="7772400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en-US" kern="0" dirty="0"/>
              <a:t>End of Chapter 3</a:t>
            </a:r>
          </a:p>
        </p:txBody>
      </p:sp>
    </p:spTree>
    <p:extLst>
      <p:ext uri="{BB962C8B-B14F-4D97-AF65-F5344CB8AC3E}">
        <p14:creationId xmlns:p14="http://schemas.microsoft.com/office/powerpoint/2010/main" val="143160674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2535</TotalTime>
  <Words>1602</Words>
  <Application>Microsoft Office PowerPoint</Application>
  <PresentationFormat>全屏显示(16:9)</PresentationFormat>
  <Paragraphs>244</Paragraphs>
  <Slides>34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Monotype Sorts</vt:lpstr>
      <vt:lpstr>ＭＳ Ｐゴシック</vt:lpstr>
      <vt:lpstr>MS Sans Serif</vt:lpstr>
      <vt:lpstr>Arial</vt:lpstr>
      <vt:lpstr>Calibri</vt:lpstr>
      <vt:lpstr>Courier New</vt:lpstr>
      <vt:lpstr>Times New Roman</vt:lpstr>
      <vt:lpstr>Wingdings</vt:lpstr>
      <vt:lpstr>NTHU UniCloud</vt:lpstr>
      <vt:lpstr>CSC3150 – Operating Systems</vt:lpstr>
      <vt:lpstr>Outline</vt:lpstr>
      <vt:lpstr>Objectives</vt:lpstr>
      <vt:lpstr>Message Passing (1)</vt:lpstr>
      <vt:lpstr>Message Passing (2)</vt:lpstr>
      <vt:lpstr>Implementation of Communication Link</vt:lpstr>
      <vt:lpstr>Direct Communication</vt:lpstr>
      <vt:lpstr>Indirect Communication (1)</vt:lpstr>
      <vt:lpstr>Indirect Communication (2)</vt:lpstr>
      <vt:lpstr>Indirect Communication (3)</vt:lpstr>
      <vt:lpstr>Synchronization</vt:lpstr>
      <vt:lpstr>Producer-Consumer - Message Passing</vt:lpstr>
      <vt:lpstr>Buffering</vt:lpstr>
      <vt:lpstr>Examples of IPC Systems - POSIX</vt:lpstr>
      <vt:lpstr>IPC POSIX Producer</vt:lpstr>
      <vt:lpstr>IPC POSIX Consumer</vt:lpstr>
      <vt:lpstr>Examples of IPC Systems - Mach</vt:lpstr>
      <vt:lpstr>Mach Messages</vt:lpstr>
      <vt:lpstr>Mach Message Passing - Client</vt:lpstr>
      <vt:lpstr>Mach Message Passing - Server</vt:lpstr>
      <vt:lpstr>Examples of IPC Systems – Windows</vt:lpstr>
      <vt:lpstr>Local Procedure Calls in Windows</vt:lpstr>
      <vt:lpstr>Pipes</vt:lpstr>
      <vt:lpstr>Ordinary Pipes</vt:lpstr>
      <vt:lpstr>Named Pipes</vt:lpstr>
      <vt:lpstr>Communications in Client-Server Systems</vt:lpstr>
      <vt:lpstr>Sockets</vt:lpstr>
      <vt:lpstr>Socket Communication</vt:lpstr>
      <vt:lpstr>Sockets in Java (1)</vt:lpstr>
      <vt:lpstr>Sockets in Java (2)</vt:lpstr>
      <vt:lpstr>Remote Procedure Calls (1)</vt:lpstr>
      <vt:lpstr>Remote Procedure Calls (2)</vt:lpstr>
      <vt:lpstr>Execution of RPC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278</cp:revision>
  <dcterms:created xsi:type="dcterms:W3CDTF">2015-06-05T07:23:35Z</dcterms:created>
  <dcterms:modified xsi:type="dcterms:W3CDTF">2025-07-25T09:18:24Z</dcterms:modified>
</cp:coreProperties>
</file>