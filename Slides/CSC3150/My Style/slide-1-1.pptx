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handoutMasterIdLst>
    <p:handoutMasterId r:id="rId38"/>
  </p:handoutMasterIdLst>
  <p:sldIdLst>
    <p:sldId id="256" r:id="rId2"/>
    <p:sldId id="347" r:id="rId3"/>
    <p:sldId id="348" r:id="rId4"/>
    <p:sldId id="417" r:id="rId5"/>
    <p:sldId id="349" r:id="rId6"/>
    <p:sldId id="350" r:id="rId7"/>
    <p:sldId id="411" r:id="rId8"/>
    <p:sldId id="352" r:id="rId9"/>
    <p:sldId id="437" r:id="rId10"/>
    <p:sldId id="353" r:id="rId11"/>
    <p:sldId id="354" r:id="rId12"/>
    <p:sldId id="438" r:id="rId13"/>
    <p:sldId id="356" r:id="rId14"/>
    <p:sldId id="357" r:id="rId15"/>
    <p:sldId id="358" r:id="rId16"/>
    <p:sldId id="360" r:id="rId17"/>
    <p:sldId id="359" r:id="rId18"/>
    <p:sldId id="413" r:id="rId19"/>
    <p:sldId id="420" r:id="rId20"/>
    <p:sldId id="361" r:id="rId21"/>
    <p:sldId id="419" r:id="rId22"/>
    <p:sldId id="423" r:id="rId23"/>
    <p:sldId id="363" r:id="rId24"/>
    <p:sldId id="393" r:id="rId25"/>
    <p:sldId id="364" r:id="rId26"/>
    <p:sldId id="408" r:id="rId27"/>
    <p:sldId id="404" r:id="rId28"/>
    <p:sldId id="403" r:id="rId29"/>
    <p:sldId id="375" r:id="rId30"/>
    <p:sldId id="426" r:id="rId31"/>
    <p:sldId id="427" r:id="rId32"/>
    <p:sldId id="374" r:id="rId33"/>
    <p:sldId id="429" r:id="rId34"/>
    <p:sldId id="430" r:id="rId35"/>
    <p:sldId id="376" r:id="rId36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72" y="60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2025/7/25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2025/7/25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37BB01D-B0D0-4671-8FE7-094A3CF416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C49927E-475C-4CE6-A5F7-A2AEC03D2A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141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92B20D6A-74B8-4F94-A917-6CF1BD9CF2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9100" y="701675"/>
            <a:ext cx="6240463" cy="3511550"/>
          </a:xfrm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4BD16ED7-7618-4443-A1AB-1EEB7BDAC2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8025" y="4448175"/>
            <a:ext cx="5662613" cy="4213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3926" tIns="46963" rIns="93926" bIns="46963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0530582-34A1-40CB-B831-D1F3E3C92A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9CF4A8B-5951-4925-B7B5-B6A1187097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FD739A5-736F-49FB-B5C5-655EDC9329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5A804FB-0337-45E9-B1E1-4917EA812A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2C28BEE-6138-41AB-98EC-157EDD7FC6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0F1548D0-5E5D-425A-AFC9-AE5CF7AA10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7E33B51-0000-42AD-B920-0A0E39C032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F1A2DA55-94B7-44EA-9189-4528FAFDBE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7E33B51-0000-42AD-B920-0A0E39C032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F1A2DA55-94B7-44EA-9189-4528FAFDBE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611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3AA6C9F-7A55-412F-9FE5-55CB6315EA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D951E66-1449-4BF2-BD6D-78F009D7DF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6646A39-9D9C-4576-B76B-C83B690BB2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E615B404-9F60-46B3-9E39-216C932152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A51FF58-C105-4A9E-9630-D9A0E11B7B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775B7E24-1F9A-4145-81FD-5FA9539C1B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C2BE2D62-DA23-4A1C-BD18-BB29F30D26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F0FE727F-6BA6-4D29-9307-3BEF04149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F61F88E3-AC2E-45D7-A9AF-5C1FFFB92C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9064BE0D-CEB9-40CC-8FCE-AE12BD2F3A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7FB1ABE3-7495-4F27-8466-A83A6316E3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0AB51EC2-9DAA-4A25-97D8-1FD619E54E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24EFBA2C-B5AE-4069-BF8B-611B0CEA78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7EE8AC62-1D2C-4420-B345-3BE889F06A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245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24EFBA2C-B5AE-4069-BF8B-611B0CEA78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7EE8AC62-1D2C-4420-B345-3BE889F06A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EAE2A917-F902-400B-80B0-70693664DB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AC34C9B-39B2-47DE-ACC5-054B5690C9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2121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DE9E8DC3-5471-4D9B-B920-963C372826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CC81ECEA-4C58-43A0-8A83-EC53F2B606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650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DE9E8DC3-5471-4D9B-B920-963C372826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CC81ECEA-4C58-43A0-8A83-EC53F2B606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8B055665-1FCA-46DF-8ADA-AFDB187E57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BE89632E-64C1-4EC9-810C-0427E363D9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7ACF7734-5D09-4080-A5F3-33EF4697BA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239A3F8-049F-4A8D-93CB-7DD9B1942C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778391D3-ADD6-4090-9893-F708D70934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26B622F6-6930-47DF-9588-CC13ADD7EA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263EBCDF-9BF5-4BA4-A046-5EF9DC6D4C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089D0B39-6328-4D25-9200-1051CE46BE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09334B8E-3D1F-4D13-A54E-BFE97B3635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4C4D753E-0D96-484D-AE41-DA069EC6DC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DF662679-C637-4C5D-AA50-BC23CF2FDE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82D00A35-AD54-491F-B947-6CA0B491F3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5202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DF662679-C637-4C5D-AA50-BC23CF2FDE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82D00A35-AD54-491F-B947-6CA0B491F3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0974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1EC14F13-9940-464D-96E0-6B1495E786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2062C8DA-575B-421A-8D26-AE1E16BBC4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DA55C65A-3BB8-4C4D-AEA1-3229F021DC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11570280-4FF2-4E66-8C6A-EFD1536FB0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26673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CACD6A6E-859E-4B10-B0E4-6EB13D783A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5A0DDCD0-8B5C-445D-8C9C-4A2B029B9A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74986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CACD6A6E-859E-4B10-B0E4-6EB13D783A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5A0DDCD0-8B5C-445D-8C9C-4A2B029B9A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62" y="4681942"/>
            <a:ext cx="2030503" cy="40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26534"/>
            <a:ext cx="7772400" cy="1102519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CSC3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50 – Operating Systems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</a:t>
            </a:r>
            <a:r>
              <a:rPr lang="en-US" altLang="zh-TW" sz="2400"/>
              <a:t>Data Science</a:t>
            </a:r>
            <a:endParaRPr lang="en-US" altLang="zh-TW" sz="2400" dirty="0"/>
          </a:p>
          <a:p>
            <a:r>
              <a:rPr lang="en-US" altLang="zh-TW" sz="2400" dirty="0"/>
              <a:t>Chinese University of Hong Kong, Shenzhen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FFB0C2-40A6-AD02-D170-530BE0638A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776E12C-0A8F-49FF-8988-D53352F14B9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73667" y="152401"/>
            <a:ext cx="6537987" cy="432197"/>
          </a:xfrm>
        </p:spPr>
        <p:txBody>
          <a:bodyPr/>
          <a:lstStyle/>
          <a:p>
            <a:pPr eaLnBrk="1" hangingPunct="1"/>
            <a:r>
              <a:rPr lang="en-US" altLang="en-US" dirty="0"/>
              <a:t>Introduction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D002EA22-F1BB-4F36-8EAD-4A3CBBBFD93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058531" y="829733"/>
            <a:ext cx="7010202" cy="3666067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dirty="0">
                <a:solidFill>
                  <a:srgbClr val="FF0000"/>
                </a:solidFill>
              </a:rPr>
              <a:t>What Operating Systems Do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solidFill>
                  <a:srgbClr val="FF0000"/>
                </a:solidFill>
              </a:rPr>
              <a:t>Computer-System Organization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solidFill>
                  <a:srgbClr val="FF0000"/>
                </a:solidFill>
              </a:rPr>
              <a:t>Computer-System Architecture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solidFill>
                  <a:schemeClr val="bg1">
                    <a:lumMod val="75000"/>
                  </a:schemeClr>
                </a:solidFill>
              </a:rPr>
              <a:t>Operating-System Operations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solidFill>
                  <a:schemeClr val="bg1">
                    <a:lumMod val="75000"/>
                  </a:schemeClr>
                </a:solidFill>
              </a:rPr>
              <a:t>Resource Management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solidFill>
                  <a:schemeClr val="bg1">
                    <a:lumMod val="75000"/>
                  </a:schemeClr>
                </a:solidFill>
              </a:rPr>
              <a:t>Security and Protection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solidFill>
                  <a:schemeClr val="bg1">
                    <a:lumMod val="75000"/>
                  </a:schemeClr>
                </a:solidFill>
              </a:rPr>
              <a:t>Virtualization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solidFill>
                  <a:schemeClr val="bg1">
                    <a:lumMod val="75000"/>
                  </a:schemeClr>
                </a:solidFill>
              </a:rPr>
              <a:t>Distributed Systems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solidFill>
                  <a:schemeClr val="bg1">
                    <a:lumMod val="75000"/>
                  </a:schemeClr>
                </a:solidFill>
              </a:rPr>
              <a:t>Kernel Data Structures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solidFill>
                  <a:schemeClr val="bg1">
                    <a:lumMod val="75000"/>
                  </a:schemeClr>
                </a:solidFill>
              </a:rPr>
              <a:t>Computing Environments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solidFill>
                  <a:schemeClr val="bg1">
                    <a:lumMod val="75000"/>
                  </a:schemeClr>
                </a:solidFill>
              </a:rPr>
              <a:t>Free/Libre and Open-Source Operating Systems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AB1D000-94AF-879E-B57F-4B6548E93C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B756355-6FC3-4D1A-BBDC-6B9FBCD76A5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97467" y="125016"/>
            <a:ext cx="6599899" cy="463153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838C557-FE18-4536-BEF7-BBF21B888B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97467" y="904048"/>
            <a:ext cx="7477191" cy="2939819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dirty="0">
                <a:solidFill>
                  <a:srgbClr val="FF0000"/>
                </a:solidFill>
              </a:rPr>
              <a:t>Describe the general organization of a computer system and the role of interrupts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solidFill>
                  <a:srgbClr val="FF0000"/>
                </a:solidFill>
              </a:rPr>
              <a:t>Describe the components in a modern, multiprocessor computer system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solidFill>
                  <a:srgbClr val="FF0000"/>
                </a:solidFill>
              </a:rPr>
              <a:t>Illustrate the transition from user mode to kernel mode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solidFill>
                  <a:schemeClr val="bg1">
                    <a:lumMod val="75000"/>
                  </a:schemeClr>
                </a:solidFill>
              </a:rPr>
              <a:t>Discuss how operating systems are used in various computing environments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solidFill>
                  <a:schemeClr val="bg1">
                    <a:lumMod val="75000"/>
                  </a:schemeClr>
                </a:solidFill>
              </a:rPr>
              <a:t>Provide examples of free and open-source operating systems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A288238-5CD2-00AB-1BA7-9577DB7520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B756355-6FC3-4D1A-BBDC-6B9FBCD76A5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05933" y="140205"/>
            <a:ext cx="8058680" cy="463153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What Does Operating System Mean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838C557-FE18-4536-BEF7-BBF21B888B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021710" y="824403"/>
            <a:ext cx="6191890" cy="3087197"/>
          </a:xfrm>
        </p:spPr>
        <p:txBody>
          <a:bodyPr/>
          <a:lstStyle/>
          <a:p>
            <a:r>
              <a:rPr lang="en-US" altLang="en-US" sz="2000" dirty="0"/>
              <a:t>An operating system is “fill in the blanks”</a:t>
            </a:r>
          </a:p>
          <a:p>
            <a:r>
              <a:rPr lang="en-US" altLang="en-US" sz="2000" dirty="0"/>
              <a:t>What about</a:t>
            </a:r>
          </a:p>
          <a:p>
            <a:pPr lvl="1"/>
            <a:r>
              <a:rPr lang="en-US" altLang="en-US" sz="1800" dirty="0"/>
              <a:t>Car </a:t>
            </a:r>
          </a:p>
          <a:p>
            <a:pPr lvl="1"/>
            <a:r>
              <a:rPr lang="en-US" altLang="en-US" sz="1800" dirty="0"/>
              <a:t>Airplane</a:t>
            </a:r>
          </a:p>
          <a:p>
            <a:pPr lvl="1"/>
            <a:r>
              <a:rPr lang="en-US" altLang="en-US" sz="1800" dirty="0"/>
              <a:t>Printer</a:t>
            </a:r>
          </a:p>
          <a:p>
            <a:pPr lvl="1"/>
            <a:r>
              <a:rPr lang="en-US" altLang="en-US" sz="1800" dirty="0"/>
              <a:t>Washing Machine</a:t>
            </a:r>
          </a:p>
          <a:p>
            <a:pPr lvl="1"/>
            <a:r>
              <a:rPr lang="en-US" altLang="en-US" sz="1800" dirty="0"/>
              <a:t>Toaster</a:t>
            </a:r>
          </a:p>
          <a:p>
            <a:pPr lvl="1"/>
            <a:r>
              <a:rPr lang="en-US" altLang="en-US" sz="1800" dirty="0"/>
              <a:t>Compiler</a:t>
            </a:r>
          </a:p>
          <a:p>
            <a:pPr lvl="1"/>
            <a:r>
              <a:rPr lang="en-US" altLang="en-US" sz="1800" dirty="0"/>
              <a:t>…..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C8A1033-3A21-EA9D-33D7-F1D01BB1BA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3037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EAAE997-54FD-41EF-972D-B4CCB9B1896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07533" y="148828"/>
            <a:ext cx="6650567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What is an Operating System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36D9CA-D38B-456F-A12D-3CBF399EEDF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066800" y="821725"/>
            <a:ext cx="7416799" cy="3716408"/>
          </a:xfrm>
        </p:spPr>
        <p:txBody>
          <a:bodyPr/>
          <a:lstStyle/>
          <a:p>
            <a:r>
              <a:rPr lang="en-US" altLang="en-US" sz="2000" dirty="0"/>
              <a:t>A program that acts as an intermediary between a user of a computer and the computer hardware, including the following functions</a:t>
            </a:r>
          </a:p>
          <a:p>
            <a:pPr lvl="1"/>
            <a:r>
              <a:rPr lang="en-US" altLang="en-US" sz="1800" dirty="0"/>
              <a:t>Process management</a:t>
            </a:r>
          </a:p>
          <a:p>
            <a:pPr lvl="1"/>
            <a:r>
              <a:rPr lang="en-US" altLang="en-US" sz="1800" dirty="0"/>
              <a:t>Memory management</a:t>
            </a:r>
          </a:p>
          <a:p>
            <a:pPr lvl="1"/>
            <a:r>
              <a:rPr lang="en-US" altLang="en-US" sz="1800" dirty="0"/>
              <a:t>File management</a:t>
            </a:r>
          </a:p>
          <a:p>
            <a:pPr lvl="1"/>
            <a:r>
              <a:rPr lang="en-US" altLang="en-US" sz="1800" dirty="0"/>
              <a:t>I/O management</a:t>
            </a:r>
            <a:endParaRPr lang="en-US" altLang="en-US" sz="2000" dirty="0"/>
          </a:p>
          <a:p>
            <a:r>
              <a:rPr lang="en-US" altLang="en-US" sz="2000" dirty="0"/>
              <a:t>Operating system goals</a:t>
            </a:r>
          </a:p>
          <a:p>
            <a:pPr lvl="1"/>
            <a:r>
              <a:rPr lang="en-US" altLang="en-US" sz="1800" dirty="0"/>
              <a:t>Execute user programs and make the solving of user problems easier</a:t>
            </a:r>
          </a:p>
          <a:p>
            <a:pPr lvl="1"/>
            <a:r>
              <a:rPr lang="en-US" altLang="en-US" sz="1800" dirty="0"/>
              <a:t>Make the computer system convenient to use</a:t>
            </a:r>
          </a:p>
          <a:p>
            <a:pPr lvl="1"/>
            <a:r>
              <a:rPr lang="en-US" altLang="en-US" sz="1800" dirty="0"/>
              <a:t>Use the computer hardware in an efficient manner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E951965-D602-B623-9D0E-65E4FCF59F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9A1BED6-5944-4DA0-B6E3-EB3BCCB8AC0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97467" y="151210"/>
            <a:ext cx="6676099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Computer System Structure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DA4DDCE4-1C30-412E-839F-FB2BB84F3FE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041399" y="827482"/>
            <a:ext cx="7425267" cy="3676782"/>
          </a:xfrm>
        </p:spPr>
        <p:txBody>
          <a:bodyPr/>
          <a:lstStyle/>
          <a:p>
            <a:r>
              <a:rPr lang="en-US" altLang="en-US" sz="2000" dirty="0">
                <a:cs typeface="Calibri" panose="020F0502020204030204" pitchFamily="34" charset="0"/>
              </a:rPr>
              <a:t>Computer system can be divided into four components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Hardware – provides basic computing resources</a:t>
            </a:r>
          </a:p>
          <a:p>
            <a:pPr lvl="2"/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CPU, memory, I/O devices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Operating system</a:t>
            </a:r>
          </a:p>
          <a:p>
            <a:pPr lvl="2"/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Controls and coordinates use of hardware among various applications and users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Application programs – define the ways in which the system resources are used to solve the computing problems of the users</a:t>
            </a:r>
          </a:p>
          <a:p>
            <a:pPr lvl="2"/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Word processors, compilers, web browsers, database systems, video games, etc.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Users</a:t>
            </a:r>
          </a:p>
          <a:p>
            <a:pPr lvl="2"/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People, machines, other computers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FD2847D-0BAF-3E0C-3A58-39ADF6E2B2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850503E-0C66-4E1F-85A5-04BB5FC518A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22868" y="136922"/>
            <a:ext cx="8221132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Abstraction View of Components of Computers</a:t>
            </a:r>
          </a:p>
        </p:txBody>
      </p:sp>
      <p:pic>
        <p:nvPicPr>
          <p:cNvPr id="13315" name="Picture 4">
            <a:extLst>
              <a:ext uri="{FF2B5EF4-FFF2-40B4-BE49-F238E27FC236}">
                <a16:creationId xmlns:a16="http://schemas.microsoft.com/office/drawing/2014/main" id="{21815D40-5D25-4B93-A397-C7A0DFC21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3034" y="1076796"/>
            <a:ext cx="4374678" cy="3101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0CA40CE-6E64-E4F8-016B-C502C3E03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E69E77BD-F295-4D5C-88FB-9C1F0C2DF6D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89000" y="151210"/>
            <a:ext cx="6691710" cy="432197"/>
          </a:xfrm>
        </p:spPr>
        <p:txBody>
          <a:bodyPr/>
          <a:lstStyle/>
          <a:p>
            <a:r>
              <a:rPr lang="en-US" altLang="en-US" sz="3200" dirty="0"/>
              <a:t>What Operating Systems Do (1)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CFEE02D0-0B66-42F3-A811-C29D1CE4B68A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982133" y="809207"/>
            <a:ext cx="7628467" cy="2865326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dirty="0">
                <a:ea typeface="+mn-ea"/>
                <a:cs typeface="Calibri" panose="020F0502020204030204" pitchFamily="34" charset="0"/>
              </a:rPr>
              <a:t>Depends on the point of view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ea typeface="+mn-ea"/>
                <a:cs typeface="Calibri" panose="020F0502020204030204" pitchFamily="34" charset="0"/>
              </a:rPr>
              <a:t>Users want convenience, </a:t>
            </a: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ease of use 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and</a:t>
            </a:r>
            <a:r>
              <a:rPr lang="en-US" altLang="en-US" sz="20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good performance 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Don’</a:t>
            </a:r>
            <a:r>
              <a:rPr lang="en-US" altLang="ja-JP" sz="1800" dirty="0">
                <a:ea typeface="+mn-ea"/>
                <a:cs typeface="Calibri" panose="020F0502020204030204" pitchFamily="34" charset="0"/>
              </a:rPr>
              <a:t>t care about </a:t>
            </a:r>
            <a:r>
              <a:rPr lang="en-US" altLang="ja-JP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resource utilization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ea typeface="+mn-ea"/>
                <a:cs typeface="Calibri" panose="020F0502020204030204" pitchFamily="34" charset="0"/>
              </a:rPr>
              <a:t>But shared computer such as </a:t>
            </a: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mainframe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 or </a:t>
            </a: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minicomputer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 must keep all users happy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Operating system is a </a:t>
            </a:r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resource allocator 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and </a:t>
            </a:r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control program 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making efficient use of HW and managing execution of user programs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ea typeface="+mn-ea"/>
                <a:cs typeface="Calibri" panose="020F0502020204030204" pitchFamily="34" charset="0"/>
              </a:rPr>
              <a:t>Users of dedicate systems such as </a:t>
            </a: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workstations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 have dedicated resources but frequently use shared resources from </a:t>
            </a: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servers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A1ACF09-3AFE-D8C1-BCB5-E9D99A02CC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E69E77BD-F295-4D5C-88FB-9C1F0C2DF6D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89000" y="151210"/>
            <a:ext cx="6691710" cy="432197"/>
          </a:xfrm>
        </p:spPr>
        <p:txBody>
          <a:bodyPr/>
          <a:lstStyle/>
          <a:p>
            <a:r>
              <a:rPr lang="en-US" altLang="en-US" sz="3200" dirty="0"/>
              <a:t>What Operating Systems Do (2)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CFEE02D0-0B66-42F3-A811-C29D1CE4B68A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939800" y="817674"/>
            <a:ext cx="7814733" cy="2136399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dirty="0">
                <a:solidFill>
                  <a:srgbClr val="000000"/>
                </a:solidFill>
                <a:ea typeface="+mn-ea"/>
                <a:cs typeface="Calibri" panose="020F0502020204030204" pitchFamily="34" charset="0"/>
              </a:rPr>
              <a:t>Mobile devices like smartphones and tables are resource poor,  optimized for usability and battery life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solidFill>
                  <a:srgbClr val="000000"/>
                </a:solidFill>
                <a:ea typeface="+mn-ea"/>
                <a:cs typeface="Calibri" panose="020F0502020204030204" pitchFamily="34" charset="0"/>
              </a:rPr>
              <a:t>Mobile user interfaces such as touch screens, voice recognition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solidFill>
                  <a:srgbClr val="000000"/>
                </a:solidFill>
                <a:ea typeface="+mn-ea"/>
                <a:cs typeface="Calibri" panose="020F0502020204030204" pitchFamily="34" charset="0"/>
              </a:rPr>
              <a:t>Some computers have little or no user interface, such as embedded computers in devices and automobiles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solidFill>
                  <a:srgbClr val="000000"/>
                </a:solidFill>
                <a:ea typeface="+mn-ea"/>
                <a:cs typeface="Calibri" panose="020F0502020204030204" pitchFamily="34" charset="0"/>
              </a:rPr>
              <a:t>Run primarily without user intervention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A1ACF09-3AFE-D8C1-BCB5-E9D99A02CC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5263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2CEB20E3-5741-425B-8E23-5A7CB7B0B6E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146447"/>
            <a:ext cx="6617494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Operating Sy</a:t>
            </a:r>
            <a:r>
              <a:rPr kumimoji="1" lang="en-US" altLang="en-US" sz="3200" dirty="0"/>
              <a:t>st</a:t>
            </a:r>
            <a:r>
              <a:rPr lang="en-US" altLang="en-US" sz="3200" dirty="0"/>
              <a:t>em Definition (1)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BA616C95-31EB-4384-984E-E8D92B883E1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99063" y="813856"/>
            <a:ext cx="7222067" cy="2298626"/>
          </a:xfrm>
        </p:spPr>
        <p:txBody>
          <a:bodyPr/>
          <a:lstStyle/>
          <a:p>
            <a:r>
              <a:rPr lang="en-US" altLang="en-US" sz="2000" dirty="0"/>
              <a:t>Term OS covers many roles</a:t>
            </a:r>
          </a:p>
          <a:p>
            <a:pPr lvl="1"/>
            <a:r>
              <a:rPr lang="en-US" altLang="en-US" sz="1800" dirty="0"/>
              <a:t>Because of myriad designs and uses of OSes</a:t>
            </a:r>
          </a:p>
          <a:p>
            <a:pPr lvl="1"/>
            <a:r>
              <a:rPr lang="en-US" altLang="en-US" sz="1800" dirty="0"/>
              <a:t>Present in toasters through ships, spacecraft, game machines, TVs and industrial control systems</a:t>
            </a:r>
          </a:p>
          <a:p>
            <a:pPr lvl="1"/>
            <a:r>
              <a:rPr lang="en-US" altLang="en-US" sz="1800" dirty="0"/>
              <a:t>Born when fixed use computers for military became more general purpose and needed resource management and program control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DAD58B5-C534-C791-8299-AE89681DE7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4ED09A12-D842-4736-945B-046894987E3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95150" y="148828"/>
            <a:ext cx="6672464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Operating Sy</a:t>
            </a:r>
            <a:r>
              <a:rPr kumimoji="1" lang="en-US" altLang="en-US" sz="3200" dirty="0"/>
              <a:t>st</a:t>
            </a:r>
            <a:r>
              <a:rPr lang="en-US" altLang="en-US" sz="3200" dirty="0"/>
              <a:t>em Definition (2)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7BF6D041-5778-4E18-B7CE-FFE8B9C424A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95150" y="827773"/>
            <a:ext cx="7767587" cy="2531444"/>
          </a:xfrm>
        </p:spPr>
        <p:txBody>
          <a:bodyPr/>
          <a:lstStyle/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No universally accepted definition</a:t>
            </a:r>
          </a:p>
          <a:p>
            <a:r>
              <a:rPr lang="en-US" altLang="ja-JP" sz="2000" dirty="0">
                <a:ea typeface="+mn-ea"/>
                <a:cs typeface="Calibri" panose="020F0502020204030204" pitchFamily="34" charset="0"/>
              </a:rPr>
              <a:t>“Everything a vendor ships when you order an operating system” is a good approximation</a:t>
            </a:r>
          </a:p>
          <a:p>
            <a:pPr lvl="1"/>
            <a:r>
              <a:rPr lang="en-US" altLang="en-US" sz="2000" dirty="0">
                <a:ea typeface="+mn-ea"/>
                <a:cs typeface="Calibri" panose="020F0502020204030204" pitchFamily="34" charset="0"/>
              </a:rPr>
              <a:t>But varies wildly</a:t>
            </a:r>
          </a:p>
          <a:p>
            <a:r>
              <a:rPr lang="en-US" altLang="ja-JP" sz="2000" dirty="0">
                <a:ea typeface="+mn-ea"/>
                <a:cs typeface="Calibri" panose="020F0502020204030204" pitchFamily="34" charset="0"/>
              </a:rPr>
              <a:t>“The one program running at all times on the computer”</a:t>
            </a:r>
            <a:r>
              <a:rPr lang="ja-JP" altLang="en-US" sz="2000" dirty="0">
                <a:ea typeface="+mn-ea"/>
                <a:cs typeface="Calibri" panose="020F0502020204030204" pitchFamily="34" charset="0"/>
              </a:rPr>
              <a:t> </a:t>
            </a:r>
            <a:r>
              <a:rPr lang="en-US" altLang="ja-JP" sz="2000" dirty="0">
                <a:ea typeface="+mn-ea"/>
                <a:cs typeface="Calibri" panose="020F0502020204030204" pitchFamily="34" charset="0"/>
              </a:rPr>
              <a:t>is the </a:t>
            </a:r>
            <a:r>
              <a:rPr lang="en-US" altLang="ja-JP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kernel, </a:t>
            </a:r>
            <a:r>
              <a:rPr lang="en-US" altLang="ja-JP" sz="2000" dirty="0">
                <a:ea typeface="+mn-ea"/>
                <a:cs typeface="Calibri" panose="020F0502020204030204" pitchFamily="34" charset="0"/>
              </a:rPr>
              <a:t>part of the operating system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6F90872-60F9-1848-DEF7-A36081FCED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4ED09A12-D842-4736-945B-046894987E3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95150" y="148828"/>
            <a:ext cx="6672464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Operating Sy</a:t>
            </a:r>
            <a:r>
              <a:rPr kumimoji="1" lang="en-US" altLang="en-US" sz="3200" dirty="0"/>
              <a:t>st</a:t>
            </a:r>
            <a:r>
              <a:rPr lang="en-US" altLang="en-US" sz="3200" dirty="0"/>
              <a:t>em Definition (3)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7BF6D041-5778-4E18-B7CE-FFE8B9C424A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95150" y="837398"/>
            <a:ext cx="7632833" cy="3166712"/>
          </a:xfrm>
        </p:spPr>
        <p:txBody>
          <a:bodyPr/>
          <a:lstStyle/>
          <a:p>
            <a:r>
              <a:rPr lang="en-US" altLang="ja-JP" sz="2000" dirty="0">
                <a:ea typeface="+mn-ea"/>
                <a:cs typeface="Calibri" panose="020F0502020204030204" pitchFamily="34" charset="0"/>
              </a:rPr>
              <a:t>Everything else is either</a:t>
            </a:r>
          </a:p>
          <a:p>
            <a:pPr lvl="1"/>
            <a:r>
              <a:rPr lang="en-US" altLang="ja-JP" sz="2000" dirty="0">
                <a:ea typeface="+mn-ea"/>
                <a:cs typeface="Calibri" panose="020F0502020204030204" pitchFamily="34" charset="0"/>
              </a:rPr>
              <a:t>A </a:t>
            </a:r>
            <a:r>
              <a:rPr lang="en-US" altLang="ja-JP" sz="2000" b="1" i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system program</a:t>
            </a:r>
            <a:r>
              <a:rPr lang="en-US" altLang="ja-JP" sz="20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ja-JP" sz="2000" dirty="0">
                <a:ea typeface="+mn-ea"/>
                <a:cs typeface="Calibri" panose="020F0502020204030204" pitchFamily="34" charset="0"/>
              </a:rPr>
              <a:t>(ships with the operating system, but not part of the kernel) , or</a:t>
            </a:r>
          </a:p>
          <a:p>
            <a:pPr lvl="1"/>
            <a:r>
              <a:rPr lang="en-US" altLang="ja-JP" sz="2000" dirty="0">
                <a:ea typeface="+mn-ea"/>
                <a:cs typeface="Calibri" panose="020F0502020204030204" pitchFamily="34" charset="0"/>
              </a:rPr>
              <a:t>An </a:t>
            </a:r>
            <a:r>
              <a:rPr lang="en-US" altLang="ja-JP" sz="2000" b="1" i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application program</a:t>
            </a:r>
            <a:r>
              <a:rPr lang="en-US" altLang="ja-JP" sz="2000" dirty="0">
                <a:ea typeface="+mn-ea"/>
                <a:cs typeface="Calibri" panose="020F0502020204030204" pitchFamily="34" charset="0"/>
              </a:rPr>
              <a:t>, all programs not associated with the operating system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Today’s OSes for general purpose and mobile computing also include </a:t>
            </a:r>
            <a:r>
              <a:rPr lang="en-US" altLang="en-US" sz="2000" b="1" i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middleware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 – a set of software frameworks that provide additional services to application developers such as databases, multimedia, graphics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6F90872-60F9-1848-DEF7-A36081FCED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9765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E0E04BB2-CAE4-47E7-A8ED-B827B1313F1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24025" y="160735"/>
            <a:ext cx="6599535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Computer System Organization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F3E9582F-73D2-4BB5-8C85-155733606E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029903" y="812102"/>
            <a:ext cx="7603958" cy="1398984"/>
          </a:xfrm>
        </p:spPr>
        <p:txBody>
          <a:bodyPr/>
          <a:lstStyle/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Computer system operation</a:t>
            </a:r>
          </a:p>
          <a:p>
            <a:pPr lvl="1"/>
            <a:r>
              <a:rPr lang="en-US" altLang="en-US" sz="1800" dirty="0">
                <a:ea typeface="+mn-ea"/>
                <a:cs typeface="Calibri" panose="020F0502020204030204" pitchFamily="34" charset="0"/>
              </a:rPr>
              <a:t>One or more CPUs, device controllers connect through common </a:t>
            </a:r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bus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 providing access to shared memory</a:t>
            </a:r>
          </a:p>
          <a:p>
            <a:pPr lvl="1"/>
            <a:r>
              <a:rPr lang="en-US" altLang="en-US" sz="1800" dirty="0">
                <a:ea typeface="+mn-ea"/>
                <a:cs typeface="Calibri" panose="020F0502020204030204" pitchFamily="34" charset="0"/>
              </a:rPr>
              <a:t>Concurrent execution of CPUs and devices competing for memory cycles</a:t>
            </a:r>
          </a:p>
        </p:txBody>
      </p:sp>
      <p:pic>
        <p:nvPicPr>
          <p:cNvPr id="20484" name="Picture 2">
            <a:extLst>
              <a:ext uri="{FF2B5EF4-FFF2-40B4-BE49-F238E27FC236}">
                <a16:creationId xmlns:a16="http://schemas.microsoft.com/office/drawing/2014/main" id="{D0CB787C-9399-460E-B386-5CC6E6714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977" y="2211086"/>
            <a:ext cx="4734144" cy="2309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55E042F-BDD6-68D0-E71E-28B52B316C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633364A-2762-4B99-8AB9-6D18C2AFCC6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75899" y="165497"/>
            <a:ext cx="6635755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Computer System Operation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864A599-FF25-49B5-8AA3-7045B629D1D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81778" y="806062"/>
            <a:ext cx="7459578" cy="3377376"/>
          </a:xfrm>
        </p:spPr>
        <p:txBody>
          <a:bodyPr/>
          <a:lstStyle/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I/O devices and the CPU can execute concurrently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Each device controller is in charge of a particular device type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Each device controller has a local buffer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Each device controller type has an operating system </a:t>
            </a: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device driver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 to manage it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CPU moves data from/to main memory to/from local buffers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I/O is from the device to local buffer of controller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Device controller informs CPU that it has finished its operation by causing an </a:t>
            </a: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interrupt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42038AD-5891-D6D8-6412-3BDF4DB935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41A5330-A3BD-455B-BFA0-989239098C1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75899" y="146447"/>
            <a:ext cx="6670283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Common Functions of Interrupts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A1B0CF6-F08B-4A61-B0A6-715F5ED6B8E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020130" y="877271"/>
            <a:ext cx="7392350" cy="2876582"/>
          </a:xfrm>
        </p:spPr>
        <p:txBody>
          <a:bodyPr/>
          <a:lstStyle/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Interrupt transfers control to the interrupt service routine generally, through the </a:t>
            </a: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interrupt vector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, which contains the addresses of all the service routines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Interrupt architecture must save the address of the interrupted instruction</a:t>
            </a:r>
            <a:endParaRPr lang="en-US" altLang="en-US" sz="2000" i="1" dirty="0">
              <a:ea typeface="+mn-ea"/>
              <a:cs typeface="Calibri" panose="020F0502020204030204" pitchFamily="34" charset="0"/>
            </a:endParaRP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A </a:t>
            </a: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trap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 or </a:t>
            </a: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exception 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is a software-generated interrupt caused either by an error or a user request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An operating system is </a:t>
            </a: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interrupt driven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4B3E11B-A1D4-225C-D28F-A4BB4479C6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A8E0AFA-01CE-41D2-B83F-9F7243CE8C2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04775" y="146447"/>
            <a:ext cx="6619975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Interrupt Timeline</a:t>
            </a:r>
          </a:p>
        </p:txBody>
      </p:sp>
      <p:pic>
        <p:nvPicPr>
          <p:cNvPr id="26627" name="Picture 2">
            <a:extLst>
              <a:ext uri="{FF2B5EF4-FFF2-40B4-BE49-F238E27FC236}">
                <a16:creationId xmlns:a16="http://schemas.microsoft.com/office/drawing/2014/main" id="{41B33145-E046-43DB-9C9B-4E671F3D1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768" y="943278"/>
            <a:ext cx="8121166" cy="3545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0D3AC3B-0920-1BC0-B79E-F787EEF532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749E83DD-FDA1-45E4-88D0-BF9195BD722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95149" y="101229"/>
            <a:ext cx="6681989" cy="485912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Interrupt Handling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DD3C56CA-14C9-45EF-B0B3-BE810695D01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95149" y="925117"/>
            <a:ext cx="7421078" cy="3144466"/>
          </a:xfrm>
        </p:spPr>
        <p:txBody>
          <a:bodyPr/>
          <a:lstStyle/>
          <a:p>
            <a:r>
              <a:rPr lang="en-US" altLang="en-US" sz="2000" dirty="0"/>
              <a:t>The operating system preserves the state of the CPU by storing the registers and the program counter</a:t>
            </a:r>
          </a:p>
          <a:p>
            <a:r>
              <a:rPr lang="en-US" altLang="en-US" sz="2000" dirty="0"/>
              <a:t>Determines which type of interrupt has occurred</a:t>
            </a:r>
          </a:p>
          <a:p>
            <a:r>
              <a:rPr lang="en-US" altLang="en-US" sz="2000" dirty="0"/>
              <a:t>Separate segments of code determine what action should be taken for each type of interrupt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967AD19-C46D-ED2A-D6C2-9251EF8065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0378DBB6-3E76-4D5D-BCF4-7322E5DC03B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160735"/>
            <a:ext cx="6659166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Interrupt-Drive I/O Cycle</a:t>
            </a:r>
          </a:p>
        </p:txBody>
      </p:sp>
      <p:pic>
        <p:nvPicPr>
          <p:cNvPr id="32771" name="Picture 3">
            <a:extLst>
              <a:ext uri="{FF2B5EF4-FFF2-40B4-BE49-F238E27FC236}">
                <a16:creationId xmlns:a16="http://schemas.microsoft.com/office/drawing/2014/main" id="{E86048AC-75FB-4CAE-AB8A-81F852B95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5971" y="663441"/>
            <a:ext cx="3985042" cy="3927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9B5EC80-5BB8-1C70-32CE-957042DAEF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BBC952A8-C6F2-4247-AAA6-A0FD865283B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159544"/>
            <a:ext cx="6646069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I/O Structure (1)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B40AB73B-055F-4D5D-997B-F04836742E4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933450"/>
            <a:ext cx="7873465" cy="326397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Two methods for handling I/O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After I/O starts, control returns to user program only upon I/O completion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After I/O starts, control returns to user program without waiting for I/O completion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27C4C62-03C9-34BE-0532-FCBD004E0D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0063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BBC952A8-C6F2-4247-AAA6-A0FD865283B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85524" y="159544"/>
            <a:ext cx="6674945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I/O Structure (2)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B40AB73B-055F-4D5D-997B-F04836742E4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85524" y="821644"/>
            <a:ext cx="7748337" cy="375595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ea typeface="+mn-ea"/>
                <a:cs typeface="Calibri" panose="020F0502020204030204" pitchFamily="34" charset="0"/>
              </a:rPr>
              <a:t>After I/O starts, control returns to user program only upon I/O completion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Wait instruction idles the CPU until the next interrupt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Wait loop (contention for memory access)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At most one I/O request is outstanding at a time, no simultaneous I/O processing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ea typeface="+mn-ea"/>
                <a:cs typeface="Calibri" panose="020F0502020204030204" pitchFamily="34" charset="0"/>
              </a:rPr>
              <a:t>After I/O starts, control returns to user program without waiting for I/O completion</a:t>
            </a:r>
          </a:p>
          <a:p>
            <a:pPr lvl="1">
              <a:lnSpc>
                <a:spcPct val="90000"/>
              </a:lnSpc>
            </a:pPr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System call 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– request to the OS to allow user to wait for I/O completion</a:t>
            </a:r>
          </a:p>
          <a:p>
            <a:pPr lvl="1">
              <a:lnSpc>
                <a:spcPct val="90000"/>
              </a:lnSpc>
            </a:pPr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Device-status table 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contains entry for each I/O device indicating its type, address, and state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OS indexes into I/O device table to determine device status and to modify table entry to include interrupt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52A9A-3BEB-F205-C9E9-74EDD08820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296D48A8-E934-4737-801F-5300BF99F52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95149" y="151210"/>
            <a:ext cx="6636745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Computer Startup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5671F379-5298-4D0E-A99C-F90AC461095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72151" y="819242"/>
            <a:ext cx="7421077" cy="3348500"/>
          </a:xfrm>
        </p:spPr>
        <p:txBody>
          <a:bodyPr/>
          <a:lstStyle/>
          <a:p>
            <a:r>
              <a:rPr lang="en-US" altLang="zh-CN" sz="2000" b="1" dirty="0">
                <a:solidFill>
                  <a:srgbClr val="0070C0"/>
                </a:solidFill>
                <a:ea typeface="+mn-ea"/>
                <a:cs typeface="Calibri" panose="020F0502020204030204" pitchFamily="34" charset="0"/>
              </a:rPr>
              <a:t>Bootstrap loader </a:t>
            </a:r>
            <a:r>
              <a:rPr lang="en-US" altLang="zh-CN" sz="2000" dirty="0">
                <a:ea typeface="+mn-ea"/>
                <a:cs typeface="Calibri" panose="020F0502020204030204" pitchFamily="34" charset="0"/>
              </a:rPr>
              <a:t>- A small program that places the operating system of a computer into memory</a:t>
            </a:r>
          </a:p>
          <a:p>
            <a:pPr lvl="1"/>
            <a:r>
              <a:rPr lang="en-US" altLang="en-US" sz="1800" dirty="0">
                <a:ea typeface="+mn-ea"/>
                <a:cs typeface="Calibri" panose="020F0502020204030204" pitchFamily="34" charset="0"/>
              </a:rPr>
              <a:t>Typically stored in ROM or EPROM, generally known as </a:t>
            </a:r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firmware</a:t>
            </a:r>
          </a:p>
          <a:p>
            <a:pPr lvl="1"/>
            <a:r>
              <a:rPr lang="en-US" altLang="zh-CN" sz="1800" dirty="0">
                <a:ea typeface="+mn-ea"/>
                <a:cs typeface="Calibri" panose="020F0502020204030204" pitchFamily="34" charset="0"/>
              </a:rPr>
              <a:t>When a computer powers up or restarts, the BIOS performs some initial tests and then transfers control to the master book record, where the bootstrap loader resides </a:t>
            </a:r>
          </a:p>
          <a:p>
            <a:pPr lvl="3">
              <a:buClr>
                <a:srgbClr val="FF0000"/>
              </a:buClr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Initialize all aspects of a system</a:t>
            </a:r>
          </a:p>
          <a:p>
            <a:pPr lvl="3">
              <a:buClr>
                <a:srgbClr val="FF0000"/>
              </a:buClr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Load operating system kernel and starts execution </a:t>
            </a:r>
          </a:p>
          <a:p>
            <a:pPr lvl="1"/>
            <a:r>
              <a:rPr lang="en-US" altLang="zh-CN" sz="2000" dirty="0">
                <a:ea typeface="+mn-ea"/>
                <a:cs typeface="Calibri" panose="020F0502020204030204" pitchFamily="34" charset="0"/>
              </a:rPr>
              <a:t>Most new computers ship with boot loaders for some version of Windows or macOS</a:t>
            </a:r>
            <a:endParaRPr lang="en-US" altLang="zh-CN" sz="2000" b="1" dirty="0"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4DCC42D-63FA-A7F0-FEFF-DAE05B4C96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0568288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764AC02E-E41F-46F8-AB7D-B5616F48344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56649" y="148828"/>
            <a:ext cx="6689534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Storage Structure (1)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2A855027-4195-4654-9750-3AA93B73284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56648" y="857251"/>
            <a:ext cx="7526956" cy="3021729"/>
          </a:xfrm>
        </p:spPr>
        <p:txBody>
          <a:bodyPr/>
          <a:lstStyle/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Main memory – only large storage media that the CPU can access directly</a:t>
            </a:r>
          </a:p>
          <a:p>
            <a:pPr lvl="1"/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Random access</a:t>
            </a:r>
          </a:p>
          <a:p>
            <a:pPr lvl="1"/>
            <a:r>
              <a:rPr lang="en-US" altLang="en-US" sz="1800" dirty="0">
                <a:ea typeface="+mn-ea"/>
                <a:cs typeface="Calibri" panose="020F0502020204030204" pitchFamily="34" charset="0"/>
              </a:rPr>
              <a:t>Typically </a:t>
            </a:r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volatile</a:t>
            </a:r>
          </a:p>
          <a:p>
            <a:pPr lvl="1"/>
            <a:r>
              <a:rPr lang="en-US" altLang="en-US" sz="1800" dirty="0">
                <a:ea typeface="+mn-ea"/>
                <a:cs typeface="Calibri" panose="020F0502020204030204" pitchFamily="34" charset="0"/>
              </a:rPr>
              <a:t>Typically</a:t>
            </a:r>
            <a:r>
              <a:rPr lang="en-US" altLang="en-US" sz="18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random-access</a:t>
            </a:r>
            <a:r>
              <a:rPr lang="en-US" altLang="en-US" sz="18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memory</a:t>
            </a:r>
            <a:r>
              <a:rPr lang="en-US" altLang="en-US" sz="18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in the form of </a:t>
            </a:r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Dynamic Random-access Memory (DRAM)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Secondary storage – extension of main memory that provides large </a:t>
            </a: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nonvolatile 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storage capacity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36AAA8B-978A-F1B9-7C5F-75915A9F34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51068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764AC02E-E41F-46F8-AB7D-B5616F48344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04775" y="148828"/>
            <a:ext cx="6641407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Storage Structure (2)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2A855027-4195-4654-9750-3AA93B73284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89271" y="824591"/>
            <a:ext cx="7925085" cy="3189143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Hard Disk Drives 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(</a:t>
            </a: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HDD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) – rigid metal or glass platters covered with magnetic recording material </a:t>
            </a:r>
          </a:p>
          <a:p>
            <a:pPr lvl="1"/>
            <a:r>
              <a:rPr lang="en-US" altLang="en-US" sz="1800" dirty="0">
                <a:ea typeface="+mn-ea"/>
                <a:cs typeface="Calibri" panose="020F0502020204030204" pitchFamily="34" charset="0"/>
              </a:rPr>
              <a:t>Disk surface is logically divided into</a:t>
            </a:r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 tracks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, which are subdivided into </a:t>
            </a:r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sectors</a:t>
            </a:r>
          </a:p>
          <a:p>
            <a:pPr lvl="1"/>
            <a:r>
              <a:rPr lang="en-US" altLang="en-US" sz="1800" dirty="0">
                <a:ea typeface="+mn-ea"/>
                <a:cs typeface="Calibri" panose="020F0502020204030204" pitchFamily="34" charset="0"/>
              </a:rPr>
              <a:t>The </a:t>
            </a:r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disk controller 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determines the logical interaction between the device and the computer </a:t>
            </a:r>
          </a:p>
          <a:p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Non-volatile memory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 (</a:t>
            </a: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NVM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)</a:t>
            </a: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devices– faster than hard disks, nonvolatile</a:t>
            </a:r>
          </a:p>
          <a:p>
            <a:pPr lvl="1"/>
            <a:r>
              <a:rPr lang="en-US" altLang="en-US" sz="1800" dirty="0">
                <a:ea typeface="+mn-ea"/>
                <a:cs typeface="Calibri" panose="020F0502020204030204" pitchFamily="34" charset="0"/>
              </a:rPr>
              <a:t>Various technologies</a:t>
            </a:r>
          </a:p>
          <a:p>
            <a:pPr lvl="1"/>
            <a:r>
              <a:rPr lang="en-US" altLang="en-US" sz="1800" dirty="0">
                <a:ea typeface="+mn-ea"/>
                <a:cs typeface="Calibri" panose="020F0502020204030204" pitchFamily="34" charset="0"/>
              </a:rPr>
              <a:t>Becoming more popular as capacity and performance increases, price drops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9512EBB-AC04-3C09-9DDE-4FE353B23A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3">
            <a:extLst>
              <a:ext uri="{FF2B5EF4-FFF2-40B4-BE49-F238E27FC236}">
                <a16:creationId xmlns:a16="http://schemas.microsoft.com/office/drawing/2014/main" id="{9399C31D-3B45-4819-86D3-3562EEC744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50" y="152401"/>
            <a:ext cx="7623208" cy="432197"/>
          </a:xfrm>
        </p:spPr>
        <p:txBody>
          <a:bodyPr/>
          <a:lstStyle/>
          <a:p>
            <a:r>
              <a:rPr lang="en-US" altLang="en-US" sz="3200" dirty="0"/>
              <a:t>Storage Definitions and Notation Review</a:t>
            </a:r>
          </a:p>
        </p:txBody>
      </p:sp>
      <p:pic>
        <p:nvPicPr>
          <p:cNvPr id="38915" name="Picture 3">
            <a:extLst>
              <a:ext uri="{FF2B5EF4-FFF2-40B4-BE49-F238E27FC236}">
                <a16:creationId xmlns:a16="http://schemas.microsoft.com/office/drawing/2014/main" id="{7CEF2D5C-E937-4516-898C-4034833D2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3804" y="809625"/>
            <a:ext cx="5615400" cy="3782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7019D40-D569-9B6F-B332-DC21DBB403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60644225-21A8-4691-99DE-5A23AE5833A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10653" y="158353"/>
            <a:ext cx="6535529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Storage Hierarchy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D703547F-8757-4059-B0DB-0941113BB6D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087655" y="843471"/>
            <a:ext cx="6785810" cy="3398044"/>
          </a:xfrm>
        </p:spPr>
        <p:txBody>
          <a:bodyPr/>
          <a:lstStyle/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Storage systems organized in hierarchy</a:t>
            </a:r>
          </a:p>
          <a:p>
            <a:pPr lvl="1"/>
            <a:r>
              <a:rPr lang="en-US" altLang="en-US" sz="1800" dirty="0">
                <a:ea typeface="+mn-ea"/>
                <a:cs typeface="Calibri" panose="020F0502020204030204" pitchFamily="34" charset="0"/>
              </a:rPr>
              <a:t>Speed</a:t>
            </a:r>
          </a:p>
          <a:p>
            <a:pPr lvl="1"/>
            <a:r>
              <a:rPr lang="en-US" altLang="en-US" sz="1800" dirty="0">
                <a:ea typeface="+mn-ea"/>
                <a:cs typeface="Calibri" panose="020F0502020204030204" pitchFamily="34" charset="0"/>
              </a:rPr>
              <a:t>Cost</a:t>
            </a:r>
          </a:p>
          <a:p>
            <a:pPr lvl="1"/>
            <a:r>
              <a:rPr lang="en-US" altLang="en-US" sz="1800" dirty="0">
                <a:ea typeface="+mn-ea"/>
                <a:cs typeface="Calibri" panose="020F0502020204030204" pitchFamily="34" charset="0"/>
              </a:rPr>
              <a:t>Volatility</a:t>
            </a:r>
          </a:p>
          <a:p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Caching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 </a:t>
            </a:r>
          </a:p>
          <a:p>
            <a:pPr lvl="1"/>
            <a:r>
              <a:rPr lang="en-US" altLang="en-US" sz="1800" dirty="0">
                <a:ea typeface="+mn-ea"/>
                <a:cs typeface="Calibri" panose="020F0502020204030204" pitchFamily="34" charset="0"/>
              </a:rPr>
              <a:t>Copy information into faster storage system </a:t>
            </a:r>
          </a:p>
          <a:p>
            <a:pPr lvl="1"/>
            <a:r>
              <a:rPr lang="en-US" altLang="en-US" sz="1800" dirty="0">
                <a:ea typeface="+mn-ea"/>
                <a:cs typeface="Calibri" panose="020F0502020204030204" pitchFamily="34" charset="0"/>
              </a:rPr>
              <a:t>Main memory can be viewed as a cache for secondary storage</a:t>
            </a:r>
          </a:p>
          <a:p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Device Driver 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for each device controller to manage I/O</a:t>
            </a:r>
          </a:p>
          <a:p>
            <a:pPr lvl="1"/>
            <a:r>
              <a:rPr lang="en-US" altLang="en-US" sz="1800" dirty="0">
                <a:ea typeface="+mn-ea"/>
                <a:cs typeface="Calibri" panose="020F0502020204030204" pitchFamily="34" charset="0"/>
              </a:rPr>
              <a:t>Provide uniform interface between controller and kernel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DBAA8BB-92B9-A120-6B99-D76CCE38D0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DC8143CB-221D-4E46-ACB1-F240385D001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95149" y="148828"/>
            <a:ext cx="6685561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Storage-Device Hierarchy</a:t>
            </a:r>
          </a:p>
        </p:txBody>
      </p:sp>
      <p:pic>
        <p:nvPicPr>
          <p:cNvPr id="41987" name="Picture 2">
            <a:extLst>
              <a:ext uri="{FF2B5EF4-FFF2-40B4-BE49-F238E27FC236}">
                <a16:creationId xmlns:a16="http://schemas.microsoft.com/office/drawing/2014/main" id="{96241ED2-B618-4D08-8846-8009538AC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837399"/>
            <a:ext cx="6430586" cy="3733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3BCA929-AB16-38DD-110A-721E6E3761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C0638B96-DF2B-4D8C-9A35-46ABC3264B5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04775" y="159544"/>
            <a:ext cx="6641407" cy="432197"/>
          </a:xfrm>
        </p:spPr>
        <p:txBody>
          <a:bodyPr/>
          <a:lstStyle/>
          <a:p>
            <a:r>
              <a:rPr lang="en-US" altLang="en-US" sz="3200" dirty="0"/>
              <a:t>How a Modern Computer Work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36EBA43-3FCE-8A5C-C6D3-7455B3687B45}"/>
              </a:ext>
            </a:extLst>
          </p:cNvPr>
          <p:cNvGrpSpPr/>
          <p:nvPr/>
        </p:nvGrpSpPr>
        <p:grpSpPr>
          <a:xfrm>
            <a:off x="2626519" y="885524"/>
            <a:ext cx="3995662" cy="3566729"/>
            <a:chOff x="1978025" y="1352550"/>
            <a:chExt cx="5122863" cy="4583787"/>
          </a:xfrm>
        </p:grpSpPr>
        <p:sp>
          <p:nvSpPr>
            <p:cNvPr id="44035" name="TextBox 3">
              <a:extLst>
                <a:ext uri="{FF2B5EF4-FFF2-40B4-BE49-F238E27FC236}">
                  <a16:creationId xmlns:a16="http://schemas.microsoft.com/office/drawing/2014/main" id="{07234D76-D26C-4251-8F66-89C4244B1D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9646" y="5505450"/>
              <a:ext cx="3977920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110000"/>
                <a:buFont typeface="Wingdings" panose="05000000000000000000" pitchFamily="2" charset="2"/>
                <a:buChar char="§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110000"/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1500" dirty="0">
                  <a:latin typeface="Verdana" panose="020B0604030504040204" pitchFamily="34" charset="0"/>
                </a:rPr>
                <a:t>A Von Neumann architecture</a:t>
              </a:r>
            </a:p>
          </p:txBody>
        </p:sp>
        <p:pic>
          <p:nvPicPr>
            <p:cNvPr id="44036" name="Picture 2">
              <a:extLst>
                <a:ext uri="{FF2B5EF4-FFF2-40B4-BE49-F238E27FC236}">
                  <a16:creationId xmlns:a16="http://schemas.microsoft.com/office/drawing/2014/main" id="{BDD5B21A-1DF1-4FBF-8A3A-8CDE974C3C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8025" y="1352550"/>
              <a:ext cx="5122863" cy="408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703E7E7-A8B4-0456-2885-DD15C634FC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BF26148-599A-4FED-894F-98876040554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95149" y="159544"/>
            <a:ext cx="6678418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Direct Memory Access Structure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D24405CB-DFA7-47F8-A3F1-1424947399E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25455" y="810217"/>
            <a:ext cx="7451699" cy="1790407"/>
          </a:xfrm>
        </p:spPr>
        <p:txBody>
          <a:bodyPr/>
          <a:lstStyle/>
          <a:p>
            <a:r>
              <a:rPr lang="en-US" altLang="en-US" sz="1800" dirty="0"/>
              <a:t>Used for high-speed I/O devices able to transmit information at close to memory speeds</a:t>
            </a:r>
          </a:p>
          <a:p>
            <a:r>
              <a:rPr lang="en-US" altLang="en-US" sz="1800" dirty="0"/>
              <a:t>Device controller transfers blocks of data from buffer storage directly to main memory without CPU intervention</a:t>
            </a:r>
          </a:p>
          <a:p>
            <a:r>
              <a:rPr lang="en-US" altLang="en-US" sz="1800" dirty="0"/>
              <a:t>Only one interrupt is generated per block, rather than the one interrupt per byte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81B55AAF-FB23-6662-C1D4-12813770EB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0863" y="2427977"/>
            <a:ext cx="3000884" cy="2174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83DB77A-9B89-7696-1DB7-0694FC2D78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5293F34F-C9FD-4545-B67F-0AFEB04F0A3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75899" y="146447"/>
            <a:ext cx="6691714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Operating System Operations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3CA3B3A3-4D5F-45EB-B9C7-25CB392E86A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52901" y="847219"/>
            <a:ext cx="7449954" cy="307026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ea typeface="+mn-ea"/>
                <a:cs typeface="Calibri" panose="020F0502020204030204" pitchFamily="34" charset="0"/>
              </a:rPr>
              <a:t>Bootstrap program 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A simple code to initialize the system, and load the kernel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ea typeface="+mn-ea"/>
                <a:cs typeface="Calibri" panose="020F0502020204030204" pitchFamily="34" charset="0"/>
              </a:rPr>
              <a:t>Starts </a:t>
            </a: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system daemons 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(services provided outside of the kernel)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ea typeface="+mn-ea"/>
                <a:cs typeface="Calibri" panose="020F0502020204030204" pitchFamily="34" charset="0"/>
              </a:rPr>
              <a:t>Kernel</a:t>
            </a:r>
            <a:r>
              <a:rPr lang="en-US" altLang="en-US" sz="20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interrupt driven 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(hardware and software)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Hardware interrupt by one of the devices 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Software interrupt (</a:t>
            </a:r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exception</a:t>
            </a:r>
            <a:r>
              <a:rPr lang="en-US" altLang="en-US" sz="18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or </a:t>
            </a:r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trap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)</a:t>
            </a:r>
          </a:p>
          <a:p>
            <a:pPr lvl="2">
              <a:lnSpc>
                <a:spcPct val="90000"/>
              </a:lnSpc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Software error (e.g., division by zero)</a:t>
            </a:r>
            <a:endParaRPr lang="en-US" altLang="en-US" sz="1600" b="1" dirty="0">
              <a:solidFill>
                <a:srgbClr val="3366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>
              <a:lnSpc>
                <a:spcPct val="90000"/>
              </a:lnSpc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Request for operating system service – </a:t>
            </a:r>
            <a:r>
              <a:rPr lang="en-US" altLang="en-US" sz="16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call</a:t>
            </a:r>
          </a:p>
          <a:p>
            <a:pPr lvl="2">
              <a:lnSpc>
                <a:spcPct val="90000"/>
              </a:lnSpc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Other process problems include infinite loop, processes modifying each other or the operating system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C21A0EB-E9CE-D8B9-32EA-6C30B36F7A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0E1443AA-0E9D-4C48-8D3D-68212E6D683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04775" y="153591"/>
            <a:ext cx="6753326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Multiprogramming (Batch System)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791B5A88-3ACB-440F-8638-FDCD2CDEF4E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34581" y="917897"/>
            <a:ext cx="7776281" cy="230656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cs typeface="Calibri" panose="020F0502020204030204" pitchFamily="34" charset="0"/>
              </a:rPr>
              <a:t>Single user cannot always keep CPU and I/O devices busy 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cs typeface="Calibri" panose="020F0502020204030204" pitchFamily="34" charset="0"/>
              </a:rPr>
              <a:t>Multiprogramming organizes jobs (code and data) so CPU always has one to execute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cs typeface="Calibri" panose="020F0502020204030204" pitchFamily="34" charset="0"/>
              </a:rPr>
              <a:t>A subset of total jobs in system is kept in memory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cs typeface="Calibri" panose="020F0502020204030204" pitchFamily="34" charset="0"/>
              </a:rPr>
              <a:t>One job selected and run via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job scheduling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cs typeface="Calibri" panose="020F0502020204030204" pitchFamily="34" charset="0"/>
              </a:rPr>
              <a:t>When job has to wait (for I/O for example), OS switches to another job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3F185DB-8642-A55D-2CD9-0D36F6B9B4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765787"/>
      </p:ext>
    </p:ext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0E1443AA-0E9D-4C48-8D3D-68212E6D683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153591"/>
            <a:ext cx="6743701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Multitasking (Timesharing)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791B5A88-3ACB-440F-8638-FDCD2CDEF4E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79646" y="900299"/>
            <a:ext cx="7815714" cy="262358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ea typeface="+mn-ea"/>
                <a:cs typeface="Calibri" panose="020F0502020204030204" pitchFamily="34" charset="0"/>
              </a:rPr>
              <a:t>A logical extension of Batch systems– the CPU switches jobs so frequently that users can interact with each job while it is running, creating </a:t>
            </a: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interactive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 computing</a:t>
            </a:r>
          </a:p>
          <a:p>
            <a:pPr lvl="1">
              <a:lnSpc>
                <a:spcPct val="90000"/>
              </a:lnSpc>
            </a:pPr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Response time 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should be &lt; 1 second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Each user has at least one program executing in memory </a:t>
            </a:r>
            <a:r>
              <a:rPr lang="en-US" altLang="en-US" sz="1800" dirty="0">
                <a:ea typeface="+mn-ea"/>
                <a:cs typeface="Calibri" panose="020F0502020204030204" pitchFamily="34" charset="0"/>
                <a:sym typeface="Wingdings 3" panose="05040102010807070707" pitchFamily="18" charset="2"/>
              </a:rPr>
              <a:t> </a:t>
            </a:r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  <a:sym typeface="Wingdings 3" panose="05040102010807070707" pitchFamily="18" charset="2"/>
              </a:rPr>
              <a:t>process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ea typeface="+mn-ea"/>
                <a:cs typeface="Calibri" panose="020F0502020204030204" pitchFamily="34" charset="0"/>
                <a:sym typeface="Wingdings 3" panose="05040102010807070707" pitchFamily="18" charset="2"/>
              </a:rPr>
              <a:t>If several jobs ready to run at the same time  </a:t>
            </a:r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  <a:sym typeface="Wingdings 3" panose="05040102010807070707" pitchFamily="18" charset="2"/>
              </a:rPr>
              <a:t>CPU scheduling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ea typeface="+mn-ea"/>
                <a:cs typeface="Calibri" panose="020F0502020204030204" pitchFamily="34" charset="0"/>
                <a:sym typeface="Wingdings 3" panose="05040102010807070707" pitchFamily="18" charset="2"/>
              </a:rPr>
              <a:t>If processes don</a:t>
            </a:r>
            <a:r>
              <a:rPr lang="ja-JP" altLang="en-US" sz="1800" dirty="0">
                <a:ea typeface="+mn-ea"/>
                <a:cs typeface="Calibri" panose="020F0502020204030204" pitchFamily="34" charset="0"/>
                <a:sym typeface="Wingdings 3" panose="05040102010807070707" pitchFamily="18" charset="2"/>
              </a:rPr>
              <a:t>’</a:t>
            </a:r>
            <a:r>
              <a:rPr lang="en-US" altLang="ja-JP" sz="1800" dirty="0">
                <a:ea typeface="+mn-ea"/>
                <a:cs typeface="Calibri" panose="020F0502020204030204" pitchFamily="34" charset="0"/>
                <a:sym typeface="Wingdings 3" panose="05040102010807070707" pitchFamily="18" charset="2"/>
              </a:rPr>
              <a:t>t fit in memory, </a:t>
            </a:r>
            <a:r>
              <a:rPr lang="en-US" altLang="ja-JP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  <a:sym typeface="Wingdings 3" panose="05040102010807070707" pitchFamily="18" charset="2"/>
              </a:rPr>
              <a:t>swapping</a:t>
            </a:r>
            <a:r>
              <a:rPr lang="en-US" altLang="ja-JP" sz="1800" dirty="0">
                <a:ea typeface="+mn-ea"/>
                <a:cs typeface="Calibri" panose="020F0502020204030204" pitchFamily="34" charset="0"/>
                <a:sym typeface="Wingdings 3" panose="05040102010807070707" pitchFamily="18" charset="2"/>
              </a:rPr>
              <a:t> moves them in and out to run</a:t>
            </a:r>
          </a:p>
          <a:p>
            <a:pPr lvl="1">
              <a:lnSpc>
                <a:spcPct val="90000"/>
              </a:lnSpc>
            </a:pPr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  <a:sym typeface="Wingdings 3" panose="05040102010807070707" pitchFamily="18" charset="2"/>
              </a:rPr>
              <a:t>Virtual memory </a:t>
            </a:r>
            <a:r>
              <a:rPr lang="en-US" altLang="en-US" sz="1800" dirty="0">
                <a:ea typeface="+mn-ea"/>
                <a:cs typeface="Calibri" panose="020F0502020204030204" pitchFamily="34" charset="0"/>
                <a:sym typeface="Wingdings 3" panose="05040102010807070707" pitchFamily="18" charset="2"/>
              </a:rPr>
              <a:t>allows execution of processes not completely in memory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213860B-D994-83A9-F025-47CF2B052C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0771269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7290B74C-531F-48AF-B9FC-4141DDA6862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24025" y="148828"/>
            <a:ext cx="8040588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Memory Layout for </a:t>
            </a:r>
            <a:r>
              <a:rPr lang="en-US" altLang="en-US" sz="3200" dirty="0" err="1"/>
              <a:t>Multiprogrammed</a:t>
            </a:r>
            <a:r>
              <a:rPr lang="en-US" altLang="en-US" sz="3200" dirty="0"/>
              <a:t> System</a:t>
            </a:r>
          </a:p>
        </p:txBody>
      </p:sp>
      <p:pic>
        <p:nvPicPr>
          <p:cNvPr id="63491" name="Picture 2">
            <a:extLst>
              <a:ext uri="{FF2B5EF4-FFF2-40B4-BE49-F238E27FC236}">
                <a16:creationId xmlns:a16="http://schemas.microsoft.com/office/drawing/2014/main" id="{3AC87D33-03C5-4AAE-9C92-B651FC40A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9575" y="862705"/>
            <a:ext cx="2356297" cy="3725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C7C93C9-2CB3-D341-A459-D4DC3E407B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7866BADE-D230-495A-94F4-5193A1998DC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95149" y="148828"/>
            <a:ext cx="6976074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Dual-Mode Operation (1)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885FC6BD-4EBE-4675-8C44-D83682A4CAB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04775" y="924223"/>
            <a:ext cx="7334450" cy="282963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6699"/>
                </a:solidFill>
              </a:rPr>
              <a:t>Dual-mode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operation allows OS to protect itself and other system components</a:t>
            </a:r>
          </a:p>
          <a:p>
            <a:pPr lvl="1">
              <a:lnSpc>
                <a:spcPct val="90000"/>
              </a:lnSpc>
            </a:pPr>
            <a:r>
              <a:rPr lang="en-US" altLang="en-US" sz="1800" b="1" dirty="0">
                <a:solidFill>
                  <a:srgbClr val="006699"/>
                </a:solidFill>
              </a:rPr>
              <a:t>User mode </a:t>
            </a:r>
            <a:r>
              <a:rPr lang="en-US" altLang="en-US" sz="1800" dirty="0"/>
              <a:t>and </a:t>
            </a:r>
            <a:r>
              <a:rPr lang="en-US" altLang="en-US" sz="1800" b="1" dirty="0">
                <a:solidFill>
                  <a:srgbClr val="006699"/>
                </a:solidFill>
              </a:rPr>
              <a:t>kernel mode </a:t>
            </a:r>
          </a:p>
          <a:p>
            <a:pPr>
              <a:lnSpc>
                <a:spcPct val="90000"/>
              </a:lnSpc>
            </a:pPr>
            <a:endParaRPr lang="en-US" altLang="en-US" sz="2000" b="1" dirty="0">
              <a:solidFill>
                <a:srgbClr val="006699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6699"/>
                </a:solidFill>
              </a:rPr>
              <a:t>Mode bit </a:t>
            </a:r>
            <a:r>
              <a:rPr lang="en-US" altLang="en-US" sz="2000" dirty="0"/>
              <a:t>provided by hardware 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Provides ability to distinguish when system is running user code or kernel code.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When a user is running </a:t>
            </a:r>
            <a:r>
              <a:rPr lang="en-US" altLang="en-US" sz="1800" dirty="0">
                <a:sym typeface="Wingdings 3" panose="05040102010807070707" pitchFamily="18" charset="2"/>
              </a:rPr>
              <a:t> </a:t>
            </a:r>
            <a:r>
              <a:rPr lang="en-US" altLang="en-US" sz="1800" dirty="0">
                <a:sym typeface="Wingdings" panose="05000000000000000000" pitchFamily="2" charset="2"/>
              </a:rPr>
              <a:t>mode bit is “user”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When kernel code is executing </a:t>
            </a:r>
            <a:r>
              <a:rPr lang="en-US" altLang="en-US" sz="1800" dirty="0">
                <a:sym typeface="Wingdings 3" panose="05040102010807070707" pitchFamily="18" charset="2"/>
              </a:rPr>
              <a:t> </a:t>
            </a:r>
            <a:r>
              <a:rPr lang="en-US" altLang="en-US" sz="1800" dirty="0">
                <a:sym typeface="Wingdings" panose="05000000000000000000" pitchFamily="2" charset="2"/>
              </a:rPr>
              <a:t>mode bit is “kernel”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82FFC0A-02BB-3C8F-A3B8-D4DCC231AB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41886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901A0C21-C290-480E-A594-A720E66F246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04775" y="102394"/>
            <a:ext cx="6843813" cy="485775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Dual-Mode Operation (2)</a:t>
            </a:r>
          </a:p>
        </p:txBody>
      </p:sp>
      <p:pic>
        <p:nvPicPr>
          <p:cNvPr id="67588" name="Picture 2">
            <a:extLst>
              <a:ext uri="{FF2B5EF4-FFF2-40B4-BE49-F238E27FC236}">
                <a16:creationId xmlns:a16="http://schemas.microsoft.com/office/drawing/2014/main" id="{577B7B49-686A-43F8-AEBF-B723806AE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096" y="2213384"/>
            <a:ext cx="7387808" cy="2193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17DEC67E-FC90-1292-6E8E-43159DC66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426" y="891372"/>
            <a:ext cx="8643187" cy="1018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How do we guarantee that user does not explicitly set the mode bit to kernel?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System call changes mode to kernel, return from call resets it to user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Some instructions designated as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privileged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, only executable in kernel mode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170A12E-0738-EBC8-32A2-F8938527F7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87843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901A0C21-C290-480E-A594-A720E66F246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04775" y="102394"/>
            <a:ext cx="6843813" cy="485775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Timer</a:t>
            </a:r>
          </a:p>
        </p:txBody>
      </p:sp>
      <p:sp>
        <p:nvSpPr>
          <p:cNvPr id="67587" name="Rectangle 4">
            <a:extLst>
              <a:ext uri="{FF2B5EF4-FFF2-40B4-BE49-F238E27FC236}">
                <a16:creationId xmlns:a16="http://schemas.microsoft.com/office/drawing/2014/main" id="{9297C259-8FFF-444B-B901-A11F92099A2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91402" y="824213"/>
            <a:ext cx="7565457" cy="2486877"/>
          </a:xfrm>
        </p:spPr>
        <p:txBody>
          <a:bodyPr/>
          <a:lstStyle/>
          <a:p>
            <a:r>
              <a:rPr lang="en-US" altLang="en-US" sz="2000" dirty="0"/>
              <a:t>Timer to prevent infinite loop (or process hogging resources)</a:t>
            </a:r>
          </a:p>
          <a:p>
            <a:pPr lvl="1"/>
            <a:r>
              <a:rPr lang="en-US" altLang="en-US" sz="1800" dirty="0"/>
              <a:t>Timer is set to interrupt the computer after some time period</a:t>
            </a:r>
          </a:p>
          <a:p>
            <a:pPr lvl="1"/>
            <a:r>
              <a:rPr lang="en-US" altLang="en-US" sz="1800" dirty="0"/>
              <a:t>Keep a counter that is decremented by the physical clock</a:t>
            </a:r>
          </a:p>
          <a:p>
            <a:pPr lvl="1"/>
            <a:r>
              <a:rPr lang="en-US" altLang="en-US" sz="1800" dirty="0"/>
              <a:t>Operating system set the counter (privileged instruction)</a:t>
            </a:r>
          </a:p>
          <a:p>
            <a:pPr lvl="1"/>
            <a:r>
              <a:rPr lang="en-US" altLang="en-US" sz="1800" dirty="0"/>
              <a:t>When counter zero generate an interrupt</a:t>
            </a:r>
          </a:p>
          <a:p>
            <a:pPr lvl="1"/>
            <a:r>
              <a:rPr lang="en-US" altLang="en-US" sz="1800" dirty="0"/>
              <a:t>Set up before scheduling process to regain control or terminate program that exceeds allotted time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D9A3EC5-8E09-E824-8071-5C20DA6E6A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2536</TotalTime>
  <Words>1771</Words>
  <Application>Microsoft Office PowerPoint</Application>
  <PresentationFormat>全屏显示(16:9)</PresentationFormat>
  <Paragraphs>233</Paragraphs>
  <Slides>35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3" baseType="lpstr">
      <vt:lpstr>MS Sans Serif</vt:lpstr>
      <vt:lpstr>Arial</vt:lpstr>
      <vt:lpstr>Calibri</vt:lpstr>
      <vt:lpstr>Times New Roman</vt:lpstr>
      <vt:lpstr>Verdana</vt:lpstr>
      <vt:lpstr>Wingdings</vt:lpstr>
      <vt:lpstr>Wingdings 3</vt:lpstr>
      <vt:lpstr>NTHU UniCloud</vt:lpstr>
      <vt:lpstr>CSC3150 – Operating Systems</vt:lpstr>
      <vt:lpstr>Introduction</vt:lpstr>
      <vt:lpstr>Objectives</vt:lpstr>
      <vt:lpstr>What Does Operating System Mean</vt:lpstr>
      <vt:lpstr>What is an Operating System</vt:lpstr>
      <vt:lpstr>Computer System Structure</vt:lpstr>
      <vt:lpstr>Abstraction View of Components of Computers</vt:lpstr>
      <vt:lpstr>What Operating Systems Do (1)</vt:lpstr>
      <vt:lpstr>What Operating Systems Do (2)</vt:lpstr>
      <vt:lpstr>Operating System Definition (1)</vt:lpstr>
      <vt:lpstr>Operating System Definition (2)</vt:lpstr>
      <vt:lpstr>Operating System Definition (3)</vt:lpstr>
      <vt:lpstr>Computer System Organization</vt:lpstr>
      <vt:lpstr>Computer System Operation</vt:lpstr>
      <vt:lpstr>Common Functions of Interrupts</vt:lpstr>
      <vt:lpstr>Interrupt Timeline</vt:lpstr>
      <vt:lpstr>Interrupt Handling</vt:lpstr>
      <vt:lpstr>Interrupt-Drive I/O Cycle</vt:lpstr>
      <vt:lpstr>I/O Structure (1)</vt:lpstr>
      <vt:lpstr>I/O Structure (2)</vt:lpstr>
      <vt:lpstr>Computer Startup</vt:lpstr>
      <vt:lpstr>Storage Structure (1)</vt:lpstr>
      <vt:lpstr>Storage Structure (2)</vt:lpstr>
      <vt:lpstr>Storage Definitions and Notation Review</vt:lpstr>
      <vt:lpstr>Storage Hierarchy</vt:lpstr>
      <vt:lpstr>Storage-Device Hierarchy</vt:lpstr>
      <vt:lpstr>How a Modern Computer Work</vt:lpstr>
      <vt:lpstr>Direct Memory Access Structure</vt:lpstr>
      <vt:lpstr>Operating System Operations</vt:lpstr>
      <vt:lpstr>Multiprogramming (Batch System)</vt:lpstr>
      <vt:lpstr>Multitasking (Timesharing)</vt:lpstr>
      <vt:lpstr>Memory Layout for Multiprogrammed System</vt:lpstr>
      <vt:lpstr>Dual-Mode Operation (1)</vt:lpstr>
      <vt:lpstr>Dual-Mode Operation (2)</vt:lpstr>
      <vt:lpstr>Timer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286</cp:revision>
  <dcterms:created xsi:type="dcterms:W3CDTF">2015-06-05T07:23:35Z</dcterms:created>
  <dcterms:modified xsi:type="dcterms:W3CDTF">2025-07-25T01:25:55Z</dcterms:modified>
</cp:coreProperties>
</file>