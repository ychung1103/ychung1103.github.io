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handoutMasterIdLst>
    <p:handoutMasterId r:id="rId62"/>
  </p:handoutMasterIdLst>
  <p:sldIdLst>
    <p:sldId id="256" r:id="rId2"/>
    <p:sldId id="275" r:id="rId3"/>
    <p:sldId id="287" r:id="rId4"/>
    <p:sldId id="277" r:id="rId5"/>
    <p:sldId id="332" r:id="rId6"/>
    <p:sldId id="288" r:id="rId7"/>
    <p:sldId id="336" r:id="rId8"/>
    <p:sldId id="278" r:id="rId9"/>
    <p:sldId id="365" r:id="rId10"/>
    <p:sldId id="289" r:id="rId11"/>
    <p:sldId id="377" r:id="rId12"/>
    <p:sldId id="366" r:id="rId13"/>
    <p:sldId id="279" r:id="rId14"/>
    <p:sldId id="290" r:id="rId15"/>
    <p:sldId id="367" r:id="rId16"/>
    <p:sldId id="294" r:id="rId17"/>
    <p:sldId id="293" r:id="rId18"/>
    <p:sldId id="295" r:id="rId19"/>
    <p:sldId id="296" r:id="rId20"/>
    <p:sldId id="280" r:id="rId21"/>
    <p:sldId id="349" r:id="rId22"/>
    <p:sldId id="343" r:id="rId23"/>
    <p:sldId id="339" r:id="rId24"/>
    <p:sldId id="335" r:id="rId25"/>
    <p:sldId id="344" r:id="rId26"/>
    <p:sldId id="345" r:id="rId27"/>
    <p:sldId id="298" r:id="rId28"/>
    <p:sldId id="302" r:id="rId29"/>
    <p:sldId id="329" r:id="rId30"/>
    <p:sldId id="351" r:id="rId31"/>
    <p:sldId id="368" r:id="rId32"/>
    <p:sldId id="369" r:id="rId33"/>
    <p:sldId id="282" r:id="rId34"/>
    <p:sldId id="370" r:id="rId35"/>
    <p:sldId id="333" r:id="rId36"/>
    <p:sldId id="352" r:id="rId37"/>
    <p:sldId id="353" r:id="rId38"/>
    <p:sldId id="305" r:id="rId39"/>
    <p:sldId id="306" r:id="rId40"/>
    <p:sldId id="371" r:id="rId41"/>
    <p:sldId id="307" r:id="rId42"/>
    <p:sldId id="310" r:id="rId43"/>
    <p:sldId id="354" r:id="rId44"/>
    <p:sldId id="313" r:id="rId45"/>
    <p:sldId id="355" r:id="rId46"/>
    <p:sldId id="356" r:id="rId47"/>
    <p:sldId id="372" r:id="rId48"/>
    <p:sldId id="357" r:id="rId49"/>
    <p:sldId id="358" r:id="rId50"/>
    <p:sldId id="359" r:id="rId51"/>
    <p:sldId id="286" r:id="rId52"/>
    <p:sldId id="374" r:id="rId53"/>
    <p:sldId id="373" r:id="rId54"/>
    <p:sldId id="342" r:id="rId55"/>
    <p:sldId id="361" r:id="rId56"/>
    <p:sldId id="301" r:id="rId57"/>
    <p:sldId id="360" r:id="rId58"/>
    <p:sldId id="375" r:id="rId59"/>
    <p:sldId id="378" r:id="rId60"/>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872" y="60"/>
      </p:cViewPr>
      <p:guideLst>
        <p:guide orient="horz" pos="2160"/>
        <p:guide pos="2880"/>
        <p:guide orient="horz" pos="1620"/>
      </p:guideLst>
    </p:cSldViewPr>
  </p:slideViewPr>
  <p:notesTextViewPr>
    <p:cViewPr>
      <p:scale>
        <a:sx n="1" d="1"/>
        <a:sy n="1" d="1"/>
      </p:scale>
      <p:origin x="0" y="0"/>
    </p:cViewPr>
  </p:notesTextViewPr>
  <p:sorterViewPr>
    <p:cViewPr varScale="1">
      <p:scale>
        <a:sx n="1" d="1"/>
        <a:sy n="1" d="1"/>
      </p:scale>
      <p:origin x="0" y="-1052"/>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2025/7/25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2025/7/25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6A822E9-8F13-47AB-9E4E-B18AB2E1F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CCEF3C-8989-4032-A095-D133C1713EDA}"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3520E619-9440-4535-B6E9-BC7E8804B9A6}"/>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55EEC95-E703-4EFF-BB87-4741BBEEC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A7699670-5331-4C7F-B66F-45A2105BA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5D0AF2-D85B-4E4E-89AE-3DAF63F14019}"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3" name="Rectangle 2">
            <a:extLst>
              <a:ext uri="{FF2B5EF4-FFF2-40B4-BE49-F238E27FC236}">
                <a16:creationId xmlns:a16="http://schemas.microsoft.com/office/drawing/2014/main" id="{E043F316-76DC-4F8D-B0C9-695562CD827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C70DB475-EF8D-4192-AEB8-E04565EC34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C80CB84-F22A-4E50-BCC7-BE380B839A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2ED08A-93DF-4843-AA94-E1F59DEAFF3D}"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1" name="Rectangle 2">
            <a:extLst>
              <a:ext uri="{FF2B5EF4-FFF2-40B4-BE49-F238E27FC236}">
                <a16:creationId xmlns:a16="http://schemas.microsoft.com/office/drawing/2014/main" id="{2BCE3858-17A1-4688-9E78-D1CB3192F242}"/>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A3A259DE-418E-40E8-9000-C1E0B35B4F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E9377DB-301A-432B-896E-B411521787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BCF9BC1-3B73-458F-8E78-3016D7399B9A}"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9" name="Rectangle 2">
            <a:extLst>
              <a:ext uri="{FF2B5EF4-FFF2-40B4-BE49-F238E27FC236}">
                <a16:creationId xmlns:a16="http://schemas.microsoft.com/office/drawing/2014/main" id="{391F4615-F5F9-4EB9-B78C-EB9FE2EAD4E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EF9DFDBA-3559-40A7-BFB4-DC81E20F7A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6B596B35-4CD3-4163-AF7F-24933E1BA8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743B5A6-DAB1-4C28-92DE-EA01C365D9F5}"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16387" name="Rectangle 2">
            <a:extLst>
              <a:ext uri="{FF2B5EF4-FFF2-40B4-BE49-F238E27FC236}">
                <a16:creationId xmlns:a16="http://schemas.microsoft.com/office/drawing/2014/main" id="{C9E165D1-8C08-4127-8C5B-7DE96DC7594F}"/>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50D7D365-DEDC-42FE-8651-B0FD5E8558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6479304-D0E3-440A-A086-9BB2C9CFACC6}"/>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C6656675-4F11-44EE-82F1-FC6523A165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058421E6-E063-489A-8DF8-5F745E5E47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E92DC9-9D0F-4D4C-91FC-78D0BF0662BE}"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20483" name="Rectangle 2">
            <a:extLst>
              <a:ext uri="{FF2B5EF4-FFF2-40B4-BE49-F238E27FC236}">
                <a16:creationId xmlns:a16="http://schemas.microsoft.com/office/drawing/2014/main" id="{3B7DAC96-1713-46BA-A342-1270F3A89FA3}"/>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36B80E63-F60F-4332-9942-3F6416C223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07A81BB-96CB-4FBB-BD88-CC3658B57863}"/>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DD7F04E-9A25-4DC3-8673-2856EE538D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E8E015A-A900-45D1-8E21-4D4C7F5816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F5AE06-AC16-4C3D-AAAD-B4FC1F4406E5}"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4579" name="Rectangle 2">
            <a:extLst>
              <a:ext uri="{FF2B5EF4-FFF2-40B4-BE49-F238E27FC236}">
                <a16:creationId xmlns:a16="http://schemas.microsoft.com/office/drawing/2014/main" id="{A4BEFE14-B474-43E0-8C51-D424A37B8A3F}"/>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A504A065-E088-4655-A67E-8FE45E396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C4F45F0E-DA1B-4093-B016-7B3B6EA0A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F2FF164-6E8A-4BC1-B191-9D9705F2419E}"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6627" name="Rectangle 2">
            <a:extLst>
              <a:ext uri="{FF2B5EF4-FFF2-40B4-BE49-F238E27FC236}">
                <a16:creationId xmlns:a16="http://schemas.microsoft.com/office/drawing/2014/main" id="{2B332595-CDB0-4A7B-95ED-0E9FB62206E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6F34B16C-62B1-4DE4-BAA8-BDAFA4CB4B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50041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42979D8-D279-4F81-8D96-576A16CDE274}"/>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B14EC126-86A2-4EFB-B04B-99231C6B47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EFC9295D-20C0-40F6-A890-07561CD02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ED19BE-233D-4E15-858D-397EA24C558C}"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30945398-3953-4662-8AB2-3599D73528F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A564743-CEA6-4703-B1E3-72C2EA3754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E28D529-1073-4615-9C35-6D7E43A25A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7E548C-774C-4A0A-B49B-D7561E8DC014}"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61D0FB5B-1D70-4814-9519-570E54CA96EA}"/>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DE796A1-E6DA-46E5-BEF3-64070886DF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E56B275-0BAF-4D11-8861-A6AD21BD70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D51DE52-A2FA-4DD9-8778-F3F9593F4483}"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7A31EF38-9D9C-4353-9BE3-64660DFC1B08}"/>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BC6D288B-294C-425D-B18E-3E0F65AD6C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0B7197EB-9EA5-440C-BF44-3CCC1D8BD1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60ADBD1-0CFE-4524-B710-0FA45B67A62C}"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36867" name="Rectangle 2">
            <a:extLst>
              <a:ext uri="{FF2B5EF4-FFF2-40B4-BE49-F238E27FC236}">
                <a16:creationId xmlns:a16="http://schemas.microsoft.com/office/drawing/2014/main" id="{5E333021-2AC7-4A64-BBE4-34E771567509}"/>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A4293FD2-C714-429D-A3AA-6BC581EAC2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A507351B-D712-437E-98E7-F662A74309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DF0B5-6DB1-40E4-9D70-8430FC6C4E9F}"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8915" name="Rectangle 2">
            <a:extLst>
              <a:ext uri="{FF2B5EF4-FFF2-40B4-BE49-F238E27FC236}">
                <a16:creationId xmlns:a16="http://schemas.microsoft.com/office/drawing/2014/main" id="{8FC88A25-20C1-4AB0-93D3-5CD9170E7C71}"/>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88BD605D-FC05-4B6D-A985-DA551A53D5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445F60E8-26A3-44B1-86D8-9C36811F5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96AA71C-5868-45F1-8571-E62C9C187BD1}"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95B0F2F1-AA3B-4D59-8C21-560A66CEF442}"/>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5FBCF461-AEF4-401D-A191-C0EBC12EA3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33BAED9-5B7F-401E-8726-45B92938F1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4DCFB8B-285E-42B0-B046-73E0330D4A8F}"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43011" name="Rectangle 2">
            <a:extLst>
              <a:ext uri="{FF2B5EF4-FFF2-40B4-BE49-F238E27FC236}">
                <a16:creationId xmlns:a16="http://schemas.microsoft.com/office/drawing/2014/main" id="{0B657D37-F8DF-4FB6-8D67-D127E38E375D}"/>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019F071-D51D-4D64-A7F6-5CFAF4BF22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49C35A4-2B09-4044-B684-3B5B5F9682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08F1016-771D-4116-83C0-1A8A1142BC71}"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45059" name="Rectangle 2">
            <a:extLst>
              <a:ext uri="{FF2B5EF4-FFF2-40B4-BE49-F238E27FC236}">
                <a16:creationId xmlns:a16="http://schemas.microsoft.com/office/drawing/2014/main" id="{1DD9E6BF-77D7-41D8-8E40-BCC9A7C43C4B}"/>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CFA8695-0190-4832-B30E-DCEC8A5962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7E047762-40E7-43E4-9B43-6F5B9B32A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0E5D39-9A86-4ED8-8691-ECA7B1C1AF77}"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821DBEC8-DA42-4F41-9C7D-8E648A61D150}"/>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BB717F07-BEFA-48AC-9D42-A9B51A92B9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514A1A8-4D19-49E4-AD69-33EE6FA1E3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AB6457-4452-4B30-ACCB-2E4E288B7868}"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8B2F8D86-D304-421E-AE9F-BEFAD389F5C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3769BACE-8F2A-4C1E-AEFD-C18F7DDF46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C4C0C4A-430D-41D5-A904-65099801C623}"/>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FB63C8E0-78C6-4F6F-BA2A-437611695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A3CAE1-31FF-4E63-B6A6-075591DFA6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10DEEF-5D5D-44BF-A0DE-0E03A5EA1C92}"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F0A60D48-E453-4779-93AB-8A9C169F681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9F5150A2-7B6E-44C9-9CAF-F609E5225D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7894F0F2-FD38-4F50-86A3-9FE80E8C35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D33BCA-48B6-413D-B8C9-5493EE24D4C3}"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9A027089-8C5B-48CD-83C9-82E7AC69E1F6}"/>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791160DD-71A0-4AAF-853F-F6A1ACFA1B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B2C34C3-250A-468E-9851-CC70D79D96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33955B-1D85-408C-9962-CCCFD1FD963F}"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1D1DE534-1DD7-4472-AA58-C1DE0867DFF1}"/>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8FC13BC3-8933-45F1-9859-967FA4C5C9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704E6CA-49C0-4A2A-AEC1-BB04B55A48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158379-05CF-4CC2-AD21-075AE5A4BA6F}"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64E6DB56-0C3E-477D-B270-81C5BEB648E4}"/>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4A9C3227-4B51-4748-9D4A-8F77C8BB86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67783A79-83B8-4D49-BBC2-5D548B427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8928C3-9072-42C2-A825-768E263084C4}"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0DB4D94A-E0FC-49E4-83E5-A10A268ED59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95357CA5-7158-4580-8BAB-76FAF59084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F9D4368-2D5B-44CF-9769-7950A1E38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D9A8E8-F4EA-46C2-B927-AF9B295CD51A}"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84751EBF-BF03-4EB3-AC59-8937FFC05BA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63753AF-4080-4D90-93A4-E18673570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3AA3413-AA5F-4107-A578-F7FB97A1FD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3D0DC0-01F3-4FB1-9D33-C3D72C571382}"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AE841BF5-F8CC-496C-9A26-9FAB38639DD6}"/>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C7518A12-53B7-447C-9D59-09B9E72EC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46EB841-3BA3-411E-B258-F2A764F737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14B98F-007C-43DF-A60D-1A7EAA91CCA7}"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8A048B8E-E398-4745-90F2-A532AC12A28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A8F3B7A-4DFD-4CE0-A7BC-C9EB40B83D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5B19350-9654-4398-A98D-823F09730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99FAC0-3371-4115-9278-16B190E658AE}"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794AAB47-390A-4A95-8D6A-7698FE87FC2D}"/>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3AE11E17-0B37-495A-8D01-1E4B31D7DA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92ACBA4-A8FC-4E7A-80E9-AEAA75E564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74938-55F7-4DC8-8764-970D10855290}"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9CC13A3-9CCE-4E8B-9A2A-FF400F3C45A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A0F89BD5-8969-4268-BAAE-9A14BFA62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60C12AF-FD80-4BCF-8312-D4A136EA7A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3A00BB-B4EE-42A4-AC24-302EB7D43EBC}"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72A2FE60-2ABA-4FD7-97DD-436C8BB9AE4D}"/>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5EC551F-647E-4616-B2E2-80AFFE0CA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F0601A3-B0CC-45B3-BBD4-0046CD87CF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6E5EEC-C07B-41DB-9CC3-1F02D0C0767C}"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DE277AD2-08FD-4FEB-9A71-97B80E63EA93}"/>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23FE59D0-CE1B-473F-8138-7566D6FAE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139EA7E-C5A3-4A16-AE42-C345AB123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57B5D2-DE8D-4EF9-889E-79B8E6EF3011}"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F853F4E3-8609-4C8C-A077-0E107BD51068}"/>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D9017D7-59E4-444C-8B7D-582A16EDD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AF9071-C2C8-4AE5-BF05-7904ECEB51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99B845-CED4-49E0-AFEF-48FD2C002C7A}"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4B359B74-A383-48FE-9C98-33D67BCB90F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CA34FAE-AB9D-469A-A39F-2D79F9D91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CECBD7C-C5C5-49AB-A072-BF89D7C9B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672991-CDC8-4F84-B8EB-CEEB23288ED8}"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EA73A052-CF76-4A71-B05B-5EEB72534B3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77FC5D12-EFEF-4B63-BAC5-16C49C6E5E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14AB2F1-7ECF-4654-B476-67C4FF193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372007-FB99-4F76-A744-2252F6525800}"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CA4A4BF-9303-4366-B3C9-87C09BA7CEAE}"/>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B9BD875-4589-4ADD-BA0B-1F2DD177B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7F536C2-9FE0-4E79-A5E0-AFC384E498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491145-9F31-486F-A264-8B0A4A9C13B7}"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0D70963F-80A9-4E2C-BCB3-A8CDD51A981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07D860-A14E-4FF1-8A49-679D6FBCD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96D8EEA-686B-4379-9B06-52B63A1D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6CA01E-772D-40E8-9027-AB0D47C6C4E8}"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D8E1EBF-2FD7-4B13-B103-9850A8F9C1F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19EDC26-9459-43B0-9D0F-8C9D2D2BD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DDD192-3990-4BAC-9FF7-B9EB07B56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C44763-2F58-4848-BA5C-68BECC72D524}"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421BC8AC-63BB-4B03-AA64-444FBA516D1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C39D2BE-4C7A-463F-BE60-F42C3A682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87F8760-28E9-4161-9350-142B4464B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E4E2C5-D11C-4ED8-A539-FE2C8C2C856E}"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9C9D9664-3E42-4464-B2E1-AA6A02DCB11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2C97BE7-F67C-448D-B392-2A7428758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06669-42D7-44B4-8C43-273FF77AB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84C1EA-EE61-4B32-9717-6561C81C069A}"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AA286D85-5926-4E35-9302-DEB3B5EC290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FF0D118-2E86-45EB-A309-2BCA801CF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5F842D0-B50C-43ED-A81B-735CB2F3C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30AB3E-7AE2-4050-BFC0-A3100E231CFB}"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DB6535EE-412E-4748-B2FF-406F43550123}"/>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17BF8DC-D131-402D-A170-25C5EFBC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285C7AB-481B-4C36-9D5E-6A373E3AAECE}"/>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12595288-A8A1-4275-86ED-41647E9CA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5C6E0C8-8D05-4FC0-A615-BF217235A26B}"/>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06CCCF2B-4119-4DD1-8801-4FD12407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66AC6290-0A8F-4410-8EE6-B928A0A295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9BE7E25-DF2F-4168-BE5E-41CED28D4157}"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sp>
        <p:nvSpPr>
          <p:cNvPr id="112643" name="Rectangle 2">
            <a:extLst>
              <a:ext uri="{FF2B5EF4-FFF2-40B4-BE49-F238E27FC236}">
                <a16:creationId xmlns:a16="http://schemas.microsoft.com/office/drawing/2014/main" id="{496B7A25-594B-4B19-95B7-A771AB982E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46A41592-F994-49A3-B7D1-777A14B85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BB5927D9-28F8-431E-8A5D-E38622E7F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7D4F6E-605C-4FD9-9638-53697B67B85A}"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sp>
        <p:nvSpPr>
          <p:cNvPr id="114691" name="Rectangle 2">
            <a:extLst>
              <a:ext uri="{FF2B5EF4-FFF2-40B4-BE49-F238E27FC236}">
                <a16:creationId xmlns:a16="http://schemas.microsoft.com/office/drawing/2014/main" id="{D1BDAEE5-6C5F-4F98-A849-714E2F1C5DC5}"/>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859DDBEE-280C-4117-953E-E0EAAF188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4235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microsoft.com/office/2007/relationships/hdphoto" Target="../media/hdphoto1.wdp"/></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3150</a:t>
            </a:r>
            <a:r>
              <a:rPr lang="en-US" altLang="zh-TW" sz="3600" dirty="0">
                <a:effectLst>
                  <a:outerShdw blurRad="38100" dist="38100" dir="2700000" algn="tl">
                    <a:srgbClr val="000000">
                      <a:alpha val="43137"/>
                    </a:srgbClr>
                  </a:outerShdw>
                </a:effectLst>
              </a:rPr>
              <a:t>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
        <p:nvSpPr>
          <p:cNvPr id="4" name="灯片编号占位符 3">
            <a:extLst>
              <a:ext uri="{FF2B5EF4-FFF2-40B4-BE49-F238E27FC236}">
                <a16:creationId xmlns:a16="http://schemas.microsoft.com/office/drawing/2014/main" id="{A8C13BE5-D8A7-4853-BC45-711A6C11425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6BA1119-0E5B-4C51-B6FA-28152283ADA3}"/>
              </a:ext>
            </a:extLst>
          </p:cNvPr>
          <p:cNvSpPr>
            <a:spLocks noGrp="1" noChangeArrowheads="1"/>
          </p:cNvSpPr>
          <p:nvPr>
            <p:ph type="title"/>
          </p:nvPr>
        </p:nvSpPr>
        <p:spPr>
          <a:xfrm>
            <a:off x="890124" y="174826"/>
            <a:ext cx="6193619" cy="432197"/>
          </a:xfrm>
        </p:spPr>
        <p:txBody>
          <a:bodyPr/>
          <a:lstStyle/>
          <a:p>
            <a:pPr eaLnBrk="1" hangingPunct="1"/>
            <a:r>
              <a:rPr lang="en-US" altLang="en-US" sz="3200" dirty="0"/>
              <a:t>Outline</a:t>
            </a:r>
          </a:p>
        </p:txBody>
      </p:sp>
      <p:sp>
        <p:nvSpPr>
          <p:cNvPr id="7171" name="Rectangle 3">
            <a:extLst>
              <a:ext uri="{FF2B5EF4-FFF2-40B4-BE49-F238E27FC236}">
                <a16:creationId xmlns:a16="http://schemas.microsoft.com/office/drawing/2014/main" id="{B1102DF7-4A96-4DB4-93EE-EFEEB0DC39AF}"/>
              </a:ext>
            </a:extLst>
          </p:cNvPr>
          <p:cNvSpPr>
            <a:spLocks noGrp="1" noChangeArrowheads="1"/>
          </p:cNvSpPr>
          <p:nvPr>
            <p:ph type="body" idx="1"/>
          </p:nvPr>
        </p:nvSpPr>
        <p:spPr>
          <a:xfrm>
            <a:off x="1060057" y="839918"/>
            <a:ext cx="6437310" cy="3618794"/>
          </a:xfrm>
        </p:spPr>
        <p:txBody>
          <a:bodyPr/>
          <a:lstStyle/>
          <a:p>
            <a:r>
              <a:rPr lang="en-US" altLang="en-US" sz="2000" dirty="0"/>
              <a:t>Operating System Services</a:t>
            </a:r>
          </a:p>
          <a:p>
            <a:r>
              <a:rPr lang="en-US" altLang="en-US" sz="2000" dirty="0"/>
              <a:t>User and Operating System-Interface</a:t>
            </a:r>
          </a:p>
          <a:p>
            <a:r>
              <a:rPr lang="en-US" altLang="en-US" sz="2000" dirty="0"/>
              <a:t>System Calls</a:t>
            </a:r>
          </a:p>
          <a:p>
            <a:r>
              <a:rPr lang="en-US" altLang="en-US" sz="2000" dirty="0"/>
              <a:t>System Services</a:t>
            </a:r>
          </a:p>
          <a:p>
            <a:r>
              <a:rPr lang="en-US" altLang="en-US" sz="2000" dirty="0"/>
              <a:t>Linkers and Loaders</a:t>
            </a:r>
          </a:p>
          <a:p>
            <a:r>
              <a:rPr lang="en-US" altLang="en-US" sz="2000" dirty="0"/>
              <a:t>Why Applications are Operating System Specific</a:t>
            </a:r>
          </a:p>
          <a:p>
            <a:r>
              <a:rPr lang="en-US" altLang="en-US" sz="2000" dirty="0"/>
              <a:t>Design and Implementation</a:t>
            </a:r>
          </a:p>
          <a:p>
            <a:r>
              <a:rPr lang="en-US" altLang="en-US" sz="2000" dirty="0"/>
              <a:t>Operating System Structure</a:t>
            </a:r>
          </a:p>
          <a:p>
            <a:r>
              <a:rPr lang="en-US" altLang="en-US" sz="2000" dirty="0"/>
              <a:t>Building and Booting an Operating System</a:t>
            </a:r>
          </a:p>
          <a:p>
            <a:r>
              <a:rPr lang="en-US" altLang="en-US" sz="2000" dirty="0"/>
              <a:t>Operating System Debugging</a:t>
            </a:r>
          </a:p>
        </p:txBody>
      </p:sp>
      <p:sp>
        <p:nvSpPr>
          <p:cNvPr id="2" name="灯片编号占位符 1">
            <a:extLst>
              <a:ext uri="{FF2B5EF4-FFF2-40B4-BE49-F238E27FC236}">
                <a16:creationId xmlns:a16="http://schemas.microsoft.com/office/drawing/2014/main" id="{28FCA291-ABD3-A8B7-9180-3519648D5935}"/>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ED6B521-18A7-4439-A63E-29BB58B6FD3B}"/>
              </a:ext>
            </a:extLst>
          </p:cNvPr>
          <p:cNvSpPr>
            <a:spLocks noGrp="1" noChangeArrowheads="1"/>
          </p:cNvSpPr>
          <p:nvPr>
            <p:ph type="title"/>
          </p:nvPr>
        </p:nvSpPr>
        <p:spPr>
          <a:xfrm>
            <a:off x="865848" y="108349"/>
            <a:ext cx="7809842" cy="519113"/>
          </a:xfrm>
        </p:spPr>
        <p:txBody>
          <a:bodyPr/>
          <a:lstStyle/>
          <a:p>
            <a:pPr eaLnBrk="1" hangingPunct="1"/>
            <a:r>
              <a:rPr lang="en-US" altLang="en-US" sz="3200" dirty="0"/>
              <a:t>Objectives</a:t>
            </a:r>
          </a:p>
        </p:txBody>
      </p:sp>
      <p:sp>
        <p:nvSpPr>
          <p:cNvPr id="9219" name="Rectangle 3">
            <a:extLst>
              <a:ext uri="{FF2B5EF4-FFF2-40B4-BE49-F238E27FC236}">
                <a16:creationId xmlns:a16="http://schemas.microsoft.com/office/drawing/2014/main" id="{6D078653-D1C2-4F9E-AC34-145815C46F6A}"/>
              </a:ext>
            </a:extLst>
          </p:cNvPr>
          <p:cNvSpPr>
            <a:spLocks noGrp="1" noChangeArrowheads="1"/>
          </p:cNvSpPr>
          <p:nvPr>
            <p:ph type="body" idx="1"/>
          </p:nvPr>
        </p:nvSpPr>
        <p:spPr>
          <a:xfrm>
            <a:off x="971045" y="925117"/>
            <a:ext cx="7444672" cy="3193729"/>
          </a:xfrm>
        </p:spPr>
        <p:txBody>
          <a:bodyPr/>
          <a:lstStyle/>
          <a:p>
            <a:r>
              <a:rPr lang="en-US" altLang="en-US" sz="2000" dirty="0"/>
              <a:t>Identify services provided by an operating system</a:t>
            </a:r>
          </a:p>
          <a:p>
            <a:r>
              <a:rPr lang="en-US" altLang="en-US" sz="2000" dirty="0"/>
              <a:t>Illustrate how system calls are used to provide operating system services</a:t>
            </a:r>
          </a:p>
          <a:p>
            <a:r>
              <a:rPr lang="en-US" altLang="en-US" sz="2000" dirty="0"/>
              <a:t>Compare and contrast monolithic, layered, microkernel, modular, and hybrid strategies for designing operating systems</a:t>
            </a:r>
          </a:p>
          <a:p>
            <a:r>
              <a:rPr lang="en-US" altLang="en-US" sz="2000" dirty="0"/>
              <a:t>Illustrate the process for booting an operating system</a:t>
            </a:r>
          </a:p>
          <a:p>
            <a:r>
              <a:rPr lang="en-US" altLang="en-US" sz="2000" dirty="0"/>
              <a:t>Apply tools for monitoring operating system performance</a:t>
            </a:r>
          </a:p>
          <a:p>
            <a:r>
              <a:rPr lang="en-US" altLang="en-US" sz="2000" dirty="0"/>
              <a:t>Design and implement kernel modules for interacting with a Linux kernel</a:t>
            </a:r>
          </a:p>
        </p:txBody>
      </p:sp>
      <p:sp>
        <p:nvSpPr>
          <p:cNvPr id="2" name="灯片编号占位符 1">
            <a:extLst>
              <a:ext uri="{FF2B5EF4-FFF2-40B4-BE49-F238E27FC236}">
                <a16:creationId xmlns:a16="http://schemas.microsoft.com/office/drawing/2014/main" id="{44E851F0-F582-3EA6-7F82-5D06CD0E12C3}"/>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4C24230-0BCA-4F21-BEE9-496253FB2795}"/>
              </a:ext>
            </a:extLst>
          </p:cNvPr>
          <p:cNvSpPr>
            <a:spLocks noGrp="1" noChangeArrowheads="1"/>
          </p:cNvSpPr>
          <p:nvPr>
            <p:ph type="title"/>
          </p:nvPr>
        </p:nvSpPr>
        <p:spPr>
          <a:xfrm>
            <a:off x="906308" y="110364"/>
            <a:ext cx="6611299" cy="432197"/>
          </a:xfrm>
        </p:spPr>
        <p:txBody>
          <a:bodyPr/>
          <a:lstStyle/>
          <a:p>
            <a:pPr eaLnBrk="1" hangingPunct="1"/>
            <a:r>
              <a:rPr lang="en-US" altLang="en-US" sz="3200" dirty="0"/>
              <a:t>Operating System Services (1)</a:t>
            </a:r>
          </a:p>
        </p:txBody>
      </p:sp>
      <p:sp>
        <p:nvSpPr>
          <p:cNvPr id="11267" name="Rectangle 3">
            <a:extLst>
              <a:ext uri="{FF2B5EF4-FFF2-40B4-BE49-F238E27FC236}">
                <a16:creationId xmlns:a16="http://schemas.microsoft.com/office/drawing/2014/main" id="{4273FD5E-1C82-4A27-94EC-32DCB0EF2F72}"/>
              </a:ext>
            </a:extLst>
          </p:cNvPr>
          <p:cNvSpPr>
            <a:spLocks noGrp="1" noChangeArrowheads="1"/>
          </p:cNvSpPr>
          <p:nvPr>
            <p:ph type="body" idx="1"/>
          </p:nvPr>
        </p:nvSpPr>
        <p:spPr>
          <a:xfrm>
            <a:off x="906308" y="804332"/>
            <a:ext cx="7594597" cy="3699934"/>
          </a:xfrm>
          <a:noFill/>
        </p:spPr>
        <p:txBody>
          <a:bodyPr/>
          <a:lstStyle/>
          <a:p>
            <a:pPr>
              <a:spcBef>
                <a:spcPts val="0"/>
              </a:spcBef>
            </a:pPr>
            <a:r>
              <a:rPr lang="en-US" altLang="en-US" sz="2000" dirty="0">
                <a:cs typeface="Calibri" panose="020F0502020204030204" pitchFamily="34" charset="0"/>
              </a:rPr>
              <a:t>An operating system provides environments and services to programs and users, including</a:t>
            </a:r>
          </a:p>
          <a:p>
            <a:pPr lvl="1">
              <a:spcBef>
                <a:spcPts val="0"/>
              </a:spcBef>
            </a:pPr>
            <a:r>
              <a:rPr lang="en-US" altLang="en-US" sz="1800" b="1" dirty="0">
                <a:solidFill>
                  <a:srgbClr val="FF0000"/>
                </a:solidFill>
                <a:cs typeface="Calibri" panose="020F0502020204030204" pitchFamily="34" charset="0"/>
              </a:rPr>
              <a:t>User interface </a:t>
            </a:r>
            <a:r>
              <a:rPr lang="en-US" altLang="en-US" sz="1800" dirty="0">
                <a:cs typeface="Calibri" panose="020F0502020204030204" pitchFamily="34" charset="0"/>
              </a:rPr>
              <a:t>- Almost all operating systems have a user interface (</a:t>
            </a:r>
            <a:r>
              <a:rPr lang="en-US" altLang="en-US" sz="1800" b="1" dirty="0">
                <a:solidFill>
                  <a:srgbClr val="006699"/>
                </a:solidFill>
                <a:cs typeface="Calibri" panose="020F0502020204030204" pitchFamily="34" charset="0"/>
              </a:rPr>
              <a:t>UI</a:t>
            </a:r>
            <a:r>
              <a:rPr lang="en-US" altLang="en-US" sz="1800" dirty="0">
                <a:cs typeface="Calibri" panose="020F0502020204030204" pitchFamily="34" charset="0"/>
              </a:rPr>
              <a:t>)</a:t>
            </a:r>
          </a:p>
          <a:p>
            <a:pPr lvl="2">
              <a:spcBef>
                <a:spcPts val="0"/>
              </a:spcBef>
            </a:pPr>
            <a:r>
              <a:rPr lang="en-US" altLang="en-US" sz="1800" dirty="0"/>
              <a:t>Varies between </a:t>
            </a:r>
            <a:r>
              <a:rPr lang="en-US" altLang="en-US" sz="1800" b="1" dirty="0">
                <a:solidFill>
                  <a:srgbClr val="006699"/>
                </a:solidFill>
              </a:rPr>
              <a:t>Command-Line</a:t>
            </a:r>
            <a:r>
              <a:rPr lang="en-US" altLang="en-US" sz="1800" b="1" dirty="0">
                <a:solidFill>
                  <a:srgbClr val="3366FF"/>
                </a:solidFill>
              </a:rPr>
              <a:t> </a:t>
            </a:r>
            <a:r>
              <a:rPr lang="en-US" altLang="en-US" sz="1800" dirty="0"/>
              <a:t>(</a:t>
            </a:r>
            <a:r>
              <a:rPr lang="en-US" altLang="en-US" sz="1800" b="1" dirty="0">
                <a:solidFill>
                  <a:srgbClr val="006699"/>
                </a:solidFill>
              </a:rPr>
              <a:t>CLI</a:t>
            </a:r>
            <a:r>
              <a:rPr lang="en-US" altLang="en-US" sz="1800" dirty="0"/>
              <a:t>)</a:t>
            </a:r>
            <a:r>
              <a:rPr lang="en-US" altLang="en-US" sz="1800" dirty="0">
                <a:solidFill>
                  <a:srgbClr val="000000"/>
                </a:solidFill>
              </a:rPr>
              <a:t>, </a:t>
            </a:r>
            <a:r>
              <a:rPr lang="en-US" altLang="en-US" sz="1800" b="1" dirty="0">
                <a:solidFill>
                  <a:srgbClr val="006699"/>
                </a:solidFill>
              </a:rPr>
              <a:t>Graphics</a:t>
            </a:r>
            <a:r>
              <a:rPr lang="en-US" altLang="en-US" sz="1800" b="1" dirty="0">
                <a:solidFill>
                  <a:srgbClr val="3366FF"/>
                </a:solidFill>
              </a:rPr>
              <a:t> </a:t>
            </a:r>
            <a:r>
              <a:rPr lang="en-US" altLang="en-US" sz="1800" b="1" dirty="0">
                <a:solidFill>
                  <a:srgbClr val="006699"/>
                </a:solidFill>
              </a:rPr>
              <a:t>User</a:t>
            </a:r>
            <a:r>
              <a:rPr lang="en-US" altLang="en-US" sz="1800" b="1" dirty="0">
                <a:solidFill>
                  <a:srgbClr val="3366FF"/>
                </a:solidFill>
              </a:rPr>
              <a:t> </a:t>
            </a:r>
            <a:r>
              <a:rPr lang="en-US" altLang="en-US" sz="1800" b="1" dirty="0">
                <a:solidFill>
                  <a:srgbClr val="006699"/>
                </a:solidFill>
              </a:rPr>
              <a:t>Interface</a:t>
            </a:r>
            <a:r>
              <a:rPr lang="en-US" altLang="en-US" sz="1800" b="1" dirty="0">
                <a:solidFill>
                  <a:srgbClr val="3366FF"/>
                </a:solidFill>
              </a:rPr>
              <a:t> </a:t>
            </a:r>
            <a:r>
              <a:rPr lang="en-US" altLang="en-US" sz="1800" dirty="0"/>
              <a:t>(</a:t>
            </a:r>
            <a:r>
              <a:rPr lang="en-US" altLang="en-US" sz="1800" b="1" dirty="0">
                <a:solidFill>
                  <a:srgbClr val="006699"/>
                </a:solidFill>
              </a:rPr>
              <a:t>GUI</a:t>
            </a:r>
            <a:r>
              <a:rPr lang="en-US" altLang="en-US" sz="1800" dirty="0"/>
              <a:t>)</a:t>
            </a:r>
            <a:r>
              <a:rPr lang="en-US" altLang="en-US" sz="1800" dirty="0">
                <a:solidFill>
                  <a:srgbClr val="000000"/>
                </a:solidFill>
              </a:rPr>
              <a:t>,</a:t>
            </a:r>
            <a:r>
              <a:rPr lang="en-US" altLang="en-US" sz="1800" b="1" dirty="0">
                <a:solidFill>
                  <a:srgbClr val="3366FF"/>
                </a:solidFill>
              </a:rPr>
              <a:t>  </a:t>
            </a:r>
            <a:r>
              <a:rPr lang="en-US" altLang="en-US" sz="1800" b="1" dirty="0">
                <a:solidFill>
                  <a:srgbClr val="006699"/>
                </a:solidFill>
              </a:rPr>
              <a:t>touch-screen</a:t>
            </a:r>
            <a:r>
              <a:rPr lang="en-US" altLang="en-US" sz="1800" b="1" dirty="0">
                <a:solidFill>
                  <a:srgbClr val="3366FF"/>
                </a:solidFill>
              </a:rPr>
              <a:t>,  </a:t>
            </a:r>
            <a:r>
              <a:rPr lang="en-US" altLang="en-US" sz="1800" b="1" dirty="0">
                <a:solidFill>
                  <a:srgbClr val="006699"/>
                </a:solidFill>
              </a:rPr>
              <a:t>Batch</a:t>
            </a:r>
          </a:p>
          <a:p>
            <a:pPr lvl="1">
              <a:spcBef>
                <a:spcPts val="0"/>
              </a:spcBef>
            </a:pPr>
            <a:r>
              <a:rPr lang="en-US" altLang="en-US" sz="1800" b="1" dirty="0">
                <a:solidFill>
                  <a:srgbClr val="FF0000"/>
                </a:solidFill>
                <a:cs typeface="Calibri" panose="020F0502020204030204" pitchFamily="34" charset="0"/>
              </a:rPr>
              <a:t>Program execution manipulation </a:t>
            </a:r>
            <a:r>
              <a:rPr lang="en-US" altLang="en-US" sz="1800" dirty="0">
                <a:cs typeface="Calibri" panose="020F0502020204030204" pitchFamily="34" charset="0"/>
              </a:rPr>
              <a:t>- The system must be able to load a program into memory and to run that program, end execution, either normally or abnormally (indicating error)</a:t>
            </a:r>
          </a:p>
          <a:p>
            <a:pPr lvl="1">
              <a:spcBef>
                <a:spcPts val="0"/>
              </a:spcBef>
            </a:pPr>
            <a:r>
              <a:rPr lang="en-US" altLang="en-US" sz="1800" b="1" dirty="0">
                <a:solidFill>
                  <a:srgbClr val="FF0000"/>
                </a:solidFill>
                <a:cs typeface="Calibri" panose="020F0502020204030204" pitchFamily="34" charset="0"/>
              </a:rPr>
              <a:t>I/O operations </a:t>
            </a:r>
            <a:r>
              <a:rPr lang="en-US" altLang="en-US" sz="1800" dirty="0">
                <a:cs typeface="Calibri" panose="020F0502020204030204" pitchFamily="34" charset="0"/>
              </a:rPr>
              <a:t>-  A running program may require I/O, which may involve a file or an I/O device</a:t>
            </a:r>
          </a:p>
          <a:p>
            <a:pPr lvl="1">
              <a:spcBef>
                <a:spcPts val="0"/>
              </a:spcBef>
            </a:pPr>
            <a:r>
              <a:rPr lang="en-US" altLang="en-US" sz="1800" b="1" dirty="0">
                <a:solidFill>
                  <a:srgbClr val="FF0000"/>
                </a:solidFill>
                <a:cs typeface="Calibri" panose="020F0502020204030204" pitchFamily="34" charset="0"/>
              </a:rPr>
              <a:t>File-system manipulation </a:t>
            </a:r>
            <a:r>
              <a:rPr lang="en-US" altLang="en-US" sz="1800" dirty="0">
                <a:cs typeface="Calibri" panose="020F0502020204030204" pitchFamily="34" charset="0"/>
              </a:rPr>
              <a:t>-  The file system is of particular interest. Programs need to read and write files and directories, create and delete them, search them, list file Information, permission management.</a:t>
            </a:r>
            <a:endParaRPr lang="en-US" altLang="en-US" sz="1800" b="1" dirty="0">
              <a:cs typeface="Calibri" panose="020F0502020204030204" pitchFamily="34" charset="0"/>
            </a:endParaRPr>
          </a:p>
        </p:txBody>
      </p:sp>
      <p:sp>
        <p:nvSpPr>
          <p:cNvPr id="2" name="灯片编号占位符 1">
            <a:extLst>
              <a:ext uri="{FF2B5EF4-FFF2-40B4-BE49-F238E27FC236}">
                <a16:creationId xmlns:a16="http://schemas.microsoft.com/office/drawing/2014/main" id="{1D9950AD-E10D-AE83-BF54-20A03AD179D1}"/>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53D310B-2F05-42DF-BD11-7984E309A7AB}"/>
              </a:ext>
            </a:extLst>
          </p:cNvPr>
          <p:cNvSpPr>
            <a:spLocks noGrp="1" noChangeArrowheads="1"/>
          </p:cNvSpPr>
          <p:nvPr>
            <p:ph type="title"/>
          </p:nvPr>
        </p:nvSpPr>
        <p:spPr>
          <a:xfrm>
            <a:off x="922868" y="165497"/>
            <a:ext cx="6831674" cy="432197"/>
          </a:xfrm>
        </p:spPr>
        <p:txBody>
          <a:bodyPr/>
          <a:lstStyle/>
          <a:p>
            <a:pPr eaLnBrk="1" hangingPunct="1"/>
            <a:r>
              <a:rPr lang="en-US" altLang="en-US" sz="3200" dirty="0"/>
              <a:t>Operating System Services (2)</a:t>
            </a:r>
          </a:p>
        </p:txBody>
      </p:sp>
      <p:sp>
        <p:nvSpPr>
          <p:cNvPr id="13315" name="Rectangle 3">
            <a:extLst>
              <a:ext uri="{FF2B5EF4-FFF2-40B4-BE49-F238E27FC236}">
                <a16:creationId xmlns:a16="http://schemas.microsoft.com/office/drawing/2014/main" id="{E7DE154C-EBA1-44B0-9AA5-AD6DB9C31D20}"/>
              </a:ext>
            </a:extLst>
          </p:cNvPr>
          <p:cNvSpPr>
            <a:spLocks noGrp="1" noChangeArrowheads="1"/>
          </p:cNvSpPr>
          <p:nvPr>
            <p:ph type="body" idx="1"/>
          </p:nvPr>
        </p:nvSpPr>
        <p:spPr>
          <a:xfrm>
            <a:off x="524933" y="810394"/>
            <a:ext cx="8280399" cy="3744673"/>
          </a:xfrm>
          <a:noFill/>
        </p:spPr>
        <p:txBody>
          <a:bodyPr/>
          <a:lstStyle/>
          <a:p>
            <a:r>
              <a:rPr lang="en-US" altLang="en-US" sz="2000" dirty="0">
                <a:cs typeface="Calibri" panose="020F0502020204030204" pitchFamily="34" charset="0"/>
              </a:rPr>
              <a:t>An operating system provides environments and services to programs and users, including (Cont.)</a:t>
            </a:r>
            <a:endParaRPr lang="en-US" altLang="en-US" sz="2000" b="1" dirty="0">
              <a:cs typeface="Calibri" panose="020F0502020204030204" pitchFamily="34" charset="0"/>
            </a:endParaRPr>
          </a:p>
          <a:p>
            <a:pPr lvl="1"/>
            <a:r>
              <a:rPr lang="en-US" altLang="en-US" sz="1800" b="1" dirty="0">
                <a:solidFill>
                  <a:srgbClr val="FF0000"/>
                </a:solidFill>
                <a:cs typeface="Calibri" panose="020F0502020204030204" pitchFamily="34" charset="0"/>
              </a:rPr>
              <a:t>Communications</a:t>
            </a:r>
            <a:r>
              <a:rPr lang="en-US" altLang="en-US" sz="1800" dirty="0">
                <a:cs typeface="Calibri" panose="020F0502020204030204" pitchFamily="34" charset="0"/>
              </a:rPr>
              <a:t> – Processes may exchange information, on the same computer or between computers over a network</a:t>
            </a:r>
          </a:p>
          <a:p>
            <a:pPr lvl="2"/>
            <a:r>
              <a:rPr lang="en-US" altLang="en-US" sz="1800" dirty="0"/>
              <a:t>Communications may be via shared memory or through message passing (packets moved by the OS)</a:t>
            </a:r>
          </a:p>
          <a:p>
            <a:pPr lvl="1"/>
            <a:r>
              <a:rPr lang="en-US" altLang="en-US" sz="1800" b="1" dirty="0">
                <a:solidFill>
                  <a:srgbClr val="FF0000"/>
                </a:solidFill>
                <a:cs typeface="Calibri" panose="020F0502020204030204" pitchFamily="34" charset="0"/>
              </a:rPr>
              <a:t>Error detection </a:t>
            </a:r>
            <a:r>
              <a:rPr lang="en-US" altLang="en-US" sz="1800" dirty="0">
                <a:cs typeface="Calibri" panose="020F0502020204030204" pitchFamily="34" charset="0"/>
              </a:rPr>
              <a:t>– OS needs to be constantly aware of possible errors</a:t>
            </a:r>
          </a:p>
          <a:p>
            <a:pPr lvl="2"/>
            <a:r>
              <a:rPr lang="en-US" altLang="en-US" sz="1800" dirty="0"/>
              <a:t>May occur in the CPU and memory hardware, in I/O devices, in user program</a:t>
            </a:r>
          </a:p>
          <a:p>
            <a:pPr lvl="2"/>
            <a:r>
              <a:rPr lang="en-US" altLang="en-US" sz="1800" dirty="0"/>
              <a:t>For each type of error, OS should take the appropriate action to ensure correct and consistent computing</a:t>
            </a:r>
          </a:p>
          <a:p>
            <a:pPr lvl="2"/>
            <a:r>
              <a:rPr lang="en-US" altLang="en-US" sz="1800" dirty="0"/>
              <a:t>Debugging facilities can greatly enhance the user’</a:t>
            </a:r>
            <a:r>
              <a:rPr lang="en-US" altLang="ja-JP" sz="1800" dirty="0"/>
              <a:t>s and programmer’s abilities to efficiently use the system</a:t>
            </a:r>
            <a:endParaRPr lang="en-US" altLang="en-US" sz="1800" dirty="0"/>
          </a:p>
        </p:txBody>
      </p:sp>
      <p:sp>
        <p:nvSpPr>
          <p:cNvPr id="2" name="灯片编号占位符 1">
            <a:extLst>
              <a:ext uri="{FF2B5EF4-FFF2-40B4-BE49-F238E27FC236}">
                <a16:creationId xmlns:a16="http://schemas.microsoft.com/office/drawing/2014/main" id="{96306068-51D9-C0B5-303F-B2314C4BCC96}"/>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A9EE909-C5A2-41F1-A857-667DFBB541BB}"/>
              </a:ext>
            </a:extLst>
          </p:cNvPr>
          <p:cNvSpPr>
            <a:spLocks noGrp="1" noChangeArrowheads="1"/>
          </p:cNvSpPr>
          <p:nvPr>
            <p:ph type="title"/>
          </p:nvPr>
        </p:nvSpPr>
        <p:spPr>
          <a:xfrm>
            <a:off x="905934" y="165497"/>
            <a:ext cx="6793840" cy="432197"/>
          </a:xfrm>
        </p:spPr>
        <p:txBody>
          <a:bodyPr/>
          <a:lstStyle/>
          <a:p>
            <a:pPr eaLnBrk="1" hangingPunct="1"/>
            <a:r>
              <a:rPr lang="en-US" altLang="en-US" sz="3200" dirty="0"/>
              <a:t>Operating System Services (3)</a:t>
            </a:r>
          </a:p>
        </p:txBody>
      </p:sp>
      <p:sp>
        <p:nvSpPr>
          <p:cNvPr id="15363" name="Rectangle 3">
            <a:extLst>
              <a:ext uri="{FF2B5EF4-FFF2-40B4-BE49-F238E27FC236}">
                <a16:creationId xmlns:a16="http://schemas.microsoft.com/office/drawing/2014/main" id="{13A7443B-7ADA-4411-B376-7A65FA9BD8C7}"/>
              </a:ext>
            </a:extLst>
          </p:cNvPr>
          <p:cNvSpPr>
            <a:spLocks noGrp="1" noChangeArrowheads="1"/>
          </p:cNvSpPr>
          <p:nvPr>
            <p:ph type="body" idx="1"/>
          </p:nvPr>
        </p:nvSpPr>
        <p:spPr>
          <a:xfrm>
            <a:off x="728134" y="813541"/>
            <a:ext cx="7814734" cy="3758458"/>
          </a:xfrm>
        </p:spPr>
        <p:txBody>
          <a:bodyPr/>
          <a:lstStyle/>
          <a:p>
            <a:pPr>
              <a:lnSpc>
                <a:spcPct val="90000"/>
              </a:lnSpc>
            </a:pPr>
            <a:r>
              <a:rPr lang="en-US" altLang="en-US" sz="1800" dirty="0"/>
              <a:t>Another set of OS functions exists for ensuring the efficient operation of the system itself via resource sharing</a:t>
            </a:r>
          </a:p>
          <a:p>
            <a:pPr lvl="1">
              <a:lnSpc>
                <a:spcPct val="90000"/>
              </a:lnSpc>
            </a:pPr>
            <a:r>
              <a:rPr lang="en-US" altLang="en-US" sz="1700" b="1" dirty="0">
                <a:solidFill>
                  <a:srgbClr val="FF0000"/>
                </a:solidFill>
              </a:rPr>
              <a:t>Resource allocation </a:t>
            </a:r>
            <a:r>
              <a:rPr lang="en-US" altLang="en-US" sz="1700" b="1" dirty="0"/>
              <a:t>- </a:t>
            </a:r>
            <a:r>
              <a:rPr lang="en-US" altLang="en-US" sz="1700" dirty="0"/>
              <a:t>When  multiple users or multiple jobs running concurrently, resources must be allocated to each of them</a:t>
            </a:r>
          </a:p>
          <a:p>
            <a:pPr lvl="2">
              <a:lnSpc>
                <a:spcPct val="90000"/>
              </a:lnSpc>
            </a:pPr>
            <a:r>
              <a:rPr lang="en-US" altLang="en-US" sz="1700" dirty="0"/>
              <a:t>Many types of resources - CPU cycles, main memory, file storage, I/O devices.</a:t>
            </a:r>
          </a:p>
          <a:p>
            <a:pPr lvl="1">
              <a:lnSpc>
                <a:spcPct val="90000"/>
              </a:lnSpc>
            </a:pPr>
            <a:r>
              <a:rPr lang="en-US" altLang="en-US" sz="1700" b="1" dirty="0">
                <a:solidFill>
                  <a:srgbClr val="FF0000"/>
                </a:solidFill>
              </a:rPr>
              <a:t>Logging</a:t>
            </a:r>
            <a:r>
              <a:rPr lang="en-US" altLang="en-US" sz="1700" b="1" dirty="0"/>
              <a:t> -</a:t>
            </a:r>
            <a:r>
              <a:rPr lang="en-US" altLang="en-US" sz="1700" dirty="0"/>
              <a:t> To keep track of which users use how much and what kinds of computer resources</a:t>
            </a:r>
          </a:p>
          <a:p>
            <a:pPr lvl="1">
              <a:lnSpc>
                <a:spcPct val="90000"/>
              </a:lnSpc>
            </a:pPr>
            <a:r>
              <a:rPr lang="en-US" altLang="en-US" sz="1700" b="1" dirty="0">
                <a:solidFill>
                  <a:srgbClr val="FF0000"/>
                </a:solidFill>
              </a:rPr>
              <a:t>Protection and security </a:t>
            </a:r>
            <a:r>
              <a:rPr lang="en-US" altLang="en-US" sz="1700" b="1" dirty="0"/>
              <a:t>- </a:t>
            </a:r>
            <a:r>
              <a:rPr lang="en-US" altLang="en-US" sz="1700" dirty="0"/>
              <a:t>The owners of information stored in a multiuser or networked computer system may want to control use of that information, concurrent processes should not interfere with each other</a:t>
            </a:r>
          </a:p>
          <a:p>
            <a:pPr lvl="2">
              <a:lnSpc>
                <a:spcPct val="90000"/>
              </a:lnSpc>
            </a:pPr>
            <a:r>
              <a:rPr lang="en-US" altLang="en-US" sz="1700" dirty="0"/>
              <a:t>Protection involves ensuring that all access to system resources is controlled</a:t>
            </a:r>
          </a:p>
          <a:p>
            <a:pPr lvl="2">
              <a:lnSpc>
                <a:spcPct val="90000"/>
              </a:lnSpc>
            </a:pPr>
            <a:r>
              <a:rPr lang="en-US" altLang="en-US" sz="1700" dirty="0"/>
              <a:t>Security of the system from outsiders requires user authentication, extends to defending external I/O devices from invalid access attempts</a:t>
            </a:r>
          </a:p>
        </p:txBody>
      </p:sp>
      <p:sp>
        <p:nvSpPr>
          <p:cNvPr id="2" name="灯片编号占位符 1">
            <a:extLst>
              <a:ext uri="{FF2B5EF4-FFF2-40B4-BE49-F238E27FC236}">
                <a16:creationId xmlns:a16="http://schemas.microsoft.com/office/drawing/2014/main" id="{DD45E052-D6C4-B79E-9174-B915F7A6ED1F}"/>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84A6F67-063F-4959-9060-0C6E5AFA8749}"/>
              </a:ext>
            </a:extLst>
          </p:cNvPr>
          <p:cNvSpPr>
            <a:spLocks noGrp="1" noChangeArrowheads="1"/>
          </p:cNvSpPr>
          <p:nvPr>
            <p:ph type="title"/>
          </p:nvPr>
        </p:nvSpPr>
        <p:spPr>
          <a:xfrm>
            <a:off x="863600" y="154782"/>
            <a:ext cx="7933268" cy="432197"/>
          </a:xfrm>
        </p:spPr>
        <p:txBody>
          <a:bodyPr/>
          <a:lstStyle/>
          <a:p>
            <a:pPr eaLnBrk="1" hangingPunct="1"/>
            <a:r>
              <a:rPr lang="en-US" altLang="en-US" sz="3200" dirty="0"/>
              <a:t>A Functionality View of OS Services</a:t>
            </a:r>
          </a:p>
        </p:txBody>
      </p:sp>
      <p:pic>
        <p:nvPicPr>
          <p:cNvPr id="17411" name="Picture 2">
            <a:extLst>
              <a:ext uri="{FF2B5EF4-FFF2-40B4-BE49-F238E27FC236}">
                <a16:creationId xmlns:a16="http://schemas.microsoft.com/office/drawing/2014/main" id="{881CA9B9-B059-4545-AFC1-C781346678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93713" y="991984"/>
            <a:ext cx="6764954" cy="3368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1D54F31C-F978-1C56-BA7C-EBB25D02B620}"/>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48B5D98-8B47-4D7E-ACEF-BDB67E3340E0}"/>
              </a:ext>
            </a:extLst>
          </p:cNvPr>
          <p:cNvSpPr>
            <a:spLocks noGrp="1" noChangeArrowheads="1"/>
          </p:cNvSpPr>
          <p:nvPr>
            <p:ph type="title"/>
          </p:nvPr>
        </p:nvSpPr>
        <p:spPr>
          <a:xfrm>
            <a:off x="872068" y="165497"/>
            <a:ext cx="7038446" cy="432197"/>
          </a:xfrm>
        </p:spPr>
        <p:txBody>
          <a:bodyPr/>
          <a:lstStyle/>
          <a:p>
            <a:pPr eaLnBrk="1" hangingPunct="1"/>
            <a:r>
              <a:rPr lang="en-US" altLang="en-US" sz="3200" dirty="0"/>
              <a:t>Command Line interpreter </a:t>
            </a:r>
          </a:p>
        </p:txBody>
      </p:sp>
      <p:sp>
        <p:nvSpPr>
          <p:cNvPr id="19459" name="Rectangle 3">
            <a:extLst>
              <a:ext uri="{FF2B5EF4-FFF2-40B4-BE49-F238E27FC236}">
                <a16:creationId xmlns:a16="http://schemas.microsoft.com/office/drawing/2014/main" id="{1E634D89-B552-404F-9BDB-6AB7E838A414}"/>
              </a:ext>
            </a:extLst>
          </p:cNvPr>
          <p:cNvSpPr>
            <a:spLocks noGrp="1" noChangeArrowheads="1"/>
          </p:cNvSpPr>
          <p:nvPr>
            <p:ph type="body" idx="1"/>
          </p:nvPr>
        </p:nvSpPr>
        <p:spPr>
          <a:xfrm>
            <a:off x="872068" y="858706"/>
            <a:ext cx="7738533" cy="2493883"/>
          </a:xfrm>
        </p:spPr>
        <p:txBody>
          <a:bodyPr/>
          <a:lstStyle/>
          <a:p>
            <a:r>
              <a:rPr lang="en-US" altLang="en-US" sz="2000" dirty="0">
                <a:ea typeface="+mn-ea"/>
                <a:cs typeface="Calibri" panose="020F0502020204030204" pitchFamily="34" charset="0"/>
              </a:rPr>
              <a:t>CLI allows direct command entry</a:t>
            </a:r>
          </a:p>
          <a:p>
            <a:r>
              <a:rPr lang="en-US" altLang="en-US" sz="2000" dirty="0">
                <a:ea typeface="+mn-ea"/>
                <a:cs typeface="Calibri" panose="020F0502020204030204" pitchFamily="34" charset="0"/>
              </a:rPr>
              <a:t>Sometimes implemented in kernel, sometimes by systems program</a:t>
            </a:r>
          </a:p>
          <a:p>
            <a:r>
              <a:rPr lang="en-US" altLang="en-US" sz="2000" dirty="0">
                <a:ea typeface="+mn-ea"/>
                <a:cs typeface="Calibri" panose="020F0502020204030204" pitchFamily="34" charset="0"/>
              </a:rPr>
              <a:t>Sometimes multiple flavors implemented – </a:t>
            </a:r>
            <a:r>
              <a:rPr lang="en-US" altLang="en-US" sz="2000" b="1" dirty="0">
                <a:solidFill>
                  <a:srgbClr val="006699"/>
                </a:solidFill>
                <a:ea typeface="+mn-ea"/>
                <a:cs typeface="Calibri" panose="020F0502020204030204" pitchFamily="34" charset="0"/>
              </a:rPr>
              <a:t>shells</a:t>
            </a:r>
          </a:p>
          <a:p>
            <a:r>
              <a:rPr lang="en-US" altLang="en-US" sz="2000" dirty="0">
                <a:ea typeface="+mn-ea"/>
                <a:cs typeface="Calibri" panose="020F0502020204030204" pitchFamily="34" charset="0"/>
              </a:rPr>
              <a:t>Primarily fetches a command from user and executes it</a:t>
            </a:r>
          </a:p>
          <a:p>
            <a:r>
              <a:rPr lang="en-US" altLang="en-US" sz="2000" dirty="0">
                <a:ea typeface="+mn-ea"/>
                <a:cs typeface="Calibri" panose="020F0502020204030204" pitchFamily="34" charset="0"/>
              </a:rPr>
              <a:t>Sometimes commands built-in, sometimes just names of programs</a:t>
            </a:r>
          </a:p>
          <a:p>
            <a:pPr lvl="1"/>
            <a:r>
              <a:rPr lang="en-US" altLang="en-US" sz="2000" dirty="0">
                <a:ea typeface="+mn-ea"/>
                <a:cs typeface="Calibri" panose="020F0502020204030204" pitchFamily="34" charset="0"/>
              </a:rPr>
              <a:t>If the latter, adding new features doesn’</a:t>
            </a:r>
            <a:r>
              <a:rPr lang="en-US" altLang="ja-JP" sz="2000" dirty="0">
                <a:ea typeface="+mn-ea"/>
                <a:cs typeface="Calibri" panose="020F0502020204030204" pitchFamily="34" charset="0"/>
              </a:rPr>
              <a:t>t require shell modification</a:t>
            </a:r>
            <a:endParaRPr lang="en-US" altLang="en-US" sz="2000" dirty="0">
              <a:ea typeface="+mn-ea"/>
              <a:cs typeface="Calibri" panose="020F0502020204030204" pitchFamily="34" charset="0"/>
            </a:endParaRPr>
          </a:p>
        </p:txBody>
      </p:sp>
      <p:sp>
        <p:nvSpPr>
          <p:cNvPr id="2" name="灯片编号占位符 1">
            <a:extLst>
              <a:ext uri="{FF2B5EF4-FFF2-40B4-BE49-F238E27FC236}">
                <a16:creationId xmlns:a16="http://schemas.microsoft.com/office/drawing/2014/main" id="{91B78E42-AC5C-7590-EEDB-899767002ED0}"/>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E6DF5F8A-F2E3-4D74-9C52-A032EB05315E}"/>
              </a:ext>
            </a:extLst>
          </p:cNvPr>
          <p:cNvSpPr>
            <a:spLocks noGrp="1" noChangeArrowheads="1"/>
          </p:cNvSpPr>
          <p:nvPr>
            <p:ph type="title"/>
          </p:nvPr>
        </p:nvSpPr>
        <p:spPr>
          <a:xfrm>
            <a:off x="897467" y="165497"/>
            <a:ext cx="7814733" cy="432197"/>
          </a:xfrm>
        </p:spPr>
        <p:txBody>
          <a:bodyPr/>
          <a:lstStyle/>
          <a:p>
            <a:pPr eaLnBrk="1" hangingPunct="1"/>
            <a:r>
              <a:rPr lang="en-US" altLang="en-US" sz="3200" dirty="0" err="1"/>
              <a:t>Bourne</a:t>
            </a:r>
            <a:r>
              <a:rPr lang="en-US" altLang="en-US" sz="3200" dirty="0"/>
              <a:t> Shell Command Interpreter</a:t>
            </a:r>
          </a:p>
        </p:txBody>
      </p:sp>
      <p:pic>
        <p:nvPicPr>
          <p:cNvPr id="21507" name="Picture 2">
            <a:extLst>
              <a:ext uri="{FF2B5EF4-FFF2-40B4-BE49-F238E27FC236}">
                <a16:creationId xmlns:a16="http://schemas.microsoft.com/office/drawing/2014/main" id="{1A3B6206-A655-48E2-8075-716970A250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520" y="852817"/>
            <a:ext cx="5373945" cy="372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F8D4251-791E-E21D-013D-DE71B2D8AF3F}"/>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02E63FB-6DD1-46DC-8471-F576D57E791A}"/>
              </a:ext>
            </a:extLst>
          </p:cNvPr>
          <p:cNvSpPr>
            <a:spLocks noGrp="1" noChangeArrowheads="1"/>
          </p:cNvSpPr>
          <p:nvPr>
            <p:ph type="title"/>
          </p:nvPr>
        </p:nvSpPr>
        <p:spPr>
          <a:xfrm>
            <a:off x="889001" y="160735"/>
            <a:ext cx="6657182" cy="432197"/>
          </a:xfrm>
        </p:spPr>
        <p:txBody>
          <a:bodyPr/>
          <a:lstStyle/>
          <a:p>
            <a:pPr eaLnBrk="1" hangingPunct="1"/>
            <a:r>
              <a:rPr lang="en-US" altLang="en-US" sz="3200" dirty="0"/>
              <a:t>User Operating System Interface - GUI</a:t>
            </a:r>
          </a:p>
        </p:txBody>
      </p:sp>
      <p:sp>
        <p:nvSpPr>
          <p:cNvPr id="23555" name="Rectangle 3">
            <a:extLst>
              <a:ext uri="{FF2B5EF4-FFF2-40B4-BE49-F238E27FC236}">
                <a16:creationId xmlns:a16="http://schemas.microsoft.com/office/drawing/2014/main" id="{ED7BD939-320C-4E60-8319-6ADBC111D8E4}"/>
              </a:ext>
            </a:extLst>
          </p:cNvPr>
          <p:cNvSpPr>
            <a:spLocks noGrp="1" noChangeArrowheads="1"/>
          </p:cNvSpPr>
          <p:nvPr>
            <p:ph type="body" idx="1"/>
          </p:nvPr>
        </p:nvSpPr>
        <p:spPr>
          <a:xfrm>
            <a:off x="990601" y="872728"/>
            <a:ext cx="7577666" cy="3398044"/>
          </a:xfrm>
        </p:spPr>
        <p:txBody>
          <a:bodyPr/>
          <a:lstStyle/>
          <a:p>
            <a:pPr>
              <a:spcBef>
                <a:spcPts val="0"/>
              </a:spcBef>
            </a:pPr>
            <a:r>
              <a:rPr lang="en-US" altLang="en-US" sz="2000" dirty="0">
                <a:ea typeface="+mn-ea"/>
                <a:cs typeface="Calibri" panose="020F0502020204030204" pitchFamily="34" charset="0"/>
              </a:rPr>
              <a:t>User-friendly </a:t>
            </a:r>
            <a:r>
              <a:rPr lang="en-US" altLang="en-US" sz="2000" b="1" dirty="0">
                <a:solidFill>
                  <a:srgbClr val="006699"/>
                </a:solidFill>
                <a:ea typeface="+mn-ea"/>
                <a:cs typeface="Calibri" panose="020F0502020204030204" pitchFamily="34" charset="0"/>
              </a:rPr>
              <a:t>desktop</a:t>
            </a:r>
            <a:r>
              <a:rPr lang="en-US" altLang="en-US" sz="2000" dirty="0">
                <a:ea typeface="+mn-ea"/>
                <a:cs typeface="Calibri" panose="020F0502020204030204" pitchFamily="34" charset="0"/>
              </a:rPr>
              <a:t> metaphor interface</a:t>
            </a:r>
          </a:p>
          <a:p>
            <a:pPr lvl="1">
              <a:spcBef>
                <a:spcPts val="0"/>
              </a:spcBef>
            </a:pPr>
            <a:r>
              <a:rPr lang="en-US" altLang="en-US" sz="1800" dirty="0">
                <a:ea typeface="+mn-ea"/>
                <a:cs typeface="Calibri" panose="020F0502020204030204" pitchFamily="34" charset="0"/>
              </a:rPr>
              <a:t>Usually mouse, keyboard, and monitor</a:t>
            </a:r>
          </a:p>
          <a:p>
            <a:pPr lvl="1">
              <a:spcBef>
                <a:spcPts val="0"/>
              </a:spcBef>
            </a:pPr>
            <a:r>
              <a:rPr lang="en-US" altLang="en-US" sz="1800" b="1" dirty="0">
                <a:solidFill>
                  <a:srgbClr val="006699"/>
                </a:solidFill>
                <a:ea typeface="+mn-ea"/>
                <a:cs typeface="Calibri" panose="020F0502020204030204" pitchFamily="34" charset="0"/>
              </a:rPr>
              <a:t>Icons</a:t>
            </a:r>
            <a:r>
              <a:rPr lang="en-US" altLang="en-US" sz="1800" dirty="0">
                <a:ea typeface="+mn-ea"/>
                <a:cs typeface="Calibri" panose="020F0502020204030204" pitchFamily="34" charset="0"/>
              </a:rPr>
              <a:t> represent files, programs, actions, </a:t>
            </a:r>
            <a:r>
              <a:rPr lang="en-US" altLang="en-US" sz="1800" dirty="0" err="1">
                <a:ea typeface="+mn-ea"/>
                <a:cs typeface="Calibri" panose="020F0502020204030204" pitchFamily="34" charset="0"/>
              </a:rPr>
              <a:t>etc</a:t>
            </a:r>
            <a:endParaRPr lang="en-US" altLang="en-US" sz="1800" dirty="0">
              <a:ea typeface="+mn-ea"/>
              <a:cs typeface="Calibri" panose="020F0502020204030204" pitchFamily="34" charset="0"/>
            </a:endParaRPr>
          </a:p>
          <a:p>
            <a:pPr lvl="1">
              <a:spcBef>
                <a:spcPts val="0"/>
              </a:spcBef>
            </a:pPr>
            <a:r>
              <a:rPr lang="en-US" altLang="en-US" sz="1800" dirty="0">
                <a:ea typeface="+mn-ea"/>
                <a:cs typeface="Calibri" panose="020F0502020204030204" pitchFamily="34" charset="0"/>
              </a:rPr>
              <a:t>Various mouse buttons over objects in the interface cause various actions (provide information, options, execute function, open directory (known as a </a:t>
            </a:r>
            <a:r>
              <a:rPr lang="en-US" altLang="en-US" sz="1800" b="1" dirty="0">
                <a:solidFill>
                  <a:srgbClr val="006699"/>
                </a:solidFill>
                <a:ea typeface="+mn-ea"/>
                <a:cs typeface="Calibri" panose="020F0502020204030204" pitchFamily="34" charset="0"/>
              </a:rPr>
              <a:t>folder</a:t>
            </a:r>
            <a:r>
              <a:rPr lang="en-US" altLang="en-US" sz="1800" dirty="0">
                <a:ea typeface="+mn-ea"/>
                <a:cs typeface="Calibri" panose="020F0502020204030204" pitchFamily="34" charset="0"/>
              </a:rPr>
              <a:t>)</a:t>
            </a:r>
          </a:p>
          <a:p>
            <a:pPr lvl="1">
              <a:spcBef>
                <a:spcPts val="0"/>
              </a:spcBef>
            </a:pPr>
            <a:r>
              <a:rPr lang="en-US" altLang="en-US" sz="1800" dirty="0">
                <a:ea typeface="+mn-ea"/>
                <a:cs typeface="Calibri" panose="020F0502020204030204" pitchFamily="34" charset="0"/>
              </a:rPr>
              <a:t>Invented at Xerox PARC</a:t>
            </a:r>
          </a:p>
          <a:p>
            <a:pPr>
              <a:spcBef>
                <a:spcPts val="0"/>
              </a:spcBef>
            </a:pPr>
            <a:r>
              <a:rPr lang="en-US" altLang="en-US" sz="1800" dirty="0">
                <a:ea typeface="+mn-ea"/>
                <a:cs typeface="Calibri" panose="020F0502020204030204" pitchFamily="34" charset="0"/>
              </a:rPr>
              <a:t>Many systems now include both CLI and GUI interfaces</a:t>
            </a:r>
          </a:p>
          <a:p>
            <a:pPr lvl="1">
              <a:spcBef>
                <a:spcPts val="0"/>
              </a:spcBef>
            </a:pPr>
            <a:r>
              <a:rPr lang="en-US" altLang="en-US" sz="1800" dirty="0">
                <a:ea typeface="+mn-ea"/>
                <a:cs typeface="Calibri" panose="020F0502020204030204" pitchFamily="34" charset="0"/>
              </a:rPr>
              <a:t>Microsoft Windows is GUI with CLI </a:t>
            </a:r>
            <a:r>
              <a:rPr lang="ja-JP" altLang="en-US" sz="1800" dirty="0">
                <a:ea typeface="+mn-ea"/>
                <a:cs typeface="Calibri" panose="020F0502020204030204" pitchFamily="34" charset="0"/>
              </a:rPr>
              <a:t>“</a:t>
            </a:r>
            <a:r>
              <a:rPr lang="en-US" altLang="ja-JP" sz="1800" dirty="0">
                <a:ea typeface="+mn-ea"/>
                <a:cs typeface="Calibri" panose="020F0502020204030204" pitchFamily="34" charset="0"/>
              </a:rPr>
              <a:t>command</a:t>
            </a:r>
            <a:r>
              <a:rPr lang="ja-JP" altLang="en-US" sz="1800" dirty="0">
                <a:ea typeface="+mn-ea"/>
                <a:cs typeface="Calibri" panose="020F0502020204030204" pitchFamily="34" charset="0"/>
              </a:rPr>
              <a:t>”</a:t>
            </a:r>
            <a:r>
              <a:rPr lang="en-US" altLang="ja-JP" sz="1800" dirty="0">
                <a:ea typeface="+mn-ea"/>
                <a:cs typeface="Calibri" panose="020F0502020204030204" pitchFamily="34" charset="0"/>
              </a:rPr>
              <a:t> shell</a:t>
            </a:r>
          </a:p>
          <a:p>
            <a:pPr lvl="1">
              <a:spcBef>
                <a:spcPts val="0"/>
              </a:spcBef>
            </a:pPr>
            <a:r>
              <a:rPr lang="en-US" altLang="en-US" sz="1800" dirty="0">
                <a:ea typeface="+mn-ea"/>
                <a:cs typeface="Calibri" panose="020F0502020204030204" pitchFamily="34" charset="0"/>
              </a:rPr>
              <a:t>Apple Mac OS X is </a:t>
            </a:r>
            <a:r>
              <a:rPr lang="ja-JP" altLang="en-US" sz="1800" dirty="0">
                <a:ea typeface="+mn-ea"/>
                <a:cs typeface="Calibri" panose="020F0502020204030204" pitchFamily="34" charset="0"/>
              </a:rPr>
              <a:t>“</a:t>
            </a:r>
            <a:r>
              <a:rPr lang="en-US" altLang="ja-JP" sz="1800" dirty="0">
                <a:ea typeface="+mn-ea"/>
                <a:cs typeface="Calibri" panose="020F0502020204030204" pitchFamily="34" charset="0"/>
              </a:rPr>
              <a:t>Aqua</a:t>
            </a:r>
            <a:r>
              <a:rPr lang="ja-JP" altLang="en-US" sz="1800" dirty="0">
                <a:ea typeface="+mn-ea"/>
                <a:cs typeface="Calibri" panose="020F0502020204030204" pitchFamily="34" charset="0"/>
              </a:rPr>
              <a:t>”</a:t>
            </a:r>
            <a:r>
              <a:rPr lang="en-US" altLang="ja-JP" sz="1800" dirty="0">
                <a:ea typeface="+mn-ea"/>
                <a:cs typeface="Calibri" panose="020F0502020204030204" pitchFamily="34" charset="0"/>
              </a:rPr>
              <a:t> GUI interface with UNIX kernel underneath and shells available</a:t>
            </a:r>
          </a:p>
          <a:p>
            <a:pPr lvl="1">
              <a:spcBef>
                <a:spcPts val="0"/>
              </a:spcBef>
            </a:pPr>
            <a:r>
              <a:rPr lang="en-US" altLang="en-US" sz="1800" dirty="0">
                <a:ea typeface="+mn-ea"/>
                <a:cs typeface="Calibri" panose="020F0502020204030204" pitchFamily="34" charset="0"/>
              </a:rPr>
              <a:t>Unix and Linux have CLI with optional GUI interfaces (CDE, KDE, GNOME)</a:t>
            </a:r>
          </a:p>
        </p:txBody>
      </p:sp>
      <p:sp>
        <p:nvSpPr>
          <p:cNvPr id="2" name="灯片编号占位符 1">
            <a:extLst>
              <a:ext uri="{FF2B5EF4-FFF2-40B4-BE49-F238E27FC236}">
                <a16:creationId xmlns:a16="http://schemas.microsoft.com/office/drawing/2014/main" id="{A69466AC-45E1-C39D-84D6-B86457C59D3A}"/>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E085D8E-E398-4442-A204-AD137376EA7E}"/>
              </a:ext>
            </a:extLst>
          </p:cNvPr>
          <p:cNvSpPr>
            <a:spLocks noGrp="1" noChangeArrowheads="1"/>
          </p:cNvSpPr>
          <p:nvPr>
            <p:ph type="title"/>
          </p:nvPr>
        </p:nvSpPr>
        <p:spPr>
          <a:xfrm>
            <a:off x="872067" y="171451"/>
            <a:ext cx="6674115" cy="432197"/>
          </a:xfrm>
        </p:spPr>
        <p:txBody>
          <a:bodyPr/>
          <a:lstStyle/>
          <a:p>
            <a:pPr eaLnBrk="1" hangingPunct="1"/>
            <a:r>
              <a:rPr lang="en-US" altLang="en-US" sz="3200" dirty="0"/>
              <a:t>Touchscreen Interfaces</a:t>
            </a:r>
          </a:p>
        </p:txBody>
      </p:sp>
      <p:sp>
        <p:nvSpPr>
          <p:cNvPr id="11267" name="Rectangle 3">
            <a:extLst>
              <a:ext uri="{FF2B5EF4-FFF2-40B4-BE49-F238E27FC236}">
                <a16:creationId xmlns:a16="http://schemas.microsoft.com/office/drawing/2014/main" id="{2E55E5F6-E4A2-477B-85A4-04481952138B}"/>
              </a:ext>
            </a:extLst>
          </p:cNvPr>
          <p:cNvSpPr>
            <a:spLocks noGrp="1" noChangeArrowheads="1"/>
          </p:cNvSpPr>
          <p:nvPr>
            <p:ph type="body" idx="1"/>
          </p:nvPr>
        </p:nvSpPr>
        <p:spPr>
          <a:xfrm>
            <a:off x="1016000" y="877738"/>
            <a:ext cx="5155301" cy="1780795"/>
          </a:xfrm>
        </p:spPr>
        <p:txBody>
          <a:bodyPr/>
          <a:lstStyle/>
          <a:p>
            <a:pPr>
              <a:defRPr/>
            </a:pPr>
            <a:r>
              <a:rPr lang="en-US" sz="2000" dirty="0">
                <a:ea typeface="ＭＳ Ｐゴシック" charset="-128"/>
              </a:rPr>
              <a:t>Touchscreen devices require new interfaces</a:t>
            </a:r>
          </a:p>
          <a:p>
            <a:pPr lvl="1">
              <a:defRPr/>
            </a:pPr>
            <a:r>
              <a:rPr lang="en-US" sz="1800" dirty="0">
                <a:ea typeface="ＭＳ Ｐゴシック" charset="-128"/>
              </a:rPr>
              <a:t>Mouse not possible or not desired</a:t>
            </a:r>
          </a:p>
          <a:p>
            <a:pPr lvl="1">
              <a:defRPr/>
            </a:pPr>
            <a:r>
              <a:rPr lang="en-US" sz="1800" dirty="0">
                <a:ea typeface="ＭＳ Ｐゴシック" charset="-128"/>
              </a:rPr>
              <a:t>Actions and selection based on gestures</a:t>
            </a:r>
          </a:p>
          <a:p>
            <a:pPr lvl="1">
              <a:defRPr/>
            </a:pPr>
            <a:r>
              <a:rPr lang="en-US" sz="1800" dirty="0">
                <a:ea typeface="ＭＳ Ｐゴシック" charset="-128"/>
              </a:rPr>
              <a:t>Virtual keyboard for text entry</a:t>
            </a:r>
          </a:p>
          <a:p>
            <a:pPr>
              <a:defRPr/>
            </a:pPr>
            <a:r>
              <a:rPr lang="en-US" sz="2000" dirty="0">
                <a:ea typeface="ＭＳ Ｐゴシック" charset="-128"/>
              </a:rPr>
              <a:t>Voice commands</a:t>
            </a:r>
          </a:p>
        </p:txBody>
      </p:sp>
      <p:pic>
        <p:nvPicPr>
          <p:cNvPr id="25604" name="Picture 2">
            <a:extLst>
              <a:ext uri="{FF2B5EF4-FFF2-40B4-BE49-F238E27FC236}">
                <a16:creationId xmlns:a16="http://schemas.microsoft.com/office/drawing/2014/main" id="{CCAA7F76-25AE-454A-9EE9-98408A6110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66768" y="877738"/>
            <a:ext cx="2040632" cy="3628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346815A-B45D-8777-2F30-2F21BC5E8312}"/>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extLst>
      <p:ext uri="{BB962C8B-B14F-4D97-AF65-F5344CB8AC3E}">
        <p14:creationId xmlns:p14="http://schemas.microsoft.com/office/powerpoint/2010/main" val="2103933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551A60BE-6FD2-4F4A-A1E6-2481BBFE0FAD}"/>
              </a:ext>
            </a:extLst>
          </p:cNvPr>
          <p:cNvSpPr>
            <a:spLocks noGrp="1" noChangeArrowheads="1"/>
          </p:cNvSpPr>
          <p:nvPr>
            <p:ph type="title"/>
          </p:nvPr>
        </p:nvSpPr>
        <p:spPr>
          <a:xfrm>
            <a:off x="889000" y="170260"/>
            <a:ext cx="6682185" cy="432197"/>
          </a:xfrm>
        </p:spPr>
        <p:txBody>
          <a:bodyPr/>
          <a:lstStyle/>
          <a:p>
            <a:pPr eaLnBrk="1" hangingPunct="1"/>
            <a:r>
              <a:rPr lang="en-US" altLang="en-US" sz="3200" dirty="0"/>
              <a:t>The Mac OS X GUI</a:t>
            </a:r>
          </a:p>
        </p:txBody>
      </p:sp>
      <p:pic>
        <p:nvPicPr>
          <p:cNvPr id="27651" name="Picture 2">
            <a:extLst>
              <a:ext uri="{FF2B5EF4-FFF2-40B4-BE49-F238E27FC236}">
                <a16:creationId xmlns:a16="http://schemas.microsoft.com/office/drawing/2014/main" id="{B0B2C641-FBF3-4549-BC82-4C37E0EC98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2816" y="959644"/>
            <a:ext cx="6085284" cy="3423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D32DE17-7AA1-DBC1-1B4A-9B7B3EBD37A0}"/>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B842699-2411-46DA-9E86-71B3FFE9F00D}"/>
              </a:ext>
            </a:extLst>
          </p:cNvPr>
          <p:cNvSpPr>
            <a:spLocks noGrp="1" noChangeArrowheads="1"/>
          </p:cNvSpPr>
          <p:nvPr>
            <p:ph type="title"/>
          </p:nvPr>
        </p:nvSpPr>
        <p:spPr>
          <a:xfrm>
            <a:off x="880533" y="165497"/>
            <a:ext cx="6651361" cy="432197"/>
          </a:xfrm>
        </p:spPr>
        <p:txBody>
          <a:bodyPr/>
          <a:lstStyle/>
          <a:p>
            <a:pPr eaLnBrk="1" hangingPunct="1"/>
            <a:r>
              <a:rPr lang="en-US" altLang="en-US" sz="3200" dirty="0"/>
              <a:t>System Calls</a:t>
            </a:r>
          </a:p>
        </p:txBody>
      </p:sp>
      <p:sp>
        <p:nvSpPr>
          <p:cNvPr id="29699" name="Rectangle 3">
            <a:extLst>
              <a:ext uri="{FF2B5EF4-FFF2-40B4-BE49-F238E27FC236}">
                <a16:creationId xmlns:a16="http://schemas.microsoft.com/office/drawing/2014/main" id="{A2749591-DE3A-4DDD-A1C5-F25581574507}"/>
              </a:ext>
            </a:extLst>
          </p:cNvPr>
          <p:cNvSpPr>
            <a:spLocks noGrp="1" noChangeArrowheads="1"/>
          </p:cNvSpPr>
          <p:nvPr>
            <p:ph type="body" idx="1"/>
          </p:nvPr>
        </p:nvSpPr>
        <p:spPr>
          <a:xfrm>
            <a:off x="880532" y="882966"/>
            <a:ext cx="7560735" cy="2342833"/>
          </a:xfrm>
        </p:spPr>
        <p:txBody>
          <a:bodyPr/>
          <a:lstStyle/>
          <a:p>
            <a:pPr>
              <a:lnSpc>
                <a:spcPct val="90000"/>
              </a:lnSpc>
            </a:pPr>
            <a:r>
              <a:rPr lang="en-US" altLang="en-US" sz="2000" dirty="0">
                <a:cs typeface="Calibri" panose="020F0502020204030204" pitchFamily="34" charset="0"/>
              </a:rPr>
              <a:t>Programming interface to the services provided by the OS</a:t>
            </a:r>
          </a:p>
          <a:p>
            <a:pPr>
              <a:lnSpc>
                <a:spcPct val="90000"/>
              </a:lnSpc>
            </a:pPr>
            <a:r>
              <a:rPr lang="en-US" altLang="en-US" sz="2000" dirty="0">
                <a:cs typeface="Calibri" panose="020F0502020204030204" pitchFamily="34" charset="0"/>
              </a:rPr>
              <a:t>Typically written in a high-level language (C or C++)</a:t>
            </a:r>
          </a:p>
          <a:p>
            <a:pPr>
              <a:lnSpc>
                <a:spcPct val="90000"/>
              </a:lnSpc>
            </a:pPr>
            <a:r>
              <a:rPr lang="en-US" altLang="en-US" sz="2000" dirty="0">
                <a:cs typeface="Calibri" panose="020F0502020204030204" pitchFamily="34" charset="0"/>
              </a:rPr>
              <a:t>Mostly accessed by programs via a high-level </a:t>
            </a:r>
            <a:r>
              <a:rPr lang="en-US" altLang="en-US" sz="2000" b="1" dirty="0">
                <a:solidFill>
                  <a:srgbClr val="006699"/>
                </a:solidFill>
                <a:cs typeface="Calibri" panose="020F0502020204030204" pitchFamily="34" charset="0"/>
              </a:rPr>
              <a:t>Application</a:t>
            </a:r>
            <a:r>
              <a:rPr lang="en-US" altLang="en-US" sz="2000" b="1" dirty="0">
                <a:solidFill>
                  <a:srgbClr val="3366FF"/>
                </a:solidFill>
                <a:cs typeface="Calibri" panose="020F0502020204030204" pitchFamily="34" charset="0"/>
              </a:rPr>
              <a:t> </a:t>
            </a:r>
            <a:r>
              <a:rPr lang="en-US" altLang="en-US" sz="2000" b="1" dirty="0">
                <a:solidFill>
                  <a:srgbClr val="006699"/>
                </a:solidFill>
                <a:cs typeface="Calibri" panose="020F0502020204030204" pitchFamily="34" charset="0"/>
              </a:rPr>
              <a:t>Programming</a:t>
            </a:r>
            <a:r>
              <a:rPr lang="en-US" altLang="en-US" sz="2000" b="1" dirty="0">
                <a:solidFill>
                  <a:srgbClr val="3366FF"/>
                </a:solidFill>
                <a:cs typeface="Calibri" panose="020F0502020204030204" pitchFamily="34" charset="0"/>
              </a:rPr>
              <a:t> </a:t>
            </a:r>
            <a:r>
              <a:rPr lang="en-US" altLang="en-US" sz="2000" b="1" dirty="0">
                <a:solidFill>
                  <a:srgbClr val="006699"/>
                </a:solidFill>
                <a:cs typeface="Calibri" panose="020F0502020204030204" pitchFamily="34" charset="0"/>
              </a:rPr>
              <a:t>Interface</a:t>
            </a:r>
            <a:r>
              <a:rPr lang="en-US" altLang="en-US" sz="2000" b="1" dirty="0">
                <a:solidFill>
                  <a:srgbClr val="3366FF"/>
                </a:solidFill>
                <a:cs typeface="Calibri" panose="020F0502020204030204" pitchFamily="34" charset="0"/>
              </a:rPr>
              <a:t> </a:t>
            </a:r>
            <a:r>
              <a:rPr lang="en-US" altLang="en-US" sz="2000" dirty="0">
                <a:solidFill>
                  <a:srgbClr val="000000"/>
                </a:solidFill>
                <a:cs typeface="Calibri" panose="020F0502020204030204" pitchFamily="34" charset="0"/>
              </a:rPr>
              <a:t>(</a:t>
            </a:r>
            <a:r>
              <a:rPr lang="en-US" altLang="en-US" sz="2000" b="1" dirty="0">
                <a:solidFill>
                  <a:srgbClr val="006699"/>
                </a:solidFill>
                <a:cs typeface="Calibri" panose="020F0502020204030204" pitchFamily="34" charset="0"/>
              </a:rPr>
              <a:t>API</a:t>
            </a:r>
            <a:r>
              <a:rPr lang="en-US" altLang="en-US" sz="2000" dirty="0">
                <a:solidFill>
                  <a:srgbClr val="000000"/>
                </a:solidFill>
                <a:cs typeface="Calibri" panose="020F0502020204030204" pitchFamily="34" charset="0"/>
              </a:rPr>
              <a:t>)</a:t>
            </a:r>
            <a:r>
              <a:rPr lang="en-US" altLang="en-US" sz="2000" dirty="0">
                <a:solidFill>
                  <a:srgbClr val="3366FF"/>
                </a:solidFill>
                <a:cs typeface="Calibri" panose="020F0502020204030204" pitchFamily="34" charset="0"/>
              </a:rPr>
              <a:t> </a:t>
            </a:r>
            <a:r>
              <a:rPr lang="en-US" altLang="en-US" sz="2000" dirty="0">
                <a:cs typeface="Calibri" panose="020F0502020204030204" pitchFamily="34" charset="0"/>
              </a:rPr>
              <a:t>rather than direct system call use</a:t>
            </a:r>
          </a:p>
          <a:p>
            <a:pPr>
              <a:lnSpc>
                <a:spcPct val="90000"/>
              </a:lnSpc>
            </a:pPr>
            <a:r>
              <a:rPr lang="en-US" altLang="en-US" sz="2000" dirty="0">
                <a:cs typeface="Calibri" panose="020F0502020204030204" pitchFamily="34" charset="0"/>
              </a:rPr>
              <a:t>Three most common APIs are Win32 API for Windows, POSIX API for POSIX-based systems (including virtually all versions of UNIX, Linux, and Mac OS X), and Java API for the Java virtual machine (JVM)</a:t>
            </a:r>
          </a:p>
        </p:txBody>
      </p:sp>
      <p:sp>
        <p:nvSpPr>
          <p:cNvPr id="15364" name="Rectangle 4">
            <a:extLst>
              <a:ext uri="{FF2B5EF4-FFF2-40B4-BE49-F238E27FC236}">
                <a16:creationId xmlns:a16="http://schemas.microsoft.com/office/drawing/2014/main" id="{55144004-C2FB-40D0-9742-3DE46A26D5AF}"/>
              </a:ext>
            </a:extLst>
          </p:cNvPr>
          <p:cNvSpPr>
            <a:spLocks noChangeArrowheads="1"/>
          </p:cNvSpPr>
          <p:nvPr/>
        </p:nvSpPr>
        <p:spPr bwMode="auto">
          <a:xfrm>
            <a:off x="1836479" y="3476527"/>
            <a:ext cx="5471041" cy="279307"/>
          </a:xfrm>
          <a:prstGeom prst="rect">
            <a:avLst/>
          </a:prstGeom>
          <a:noFill/>
          <a:ln>
            <a:noFill/>
          </a:ln>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nSpc>
                <a:spcPct val="90000"/>
              </a:lnSpc>
              <a:buFont typeface="Monotype Sorts" pitchFamily="2" charset="2"/>
              <a:buNone/>
              <a:defRPr/>
            </a:pPr>
            <a:r>
              <a:rPr kumimoji="1" lang="en-US" altLang="en-US" sz="1350" dirty="0">
                <a:latin typeface="+mn-lt"/>
              </a:rPr>
              <a:t>Note that the system-call names used throughout this text are generic</a:t>
            </a:r>
          </a:p>
        </p:txBody>
      </p:sp>
      <p:sp>
        <p:nvSpPr>
          <p:cNvPr id="2" name="灯片编号占位符 1">
            <a:extLst>
              <a:ext uri="{FF2B5EF4-FFF2-40B4-BE49-F238E27FC236}">
                <a16:creationId xmlns:a16="http://schemas.microsoft.com/office/drawing/2014/main" id="{036365B8-C9FB-DCB0-261D-18EE47B72A5A}"/>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C14F633-D8B3-443E-B572-5804D4ED778B}"/>
              </a:ext>
            </a:extLst>
          </p:cNvPr>
          <p:cNvSpPr>
            <a:spLocks noGrp="1" noChangeArrowheads="1"/>
          </p:cNvSpPr>
          <p:nvPr>
            <p:ph type="title"/>
          </p:nvPr>
        </p:nvSpPr>
        <p:spPr>
          <a:xfrm>
            <a:off x="889000" y="160735"/>
            <a:ext cx="6654800" cy="432197"/>
          </a:xfrm>
        </p:spPr>
        <p:txBody>
          <a:bodyPr/>
          <a:lstStyle/>
          <a:p>
            <a:pPr eaLnBrk="1" hangingPunct="1"/>
            <a:r>
              <a:rPr lang="en-US" altLang="en-US" sz="3200" dirty="0"/>
              <a:t>Example of System Calls</a:t>
            </a:r>
          </a:p>
        </p:txBody>
      </p:sp>
      <p:sp>
        <p:nvSpPr>
          <p:cNvPr id="31747" name="Rectangle 5">
            <a:extLst>
              <a:ext uri="{FF2B5EF4-FFF2-40B4-BE49-F238E27FC236}">
                <a16:creationId xmlns:a16="http://schemas.microsoft.com/office/drawing/2014/main" id="{538ABAD4-459A-43EE-99FF-36E56E65895E}"/>
              </a:ext>
            </a:extLst>
          </p:cNvPr>
          <p:cNvSpPr>
            <a:spLocks noGrp="1" noChangeArrowheads="1"/>
          </p:cNvSpPr>
          <p:nvPr>
            <p:ph type="body" idx="1"/>
          </p:nvPr>
        </p:nvSpPr>
        <p:spPr>
          <a:xfrm>
            <a:off x="990600" y="830223"/>
            <a:ext cx="7645400" cy="432197"/>
          </a:xfrm>
        </p:spPr>
        <p:txBody>
          <a:bodyPr/>
          <a:lstStyle/>
          <a:p>
            <a:r>
              <a:rPr lang="en-US" altLang="en-US" sz="2000" dirty="0"/>
              <a:t>System call sequence to copy the contents of one file to another file</a:t>
            </a:r>
          </a:p>
        </p:txBody>
      </p:sp>
      <p:grpSp>
        <p:nvGrpSpPr>
          <p:cNvPr id="2" name="组合 1">
            <a:extLst>
              <a:ext uri="{FF2B5EF4-FFF2-40B4-BE49-F238E27FC236}">
                <a16:creationId xmlns:a16="http://schemas.microsoft.com/office/drawing/2014/main" id="{D68BA481-212D-FEEA-2389-7BC08664D257}"/>
              </a:ext>
            </a:extLst>
          </p:cNvPr>
          <p:cNvGrpSpPr/>
          <p:nvPr/>
        </p:nvGrpSpPr>
        <p:grpSpPr>
          <a:xfrm>
            <a:off x="2345531" y="1499711"/>
            <a:ext cx="4452938" cy="3013472"/>
            <a:chOff x="1458913" y="1965325"/>
            <a:chExt cx="5937250" cy="4017963"/>
          </a:xfrm>
        </p:grpSpPr>
        <p:pic>
          <p:nvPicPr>
            <p:cNvPr id="31748" name="Picture 5">
              <a:extLst>
                <a:ext uri="{FF2B5EF4-FFF2-40B4-BE49-F238E27FC236}">
                  <a16:creationId xmlns:a16="http://schemas.microsoft.com/office/drawing/2014/main" id="{AAE1048A-764C-48F0-A738-BA0A29DCBE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913" y="1965325"/>
              <a:ext cx="593725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Line 6">
              <a:extLst>
                <a:ext uri="{FF2B5EF4-FFF2-40B4-BE49-F238E27FC236}">
                  <a16:creationId xmlns:a16="http://schemas.microsoft.com/office/drawing/2014/main" id="{829D7286-9D2A-4CC2-99A2-293356FA0EDF}"/>
                </a:ext>
              </a:extLst>
            </p:cNvPr>
            <p:cNvSpPr>
              <a:spLocks noChangeShapeType="1"/>
            </p:cNvSpPr>
            <p:nvPr/>
          </p:nvSpPr>
          <p:spPr bwMode="auto">
            <a:xfrm>
              <a:off x="7358063" y="2022475"/>
              <a:ext cx="0" cy="42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sz="1350"/>
            </a:p>
          </p:txBody>
        </p:sp>
        <p:sp>
          <p:nvSpPr>
            <p:cNvPr id="31750" name="Line 7">
              <a:extLst>
                <a:ext uri="{FF2B5EF4-FFF2-40B4-BE49-F238E27FC236}">
                  <a16:creationId xmlns:a16="http://schemas.microsoft.com/office/drawing/2014/main" id="{C5566A3B-AF3E-428A-96FC-E638B347721C}"/>
                </a:ext>
              </a:extLst>
            </p:cNvPr>
            <p:cNvSpPr>
              <a:spLocks noChangeShapeType="1"/>
            </p:cNvSpPr>
            <p:nvPr/>
          </p:nvSpPr>
          <p:spPr bwMode="auto">
            <a:xfrm>
              <a:off x="1503363" y="2012950"/>
              <a:ext cx="0" cy="430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sz="1350"/>
            </a:p>
          </p:txBody>
        </p:sp>
      </p:grpSp>
      <p:sp>
        <p:nvSpPr>
          <p:cNvPr id="3" name="灯片编号占位符 2">
            <a:extLst>
              <a:ext uri="{FF2B5EF4-FFF2-40B4-BE49-F238E27FC236}">
                <a16:creationId xmlns:a16="http://schemas.microsoft.com/office/drawing/2014/main" id="{4F003B6D-C7FB-B998-7CDB-31DA3253F988}"/>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84E76C4-FCC0-48D3-9013-1569EF2B2703}"/>
              </a:ext>
            </a:extLst>
          </p:cNvPr>
          <p:cNvSpPr>
            <a:spLocks noGrp="1" noChangeArrowheads="1"/>
          </p:cNvSpPr>
          <p:nvPr>
            <p:ph type="title"/>
          </p:nvPr>
        </p:nvSpPr>
        <p:spPr>
          <a:xfrm>
            <a:off x="889000" y="165497"/>
            <a:ext cx="6628607" cy="432197"/>
          </a:xfrm>
        </p:spPr>
        <p:txBody>
          <a:bodyPr/>
          <a:lstStyle/>
          <a:p>
            <a:pPr eaLnBrk="1" hangingPunct="1"/>
            <a:r>
              <a:rPr lang="en-US" altLang="en-US" sz="3200" dirty="0"/>
              <a:t>Example of Standard API</a:t>
            </a:r>
          </a:p>
        </p:txBody>
      </p:sp>
      <p:pic>
        <p:nvPicPr>
          <p:cNvPr id="33795" name="Picture 2">
            <a:extLst>
              <a:ext uri="{FF2B5EF4-FFF2-40B4-BE49-F238E27FC236}">
                <a16:creationId xmlns:a16="http://schemas.microsoft.com/office/drawing/2014/main" id="{03F4BF88-895B-4F86-8811-FEB2E93B9C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031" y="820870"/>
            <a:ext cx="3692902" cy="3766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B5325984-C7DF-28DF-B71D-561782B9AFA8}"/>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BE3AADB-0F3C-4172-8054-CC2DDF7474EF}"/>
              </a:ext>
            </a:extLst>
          </p:cNvPr>
          <p:cNvSpPr>
            <a:spLocks noGrp="1" noChangeArrowheads="1"/>
          </p:cNvSpPr>
          <p:nvPr>
            <p:ph type="title"/>
          </p:nvPr>
        </p:nvSpPr>
        <p:spPr>
          <a:xfrm>
            <a:off x="880533" y="163116"/>
            <a:ext cx="6609689" cy="432197"/>
          </a:xfrm>
        </p:spPr>
        <p:txBody>
          <a:bodyPr/>
          <a:lstStyle/>
          <a:p>
            <a:pPr eaLnBrk="1" hangingPunct="1"/>
            <a:r>
              <a:rPr lang="en-US" altLang="en-US" sz="3200" dirty="0"/>
              <a:t>System Call Implementation</a:t>
            </a:r>
          </a:p>
        </p:txBody>
      </p:sp>
      <p:sp>
        <p:nvSpPr>
          <p:cNvPr id="35843" name="Rectangle 3">
            <a:extLst>
              <a:ext uri="{FF2B5EF4-FFF2-40B4-BE49-F238E27FC236}">
                <a16:creationId xmlns:a16="http://schemas.microsoft.com/office/drawing/2014/main" id="{17C2873A-43D0-43EF-AF6C-1C08F6944807}"/>
              </a:ext>
            </a:extLst>
          </p:cNvPr>
          <p:cNvSpPr>
            <a:spLocks noGrp="1" noChangeArrowheads="1"/>
          </p:cNvSpPr>
          <p:nvPr>
            <p:ph type="body" idx="1"/>
          </p:nvPr>
        </p:nvSpPr>
        <p:spPr>
          <a:xfrm>
            <a:off x="990599" y="872728"/>
            <a:ext cx="7653867" cy="3597672"/>
          </a:xfrm>
        </p:spPr>
        <p:txBody>
          <a:bodyPr/>
          <a:lstStyle/>
          <a:p>
            <a:r>
              <a:rPr lang="en-US" altLang="en-US" sz="2000" dirty="0"/>
              <a:t>Typically, a number is  associated with each system call</a:t>
            </a:r>
          </a:p>
          <a:p>
            <a:pPr lvl="1"/>
            <a:r>
              <a:rPr lang="en-US" altLang="en-US" sz="1800" b="1" dirty="0">
                <a:solidFill>
                  <a:srgbClr val="006699"/>
                </a:solidFill>
                <a:latin typeface="+mj-lt"/>
              </a:rPr>
              <a:t>System-call</a:t>
            </a:r>
            <a:r>
              <a:rPr lang="en-US" altLang="en-US" sz="1800" b="1" dirty="0">
                <a:solidFill>
                  <a:srgbClr val="3366FF"/>
                </a:solidFill>
              </a:rPr>
              <a:t> </a:t>
            </a:r>
            <a:r>
              <a:rPr lang="en-US" altLang="en-US" sz="1800" b="1" dirty="0">
                <a:solidFill>
                  <a:srgbClr val="006699"/>
                </a:solidFill>
                <a:latin typeface="+mj-lt"/>
              </a:rPr>
              <a:t>interface</a:t>
            </a:r>
            <a:r>
              <a:rPr lang="en-US" altLang="en-US" sz="1800" b="1" dirty="0">
                <a:solidFill>
                  <a:srgbClr val="3366FF"/>
                </a:solidFill>
              </a:rPr>
              <a:t> </a:t>
            </a:r>
            <a:r>
              <a:rPr lang="en-US" altLang="en-US" sz="1800" dirty="0"/>
              <a:t>maintains a table indexed according to these numbers</a:t>
            </a:r>
          </a:p>
          <a:p>
            <a:r>
              <a:rPr lang="en-US" altLang="en-US" sz="2000" dirty="0"/>
              <a:t>The system call interface invokes  the intended system call in OS kernel and returns status of the system call and any return values</a:t>
            </a:r>
          </a:p>
          <a:p>
            <a:r>
              <a:rPr lang="en-US" altLang="en-US" sz="2000" dirty="0"/>
              <a:t>The caller need know nothing about how the system call is implemented</a:t>
            </a:r>
          </a:p>
          <a:p>
            <a:pPr lvl="1"/>
            <a:r>
              <a:rPr lang="en-US" altLang="en-US" sz="1800" dirty="0"/>
              <a:t>Just needs to obey API and understand what OS will do as a result call</a:t>
            </a:r>
          </a:p>
          <a:p>
            <a:pPr lvl="1"/>
            <a:r>
              <a:rPr lang="en-US" altLang="en-US" sz="1800" dirty="0"/>
              <a:t>Most details of  OS interface hidden from programmer by API  </a:t>
            </a:r>
          </a:p>
          <a:p>
            <a:pPr lvl="2"/>
            <a:r>
              <a:rPr lang="en-US" altLang="en-US" sz="1600" dirty="0"/>
              <a:t>Managed by run-time support library (set of functions built into libraries included with compiler)</a:t>
            </a:r>
          </a:p>
        </p:txBody>
      </p:sp>
      <p:sp>
        <p:nvSpPr>
          <p:cNvPr id="2" name="灯片编号占位符 1">
            <a:extLst>
              <a:ext uri="{FF2B5EF4-FFF2-40B4-BE49-F238E27FC236}">
                <a16:creationId xmlns:a16="http://schemas.microsoft.com/office/drawing/2014/main" id="{FBFEB192-1F06-788D-CD75-C49569132BD8}"/>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699CD33-3BF1-41C4-ABEC-D6F4D3F643A9}"/>
              </a:ext>
            </a:extLst>
          </p:cNvPr>
          <p:cNvSpPr>
            <a:spLocks noGrp="1" noChangeArrowheads="1"/>
          </p:cNvSpPr>
          <p:nvPr>
            <p:ph type="title"/>
          </p:nvPr>
        </p:nvSpPr>
        <p:spPr>
          <a:xfrm>
            <a:off x="948267" y="158353"/>
            <a:ext cx="7916333" cy="432197"/>
          </a:xfrm>
        </p:spPr>
        <p:txBody>
          <a:bodyPr/>
          <a:lstStyle/>
          <a:p>
            <a:pPr eaLnBrk="1" hangingPunct="1"/>
            <a:r>
              <a:rPr lang="en-US" altLang="en-US" sz="3200" dirty="0"/>
              <a:t>API – System Call – OS Relationship</a:t>
            </a:r>
          </a:p>
        </p:txBody>
      </p:sp>
      <p:pic>
        <p:nvPicPr>
          <p:cNvPr id="37891" name="Picture 2">
            <a:extLst>
              <a:ext uri="{FF2B5EF4-FFF2-40B4-BE49-F238E27FC236}">
                <a16:creationId xmlns:a16="http://schemas.microsoft.com/office/drawing/2014/main" id="{B2409951-BBCF-4A1C-8570-76F67408B3E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1927" y="947077"/>
            <a:ext cx="5669756" cy="3461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3336FFC-A253-90EE-B5AC-5E0D94B63052}"/>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E227535-43B6-4813-B8B2-3BC580705F91}"/>
              </a:ext>
            </a:extLst>
          </p:cNvPr>
          <p:cNvSpPr>
            <a:spLocks noGrp="1" noChangeArrowheads="1"/>
          </p:cNvSpPr>
          <p:nvPr>
            <p:ph type="title"/>
          </p:nvPr>
        </p:nvSpPr>
        <p:spPr>
          <a:xfrm>
            <a:off x="897467" y="163116"/>
            <a:ext cx="6683243" cy="432197"/>
          </a:xfrm>
        </p:spPr>
        <p:txBody>
          <a:bodyPr/>
          <a:lstStyle/>
          <a:p>
            <a:pPr eaLnBrk="1" hangingPunct="1"/>
            <a:r>
              <a:rPr lang="en-US" altLang="en-US" sz="3200" dirty="0"/>
              <a:t>System Call Parameter Passing</a:t>
            </a:r>
          </a:p>
        </p:txBody>
      </p:sp>
      <p:sp>
        <p:nvSpPr>
          <p:cNvPr id="39939" name="Rectangle 3">
            <a:extLst>
              <a:ext uri="{FF2B5EF4-FFF2-40B4-BE49-F238E27FC236}">
                <a16:creationId xmlns:a16="http://schemas.microsoft.com/office/drawing/2014/main" id="{4769B199-F416-4325-B349-7CDA49598C2F}"/>
              </a:ext>
            </a:extLst>
          </p:cNvPr>
          <p:cNvSpPr>
            <a:spLocks noGrp="1" noChangeArrowheads="1"/>
          </p:cNvSpPr>
          <p:nvPr>
            <p:ph type="body" idx="1"/>
          </p:nvPr>
        </p:nvSpPr>
        <p:spPr>
          <a:xfrm>
            <a:off x="1015999" y="806581"/>
            <a:ext cx="7306733" cy="3773885"/>
          </a:xfrm>
        </p:spPr>
        <p:txBody>
          <a:bodyPr/>
          <a:lstStyle/>
          <a:p>
            <a:pPr>
              <a:lnSpc>
                <a:spcPct val="90000"/>
              </a:lnSpc>
            </a:pPr>
            <a:r>
              <a:rPr lang="en-US" altLang="en-US" sz="2000" dirty="0">
                <a:cs typeface="Calibri" panose="020F0502020204030204" pitchFamily="34" charset="0"/>
              </a:rPr>
              <a:t>Often, more information is required than simply identity of desired system call</a:t>
            </a:r>
          </a:p>
          <a:p>
            <a:pPr lvl="1">
              <a:lnSpc>
                <a:spcPct val="90000"/>
              </a:lnSpc>
            </a:pPr>
            <a:r>
              <a:rPr lang="en-US" altLang="en-US" sz="1800" dirty="0">
                <a:cs typeface="Calibri" panose="020F0502020204030204" pitchFamily="34" charset="0"/>
              </a:rPr>
              <a:t>Exact type and amount of information vary according to OS and call</a:t>
            </a:r>
          </a:p>
          <a:p>
            <a:pPr>
              <a:lnSpc>
                <a:spcPct val="90000"/>
              </a:lnSpc>
            </a:pPr>
            <a:r>
              <a:rPr lang="en-US" altLang="en-US" sz="2000" dirty="0">
                <a:cs typeface="Calibri" panose="020F0502020204030204" pitchFamily="34" charset="0"/>
              </a:rPr>
              <a:t>Three general methods used to pass parameters to the OS</a:t>
            </a:r>
          </a:p>
          <a:p>
            <a:pPr lvl="1">
              <a:lnSpc>
                <a:spcPct val="90000"/>
              </a:lnSpc>
            </a:pPr>
            <a:r>
              <a:rPr lang="en-US" altLang="en-US" sz="1800" dirty="0">
                <a:cs typeface="Calibri" panose="020F0502020204030204" pitchFamily="34" charset="0"/>
              </a:rPr>
              <a:t>Simplest:  pass the parameters in registers</a:t>
            </a:r>
          </a:p>
          <a:p>
            <a:pPr lvl="2">
              <a:lnSpc>
                <a:spcPct val="90000"/>
              </a:lnSpc>
            </a:pPr>
            <a:r>
              <a:rPr lang="en-US" altLang="en-US" sz="1800" dirty="0"/>
              <a:t> In some cases, may be more parameters than registers</a:t>
            </a:r>
          </a:p>
          <a:p>
            <a:pPr lvl="1">
              <a:lnSpc>
                <a:spcPct val="90000"/>
              </a:lnSpc>
            </a:pPr>
            <a:r>
              <a:rPr lang="en-US" altLang="en-US" sz="1800" dirty="0">
                <a:cs typeface="Calibri" panose="020F0502020204030204" pitchFamily="34" charset="0"/>
              </a:rPr>
              <a:t>Parameters stored in a block</a:t>
            </a:r>
            <a:r>
              <a:rPr lang="en-US" altLang="en-US" sz="1800" i="1" dirty="0">
                <a:cs typeface="Calibri" panose="020F0502020204030204" pitchFamily="34" charset="0"/>
              </a:rPr>
              <a:t>, </a:t>
            </a:r>
            <a:r>
              <a:rPr lang="en-US" altLang="en-US" sz="1800" dirty="0">
                <a:cs typeface="Calibri" panose="020F0502020204030204" pitchFamily="34" charset="0"/>
              </a:rPr>
              <a:t>or table, in memory, and address of block passed as a parameter in a register </a:t>
            </a:r>
          </a:p>
          <a:p>
            <a:pPr lvl="2">
              <a:lnSpc>
                <a:spcPct val="90000"/>
              </a:lnSpc>
            </a:pPr>
            <a:r>
              <a:rPr lang="en-US" altLang="en-US" sz="1800" dirty="0"/>
              <a:t>This approach taken by Linux and Solaris</a:t>
            </a:r>
          </a:p>
          <a:p>
            <a:pPr lvl="1">
              <a:lnSpc>
                <a:spcPct val="90000"/>
              </a:lnSpc>
            </a:pPr>
            <a:r>
              <a:rPr lang="en-US" altLang="en-US" sz="1800" dirty="0">
                <a:cs typeface="Calibri" panose="020F0502020204030204" pitchFamily="34" charset="0"/>
              </a:rPr>
              <a:t>Parameters placed, or </a:t>
            </a:r>
            <a:r>
              <a:rPr lang="en-US" altLang="en-US" sz="1800" b="1" dirty="0">
                <a:solidFill>
                  <a:srgbClr val="006699"/>
                </a:solidFill>
                <a:cs typeface="Calibri" panose="020F0502020204030204" pitchFamily="34" charset="0"/>
              </a:rPr>
              <a:t>pushed</a:t>
            </a:r>
            <a:r>
              <a:rPr lang="en-US" altLang="en-US" sz="1800" i="1" dirty="0">
                <a:cs typeface="Calibri" panose="020F0502020204030204" pitchFamily="34" charset="0"/>
              </a:rPr>
              <a:t>, </a:t>
            </a:r>
            <a:r>
              <a:rPr lang="en-US" altLang="en-US" sz="1800" dirty="0">
                <a:cs typeface="Calibri" panose="020F0502020204030204" pitchFamily="34" charset="0"/>
              </a:rPr>
              <a:t>onto the </a:t>
            </a:r>
            <a:r>
              <a:rPr lang="en-US" altLang="en-US" sz="1800" b="1" dirty="0">
                <a:solidFill>
                  <a:srgbClr val="006699"/>
                </a:solidFill>
                <a:cs typeface="Calibri" panose="020F0502020204030204" pitchFamily="34" charset="0"/>
              </a:rPr>
              <a:t>stack</a:t>
            </a:r>
            <a:r>
              <a:rPr lang="en-US" altLang="en-US" sz="1800" i="1" dirty="0">
                <a:cs typeface="Calibri" panose="020F0502020204030204" pitchFamily="34" charset="0"/>
              </a:rPr>
              <a:t> </a:t>
            </a:r>
            <a:r>
              <a:rPr lang="en-US" altLang="en-US" sz="1800" dirty="0">
                <a:cs typeface="Calibri" panose="020F0502020204030204" pitchFamily="34" charset="0"/>
              </a:rPr>
              <a:t>by the program and </a:t>
            </a:r>
            <a:r>
              <a:rPr lang="en-US" altLang="en-US" sz="1800" b="1" dirty="0">
                <a:solidFill>
                  <a:srgbClr val="006699"/>
                </a:solidFill>
                <a:cs typeface="Calibri" panose="020F0502020204030204" pitchFamily="34" charset="0"/>
              </a:rPr>
              <a:t>popped</a:t>
            </a:r>
            <a:r>
              <a:rPr lang="en-US" altLang="en-US" sz="1800" i="1" dirty="0">
                <a:cs typeface="Calibri" panose="020F0502020204030204" pitchFamily="34" charset="0"/>
              </a:rPr>
              <a:t> </a:t>
            </a:r>
            <a:r>
              <a:rPr lang="en-US" altLang="en-US" sz="1800" dirty="0">
                <a:cs typeface="Calibri" panose="020F0502020204030204" pitchFamily="34" charset="0"/>
              </a:rPr>
              <a:t>off the stack by the operating system</a:t>
            </a:r>
          </a:p>
          <a:p>
            <a:pPr lvl="1">
              <a:lnSpc>
                <a:spcPct val="90000"/>
              </a:lnSpc>
            </a:pPr>
            <a:r>
              <a:rPr lang="en-US" altLang="en-US" sz="1800" dirty="0">
                <a:cs typeface="Calibri" panose="020F0502020204030204" pitchFamily="34" charset="0"/>
              </a:rPr>
              <a:t>Block and stack methods do not limit the number or length of parameters being passed</a:t>
            </a:r>
          </a:p>
        </p:txBody>
      </p:sp>
      <p:sp>
        <p:nvSpPr>
          <p:cNvPr id="2" name="灯片编号占位符 1">
            <a:extLst>
              <a:ext uri="{FF2B5EF4-FFF2-40B4-BE49-F238E27FC236}">
                <a16:creationId xmlns:a16="http://schemas.microsoft.com/office/drawing/2014/main" id="{083AB811-EFF9-FC04-5F05-8240311C1170}"/>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91C706E-593F-465E-8A89-60A10A2A9377}"/>
              </a:ext>
            </a:extLst>
          </p:cNvPr>
          <p:cNvSpPr>
            <a:spLocks noGrp="1" noChangeArrowheads="1"/>
          </p:cNvSpPr>
          <p:nvPr>
            <p:ph type="title"/>
          </p:nvPr>
        </p:nvSpPr>
        <p:spPr>
          <a:xfrm>
            <a:off x="897468" y="155972"/>
            <a:ext cx="6655858" cy="432197"/>
          </a:xfrm>
        </p:spPr>
        <p:txBody>
          <a:bodyPr/>
          <a:lstStyle/>
          <a:p>
            <a:pPr eaLnBrk="1" hangingPunct="1"/>
            <a:r>
              <a:rPr lang="en-US" altLang="en-US" sz="3200" dirty="0"/>
              <a:t>Parameter Passing via Table</a:t>
            </a:r>
          </a:p>
        </p:txBody>
      </p:sp>
      <p:pic>
        <p:nvPicPr>
          <p:cNvPr id="41987" name="Picture 2">
            <a:extLst>
              <a:ext uri="{FF2B5EF4-FFF2-40B4-BE49-F238E27FC236}">
                <a16:creationId xmlns:a16="http://schemas.microsoft.com/office/drawing/2014/main" id="{DF782059-8E55-48AA-A75F-C88C617772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4760" y="1232298"/>
            <a:ext cx="5873353" cy="3087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198BD609-4E5C-0EFF-0CA4-8191FB5E89E6}"/>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81CC25A-92E8-44D5-853F-5EA5E0E48123}"/>
              </a:ext>
            </a:extLst>
          </p:cNvPr>
          <p:cNvSpPr>
            <a:spLocks noGrp="1" noChangeArrowheads="1"/>
          </p:cNvSpPr>
          <p:nvPr>
            <p:ph type="title"/>
          </p:nvPr>
        </p:nvSpPr>
        <p:spPr>
          <a:xfrm>
            <a:off x="863600" y="160735"/>
            <a:ext cx="6731397" cy="432197"/>
          </a:xfrm>
        </p:spPr>
        <p:txBody>
          <a:bodyPr/>
          <a:lstStyle/>
          <a:p>
            <a:pPr eaLnBrk="1" hangingPunct="1"/>
            <a:r>
              <a:rPr lang="en-US" altLang="en-US" sz="3200" dirty="0"/>
              <a:t>Types of System Calls (1)</a:t>
            </a:r>
          </a:p>
        </p:txBody>
      </p:sp>
      <p:sp>
        <p:nvSpPr>
          <p:cNvPr id="44035" name="Rectangle 4">
            <a:extLst>
              <a:ext uri="{FF2B5EF4-FFF2-40B4-BE49-F238E27FC236}">
                <a16:creationId xmlns:a16="http://schemas.microsoft.com/office/drawing/2014/main" id="{4FFFE9F1-36B8-4D67-9C3C-A4A661B03ED6}"/>
              </a:ext>
            </a:extLst>
          </p:cNvPr>
          <p:cNvSpPr>
            <a:spLocks noGrp="1" noChangeArrowheads="1"/>
          </p:cNvSpPr>
          <p:nvPr>
            <p:ph type="body" idx="1"/>
          </p:nvPr>
        </p:nvSpPr>
        <p:spPr>
          <a:xfrm>
            <a:off x="956733" y="872728"/>
            <a:ext cx="7493000" cy="3292872"/>
          </a:xfrm>
        </p:spPr>
        <p:txBody>
          <a:bodyPr/>
          <a:lstStyle/>
          <a:p>
            <a:pPr>
              <a:spcBef>
                <a:spcPts val="0"/>
              </a:spcBef>
            </a:pPr>
            <a:r>
              <a:rPr lang="en-US" altLang="en-US" sz="2000" dirty="0">
                <a:cs typeface="Calibri" panose="020F0502020204030204" pitchFamily="34" charset="0"/>
              </a:rPr>
              <a:t>Process control</a:t>
            </a:r>
          </a:p>
          <a:p>
            <a:pPr lvl="1">
              <a:spcBef>
                <a:spcPts val="0"/>
              </a:spcBef>
            </a:pPr>
            <a:r>
              <a:rPr lang="en-US" altLang="en-US" sz="1800" dirty="0">
                <a:cs typeface="Calibri" panose="020F0502020204030204" pitchFamily="34" charset="0"/>
              </a:rPr>
              <a:t>create process, terminate process</a:t>
            </a:r>
          </a:p>
          <a:p>
            <a:pPr lvl="1">
              <a:spcBef>
                <a:spcPts val="0"/>
              </a:spcBef>
            </a:pPr>
            <a:r>
              <a:rPr lang="en-US" altLang="en-US" sz="1800" dirty="0">
                <a:cs typeface="Calibri" panose="020F0502020204030204" pitchFamily="34" charset="0"/>
              </a:rPr>
              <a:t>end, abort</a:t>
            </a:r>
          </a:p>
          <a:p>
            <a:pPr lvl="1">
              <a:spcBef>
                <a:spcPts val="0"/>
              </a:spcBef>
            </a:pPr>
            <a:r>
              <a:rPr lang="en-US" altLang="en-US" sz="1800" dirty="0">
                <a:cs typeface="Calibri" panose="020F0502020204030204" pitchFamily="34" charset="0"/>
              </a:rPr>
              <a:t>load, execute</a:t>
            </a:r>
          </a:p>
          <a:p>
            <a:pPr lvl="1">
              <a:spcBef>
                <a:spcPts val="0"/>
              </a:spcBef>
            </a:pPr>
            <a:r>
              <a:rPr lang="en-US" altLang="en-US" sz="1800" dirty="0">
                <a:cs typeface="Calibri" panose="020F0502020204030204" pitchFamily="34" charset="0"/>
              </a:rPr>
              <a:t>get process attributes, set process attributes</a:t>
            </a:r>
          </a:p>
          <a:p>
            <a:pPr lvl="1">
              <a:spcBef>
                <a:spcPts val="0"/>
              </a:spcBef>
            </a:pPr>
            <a:r>
              <a:rPr lang="en-US" altLang="en-US" sz="1800" dirty="0">
                <a:cs typeface="Calibri" panose="020F0502020204030204" pitchFamily="34" charset="0"/>
              </a:rPr>
              <a:t>wait for time</a:t>
            </a:r>
          </a:p>
          <a:p>
            <a:pPr lvl="1">
              <a:spcBef>
                <a:spcPts val="0"/>
              </a:spcBef>
            </a:pPr>
            <a:r>
              <a:rPr lang="en-US" altLang="en-US" sz="1800" dirty="0">
                <a:cs typeface="Calibri" panose="020F0502020204030204" pitchFamily="34" charset="0"/>
              </a:rPr>
              <a:t>wait event, signal event</a:t>
            </a:r>
          </a:p>
          <a:p>
            <a:pPr lvl="1">
              <a:spcBef>
                <a:spcPts val="0"/>
              </a:spcBef>
            </a:pPr>
            <a:r>
              <a:rPr lang="en-US" altLang="en-US" sz="1800" dirty="0">
                <a:cs typeface="Calibri" panose="020F0502020204030204" pitchFamily="34" charset="0"/>
              </a:rPr>
              <a:t>allocate and free memory</a:t>
            </a:r>
          </a:p>
          <a:p>
            <a:pPr lvl="1">
              <a:spcBef>
                <a:spcPts val="0"/>
              </a:spcBef>
            </a:pPr>
            <a:r>
              <a:rPr lang="en-US" altLang="en-US" sz="1800" dirty="0">
                <a:cs typeface="Calibri" panose="020F0502020204030204" pitchFamily="34" charset="0"/>
              </a:rPr>
              <a:t>Dump memory if error</a:t>
            </a:r>
          </a:p>
          <a:p>
            <a:pPr lvl="1">
              <a:spcBef>
                <a:spcPts val="0"/>
              </a:spcBef>
            </a:pPr>
            <a:r>
              <a:rPr lang="en-US" altLang="en-US" sz="1800" b="1" dirty="0">
                <a:solidFill>
                  <a:srgbClr val="006699"/>
                </a:solidFill>
                <a:cs typeface="Calibri" panose="020F0502020204030204" pitchFamily="34" charset="0"/>
              </a:rPr>
              <a:t>Debugger</a:t>
            </a:r>
            <a:r>
              <a:rPr lang="en-US" altLang="en-US" sz="1800" dirty="0">
                <a:cs typeface="Calibri" panose="020F0502020204030204" pitchFamily="34" charset="0"/>
              </a:rPr>
              <a:t> for determining </a:t>
            </a:r>
            <a:r>
              <a:rPr lang="en-US" altLang="en-US" sz="1800" b="1" dirty="0">
                <a:solidFill>
                  <a:srgbClr val="006699"/>
                </a:solidFill>
                <a:cs typeface="Calibri" panose="020F0502020204030204" pitchFamily="34" charset="0"/>
              </a:rPr>
              <a:t>bugs</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single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step</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execution</a:t>
            </a:r>
          </a:p>
          <a:p>
            <a:pPr lvl="1">
              <a:spcBef>
                <a:spcPts val="0"/>
              </a:spcBef>
            </a:pPr>
            <a:r>
              <a:rPr lang="en-US" altLang="en-US" sz="1800" b="1" dirty="0">
                <a:solidFill>
                  <a:srgbClr val="006699"/>
                </a:solidFill>
                <a:cs typeface="Calibri" panose="020F0502020204030204" pitchFamily="34" charset="0"/>
              </a:rPr>
              <a:t>Locks</a:t>
            </a:r>
            <a:r>
              <a:rPr lang="en-US" altLang="en-US" sz="1800" dirty="0">
                <a:cs typeface="Calibri" panose="020F0502020204030204" pitchFamily="34" charset="0"/>
              </a:rPr>
              <a:t> for managing access to shared data between processes</a:t>
            </a:r>
          </a:p>
        </p:txBody>
      </p:sp>
      <p:sp>
        <p:nvSpPr>
          <p:cNvPr id="2" name="灯片编号占位符 1">
            <a:extLst>
              <a:ext uri="{FF2B5EF4-FFF2-40B4-BE49-F238E27FC236}">
                <a16:creationId xmlns:a16="http://schemas.microsoft.com/office/drawing/2014/main" id="{9FD37EA9-C68B-8F35-AC7C-962E1DC4A657}"/>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4156D97E-B3F7-4D08-9926-F21EAB5326AF}"/>
              </a:ext>
            </a:extLst>
          </p:cNvPr>
          <p:cNvSpPr>
            <a:spLocks noGrp="1" noChangeArrowheads="1"/>
          </p:cNvSpPr>
          <p:nvPr>
            <p:ph type="body" idx="1"/>
          </p:nvPr>
        </p:nvSpPr>
        <p:spPr>
          <a:xfrm>
            <a:off x="1141545" y="829999"/>
            <a:ext cx="6029722" cy="3615002"/>
          </a:xfrm>
        </p:spPr>
        <p:txBody>
          <a:bodyPr/>
          <a:lstStyle/>
          <a:p>
            <a:pPr>
              <a:spcBef>
                <a:spcPts val="0"/>
              </a:spcBef>
            </a:pPr>
            <a:r>
              <a:rPr lang="en-US" altLang="en-US" sz="1800" dirty="0"/>
              <a:t>File management</a:t>
            </a:r>
          </a:p>
          <a:p>
            <a:pPr lvl="1">
              <a:spcBef>
                <a:spcPts val="0"/>
              </a:spcBef>
            </a:pPr>
            <a:r>
              <a:rPr lang="en-US" altLang="en-US" sz="1600" dirty="0"/>
              <a:t>Create file, delete file</a:t>
            </a:r>
          </a:p>
          <a:p>
            <a:pPr lvl="1">
              <a:spcBef>
                <a:spcPts val="0"/>
              </a:spcBef>
            </a:pPr>
            <a:r>
              <a:rPr lang="en-US" altLang="en-US" sz="1600" dirty="0"/>
              <a:t>Open, close file</a:t>
            </a:r>
          </a:p>
          <a:p>
            <a:pPr lvl="1">
              <a:spcBef>
                <a:spcPts val="0"/>
              </a:spcBef>
            </a:pPr>
            <a:r>
              <a:rPr lang="en-US" altLang="en-US" sz="1600" dirty="0"/>
              <a:t>Read, write, reposition</a:t>
            </a:r>
          </a:p>
          <a:p>
            <a:pPr lvl="1">
              <a:spcBef>
                <a:spcPts val="0"/>
              </a:spcBef>
            </a:pPr>
            <a:r>
              <a:rPr lang="en-US" altLang="en-US" sz="1600" dirty="0"/>
              <a:t>Get and set file attributes</a:t>
            </a:r>
          </a:p>
          <a:p>
            <a:pPr>
              <a:spcBef>
                <a:spcPts val="0"/>
              </a:spcBef>
            </a:pPr>
            <a:r>
              <a:rPr lang="en-US" altLang="en-US" sz="1800" dirty="0"/>
              <a:t>Device management</a:t>
            </a:r>
          </a:p>
          <a:p>
            <a:pPr lvl="1">
              <a:spcBef>
                <a:spcPts val="0"/>
              </a:spcBef>
            </a:pPr>
            <a:r>
              <a:rPr lang="en-US" altLang="en-US" sz="1600" dirty="0"/>
              <a:t>Request device, release device</a:t>
            </a:r>
          </a:p>
          <a:p>
            <a:pPr lvl="1">
              <a:spcBef>
                <a:spcPts val="0"/>
              </a:spcBef>
            </a:pPr>
            <a:r>
              <a:rPr lang="en-US" altLang="en-US" sz="1600" dirty="0"/>
              <a:t>Read, write, reposition</a:t>
            </a:r>
          </a:p>
          <a:p>
            <a:pPr lvl="1">
              <a:spcBef>
                <a:spcPts val="0"/>
              </a:spcBef>
            </a:pPr>
            <a:r>
              <a:rPr lang="en-US" altLang="en-US" sz="1600" dirty="0"/>
              <a:t>Get device attributes, set device attributes</a:t>
            </a:r>
          </a:p>
          <a:p>
            <a:pPr lvl="1">
              <a:spcBef>
                <a:spcPts val="0"/>
              </a:spcBef>
            </a:pPr>
            <a:r>
              <a:rPr lang="en-US" altLang="en-US" sz="1600" dirty="0"/>
              <a:t>Logically attach or detach devices</a:t>
            </a:r>
          </a:p>
          <a:p>
            <a:pPr>
              <a:spcBef>
                <a:spcPts val="0"/>
              </a:spcBef>
            </a:pPr>
            <a:r>
              <a:rPr lang="en-US" altLang="en-US" sz="1800" dirty="0"/>
              <a:t>Information maintenance</a:t>
            </a:r>
          </a:p>
          <a:p>
            <a:pPr lvl="1">
              <a:spcBef>
                <a:spcPts val="0"/>
              </a:spcBef>
            </a:pPr>
            <a:r>
              <a:rPr lang="en-US" altLang="en-US" sz="1600" dirty="0"/>
              <a:t>Get time or date, set time or date</a:t>
            </a:r>
          </a:p>
          <a:p>
            <a:pPr lvl="1">
              <a:spcBef>
                <a:spcPts val="0"/>
              </a:spcBef>
            </a:pPr>
            <a:r>
              <a:rPr lang="en-US" altLang="en-US" sz="1600" dirty="0"/>
              <a:t>Get system data, set system data</a:t>
            </a:r>
          </a:p>
          <a:p>
            <a:pPr lvl="1">
              <a:spcBef>
                <a:spcPts val="0"/>
              </a:spcBef>
            </a:pPr>
            <a:r>
              <a:rPr lang="en-US" altLang="en-US" sz="1600" dirty="0"/>
              <a:t>Get and set process, file, or device attributes</a:t>
            </a:r>
          </a:p>
        </p:txBody>
      </p:sp>
      <p:sp>
        <p:nvSpPr>
          <p:cNvPr id="46083" name="Rectangle 2">
            <a:extLst>
              <a:ext uri="{FF2B5EF4-FFF2-40B4-BE49-F238E27FC236}">
                <a16:creationId xmlns:a16="http://schemas.microsoft.com/office/drawing/2014/main" id="{A1101D3E-F01E-4DD1-88DC-B60A703EA3DB}"/>
              </a:ext>
            </a:extLst>
          </p:cNvPr>
          <p:cNvSpPr>
            <a:spLocks noGrp="1" noChangeArrowheads="1"/>
          </p:cNvSpPr>
          <p:nvPr>
            <p:ph type="title"/>
          </p:nvPr>
        </p:nvSpPr>
        <p:spPr>
          <a:xfrm>
            <a:off x="880533" y="169069"/>
            <a:ext cx="6663268" cy="432197"/>
          </a:xfrm>
        </p:spPr>
        <p:txBody>
          <a:bodyPr/>
          <a:lstStyle/>
          <a:p>
            <a:pPr eaLnBrk="1" hangingPunct="1"/>
            <a:r>
              <a:rPr lang="en-US" altLang="en-US" sz="3200" dirty="0"/>
              <a:t>Types of System Calls (2)</a:t>
            </a:r>
          </a:p>
        </p:txBody>
      </p:sp>
      <p:sp>
        <p:nvSpPr>
          <p:cNvPr id="2" name="灯片编号占位符 1">
            <a:extLst>
              <a:ext uri="{FF2B5EF4-FFF2-40B4-BE49-F238E27FC236}">
                <a16:creationId xmlns:a16="http://schemas.microsoft.com/office/drawing/2014/main" id="{8A6EA363-20CA-31C9-F4C4-ED09102B232C}"/>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F170523-A8A8-43C6-820A-D68F85AF07D4}"/>
              </a:ext>
            </a:extLst>
          </p:cNvPr>
          <p:cNvSpPr>
            <a:spLocks noGrp="1" noChangeArrowheads="1"/>
          </p:cNvSpPr>
          <p:nvPr>
            <p:ph type="title"/>
          </p:nvPr>
        </p:nvSpPr>
        <p:spPr>
          <a:xfrm>
            <a:off x="914400" y="170260"/>
            <a:ext cx="6617494" cy="432197"/>
          </a:xfrm>
        </p:spPr>
        <p:txBody>
          <a:bodyPr/>
          <a:lstStyle/>
          <a:p>
            <a:pPr eaLnBrk="1" hangingPunct="1"/>
            <a:r>
              <a:rPr lang="en-US" altLang="en-US" dirty="0"/>
              <a:t>Types of System Calls (3)</a:t>
            </a:r>
          </a:p>
        </p:txBody>
      </p:sp>
      <p:sp>
        <p:nvSpPr>
          <p:cNvPr id="48131" name="Rectangle 4">
            <a:extLst>
              <a:ext uri="{FF2B5EF4-FFF2-40B4-BE49-F238E27FC236}">
                <a16:creationId xmlns:a16="http://schemas.microsoft.com/office/drawing/2014/main" id="{3E675A7B-D65B-4A2E-A667-61009784BC51}"/>
              </a:ext>
            </a:extLst>
          </p:cNvPr>
          <p:cNvSpPr>
            <a:spLocks noGrp="1" noChangeArrowheads="1"/>
          </p:cNvSpPr>
          <p:nvPr>
            <p:ph type="body" idx="1"/>
          </p:nvPr>
        </p:nvSpPr>
        <p:spPr>
          <a:xfrm>
            <a:off x="1058333" y="829443"/>
            <a:ext cx="7315200" cy="3480091"/>
          </a:xfrm>
        </p:spPr>
        <p:txBody>
          <a:bodyPr/>
          <a:lstStyle/>
          <a:p>
            <a:pPr>
              <a:spcBef>
                <a:spcPts val="0"/>
              </a:spcBef>
            </a:pPr>
            <a:r>
              <a:rPr lang="en-US" altLang="en-US" sz="2000" dirty="0">
                <a:cs typeface="Calibri" panose="020F0502020204030204" pitchFamily="34" charset="0"/>
              </a:rPr>
              <a:t>Communications</a:t>
            </a:r>
          </a:p>
          <a:p>
            <a:pPr lvl="1">
              <a:spcBef>
                <a:spcPts val="0"/>
              </a:spcBef>
            </a:pPr>
            <a:r>
              <a:rPr lang="en-US" altLang="en-US" sz="1800" dirty="0">
                <a:cs typeface="Calibri" panose="020F0502020204030204" pitchFamily="34" charset="0"/>
              </a:rPr>
              <a:t>Create, delete communication connection</a:t>
            </a:r>
          </a:p>
          <a:p>
            <a:pPr lvl="1">
              <a:spcBef>
                <a:spcPts val="0"/>
              </a:spcBef>
            </a:pPr>
            <a:r>
              <a:rPr lang="en-US" altLang="en-US" sz="1800" dirty="0">
                <a:cs typeface="Calibri" panose="020F0502020204030204" pitchFamily="34" charset="0"/>
              </a:rPr>
              <a:t>Send, receive messages if </a:t>
            </a:r>
            <a:r>
              <a:rPr lang="en-US" altLang="en-US" sz="1800" b="1" dirty="0">
                <a:solidFill>
                  <a:srgbClr val="006699"/>
                </a:solidFill>
                <a:cs typeface="Calibri" panose="020F0502020204030204" pitchFamily="34" charset="0"/>
              </a:rPr>
              <a:t>message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passing</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model</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to </a:t>
            </a:r>
            <a:r>
              <a:rPr lang="en-US" altLang="en-US" sz="1800" b="1" dirty="0">
                <a:solidFill>
                  <a:srgbClr val="006699"/>
                </a:solidFill>
                <a:cs typeface="Calibri" panose="020F0502020204030204" pitchFamily="34" charset="0"/>
              </a:rPr>
              <a:t>host</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name</a:t>
            </a:r>
            <a:r>
              <a:rPr lang="en-US" altLang="en-US" sz="1800" dirty="0">
                <a:cs typeface="Calibri" panose="020F0502020204030204" pitchFamily="34" charset="0"/>
              </a:rPr>
              <a:t> or </a:t>
            </a:r>
            <a:r>
              <a:rPr lang="en-US" altLang="en-US" sz="1800" b="1" dirty="0">
                <a:solidFill>
                  <a:srgbClr val="006699"/>
                </a:solidFill>
                <a:cs typeface="Calibri" panose="020F0502020204030204" pitchFamily="34" charset="0"/>
              </a:rPr>
              <a:t>process</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name</a:t>
            </a:r>
          </a:p>
          <a:p>
            <a:pPr lvl="2">
              <a:spcBef>
                <a:spcPts val="0"/>
              </a:spcBef>
            </a:pPr>
            <a:r>
              <a:rPr lang="en-US" altLang="en-US" sz="1800" dirty="0"/>
              <a:t>From</a:t>
            </a:r>
            <a:r>
              <a:rPr lang="en-US" altLang="en-US" sz="1800" b="1" dirty="0">
                <a:solidFill>
                  <a:srgbClr val="3366FF"/>
                </a:solidFill>
              </a:rPr>
              <a:t> </a:t>
            </a:r>
            <a:r>
              <a:rPr lang="en-US" altLang="en-US" sz="1800" b="1" dirty="0">
                <a:solidFill>
                  <a:srgbClr val="006699"/>
                </a:solidFill>
              </a:rPr>
              <a:t>client</a:t>
            </a:r>
            <a:r>
              <a:rPr lang="en-US" altLang="en-US" sz="1800" b="1" dirty="0">
                <a:solidFill>
                  <a:srgbClr val="3366FF"/>
                </a:solidFill>
              </a:rPr>
              <a:t> </a:t>
            </a:r>
            <a:r>
              <a:rPr lang="en-US" altLang="en-US" sz="1800" dirty="0"/>
              <a:t>to</a:t>
            </a:r>
            <a:r>
              <a:rPr lang="en-US" altLang="en-US" sz="1800" b="1" dirty="0">
                <a:solidFill>
                  <a:srgbClr val="3366FF"/>
                </a:solidFill>
              </a:rPr>
              <a:t> </a:t>
            </a:r>
            <a:r>
              <a:rPr lang="en-US" altLang="en-US" sz="1800" b="1" dirty="0">
                <a:solidFill>
                  <a:srgbClr val="006699"/>
                </a:solidFill>
              </a:rPr>
              <a:t>server</a:t>
            </a:r>
          </a:p>
          <a:p>
            <a:pPr lvl="1">
              <a:spcBef>
                <a:spcPts val="0"/>
              </a:spcBef>
            </a:pPr>
            <a:r>
              <a:rPr lang="en-US" altLang="en-US" sz="1800" b="1" dirty="0">
                <a:solidFill>
                  <a:srgbClr val="006699"/>
                </a:solidFill>
                <a:cs typeface="Calibri" panose="020F0502020204030204" pitchFamily="34" charset="0"/>
              </a:rPr>
              <a:t>Shared-memory</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model</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create and gain access to memory regions</a:t>
            </a:r>
          </a:p>
          <a:p>
            <a:pPr lvl="1">
              <a:spcBef>
                <a:spcPts val="0"/>
              </a:spcBef>
            </a:pPr>
            <a:r>
              <a:rPr lang="en-US" altLang="en-US" sz="1800" dirty="0">
                <a:cs typeface="Calibri" panose="020F0502020204030204" pitchFamily="34" charset="0"/>
              </a:rPr>
              <a:t>Transfer status information</a:t>
            </a:r>
          </a:p>
          <a:p>
            <a:pPr lvl="1">
              <a:spcBef>
                <a:spcPts val="0"/>
              </a:spcBef>
            </a:pPr>
            <a:r>
              <a:rPr lang="en-US" altLang="en-US" sz="1800" dirty="0">
                <a:cs typeface="Calibri" panose="020F0502020204030204" pitchFamily="34" charset="0"/>
              </a:rPr>
              <a:t>Attach and detach remote devices</a:t>
            </a:r>
          </a:p>
          <a:p>
            <a:pPr>
              <a:spcBef>
                <a:spcPts val="0"/>
              </a:spcBef>
            </a:pPr>
            <a:r>
              <a:rPr lang="en-US" altLang="en-US" sz="2000" dirty="0">
                <a:cs typeface="Calibri" panose="020F0502020204030204" pitchFamily="34" charset="0"/>
              </a:rPr>
              <a:t>Protection</a:t>
            </a:r>
          </a:p>
          <a:p>
            <a:pPr lvl="1">
              <a:spcBef>
                <a:spcPts val="0"/>
              </a:spcBef>
            </a:pPr>
            <a:r>
              <a:rPr lang="en-US" altLang="en-US" sz="1800" dirty="0">
                <a:cs typeface="Calibri" panose="020F0502020204030204" pitchFamily="34" charset="0"/>
              </a:rPr>
              <a:t>Control access to resources</a:t>
            </a:r>
          </a:p>
          <a:p>
            <a:pPr lvl="1">
              <a:spcBef>
                <a:spcPts val="0"/>
              </a:spcBef>
            </a:pPr>
            <a:r>
              <a:rPr lang="en-US" altLang="en-US" sz="1800" dirty="0">
                <a:cs typeface="Calibri" panose="020F0502020204030204" pitchFamily="34" charset="0"/>
              </a:rPr>
              <a:t>Get and set permissions</a:t>
            </a:r>
          </a:p>
          <a:p>
            <a:pPr lvl="1">
              <a:spcBef>
                <a:spcPts val="0"/>
              </a:spcBef>
            </a:pPr>
            <a:r>
              <a:rPr lang="en-US" altLang="en-US" sz="1800" dirty="0">
                <a:cs typeface="Calibri" panose="020F0502020204030204" pitchFamily="34" charset="0"/>
              </a:rPr>
              <a:t>Allow and deny user access</a:t>
            </a:r>
          </a:p>
          <a:p>
            <a:pPr marL="342900" lvl="1" indent="0">
              <a:spcBef>
                <a:spcPts val="0"/>
              </a:spcBef>
              <a:buNone/>
            </a:pPr>
            <a:endParaRPr lang="en-US" altLang="en-US" sz="1800" dirty="0">
              <a:cs typeface="Calibri" panose="020F0502020204030204" pitchFamily="34" charset="0"/>
            </a:endParaRPr>
          </a:p>
        </p:txBody>
      </p:sp>
      <p:sp>
        <p:nvSpPr>
          <p:cNvPr id="2" name="灯片编号占位符 1">
            <a:extLst>
              <a:ext uri="{FF2B5EF4-FFF2-40B4-BE49-F238E27FC236}">
                <a16:creationId xmlns:a16="http://schemas.microsoft.com/office/drawing/2014/main" id="{63A17853-98D1-9ECC-AFF5-081F3A247BAA}"/>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D6FCD919-BAE3-4B7B-809E-209E2FB09749}"/>
              </a:ext>
            </a:extLst>
          </p:cNvPr>
          <p:cNvSpPr>
            <a:spLocks noGrp="1" noChangeArrowheads="1"/>
          </p:cNvSpPr>
          <p:nvPr>
            <p:ph type="title"/>
          </p:nvPr>
        </p:nvSpPr>
        <p:spPr>
          <a:xfrm>
            <a:off x="889000" y="133704"/>
            <a:ext cx="7890933" cy="445778"/>
          </a:xfrm>
        </p:spPr>
        <p:txBody>
          <a:bodyPr/>
          <a:lstStyle/>
          <a:p>
            <a:pPr eaLnBrk="1" hangingPunct="1"/>
            <a:r>
              <a:rPr lang="en-US" altLang="en-US" sz="3200" dirty="0"/>
              <a:t>Examples of Windows and Unix System Calls</a:t>
            </a:r>
          </a:p>
        </p:txBody>
      </p:sp>
      <p:pic>
        <p:nvPicPr>
          <p:cNvPr id="52227" name="Picture 4">
            <a:extLst>
              <a:ext uri="{FF2B5EF4-FFF2-40B4-BE49-F238E27FC236}">
                <a16:creationId xmlns:a16="http://schemas.microsoft.com/office/drawing/2014/main" id="{33A2F2E0-9064-41AD-8CF6-9D5D6130BA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7631" y="838994"/>
            <a:ext cx="3474636" cy="3755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60EDEEA6-065F-238D-87C0-10BE95846A9A}"/>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422D298-022D-44F2-A04B-38156195F214}"/>
              </a:ext>
            </a:extLst>
          </p:cNvPr>
          <p:cNvSpPr>
            <a:spLocks noGrp="1" noChangeArrowheads="1"/>
          </p:cNvSpPr>
          <p:nvPr>
            <p:ph type="title"/>
          </p:nvPr>
        </p:nvSpPr>
        <p:spPr>
          <a:xfrm>
            <a:off x="905933" y="166688"/>
            <a:ext cx="6611674" cy="432197"/>
          </a:xfrm>
        </p:spPr>
        <p:txBody>
          <a:bodyPr/>
          <a:lstStyle/>
          <a:p>
            <a:pPr eaLnBrk="1" hangingPunct="1"/>
            <a:r>
              <a:rPr lang="en-US" altLang="en-US" sz="3200" dirty="0"/>
              <a:t>Standard C Library Example</a:t>
            </a:r>
          </a:p>
        </p:txBody>
      </p:sp>
      <p:sp>
        <p:nvSpPr>
          <p:cNvPr id="54275" name="Rectangle 3">
            <a:extLst>
              <a:ext uri="{FF2B5EF4-FFF2-40B4-BE49-F238E27FC236}">
                <a16:creationId xmlns:a16="http://schemas.microsoft.com/office/drawing/2014/main" id="{3B6F1633-75BA-44BA-8653-0681C68C705D}"/>
              </a:ext>
            </a:extLst>
          </p:cNvPr>
          <p:cNvSpPr>
            <a:spLocks noGrp="1" noChangeArrowheads="1"/>
          </p:cNvSpPr>
          <p:nvPr>
            <p:ph type="body" idx="1"/>
          </p:nvPr>
        </p:nvSpPr>
        <p:spPr>
          <a:xfrm>
            <a:off x="711200" y="812136"/>
            <a:ext cx="7958667" cy="432197"/>
          </a:xfrm>
        </p:spPr>
        <p:txBody>
          <a:bodyPr/>
          <a:lstStyle/>
          <a:p>
            <a:r>
              <a:rPr lang="en-US" altLang="en-US" sz="2000" dirty="0"/>
              <a:t>C program invoking </a:t>
            </a:r>
            <a:r>
              <a:rPr lang="en-US" altLang="en-US" sz="2000" dirty="0" err="1"/>
              <a:t>printf</a:t>
            </a:r>
            <a:r>
              <a:rPr lang="en-US" altLang="en-US" sz="2000" dirty="0"/>
              <a:t>() library call, which calls write() system call</a:t>
            </a:r>
          </a:p>
        </p:txBody>
      </p:sp>
      <p:pic>
        <p:nvPicPr>
          <p:cNvPr id="54276" name="Picture 2">
            <a:extLst>
              <a:ext uri="{FF2B5EF4-FFF2-40B4-BE49-F238E27FC236}">
                <a16:creationId xmlns:a16="http://schemas.microsoft.com/office/drawing/2014/main" id="{89B408DE-A663-4E0E-A0FA-8F2D1E87AE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61737" y="1207354"/>
            <a:ext cx="3310467" cy="3398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643665EF-962E-0896-259E-E1A6FE7C890E}"/>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99A476BD-0E04-4E34-92A4-16BA034F5126}"/>
              </a:ext>
            </a:extLst>
          </p:cNvPr>
          <p:cNvSpPr>
            <a:spLocks noGrp="1" noChangeArrowheads="1"/>
          </p:cNvSpPr>
          <p:nvPr>
            <p:ph type="title"/>
          </p:nvPr>
        </p:nvSpPr>
        <p:spPr>
          <a:xfrm>
            <a:off x="863600" y="161926"/>
            <a:ext cx="6669485" cy="432197"/>
          </a:xfrm>
        </p:spPr>
        <p:txBody>
          <a:bodyPr/>
          <a:lstStyle/>
          <a:p>
            <a:r>
              <a:rPr lang="en-US" altLang="en-US" sz="3200" dirty="0"/>
              <a:t>Example - Arduino</a:t>
            </a:r>
          </a:p>
        </p:txBody>
      </p:sp>
      <p:sp>
        <p:nvSpPr>
          <p:cNvPr id="56323" name="Content Placeholder 2">
            <a:extLst>
              <a:ext uri="{FF2B5EF4-FFF2-40B4-BE49-F238E27FC236}">
                <a16:creationId xmlns:a16="http://schemas.microsoft.com/office/drawing/2014/main" id="{1F501235-9681-4141-B622-1D7728DD9EB5}"/>
              </a:ext>
            </a:extLst>
          </p:cNvPr>
          <p:cNvSpPr>
            <a:spLocks noGrp="1" noChangeArrowheads="1"/>
          </p:cNvSpPr>
          <p:nvPr>
            <p:ph idx="1"/>
          </p:nvPr>
        </p:nvSpPr>
        <p:spPr>
          <a:xfrm>
            <a:off x="618067" y="934498"/>
            <a:ext cx="4574646" cy="2629902"/>
          </a:xfrm>
        </p:spPr>
        <p:txBody>
          <a:bodyPr/>
          <a:lstStyle/>
          <a:p>
            <a:r>
              <a:rPr lang="en-US" altLang="en-US" sz="2000" dirty="0"/>
              <a:t>Single-tasking</a:t>
            </a:r>
          </a:p>
          <a:p>
            <a:r>
              <a:rPr lang="en-US" altLang="en-US" sz="2000" dirty="0"/>
              <a:t>No operating system</a:t>
            </a:r>
          </a:p>
          <a:p>
            <a:r>
              <a:rPr lang="en-US" altLang="en-US" sz="2000" dirty="0"/>
              <a:t>Programs (sketch) loaded via USB into flash memory</a:t>
            </a:r>
          </a:p>
          <a:p>
            <a:r>
              <a:rPr lang="en-US" altLang="en-US" sz="2000" dirty="0"/>
              <a:t>Single memory space</a:t>
            </a:r>
          </a:p>
          <a:p>
            <a:r>
              <a:rPr lang="en-US" altLang="en-US" sz="2000" dirty="0"/>
              <a:t>Boot loader loads program</a:t>
            </a:r>
          </a:p>
          <a:p>
            <a:r>
              <a:rPr lang="en-US" altLang="en-US" sz="2000" dirty="0"/>
              <a:t>Program exit -&gt; shell reloaded</a:t>
            </a:r>
          </a:p>
        </p:txBody>
      </p:sp>
      <p:grpSp>
        <p:nvGrpSpPr>
          <p:cNvPr id="3" name="组合 2">
            <a:extLst>
              <a:ext uri="{FF2B5EF4-FFF2-40B4-BE49-F238E27FC236}">
                <a16:creationId xmlns:a16="http://schemas.microsoft.com/office/drawing/2014/main" id="{6161E38B-9BD3-16C8-871C-87D5D8D60F92}"/>
              </a:ext>
            </a:extLst>
          </p:cNvPr>
          <p:cNvGrpSpPr/>
          <p:nvPr/>
        </p:nvGrpSpPr>
        <p:grpSpPr>
          <a:xfrm>
            <a:off x="5192713" y="1256799"/>
            <a:ext cx="3443287" cy="2629902"/>
            <a:chOff x="4441031" y="949568"/>
            <a:chExt cx="3443287" cy="2629902"/>
          </a:xfrm>
        </p:grpSpPr>
        <p:sp>
          <p:nvSpPr>
            <p:cNvPr id="56324" name="Rectangle 5">
              <a:extLst>
                <a:ext uri="{FF2B5EF4-FFF2-40B4-BE49-F238E27FC236}">
                  <a16:creationId xmlns:a16="http://schemas.microsoft.com/office/drawing/2014/main" id="{EE74204F-304A-484C-931B-3D190F5E8B8A}"/>
                </a:ext>
              </a:extLst>
            </p:cNvPr>
            <p:cNvSpPr>
              <a:spLocks noChangeArrowheads="1"/>
            </p:cNvSpPr>
            <p:nvPr/>
          </p:nvSpPr>
          <p:spPr bwMode="auto">
            <a:xfrm>
              <a:off x="4441031" y="3279388"/>
              <a:ext cx="34432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SzPct val="90000"/>
                <a:buFont typeface="Monotype Sorts" pitchFamily="-84" charset="2"/>
                <a:buNone/>
              </a:pPr>
              <a:r>
                <a:rPr lang="en-US" altLang="en-US" sz="1350" dirty="0"/>
                <a:t>At system startup          running a program</a:t>
              </a:r>
            </a:p>
          </p:txBody>
        </p:sp>
        <p:pic>
          <p:nvPicPr>
            <p:cNvPr id="56325" name="Picture 2">
              <a:extLst>
                <a:ext uri="{FF2B5EF4-FFF2-40B4-BE49-F238E27FC236}">
                  <a16:creationId xmlns:a16="http://schemas.microsoft.com/office/drawing/2014/main" id="{3D7E9EC8-C0AA-4A87-B993-D1E4AABF44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4715" y="949568"/>
              <a:ext cx="2948369" cy="231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灯片编号占位符 1">
            <a:extLst>
              <a:ext uri="{FF2B5EF4-FFF2-40B4-BE49-F238E27FC236}">
                <a16:creationId xmlns:a16="http://schemas.microsoft.com/office/drawing/2014/main" id="{45886450-8276-B285-ABE0-790A2A6AF8A1}"/>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C7AD885-D28A-4AE1-BCC0-082E8F9D4ACA}"/>
              </a:ext>
            </a:extLst>
          </p:cNvPr>
          <p:cNvSpPr>
            <a:spLocks noGrp="1" noChangeArrowheads="1"/>
          </p:cNvSpPr>
          <p:nvPr>
            <p:ph type="title"/>
          </p:nvPr>
        </p:nvSpPr>
        <p:spPr>
          <a:xfrm>
            <a:off x="889000" y="161926"/>
            <a:ext cx="6627416" cy="432197"/>
          </a:xfrm>
        </p:spPr>
        <p:txBody>
          <a:bodyPr/>
          <a:lstStyle/>
          <a:p>
            <a:r>
              <a:rPr lang="en-US" altLang="en-US" sz="3200" dirty="0"/>
              <a:t>Example - FreeBSD</a:t>
            </a:r>
          </a:p>
        </p:txBody>
      </p:sp>
      <p:pic>
        <p:nvPicPr>
          <p:cNvPr id="57348" name="Picture 2">
            <a:extLst>
              <a:ext uri="{FF2B5EF4-FFF2-40B4-BE49-F238E27FC236}">
                <a16:creationId xmlns:a16="http://schemas.microsoft.com/office/drawing/2014/main" id="{A51BFFAE-589E-4BC3-AFB7-2D6A9C24A2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4115" y="1148780"/>
            <a:ext cx="2024063" cy="2930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Content Placeholder 2">
            <a:extLst>
              <a:ext uri="{FF2B5EF4-FFF2-40B4-BE49-F238E27FC236}">
                <a16:creationId xmlns:a16="http://schemas.microsoft.com/office/drawing/2014/main" id="{3553DF37-09AA-4821-AFCB-D93A473E1923}"/>
              </a:ext>
            </a:extLst>
          </p:cNvPr>
          <p:cNvSpPr>
            <a:spLocks noGrp="1" noChangeArrowheads="1"/>
          </p:cNvSpPr>
          <p:nvPr>
            <p:ph idx="1"/>
          </p:nvPr>
        </p:nvSpPr>
        <p:spPr>
          <a:xfrm>
            <a:off x="889000" y="807086"/>
            <a:ext cx="5942013" cy="3122455"/>
          </a:xfrm>
        </p:spPr>
        <p:txBody>
          <a:bodyPr/>
          <a:lstStyle/>
          <a:p>
            <a:pPr>
              <a:spcBef>
                <a:spcPts val="0"/>
              </a:spcBef>
            </a:pPr>
            <a:r>
              <a:rPr lang="en-US" altLang="en-US" sz="2000" dirty="0"/>
              <a:t>Unix variant</a:t>
            </a:r>
          </a:p>
          <a:p>
            <a:pPr>
              <a:spcBef>
                <a:spcPts val="0"/>
              </a:spcBef>
            </a:pPr>
            <a:r>
              <a:rPr lang="en-US" altLang="en-US" sz="2000" dirty="0"/>
              <a:t>Multitasking</a:t>
            </a:r>
          </a:p>
          <a:p>
            <a:pPr>
              <a:spcBef>
                <a:spcPts val="0"/>
              </a:spcBef>
            </a:pPr>
            <a:r>
              <a:rPr lang="en-US" altLang="en-US" sz="2000" dirty="0"/>
              <a:t>User login -&gt; invoke user’</a:t>
            </a:r>
            <a:r>
              <a:rPr lang="en-US" altLang="ja-JP" sz="2000" dirty="0"/>
              <a:t>s choice of shell</a:t>
            </a:r>
          </a:p>
          <a:p>
            <a:pPr>
              <a:spcBef>
                <a:spcPts val="0"/>
              </a:spcBef>
            </a:pPr>
            <a:r>
              <a:rPr lang="en-US" altLang="en-US" sz="2000" dirty="0"/>
              <a:t>Shell executes fork() system call to create process</a:t>
            </a:r>
          </a:p>
          <a:p>
            <a:pPr lvl="1">
              <a:spcBef>
                <a:spcPts val="0"/>
              </a:spcBef>
            </a:pPr>
            <a:r>
              <a:rPr lang="en-US" altLang="en-US" sz="1800" dirty="0"/>
              <a:t>Executes exec() to load program into process</a:t>
            </a:r>
          </a:p>
          <a:p>
            <a:pPr lvl="1">
              <a:spcBef>
                <a:spcPts val="0"/>
              </a:spcBef>
            </a:pPr>
            <a:r>
              <a:rPr lang="en-US" altLang="en-US" sz="1800" dirty="0"/>
              <a:t>Shell waits for process to terminate or continues with user commands</a:t>
            </a:r>
          </a:p>
          <a:p>
            <a:pPr>
              <a:spcBef>
                <a:spcPts val="0"/>
              </a:spcBef>
            </a:pPr>
            <a:r>
              <a:rPr lang="en-US" altLang="en-US" sz="2000" dirty="0"/>
              <a:t>Process exits with</a:t>
            </a:r>
          </a:p>
          <a:p>
            <a:pPr lvl="1">
              <a:spcBef>
                <a:spcPts val="0"/>
              </a:spcBef>
            </a:pPr>
            <a:r>
              <a:rPr lang="en-US" altLang="en-US" sz="2000" dirty="0"/>
              <a:t> </a:t>
            </a:r>
            <a:r>
              <a:rPr lang="en-US" altLang="en-US" sz="1800" dirty="0"/>
              <a:t>code = 0 – no error </a:t>
            </a:r>
          </a:p>
          <a:p>
            <a:pPr lvl="1">
              <a:spcBef>
                <a:spcPts val="0"/>
              </a:spcBef>
            </a:pPr>
            <a:r>
              <a:rPr lang="en-US" altLang="en-US" sz="1800" dirty="0"/>
              <a:t> code &gt; 0 – error code</a:t>
            </a:r>
          </a:p>
        </p:txBody>
      </p:sp>
      <p:sp>
        <p:nvSpPr>
          <p:cNvPr id="2" name="灯片编号占位符 1">
            <a:extLst>
              <a:ext uri="{FF2B5EF4-FFF2-40B4-BE49-F238E27FC236}">
                <a16:creationId xmlns:a16="http://schemas.microsoft.com/office/drawing/2014/main" id="{7E96484B-F2E4-DCA9-DD98-F31DF8C8CB6A}"/>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AB5C763-1598-4AB4-AB9B-F1C1B35DAD8F}"/>
              </a:ext>
            </a:extLst>
          </p:cNvPr>
          <p:cNvSpPr>
            <a:spLocks noGrp="1" noChangeArrowheads="1"/>
          </p:cNvSpPr>
          <p:nvPr>
            <p:ph type="title"/>
          </p:nvPr>
        </p:nvSpPr>
        <p:spPr>
          <a:xfrm>
            <a:off x="965200" y="163116"/>
            <a:ext cx="6566694" cy="432197"/>
          </a:xfrm>
        </p:spPr>
        <p:txBody>
          <a:bodyPr/>
          <a:lstStyle/>
          <a:p>
            <a:pPr eaLnBrk="1" hangingPunct="1"/>
            <a:r>
              <a:rPr lang="en-US" altLang="en-US" sz="3200" dirty="0"/>
              <a:t>System Services (1)</a:t>
            </a:r>
          </a:p>
        </p:txBody>
      </p:sp>
      <p:sp>
        <p:nvSpPr>
          <p:cNvPr id="58371" name="Rectangle 3">
            <a:extLst>
              <a:ext uri="{FF2B5EF4-FFF2-40B4-BE49-F238E27FC236}">
                <a16:creationId xmlns:a16="http://schemas.microsoft.com/office/drawing/2014/main" id="{AA46F960-9F83-4DB3-8C85-8EB4B59F58C6}"/>
              </a:ext>
            </a:extLst>
          </p:cNvPr>
          <p:cNvSpPr>
            <a:spLocks noGrp="1" noChangeArrowheads="1"/>
          </p:cNvSpPr>
          <p:nvPr>
            <p:ph type="body" idx="1"/>
          </p:nvPr>
        </p:nvSpPr>
        <p:spPr>
          <a:xfrm>
            <a:off x="965200" y="823467"/>
            <a:ext cx="7797800" cy="3325203"/>
          </a:xfrm>
        </p:spPr>
        <p:txBody>
          <a:bodyPr/>
          <a:lstStyle/>
          <a:p>
            <a:pPr>
              <a:spcBef>
                <a:spcPts val="0"/>
              </a:spcBef>
            </a:pPr>
            <a:r>
              <a:rPr lang="en-US" altLang="en-US" sz="2000" dirty="0">
                <a:ea typeface="+mn-ea"/>
                <a:cs typeface="Calibri" panose="020F0502020204030204" pitchFamily="34" charset="0"/>
              </a:rPr>
              <a:t>System programs provide a convenient environment for program development and execution.  They can be divided into</a:t>
            </a:r>
          </a:p>
          <a:p>
            <a:pPr lvl="1">
              <a:spcBef>
                <a:spcPts val="0"/>
              </a:spcBef>
            </a:pPr>
            <a:r>
              <a:rPr lang="en-US" altLang="en-US" sz="1800" dirty="0">
                <a:ea typeface="+mn-ea"/>
                <a:cs typeface="Calibri" panose="020F0502020204030204" pitchFamily="34" charset="0"/>
              </a:rPr>
              <a:t>File manipulation </a:t>
            </a:r>
          </a:p>
          <a:p>
            <a:pPr lvl="1">
              <a:spcBef>
                <a:spcPts val="0"/>
              </a:spcBef>
            </a:pPr>
            <a:r>
              <a:rPr lang="en-US" altLang="en-US" sz="1800" dirty="0">
                <a:ea typeface="+mn-ea"/>
                <a:cs typeface="Calibri" panose="020F0502020204030204" pitchFamily="34" charset="0"/>
              </a:rPr>
              <a:t>Status information sometimes stored in a file</a:t>
            </a:r>
          </a:p>
          <a:p>
            <a:pPr lvl="1">
              <a:spcBef>
                <a:spcPts val="0"/>
              </a:spcBef>
            </a:pPr>
            <a:r>
              <a:rPr lang="en-US" altLang="en-US" sz="1800" dirty="0">
                <a:ea typeface="+mn-ea"/>
                <a:cs typeface="Calibri" panose="020F0502020204030204" pitchFamily="34" charset="0"/>
              </a:rPr>
              <a:t>Programming language support</a:t>
            </a:r>
          </a:p>
          <a:p>
            <a:pPr lvl="1">
              <a:spcBef>
                <a:spcPts val="0"/>
              </a:spcBef>
            </a:pPr>
            <a:r>
              <a:rPr lang="en-US" altLang="en-US" sz="1800" dirty="0">
                <a:ea typeface="+mn-ea"/>
                <a:cs typeface="Calibri" panose="020F0502020204030204" pitchFamily="34" charset="0"/>
              </a:rPr>
              <a:t>Program loading and execution</a:t>
            </a:r>
          </a:p>
          <a:p>
            <a:pPr lvl="1">
              <a:spcBef>
                <a:spcPts val="0"/>
              </a:spcBef>
            </a:pPr>
            <a:r>
              <a:rPr lang="en-US" altLang="en-US" sz="1800" dirty="0">
                <a:ea typeface="+mn-ea"/>
                <a:cs typeface="Calibri" panose="020F0502020204030204" pitchFamily="34" charset="0"/>
              </a:rPr>
              <a:t>Communications</a:t>
            </a:r>
          </a:p>
          <a:p>
            <a:pPr lvl="1">
              <a:spcBef>
                <a:spcPts val="0"/>
              </a:spcBef>
            </a:pPr>
            <a:r>
              <a:rPr lang="en-US" altLang="en-US" sz="1800" dirty="0">
                <a:ea typeface="+mn-ea"/>
                <a:cs typeface="Calibri" panose="020F0502020204030204" pitchFamily="34" charset="0"/>
              </a:rPr>
              <a:t>Background services</a:t>
            </a:r>
          </a:p>
          <a:p>
            <a:pPr lvl="1">
              <a:spcBef>
                <a:spcPts val="0"/>
              </a:spcBef>
            </a:pPr>
            <a:r>
              <a:rPr lang="en-US" altLang="en-US" sz="1800" dirty="0">
                <a:ea typeface="+mn-ea"/>
                <a:cs typeface="Calibri" panose="020F0502020204030204" pitchFamily="34" charset="0"/>
              </a:rPr>
              <a:t>Application programs</a:t>
            </a:r>
          </a:p>
          <a:p>
            <a:pPr>
              <a:spcBef>
                <a:spcPts val="0"/>
              </a:spcBef>
            </a:pPr>
            <a:r>
              <a:rPr lang="en-US" altLang="en-US" sz="2000" dirty="0">
                <a:ea typeface="+mn-ea"/>
                <a:cs typeface="Calibri" panose="020F0502020204030204" pitchFamily="34" charset="0"/>
              </a:rPr>
              <a:t>Most users’</a:t>
            </a:r>
            <a:r>
              <a:rPr lang="ja-JP" altLang="en-US" sz="2000" dirty="0">
                <a:ea typeface="+mn-ea"/>
                <a:cs typeface="Calibri" panose="020F0502020204030204" pitchFamily="34" charset="0"/>
              </a:rPr>
              <a:t> </a:t>
            </a:r>
            <a:r>
              <a:rPr lang="en-US" altLang="ja-JP" sz="2000" dirty="0">
                <a:ea typeface="+mn-ea"/>
                <a:cs typeface="Calibri" panose="020F0502020204030204" pitchFamily="34" charset="0"/>
              </a:rPr>
              <a:t>view of the operating system is defined by system programs, not the actual system calls</a:t>
            </a:r>
            <a:endParaRPr lang="en-US" altLang="en-US" sz="2000" dirty="0">
              <a:ea typeface="+mn-ea"/>
              <a:cs typeface="Calibri" panose="020F0502020204030204" pitchFamily="34" charset="0"/>
            </a:endParaRPr>
          </a:p>
        </p:txBody>
      </p:sp>
      <p:sp>
        <p:nvSpPr>
          <p:cNvPr id="2" name="灯片编号占位符 1">
            <a:extLst>
              <a:ext uri="{FF2B5EF4-FFF2-40B4-BE49-F238E27FC236}">
                <a16:creationId xmlns:a16="http://schemas.microsoft.com/office/drawing/2014/main" id="{0627729B-BA26-30EC-68B9-7AC3761506E8}"/>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4EAC52B-9D2D-4A55-866C-947C20391EF1}"/>
              </a:ext>
            </a:extLst>
          </p:cNvPr>
          <p:cNvSpPr>
            <a:spLocks noGrp="1" noChangeArrowheads="1"/>
          </p:cNvSpPr>
          <p:nvPr>
            <p:ph type="title"/>
          </p:nvPr>
        </p:nvSpPr>
        <p:spPr>
          <a:xfrm>
            <a:off x="922867" y="163116"/>
            <a:ext cx="6609027" cy="432197"/>
          </a:xfrm>
        </p:spPr>
        <p:txBody>
          <a:bodyPr/>
          <a:lstStyle/>
          <a:p>
            <a:pPr eaLnBrk="1" hangingPunct="1"/>
            <a:r>
              <a:rPr lang="en-US" altLang="en-US" sz="3200" dirty="0"/>
              <a:t>System Services (2)</a:t>
            </a:r>
          </a:p>
        </p:txBody>
      </p:sp>
      <p:sp>
        <p:nvSpPr>
          <p:cNvPr id="60419" name="Rectangle 3">
            <a:extLst>
              <a:ext uri="{FF2B5EF4-FFF2-40B4-BE49-F238E27FC236}">
                <a16:creationId xmlns:a16="http://schemas.microsoft.com/office/drawing/2014/main" id="{49895B5E-8C8B-46CB-ACFE-27F598441471}"/>
              </a:ext>
            </a:extLst>
          </p:cNvPr>
          <p:cNvSpPr>
            <a:spLocks noGrp="1" noChangeArrowheads="1"/>
          </p:cNvSpPr>
          <p:nvPr>
            <p:ph type="body" idx="1"/>
          </p:nvPr>
        </p:nvSpPr>
        <p:spPr>
          <a:xfrm>
            <a:off x="499533" y="864131"/>
            <a:ext cx="8305800" cy="3597802"/>
          </a:xfrm>
          <a:noFill/>
        </p:spPr>
        <p:txBody>
          <a:bodyPr/>
          <a:lstStyle/>
          <a:p>
            <a:pPr>
              <a:lnSpc>
                <a:spcPct val="90000"/>
              </a:lnSpc>
            </a:pPr>
            <a:r>
              <a:rPr lang="en-US" altLang="en-US" sz="2000" dirty="0">
                <a:cs typeface="Calibri" panose="020F0502020204030204" pitchFamily="34" charset="0"/>
              </a:rPr>
              <a:t>Provide a convenient environment for program development and execution</a:t>
            </a:r>
          </a:p>
          <a:p>
            <a:pPr lvl="1">
              <a:lnSpc>
                <a:spcPct val="90000"/>
              </a:lnSpc>
            </a:pPr>
            <a:r>
              <a:rPr lang="en-US" altLang="en-US" sz="1800" dirty="0">
                <a:cs typeface="Calibri" panose="020F0502020204030204" pitchFamily="34" charset="0"/>
              </a:rPr>
              <a:t>Some of them are simply user interfaces to system calls; others are considerably more complex</a:t>
            </a:r>
            <a:endParaRPr lang="en-US" altLang="en-US" sz="2000" dirty="0">
              <a:cs typeface="Calibri" panose="020F0502020204030204" pitchFamily="34" charset="0"/>
            </a:endParaRPr>
          </a:p>
          <a:p>
            <a:pPr>
              <a:lnSpc>
                <a:spcPct val="90000"/>
              </a:lnSpc>
            </a:pPr>
            <a:r>
              <a:rPr lang="en-US" altLang="en-US" sz="2000" dirty="0">
                <a:cs typeface="Calibri" panose="020F0502020204030204" pitchFamily="34" charset="0"/>
              </a:rPr>
              <a:t>File management - Create, delete, copy, rename, print, dump, list, and generally manipulate files and directories</a:t>
            </a:r>
          </a:p>
          <a:p>
            <a:pPr>
              <a:lnSpc>
                <a:spcPct val="90000"/>
              </a:lnSpc>
            </a:pPr>
            <a:r>
              <a:rPr lang="en-US" altLang="en-US" sz="2000" dirty="0">
                <a:cs typeface="Calibri" panose="020F0502020204030204" pitchFamily="34" charset="0"/>
              </a:rPr>
              <a:t>Status information</a:t>
            </a:r>
          </a:p>
          <a:p>
            <a:pPr lvl="1">
              <a:lnSpc>
                <a:spcPct val="90000"/>
              </a:lnSpc>
              <a:spcBef>
                <a:spcPts val="0"/>
              </a:spcBef>
            </a:pPr>
            <a:r>
              <a:rPr lang="en-US" altLang="en-US" sz="1800" dirty="0">
                <a:cs typeface="Calibri" panose="020F0502020204030204" pitchFamily="34" charset="0"/>
              </a:rPr>
              <a:t>Some ask the system for info - date, time, amount of available memory, disk space, number of users</a:t>
            </a:r>
          </a:p>
          <a:p>
            <a:pPr lvl="1">
              <a:lnSpc>
                <a:spcPct val="90000"/>
              </a:lnSpc>
              <a:spcBef>
                <a:spcPts val="0"/>
              </a:spcBef>
            </a:pPr>
            <a:r>
              <a:rPr lang="en-US" altLang="en-US" sz="1800" dirty="0">
                <a:cs typeface="Calibri" panose="020F0502020204030204" pitchFamily="34" charset="0"/>
              </a:rPr>
              <a:t>Others provide detailed performance, logging, and debugging information</a:t>
            </a:r>
          </a:p>
          <a:p>
            <a:pPr lvl="1">
              <a:lnSpc>
                <a:spcPct val="90000"/>
              </a:lnSpc>
              <a:spcBef>
                <a:spcPts val="0"/>
              </a:spcBef>
            </a:pPr>
            <a:r>
              <a:rPr lang="en-US" altLang="en-US" sz="1800" dirty="0">
                <a:cs typeface="Calibri" panose="020F0502020204030204" pitchFamily="34" charset="0"/>
              </a:rPr>
              <a:t>Typically, these programs format and print the output to the terminal or other output devices</a:t>
            </a:r>
          </a:p>
          <a:p>
            <a:pPr lvl="1">
              <a:lnSpc>
                <a:spcPct val="90000"/>
              </a:lnSpc>
              <a:spcBef>
                <a:spcPts val="0"/>
              </a:spcBef>
            </a:pPr>
            <a:r>
              <a:rPr lang="en-US" altLang="en-US" sz="1800" dirty="0">
                <a:cs typeface="Calibri" panose="020F0502020204030204" pitchFamily="34" charset="0"/>
              </a:rPr>
              <a:t>Some systems implement  a </a:t>
            </a:r>
            <a:r>
              <a:rPr lang="en-US" altLang="en-US" sz="1800" dirty="0">
                <a:solidFill>
                  <a:srgbClr val="006699"/>
                </a:solidFill>
                <a:cs typeface="Calibri" panose="020F0502020204030204" pitchFamily="34" charset="0"/>
              </a:rPr>
              <a:t>registry</a:t>
            </a:r>
            <a:r>
              <a:rPr lang="en-US" altLang="en-US" sz="1800" dirty="0">
                <a:cs typeface="Calibri" panose="020F0502020204030204" pitchFamily="34" charset="0"/>
              </a:rPr>
              <a:t> - used to store and retrieve configuration information</a:t>
            </a:r>
          </a:p>
          <a:p>
            <a:pPr>
              <a:lnSpc>
                <a:spcPct val="90000"/>
              </a:lnSpc>
              <a:buFont typeface="Monotype Sorts" pitchFamily="-84" charset="2"/>
              <a:buNone/>
            </a:pPr>
            <a:endParaRPr lang="en-US" altLang="en-US" sz="2000" dirty="0">
              <a:cs typeface="Calibri" panose="020F0502020204030204" pitchFamily="34" charset="0"/>
            </a:endParaRPr>
          </a:p>
        </p:txBody>
      </p:sp>
      <p:sp>
        <p:nvSpPr>
          <p:cNvPr id="2" name="灯片编号占位符 1">
            <a:extLst>
              <a:ext uri="{FF2B5EF4-FFF2-40B4-BE49-F238E27FC236}">
                <a16:creationId xmlns:a16="http://schemas.microsoft.com/office/drawing/2014/main" id="{6D4DF0AC-6B97-8781-870E-BE7B05E3F880}"/>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4F248A6-FEC6-47A1-A99A-98ABBC6C33A4}"/>
              </a:ext>
            </a:extLst>
          </p:cNvPr>
          <p:cNvSpPr>
            <a:spLocks noGrp="1" noChangeArrowheads="1"/>
          </p:cNvSpPr>
          <p:nvPr>
            <p:ph type="title"/>
          </p:nvPr>
        </p:nvSpPr>
        <p:spPr>
          <a:xfrm>
            <a:off x="905933" y="163116"/>
            <a:ext cx="6633105" cy="432197"/>
          </a:xfrm>
        </p:spPr>
        <p:txBody>
          <a:bodyPr/>
          <a:lstStyle/>
          <a:p>
            <a:pPr eaLnBrk="1" hangingPunct="1"/>
            <a:r>
              <a:rPr lang="en-US" altLang="en-US" sz="3200" dirty="0"/>
              <a:t>System Services (3)</a:t>
            </a:r>
          </a:p>
        </p:txBody>
      </p:sp>
      <p:sp>
        <p:nvSpPr>
          <p:cNvPr id="62467" name="Rectangle 3">
            <a:extLst>
              <a:ext uri="{FF2B5EF4-FFF2-40B4-BE49-F238E27FC236}">
                <a16:creationId xmlns:a16="http://schemas.microsoft.com/office/drawing/2014/main" id="{3AC26365-FF38-4159-8CB6-E4B6F33D9597}"/>
              </a:ext>
            </a:extLst>
          </p:cNvPr>
          <p:cNvSpPr>
            <a:spLocks noGrp="1" noChangeArrowheads="1"/>
          </p:cNvSpPr>
          <p:nvPr>
            <p:ph type="body" idx="1"/>
          </p:nvPr>
        </p:nvSpPr>
        <p:spPr>
          <a:xfrm>
            <a:off x="991401" y="835291"/>
            <a:ext cx="7594334" cy="3765584"/>
          </a:xfrm>
        </p:spPr>
        <p:txBody>
          <a:bodyPr/>
          <a:lstStyle/>
          <a:p>
            <a:pPr>
              <a:lnSpc>
                <a:spcPct val="90000"/>
              </a:lnSpc>
              <a:spcBef>
                <a:spcPts val="0"/>
              </a:spcBef>
            </a:pPr>
            <a:r>
              <a:rPr lang="en-US" altLang="en-US" sz="2000" dirty="0">
                <a:ea typeface="+mn-ea"/>
                <a:cs typeface="Calibri" panose="020F0502020204030204" pitchFamily="34" charset="0"/>
              </a:rPr>
              <a:t>File modification</a:t>
            </a:r>
          </a:p>
          <a:p>
            <a:pPr lvl="1">
              <a:lnSpc>
                <a:spcPct val="90000"/>
              </a:lnSpc>
              <a:spcBef>
                <a:spcPts val="0"/>
              </a:spcBef>
            </a:pPr>
            <a:r>
              <a:rPr lang="en-US" altLang="en-US" sz="1800" dirty="0">
                <a:ea typeface="+mn-ea"/>
                <a:cs typeface="Calibri" panose="020F0502020204030204" pitchFamily="34" charset="0"/>
              </a:rPr>
              <a:t>Text editors to create and modify files</a:t>
            </a:r>
          </a:p>
          <a:p>
            <a:pPr lvl="1">
              <a:lnSpc>
                <a:spcPct val="90000"/>
              </a:lnSpc>
              <a:spcBef>
                <a:spcPts val="0"/>
              </a:spcBef>
            </a:pPr>
            <a:r>
              <a:rPr lang="en-US" altLang="en-US" sz="1800" dirty="0">
                <a:ea typeface="+mn-ea"/>
                <a:cs typeface="Calibri" panose="020F0502020204030204" pitchFamily="34" charset="0"/>
              </a:rPr>
              <a:t>Special commands to search contents of files or perform transformations of the text</a:t>
            </a:r>
          </a:p>
          <a:p>
            <a:pPr>
              <a:lnSpc>
                <a:spcPct val="90000"/>
              </a:lnSpc>
              <a:spcBef>
                <a:spcPts val="0"/>
              </a:spcBef>
            </a:pPr>
            <a:r>
              <a:rPr lang="en-US" altLang="en-US" sz="2000" dirty="0">
                <a:ea typeface="+mn-ea"/>
                <a:cs typeface="Calibri" panose="020F0502020204030204" pitchFamily="34" charset="0"/>
              </a:rPr>
              <a:t>Programming-language support - Compilers, assemblers, debuggers and interpreters sometimes provided</a:t>
            </a:r>
          </a:p>
          <a:p>
            <a:pPr>
              <a:lnSpc>
                <a:spcPct val="90000"/>
              </a:lnSpc>
              <a:spcBef>
                <a:spcPts val="0"/>
              </a:spcBef>
            </a:pPr>
            <a:r>
              <a:rPr lang="en-US" altLang="en-US" sz="2000" dirty="0">
                <a:ea typeface="+mn-ea"/>
                <a:cs typeface="Calibri" panose="020F0502020204030204" pitchFamily="34" charset="0"/>
              </a:rPr>
              <a:t>Program loading and execution- Absolute loaders, relocatable loaders, linkage editors, and overlay-loaders, debugging systems for higher-level and machine language</a:t>
            </a:r>
          </a:p>
          <a:p>
            <a:pPr>
              <a:lnSpc>
                <a:spcPct val="90000"/>
              </a:lnSpc>
              <a:spcBef>
                <a:spcPts val="0"/>
              </a:spcBef>
            </a:pPr>
            <a:r>
              <a:rPr lang="en-US" altLang="en-US" sz="2000" dirty="0">
                <a:ea typeface="+mn-ea"/>
                <a:cs typeface="Calibri" panose="020F0502020204030204" pitchFamily="34" charset="0"/>
              </a:rPr>
              <a:t>Communications - Provide the mechanism for creating virtual connections among processes, users, and computer systems</a:t>
            </a:r>
          </a:p>
          <a:p>
            <a:pPr lvl="1">
              <a:lnSpc>
                <a:spcPct val="90000"/>
              </a:lnSpc>
              <a:spcBef>
                <a:spcPts val="0"/>
              </a:spcBef>
            </a:pPr>
            <a:r>
              <a:rPr lang="en-US" altLang="en-US" sz="1800" dirty="0">
                <a:ea typeface="+mn-ea"/>
                <a:cs typeface="Calibri" panose="020F0502020204030204" pitchFamily="34" charset="0"/>
              </a:rPr>
              <a:t>Allow users to send messages to one another</a:t>
            </a:r>
            <a:r>
              <a:rPr lang="ja-JP" altLang="en-US" sz="1800" dirty="0">
                <a:ea typeface="+mn-ea"/>
                <a:cs typeface="Calibri" panose="020F0502020204030204" pitchFamily="34" charset="0"/>
              </a:rPr>
              <a:t>’</a:t>
            </a:r>
            <a:r>
              <a:rPr lang="en-US" altLang="ja-JP" sz="1800" dirty="0">
                <a:ea typeface="+mn-ea"/>
                <a:cs typeface="Calibri" panose="020F0502020204030204" pitchFamily="34" charset="0"/>
              </a:rPr>
              <a:t>s screens, browse web pages, send electronic-mail messages, log in remotely, transfer files from one machine to another</a:t>
            </a:r>
          </a:p>
        </p:txBody>
      </p:sp>
      <p:sp>
        <p:nvSpPr>
          <p:cNvPr id="2" name="灯片编号占位符 1">
            <a:extLst>
              <a:ext uri="{FF2B5EF4-FFF2-40B4-BE49-F238E27FC236}">
                <a16:creationId xmlns:a16="http://schemas.microsoft.com/office/drawing/2014/main" id="{9B973E3A-2615-9A35-5617-1FC1E988801B}"/>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9B64704-3592-4DF7-85E7-FB2DB85811C1}"/>
              </a:ext>
            </a:extLst>
          </p:cNvPr>
          <p:cNvSpPr>
            <a:spLocks noGrp="1" noChangeArrowheads="1"/>
          </p:cNvSpPr>
          <p:nvPr>
            <p:ph type="title"/>
          </p:nvPr>
        </p:nvSpPr>
        <p:spPr>
          <a:xfrm>
            <a:off x="885525" y="163116"/>
            <a:ext cx="6618986" cy="432197"/>
          </a:xfrm>
        </p:spPr>
        <p:txBody>
          <a:bodyPr/>
          <a:lstStyle/>
          <a:p>
            <a:pPr eaLnBrk="1" hangingPunct="1"/>
            <a:r>
              <a:rPr lang="en-US" altLang="en-US" sz="3200" dirty="0"/>
              <a:t>System Services (4)</a:t>
            </a:r>
          </a:p>
        </p:txBody>
      </p:sp>
      <p:sp>
        <p:nvSpPr>
          <p:cNvPr id="64515" name="Rectangle 3">
            <a:extLst>
              <a:ext uri="{FF2B5EF4-FFF2-40B4-BE49-F238E27FC236}">
                <a16:creationId xmlns:a16="http://schemas.microsoft.com/office/drawing/2014/main" id="{893ED54D-5EE3-433B-820F-AFAE8BC4BDCE}"/>
              </a:ext>
            </a:extLst>
          </p:cNvPr>
          <p:cNvSpPr>
            <a:spLocks noGrp="1" noChangeArrowheads="1"/>
          </p:cNvSpPr>
          <p:nvPr>
            <p:ph type="body" idx="1"/>
          </p:nvPr>
        </p:nvSpPr>
        <p:spPr>
          <a:xfrm>
            <a:off x="991402" y="904775"/>
            <a:ext cx="7392202" cy="3426593"/>
          </a:xfrm>
        </p:spPr>
        <p:txBody>
          <a:bodyPr/>
          <a:lstStyle/>
          <a:p>
            <a:pPr>
              <a:lnSpc>
                <a:spcPct val="90000"/>
              </a:lnSpc>
              <a:spcBef>
                <a:spcPts val="0"/>
              </a:spcBef>
            </a:pPr>
            <a:r>
              <a:rPr lang="en-US" altLang="en-US" sz="2000" dirty="0">
                <a:cs typeface="Calibri" panose="020F0502020204030204" pitchFamily="34" charset="0"/>
              </a:rPr>
              <a:t>Background Services</a:t>
            </a:r>
          </a:p>
          <a:p>
            <a:pPr lvl="1">
              <a:lnSpc>
                <a:spcPct val="90000"/>
              </a:lnSpc>
              <a:spcBef>
                <a:spcPts val="0"/>
              </a:spcBef>
            </a:pPr>
            <a:r>
              <a:rPr lang="en-US" altLang="en-US" sz="1800" dirty="0">
                <a:cs typeface="Calibri" panose="020F0502020204030204" pitchFamily="34" charset="0"/>
              </a:rPr>
              <a:t>Launch at boot time</a:t>
            </a:r>
          </a:p>
          <a:p>
            <a:pPr lvl="2">
              <a:lnSpc>
                <a:spcPct val="90000"/>
              </a:lnSpc>
              <a:spcBef>
                <a:spcPts val="0"/>
              </a:spcBef>
            </a:pPr>
            <a:r>
              <a:rPr lang="en-US" altLang="en-US" sz="1800" dirty="0"/>
              <a:t>Some for system startup, then terminate</a:t>
            </a:r>
          </a:p>
          <a:p>
            <a:pPr lvl="2">
              <a:lnSpc>
                <a:spcPct val="90000"/>
              </a:lnSpc>
              <a:spcBef>
                <a:spcPts val="0"/>
              </a:spcBef>
            </a:pPr>
            <a:r>
              <a:rPr lang="en-US" altLang="en-US" sz="1800" dirty="0"/>
              <a:t>Some from system boot to shutdown</a:t>
            </a:r>
          </a:p>
          <a:p>
            <a:pPr lvl="1">
              <a:lnSpc>
                <a:spcPct val="90000"/>
              </a:lnSpc>
              <a:spcBef>
                <a:spcPts val="0"/>
              </a:spcBef>
            </a:pPr>
            <a:r>
              <a:rPr lang="en-US" altLang="en-US" sz="1800" dirty="0">
                <a:cs typeface="Calibri" panose="020F0502020204030204" pitchFamily="34" charset="0"/>
              </a:rPr>
              <a:t>Provide facilities like disk checking, process scheduling, error logging, printing</a:t>
            </a:r>
          </a:p>
          <a:p>
            <a:pPr lvl="1">
              <a:lnSpc>
                <a:spcPct val="90000"/>
              </a:lnSpc>
              <a:spcBef>
                <a:spcPts val="0"/>
              </a:spcBef>
            </a:pPr>
            <a:r>
              <a:rPr lang="en-US" altLang="en-US" sz="1800" dirty="0">
                <a:cs typeface="Calibri" panose="020F0502020204030204" pitchFamily="34" charset="0"/>
              </a:rPr>
              <a:t>Run in user context not kernel context</a:t>
            </a:r>
          </a:p>
          <a:p>
            <a:pPr lvl="1">
              <a:lnSpc>
                <a:spcPct val="90000"/>
              </a:lnSpc>
              <a:spcBef>
                <a:spcPts val="0"/>
              </a:spcBef>
            </a:pPr>
            <a:r>
              <a:rPr lang="en-US" altLang="en-US" sz="1800" dirty="0">
                <a:cs typeface="Calibri" panose="020F0502020204030204" pitchFamily="34" charset="0"/>
              </a:rPr>
              <a:t>Known as </a:t>
            </a:r>
            <a:r>
              <a:rPr lang="en-US" altLang="en-US" sz="1800" dirty="0">
                <a:solidFill>
                  <a:srgbClr val="006699"/>
                </a:solidFill>
                <a:cs typeface="Calibri" panose="020F0502020204030204" pitchFamily="34" charset="0"/>
              </a:rPr>
              <a:t>services</a:t>
            </a:r>
            <a:r>
              <a:rPr lang="en-US" altLang="en-US" sz="1800" dirty="0">
                <a:cs typeface="Calibri" panose="020F0502020204030204" pitchFamily="34" charset="0"/>
              </a:rPr>
              <a:t>, </a:t>
            </a:r>
            <a:r>
              <a:rPr lang="en-US" altLang="en-US" sz="1800" dirty="0">
                <a:solidFill>
                  <a:srgbClr val="006699"/>
                </a:solidFill>
                <a:cs typeface="Calibri" panose="020F0502020204030204" pitchFamily="34" charset="0"/>
              </a:rPr>
              <a:t>subsystems</a:t>
            </a:r>
            <a:r>
              <a:rPr lang="en-US" altLang="en-US" sz="1800" dirty="0">
                <a:cs typeface="Calibri" panose="020F0502020204030204" pitchFamily="34" charset="0"/>
              </a:rPr>
              <a:t>, </a:t>
            </a:r>
            <a:r>
              <a:rPr lang="en-US" altLang="en-US" sz="1800" dirty="0">
                <a:solidFill>
                  <a:srgbClr val="006699"/>
                </a:solidFill>
                <a:cs typeface="Calibri" panose="020F0502020204030204" pitchFamily="34" charset="0"/>
              </a:rPr>
              <a:t>daemons</a:t>
            </a:r>
            <a:r>
              <a:rPr lang="en-US" altLang="en-US" sz="1800" dirty="0">
                <a:cs typeface="Calibri" panose="020F0502020204030204" pitchFamily="34" charset="0"/>
              </a:rPr>
              <a:t> </a:t>
            </a:r>
            <a:endParaRPr lang="en-US" altLang="en-US" sz="2000" dirty="0">
              <a:cs typeface="Calibri" panose="020F0502020204030204" pitchFamily="34" charset="0"/>
            </a:endParaRPr>
          </a:p>
          <a:p>
            <a:pPr>
              <a:lnSpc>
                <a:spcPct val="90000"/>
              </a:lnSpc>
              <a:spcBef>
                <a:spcPts val="0"/>
              </a:spcBef>
            </a:pPr>
            <a:r>
              <a:rPr lang="en-US" altLang="en-US" sz="2000" dirty="0">
                <a:cs typeface="Calibri" panose="020F0502020204030204" pitchFamily="34" charset="0"/>
              </a:rPr>
              <a:t>Application programs</a:t>
            </a:r>
          </a:p>
          <a:p>
            <a:pPr lvl="1">
              <a:lnSpc>
                <a:spcPct val="90000"/>
              </a:lnSpc>
              <a:spcBef>
                <a:spcPts val="0"/>
              </a:spcBef>
            </a:pPr>
            <a:r>
              <a:rPr lang="en-US" altLang="en-US" sz="1800" dirty="0">
                <a:cs typeface="Calibri" panose="020F0502020204030204" pitchFamily="34" charset="0"/>
              </a:rPr>
              <a:t>Don’t pertain to system</a:t>
            </a:r>
          </a:p>
          <a:p>
            <a:pPr lvl="1">
              <a:lnSpc>
                <a:spcPct val="90000"/>
              </a:lnSpc>
              <a:spcBef>
                <a:spcPts val="0"/>
              </a:spcBef>
            </a:pPr>
            <a:r>
              <a:rPr lang="en-US" altLang="en-US" sz="1800" dirty="0">
                <a:cs typeface="Calibri" panose="020F0502020204030204" pitchFamily="34" charset="0"/>
              </a:rPr>
              <a:t>Run by users</a:t>
            </a:r>
          </a:p>
          <a:p>
            <a:pPr lvl="1">
              <a:lnSpc>
                <a:spcPct val="90000"/>
              </a:lnSpc>
              <a:spcBef>
                <a:spcPts val="0"/>
              </a:spcBef>
            </a:pPr>
            <a:r>
              <a:rPr lang="en-US" altLang="en-US" sz="1800" dirty="0">
                <a:cs typeface="Calibri" panose="020F0502020204030204" pitchFamily="34" charset="0"/>
              </a:rPr>
              <a:t>Not typically considered part of OS</a:t>
            </a:r>
          </a:p>
          <a:p>
            <a:pPr lvl="1">
              <a:lnSpc>
                <a:spcPct val="90000"/>
              </a:lnSpc>
              <a:spcBef>
                <a:spcPts val="0"/>
              </a:spcBef>
            </a:pPr>
            <a:r>
              <a:rPr lang="en-US" altLang="en-US" sz="1800" dirty="0">
                <a:cs typeface="Calibri" panose="020F0502020204030204" pitchFamily="34" charset="0"/>
              </a:rPr>
              <a:t>Launched by command line, mouse click, finger poke</a:t>
            </a:r>
          </a:p>
        </p:txBody>
      </p:sp>
      <p:sp>
        <p:nvSpPr>
          <p:cNvPr id="2" name="灯片编号占位符 1">
            <a:extLst>
              <a:ext uri="{FF2B5EF4-FFF2-40B4-BE49-F238E27FC236}">
                <a16:creationId xmlns:a16="http://schemas.microsoft.com/office/drawing/2014/main" id="{F5057F23-988D-7CE4-5503-5D554BABA0F3}"/>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139628D-AE2A-46FB-AA5B-FECFA241AAEF}"/>
              </a:ext>
            </a:extLst>
          </p:cNvPr>
          <p:cNvSpPr>
            <a:spLocks noGrp="1" noChangeArrowheads="1"/>
          </p:cNvSpPr>
          <p:nvPr>
            <p:ph type="title"/>
          </p:nvPr>
        </p:nvSpPr>
        <p:spPr>
          <a:xfrm>
            <a:off x="904775" y="108349"/>
            <a:ext cx="7770915" cy="519113"/>
          </a:xfrm>
        </p:spPr>
        <p:txBody>
          <a:bodyPr/>
          <a:lstStyle/>
          <a:p>
            <a:r>
              <a:rPr lang="en-US" altLang="en-US" sz="3200" dirty="0"/>
              <a:t>Linkers and Loaders</a:t>
            </a:r>
          </a:p>
        </p:txBody>
      </p:sp>
      <p:sp>
        <p:nvSpPr>
          <p:cNvPr id="66563" name="Content Placeholder 2">
            <a:extLst>
              <a:ext uri="{FF2B5EF4-FFF2-40B4-BE49-F238E27FC236}">
                <a16:creationId xmlns:a16="http://schemas.microsoft.com/office/drawing/2014/main" id="{F413004A-DAD3-4F03-A509-ECD5943DEFDE}"/>
              </a:ext>
            </a:extLst>
          </p:cNvPr>
          <p:cNvSpPr>
            <a:spLocks noGrp="1" noChangeArrowheads="1"/>
          </p:cNvSpPr>
          <p:nvPr>
            <p:ph idx="1"/>
          </p:nvPr>
        </p:nvSpPr>
        <p:spPr>
          <a:xfrm>
            <a:off x="728455" y="872933"/>
            <a:ext cx="8027303" cy="3659566"/>
          </a:xfrm>
        </p:spPr>
        <p:txBody>
          <a:bodyPr/>
          <a:lstStyle/>
          <a:p>
            <a:pPr>
              <a:spcBef>
                <a:spcPts val="0"/>
              </a:spcBef>
            </a:pPr>
            <a:r>
              <a:rPr lang="en-US" altLang="en-US" sz="1800" dirty="0">
                <a:ea typeface="+mn-ea"/>
                <a:cs typeface="Calibri" panose="020F0502020204030204" pitchFamily="34" charset="0"/>
              </a:rPr>
              <a:t>Source code compiled into object files designed to be loaded into any physical memory location – </a:t>
            </a:r>
            <a:r>
              <a:rPr lang="en-US" altLang="en-US" sz="1800" b="1" dirty="0">
                <a:solidFill>
                  <a:srgbClr val="006699"/>
                </a:solidFill>
                <a:ea typeface="+mn-ea"/>
                <a:cs typeface="Calibri" panose="020F0502020204030204" pitchFamily="34" charset="0"/>
              </a:rPr>
              <a:t>relocatable</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object</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file</a:t>
            </a:r>
          </a:p>
          <a:p>
            <a:pPr>
              <a:spcBef>
                <a:spcPts val="0"/>
              </a:spcBef>
            </a:pPr>
            <a:r>
              <a:rPr lang="en-US" altLang="en-US" sz="1800" b="1" dirty="0">
                <a:solidFill>
                  <a:srgbClr val="006699"/>
                </a:solidFill>
                <a:ea typeface="+mn-ea"/>
                <a:cs typeface="Calibri" panose="020F0502020204030204" pitchFamily="34" charset="0"/>
              </a:rPr>
              <a:t>Linker</a:t>
            </a:r>
            <a:r>
              <a:rPr lang="en-US" altLang="en-US" sz="1800" b="1" dirty="0">
                <a:solidFill>
                  <a:srgbClr val="3366FF"/>
                </a:solidFill>
                <a:ea typeface="+mn-ea"/>
                <a:cs typeface="Calibri" panose="020F0502020204030204" pitchFamily="34" charset="0"/>
              </a:rPr>
              <a:t> </a:t>
            </a:r>
            <a:r>
              <a:rPr lang="en-US" altLang="en-US" sz="1800" dirty="0">
                <a:ea typeface="+mn-ea"/>
                <a:cs typeface="Calibri" panose="020F0502020204030204" pitchFamily="34" charset="0"/>
              </a:rPr>
              <a:t>combines these into single binary </a:t>
            </a:r>
            <a:r>
              <a:rPr lang="en-US" altLang="en-US" sz="1800" b="1" dirty="0">
                <a:solidFill>
                  <a:srgbClr val="006699"/>
                </a:solidFill>
                <a:ea typeface="+mn-ea"/>
                <a:cs typeface="Calibri" panose="020F0502020204030204" pitchFamily="34" charset="0"/>
              </a:rPr>
              <a:t>executable</a:t>
            </a:r>
            <a:r>
              <a:rPr lang="en-US" altLang="en-US" sz="1800" dirty="0">
                <a:ea typeface="+mn-ea"/>
                <a:cs typeface="Calibri" panose="020F0502020204030204" pitchFamily="34" charset="0"/>
              </a:rPr>
              <a:t> file</a:t>
            </a:r>
          </a:p>
          <a:p>
            <a:pPr lvl="1">
              <a:spcBef>
                <a:spcPts val="0"/>
              </a:spcBef>
            </a:pPr>
            <a:r>
              <a:rPr lang="en-US" altLang="en-US" sz="1800" dirty="0">
                <a:ea typeface="+mn-ea"/>
                <a:cs typeface="Calibri" panose="020F0502020204030204" pitchFamily="34" charset="0"/>
              </a:rPr>
              <a:t>Also brings in libraries</a:t>
            </a:r>
          </a:p>
          <a:p>
            <a:pPr>
              <a:spcBef>
                <a:spcPts val="0"/>
              </a:spcBef>
            </a:pPr>
            <a:r>
              <a:rPr lang="en-US" altLang="en-US" sz="1800" dirty="0">
                <a:ea typeface="+mn-ea"/>
                <a:cs typeface="Calibri" panose="020F0502020204030204" pitchFamily="34" charset="0"/>
              </a:rPr>
              <a:t>Program resides on secondary storage as binary executable</a:t>
            </a:r>
          </a:p>
          <a:p>
            <a:pPr>
              <a:spcBef>
                <a:spcPts val="0"/>
              </a:spcBef>
            </a:pPr>
            <a:r>
              <a:rPr lang="en-US" altLang="en-US" sz="1800" dirty="0">
                <a:ea typeface="+mn-ea"/>
                <a:cs typeface="Calibri" panose="020F0502020204030204" pitchFamily="34" charset="0"/>
              </a:rPr>
              <a:t>Must be brought into memory by </a:t>
            </a:r>
            <a:r>
              <a:rPr lang="en-US" altLang="en-US" sz="1800" b="1" dirty="0">
                <a:solidFill>
                  <a:srgbClr val="006699"/>
                </a:solidFill>
                <a:ea typeface="+mn-ea"/>
                <a:cs typeface="Calibri" panose="020F0502020204030204" pitchFamily="34" charset="0"/>
              </a:rPr>
              <a:t>loader</a:t>
            </a:r>
            <a:r>
              <a:rPr lang="en-US" altLang="en-US" sz="1800" dirty="0">
                <a:ea typeface="+mn-ea"/>
                <a:cs typeface="Calibri" panose="020F0502020204030204" pitchFamily="34" charset="0"/>
              </a:rPr>
              <a:t> to be executed</a:t>
            </a:r>
          </a:p>
          <a:p>
            <a:pPr lvl="1">
              <a:spcBef>
                <a:spcPts val="0"/>
              </a:spcBef>
            </a:pPr>
            <a:r>
              <a:rPr lang="en-US" altLang="en-US" sz="1800" b="1" dirty="0">
                <a:solidFill>
                  <a:srgbClr val="006699"/>
                </a:solidFill>
                <a:ea typeface="+mn-ea"/>
                <a:cs typeface="Calibri" panose="020F0502020204030204" pitchFamily="34" charset="0"/>
              </a:rPr>
              <a:t>Relocation</a:t>
            </a:r>
            <a:r>
              <a:rPr lang="en-US" altLang="en-US" sz="1800" dirty="0">
                <a:ea typeface="+mn-ea"/>
                <a:cs typeface="Calibri" panose="020F0502020204030204" pitchFamily="34" charset="0"/>
              </a:rPr>
              <a:t> assigns final addresses to program parts and adjusts code and data in program to match those addresses</a:t>
            </a:r>
          </a:p>
          <a:p>
            <a:pPr>
              <a:spcBef>
                <a:spcPts val="0"/>
              </a:spcBef>
            </a:pPr>
            <a:r>
              <a:rPr lang="en-US" altLang="en-US" sz="1800" dirty="0">
                <a:ea typeface="+mn-ea"/>
                <a:cs typeface="Calibri" panose="020F0502020204030204" pitchFamily="34" charset="0"/>
              </a:rPr>
              <a:t>Modern general purpose systems don’t link libraries into executables</a:t>
            </a:r>
          </a:p>
          <a:p>
            <a:pPr lvl="1">
              <a:spcBef>
                <a:spcPts val="0"/>
              </a:spcBef>
            </a:pPr>
            <a:r>
              <a:rPr lang="en-US" altLang="en-US" sz="1800" dirty="0">
                <a:ea typeface="+mn-ea"/>
                <a:cs typeface="Calibri" panose="020F0502020204030204" pitchFamily="34" charset="0"/>
              </a:rPr>
              <a:t>Rather, </a:t>
            </a:r>
            <a:r>
              <a:rPr lang="en-US" altLang="en-US" sz="1800" b="1" dirty="0">
                <a:solidFill>
                  <a:srgbClr val="006699"/>
                </a:solidFill>
                <a:ea typeface="+mn-ea"/>
                <a:cs typeface="Calibri" panose="020F0502020204030204" pitchFamily="34" charset="0"/>
              </a:rPr>
              <a:t>dynamically</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linked</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libraries</a:t>
            </a:r>
            <a:r>
              <a:rPr lang="en-US" altLang="en-US" sz="1800" b="1" dirty="0">
                <a:solidFill>
                  <a:srgbClr val="3366FF"/>
                </a:solidFill>
                <a:ea typeface="+mn-ea"/>
                <a:cs typeface="Calibri" panose="020F0502020204030204" pitchFamily="34" charset="0"/>
              </a:rPr>
              <a:t> </a:t>
            </a:r>
            <a:r>
              <a:rPr lang="en-US" altLang="en-US" sz="1800" dirty="0">
                <a:ea typeface="+mn-ea"/>
                <a:cs typeface="Calibri" panose="020F0502020204030204" pitchFamily="34" charset="0"/>
              </a:rPr>
              <a:t>(in Windows, </a:t>
            </a:r>
            <a:r>
              <a:rPr lang="en-US" altLang="en-US" sz="1800" b="1" dirty="0">
                <a:solidFill>
                  <a:srgbClr val="006699"/>
                </a:solidFill>
                <a:ea typeface="+mn-ea"/>
                <a:cs typeface="Calibri" panose="020F0502020204030204" pitchFamily="34" charset="0"/>
              </a:rPr>
              <a:t>DLLs</a:t>
            </a:r>
            <a:r>
              <a:rPr lang="en-US" altLang="en-US" sz="1800" dirty="0">
                <a:ea typeface="+mn-ea"/>
                <a:cs typeface="Calibri" panose="020F0502020204030204" pitchFamily="34" charset="0"/>
              </a:rPr>
              <a:t>) are loaded as needed, shared by all that use the same version of that same library (loaded once)</a:t>
            </a:r>
          </a:p>
          <a:p>
            <a:pPr>
              <a:spcBef>
                <a:spcPts val="0"/>
              </a:spcBef>
            </a:pPr>
            <a:r>
              <a:rPr lang="en-US" altLang="en-US" sz="1800" dirty="0">
                <a:ea typeface="+mn-ea"/>
                <a:cs typeface="Calibri" panose="020F0502020204030204" pitchFamily="34" charset="0"/>
              </a:rPr>
              <a:t>Object, executable files have standard formats, so operating system knows how to load and start them</a:t>
            </a:r>
          </a:p>
        </p:txBody>
      </p:sp>
      <p:sp>
        <p:nvSpPr>
          <p:cNvPr id="2" name="灯片编号占位符 1">
            <a:extLst>
              <a:ext uri="{FF2B5EF4-FFF2-40B4-BE49-F238E27FC236}">
                <a16:creationId xmlns:a16="http://schemas.microsoft.com/office/drawing/2014/main" id="{50DE6F6F-939F-3770-0D38-113F02D912BD}"/>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2C7140E0-64EE-48A3-941C-70C6BCDF8D79}"/>
              </a:ext>
            </a:extLst>
          </p:cNvPr>
          <p:cNvSpPr>
            <a:spLocks noGrp="1" noChangeArrowheads="1"/>
          </p:cNvSpPr>
          <p:nvPr>
            <p:ph type="title"/>
          </p:nvPr>
        </p:nvSpPr>
        <p:spPr>
          <a:xfrm>
            <a:off x="943276" y="169069"/>
            <a:ext cx="6600524" cy="432197"/>
          </a:xfrm>
        </p:spPr>
        <p:txBody>
          <a:bodyPr/>
          <a:lstStyle/>
          <a:p>
            <a:r>
              <a:rPr lang="en-US" altLang="en-US" sz="3200" dirty="0"/>
              <a:t>The Role of the Linker and Loader</a:t>
            </a:r>
          </a:p>
        </p:txBody>
      </p:sp>
      <p:pic>
        <p:nvPicPr>
          <p:cNvPr id="67587" name="Content Placeholder 6">
            <a:extLst>
              <a:ext uri="{FF2B5EF4-FFF2-40B4-BE49-F238E27FC236}">
                <a16:creationId xmlns:a16="http://schemas.microsoft.com/office/drawing/2014/main" id="{CD8E9885-D5F1-451A-B45F-8C24EB28DFF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3020123" y="902069"/>
            <a:ext cx="3307060" cy="3487051"/>
          </a:xfrm>
        </p:spPr>
      </p:pic>
      <p:sp>
        <p:nvSpPr>
          <p:cNvPr id="2" name="灯片编号占位符 1">
            <a:extLst>
              <a:ext uri="{FF2B5EF4-FFF2-40B4-BE49-F238E27FC236}">
                <a16:creationId xmlns:a16="http://schemas.microsoft.com/office/drawing/2014/main" id="{615602D2-9123-4C12-1F9A-16FFD70A4023}"/>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9580D1A4-1911-40B7-90C7-4F5EE514923B}"/>
              </a:ext>
            </a:extLst>
          </p:cNvPr>
          <p:cNvSpPr>
            <a:spLocks noGrp="1" noChangeArrowheads="1"/>
          </p:cNvSpPr>
          <p:nvPr>
            <p:ph type="title"/>
          </p:nvPr>
        </p:nvSpPr>
        <p:spPr>
          <a:xfrm>
            <a:off x="895148" y="144394"/>
            <a:ext cx="7940843" cy="432197"/>
          </a:xfrm>
        </p:spPr>
        <p:txBody>
          <a:bodyPr/>
          <a:lstStyle/>
          <a:p>
            <a:pPr eaLnBrk="1" hangingPunct="1"/>
            <a:r>
              <a:rPr lang="en-US" altLang="en-US" sz="3000" dirty="0"/>
              <a:t>Why Applications are Operating System Specific</a:t>
            </a:r>
          </a:p>
        </p:txBody>
      </p:sp>
      <p:sp>
        <p:nvSpPr>
          <p:cNvPr id="68611" name="Rectangle 1027">
            <a:extLst>
              <a:ext uri="{FF2B5EF4-FFF2-40B4-BE49-F238E27FC236}">
                <a16:creationId xmlns:a16="http://schemas.microsoft.com/office/drawing/2014/main" id="{672EE902-C4A8-4076-BE5F-A5B41CC5B7F0}"/>
              </a:ext>
            </a:extLst>
          </p:cNvPr>
          <p:cNvSpPr>
            <a:spLocks noGrp="1" noChangeArrowheads="1"/>
          </p:cNvSpPr>
          <p:nvPr>
            <p:ph idx="1"/>
          </p:nvPr>
        </p:nvSpPr>
        <p:spPr>
          <a:xfrm>
            <a:off x="616017" y="819952"/>
            <a:ext cx="8181471" cy="3742423"/>
          </a:xfrm>
        </p:spPr>
        <p:txBody>
          <a:bodyPr/>
          <a:lstStyle/>
          <a:p>
            <a:pPr>
              <a:spcBef>
                <a:spcPts val="0"/>
              </a:spcBef>
            </a:pPr>
            <a:r>
              <a:rPr lang="en-US" altLang="en-US" sz="1800" dirty="0">
                <a:cs typeface="Calibri" panose="020F0502020204030204" pitchFamily="34" charset="0"/>
              </a:rPr>
              <a:t>Apps compiled on one system usually not executable on another operating system</a:t>
            </a:r>
          </a:p>
          <a:p>
            <a:pPr>
              <a:spcBef>
                <a:spcPts val="0"/>
              </a:spcBef>
            </a:pPr>
            <a:r>
              <a:rPr lang="en-US" altLang="en-US" sz="1800" dirty="0">
                <a:cs typeface="Calibri" panose="020F0502020204030204" pitchFamily="34" charset="0"/>
              </a:rPr>
              <a:t>Each operating system provides its own unique system calls</a:t>
            </a:r>
          </a:p>
          <a:p>
            <a:pPr lvl="1">
              <a:spcBef>
                <a:spcPts val="0"/>
              </a:spcBef>
            </a:pPr>
            <a:r>
              <a:rPr lang="en-US" altLang="en-US" sz="1800" dirty="0">
                <a:cs typeface="Calibri" panose="020F0502020204030204" pitchFamily="34" charset="0"/>
              </a:rPr>
              <a:t>Own file formats, etc.</a:t>
            </a:r>
          </a:p>
          <a:p>
            <a:pPr>
              <a:spcBef>
                <a:spcPts val="0"/>
              </a:spcBef>
            </a:pPr>
            <a:r>
              <a:rPr lang="en-US" altLang="en-US" sz="1800" dirty="0">
                <a:cs typeface="Calibri" panose="020F0502020204030204" pitchFamily="34" charset="0"/>
              </a:rPr>
              <a:t>Apps can be multi-operating system</a:t>
            </a:r>
          </a:p>
          <a:p>
            <a:pPr lvl="1">
              <a:spcBef>
                <a:spcPts val="0"/>
              </a:spcBef>
            </a:pPr>
            <a:r>
              <a:rPr lang="en-US" altLang="en-US" sz="1800" dirty="0">
                <a:cs typeface="Calibri" panose="020F0502020204030204" pitchFamily="34" charset="0"/>
              </a:rPr>
              <a:t>Written in interpreted language like Python, Ruby, and interpreter available on multiple operating systems</a:t>
            </a:r>
          </a:p>
          <a:p>
            <a:pPr lvl="1">
              <a:spcBef>
                <a:spcPts val="0"/>
              </a:spcBef>
            </a:pPr>
            <a:r>
              <a:rPr lang="en-US" altLang="en-US" sz="1800" dirty="0">
                <a:cs typeface="Calibri" panose="020F0502020204030204" pitchFamily="34" charset="0"/>
              </a:rPr>
              <a:t>App written in language that includes a VM containing the running app (like Java)</a:t>
            </a:r>
          </a:p>
          <a:p>
            <a:pPr lvl="1">
              <a:spcBef>
                <a:spcPts val="0"/>
              </a:spcBef>
            </a:pPr>
            <a:r>
              <a:rPr lang="en-US" altLang="en-US" sz="1800" dirty="0">
                <a:cs typeface="Calibri" panose="020F0502020204030204" pitchFamily="34" charset="0"/>
              </a:rPr>
              <a:t>Use standard language (like C), compile separately on each operating system to run on each</a:t>
            </a:r>
          </a:p>
          <a:p>
            <a:pPr>
              <a:spcBef>
                <a:spcPts val="0"/>
              </a:spcBef>
            </a:pPr>
            <a:r>
              <a:rPr lang="en-US" altLang="en-US" sz="1800" b="1" dirty="0">
                <a:solidFill>
                  <a:srgbClr val="006699"/>
                </a:solidFill>
                <a:cs typeface="Calibri" panose="020F0502020204030204" pitchFamily="34" charset="0"/>
              </a:rPr>
              <a:t>Application</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Binary</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Interface</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a:t>
            </a:r>
            <a:r>
              <a:rPr lang="en-US" altLang="en-US" sz="1800" b="1" dirty="0">
                <a:solidFill>
                  <a:srgbClr val="006699"/>
                </a:solidFill>
                <a:cs typeface="Calibri" panose="020F0502020204030204" pitchFamily="34" charset="0"/>
              </a:rPr>
              <a:t>ABI</a:t>
            </a:r>
            <a:r>
              <a:rPr lang="en-US" altLang="en-US" sz="1800" dirty="0">
                <a:cs typeface="Calibri" panose="020F0502020204030204" pitchFamily="34" charset="0"/>
              </a:rPr>
              <a:t>) is architecture equivalent of API </a:t>
            </a:r>
          </a:p>
          <a:p>
            <a:pPr lvl="1">
              <a:spcBef>
                <a:spcPts val="0"/>
              </a:spcBef>
            </a:pPr>
            <a:r>
              <a:rPr lang="en-US" altLang="en-US" sz="1800" dirty="0">
                <a:cs typeface="Calibri" panose="020F0502020204030204" pitchFamily="34" charset="0"/>
              </a:rPr>
              <a:t>Defines how different components of binary code can interface for a given operating system on a given architecture, CPU, etc. </a:t>
            </a:r>
          </a:p>
        </p:txBody>
      </p:sp>
      <p:sp>
        <p:nvSpPr>
          <p:cNvPr id="2" name="灯片编号占位符 1">
            <a:extLst>
              <a:ext uri="{FF2B5EF4-FFF2-40B4-BE49-F238E27FC236}">
                <a16:creationId xmlns:a16="http://schemas.microsoft.com/office/drawing/2014/main" id="{1C1F3B65-0C70-BCBC-E5C1-F30882B7462B}"/>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D00B8CF2-4503-4D02-BCAF-03B386FC6B16}"/>
              </a:ext>
            </a:extLst>
          </p:cNvPr>
          <p:cNvSpPr>
            <a:spLocks noGrp="1" noChangeArrowheads="1"/>
          </p:cNvSpPr>
          <p:nvPr>
            <p:ph type="title"/>
          </p:nvPr>
        </p:nvSpPr>
        <p:spPr>
          <a:xfrm>
            <a:off x="895149" y="145231"/>
            <a:ext cx="6841533" cy="432197"/>
          </a:xfrm>
        </p:spPr>
        <p:txBody>
          <a:bodyPr/>
          <a:lstStyle/>
          <a:p>
            <a:pPr eaLnBrk="1" hangingPunct="1"/>
            <a:r>
              <a:rPr lang="en-US" altLang="en-US" sz="3200" dirty="0"/>
              <a:t>Design and Implementation</a:t>
            </a:r>
          </a:p>
        </p:txBody>
      </p:sp>
      <p:sp>
        <p:nvSpPr>
          <p:cNvPr id="70659" name="Rectangle 1027">
            <a:extLst>
              <a:ext uri="{FF2B5EF4-FFF2-40B4-BE49-F238E27FC236}">
                <a16:creationId xmlns:a16="http://schemas.microsoft.com/office/drawing/2014/main" id="{ED7882A4-6BC0-4135-94AC-5AE6FAF5E5A6}"/>
              </a:ext>
            </a:extLst>
          </p:cNvPr>
          <p:cNvSpPr>
            <a:spLocks noGrp="1" noChangeArrowheads="1"/>
          </p:cNvSpPr>
          <p:nvPr>
            <p:ph idx="1"/>
          </p:nvPr>
        </p:nvSpPr>
        <p:spPr>
          <a:xfrm>
            <a:off x="1001026" y="819343"/>
            <a:ext cx="7372953" cy="3627532"/>
          </a:xfrm>
        </p:spPr>
        <p:txBody>
          <a:bodyPr/>
          <a:lstStyle/>
          <a:p>
            <a:pPr>
              <a:spcBef>
                <a:spcPts val="0"/>
              </a:spcBef>
            </a:pPr>
            <a:r>
              <a:rPr lang="en-US" altLang="en-US" sz="2000" dirty="0">
                <a:cs typeface="Calibri" panose="020F0502020204030204" pitchFamily="34" charset="0"/>
              </a:rPr>
              <a:t>Design and Implementation of OS is not </a:t>
            </a:r>
            <a:r>
              <a:rPr lang="ja-JP" altLang="en-US" sz="2000" dirty="0">
                <a:cs typeface="Calibri" panose="020F0502020204030204" pitchFamily="34" charset="0"/>
              </a:rPr>
              <a:t>“</a:t>
            </a:r>
            <a:r>
              <a:rPr lang="en-US" altLang="ja-JP" sz="2000" dirty="0">
                <a:cs typeface="Calibri" panose="020F0502020204030204" pitchFamily="34" charset="0"/>
              </a:rPr>
              <a:t>solvable”, but some approaches have proven successful</a:t>
            </a:r>
            <a:endParaRPr lang="en-US" altLang="en-US" sz="2000" dirty="0">
              <a:cs typeface="Calibri" panose="020F0502020204030204" pitchFamily="34" charset="0"/>
            </a:endParaRPr>
          </a:p>
          <a:p>
            <a:pPr>
              <a:spcBef>
                <a:spcPts val="0"/>
              </a:spcBef>
            </a:pPr>
            <a:r>
              <a:rPr lang="en-US" altLang="en-US" sz="2000" dirty="0">
                <a:cs typeface="Calibri" panose="020F0502020204030204" pitchFamily="34" charset="0"/>
              </a:rPr>
              <a:t>Internal structure of different Operating Systems  can vary widely</a:t>
            </a:r>
          </a:p>
          <a:p>
            <a:pPr>
              <a:spcBef>
                <a:spcPts val="0"/>
              </a:spcBef>
            </a:pPr>
            <a:r>
              <a:rPr lang="en-US" altLang="en-US" sz="2000" dirty="0">
                <a:cs typeface="Calibri" panose="020F0502020204030204" pitchFamily="34" charset="0"/>
              </a:rPr>
              <a:t>Start the design by defining goals and specifications </a:t>
            </a:r>
          </a:p>
          <a:p>
            <a:pPr>
              <a:spcBef>
                <a:spcPts val="0"/>
              </a:spcBef>
            </a:pPr>
            <a:r>
              <a:rPr lang="en-US" altLang="en-US" sz="2000" dirty="0">
                <a:cs typeface="Calibri" panose="020F0502020204030204" pitchFamily="34" charset="0"/>
              </a:rPr>
              <a:t>Affected by choice of hardware, type of system</a:t>
            </a:r>
          </a:p>
          <a:p>
            <a:pPr>
              <a:spcBef>
                <a:spcPts val="0"/>
              </a:spcBef>
            </a:pPr>
            <a:r>
              <a:rPr lang="en-US" altLang="en-US" sz="2000" b="1" dirty="0">
                <a:solidFill>
                  <a:srgbClr val="006699"/>
                </a:solidFill>
                <a:cs typeface="Calibri" panose="020F0502020204030204" pitchFamily="34" charset="0"/>
              </a:rPr>
              <a:t>User</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goals and </a:t>
            </a:r>
            <a:r>
              <a:rPr lang="en-US" altLang="en-US" sz="2000" b="1" dirty="0">
                <a:solidFill>
                  <a:srgbClr val="006699"/>
                </a:solidFill>
                <a:cs typeface="Calibri" panose="020F0502020204030204" pitchFamily="34" charset="0"/>
              </a:rPr>
              <a:t>System</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goals</a:t>
            </a:r>
          </a:p>
          <a:p>
            <a:pPr lvl="1">
              <a:spcBef>
                <a:spcPts val="0"/>
              </a:spcBef>
            </a:pPr>
            <a:r>
              <a:rPr lang="en-US" altLang="en-US" sz="1800" dirty="0">
                <a:cs typeface="Calibri" panose="020F0502020204030204" pitchFamily="34" charset="0"/>
              </a:rPr>
              <a:t>User goals – operating system should be convenient to use, easy to learn, reliable, safe, and fast</a:t>
            </a:r>
          </a:p>
          <a:p>
            <a:pPr lvl="1">
              <a:spcBef>
                <a:spcPts val="0"/>
              </a:spcBef>
            </a:pPr>
            <a:r>
              <a:rPr lang="en-US" altLang="en-US" sz="1800" dirty="0">
                <a:cs typeface="Calibri" panose="020F0502020204030204" pitchFamily="34" charset="0"/>
              </a:rPr>
              <a:t>System goals – operating system should be easy to design, implement, and maintain, as well as flexible, reliable, error-free, and efficient</a:t>
            </a:r>
          </a:p>
          <a:p>
            <a:pPr>
              <a:spcBef>
                <a:spcPts val="0"/>
              </a:spcBef>
            </a:pPr>
            <a:r>
              <a:rPr lang="en-US" altLang="en-US" sz="2000" dirty="0">
                <a:cs typeface="Calibri" panose="020F0502020204030204" pitchFamily="34" charset="0"/>
              </a:rPr>
              <a:t>Specifying and designing an OS is highly creative task of </a:t>
            </a:r>
            <a:r>
              <a:rPr lang="en-US" altLang="en-US" sz="2000" b="1" dirty="0">
                <a:solidFill>
                  <a:srgbClr val="006699"/>
                </a:solidFill>
                <a:cs typeface="Calibri" panose="020F0502020204030204" pitchFamily="34" charset="0"/>
              </a:rPr>
              <a:t>software</a:t>
            </a:r>
            <a:r>
              <a:rPr lang="en-US" altLang="en-US" sz="2000" b="1" dirty="0">
                <a:solidFill>
                  <a:srgbClr val="3366FF"/>
                </a:solidFill>
                <a:cs typeface="Calibri" panose="020F0502020204030204" pitchFamily="34" charset="0"/>
              </a:rPr>
              <a:t> </a:t>
            </a:r>
            <a:r>
              <a:rPr lang="en-US" altLang="en-US" sz="2000" b="1" dirty="0">
                <a:solidFill>
                  <a:srgbClr val="006699"/>
                </a:solidFill>
                <a:cs typeface="Calibri" panose="020F0502020204030204" pitchFamily="34" charset="0"/>
              </a:rPr>
              <a:t>engineering</a:t>
            </a:r>
          </a:p>
          <a:p>
            <a:pPr>
              <a:spcBef>
                <a:spcPts val="0"/>
              </a:spcBef>
            </a:pPr>
            <a:endParaRPr lang="en-US" altLang="en-US" sz="2000" dirty="0">
              <a:cs typeface="Calibri" panose="020F0502020204030204" pitchFamily="34" charset="0"/>
            </a:endParaRPr>
          </a:p>
        </p:txBody>
      </p:sp>
      <p:sp>
        <p:nvSpPr>
          <p:cNvPr id="2" name="灯片编号占位符 1">
            <a:extLst>
              <a:ext uri="{FF2B5EF4-FFF2-40B4-BE49-F238E27FC236}">
                <a16:creationId xmlns:a16="http://schemas.microsoft.com/office/drawing/2014/main" id="{741CE211-27AB-0347-E815-238308707E8C}"/>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9A46DEA-C931-4E75-8A7D-1F653B2ABC18}"/>
              </a:ext>
            </a:extLst>
          </p:cNvPr>
          <p:cNvSpPr>
            <a:spLocks noGrp="1" noChangeArrowheads="1"/>
          </p:cNvSpPr>
          <p:nvPr>
            <p:ph type="title"/>
          </p:nvPr>
        </p:nvSpPr>
        <p:spPr>
          <a:xfrm>
            <a:off x="904775" y="104411"/>
            <a:ext cx="7198958" cy="432197"/>
          </a:xfrm>
        </p:spPr>
        <p:txBody>
          <a:bodyPr/>
          <a:lstStyle/>
          <a:p>
            <a:pPr eaLnBrk="1" hangingPunct="1"/>
            <a:r>
              <a:rPr lang="en-US" altLang="en-US" sz="3200" dirty="0"/>
              <a:t>Policy and Mechanism</a:t>
            </a:r>
          </a:p>
        </p:txBody>
      </p:sp>
      <p:sp>
        <p:nvSpPr>
          <p:cNvPr id="72707" name="Rectangle 3">
            <a:extLst>
              <a:ext uri="{FF2B5EF4-FFF2-40B4-BE49-F238E27FC236}">
                <a16:creationId xmlns:a16="http://schemas.microsoft.com/office/drawing/2014/main" id="{0D1CF5C7-7F67-4FFA-B5D4-75EB6F865E5C}"/>
              </a:ext>
            </a:extLst>
          </p:cNvPr>
          <p:cNvSpPr>
            <a:spLocks noGrp="1" noChangeArrowheads="1"/>
          </p:cNvSpPr>
          <p:nvPr>
            <p:ph type="body" idx="1"/>
          </p:nvPr>
        </p:nvSpPr>
        <p:spPr>
          <a:xfrm>
            <a:off x="904775" y="856494"/>
            <a:ext cx="7498080" cy="3272743"/>
          </a:xfrm>
        </p:spPr>
        <p:txBody>
          <a:bodyPr/>
          <a:lstStyle/>
          <a:p>
            <a:r>
              <a:rPr lang="en-US" altLang="en-US" sz="2000" b="1" dirty="0">
                <a:solidFill>
                  <a:srgbClr val="006699"/>
                </a:solidFill>
                <a:ea typeface="+mn-ea"/>
                <a:cs typeface="Calibri" panose="020F0502020204030204" pitchFamily="34" charset="0"/>
              </a:rPr>
              <a:t>Policy</a:t>
            </a:r>
            <a:r>
              <a:rPr lang="en-US" altLang="en-US" sz="2000" b="1" dirty="0">
                <a:ea typeface="+mn-ea"/>
                <a:cs typeface="Calibri" panose="020F0502020204030204" pitchFamily="34" charset="0"/>
              </a:rPr>
              <a:t>:   What </a:t>
            </a:r>
            <a:r>
              <a:rPr lang="en-US" altLang="en-US" sz="2000" dirty="0">
                <a:ea typeface="+mn-ea"/>
                <a:cs typeface="Calibri" panose="020F0502020204030204" pitchFamily="34" charset="0"/>
              </a:rPr>
              <a:t>needs to be done?</a:t>
            </a:r>
            <a:r>
              <a:rPr lang="en-US" altLang="en-US" sz="2000" b="1" dirty="0">
                <a:ea typeface="+mn-ea"/>
                <a:cs typeface="Calibri" panose="020F0502020204030204" pitchFamily="34" charset="0"/>
              </a:rPr>
              <a:t> </a:t>
            </a:r>
          </a:p>
          <a:p>
            <a:pPr lvl="1"/>
            <a:r>
              <a:rPr lang="en-US" altLang="en-US" sz="1800" dirty="0">
                <a:ea typeface="+mn-ea"/>
                <a:cs typeface="Calibri" panose="020F0502020204030204" pitchFamily="34" charset="0"/>
              </a:rPr>
              <a:t>Example: Interrupt after every 100 seconds</a:t>
            </a:r>
          </a:p>
          <a:p>
            <a:r>
              <a:rPr lang="en-US" altLang="en-US" sz="2000" b="1" dirty="0">
                <a:solidFill>
                  <a:srgbClr val="006699"/>
                </a:solidFill>
                <a:ea typeface="+mn-ea"/>
                <a:cs typeface="Calibri" panose="020F0502020204030204" pitchFamily="34" charset="0"/>
              </a:rPr>
              <a:t>Mechanism</a:t>
            </a:r>
            <a:r>
              <a:rPr lang="en-US" altLang="en-US" sz="2000" b="1" dirty="0">
                <a:ea typeface="+mn-ea"/>
                <a:cs typeface="Calibri" panose="020F0502020204030204" pitchFamily="34" charset="0"/>
              </a:rPr>
              <a:t>:  How</a:t>
            </a:r>
            <a:r>
              <a:rPr lang="en-US" altLang="en-US" sz="2000" dirty="0">
                <a:ea typeface="+mn-ea"/>
                <a:cs typeface="Calibri" panose="020F0502020204030204" pitchFamily="34" charset="0"/>
              </a:rPr>
              <a:t> to do something?</a:t>
            </a:r>
          </a:p>
          <a:p>
            <a:pPr lvl="1"/>
            <a:r>
              <a:rPr lang="en-US" altLang="en-US" sz="1800" dirty="0">
                <a:ea typeface="+mn-ea"/>
                <a:cs typeface="Calibri" panose="020F0502020204030204" pitchFamily="34" charset="0"/>
              </a:rPr>
              <a:t>Example: timer</a:t>
            </a:r>
          </a:p>
          <a:p>
            <a:r>
              <a:rPr lang="en-US" altLang="en-US" sz="2000" dirty="0">
                <a:ea typeface="+mn-ea"/>
                <a:cs typeface="Calibri" panose="020F0502020204030204" pitchFamily="34" charset="0"/>
              </a:rPr>
              <a:t>Important principle: separate policy from mechanism</a:t>
            </a:r>
          </a:p>
          <a:p>
            <a:r>
              <a:rPr lang="en-US" altLang="en-US" sz="2000" dirty="0">
                <a:ea typeface="+mn-ea"/>
                <a:cs typeface="Calibri" panose="020F0502020204030204" pitchFamily="34" charset="0"/>
              </a:rPr>
              <a:t>The separation of policy from mechanism is a very important principle, it allows maximum flexibility if policy decisions are to be changed later</a:t>
            </a:r>
          </a:p>
          <a:p>
            <a:pPr lvl="1"/>
            <a:r>
              <a:rPr lang="en-US" altLang="en-US" sz="1800" dirty="0">
                <a:ea typeface="+mn-ea"/>
                <a:cs typeface="Calibri" panose="020F0502020204030204" pitchFamily="34" charset="0"/>
              </a:rPr>
              <a:t>Example: change 100 to 200</a:t>
            </a:r>
          </a:p>
          <a:p>
            <a:pPr>
              <a:buFont typeface="Monotype Sorts" pitchFamily="-84" charset="2"/>
              <a:buNone/>
            </a:pPr>
            <a:endParaRPr lang="en-US" altLang="en-US" sz="2000" dirty="0">
              <a:ea typeface="+mn-ea"/>
              <a:cs typeface="Calibri" panose="020F0502020204030204" pitchFamily="34" charset="0"/>
            </a:endParaRPr>
          </a:p>
        </p:txBody>
      </p:sp>
      <p:sp>
        <p:nvSpPr>
          <p:cNvPr id="2" name="灯片编号占位符 1">
            <a:extLst>
              <a:ext uri="{FF2B5EF4-FFF2-40B4-BE49-F238E27FC236}">
                <a16:creationId xmlns:a16="http://schemas.microsoft.com/office/drawing/2014/main" id="{217FD4FD-DB9A-1123-FAF9-E90A9EA99674}"/>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9B47C81-CC5F-41DF-A7CB-841B5D4FAD93}"/>
              </a:ext>
            </a:extLst>
          </p:cNvPr>
          <p:cNvSpPr>
            <a:spLocks noGrp="1" noChangeArrowheads="1"/>
          </p:cNvSpPr>
          <p:nvPr>
            <p:ph type="title"/>
          </p:nvPr>
        </p:nvSpPr>
        <p:spPr>
          <a:xfrm>
            <a:off x="895149" y="163116"/>
            <a:ext cx="6673655" cy="432197"/>
          </a:xfrm>
        </p:spPr>
        <p:txBody>
          <a:bodyPr/>
          <a:lstStyle/>
          <a:p>
            <a:pPr eaLnBrk="1" hangingPunct="1"/>
            <a:r>
              <a:rPr lang="en-US" altLang="en-US" sz="3200" dirty="0"/>
              <a:t>Implementation</a:t>
            </a:r>
          </a:p>
        </p:txBody>
      </p:sp>
      <p:sp>
        <p:nvSpPr>
          <p:cNvPr id="74755" name="Rectangle 3">
            <a:extLst>
              <a:ext uri="{FF2B5EF4-FFF2-40B4-BE49-F238E27FC236}">
                <a16:creationId xmlns:a16="http://schemas.microsoft.com/office/drawing/2014/main" id="{E46642F7-9177-432C-8182-DEEABD676CA3}"/>
              </a:ext>
            </a:extLst>
          </p:cNvPr>
          <p:cNvSpPr>
            <a:spLocks noGrp="1" noChangeArrowheads="1"/>
          </p:cNvSpPr>
          <p:nvPr>
            <p:ph type="body" idx="1"/>
          </p:nvPr>
        </p:nvSpPr>
        <p:spPr>
          <a:xfrm>
            <a:off x="991403" y="819149"/>
            <a:ext cx="7430703" cy="3733599"/>
          </a:xfrm>
        </p:spPr>
        <p:txBody>
          <a:bodyPr/>
          <a:lstStyle/>
          <a:p>
            <a:pPr>
              <a:spcBef>
                <a:spcPts val="0"/>
              </a:spcBef>
            </a:pPr>
            <a:r>
              <a:rPr lang="en-US" altLang="en-US" sz="2000" dirty="0">
                <a:ea typeface="+mn-ea"/>
                <a:cs typeface="Calibri" panose="020F0502020204030204" pitchFamily="34" charset="0"/>
              </a:rPr>
              <a:t>Much variation</a:t>
            </a:r>
          </a:p>
          <a:p>
            <a:pPr lvl="1">
              <a:spcBef>
                <a:spcPts val="0"/>
              </a:spcBef>
            </a:pPr>
            <a:r>
              <a:rPr lang="en-US" altLang="en-US" sz="1800" dirty="0">
                <a:ea typeface="+mn-ea"/>
                <a:cs typeface="Calibri" panose="020F0502020204030204" pitchFamily="34" charset="0"/>
              </a:rPr>
              <a:t>Early OSes in assembly language</a:t>
            </a:r>
          </a:p>
          <a:p>
            <a:pPr lvl="1">
              <a:spcBef>
                <a:spcPts val="0"/>
              </a:spcBef>
            </a:pPr>
            <a:r>
              <a:rPr lang="en-US" altLang="en-US" sz="1800" dirty="0">
                <a:ea typeface="+mn-ea"/>
                <a:cs typeface="Calibri" panose="020F0502020204030204" pitchFamily="34" charset="0"/>
              </a:rPr>
              <a:t>Then system programming languages like Algol, PL/1</a:t>
            </a:r>
          </a:p>
          <a:p>
            <a:pPr lvl="1">
              <a:spcBef>
                <a:spcPts val="0"/>
              </a:spcBef>
            </a:pPr>
            <a:r>
              <a:rPr lang="en-US" altLang="en-US" sz="1800" dirty="0">
                <a:ea typeface="+mn-ea"/>
                <a:cs typeface="Calibri" panose="020F0502020204030204" pitchFamily="34" charset="0"/>
              </a:rPr>
              <a:t>Now C, C++</a:t>
            </a:r>
          </a:p>
          <a:p>
            <a:pPr>
              <a:spcBef>
                <a:spcPts val="0"/>
              </a:spcBef>
            </a:pPr>
            <a:r>
              <a:rPr lang="en-US" altLang="en-US" sz="2000" dirty="0">
                <a:ea typeface="+mn-ea"/>
                <a:cs typeface="Calibri" panose="020F0502020204030204" pitchFamily="34" charset="0"/>
              </a:rPr>
              <a:t>Actually usually a mix of languages</a:t>
            </a:r>
          </a:p>
          <a:p>
            <a:pPr lvl="1">
              <a:spcBef>
                <a:spcPts val="0"/>
              </a:spcBef>
            </a:pPr>
            <a:r>
              <a:rPr lang="en-US" altLang="en-US" sz="1800" dirty="0">
                <a:ea typeface="+mn-ea"/>
                <a:cs typeface="Calibri" panose="020F0502020204030204" pitchFamily="34" charset="0"/>
              </a:rPr>
              <a:t>Lowest levels in assembly</a:t>
            </a:r>
          </a:p>
          <a:p>
            <a:pPr lvl="1">
              <a:spcBef>
                <a:spcPts val="0"/>
              </a:spcBef>
            </a:pPr>
            <a:r>
              <a:rPr lang="en-US" altLang="en-US" sz="1800" dirty="0">
                <a:ea typeface="+mn-ea"/>
                <a:cs typeface="Calibri" panose="020F0502020204030204" pitchFamily="34" charset="0"/>
              </a:rPr>
              <a:t>Main body in C</a:t>
            </a:r>
          </a:p>
          <a:p>
            <a:pPr lvl="1">
              <a:spcBef>
                <a:spcPts val="0"/>
              </a:spcBef>
            </a:pPr>
            <a:r>
              <a:rPr lang="en-US" altLang="en-US" sz="1800" dirty="0">
                <a:ea typeface="+mn-ea"/>
                <a:cs typeface="Calibri" panose="020F0502020204030204" pitchFamily="34" charset="0"/>
              </a:rPr>
              <a:t>Systems programs in C, C++, scripting languages like PERL, Python, shell scripts</a:t>
            </a:r>
          </a:p>
          <a:p>
            <a:pPr>
              <a:spcBef>
                <a:spcPts val="0"/>
              </a:spcBef>
            </a:pPr>
            <a:r>
              <a:rPr lang="en-US" altLang="en-US" sz="2000" dirty="0">
                <a:ea typeface="+mn-ea"/>
                <a:cs typeface="Calibri" panose="020F0502020204030204" pitchFamily="34" charset="0"/>
              </a:rPr>
              <a:t>More high-level language easier to</a:t>
            </a:r>
            <a:r>
              <a:rPr lang="en-US" altLang="en-US" sz="2000" b="1" dirty="0">
                <a:solidFill>
                  <a:srgbClr val="3366FF"/>
                </a:solidFill>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port</a:t>
            </a:r>
            <a:r>
              <a:rPr lang="en-US" altLang="en-US" sz="2000" b="1"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to other hardware</a:t>
            </a:r>
          </a:p>
          <a:p>
            <a:pPr lvl="1">
              <a:spcBef>
                <a:spcPts val="0"/>
              </a:spcBef>
            </a:pPr>
            <a:r>
              <a:rPr lang="en-US" altLang="en-US" sz="1800" dirty="0">
                <a:ea typeface="+mn-ea"/>
                <a:cs typeface="Calibri" panose="020F0502020204030204" pitchFamily="34" charset="0"/>
              </a:rPr>
              <a:t>But slower</a:t>
            </a:r>
          </a:p>
          <a:p>
            <a:pPr>
              <a:spcBef>
                <a:spcPts val="0"/>
              </a:spcBef>
            </a:pPr>
            <a:r>
              <a:rPr lang="en-US" altLang="en-US" sz="2000" b="1" dirty="0">
                <a:solidFill>
                  <a:srgbClr val="006699"/>
                </a:solidFill>
                <a:ea typeface="+mn-ea"/>
                <a:cs typeface="Calibri" panose="020F0502020204030204" pitchFamily="34" charset="0"/>
              </a:rPr>
              <a:t>Emulation</a:t>
            </a:r>
            <a:r>
              <a:rPr lang="en-US" altLang="en-US" sz="2000" dirty="0">
                <a:ea typeface="+mn-ea"/>
                <a:cs typeface="Calibri" panose="020F0502020204030204" pitchFamily="34" charset="0"/>
              </a:rPr>
              <a:t> can allow an OS to run on non-native hardware</a:t>
            </a:r>
          </a:p>
        </p:txBody>
      </p:sp>
      <p:sp>
        <p:nvSpPr>
          <p:cNvPr id="2" name="灯片编号占位符 1">
            <a:extLst>
              <a:ext uri="{FF2B5EF4-FFF2-40B4-BE49-F238E27FC236}">
                <a16:creationId xmlns:a16="http://schemas.microsoft.com/office/drawing/2014/main" id="{2BA77D49-C2A6-DCD5-1CBC-7ED6A1A4BFBC}"/>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CD12CFE-09B0-48A4-9AEE-9A58E11BB892}"/>
              </a:ext>
            </a:extLst>
          </p:cNvPr>
          <p:cNvSpPr>
            <a:spLocks noGrp="1" noChangeArrowheads="1"/>
          </p:cNvSpPr>
          <p:nvPr>
            <p:ph type="title"/>
          </p:nvPr>
        </p:nvSpPr>
        <p:spPr>
          <a:xfrm>
            <a:off x="875899" y="165497"/>
            <a:ext cx="6782201" cy="432197"/>
          </a:xfrm>
        </p:spPr>
        <p:txBody>
          <a:bodyPr/>
          <a:lstStyle/>
          <a:p>
            <a:r>
              <a:rPr lang="en-US" altLang="en-US" sz="3200" dirty="0"/>
              <a:t>Operating System Structure</a:t>
            </a:r>
          </a:p>
        </p:txBody>
      </p:sp>
      <p:sp>
        <p:nvSpPr>
          <p:cNvPr id="76803" name="Content Placeholder 2">
            <a:extLst>
              <a:ext uri="{FF2B5EF4-FFF2-40B4-BE49-F238E27FC236}">
                <a16:creationId xmlns:a16="http://schemas.microsoft.com/office/drawing/2014/main" id="{7C77CAAD-91EB-4676-A633-22880A53EEF1}"/>
              </a:ext>
            </a:extLst>
          </p:cNvPr>
          <p:cNvSpPr>
            <a:spLocks noGrp="1" noChangeArrowheads="1"/>
          </p:cNvSpPr>
          <p:nvPr>
            <p:ph idx="1"/>
          </p:nvPr>
        </p:nvSpPr>
        <p:spPr>
          <a:xfrm>
            <a:off x="1082478" y="890162"/>
            <a:ext cx="6704359" cy="2232184"/>
          </a:xfrm>
        </p:spPr>
        <p:txBody>
          <a:bodyPr/>
          <a:lstStyle/>
          <a:p>
            <a:r>
              <a:rPr lang="en-US" altLang="en-US" sz="2000" dirty="0"/>
              <a:t>General-purpose OS is very large program</a:t>
            </a:r>
          </a:p>
          <a:p>
            <a:r>
              <a:rPr lang="en-US" altLang="en-US" sz="2000" dirty="0"/>
              <a:t>Various ways to structure ones</a:t>
            </a:r>
          </a:p>
          <a:p>
            <a:pPr lvl="1"/>
            <a:r>
              <a:rPr lang="en-US" altLang="en-US" sz="2000" dirty="0"/>
              <a:t>Simple structure – MS-DOS</a:t>
            </a:r>
          </a:p>
          <a:p>
            <a:pPr lvl="1"/>
            <a:r>
              <a:rPr lang="en-US" altLang="en-US" sz="2000" dirty="0"/>
              <a:t>More complex – UNIX</a:t>
            </a:r>
          </a:p>
          <a:p>
            <a:pPr lvl="1"/>
            <a:r>
              <a:rPr lang="en-US" altLang="en-US" sz="2000" dirty="0"/>
              <a:t>Layered – an abstraction</a:t>
            </a:r>
          </a:p>
          <a:p>
            <a:pPr lvl="1"/>
            <a:r>
              <a:rPr lang="en-US" altLang="en-US" sz="2000" dirty="0"/>
              <a:t>Microkernel – Mach</a:t>
            </a:r>
          </a:p>
        </p:txBody>
      </p:sp>
      <p:sp>
        <p:nvSpPr>
          <p:cNvPr id="2" name="灯片编号占位符 1">
            <a:extLst>
              <a:ext uri="{FF2B5EF4-FFF2-40B4-BE49-F238E27FC236}">
                <a16:creationId xmlns:a16="http://schemas.microsoft.com/office/drawing/2014/main" id="{B2D75954-7B76-8D12-2626-8E1A25A14C1A}"/>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377E7B4-9EBE-4C2B-8887-F7A7B2906CE0}"/>
              </a:ext>
            </a:extLst>
          </p:cNvPr>
          <p:cNvSpPr>
            <a:spLocks noGrp="1" noChangeArrowheads="1"/>
          </p:cNvSpPr>
          <p:nvPr>
            <p:ph type="title"/>
          </p:nvPr>
        </p:nvSpPr>
        <p:spPr>
          <a:xfrm>
            <a:off x="895149" y="144379"/>
            <a:ext cx="7892715" cy="452387"/>
          </a:xfrm>
        </p:spPr>
        <p:txBody>
          <a:bodyPr/>
          <a:lstStyle/>
          <a:p>
            <a:pPr eaLnBrk="1" hangingPunct="1"/>
            <a:r>
              <a:rPr lang="en-US" altLang="en-US" sz="3200" dirty="0"/>
              <a:t>Monolithic Structure – Original UNIX</a:t>
            </a:r>
          </a:p>
        </p:txBody>
      </p:sp>
      <p:sp>
        <p:nvSpPr>
          <p:cNvPr id="77827" name="Rectangle 3">
            <a:extLst>
              <a:ext uri="{FF2B5EF4-FFF2-40B4-BE49-F238E27FC236}">
                <a16:creationId xmlns:a16="http://schemas.microsoft.com/office/drawing/2014/main" id="{FC6D798A-4128-40D0-B643-81391EF1733D}"/>
              </a:ext>
            </a:extLst>
          </p:cNvPr>
          <p:cNvSpPr>
            <a:spLocks noGrp="1" noChangeArrowheads="1"/>
          </p:cNvSpPr>
          <p:nvPr>
            <p:ph type="body" idx="1"/>
          </p:nvPr>
        </p:nvSpPr>
        <p:spPr>
          <a:xfrm>
            <a:off x="972153" y="866776"/>
            <a:ext cx="7709834" cy="2954454"/>
          </a:xfrm>
        </p:spPr>
        <p:txBody>
          <a:bodyPr/>
          <a:lstStyle/>
          <a:p>
            <a:r>
              <a:rPr lang="en-US" altLang="en-US" sz="2000" dirty="0"/>
              <a:t>UNIX – limited by hardware functionality, the original UNIX operating system had limited structuring.  </a:t>
            </a:r>
          </a:p>
          <a:p>
            <a:r>
              <a:rPr lang="en-US" altLang="en-US" sz="2000" dirty="0"/>
              <a:t>The UNIX OS consists of two separable parts</a:t>
            </a:r>
          </a:p>
          <a:p>
            <a:pPr lvl="1"/>
            <a:r>
              <a:rPr lang="en-US" altLang="en-US" sz="1800" dirty="0"/>
              <a:t>Systems programs</a:t>
            </a:r>
          </a:p>
          <a:p>
            <a:pPr lvl="1"/>
            <a:r>
              <a:rPr lang="en-US" altLang="en-US" sz="1800" dirty="0"/>
              <a:t>The kernel</a:t>
            </a:r>
          </a:p>
          <a:p>
            <a:pPr lvl="2"/>
            <a:r>
              <a:rPr lang="en-US" altLang="en-US" sz="1600" dirty="0"/>
              <a:t>Consists of everything below the system-call interface and above the physical hardware</a:t>
            </a:r>
          </a:p>
          <a:p>
            <a:pPr lvl="2"/>
            <a:r>
              <a:rPr lang="en-US" altLang="en-US" sz="1600" dirty="0"/>
              <a:t>Provides the file system, CPU scheduling, memory management, and other operating-system functions; a large number of functions for one level</a:t>
            </a:r>
          </a:p>
        </p:txBody>
      </p:sp>
      <p:sp>
        <p:nvSpPr>
          <p:cNvPr id="2" name="灯片编号占位符 1">
            <a:extLst>
              <a:ext uri="{FF2B5EF4-FFF2-40B4-BE49-F238E27FC236}">
                <a16:creationId xmlns:a16="http://schemas.microsoft.com/office/drawing/2014/main" id="{AF624260-7837-C48B-355F-8563262559FE}"/>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CFC2B06-0A35-4F30-AA6D-A9E4B2E7F3AA}"/>
              </a:ext>
            </a:extLst>
          </p:cNvPr>
          <p:cNvSpPr>
            <a:spLocks noGrp="1" noChangeArrowheads="1"/>
          </p:cNvSpPr>
          <p:nvPr>
            <p:ph type="title"/>
          </p:nvPr>
        </p:nvSpPr>
        <p:spPr>
          <a:xfrm>
            <a:off x="904774" y="154782"/>
            <a:ext cx="7430703" cy="432197"/>
          </a:xfrm>
        </p:spPr>
        <p:txBody>
          <a:bodyPr/>
          <a:lstStyle/>
          <a:p>
            <a:pPr eaLnBrk="1" hangingPunct="1"/>
            <a:r>
              <a:rPr lang="en-US" altLang="en-US" sz="3200" dirty="0"/>
              <a:t>Traditional UNIX System Structure</a:t>
            </a:r>
          </a:p>
        </p:txBody>
      </p:sp>
      <p:sp>
        <p:nvSpPr>
          <p:cNvPr id="43011" name="TextBox 1">
            <a:extLst>
              <a:ext uri="{FF2B5EF4-FFF2-40B4-BE49-F238E27FC236}">
                <a16:creationId xmlns:a16="http://schemas.microsoft.com/office/drawing/2014/main" id="{5706A7FC-049C-41F9-8FDB-970715988494}"/>
              </a:ext>
            </a:extLst>
          </p:cNvPr>
          <p:cNvSpPr txBox="1">
            <a:spLocks noChangeArrowheads="1"/>
          </p:cNvSpPr>
          <p:nvPr/>
        </p:nvSpPr>
        <p:spPr bwMode="auto">
          <a:xfrm>
            <a:off x="972151" y="813707"/>
            <a:ext cx="5173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342900" indent="-342900">
              <a:buClr>
                <a:srgbClr val="0000FF"/>
              </a:buClr>
              <a:buSzPct val="90000"/>
              <a:buFont typeface="Wingdings" panose="05000000000000000000" pitchFamily="2" charset="2"/>
              <a:buChar char="l"/>
              <a:defRPr/>
            </a:pPr>
            <a:r>
              <a:rPr lang="en-US" altLang="en-US" sz="2000" dirty="0">
                <a:latin typeface="Calibri" panose="020F0502020204030204" pitchFamily="34" charset="0"/>
                <a:cs typeface="Calibri" panose="020F0502020204030204" pitchFamily="34" charset="0"/>
              </a:rPr>
              <a:t>Beyond simple but not fully layered</a:t>
            </a:r>
          </a:p>
        </p:txBody>
      </p:sp>
      <p:pic>
        <p:nvPicPr>
          <p:cNvPr id="79876" name="Picture 2">
            <a:extLst>
              <a:ext uri="{FF2B5EF4-FFF2-40B4-BE49-F238E27FC236}">
                <a16:creationId xmlns:a16="http://schemas.microsoft.com/office/drawing/2014/main" id="{0AF4FCDF-1BC0-40A0-B88F-416549435D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0546" y="1327205"/>
            <a:ext cx="5327651" cy="321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0E7D235E-AB29-B37C-0D42-4BA71EE5EC8F}"/>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38BB792-4B15-4757-85D3-D0B6840E07CC}"/>
              </a:ext>
            </a:extLst>
          </p:cNvPr>
          <p:cNvSpPr>
            <a:spLocks noGrp="1" noChangeArrowheads="1"/>
          </p:cNvSpPr>
          <p:nvPr>
            <p:ph type="title"/>
          </p:nvPr>
        </p:nvSpPr>
        <p:spPr>
          <a:xfrm>
            <a:off x="933651" y="161926"/>
            <a:ext cx="6591099" cy="432197"/>
          </a:xfrm>
        </p:spPr>
        <p:txBody>
          <a:bodyPr/>
          <a:lstStyle/>
          <a:p>
            <a:pPr eaLnBrk="1" hangingPunct="1"/>
            <a:r>
              <a:rPr lang="en-US" altLang="en-US" sz="3200" dirty="0"/>
              <a:t>Linux System Structure</a:t>
            </a:r>
          </a:p>
        </p:txBody>
      </p:sp>
      <p:sp>
        <p:nvSpPr>
          <p:cNvPr id="81923" name="TextBox 1">
            <a:extLst>
              <a:ext uri="{FF2B5EF4-FFF2-40B4-BE49-F238E27FC236}">
                <a16:creationId xmlns:a16="http://schemas.microsoft.com/office/drawing/2014/main" id="{40FACBEC-A814-4EAA-BD5E-E6B0EC8188F9}"/>
              </a:ext>
            </a:extLst>
          </p:cNvPr>
          <p:cNvSpPr txBox="1">
            <a:spLocks noChangeArrowheads="1"/>
          </p:cNvSpPr>
          <p:nvPr/>
        </p:nvSpPr>
        <p:spPr bwMode="auto">
          <a:xfrm>
            <a:off x="933651" y="854810"/>
            <a:ext cx="61963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spcBef>
                <a:spcPct val="0"/>
              </a:spcBef>
              <a:buClr>
                <a:srgbClr val="0000FF"/>
              </a:buClr>
              <a:buSzTx/>
              <a:buFont typeface="Wingdings" panose="05000000000000000000" pitchFamily="2" charset="2"/>
              <a:buChar char="l"/>
            </a:pPr>
            <a:r>
              <a:rPr kumimoji="0" lang="en-US" altLang="en-US" sz="2000" dirty="0">
                <a:latin typeface="Calibri" panose="020F0502020204030204" pitchFamily="34" charset="0"/>
                <a:cs typeface="Calibri" panose="020F0502020204030204" pitchFamily="34" charset="0"/>
              </a:rPr>
              <a:t>Monolithic plus modular design</a:t>
            </a:r>
          </a:p>
        </p:txBody>
      </p:sp>
      <p:pic>
        <p:nvPicPr>
          <p:cNvPr id="81924" name="Picture 3">
            <a:extLst>
              <a:ext uri="{FF2B5EF4-FFF2-40B4-BE49-F238E27FC236}">
                <a16:creationId xmlns:a16="http://schemas.microsoft.com/office/drawing/2014/main" id="{3916281A-E631-49D0-A316-EE6C756C91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092" y="880047"/>
            <a:ext cx="2342657" cy="3619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836A7A4-9217-A393-54B7-5C5799588C93}"/>
              </a:ext>
            </a:extLst>
          </p:cNvPr>
          <p:cNvSpPr>
            <a:spLocks noGrp="1"/>
          </p:cNvSpPr>
          <p:nvPr>
            <p:ph type="sldNum" sz="quarter" idx="10"/>
          </p:nvPr>
        </p:nvSpPr>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D347B9A-F212-4276-94F4-7598F322B291}"/>
              </a:ext>
            </a:extLst>
          </p:cNvPr>
          <p:cNvSpPr>
            <a:spLocks noGrp="1" noChangeArrowheads="1"/>
          </p:cNvSpPr>
          <p:nvPr>
            <p:ph type="title"/>
          </p:nvPr>
        </p:nvSpPr>
        <p:spPr>
          <a:xfrm>
            <a:off x="914400" y="155972"/>
            <a:ext cx="6617494" cy="432197"/>
          </a:xfrm>
        </p:spPr>
        <p:txBody>
          <a:bodyPr/>
          <a:lstStyle/>
          <a:p>
            <a:pPr eaLnBrk="1" hangingPunct="1"/>
            <a:r>
              <a:rPr lang="en-US" altLang="en-US" sz="3200" dirty="0"/>
              <a:t>Layered Approach</a:t>
            </a:r>
          </a:p>
        </p:txBody>
      </p:sp>
      <p:sp>
        <p:nvSpPr>
          <p:cNvPr id="83971" name="Rectangle 3">
            <a:extLst>
              <a:ext uri="{FF2B5EF4-FFF2-40B4-BE49-F238E27FC236}">
                <a16:creationId xmlns:a16="http://schemas.microsoft.com/office/drawing/2014/main" id="{EF88837C-C3AF-4F6B-BDE3-AD82D9B29A62}"/>
              </a:ext>
            </a:extLst>
          </p:cNvPr>
          <p:cNvSpPr>
            <a:spLocks noGrp="1" noChangeArrowheads="1"/>
          </p:cNvSpPr>
          <p:nvPr>
            <p:ph type="body" idx="1"/>
          </p:nvPr>
        </p:nvSpPr>
        <p:spPr>
          <a:xfrm>
            <a:off x="452386" y="1147392"/>
            <a:ext cx="5553777" cy="2394706"/>
          </a:xfrm>
        </p:spPr>
        <p:txBody>
          <a:bodyPr/>
          <a:lstStyle/>
          <a:p>
            <a:r>
              <a:rPr lang="en-US" altLang="en-US" sz="2000" dirty="0"/>
              <a:t>The operating system is divided into a number of layers (levels), each built on top of lower layers.  The bottom layer (layer 0), is the hardware; the highest (layer N) is the user interface.</a:t>
            </a:r>
          </a:p>
          <a:p>
            <a:r>
              <a:rPr lang="en-US" altLang="en-US" sz="2000" dirty="0"/>
              <a:t>With modularity, layers are selected such that each uses functions (operations) and services of only lower-level layers</a:t>
            </a:r>
          </a:p>
        </p:txBody>
      </p:sp>
      <p:pic>
        <p:nvPicPr>
          <p:cNvPr id="83972" name="Picture 2">
            <a:extLst>
              <a:ext uri="{FF2B5EF4-FFF2-40B4-BE49-F238E27FC236}">
                <a16:creationId xmlns:a16="http://schemas.microsoft.com/office/drawing/2014/main" id="{407A23F2-DA55-4CEE-97C1-871903D963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1409" y="1400042"/>
            <a:ext cx="2660969" cy="2466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79DA0A73-70AE-C221-453E-D6EE5FCBE856}"/>
              </a:ext>
            </a:extLst>
          </p:cNvPr>
          <p:cNvSpPr>
            <a:spLocks noGrp="1"/>
          </p:cNvSpPr>
          <p:nvPr>
            <p:ph type="sldNum" sz="quarter" idx="10"/>
          </p:nvPr>
        </p:nvSpPr>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877023E-2F55-41F6-99AD-606BBD5F506F}"/>
              </a:ext>
            </a:extLst>
          </p:cNvPr>
          <p:cNvSpPr>
            <a:spLocks noGrp="1" noChangeArrowheads="1"/>
          </p:cNvSpPr>
          <p:nvPr>
            <p:ph type="title"/>
          </p:nvPr>
        </p:nvSpPr>
        <p:spPr>
          <a:xfrm>
            <a:off x="924025" y="155972"/>
            <a:ext cx="6649541" cy="432197"/>
          </a:xfrm>
        </p:spPr>
        <p:txBody>
          <a:bodyPr/>
          <a:lstStyle/>
          <a:p>
            <a:pPr eaLnBrk="1" hangingPunct="1"/>
            <a:r>
              <a:rPr lang="en-US" altLang="en-US" sz="3200" dirty="0"/>
              <a:t>Microkernels</a:t>
            </a:r>
          </a:p>
        </p:txBody>
      </p:sp>
      <p:sp>
        <p:nvSpPr>
          <p:cNvPr id="86019" name="Rectangle 3">
            <a:extLst>
              <a:ext uri="{FF2B5EF4-FFF2-40B4-BE49-F238E27FC236}">
                <a16:creationId xmlns:a16="http://schemas.microsoft.com/office/drawing/2014/main" id="{F3C84D0A-C5EC-46A8-A546-5363A149B9F9}"/>
              </a:ext>
            </a:extLst>
          </p:cNvPr>
          <p:cNvSpPr>
            <a:spLocks noGrp="1" noChangeArrowheads="1"/>
          </p:cNvSpPr>
          <p:nvPr>
            <p:ph idx="1"/>
          </p:nvPr>
        </p:nvSpPr>
        <p:spPr>
          <a:xfrm>
            <a:off x="924025" y="811806"/>
            <a:ext cx="7784570" cy="3642972"/>
          </a:xfrm>
        </p:spPr>
        <p:txBody>
          <a:bodyPr/>
          <a:lstStyle/>
          <a:p>
            <a:pPr>
              <a:spcBef>
                <a:spcPts val="0"/>
              </a:spcBef>
            </a:pPr>
            <a:r>
              <a:rPr lang="en-US" altLang="en-US" sz="2000" dirty="0">
                <a:ea typeface="+mn-ea"/>
                <a:cs typeface="Calibri" panose="020F0502020204030204" pitchFamily="34" charset="0"/>
              </a:rPr>
              <a:t>Moves as much from the kernel into user space</a:t>
            </a:r>
          </a:p>
          <a:p>
            <a:pPr>
              <a:spcBef>
                <a:spcPts val="0"/>
              </a:spcBef>
            </a:pPr>
            <a:r>
              <a:rPr lang="en-US" altLang="en-US" sz="2000" b="1" dirty="0">
                <a:solidFill>
                  <a:srgbClr val="006699"/>
                </a:solidFill>
                <a:ea typeface="+mn-ea"/>
                <a:cs typeface="Calibri" panose="020F0502020204030204" pitchFamily="34" charset="0"/>
              </a:rPr>
              <a:t>Mach</a:t>
            </a:r>
            <a:r>
              <a:rPr lang="en-US" altLang="en-US" sz="2000" dirty="0">
                <a:ea typeface="+mn-ea"/>
                <a:cs typeface="Calibri" panose="020F0502020204030204" pitchFamily="34" charset="0"/>
              </a:rPr>
              <a:t> is an example of </a:t>
            </a:r>
            <a:r>
              <a:rPr lang="en-US" altLang="en-US" sz="2000" b="1" dirty="0">
                <a:solidFill>
                  <a:srgbClr val="006699"/>
                </a:solidFill>
                <a:ea typeface="+mn-ea"/>
                <a:cs typeface="Calibri" panose="020F0502020204030204" pitchFamily="34" charset="0"/>
              </a:rPr>
              <a:t>microkernel</a:t>
            </a:r>
          </a:p>
          <a:p>
            <a:pPr lvl="1">
              <a:spcBef>
                <a:spcPts val="0"/>
              </a:spcBef>
            </a:pPr>
            <a:r>
              <a:rPr lang="en-US" altLang="en-US" sz="1800" dirty="0">
                <a:ea typeface="+mn-ea"/>
                <a:cs typeface="Calibri" panose="020F0502020204030204" pitchFamily="34" charset="0"/>
              </a:rPr>
              <a:t>Mac OS X kernel (</a:t>
            </a:r>
            <a:r>
              <a:rPr lang="en-US" altLang="en-US" sz="1800" b="1" dirty="0">
                <a:solidFill>
                  <a:srgbClr val="006699"/>
                </a:solidFill>
                <a:ea typeface="+mn-ea"/>
                <a:cs typeface="Calibri" panose="020F0502020204030204" pitchFamily="34" charset="0"/>
              </a:rPr>
              <a:t>Darwin</a:t>
            </a:r>
            <a:r>
              <a:rPr lang="en-US" altLang="en-US" sz="1800" dirty="0">
                <a:ea typeface="+mn-ea"/>
                <a:cs typeface="Calibri" panose="020F0502020204030204" pitchFamily="34" charset="0"/>
              </a:rPr>
              <a:t>) partly based on Mach</a:t>
            </a:r>
          </a:p>
          <a:p>
            <a:pPr>
              <a:spcBef>
                <a:spcPts val="0"/>
              </a:spcBef>
            </a:pPr>
            <a:r>
              <a:rPr lang="en-US" altLang="en-US" sz="2000" dirty="0">
                <a:ea typeface="+mn-ea"/>
                <a:cs typeface="Calibri" panose="020F0502020204030204" pitchFamily="34" charset="0"/>
              </a:rPr>
              <a:t>Communication takes place between user modules using </a:t>
            </a:r>
            <a:r>
              <a:rPr lang="en-US" altLang="en-US" sz="2000" b="1" dirty="0">
                <a:solidFill>
                  <a:srgbClr val="006699"/>
                </a:solidFill>
                <a:ea typeface="+mn-ea"/>
                <a:cs typeface="Calibri" panose="020F0502020204030204" pitchFamily="34" charset="0"/>
              </a:rPr>
              <a:t>message</a:t>
            </a:r>
            <a:r>
              <a:rPr lang="en-US" altLang="en-US" sz="2000" b="1" dirty="0">
                <a:solidFill>
                  <a:srgbClr val="3366FF"/>
                </a:solidFill>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passing</a:t>
            </a:r>
          </a:p>
          <a:p>
            <a:pPr>
              <a:spcBef>
                <a:spcPts val="0"/>
              </a:spcBef>
            </a:pPr>
            <a:r>
              <a:rPr lang="en-US" altLang="en-US" sz="2000" dirty="0">
                <a:ea typeface="+mn-ea"/>
                <a:cs typeface="Calibri" panose="020F0502020204030204" pitchFamily="34" charset="0"/>
              </a:rPr>
              <a:t>Benefits:</a:t>
            </a:r>
          </a:p>
          <a:p>
            <a:pPr lvl="1">
              <a:spcBef>
                <a:spcPts val="0"/>
              </a:spcBef>
            </a:pPr>
            <a:r>
              <a:rPr lang="en-US" altLang="en-US" sz="1800" dirty="0">
                <a:ea typeface="+mn-ea"/>
                <a:cs typeface="Calibri" panose="020F0502020204030204" pitchFamily="34" charset="0"/>
              </a:rPr>
              <a:t>Easier to extend a microkernel</a:t>
            </a:r>
          </a:p>
          <a:p>
            <a:pPr lvl="1">
              <a:spcBef>
                <a:spcPts val="0"/>
              </a:spcBef>
            </a:pPr>
            <a:r>
              <a:rPr lang="en-US" altLang="en-US" sz="1800" dirty="0">
                <a:ea typeface="+mn-ea"/>
                <a:cs typeface="Calibri" panose="020F0502020204030204" pitchFamily="34" charset="0"/>
              </a:rPr>
              <a:t>Easier to port the operating system to new architectures</a:t>
            </a:r>
          </a:p>
          <a:p>
            <a:pPr lvl="1">
              <a:spcBef>
                <a:spcPts val="0"/>
              </a:spcBef>
            </a:pPr>
            <a:r>
              <a:rPr lang="en-US" altLang="en-US" sz="1800" dirty="0">
                <a:ea typeface="+mn-ea"/>
                <a:cs typeface="Calibri" panose="020F0502020204030204" pitchFamily="34" charset="0"/>
              </a:rPr>
              <a:t>More reliable (less code is running in kernel mode)</a:t>
            </a:r>
          </a:p>
          <a:p>
            <a:pPr lvl="1">
              <a:spcBef>
                <a:spcPts val="0"/>
              </a:spcBef>
            </a:pPr>
            <a:r>
              <a:rPr lang="en-US" altLang="en-US" sz="1800" dirty="0">
                <a:ea typeface="+mn-ea"/>
                <a:cs typeface="Calibri" panose="020F0502020204030204" pitchFamily="34" charset="0"/>
              </a:rPr>
              <a:t>More secure</a:t>
            </a:r>
          </a:p>
          <a:p>
            <a:pPr>
              <a:spcBef>
                <a:spcPts val="0"/>
              </a:spcBef>
            </a:pPr>
            <a:r>
              <a:rPr lang="en-US" altLang="en-US" sz="2000" dirty="0">
                <a:ea typeface="+mn-ea"/>
                <a:cs typeface="Calibri" panose="020F0502020204030204" pitchFamily="34" charset="0"/>
              </a:rPr>
              <a:t>Detriments:</a:t>
            </a:r>
          </a:p>
          <a:p>
            <a:pPr lvl="1">
              <a:spcBef>
                <a:spcPts val="0"/>
              </a:spcBef>
            </a:pPr>
            <a:r>
              <a:rPr lang="en-US" altLang="en-US" sz="1800" dirty="0">
                <a:ea typeface="+mn-ea"/>
                <a:cs typeface="Calibri" panose="020F0502020204030204" pitchFamily="34" charset="0"/>
              </a:rPr>
              <a:t>Performance overhead of user space to kernel space communication</a:t>
            </a:r>
          </a:p>
        </p:txBody>
      </p:sp>
      <p:sp>
        <p:nvSpPr>
          <p:cNvPr id="2" name="灯片编号占位符 1">
            <a:extLst>
              <a:ext uri="{FF2B5EF4-FFF2-40B4-BE49-F238E27FC236}">
                <a16:creationId xmlns:a16="http://schemas.microsoft.com/office/drawing/2014/main" id="{99923368-4D38-CFBE-8176-808297453B49}"/>
              </a:ext>
            </a:extLst>
          </p:cNvPr>
          <p:cNvSpPr>
            <a:spLocks noGrp="1"/>
          </p:cNvSpPr>
          <p:nvPr>
            <p:ph type="sldNum" sz="quarter" idx="10"/>
          </p:nvPr>
        </p:nvSpPr>
        <p:spPr/>
        <p:txBody>
          <a:bodyPr/>
          <a:lstStyle/>
          <a:p>
            <a:fld id="{D9B6BDF2-6896-4B98-8776-C18582F63BA5}" type="slidenum">
              <a:rPr lang="zh-TW" altLang="en-US" smtClean="0"/>
              <a:pPr/>
              <a:t>42</a:t>
            </a:fld>
            <a:endParaRPr lang="zh-TW"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1DBEE6C-3A88-4D5B-9245-EF2BF859C9CF}"/>
              </a:ext>
            </a:extLst>
          </p:cNvPr>
          <p:cNvSpPr>
            <a:spLocks noGrp="1" noChangeArrowheads="1"/>
          </p:cNvSpPr>
          <p:nvPr>
            <p:ph type="title"/>
          </p:nvPr>
        </p:nvSpPr>
        <p:spPr>
          <a:xfrm>
            <a:off x="904776" y="160735"/>
            <a:ext cx="6655694" cy="432197"/>
          </a:xfrm>
        </p:spPr>
        <p:txBody>
          <a:bodyPr/>
          <a:lstStyle/>
          <a:p>
            <a:pPr eaLnBrk="1" hangingPunct="1"/>
            <a:r>
              <a:rPr lang="en-US" altLang="en-US" sz="3200" dirty="0"/>
              <a:t>Microkernel System Structure </a:t>
            </a:r>
          </a:p>
        </p:txBody>
      </p:sp>
      <p:pic>
        <p:nvPicPr>
          <p:cNvPr id="88067" name="Picture 2">
            <a:extLst>
              <a:ext uri="{FF2B5EF4-FFF2-40B4-BE49-F238E27FC236}">
                <a16:creationId xmlns:a16="http://schemas.microsoft.com/office/drawing/2014/main" id="{25A0E5C8-7A5F-457D-83DE-F96A7C9EED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4905" y="1158517"/>
            <a:ext cx="6545721" cy="316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AEEB582B-475C-45F6-447C-7F67A328C8F5}"/>
              </a:ext>
            </a:extLst>
          </p:cNvPr>
          <p:cNvSpPr>
            <a:spLocks noGrp="1"/>
          </p:cNvSpPr>
          <p:nvPr>
            <p:ph type="sldNum" sz="quarter" idx="10"/>
          </p:nvPr>
        </p:nvSpPr>
        <p:spPr/>
        <p:txBody>
          <a:bodyPr/>
          <a:lstStyle/>
          <a:p>
            <a:fld id="{D9B6BDF2-6896-4B98-8776-C18582F63BA5}" type="slidenum">
              <a:rPr lang="zh-TW" altLang="en-US" smtClean="0"/>
              <a:pPr/>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954A814-12BC-495B-A1ED-BBB6D763DFC8}"/>
              </a:ext>
            </a:extLst>
          </p:cNvPr>
          <p:cNvSpPr>
            <a:spLocks noGrp="1" noChangeArrowheads="1"/>
          </p:cNvSpPr>
          <p:nvPr>
            <p:ph type="title"/>
          </p:nvPr>
        </p:nvSpPr>
        <p:spPr>
          <a:xfrm>
            <a:off x="924025" y="161926"/>
            <a:ext cx="6619775" cy="432197"/>
          </a:xfrm>
        </p:spPr>
        <p:txBody>
          <a:bodyPr/>
          <a:lstStyle/>
          <a:p>
            <a:pPr eaLnBrk="1" hangingPunct="1"/>
            <a:r>
              <a:rPr lang="en-US" altLang="en-US" sz="3200" dirty="0"/>
              <a:t>Modules</a:t>
            </a:r>
          </a:p>
        </p:txBody>
      </p:sp>
      <p:sp>
        <p:nvSpPr>
          <p:cNvPr id="90115" name="Rectangle 3">
            <a:extLst>
              <a:ext uri="{FF2B5EF4-FFF2-40B4-BE49-F238E27FC236}">
                <a16:creationId xmlns:a16="http://schemas.microsoft.com/office/drawing/2014/main" id="{C37B4459-CB96-4BE9-94C0-89761665269A}"/>
              </a:ext>
            </a:extLst>
          </p:cNvPr>
          <p:cNvSpPr>
            <a:spLocks noGrp="1" noChangeArrowheads="1"/>
          </p:cNvSpPr>
          <p:nvPr>
            <p:ph type="body" idx="1"/>
          </p:nvPr>
        </p:nvSpPr>
        <p:spPr>
          <a:xfrm>
            <a:off x="1078029" y="779646"/>
            <a:ext cx="7199697" cy="3438569"/>
          </a:xfrm>
        </p:spPr>
        <p:txBody>
          <a:bodyPr/>
          <a:lstStyle/>
          <a:p>
            <a:r>
              <a:rPr lang="en-US" altLang="en-US" sz="2000" dirty="0">
                <a:ea typeface="+mn-ea"/>
                <a:cs typeface="Calibri" panose="020F0502020204030204" pitchFamily="34" charset="0"/>
              </a:rPr>
              <a:t>Many modern operating systems implement </a:t>
            </a:r>
            <a:r>
              <a:rPr lang="en-US" altLang="en-US" sz="2000" b="1" dirty="0">
                <a:solidFill>
                  <a:srgbClr val="006699"/>
                </a:solidFill>
                <a:ea typeface="+mn-ea"/>
                <a:cs typeface="Calibri" panose="020F0502020204030204" pitchFamily="34" charset="0"/>
              </a:rPr>
              <a:t>loadable</a:t>
            </a:r>
            <a:r>
              <a:rPr lang="en-US" altLang="en-US" sz="2000" dirty="0">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kernel</a:t>
            </a:r>
            <a:r>
              <a:rPr lang="en-US" altLang="en-US" sz="2000" b="1"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mo</a:t>
            </a:r>
            <a:r>
              <a:rPr lang="en-US" altLang="en-US" sz="2000" b="1" dirty="0">
                <a:solidFill>
                  <a:srgbClr val="006699"/>
                </a:solidFill>
                <a:ea typeface="+mn-ea"/>
                <a:cs typeface="Calibri" panose="020F0502020204030204" pitchFamily="34" charset="0"/>
              </a:rPr>
              <a:t>dules</a:t>
            </a:r>
            <a:r>
              <a:rPr lang="en-US" altLang="en-US" sz="2000" b="1"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a:t>
            </a:r>
            <a:r>
              <a:rPr lang="en-US" altLang="en-US" sz="2000" b="1" dirty="0">
                <a:solidFill>
                  <a:srgbClr val="006699"/>
                </a:solidFill>
                <a:ea typeface="+mn-ea"/>
                <a:cs typeface="Calibri" panose="020F0502020204030204" pitchFamily="34" charset="0"/>
              </a:rPr>
              <a:t>LKMs</a:t>
            </a:r>
            <a:r>
              <a:rPr lang="en-US" altLang="en-US" sz="2000" dirty="0">
                <a:ea typeface="+mn-ea"/>
                <a:cs typeface="Calibri" panose="020F0502020204030204" pitchFamily="34" charset="0"/>
              </a:rPr>
              <a:t>)</a:t>
            </a:r>
          </a:p>
          <a:p>
            <a:pPr lvl="1"/>
            <a:r>
              <a:rPr lang="en-US" altLang="en-US" sz="1800" dirty="0">
                <a:ea typeface="+mn-ea"/>
                <a:cs typeface="Calibri" panose="020F0502020204030204" pitchFamily="34" charset="0"/>
              </a:rPr>
              <a:t>Uses object-oriented approach</a:t>
            </a:r>
          </a:p>
          <a:p>
            <a:pPr lvl="1"/>
            <a:r>
              <a:rPr lang="en-US" altLang="en-US" sz="1800" dirty="0">
                <a:ea typeface="+mn-ea"/>
                <a:cs typeface="Calibri" panose="020F0502020204030204" pitchFamily="34" charset="0"/>
              </a:rPr>
              <a:t>Each core component is separate</a:t>
            </a:r>
          </a:p>
          <a:p>
            <a:pPr lvl="1"/>
            <a:r>
              <a:rPr lang="en-US" altLang="en-US" sz="1800" dirty="0">
                <a:ea typeface="+mn-ea"/>
                <a:cs typeface="Calibri" panose="020F0502020204030204" pitchFamily="34" charset="0"/>
              </a:rPr>
              <a:t>Each talks to the others over known interfaces</a:t>
            </a:r>
          </a:p>
          <a:p>
            <a:pPr lvl="1"/>
            <a:r>
              <a:rPr lang="en-US" altLang="en-US" sz="1800" dirty="0">
                <a:ea typeface="+mn-ea"/>
                <a:cs typeface="Calibri" panose="020F0502020204030204" pitchFamily="34" charset="0"/>
              </a:rPr>
              <a:t>Each is loadable as needed within the kernel</a:t>
            </a:r>
          </a:p>
          <a:p>
            <a:r>
              <a:rPr lang="en-US" altLang="en-US" sz="2000" dirty="0">
                <a:ea typeface="+mn-ea"/>
                <a:cs typeface="Calibri" panose="020F0502020204030204" pitchFamily="34" charset="0"/>
              </a:rPr>
              <a:t>Overall, similar to layers but with more flexible</a:t>
            </a:r>
          </a:p>
          <a:p>
            <a:pPr lvl="1"/>
            <a:r>
              <a:rPr lang="en-US" altLang="en-US" sz="2000" dirty="0">
                <a:ea typeface="+mn-ea"/>
                <a:cs typeface="Calibri" panose="020F0502020204030204" pitchFamily="34" charset="0"/>
              </a:rPr>
              <a:t>Linux, Solaris, etc.</a:t>
            </a:r>
          </a:p>
        </p:txBody>
      </p:sp>
      <p:sp>
        <p:nvSpPr>
          <p:cNvPr id="2" name="灯片编号占位符 1">
            <a:extLst>
              <a:ext uri="{FF2B5EF4-FFF2-40B4-BE49-F238E27FC236}">
                <a16:creationId xmlns:a16="http://schemas.microsoft.com/office/drawing/2014/main" id="{BD4A030B-306C-1C4E-A3DA-9A3C0840328F}"/>
              </a:ext>
            </a:extLst>
          </p:cNvPr>
          <p:cNvSpPr>
            <a:spLocks noGrp="1"/>
          </p:cNvSpPr>
          <p:nvPr>
            <p:ph type="sldNum" sz="quarter" idx="10"/>
          </p:nvPr>
        </p:nvSpPr>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0BB8BEE-979C-4417-91EE-00F82403335A}"/>
              </a:ext>
            </a:extLst>
          </p:cNvPr>
          <p:cNvSpPr>
            <a:spLocks noGrp="1" noChangeArrowheads="1"/>
          </p:cNvSpPr>
          <p:nvPr>
            <p:ph type="title"/>
          </p:nvPr>
        </p:nvSpPr>
        <p:spPr>
          <a:xfrm>
            <a:off x="895149" y="170260"/>
            <a:ext cx="6762951" cy="432197"/>
          </a:xfrm>
        </p:spPr>
        <p:txBody>
          <a:bodyPr/>
          <a:lstStyle/>
          <a:p>
            <a:pPr eaLnBrk="1" hangingPunct="1"/>
            <a:r>
              <a:rPr lang="en-US" altLang="en-US" sz="3200" dirty="0"/>
              <a:t>Hybrid Systems</a:t>
            </a:r>
          </a:p>
        </p:txBody>
      </p:sp>
      <p:sp>
        <p:nvSpPr>
          <p:cNvPr id="92163" name="Rectangle 3">
            <a:extLst>
              <a:ext uri="{FF2B5EF4-FFF2-40B4-BE49-F238E27FC236}">
                <a16:creationId xmlns:a16="http://schemas.microsoft.com/office/drawing/2014/main" id="{D41C8CF6-730E-4ECC-9656-D3926F90EEBB}"/>
              </a:ext>
            </a:extLst>
          </p:cNvPr>
          <p:cNvSpPr>
            <a:spLocks noGrp="1" noChangeArrowheads="1"/>
          </p:cNvSpPr>
          <p:nvPr>
            <p:ph type="body" idx="1"/>
          </p:nvPr>
        </p:nvSpPr>
        <p:spPr>
          <a:xfrm>
            <a:off x="1001028" y="925116"/>
            <a:ext cx="7623208" cy="3521756"/>
          </a:xfrm>
        </p:spPr>
        <p:txBody>
          <a:bodyPr/>
          <a:lstStyle/>
          <a:p>
            <a:r>
              <a:rPr lang="en-US" altLang="en-US" sz="2000" dirty="0">
                <a:cs typeface="Calibri" panose="020F0502020204030204" pitchFamily="34" charset="0"/>
              </a:rPr>
              <a:t>Most modern operating systems are not one pure model</a:t>
            </a:r>
          </a:p>
          <a:p>
            <a:pPr lvl="1"/>
            <a:r>
              <a:rPr lang="en-US" altLang="en-US" sz="1800" dirty="0">
                <a:cs typeface="Calibri" panose="020F0502020204030204" pitchFamily="34" charset="0"/>
              </a:rPr>
              <a:t>Hybrid combines multiple approaches to address performance, security, usability needs</a:t>
            </a:r>
          </a:p>
          <a:p>
            <a:pPr lvl="1"/>
            <a:r>
              <a:rPr lang="en-US" altLang="en-US" sz="1800" dirty="0">
                <a:cs typeface="Calibri" panose="020F0502020204030204" pitchFamily="34" charset="0"/>
              </a:rPr>
              <a:t>Linux and Solaris kernels in kernel address space, so monolithic, plus modular for dynamic loading of functionality</a:t>
            </a:r>
          </a:p>
          <a:p>
            <a:pPr lvl="1"/>
            <a:r>
              <a:rPr lang="en-US" altLang="en-US" sz="1800" dirty="0">
                <a:cs typeface="Calibri" panose="020F0502020204030204" pitchFamily="34" charset="0"/>
              </a:rPr>
              <a:t>Windows mostly monolithic, plus microkernel for different subsystem </a:t>
            </a:r>
            <a:r>
              <a:rPr lang="en-US" altLang="en-US" sz="1800" b="1" i="1" dirty="0">
                <a:cs typeface="Calibri" panose="020F0502020204030204" pitchFamily="34" charset="0"/>
              </a:rPr>
              <a:t>personalities</a:t>
            </a:r>
          </a:p>
          <a:p>
            <a:r>
              <a:rPr lang="en-US" altLang="en-US" sz="2000" dirty="0">
                <a:cs typeface="Calibri" panose="020F0502020204030204" pitchFamily="34" charset="0"/>
              </a:rPr>
              <a:t>Apple Mac OS X hybrid, layered, </a:t>
            </a:r>
            <a:r>
              <a:rPr lang="en-US" altLang="en-US" sz="2000" b="1" dirty="0">
                <a:solidFill>
                  <a:srgbClr val="006699"/>
                </a:solidFill>
                <a:cs typeface="Calibri" panose="020F0502020204030204" pitchFamily="34" charset="0"/>
              </a:rPr>
              <a:t>Aqua</a:t>
            </a:r>
            <a:r>
              <a:rPr lang="en-US" altLang="en-US" sz="2000" dirty="0">
                <a:cs typeface="Calibri" panose="020F0502020204030204" pitchFamily="34" charset="0"/>
              </a:rPr>
              <a:t> UI plus </a:t>
            </a:r>
            <a:r>
              <a:rPr lang="en-US" altLang="en-US" sz="2000" b="1" dirty="0">
                <a:solidFill>
                  <a:srgbClr val="006699"/>
                </a:solidFill>
                <a:cs typeface="Calibri" panose="020F0502020204030204" pitchFamily="34" charset="0"/>
              </a:rPr>
              <a:t>Cocoa</a:t>
            </a:r>
            <a:r>
              <a:rPr lang="en-US" altLang="en-US" sz="2000" dirty="0">
                <a:cs typeface="Calibri" panose="020F0502020204030204" pitchFamily="34" charset="0"/>
              </a:rPr>
              <a:t> programming environment</a:t>
            </a:r>
          </a:p>
          <a:p>
            <a:pPr lvl="1"/>
            <a:r>
              <a:rPr lang="en-US" altLang="en-US" sz="1800" dirty="0">
                <a:cs typeface="Calibri" panose="020F0502020204030204" pitchFamily="34" charset="0"/>
              </a:rPr>
              <a:t>Below is kernel consisting of Mach microkernel and BSD Unix parts, plus I/O kit and dynamically loadable modules (called </a:t>
            </a:r>
            <a:r>
              <a:rPr lang="en-US" altLang="en-US" sz="1800" b="1" dirty="0">
                <a:solidFill>
                  <a:srgbClr val="006699"/>
                </a:solidFill>
                <a:cs typeface="Calibri" panose="020F0502020204030204" pitchFamily="34" charset="0"/>
              </a:rPr>
              <a:t>kernel</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extensions</a:t>
            </a:r>
            <a:r>
              <a:rPr lang="en-US" altLang="en-US" sz="1800" dirty="0">
                <a:cs typeface="Calibri" panose="020F0502020204030204" pitchFamily="34" charset="0"/>
              </a:rPr>
              <a:t>)</a:t>
            </a:r>
          </a:p>
        </p:txBody>
      </p:sp>
      <p:sp>
        <p:nvSpPr>
          <p:cNvPr id="2" name="灯片编号占位符 1">
            <a:extLst>
              <a:ext uri="{FF2B5EF4-FFF2-40B4-BE49-F238E27FC236}">
                <a16:creationId xmlns:a16="http://schemas.microsoft.com/office/drawing/2014/main" id="{C6743134-4CB9-4C27-0A9A-DEC96DDD813E}"/>
              </a:ext>
            </a:extLst>
          </p:cNvPr>
          <p:cNvSpPr>
            <a:spLocks noGrp="1"/>
          </p:cNvSpPr>
          <p:nvPr>
            <p:ph type="sldNum" sz="quarter" idx="10"/>
          </p:nvPr>
        </p:nvSpPr>
        <p:spPr/>
        <p:txBody>
          <a:bodyPr/>
          <a:lstStyle/>
          <a:p>
            <a:fld id="{D9B6BDF2-6896-4B98-8776-C18582F63BA5}" type="slidenum">
              <a:rPr lang="zh-TW" altLang="en-US" smtClean="0"/>
              <a:pPr/>
              <a:t>45</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467BA55D-7A8C-4023-B3F3-3F18F7F62918}"/>
              </a:ext>
            </a:extLst>
          </p:cNvPr>
          <p:cNvSpPr>
            <a:spLocks noGrp="1" noChangeArrowheads="1"/>
          </p:cNvSpPr>
          <p:nvPr>
            <p:ph type="title"/>
          </p:nvPr>
        </p:nvSpPr>
        <p:spPr>
          <a:xfrm>
            <a:off x="875899" y="108349"/>
            <a:ext cx="7799791" cy="519113"/>
          </a:xfrm>
        </p:spPr>
        <p:txBody>
          <a:bodyPr/>
          <a:lstStyle/>
          <a:p>
            <a:r>
              <a:rPr lang="en-US" altLang="en-US" sz="3200" dirty="0"/>
              <a:t>MacOS and iOS Structure</a:t>
            </a:r>
          </a:p>
        </p:txBody>
      </p:sp>
      <p:pic>
        <p:nvPicPr>
          <p:cNvPr id="94211" name="Content Placeholder 4">
            <a:extLst>
              <a:ext uri="{FF2B5EF4-FFF2-40B4-BE49-F238E27FC236}">
                <a16:creationId xmlns:a16="http://schemas.microsoft.com/office/drawing/2014/main" id="{4C8FD787-1D63-4CDB-A6AC-662FE711E4DB}"/>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742915" y="987942"/>
            <a:ext cx="4065758" cy="3348441"/>
          </a:xfrm>
        </p:spPr>
      </p:pic>
      <p:sp>
        <p:nvSpPr>
          <p:cNvPr id="2" name="灯片编号占位符 1">
            <a:extLst>
              <a:ext uri="{FF2B5EF4-FFF2-40B4-BE49-F238E27FC236}">
                <a16:creationId xmlns:a16="http://schemas.microsoft.com/office/drawing/2014/main" id="{D9589425-3EE0-8BB8-8D84-575BBD2F729F}"/>
              </a:ext>
            </a:extLst>
          </p:cNvPr>
          <p:cNvSpPr>
            <a:spLocks noGrp="1"/>
          </p:cNvSpPr>
          <p:nvPr>
            <p:ph type="sldNum" sz="quarter" idx="10"/>
          </p:nvPr>
        </p:nvSpPr>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F920D189-3A2A-4433-B759-AE4A29C629C2}"/>
              </a:ext>
            </a:extLst>
          </p:cNvPr>
          <p:cNvSpPr>
            <a:spLocks noGrp="1" noChangeArrowheads="1"/>
          </p:cNvSpPr>
          <p:nvPr>
            <p:ph type="title"/>
          </p:nvPr>
        </p:nvSpPr>
        <p:spPr>
          <a:xfrm>
            <a:off x="875899" y="108349"/>
            <a:ext cx="7799791" cy="519113"/>
          </a:xfrm>
        </p:spPr>
        <p:txBody>
          <a:bodyPr/>
          <a:lstStyle/>
          <a:p>
            <a:r>
              <a:rPr lang="en-US" altLang="en-US" sz="3200" dirty="0"/>
              <a:t>Darwin</a:t>
            </a:r>
          </a:p>
        </p:txBody>
      </p:sp>
      <p:pic>
        <p:nvPicPr>
          <p:cNvPr id="95235" name="Content Placeholder 5">
            <a:extLst>
              <a:ext uri="{FF2B5EF4-FFF2-40B4-BE49-F238E27FC236}">
                <a16:creationId xmlns:a16="http://schemas.microsoft.com/office/drawing/2014/main" id="{C076D8A7-0015-48E2-9BB0-037DED9A3FA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3106103" y="1027676"/>
            <a:ext cx="3257550" cy="3397359"/>
          </a:xfrm>
        </p:spPr>
      </p:pic>
      <p:sp>
        <p:nvSpPr>
          <p:cNvPr id="2" name="灯片编号占位符 1">
            <a:extLst>
              <a:ext uri="{FF2B5EF4-FFF2-40B4-BE49-F238E27FC236}">
                <a16:creationId xmlns:a16="http://schemas.microsoft.com/office/drawing/2014/main" id="{56D84B08-FD17-DB86-5354-3FD0E0A10307}"/>
              </a:ext>
            </a:extLst>
          </p:cNvPr>
          <p:cNvSpPr>
            <a:spLocks noGrp="1"/>
          </p:cNvSpPr>
          <p:nvPr>
            <p:ph type="sldNum" sz="quarter" idx="10"/>
          </p:nvPr>
        </p:nvSpPr>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762A3F-E3BF-4B1B-8ABF-9D43E9D3C2CF}"/>
              </a:ext>
            </a:extLst>
          </p:cNvPr>
          <p:cNvSpPr>
            <a:spLocks noGrp="1" noChangeArrowheads="1"/>
          </p:cNvSpPr>
          <p:nvPr>
            <p:ph type="title"/>
          </p:nvPr>
        </p:nvSpPr>
        <p:spPr>
          <a:xfrm>
            <a:off x="875899" y="159544"/>
            <a:ext cx="6663139" cy="432197"/>
          </a:xfrm>
        </p:spPr>
        <p:txBody>
          <a:bodyPr/>
          <a:lstStyle/>
          <a:p>
            <a:pPr eaLnBrk="1" hangingPunct="1"/>
            <a:r>
              <a:rPr lang="en-US" altLang="en-US" sz="3200" dirty="0"/>
              <a:t>iOS</a:t>
            </a:r>
          </a:p>
        </p:txBody>
      </p:sp>
      <p:sp>
        <p:nvSpPr>
          <p:cNvPr id="96259" name="Rectangle 3">
            <a:extLst>
              <a:ext uri="{FF2B5EF4-FFF2-40B4-BE49-F238E27FC236}">
                <a16:creationId xmlns:a16="http://schemas.microsoft.com/office/drawing/2014/main" id="{13D559C0-E4A0-4AA2-953F-F1E8A81C31FB}"/>
              </a:ext>
            </a:extLst>
          </p:cNvPr>
          <p:cNvSpPr>
            <a:spLocks noGrp="1" noChangeArrowheads="1"/>
          </p:cNvSpPr>
          <p:nvPr>
            <p:ph type="body" idx="1"/>
          </p:nvPr>
        </p:nvSpPr>
        <p:spPr>
          <a:xfrm>
            <a:off x="519764" y="967026"/>
            <a:ext cx="6035040" cy="3398044"/>
          </a:xfrm>
        </p:spPr>
        <p:txBody>
          <a:bodyPr/>
          <a:lstStyle/>
          <a:p>
            <a:r>
              <a:rPr lang="en-US" altLang="en-US" sz="2000" dirty="0">
                <a:cs typeface="Calibri" panose="020F0502020204030204" pitchFamily="34" charset="0"/>
              </a:rPr>
              <a:t>Apple mobile OS for </a:t>
            </a:r>
            <a:r>
              <a:rPr lang="en-US" altLang="en-US" sz="2000" b="1" i="1" dirty="0">
                <a:cs typeface="Calibri" panose="020F0502020204030204" pitchFamily="34" charset="0"/>
              </a:rPr>
              <a:t>iPhone</a:t>
            </a:r>
            <a:r>
              <a:rPr lang="en-US" altLang="en-US" sz="2000" dirty="0">
                <a:cs typeface="Calibri" panose="020F0502020204030204" pitchFamily="34" charset="0"/>
              </a:rPr>
              <a:t>, </a:t>
            </a:r>
            <a:r>
              <a:rPr lang="en-US" altLang="en-US" sz="2000" b="1" i="1" dirty="0">
                <a:cs typeface="Calibri" panose="020F0502020204030204" pitchFamily="34" charset="0"/>
              </a:rPr>
              <a:t>iPad</a:t>
            </a:r>
            <a:endParaRPr lang="en-US" altLang="en-US" sz="2000" dirty="0">
              <a:cs typeface="Calibri" panose="020F0502020204030204" pitchFamily="34" charset="0"/>
            </a:endParaRPr>
          </a:p>
          <a:p>
            <a:pPr lvl="1"/>
            <a:r>
              <a:rPr lang="en-US" altLang="en-US" sz="1800" dirty="0">
                <a:cs typeface="Calibri" panose="020F0502020204030204" pitchFamily="34" charset="0"/>
              </a:rPr>
              <a:t>Structured on Mac OS X, added functionality</a:t>
            </a:r>
          </a:p>
          <a:p>
            <a:pPr lvl="1"/>
            <a:r>
              <a:rPr lang="en-US" altLang="en-US" sz="1800" dirty="0">
                <a:cs typeface="Calibri" panose="020F0502020204030204" pitchFamily="34" charset="0"/>
              </a:rPr>
              <a:t>Does not run OS X applications natively</a:t>
            </a:r>
          </a:p>
          <a:p>
            <a:pPr lvl="2"/>
            <a:r>
              <a:rPr lang="en-US" altLang="en-US" sz="1600" dirty="0"/>
              <a:t>Also runs on different CPU architecture (ARM vs. Intel)</a:t>
            </a:r>
          </a:p>
          <a:p>
            <a:pPr lvl="1"/>
            <a:r>
              <a:rPr lang="en-US" altLang="en-US" sz="1800" b="1" dirty="0">
                <a:solidFill>
                  <a:srgbClr val="006699"/>
                </a:solidFill>
                <a:cs typeface="Calibri" panose="020F0502020204030204" pitchFamily="34" charset="0"/>
              </a:rPr>
              <a:t>Cocoa</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Touch</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Objective-C API for developing apps</a:t>
            </a:r>
          </a:p>
          <a:p>
            <a:pPr lvl="1"/>
            <a:r>
              <a:rPr lang="en-US" altLang="en-US" sz="1800" b="1" dirty="0">
                <a:solidFill>
                  <a:srgbClr val="006699"/>
                </a:solidFill>
                <a:cs typeface="Calibri" panose="020F0502020204030204" pitchFamily="34" charset="0"/>
              </a:rPr>
              <a:t>Media</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services</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layer for graphics, audio, video</a:t>
            </a:r>
          </a:p>
          <a:p>
            <a:pPr lvl="1"/>
            <a:r>
              <a:rPr lang="en-US" altLang="en-US" sz="1800" b="1" dirty="0">
                <a:solidFill>
                  <a:srgbClr val="006699"/>
                </a:solidFill>
                <a:cs typeface="Calibri" panose="020F0502020204030204" pitchFamily="34" charset="0"/>
              </a:rPr>
              <a:t>Core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services</a:t>
            </a:r>
            <a:r>
              <a:rPr lang="en-US" altLang="en-US" sz="1800" b="1" dirty="0">
                <a:solidFill>
                  <a:srgbClr val="3366FF"/>
                </a:solidFill>
                <a:cs typeface="Calibri" panose="020F0502020204030204" pitchFamily="34" charset="0"/>
              </a:rPr>
              <a:t> </a:t>
            </a:r>
            <a:r>
              <a:rPr lang="en-US" altLang="en-US" sz="1800" dirty="0">
                <a:cs typeface="Calibri" panose="020F0502020204030204" pitchFamily="34" charset="0"/>
              </a:rPr>
              <a:t>provides cloud computing, databases</a:t>
            </a:r>
          </a:p>
          <a:p>
            <a:pPr lvl="1"/>
            <a:r>
              <a:rPr lang="en-US" altLang="en-US" sz="1800" dirty="0">
                <a:cs typeface="Calibri" panose="020F0502020204030204" pitchFamily="34" charset="0"/>
              </a:rPr>
              <a:t>Core operating system, based on Mac OS X kernel</a:t>
            </a:r>
          </a:p>
        </p:txBody>
      </p:sp>
      <p:pic>
        <p:nvPicPr>
          <p:cNvPr id="96260" name="Picture 1" descr="2_17.pdf">
            <a:extLst>
              <a:ext uri="{FF2B5EF4-FFF2-40B4-BE49-F238E27FC236}">
                <a16:creationId xmlns:a16="http://schemas.microsoft.com/office/drawing/2014/main" id="{2E339495-3C55-43FC-A1DA-C5BF72DE9C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4439" y="1109004"/>
            <a:ext cx="2133600" cy="2232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8DC911F-0F49-4758-ABC1-8493B6EC69AA}"/>
              </a:ext>
            </a:extLst>
          </p:cNvPr>
          <p:cNvSpPr>
            <a:spLocks noGrp="1"/>
          </p:cNvSpPr>
          <p:nvPr>
            <p:ph type="sldNum" sz="quarter" idx="10"/>
          </p:nvPr>
        </p:nvSpPr>
        <p:spPr/>
        <p:txBody>
          <a:bodyPr/>
          <a:lstStyle/>
          <a:p>
            <a:fld id="{D9B6BDF2-6896-4B98-8776-C18582F63BA5}" type="slidenum">
              <a:rPr lang="zh-TW" altLang="en-US" smtClean="0"/>
              <a:pPr/>
              <a:t>48</a:t>
            </a:fld>
            <a:endParaRPr lang="zh-TW" altLang="en-US"/>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97DAC17-7FD8-4F1D-98AA-E8448344947F}"/>
              </a:ext>
            </a:extLst>
          </p:cNvPr>
          <p:cNvSpPr>
            <a:spLocks noGrp="1" noChangeArrowheads="1"/>
          </p:cNvSpPr>
          <p:nvPr>
            <p:ph type="title"/>
          </p:nvPr>
        </p:nvSpPr>
        <p:spPr>
          <a:xfrm>
            <a:off x="885524" y="163116"/>
            <a:ext cx="6639226" cy="432197"/>
          </a:xfrm>
        </p:spPr>
        <p:txBody>
          <a:bodyPr/>
          <a:lstStyle/>
          <a:p>
            <a:pPr eaLnBrk="1" hangingPunct="1"/>
            <a:r>
              <a:rPr lang="en-US" altLang="en-US" sz="3200" dirty="0"/>
              <a:t>Android</a:t>
            </a:r>
          </a:p>
        </p:txBody>
      </p:sp>
      <p:sp>
        <p:nvSpPr>
          <p:cNvPr id="98307" name="Rectangle 3">
            <a:extLst>
              <a:ext uri="{FF2B5EF4-FFF2-40B4-BE49-F238E27FC236}">
                <a16:creationId xmlns:a16="http://schemas.microsoft.com/office/drawing/2014/main" id="{83BD71DB-F618-4925-8C3A-9C2CA2E1E4A9}"/>
              </a:ext>
            </a:extLst>
          </p:cNvPr>
          <p:cNvSpPr>
            <a:spLocks noGrp="1" noChangeArrowheads="1"/>
          </p:cNvSpPr>
          <p:nvPr>
            <p:ph type="body" idx="1"/>
          </p:nvPr>
        </p:nvSpPr>
        <p:spPr>
          <a:xfrm>
            <a:off x="885524" y="804056"/>
            <a:ext cx="7652084" cy="3816071"/>
          </a:xfrm>
        </p:spPr>
        <p:txBody>
          <a:bodyPr/>
          <a:lstStyle/>
          <a:p>
            <a:pPr>
              <a:spcBef>
                <a:spcPts val="0"/>
              </a:spcBef>
            </a:pPr>
            <a:r>
              <a:rPr lang="en-US" altLang="en-US" sz="2000" dirty="0"/>
              <a:t>Developed by Open Handset Alliance (mostly Google)</a:t>
            </a:r>
          </a:p>
          <a:p>
            <a:pPr lvl="1">
              <a:spcBef>
                <a:spcPts val="0"/>
              </a:spcBef>
            </a:pPr>
            <a:r>
              <a:rPr lang="en-US" altLang="en-US" sz="1800" dirty="0"/>
              <a:t>Open Source</a:t>
            </a:r>
          </a:p>
          <a:p>
            <a:pPr>
              <a:spcBef>
                <a:spcPts val="0"/>
              </a:spcBef>
            </a:pPr>
            <a:r>
              <a:rPr lang="en-US" altLang="en-US" sz="2000" dirty="0"/>
              <a:t>Similar stack to iOS</a:t>
            </a:r>
          </a:p>
          <a:p>
            <a:pPr>
              <a:spcBef>
                <a:spcPts val="0"/>
              </a:spcBef>
            </a:pPr>
            <a:r>
              <a:rPr lang="en-US" altLang="en-US" sz="2000" dirty="0"/>
              <a:t>Based on Linux kernel but modified</a:t>
            </a:r>
          </a:p>
          <a:p>
            <a:pPr lvl="1">
              <a:spcBef>
                <a:spcPts val="0"/>
              </a:spcBef>
            </a:pPr>
            <a:r>
              <a:rPr lang="en-US" altLang="en-US" sz="1800" dirty="0"/>
              <a:t>Provides process, memory, device-driver management</a:t>
            </a:r>
          </a:p>
          <a:p>
            <a:pPr lvl="1">
              <a:spcBef>
                <a:spcPts val="0"/>
              </a:spcBef>
            </a:pPr>
            <a:r>
              <a:rPr lang="en-US" altLang="en-US" sz="1800" dirty="0"/>
              <a:t>Adds power management </a:t>
            </a:r>
          </a:p>
          <a:p>
            <a:pPr>
              <a:spcBef>
                <a:spcPts val="0"/>
              </a:spcBef>
            </a:pPr>
            <a:r>
              <a:rPr lang="en-US" altLang="en-US" sz="2000" dirty="0"/>
              <a:t>Runtime environment includes core set of libraries and Dalvik virtual machine</a:t>
            </a:r>
          </a:p>
          <a:p>
            <a:pPr lvl="1">
              <a:spcBef>
                <a:spcPts val="0"/>
              </a:spcBef>
            </a:pPr>
            <a:r>
              <a:rPr lang="en-US" altLang="en-US" sz="1800" dirty="0"/>
              <a:t>Apps developed in Java plus Android API</a:t>
            </a:r>
          </a:p>
          <a:p>
            <a:pPr lvl="2">
              <a:spcBef>
                <a:spcPts val="0"/>
              </a:spcBef>
            </a:pPr>
            <a:r>
              <a:rPr lang="en-US" altLang="en-US" sz="1600" dirty="0"/>
              <a:t>Java class files compiled to Java bytecode then translated to executable </a:t>
            </a:r>
            <a:r>
              <a:rPr lang="en-US" altLang="en-US" sz="1600" dirty="0" err="1"/>
              <a:t>thnn</a:t>
            </a:r>
            <a:r>
              <a:rPr lang="en-US" altLang="en-US" sz="1600" dirty="0"/>
              <a:t> runs in Dalvik VM</a:t>
            </a:r>
          </a:p>
          <a:p>
            <a:pPr>
              <a:spcBef>
                <a:spcPts val="0"/>
              </a:spcBef>
            </a:pPr>
            <a:r>
              <a:rPr lang="en-US" altLang="en-US" sz="2000" dirty="0"/>
              <a:t>Libraries include frameworks for web browser (</a:t>
            </a:r>
            <a:r>
              <a:rPr lang="en-US" altLang="en-US" sz="2000" dirty="0" err="1"/>
              <a:t>webkit</a:t>
            </a:r>
            <a:r>
              <a:rPr lang="en-US" altLang="en-US" sz="2000" dirty="0"/>
              <a:t>), database (SQLite), multimedia, smaller </a:t>
            </a:r>
            <a:r>
              <a:rPr lang="en-US" altLang="en-US" sz="2000" dirty="0" err="1"/>
              <a:t>libc</a:t>
            </a:r>
            <a:endParaRPr lang="en-US" altLang="en-US" sz="2000" dirty="0"/>
          </a:p>
        </p:txBody>
      </p:sp>
      <p:sp>
        <p:nvSpPr>
          <p:cNvPr id="2" name="灯片编号占位符 1">
            <a:extLst>
              <a:ext uri="{FF2B5EF4-FFF2-40B4-BE49-F238E27FC236}">
                <a16:creationId xmlns:a16="http://schemas.microsoft.com/office/drawing/2014/main" id="{C3F56CDC-37F5-8709-A6FA-15DE0C9B1B88}"/>
              </a:ext>
            </a:extLst>
          </p:cNvPr>
          <p:cNvSpPr>
            <a:spLocks noGrp="1"/>
          </p:cNvSpPr>
          <p:nvPr>
            <p:ph type="sldNum" sz="quarter" idx="10"/>
          </p:nvPr>
        </p:nvSpPr>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C21E0EC-5FB3-49AA-BCD8-C3D6E372FADB}"/>
              </a:ext>
            </a:extLst>
          </p:cNvPr>
          <p:cNvSpPr>
            <a:spLocks noGrp="1" noChangeArrowheads="1"/>
          </p:cNvSpPr>
          <p:nvPr>
            <p:ph type="title"/>
          </p:nvPr>
        </p:nvSpPr>
        <p:spPr>
          <a:xfrm>
            <a:off x="895149" y="160735"/>
            <a:ext cx="6762951" cy="432197"/>
          </a:xfrm>
        </p:spPr>
        <p:txBody>
          <a:bodyPr/>
          <a:lstStyle/>
          <a:p>
            <a:pPr eaLnBrk="1" hangingPunct="1"/>
            <a:r>
              <a:rPr lang="en-US" altLang="en-US" sz="3200" dirty="0"/>
              <a:t>Android Architecture</a:t>
            </a:r>
          </a:p>
        </p:txBody>
      </p:sp>
      <p:pic>
        <p:nvPicPr>
          <p:cNvPr id="100355" name="Picture 2">
            <a:extLst>
              <a:ext uri="{FF2B5EF4-FFF2-40B4-BE49-F238E27FC236}">
                <a16:creationId xmlns:a16="http://schemas.microsoft.com/office/drawing/2014/main" id="{CE010BEA-C2AD-4086-B512-90CFB1E171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4706" y="832048"/>
            <a:ext cx="2414588" cy="375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E36F0B0-9F72-747E-7DE4-A7A97AE7B6C7}"/>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9F5FAE9-B3B0-4D57-809D-900A4BADF1A7}"/>
              </a:ext>
            </a:extLst>
          </p:cNvPr>
          <p:cNvSpPr>
            <a:spLocks noGrp="1" noChangeArrowheads="1"/>
          </p:cNvSpPr>
          <p:nvPr>
            <p:ph type="title"/>
          </p:nvPr>
        </p:nvSpPr>
        <p:spPr>
          <a:xfrm>
            <a:off x="904775" y="139195"/>
            <a:ext cx="7960092" cy="432197"/>
          </a:xfrm>
        </p:spPr>
        <p:txBody>
          <a:bodyPr/>
          <a:lstStyle/>
          <a:p>
            <a:pPr eaLnBrk="1" hangingPunct="1"/>
            <a:r>
              <a:rPr lang="en-US" altLang="en-US" sz="3200" dirty="0"/>
              <a:t>Building and Booting an Operating System</a:t>
            </a:r>
          </a:p>
        </p:txBody>
      </p:sp>
      <p:sp>
        <p:nvSpPr>
          <p:cNvPr id="102403" name="Rectangle 3">
            <a:extLst>
              <a:ext uri="{FF2B5EF4-FFF2-40B4-BE49-F238E27FC236}">
                <a16:creationId xmlns:a16="http://schemas.microsoft.com/office/drawing/2014/main" id="{7BC1B242-4FA3-45A6-A6E0-A52D65A52BBD}"/>
              </a:ext>
            </a:extLst>
          </p:cNvPr>
          <p:cNvSpPr>
            <a:spLocks noGrp="1" noChangeArrowheads="1"/>
          </p:cNvSpPr>
          <p:nvPr>
            <p:ph type="body" idx="1"/>
          </p:nvPr>
        </p:nvSpPr>
        <p:spPr>
          <a:xfrm>
            <a:off x="972153" y="865585"/>
            <a:ext cx="7632832" cy="3648663"/>
          </a:xfrm>
        </p:spPr>
        <p:txBody>
          <a:bodyPr/>
          <a:lstStyle/>
          <a:p>
            <a:r>
              <a:rPr lang="en-US" altLang="en-US" sz="2000" dirty="0"/>
              <a:t>Operating systems generally designed to run on a class of systems with variety of peripherals</a:t>
            </a:r>
          </a:p>
          <a:p>
            <a:r>
              <a:rPr lang="en-US" altLang="en-US" sz="2000" dirty="0"/>
              <a:t>Commonly, operating system already installed on purchased computer</a:t>
            </a:r>
          </a:p>
          <a:p>
            <a:pPr lvl="1"/>
            <a:r>
              <a:rPr lang="en-US" altLang="en-US" sz="1800" dirty="0"/>
              <a:t>But can build and install some other operating systems</a:t>
            </a:r>
          </a:p>
          <a:p>
            <a:pPr lvl="1"/>
            <a:r>
              <a:rPr lang="en-US" altLang="en-US" sz="1800" dirty="0"/>
              <a:t>If generating an operating system from scratch</a:t>
            </a:r>
          </a:p>
          <a:p>
            <a:pPr lvl="2"/>
            <a:r>
              <a:rPr lang="en-US" altLang="en-US" sz="1600" dirty="0"/>
              <a:t>Write the operating system source code</a:t>
            </a:r>
          </a:p>
          <a:p>
            <a:pPr lvl="2"/>
            <a:r>
              <a:rPr lang="en-US" altLang="en-US" sz="1600" dirty="0"/>
              <a:t>Configure the operating system for the system on which it will run</a:t>
            </a:r>
          </a:p>
          <a:p>
            <a:pPr lvl="2"/>
            <a:r>
              <a:rPr lang="en-US" altLang="en-US" sz="1600" dirty="0"/>
              <a:t>Compile the operating system</a:t>
            </a:r>
          </a:p>
          <a:p>
            <a:pPr lvl="2"/>
            <a:r>
              <a:rPr lang="en-US" altLang="en-US" sz="1600" dirty="0"/>
              <a:t>Install the operating system</a:t>
            </a:r>
          </a:p>
          <a:p>
            <a:pPr lvl="2"/>
            <a:r>
              <a:rPr lang="en-US" altLang="en-US" sz="1600" dirty="0"/>
              <a:t>Boot the computer and its new operating system</a:t>
            </a:r>
          </a:p>
        </p:txBody>
      </p:sp>
      <p:sp>
        <p:nvSpPr>
          <p:cNvPr id="2" name="灯片编号占位符 1">
            <a:extLst>
              <a:ext uri="{FF2B5EF4-FFF2-40B4-BE49-F238E27FC236}">
                <a16:creationId xmlns:a16="http://schemas.microsoft.com/office/drawing/2014/main" id="{B6220EA5-AA1E-B345-E465-F706C38B0390}"/>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82DD2A02-B2A8-4458-811E-DE9B33D11308}"/>
              </a:ext>
            </a:extLst>
          </p:cNvPr>
          <p:cNvSpPr>
            <a:spLocks noGrp="1" noChangeArrowheads="1"/>
          </p:cNvSpPr>
          <p:nvPr>
            <p:ph type="title"/>
          </p:nvPr>
        </p:nvSpPr>
        <p:spPr>
          <a:xfrm>
            <a:off x="904775" y="103756"/>
            <a:ext cx="6639025" cy="521886"/>
          </a:xfrm>
        </p:spPr>
        <p:txBody>
          <a:bodyPr/>
          <a:lstStyle/>
          <a:p>
            <a:r>
              <a:rPr lang="en-US" altLang="en-US" sz="3200" dirty="0"/>
              <a:t>Building and Booting Linux</a:t>
            </a:r>
          </a:p>
        </p:txBody>
      </p:sp>
      <p:sp>
        <p:nvSpPr>
          <p:cNvPr id="104451" name="Content Placeholder 2">
            <a:extLst>
              <a:ext uri="{FF2B5EF4-FFF2-40B4-BE49-F238E27FC236}">
                <a16:creationId xmlns:a16="http://schemas.microsoft.com/office/drawing/2014/main" id="{F7DA67EF-ED36-4BB1-AB0B-F42969C15CFB}"/>
              </a:ext>
            </a:extLst>
          </p:cNvPr>
          <p:cNvSpPr>
            <a:spLocks noGrp="1" noChangeArrowheads="1"/>
          </p:cNvSpPr>
          <p:nvPr>
            <p:ph idx="1"/>
          </p:nvPr>
        </p:nvSpPr>
        <p:spPr>
          <a:xfrm>
            <a:off x="904775" y="925117"/>
            <a:ext cx="7324825" cy="2722858"/>
          </a:xfrm>
        </p:spPr>
        <p:txBody>
          <a:bodyPr/>
          <a:lstStyle/>
          <a:p>
            <a:r>
              <a:rPr lang="en-US" altLang="en-US" sz="2000" dirty="0">
                <a:ea typeface="+mn-ea"/>
                <a:cs typeface="Calibri" panose="020F0502020204030204" pitchFamily="34" charset="0"/>
              </a:rPr>
              <a:t>Download Linux source code (</a:t>
            </a:r>
            <a:r>
              <a:rPr lang="en-US" altLang="en-US" sz="2000" dirty="0">
                <a:solidFill>
                  <a:srgbClr val="996600"/>
                </a:solidFill>
                <a:ea typeface="+mn-ea"/>
                <a:cs typeface="Calibri" panose="020F0502020204030204" pitchFamily="34" charset="0"/>
              </a:rPr>
              <a:t>http://www.kernel.org</a:t>
            </a:r>
            <a:r>
              <a:rPr lang="en-US" altLang="en-US" sz="2000" dirty="0">
                <a:ea typeface="+mn-ea"/>
                <a:cs typeface="Calibri" panose="020F0502020204030204" pitchFamily="34" charset="0"/>
              </a:rPr>
              <a:t>)</a:t>
            </a:r>
          </a:p>
          <a:p>
            <a:r>
              <a:rPr lang="en-US" altLang="en-US" sz="2000" dirty="0">
                <a:ea typeface="+mn-ea"/>
                <a:cs typeface="Calibri" panose="020F0502020204030204" pitchFamily="34" charset="0"/>
              </a:rPr>
              <a:t>Configure kernel via “make </a:t>
            </a:r>
            <a:r>
              <a:rPr lang="en-US" altLang="en-US" sz="2000" dirty="0" err="1">
                <a:ea typeface="+mn-ea"/>
                <a:cs typeface="Calibri" panose="020F0502020204030204" pitchFamily="34" charset="0"/>
              </a:rPr>
              <a:t>menuconfig</a:t>
            </a:r>
            <a:r>
              <a:rPr lang="en-US" altLang="en-US" sz="2000" dirty="0">
                <a:ea typeface="+mn-ea"/>
                <a:cs typeface="Calibri" panose="020F0502020204030204" pitchFamily="34" charset="0"/>
              </a:rPr>
              <a:t>”</a:t>
            </a:r>
          </a:p>
          <a:p>
            <a:r>
              <a:rPr lang="en-US" altLang="en-US" sz="2000" dirty="0">
                <a:ea typeface="+mn-ea"/>
                <a:cs typeface="Calibri" panose="020F0502020204030204" pitchFamily="34" charset="0"/>
              </a:rPr>
              <a:t>Compile the kernel using “make”</a:t>
            </a:r>
          </a:p>
          <a:p>
            <a:pPr lvl="1"/>
            <a:r>
              <a:rPr lang="en-US" altLang="en-US" sz="2000" dirty="0">
                <a:ea typeface="+mn-ea"/>
                <a:cs typeface="Calibri" panose="020F0502020204030204" pitchFamily="34" charset="0"/>
              </a:rPr>
              <a:t>Produces </a:t>
            </a:r>
            <a:r>
              <a:rPr lang="en-US" altLang="en-US" sz="2000" dirty="0" err="1">
                <a:ea typeface="+mn-ea"/>
                <a:cs typeface="Calibri" panose="020F0502020204030204" pitchFamily="34" charset="0"/>
              </a:rPr>
              <a:t>vmlinuz</a:t>
            </a:r>
            <a:r>
              <a:rPr lang="en-US" altLang="en-US" sz="2000" dirty="0">
                <a:ea typeface="+mn-ea"/>
                <a:cs typeface="Calibri" panose="020F0502020204030204" pitchFamily="34" charset="0"/>
              </a:rPr>
              <a:t>, the kernel image</a:t>
            </a:r>
          </a:p>
          <a:p>
            <a:pPr lvl="1"/>
            <a:r>
              <a:rPr lang="en-US" altLang="en-US" sz="2000" dirty="0">
                <a:ea typeface="+mn-ea"/>
                <a:cs typeface="Calibri" panose="020F0502020204030204" pitchFamily="34" charset="0"/>
              </a:rPr>
              <a:t>Compile kernel modules via “make modules”</a:t>
            </a:r>
          </a:p>
          <a:p>
            <a:pPr lvl="1"/>
            <a:r>
              <a:rPr lang="en-US" altLang="en-US" sz="2000" dirty="0">
                <a:ea typeface="+mn-ea"/>
                <a:cs typeface="Calibri" panose="020F0502020204030204" pitchFamily="34" charset="0"/>
              </a:rPr>
              <a:t>Install kernel modules into </a:t>
            </a:r>
            <a:r>
              <a:rPr lang="en-US" altLang="en-US" sz="2000" dirty="0" err="1">
                <a:ea typeface="+mn-ea"/>
                <a:cs typeface="Calibri" panose="020F0502020204030204" pitchFamily="34" charset="0"/>
              </a:rPr>
              <a:t>vmlinuz</a:t>
            </a:r>
            <a:r>
              <a:rPr lang="en-US" altLang="en-US" sz="2000" dirty="0">
                <a:ea typeface="+mn-ea"/>
                <a:cs typeface="Calibri" panose="020F0502020204030204" pitchFamily="34" charset="0"/>
              </a:rPr>
              <a:t> via “make </a:t>
            </a:r>
            <a:r>
              <a:rPr lang="en-US" altLang="en-US" sz="2000" dirty="0" err="1">
                <a:ea typeface="+mn-ea"/>
                <a:cs typeface="Calibri" panose="020F0502020204030204" pitchFamily="34" charset="0"/>
              </a:rPr>
              <a:t>modules_install</a:t>
            </a:r>
            <a:r>
              <a:rPr lang="en-US" altLang="en-US" sz="2000" dirty="0">
                <a:ea typeface="+mn-ea"/>
                <a:cs typeface="Calibri" panose="020F0502020204030204" pitchFamily="34" charset="0"/>
              </a:rPr>
              <a:t>”</a:t>
            </a:r>
          </a:p>
          <a:p>
            <a:pPr lvl="1"/>
            <a:r>
              <a:rPr lang="en-US" altLang="en-US" sz="2000" dirty="0">
                <a:ea typeface="+mn-ea"/>
                <a:cs typeface="Calibri" panose="020F0502020204030204" pitchFamily="34" charset="0"/>
              </a:rPr>
              <a:t>Install new kernel on the system via “make install”</a:t>
            </a:r>
          </a:p>
          <a:p>
            <a:endParaRPr lang="en-US" altLang="en-US" sz="2000" dirty="0">
              <a:ea typeface="+mn-ea"/>
              <a:cs typeface="Calibri" panose="020F0502020204030204" pitchFamily="34" charset="0"/>
            </a:endParaRPr>
          </a:p>
        </p:txBody>
      </p:sp>
      <p:sp>
        <p:nvSpPr>
          <p:cNvPr id="2" name="灯片编号占位符 1">
            <a:extLst>
              <a:ext uri="{FF2B5EF4-FFF2-40B4-BE49-F238E27FC236}">
                <a16:creationId xmlns:a16="http://schemas.microsoft.com/office/drawing/2014/main" id="{B4D35E98-C6E0-F5D0-E390-E00E8120AC2B}"/>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B1F4D2D-A1F6-4F80-AAF7-B44F6C42031E}"/>
              </a:ext>
            </a:extLst>
          </p:cNvPr>
          <p:cNvSpPr>
            <a:spLocks noGrp="1" noChangeArrowheads="1"/>
          </p:cNvSpPr>
          <p:nvPr>
            <p:ph type="title"/>
          </p:nvPr>
        </p:nvSpPr>
        <p:spPr>
          <a:xfrm>
            <a:off x="895150" y="106987"/>
            <a:ext cx="6686752" cy="480154"/>
          </a:xfrm>
        </p:spPr>
        <p:txBody>
          <a:bodyPr/>
          <a:lstStyle/>
          <a:p>
            <a:pPr eaLnBrk="1" hangingPunct="1"/>
            <a:r>
              <a:rPr lang="en-US" altLang="en-US" sz="3200" dirty="0"/>
              <a:t>System Boot</a:t>
            </a:r>
          </a:p>
        </p:txBody>
      </p:sp>
      <p:sp>
        <p:nvSpPr>
          <p:cNvPr id="105475" name="Rectangle 3">
            <a:extLst>
              <a:ext uri="{FF2B5EF4-FFF2-40B4-BE49-F238E27FC236}">
                <a16:creationId xmlns:a16="http://schemas.microsoft.com/office/drawing/2014/main" id="{84966C5E-EDB7-4314-801D-4E54D9A7265D}"/>
              </a:ext>
            </a:extLst>
          </p:cNvPr>
          <p:cNvSpPr>
            <a:spLocks noGrp="1" noChangeArrowheads="1"/>
          </p:cNvSpPr>
          <p:nvPr>
            <p:ph type="body" idx="1"/>
          </p:nvPr>
        </p:nvSpPr>
        <p:spPr>
          <a:xfrm>
            <a:off x="658127" y="789272"/>
            <a:ext cx="7827746" cy="3754074"/>
          </a:xfrm>
        </p:spPr>
        <p:txBody>
          <a:bodyPr/>
          <a:lstStyle/>
          <a:p>
            <a:pPr>
              <a:spcBef>
                <a:spcPts val="0"/>
              </a:spcBef>
              <a:spcAft>
                <a:spcPts val="600"/>
              </a:spcAft>
            </a:pPr>
            <a:r>
              <a:rPr lang="en-US" altLang="en-US" sz="1800" dirty="0">
                <a:ea typeface="+mn-ea"/>
                <a:cs typeface="Calibri" panose="020F0502020204030204" pitchFamily="34" charset="0"/>
              </a:rPr>
              <a:t>When power initialized on system, execution starts at a fixed memory location</a:t>
            </a:r>
          </a:p>
          <a:p>
            <a:pPr>
              <a:spcBef>
                <a:spcPts val="0"/>
              </a:spcBef>
              <a:spcAft>
                <a:spcPts val="600"/>
              </a:spcAft>
            </a:pPr>
            <a:r>
              <a:rPr lang="en-US" altLang="en-US" sz="1800" dirty="0">
                <a:ea typeface="+mn-ea"/>
                <a:cs typeface="Calibri" panose="020F0502020204030204" pitchFamily="34" charset="0"/>
              </a:rPr>
              <a:t>Operating system must be made available to hardware so hardware can start it</a:t>
            </a:r>
          </a:p>
          <a:p>
            <a:pPr lvl="1">
              <a:spcBef>
                <a:spcPts val="0"/>
              </a:spcBef>
              <a:spcAft>
                <a:spcPts val="600"/>
              </a:spcAft>
            </a:pPr>
            <a:r>
              <a:rPr lang="en-US" altLang="en-US" sz="1600" dirty="0">
                <a:ea typeface="+mn-ea"/>
                <a:cs typeface="Calibri" panose="020F0502020204030204" pitchFamily="34" charset="0"/>
              </a:rPr>
              <a:t>Small piece of code – </a:t>
            </a:r>
            <a:r>
              <a:rPr lang="en-US" altLang="en-US" sz="1600" b="1" dirty="0">
                <a:solidFill>
                  <a:srgbClr val="006699"/>
                </a:solidFill>
                <a:ea typeface="+mn-ea"/>
                <a:cs typeface="Calibri" panose="020F0502020204030204" pitchFamily="34" charset="0"/>
              </a:rPr>
              <a:t>bootstrap</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loader</a:t>
            </a:r>
            <a:r>
              <a:rPr lang="en-US" altLang="en-US" sz="1600" dirty="0">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BIOS</a:t>
            </a:r>
            <a:r>
              <a:rPr lang="en-US" altLang="en-US" sz="1600" dirty="0">
                <a:ea typeface="+mn-ea"/>
                <a:cs typeface="Calibri" panose="020F0502020204030204" pitchFamily="34" charset="0"/>
              </a:rPr>
              <a:t>, stored in </a:t>
            </a:r>
            <a:r>
              <a:rPr lang="en-US" altLang="en-US" sz="1600" b="1" dirty="0">
                <a:solidFill>
                  <a:srgbClr val="006699"/>
                </a:solidFill>
                <a:ea typeface="+mn-ea"/>
                <a:cs typeface="Calibri" panose="020F0502020204030204" pitchFamily="34" charset="0"/>
              </a:rPr>
              <a:t>ROM</a:t>
            </a:r>
            <a:r>
              <a:rPr lang="en-US" altLang="en-US" sz="1600" dirty="0">
                <a:ea typeface="+mn-ea"/>
                <a:cs typeface="Calibri" panose="020F0502020204030204" pitchFamily="34" charset="0"/>
              </a:rPr>
              <a:t> or </a:t>
            </a:r>
            <a:r>
              <a:rPr lang="en-US" altLang="en-US" sz="1600" b="1" dirty="0">
                <a:solidFill>
                  <a:srgbClr val="006699"/>
                </a:solidFill>
                <a:ea typeface="+mn-ea"/>
                <a:cs typeface="Calibri" panose="020F0502020204030204" pitchFamily="34" charset="0"/>
              </a:rPr>
              <a:t>EEPROM</a:t>
            </a:r>
            <a:r>
              <a:rPr lang="en-US" altLang="en-US" sz="1600" dirty="0">
                <a:ea typeface="+mn-ea"/>
                <a:cs typeface="Calibri" panose="020F0502020204030204" pitchFamily="34" charset="0"/>
              </a:rPr>
              <a:t> locates the kernel, loads it into memory, and starts it</a:t>
            </a:r>
          </a:p>
          <a:p>
            <a:pPr lvl="1">
              <a:spcBef>
                <a:spcPts val="0"/>
              </a:spcBef>
              <a:spcAft>
                <a:spcPts val="600"/>
              </a:spcAft>
            </a:pPr>
            <a:r>
              <a:rPr lang="en-US" altLang="en-US" sz="1600" dirty="0">
                <a:ea typeface="+mn-ea"/>
                <a:cs typeface="Calibri" panose="020F0502020204030204" pitchFamily="34" charset="0"/>
              </a:rPr>
              <a:t>Sometimes two-step process where </a:t>
            </a:r>
            <a:r>
              <a:rPr lang="en-US" altLang="en-US" sz="1600" b="1" dirty="0">
                <a:solidFill>
                  <a:srgbClr val="006699"/>
                </a:solidFill>
                <a:ea typeface="+mn-ea"/>
                <a:cs typeface="Calibri" panose="020F0502020204030204" pitchFamily="34" charset="0"/>
              </a:rPr>
              <a:t>boot</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block</a:t>
            </a:r>
            <a:r>
              <a:rPr lang="en-US" altLang="en-US" sz="1600" b="1" dirty="0">
                <a:solidFill>
                  <a:srgbClr val="3366FF"/>
                </a:solidFill>
                <a:ea typeface="+mn-ea"/>
                <a:cs typeface="Calibri" panose="020F0502020204030204" pitchFamily="34" charset="0"/>
              </a:rPr>
              <a:t> </a:t>
            </a:r>
            <a:r>
              <a:rPr lang="en-US" altLang="en-US" sz="1600" dirty="0">
                <a:ea typeface="+mn-ea"/>
                <a:cs typeface="Calibri" panose="020F0502020204030204" pitchFamily="34" charset="0"/>
              </a:rPr>
              <a:t>at fixed location loaded by ROM code, which loads bootstrap loader from disk</a:t>
            </a:r>
          </a:p>
          <a:p>
            <a:pPr lvl="1">
              <a:spcBef>
                <a:spcPts val="0"/>
              </a:spcBef>
              <a:spcAft>
                <a:spcPts val="600"/>
              </a:spcAft>
            </a:pPr>
            <a:r>
              <a:rPr lang="en-US" altLang="en-US" sz="1600" dirty="0">
                <a:ea typeface="+mn-ea"/>
                <a:cs typeface="Calibri" panose="020F0502020204030204" pitchFamily="34" charset="0"/>
              </a:rPr>
              <a:t>Modern systems replace BIOS with </a:t>
            </a:r>
            <a:r>
              <a:rPr lang="en-US" altLang="en-US" sz="1600" b="1" dirty="0">
                <a:solidFill>
                  <a:srgbClr val="006699"/>
                </a:solidFill>
                <a:ea typeface="+mn-ea"/>
                <a:cs typeface="Calibri" panose="020F0502020204030204" pitchFamily="34" charset="0"/>
              </a:rPr>
              <a:t>Unified</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Extensible</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Firmware</a:t>
            </a:r>
            <a:r>
              <a:rPr lang="en-US" altLang="en-US" sz="1600" b="1" dirty="0">
                <a:solidFill>
                  <a:srgbClr val="3366FF"/>
                </a:solidFill>
                <a:ea typeface="+mn-ea"/>
                <a:cs typeface="Calibri" panose="020F0502020204030204" pitchFamily="34" charset="0"/>
              </a:rPr>
              <a:t> </a:t>
            </a:r>
            <a:r>
              <a:rPr lang="en-US" altLang="en-US" sz="1600" b="1" dirty="0">
                <a:solidFill>
                  <a:srgbClr val="006699"/>
                </a:solidFill>
                <a:ea typeface="+mn-ea"/>
                <a:cs typeface="Calibri" panose="020F0502020204030204" pitchFamily="34" charset="0"/>
              </a:rPr>
              <a:t>Interface</a:t>
            </a:r>
            <a:r>
              <a:rPr lang="en-US" altLang="en-US" sz="1600" b="1" dirty="0">
                <a:solidFill>
                  <a:srgbClr val="3366FF"/>
                </a:solidFill>
                <a:ea typeface="+mn-ea"/>
                <a:cs typeface="Calibri" panose="020F0502020204030204" pitchFamily="34" charset="0"/>
              </a:rPr>
              <a:t> </a:t>
            </a:r>
            <a:r>
              <a:rPr lang="en-US" altLang="en-US" sz="1600" dirty="0">
                <a:ea typeface="+mn-ea"/>
                <a:cs typeface="Calibri" panose="020F0502020204030204" pitchFamily="34" charset="0"/>
              </a:rPr>
              <a:t>(</a:t>
            </a:r>
            <a:r>
              <a:rPr lang="en-US" altLang="en-US" sz="1600" b="1" dirty="0">
                <a:solidFill>
                  <a:srgbClr val="006699"/>
                </a:solidFill>
                <a:ea typeface="+mn-ea"/>
                <a:cs typeface="Calibri" panose="020F0502020204030204" pitchFamily="34" charset="0"/>
              </a:rPr>
              <a:t>UEFI</a:t>
            </a:r>
            <a:r>
              <a:rPr lang="en-US" altLang="en-US" sz="1600" dirty="0">
                <a:ea typeface="+mn-ea"/>
                <a:cs typeface="Calibri" panose="020F0502020204030204" pitchFamily="34" charset="0"/>
              </a:rPr>
              <a:t>)</a:t>
            </a:r>
          </a:p>
          <a:p>
            <a:pPr>
              <a:spcBef>
                <a:spcPts val="0"/>
              </a:spcBef>
              <a:spcAft>
                <a:spcPts val="600"/>
              </a:spcAft>
            </a:pPr>
            <a:r>
              <a:rPr lang="en-US" altLang="en-US" sz="1800" dirty="0">
                <a:ea typeface="+mn-ea"/>
                <a:cs typeface="Calibri" panose="020F0502020204030204" pitchFamily="34" charset="0"/>
              </a:rPr>
              <a:t>Common bootstrap loader, </a:t>
            </a:r>
            <a:r>
              <a:rPr lang="en-US" altLang="en-US" sz="1800" b="1" dirty="0">
                <a:solidFill>
                  <a:srgbClr val="006699"/>
                </a:solidFill>
                <a:ea typeface="+mn-ea"/>
                <a:cs typeface="Calibri" panose="020F0502020204030204" pitchFamily="34" charset="0"/>
              </a:rPr>
              <a:t>GRUB</a:t>
            </a:r>
            <a:r>
              <a:rPr lang="en-US" altLang="en-US" sz="1800" dirty="0">
                <a:ea typeface="+mn-ea"/>
                <a:cs typeface="Calibri" panose="020F0502020204030204" pitchFamily="34" charset="0"/>
              </a:rPr>
              <a:t>, allows selection of kernel from multiple disks, versions, kernel options</a:t>
            </a:r>
          </a:p>
          <a:p>
            <a:pPr>
              <a:spcBef>
                <a:spcPts val="0"/>
              </a:spcBef>
              <a:spcAft>
                <a:spcPts val="600"/>
              </a:spcAft>
            </a:pPr>
            <a:r>
              <a:rPr lang="en-US" altLang="en-US" sz="1800" dirty="0">
                <a:ea typeface="+mn-ea"/>
                <a:cs typeface="Calibri" panose="020F0502020204030204" pitchFamily="34" charset="0"/>
              </a:rPr>
              <a:t>Kernel loads and system is then </a:t>
            </a:r>
            <a:r>
              <a:rPr lang="en-US" altLang="en-US" sz="1800" b="1" dirty="0">
                <a:solidFill>
                  <a:srgbClr val="006699"/>
                </a:solidFill>
                <a:ea typeface="+mn-ea"/>
                <a:cs typeface="Calibri" panose="020F0502020204030204" pitchFamily="34" charset="0"/>
              </a:rPr>
              <a:t>running</a:t>
            </a:r>
          </a:p>
          <a:p>
            <a:pPr>
              <a:spcBef>
                <a:spcPts val="0"/>
              </a:spcBef>
              <a:spcAft>
                <a:spcPts val="600"/>
              </a:spcAft>
            </a:pPr>
            <a:r>
              <a:rPr lang="en-US" altLang="en-US" sz="1800" dirty="0">
                <a:ea typeface="+mn-ea"/>
                <a:cs typeface="Calibri" panose="020F0502020204030204" pitchFamily="34" charset="0"/>
              </a:rPr>
              <a:t>Boot loaders frequently allow various boot states, such as single user mode</a:t>
            </a:r>
          </a:p>
        </p:txBody>
      </p:sp>
      <p:sp>
        <p:nvSpPr>
          <p:cNvPr id="2" name="灯片编号占位符 1">
            <a:extLst>
              <a:ext uri="{FF2B5EF4-FFF2-40B4-BE49-F238E27FC236}">
                <a16:creationId xmlns:a16="http://schemas.microsoft.com/office/drawing/2014/main" id="{12A3AD55-8060-5C4B-58DA-945099434277}"/>
              </a:ext>
            </a:extLst>
          </p:cNvPr>
          <p:cNvSpPr>
            <a:spLocks noGrp="1"/>
          </p:cNvSpPr>
          <p:nvPr>
            <p:ph type="sldNum" sz="quarter" idx="10"/>
          </p:nvPr>
        </p:nvSpPr>
        <p:spPr/>
        <p:txBody>
          <a:bodyPr/>
          <a:lstStyle/>
          <a:p>
            <a:fld id="{D9B6BDF2-6896-4B98-8776-C18582F63BA5}"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D37D0B20-2573-4F33-B46D-85291214EDD3}"/>
              </a:ext>
            </a:extLst>
          </p:cNvPr>
          <p:cNvSpPr>
            <a:spLocks noGrp="1" noChangeArrowheads="1"/>
          </p:cNvSpPr>
          <p:nvPr>
            <p:ph type="title"/>
          </p:nvPr>
        </p:nvSpPr>
        <p:spPr>
          <a:xfrm>
            <a:off x="914400" y="119975"/>
            <a:ext cx="6743700" cy="454307"/>
          </a:xfrm>
        </p:spPr>
        <p:txBody>
          <a:bodyPr/>
          <a:lstStyle/>
          <a:p>
            <a:pPr eaLnBrk="1" hangingPunct="1"/>
            <a:r>
              <a:rPr lang="en-US" altLang="en-US" sz="3200" dirty="0"/>
              <a:t>Operating System Debugging</a:t>
            </a:r>
          </a:p>
        </p:txBody>
      </p:sp>
      <p:sp>
        <p:nvSpPr>
          <p:cNvPr id="107523" name="Content Placeholder 2">
            <a:extLst>
              <a:ext uri="{FF2B5EF4-FFF2-40B4-BE49-F238E27FC236}">
                <a16:creationId xmlns:a16="http://schemas.microsoft.com/office/drawing/2014/main" id="{09BD28EB-4A21-4422-9ABC-1A17E1FEC3C0}"/>
              </a:ext>
            </a:extLst>
          </p:cNvPr>
          <p:cNvSpPr>
            <a:spLocks noGrp="1" noChangeArrowheads="1"/>
          </p:cNvSpPr>
          <p:nvPr>
            <p:ph idx="1"/>
          </p:nvPr>
        </p:nvSpPr>
        <p:spPr>
          <a:xfrm>
            <a:off x="340378" y="910209"/>
            <a:ext cx="8624235" cy="3517411"/>
          </a:xfrm>
        </p:spPr>
        <p:txBody>
          <a:bodyPr/>
          <a:lstStyle/>
          <a:p>
            <a:r>
              <a:rPr lang="en-US" altLang="en-US" sz="1800" b="1" dirty="0">
                <a:solidFill>
                  <a:srgbClr val="006699"/>
                </a:solidFill>
                <a:cs typeface="Calibri" panose="020F0502020204030204" pitchFamily="34" charset="0"/>
              </a:rPr>
              <a:t>Debugging</a:t>
            </a:r>
            <a:r>
              <a:rPr lang="en-US" altLang="en-US" sz="1800" dirty="0">
                <a:solidFill>
                  <a:srgbClr val="3366FF"/>
                </a:solidFill>
                <a:cs typeface="Calibri" panose="020F0502020204030204" pitchFamily="34" charset="0"/>
              </a:rPr>
              <a:t> </a:t>
            </a:r>
            <a:r>
              <a:rPr lang="en-US" altLang="en-US" sz="1800" dirty="0">
                <a:cs typeface="Calibri" panose="020F0502020204030204" pitchFamily="34" charset="0"/>
              </a:rPr>
              <a:t>is finding and fixing errors, or </a:t>
            </a:r>
            <a:r>
              <a:rPr lang="en-US" altLang="en-US" sz="1800" b="1" dirty="0">
                <a:solidFill>
                  <a:srgbClr val="006699"/>
                </a:solidFill>
                <a:cs typeface="Calibri" panose="020F0502020204030204" pitchFamily="34" charset="0"/>
              </a:rPr>
              <a:t>bugs</a:t>
            </a:r>
          </a:p>
          <a:p>
            <a:r>
              <a:rPr lang="en-US" altLang="en-US" sz="1800" dirty="0">
                <a:cs typeface="Calibri" panose="020F0502020204030204" pitchFamily="34" charset="0"/>
              </a:rPr>
              <a:t>Also</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performance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tuning</a:t>
            </a:r>
          </a:p>
          <a:p>
            <a:r>
              <a:rPr lang="en-US" altLang="en-US" sz="1800" dirty="0">
                <a:cs typeface="Calibri" panose="020F0502020204030204" pitchFamily="34" charset="0"/>
              </a:rPr>
              <a:t>OS generate </a:t>
            </a:r>
            <a:r>
              <a:rPr lang="en-US" altLang="en-US" sz="1800" b="1" dirty="0">
                <a:solidFill>
                  <a:srgbClr val="006699"/>
                </a:solidFill>
                <a:cs typeface="Calibri" panose="020F0502020204030204" pitchFamily="34" charset="0"/>
              </a:rPr>
              <a:t>log</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files</a:t>
            </a:r>
            <a:r>
              <a:rPr lang="en-US" altLang="en-US" sz="1800" dirty="0">
                <a:solidFill>
                  <a:srgbClr val="3366FF"/>
                </a:solidFill>
                <a:cs typeface="Calibri" panose="020F0502020204030204" pitchFamily="34" charset="0"/>
              </a:rPr>
              <a:t> </a:t>
            </a:r>
            <a:r>
              <a:rPr lang="en-US" altLang="en-US" sz="1800" dirty="0">
                <a:solidFill>
                  <a:srgbClr val="000000"/>
                </a:solidFill>
                <a:cs typeface="Calibri" panose="020F0502020204030204" pitchFamily="34" charset="0"/>
              </a:rPr>
              <a:t>containing error information</a:t>
            </a:r>
          </a:p>
          <a:p>
            <a:r>
              <a:rPr lang="en-US" altLang="en-US" sz="1800" dirty="0">
                <a:solidFill>
                  <a:srgbClr val="000000"/>
                </a:solidFill>
                <a:cs typeface="Calibri" panose="020F0502020204030204" pitchFamily="34" charset="0"/>
              </a:rPr>
              <a:t>Failure of an application can generate </a:t>
            </a:r>
            <a:r>
              <a:rPr lang="en-US" altLang="en-US" sz="1800" b="1" dirty="0">
                <a:solidFill>
                  <a:srgbClr val="006699"/>
                </a:solidFill>
                <a:cs typeface="Calibri" panose="020F0502020204030204" pitchFamily="34" charset="0"/>
              </a:rPr>
              <a:t>core</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dump</a:t>
            </a:r>
            <a:r>
              <a:rPr lang="en-US" altLang="en-US" sz="1800" dirty="0">
                <a:solidFill>
                  <a:srgbClr val="3366FF"/>
                </a:solidFill>
                <a:cs typeface="Calibri" panose="020F0502020204030204" pitchFamily="34" charset="0"/>
              </a:rPr>
              <a:t> </a:t>
            </a:r>
            <a:r>
              <a:rPr lang="en-US" altLang="en-US" sz="1800" dirty="0">
                <a:solidFill>
                  <a:srgbClr val="000000"/>
                </a:solidFill>
                <a:cs typeface="Calibri" panose="020F0502020204030204" pitchFamily="34" charset="0"/>
              </a:rPr>
              <a:t>file capturing memory of the process</a:t>
            </a:r>
          </a:p>
          <a:p>
            <a:r>
              <a:rPr lang="en-US" altLang="en-US" sz="1800" dirty="0">
                <a:solidFill>
                  <a:srgbClr val="000000"/>
                </a:solidFill>
                <a:cs typeface="Calibri" panose="020F0502020204030204" pitchFamily="34" charset="0"/>
              </a:rPr>
              <a:t>Operating system failure can generate </a:t>
            </a:r>
            <a:r>
              <a:rPr lang="en-US" altLang="en-US" sz="1800" b="1" dirty="0">
                <a:solidFill>
                  <a:srgbClr val="006699"/>
                </a:solidFill>
                <a:cs typeface="Calibri" panose="020F0502020204030204" pitchFamily="34" charset="0"/>
              </a:rPr>
              <a:t>crash</a:t>
            </a:r>
            <a:r>
              <a:rPr lang="en-US" altLang="en-US" sz="1800" b="1" dirty="0">
                <a:solidFill>
                  <a:srgbClr val="3366FF"/>
                </a:solidFill>
                <a:cs typeface="Calibri" panose="020F0502020204030204" pitchFamily="34" charset="0"/>
              </a:rPr>
              <a:t> </a:t>
            </a:r>
            <a:r>
              <a:rPr lang="en-US" altLang="en-US" sz="1800" b="1" dirty="0">
                <a:solidFill>
                  <a:srgbClr val="006699"/>
                </a:solidFill>
                <a:cs typeface="Calibri" panose="020F0502020204030204" pitchFamily="34" charset="0"/>
              </a:rPr>
              <a:t>dump</a:t>
            </a:r>
            <a:r>
              <a:rPr lang="en-US" altLang="en-US" sz="1800" dirty="0">
                <a:solidFill>
                  <a:srgbClr val="3366FF"/>
                </a:solidFill>
                <a:cs typeface="Calibri" panose="020F0502020204030204" pitchFamily="34" charset="0"/>
              </a:rPr>
              <a:t> </a:t>
            </a:r>
            <a:r>
              <a:rPr lang="en-US" altLang="en-US" sz="1800" dirty="0">
                <a:solidFill>
                  <a:srgbClr val="000000"/>
                </a:solidFill>
                <a:cs typeface="Calibri" panose="020F0502020204030204" pitchFamily="34" charset="0"/>
              </a:rPr>
              <a:t>file containing kernel memory</a:t>
            </a:r>
          </a:p>
          <a:p>
            <a:r>
              <a:rPr lang="en-US" altLang="en-US" sz="1800" dirty="0">
                <a:solidFill>
                  <a:srgbClr val="000000"/>
                </a:solidFill>
                <a:cs typeface="Calibri" panose="020F0502020204030204" pitchFamily="34" charset="0"/>
              </a:rPr>
              <a:t>Beyond crashes, performance tuning can optimize system performance</a:t>
            </a:r>
          </a:p>
          <a:p>
            <a:pPr lvl="1"/>
            <a:r>
              <a:rPr lang="en-US" altLang="en-US" sz="1600" dirty="0">
                <a:solidFill>
                  <a:srgbClr val="000000"/>
                </a:solidFill>
                <a:cs typeface="Calibri" panose="020F0502020204030204" pitchFamily="34" charset="0"/>
              </a:rPr>
              <a:t>Sometimes using </a:t>
            </a:r>
            <a:r>
              <a:rPr lang="en-US" altLang="en-US" sz="1600" b="1" i="1" dirty="0">
                <a:solidFill>
                  <a:srgbClr val="000000"/>
                </a:solidFill>
                <a:cs typeface="Calibri" panose="020F0502020204030204" pitchFamily="34" charset="0"/>
              </a:rPr>
              <a:t>trace listings</a:t>
            </a:r>
            <a:r>
              <a:rPr lang="en-US" altLang="en-US" sz="1600" dirty="0">
                <a:solidFill>
                  <a:srgbClr val="000000"/>
                </a:solidFill>
                <a:cs typeface="Calibri" panose="020F0502020204030204" pitchFamily="34" charset="0"/>
              </a:rPr>
              <a:t> of activities, recorded for analysis</a:t>
            </a:r>
          </a:p>
          <a:p>
            <a:pPr lvl="1"/>
            <a:r>
              <a:rPr lang="en-US" altLang="en-US" sz="1600" b="1" dirty="0">
                <a:solidFill>
                  <a:srgbClr val="006699"/>
                </a:solidFill>
                <a:cs typeface="Calibri" panose="020F0502020204030204" pitchFamily="34" charset="0"/>
              </a:rPr>
              <a:t>Profiling</a:t>
            </a:r>
            <a:r>
              <a:rPr lang="en-US" altLang="en-US" sz="1600" dirty="0">
                <a:solidFill>
                  <a:srgbClr val="000000"/>
                </a:solidFill>
                <a:cs typeface="Calibri" panose="020F0502020204030204" pitchFamily="34" charset="0"/>
              </a:rPr>
              <a:t> is periodic sampling of instruction pointer to look for statistical trends</a:t>
            </a:r>
          </a:p>
          <a:p>
            <a:pPr marL="0" indent="0">
              <a:buNone/>
            </a:pPr>
            <a:r>
              <a:rPr lang="en-US" altLang="en-US" sz="1800" dirty="0">
                <a:solidFill>
                  <a:srgbClr val="000000"/>
                </a:solidFill>
                <a:cs typeface="Calibri" panose="020F0502020204030204" pitchFamily="34" charset="0"/>
              </a:rPr>
              <a:t>Kernighan’s</a:t>
            </a:r>
            <a:r>
              <a:rPr lang="en-US" altLang="ja-JP" sz="1800" dirty="0">
                <a:solidFill>
                  <a:srgbClr val="000000"/>
                </a:solidFill>
                <a:cs typeface="Calibri" panose="020F0502020204030204" pitchFamily="34" charset="0"/>
              </a:rPr>
              <a:t> Law: “</a:t>
            </a:r>
            <a:r>
              <a:rPr lang="en-US" altLang="ja-JP" sz="1800" dirty="0">
                <a:cs typeface="Calibri" panose="020F0502020204030204" pitchFamily="34" charset="0"/>
              </a:rPr>
              <a:t>Debugging is twice as hard as writing the code in the first place. Therefore, if you write the code as cleverly as possible, you are, by definition, not smart enough to debug it.</a:t>
            </a:r>
            <a:r>
              <a:rPr lang="ja-JP" altLang="en-US" sz="1800" dirty="0">
                <a:cs typeface="Calibri" panose="020F0502020204030204" pitchFamily="34" charset="0"/>
              </a:rPr>
              <a:t>”</a:t>
            </a:r>
            <a:endParaRPr lang="en-US" altLang="en-US" sz="1800" dirty="0">
              <a:solidFill>
                <a:srgbClr val="000000"/>
              </a:solidFill>
              <a:cs typeface="Calibri" panose="020F0502020204030204" pitchFamily="34" charset="0"/>
            </a:endParaRPr>
          </a:p>
        </p:txBody>
      </p:sp>
      <p:sp>
        <p:nvSpPr>
          <p:cNvPr id="2" name="灯片编号占位符 1">
            <a:extLst>
              <a:ext uri="{FF2B5EF4-FFF2-40B4-BE49-F238E27FC236}">
                <a16:creationId xmlns:a16="http://schemas.microsoft.com/office/drawing/2014/main" id="{CFFF9EF8-6B3A-4AF9-B13C-7E03A06297F8}"/>
              </a:ext>
            </a:extLst>
          </p:cNvPr>
          <p:cNvSpPr>
            <a:spLocks noGrp="1"/>
          </p:cNvSpPr>
          <p:nvPr>
            <p:ph type="sldNum" sz="quarter" idx="10"/>
          </p:nvPr>
        </p:nvSpPr>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FBDC80E5-B72D-4043-9076-486889434A4D}"/>
              </a:ext>
            </a:extLst>
          </p:cNvPr>
          <p:cNvSpPr>
            <a:spLocks noGrp="1" noChangeArrowheads="1"/>
          </p:cNvSpPr>
          <p:nvPr>
            <p:ph type="title"/>
          </p:nvPr>
        </p:nvSpPr>
        <p:spPr>
          <a:xfrm>
            <a:off x="895149" y="165497"/>
            <a:ext cx="6616505" cy="432197"/>
          </a:xfrm>
        </p:spPr>
        <p:txBody>
          <a:bodyPr/>
          <a:lstStyle/>
          <a:p>
            <a:pPr eaLnBrk="1" hangingPunct="1"/>
            <a:r>
              <a:rPr lang="en-US" altLang="en-US" sz="3200" dirty="0"/>
              <a:t>Performance Tuning</a:t>
            </a:r>
          </a:p>
        </p:txBody>
      </p:sp>
      <p:sp>
        <p:nvSpPr>
          <p:cNvPr id="109571" name="Content Placeholder 2">
            <a:extLst>
              <a:ext uri="{FF2B5EF4-FFF2-40B4-BE49-F238E27FC236}">
                <a16:creationId xmlns:a16="http://schemas.microsoft.com/office/drawing/2014/main" id="{5960A5C5-E69B-4534-A6AA-022222737FDF}"/>
              </a:ext>
            </a:extLst>
          </p:cNvPr>
          <p:cNvSpPr>
            <a:spLocks noGrp="1" noChangeArrowheads="1"/>
          </p:cNvSpPr>
          <p:nvPr>
            <p:ph idx="1"/>
          </p:nvPr>
        </p:nvSpPr>
        <p:spPr>
          <a:xfrm>
            <a:off x="721895" y="759857"/>
            <a:ext cx="8242718" cy="1115615"/>
          </a:xfrm>
        </p:spPr>
        <p:txBody>
          <a:bodyPr/>
          <a:lstStyle/>
          <a:p>
            <a:r>
              <a:rPr lang="en-US" altLang="en-US" sz="1800" dirty="0"/>
              <a:t>Improve performance by removing bottlenecks</a:t>
            </a:r>
          </a:p>
          <a:p>
            <a:r>
              <a:rPr lang="en-US" altLang="en-US" sz="1800" dirty="0"/>
              <a:t>OS must provide means of computing and displaying measures of system behavior</a:t>
            </a:r>
            <a:endParaRPr lang="en-US" altLang="en-US" sz="1800" dirty="0">
              <a:solidFill>
                <a:srgbClr val="000000"/>
              </a:solidFill>
            </a:endParaRPr>
          </a:p>
          <a:p>
            <a:r>
              <a:rPr lang="en-US" altLang="en-US" sz="1800" dirty="0">
                <a:solidFill>
                  <a:srgbClr val="000000"/>
                </a:solidFill>
              </a:rPr>
              <a:t>For example, “top” program or Windows Task Manager (WTM)</a:t>
            </a:r>
            <a:endParaRPr lang="en-US" altLang="en-US" sz="1800" dirty="0"/>
          </a:p>
        </p:txBody>
      </p:sp>
      <p:pic>
        <p:nvPicPr>
          <p:cNvPr id="109572" name="Picture 2">
            <a:extLst>
              <a:ext uri="{FF2B5EF4-FFF2-40B4-BE49-F238E27FC236}">
                <a16:creationId xmlns:a16="http://schemas.microsoft.com/office/drawing/2014/main" id="{4DA4B68A-E5CA-40EB-BEDC-C4CD4DBC1943}"/>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175867" y="1875472"/>
            <a:ext cx="479226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2063FB1-386D-FCC8-44C3-FD67B9501E7F}"/>
              </a:ext>
            </a:extLst>
          </p:cNvPr>
          <p:cNvSpPr>
            <a:spLocks noGrp="1"/>
          </p:cNvSpPr>
          <p:nvPr>
            <p:ph type="sldNum" sz="quarter" idx="10"/>
          </p:nvPr>
        </p:nvSpPr>
        <p:spPr/>
        <p:txBody>
          <a:bodyPr/>
          <a:lstStyle/>
          <a:p>
            <a:fld id="{D9B6BDF2-6896-4B98-8776-C18582F63BA5}" type="slidenum">
              <a:rPr lang="zh-TW" altLang="en-US" smtClean="0"/>
              <a:pPr/>
              <a:t>55</a:t>
            </a:fld>
            <a:endParaRPr lang="zh-TW"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E5AB062-C148-4A7D-BB07-8D5065AEF458}"/>
              </a:ext>
            </a:extLst>
          </p:cNvPr>
          <p:cNvSpPr>
            <a:spLocks noGrp="1" noChangeArrowheads="1"/>
          </p:cNvSpPr>
          <p:nvPr>
            <p:ph type="title"/>
          </p:nvPr>
        </p:nvSpPr>
        <p:spPr>
          <a:xfrm>
            <a:off x="933651" y="165497"/>
            <a:ext cx="6599434" cy="432197"/>
          </a:xfrm>
        </p:spPr>
        <p:txBody>
          <a:bodyPr/>
          <a:lstStyle/>
          <a:p>
            <a:pPr eaLnBrk="1" hangingPunct="1"/>
            <a:r>
              <a:rPr lang="en-US" altLang="en-US" sz="3200" dirty="0"/>
              <a:t>Tracing</a:t>
            </a:r>
          </a:p>
        </p:txBody>
      </p:sp>
      <p:sp>
        <p:nvSpPr>
          <p:cNvPr id="111619" name="Content Placeholder 2">
            <a:extLst>
              <a:ext uri="{FF2B5EF4-FFF2-40B4-BE49-F238E27FC236}">
                <a16:creationId xmlns:a16="http://schemas.microsoft.com/office/drawing/2014/main" id="{AEB41930-1685-412F-A8A7-319AF8289000}"/>
              </a:ext>
            </a:extLst>
          </p:cNvPr>
          <p:cNvSpPr txBox="1">
            <a:spLocks/>
          </p:cNvSpPr>
          <p:nvPr/>
        </p:nvSpPr>
        <p:spPr bwMode="auto">
          <a:xfrm>
            <a:off x="1001028" y="910276"/>
            <a:ext cx="7642458" cy="2882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200150" indent="-28575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sz="2000" dirty="0">
                <a:solidFill>
                  <a:srgbClr val="000000"/>
                </a:solidFill>
                <a:latin typeface="Calibri" panose="020F0502020204030204" pitchFamily="34" charset="0"/>
                <a:cs typeface="Calibri" panose="020F0502020204030204" pitchFamily="34" charset="0"/>
              </a:rPr>
              <a:t>Collects data for a specific event, such as steps involved in a system call invocation</a:t>
            </a:r>
          </a:p>
          <a:p>
            <a:r>
              <a:rPr lang="en-US" altLang="en-US" sz="2000" dirty="0">
                <a:solidFill>
                  <a:srgbClr val="000000"/>
                </a:solidFill>
                <a:latin typeface="Calibri" panose="020F0502020204030204" pitchFamily="34" charset="0"/>
                <a:cs typeface="Calibri" panose="020F0502020204030204" pitchFamily="34" charset="0"/>
              </a:rPr>
              <a:t>Tools include</a:t>
            </a:r>
          </a:p>
          <a:p>
            <a:pPr lvl="1"/>
            <a:r>
              <a:rPr lang="en-US" altLang="en-US" sz="2000" dirty="0" err="1">
                <a:solidFill>
                  <a:srgbClr val="000000"/>
                </a:solidFill>
                <a:latin typeface="Calibri" panose="020F0502020204030204" pitchFamily="34" charset="0"/>
                <a:cs typeface="Calibri" panose="020F0502020204030204" pitchFamily="34" charset="0"/>
              </a:rPr>
              <a:t>strace</a:t>
            </a:r>
            <a:r>
              <a:rPr lang="en-US" altLang="en-US" sz="2000" dirty="0">
                <a:solidFill>
                  <a:srgbClr val="000000"/>
                </a:solidFill>
                <a:latin typeface="Calibri" panose="020F0502020204030204" pitchFamily="34" charset="0"/>
                <a:cs typeface="Calibri" panose="020F0502020204030204" pitchFamily="34" charset="0"/>
              </a:rPr>
              <a:t> – trace system calls invoked by a process</a:t>
            </a:r>
          </a:p>
          <a:p>
            <a:pPr lvl="1"/>
            <a:r>
              <a:rPr lang="en-US" altLang="en-US" sz="2000" dirty="0" err="1">
                <a:solidFill>
                  <a:srgbClr val="000000"/>
                </a:solidFill>
                <a:latin typeface="Calibri" panose="020F0502020204030204" pitchFamily="34" charset="0"/>
                <a:cs typeface="Calibri" panose="020F0502020204030204" pitchFamily="34" charset="0"/>
              </a:rPr>
              <a:t>gdb</a:t>
            </a:r>
            <a:r>
              <a:rPr lang="en-US" altLang="en-US" sz="2000" dirty="0">
                <a:solidFill>
                  <a:srgbClr val="000000"/>
                </a:solidFill>
                <a:latin typeface="Calibri" panose="020F0502020204030204" pitchFamily="34" charset="0"/>
                <a:cs typeface="Calibri" panose="020F0502020204030204" pitchFamily="34" charset="0"/>
              </a:rPr>
              <a:t> – source-level debugger</a:t>
            </a:r>
          </a:p>
          <a:p>
            <a:pPr lvl="1"/>
            <a:r>
              <a:rPr lang="en-US" altLang="en-US" sz="2000" dirty="0">
                <a:solidFill>
                  <a:srgbClr val="000000"/>
                </a:solidFill>
                <a:latin typeface="Calibri" panose="020F0502020204030204" pitchFamily="34" charset="0"/>
                <a:cs typeface="Calibri" panose="020F0502020204030204" pitchFamily="34" charset="0"/>
              </a:rPr>
              <a:t>perf – collection of Linux performance tools</a:t>
            </a:r>
          </a:p>
          <a:p>
            <a:pPr lvl="1"/>
            <a:r>
              <a:rPr lang="en-US" altLang="en-US" sz="2000" dirty="0" err="1">
                <a:solidFill>
                  <a:srgbClr val="000000"/>
                </a:solidFill>
                <a:latin typeface="Calibri" panose="020F0502020204030204" pitchFamily="34" charset="0"/>
                <a:cs typeface="Calibri" panose="020F0502020204030204" pitchFamily="34" charset="0"/>
              </a:rPr>
              <a:t>tcpdump</a:t>
            </a:r>
            <a:r>
              <a:rPr lang="en-US" altLang="en-US" sz="2000" dirty="0">
                <a:solidFill>
                  <a:srgbClr val="000000"/>
                </a:solidFill>
                <a:latin typeface="Calibri" panose="020F0502020204030204" pitchFamily="34" charset="0"/>
                <a:cs typeface="Calibri" panose="020F0502020204030204" pitchFamily="34" charset="0"/>
              </a:rPr>
              <a:t> – collects network packets</a:t>
            </a:r>
          </a:p>
        </p:txBody>
      </p:sp>
      <p:sp>
        <p:nvSpPr>
          <p:cNvPr id="2" name="灯片编号占位符 1">
            <a:extLst>
              <a:ext uri="{FF2B5EF4-FFF2-40B4-BE49-F238E27FC236}">
                <a16:creationId xmlns:a16="http://schemas.microsoft.com/office/drawing/2014/main" id="{921E9AB2-EE2F-82B1-26C7-AC390A7AB8D2}"/>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F382614-8441-442A-8EB2-AD9636A59B18}"/>
              </a:ext>
            </a:extLst>
          </p:cNvPr>
          <p:cNvSpPr>
            <a:spLocks noGrp="1" noChangeArrowheads="1"/>
          </p:cNvSpPr>
          <p:nvPr>
            <p:ph type="title"/>
          </p:nvPr>
        </p:nvSpPr>
        <p:spPr>
          <a:xfrm>
            <a:off x="962526" y="165497"/>
            <a:ext cx="6609849" cy="432197"/>
          </a:xfrm>
        </p:spPr>
        <p:txBody>
          <a:bodyPr/>
          <a:lstStyle/>
          <a:p>
            <a:pPr eaLnBrk="1" hangingPunct="1"/>
            <a:r>
              <a:rPr lang="en-US" altLang="en-US" sz="3200" dirty="0"/>
              <a:t>BCC</a:t>
            </a:r>
          </a:p>
        </p:txBody>
      </p:sp>
      <p:sp>
        <p:nvSpPr>
          <p:cNvPr id="113667" name="Content Placeholder 2">
            <a:extLst>
              <a:ext uri="{FF2B5EF4-FFF2-40B4-BE49-F238E27FC236}">
                <a16:creationId xmlns:a16="http://schemas.microsoft.com/office/drawing/2014/main" id="{4EA39B5D-A2AE-4C8D-8F8F-C51BEE190F60}"/>
              </a:ext>
            </a:extLst>
          </p:cNvPr>
          <p:cNvSpPr txBox="1">
            <a:spLocks/>
          </p:cNvSpPr>
          <p:nvPr/>
        </p:nvSpPr>
        <p:spPr bwMode="auto">
          <a:xfrm>
            <a:off x="128621" y="958580"/>
            <a:ext cx="8835992" cy="3392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ts val="0"/>
              </a:spcBef>
            </a:pPr>
            <a:r>
              <a:rPr lang="en-US" altLang="en-US" dirty="0">
                <a:solidFill>
                  <a:srgbClr val="000000"/>
                </a:solidFill>
              </a:rPr>
              <a:t>Debugging interactions between user-level and kernel code nearly impossible without toolset that understands both and an instrument their actions</a:t>
            </a:r>
          </a:p>
          <a:p>
            <a:pPr>
              <a:spcBef>
                <a:spcPts val="0"/>
              </a:spcBef>
            </a:pPr>
            <a:r>
              <a:rPr lang="en-US" altLang="en-US" dirty="0">
                <a:solidFill>
                  <a:srgbClr val="000000"/>
                </a:solidFill>
              </a:rPr>
              <a:t>BCC (BPF Compiler Collection) is a rich toolkit providing tracing features for Linux</a:t>
            </a:r>
          </a:p>
          <a:p>
            <a:pPr lvl="1">
              <a:spcBef>
                <a:spcPts val="0"/>
              </a:spcBef>
            </a:pPr>
            <a:r>
              <a:rPr lang="en-US" altLang="en-US" sz="2000" dirty="0">
                <a:solidFill>
                  <a:srgbClr val="000000"/>
                </a:solidFill>
              </a:rPr>
              <a:t>See also the original </a:t>
            </a:r>
            <a:r>
              <a:rPr lang="en-US" altLang="en-US" sz="2000" dirty="0" err="1">
                <a:solidFill>
                  <a:srgbClr val="000000"/>
                </a:solidFill>
              </a:rPr>
              <a:t>DTrace</a:t>
            </a:r>
            <a:endParaRPr lang="en-US" altLang="en-US" sz="2000" dirty="0">
              <a:solidFill>
                <a:srgbClr val="000000"/>
              </a:solidFill>
            </a:endParaRPr>
          </a:p>
          <a:p>
            <a:pPr>
              <a:spcBef>
                <a:spcPts val="0"/>
              </a:spcBef>
            </a:pPr>
            <a:r>
              <a:rPr lang="en-US" altLang="en-US" sz="2000" dirty="0">
                <a:solidFill>
                  <a:srgbClr val="000000"/>
                </a:solidFill>
              </a:rPr>
              <a:t>For example, disksnoop.py traces disk I/O activity</a:t>
            </a:r>
          </a:p>
          <a:p>
            <a:pPr>
              <a:spcBef>
                <a:spcPts val="0"/>
              </a:spcBef>
            </a:pPr>
            <a:endParaRPr lang="en-US" altLang="en-US" sz="2000" dirty="0">
              <a:solidFill>
                <a:srgbClr val="000000"/>
              </a:solidFill>
            </a:endParaRPr>
          </a:p>
          <a:p>
            <a:pPr marL="0" indent="0">
              <a:spcBef>
                <a:spcPts val="0"/>
              </a:spcBef>
              <a:buNone/>
            </a:pPr>
            <a:endParaRPr lang="en-US" altLang="en-US" sz="2000" dirty="0">
              <a:solidFill>
                <a:srgbClr val="000000"/>
              </a:solidFill>
            </a:endParaRPr>
          </a:p>
          <a:p>
            <a:pPr marL="0" indent="0">
              <a:spcBef>
                <a:spcPts val="0"/>
              </a:spcBef>
              <a:buNone/>
            </a:pPr>
            <a:endParaRPr lang="en-US" altLang="en-US" sz="2000" dirty="0">
              <a:solidFill>
                <a:srgbClr val="000000"/>
              </a:solidFill>
            </a:endParaRPr>
          </a:p>
          <a:p>
            <a:pPr>
              <a:spcBef>
                <a:spcPts val="0"/>
              </a:spcBef>
            </a:pPr>
            <a:endParaRPr lang="en-US" altLang="en-US" sz="2000" dirty="0">
              <a:solidFill>
                <a:srgbClr val="000000"/>
              </a:solidFill>
            </a:endParaRPr>
          </a:p>
          <a:p>
            <a:pPr>
              <a:spcBef>
                <a:spcPts val="0"/>
              </a:spcBef>
            </a:pPr>
            <a:endParaRPr lang="en-US" altLang="en-US" sz="2000" dirty="0">
              <a:solidFill>
                <a:srgbClr val="000000"/>
              </a:solidFill>
            </a:endParaRPr>
          </a:p>
          <a:p>
            <a:pPr>
              <a:spcBef>
                <a:spcPts val="0"/>
              </a:spcBef>
            </a:pPr>
            <a:r>
              <a:rPr lang="en-US" altLang="en-US" sz="2000" dirty="0">
                <a:solidFill>
                  <a:srgbClr val="000000"/>
                </a:solidFill>
              </a:rPr>
              <a:t>Many other tools (next slide)</a:t>
            </a:r>
          </a:p>
        </p:txBody>
      </p:sp>
      <p:pic>
        <p:nvPicPr>
          <p:cNvPr id="113668" name="Picture 2">
            <a:extLst>
              <a:ext uri="{FF2B5EF4-FFF2-40B4-BE49-F238E27FC236}">
                <a16:creationId xmlns:a16="http://schemas.microsoft.com/office/drawing/2014/main" id="{B1120918-AE53-48E2-B5A4-20DE38986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984" y="2571750"/>
            <a:ext cx="4668931" cy="122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3804C7D-FF81-E23B-5B19-0980B3BAB729}"/>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A3232E78-1799-45A9-9B95-C16D5B631AF1}"/>
              </a:ext>
            </a:extLst>
          </p:cNvPr>
          <p:cNvSpPr>
            <a:spLocks noGrp="1" noChangeArrowheads="1"/>
          </p:cNvSpPr>
          <p:nvPr>
            <p:ph type="title"/>
          </p:nvPr>
        </p:nvSpPr>
        <p:spPr>
          <a:xfrm>
            <a:off x="875899" y="165497"/>
            <a:ext cx="6635755" cy="432197"/>
          </a:xfrm>
        </p:spPr>
        <p:txBody>
          <a:bodyPr/>
          <a:lstStyle/>
          <a:p>
            <a:pPr eaLnBrk="1" hangingPunct="1"/>
            <a:r>
              <a:rPr lang="en-US" altLang="en-US" sz="3200" dirty="0"/>
              <a:t>Linux bcc/BPF Tracing Tools</a:t>
            </a:r>
          </a:p>
        </p:txBody>
      </p:sp>
      <p:pic>
        <p:nvPicPr>
          <p:cNvPr id="115715" name="Picture 3">
            <a:extLst>
              <a:ext uri="{FF2B5EF4-FFF2-40B4-BE49-F238E27FC236}">
                <a16:creationId xmlns:a16="http://schemas.microsoft.com/office/drawing/2014/main" id="{4785D27E-8BE3-4317-8EE3-9C44AB56CCA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20"/>
          <a:stretch/>
        </p:blipFill>
        <p:spPr bwMode="auto">
          <a:xfrm>
            <a:off x="1810754" y="873611"/>
            <a:ext cx="5263816" cy="3579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95B4141-7440-A3FD-7C2A-2971C5242A0D}"/>
              </a:ext>
            </a:extLst>
          </p:cNvPr>
          <p:cNvSpPr>
            <a:spLocks noGrp="1"/>
          </p:cNvSpPr>
          <p:nvPr>
            <p:ph type="sldNum" sz="quarter" idx="10"/>
          </p:nvPr>
        </p:nvSpPr>
        <p:spPr/>
        <p:txBody>
          <a:bodyPr/>
          <a:lstStyle/>
          <a:p>
            <a:fld id="{D9B6BDF2-6896-4B98-8776-C18582F63BA5}" type="slidenum">
              <a:rPr lang="zh-TW" altLang="en-US" smtClean="0"/>
              <a:pPr/>
              <a:t>58</a:t>
            </a:fld>
            <a:endParaRPr lang="zh-TW"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95B4141-7440-A3FD-7C2A-2971C5242A0D}"/>
              </a:ext>
            </a:extLst>
          </p:cNvPr>
          <p:cNvSpPr>
            <a:spLocks noGrp="1"/>
          </p:cNvSpPr>
          <p:nvPr>
            <p:ph type="sldNum" sz="quarter" idx="10"/>
          </p:nvPr>
        </p:nvSpPr>
        <p:spPr/>
        <p:txBody>
          <a:bodyPr/>
          <a:lstStyle/>
          <a:p>
            <a:fld id="{D9B6BDF2-6896-4B98-8776-C18582F63BA5}" type="slidenum">
              <a:rPr lang="zh-TW" altLang="en-US" smtClean="0"/>
              <a:pPr/>
              <a:t>59</a:t>
            </a:fld>
            <a:endParaRPr lang="zh-TW" altLang="en-US"/>
          </a:p>
        </p:txBody>
      </p:sp>
      <p:sp>
        <p:nvSpPr>
          <p:cNvPr id="5" name="Rectangle 2">
            <a:extLst>
              <a:ext uri="{FF2B5EF4-FFF2-40B4-BE49-F238E27FC236}">
                <a16:creationId xmlns:a16="http://schemas.microsoft.com/office/drawing/2014/main" id="{78256E24-10D0-2DC9-F2CB-CB3430051D5A}"/>
              </a:ext>
            </a:extLst>
          </p:cNvPr>
          <p:cNvSpPr txBox="1">
            <a:spLocks noChangeArrowheads="1"/>
          </p:cNvSpPr>
          <p:nvPr/>
        </p:nvSpPr>
        <p:spPr bwMode="auto">
          <a:xfrm>
            <a:off x="435543" y="2757037"/>
            <a:ext cx="7772400" cy="15954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kern="0" dirty="0"/>
              <a:t>End of Chapter 2</a:t>
            </a:r>
          </a:p>
        </p:txBody>
      </p:sp>
    </p:spTree>
    <p:extLst>
      <p:ext uri="{BB962C8B-B14F-4D97-AF65-F5344CB8AC3E}">
        <p14:creationId xmlns:p14="http://schemas.microsoft.com/office/powerpoint/2010/main" val="14316067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2544</TotalTime>
  <Words>3464</Words>
  <Application>Microsoft Office PowerPoint</Application>
  <PresentationFormat>全屏显示(16:9)</PresentationFormat>
  <Paragraphs>487</Paragraphs>
  <Slides>59</Slides>
  <Notes>50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59</vt:i4>
      </vt:variant>
    </vt:vector>
  </HeadingPairs>
  <TitlesOfParts>
    <vt:vector size="67" baseType="lpstr">
      <vt:lpstr>Monotype Sorts</vt:lpstr>
      <vt:lpstr>ＭＳ Ｐゴシック</vt:lpstr>
      <vt:lpstr>MS Sans Serif</vt:lpstr>
      <vt:lpstr>Arial</vt:lpstr>
      <vt:lpstr>Calibri</vt:lpstr>
      <vt:lpstr>Times New Roman</vt:lpstr>
      <vt:lpstr>Wingdings</vt:lpstr>
      <vt:lpstr>NTHU UniCloud</vt:lpstr>
      <vt:lpstr>CSC3150 –Operating Systems</vt:lpstr>
      <vt:lpstr>Outline</vt:lpstr>
      <vt:lpstr>Objectives</vt:lpstr>
      <vt:lpstr>Operating System Services (1)</vt:lpstr>
      <vt:lpstr>Operating System Services (2)</vt:lpstr>
      <vt:lpstr>Operating System Services (3)</vt:lpstr>
      <vt:lpstr>A Functionality View of OS Services</vt:lpstr>
      <vt:lpstr>Command Line interpreter </vt:lpstr>
      <vt:lpstr>Bourne Shell Command Interpreter</vt:lpstr>
      <vt:lpstr>User Operating System Interface - GUI</vt:lpstr>
      <vt:lpstr>Touchscreen Interfaces</vt:lpstr>
      <vt:lpstr>The Mac OS X GUI</vt:lpstr>
      <vt:lpstr>System Calls</vt:lpstr>
      <vt:lpstr>Example of System Calls</vt:lpstr>
      <vt:lpstr>Example of Standard API</vt:lpstr>
      <vt:lpstr>System Call Implementation</vt:lpstr>
      <vt:lpstr>API – System Call – OS Relationship</vt:lpstr>
      <vt:lpstr>System Call Parameter Passing</vt:lpstr>
      <vt:lpstr>Parameter Passing via Table</vt:lpstr>
      <vt:lpstr>Types of System Calls (1)</vt:lpstr>
      <vt:lpstr>Types of System Calls (2)</vt:lpstr>
      <vt:lpstr>Types of System Calls (3)</vt:lpstr>
      <vt:lpstr>Examples of Windows and Unix System Calls</vt:lpstr>
      <vt:lpstr>Standard C Library Example</vt:lpstr>
      <vt:lpstr>Example - Arduino</vt:lpstr>
      <vt:lpstr>Example - FreeBSD</vt:lpstr>
      <vt:lpstr>System Services (1)</vt:lpstr>
      <vt:lpstr>System Services (2)</vt:lpstr>
      <vt:lpstr>System Services (3)</vt:lpstr>
      <vt:lpstr>System Services (4)</vt:lpstr>
      <vt:lpstr>Linkers and Loaders</vt:lpstr>
      <vt:lpstr>The Role of the Linker and Loader</vt:lpstr>
      <vt:lpstr>Why Applications are Operating System Specific</vt:lpstr>
      <vt:lpstr>Design and Implementation</vt:lpstr>
      <vt:lpstr>Policy and Mechanism</vt:lpstr>
      <vt:lpstr>Implementation</vt:lpstr>
      <vt:lpstr>Operating System Structure</vt:lpstr>
      <vt:lpstr>Monolithic Structure – Original UNIX</vt:lpstr>
      <vt:lpstr>Traditional UNIX System Structure</vt:lpstr>
      <vt:lpstr>Linux System Structure</vt:lpstr>
      <vt:lpstr>Layered Approach</vt:lpstr>
      <vt:lpstr>Microkernels</vt:lpstr>
      <vt:lpstr>Microkernel System Structure </vt:lpstr>
      <vt:lpstr>Modules</vt:lpstr>
      <vt:lpstr>Hybrid Systems</vt:lpstr>
      <vt:lpstr>MacOS and iOS Structure</vt:lpstr>
      <vt:lpstr>Darwin</vt:lpstr>
      <vt:lpstr>iOS</vt:lpstr>
      <vt:lpstr>Android</vt:lpstr>
      <vt:lpstr>Android Architecture</vt:lpstr>
      <vt:lpstr>Building and Booting an Operating System</vt:lpstr>
      <vt:lpstr>Building and Booting Linux</vt:lpstr>
      <vt:lpstr>System Boot</vt:lpstr>
      <vt:lpstr>Operating System Debugging</vt:lpstr>
      <vt:lpstr>Performance Tuning</vt:lpstr>
      <vt:lpstr>Tracing</vt:lpstr>
      <vt:lpstr>BCC</vt:lpstr>
      <vt:lpstr>Linux bcc/BPF Tracing Tools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286</cp:revision>
  <dcterms:created xsi:type="dcterms:W3CDTF">2015-06-05T07:23:35Z</dcterms:created>
  <dcterms:modified xsi:type="dcterms:W3CDTF">2025-07-25T03:42:10Z</dcterms:modified>
</cp:coreProperties>
</file>