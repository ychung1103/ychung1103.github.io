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2"/>
  </p:notesMasterIdLst>
  <p:handoutMasterIdLst>
    <p:handoutMasterId r:id="rId63"/>
  </p:handoutMasterIdLst>
  <p:sldIdLst>
    <p:sldId id="331" r:id="rId2"/>
    <p:sldId id="332" r:id="rId3"/>
    <p:sldId id="333" r:id="rId4"/>
    <p:sldId id="420" r:id="rId5"/>
    <p:sldId id="424" r:id="rId6"/>
    <p:sldId id="338" r:id="rId7"/>
    <p:sldId id="339" r:id="rId8"/>
    <p:sldId id="480" r:id="rId9"/>
    <p:sldId id="446" r:id="rId10"/>
    <p:sldId id="453" r:id="rId11"/>
    <p:sldId id="459" r:id="rId12"/>
    <p:sldId id="460" r:id="rId13"/>
    <p:sldId id="458" r:id="rId14"/>
    <p:sldId id="457" r:id="rId15"/>
    <p:sldId id="407" r:id="rId16"/>
    <p:sldId id="427" r:id="rId17"/>
    <p:sldId id="447" r:id="rId18"/>
    <p:sldId id="429" r:id="rId19"/>
    <p:sldId id="456" r:id="rId20"/>
    <p:sldId id="462" r:id="rId21"/>
    <p:sldId id="463" r:id="rId22"/>
    <p:sldId id="464" r:id="rId23"/>
    <p:sldId id="343" r:id="rId24"/>
    <p:sldId id="433" r:id="rId25"/>
    <p:sldId id="448" r:id="rId26"/>
    <p:sldId id="346" r:id="rId27"/>
    <p:sldId id="449" r:id="rId28"/>
    <p:sldId id="348" r:id="rId29"/>
    <p:sldId id="349" r:id="rId30"/>
    <p:sldId id="526" r:id="rId31"/>
    <p:sldId id="434" r:id="rId32"/>
    <p:sldId id="435" r:id="rId33"/>
    <p:sldId id="450" r:id="rId34"/>
    <p:sldId id="432" r:id="rId35"/>
    <p:sldId id="352" r:id="rId36"/>
    <p:sldId id="451" r:id="rId37"/>
    <p:sldId id="472" r:id="rId38"/>
    <p:sldId id="354" r:id="rId39"/>
    <p:sldId id="355" r:id="rId40"/>
    <p:sldId id="452" r:id="rId41"/>
    <p:sldId id="356" r:id="rId42"/>
    <p:sldId id="418" r:id="rId43"/>
    <p:sldId id="369" r:id="rId44"/>
    <p:sldId id="370" r:id="rId45"/>
    <p:sldId id="476" r:id="rId46"/>
    <p:sldId id="371" r:id="rId47"/>
    <p:sldId id="372" r:id="rId48"/>
    <p:sldId id="481" r:id="rId49"/>
    <p:sldId id="377" r:id="rId50"/>
    <p:sldId id="378" r:id="rId51"/>
    <p:sldId id="379" r:id="rId52"/>
    <p:sldId id="380" r:id="rId53"/>
    <p:sldId id="419" r:id="rId54"/>
    <p:sldId id="479" r:id="rId55"/>
    <p:sldId id="381" r:id="rId56"/>
    <p:sldId id="475" r:id="rId57"/>
    <p:sldId id="438" r:id="rId58"/>
    <p:sldId id="437" r:id="rId59"/>
    <p:sldId id="439" r:id="rId60"/>
    <p:sldId id="404" r:id="rId61"/>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355"/>
    <p:restoredTop sz="94646"/>
  </p:normalViewPr>
  <p:slideViewPr>
    <p:cSldViewPr snapToGrid="0">
      <p:cViewPr>
        <p:scale>
          <a:sx n="50" d="100"/>
          <a:sy n="50" d="100"/>
        </p:scale>
        <p:origin x="1604" y="16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122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1393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6" y="1144588"/>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006699"/>
                </a:solidFill>
                <a:latin typeface="+mj-lt"/>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746445"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755776"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755776"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p>
          <a:p>
            <a:pPr>
              <a:lnSpc>
                <a:spcPct val="90000"/>
              </a:lnSpc>
              <a:tabLst>
                <a:tab pos="739775" algn="l"/>
                <a:tab pos="1020763"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236768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51114"/>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r>
              <a:rPr lang="en-US" altLang="en-US" dirty="0">
                <a:solidFill>
                  <a:srgbClr val="000000"/>
                </a:solidFill>
              </a:rPr>
              <a:t>What about the Progress requirement?</a:t>
            </a: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p>
          <a:p>
            <a:pPr lvl="1"/>
            <a:r>
              <a:rPr lang="en-US" altLang="en-US" dirty="0"/>
              <a:t>To improve performance, processors and/or compilers may reorder operations that have no dependencies</a:t>
            </a:r>
          </a:p>
          <a:p>
            <a:r>
              <a:rPr lang="en-US" altLang="en-US" dirty="0"/>
              <a:t>Understanding why it will not work is useful for better understanding race conditions.</a:t>
            </a:r>
          </a:p>
          <a:p>
            <a:r>
              <a:rPr lang="en-US" altLang="en-US" dirty="0"/>
              <a:t>For single-threaded this is ok as the result will always be the same.</a:t>
            </a:r>
          </a:p>
          <a:p>
            <a:r>
              <a:rPr lang="en-US" altLang="en-US" dirty="0"/>
              <a:t>For multithreaded the reordering may produce inconsistent or unexpected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r>
              <a:rPr lang="en-US" altLang="en-US" dirty="0"/>
              <a:t>The effects of instruction reordering in Peterson’s Solution</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b="1" dirty="0"/>
              <a:t>Memory model </a:t>
            </a:r>
            <a:r>
              <a:rPr lang="en-US" altLang="en-US" dirty="0"/>
              <a:t>are the memory guarantees a computer architecture makes to application programs.</a:t>
            </a:r>
          </a:p>
          <a:p>
            <a:r>
              <a:rPr lang="en-US" altLang="en-US" dirty="0"/>
              <a:t>Memory models may be either:</a:t>
            </a:r>
          </a:p>
          <a:p>
            <a:pPr lvl="1"/>
            <a:r>
              <a:rPr lang="en-US" altLang="en-US" b="1" dirty="0"/>
              <a:t>Strongly ordered </a:t>
            </a:r>
            <a:r>
              <a:rPr lang="en-US" altLang="en-US" dirty="0"/>
              <a:t>– where a memory modification of one processor is immediately visible to all other processors.</a:t>
            </a:r>
          </a:p>
          <a:p>
            <a:pPr lvl="1"/>
            <a:r>
              <a:rPr lang="en-US" altLang="en-US" b="1" dirty="0"/>
              <a:t>Weakly ordered  </a:t>
            </a:r>
            <a:r>
              <a:rPr lang="en-US" altLang="en-US" dirty="0"/>
              <a:t>– where a memory modification of one processor may not be immediately visible to all other processors.</a:t>
            </a:r>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dirty="0"/>
              <a:t>When a memory barrier instruction is performed, the system ensures that all loads and stores are completed before any subsequent load or store operations are performed.</a:t>
            </a:r>
          </a:p>
          <a:p>
            <a:r>
              <a:rPr lang="en-US" altLang="en-US" dirty="0"/>
              <a:t>Therefore, even if instructions were reordered, the memory barrier ensures that the store operations are completed in memory and visible to other processors before future load or store operations are performed.</a:t>
            </a:r>
          </a:p>
          <a:p>
            <a:endParaRPr lang="en-US" altLang="en-US" dirty="0"/>
          </a:p>
        </p:txBody>
      </p:sp>
    </p:spTree>
    <p:extLst>
      <p:ext uri="{BB962C8B-B14F-4D97-AF65-F5344CB8AC3E}">
        <p14:creationId xmlns:p14="http://schemas.microsoft.com/office/powerpoint/2010/main" val="1006609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837622" y="1161866"/>
            <a:ext cx="6726959" cy="4854469"/>
          </a:xfrm>
        </p:spPr>
        <p:txBody>
          <a:bodyPr/>
          <a:lstStyle/>
          <a:p>
            <a:r>
              <a:rPr lang="en-US" altLang="en-US" dirty="0"/>
              <a:t>Returning to the example of slides 6.17 - 6.18</a:t>
            </a:r>
          </a:p>
          <a:p>
            <a:r>
              <a:rPr lang="en-US" altLang="en-US" dirty="0"/>
              <a:t>We could add a memory barrier to the following instructions to ensure Thread 1 outputs 100:</a:t>
            </a:r>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a:t>
            </a:r>
            <a:br>
              <a:rPr lang="en-US" altLang="en-US" dirty="0"/>
            </a:br>
            <a:br>
              <a:rPr lang="en-US" altLang="en-US" dirty="0"/>
            </a:br>
            <a:r>
              <a:rPr lang="en-US" altLang="en-US" dirty="0">
                <a:solidFill>
                  <a:srgbClr val="CC6600"/>
                </a:solidFill>
              </a:rPr>
              <a:t>2.  </a:t>
            </a:r>
            <a:r>
              <a:rPr lang="en-US" altLang="en-US" dirty="0"/>
              <a:t>Atomic variables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p>
          <a:p>
            <a:pPr lvl="1"/>
            <a:r>
              <a:rPr lang="en-US" altLang="en-US" b="1" dirty="0"/>
              <a:t>Test-and-Set</a:t>
            </a:r>
            <a:r>
              <a:rPr lang="en-US" altLang="en-US" dirty="0"/>
              <a:t> instruction</a:t>
            </a:r>
          </a:p>
          <a:p>
            <a:pPr lvl="1"/>
            <a:r>
              <a:rPr lang="en-US" altLang="en-US" b="1" dirty="0"/>
              <a:t>Compare-and-Swap</a:t>
            </a:r>
            <a:r>
              <a:rPr lang="en-US" altLang="en-US" dirty="0"/>
              <a:t> instruction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p>
          <a:p>
            <a:pPr marL="0" indent="0">
              <a:buFont typeface="Monotype Sorts" pitchFamily="-84" charset="2"/>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p>
          <a:p>
            <a:pPr marL="0" indent="0">
              <a:buFont typeface="Monotype Sorts" pitchFamily="-84" charset="2"/>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p>
          <a:p>
            <a:pPr marL="0" indent="0">
              <a:buFont typeface="Monotype Sorts" pitchFamily="-84" charset="2"/>
              <a:buNone/>
            </a:pPr>
            <a:r>
              <a:rPr lang="en-US" altLang="en-US" sz="1400" b="1" dirty="0">
                <a:latin typeface="Courier New" panose="02070309020205020404" pitchFamily="49" charset="0"/>
              </a:rPr>
              <a:t>   /* critical section */ </a:t>
            </a:r>
          </a:p>
          <a:p>
            <a:pPr marL="0" indent="0">
              <a:buFont typeface="Monotype Sorts" pitchFamily="-84" charset="2"/>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a:t>
            </a:r>
          </a:p>
          <a:p>
            <a:pPr marL="0" indent="0">
              <a:buFont typeface="Monotype Sorts" pitchFamily="-84" charset="2"/>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p>
          <a:p>
            <a:pPr marL="0" indent="0">
              <a:buFont typeface="Monotype Sorts" pitchFamily="-84" charset="2"/>
              <a:buNone/>
            </a:pPr>
            <a:r>
              <a:rPr lang="en-US" altLang="en-US" sz="1400" b="1" dirty="0">
                <a:latin typeface="Courier New" panose="02070309020205020404" pitchFamily="49" charset="0"/>
              </a:rPr>
              <a:t>      j = (j + 1) % n; </a:t>
            </a:r>
          </a:p>
          <a:p>
            <a:pPr marL="0" indent="0">
              <a:buFont typeface="Monotype Sorts" pitchFamily="-84" charset="2"/>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lock = 0; </a:t>
            </a:r>
          </a:p>
          <a:p>
            <a:pPr marL="0" indent="0">
              <a:buFont typeface="Monotype Sorts" pitchFamily="-84" charset="2"/>
              <a:buNone/>
            </a:pPr>
            <a:r>
              <a:rPr lang="en-US" altLang="en-US" sz="1400" b="1" dirty="0">
                <a:latin typeface="Courier New" panose="02070309020205020404" pitchFamily="49" charset="0"/>
              </a:rPr>
              <a:t>   else </a:t>
            </a:r>
          </a:p>
          <a:p>
            <a:pPr marL="0" indent="0">
              <a:buFont typeface="Monotype Sorts" pitchFamily="-84" charset="2"/>
              <a:buNone/>
            </a:pPr>
            <a:r>
              <a:rPr lang="en-US" altLang="en-US" sz="1400" b="1" dirty="0">
                <a:latin typeface="Courier New" panose="02070309020205020404" pitchFamily="49" charset="0"/>
              </a:rPr>
              <a:t>      waiting[j] = false; </a:t>
            </a:r>
          </a:p>
          <a:p>
            <a:pPr marL="0" indent="0">
              <a:buFont typeface="Monotype Sorts" pitchFamily="-84" charset="2"/>
              <a:buNone/>
            </a:pPr>
            <a:r>
              <a:rPr lang="en-US" altLang="en-US" sz="1400" b="1" dirty="0">
                <a:latin typeface="Courier New" panose="02070309020205020404" pitchFamily="49" charset="0"/>
              </a:rPr>
              <a:t>   /* remainder section */ </a:t>
            </a:r>
          </a:p>
          <a:p>
            <a:pPr marL="0" indent="0">
              <a:buFont typeface="Monotype Sorts" pitchFamily="-84" charset="2"/>
              <a:buNone/>
            </a:pPr>
            <a:r>
              <a:rPr lang="en-US" altLang="en-US" sz="1400" b="1" dirty="0">
                <a:latin typeface="Courier New" panose="02070309020205020404"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EF40B-8258-1C50-595A-6227E7D87B09}"/>
              </a:ext>
            </a:extLst>
          </p:cNvPr>
          <p:cNvSpPr>
            <a:spLocks noGrp="1"/>
          </p:cNvSpPr>
          <p:nvPr>
            <p:ph type="ctrTitle"/>
          </p:nvPr>
        </p:nvSpPr>
        <p:spPr/>
        <p:txBody>
          <a:bodyPr/>
          <a:lstStyle/>
          <a:p>
            <a:r>
              <a:rPr lang="en-US" altLang="zh-CN" dirty="0"/>
              <a:t>Take a Break</a:t>
            </a:r>
            <a:endParaRPr lang="zh-CN" altLang="en-US" dirty="0"/>
          </a:p>
        </p:txBody>
      </p:sp>
    </p:spTree>
    <p:extLst>
      <p:ext uri="{BB962C8B-B14F-4D97-AF65-F5344CB8AC3E}">
        <p14:creationId xmlns:p14="http://schemas.microsoft.com/office/powerpoint/2010/main" val="110586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p>
          <a:p>
            <a:r>
              <a:rPr lang="en-US" altLang="en-US" dirty="0"/>
              <a:t>For example:</a:t>
            </a:r>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p>
          <a:p>
            <a:pPr lvl="1"/>
            <a:r>
              <a:rPr lang="en-US" altLang="en-US" dirty="0"/>
              <a:t>The Command:</a:t>
            </a:r>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50" y="1233488"/>
            <a:ext cx="8229600" cy="5329237"/>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006699"/>
                </a:solidFill>
                <a:latin typeface="+mj-lt"/>
              </a:rPr>
              <a:t>busy waiting</a:t>
            </a:r>
          </a:p>
          <a:p>
            <a:pPr lvl="1">
              <a:lnSpc>
                <a:spcPct val="90000"/>
              </a:lnSpc>
            </a:pPr>
            <a:r>
              <a:rPr lang="en-US" altLang="en-US" dirty="0"/>
              <a:t>This lock therefore called a </a:t>
            </a:r>
            <a:r>
              <a:rPr lang="en-US" altLang="en-US"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6165851" cy="4252911"/>
          </a:xfrm>
        </p:spPr>
        <p:txBody>
          <a:bodyPr/>
          <a:lstStyle/>
          <a:p>
            <a:pPr>
              <a:tabLst>
                <a:tab pos="2001838" algn="ctr"/>
                <a:tab pos="4513263"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a:t>
            </a:r>
          </a:p>
          <a:p>
            <a:pPr>
              <a:tabLst>
                <a:tab pos="2001838" algn="ctr"/>
                <a:tab pos="4513263" algn="ctr"/>
              </a:tabLst>
            </a:pPr>
            <a:r>
              <a:rPr lang="en-US" altLang="en-US" b="1" dirty="0">
                <a:solidFill>
                  <a:srgbClr val="006699"/>
                </a:solidFill>
                <a:latin typeface="+mj-lt"/>
              </a:rPr>
              <a:t>Binary semaphore </a:t>
            </a:r>
            <a:r>
              <a:rPr lang="en-US" altLang="en-US" dirty="0"/>
              <a:t>– integer value can range only between 0 and 1</a:t>
            </a:r>
          </a:p>
          <a:p>
            <a:pPr lvl="1">
              <a:tabLst>
                <a:tab pos="2001838" algn="ctr"/>
                <a:tab pos="4513263"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p>
          <a:p>
            <a:pPr>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838" algn="ctr"/>
                <a:tab pos="4513263" algn="ctr"/>
              </a:tabLst>
            </a:pPr>
            <a:r>
              <a:rPr lang="en-US" altLang="en-US"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6686551"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006699"/>
                </a:solidFill>
                <a:latin typeface="+mj-lt"/>
              </a:rPr>
              <a:t>block </a:t>
            </a:r>
            <a:r>
              <a:rPr lang="en-US" altLang="en-US" dirty="0"/>
              <a:t>– place the process invoking the operation on the appropriate waiting queue</a:t>
            </a:r>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P</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Font typeface="Monotype Sorts" pitchFamily="-84" charset="2"/>
              <a:buNone/>
              <a:tabLst>
                <a:tab pos="1828800" algn="l"/>
                <a:tab pos="2217738" algn="l"/>
              </a:tabLst>
            </a:pPr>
            <a:endParaRPr lang="en-US" altLang="en-US" sz="16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Font typeface="Monotype Sorts" pitchFamily="-84" charset="2"/>
              <a:buNone/>
              <a:tabLst>
                <a:tab pos="1828800" algn="l"/>
                <a:tab pos="2217738" algn="l"/>
              </a:tabLst>
            </a:pPr>
            <a:r>
              <a:rPr lang="en-US" altLang="en-US" sz="16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972207" y="197632"/>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r>
              <a:rPr lang="en-US" altLang="en-US" dirty="0"/>
              <a:t>FCFS frequently not adequate </a:t>
            </a:r>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pPr>
            <a:r>
              <a:rPr lang="en-US" altLang="en-US" dirty="0"/>
              <a:t>The process with the shortest time is allocated the resource first</a:t>
            </a:r>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dirty="0"/>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16779</TotalTime>
  <Words>3950</Words>
  <Application>Microsoft Office PowerPoint</Application>
  <PresentationFormat>全屏显示(4:3)</PresentationFormat>
  <Paragraphs>580</Paragraphs>
  <Slides>60</Slides>
  <Notes>41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60</vt:i4>
      </vt:variant>
    </vt:vector>
  </HeadingPairs>
  <TitlesOfParts>
    <vt:vector size="70" baseType="lpstr">
      <vt:lpstr>Monotype Sorts</vt:lpstr>
      <vt:lpstr>Arial</vt:lpstr>
      <vt:lpstr>Courier New</vt:lpstr>
      <vt:lpstr>Helvetica</vt:lpstr>
      <vt:lpstr>MT Extra</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Take a Break</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演示文稿</vt:lpstr>
      <vt:lpstr>PowerPoint 演示文稿</vt:lpstr>
      <vt:lpstr>A Monitor to Allocate Single Resource</vt:lpstr>
      <vt:lpstr>Single Resource Monitor (Cont.)</vt:lpstr>
      <vt:lpstr>Liveness</vt:lpstr>
      <vt:lpstr>Liveness</vt:lpstr>
      <vt:lpstr>Liveness</vt:lpstr>
      <vt:lpstr>End of Chapter 6</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365</cp:revision>
  <cp:lastPrinted>2020-11-04T14:30:39Z</cp:lastPrinted>
  <dcterms:created xsi:type="dcterms:W3CDTF">2011-01-13T23:43:38Z</dcterms:created>
  <dcterms:modified xsi:type="dcterms:W3CDTF">2025-07-27T00:37:14Z</dcterms:modified>
</cp:coreProperties>
</file>