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7"/>
  </p:notesMasterIdLst>
  <p:handoutMasterIdLst>
    <p:handoutMasterId r:id="rId38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403" r:id="rId13"/>
    <p:sldId id="404" r:id="rId14"/>
    <p:sldId id="342" r:id="rId15"/>
    <p:sldId id="343" r:id="rId16"/>
    <p:sldId id="348" r:id="rId17"/>
    <p:sldId id="399" r:id="rId18"/>
    <p:sldId id="349" r:id="rId19"/>
    <p:sldId id="350" r:id="rId20"/>
    <p:sldId id="351" r:id="rId21"/>
    <p:sldId id="352" r:id="rId22"/>
    <p:sldId id="353" r:id="rId23"/>
    <p:sldId id="360" r:id="rId24"/>
    <p:sldId id="361" r:id="rId25"/>
    <p:sldId id="362" r:id="rId26"/>
    <p:sldId id="363" r:id="rId27"/>
    <p:sldId id="419" r:id="rId28"/>
    <p:sldId id="365" r:id="rId29"/>
    <p:sldId id="366" r:id="rId30"/>
    <p:sldId id="367" r:id="rId31"/>
    <p:sldId id="400" r:id="rId32"/>
    <p:sldId id="368" r:id="rId33"/>
    <p:sldId id="369" r:id="rId34"/>
    <p:sldId id="370" r:id="rId35"/>
    <p:sldId id="526" r:id="rId3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271" autoAdjust="0"/>
    <p:restoredTop sz="94660"/>
  </p:normalViewPr>
  <p:slideViewPr>
    <p:cSldViewPr snapToGrid="0">
      <p:cViewPr>
        <p:scale>
          <a:sx n="50" d="100"/>
          <a:sy n="50" d="100"/>
        </p:scale>
        <p:origin x="1720" y="1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9836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16CDF5D-5DA4-4CFA-BCC7-390A2861E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FB5F106-41EE-4364-BF1E-20D5C6B2A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294DEFC-309C-4B8E-9AC7-318287BB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8D04B-AD7F-49A8-9388-3AF72B45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5605CA-B522-4E77-8066-64E776435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6" y="1262063"/>
            <a:ext cx="7735078" cy="4440237"/>
          </a:xfrm>
        </p:spPr>
        <p:txBody>
          <a:bodyPr/>
          <a:lstStyle/>
          <a:p>
            <a:r>
              <a:rPr lang="en-US" altLang="en-US" dirty="0"/>
              <a:t>To provide a detailed description of various ways of organizing memory hardware</a:t>
            </a:r>
          </a:p>
          <a:p>
            <a:r>
              <a:rPr lang="en-US" altLang="en-US" dirty="0"/>
              <a:t>To discuss various memory-management techniques, </a:t>
            </a:r>
          </a:p>
          <a:p>
            <a:r>
              <a:rPr lang="en-US" altLang="en-US" dirty="0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r>
              <a:rPr lang="en-US" altLang="en-US" dirty="0"/>
              <a:t>Main memory and registers are only storage CPU can access directly</a:t>
            </a:r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read requests, or </a:t>
            </a:r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dirty="0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436498" cy="1673193"/>
          </a:xfrm>
        </p:spPr>
        <p:txBody>
          <a:bodyPr/>
          <a:lstStyle/>
          <a:p>
            <a:r>
              <a:rPr lang="en-US" altLang="en-US" dirty="0"/>
              <a:t>Need to ensure that a process can access only those addresses in its address space.</a:t>
            </a:r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2725414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03200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1144588"/>
            <a:ext cx="7688424" cy="4926012"/>
          </a:xfrm>
        </p:spPr>
        <p:txBody>
          <a:bodyPr/>
          <a:lstStyle/>
          <a:p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/>
            <a:r>
              <a:rPr kumimoji="0" lang="en-US" altLang="en-US" dirty="0"/>
              <a:t>Without support, must be loaded into address 0000</a:t>
            </a:r>
          </a:p>
          <a:p>
            <a:r>
              <a:rPr kumimoji="0" lang="en-US" altLang="en-US" dirty="0"/>
              <a:t>Inconvenient to have first user process physical address always at 0000 </a:t>
            </a:r>
          </a:p>
          <a:p>
            <a:pPr lvl="1"/>
            <a:r>
              <a:rPr kumimoji="0" lang="en-US" altLang="en-US" dirty="0"/>
              <a:t>How can it not be?</a:t>
            </a:r>
            <a:endParaRPr lang="en-US" altLang="en-US" dirty="0"/>
          </a:p>
          <a:p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/>
            <a:r>
              <a:rPr kumimoji="0" lang="en-US" altLang="en-US" dirty="0"/>
              <a:t>Source code addresses usually symbolic</a:t>
            </a:r>
          </a:p>
          <a:p>
            <a:pPr lvl="1"/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/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/>
            <a:r>
              <a:rPr kumimoji="0" lang="en-US" altLang="en-US" dirty="0"/>
              <a:t>Linker or loader will bind relocatable addresses to absolute addresses</a:t>
            </a:r>
          </a:p>
          <a:p>
            <a:pPr lvl="2"/>
            <a:r>
              <a:rPr kumimoji="0" lang="en-US" altLang="en-US" dirty="0"/>
              <a:t>i.e., 74014</a:t>
            </a:r>
          </a:p>
          <a:p>
            <a:pPr lvl="1"/>
            <a:r>
              <a:rPr kumimoji="0" lang="en-US" altLang="en-US" dirty="0"/>
              <a:t>Each binding maps one address space to another</a:t>
            </a:r>
          </a:p>
          <a:p>
            <a:pPr>
              <a:buFont typeface="Monotype Sorts" pitchFamily="-84" charset="2"/>
              <a:buNone/>
            </a:pPr>
            <a:endParaRPr kumimoji="0" lang="en-US" altLang="en-US" dirty="0"/>
          </a:p>
          <a:p>
            <a:pPr lvl="1"/>
            <a:endParaRPr kumimoji="0"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692" y="1334278"/>
            <a:ext cx="7665488" cy="3860736"/>
          </a:xfrm>
        </p:spPr>
        <p:txBody>
          <a:bodyPr/>
          <a:lstStyle/>
          <a:p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295751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407" y="113506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4" y="1062038"/>
            <a:ext cx="7669764" cy="46609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</a:p>
          <a:p>
            <a:r>
              <a:rPr lang="en-US" altLang="en-US" dirty="0"/>
              <a:t>Limited resource, must allocate efficiently</a:t>
            </a:r>
          </a:p>
          <a:p>
            <a:r>
              <a:rPr lang="en-US" altLang="en-US" dirty="0"/>
              <a:t>Contiguous allocation is one early method</a:t>
            </a:r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Resident operating system, usually held in low memory with interrupt vector</a:t>
            </a:r>
          </a:p>
          <a:p>
            <a:pPr lvl="1"/>
            <a:r>
              <a:rPr lang="en-US" altLang="en-US" dirty="0"/>
              <a:t>User processes then held in high memory</a:t>
            </a:r>
          </a:p>
          <a:p>
            <a:pPr lvl="1"/>
            <a:r>
              <a:rPr lang="en-US" altLang="en-US" dirty="0"/>
              <a:t>Each process contained in single contiguous section of memory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dirty="0"/>
              <a:t>Base register contains value of smallest physical address</a:t>
            </a:r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Degree of multiprogramming limited by number of partitions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1600" dirty="0"/>
              <a:t>Process exiting frees its partition, adjacent free partitions combined</a:t>
            </a:r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5" descr="W:\os-book\OS10\slide-dir\os-figures\9_07.jpg">
            <a:extLst>
              <a:ext uri="{FF2B5EF4-FFF2-40B4-BE49-F238E27FC236}">
                <a16:creationId xmlns:a16="http://schemas.microsoft.com/office/drawing/2014/main" id="{E557DF44-5D01-03F4-BA9F-2AA7F82E58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2"/>
          <a:stretch/>
        </p:blipFill>
        <p:spPr bwMode="auto">
          <a:xfrm>
            <a:off x="4918996" y="4720182"/>
            <a:ext cx="906234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3314247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r>
              <a:rPr lang="en-US" altLang="en-US" dirty="0"/>
              <a:t>I/O problem</a:t>
            </a:r>
          </a:p>
          <a:p>
            <a:pPr lvl="2"/>
            <a:r>
              <a:rPr lang="en-US" altLang="en-US" dirty="0"/>
              <a:t>Latch job in memory while it is involved in I/O</a:t>
            </a:r>
          </a:p>
          <a:p>
            <a:pPr lvl="2"/>
            <a:r>
              <a:rPr lang="en-US" altLang="en-US" dirty="0"/>
              <a:t>Do I/O only into OS buffers</a:t>
            </a:r>
          </a:p>
          <a:p>
            <a:r>
              <a:rPr lang="en-US" altLang="en-US" dirty="0"/>
              <a:t>Now consider that backing store has same fragmentation problems</a:t>
            </a:r>
          </a:p>
        </p:txBody>
      </p:sp>
      <p:pic>
        <p:nvPicPr>
          <p:cNvPr id="3" name="Picture 5" descr="W:\os-book\OS10\slide-dir\os-figures\9_07.jpg">
            <a:extLst>
              <a:ext uri="{FF2B5EF4-FFF2-40B4-BE49-F238E27FC236}">
                <a16:creationId xmlns:a16="http://schemas.microsoft.com/office/drawing/2014/main" id="{0A5CC7C1-ECB3-E083-FDE1-47B401A2B3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2"/>
          <a:stretch/>
        </p:blipFill>
        <p:spPr bwMode="auto">
          <a:xfrm>
            <a:off x="3318769" y="4711090"/>
            <a:ext cx="906234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os-book\OS10\slide-dir\os-figures\9_07.jpg">
            <a:extLst>
              <a:ext uri="{FF2B5EF4-FFF2-40B4-BE49-F238E27FC236}">
                <a16:creationId xmlns:a16="http://schemas.microsoft.com/office/drawing/2014/main" id="{6D613981-C480-45EF-2C27-BEE224DBC0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41" t="53540" r="17094" b="35231"/>
          <a:stretch/>
        </p:blipFill>
        <p:spPr bwMode="auto">
          <a:xfrm>
            <a:off x="4408714" y="5441486"/>
            <a:ext cx="326571" cy="163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W:\os-book\OS10\slide-dir\os-figures\9_07.jpg">
            <a:extLst>
              <a:ext uri="{FF2B5EF4-FFF2-40B4-BE49-F238E27FC236}">
                <a16:creationId xmlns:a16="http://schemas.microsoft.com/office/drawing/2014/main" id="{346E039F-A759-AC21-C9D8-C9D0A5F329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91" t="27722" r="577" b="66679"/>
          <a:stretch/>
        </p:blipFill>
        <p:spPr bwMode="auto">
          <a:xfrm>
            <a:off x="4997900" y="5573393"/>
            <a:ext cx="824818" cy="580961"/>
          </a:xfrm>
          <a:prstGeom prst="rect">
            <a:avLst/>
          </a:prstGeom>
          <a:noFill/>
          <a:ln w="9525">
            <a:solidFill>
              <a:schemeClr val="accent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5" descr="W:\os-book\OS10\slide-dir\os-figures\9_07.jpg">
            <a:extLst>
              <a:ext uri="{FF2B5EF4-FFF2-40B4-BE49-F238E27FC236}">
                <a16:creationId xmlns:a16="http://schemas.microsoft.com/office/drawing/2014/main" id="{4F787DF2-A6FD-AFEC-7691-C72D49BCA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2" t="79749"/>
          <a:stretch/>
        </p:blipFill>
        <p:spPr bwMode="auto">
          <a:xfrm>
            <a:off x="4918996" y="5342941"/>
            <a:ext cx="906234" cy="2944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W:\os-book\OS10\slide-dir\os-figures\9_07.jpg">
            <a:extLst>
              <a:ext uri="{FF2B5EF4-FFF2-40B4-BE49-F238E27FC236}">
                <a16:creationId xmlns:a16="http://schemas.microsoft.com/office/drawing/2014/main" id="{D095C8A6-848A-061F-CCFC-5EFF1D4397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80" t="37948" b="43518"/>
          <a:stretch/>
        </p:blipFill>
        <p:spPr bwMode="auto">
          <a:xfrm>
            <a:off x="4984016" y="5010430"/>
            <a:ext cx="838701" cy="29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</a:p>
          <a:p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bytes</a:t>
            </a:r>
          </a:p>
          <a:p>
            <a:r>
              <a:rPr lang="en-US" altLang="en-US" dirty="0"/>
              <a:t>Process size = 72,766 bytes</a:t>
            </a:r>
          </a:p>
          <a:p>
            <a:r>
              <a:rPr lang="en-US" altLang="en-US" dirty="0"/>
              <a:t>35 pages + 1,086 bytes</a:t>
            </a:r>
          </a:p>
          <a:p>
            <a:r>
              <a:rPr lang="en-US" altLang="en-US" dirty="0"/>
              <a:t>Internal fragmentation of 2,048 - 1,086 = 962 bytes</a:t>
            </a:r>
          </a:p>
          <a:p>
            <a:r>
              <a:rPr lang="en-US" altLang="en-US" dirty="0"/>
              <a:t>Worst case fragmentation = 1 frame – 1 byte</a:t>
            </a:r>
          </a:p>
          <a:p>
            <a:r>
              <a:rPr lang="en-US" altLang="en-US" dirty="0"/>
              <a:t>On average fragmentation = 1 / 2 frame size</a:t>
            </a:r>
          </a:p>
          <a:p>
            <a:r>
              <a:rPr lang="en-US" altLang="en-US" dirty="0"/>
              <a:t>So small frame sizes desirable?</a:t>
            </a:r>
          </a:p>
          <a:p>
            <a:r>
              <a:rPr lang="en-US" altLang="en-US" dirty="0"/>
              <a:t>But each page table entry takes memory to track</a:t>
            </a:r>
          </a:p>
          <a:p>
            <a:r>
              <a:rPr lang="en-US" altLang="en-US" dirty="0"/>
              <a:t>Page sizes growing over time</a:t>
            </a:r>
          </a:p>
          <a:p>
            <a:pPr lvl="1"/>
            <a:r>
              <a:rPr lang="en-US" altLang="en-US" dirty="0"/>
              <a:t>Solaris supports two page sizes – 8 KB and 4 MB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r>
              <a:rPr lang="en-US" altLang="en-US" dirty="0"/>
              <a:t>In this scheme every data/instruction access requires two memory accesses</a:t>
            </a:r>
          </a:p>
          <a:p>
            <a:pPr lvl="1"/>
            <a:r>
              <a:rPr lang="en-US" altLang="en-US" dirty="0"/>
              <a:t>One for the page table and one for the data / instruction</a:t>
            </a:r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dirty="0"/>
              <a:t>Otherwise need to flush at every context switch</a:t>
            </a:r>
          </a:p>
          <a:p>
            <a:r>
              <a:rPr lang="en-US" altLang="en-US" dirty="0"/>
              <a:t>TLBs typically small (64 to 1,024 entries)</a:t>
            </a:r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dirty="0"/>
              <a:t>Associative memory – parallel search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</a:p>
          <a:p>
            <a:pPr marL="627063" lvl="1"/>
            <a:r>
              <a:rPr lang="en-US" altLang="en-US" dirty="0"/>
              <a:t>If p is in associative register, get frame # out</a:t>
            </a:r>
          </a:p>
          <a:p>
            <a:pPr marL="627063" lvl="1"/>
            <a:r>
              <a:rPr lang="en-US" altLang="en-US" dirty="0"/>
              <a:t>Otherwise get frame # from page table in memory</a:t>
            </a:r>
          </a:p>
          <a:p>
            <a:pPr marL="627063" lvl="1"/>
            <a:endParaRPr lang="en-US" altLang="en-US" dirty="0"/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12870</TotalTime>
  <Words>1987</Words>
  <Application>Microsoft Office PowerPoint</Application>
  <PresentationFormat>全屏显示(4:3)</PresentationFormat>
  <Paragraphs>265</Paragraphs>
  <Slides>35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Monotype Sorts</vt:lpstr>
      <vt:lpstr>Arial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Chapter 9:  Main Memory</vt:lpstr>
      <vt:lpstr>Chapter 9:  Memory Management</vt:lpstr>
      <vt:lpstr>Objectives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351</cp:revision>
  <cp:lastPrinted>2013-09-30T19:34:56Z</cp:lastPrinted>
  <dcterms:created xsi:type="dcterms:W3CDTF">2011-01-13T23:43:38Z</dcterms:created>
  <dcterms:modified xsi:type="dcterms:W3CDTF">2025-09-09T05:29:45Z</dcterms:modified>
</cp:coreProperties>
</file>