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7"/>
  </p:notesMasterIdLst>
  <p:handoutMasterIdLst>
    <p:handoutMasterId r:id="rId68"/>
  </p:handoutMasterIdLst>
  <p:sldIdLst>
    <p:sldId id="330" r:id="rId2"/>
    <p:sldId id="347" r:id="rId3"/>
    <p:sldId id="348" r:id="rId4"/>
    <p:sldId id="417" r:id="rId5"/>
    <p:sldId id="349" r:id="rId6"/>
    <p:sldId id="350" r:id="rId7"/>
    <p:sldId id="352" r:id="rId8"/>
    <p:sldId id="354" r:id="rId9"/>
    <p:sldId id="356" r:id="rId10"/>
    <p:sldId id="357" r:id="rId11"/>
    <p:sldId id="359" r:id="rId12"/>
    <p:sldId id="413" r:id="rId13"/>
    <p:sldId id="361" r:id="rId14"/>
    <p:sldId id="419" r:id="rId15"/>
    <p:sldId id="423" r:id="rId16"/>
    <p:sldId id="363" r:id="rId17"/>
    <p:sldId id="438" r:id="rId18"/>
    <p:sldId id="364" r:id="rId19"/>
    <p:sldId id="408" r:id="rId20"/>
    <p:sldId id="404" r:id="rId21"/>
    <p:sldId id="403" r:id="rId22"/>
    <p:sldId id="375" r:id="rId23"/>
    <p:sldId id="426" r:id="rId24"/>
    <p:sldId id="427" r:id="rId25"/>
    <p:sldId id="374" r:id="rId26"/>
    <p:sldId id="429" r:id="rId27"/>
    <p:sldId id="430" r:id="rId28"/>
    <p:sldId id="376" r:id="rId29"/>
    <p:sldId id="437" r:id="rId30"/>
    <p:sldId id="377" r:id="rId31"/>
    <p:sldId id="378" r:id="rId32"/>
    <p:sldId id="379" r:id="rId33"/>
    <p:sldId id="366" r:id="rId34"/>
    <p:sldId id="407" r:id="rId35"/>
    <p:sldId id="380" r:id="rId36"/>
    <p:sldId id="381" r:id="rId37"/>
    <p:sldId id="435" r:id="rId38"/>
    <p:sldId id="384" r:id="rId39"/>
    <p:sldId id="385" r:id="rId40"/>
    <p:sldId id="391" r:id="rId41"/>
    <p:sldId id="409" r:id="rId42"/>
    <p:sldId id="400" r:id="rId43"/>
    <p:sldId id="434" r:id="rId44"/>
    <p:sldId id="367" r:id="rId45"/>
    <p:sldId id="369" r:id="rId46"/>
    <p:sldId id="370" r:id="rId47"/>
    <p:sldId id="414" r:id="rId48"/>
    <p:sldId id="371" r:id="rId49"/>
    <p:sldId id="372" r:id="rId50"/>
    <p:sldId id="416" r:id="rId51"/>
    <p:sldId id="386" r:id="rId52"/>
    <p:sldId id="432" r:id="rId53"/>
    <p:sldId id="398" r:id="rId54"/>
    <p:sldId id="389" r:id="rId55"/>
    <p:sldId id="390" r:id="rId56"/>
    <p:sldId id="401" r:id="rId57"/>
    <p:sldId id="431" r:id="rId58"/>
    <p:sldId id="402" r:id="rId59"/>
    <p:sldId id="387" r:id="rId60"/>
    <p:sldId id="392" r:id="rId61"/>
    <p:sldId id="412" r:id="rId62"/>
    <p:sldId id="394" r:id="rId63"/>
    <p:sldId id="395" r:id="rId64"/>
    <p:sldId id="396" r:id="rId65"/>
    <p:sldId id="331" r:id="rId66"/>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FFFFF"/>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8133" autoAdjust="0"/>
    <p:restoredTop sz="94667"/>
  </p:normalViewPr>
  <p:slideViewPr>
    <p:cSldViewPr snapToGrid="0">
      <p:cViewPr varScale="1">
        <p:scale>
          <a:sx n="60" d="100"/>
          <a:sy n="60" d="100"/>
        </p:scale>
        <p:origin x="1292" y="4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1117600" y="696913"/>
            <a:ext cx="46482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1117600" y="696913"/>
            <a:ext cx="46482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613939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65</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6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dirty="0"/>
              <a:t>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a:xfrm>
            <a:off x="1275908" y="978307"/>
            <a:ext cx="6655980" cy="4530725"/>
          </a:xfrm>
        </p:spPr>
        <p:txBody>
          <a:bodyPr/>
          <a:lstStyle/>
          <a:p>
            <a:r>
              <a:rPr lang="en-US" altLang="en-US" sz="2000" dirty="0"/>
              <a:t>What Operating Systems Do</a:t>
            </a:r>
          </a:p>
          <a:p>
            <a:r>
              <a:rPr lang="en-US" altLang="en-US" sz="2000" dirty="0"/>
              <a:t>Computer-System Organization</a:t>
            </a:r>
          </a:p>
          <a:p>
            <a:r>
              <a:rPr lang="en-US" altLang="en-US" sz="2000" dirty="0"/>
              <a:t>Computer-System Architecture</a:t>
            </a:r>
          </a:p>
          <a:p>
            <a:r>
              <a:rPr lang="en-US" altLang="en-US" sz="2000" dirty="0"/>
              <a:t>Operating-System Operations</a:t>
            </a:r>
          </a:p>
          <a:p>
            <a:r>
              <a:rPr lang="en-US" altLang="en-US" sz="2000" dirty="0"/>
              <a:t>Resource Management</a:t>
            </a:r>
          </a:p>
          <a:p>
            <a:r>
              <a:rPr lang="en-US" altLang="en-US" sz="2000" dirty="0"/>
              <a:t>Security and Protection</a:t>
            </a:r>
          </a:p>
          <a:p>
            <a:r>
              <a:rPr lang="en-US" altLang="en-US" sz="2000" dirty="0"/>
              <a:t>Virtualization</a:t>
            </a:r>
          </a:p>
          <a:p>
            <a:r>
              <a:rPr lang="en-US" altLang="en-US" sz="2000" dirty="0"/>
              <a:t>Distributed Systems</a:t>
            </a:r>
          </a:p>
          <a:p>
            <a:r>
              <a:rPr lang="en-US" altLang="en-US" sz="2000" dirty="0"/>
              <a:t>Kernel Data Structures</a:t>
            </a:r>
          </a:p>
          <a:p>
            <a:r>
              <a:rPr lang="en-US" altLang="en-US" sz="2000" dirty="0"/>
              <a:t>Computing Environments</a:t>
            </a:r>
          </a:p>
          <a:p>
            <a:r>
              <a:rPr lang="en-US" altLang="en-US" sz="2000" dirty="0"/>
              <a:t>Free/Libre and Open-Source Operating Systems</a:t>
            </a:r>
          </a:p>
          <a:p>
            <a:endParaRPr lang="en-US" alt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912776" y="957042"/>
            <a:ext cx="7666038" cy="3359777"/>
          </a:xfrm>
        </p:spPr>
        <p:txBody>
          <a:bodyPr/>
          <a:lstStyle/>
          <a:p>
            <a:r>
              <a:rPr lang="en-US" altLang="en-US" sz="2000" dirty="0"/>
              <a:t>Describe the general organization of a computer system and the role of interrupts</a:t>
            </a:r>
          </a:p>
          <a:p>
            <a:r>
              <a:rPr lang="en-US" altLang="en-US" sz="2000" dirty="0"/>
              <a:t>Describe the components in a modern, multiprocessor computer system</a:t>
            </a:r>
          </a:p>
          <a:p>
            <a:r>
              <a:rPr lang="en-US" altLang="en-US" sz="2000" dirty="0"/>
              <a:t>Illustrate the transition from user mode to kernel mode</a:t>
            </a:r>
          </a:p>
          <a:p>
            <a:r>
              <a:rPr lang="en-US" altLang="en-US" sz="2000" dirty="0"/>
              <a:t>Discuss how operating systems are used in various computing environments</a:t>
            </a:r>
          </a:p>
          <a:p>
            <a:r>
              <a:rPr lang="en-US" altLang="en-US" sz="2000" dirty="0"/>
              <a:t>Provide examples of free and open-source operating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305022" y="186939"/>
            <a:ext cx="7030906" cy="617537"/>
          </a:xfrm>
        </p:spPr>
        <p:txBody>
          <a:bodyPr/>
          <a:lstStyle/>
          <a:p>
            <a:pPr eaLnBrk="1" hangingPunct="1"/>
            <a:r>
              <a:rPr lang="en-US" altLang="en-US" dirty="0"/>
              <a:t>What Does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1339702" y="1031470"/>
            <a:ext cx="6687879" cy="3827609"/>
          </a:xfrm>
        </p:spPr>
        <p:txBody>
          <a:bodyPr/>
          <a:lstStyle/>
          <a:p>
            <a:r>
              <a:rPr lang="en-US" altLang="en-US" sz="2000" dirty="0"/>
              <a:t>An operating system is “fill in the blanks”</a:t>
            </a:r>
          </a:p>
          <a:p>
            <a:r>
              <a:rPr lang="en-US" altLang="en-US" sz="2000" dirty="0"/>
              <a:t>What about:</a:t>
            </a:r>
          </a:p>
          <a:p>
            <a:pPr lvl="1"/>
            <a:r>
              <a:rPr lang="en-US" altLang="en-US" sz="2000" dirty="0"/>
              <a:t>Car </a:t>
            </a:r>
          </a:p>
          <a:p>
            <a:pPr lvl="1"/>
            <a:r>
              <a:rPr lang="en-US" altLang="en-US" sz="2000" dirty="0"/>
              <a:t>Airplane</a:t>
            </a:r>
          </a:p>
          <a:p>
            <a:pPr lvl="1"/>
            <a:r>
              <a:rPr lang="en-US" altLang="en-US" sz="2000" dirty="0"/>
              <a:t>Printer</a:t>
            </a:r>
          </a:p>
          <a:p>
            <a:pPr lvl="1"/>
            <a:r>
              <a:rPr lang="en-US" altLang="en-US" sz="2000" dirty="0"/>
              <a:t>Washing Machine</a:t>
            </a:r>
          </a:p>
          <a:p>
            <a:pPr lvl="1"/>
            <a:r>
              <a:rPr lang="en-US" altLang="en-US" sz="2000" dirty="0"/>
              <a:t>Toaster</a:t>
            </a:r>
          </a:p>
          <a:p>
            <a:pPr lvl="1"/>
            <a:r>
              <a:rPr lang="en-US" altLang="en-US" sz="2000" dirty="0"/>
              <a:t>Compiler</a:t>
            </a:r>
          </a:p>
          <a:p>
            <a:pPr lvl="1"/>
            <a:r>
              <a:rPr lang="en-US" altLang="en-US" sz="2000" dirty="0"/>
              <a:t>…..</a:t>
            </a:r>
          </a:p>
        </p:txBody>
      </p:sp>
    </p:spTree>
    <p:extLst>
      <p:ext uri="{BB962C8B-B14F-4D97-AF65-F5344CB8AC3E}">
        <p14:creationId xmlns:p14="http://schemas.microsoft.com/office/powerpoint/2010/main" val="132303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1339702" y="198438"/>
            <a:ext cx="7347098" cy="576262"/>
          </a:xfrm>
        </p:spPr>
        <p:txBody>
          <a:bodyPr/>
          <a:lstStyle/>
          <a:p>
            <a:pPr eaLnBrk="1" hangingPunct="1"/>
            <a:r>
              <a:rPr lang="en-US" altLang="en-US" dirty="0"/>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723014" y="1085481"/>
            <a:ext cx="7963786" cy="4666733"/>
          </a:xfrm>
        </p:spPr>
        <p:txBody>
          <a:bodyPr/>
          <a:lstStyle/>
          <a:p>
            <a:r>
              <a:rPr lang="en-US" altLang="en-US" sz="2000" dirty="0"/>
              <a:t>A program that acts as an intermediary between a user of a computer and the computer hardware, including the following functions</a:t>
            </a:r>
          </a:p>
          <a:p>
            <a:pPr lvl="1"/>
            <a:r>
              <a:rPr lang="en-US" altLang="en-US" sz="2000" dirty="0"/>
              <a:t>Process management</a:t>
            </a:r>
          </a:p>
          <a:p>
            <a:pPr lvl="1"/>
            <a:r>
              <a:rPr lang="en-US" altLang="en-US" sz="2000" dirty="0"/>
              <a:t>Memory management</a:t>
            </a:r>
          </a:p>
          <a:p>
            <a:pPr lvl="1"/>
            <a:r>
              <a:rPr lang="en-US" altLang="en-US" sz="2000" dirty="0"/>
              <a:t>File management</a:t>
            </a:r>
          </a:p>
          <a:p>
            <a:pPr lvl="1"/>
            <a:r>
              <a:rPr lang="en-US" altLang="en-US" sz="2000" dirty="0"/>
              <a:t>I/O management</a:t>
            </a:r>
          </a:p>
          <a:p>
            <a:endParaRPr lang="en-US" altLang="en-US" sz="2000" dirty="0"/>
          </a:p>
          <a:p>
            <a:r>
              <a:rPr lang="en-US" altLang="en-US" sz="2000" dirty="0"/>
              <a:t>Operating system goals</a:t>
            </a:r>
          </a:p>
          <a:p>
            <a:pPr lvl="1"/>
            <a:r>
              <a:rPr lang="en-US" altLang="en-US" dirty="0"/>
              <a:t>Execute user programs and make the solving of user problems easier</a:t>
            </a:r>
          </a:p>
          <a:p>
            <a:pPr lvl="1"/>
            <a:r>
              <a:rPr lang="en-US" altLang="en-US" dirty="0"/>
              <a:t>Make the computer system convenient to use</a:t>
            </a:r>
          </a:p>
          <a:p>
            <a:pPr lvl="1"/>
            <a:r>
              <a:rPr lang="en-US" altLang="en-US" dirty="0"/>
              <a:t>Use the computer hardware in an efficient manner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dirty="0"/>
              <a:t>Computer System Structure</a:t>
            </a:r>
          </a:p>
        </p:txBody>
      </p:sp>
      <p:pic>
        <p:nvPicPr>
          <p:cNvPr id="2" name="Picture 4">
            <a:extLst>
              <a:ext uri="{FF2B5EF4-FFF2-40B4-BE49-F238E27FC236}">
                <a16:creationId xmlns:a16="http://schemas.microsoft.com/office/drawing/2014/main" id="{B7EAB00C-F0C3-EAE1-AB6B-103BCF2A63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9135" y="4039412"/>
            <a:ext cx="3625701" cy="2570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71870" y="832773"/>
            <a:ext cx="7702218" cy="3207598"/>
          </a:xfrm>
        </p:spPr>
        <p:txBody>
          <a:bodyPr/>
          <a:lstStyle/>
          <a:p>
            <a:pPr>
              <a:spcBef>
                <a:spcPts val="0"/>
              </a:spcBef>
            </a:pPr>
            <a:r>
              <a:rPr lang="en-US" altLang="en-US" sz="2000" dirty="0"/>
              <a:t>Computer system can be divided into four components:</a:t>
            </a:r>
          </a:p>
          <a:p>
            <a:pPr lvl="1">
              <a:spcBef>
                <a:spcPts val="0"/>
              </a:spcBef>
            </a:pPr>
            <a:r>
              <a:rPr lang="en-US" altLang="en-US" dirty="0"/>
              <a:t>Hardware – provides basic computing resources</a:t>
            </a:r>
          </a:p>
          <a:p>
            <a:pPr lvl="2">
              <a:spcBef>
                <a:spcPts val="0"/>
              </a:spcBef>
            </a:pPr>
            <a:r>
              <a:rPr lang="en-US" altLang="en-US" dirty="0"/>
              <a:t>CPU, memory, I/O devices</a:t>
            </a:r>
          </a:p>
          <a:p>
            <a:pPr lvl="1">
              <a:spcBef>
                <a:spcPts val="0"/>
              </a:spcBef>
            </a:pPr>
            <a:r>
              <a:rPr lang="en-US" altLang="en-US" dirty="0"/>
              <a:t>Operating system</a:t>
            </a:r>
          </a:p>
          <a:p>
            <a:pPr lvl="2">
              <a:spcBef>
                <a:spcPts val="0"/>
              </a:spcBef>
            </a:pPr>
            <a:r>
              <a:rPr lang="en-US" altLang="en-US" dirty="0"/>
              <a:t>Controls and coordinates use of hardware among various applications and users</a:t>
            </a:r>
          </a:p>
          <a:p>
            <a:pPr lvl="1">
              <a:spcBef>
                <a:spcPts val="0"/>
              </a:spcBef>
            </a:pPr>
            <a:r>
              <a:rPr lang="en-US" altLang="en-US" dirty="0"/>
              <a:t>Application programs – define the ways in which the system resources are used to solve the computing problems of the users</a:t>
            </a:r>
          </a:p>
          <a:p>
            <a:pPr lvl="2">
              <a:spcBef>
                <a:spcPts val="0"/>
              </a:spcBef>
            </a:pPr>
            <a:r>
              <a:rPr lang="en-US" altLang="en-US" dirty="0"/>
              <a:t>Word processors, compilers, web browsers, database systems, video games, etc.</a:t>
            </a:r>
          </a:p>
          <a:p>
            <a:pPr lvl="1">
              <a:spcBef>
                <a:spcPts val="0"/>
              </a:spcBef>
            </a:pPr>
            <a:r>
              <a:rPr lang="en-US" altLang="en-US" dirty="0"/>
              <a:t>Users - People, machines, other computers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542260" y="1010092"/>
            <a:ext cx="8431619" cy="4890978"/>
          </a:xfrm>
        </p:spPr>
        <p:txBody>
          <a:bodyPr/>
          <a:lstStyle/>
          <a:p>
            <a:pPr>
              <a:spcBef>
                <a:spcPts val="0"/>
              </a:spcBef>
              <a:spcAft>
                <a:spcPts val="300"/>
              </a:spcAft>
            </a:pPr>
            <a:r>
              <a:rPr lang="en-US" altLang="en-US" sz="2000" dirty="0">
                <a:latin typeface="+mn-ea"/>
                <a:ea typeface="+mn-ea"/>
              </a:rPr>
              <a:t>Depends on the point of view</a:t>
            </a:r>
          </a:p>
          <a:p>
            <a:pPr lvl="1">
              <a:spcBef>
                <a:spcPts val="0"/>
              </a:spcBef>
              <a:spcAft>
                <a:spcPts val="300"/>
              </a:spcAft>
            </a:pPr>
            <a:r>
              <a:rPr lang="en-US" altLang="en-US" sz="2000" dirty="0">
                <a:latin typeface="+mn-ea"/>
                <a:ea typeface="+mn-ea"/>
              </a:rPr>
              <a:t>Users want convenience, </a:t>
            </a:r>
            <a:r>
              <a:rPr lang="en-US" altLang="en-US" sz="2000" b="1" dirty="0">
                <a:solidFill>
                  <a:srgbClr val="006699"/>
                </a:solidFill>
                <a:latin typeface="+mn-ea"/>
                <a:ea typeface="+mn-ea"/>
              </a:rPr>
              <a:t>ease of use </a:t>
            </a:r>
            <a:r>
              <a:rPr lang="en-US" altLang="en-US" sz="2000" dirty="0">
                <a:latin typeface="+mn-ea"/>
                <a:ea typeface="+mn-ea"/>
              </a:rPr>
              <a:t>and</a:t>
            </a:r>
            <a:r>
              <a:rPr lang="en-US" altLang="en-US" sz="2000" b="1" dirty="0">
                <a:solidFill>
                  <a:srgbClr val="3366FF"/>
                </a:solidFill>
                <a:latin typeface="+mn-ea"/>
                <a:ea typeface="+mn-ea"/>
              </a:rPr>
              <a:t> </a:t>
            </a:r>
            <a:r>
              <a:rPr lang="en-US" altLang="en-US" sz="2000" b="1" dirty="0">
                <a:solidFill>
                  <a:srgbClr val="006699"/>
                </a:solidFill>
                <a:latin typeface="+mn-ea"/>
                <a:ea typeface="+mn-ea"/>
              </a:rPr>
              <a:t>good performance </a:t>
            </a:r>
          </a:p>
          <a:p>
            <a:pPr lvl="2">
              <a:spcBef>
                <a:spcPts val="0"/>
              </a:spcBef>
              <a:spcAft>
                <a:spcPts val="300"/>
              </a:spcAft>
            </a:pPr>
            <a:r>
              <a:rPr lang="en-US" altLang="en-US" dirty="0">
                <a:latin typeface="+mn-ea"/>
                <a:ea typeface="+mn-ea"/>
              </a:rPr>
              <a:t>Don</a:t>
            </a:r>
            <a:r>
              <a:rPr lang="ja-JP" altLang="en-US" dirty="0">
                <a:latin typeface="+mn-ea"/>
                <a:ea typeface="+mn-ea"/>
              </a:rPr>
              <a:t>’</a:t>
            </a:r>
            <a:r>
              <a:rPr lang="en-US" altLang="ja-JP" dirty="0">
                <a:latin typeface="+mn-ea"/>
                <a:ea typeface="+mn-ea"/>
              </a:rPr>
              <a:t>t care about </a:t>
            </a:r>
            <a:r>
              <a:rPr lang="en-US" altLang="ja-JP" b="1" dirty="0">
                <a:solidFill>
                  <a:srgbClr val="006699"/>
                </a:solidFill>
                <a:latin typeface="+mn-ea"/>
                <a:ea typeface="+mn-ea"/>
              </a:rPr>
              <a:t>resource utilization</a:t>
            </a:r>
          </a:p>
          <a:p>
            <a:pPr lvl="1">
              <a:spcBef>
                <a:spcPts val="0"/>
              </a:spcBef>
              <a:spcAft>
                <a:spcPts val="300"/>
              </a:spcAft>
            </a:pPr>
            <a:r>
              <a:rPr lang="en-US" altLang="en-US" sz="2000" dirty="0">
                <a:latin typeface="+mn-ea"/>
                <a:ea typeface="+mn-ea"/>
              </a:rPr>
              <a:t>The shared computer such as </a:t>
            </a:r>
            <a:r>
              <a:rPr lang="en-US" altLang="en-US" sz="2000" b="1" dirty="0">
                <a:solidFill>
                  <a:srgbClr val="006699"/>
                </a:solidFill>
                <a:latin typeface="+mn-ea"/>
                <a:ea typeface="+mn-ea"/>
              </a:rPr>
              <a:t>mainframe</a:t>
            </a:r>
            <a:r>
              <a:rPr lang="en-US" altLang="en-US" sz="2000" dirty="0">
                <a:latin typeface="+mn-ea"/>
                <a:ea typeface="+mn-ea"/>
              </a:rPr>
              <a:t> or </a:t>
            </a:r>
            <a:r>
              <a:rPr lang="en-US" altLang="en-US" sz="2000" b="1" dirty="0">
                <a:solidFill>
                  <a:srgbClr val="006699"/>
                </a:solidFill>
                <a:latin typeface="+mn-ea"/>
                <a:ea typeface="+mn-ea"/>
              </a:rPr>
              <a:t>minicomputer</a:t>
            </a:r>
            <a:r>
              <a:rPr lang="en-US" altLang="en-US" sz="2000" dirty="0">
                <a:latin typeface="+mn-ea"/>
                <a:ea typeface="+mn-ea"/>
              </a:rPr>
              <a:t> must keep all users happy</a:t>
            </a:r>
          </a:p>
          <a:p>
            <a:pPr lvl="2">
              <a:spcBef>
                <a:spcPts val="0"/>
              </a:spcBef>
              <a:spcAft>
                <a:spcPts val="300"/>
              </a:spcAft>
            </a:pPr>
            <a:r>
              <a:rPr lang="en-US" altLang="en-US" dirty="0">
                <a:latin typeface="+mn-ea"/>
                <a:ea typeface="+mn-ea"/>
              </a:rPr>
              <a:t>OS is a </a:t>
            </a:r>
            <a:r>
              <a:rPr lang="en-US" altLang="en-US" b="1" dirty="0">
                <a:solidFill>
                  <a:srgbClr val="006699"/>
                </a:solidFill>
                <a:latin typeface="+mn-ea"/>
                <a:ea typeface="+mn-ea"/>
              </a:rPr>
              <a:t>resource allocator </a:t>
            </a:r>
            <a:r>
              <a:rPr lang="en-US" altLang="en-US" dirty="0">
                <a:latin typeface="+mn-ea"/>
                <a:ea typeface="+mn-ea"/>
              </a:rPr>
              <a:t>and </a:t>
            </a:r>
            <a:r>
              <a:rPr lang="en-US" altLang="en-US" b="1" dirty="0">
                <a:solidFill>
                  <a:srgbClr val="006699"/>
                </a:solidFill>
                <a:latin typeface="+mn-ea"/>
                <a:ea typeface="+mn-ea"/>
              </a:rPr>
              <a:t>control program </a:t>
            </a:r>
            <a:r>
              <a:rPr lang="en-US" altLang="en-US" dirty="0">
                <a:latin typeface="+mn-ea"/>
                <a:ea typeface="+mn-ea"/>
              </a:rPr>
              <a:t>making efficient use of HW and managing execution of user programs</a:t>
            </a:r>
          </a:p>
          <a:p>
            <a:pPr lvl="1">
              <a:spcBef>
                <a:spcPts val="0"/>
              </a:spcBef>
              <a:spcAft>
                <a:spcPts val="300"/>
              </a:spcAft>
            </a:pPr>
            <a:r>
              <a:rPr lang="en-US" altLang="en-US" sz="2000" dirty="0">
                <a:latin typeface="+mn-ea"/>
                <a:ea typeface="+mn-ea"/>
              </a:rPr>
              <a:t>Users of dedicate systems such as </a:t>
            </a:r>
            <a:r>
              <a:rPr lang="en-US" altLang="en-US" sz="2000" b="1" dirty="0">
                <a:solidFill>
                  <a:srgbClr val="006699"/>
                </a:solidFill>
                <a:latin typeface="+mn-ea"/>
                <a:ea typeface="+mn-ea"/>
              </a:rPr>
              <a:t>workstations</a:t>
            </a:r>
            <a:r>
              <a:rPr lang="en-US" altLang="en-US" sz="2000" dirty="0">
                <a:latin typeface="+mn-ea"/>
                <a:ea typeface="+mn-ea"/>
              </a:rPr>
              <a:t> have dedicated resources but frequently use shared resources from </a:t>
            </a:r>
            <a:r>
              <a:rPr lang="en-US" altLang="en-US" sz="2000" b="1" dirty="0">
                <a:solidFill>
                  <a:srgbClr val="006699"/>
                </a:solidFill>
                <a:latin typeface="+mn-ea"/>
                <a:ea typeface="+mn-ea"/>
              </a:rPr>
              <a:t>servers</a:t>
            </a:r>
          </a:p>
          <a:p>
            <a:pPr lvl="1">
              <a:spcBef>
                <a:spcPts val="0"/>
              </a:spcBef>
              <a:spcAft>
                <a:spcPts val="300"/>
              </a:spcAft>
            </a:pPr>
            <a:r>
              <a:rPr lang="en-US" altLang="en-US" sz="2000" dirty="0">
                <a:solidFill>
                  <a:srgbClr val="000000"/>
                </a:solidFill>
                <a:latin typeface="+mn-ea"/>
                <a:ea typeface="+mn-ea"/>
              </a:rPr>
              <a:t>Mobile devices like smartphones and tablets are resource poor,  optimized for usability and battery life</a:t>
            </a:r>
          </a:p>
          <a:p>
            <a:pPr lvl="2">
              <a:spcBef>
                <a:spcPts val="0"/>
              </a:spcBef>
              <a:spcAft>
                <a:spcPts val="300"/>
              </a:spcAft>
            </a:pPr>
            <a:r>
              <a:rPr lang="en-US" altLang="en-US" dirty="0">
                <a:solidFill>
                  <a:srgbClr val="000000"/>
                </a:solidFill>
                <a:latin typeface="+mn-ea"/>
                <a:ea typeface="+mn-ea"/>
              </a:rPr>
              <a:t>Mobile user interfaces such as touch screens, voice recognition</a:t>
            </a:r>
          </a:p>
          <a:p>
            <a:pPr lvl="1">
              <a:spcBef>
                <a:spcPts val="0"/>
              </a:spcBef>
              <a:spcAft>
                <a:spcPts val="300"/>
              </a:spcAft>
            </a:pPr>
            <a:r>
              <a:rPr lang="en-US" altLang="en-US" sz="2000" dirty="0">
                <a:solidFill>
                  <a:srgbClr val="000000"/>
                </a:solidFill>
                <a:latin typeface="+mn-ea"/>
                <a:ea typeface="+mn-ea"/>
              </a:rPr>
              <a:t>Some computers have little or no user interface, such as embedded computers in devices and automobiles</a:t>
            </a:r>
          </a:p>
          <a:p>
            <a:pPr lvl="2">
              <a:spcBef>
                <a:spcPts val="0"/>
              </a:spcBef>
              <a:spcAft>
                <a:spcPts val="300"/>
              </a:spcAft>
            </a:pPr>
            <a:r>
              <a:rPr lang="en-US" altLang="en-US" dirty="0">
                <a:solidFill>
                  <a:srgbClr val="000000"/>
                </a:solidFill>
                <a:latin typeface="+mn-ea"/>
                <a:ea typeface="+mn-ea"/>
              </a:rPr>
              <a:t>Run primarily without user intervention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839972" y="946296"/>
            <a:ext cx="7814932" cy="4965406"/>
          </a:xfrm>
        </p:spPr>
        <p:txBody>
          <a:bodyPr/>
          <a:lstStyle/>
          <a:p>
            <a:r>
              <a:rPr lang="en-US" altLang="en-US" sz="2000" dirty="0">
                <a:latin typeface="+mn-ea"/>
                <a:ea typeface="+mn-ea"/>
              </a:rPr>
              <a:t>No universally accepted definition</a:t>
            </a:r>
          </a:p>
          <a:p>
            <a:pPr lvl="1"/>
            <a:r>
              <a:rPr lang="en-US" altLang="ja-JP" sz="2000" dirty="0">
                <a:latin typeface="+mn-ea"/>
                <a:ea typeface="+mn-ea"/>
              </a:rPr>
              <a:t>Everything a vendor ships when you order an operating system is a good approximation, b</a:t>
            </a:r>
            <a:r>
              <a:rPr lang="en-US" altLang="en-US" sz="2000" dirty="0">
                <a:latin typeface="+mn-ea"/>
                <a:ea typeface="+mn-ea"/>
              </a:rPr>
              <a:t>ut varies wildly</a:t>
            </a:r>
          </a:p>
          <a:p>
            <a:r>
              <a:rPr lang="en-US" altLang="ja-JP" sz="2000" dirty="0">
                <a:latin typeface="+mn-ea"/>
                <a:ea typeface="+mn-ea"/>
              </a:rPr>
              <a:t>The one program running at all times on the computer is the </a:t>
            </a:r>
            <a:r>
              <a:rPr lang="en-US" altLang="ja-JP" sz="2000" b="1" dirty="0">
                <a:solidFill>
                  <a:srgbClr val="006699"/>
                </a:solidFill>
                <a:latin typeface="+mn-ea"/>
                <a:ea typeface="+mn-ea"/>
              </a:rPr>
              <a:t>kernel, </a:t>
            </a:r>
            <a:r>
              <a:rPr lang="en-US" altLang="ja-JP" sz="2000" dirty="0">
                <a:latin typeface="+mn-ea"/>
                <a:ea typeface="+mn-ea"/>
              </a:rPr>
              <a:t>part of the operating system</a:t>
            </a:r>
          </a:p>
          <a:p>
            <a:r>
              <a:rPr lang="en-US" altLang="ja-JP" sz="2000" dirty="0">
                <a:latin typeface="+mn-ea"/>
                <a:ea typeface="+mn-ea"/>
              </a:rPr>
              <a:t>Everything else is either</a:t>
            </a:r>
          </a:p>
          <a:p>
            <a:pPr lvl="1"/>
            <a:r>
              <a:rPr lang="en-US" altLang="ja-JP" sz="2000" dirty="0">
                <a:latin typeface="+mn-ea"/>
                <a:ea typeface="+mn-ea"/>
              </a:rPr>
              <a:t>A </a:t>
            </a:r>
            <a:r>
              <a:rPr lang="en-US" altLang="ja-JP" sz="2000" b="1" i="1" dirty="0">
                <a:solidFill>
                  <a:srgbClr val="006699"/>
                </a:solidFill>
                <a:latin typeface="+mn-ea"/>
                <a:ea typeface="+mn-ea"/>
              </a:rPr>
              <a:t>system program</a:t>
            </a:r>
            <a:r>
              <a:rPr lang="en-US" altLang="ja-JP" sz="2000" b="1" dirty="0">
                <a:solidFill>
                  <a:srgbClr val="3366FF"/>
                </a:solidFill>
                <a:latin typeface="+mn-ea"/>
                <a:ea typeface="+mn-ea"/>
              </a:rPr>
              <a:t> </a:t>
            </a:r>
            <a:r>
              <a:rPr lang="en-US" altLang="ja-JP" sz="2000" dirty="0">
                <a:latin typeface="+mn-ea"/>
                <a:ea typeface="+mn-ea"/>
              </a:rPr>
              <a:t>(ships with the operating system, but not part of the kernel) , or</a:t>
            </a:r>
          </a:p>
          <a:p>
            <a:pPr lvl="1"/>
            <a:r>
              <a:rPr lang="en-US" altLang="ja-JP" sz="2000" dirty="0">
                <a:latin typeface="+mn-ea"/>
                <a:ea typeface="+mn-ea"/>
              </a:rPr>
              <a:t>An </a:t>
            </a:r>
            <a:r>
              <a:rPr lang="en-US" altLang="ja-JP" sz="2000" b="1" i="1" dirty="0">
                <a:solidFill>
                  <a:srgbClr val="006699"/>
                </a:solidFill>
                <a:latin typeface="+mn-ea"/>
                <a:ea typeface="+mn-ea"/>
              </a:rPr>
              <a:t>application program</a:t>
            </a:r>
            <a:r>
              <a:rPr lang="en-US" altLang="ja-JP" sz="2000" dirty="0">
                <a:latin typeface="+mn-ea"/>
                <a:ea typeface="+mn-ea"/>
              </a:rPr>
              <a:t>, all programs not associated with the operating system</a:t>
            </a:r>
          </a:p>
          <a:p>
            <a:r>
              <a:rPr lang="en-US" altLang="en-US" sz="2000" dirty="0">
                <a:latin typeface="+mn-ea"/>
                <a:ea typeface="+mn-ea"/>
              </a:rPr>
              <a:t>Today’s OSes for general purpose and mobile computing also include </a:t>
            </a:r>
            <a:r>
              <a:rPr lang="en-US" altLang="en-US" sz="2000" b="1" i="1" dirty="0">
                <a:solidFill>
                  <a:srgbClr val="006699"/>
                </a:solidFill>
                <a:latin typeface="+mn-ea"/>
                <a:ea typeface="+mn-ea"/>
              </a:rPr>
              <a:t>middleware</a:t>
            </a:r>
            <a:r>
              <a:rPr lang="en-US" altLang="en-US" sz="2000" dirty="0">
                <a:latin typeface="+mn-ea"/>
                <a:ea typeface="+mn-ea"/>
              </a:rPr>
              <a:t> – a set of software frameworks that provide additional services to application developers such as databases, multimedia, graphics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031468"/>
            <a:ext cx="7837672" cy="1865312"/>
          </a:xfrm>
        </p:spPr>
        <p:txBody>
          <a:bodyPr/>
          <a:lstStyle/>
          <a:p>
            <a:r>
              <a:rPr lang="en-US" altLang="en-US" sz="2000" dirty="0">
                <a:latin typeface="+mn-ea"/>
                <a:ea typeface="+mn-ea"/>
              </a:rPr>
              <a:t>Computer-system operation</a:t>
            </a:r>
          </a:p>
          <a:p>
            <a:pPr lvl="1"/>
            <a:r>
              <a:rPr lang="en-US" altLang="en-US" sz="2000" dirty="0">
                <a:latin typeface="+mn-ea"/>
                <a:ea typeface="+mn-ea"/>
              </a:rPr>
              <a:t>One or more CPUs, device controllers connect through common </a:t>
            </a:r>
            <a:r>
              <a:rPr lang="en-US" altLang="en-US" sz="2000" b="1" dirty="0">
                <a:solidFill>
                  <a:srgbClr val="006699"/>
                </a:solidFill>
                <a:latin typeface="+mn-ea"/>
                <a:ea typeface="+mn-ea"/>
              </a:rPr>
              <a:t>bus</a:t>
            </a:r>
            <a:r>
              <a:rPr lang="en-US" altLang="en-US" sz="2000" dirty="0">
                <a:latin typeface="+mn-ea"/>
                <a:ea typeface="+mn-ea"/>
              </a:rPr>
              <a:t> providing access to shared memory</a:t>
            </a:r>
          </a:p>
          <a:p>
            <a:pPr lvl="1"/>
            <a:r>
              <a:rPr lang="en-US" altLang="en-US" sz="2000" dirty="0">
                <a:latin typeface="+mn-ea"/>
                <a:ea typeface="+mn-ea"/>
              </a:rPr>
              <a:t>Concurrent execution of CPUs and devices competing for memory cycles</a:t>
            </a:r>
          </a:p>
          <a:p>
            <a:pPr lvl="1"/>
            <a:endParaRPr lang="en-US" altLang="en-US" sz="2000" dirty="0">
              <a:latin typeface="+mn-ea"/>
              <a:ea typeface="+mn-ea"/>
            </a:endParaRPr>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026"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dirty="0"/>
              <a:t>Computer-System Operations</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600462" y="1208089"/>
            <a:ext cx="8176438" cy="4257046"/>
          </a:xfrm>
        </p:spPr>
        <p:txBody>
          <a:bodyPr/>
          <a:lstStyle/>
          <a:p>
            <a:r>
              <a:rPr lang="en-US" altLang="en-US" sz="2000" dirty="0">
                <a:latin typeface="+mn-ea"/>
                <a:ea typeface="+mn-ea"/>
              </a:rPr>
              <a:t>I/O devices and the CPU can execute concurrently</a:t>
            </a:r>
          </a:p>
          <a:p>
            <a:pPr lvl="1"/>
            <a:r>
              <a:rPr lang="en-US" altLang="en-US" sz="2000" dirty="0">
                <a:latin typeface="+mn-ea"/>
                <a:ea typeface="+mn-ea"/>
              </a:rPr>
              <a:t>Each device controller is in charge of a particular device type</a:t>
            </a:r>
          </a:p>
          <a:p>
            <a:pPr lvl="1"/>
            <a:r>
              <a:rPr lang="en-US" altLang="en-US" sz="2000" dirty="0">
                <a:latin typeface="+mn-ea"/>
                <a:ea typeface="+mn-ea"/>
              </a:rPr>
              <a:t>Each device controller has a local buffer</a:t>
            </a:r>
          </a:p>
          <a:p>
            <a:pPr lvl="1"/>
            <a:r>
              <a:rPr lang="en-US" altLang="en-US" sz="2000" dirty="0">
                <a:latin typeface="+mn-ea"/>
                <a:ea typeface="+mn-ea"/>
              </a:rPr>
              <a:t>Each device controller type has an operating system </a:t>
            </a:r>
            <a:r>
              <a:rPr lang="en-US" altLang="en-US" sz="2000" b="1" dirty="0">
                <a:solidFill>
                  <a:srgbClr val="006699"/>
                </a:solidFill>
                <a:latin typeface="+mn-ea"/>
                <a:ea typeface="+mn-ea"/>
              </a:rPr>
              <a:t>device driver</a:t>
            </a:r>
            <a:r>
              <a:rPr lang="en-US" altLang="en-US" sz="2000" dirty="0">
                <a:latin typeface="+mn-ea"/>
                <a:ea typeface="+mn-ea"/>
              </a:rPr>
              <a:t> to manage it</a:t>
            </a:r>
          </a:p>
          <a:p>
            <a:pPr lvl="1"/>
            <a:r>
              <a:rPr lang="en-US" altLang="en-US" sz="2000" dirty="0">
                <a:latin typeface="+mn-ea"/>
                <a:ea typeface="+mn-ea"/>
              </a:rPr>
              <a:t>CPU moves data from main memory to local buffers of device controllers and vice versa</a:t>
            </a:r>
          </a:p>
          <a:p>
            <a:pPr lvl="1"/>
            <a:r>
              <a:rPr lang="en-US" altLang="en-US" sz="2000" dirty="0">
                <a:latin typeface="+mn-ea"/>
                <a:ea typeface="+mn-ea"/>
              </a:rPr>
              <a:t>I/O is from the device to local buffer of controller</a:t>
            </a:r>
          </a:p>
          <a:p>
            <a:pPr lvl="1"/>
            <a:r>
              <a:rPr lang="en-US" altLang="en-US" sz="2000" dirty="0">
                <a:latin typeface="+mn-ea"/>
                <a:ea typeface="+mn-ea"/>
              </a:rPr>
              <a:t>Device controller informs CPU that it has finished its operation by causing an </a:t>
            </a:r>
            <a:r>
              <a:rPr lang="en-US" altLang="en-US" sz="2000" b="1" dirty="0">
                <a:solidFill>
                  <a:srgbClr val="006699"/>
                </a:solidFill>
                <a:latin typeface="+mn-ea"/>
                <a:ea typeface="+mn-ea"/>
              </a:rPr>
              <a:t>interrupt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1063625" y="215900"/>
            <a:ext cx="7515225" cy="533400"/>
          </a:xfrm>
        </p:spPr>
        <p:txBody>
          <a:bodyPr/>
          <a:lstStyle/>
          <a:p>
            <a:pPr eaLnBrk="1" hangingPunct="1"/>
            <a:r>
              <a:rPr lang="en-US" altLang="en-US" dirty="0"/>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06450" y="978302"/>
            <a:ext cx="7772400" cy="4736698"/>
          </a:xfrm>
        </p:spPr>
        <p:txBody>
          <a:bodyPr/>
          <a:lstStyle/>
          <a:p>
            <a:r>
              <a:rPr lang="en-US" altLang="en-US" sz="2000" dirty="0"/>
              <a:t>The operating system preserves the state of the CPU by storing the registers and the program counter</a:t>
            </a:r>
          </a:p>
          <a:p>
            <a:r>
              <a:rPr lang="en-US" altLang="en-US" sz="2000" dirty="0"/>
              <a:t>Determines which type of interrupt has occurred</a:t>
            </a:r>
          </a:p>
          <a:p>
            <a:r>
              <a:rPr lang="en-US" altLang="en-US" sz="2000" dirty="0"/>
              <a:t>Separate segments of code determine what action should be taken for each type of interrupt</a:t>
            </a:r>
          </a:p>
          <a:p>
            <a:r>
              <a:rPr lang="en-US" altLang="en-US" sz="2000" dirty="0">
                <a:latin typeface="+mn-ea"/>
              </a:rPr>
              <a:t>Interrupt transfers control to the interrupt service routine generally, through the </a:t>
            </a:r>
            <a:r>
              <a:rPr lang="en-US" altLang="en-US" sz="2000" b="1" dirty="0">
                <a:solidFill>
                  <a:srgbClr val="006699"/>
                </a:solidFill>
                <a:latin typeface="+mn-ea"/>
              </a:rPr>
              <a:t>interrupt vector</a:t>
            </a:r>
            <a:r>
              <a:rPr lang="en-US" altLang="en-US" sz="2000" dirty="0">
                <a:latin typeface="+mn-ea"/>
              </a:rPr>
              <a:t>, which contains the addresses of all the service routines</a:t>
            </a:r>
          </a:p>
          <a:p>
            <a:r>
              <a:rPr lang="en-US" altLang="en-US" sz="2000" dirty="0">
                <a:latin typeface="+mn-ea"/>
              </a:rPr>
              <a:t>Interrupt architecture must save the address of the interrupted instruction</a:t>
            </a:r>
            <a:endParaRPr lang="en-US" altLang="en-US" sz="2000" i="1" dirty="0">
              <a:latin typeface="+mn-ea"/>
            </a:endParaRPr>
          </a:p>
          <a:p>
            <a:r>
              <a:rPr lang="en-US" altLang="en-US" sz="2000" dirty="0">
                <a:latin typeface="+mn-ea"/>
              </a:rPr>
              <a:t>A </a:t>
            </a:r>
            <a:r>
              <a:rPr lang="en-US" altLang="en-US" sz="2000" b="1" dirty="0">
                <a:solidFill>
                  <a:srgbClr val="006699"/>
                </a:solidFill>
                <a:latin typeface="+mn-ea"/>
              </a:rPr>
              <a:t>trap</a:t>
            </a:r>
            <a:r>
              <a:rPr lang="en-US" altLang="en-US" sz="2000" dirty="0">
                <a:latin typeface="+mn-ea"/>
              </a:rPr>
              <a:t> or </a:t>
            </a:r>
            <a:r>
              <a:rPr lang="en-US" altLang="en-US" sz="2000" b="1" dirty="0">
                <a:solidFill>
                  <a:srgbClr val="006699"/>
                </a:solidFill>
                <a:latin typeface="+mn-ea"/>
              </a:rPr>
              <a:t>exception </a:t>
            </a:r>
            <a:r>
              <a:rPr lang="en-US" altLang="en-US" sz="2000" dirty="0">
                <a:latin typeface="+mn-ea"/>
              </a:rPr>
              <a:t>is a software-generated interrupt caused either by an error or a user request</a:t>
            </a:r>
          </a:p>
          <a:p>
            <a:r>
              <a:rPr lang="en-US" altLang="en-US" sz="2000" dirty="0">
                <a:latin typeface="+mn-ea"/>
              </a:rPr>
              <a:t>An operating system is </a:t>
            </a:r>
            <a:r>
              <a:rPr lang="en-US" altLang="en-US" sz="2000" b="1" dirty="0">
                <a:solidFill>
                  <a:srgbClr val="006699"/>
                </a:solidFill>
                <a:latin typeface="+mn-ea"/>
              </a:rPr>
              <a:t>interrupt driven</a:t>
            </a:r>
            <a:endParaRPr lang="en-US" alt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457200" y="214313"/>
            <a:ext cx="8116888" cy="576262"/>
          </a:xfrm>
        </p:spPr>
        <p:txBody>
          <a:bodyPr/>
          <a:lstStyle/>
          <a:p>
            <a:pPr eaLnBrk="1" hangingPunct="1"/>
            <a:r>
              <a:rPr lang="en-US" altLang="en-US" dirty="0"/>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117" y="925286"/>
            <a:ext cx="5632608" cy="5551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959143" y="1020724"/>
            <a:ext cx="7440575" cy="5146159"/>
          </a:xfrm>
        </p:spPr>
        <p:txBody>
          <a:bodyPr/>
          <a:lstStyle/>
          <a:p>
            <a:pPr>
              <a:lnSpc>
                <a:spcPct val="90000"/>
              </a:lnSpc>
            </a:pPr>
            <a:r>
              <a:rPr lang="en-US" altLang="en-US" sz="2200" dirty="0"/>
              <a:t>Two methods for I/O handling</a:t>
            </a:r>
          </a:p>
          <a:p>
            <a:pPr lvl="1">
              <a:lnSpc>
                <a:spcPct val="90000"/>
              </a:lnSpc>
            </a:pPr>
            <a:r>
              <a:rPr lang="en-US" altLang="en-US" sz="2000" dirty="0">
                <a:latin typeface="+mn-ea"/>
                <a:ea typeface="+mn-ea"/>
              </a:rPr>
              <a:t>Synchronous - After I/O starts, control returns to user program only upon I/O completion</a:t>
            </a:r>
          </a:p>
          <a:p>
            <a:pPr lvl="2">
              <a:lnSpc>
                <a:spcPct val="90000"/>
              </a:lnSpc>
            </a:pPr>
            <a:r>
              <a:rPr lang="en-US" altLang="en-US" dirty="0">
                <a:latin typeface="+mn-ea"/>
                <a:ea typeface="+mn-ea"/>
              </a:rPr>
              <a:t>Wait instruction idles the CPU until the next interrupt</a:t>
            </a:r>
          </a:p>
          <a:p>
            <a:pPr lvl="2">
              <a:lnSpc>
                <a:spcPct val="90000"/>
              </a:lnSpc>
            </a:pPr>
            <a:r>
              <a:rPr lang="en-US" altLang="en-US" dirty="0">
                <a:latin typeface="+mn-ea"/>
                <a:ea typeface="+mn-ea"/>
              </a:rPr>
              <a:t>Wait loop (contention for memory access)</a:t>
            </a:r>
          </a:p>
          <a:p>
            <a:pPr lvl="2">
              <a:lnSpc>
                <a:spcPct val="90000"/>
              </a:lnSpc>
            </a:pPr>
            <a:r>
              <a:rPr lang="en-US" altLang="en-US" dirty="0">
                <a:latin typeface="+mn-ea"/>
                <a:ea typeface="+mn-ea"/>
              </a:rPr>
              <a:t>At most one I/O request is outstanding at a time, no simultaneous I/O processing</a:t>
            </a:r>
          </a:p>
          <a:p>
            <a:pPr lvl="1">
              <a:lnSpc>
                <a:spcPct val="90000"/>
              </a:lnSpc>
            </a:pPr>
            <a:r>
              <a:rPr lang="en-US" altLang="en-US" sz="2000" dirty="0">
                <a:latin typeface="+mn-ea"/>
                <a:ea typeface="+mn-ea"/>
              </a:rPr>
              <a:t>Asynchronous - After I/O starts, control returns to user program without waiting for I/O completion</a:t>
            </a:r>
          </a:p>
          <a:p>
            <a:pPr lvl="2">
              <a:lnSpc>
                <a:spcPct val="90000"/>
              </a:lnSpc>
            </a:pPr>
            <a:r>
              <a:rPr lang="en-US" altLang="en-US" b="1" dirty="0">
                <a:solidFill>
                  <a:srgbClr val="006699"/>
                </a:solidFill>
                <a:latin typeface="+mn-ea"/>
                <a:ea typeface="+mn-ea"/>
              </a:rPr>
              <a:t>System call </a:t>
            </a:r>
            <a:r>
              <a:rPr lang="en-US" altLang="en-US" dirty="0">
                <a:latin typeface="+mn-ea"/>
                <a:ea typeface="+mn-ea"/>
              </a:rPr>
              <a:t>– request to the OS to allow user to wait for I/O completion</a:t>
            </a:r>
          </a:p>
          <a:p>
            <a:pPr lvl="2">
              <a:lnSpc>
                <a:spcPct val="90000"/>
              </a:lnSpc>
            </a:pPr>
            <a:r>
              <a:rPr lang="en-US" altLang="en-US" b="1" dirty="0">
                <a:solidFill>
                  <a:srgbClr val="006699"/>
                </a:solidFill>
                <a:latin typeface="+mn-ea"/>
                <a:ea typeface="+mn-ea"/>
              </a:rPr>
              <a:t>Device-status table </a:t>
            </a:r>
            <a:r>
              <a:rPr lang="en-US" altLang="en-US" dirty="0">
                <a:latin typeface="+mn-ea"/>
                <a:ea typeface="+mn-ea"/>
              </a:rPr>
              <a:t>contains entry for each I/O device indicating its type, address, and state</a:t>
            </a:r>
          </a:p>
          <a:p>
            <a:pPr lvl="2">
              <a:lnSpc>
                <a:spcPct val="90000"/>
              </a:lnSpc>
            </a:pPr>
            <a:r>
              <a:rPr lang="en-US" altLang="en-US" dirty="0">
                <a:latin typeface="+mn-ea"/>
                <a:ea typeface="+mn-ea"/>
              </a:rPr>
              <a:t>OS indexes into I/O device table to determine device status and to modify table entry to include interrupt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dirty="0"/>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723017" y="988933"/>
            <a:ext cx="7880571" cy="3508639"/>
          </a:xfrm>
        </p:spPr>
        <p:txBody>
          <a:bodyPr/>
          <a:lstStyle/>
          <a:p>
            <a:r>
              <a:rPr lang="en-US" altLang="zh-CN" sz="2000" b="1" dirty="0">
                <a:solidFill>
                  <a:srgbClr val="0070C0"/>
                </a:solidFill>
                <a:latin typeface="+mn-ea"/>
                <a:ea typeface="+mn-ea"/>
              </a:rPr>
              <a:t>Bootstrap loader </a:t>
            </a:r>
            <a:r>
              <a:rPr lang="en-US" altLang="zh-CN" sz="2000" dirty="0">
                <a:latin typeface="+mn-ea"/>
                <a:ea typeface="+mn-ea"/>
              </a:rPr>
              <a:t>- A small program that places the operating system of a computer into memory</a:t>
            </a:r>
          </a:p>
          <a:p>
            <a:pPr lvl="1"/>
            <a:r>
              <a:rPr lang="en-US" altLang="en-US" dirty="0">
                <a:latin typeface="+mn-ea"/>
                <a:ea typeface="+mn-ea"/>
              </a:rPr>
              <a:t>Typically stored in ROM or EPROM, generally known as </a:t>
            </a:r>
            <a:r>
              <a:rPr lang="en-US" altLang="en-US" b="1" dirty="0">
                <a:solidFill>
                  <a:srgbClr val="006699"/>
                </a:solidFill>
                <a:latin typeface="+mn-ea"/>
                <a:ea typeface="+mn-ea"/>
              </a:rPr>
              <a:t>firmware</a:t>
            </a:r>
          </a:p>
          <a:p>
            <a:pPr lvl="1"/>
            <a:r>
              <a:rPr lang="en-US" altLang="zh-CN" dirty="0">
                <a:latin typeface="+mn-ea"/>
                <a:ea typeface="+mn-ea"/>
              </a:rPr>
              <a:t>When a computer powers up or restarts, the BIOS performs some initial tests and then transfers control to the master book record, where the bootstrap loader resides </a:t>
            </a:r>
          </a:p>
          <a:p>
            <a:pPr lvl="3">
              <a:buClr>
                <a:srgbClr val="FF0000"/>
              </a:buClr>
            </a:pPr>
            <a:r>
              <a:rPr lang="en-US" altLang="en-US" dirty="0">
                <a:latin typeface="+mn-ea"/>
                <a:ea typeface="+mn-ea"/>
              </a:rPr>
              <a:t>Initialize all aspects of a system</a:t>
            </a:r>
          </a:p>
          <a:p>
            <a:pPr lvl="3">
              <a:buClr>
                <a:srgbClr val="FF0000"/>
              </a:buClr>
            </a:pPr>
            <a:r>
              <a:rPr lang="en-US" altLang="en-US" dirty="0">
                <a:latin typeface="+mn-ea"/>
                <a:ea typeface="+mn-ea"/>
              </a:rPr>
              <a:t>Load operating system kernel and starts execution </a:t>
            </a:r>
          </a:p>
          <a:p>
            <a:pPr lvl="1"/>
            <a:r>
              <a:rPr lang="en-US" altLang="zh-CN" dirty="0">
                <a:latin typeface="+mn-ea"/>
                <a:ea typeface="+mn-ea"/>
              </a:rPr>
              <a:t>Most new computers ship with boot loaders for some version of Windows or macOS</a:t>
            </a:r>
            <a:endParaRPr lang="en-US" altLang="zh-CN" b="1" dirty="0">
              <a:latin typeface="+mn-ea"/>
              <a:ea typeface="+mn-ea"/>
            </a:endParaRPr>
          </a:p>
        </p:txBody>
      </p:sp>
    </p:spTree>
    <p:extLst>
      <p:ext uri="{BB962C8B-B14F-4D97-AF65-F5344CB8AC3E}">
        <p14:creationId xmlns:p14="http://schemas.microsoft.com/office/powerpoint/2010/main" val="2890568288"/>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(1)</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7" y="1143002"/>
            <a:ext cx="7735887" cy="3418365"/>
          </a:xfrm>
        </p:spPr>
        <p:txBody>
          <a:bodyPr/>
          <a:lstStyle/>
          <a:p>
            <a:r>
              <a:rPr lang="en-US" altLang="en-US" sz="2000" dirty="0">
                <a:latin typeface="+mn-ea"/>
                <a:ea typeface="+mn-ea"/>
              </a:rPr>
              <a:t>Main memory – only large storage media that the CPU can access directly</a:t>
            </a:r>
          </a:p>
          <a:p>
            <a:pPr lvl="1"/>
            <a:r>
              <a:rPr lang="en-US" altLang="en-US" sz="2000" b="1" dirty="0">
                <a:solidFill>
                  <a:srgbClr val="006699"/>
                </a:solidFill>
                <a:latin typeface="+mn-ea"/>
                <a:ea typeface="+mn-ea"/>
              </a:rPr>
              <a:t>Random access</a:t>
            </a:r>
          </a:p>
          <a:p>
            <a:pPr lvl="1"/>
            <a:r>
              <a:rPr lang="en-US" altLang="en-US" sz="2000" b="1" dirty="0">
                <a:solidFill>
                  <a:srgbClr val="006699"/>
                </a:solidFill>
                <a:latin typeface="+mn-ea"/>
                <a:ea typeface="+mn-ea"/>
              </a:rPr>
              <a:t>Volatile</a:t>
            </a:r>
          </a:p>
          <a:p>
            <a:pPr lvl="1"/>
            <a:r>
              <a:rPr lang="en-US" altLang="en-US" sz="2000" dirty="0">
                <a:latin typeface="+mn-ea"/>
                <a:ea typeface="+mn-ea"/>
              </a:rPr>
              <a:t>In the form of </a:t>
            </a:r>
            <a:r>
              <a:rPr lang="en-US" altLang="en-US" sz="2000" b="1" dirty="0">
                <a:solidFill>
                  <a:srgbClr val="006699"/>
                </a:solidFill>
                <a:latin typeface="+mn-ea"/>
                <a:ea typeface="+mn-ea"/>
              </a:rPr>
              <a:t>Dynamic Random-Access Memory (DRAM)</a:t>
            </a:r>
          </a:p>
          <a:p>
            <a:r>
              <a:rPr lang="en-US" altLang="en-US" sz="2000" dirty="0">
                <a:latin typeface="+mn-ea"/>
                <a:ea typeface="+mn-ea"/>
              </a:rPr>
              <a:t>Secondary storage – extension of main memory that provides large </a:t>
            </a:r>
            <a:r>
              <a:rPr lang="en-US" altLang="en-US" sz="2000" b="1" dirty="0">
                <a:solidFill>
                  <a:srgbClr val="006699"/>
                </a:solidFill>
                <a:latin typeface="+mn-ea"/>
                <a:ea typeface="+mn-ea"/>
              </a:rPr>
              <a:t>nonvolatile </a:t>
            </a:r>
            <a:r>
              <a:rPr lang="en-US" altLang="en-US" sz="2000" dirty="0">
                <a:latin typeface="+mn-ea"/>
                <a:ea typeface="+mn-ea"/>
              </a:rPr>
              <a:t>storage capacity</a:t>
            </a:r>
          </a:p>
        </p:txBody>
      </p:sp>
    </p:spTree>
    <p:extLst>
      <p:ext uri="{BB962C8B-B14F-4D97-AF65-F5344CB8AC3E}">
        <p14:creationId xmlns:p14="http://schemas.microsoft.com/office/powerpoint/2010/main" val="1975106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(2)</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63599" y="1099455"/>
            <a:ext cx="7673975" cy="4092305"/>
          </a:xfrm>
        </p:spPr>
        <p:txBody>
          <a:bodyPr/>
          <a:lstStyle/>
          <a:p>
            <a:r>
              <a:rPr lang="en-US" altLang="en-US" sz="2000" b="1" dirty="0">
                <a:solidFill>
                  <a:srgbClr val="006699"/>
                </a:solidFill>
                <a:latin typeface="+mn-ea"/>
                <a:ea typeface="+mn-ea"/>
              </a:rPr>
              <a:t>Hard Disk Drives </a:t>
            </a:r>
            <a:r>
              <a:rPr lang="en-US" altLang="en-US" sz="2000" dirty="0">
                <a:latin typeface="+mn-ea"/>
                <a:ea typeface="+mn-ea"/>
              </a:rPr>
              <a:t>(</a:t>
            </a:r>
            <a:r>
              <a:rPr lang="en-US" altLang="en-US" sz="2000" b="1" dirty="0">
                <a:solidFill>
                  <a:srgbClr val="006699"/>
                </a:solidFill>
                <a:latin typeface="+mn-ea"/>
                <a:ea typeface="+mn-ea"/>
              </a:rPr>
              <a:t>HDD</a:t>
            </a:r>
            <a:r>
              <a:rPr lang="en-US" altLang="en-US" sz="2000" dirty="0">
                <a:latin typeface="+mn-ea"/>
                <a:ea typeface="+mn-ea"/>
              </a:rPr>
              <a:t>) – rigid metal or glass platters covered with magnetic recording material </a:t>
            </a:r>
          </a:p>
          <a:p>
            <a:pPr lvl="1"/>
            <a:r>
              <a:rPr lang="en-US" altLang="en-US" sz="2000" dirty="0">
                <a:latin typeface="+mn-ea"/>
                <a:ea typeface="+mn-ea"/>
              </a:rPr>
              <a:t>Disk surface is logically divided into</a:t>
            </a:r>
            <a:r>
              <a:rPr lang="en-US" altLang="en-US" sz="2000" b="1" dirty="0">
                <a:solidFill>
                  <a:srgbClr val="006699"/>
                </a:solidFill>
                <a:latin typeface="+mn-ea"/>
                <a:ea typeface="+mn-ea"/>
              </a:rPr>
              <a:t> tracks</a:t>
            </a:r>
            <a:r>
              <a:rPr lang="en-US" altLang="en-US" sz="2000" dirty="0">
                <a:latin typeface="+mn-ea"/>
                <a:ea typeface="+mn-ea"/>
              </a:rPr>
              <a:t>, which are subdivided into </a:t>
            </a:r>
            <a:r>
              <a:rPr lang="en-US" altLang="en-US" sz="2000" b="1" dirty="0">
                <a:solidFill>
                  <a:srgbClr val="006699"/>
                </a:solidFill>
                <a:latin typeface="+mn-ea"/>
                <a:ea typeface="+mn-ea"/>
              </a:rPr>
              <a:t>sectors</a:t>
            </a:r>
          </a:p>
          <a:p>
            <a:pPr lvl="1"/>
            <a:r>
              <a:rPr lang="en-US" altLang="en-US" sz="2000" dirty="0">
                <a:latin typeface="+mn-ea"/>
                <a:ea typeface="+mn-ea"/>
              </a:rPr>
              <a:t>The </a:t>
            </a:r>
            <a:r>
              <a:rPr lang="en-US" altLang="en-US" sz="2000" b="1" dirty="0">
                <a:solidFill>
                  <a:srgbClr val="006699"/>
                </a:solidFill>
                <a:latin typeface="+mn-ea"/>
                <a:ea typeface="+mn-ea"/>
              </a:rPr>
              <a:t>disk controller </a:t>
            </a:r>
            <a:r>
              <a:rPr lang="en-US" altLang="en-US" sz="2000" dirty="0">
                <a:latin typeface="+mn-ea"/>
                <a:ea typeface="+mn-ea"/>
              </a:rPr>
              <a:t>determines the logical interaction between the device and the computer </a:t>
            </a:r>
          </a:p>
          <a:p>
            <a:r>
              <a:rPr lang="en-US" altLang="en-US" sz="2000" b="1" dirty="0">
                <a:solidFill>
                  <a:srgbClr val="006699"/>
                </a:solidFill>
                <a:latin typeface="+mn-ea"/>
                <a:ea typeface="+mn-ea"/>
              </a:rPr>
              <a:t>Non-volatile memory</a:t>
            </a:r>
            <a:r>
              <a:rPr lang="en-US" altLang="en-US" sz="2000" dirty="0">
                <a:latin typeface="+mn-ea"/>
                <a:ea typeface="+mn-ea"/>
              </a:rPr>
              <a:t> (</a:t>
            </a:r>
            <a:r>
              <a:rPr lang="en-US" altLang="en-US" sz="2000" b="1" dirty="0">
                <a:solidFill>
                  <a:srgbClr val="006699"/>
                </a:solidFill>
                <a:latin typeface="+mn-ea"/>
                <a:ea typeface="+mn-ea"/>
              </a:rPr>
              <a:t>NVM</a:t>
            </a:r>
            <a:r>
              <a:rPr lang="en-US" altLang="en-US" sz="2000" dirty="0">
                <a:latin typeface="+mn-ea"/>
                <a:ea typeface="+mn-ea"/>
              </a:rPr>
              <a:t>)</a:t>
            </a:r>
            <a:r>
              <a:rPr lang="en-US" altLang="en-US" sz="2000" b="1" dirty="0">
                <a:solidFill>
                  <a:srgbClr val="006699"/>
                </a:solidFill>
                <a:latin typeface="+mn-ea"/>
                <a:ea typeface="+mn-ea"/>
              </a:rPr>
              <a:t> </a:t>
            </a:r>
            <a:r>
              <a:rPr lang="en-US" altLang="en-US" sz="2000" dirty="0">
                <a:latin typeface="+mn-ea"/>
                <a:ea typeface="+mn-ea"/>
              </a:rPr>
              <a:t>devices– faster than hard disks, nonvolatile</a:t>
            </a:r>
          </a:p>
          <a:p>
            <a:pPr lvl="1"/>
            <a:r>
              <a:rPr lang="en-US" altLang="en-US" sz="2000" dirty="0">
                <a:latin typeface="+mn-ea"/>
                <a:ea typeface="+mn-ea"/>
              </a:rPr>
              <a:t>Various technologies</a:t>
            </a:r>
          </a:p>
          <a:p>
            <a:pPr lvl="1"/>
            <a:r>
              <a:rPr lang="en-US" altLang="en-US" sz="2000" dirty="0">
                <a:latin typeface="+mn-ea"/>
                <a:ea typeface="+mn-ea"/>
              </a:rPr>
              <a:t>Become more popular as capacity and performance increases, price drops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947738" y="203200"/>
            <a:ext cx="7851775" cy="576263"/>
          </a:xfrm>
        </p:spPr>
        <p:txBody>
          <a:bodyPr/>
          <a:lstStyle/>
          <a:p>
            <a:r>
              <a:rPr lang="en-US" altLang="en-US" sz="3000"/>
              <a:t>Storage Definitions and Notation Review</a:t>
            </a:r>
          </a:p>
        </p:txBody>
      </p:sp>
      <p:sp>
        <p:nvSpPr>
          <p:cNvPr id="2" name="Rectangle 1">
            <a:extLst>
              <a:ext uri="{FF2B5EF4-FFF2-40B4-BE49-F238E27FC236}">
                <a16:creationId xmlns:a16="http://schemas.microsoft.com/office/drawing/2014/main" id="{00AC8D8D-292B-2943-B449-B924F9BB88F3}"/>
              </a:ext>
            </a:extLst>
          </p:cNvPr>
          <p:cNvSpPr/>
          <p:nvPr/>
        </p:nvSpPr>
        <p:spPr bwMode="auto">
          <a:xfrm>
            <a:off x="806755" y="896422"/>
            <a:ext cx="7530489" cy="534489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lgn="just">
              <a:defRPr/>
            </a:pPr>
            <a:r>
              <a:rPr lang="en-US" sz="1700" b="1" dirty="0">
                <a:latin typeface="Times New Roman" panose="02020603050405020304" pitchFamily="18" charset="0"/>
                <a:ea typeface="+mn-ea"/>
                <a:cs typeface="Times New Roman" panose="02020603050405020304" pitchFamily="18" charset="0"/>
              </a:rPr>
              <a:t>The basic unit of computer storage is the </a:t>
            </a:r>
            <a:r>
              <a:rPr kumimoji="1" lang="en-US" sz="1700" b="1" dirty="0">
                <a:solidFill>
                  <a:srgbClr val="FF0000"/>
                </a:solidFill>
                <a:latin typeface="Times New Roman" panose="02020603050405020304" pitchFamily="18" charset="0"/>
                <a:ea typeface="+mn-ea"/>
                <a:cs typeface="Times New Roman" panose="02020603050405020304" pitchFamily="18" charset="0"/>
              </a:rPr>
              <a:t>bit</a:t>
            </a:r>
            <a:r>
              <a:rPr lang="en-US" sz="1700" b="1" dirty="0">
                <a:latin typeface="Times New Roman" panose="02020603050405020304" pitchFamily="18" charset="0"/>
                <a:ea typeface="+mn-ea"/>
                <a:cs typeface="Times New Roman" panose="02020603050405020304" pitchFamily="18" charset="0"/>
              </a:rPr>
              <a:t>. A bit can contain one of two </a:t>
            </a:r>
          </a:p>
          <a:p>
            <a:pPr algn="just">
              <a:defRPr/>
            </a:pPr>
            <a:r>
              <a:rPr lang="en-US" sz="1700" b="1" dirty="0">
                <a:latin typeface="Times New Roman" panose="02020603050405020304" pitchFamily="18" charset="0"/>
                <a:ea typeface="+mn-ea"/>
                <a:cs typeface="Times New Roman" panose="02020603050405020304" pitchFamily="18" charset="0"/>
              </a:rPr>
              <a:t>values, 0 and 1. All other storage in a computer is based on collections of bits.</a:t>
            </a:r>
          </a:p>
          <a:p>
            <a:pPr algn="just">
              <a:defRPr/>
            </a:pPr>
            <a:r>
              <a:rPr lang="en-US" sz="1700" b="1" dirty="0">
                <a:latin typeface="Times New Roman" panose="02020603050405020304" pitchFamily="18" charset="0"/>
                <a:ea typeface="+mn-ea"/>
                <a:cs typeface="Times New Roman" panose="02020603050405020304" pitchFamily="18" charset="0"/>
              </a:rPr>
              <a:t>Given enough bits, it is amazing how many things a computer can represent:</a:t>
            </a:r>
          </a:p>
          <a:p>
            <a:pPr algn="just">
              <a:defRPr/>
            </a:pPr>
            <a:r>
              <a:rPr lang="en-US" sz="1700" b="1" dirty="0">
                <a:latin typeface="Times New Roman" panose="02020603050405020304" pitchFamily="18" charset="0"/>
                <a:ea typeface="+mn-ea"/>
                <a:cs typeface="Times New Roman" panose="02020603050405020304" pitchFamily="18" charset="0"/>
              </a:rPr>
              <a:t>numbers, letters, images, movies, sounds, documents, and programs, to name</a:t>
            </a:r>
          </a:p>
          <a:p>
            <a:pPr algn="just">
              <a:defRPr/>
            </a:pPr>
            <a:r>
              <a:rPr lang="en-US" sz="1700" b="1" dirty="0">
                <a:latin typeface="Times New Roman" panose="02020603050405020304" pitchFamily="18" charset="0"/>
                <a:ea typeface="+mn-ea"/>
                <a:cs typeface="Times New Roman" panose="02020603050405020304" pitchFamily="18" charset="0"/>
              </a:rPr>
              <a:t>a few. A </a:t>
            </a:r>
            <a:r>
              <a:rPr kumimoji="1" lang="en-US" sz="1700" b="1" dirty="0">
                <a:solidFill>
                  <a:srgbClr val="FF0000"/>
                </a:solidFill>
                <a:latin typeface="Times New Roman" panose="02020603050405020304" pitchFamily="18" charset="0"/>
                <a:ea typeface="+mn-ea"/>
                <a:cs typeface="Times New Roman" panose="02020603050405020304" pitchFamily="18" charset="0"/>
              </a:rPr>
              <a:t>byte</a:t>
            </a:r>
            <a:r>
              <a:rPr lang="en-US" sz="1700" b="1" dirty="0">
                <a:latin typeface="Times New Roman" panose="02020603050405020304" pitchFamily="18" charset="0"/>
                <a:ea typeface="+mn-ea"/>
                <a:cs typeface="Times New Roman" panose="02020603050405020304" pitchFamily="18" charset="0"/>
              </a:rPr>
              <a:t> is 8 bits, and on most computers it is the smallest convenient</a:t>
            </a:r>
          </a:p>
          <a:p>
            <a:pPr algn="just">
              <a:defRPr/>
            </a:pPr>
            <a:r>
              <a:rPr lang="en-US" sz="1700" b="1" dirty="0">
                <a:latin typeface="Times New Roman" panose="02020603050405020304" pitchFamily="18" charset="0"/>
                <a:ea typeface="+mn-ea"/>
                <a:cs typeface="Times New Roman" panose="02020603050405020304" pitchFamily="18" charset="0"/>
              </a:rPr>
              <a:t>chunk of storage. For example, most computers don’t have an instruction to</a:t>
            </a:r>
          </a:p>
          <a:p>
            <a:pPr algn="just">
              <a:defRPr/>
            </a:pPr>
            <a:r>
              <a:rPr lang="en-US" sz="1700" b="1" dirty="0">
                <a:latin typeface="Times New Roman" panose="02020603050405020304" pitchFamily="18" charset="0"/>
                <a:ea typeface="+mn-ea"/>
                <a:cs typeface="Times New Roman" panose="02020603050405020304" pitchFamily="18" charset="0"/>
              </a:rPr>
              <a:t>move a bit but do have one to move a byte. A less common term is </a:t>
            </a:r>
            <a:r>
              <a:rPr kumimoji="1" lang="en-US" sz="1700" b="1" dirty="0">
                <a:solidFill>
                  <a:srgbClr val="FF0000"/>
                </a:solidFill>
                <a:latin typeface="Times New Roman" panose="02020603050405020304" pitchFamily="18" charset="0"/>
                <a:ea typeface="+mn-ea"/>
                <a:cs typeface="Times New Roman" panose="02020603050405020304" pitchFamily="18" charset="0"/>
              </a:rPr>
              <a:t>word</a:t>
            </a:r>
            <a:r>
              <a:rPr lang="en-US" sz="1700" b="1" dirty="0">
                <a:latin typeface="Times New Roman" panose="02020603050405020304" pitchFamily="18" charset="0"/>
                <a:ea typeface="+mn-ea"/>
                <a:cs typeface="Times New Roman" panose="02020603050405020304" pitchFamily="18" charset="0"/>
              </a:rPr>
              <a:t>,</a:t>
            </a:r>
          </a:p>
          <a:p>
            <a:pPr algn="just">
              <a:defRPr/>
            </a:pPr>
            <a:r>
              <a:rPr lang="en-US" sz="1700" b="1" dirty="0">
                <a:latin typeface="Times New Roman" panose="02020603050405020304" pitchFamily="18" charset="0"/>
                <a:ea typeface="+mn-ea"/>
                <a:cs typeface="Times New Roman" panose="02020603050405020304" pitchFamily="18" charset="0"/>
              </a:rPr>
              <a:t>which is a given computer architecture’s native unit of data. A word is made</a:t>
            </a:r>
          </a:p>
          <a:p>
            <a:pPr algn="just">
              <a:defRPr/>
            </a:pPr>
            <a:r>
              <a:rPr lang="en-US" sz="1700" b="1" dirty="0">
                <a:latin typeface="Times New Roman" panose="02020603050405020304" pitchFamily="18" charset="0"/>
                <a:ea typeface="+mn-ea"/>
                <a:cs typeface="Times New Roman" panose="02020603050405020304" pitchFamily="18" charset="0"/>
              </a:rPr>
              <a:t>up of one or more bytes. For example, a computer that has 64-bit registers and</a:t>
            </a:r>
          </a:p>
          <a:p>
            <a:pPr algn="just">
              <a:defRPr/>
            </a:pPr>
            <a:r>
              <a:rPr lang="en-US" sz="1700" b="1" dirty="0">
                <a:latin typeface="Times New Roman" panose="02020603050405020304" pitchFamily="18" charset="0"/>
                <a:ea typeface="+mn-ea"/>
                <a:cs typeface="Times New Roman" panose="02020603050405020304" pitchFamily="18" charset="0"/>
              </a:rPr>
              <a:t>64-bit memory addressing typically has 64-bit (8-byte) words. A computer</a:t>
            </a:r>
          </a:p>
          <a:p>
            <a:pPr algn="just">
              <a:defRPr/>
            </a:pPr>
            <a:r>
              <a:rPr lang="en-US" sz="1700" b="1" dirty="0">
                <a:latin typeface="Times New Roman" panose="02020603050405020304" pitchFamily="18" charset="0"/>
                <a:ea typeface="+mn-ea"/>
                <a:cs typeface="Times New Roman" panose="02020603050405020304" pitchFamily="18" charset="0"/>
              </a:rPr>
              <a:t>executes many operations in its native word size rather than a byte at a time.</a:t>
            </a:r>
          </a:p>
          <a:p>
            <a:pPr algn="just">
              <a:defRPr/>
            </a:pPr>
            <a:endParaRPr lang="en-US" sz="1700" b="1" dirty="0">
              <a:latin typeface="Times New Roman" panose="02020603050405020304" pitchFamily="18" charset="0"/>
              <a:ea typeface="+mn-ea"/>
              <a:cs typeface="Times New Roman" panose="02020603050405020304" pitchFamily="18" charset="0"/>
            </a:endParaRPr>
          </a:p>
          <a:p>
            <a:pPr algn="just">
              <a:defRPr/>
            </a:pPr>
            <a:r>
              <a:rPr lang="en-US" sz="1700" b="1" dirty="0">
                <a:latin typeface="Times New Roman" panose="02020603050405020304" pitchFamily="18" charset="0"/>
                <a:ea typeface="+mn-ea"/>
                <a:cs typeface="Times New Roman" panose="02020603050405020304" pitchFamily="18" charset="0"/>
              </a:rPr>
              <a:t>Computer storage, along with most computer throughput, is generally</a:t>
            </a:r>
          </a:p>
          <a:p>
            <a:pPr algn="just">
              <a:defRPr/>
            </a:pPr>
            <a:r>
              <a:rPr lang="en-US" sz="1700" b="1" dirty="0">
                <a:latin typeface="Times New Roman" panose="02020603050405020304" pitchFamily="18" charset="0"/>
                <a:ea typeface="+mn-ea"/>
                <a:cs typeface="Times New Roman" panose="02020603050405020304" pitchFamily="18" charset="0"/>
              </a:rPr>
              <a:t>measured and manipulated in bytes and collections of bytes. A </a:t>
            </a:r>
            <a:r>
              <a:rPr kumimoji="1" lang="en-US" sz="1700" b="1" dirty="0">
                <a:solidFill>
                  <a:srgbClr val="FF0000"/>
                </a:solidFill>
                <a:latin typeface="Times New Roman" panose="02020603050405020304" pitchFamily="18" charset="0"/>
                <a:ea typeface="+mn-ea"/>
                <a:cs typeface="Times New Roman" panose="02020603050405020304" pitchFamily="18" charset="0"/>
              </a:rPr>
              <a:t>kilobyte</a:t>
            </a:r>
            <a:r>
              <a:rPr lang="en-US" sz="1700" b="1" dirty="0">
                <a:latin typeface="Times New Roman" panose="02020603050405020304" pitchFamily="18" charset="0"/>
                <a:ea typeface="+mn-ea"/>
                <a:cs typeface="Times New Roman" panose="02020603050405020304" pitchFamily="18" charset="0"/>
              </a:rPr>
              <a:t>, or</a:t>
            </a:r>
          </a:p>
          <a:p>
            <a:pPr algn="just">
              <a:defRPr/>
            </a:pPr>
            <a:r>
              <a:rPr lang="en-US" sz="1700" b="1" dirty="0">
                <a:latin typeface="Times New Roman" panose="02020603050405020304" pitchFamily="18" charset="0"/>
                <a:ea typeface="+mn-ea"/>
                <a:cs typeface="Times New Roman" panose="02020603050405020304" pitchFamily="18" charset="0"/>
              </a:rPr>
              <a:t>KB , is 1,024 bytes; a </a:t>
            </a:r>
            <a:r>
              <a:rPr kumimoji="1" lang="en-US" sz="1700" b="1" dirty="0">
                <a:solidFill>
                  <a:srgbClr val="FF0000"/>
                </a:solidFill>
                <a:latin typeface="Times New Roman" panose="02020603050405020304" pitchFamily="18" charset="0"/>
                <a:ea typeface="+mn-ea"/>
                <a:cs typeface="Times New Roman" panose="02020603050405020304" pitchFamily="18" charset="0"/>
              </a:rPr>
              <a:t>megabyte</a:t>
            </a:r>
            <a:r>
              <a:rPr lang="en-US" sz="1700" b="1" dirty="0">
                <a:latin typeface="Times New Roman" panose="02020603050405020304" pitchFamily="18" charset="0"/>
                <a:ea typeface="+mn-ea"/>
                <a:cs typeface="Times New Roman" panose="02020603050405020304" pitchFamily="18" charset="0"/>
              </a:rPr>
              <a:t>, or </a:t>
            </a:r>
            <a:r>
              <a:rPr kumimoji="1" lang="en-US" sz="1700" b="1" dirty="0">
                <a:solidFill>
                  <a:srgbClr val="FF0000"/>
                </a:solidFill>
                <a:latin typeface="Times New Roman" panose="02020603050405020304" pitchFamily="18" charset="0"/>
                <a:ea typeface="+mn-ea"/>
                <a:cs typeface="Times New Roman" panose="02020603050405020304" pitchFamily="18" charset="0"/>
              </a:rPr>
              <a:t>MB</a:t>
            </a:r>
            <a:r>
              <a:rPr lang="en-US" sz="1700" b="1" dirty="0">
                <a:latin typeface="Times New Roman" panose="02020603050405020304" pitchFamily="18" charset="0"/>
                <a:ea typeface="+mn-ea"/>
                <a:cs typeface="Times New Roman" panose="02020603050405020304" pitchFamily="18" charset="0"/>
              </a:rPr>
              <a:t>, is 1,024</a:t>
            </a:r>
            <a:r>
              <a:rPr lang="en-US" sz="1700" b="1" baseline="30000" dirty="0">
                <a:latin typeface="Times New Roman" panose="02020603050405020304" pitchFamily="18" charset="0"/>
                <a:ea typeface="+mn-ea"/>
                <a:cs typeface="Times New Roman" panose="02020603050405020304" pitchFamily="18" charset="0"/>
              </a:rPr>
              <a:t>2</a:t>
            </a:r>
            <a:r>
              <a:rPr lang="en-US" sz="1700" b="1" dirty="0">
                <a:latin typeface="Times New Roman" panose="02020603050405020304" pitchFamily="18" charset="0"/>
                <a:ea typeface="+mn-ea"/>
                <a:cs typeface="Times New Roman" panose="02020603050405020304" pitchFamily="18" charset="0"/>
              </a:rPr>
              <a:t>  bytes; a </a:t>
            </a:r>
            <a:r>
              <a:rPr kumimoji="1" lang="en-US" sz="1700" b="1" dirty="0">
                <a:solidFill>
                  <a:srgbClr val="FF0000"/>
                </a:solidFill>
                <a:latin typeface="Times New Roman" panose="02020603050405020304" pitchFamily="18" charset="0"/>
                <a:ea typeface="+mn-ea"/>
                <a:cs typeface="Times New Roman" panose="02020603050405020304" pitchFamily="18" charset="0"/>
              </a:rPr>
              <a:t>gigabyte</a:t>
            </a:r>
            <a:r>
              <a:rPr lang="en-US" sz="1700" b="1" dirty="0">
                <a:latin typeface="Times New Roman" panose="02020603050405020304" pitchFamily="18" charset="0"/>
                <a:ea typeface="+mn-ea"/>
                <a:cs typeface="Times New Roman" panose="02020603050405020304" pitchFamily="18" charset="0"/>
              </a:rPr>
              <a:t>, or </a:t>
            </a:r>
            <a:r>
              <a:rPr kumimoji="1" lang="en-US" sz="1700" b="1" dirty="0">
                <a:solidFill>
                  <a:srgbClr val="FF0000"/>
                </a:solidFill>
                <a:latin typeface="Times New Roman" panose="02020603050405020304" pitchFamily="18" charset="0"/>
                <a:ea typeface="+mn-ea"/>
                <a:cs typeface="Times New Roman" panose="02020603050405020304" pitchFamily="18" charset="0"/>
              </a:rPr>
              <a:t>GB</a:t>
            </a:r>
            <a:r>
              <a:rPr lang="en-US" sz="1700" b="1" dirty="0">
                <a:latin typeface="Times New Roman" panose="02020603050405020304" pitchFamily="18" charset="0"/>
                <a:ea typeface="+mn-ea"/>
                <a:cs typeface="Times New Roman" panose="02020603050405020304" pitchFamily="18" charset="0"/>
              </a:rPr>
              <a:t>, is</a:t>
            </a:r>
          </a:p>
          <a:p>
            <a:pPr algn="just">
              <a:defRPr/>
            </a:pPr>
            <a:r>
              <a:rPr lang="en-US" sz="1700" b="1" dirty="0">
                <a:latin typeface="Times New Roman" panose="02020603050405020304" pitchFamily="18" charset="0"/>
                <a:ea typeface="+mn-ea"/>
                <a:cs typeface="Times New Roman" panose="02020603050405020304" pitchFamily="18" charset="0"/>
              </a:rPr>
              <a:t>1,024</a:t>
            </a:r>
            <a:r>
              <a:rPr lang="en-US" sz="1700" b="1" baseline="30000" dirty="0">
                <a:latin typeface="Times New Roman" panose="02020603050405020304" pitchFamily="18" charset="0"/>
                <a:ea typeface="+mn-ea"/>
                <a:cs typeface="Times New Roman" panose="02020603050405020304" pitchFamily="18" charset="0"/>
              </a:rPr>
              <a:t>3</a:t>
            </a:r>
            <a:r>
              <a:rPr lang="en-US" sz="1700" b="1" dirty="0">
                <a:latin typeface="Times New Roman" panose="02020603050405020304" pitchFamily="18" charset="0"/>
                <a:ea typeface="+mn-ea"/>
                <a:cs typeface="Times New Roman" panose="02020603050405020304" pitchFamily="18" charset="0"/>
              </a:rPr>
              <a:t>  bytes; a </a:t>
            </a:r>
            <a:r>
              <a:rPr kumimoji="1" lang="en-US" sz="1700" b="1" dirty="0">
                <a:solidFill>
                  <a:srgbClr val="FF0000"/>
                </a:solidFill>
                <a:latin typeface="Times New Roman" panose="02020603050405020304" pitchFamily="18" charset="0"/>
                <a:ea typeface="+mn-ea"/>
                <a:cs typeface="Times New Roman" panose="02020603050405020304" pitchFamily="18" charset="0"/>
              </a:rPr>
              <a:t>terabyte</a:t>
            </a:r>
            <a:r>
              <a:rPr lang="en-US" sz="1700" b="1" dirty="0">
                <a:latin typeface="Times New Roman" panose="02020603050405020304" pitchFamily="18" charset="0"/>
                <a:ea typeface="+mn-ea"/>
                <a:cs typeface="Times New Roman" panose="02020603050405020304" pitchFamily="18" charset="0"/>
              </a:rPr>
              <a:t>, or </a:t>
            </a:r>
            <a:r>
              <a:rPr kumimoji="1" lang="en-US" sz="1700" b="1" dirty="0">
                <a:solidFill>
                  <a:srgbClr val="FF0000"/>
                </a:solidFill>
                <a:latin typeface="Times New Roman" panose="02020603050405020304" pitchFamily="18" charset="0"/>
                <a:ea typeface="+mn-ea"/>
                <a:cs typeface="Times New Roman" panose="02020603050405020304" pitchFamily="18" charset="0"/>
              </a:rPr>
              <a:t>TB</a:t>
            </a:r>
            <a:r>
              <a:rPr lang="en-US" sz="1700" b="1" dirty="0">
                <a:latin typeface="Times New Roman" panose="02020603050405020304" pitchFamily="18" charset="0"/>
                <a:ea typeface="+mn-ea"/>
                <a:cs typeface="Times New Roman" panose="02020603050405020304" pitchFamily="18" charset="0"/>
              </a:rPr>
              <a:t>, is 1,024</a:t>
            </a:r>
            <a:r>
              <a:rPr lang="en-US" sz="1700" b="1" baseline="30000" dirty="0">
                <a:latin typeface="Times New Roman" panose="02020603050405020304" pitchFamily="18" charset="0"/>
                <a:ea typeface="+mn-ea"/>
                <a:cs typeface="Times New Roman" panose="02020603050405020304" pitchFamily="18" charset="0"/>
              </a:rPr>
              <a:t>4</a:t>
            </a:r>
            <a:r>
              <a:rPr lang="en-US" sz="1700" b="1" dirty="0">
                <a:latin typeface="Times New Roman" panose="02020603050405020304" pitchFamily="18" charset="0"/>
                <a:ea typeface="+mn-ea"/>
                <a:cs typeface="Times New Roman" panose="02020603050405020304" pitchFamily="18" charset="0"/>
              </a:rPr>
              <a:t>  bytes; and a </a:t>
            </a:r>
            <a:r>
              <a:rPr kumimoji="1" lang="en-US" sz="1700" b="1" dirty="0">
                <a:solidFill>
                  <a:srgbClr val="FF0000"/>
                </a:solidFill>
                <a:latin typeface="Times New Roman" panose="02020603050405020304" pitchFamily="18" charset="0"/>
                <a:ea typeface="+mn-ea"/>
                <a:cs typeface="Times New Roman" panose="02020603050405020304" pitchFamily="18" charset="0"/>
              </a:rPr>
              <a:t>petabyte</a:t>
            </a:r>
            <a:r>
              <a:rPr lang="en-US" sz="1700" b="1" dirty="0">
                <a:latin typeface="Times New Roman" panose="02020603050405020304" pitchFamily="18" charset="0"/>
                <a:ea typeface="+mn-ea"/>
                <a:cs typeface="Times New Roman" panose="02020603050405020304" pitchFamily="18" charset="0"/>
              </a:rPr>
              <a:t>, or </a:t>
            </a:r>
            <a:r>
              <a:rPr kumimoji="1" lang="en-US" sz="1700" b="1" dirty="0">
                <a:solidFill>
                  <a:srgbClr val="FF0000"/>
                </a:solidFill>
                <a:latin typeface="Times New Roman" panose="02020603050405020304" pitchFamily="18" charset="0"/>
                <a:ea typeface="+mn-ea"/>
                <a:cs typeface="Times New Roman" panose="02020603050405020304" pitchFamily="18" charset="0"/>
              </a:rPr>
              <a:t>PB</a:t>
            </a:r>
            <a:r>
              <a:rPr lang="en-US" sz="1700" b="1" dirty="0">
                <a:latin typeface="Times New Roman" panose="02020603050405020304" pitchFamily="18" charset="0"/>
                <a:ea typeface="+mn-ea"/>
                <a:cs typeface="Times New Roman" panose="02020603050405020304" pitchFamily="18" charset="0"/>
              </a:rPr>
              <a:t>, is 1,024</a:t>
            </a:r>
            <a:r>
              <a:rPr lang="en-US" sz="1700" b="1" baseline="30000" dirty="0">
                <a:latin typeface="Times New Roman" panose="02020603050405020304" pitchFamily="18" charset="0"/>
                <a:ea typeface="+mn-ea"/>
                <a:cs typeface="Times New Roman" panose="02020603050405020304" pitchFamily="18" charset="0"/>
              </a:rPr>
              <a:t>5</a:t>
            </a:r>
          </a:p>
          <a:p>
            <a:pPr algn="just">
              <a:defRPr/>
            </a:pPr>
            <a:r>
              <a:rPr lang="en-US" sz="1700" b="1" dirty="0">
                <a:latin typeface="Times New Roman" panose="02020603050405020304" pitchFamily="18" charset="0"/>
                <a:ea typeface="+mn-ea"/>
                <a:cs typeface="Times New Roman" panose="02020603050405020304" pitchFamily="18" charset="0"/>
              </a:rPr>
              <a:t>bytes. Computer manufacturers often round off these numbers and say that</a:t>
            </a:r>
          </a:p>
          <a:p>
            <a:pPr algn="just">
              <a:defRPr/>
            </a:pPr>
            <a:r>
              <a:rPr lang="en-US" sz="1700" b="1" dirty="0">
                <a:latin typeface="Times New Roman" panose="02020603050405020304" pitchFamily="18" charset="0"/>
                <a:ea typeface="+mn-ea"/>
                <a:cs typeface="Times New Roman" panose="02020603050405020304" pitchFamily="18" charset="0"/>
              </a:rPr>
              <a:t>a megabyte is 1 million bytes and a gigabyte is 1 billion bytes. Networking</a:t>
            </a:r>
          </a:p>
          <a:p>
            <a:pPr algn="just">
              <a:defRPr/>
            </a:pPr>
            <a:r>
              <a:rPr lang="en-US" sz="1700" b="1" dirty="0">
                <a:latin typeface="Times New Roman" panose="02020603050405020304" pitchFamily="18" charset="0"/>
                <a:ea typeface="+mn-ea"/>
                <a:cs typeface="Times New Roman" panose="02020603050405020304" pitchFamily="18" charset="0"/>
              </a:rPr>
              <a:t>measurements are an exception to this general rule; they are given in bits</a:t>
            </a:r>
          </a:p>
          <a:p>
            <a:pPr algn="just">
              <a:defRPr/>
            </a:pPr>
            <a:r>
              <a:rPr lang="en-US" sz="1700" b="1" dirty="0">
                <a:latin typeface="Times New Roman" panose="02020603050405020304" pitchFamily="18" charset="0"/>
                <a:ea typeface="+mn-ea"/>
                <a:cs typeface="Times New Roman" panose="02020603050405020304" pitchFamily="18" charset="0"/>
              </a:rPr>
              <a:t>(because networks move data a bit at a time).</a:t>
            </a:r>
          </a:p>
          <a:p>
            <a:pPr>
              <a:defRPr/>
            </a:pPr>
            <a:endParaRPr lang="en-US" sz="1700" b="1" dirty="0">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42813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sz="2000" dirty="0">
                <a:latin typeface="+mn-ea"/>
                <a:ea typeface="+mn-ea"/>
              </a:rPr>
              <a:t>Storage systems organized in hierarchy</a:t>
            </a:r>
          </a:p>
          <a:p>
            <a:pPr lvl="1"/>
            <a:r>
              <a:rPr lang="en-US" altLang="en-US" sz="2000" dirty="0">
                <a:latin typeface="+mn-ea"/>
                <a:ea typeface="+mn-ea"/>
              </a:rPr>
              <a:t>Speed</a:t>
            </a:r>
          </a:p>
          <a:p>
            <a:pPr lvl="1"/>
            <a:r>
              <a:rPr lang="en-US" altLang="en-US" sz="2000" dirty="0">
                <a:latin typeface="+mn-ea"/>
                <a:ea typeface="+mn-ea"/>
              </a:rPr>
              <a:t>Cost</a:t>
            </a:r>
          </a:p>
          <a:p>
            <a:pPr lvl="1"/>
            <a:r>
              <a:rPr lang="en-US" altLang="en-US" sz="2000" dirty="0">
                <a:latin typeface="+mn-ea"/>
                <a:ea typeface="+mn-ea"/>
              </a:rPr>
              <a:t>Volatility</a:t>
            </a:r>
          </a:p>
          <a:p>
            <a:r>
              <a:rPr lang="en-US" altLang="en-US" sz="2000" b="1" dirty="0">
                <a:solidFill>
                  <a:srgbClr val="006699"/>
                </a:solidFill>
                <a:latin typeface="+mn-ea"/>
                <a:ea typeface="+mn-ea"/>
              </a:rPr>
              <a:t>Caching</a:t>
            </a:r>
            <a:r>
              <a:rPr lang="en-US" altLang="en-US" sz="2000" dirty="0">
                <a:latin typeface="+mn-ea"/>
                <a:ea typeface="+mn-ea"/>
              </a:rPr>
              <a:t> – copying information into faster storage system; main memory can be viewed as a cache for secondary storage</a:t>
            </a:r>
          </a:p>
          <a:p>
            <a:r>
              <a:rPr lang="en-US" altLang="en-US" sz="2000" b="1" dirty="0">
                <a:solidFill>
                  <a:srgbClr val="006699"/>
                </a:solidFill>
                <a:latin typeface="+mn-ea"/>
                <a:ea typeface="+mn-ea"/>
              </a:rPr>
              <a:t>Device Driver </a:t>
            </a:r>
            <a:r>
              <a:rPr lang="en-US" altLang="en-US" sz="2000" dirty="0">
                <a:latin typeface="+mn-ea"/>
                <a:ea typeface="+mn-ea"/>
              </a:rPr>
              <a:t>for each device controller to manage I/O</a:t>
            </a:r>
          </a:p>
          <a:p>
            <a:pPr lvl="1"/>
            <a:r>
              <a:rPr lang="en-US" altLang="en-US" sz="2000" dirty="0">
                <a:latin typeface="+mn-ea"/>
                <a:ea typeface="+mn-ea"/>
              </a:rPr>
              <a:t>Provides uniform interface between controller and kernel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grpSp>
        <p:nvGrpSpPr>
          <p:cNvPr id="2" name="组合 1">
            <a:extLst>
              <a:ext uri="{FF2B5EF4-FFF2-40B4-BE49-F238E27FC236}">
                <a16:creationId xmlns:a16="http://schemas.microsoft.com/office/drawing/2014/main" id="{F36EBA43-3FCE-8A5C-C6D3-7455B3687B45}"/>
              </a:ext>
            </a:extLst>
          </p:cNvPr>
          <p:cNvGrpSpPr/>
          <p:nvPr/>
        </p:nvGrpSpPr>
        <p:grpSpPr>
          <a:xfrm>
            <a:off x="1978025" y="1352550"/>
            <a:ext cx="5122863" cy="4553010"/>
            <a:chOff x="1978025" y="1352550"/>
            <a:chExt cx="5122863" cy="4553010"/>
          </a:xfrm>
        </p:grpSpPr>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3019646" y="5505450"/>
              <a:ext cx="38915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084630"/>
            <a:ext cx="7767638" cy="2195512"/>
          </a:xfrm>
        </p:spPr>
        <p:txBody>
          <a:bodyPr/>
          <a:lstStyle/>
          <a:p>
            <a:r>
              <a:rPr lang="en-US" altLang="en-US" sz="2000" dirty="0"/>
              <a:t>Used for high-speed I/O devices able to transmit information at close to memory speeds</a:t>
            </a:r>
          </a:p>
          <a:p>
            <a:r>
              <a:rPr lang="en-US" altLang="en-US" sz="2000" dirty="0"/>
              <a:t>Device controller transfers blocks of data from buffer storage directly to main memory without CPU intervention</a:t>
            </a:r>
          </a:p>
          <a:p>
            <a:r>
              <a:rPr lang="en-US" altLang="en-US" sz="2000" dirty="0"/>
              <a:t>Only one interrupt is generated per block, rather than the one interrupt per byte</a:t>
            </a:r>
          </a:p>
        </p:txBody>
      </p:sp>
      <p:pic>
        <p:nvPicPr>
          <p:cNvPr id="2" name="Picture 4">
            <a:extLst>
              <a:ext uri="{FF2B5EF4-FFF2-40B4-BE49-F238E27FC236}">
                <a16:creationId xmlns:a16="http://schemas.microsoft.com/office/drawing/2014/main" id="{81B55AAF-FB23-6662-C1D4-12813770EB3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856821" y="3468307"/>
            <a:ext cx="4001179" cy="28992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dirty="0"/>
              <a:t>Operating 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052623"/>
            <a:ext cx="7670800" cy="3646968"/>
          </a:xfrm>
        </p:spPr>
        <p:txBody>
          <a:bodyPr/>
          <a:lstStyle/>
          <a:p>
            <a:pPr>
              <a:lnSpc>
                <a:spcPct val="90000"/>
              </a:lnSpc>
            </a:pPr>
            <a:r>
              <a:rPr lang="en-US" altLang="en-US" sz="2000" dirty="0">
                <a:latin typeface="+mn-ea"/>
                <a:ea typeface="+mn-ea"/>
              </a:rPr>
              <a:t>Bootstrap program </a:t>
            </a:r>
          </a:p>
          <a:p>
            <a:pPr lvl="1">
              <a:lnSpc>
                <a:spcPct val="90000"/>
              </a:lnSpc>
            </a:pPr>
            <a:r>
              <a:rPr lang="en-US" altLang="en-US" sz="2000" dirty="0">
                <a:latin typeface="+mn-ea"/>
                <a:ea typeface="+mn-ea"/>
              </a:rPr>
              <a:t>A simple code to initialize the system, and load the kernel</a:t>
            </a:r>
          </a:p>
          <a:p>
            <a:pPr>
              <a:lnSpc>
                <a:spcPct val="90000"/>
              </a:lnSpc>
            </a:pPr>
            <a:r>
              <a:rPr lang="en-US" altLang="en-US" sz="2000" dirty="0">
                <a:latin typeface="+mn-ea"/>
                <a:ea typeface="+mn-ea"/>
              </a:rPr>
              <a:t>Starts </a:t>
            </a:r>
            <a:r>
              <a:rPr lang="en-US" altLang="en-US" sz="2000" b="1" dirty="0">
                <a:solidFill>
                  <a:srgbClr val="006699"/>
                </a:solidFill>
                <a:latin typeface="+mn-ea"/>
                <a:ea typeface="+mn-ea"/>
              </a:rPr>
              <a:t>system daemons </a:t>
            </a:r>
            <a:r>
              <a:rPr lang="en-US" altLang="en-US" sz="2000" dirty="0">
                <a:latin typeface="+mn-ea"/>
                <a:ea typeface="+mn-ea"/>
              </a:rPr>
              <a:t>(services provided outside of the kernel)</a:t>
            </a:r>
          </a:p>
          <a:p>
            <a:pPr>
              <a:lnSpc>
                <a:spcPct val="90000"/>
              </a:lnSpc>
            </a:pPr>
            <a:r>
              <a:rPr lang="en-US" altLang="en-US" sz="2000" dirty="0">
                <a:latin typeface="+mn-ea"/>
                <a:ea typeface="+mn-ea"/>
              </a:rPr>
              <a:t>Kernel</a:t>
            </a:r>
            <a:r>
              <a:rPr lang="en-US" altLang="en-US" sz="2000" b="1" dirty="0">
                <a:solidFill>
                  <a:srgbClr val="3366FF"/>
                </a:solidFill>
                <a:latin typeface="+mn-ea"/>
                <a:ea typeface="+mn-ea"/>
              </a:rPr>
              <a:t> </a:t>
            </a:r>
            <a:r>
              <a:rPr lang="en-US" altLang="en-US" sz="2000" b="1" dirty="0">
                <a:solidFill>
                  <a:srgbClr val="006699"/>
                </a:solidFill>
                <a:latin typeface="+mn-ea"/>
                <a:ea typeface="+mn-ea"/>
              </a:rPr>
              <a:t>interrupt driven </a:t>
            </a:r>
            <a:r>
              <a:rPr lang="en-US" altLang="en-US" sz="2000" dirty="0">
                <a:latin typeface="+mn-ea"/>
                <a:ea typeface="+mn-ea"/>
              </a:rPr>
              <a:t>(hardware and software)</a:t>
            </a:r>
          </a:p>
          <a:p>
            <a:pPr lvl="1">
              <a:lnSpc>
                <a:spcPct val="90000"/>
              </a:lnSpc>
            </a:pPr>
            <a:r>
              <a:rPr lang="en-US" altLang="en-US" dirty="0">
                <a:latin typeface="+mn-ea"/>
                <a:ea typeface="+mn-ea"/>
              </a:rPr>
              <a:t>Hardware interrupt by one of the devices </a:t>
            </a:r>
          </a:p>
          <a:p>
            <a:pPr lvl="1">
              <a:lnSpc>
                <a:spcPct val="90000"/>
              </a:lnSpc>
            </a:pPr>
            <a:r>
              <a:rPr lang="en-US" altLang="en-US" dirty="0">
                <a:latin typeface="+mn-ea"/>
                <a:ea typeface="+mn-ea"/>
              </a:rPr>
              <a:t>Software interrupt (</a:t>
            </a:r>
            <a:r>
              <a:rPr lang="en-US" altLang="en-US" b="1" dirty="0">
                <a:solidFill>
                  <a:srgbClr val="006699"/>
                </a:solidFill>
                <a:latin typeface="+mn-ea"/>
                <a:ea typeface="+mn-ea"/>
              </a:rPr>
              <a:t>exception</a:t>
            </a:r>
            <a:r>
              <a:rPr lang="en-US" altLang="en-US" b="1" dirty="0">
                <a:solidFill>
                  <a:srgbClr val="3366FF"/>
                </a:solidFill>
                <a:latin typeface="+mn-ea"/>
                <a:ea typeface="+mn-ea"/>
              </a:rPr>
              <a:t> </a:t>
            </a:r>
            <a:r>
              <a:rPr lang="en-US" altLang="en-US" dirty="0">
                <a:latin typeface="+mn-ea"/>
                <a:ea typeface="+mn-ea"/>
              </a:rPr>
              <a:t>or </a:t>
            </a:r>
            <a:r>
              <a:rPr lang="en-US" altLang="en-US" b="1" dirty="0">
                <a:solidFill>
                  <a:srgbClr val="006699"/>
                </a:solidFill>
                <a:latin typeface="+mn-ea"/>
                <a:ea typeface="+mn-ea"/>
              </a:rPr>
              <a:t>trap</a:t>
            </a:r>
            <a:r>
              <a:rPr lang="en-US" altLang="en-US" dirty="0">
                <a:latin typeface="+mn-ea"/>
                <a:ea typeface="+mn-ea"/>
              </a:rPr>
              <a:t>)</a:t>
            </a:r>
          </a:p>
          <a:p>
            <a:pPr lvl="2">
              <a:lnSpc>
                <a:spcPct val="90000"/>
              </a:lnSpc>
            </a:pPr>
            <a:r>
              <a:rPr lang="en-US" altLang="en-US" sz="1600" dirty="0">
                <a:latin typeface="+mn-ea"/>
                <a:ea typeface="+mn-ea"/>
              </a:rPr>
              <a:t>Software error (e.g., division by zero)</a:t>
            </a:r>
            <a:endParaRPr lang="en-US" altLang="en-US" sz="1600" b="1" dirty="0">
              <a:solidFill>
                <a:srgbClr val="3366FF"/>
              </a:solidFill>
              <a:latin typeface="+mn-ea"/>
              <a:ea typeface="+mn-ea"/>
            </a:endParaRPr>
          </a:p>
          <a:p>
            <a:pPr lvl="2">
              <a:lnSpc>
                <a:spcPct val="90000"/>
              </a:lnSpc>
            </a:pPr>
            <a:r>
              <a:rPr lang="en-US" altLang="en-US" sz="1600" dirty="0">
                <a:latin typeface="+mn-ea"/>
                <a:ea typeface="+mn-ea"/>
              </a:rPr>
              <a:t>Request for operating system service – </a:t>
            </a:r>
            <a:r>
              <a:rPr lang="en-US" altLang="en-US" sz="1600" b="1" dirty="0">
                <a:solidFill>
                  <a:srgbClr val="006699"/>
                </a:solidFill>
                <a:latin typeface="+mn-ea"/>
                <a:ea typeface="+mn-ea"/>
              </a:rPr>
              <a:t>system call</a:t>
            </a:r>
          </a:p>
          <a:p>
            <a:pPr lvl="2">
              <a:lnSpc>
                <a:spcPct val="90000"/>
              </a:lnSpc>
            </a:pPr>
            <a:r>
              <a:rPr lang="en-US" altLang="en-US" sz="1600" dirty="0">
                <a:latin typeface="+mn-ea"/>
                <a:ea typeface="+mn-ea"/>
              </a:rPr>
              <a:t>Other process problems include infinite loop, processes modifying each other or the operating system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1031358"/>
            <a:ext cx="7616825" cy="2562448"/>
          </a:xfrm>
        </p:spPr>
        <p:txBody>
          <a:bodyPr/>
          <a:lstStyle/>
          <a:p>
            <a:pPr>
              <a:lnSpc>
                <a:spcPct val="90000"/>
              </a:lnSpc>
            </a:pPr>
            <a:r>
              <a:rPr lang="en-US" altLang="en-US" sz="2000" dirty="0"/>
              <a:t>Single user cannot always keep CPU and I/O devices busy </a:t>
            </a:r>
          </a:p>
          <a:p>
            <a:pPr>
              <a:lnSpc>
                <a:spcPct val="90000"/>
              </a:lnSpc>
            </a:pPr>
            <a:r>
              <a:rPr lang="en-US" altLang="en-US" sz="2000" dirty="0"/>
              <a:t>Multiprogramming organizes jobs (code and data) so CPU always has one to execute</a:t>
            </a:r>
          </a:p>
          <a:p>
            <a:pPr>
              <a:lnSpc>
                <a:spcPct val="90000"/>
              </a:lnSpc>
            </a:pPr>
            <a:r>
              <a:rPr lang="en-US" altLang="en-US" sz="2000" dirty="0"/>
              <a:t>A subset of total jobs in system is kept in memory</a:t>
            </a:r>
          </a:p>
          <a:p>
            <a:pPr>
              <a:lnSpc>
                <a:spcPct val="90000"/>
              </a:lnSpc>
            </a:pPr>
            <a:r>
              <a:rPr lang="en-US" altLang="en-US" sz="2000" dirty="0"/>
              <a:t>One job selected and run via </a:t>
            </a:r>
            <a:r>
              <a:rPr lang="en-US" altLang="en-US" sz="2000" b="1" dirty="0">
                <a:solidFill>
                  <a:srgbClr val="006699"/>
                </a:solidFill>
                <a:latin typeface="+mj-lt"/>
              </a:rPr>
              <a:t>job scheduling</a:t>
            </a:r>
          </a:p>
          <a:p>
            <a:pPr>
              <a:lnSpc>
                <a:spcPct val="90000"/>
              </a:lnSpc>
            </a:pPr>
            <a:r>
              <a:rPr lang="en-US" altLang="en-US" sz="2000" dirty="0"/>
              <a:t>When job has to wait (for I/O for example), OS switches to another job</a:t>
            </a:r>
          </a:p>
        </p:txBody>
      </p:sp>
    </p:spTree>
    <p:extLst>
      <p:ext uri="{BB962C8B-B14F-4D97-AF65-F5344CB8AC3E}">
        <p14:creationId xmlns:p14="http://schemas.microsoft.com/office/powerpoint/2010/main" val="387765787"/>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489098" y="1020726"/>
            <a:ext cx="8059480" cy="3498111"/>
          </a:xfrm>
        </p:spPr>
        <p:txBody>
          <a:bodyPr/>
          <a:lstStyle/>
          <a:p>
            <a:pPr>
              <a:lnSpc>
                <a:spcPct val="90000"/>
              </a:lnSpc>
            </a:pPr>
            <a:r>
              <a:rPr lang="en-US" altLang="en-US" sz="2000" dirty="0">
                <a:latin typeface="+mn-ea"/>
                <a:ea typeface="+mn-ea"/>
              </a:rPr>
              <a:t>A logical extension of Batch systems– the CPU switches jobs so frequently that users can interact with each job while it is running, creating </a:t>
            </a:r>
            <a:r>
              <a:rPr lang="en-US" altLang="en-US" sz="2000" b="1" dirty="0">
                <a:solidFill>
                  <a:srgbClr val="006699"/>
                </a:solidFill>
                <a:latin typeface="+mn-ea"/>
                <a:ea typeface="+mn-ea"/>
              </a:rPr>
              <a:t>interactive</a:t>
            </a:r>
            <a:r>
              <a:rPr lang="en-US" altLang="en-US" sz="2000" dirty="0">
                <a:latin typeface="+mn-ea"/>
                <a:ea typeface="+mn-ea"/>
              </a:rPr>
              <a:t> computing</a:t>
            </a:r>
          </a:p>
          <a:p>
            <a:pPr lvl="1">
              <a:lnSpc>
                <a:spcPct val="90000"/>
              </a:lnSpc>
            </a:pPr>
            <a:r>
              <a:rPr lang="en-US" altLang="en-US" b="1" dirty="0">
                <a:solidFill>
                  <a:srgbClr val="006699"/>
                </a:solidFill>
                <a:latin typeface="+mn-ea"/>
                <a:ea typeface="+mn-ea"/>
              </a:rPr>
              <a:t>Response time </a:t>
            </a:r>
            <a:r>
              <a:rPr lang="en-US" altLang="en-US" dirty="0">
                <a:latin typeface="+mn-ea"/>
                <a:ea typeface="+mn-ea"/>
              </a:rPr>
              <a:t>should be &lt; 1 second</a:t>
            </a:r>
          </a:p>
          <a:p>
            <a:pPr lvl="1">
              <a:lnSpc>
                <a:spcPct val="90000"/>
              </a:lnSpc>
            </a:pPr>
            <a:r>
              <a:rPr lang="en-US" altLang="en-US" dirty="0">
                <a:latin typeface="+mn-ea"/>
                <a:ea typeface="+mn-ea"/>
              </a:rPr>
              <a:t>Each user has at least one program executing in memory </a:t>
            </a:r>
            <a:r>
              <a:rPr lang="en-US" altLang="en-US" dirty="0">
                <a:latin typeface="+mn-ea"/>
                <a:ea typeface="+mn-ea"/>
                <a:sym typeface="Wingdings 3" panose="05040102010807070707" pitchFamily="18" charset="2"/>
              </a:rPr>
              <a:t> </a:t>
            </a:r>
            <a:r>
              <a:rPr lang="en-US" altLang="en-US" b="1" dirty="0">
                <a:solidFill>
                  <a:srgbClr val="006699"/>
                </a:solidFill>
                <a:latin typeface="+mn-ea"/>
                <a:ea typeface="+mn-ea"/>
                <a:sym typeface="Wingdings 3" panose="05040102010807070707" pitchFamily="18" charset="2"/>
              </a:rPr>
              <a:t>process</a:t>
            </a:r>
          </a:p>
          <a:p>
            <a:pPr lvl="1">
              <a:lnSpc>
                <a:spcPct val="90000"/>
              </a:lnSpc>
            </a:pPr>
            <a:r>
              <a:rPr lang="en-US" altLang="en-US" dirty="0">
                <a:latin typeface="+mn-ea"/>
                <a:ea typeface="+mn-ea"/>
                <a:sym typeface="Wingdings 3" panose="05040102010807070707" pitchFamily="18" charset="2"/>
              </a:rPr>
              <a:t>If several jobs ready to run at the same time  </a:t>
            </a:r>
            <a:r>
              <a:rPr lang="en-US" altLang="en-US" b="1" dirty="0">
                <a:solidFill>
                  <a:srgbClr val="006699"/>
                </a:solidFill>
                <a:latin typeface="+mn-ea"/>
                <a:ea typeface="+mn-ea"/>
                <a:sym typeface="Wingdings 3" panose="05040102010807070707" pitchFamily="18" charset="2"/>
              </a:rPr>
              <a:t>CPU scheduling</a:t>
            </a:r>
          </a:p>
          <a:p>
            <a:pPr lvl="1">
              <a:lnSpc>
                <a:spcPct val="90000"/>
              </a:lnSpc>
            </a:pPr>
            <a:r>
              <a:rPr lang="en-US" altLang="en-US" dirty="0">
                <a:latin typeface="+mn-ea"/>
                <a:ea typeface="+mn-ea"/>
                <a:sym typeface="Wingdings 3" panose="05040102010807070707" pitchFamily="18" charset="2"/>
              </a:rPr>
              <a:t>If processes don</a:t>
            </a:r>
            <a:r>
              <a:rPr lang="ja-JP" altLang="en-US" dirty="0">
                <a:latin typeface="+mn-ea"/>
                <a:ea typeface="+mn-ea"/>
                <a:sym typeface="Wingdings 3" panose="05040102010807070707" pitchFamily="18" charset="2"/>
              </a:rPr>
              <a:t>’</a:t>
            </a:r>
            <a:r>
              <a:rPr lang="en-US" altLang="ja-JP" dirty="0">
                <a:latin typeface="+mn-ea"/>
                <a:ea typeface="+mn-ea"/>
                <a:sym typeface="Wingdings 3" panose="05040102010807070707" pitchFamily="18" charset="2"/>
              </a:rPr>
              <a:t>t fit in memory, </a:t>
            </a:r>
            <a:r>
              <a:rPr lang="en-US" altLang="ja-JP" b="1" dirty="0">
                <a:solidFill>
                  <a:srgbClr val="006699"/>
                </a:solidFill>
                <a:latin typeface="+mn-ea"/>
                <a:ea typeface="+mn-ea"/>
                <a:sym typeface="Wingdings 3" panose="05040102010807070707" pitchFamily="18" charset="2"/>
              </a:rPr>
              <a:t>swapping</a:t>
            </a:r>
            <a:r>
              <a:rPr lang="en-US" altLang="ja-JP" dirty="0">
                <a:latin typeface="+mn-ea"/>
                <a:ea typeface="+mn-ea"/>
                <a:sym typeface="Wingdings 3" panose="05040102010807070707" pitchFamily="18" charset="2"/>
              </a:rPr>
              <a:t> moves them in and out to run</a:t>
            </a:r>
          </a:p>
          <a:p>
            <a:pPr lvl="1">
              <a:lnSpc>
                <a:spcPct val="90000"/>
              </a:lnSpc>
            </a:pPr>
            <a:r>
              <a:rPr lang="en-US" altLang="en-US" b="1" dirty="0">
                <a:solidFill>
                  <a:srgbClr val="006699"/>
                </a:solidFill>
                <a:latin typeface="+mn-ea"/>
                <a:ea typeface="+mn-ea"/>
                <a:sym typeface="Wingdings 3" panose="05040102010807070707" pitchFamily="18" charset="2"/>
              </a:rPr>
              <a:t>Virtual memory </a:t>
            </a:r>
            <a:r>
              <a:rPr lang="en-US" altLang="en-US" dirty="0">
                <a:latin typeface="+mn-ea"/>
                <a:ea typeface="+mn-ea"/>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2"/>
            <a:ext cx="3007721" cy="475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 (1)</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1029781" y="1052624"/>
            <a:ext cx="7378995" cy="3211031"/>
          </a:xfrm>
        </p:spPr>
        <p:txBody>
          <a:bodyPr/>
          <a:lstStyle/>
          <a:p>
            <a:pPr>
              <a:lnSpc>
                <a:spcPct val="90000"/>
              </a:lnSpc>
            </a:pPr>
            <a:r>
              <a:rPr lang="en-US" altLang="en-US" sz="2000" b="1" dirty="0">
                <a:solidFill>
                  <a:srgbClr val="006699"/>
                </a:solidFill>
              </a:rPr>
              <a:t>Dual-mode</a:t>
            </a:r>
            <a:r>
              <a:rPr lang="en-US" altLang="en-US" sz="2000" b="1" dirty="0">
                <a:solidFill>
                  <a:srgbClr val="3366FF"/>
                </a:solidFill>
              </a:rPr>
              <a:t> </a:t>
            </a:r>
            <a:r>
              <a:rPr lang="en-US" altLang="en-US" sz="2000" dirty="0"/>
              <a:t>operation allows OS to protect itself and other system components</a:t>
            </a:r>
          </a:p>
          <a:p>
            <a:pPr lvl="1">
              <a:lnSpc>
                <a:spcPct val="90000"/>
              </a:lnSpc>
            </a:pPr>
            <a:r>
              <a:rPr lang="en-US" altLang="en-US" b="1" dirty="0">
                <a:solidFill>
                  <a:srgbClr val="006699"/>
                </a:solidFill>
              </a:rPr>
              <a:t>User mode </a:t>
            </a:r>
            <a:r>
              <a:rPr lang="en-US" altLang="en-US" dirty="0"/>
              <a:t>and </a:t>
            </a:r>
            <a:r>
              <a:rPr lang="en-US" altLang="en-US" b="1" dirty="0">
                <a:solidFill>
                  <a:srgbClr val="006699"/>
                </a:solidFill>
              </a:rPr>
              <a:t>kernel mode </a:t>
            </a:r>
          </a:p>
          <a:p>
            <a:pPr>
              <a:lnSpc>
                <a:spcPct val="90000"/>
              </a:lnSpc>
            </a:pPr>
            <a:endParaRPr lang="en-US" altLang="en-US" sz="2000" b="1" dirty="0">
              <a:solidFill>
                <a:srgbClr val="006699"/>
              </a:solidFill>
            </a:endParaRPr>
          </a:p>
          <a:p>
            <a:pPr>
              <a:lnSpc>
                <a:spcPct val="90000"/>
              </a:lnSpc>
            </a:pPr>
            <a:r>
              <a:rPr lang="en-US" altLang="en-US" sz="2000" b="1" dirty="0">
                <a:solidFill>
                  <a:srgbClr val="006699"/>
                </a:solidFill>
              </a:rPr>
              <a:t>Mode bit </a:t>
            </a:r>
            <a:r>
              <a:rPr lang="en-US" altLang="en-US" sz="2000"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p:txBody>
      </p:sp>
    </p:spTree>
    <p:extLst>
      <p:ext uri="{BB962C8B-B14F-4D97-AF65-F5344CB8AC3E}">
        <p14:creationId xmlns:p14="http://schemas.microsoft.com/office/powerpoint/2010/main" val="36541886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Dual-Mode Operation (2)</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629" y="3054128"/>
            <a:ext cx="8033821" cy="238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17DEC67E-FC90-1292-6E8E-43159DC669F9}"/>
              </a:ext>
            </a:extLst>
          </p:cNvPr>
          <p:cNvSpPr txBox="1">
            <a:spLocks noChangeArrowheads="1"/>
          </p:cNvSpPr>
          <p:nvPr/>
        </p:nvSpPr>
        <p:spPr bwMode="auto">
          <a:xfrm>
            <a:off x="882651" y="1031358"/>
            <a:ext cx="7924799" cy="177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90000"/>
              </a:lnSpc>
            </a:pPr>
            <a:r>
              <a:rPr lang="en-US" altLang="en-US" sz="2000"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sz="2000" dirty="0"/>
              <a:t>Some instructions designated as </a:t>
            </a:r>
            <a:r>
              <a:rPr lang="en-US" altLang="en-US" sz="2000" b="1" dirty="0">
                <a:solidFill>
                  <a:srgbClr val="006699"/>
                </a:solidFill>
              </a:rPr>
              <a:t>privileged</a:t>
            </a:r>
            <a:r>
              <a:rPr lang="en-US" altLang="en-US" sz="2000" dirty="0"/>
              <a:t>, only executable in kernel mode</a:t>
            </a:r>
          </a:p>
        </p:txBody>
      </p:sp>
    </p:spTree>
    <p:extLst>
      <p:ext uri="{BB962C8B-B14F-4D97-AF65-F5344CB8AC3E}">
        <p14:creationId xmlns:p14="http://schemas.microsoft.com/office/powerpoint/2010/main" val="4218784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sz="2000"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EF40B-8258-1C50-595A-6227E7D87B09}"/>
              </a:ext>
            </a:extLst>
          </p:cNvPr>
          <p:cNvSpPr>
            <a:spLocks noGrp="1"/>
          </p:cNvSpPr>
          <p:nvPr>
            <p:ph type="ctrTitle"/>
          </p:nvPr>
        </p:nvSpPr>
        <p:spPr/>
        <p:txBody>
          <a:bodyPr/>
          <a:lstStyle/>
          <a:p>
            <a:r>
              <a:rPr lang="en-US" altLang="zh-CN" dirty="0"/>
              <a:t>Take a Break</a:t>
            </a:r>
            <a:endParaRPr lang="zh-CN" altLang="en-US" dirty="0"/>
          </a:p>
        </p:txBody>
      </p:sp>
    </p:spTree>
    <p:extLst>
      <p:ext uri="{BB962C8B-B14F-4D97-AF65-F5344CB8AC3E}">
        <p14:creationId xmlns:p14="http://schemas.microsoft.com/office/powerpoint/2010/main" val="11058670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691117" y="956930"/>
            <a:ext cx="8165804" cy="4742122"/>
          </a:xfrm>
        </p:spPr>
        <p:txBody>
          <a:bodyPr/>
          <a:lstStyle/>
          <a:p>
            <a:pPr>
              <a:lnSpc>
                <a:spcPct val="90000"/>
              </a:lnSpc>
            </a:pPr>
            <a:r>
              <a:rPr lang="en-US" altLang="en-US" sz="2000" dirty="0">
                <a:latin typeface="+mn-ea"/>
                <a:ea typeface="+mn-ea"/>
              </a:rPr>
              <a:t>A process is a program in execution. It is a unit of work within the system. Program is a </a:t>
            </a:r>
            <a:r>
              <a:rPr lang="en-US" altLang="en-US" sz="2000" b="1" i="1" dirty="0">
                <a:latin typeface="+mn-ea"/>
                <a:ea typeface="+mn-ea"/>
              </a:rPr>
              <a:t>passive entity;</a:t>
            </a:r>
            <a:r>
              <a:rPr lang="en-US" altLang="en-US" sz="2000" dirty="0">
                <a:latin typeface="+mn-ea"/>
                <a:ea typeface="+mn-ea"/>
              </a:rPr>
              <a:t> process is </a:t>
            </a:r>
            <a:r>
              <a:rPr lang="en-US" altLang="en-US" sz="2000" dirty="0">
                <a:solidFill>
                  <a:srgbClr val="000000"/>
                </a:solidFill>
                <a:latin typeface="+mn-ea"/>
                <a:ea typeface="+mn-ea"/>
              </a:rPr>
              <a:t>an </a:t>
            </a:r>
            <a:r>
              <a:rPr lang="en-US" altLang="en-US" sz="2000" b="1" i="1" dirty="0">
                <a:solidFill>
                  <a:srgbClr val="000000"/>
                </a:solidFill>
                <a:latin typeface="+mn-ea"/>
                <a:ea typeface="+mn-ea"/>
              </a:rPr>
              <a:t>active entity</a:t>
            </a:r>
            <a:r>
              <a:rPr lang="en-US" altLang="en-US" sz="2000" dirty="0">
                <a:latin typeface="+mn-ea"/>
                <a:ea typeface="+mn-ea"/>
              </a:rPr>
              <a:t>.</a:t>
            </a:r>
          </a:p>
          <a:p>
            <a:pPr>
              <a:lnSpc>
                <a:spcPct val="90000"/>
              </a:lnSpc>
            </a:pPr>
            <a:r>
              <a:rPr lang="en-US" altLang="en-US" sz="2000" dirty="0">
                <a:latin typeface="+mn-ea"/>
                <a:ea typeface="+mn-ea"/>
              </a:rPr>
              <a:t>Process needs resources to accomplish its task</a:t>
            </a:r>
          </a:p>
          <a:p>
            <a:pPr lvl="1">
              <a:lnSpc>
                <a:spcPct val="90000"/>
              </a:lnSpc>
            </a:pPr>
            <a:r>
              <a:rPr lang="en-US" altLang="en-US" dirty="0">
                <a:latin typeface="+mn-ea"/>
                <a:ea typeface="+mn-ea"/>
              </a:rPr>
              <a:t>CPU, memory, I/O, files</a:t>
            </a:r>
          </a:p>
          <a:p>
            <a:pPr lvl="1">
              <a:lnSpc>
                <a:spcPct val="90000"/>
              </a:lnSpc>
            </a:pPr>
            <a:r>
              <a:rPr lang="en-US" altLang="en-US" dirty="0">
                <a:latin typeface="+mn-ea"/>
                <a:ea typeface="+mn-ea"/>
              </a:rPr>
              <a:t>Initialization data</a:t>
            </a:r>
          </a:p>
          <a:p>
            <a:pPr>
              <a:lnSpc>
                <a:spcPct val="90000"/>
              </a:lnSpc>
            </a:pPr>
            <a:r>
              <a:rPr lang="en-US" altLang="en-US" sz="2000" dirty="0">
                <a:latin typeface="+mn-ea"/>
                <a:ea typeface="+mn-ea"/>
              </a:rPr>
              <a:t>Process termination requires reclaim of any reusable resources</a:t>
            </a:r>
          </a:p>
          <a:p>
            <a:pPr>
              <a:lnSpc>
                <a:spcPct val="90000"/>
              </a:lnSpc>
            </a:pPr>
            <a:r>
              <a:rPr lang="en-US" altLang="en-US" sz="2000" dirty="0">
                <a:latin typeface="+mn-ea"/>
                <a:ea typeface="+mn-ea"/>
              </a:rPr>
              <a:t>Single-threaded process has one </a:t>
            </a:r>
            <a:r>
              <a:rPr lang="en-US" altLang="en-US" sz="2000" b="1" dirty="0">
                <a:solidFill>
                  <a:srgbClr val="006699"/>
                </a:solidFill>
                <a:latin typeface="+mn-ea"/>
                <a:ea typeface="+mn-ea"/>
              </a:rPr>
              <a:t>program counter </a:t>
            </a:r>
            <a:r>
              <a:rPr lang="en-US" altLang="en-US" sz="2000" dirty="0">
                <a:latin typeface="+mn-ea"/>
                <a:ea typeface="+mn-ea"/>
              </a:rPr>
              <a:t>specifying location of next instruction to execute</a:t>
            </a:r>
          </a:p>
          <a:p>
            <a:pPr lvl="1">
              <a:lnSpc>
                <a:spcPct val="90000"/>
              </a:lnSpc>
            </a:pPr>
            <a:r>
              <a:rPr lang="en-US" altLang="en-US" dirty="0">
                <a:latin typeface="+mn-ea"/>
                <a:ea typeface="+mn-ea"/>
              </a:rPr>
              <a:t>Process executes instructions sequentially, one at a time, until completion</a:t>
            </a:r>
          </a:p>
          <a:p>
            <a:pPr>
              <a:lnSpc>
                <a:spcPct val="90000"/>
              </a:lnSpc>
            </a:pPr>
            <a:r>
              <a:rPr lang="en-US" altLang="en-US" sz="2000" dirty="0">
                <a:latin typeface="+mn-ea"/>
                <a:ea typeface="+mn-ea"/>
              </a:rPr>
              <a:t>Multi-threaded process has one program counter per thread</a:t>
            </a:r>
          </a:p>
          <a:p>
            <a:pPr>
              <a:lnSpc>
                <a:spcPct val="90000"/>
              </a:lnSpc>
            </a:pPr>
            <a:r>
              <a:rPr lang="en-US" altLang="en-US" sz="2000" dirty="0">
                <a:latin typeface="+mn-ea"/>
                <a:ea typeface="+mn-ea"/>
              </a:rPr>
              <a:t>Typically system has many processes, some user, some operating system running concurrently on one or more CPUs</a:t>
            </a:r>
          </a:p>
          <a:p>
            <a:pPr lvl="1">
              <a:lnSpc>
                <a:spcPct val="90000"/>
              </a:lnSpc>
            </a:pPr>
            <a:r>
              <a:rPr lang="en-US" altLang="en-US" dirty="0">
                <a:latin typeface="+mn-ea"/>
                <a:ea typeface="+mn-ea"/>
              </a:rPr>
              <a:t>Concurrency by multiplexing the CPUs among the processes/threads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010093"/>
            <a:ext cx="7670800" cy="3072810"/>
          </a:xfrm>
        </p:spPr>
        <p:txBody>
          <a:bodyPr/>
          <a:lstStyle/>
          <a:p>
            <a:r>
              <a:rPr kumimoji="0" lang="en-US" altLang="en-US" sz="2000" dirty="0"/>
              <a:t>The operating system is responsible for the following activities in connection with process management</a:t>
            </a:r>
          </a:p>
          <a:p>
            <a:pPr lvl="1"/>
            <a:r>
              <a:rPr lang="en-US" altLang="en-US" dirty="0"/>
              <a:t>Creating and deleting both user and system processes</a:t>
            </a:r>
          </a:p>
          <a:p>
            <a:pPr lvl="1"/>
            <a:r>
              <a:rPr lang="en-US" altLang="en-US" dirty="0"/>
              <a:t>Suspending and resuming processes</a:t>
            </a:r>
          </a:p>
          <a:p>
            <a:pPr lvl="1"/>
            <a:r>
              <a:rPr lang="en-US" altLang="en-US" dirty="0"/>
              <a:t>Providing mechanisms for process synchronization</a:t>
            </a:r>
          </a:p>
          <a:p>
            <a:pPr lvl="1"/>
            <a:r>
              <a:rPr lang="en-US" altLang="en-US" dirty="0"/>
              <a:t>Providing mechanisms for process communication</a:t>
            </a:r>
          </a:p>
          <a:p>
            <a:pPr lvl="1"/>
            <a:r>
              <a:rPr lang="en-US" altLang="en-US" dirty="0"/>
              <a:t>Providing mechanisms for deadlock handling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700124" y="1163637"/>
            <a:ext cx="8018574" cy="3823033"/>
          </a:xfrm>
        </p:spPr>
        <p:txBody>
          <a:bodyPr/>
          <a:lstStyle/>
          <a:p>
            <a:r>
              <a:rPr lang="en-US" altLang="en-US" dirty="0"/>
              <a:t>To execute a program all (or part) of the instructions must be in memory</a:t>
            </a:r>
          </a:p>
          <a:p>
            <a:r>
              <a:rPr lang="en-US" altLang="en-US" dirty="0"/>
              <a:t>All  (or part) of the data that is needed by the program must be in memory</a:t>
            </a:r>
          </a:p>
          <a:p>
            <a:r>
              <a:rPr lang="en-US" altLang="en-US" dirty="0"/>
              <a:t>Memory management determines what is in memory and when</a:t>
            </a:r>
          </a:p>
          <a:p>
            <a:pPr lvl="1"/>
            <a:r>
              <a:rPr lang="en-US" altLang="en-US" dirty="0"/>
              <a:t>Optimizing CPU utilization and computer response to users</a:t>
            </a:r>
          </a:p>
          <a:p>
            <a:r>
              <a:rPr lang="en-US" altLang="en-US" dirty="0"/>
              <a:t>Memory management activities</a:t>
            </a:r>
          </a:p>
          <a:p>
            <a:pPr lvl="1"/>
            <a:r>
              <a:rPr lang="en-US" altLang="en-US" dirty="0"/>
              <a:t>Keeping track of which parts of memory are currently being used and by whom</a:t>
            </a:r>
          </a:p>
          <a:p>
            <a:pPr lvl="1"/>
            <a:r>
              <a:rPr lang="en-US" altLang="en-US" dirty="0"/>
              <a:t>Deciding which processes (or parts thereof) and data to move into and out of memory</a:t>
            </a:r>
          </a:p>
          <a:p>
            <a:pPr lvl="1"/>
            <a:r>
              <a:rPr lang="en-US" altLang="en-US" dirty="0"/>
              <a:t>Allocating and deallocating memory space as needed</a:t>
            </a:r>
          </a:p>
          <a:p>
            <a:pPr lvl="1">
              <a:buFont typeface="Monotype Sorts" pitchFamily="-84" charset="2"/>
              <a:buNone/>
            </a:pP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8" y="1052623"/>
            <a:ext cx="7651749" cy="4433778"/>
          </a:xfrm>
        </p:spPr>
        <p:txBody>
          <a:bodyPr/>
          <a:lstStyle/>
          <a:p>
            <a:r>
              <a:rPr lang="en-US" altLang="en-US" sz="2000" dirty="0"/>
              <a:t>Important principle, performed at many levels in a computer (in hardware, operating system, software)</a:t>
            </a:r>
          </a:p>
          <a:p>
            <a:r>
              <a:rPr lang="en-US" altLang="en-US" sz="2000" dirty="0"/>
              <a:t>Information in use copied from slower to faster storage temporarily</a:t>
            </a:r>
          </a:p>
          <a:p>
            <a:r>
              <a:rPr lang="en-US" altLang="en-US" sz="2000"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p>
          <a:p>
            <a:r>
              <a:rPr lang="en-US" altLang="en-US" sz="2000" dirty="0"/>
              <a:t>Cache smaller than storage being cached</a:t>
            </a:r>
          </a:p>
          <a:p>
            <a:pPr lvl="1"/>
            <a:r>
              <a:rPr lang="en-US" altLang="en-US" dirty="0"/>
              <a:t>Cache management important design problem</a:t>
            </a:r>
          </a:p>
          <a:p>
            <a:pPr lvl="1"/>
            <a:r>
              <a:rPr lang="en-US" altLang="en-US" dirty="0"/>
              <a:t>Cache size and replacement policy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137690"/>
            <a:ext cx="7597321" cy="4316818"/>
          </a:xfrm>
        </p:spPr>
        <p:txBody>
          <a:bodyPr/>
          <a:lstStyle/>
          <a:p>
            <a:r>
              <a:rPr lang="en-US" altLang="en-US" sz="2000" dirty="0">
                <a:latin typeface="+mn-ea"/>
                <a:ea typeface="+mn-ea"/>
              </a:rPr>
              <a:t>Multitasking environments must be careful to use most recent value, no matter where it is stored in the storage hierarchy</a:t>
            </a:r>
            <a:br>
              <a:rPr lang="en-US" altLang="en-US" sz="2000" dirty="0">
                <a:latin typeface="+mn-ea"/>
                <a:ea typeface="+mn-ea"/>
              </a:rPr>
            </a:br>
            <a:br>
              <a:rPr lang="en-US" altLang="en-US" sz="2000" dirty="0">
                <a:latin typeface="+mn-ea"/>
                <a:ea typeface="+mn-ea"/>
              </a:rPr>
            </a:br>
            <a:br>
              <a:rPr lang="en-US" altLang="en-US" sz="2000" dirty="0">
                <a:latin typeface="+mn-ea"/>
                <a:ea typeface="+mn-ea"/>
              </a:rPr>
            </a:br>
            <a:br>
              <a:rPr lang="en-US" altLang="en-US" sz="2000" dirty="0">
                <a:latin typeface="+mn-ea"/>
                <a:ea typeface="+mn-ea"/>
              </a:rPr>
            </a:br>
            <a:endParaRPr lang="en-US" altLang="en-US" sz="2000" dirty="0">
              <a:latin typeface="+mn-ea"/>
              <a:ea typeface="+mn-ea"/>
            </a:endParaRPr>
          </a:p>
          <a:p>
            <a:r>
              <a:rPr lang="en-US" altLang="en-US" sz="2000" dirty="0">
                <a:latin typeface="+mn-ea"/>
                <a:ea typeface="+mn-ea"/>
              </a:rPr>
              <a:t>Multiprocessor environment must provide </a:t>
            </a:r>
            <a:r>
              <a:rPr lang="en-US" altLang="en-US" sz="2000" b="1" dirty="0">
                <a:solidFill>
                  <a:srgbClr val="006699"/>
                </a:solidFill>
                <a:latin typeface="+mn-ea"/>
                <a:ea typeface="+mn-ea"/>
              </a:rPr>
              <a:t>cache coherency </a:t>
            </a:r>
            <a:r>
              <a:rPr lang="en-US" altLang="en-US" sz="2000" dirty="0">
                <a:latin typeface="+mn-ea"/>
                <a:ea typeface="+mn-ea"/>
              </a:rPr>
              <a:t>in hardware such that all CPUs have the most recent value in their cache</a:t>
            </a:r>
          </a:p>
          <a:p>
            <a:r>
              <a:rPr lang="en-US" altLang="en-US" sz="2000" dirty="0">
                <a:latin typeface="+mn-ea"/>
                <a:ea typeface="+mn-ea"/>
              </a:rPr>
              <a:t>Distributed environment situation even more complex</a:t>
            </a:r>
          </a:p>
          <a:p>
            <a:pPr lvl="1"/>
            <a:r>
              <a:rPr lang="en-US" altLang="en-US" dirty="0">
                <a:latin typeface="+mn-ea"/>
                <a:ea typeface="+mn-ea"/>
              </a:rPr>
              <a:t>Several copies of a datum can exist</a:t>
            </a:r>
          </a:p>
          <a:p>
            <a:pPr lvl="1"/>
            <a:r>
              <a:rPr lang="en-US" altLang="en-US" dirty="0">
                <a:latin typeface="+mn-ea"/>
                <a:ea typeface="+mn-ea"/>
              </a:rPr>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dirty="0"/>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sz="2000" dirty="0">
                <a:latin typeface="+mn-ea"/>
                <a:ea typeface="+mn-ea"/>
              </a:rPr>
              <a:t>OS provides uniform, logical view of information storage</a:t>
            </a:r>
          </a:p>
          <a:p>
            <a:pPr lvl="1">
              <a:lnSpc>
                <a:spcPct val="90000"/>
              </a:lnSpc>
            </a:pPr>
            <a:r>
              <a:rPr lang="en-US" altLang="en-US" dirty="0">
                <a:latin typeface="+mn-ea"/>
                <a:ea typeface="+mn-ea"/>
              </a:rPr>
              <a:t>Abstracts physical properties to logical storage unit  - </a:t>
            </a:r>
            <a:r>
              <a:rPr lang="en-US" altLang="en-US" b="1" dirty="0">
                <a:solidFill>
                  <a:srgbClr val="006699"/>
                </a:solidFill>
                <a:latin typeface="+mn-ea"/>
                <a:ea typeface="+mn-ea"/>
              </a:rPr>
              <a:t>file</a:t>
            </a:r>
          </a:p>
          <a:p>
            <a:pPr lvl="1">
              <a:lnSpc>
                <a:spcPct val="90000"/>
              </a:lnSpc>
            </a:pPr>
            <a:r>
              <a:rPr lang="en-US" altLang="en-US" dirty="0">
                <a:latin typeface="+mn-ea"/>
                <a:ea typeface="+mn-ea"/>
              </a:rPr>
              <a:t>Each medium is controlled by device (i.e., disk drive, tape drive)</a:t>
            </a:r>
          </a:p>
          <a:p>
            <a:pPr lvl="2">
              <a:lnSpc>
                <a:spcPct val="90000"/>
              </a:lnSpc>
            </a:pPr>
            <a:r>
              <a:rPr lang="en-US" altLang="en-US" dirty="0">
                <a:latin typeface="+mn-ea"/>
                <a:ea typeface="+mn-ea"/>
              </a:rPr>
              <a:t>Varying properties include access speed, capacity, data-transfer rate, access method (sequential or random)</a:t>
            </a:r>
          </a:p>
          <a:p>
            <a:pPr lvl="2">
              <a:lnSpc>
                <a:spcPct val="90000"/>
              </a:lnSpc>
            </a:pPr>
            <a:endParaRPr lang="en-US" altLang="en-US" sz="800" dirty="0">
              <a:latin typeface="+mn-ea"/>
              <a:ea typeface="+mn-ea"/>
            </a:endParaRPr>
          </a:p>
          <a:p>
            <a:pPr>
              <a:lnSpc>
                <a:spcPct val="90000"/>
              </a:lnSpc>
            </a:pPr>
            <a:r>
              <a:rPr lang="en-US" altLang="en-US" sz="2000" dirty="0">
                <a:latin typeface="+mn-ea"/>
                <a:ea typeface="+mn-ea"/>
              </a:rPr>
              <a:t>File-System management</a:t>
            </a:r>
          </a:p>
          <a:p>
            <a:pPr lvl="1">
              <a:lnSpc>
                <a:spcPct val="90000"/>
              </a:lnSpc>
            </a:pPr>
            <a:r>
              <a:rPr lang="en-US" altLang="en-US" dirty="0">
                <a:latin typeface="+mn-ea"/>
                <a:ea typeface="+mn-ea"/>
              </a:rPr>
              <a:t>Files usually organized into directories</a:t>
            </a:r>
          </a:p>
          <a:p>
            <a:pPr lvl="1">
              <a:lnSpc>
                <a:spcPct val="90000"/>
              </a:lnSpc>
            </a:pPr>
            <a:r>
              <a:rPr lang="en-US" altLang="en-US" dirty="0">
                <a:latin typeface="+mn-ea"/>
                <a:ea typeface="+mn-ea"/>
              </a:rPr>
              <a:t>Access control on most systems to determine who can access what</a:t>
            </a:r>
          </a:p>
          <a:p>
            <a:pPr lvl="1">
              <a:lnSpc>
                <a:spcPct val="90000"/>
              </a:lnSpc>
            </a:pPr>
            <a:r>
              <a:rPr lang="en-US" altLang="en-US" dirty="0">
                <a:latin typeface="+mn-ea"/>
                <a:ea typeface="+mn-ea"/>
              </a:rPr>
              <a:t>OS activities include</a:t>
            </a:r>
          </a:p>
          <a:p>
            <a:pPr lvl="2">
              <a:lnSpc>
                <a:spcPct val="90000"/>
              </a:lnSpc>
            </a:pPr>
            <a:r>
              <a:rPr lang="en-US" altLang="en-US" dirty="0">
                <a:latin typeface="+mn-ea"/>
                <a:ea typeface="+mn-ea"/>
              </a:rPr>
              <a:t>Creating and deleting files and directories</a:t>
            </a:r>
          </a:p>
          <a:p>
            <a:pPr lvl="2">
              <a:lnSpc>
                <a:spcPct val="90000"/>
              </a:lnSpc>
            </a:pPr>
            <a:r>
              <a:rPr lang="en-US" altLang="en-US" dirty="0">
                <a:latin typeface="+mn-ea"/>
                <a:ea typeface="+mn-ea"/>
              </a:rPr>
              <a:t>Primitives to manipulate files and directories</a:t>
            </a:r>
          </a:p>
          <a:p>
            <a:pPr lvl="2">
              <a:lnSpc>
                <a:spcPct val="90000"/>
              </a:lnSpc>
            </a:pPr>
            <a:r>
              <a:rPr lang="en-US" altLang="en-US" dirty="0">
                <a:latin typeface="+mn-ea"/>
                <a:ea typeface="+mn-ea"/>
              </a:rPr>
              <a:t>Mapping files onto secondary storage</a:t>
            </a:r>
          </a:p>
          <a:p>
            <a:pPr lvl="2">
              <a:lnSpc>
                <a:spcPct val="90000"/>
              </a:lnSpc>
            </a:pPr>
            <a:r>
              <a:rPr lang="en-US" altLang="en-US" dirty="0">
                <a:latin typeface="+mn-ea"/>
                <a:ea typeface="+mn-ea"/>
              </a:rPr>
              <a:t>Backup files onto stable (non-volatile) storage media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707312" cy="4658091"/>
          </a:xfrm>
        </p:spPr>
        <p:txBody>
          <a:bodyPr/>
          <a:lstStyle/>
          <a:p>
            <a:r>
              <a:rPr lang="en-US" altLang="en-US" sz="2000" dirty="0">
                <a:latin typeface="+mn-ea"/>
                <a:ea typeface="+mn-ea"/>
              </a:rPr>
              <a:t>Usually disks used to store data that does not fit in main memory or data that must be kept for a </a:t>
            </a:r>
            <a:r>
              <a:rPr lang="ja-JP" altLang="en-US" sz="2000" dirty="0">
                <a:latin typeface="+mn-ea"/>
                <a:ea typeface="+mn-ea"/>
              </a:rPr>
              <a:t>“</a:t>
            </a:r>
            <a:r>
              <a:rPr lang="en-US" altLang="ja-JP" sz="2000" dirty="0">
                <a:latin typeface="+mn-ea"/>
                <a:ea typeface="+mn-ea"/>
              </a:rPr>
              <a:t>long</a:t>
            </a:r>
            <a:r>
              <a:rPr lang="ja-JP" altLang="en-US" sz="2000" dirty="0">
                <a:latin typeface="+mn-ea"/>
                <a:ea typeface="+mn-ea"/>
              </a:rPr>
              <a:t>”</a:t>
            </a:r>
            <a:r>
              <a:rPr lang="en-US" altLang="ja-JP" sz="2000" dirty="0">
                <a:latin typeface="+mn-ea"/>
                <a:ea typeface="+mn-ea"/>
              </a:rPr>
              <a:t> period of time</a:t>
            </a:r>
          </a:p>
          <a:p>
            <a:r>
              <a:rPr lang="en-US" altLang="en-US" sz="2000" dirty="0">
                <a:latin typeface="+mn-ea"/>
                <a:ea typeface="+mn-ea"/>
              </a:rPr>
              <a:t>Proper management is of central importance</a:t>
            </a:r>
          </a:p>
          <a:p>
            <a:r>
              <a:rPr lang="en-US" altLang="en-US" sz="2000" dirty="0">
                <a:latin typeface="+mn-ea"/>
                <a:ea typeface="+mn-ea"/>
              </a:rPr>
              <a:t>Entire speed of computer operation hinges on disk subsystem and its algorithms</a:t>
            </a:r>
          </a:p>
          <a:p>
            <a:r>
              <a:rPr lang="en-US" altLang="en-US" sz="2000" dirty="0">
                <a:latin typeface="+mn-ea"/>
                <a:ea typeface="+mn-ea"/>
              </a:rPr>
              <a:t>OS activities</a:t>
            </a:r>
          </a:p>
          <a:p>
            <a:pPr lvl="1"/>
            <a:r>
              <a:rPr lang="en-US" altLang="en-US" dirty="0">
                <a:latin typeface="+mn-ea"/>
                <a:ea typeface="+mn-ea"/>
              </a:rPr>
              <a:t>Mounting and unmounting</a:t>
            </a:r>
          </a:p>
          <a:p>
            <a:pPr lvl="1"/>
            <a:r>
              <a:rPr lang="en-US" altLang="en-US" dirty="0">
                <a:latin typeface="+mn-ea"/>
                <a:ea typeface="+mn-ea"/>
              </a:rPr>
              <a:t>Free-space management</a:t>
            </a:r>
          </a:p>
          <a:p>
            <a:pPr lvl="1"/>
            <a:r>
              <a:rPr lang="en-US" altLang="en-US" dirty="0">
                <a:latin typeface="+mn-ea"/>
                <a:ea typeface="+mn-ea"/>
              </a:rPr>
              <a:t>Storage allocation</a:t>
            </a:r>
          </a:p>
          <a:p>
            <a:pPr lvl="1"/>
            <a:r>
              <a:rPr lang="en-US" altLang="en-US" dirty="0">
                <a:latin typeface="+mn-ea"/>
                <a:ea typeface="+mn-ea"/>
              </a:rPr>
              <a:t>Disk scheduling</a:t>
            </a:r>
          </a:p>
          <a:p>
            <a:pPr lvl="1"/>
            <a:r>
              <a:rPr lang="en-US" altLang="en-US" dirty="0">
                <a:latin typeface="+mn-ea"/>
                <a:ea typeface="+mn-ea"/>
              </a:rPr>
              <a:t>Partitioning</a:t>
            </a:r>
          </a:p>
          <a:p>
            <a:pPr lvl="1"/>
            <a:r>
              <a:rPr lang="en-US" altLang="en-US" dirty="0">
                <a:latin typeface="+mn-ea"/>
                <a:ea typeface="+mn-ea"/>
              </a:rPr>
              <a:t>Protection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687"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sz="2000" dirty="0"/>
              <a:t>One purpose of OS is to hide peculiarities of hardware devices from the user</a:t>
            </a:r>
          </a:p>
          <a:p>
            <a:r>
              <a:rPr lang="en-US" altLang="en-US" sz="2000" dirty="0"/>
              <a:t>I/O subsystem responsible for</a:t>
            </a:r>
          </a:p>
          <a:p>
            <a:pPr lvl="1"/>
            <a:r>
              <a:rPr lang="en-US" altLang="en-US"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dirty="0"/>
              <a:t>General device-driver interface</a:t>
            </a:r>
          </a:p>
          <a:p>
            <a:pPr lvl="1"/>
            <a:r>
              <a:rPr lang="en-US" altLang="en-US" dirty="0"/>
              <a:t>Drivers for specific hardware devices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776178" y="1233488"/>
            <a:ext cx="7889358" cy="4912131"/>
          </a:xfrm>
        </p:spPr>
        <p:txBody>
          <a:bodyPr/>
          <a:lstStyle/>
          <a:p>
            <a:pPr>
              <a:lnSpc>
                <a:spcPct val="90000"/>
              </a:lnSpc>
            </a:pPr>
            <a:r>
              <a:rPr lang="en-US" altLang="en-US" sz="2000" b="1" dirty="0">
                <a:solidFill>
                  <a:srgbClr val="006699"/>
                </a:solidFill>
                <a:latin typeface="+mj-lt"/>
              </a:rPr>
              <a:t>Protection</a:t>
            </a:r>
            <a:r>
              <a:rPr lang="en-US" altLang="en-US" sz="2000" b="1" dirty="0">
                <a:solidFill>
                  <a:srgbClr val="3366FF"/>
                </a:solidFill>
              </a:rPr>
              <a:t> </a:t>
            </a:r>
            <a:r>
              <a:rPr lang="en-US" altLang="en-US" sz="2000" dirty="0"/>
              <a:t>– any mechanism for controlling access of processes or users to resources defined by the OS</a:t>
            </a:r>
          </a:p>
          <a:p>
            <a:pPr>
              <a:lnSpc>
                <a:spcPct val="90000"/>
              </a:lnSpc>
            </a:pPr>
            <a:r>
              <a:rPr lang="en-US" altLang="en-US" sz="2000" b="1" dirty="0">
                <a:solidFill>
                  <a:srgbClr val="006699"/>
                </a:solidFill>
                <a:latin typeface="+mj-lt"/>
              </a:rPr>
              <a:t>Security</a:t>
            </a:r>
            <a:r>
              <a:rPr lang="en-US" altLang="en-US" sz="2000" b="1" dirty="0">
                <a:solidFill>
                  <a:srgbClr val="3366FF"/>
                </a:solidFill>
              </a:rPr>
              <a:t> </a:t>
            </a:r>
            <a:r>
              <a:rPr lang="en-US" altLang="en-US" sz="2000"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sz="2000"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dirty="0"/>
              <a:t>Virtualization (1)</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063256"/>
            <a:ext cx="7740650" cy="4348716"/>
          </a:xfrm>
        </p:spPr>
        <p:txBody>
          <a:bodyPr/>
          <a:lstStyle/>
          <a:p>
            <a:r>
              <a:rPr lang="en-US" altLang="en-US" sz="2000" dirty="0">
                <a:latin typeface="+mn-ea"/>
                <a:ea typeface="+mn-ea"/>
              </a:rPr>
              <a:t>Allows operating systems to run applications within other OSes</a:t>
            </a:r>
          </a:p>
          <a:p>
            <a:pPr lvl="1"/>
            <a:r>
              <a:rPr lang="en-US" altLang="en-US" dirty="0">
                <a:latin typeface="+mn-ea"/>
                <a:ea typeface="+mn-ea"/>
              </a:rPr>
              <a:t>Vast and growing industry</a:t>
            </a:r>
            <a:endParaRPr lang="en-US" altLang="en-US" sz="800" dirty="0">
              <a:latin typeface="+mn-ea"/>
              <a:ea typeface="+mn-ea"/>
            </a:endParaRPr>
          </a:p>
          <a:p>
            <a:r>
              <a:rPr lang="en-US" altLang="en-US" sz="2000" b="1" dirty="0">
                <a:solidFill>
                  <a:srgbClr val="006699"/>
                </a:solidFill>
                <a:latin typeface="+mn-ea"/>
                <a:ea typeface="+mn-ea"/>
              </a:rPr>
              <a:t>Emulation</a:t>
            </a:r>
            <a:r>
              <a:rPr lang="en-US" altLang="en-US" sz="2000" dirty="0">
                <a:latin typeface="+mn-ea"/>
                <a:ea typeface="+mn-ea"/>
              </a:rPr>
              <a:t> used when source CPU type different from target type (i.e. PowerPC to Intel x86)</a:t>
            </a:r>
          </a:p>
          <a:p>
            <a:pPr lvl="1"/>
            <a:r>
              <a:rPr lang="en-US" altLang="en-US" dirty="0">
                <a:latin typeface="+mn-ea"/>
                <a:ea typeface="+mn-ea"/>
              </a:rPr>
              <a:t>Generally slowest method</a:t>
            </a:r>
          </a:p>
          <a:p>
            <a:pPr lvl="1"/>
            <a:r>
              <a:rPr lang="en-US" altLang="en-US" dirty="0">
                <a:latin typeface="+mn-ea"/>
                <a:ea typeface="+mn-ea"/>
              </a:rPr>
              <a:t>When computer language not compiled to native code – </a:t>
            </a:r>
            <a:r>
              <a:rPr lang="en-US" altLang="en-US" b="1" dirty="0">
                <a:solidFill>
                  <a:srgbClr val="006699"/>
                </a:solidFill>
                <a:latin typeface="+mn-ea"/>
                <a:ea typeface="+mn-ea"/>
              </a:rPr>
              <a:t>Interpretation</a:t>
            </a:r>
          </a:p>
          <a:p>
            <a:r>
              <a:rPr lang="en-US" altLang="en-US" sz="2000" b="1" dirty="0">
                <a:solidFill>
                  <a:srgbClr val="006699"/>
                </a:solidFill>
                <a:latin typeface="+mn-ea"/>
                <a:ea typeface="+mn-ea"/>
              </a:rPr>
              <a:t>Virtualization</a:t>
            </a:r>
            <a:r>
              <a:rPr lang="en-US" altLang="en-US" sz="2000" dirty="0">
                <a:latin typeface="+mn-ea"/>
                <a:ea typeface="+mn-ea"/>
              </a:rPr>
              <a:t> – OS natively compiled for CPU, running </a:t>
            </a:r>
            <a:r>
              <a:rPr lang="en-US" altLang="en-US" sz="2000" b="1" dirty="0">
                <a:solidFill>
                  <a:srgbClr val="006699"/>
                </a:solidFill>
                <a:latin typeface="+mn-ea"/>
                <a:ea typeface="+mn-ea"/>
              </a:rPr>
              <a:t>guest</a:t>
            </a:r>
            <a:r>
              <a:rPr lang="en-US" altLang="en-US" sz="2000" dirty="0">
                <a:latin typeface="+mn-ea"/>
                <a:ea typeface="+mn-ea"/>
              </a:rPr>
              <a:t> OSes  also natively compiled </a:t>
            </a:r>
          </a:p>
          <a:p>
            <a:pPr lvl="1"/>
            <a:r>
              <a:rPr lang="en-US" altLang="en-US" dirty="0">
                <a:latin typeface="+mn-ea"/>
                <a:ea typeface="+mn-ea"/>
              </a:rPr>
              <a:t>Consider VMware running WinXP guests, each running applications, all on native WinXP </a:t>
            </a:r>
            <a:r>
              <a:rPr lang="en-US" altLang="en-US" b="1" dirty="0">
                <a:solidFill>
                  <a:srgbClr val="006699"/>
                </a:solidFill>
                <a:latin typeface="+mn-ea"/>
                <a:ea typeface="+mn-ea"/>
              </a:rPr>
              <a:t>host </a:t>
            </a:r>
            <a:r>
              <a:rPr lang="en-US" altLang="en-US" dirty="0">
                <a:latin typeface="+mn-ea"/>
                <a:ea typeface="+mn-ea"/>
              </a:rPr>
              <a:t>OS</a:t>
            </a:r>
          </a:p>
          <a:p>
            <a:pPr lvl="1"/>
            <a:r>
              <a:rPr lang="en-US" altLang="en-US" b="1" dirty="0">
                <a:solidFill>
                  <a:srgbClr val="006699"/>
                </a:solidFill>
                <a:latin typeface="+mn-ea"/>
                <a:ea typeface="+mn-ea"/>
              </a:rPr>
              <a:t>VMM</a:t>
            </a:r>
            <a:r>
              <a:rPr lang="en-US" altLang="en-US" dirty="0">
                <a:latin typeface="+mn-ea"/>
                <a:ea typeface="+mn-ea"/>
              </a:rPr>
              <a:t> (virtual machine Manager) provides virtualization services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dirty="0"/>
              <a:t>Virtualization (2)</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393402" y="1148316"/>
            <a:ext cx="8601741" cy="3221665"/>
          </a:xfrm>
        </p:spPr>
        <p:txBody>
          <a:bodyPr/>
          <a:lstStyle/>
          <a:p>
            <a:r>
              <a:rPr lang="en-US" altLang="en-US" sz="2000"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sz="2000"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727950" cy="4255977"/>
          </a:xfrm>
        </p:spPr>
        <p:txBody>
          <a:bodyPr/>
          <a:lstStyle/>
          <a:p>
            <a:r>
              <a:rPr lang="en-US" altLang="en-US" sz="2000" dirty="0">
                <a:latin typeface="+mn-ea"/>
                <a:ea typeface="+mn-ea"/>
              </a:rPr>
              <a:t>Collection of separate, possibly heterogeneous, systems networked together</a:t>
            </a:r>
          </a:p>
          <a:p>
            <a:pPr lvl="1"/>
            <a:r>
              <a:rPr lang="en-US" altLang="en-US" b="1" dirty="0">
                <a:solidFill>
                  <a:srgbClr val="006699"/>
                </a:solidFill>
                <a:latin typeface="+mn-ea"/>
                <a:ea typeface="+mn-ea"/>
              </a:rPr>
              <a:t>Network</a:t>
            </a:r>
            <a:r>
              <a:rPr lang="en-US" altLang="en-US" dirty="0">
                <a:latin typeface="+mn-ea"/>
                <a:ea typeface="+mn-ea"/>
              </a:rPr>
              <a:t> is a communications path, </a:t>
            </a:r>
            <a:r>
              <a:rPr lang="en-US" altLang="en-US" b="1" dirty="0">
                <a:solidFill>
                  <a:srgbClr val="006699"/>
                </a:solidFill>
                <a:latin typeface="+mn-ea"/>
                <a:ea typeface="+mn-ea"/>
              </a:rPr>
              <a:t>TCP/IP </a:t>
            </a:r>
            <a:r>
              <a:rPr lang="en-US" altLang="en-US" dirty="0">
                <a:latin typeface="+mn-ea"/>
                <a:ea typeface="+mn-ea"/>
              </a:rPr>
              <a:t>most common</a:t>
            </a:r>
          </a:p>
          <a:p>
            <a:pPr lvl="2"/>
            <a:r>
              <a:rPr lang="en-US" altLang="en-US" b="1" dirty="0">
                <a:solidFill>
                  <a:srgbClr val="006699"/>
                </a:solidFill>
                <a:latin typeface="+mn-ea"/>
                <a:ea typeface="+mn-ea"/>
              </a:rPr>
              <a:t>Local Area Network </a:t>
            </a:r>
            <a:r>
              <a:rPr lang="en-US" altLang="en-US" dirty="0">
                <a:latin typeface="+mn-ea"/>
                <a:ea typeface="+mn-ea"/>
              </a:rPr>
              <a:t>(</a:t>
            </a:r>
            <a:r>
              <a:rPr lang="en-US" altLang="en-US" b="1" dirty="0">
                <a:solidFill>
                  <a:srgbClr val="006699"/>
                </a:solidFill>
                <a:latin typeface="+mn-ea"/>
                <a:ea typeface="+mn-ea"/>
              </a:rPr>
              <a:t>LAN</a:t>
            </a:r>
            <a:r>
              <a:rPr lang="en-US" altLang="en-US" dirty="0">
                <a:latin typeface="+mn-ea"/>
                <a:ea typeface="+mn-ea"/>
              </a:rPr>
              <a:t>)</a:t>
            </a:r>
          </a:p>
          <a:p>
            <a:pPr lvl="2"/>
            <a:r>
              <a:rPr lang="en-US" altLang="en-US" b="1" dirty="0">
                <a:solidFill>
                  <a:srgbClr val="006699"/>
                </a:solidFill>
                <a:latin typeface="+mn-ea"/>
                <a:ea typeface="+mn-ea"/>
              </a:rPr>
              <a:t>Wide Area Network </a:t>
            </a:r>
            <a:r>
              <a:rPr lang="en-US" altLang="en-US" dirty="0">
                <a:latin typeface="+mn-ea"/>
                <a:ea typeface="+mn-ea"/>
              </a:rPr>
              <a:t>(</a:t>
            </a:r>
            <a:r>
              <a:rPr lang="en-US" altLang="en-US" b="1" dirty="0">
                <a:solidFill>
                  <a:srgbClr val="006699"/>
                </a:solidFill>
                <a:latin typeface="+mn-ea"/>
                <a:ea typeface="+mn-ea"/>
              </a:rPr>
              <a:t>WAN</a:t>
            </a:r>
            <a:r>
              <a:rPr lang="en-US" altLang="en-US" dirty="0">
                <a:latin typeface="+mn-ea"/>
                <a:ea typeface="+mn-ea"/>
              </a:rPr>
              <a:t>)</a:t>
            </a:r>
          </a:p>
          <a:p>
            <a:pPr lvl="2"/>
            <a:r>
              <a:rPr lang="en-US" altLang="en-US" b="1" dirty="0">
                <a:solidFill>
                  <a:srgbClr val="006699"/>
                </a:solidFill>
                <a:latin typeface="+mn-ea"/>
                <a:ea typeface="+mn-ea"/>
              </a:rPr>
              <a:t>Metropolitan Area Network </a:t>
            </a:r>
            <a:r>
              <a:rPr lang="en-US" altLang="en-US" dirty="0">
                <a:latin typeface="+mn-ea"/>
                <a:ea typeface="+mn-ea"/>
              </a:rPr>
              <a:t>(</a:t>
            </a:r>
            <a:r>
              <a:rPr lang="en-US" altLang="en-US" b="1" dirty="0">
                <a:solidFill>
                  <a:srgbClr val="006699"/>
                </a:solidFill>
                <a:latin typeface="+mn-ea"/>
                <a:ea typeface="+mn-ea"/>
              </a:rPr>
              <a:t>MAN</a:t>
            </a:r>
            <a:r>
              <a:rPr lang="en-US" altLang="en-US" dirty="0">
                <a:latin typeface="+mn-ea"/>
                <a:ea typeface="+mn-ea"/>
              </a:rPr>
              <a:t>)</a:t>
            </a:r>
          </a:p>
          <a:p>
            <a:pPr lvl="2"/>
            <a:r>
              <a:rPr lang="en-US" altLang="en-US" b="1" dirty="0">
                <a:solidFill>
                  <a:srgbClr val="006699"/>
                </a:solidFill>
                <a:latin typeface="+mn-ea"/>
                <a:ea typeface="+mn-ea"/>
              </a:rPr>
              <a:t>Personal Area Network </a:t>
            </a:r>
            <a:r>
              <a:rPr lang="en-US" altLang="en-US" dirty="0">
                <a:latin typeface="+mn-ea"/>
                <a:ea typeface="+mn-ea"/>
              </a:rPr>
              <a:t>(</a:t>
            </a:r>
            <a:r>
              <a:rPr lang="en-US" altLang="en-US" b="1" dirty="0">
                <a:solidFill>
                  <a:srgbClr val="006699"/>
                </a:solidFill>
                <a:latin typeface="+mn-ea"/>
                <a:ea typeface="+mn-ea"/>
              </a:rPr>
              <a:t>PAN</a:t>
            </a:r>
            <a:r>
              <a:rPr lang="en-US" altLang="en-US" dirty="0">
                <a:latin typeface="+mn-ea"/>
                <a:ea typeface="+mn-ea"/>
              </a:rPr>
              <a:t>)</a:t>
            </a:r>
          </a:p>
          <a:p>
            <a:r>
              <a:rPr lang="en-US" altLang="en-US" sz="2000" b="1" dirty="0">
                <a:solidFill>
                  <a:srgbClr val="006699"/>
                </a:solidFill>
                <a:latin typeface="+mn-ea"/>
                <a:ea typeface="+mn-ea"/>
              </a:rPr>
              <a:t>Network Operating System </a:t>
            </a:r>
            <a:r>
              <a:rPr lang="en-US" altLang="en-US" sz="2000" dirty="0">
                <a:latin typeface="+mn-ea"/>
                <a:ea typeface="+mn-ea"/>
              </a:rPr>
              <a:t>provides features between systems across network</a:t>
            </a:r>
          </a:p>
          <a:p>
            <a:pPr lvl="1"/>
            <a:r>
              <a:rPr lang="en-US" altLang="en-US" dirty="0">
                <a:latin typeface="+mn-ea"/>
                <a:ea typeface="+mn-ea"/>
              </a:rPr>
              <a:t>Communication scheme allows systems to exchange messages</a:t>
            </a:r>
          </a:p>
          <a:p>
            <a:pPr lvl="1"/>
            <a:r>
              <a:rPr lang="en-US" altLang="en-US" dirty="0">
                <a:latin typeface="+mn-ea"/>
                <a:ea typeface="+mn-ea"/>
              </a:rPr>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116420"/>
            <a:ext cx="7693025" cy="4635794"/>
          </a:xfrm>
        </p:spPr>
        <p:txBody>
          <a:bodyPr/>
          <a:lstStyle/>
          <a:p>
            <a:r>
              <a:rPr lang="en-US" altLang="en-US" sz="2000" dirty="0">
                <a:latin typeface="+mn-ea"/>
                <a:ea typeface="+mn-ea"/>
              </a:rPr>
              <a:t>Most systems use a single general-purpose processor</a:t>
            </a:r>
          </a:p>
          <a:p>
            <a:pPr lvl="1"/>
            <a:r>
              <a:rPr lang="en-US" altLang="en-US" dirty="0">
                <a:latin typeface="+mn-ea"/>
                <a:ea typeface="+mn-ea"/>
              </a:rPr>
              <a:t>Most systems have special-purpose processors as well</a:t>
            </a:r>
            <a:endParaRPr lang="en-US" altLang="en-US" sz="800" dirty="0">
              <a:latin typeface="+mn-ea"/>
              <a:ea typeface="+mn-ea"/>
            </a:endParaRPr>
          </a:p>
          <a:p>
            <a:r>
              <a:rPr lang="en-US" altLang="en-US" sz="2000" b="1" dirty="0">
                <a:solidFill>
                  <a:srgbClr val="006699"/>
                </a:solidFill>
                <a:latin typeface="+mn-ea"/>
                <a:ea typeface="+mn-ea"/>
              </a:rPr>
              <a:t>Multiprocessors</a:t>
            </a:r>
            <a:r>
              <a:rPr lang="en-US" altLang="en-US" sz="2000" dirty="0">
                <a:solidFill>
                  <a:srgbClr val="3366FF"/>
                </a:solidFill>
                <a:latin typeface="+mn-ea"/>
                <a:ea typeface="+mn-ea"/>
              </a:rPr>
              <a:t> </a:t>
            </a:r>
            <a:r>
              <a:rPr lang="en-US" altLang="en-US" sz="2000" dirty="0">
                <a:latin typeface="+mn-ea"/>
                <a:ea typeface="+mn-ea"/>
              </a:rPr>
              <a:t>systems growing in use and importance</a:t>
            </a:r>
          </a:p>
          <a:p>
            <a:pPr lvl="1"/>
            <a:r>
              <a:rPr lang="en-US" altLang="en-US" dirty="0">
                <a:latin typeface="+mn-ea"/>
                <a:ea typeface="+mn-ea"/>
              </a:rPr>
              <a:t>Also known as </a:t>
            </a:r>
            <a:r>
              <a:rPr lang="en-US" altLang="en-US" b="1" dirty="0">
                <a:solidFill>
                  <a:srgbClr val="006699"/>
                </a:solidFill>
                <a:latin typeface="+mn-ea"/>
                <a:ea typeface="+mn-ea"/>
              </a:rPr>
              <a:t>parallel systems</a:t>
            </a:r>
            <a:r>
              <a:rPr lang="en-US" altLang="en-US" dirty="0">
                <a:latin typeface="+mn-ea"/>
                <a:ea typeface="+mn-ea"/>
              </a:rPr>
              <a:t>, </a:t>
            </a:r>
            <a:r>
              <a:rPr lang="en-US" altLang="en-US" b="1" dirty="0">
                <a:solidFill>
                  <a:srgbClr val="006699"/>
                </a:solidFill>
                <a:latin typeface="+mn-ea"/>
                <a:ea typeface="+mn-ea"/>
              </a:rPr>
              <a:t>tightly-coupled systems</a:t>
            </a:r>
          </a:p>
          <a:p>
            <a:pPr lvl="1"/>
            <a:r>
              <a:rPr lang="en-US" altLang="en-US" dirty="0">
                <a:latin typeface="+mn-ea"/>
                <a:ea typeface="+mn-ea"/>
              </a:rPr>
              <a:t>Advantages include:</a:t>
            </a:r>
          </a:p>
          <a:p>
            <a:pPr marL="1200150" lvl="2" indent="-342900">
              <a:buFont typeface="Arial" panose="020B0604020202020204" pitchFamily="34" charset="0"/>
              <a:buAutoNum type="arabicPeriod"/>
            </a:pPr>
            <a:r>
              <a:rPr lang="en-US" altLang="en-US" b="1" dirty="0">
                <a:solidFill>
                  <a:srgbClr val="006699"/>
                </a:solidFill>
                <a:latin typeface="+mn-ea"/>
                <a:ea typeface="+mn-ea"/>
              </a:rPr>
              <a:t>Increased throughput</a:t>
            </a:r>
          </a:p>
          <a:p>
            <a:pPr marL="1200150" lvl="2" indent="-342900">
              <a:buFont typeface="Arial" panose="020B0604020202020204" pitchFamily="34" charset="0"/>
              <a:buAutoNum type="arabicPeriod"/>
            </a:pPr>
            <a:r>
              <a:rPr lang="en-US" altLang="en-US" b="1" dirty="0">
                <a:solidFill>
                  <a:srgbClr val="006699"/>
                </a:solidFill>
                <a:latin typeface="+mn-ea"/>
                <a:ea typeface="+mn-ea"/>
              </a:rPr>
              <a:t>Economy of scale</a:t>
            </a:r>
          </a:p>
          <a:p>
            <a:pPr marL="1200150" lvl="2" indent="-342900">
              <a:buFont typeface="Arial" panose="020B0604020202020204" pitchFamily="34" charset="0"/>
              <a:buAutoNum type="arabicPeriod"/>
            </a:pPr>
            <a:r>
              <a:rPr lang="en-US" altLang="en-US" b="1" dirty="0">
                <a:solidFill>
                  <a:srgbClr val="006699"/>
                </a:solidFill>
                <a:latin typeface="+mn-ea"/>
                <a:ea typeface="+mn-ea"/>
              </a:rPr>
              <a:t>Increased reliability </a:t>
            </a:r>
            <a:r>
              <a:rPr lang="en-US" altLang="en-US" dirty="0">
                <a:latin typeface="+mn-ea"/>
                <a:ea typeface="+mn-ea"/>
              </a:rPr>
              <a:t>– graceful degradation or fault tolerance</a:t>
            </a:r>
          </a:p>
          <a:p>
            <a:pPr lvl="1"/>
            <a:r>
              <a:rPr lang="en-US" altLang="en-US" dirty="0">
                <a:latin typeface="+mn-ea"/>
                <a:ea typeface="+mn-ea"/>
              </a:rPr>
              <a:t>Two types:</a:t>
            </a:r>
          </a:p>
          <a:p>
            <a:pPr marL="1200150" lvl="2" indent="-342900">
              <a:buFont typeface="Arial" panose="020B0604020202020204" pitchFamily="34" charset="0"/>
              <a:buAutoNum type="arabicPeriod"/>
            </a:pPr>
            <a:r>
              <a:rPr lang="en-US" altLang="en-US" b="1" dirty="0">
                <a:solidFill>
                  <a:srgbClr val="006699"/>
                </a:solidFill>
                <a:latin typeface="+mn-ea"/>
                <a:ea typeface="+mn-ea"/>
              </a:rPr>
              <a:t>Asymmetric Multiprocessing</a:t>
            </a:r>
            <a:r>
              <a:rPr lang="en-US" altLang="en-US" b="1" dirty="0">
                <a:solidFill>
                  <a:srgbClr val="3366FF"/>
                </a:solidFill>
                <a:latin typeface="+mn-ea"/>
                <a:ea typeface="+mn-ea"/>
              </a:rPr>
              <a:t> </a:t>
            </a:r>
            <a:r>
              <a:rPr lang="en-US" altLang="en-US" dirty="0">
                <a:latin typeface="+mn-ea"/>
                <a:ea typeface="+mn-ea"/>
              </a:rPr>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n-ea"/>
                <a:ea typeface="+mn-ea"/>
              </a:rPr>
              <a:t>Symmetric Multiprocessing </a:t>
            </a:r>
            <a:r>
              <a:rPr lang="en-US" altLang="en-US" dirty="0">
                <a:latin typeface="+mn-ea"/>
                <a:ea typeface="+mn-ea"/>
              </a:rPr>
              <a:t>– each processor performs all tasks</a:t>
            </a:r>
          </a:p>
        </p:txBody>
      </p:sp>
    </p:spTree>
    <p:extLst>
      <p:ext uri="{BB962C8B-B14F-4D97-AF65-F5344CB8AC3E}">
        <p14:creationId xmlns:p14="http://schemas.microsoft.com/office/powerpoint/2010/main" val="4234517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7328" y="1315238"/>
            <a:ext cx="5988234" cy="453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29515" y="976268"/>
            <a:ext cx="7322362" cy="1216772"/>
          </a:xfrm>
        </p:spPr>
        <p:txBody>
          <a:bodyPr/>
          <a:lstStyle/>
          <a:p>
            <a:r>
              <a:rPr lang="en-US" altLang="en-US" sz="2000" dirty="0">
                <a:latin typeface="+mn-ea"/>
                <a:ea typeface="+mn-ea"/>
              </a:rPr>
              <a:t>Multi-chip and </a:t>
            </a:r>
            <a:r>
              <a:rPr lang="en-US" altLang="en-US" sz="2000" b="1" dirty="0">
                <a:solidFill>
                  <a:srgbClr val="006699"/>
                </a:solidFill>
                <a:latin typeface="+mn-ea"/>
                <a:ea typeface="+mn-ea"/>
              </a:rPr>
              <a:t>multicore</a:t>
            </a:r>
          </a:p>
          <a:p>
            <a:r>
              <a:rPr lang="en-US" altLang="en-US" sz="2000" dirty="0">
                <a:latin typeface="+mn-ea"/>
                <a:ea typeface="+mn-ea"/>
              </a:rPr>
              <a:t>Systems containing all  chips</a:t>
            </a:r>
            <a:endParaRPr lang="en-US" altLang="en-US" sz="2000" b="1" dirty="0">
              <a:solidFill>
                <a:srgbClr val="3366FF"/>
              </a:solidFill>
              <a:latin typeface="+mn-ea"/>
              <a:ea typeface="+mn-ea"/>
            </a:endParaRPr>
          </a:p>
          <a:p>
            <a:pPr lvl="1"/>
            <a:r>
              <a:rPr lang="en-US" altLang="en-US" sz="1800" dirty="0">
                <a:latin typeface="+mn-ea"/>
                <a:ea typeface="+mn-ea"/>
              </a:rPr>
              <a:t>Chassis containing multiple separate systems</a:t>
            </a:r>
          </a:p>
          <a:p>
            <a:pPr lvl="1"/>
            <a:endParaRPr lang="en-US" altLang="en-US" dirty="0">
              <a:latin typeface="+mn-ea"/>
              <a:ea typeface="+mn-ea"/>
            </a:endParaRPr>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8"/>
            <a:ext cx="4464950" cy="3980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a:xfrm>
            <a:off x="700124" y="1041992"/>
            <a:ext cx="7890984" cy="3774558"/>
          </a:xfrm>
        </p:spPr>
        <p:txBody>
          <a:bodyPr/>
          <a:lstStyle/>
          <a:p>
            <a:r>
              <a:rPr lang="en-US" altLang="en-US" sz="2000" dirty="0">
                <a:latin typeface="+mn-ea"/>
                <a:ea typeface="+mn-ea"/>
              </a:rPr>
              <a:t>Like multiprocessor systems, but multiple systems work together</a:t>
            </a:r>
          </a:p>
          <a:p>
            <a:pPr lvl="1"/>
            <a:r>
              <a:rPr lang="en-US" altLang="en-US" dirty="0">
                <a:latin typeface="+mn-ea"/>
                <a:ea typeface="+mn-ea"/>
              </a:rPr>
              <a:t>Usually sharing storage via a </a:t>
            </a:r>
            <a:r>
              <a:rPr lang="en-US" altLang="en-US" b="1" dirty="0">
                <a:solidFill>
                  <a:srgbClr val="006699"/>
                </a:solidFill>
                <a:latin typeface="+mn-ea"/>
                <a:ea typeface="+mn-ea"/>
              </a:rPr>
              <a:t>storage-area network </a:t>
            </a:r>
            <a:r>
              <a:rPr lang="en-US" altLang="en-US" dirty="0">
                <a:latin typeface="+mn-ea"/>
                <a:ea typeface="+mn-ea"/>
              </a:rPr>
              <a:t>(</a:t>
            </a:r>
            <a:r>
              <a:rPr lang="en-US" altLang="en-US" b="1" dirty="0">
                <a:solidFill>
                  <a:srgbClr val="006699"/>
                </a:solidFill>
                <a:latin typeface="+mn-ea"/>
                <a:ea typeface="+mn-ea"/>
              </a:rPr>
              <a:t>SAN</a:t>
            </a:r>
            <a:r>
              <a:rPr lang="en-US" altLang="en-US" dirty="0">
                <a:latin typeface="+mn-ea"/>
                <a:ea typeface="+mn-ea"/>
              </a:rPr>
              <a:t>)</a:t>
            </a:r>
          </a:p>
          <a:p>
            <a:pPr lvl="1"/>
            <a:r>
              <a:rPr lang="en-US" altLang="en-US" dirty="0">
                <a:latin typeface="+mn-ea"/>
                <a:ea typeface="+mn-ea"/>
              </a:rPr>
              <a:t>Provides a </a:t>
            </a:r>
            <a:r>
              <a:rPr lang="en-US" altLang="en-US" b="1" dirty="0">
                <a:solidFill>
                  <a:srgbClr val="006699"/>
                </a:solidFill>
                <a:latin typeface="+mn-ea"/>
                <a:ea typeface="+mn-ea"/>
              </a:rPr>
              <a:t>high-availability</a:t>
            </a:r>
            <a:r>
              <a:rPr lang="en-US" altLang="en-US" b="1" dirty="0">
                <a:latin typeface="+mn-ea"/>
                <a:ea typeface="+mn-ea"/>
              </a:rPr>
              <a:t> </a:t>
            </a:r>
            <a:r>
              <a:rPr lang="en-US" altLang="en-US" dirty="0">
                <a:latin typeface="+mn-ea"/>
                <a:ea typeface="+mn-ea"/>
              </a:rPr>
              <a:t>service which survives failures</a:t>
            </a:r>
          </a:p>
          <a:p>
            <a:pPr lvl="2"/>
            <a:r>
              <a:rPr lang="en-US" altLang="en-US" sz="1600" b="1" dirty="0">
                <a:solidFill>
                  <a:srgbClr val="006699"/>
                </a:solidFill>
                <a:latin typeface="+mn-ea"/>
                <a:ea typeface="+mn-ea"/>
              </a:rPr>
              <a:t>Asymmetric clustering </a:t>
            </a:r>
            <a:r>
              <a:rPr lang="en-US" altLang="en-US" sz="1600" dirty="0">
                <a:latin typeface="+mn-ea"/>
                <a:ea typeface="+mn-ea"/>
              </a:rPr>
              <a:t>has one machine in hot-standby mode</a:t>
            </a:r>
          </a:p>
          <a:p>
            <a:pPr lvl="2"/>
            <a:r>
              <a:rPr lang="en-US" altLang="en-US" sz="1600" b="1" dirty="0">
                <a:solidFill>
                  <a:srgbClr val="006699"/>
                </a:solidFill>
                <a:latin typeface="+mn-ea"/>
                <a:ea typeface="+mn-ea"/>
              </a:rPr>
              <a:t>Symmetric clustering </a:t>
            </a:r>
            <a:r>
              <a:rPr lang="en-US" altLang="en-US" sz="1600" dirty="0">
                <a:latin typeface="+mn-ea"/>
                <a:ea typeface="+mn-ea"/>
              </a:rPr>
              <a:t>has multiple nodes running applications, monitoring each other</a:t>
            </a:r>
          </a:p>
          <a:p>
            <a:pPr lvl="1"/>
            <a:r>
              <a:rPr lang="en-US" altLang="en-US" dirty="0">
                <a:latin typeface="+mn-ea"/>
                <a:ea typeface="+mn-ea"/>
              </a:rPr>
              <a:t>Some clusters are for </a:t>
            </a:r>
            <a:r>
              <a:rPr lang="en-US" altLang="en-US" b="1" dirty="0">
                <a:solidFill>
                  <a:srgbClr val="006699"/>
                </a:solidFill>
                <a:latin typeface="+mn-ea"/>
                <a:ea typeface="+mn-ea"/>
              </a:rPr>
              <a:t>high-performance computing </a:t>
            </a:r>
            <a:r>
              <a:rPr lang="en-US" altLang="en-US" dirty="0">
                <a:latin typeface="+mn-ea"/>
                <a:ea typeface="+mn-ea"/>
              </a:rPr>
              <a:t>(</a:t>
            </a:r>
            <a:r>
              <a:rPr lang="en-US" altLang="en-US" b="1" dirty="0">
                <a:solidFill>
                  <a:srgbClr val="006699"/>
                </a:solidFill>
                <a:latin typeface="+mn-ea"/>
                <a:ea typeface="+mn-ea"/>
              </a:rPr>
              <a:t>HPC</a:t>
            </a:r>
            <a:r>
              <a:rPr lang="en-US" altLang="en-US" dirty="0">
                <a:latin typeface="+mn-ea"/>
                <a:ea typeface="+mn-ea"/>
              </a:rPr>
              <a:t>)</a:t>
            </a:r>
          </a:p>
          <a:p>
            <a:pPr lvl="2"/>
            <a:r>
              <a:rPr lang="en-US" altLang="en-US" sz="1600" dirty="0">
                <a:latin typeface="+mn-ea"/>
                <a:ea typeface="+mn-ea"/>
              </a:rPr>
              <a:t>Applications must be written to use </a:t>
            </a:r>
            <a:r>
              <a:rPr lang="en-US" altLang="en-US" sz="1600" b="1" dirty="0">
                <a:solidFill>
                  <a:srgbClr val="006699"/>
                </a:solidFill>
                <a:latin typeface="+mn-ea"/>
                <a:ea typeface="+mn-ea"/>
              </a:rPr>
              <a:t>parallelization</a:t>
            </a:r>
          </a:p>
          <a:p>
            <a:pPr lvl="1"/>
            <a:r>
              <a:rPr lang="en-US" altLang="en-US" dirty="0">
                <a:latin typeface="+mn-ea"/>
                <a:ea typeface="+mn-ea"/>
              </a:rPr>
              <a:t>Some have</a:t>
            </a:r>
            <a:r>
              <a:rPr lang="en-US" altLang="en-US" b="1" dirty="0">
                <a:solidFill>
                  <a:srgbClr val="3366FF"/>
                </a:solidFill>
                <a:latin typeface="+mn-ea"/>
                <a:ea typeface="+mn-ea"/>
              </a:rPr>
              <a:t> </a:t>
            </a:r>
            <a:r>
              <a:rPr lang="en-US" altLang="en-US" b="1" dirty="0">
                <a:solidFill>
                  <a:srgbClr val="006699"/>
                </a:solidFill>
                <a:latin typeface="+mn-ea"/>
                <a:ea typeface="+mn-ea"/>
              </a:rPr>
              <a:t>distributed lock manager </a:t>
            </a:r>
            <a:r>
              <a:rPr lang="en-US" altLang="en-US" dirty="0">
                <a:latin typeface="+mn-ea"/>
                <a:ea typeface="+mn-ea"/>
              </a:rPr>
              <a:t>(</a:t>
            </a:r>
            <a:r>
              <a:rPr lang="en-US" altLang="en-US" b="1" dirty="0">
                <a:solidFill>
                  <a:srgbClr val="006699"/>
                </a:solidFill>
                <a:latin typeface="+mn-ea"/>
                <a:ea typeface="+mn-ea"/>
              </a:rPr>
              <a:t>DLM</a:t>
            </a:r>
            <a:r>
              <a:rPr lang="en-US" altLang="en-US" dirty="0">
                <a:latin typeface="+mn-ea"/>
                <a:ea typeface="+mn-ea"/>
              </a:rPr>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436" y="1729378"/>
            <a:ext cx="6928411" cy="355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dirty="0"/>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3631" y="929205"/>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1258378" y="1041808"/>
            <a:ext cx="6365419" cy="2594528"/>
          </a:xfrm>
        </p:spPr>
        <p:txBody>
          <a:bodyPr/>
          <a:lstStyle/>
          <a:p>
            <a:r>
              <a:rPr lang="en-US" altLang="en-US" sz="2000" dirty="0"/>
              <a:t>Traditional</a:t>
            </a:r>
          </a:p>
          <a:p>
            <a:r>
              <a:rPr lang="en-US" altLang="en-US" sz="2000" dirty="0"/>
              <a:t>Mobile</a:t>
            </a:r>
          </a:p>
          <a:p>
            <a:r>
              <a:rPr lang="en-US" altLang="en-US" sz="2000" dirty="0"/>
              <a:t>Client Server</a:t>
            </a:r>
          </a:p>
          <a:p>
            <a:r>
              <a:rPr lang="en-US" altLang="en-US" sz="2000" dirty="0"/>
              <a:t>Peer-to-Peer</a:t>
            </a:r>
          </a:p>
          <a:p>
            <a:r>
              <a:rPr lang="en-US" altLang="en-US" sz="2000" dirty="0"/>
              <a:t>Cloud computing</a:t>
            </a:r>
          </a:p>
          <a:p>
            <a:r>
              <a:rPr lang="en-US" altLang="en-US" sz="2000" dirty="0"/>
              <a:t>Real-time Embedded</a:t>
            </a:r>
          </a:p>
        </p:txBody>
      </p:sp>
    </p:spTree>
    <p:extLst>
      <p:ext uri="{BB962C8B-B14F-4D97-AF65-F5344CB8AC3E}">
        <p14:creationId xmlns:p14="http://schemas.microsoft.com/office/powerpoint/2010/main" val="4248804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960668" y="1084522"/>
            <a:ext cx="7566643" cy="3179134"/>
          </a:xfrm>
        </p:spPr>
        <p:txBody>
          <a:bodyPr/>
          <a:lstStyle/>
          <a:p>
            <a:r>
              <a:rPr lang="en-US" altLang="en-US" sz="2000" dirty="0">
                <a:latin typeface="+mn-ea"/>
                <a:ea typeface="+mn-ea"/>
              </a:rPr>
              <a:t>Stand-alone general-purpose machines</a:t>
            </a:r>
          </a:p>
          <a:p>
            <a:r>
              <a:rPr lang="en-US" altLang="en-US" sz="2000" dirty="0">
                <a:latin typeface="+mn-ea"/>
                <a:ea typeface="+mn-ea"/>
              </a:rPr>
              <a:t>But blurred as most systems interconnect with others (i.e., the Internet)</a:t>
            </a:r>
          </a:p>
          <a:p>
            <a:r>
              <a:rPr lang="en-US" altLang="en-US" sz="2000" b="1" dirty="0">
                <a:solidFill>
                  <a:srgbClr val="006699"/>
                </a:solidFill>
                <a:latin typeface="+mn-ea"/>
                <a:ea typeface="+mn-ea"/>
              </a:rPr>
              <a:t>Portals</a:t>
            </a:r>
            <a:r>
              <a:rPr lang="en-US" altLang="en-US" sz="2000" dirty="0">
                <a:latin typeface="+mn-ea"/>
                <a:ea typeface="+mn-ea"/>
              </a:rPr>
              <a:t> provide web access to internal systems</a:t>
            </a:r>
          </a:p>
          <a:p>
            <a:r>
              <a:rPr lang="en-US" altLang="en-US" sz="2000" b="1" dirty="0">
                <a:solidFill>
                  <a:srgbClr val="006699"/>
                </a:solidFill>
                <a:latin typeface="+mn-ea"/>
                <a:ea typeface="+mn-ea"/>
              </a:rPr>
              <a:t>Network computers </a:t>
            </a:r>
            <a:r>
              <a:rPr lang="en-US" altLang="en-US" sz="2000" dirty="0">
                <a:latin typeface="+mn-ea"/>
                <a:ea typeface="+mn-ea"/>
              </a:rPr>
              <a:t>(</a:t>
            </a:r>
            <a:r>
              <a:rPr lang="en-US" altLang="en-US" sz="2000" b="1" dirty="0">
                <a:solidFill>
                  <a:srgbClr val="006699"/>
                </a:solidFill>
                <a:latin typeface="+mn-ea"/>
                <a:ea typeface="+mn-ea"/>
              </a:rPr>
              <a:t>thin clients</a:t>
            </a:r>
            <a:r>
              <a:rPr lang="en-US" altLang="en-US" sz="2000" dirty="0">
                <a:latin typeface="+mn-ea"/>
                <a:ea typeface="+mn-ea"/>
              </a:rPr>
              <a:t>) are like Web terminals</a:t>
            </a:r>
          </a:p>
          <a:p>
            <a:r>
              <a:rPr lang="en-US" altLang="en-US" sz="2000" dirty="0">
                <a:latin typeface="+mn-ea"/>
                <a:ea typeface="+mn-ea"/>
              </a:rPr>
              <a:t>Mobile computers interconnect via </a:t>
            </a:r>
            <a:r>
              <a:rPr lang="en-US" altLang="en-US" sz="2000" b="1" dirty="0">
                <a:solidFill>
                  <a:srgbClr val="006699"/>
                </a:solidFill>
                <a:latin typeface="+mn-ea"/>
                <a:ea typeface="+mn-ea"/>
              </a:rPr>
              <a:t>wireless networks</a:t>
            </a:r>
          </a:p>
          <a:p>
            <a:r>
              <a:rPr lang="en-US" altLang="en-US" sz="2000" dirty="0">
                <a:latin typeface="+mn-ea"/>
                <a:ea typeface="+mn-ea"/>
              </a:rPr>
              <a:t>Networking becoming ubiquitous – even home systems use </a:t>
            </a:r>
            <a:r>
              <a:rPr lang="en-US" altLang="en-US" sz="2000" b="1" dirty="0">
                <a:solidFill>
                  <a:srgbClr val="006699"/>
                </a:solidFill>
                <a:latin typeface="+mn-ea"/>
                <a:ea typeface="+mn-ea"/>
              </a:rPr>
              <a:t>firewalls</a:t>
            </a:r>
            <a:r>
              <a:rPr lang="en-US" altLang="en-US" sz="2000" dirty="0">
                <a:latin typeface="+mn-ea"/>
                <a:ea typeface="+mn-ea"/>
              </a:rPr>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908253" y="1039553"/>
            <a:ext cx="7673568" cy="3128410"/>
          </a:xfrm>
        </p:spPr>
        <p:txBody>
          <a:bodyPr/>
          <a:lstStyle/>
          <a:p>
            <a:r>
              <a:rPr lang="en-US" altLang="en-US" sz="2000" dirty="0">
                <a:latin typeface="+mn-ea"/>
                <a:ea typeface="+mn-ea"/>
              </a:rPr>
              <a:t>Handheld smartphones, tablets, etc.</a:t>
            </a:r>
          </a:p>
          <a:p>
            <a:r>
              <a:rPr lang="en-US" altLang="en-US" sz="2000" dirty="0">
                <a:latin typeface="+mn-ea"/>
                <a:ea typeface="+mn-ea"/>
              </a:rPr>
              <a:t>What is the functional difference between them and a “traditional” laptop?</a:t>
            </a:r>
          </a:p>
          <a:p>
            <a:r>
              <a:rPr lang="en-US" altLang="en-US" sz="2000" dirty="0">
                <a:latin typeface="+mn-ea"/>
                <a:ea typeface="+mn-ea"/>
              </a:rPr>
              <a:t>Extra feature – more OS features (GPS, gyroscope)</a:t>
            </a:r>
          </a:p>
          <a:p>
            <a:r>
              <a:rPr lang="en-US" altLang="en-US" sz="2000" dirty="0">
                <a:latin typeface="+mn-ea"/>
                <a:ea typeface="+mn-ea"/>
              </a:rPr>
              <a:t>Allows new types of apps like </a:t>
            </a:r>
            <a:r>
              <a:rPr lang="en-US" altLang="en-US" sz="2000" b="1" i="1" dirty="0">
                <a:latin typeface="+mn-ea"/>
                <a:ea typeface="+mn-ea"/>
              </a:rPr>
              <a:t>augmented reality</a:t>
            </a:r>
          </a:p>
          <a:p>
            <a:r>
              <a:rPr lang="en-US" altLang="en-US" sz="2000" dirty="0">
                <a:latin typeface="+mn-ea"/>
                <a:ea typeface="+mn-ea"/>
              </a:rPr>
              <a:t>Use IEEE 802.11 wireless, or cellular data networks for connectivity</a:t>
            </a:r>
          </a:p>
          <a:p>
            <a:r>
              <a:rPr lang="en-US" altLang="en-US" sz="2000" dirty="0">
                <a:latin typeface="+mn-ea"/>
                <a:ea typeface="+mn-ea"/>
              </a:rPr>
              <a:t>Leaders are </a:t>
            </a:r>
            <a:r>
              <a:rPr lang="en-US" altLang="en-US" sz="2000" b="1" dirty="0">
                <a:solidFill>
                  <a:srgbClr val="006699"/>
                </a:solidFill>
                <a:latin typeface="+mn-ea"/>
                <a:ea typeface="+mn-ea"/>
              </a:rPr>
              <a:t>Apple iOS </a:t>
            </a:r>
            <a:r>
              <a:rPr lang="en-US" altLang="en-US" sz="2000" dirty="0">
                <a:latin typeface="+mn-ea"/>
                <a:ea typeface="+mn-ea"/>
              </a:rPr>
              <a:t>and </a:t>
            </a:r>
            <a:r>
              <a:rPr lang="en-US" altLang="en-US" sz="2000" b="1" dirty="0">
                <a:solidFill>
                  <a:srgbClr val="006699"/>
                </a:solidFill>
                <a:latin typeface="+mn-ea"/>
                <a:ea typeface="+mn-ea"/>
              </a:rPr>
              <a:t>Google Android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243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sz="2000" dirty="0">
                <a:latin typeface="+mn-ea"/>
                <a:ea typeface="+mn-ea"/>
              </a:rPr>
              <a:t>Client-Server Computing</a:t>
            </a:r>
          </a:p>
          <a:p>
            <a:pPr lvl="1">
              <a:lnSpc>
                <a:spcPct val="90000"/>
              </a:lnSpc>
              <a:buSzPct val="80000"/>
            </a:pPr>
            <a:r>
              <a:rPr lang="en-US" altLang="en-US" dirty="0">
                <a:latin typeface="+mn-ea"/>
                <a:ea typeface="+mn-ea"/>
              </a:rPr>
              <a:t>Dumb terminals supplanted by smart PCs</a:t>
            </a:r>
          </a:p>
          <a:p>
            <a:pPr lvl="1">
              <a:lnSpc>
                <a:spcPct val="90000"/>
              </a:lnSpc>
              <a:buSzPct val="80000"/>
            </a:pPr>
            <a:r>
              <a:rPr lang="en-US" altLang="en-US" dirty="0">
                <a:latin typeface="+mn-ea"/>
                <a:ea typeface="+mn-ea"/>
              </a:rPr>
              <a:t>Many systems now </a:t>
            </a:r>
            <a:r>
              <a:rPr lang="en-US" altLang="en-US" b="1" dirty="0">
                <a:solidFill>
                  <a:srgbClr val="006699"/>
                </a:solidFill>
                <a:latin typeface="+mn-ea"/>
                <a:ea typeface="+mn-ea"/>
              </a:rPr>
              <a:t>servers</a:t>
            </a:r>
            <a:r>
              <a:rPr lang="en-US" altLang="en-US" dirty="0">
                <a:latin typeface="+mn-ea"/>
                <a:ea typeface="+mn-ea"/>
              </a:rPr>
              <a:t>, responding to requests generated by </a:t>
            </a:r>
            <a:r>
              <a:rPr lang="en-US" altLang="en-US" b="1" dirty="0">
                <a:solidFill>
                  <a:srgbClr val="006699"/>
                </a:solidFill>
                <a:latin typeface="+mn-ea"/>
                <a:ea typeface="+mn-ea"/>
              </a:rPr>
              <a:t>clients</a:t>
            </a:r>
          </a:p>
          <a:p>
            <a:pPr lvl="2">
              <a:lnSpc>
                <a:spcPct val="90000"/>
              </a:lnSpc>
            </a:pPr>
            <a:r>
              <a:rPr lang="en-US" altLang="en-US" b="1" dirty="0">
                <a:solidFill>
                  <a:srgbClr val="006699"/>
                </a:solidFill>
                <a:latin typeface="+mn-ea"/>
                <a:ea typeface="+mn-ea"/>
              </a:rPr>
              <a:t>Compute-server system </a:t>
            </a:r>
            <a:r>
              <a:rPr lang="en-US" altLang="en-US" dirty="0">
                <a:latin typeface="+mn-ea"/>
                <a:ea typeface="+mn-ea"/>
              </a:rPr>
              <a:t>provides an interface to client to request services (i.e., database)</a:t>
            </a:r>
          </a:p>
          <a:p>
            <a:pPr lvl="2">
              <a:lnSpc>
                <a:spcPct val="90000"/>
              </a:lnSpc>
            </a:pPr>
            <a:r>
              <a:rPr lang="en-US" altLang="en-US" b="1" dirty="0">
                <a:solidFill>
                  <a:srgbClr val="006699"/>
                </a:solidFill>
                <a:latin typeface="+mn-ea"/>
                <a:ea typeface="+mn-ea"/>
              </a:rPr>
              <a:t>File-server system </a:t>
            </a:r>
            <a:r>
              <a:rPr lang="en-US" altLang="en-US" dirty="0">
                <a:latin typeface="+mn-ea"/>
                <a:ea typeface="+mn-ea"/>
              </a:rPr>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66950" y="3987025"/>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9"/>
            <a:ext cx="5253038" cy="4178484"/>
          </a:xfrm>
        </p:spPr>
        <p:txBody>
          <a:bodyPr/>
          <a:lstStyle/>
          <a:p>
            <a:r>
              <a:rPr lang="en-US" altLang="en-US" dirty="0">
                <a:latin typeface="+mn-ea"/>
                <a:ea typeface="+mn-ea"/>
              </a:rPr>
              <a:t>Another model of distributed system</a:t>
            </a:r>
          </a:p>
          <a:p>
            <a:r>
              <a:rPr lang="en-US" altLang="en-US" dirty="0">
                <a:latin typeface="+mn-ea"/>
                <a:ea typeface="+mn-ea"/>
              </a:rPr>
              <a:t>P2P does not distinguish clients and servers</a:t>
            </a:r>
          </a:p>
          <a:p>
            <a:pPr lvl="1"/>
            <a:r>
              <a:rPr lang="en-US" altLang="en-US" dirty="0">
                <a:latin typeface="+mn-ea"/>
                <a:ea typeface="+mn-ea"/>
              </a:rPr>
              <a:t>Instead all nodes are considered peers</a:t>
            </a:r>
          </a:p>
          <a:p>
            <a:pPr lvl="1"/>
            <a:r>
              <a:rPr lang="en-US" altLang="en-US" dirty="0">
                <a:latin typeface="+mn-ea"/>
                <a:ea typeface="+mn-ea"/>
              </a:rPr>
              <a:t>May each act as client, server or both</a:t>
            </a:r>
          </a:p>
          <a:p>
            <a:pPr lvl="1"/>
            <a:r>
              <a:rPr lang="en-US" altLang="en-US" dirty="0">
                <a:latin typeface="+mn-ea"/>
                <a:ea typeface="+mn-ea"/>
              </a:rPr>
              <a:t>Node must join P2P network</a:t>
            </a:r>
          </a:p>
          <a:p>
            <a:pPr lvl="2"/>
            <a:r>
              <a:rPr lang="en-US" altLang="en-US" dirty="0">
                <a:latin typeface="+mn-ea"/>
                <a:ea typeface="+mn-ea"/>
              </a:rPr>
              <a:t>Registers its service with central lookup service on network, or</a:t>
            </a:r>
          </a:p>
          <a:p>
            <a:pPr lvl="2"/>
            <a:r>
              <a:rPr lang="en-US" altLang="en-US" dirty="0">
                <a:latin typeface="+mn-ea"/>
                <a:ea typeface="+mn-ea"/>
              </a:rPr>
              <a:t>Broadcast request for service and respond to requests for service via </a:t>
            </a:r>
            <a:r>
              <a:rPr lang="en-US" altLang="en-US" b="1" i="1" dirty="0">
                <a:latin typeface="+mn-ea"/>
                <a:ea typeface="+mn-ea"/>
              </a:rPr>
              <a:t>discovery protocol</a:t>
            </a:r>
          </a:p>
          <a:p>
            <a:pPr lvl="1"/>
            <a:r>
              <a:rPr lang="en-US" altLang="en-US" dirty="0">
                <a:latin typeface="+mn-ea"/>
                <a:ea typeface="+mn-ea"/>
              </a:rPr>
              <a:t>Examples include</a:t>
            </a:r>
            <a:r>
              <a:rPr lang="en-US" altLang="en-US" i="1" dirty="0">
                <a:latin typeface="+mn-ea"/>
                <a:ea typeface="+mn-ea"/>
              </a:rPr>
              <a:t> </a:t>
            </a:r>
            <a:r>
              <a:rPr lang="en-US" altLang="en-US" dirty="0">
                <a:latin typeface="+mn-ea"/>
                <a:ea typeface="+mn-ea"/>
              </a:rPr>
              <a:t>Napster</a:t>
            </a:r>
            <a:r>
              <a:rPr lang="en-US" altLang="en-US" i="1" dirty="0">
                <a:latin typeface="+mn-ea"/>
                <a:ea typeface="+mn-ea"/>
              </a:rPr>
              <a:t> </a:t>
            </a:r>
            <a:r>
              <a:rPr lang="en-US" altLang="en-US" dirty="0">
                <a:latin typeface="+mn-ea"/>
                <a:ea typeface="+mn-ea"/>
              </a:rPr>
              <a:t>and</a:t>
            </a:r>
            <a:r>
              <a:rPr lang="en-US" altLang="en-US" i="1" dirty="0">
                <a:latin typeface="+mn-ea"/>
                <a:ea typeface="+mn-ea"/>
              </a:rPr>
              <a:t> </a:t>
            </a:r>
            <a:r>
              <a:rPr lang="en-US" altLang="en-US" dirty="0">
                <a:latin typeface="+mn-ea"/>
                <a:ea typeface="+mn-ea"/>
              </a:rPr>
              <a:t>Gnutella</a:t>
            </a:r>
            <a:r>
              <a:rPr lang="en-US" altLang="en-US" i="1" dirty="0">
                <a:latin typeface="+mn-ea"/>
                <a:ea typeface="+mn-ea"/>
              </a:rPr>
              <a:t>, </a:t>
            </a:r>
            <a:r>
              <a:rPr lang="en-US" altLang="en-US" b="1" kern="1200" dirty="0">
                <a:solidFill>
                  <a:srgbClr val="006699"/>
                </a:solidFill>
                <a:latin typeface="+mn-ea"/>
                <a:ea typeface="+mn-ea"/>
                <a:cs typeface="+mn-cs"/>
              </a:rPr>
              <a:t>Voice over IP </a:t>
            </a:r>
            <a:r>
              <a:rPr lang="en-US" altLang="en-US" dirty="0">
                <a:latin typeface="+mn-ea"/>
                <a:ea typeface="+mn-ea"/>
              </a:rPr>
              <a:t>(</a:t>
            </a:r>
            <a:r>
              <a:rPr lang="en-US" altLang="en-US" b="1" kern="1200" dirty="0">
                <a:solidFill>
                  <a:srgbClr val="006699"/>
                </a:solidFill>
                <a:latin typeface="+mn-ea"/>
                <a:ea typeface="+mn-ea"/>
                <a:cs typeface="+mn-cs"/>
              </a:rPr>
              <a:t>VoIP</a:t>
            </a:r>
            <a:r>
              <a:rPr lang="en-US" altLang="en-US" dirty="0">
                <a:latin typeface="+mn-ea"/>
                <a:ea typeface="+mn-ea"/>
              </a:rPr>
              <a:t>)</a:t>
            </a:r>
            <a:r>
              <a:rPr lang="en-US" altLang="en-US" i="1" dirty="0">
                <a:latin typeface="+mn-ea"/>
                <a:ea typeface="+mn-ea"/>
              </a:rPr>
              <a:t> </a:t>
            </a:r>
            <a:r>
              <a:rPr lang="en-US" altLang="en-US" dirty="0">
                <a:latin typeface="+mn-ea"/>
                <a:ea typeface="+mn-ea"/>
              </a:rPr>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1"/>
            <a:ext cx="7678330" cy="2714108"/>
          </a:xfrm>
        </p:spPr>
        <p:txBody>
          <a:bodyPr/>
          <a:lstStyle/>
          <a:p>
            <a:r>
              <a:rPr lang="en-US" altLang="en-US" sz="2000" dirty="0">
                <a:latin typeface="+mn-ea"/>
                <a:ea typeface="+mn-ea"/>
              </a:rPr>
              <a:t>Delivers computing, storage, even apps as a service across a network</a:t>
            </a:r>
          </a:p>
          <a:p>
            <a:r>
              <a:rPr lang="en-US" altLang="en-US" sz="2000" dirty="0">
                <a:latin typeface="+mn-ea"/>
                <a:ea typeface="+mn-ea"/>
              </a:rPr>
              <a:t>Logical extension of virtualization because it uses virtualization as the base for it functionality.</a:t>
            </a:r>
          </a:p>
          <a:p>
            <a:pPr lvl="1"/>
            <a:r>
              <a:rPr lang="en-US" altLang="en-US" dirty="0">
                <a:latin typeface="+mn-ea"/>
                <a:ea typeface="+mn-ea"/>
              </a:rPr>
              <a:t>Amazon </a:t>
            </a:r>
            <a:r>
              <a:rPr lang="en-US" altLang="en-US" b="1" kern="1200" dirty="0">
                <a:solidFill>
                  <a:srgbClr val="006699"/>
                </a:solidFill>
                <a:latin typeface="+mn-ea"/>
                <a:ea typeface="+mn-ea"/>
                <a:cs typeface="+mn-cs"/>
              </a:rPr>
              <a:t>EC2</a:t>
            </a:r>
            <a:r>
              <a:rPr lang="en-US" altLang="en-US" dirty="0">
                <a:latin typeface="+mn-ea"/>
                <a:ea typeface="+mn-ea"/>
              </a:rPr>
              <a:t>  has thousands of servers, millions of virtual machines, petabytes of storage available across the Internet, pay based on usage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1"/>
            <a:ext cx="7712075" cy="3734834"/>
          </a:xfrm>
        </p:spPr>
        <p:txBody>
          <a:bodyPr/>
          <a:lstStyle/>
          <a:p>
            <a:r>
              <a:rPr lang="en-US" altLang="en-US" sz="2000"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07138"/>
            <a:ext cx="7645400" cy="1571625"/>
          </a:xfrm>
        </p:spPr>
        <p:txBody>
          <a:bodyPr/>
          <a:lstStyle/>
          <a:p>
            <a:r>
              <a:rPr lang="en-US" altLang="en-US" sz="2000"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kern="0" dirty="0"/>
              <a:t>Cloud Computing (cont.)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485583" y="103505"/>
            <a:ext cx="6581457" cy="711200"/>
          </a:xfrm>
        </p:spPr>
        <p:txBody>
          <a:bodyPr/>
          <a:lstStyle/>
          <a:p>
            <a:r>
              <a:rPr lang="en-US" altLang="en-US"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499731" y="1154113"/>
            <a:ext cx="8197702" cy="3258399"/>
          </a:xfrm>
        </p:spPr>
        <p:txBody>
          <a:bodyPr/>
          <a:lstStyle/>
          <a:p>
            <a:r>
              <a:rPr lang="en-US" altLang="en-US" sz="2000" dirty="0">
                <a:latin typeface="+mn-ea"/>
                <a:ea typeface="+mn-ea"/>
              </a:rPr>
              <a:t>Real-time embedded systems most prevalent form of computers</a:t>
            </a:r>
          </a:p>
          <a:p>
            <a:pPr lvl="1"/>
            <a:r>
              <a:rPr lang="en-US" altLang="en-US" dirty="0">
                <a:latin typeface="+mn-ea"/>
                <a:ea typeface="+mn-ea"/>
              </a:rPr>
              <a:t>Vary considerable, special purpose, limited purpose OS,  </a:t>
            </a:r>
            <a:r>
              <a:rPr lang="en-US" altLang="en-US" b="1" kern="1200" dirty="0">
                <a:solidFill>
                  <a:srgbClr val="006699"/>
                </a:solidFill>
                <a:latin typeface="+mn-ea"/>
                <a:ea typeface="+mn-ea"/>
                <a:cs typeface="+mn-cs"/>
              </a:rPr>
              <a:t>real-time OS</a:t>
            </a:r>
          </a:p>
          <a:p>
            <a:pPr lvl="1"/>
            <a:r>
              <a:rPr lang="en-US" altLang="en-US" dirty="0">
                <a:latin typeface="+mn-ea"/>
                <a:ea typeface="+mn-ea"/>
              </a:rPr>
              <a:t>Use expanding</a:t>
            </a:r>
          </a:p>
          <a:p>
            <a:r>
              <a:rPr lang="en-US" altLang="en-US" sz="2000" dirty="0">
                <a:latin typeface="+mn-ea"/>
                <a:ea typeface="+mn-ea"/>
              </a:rPr>
              <a:t>Many other special computing environments as well</a:t>
            </a:r>
          </a:p>
          <a:p>
            <a:pPr lvl="1"/>
            <a:r>
              <a:rPr lang="en-US" altLang="en-US" dirty="0">
                <a:latin typeface="+mn-ea"/>
                <a:ea typeface="+mn-ea"/>
              </a:rPr>
              <a:t>Some have OSes, some perform tasks without an OS</a:t>
            </a:r>
          </a:p>
          <a:p>
            <a:r>
              <a:rPr lang="en-US" altLang="en-US" sz="2000" dirty="0">
                <a:latin typeface="+mn-ea"/>
                <a:ea typeface="+mn-ea"/>
              </a:rPr>
              <a:t>Real-time OS has well-defined fixed time constraints</a:t>
            </a:r>
          </a:p>
          <a:p>
            <a:pPr lvl="1"/>
            <a:r>
              <a:rPr lang="en-US" altLang="en-US" dirty="0">
                <a:latin typeface="+mn-ea"/>
                <a:ea typeface="+mn-ea"/>
              </a:rPr>
              <a:t>Processing </a:t>
            </a:r>
            <a:r>
              <a:rPr lang="en-US" altLang="en-US" b="1" i="1" dirty="0">
                <a:latin typeface="+mn-ea"/>
                <a:ea typeface="+mn-ea"/>
              </a:rPr>
              <a:t>must</a:t>
            </a:r>
            <a:r>
              <a:rPr lang="en-US" altLang="en-US" dirty="0">
                <a:latin typeface="+mn-ea"/>
                <a:ea typeface="+mn-ea"/>
              </a:rPr>
              <a:t> be done within constraint</a:t>
            </a:r>
          </a:p>
          <a:p>
            <a:pPr lvl="1"/>
            <a:r>
              <a:rPr lang="en-US" altLang="en-US" dirty="0">
                <a:latin typeface="+mn-ea"/>
                <a:ea typeface="+mn-ea"/>
              </a:rPr>
              <a:t>Correct operation only if constraints met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dirty="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982487"/>
          </a:xfrm>
        </p:spPr>
        <p:txBody>
          <a:bodyPr/>
          <a:lstStyle/>
          <a:p>
            <a:r>
              <a:rPr lang="en-US" altLang="en-US" dirty="0">
                <a:latin typeface="+mn-ea"/>
                <a:ea typeface="+mn-ea"/>
              </a:rPr>
              <a:t>Operating systems made available in source-code format rather than just binary </a:t>
            </a:r>
            <a:r>
              <a:rPr lang="en-US" altLang="en-US" b="1" kern="1200" dirty="0">
                <a:solidFill>
                  <a:srgbClr val="006699"/>
                </a:solidFill>
                <a:latin typeface="+mn-ea"/>
                <a:ea typeface="+mn-ea"/>
                <a:cs typeface="+mn-cs"/>
              </a:rPr>
              <a:t>closed-source</a:t>
            </a:r>
            <a:r>
              <a:rPr lang="en-US" altLang="en-US" b="1" dirty="0">
                <a:solidFill>
                  <a:srgbClr val="3366FF"/>
                </a:solidFill>
                <a:latin typeface="+mn-ea"/>
                <a:ea typeface="+mn-ea"/>
              </a:rPr>
              <a:t> </a:t>
            </a:r>
            <a:r>
              <a:rPr lang="en-US" altLang="en-US" dirty="0">
                <a:latin typeface="+mn-ea"/>
                <a:ea typeface="+mn-ea"/>
              </a:rPr>
              <a:t>and</a:t>
            </a:r>
            <a:r>
              <a:rPr lang="en-US" altLang="en-US" b="1" dirty="0">
                <a:solidFill>
                  <a:srgbClr val="3366FF"/>
                </a:solidFill>
                <a:latin typeface="+mn-ea"/>
                <a:ea typeface="+mn-ea"/>
              </a:rPr>
              <a:t> </a:t>
            </a:r>
            <a:r>
              <a:rPr lang="en-US" altLang="en-US" b="1" kern="1200" dirty="0">
                <a:solidFill>
                  <a:srgbClr val="006699"/>
                </a:solidFill>
                <a:latin typeface="+mn-ea"/>
                <a:ea typeface="+mn-ea"/>
                <a:cs typeface="+mn-cs"/>
              </a:rPr>
              <a:t>proprietary</a:t>
            </a:r>
          </a:p>
          <a:p>
            <a:r>
              <a:rPr lang="en-US" altLang="en-US" dirty="0">
                <a:latin typeface="+mn-ea"/>
                <a:ea typeface="+mn-ea"/>
              </a:rPr>
              <a:t>Counter to the </a:t>
            </a:r>
            <a:r>
              <a:rPr lang="en-US" altLang="en-US" b="1" kern="1200" dirty="0">
                <a:solidFill>
                  <a:srgbClr val="006699"/>
                </a:solidFill>
                <a:latin typeface="+mn-ea"/>
                <a:ea typeface="+mn-ea"/>
                <a:cs typeface="+mn-cs"/>
              </a:rPr>
              <a:t>copy protection </a:t>
            </a:r>
            <a:r>
              <a:rPr lang="en-US" altLang="en-US" dirty="0">
                <a:solidFill>
                  <a:srgbClr val="000000"/>
                </a:solidFill>
                <a:latin typeface="+mn-ea"/>
                <a:ea typeface="+mn-ea"/>
              </a:rPr>
              <a:t>and </a:t>
            </a:r>
            <a:r>
              <a:rPr lang="en-US" altLang="en-US" b="1" kern="1200" dirty="0">
                <a:solidFill>
                  <a:srgbClr val="006699"/>
                </a:solidFill>
                <a:latin typeface="+mn-ea"/>
                <a:ea typeface="+mn-ea"/>
                <a:cs typeface="+mn-cs"/>
              </a:rPr>
              <a:t>Digital Rights Management </a:t>
            </a:r>
            <a:r>
              <a:rPr lang="en-US" altLang="en-US" dirty="0">
                <a:latin typeface="+mn-ea"/>
                <a:ea typeface="+mn-ea"/>
              </a:rPr>
              <a:t>(</a:t>
            </a:r>
            <a:r>
              <a:rPr lang="en-US" altLang="en-US" b="1" kern="1200" dirty="0">
                <a:solidFill>
                  <a:srgbClr val="006699"/>
                </a:solidFill>
                <a:latin typeface="+mn-ea"/>
                <a:ea typeface="+mn-ea"/>
                <a:cs typeface="+mn-cs"/>
              </a:rPr>
              <a:t>DRM</a:t>
            </a:r>
            <a:r>
              <a:rPr lang="en-US" altLang="en-US" dirty="0">
                <a:latin typeface="+mn-ea"/>
                <a:ea typeface="+mn-ea"/>
              </a:rPr>
              <a:t>) </a:t>
            </a:r>
            <a:r>
              <a:rPr lang="en-US" altLang="en-US" dirty="0">
                <a:solidFill>
                  <a:srgbClr val="000000"/>
                </a:solidFill>
                <a:latin typeface="+mn-ea"/>
                <a:ea typeface="+mn-ea"/>
              </a:rPr>
              <a:t>movement</a:t>
            </a:r>
          </a:p>
          <a:p>
            <a:r>
              <a:rPr lang="en-US" altLang="en-US" dirty="0">
                <a:solidFill>
                  <a:srgbClr val="000000"/>
                </a:solidFill>
                <a:latin typeface="+mn-ea"/>
                <a:ea typeface="+mn-ea"/>
              </a:rPr>
              <a:t>Started by </a:t>
            </a:r>
            <a:r>
              <a:rPr lang="en-US" altLang="en-US" b="1" kern="1200" dirty="0">
                <a:solidFill>
                  <a:srgbClr val="006699"/>
                </a:solidFill>
                <a:latin typeface="+mn-ea"/>
                <a:ea typeface="+mn-ea"/>
                <a:cs typeface="+mn-cs"/>
              </a:rPr>
              <a:t>Free Software Foundation </a:t>
            </a:r>
            <a:r>
              <a:rPr lang="en-US" altLang="en-US" dirty="0">
                <a:solidFill>
                  <a:srgbClr val="000000"/>
                </a:solidFill>
                <a:latin typeface="+mn-ea"/>
                <a:ea typeface="+mn-ea"/>
              </a:rPr>
              <a:t>(</a:t>
            </a:r>
            <a:r>
              <a:rPr lang="en-US" altLang="en-US" b="1" kern="1200" dirty="0">
                <a:solidFill>
                  <a:srgbClr val="006699"/>
                </a:solidFill>
                <a:latin typeface="+mn-ea"/>
                <a:ea typeface="+mn-ea"/>
                <a:cs typeface="+mn-cs"/>
              </a:rPr>
              <a:t>FSF</a:t>
            </a:r>
            <a:r>
              <a:rPr lang="en-US" altLang="en-US" dirty="0">
                <a:latin typeface="+mn-ea"/>
                <a:ea typeface="+mn-ea"/>
              </a:rPr>
              <a:t>)</a:t>
            </a:r>
            <a:r>
              <a:rPr lang="en-US" altLang="en-US" dirty="0">
                <a:solidFill>
                  <a:srgbClr val="000000"/>
                </a:solidFill>
                <a:latin typeface="+mn-ea"/>
                <a:ea typeface="+mn-ea"/>
              </a:rPr>
              <a:t>, which has </a:t>
            </a:r>
            <a:r>
              <a:rPr lang="ja-JP" altLang="en-US" dirty="0">
                <a:solidFill>
                  <a:srgbClr val="000000"/>
                </a:solidFill>
                <a:latin typeface="+mn-ea"/>
                <a:ea typeface="+mn-ea"/>
              </a:rPr>
              <a:t>“</a:t>
            </a:r>
            <a:r>
              <a:rPr lang="en-US" altLang="ja-JP" dirty="0">
                <a:solidFill>
                  <a:srgbClr val="000000"/>
                </a:solidFill>
                <a:latin typeface="+mn-ea"/>
                <a:ea typeface="+mn-ea"/>
              </a:rPr>
              <a:t>copyleft</a:t>
            </a:r>
            <a:r>
              <a:rPr lang="ja-JP" altLang="en-US" dirty="0">
                <a:solidFill>
                  <a:srgbClr val="000000"/>
                </a:solidFill>
                <a:latin typeface="+mn-ea"/>
                <a:ea typeface="+mn-ea"/>
              </a:rPr>
              <a:t>”</a:t>
            </a:r>
            <a:r>
              <a:rPr lang="en-US" altLang="ja-JP" dirty="0">
                <a:solidFill>
                  <a:srgbClr val="000000"/>
                </a:solidFill>
                <a:latin typeface="+mn-ea"/>
                <a:ea typeface="+mn-ea"/>
              </a:rPr>
              <a:t> </a:t>
            </a:r>
            <a:r>
              <a:rPr lang="en-US" altLang="ja-JP" b="1" kern="1200" dirty="0">
                <a:solidFill>
                  <a:srgbClr val="006699"/>
                </a:solidFill>
                <a:latin typeface="+mn-ea"/>
                <a:ea typeface="+mn-ea"/>
                <a:cs typeface="+mn-cs"/>
              </a:rPr>
              <a:t>GNU Public License </a:t>
            </a:r>
            <a:r>
              <a:rPr lang="en-US" altLang="ja-JP" dirty="0">
                <a:latin typeface="+mn-ea"/>
                <a:ea typeface="+mn-ea"/>
              </a:rPr>
              <a:t>(</a:t>
            </a:r>
            <a:r>
              <a:rPr lang="en-US" altLang="ja-JP" b="1" kern="1200" dirty="0">
                <a:solidFill>
                  <a:srgbClr val="006699"/>
                </a:solidFill>
                <a:latin typeface="+mn-ea"/>
                <a:ea typeface="+mn-ea"/>
                <a:cs typeface="+mn-cs"/>
              </a:rPr>
              <a:t>GPL</a:t>
            </a:r>
            <a:r>
              <a:rPr lang="en-US" altLang="ja-JP" dirty="0">
                <a:latin typeface="+mn-ea"/>
                <a:ea typeface="+mn-ea"/>
              </a:rPr>
              <a:t>)</a:t>
            </a:r>
          </a:p>
          <a:p>
            <a:pPr lvl="1"/>
            <a:r>
              <a:rPr lang="en-US" altLang="en-US" dirty="0">
                <a:latin typeface="+mn-ea"/>
                <a:ea typeface="+mn-ea"/>
              </a:rPr>
              <a:t>Free software and open-source software are two different ideas championed by different groups of people</a:t>
            </a:r>
          </a:p>
          <a:p>
            <a:pPr lvl="2"/>
            <a:r>
              <a:rPr lang="en-US" altLang="en-US" b="1" dirty="0">
                <a:solidFill>
                  <a:srgbClr val="663300"/>
                </a:solidFill>
                <a:latin typeface="+mn-ea"/>
                <a:ea typeface="+mn-ea"/>
              </a:rPr>
              <a:t>https://www.gnu.org/philosophy/open-source-misses-the-point.en.html</a:t>
            </a:r>
          </a:p>
          <a:p>
            <a:r>
              <a:rPr lang="en-US" altLang="en-US" dirty="0">
                <a:solidFill>
                  <a:srgbClr val="000000"/>
                </a:solidFill>
                <a:latin typeface="+mn-ea"/>
                <a:ea typeface="+mn-ea"/>
              </a:rPr>
              <a:t>Examples include </a:t>
            </a:r>
            <a:r>
              <a:rPr lang="en-US" altLang="en-US" b="1" kern="1200" dirty="0">
                <a:solidFill>
                  <a:srgbClr val="006699"/>
                </a:solidFill>
                <a:latin typeface="+mn-ea"/>
                <a:ea typeface="+mn-ea"/>
                <a:cs typeface="+mn-cs"/>
              </a:rPr>
              <a:t>GNU/Linux </a:t>
            </a:r>
            <a:r>
              <a:rPr lang="en-US" altLang="en-US" dirty="0">
                <a:latin typeface="+mn-ea"/>
                <a:ea typeface="+mn-ea"/>
              </a:rPr>
              <a:t>and </a:t>
            </a:r>
            <a:r>
              <a:rPr lang="en-US" altLang="en-US" b="1" kern="1200" dirty="0">
                <a:solidFill>
                  <a:srgbClr val="006699"/>
                </a:solidFill>
                <a:latin typeface="+mn-ea"/>
                <a:ea typeface="+mn-ea"/>
                <a:cs typeface="+mn-cs"/>
              </a:rPr>
              <a:t>BSD UNIX </a:t>
            </a:r>
            <a:r>
              <a:rPr lang="en-US" altLang="en-US" dirty="0">
                <a:solidFill>
                  <a:srgbClr val="000000"/>
                </a:solidFill>
                <a:latin typeface="+mn-ea"/>
                <a:ea typeface="+mn-ea"/>
              </a:rPr>
              <a:t>(including core of </a:t>
            </a:r>
            <a:r>
              <a:rPr lang="en-US" altLang="en-US" b="1" kern="1200" dirty="0">
                <a:solidFill>
                  <a:srgbClr val="006699"/>
                </a:solidFill>
                <a:latin typeface="+mn-ea"/>
                <a:ea typeface="+mn-ea"/>
                <a:cs typeface="+mn-cs"/>
              </a:rPr>
              <a:t>Mac</a:t>
            </a:r>
            <a:r>
              <a:rPr lang="en-US" altLang="en-US" b="1" dirty="0">
                <a:solidFill>
                  <a:srgbClr val="3366FF"/>
                </a:solidFill>
                <a:latin typeface="+mn-ea"/>
                <a:ea typeface="+mn-ea"/>
              </a:rPr>
              <a:t> </a:t>
            </a:r>
            <a:r>
              <a:rPr lang="en-US" altLang="en-US" b="1" kern="1200" dirty="0">
                <a:solidFill>
                  <a:srgbClr val="006699"/>
                </a:solidFill>
                <a:latin typeface="+mn-ea"/>
                <a:ea typeface="+mn-ea"/>
                <a:cs typeface="+mn-cs"/>
              </a:rPr>
              <a:t>OS X</a:t>
            </a:r>
            <a:r>
              <a:rPr lang="en-US" altLang="en-US" dirty="0">
                <a:solidFill>
                  <a:srgbClr val="000000"/>
                </a:solidFill>
                <a:latin typeface="+mn-ea"/>
                <a:ea typeface="+mn-ea"/>
              </a:rPr>
              <a:t>), and many more</a:t>
            </a:r>
          </a:p>
          <a:p>
            <a:r>
              <a:rPr lang="en-US" altLang="en-US" dirty="0">
                <a:solidFill>
                  <a:srgbClr val="000000"/>
                </a:solidFill>
                <a:latin typeface="+mn-ea"/>
                <a:ea typeface="+mn-ea"/>
              </a:rPr>
              <a:t>Can use VMM like VMware Player (Free on Windows), </a:t>
            </a:r>
            <a:r>
              <a:rPr lang="en-US" altLang="en-US" dirty="0" err="1">
                <a:solidFill>
                  <a:srgbClr val="000000"/>
                </a:solidFill>
                <a:latin typeface="+mn-ea"/>
                <a:ea typeface="+mn-ea"/>
              </a:rPr>
              <a:t>Virtualbox</a:t>
            </a:r>
            <a:r>
              <a:rPr lang="en-US" altLang="en-US" dirty="0">
                <a:solidFill>
                  <a:srgbClr val="000000"/>
                </a:solidFill>
                <a:latin typeface="+mn-ea"/>
                <a:ea typeface="+mn-ea"/>
              </a:rPr>
              <a:t> (open source and free on many platforms - </a:t>
            </a:r>
            <a:r>
              <a:rPr lang="en-US" altLang="en-US" dirty="0">
                <a:latin typeface="+mn-ea"/>
                <a:ea typeface="+mn-ea"/>
              </a:rPr>
              <a:t>http://www.virtualbox.com) </a:t>
            </a:r>
          </a:p>
          <a:p>
            <a:pPr lvl="1"/>
            <a:r>
              <a:rPr lang="en-US" altLang="en-US" dirty="0">
                <a:solidFill>
                  <a:srgbClr val="000000"/>
                </a:solidFill>
                <a:latin typeface="+mn-ea"/>
                <a:ea typeface="+mn-ea"/>
              </a:rPr>
              <a:t>Use to run guest operating systems for exploration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dirty="0"/>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dirty="0"/>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dirty="0"/>
              <a:t>Kernel Data Structures </a:t>
            </a:r>
            <a:r>
              <a:rPr lang="zh-CN" altLang="en-US" dirty="0"/>
              <a:t>（</a:t>
            </a:r>
            <a:r>
              <a:rPr lang="en-US" altLang="zh-CN" dirty="0" err="1"/>
              <a:t>Con’d</a:t>
            </a:r>
            <a:r>
              <a:rPr lang="en-US" altLang="zh-CN" dirty="0"/>
              <a:t>)</a:t>
            </a:r>
            <a:r>
              <a:rPr lang="en-US" altLang="en-US" dirty="0"/>
              <a:t> </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967562" y="1052624"/>
            <a:ext cx="7304567" cy="1371599"/>
          </a:xfrm>
        </p:spPr>
        <p:txBody>
          <a:bodyPr/>
          <a:lstStyle/>
          <a:p>
            <a:r>
              <a:rPr lang="en-US" altLang="en-US" sz="2000" b="1" dirty="0">
                <a:solidFill>
                  <a:srgbClr val="3366FF"/>
                </a:solidFill>
              </a:rPr>
              <a:t>Binary search tree </a:t>
            </a:r>
            <a:r>
              <a:rPr lang="en-US" altLang="en-US" sz="2000" dirty="0"/>
              <a:t>left &lt;= right</a:t>
            </a:r>
          </a:p>
          <a:p>
            <a:pPr lvl="1"/>
            <a:r>
              <a:rPr lang="en-US" altLang="en-US" sz="1800" dirty="0"/>
              <a:t>Search performance is </a:t>
            </a:r>
            <a:r>
              <a:rPr lang="en-US" altLang="en-US" sz="1800" i="1" dirty="0"/>
              <a:t>O</a:t>
            </a:r>
            <a:r>
              <a:rPr lang="en-US" altLang="en-US" sz="1800" dirty="0"/>
              <a:t>(</a:t>
            </a:r>
            <a:r>
              <a:rPr lang="en-US" altLang="en-US" sz="1800" i="1" dirty="0"/>
              <a:t>n</a:t>
            </a:r>
            <a:r>
              <a:rPr lang="en-US" altLang="en-US" sz="1800" dirty="0"/>
              <a:t>)</a:t>
            </a:r>
          </a:p>
          <a:p>
            <a:pPr lvl="1"/>
            <a:r>
              <a:rPr lang="en-US" altLang="en-US" sz="1800" b="1" dirty="0">
                <a:solidFill>
                  <a:srgbClr val="3366FF"/>
                </a:solidFill>
              </a:rPr>
              <a:t>Balanced binary search tree </a:t>
            </a:r>
            <a:r>
              <a:rPr lang="en-US" altLang="en-US" sz="1800" dirty="0"/>
              <a:t>is </a:t>
            </a:r>
            <a:r>
              <a:rPr lang="en-US" altLang="en-US" sz="1800" i="1" dirty="0"/>
              <a:t>O</a:t>
            </a:r>
            <a:r>
              <a:rPr lang="en-US" altLang="en-US" sz="1800" dirty="0"/>
              <a:t>(</a:t>
            </a:r>
            <a:r>
              <a:rPr lang="en-US" altLang="en-US" sz="1800" i="1" dirty="0"/>
              <a:t>log n</a:t>
            </a:r>
            <a:r>
              <a:rPr lang="en-US" altLang="en-US" sz="1800" dirty="0"/>
              <a:t>)</a:t>
            </a:r>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0657" y="2788437"/>
            <a:ext cx="3642685" cy="284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dirty="0"/>
              <a:t>Kernel Data Structures </a:t>
            </a:r>
            <a:r>
              <a:rPr lang="zh-CN" altLang="en-US" dirty="0"/>
              <a:t>（</a:t>
            </a:r>
            <a:r>
              <a:rPr lang="en-US" altLang="zh-CN" dirty="0" err="1"/>
              <a:t>Con’d</a:t>
            </a:r>
            <a:r>
              <a:rPr lang="en-US" altLang="zh-CN" dirty="0"/>
              <a:t>)</a:t>
            </a:r>
            <a:endParaRPr lang="en-US" altLang="en-US" dirty="0"/>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8018573" cy="4593154"/>
          </a:xfrm>
        </p:spPr>
        <p:txBody>
          <a:bodyPr/>
          <a:lstStyle/>
          <a:p>
            <a:r>
              <a:rPr lang="en-US" altLang="en-US" sz="2000" b="1" dirty="0">
                <a:solidFill>
                  <a:srgbClr val="3366FF"/>
                </a:solidFill>
              </a:rPr>
              <a:t>Hash function </a:t>
            </a:r>
            <a:r>
              <a:rPr lang="en-US" altLang="en-US" sz="2000" dirty="0"/>
              <a:t>can create a</a:t>
            </a:r>
            <a:r>
              <a:rPr lang="en-US" altLang="en-US" sz="2000" b="1" dirty="0">
                <a:solidFill>
                  <a:srgbClr val="3366FF"/>
                </a:solidFill>
              </a:rPr>
              <a:t> hash map</a:t>
            </a: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pPr>
              <a:buFont typeface="Monotype Sorts" pitchFamily="-84" charset="2"/>
              <a:buNone/>
            </a:pPr>
            <a:endParaRPr lang="en-US" altLang="en-US" sz="2000" b="1" i="1" dirty="0">
              <a:solidFill>
                <a:srgbClr val="3366FF"/>
              </a:solidFill>
            </a:endParaRPr>
          </a:p>
          <a:p>
            <a:r>
              <a:rPr lang="en-US" altLang="en-US" sz="2000" b="1" dirty="0">
                <a:solidFill>
                  <a:srgbClr val="3366FF"/>
                </a:solidFill>
              </a:rPr>
              <a:t>Bitmap</a:t>
            </a:r>
            <a:r>
              <a:rPr lang="en-US" altLang="en-US" sz="2000" dirty="0"/>
              <a:t> – string of </a:t>
            </a:r>
            <a:r>
              <a:rPr lang="en-US" altLang="en-US" sz="2000" i="1" dirty="0"/>
              <a:t>n</a:t>
            </a:r>
            <a:r>
              <a:rPr lang="en-US" altLang="en-US" sz="2000" dirty="0"/>
              <a:t> binary digits representing the status of </a:t>
            </a:r>
            <a:r>
              <a:rPr lang="en-US" altLang="en-US" sz="2000" i="1" dirty="0"/>
              <a:t>n</a:t>
            </a:r>
            <a:r>
              <a:rPr lang="en-US" altLang="en-US" sz="2000" dirty="0"/>
              <a:t> items</a:t>
            </a:r>
          </a:p>
          <a:p>
            <a:r>
              <a:rPr lang="en-US" altLang="en-US" sz="2000" dirty="0"/>
              <a:t>Linux data structures defined in </a:t>
            </a:r>
            <a:r>
              <a:rPr lang="en-US" altLang="en-US" sz="2000" b="1" i="1" dirty="0"/>
              <a:t>include</a:t>
            </a:r>
            <a:r>
              <a:rPr lang="en-US" altLang="en-US" sz="2000" dirty="0"/>
              <a:t> files </a:t>
            </a:r>
            <a:r>
              <a:rPr lang="en-US" altLang="en-US" sz="2000" dirty="0">
                <a:latin typeface="Courier New" panose="02070309020205020404" pitchFamily="49" charset="0"/>
                <a:cs typeface="Courier New" panose="02070309020205020404" pitchFamily="49" charset="0"/>
              </a:rPr>
              <a:t>&lt;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list.h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kfifo.h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rbtree.h</a:t>
            </a:r>
            <a:r>
              <a:rPr lang="en-US" altLang="en-US" sz="2000" dirty="0">
                <a:latin typeface="Courier New" panose="02070309020205020404" pitchFamily="49" charset="0"/>
                <a:cs typeface="Courier New" panose="02070309020205020404" pitchFamily="49" charset="0"/>
              </a:rPr>
              <a:t>&gt;</a:t>
            </a:r>
            <a:endParaRPr lang="en-US" altLang="en-US" sz="2000" dirty="0"/>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11954</TotalTime>
  <Words>4235</Words>
  <Application>Microsoft Office PowerPoint</Application>
  <PresentationFormat>全屏显示(4:3)</PresentationFormat>
  <Paragraphs>478</Paragraphs>
  <Slides>65</Slides>
  <Notes>52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65</vt:i4>
      </vt:variant>
    </vt:vector>
  </HeadingPairs>
  <TitlesOfParts>
    <vt:vector size="76" baseType="lpstr">
      <vt:lpstr>Monotype Sorts</vt:lpstr>
      <vt:lpstr>ＭＳ Ｐゴシック</vt:lpstr>
      <vt:lpstr>Arial</vt:lpstr>
      <vt:lpstr>Courier New</vt:lpstr>
      <vt:lpstr>Helvetica</vt:lpstr>
      <vt:lpstr>Times New Roman</vt:lpstr>
      <vt:lpstr>Verdana</vt:lpstr>
      <vt:lpstr>Webdings</vt:lpstr>
      <vt:lpstr>Wingdings</vt:lpstr>
      <vt:lpstr>Wingdings 3</vt:lpstr>
      <vt:lpstr>os-8</vt:lpstr>
      <vt:lpstr>Chapter 1:  Introduction</vt:lpstr>
      <vt:lpstr>Introduction</vt:lpstr>
      <vt:lpstr>Objectives</vt:lpstr>
      <vt:lpstr>What Does Operating System Mean</vt:lpstr>
      <vt:lpstr>What is an Operating System</vt:lpstr>
      <vt:lpstr>Computer System Structure</vt:lpstr>
      <vt:lpstr>What Operating Systems Do</vt:lpstr>
      <vt:lpstr>Operating System Definition</vt:lpstr>
      <vt:lpstr>Computer System Organization</vt:lpstr>
      <vt:lpstr>Computer-System Operations</vt:lpstr>
      <vt:lpstr>Interrupt Handling</vt:lpstr>
      <vt:lpstr>Interrupt-Drive I/O Cycle</vt:lpstr>
      <vt:lpstr>I/O Structure</vt:lpstr>
      <vt:lpstr>Computer Startup</vt:lpstr>
      <vt:lpstr>Storage Structure (1)</vt:lpstr>
      <vt:lpstr>Storage Structure (2)</vt:lpstr>
      <vt:lpstr>Storage Definitions and Notation Review</vt:lpstr>
      <vt:lpstr>Storage Hierarchy</vt:lpstr>
      <vt:lpstr>Storage-Device Hierarchy</vt:lpstr>
      <vt:lpstr>How a Modern Computer Works</vt:lpstr>
      <vt:lpstr>Direct Memory Access Structure</vt:lpstr>
      <vt:lpstr>Operating System Operations</vt:lpstr>
      <vt:lpstr>Multiprogramming (Batch System)</vt:lpstr>
      <vt:lpstr>Multitasking (Timesharing)</vt:lpstr>
      <vt:lpstr>Memory Layout for Multiprogrammed System</vt:lpstr>
      <vt:lpstr>Dual-Mode Operation (1)</vt:lpstr>
      <vt:lpstr>Dual-Mode Operation (2)</vt:lpstr>
      <vt:lpstr>Timer</vt:lpstr>
      <vt:lpstr>Take a Break</vt:lpstr>
      <vt:lpstr>Process Management</vt:lpstr>
      <vt:lpstr>Process Management Activities</vt:lpstr>
      <vt:lpstr>Memory Management</vt:lpstr>
      <vt:lpstr>Caching</vt:lpstr>
      <vt:lpstr>Migration of Data “A” from Disk to Register</vt:lpstr>
      <vt:lpstr>File-System Management</vt:lpstr>
      <vt:lpstr>Mass-Storage Management</vt:lpstr>
      <vt:lpstr>Characteristics of Various Types of Storage</vt:lpstr>
      <vt:lpstr>I/O Subsystem</vt:lpstr>
      <vt:lpstr>Protection and Security</vt:lpstr>
      <vt:lpstr>Virtualization (1)</vt:lpstr>
      <vt:lpstr>Virtualization (2)</vt:lpstr>
      <vt:lpstr>Computing Environments - Virtualization</vt:lpstr>
      <vt:lpstr>Distributed Systems</vt:lpstr>
      <vt:lpstr>Computer-System Architecture</vt:lpstr>
      <vt:lpstr>Symmetric Multiprocessing Architecture</vt:lpstr>
      <vt:lpstr>Dual-Core Design</vt:lpstr>
      <vt:lpstr>Non-Uniform Memory Access System</vt:lpstr>
      <vt:lpstr>Clustered Systems</vt:lpstr>
      <vt:lpstr>Clustered Systems</vt:lpstr>
      <vt:lpstr>PC Motherboard</vt:lpstr>
      <vt:lpstr>Computing Environments</vt:lpstr>
      <vt:lpstr>Traditional</vt:lpstr>
      <vt:lpstr>Mobile</vt:lpstr>
      <vt:lpstr>Client Server</vt:lpstr>
      <vt:lpstr>Peer-to-Peer</vt:lpstr>
      <vt:lpstr>Cloud Computing</vt:lpstr>
      <vt:lpstr>Cloud Computing (Cont.)</vt:lpstr>
      <vt:lpstr>PowerPoint 演示文稿</vt:lpstr>
      <vt:lpstr>Real-Time Embedded Systems</vt:lpstr>
      <vt:lpstr>Free and Open-Source Operating Systems</vt:lpstr>
      <vt:lpstr>The Study of Operating Systems</vt:lpstr>
      <vt:lpstr>Kernel Data Structures</vt:lpstr>
      <vt:lpstr>Kernel Data Structures （Con’d) </vt:lpstr>
      <vt:lpstr>Kernel Data Structures （Con’d)</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310</cp:revision>
  <cp:lastPrinted>2001-06-14T13:58:17Z</cp:lastPrinted>
  <dcterms:created xsi:type="dcterms:W3CDTF">2011-01-13T23:43:38Z</dcterms:created>
  <dcterms:modified xsi:type="dcterms:W3CDTF">2025-09-04T01:16:01Z</dcterms:modified>
</cp:coreProperties>
</file>