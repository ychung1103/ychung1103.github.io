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0"/>
  </p:notesMasterIdLst>
  <p:handoutMasterIdLst>
    <p:handoutMasterId r:id="rId31"/>
  </p:handoutMasterIdLst>
  <p:sldIdLst>
    <p:sldId id="331" r:id="rId2"/>
    <p:sldId id="374" r:id="rId3"/>
    <p:sldId id="375" r:id="rId4"/>
    <p:sldId id="376" r:id="rId5"/>
    <p:sldId id="377" r:id="rId6"/>
    <p:sldId id="378" r:id="rId7"/>
    <p:sldId id="379" r:id="rId8"/>
    <p:sldId id="410" r:id="rId9"/>
    <p:sldId id="380" r:id="rId10"/>
    <p:sldId id="381" r:id="rId11"/>
    <p:sldId id="382" r:id="rId12"/>
    <p:sldId id="409" r:id="rId13"/>
    <p:sldId id="383" r:id="rId14"/>
    <p:sldId id="384" r:id="rId15"/>
    <p:sldId id="398" r:id="rId16"/>
    <p:sldId id="385" r:id="rId17"/>
    <p:sldId id="386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95" r:id="rId27"/>
    <p:sldId id="396" r:id="rId28"/>
    <p:sldId id="417" r:id="rId29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7485" autoAdjust="0"/>
    <p:restoredTop sz="94635"/>
  </p:normalViewPr>
  <p:slideViewPr>
    <p:cSldViewPr snapToGrid="0">
      <p:cViewPr varScale="1">
        <p:scale>
          <a:sx n="56" d="100"/>
          <a:sy n="56" d="100"/>
        </p:scale>
        <p:origin x="1436" y="3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706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027A3F3-A935-4BDC-812E-9120B643162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271601B-176A-4BB3-AC87-58251574C75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C7F65B7-06EB-44DB-B452-D2D38318152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B2508938-9467-485D-A454-F81218F2ADB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E0F0762C-192C-43F0-9235-1ED3B30BABF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99FA718-A6D5-4F45-AA4A-4BEBC20AD7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00055E3-33CD-4C16-B1E7-137DC8ED073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A5BA436-A0A2-4A15-B145-2DD97D7A307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7145563E-578D-4EA3-A924-014C2A79C5A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EE489C0-8AB7-4BF4-AFB6-59687BD0D42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11BAF64-3980-48A7-93B5-275428159D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C9F949B7-291A-4420-9D9C-B1ABA67FB31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5776ACBD-4645-43B7-892F-697D57D495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CF72FA-BC85-4452-9FD4-6F163D5E4845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48A88ED8-0C05-4DF8-A678-F55DA039B3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74978C2-165A-418A-AF53-B86870696A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>
            <a:extLst>
              <a:ext uri="{FF2B5EF4-FFF2-40B4-BE49-F238E27FC236}">
                <a16:creationId xmlns:a16="http://schemas.microsoft.com/office/drawing/2014/main" id="{6F281DE9-7498-4090-B348-71231F97FD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A0BAF53-828A-49F4-8077-26BB561564F9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6B68C51B-7F25-49DC-8F26-B5ECF0C025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E5863E4C-7BE6-4289-9CB8-26E477DE0E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>
            <a:extLst>
              <a:ext uri="{FF2B5EF4-FFF2-40B4-BE49-F238E27FC236}">
                <a16:creationId xmlns:a16="http://schemas.microsoft.com/office/drawing/2014/main" id="{D8A4CFDB-1B15-4236-A42E-7505D8A498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28204-E272-49CF-9F32-BF3F333C9D84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C0102936-7E09-430D-892F-94CD298AAA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24DB5797-0DCA-4C75-9E95-296E5A8A24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>
            <a:extLst>
              <a:ext uri="{FF2B5EF4-FFF2-40B4-BE49-F238E27FC236}">
                <a16:creationId xmlns:a16="http://schemas.microsoft.com/office/drawing/2014/main" id="{374C7EC4-F5B4-44B3-B62A-A28A21B6FE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3D624F-2319-4971-BD9E-DD1BA8AA2210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AF7E44E0-A93B-4500-931E-F814DE1DA1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A4368273-6DBC-4628-8DEB-11600A203A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62FCB5DA-A3EA-4F94-870C-C18A20A4CC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A7A980-1C06-4A44-B4F7-1A8E4D6C7491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15C739DA-0C35-42A2-B92D-D03C6D99E8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97F686E3-9FAA-4D73-BB67-E0221D7B3C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>
            <a:extLst>
              <a:ext uri="{FF2B5EF4-FFF2-40B4-BE49-F238E27FC236}">
                <a16:creationId xmlns:a16="http://schemas.microsoft.com/office/drawing/2014/main" id="{0ED619BB-69AA-4187-8508-5C6D20F5F3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EC6BA39-A472-4B3B-A7DF-4F396B3C17E7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F413F31A-C6FC-4BAD-849E-A6DB777684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0D3B88A5-CEE8-40BD-9808-2CDA6AB3D4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>
            <a:extLst>
              <a:ext uri="{FF2B5EF4-FFF2-40B4-BE49-F238E27FC236}">
                <a16:creationId xmlns:a16="http://schemas.microsoft.com/office/drawing/2014/main" id="{DAC8869F-FF99-4234-BF9F-6981A2322E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8F9C382-E9CB-4121-9295-821692F9295E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F4B9B201-551A-4715-A46B-58B15F5482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425B08B2-27C5-4BFD-AF86-4649346844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>
            <a:extLst>
              <a:ext uri="{FF2B5EF4-FFF2-40B4-BE49-F238E27FC236}">
                <a16:creationId xmlns:a16="http://schemas.microsoft.com/office/drawing/2014/main" id="{2791A9A1-933F-48E4-A663-A9A44F3842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144CDA-524B-42CB-B6A8-1F82635CA2A0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22B584FC-47BF-4329-A73D-AE03445B46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0EF88E9A-5692-479E-86D8-D453385FB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700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>
            <a:extLst>
              <a:ext uri="{FF2B5EF4-FFF2-40B4-BE49-F238E27FC236}">
                <a16:creationId xmlns:a16="http://schemas.microsoft.com/office/drawing/2014/main" id="{2791A9A1-933F-48E4-A663-A9A44F3842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144CDA-524B-42CB-B6A8-1F82635CA2A0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22B584FC-47BF-4329-A73D-AE03445B46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0EF88E9A-5692-479E-86D8-D453385FB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7">
            <a:extLst>
              <a:ext uri="{FF2B5EF4-FFF2-40B4-BE49-F238E27FC236}">
                <a16:creationId xmlns:a16="http://schemas.microsoft.com/office/drawing/2014/main" id="{04233C27-8849-4252-91D2-6553BF31EC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033E44-AE0A-43BF-A520-184D3757D382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A615ED96-D2E9-4926-A603-58BB158677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17D404A4-62DB-49DD-A17D-967D6DD89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>
            <a:extLst>
              <a:ext uri="{FF2B5EF4-FFF2-40B4-BE49-F238E27FC236}">
                <a16:creationId xmlns:a16="http://schemas.microsoft.com/office/drawing/2014/main" id="{3F17DCC5-0162-4C65-A6B7-1F3634D871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309D8D-5C8E-47B5-B76C-995FF4B425D8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A6EEBBBF-E4B7-44BF-8D3E-4E75A9CF28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3DF1B668-5AF4-487A-B6A0-0D84D219C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>
            <a:extLst>
              <a:ext uri="{FF2B5EF4-FFF2-40B4-BE49-F238E27FC236}">
                <a16:creationId xmlns:a16="http://schemas.microsoft.com/office/drawing/2014/main" id="{5C5A5839-50F4-45D9-AEAE-5667E21135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74F695C-5F2E-482E-8B6B-62AF14C87ED6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AFDE3679-E12F-4EC6-AEFF-563863F2D1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91F7994F-0D20-4662-93D9-382F12781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>
            <a:extLst>
              <a:ext uri="{FF2B5EF4-FFF2-40B4-BE49-F238E27FC236}">
                <a16:creationId xmlns:a16="http://schemas.microsoft.com/office/drawing/2014/main" id="{6D8B87B8-4A4B-41E0-AC9C-6A94DDEE4E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2" name="Rectangle 3">
            <a:extLst>
              <a:ext uri="{FF2B5EF4-FFF2-40B4-BE49-F238E27FC236}">
                <a16:creationId xmlns:a16="http://schemas.microsoft.com/office/drawing/2014/main" id="{51DE5DE0-7651-48B8-98BA-EBB364F88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>
            <a:extLst>
              <a:ext uri="{FF2B5EF4-FFF2-40B4-BE49-F238E27FC236}">
                <a16:creationId xmlns:a16="http://schemas.microsoft.com/office/drawing/2014/main" id="{B4D2F53A-EAE3-418A-BB66-6424E5A129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970466-3449-4494-8D09-9CEF39776B3E}" type="slidenum">
              <a:rPr lang="en-US" altLang="en-US" smtClean="0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4" name="Rectangle 2">
            <a:extLst>
              <a:ext uri="{FF2B5EF4-FFF2-40B4-BE49-F238E27FC236}">
                <a16:creationId xmlns:a16="http://schemas.microsoft.com/office/drawing/2014/main" id="{B822E183-1692-4D48-BA88-87F0B18229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CA1A4E23-F289-4B51-A9B3-418DE56116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>
            <a:extLst>
              <a:ext uri="{FF2B5EF4-FFF2-40B4-BE49-F238E27FC236}">
                <a16:creationId xmlns:a16="http://schemas.microsoft.com/office/drawing/2014/main" id="{EDA12628-4C86-479D-9171-1641D98D7B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541504-7C9A-4526-994E-304A048D608D}" type="slidenum">
              <a:rPr lang="en-US" altLang="en-US" smtClean="0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22" name="Rectangle 2">
            <a:extLst>
              <a:ext uri="{FF2B5EF4-FFF2-40B4-BE49-F238E27FC236}">
                <a16:creationId xmlns:a16="http://schemas.microsoft.com/office/drawing/2014/main" id="{13D5EBB1-DC43-4A05-9978-1A0E671EAC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7653D829-07D7-4B63-8D2E-7CD44E190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7">
            <a:extLst>
              <a:ext uri="{FF2B5EF4-FFF2-40B4-BE49-F238E27FC236}">
                <a16:creationId xmlns:a16="http://schemas.microsoft.com/office/drawing/2014/main" id="{A350F77D-618E-4516-9F52-3197275158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EA1C6A-8A64-43BB-91B2-5F5909240046}" type="slidenum">
              <a:rPr lang="en-US" altLang="en-US" smtClean="0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2" name="Rectangle 2">
            <a:extLst>
              <a:ext uri="{FF2B5EF4-FFF2-40B4-BE49-F238E27FC236}">
                <a16:creationId xmlns:a16="http://schemas.microsoft.com/office/drawing/2014/main" id="{6A5F7160-2558-4837-96D7-957DDEA6B0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84B2144B-1F9A-405F-AA84-7C73138F26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7">
            <a:extLst>
              <a:ext uri="{FF2B5EF4-FFF2-40B4-BE49-F238E27FC236}">
                <a16:creationId xmlns:a16="http://schemas.microsoft.com/office/drawing/2014/main" id="{51B6C076-F21F-4CA5-822D-C9D69050FB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EB864C-7330-4E1B-A037-7D79409E01F4}" type="slidenum">
              <a:rPr lang="en-US" altLang="en-US" smtClean="0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1314" name="Rectangle 2">
            <a:extLst>
              <a:ext uri="{FF2B5EF4-FFF2-40B4-BE49-F238E27FC236}">
                <a16:creationId xmlns:a16="http://schemas.microsoft.com/office/drawing/2014/main" id="{5F4496CA-0A38-4ECE-A790-5883B82226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9685A671-4583-4556-B3BD-CB96D62C92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9054E9F-B0F7-4A1B-8874-547788B722C4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1B0B5327-705F-4338-8684-BE3C6B32B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9912C43-735E-4FCD-9C20-4B4E9F5D4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B2B38F7-FF3D-4D34-8AF3-C5E2B2247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9D6487E-E59C-4825-A316-F9FD0074A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0BACFF7A-A989-4729-8688-C6C2FD004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62320D51-40DC-47DF-B772-6310A5073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B4F18C78-A1C0-4229-859F-4A1EAA01B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830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2745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3410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16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0134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4588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6302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4700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570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8947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1278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DB124D09-86E8-40B1-99F0-1209287C1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101563B5-6DEC-40C9-94C1-11A3E355C2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7A89EDA-A1F4-4710-BBC1-A142F18D09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773D04D-003A-405C-9D9C-1709ED056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7AA57875-966E-44EB-9268-6903F2C1D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805250A-2DE9-48CE-9970-F8DC7B1A9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DF010FB-BF4A-4539-85F6-EF017614C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F35EB3C6-158A-401E-AF69-45BFE965F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147" y="6613525"/>
            <a:ext cx="447558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5.</a:t>
            </a:r>
            <a:fld id="{4EB6AB46-21AB-49DC-9DBD-606B37BEB33B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D78F82E7-FC4D-4DEF-BAC0-15DF6AAD7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47C3AE5-5C42-45F2-A307-C022C640A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5087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502C53CD-F3D0-4970-8364-2ED201BCF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7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218F8D62-A6F5-4F18-9BB3-A18FA6B4E22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5:  CPU Scheduling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id="{459B5F4F-799A-48B7-A0B7-53ED0A70A7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038" y="128006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Proportional Share Scheduling</a:t>
            </a:r>
          </a:p>
        </p:txBody>
      </p:sp>
      <p:sp>
        <p:nvSpPr>
          <p:cNvPr id="100354" name="Rectangle 3">
            <a:extLst>
              <a:ext uri="{FF2B5EF4-FFF2-40B4-BE49-F238E27FC236}">
                <a16:creationId xmlns:a16="http://schemas.microsoft.com/office/drawing/2014/main" id="{8CF6342D-B4EF-40C5-AE28-E1BC86249E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125855"/>
            <a:ext cx="7751762" cy="4441825"/>
          </a:xfrm>
        </p:spPr>
        <p:txBody>
          <a:bodyPr/>
          <a:lstStyle/>
          <a:p>
            <a:r>
              <a:rPr lang="en-US" altLang="en-US" sz="2000" i="1" dirty="0"/>
              <a:t>T</a:t>
            </a:r>
            <a:r>
              <a:rPr lang="en-US" altLang="en-US" sz="2000" dirty="0"/>
              <a:t> shares are allocated among all processes in the system</a:t>
            </a:r>
          </a:p>
          <a:p>
            <a:r>
              <a:rPr lang="en-US" altLang="en-US" sz="2000" dirty="0"/>
              <a:t>An application receives </a:t>
            </a:r>
            <a:r>
              <a:rPr lang="en-US" altLang="en-US" sz="2000" i="1" dirty="0"/>
              <a:t>N</a:t>
            </a:r>
            <a:r>
              <a:rPr lang="en-US" altLang="en-US" sz="2000" dirty="0"/>
              <a:t> shares where </a:t>
            </a:r>
            <a:r>
              <a:rPr lang="en-US" altLang="en-US" sz="2000" i="1" dirty="0"/>
              <a:t>N &lt; T</a:t>
            </a:r>
            <a:endParaRPr lang="en-US" altLang="en-US" sz="2000" dirty="0"/>
          </a:p>
          <a:p>
            <a:r>
              <a:rPr lang="en-US" altLang="en-US" sz="2000" dirty="0"/>
              <a:t>This ensures each application will receive </a:t>
            </a:r>
            <a:r>
              <a:rPr lang="en-US" altLang="en-US" sz="2000" b="1" i="1" dirty="0"/>
              <a:t>N</a:t>
            </a:r>
            <a:r>
              <a:rPr lang="en-US" altLang="en-US" sz="2000" i="1" dirty="0"/>
              <a:t> / T</a:t>
            </a:r>
            <a:r>
              <a:rPr lang="en-US" altLang="en-US" sz="2000" dirty="0"/>
              <a:t> of the total processor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id="{12676C37-E63F-44FF-91CF-ECA19EFBA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1120"/>
            <a:ext cx="8229600" cy="661035"/>
          </a:xfrm>
        </p:spPr>
        <p:txBody>
          <a:bodyPr/>
          <a:lstStyle/>
          <a:p>
            <a:pPr eaLnBrk="1" hangingPunct="1"/>
            <a:r>
              <a:rPr lang="en-US" altLang="en-US" dirty="0"/>
              <a:t>POSIX Real-Time Scheduling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C9DDF1F7-83DC-4186-8D07-64F7BA9D5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4441" y="1001394"/>
            <a:ext cx="7753739" cy="5132705"/>
          </a:xfrm>
        </p:spPr>
        <p:txBody>
          <a:bodyPr/>
          <a:lstStyle/>
          <a:p>
            <a:pPr marL="344488" indent="-344488"/>
            <a:r>
              <a:rPr lang="en-US" altLang="en-US" sz="2000" dirty="0"/>
              <a:t>The POSIX.1b standard</a:t>
            </a:r>
          </a:p>
          <a:p>
            <a:pPr marL="344488" indent="-344488"/>
            <a:r>
              <a:rPr lang="en-US" altLang="en-US" sz="2000" dirty="0"/>
              <a:t>API provides functions for managing real-time threads</a:t>
            </a:r>
          </a:p>
          <a:p>
            <a:pPr marL="344488" indent="-344488"/>
            <a:r>
              <a:rPr lang="en-US" altLang="en-US" sz="2000" dirty="0"/>
              <a:t>Defines two scheduling classes for real-time threads:</a:t>
            </a:r>
          </a:p>
          <a:p>
            <a:pPr marL="744538" lvl="1" indent="-344488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SCHED_FIFO - threads are scheduled using a FCFS strategy with a FIFO queue. There is no time-slicing for threads of equal priority</a:t>
            </a:r>
          </a:p>
          <a:p>
            <a:pPr marL="744538" lvl="1" indent="-344488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SCHED_RR - similar to SCHED_FIFO except time-slicing occurs for threads of equal priority</a:t>
            </a:r>
          </a:p>
          <a:p>
            <a:pPr marL="344488" indent="-344488"/>
            <a:r>
              <a:rPr lang="en-US" altLang="en-US" sz="2000" dirty="0"/>
              <a:t>Defines two functions for getting and setting scheduling policy:</a:t>
            </a:r>
          </a:p>
          <a:p>
            <a:pPr marL="744538" lvl="1" indent="-344488"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pthread_attr_getsched_policy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pthread_attr_t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int *policy) </a:t>
            </a:r>
          </a:p>
          <a:p>
            <a:pPr marL="744538" lvl="1" indent="-344488">
              <a:buFont typeface="Arial" panose="020B0604020202020204" pitchFamily="34" charset="0"/>
              <a:buAutoNum type="arabicPeriod"/>
            </a:pPr>
            <a:r>
              <a:rPr lang="en-US" altLang="en-US" sz="2000" dirty="0"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pthread_attr_setsched_policy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pthread_attr_t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int policy)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B7D51925-D583-4FC2-9CB5-E5599A1B8B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1388" y="171027"/>
            <a:ext cx="77454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POSIX Real-Time Scheduling API</a:t>
            </a:r>
          </a:p>
        </p:txBody>
      </p:sp>
      <p:sp>
        <p:nvSpPr>
          <p:cNvPr id="104450" name="Rectangle 3">
            <a:extLst>
              <a:ext uri="{FF2B5EF4-FFF2-40B4-BE49-F238E27FC236}">
                <a16:creationId xmlns:a16="http://schemas.microsoft.com/office/drawing/2014/main" id="{9965A94C-BC3D-4A28-8EC9-9D5F7E2964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066799"/>
            <a:ext cx="7702550" cy="5359401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#include &lt;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pthread.h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&gt;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#include &lt;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stdio.h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&gt;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#define NUM_THREADS 5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int main(int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argc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, char *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argv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[])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int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, policy;</a:t>
            </a:r>
            <a:b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pthread_t_tid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[NUM_THREADS];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pthread_attr_t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attr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/* get the default attributes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pthread_attr_init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(&amp;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attr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/* get the current scheduling policy */</a:t>
            </a:r>
            <a:b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if (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pthread_attr_getschedpolicy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(&amp;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attr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, &amp;policy) != 0)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fprintf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(stderr, "Unable to get policy.\n");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else 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if (policy == SCHED_OTHER)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printf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("SCHED_OTHER\n");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else if (policy == SCHED_RR)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printf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("SCHED_RR\n");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else if (policy == SCHED_FIFO)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printf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("SCHED_FIFO\n");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}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>
            <a:extLst>
              <a:ext uri="{FF2B5EF4-FFF2-40B4-BE49-F238E27FC236}">
                <a16:creationId xmlns:a16="http://schemas.microsoft.com/office/drawing/2014/main" id="{2E06EF5B-FE80-44B3-BB02-57C4BE650B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8968" y="1298574"/>
            <a:ext cx="7460031" cy="5153025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/* set the scheduling policy - FIFO, RR, or OTHER */ </a:t>
            </a:r>
            <a:b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if (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pthread_attr_setschedpolicy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(&amp;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attr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, SCHED_FIFO) != 0)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fprintf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(stderr, "Unable to set policy.\n");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/* create the threads */</a:t>
            </a:r>
            <a:b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for (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= 0;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&lt; NUM_THREADS;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++)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pthread_create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(&amp;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tid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],&amp;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attr,runner,NULL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/* now join on each thread */</a:t>
            </a:r>
            <a:b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for (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= 0;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&lt; NUM_THREADS;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++)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pthread_join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tid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], NULL);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/* Each thread will begin control in this function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void *runner(void *param)</a:t>
            </a:r>
            <a:b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/* do some work ...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en-US" sz="15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pthread_exit</a:t>
            </a: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(0);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500" b="1" dirty="0">
                <a:latin typeface="黑体" panose="02010609060101010101" pitchFamily="49" charset="-122"/>
                <a:ea typeface="黑体" panose="02010609060101010101" pitchFamily="49" charset="-122"/>
              </a:rPr>
              <a:t>}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9CFE5C5-C5D0-4CA7-B035-CEFFD0E53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8969" y="122093"/>
            <a:ext cx="7996335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POSIX Real-Time Scheduling API (Cont.)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>
            <a:extLst>
              <a:ext uri="{FF2B5EF4-FFF2-40B4-BE49-F238E27FC236}">
                <a16:creationId xmlns:a16="http://schemas.microsoft.com/office/drawing/2014/main" id="{E181A9CF-D82A-47BC-AB9C-DC9AFB414D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8238" y="142417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</a:t>
            </a:r>
          </a:p>
        </p:txBody>
      </p:sp>
      <p:sp>
        <p:nvSpPr>
          <p:cNvPr id="108546" name="Rectangle 3">
            <a:extLst>
              <a:ext uri="{FF2B5EF4-FFF2-40B4-BE49-F238E27FC236}">
                <a16:creationId xmlns:a16="http://schemas.microsoft.com/office/drawing/2014/main" id="{70A19F9C-142A-4E79-B8AA-6FCF25AA62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38238" y="1109663"/>
            <a:ext cx="6461125" cy="3508375"/>
          </a:xfrm>
        </p:spPr>
        <p:txBody>
          <a:bodyPr/>
          <a:lstStyle/>
          <a:p>
            <a:r>
              <a:rPr lang="en-US" altLang="en-US" sz="2000" dirty="0"/>
              <a:t>Linux scheduling</a:t>
            </a:r>
          </a:p>
          <a:p>
            <a:r>
              <a:rPr lang="en-US" altLang="en-US" sz="2000" dirty="0"/>
              <a:t>Windows scheduling</a:t>
            </a:r>
          </a:p>
          <a:p>
            <a:r>
              <a:rPr lang="en-US" altLang="en-US" sz="2000" dirty="0"/>
              <a:t>Solaris scheduling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>
            <a:extLst>
              <a:ext uri="{FF2B5EF4-FFF2-40B4-BE49-F238E27FC236}">
                <a16:creationId xmlns:a16="http://schemas.microsoft.com/office/drawing/2014/main" id="{8169387F-9479-4DF2-BB9E-7943E27879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1283" y="12982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Linux Scheduling Through Version 2.5</a:t>
            </a:r>
          </a:p>
        </p:txBody>
      </p:sp>
      <p:sp>
        <p:nvSpPr>
          <p:cNvPr id="110594" name="Rectangle 3">
            <a:extLst>
              <a:ext uri="{FF2B5EF4-FFF2-40B4-BE49-F238E27FC236}">
                <a16:creationId xmlns:a16="http://schemas.microsoft.com/office/drawing/2014/main" id="{1C80CB74-75D9-44E9-B5BE-5FA82CDE49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057262"/>
            <a:ext cx="7650687" cy="50641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Prior to kernel version 2.5, ran variation of standard UNIX scheduling algorithm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Version 2.5 moved to constant order </a:t>
            </a:r>
            <a:r>
              <a:rPr lang="en-US" altLang="en-US" sz="2000" i="1" dirty="0"/>
              <a:t>O</a:t>
            </a:r>
            <a:r>
              <a:rPr lang="en-US" altLang="en-US" sz="2000" dirty="0"/>
              <a:t>(1) scheduling time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Preemptive, priority based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Two priority ranges: time-sharing and real-time</a:t>
            </a:r>
          </a:p>
          <a:p>
            <a:pPr lvl="1">
              <a:lnSpc>
                <a:spcPct val="90000"/>
              </a:lnSpc>
            </a:pPr>
            <a:r>
              <a:rPr lang="en-US" altLang="en-US" sz="1600" b="1" dirty="0"/>
              <a:t>Real-time </a:t>
            </a:r>
            <a:r>
              <a:rPr lang="en-US" altLang="en-US" sz="1600" dirty="0"/>
              <a:t>range from 0 to 99 and </a:t>
            </a:r>
            <a:r>
              <a:rPr lang="en-US" altLang="en-US" sz="1600" b="1" dirty="0"/>
              <a:t>nice </a:t>
            </a:r>
            <a:r>
              <a:rPr lang="en-US" altLang="en-US" sz="1600" dirty="0"/>
              <a:t>value from 100 to 140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Map into  global priority with numerically lower values indicating higher priority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Higher priority gets larger q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Task run-able as long as time left in time slice (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active</a:t>
            </a:r>
            <a:r>
              <a:rPr lang="en-US" altLang="en-US" sz="16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If no time left (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expired</a:t>
            </a:r>
            <a:r>
              <a:rPr lang="en-US" altLang="en-US" sz="1600" dirty="0"/>
              <a:t>), not run-able until all other tasks use their slices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All run-able tasks tracked in per-CPU </a:t>
            </a:r>
            <a:r>
              <a:rPr lang="en-US" altLang="en-US" sz="1600" b="1" dirty="0" err="1">
                <a:solidFill>
                  <a:srgbClr val="006699"/>
                </a:solidFill>
                <a:latin typeface="+mj-lt"/>
              </a:rPr>
              <a:t>runqueue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data structure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Two priority arrays (active, expired)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Tasks indexed by priority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When no more active, arrays are exchanged</a:t>
            </a:r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Worked well, but poor response times for interactive processes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>
            <a:extLst>
              <a:ext uri="{FF2B5EF4-FFF2-40B4-BE49-F238E27FC236}">
                <a16:creationId xmlns:a16="http://schemas.microsoft.com/office/drawing/2014/main" id="{72308EB8-7072-4BEA-AF27-9B27AEE14D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3952" y="161908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Linux Scheduling in Version 2.6.23 +</a:t>
            </a:r>
          </a:p>
        </p:txBody>
      </p:sp>
      <p:sp>
        <p:nvSpPr>
          <p:cNvPr id="112642" name="Rectangle 3">
            <a:extLst>
              <a:ext uri="{FF2B5EF4-FFF2-40B4-BE49-F238E27FC236}">
                <a16:creationId xmlns:a16="http://schemas.microsoft.com/office/drawing/2014/main" id="{2B145118-E234-40BA-B90B-2874CDDAE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3773" y="1063481"/>
            <a:ext cx="7865703" cy="507125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Completely Fair Scheduler (CFS)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latin typeface="+mj-lt"/>
              </a:rPr>
              <a:t>Scheduling classes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Each has specific priority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Scheduler picks highest priority task in highest scheduling class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Rather than quantum based on fixed time allotments, based on proportion of CPU time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Two scheduling classes included, others can be added</a:t>
            </a:r>
          </a:p>
          <a:p>
            <a:pPr marL="1095375" lvl="2" indent="-239713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default</a:t>
            </a:r>
          </a:p>
          <a:p>
            <a:pPr marL="1095375" lvl="2" indent="-239713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real-time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40894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>
            <a:extLst>
              <a:ext uri="{FF2B5EF4-FFF2-40B4-BE49-F238E27FC236}">
                <a16:creationId xmlns:a16="http://schemas.microsoft.com/office/drawing/2014/main" id="{72308EB8-7072-4BEA-AF27-9B27AEE14D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2512" y="69396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Linux Scheduling in Version 2.6.23 + (Cont.)</a:t>
            </a:r>
          </a:p>
        </p:txBody>
      </p:sp>
      <p:sp>
        <p:nvSpPr>
          <p:cNvPr id="112642" name="Rectangle 3">
            <a:extLst>
              <a:ext uri="{FF2B5EF4-FFF2-40B4-BE49-F238E27FC236}">
                <a16:creationId xmlns:a16="http://schemas.microsoft.com/office/drawing/2014/main" id="{2B145118-E234-40BA-B90B-2874CDDAE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3773" y="951721"/>
            <a:ext cx="7699827" cy="494375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Quantum calculated based on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nice value </a:t>
            </a:r>
            <a:r>
              <a:rPr lang="en-US" altLang="en-US" sz="2000" dirty="0"/>
              <a:t>from -20 to +19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Lower value is higher priority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Calculates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target latency </a:t>
            </a:r>
            <a:r>
              <a:rPr lang="en-US" altLang="en-US" sz="2000" dirty="0"/>
              <a:t>– interval of time during which task should run at least once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Target latency can increase if say number of active tasks increases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CFS scheduler maintains per task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virtual run time </a:t>
            </a:r>
            <a:r>
              <a:rPr lang="en-US" altLang="en-US" sz="2000" dirty="0"/>
              <a:t>in variable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vruntime</a:t>
            </a:r>
            <a:endParaRPr lang="en-US" altLang="en-US" sz="2000" b="1" dirty="0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Associated with decay factor based on priority of task – lower priority is higher decay rate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Normal default priority yields virtual run time = actual run time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To decide next task to run, scheduler picks task with lowest virtual run time</a:t>
            </a:r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 marL="1095375" lvl="2" indent="-239713">
              <a:lnSpc>
                <a:spcPct val="90000"/>
              </a:lnSpc>
            </a:pPr>
            <a:endParaRPr lang="en-US" altLang="en-US" sz="2000" dirty="0"/>
          </a:p>
          <a:p>
            <a:pPr lvl="1">
              <a:lnSpc>
                <a:spcPct val="90000"/>
              </a:lnSpc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>
            <a:extLst>
              <a:ext uri="{FF2B5EF4-FFF2-40B4-BE49-F238E27FC236}">
                <a16:creationId xmlns:a16="http://schemas.microsoft.com/office/drawing/2014/main" id="{0051E590-6092-4C16-A466-20459637CD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130652"/>
            <a:ext cx="7859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CFS Performance</a:t>
            </a:r>
          </a:p>
        </p:txBody>
      </p:sp>
      <p:pic>
        <p:nvPicPr>
          <p:cNvPr id="114690" name="Picture 4" descr="Screen Shot 2012-12-17 at 9.25.06 PM.png">
            <a:extLst>
              <a:ext uri="{FF2B5EF4-FFF2-40B4-BE49-F238E27FC236}">
                <a16:creationId xmlns:a16="http://schemas.microsoft.com/office/drawing/2014/main" id="{E26FC3A4-5035-4C42-831C-EFBC43629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513" y="1077913"/>
            <a:ext cx="4389437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Title 1">
            <a:extLst>
              <a:ext uri="{FF2B5EF4-FFF2-40B4-BE49-F238E27FC236}">
                <a16:creationId xmlns:a16="http://schemas.microsoft.com/office/drawing/2014/main" id="{77CC9487-DADE-43D0-8ECA-52F4E44E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7390"/>
            <a:ext cx="8229600" cy="576262"/>
          </a:xfrm>
        </p:spPr>
        <p:txBody>
          <a:bodyPr/>
          <a:lstStyle/>
          <a:p>
            <a:r>
              <a:rPr lang="en-US" altLang="en-US" dirty="0"/>
              <a:t>Linux Scheduling (Cont.)</a:t>
            </a:r>
          </a:p>
        </p:txBody>
      </p:sp>
      <p:sp>
        <p:nvSpPr>
          <p:cNvPr id="116738" name="Content Placeholder 2">
            <a:extLst>
              <a:ext uri="{FF2B5EF4-FFF2-40B4-BE49-F238E27FC236}">
                <a16:creationId xmlns:a16="http://schemas.microsoft.com/office/drawing/2014/main" id="{E02DB423-4929-4748-A706-EFB4B1D0D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650" y="1022668"/>
            <a:ext cx="7791450" cy="4530725"/>
          </a:xfrm>
        </p:spPr>
        <p:txBody>
          <a:bodyPr/>
          <a:lstStyle/>
          <a:p>
            <a:r>
              <a:rPr lang="en-US" altLang="en-US" sz="2000" dirty="0"/>
              <a:t>Real-time scheduling according to POSIX.1b</a:t>
            </a:r>
          </a:p>
          <a:p>
            <a:pPr lvl="1"/>
            <a:r>
              <a:rPr lang="en-US" altLang="en-US" sz="2000" dirty="0"/>
              <a:t>Real-time tasks have static priorities</a:t>
            </a:r>
          </a:p>
          <a:p>
            <a:r>
              <a:rPr lang="en-US" altLang="en-US" sz="2000" dirty="0"/>
              <a:t>Real-time plus normal map into global priority scheme</a:t>
            </a:r>
          </a:p>
          <a:p>
            <a:r>
              <a:rPr lang="en-US" altLang="en-US" sz="2000" dirty="0"/>
              <a:t>Nice value of -20 maps to global priority 100</a:t>
            </a:r>
          </a:p>
          <a:p>
            <a:r>
              <a:rPr lang="en-US" altLang="en-US" sz="2000" dirty="0"/>
              <a:t>Nice value of +19 maps to priority 139</a:t>
            </a:r>
          </a:p>
          <a:p>
            <a:endParaRPr lang="en-US" altLang="en-US" sz="2000" dirty="0"/>
          </a:p>
        </p:txBody>
      </p:sp>
      <p:pic>
        <p:nvPicPr>
          <p:cNvPr id="116739" name="Picture 1" descr="Screen Shot 2012-12-17 at 9.28.34 PM.png">
            <a:extLst>
              <a:ext uri="{FF2B5EF4-FFF2-40B4-BE49-F238E27FC236}">
                <a16:creationId xmlns:a16="http://schemas.microsoft.com/office/drawing/2014/main" id="{962147AC-858B-4382-8168-1FA988CFB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240" y="3081004"/>
            <a:ext cx="5522913" cy="1546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Title 1">
            <a:extLst>
              <a:ext uri="{FF2B5EF4-FFF2-40B4-BE49-F238E27FC236}">
                <a16:creationId xmlns:a16="http://schemas.microsoft.com/office/drawing/2014/main" id="{15E5355E-AE48-4BA0-9903-BD07675EB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30"/>
            <a:ext cx="8229600" cy="576262"/>
          </a:xfrm>
        </p:spPr>
        <p:txBody>
          <a:bodyPr/>
          <a:lstStyle/>
          <a:p>
            <a:r>
              <a:rPr lang="en-US" altLang="en-US" dirty="0"/>
              <a:t>Linux Scheduling (Cont.)</a:t>
            </a:r>
          </a:p>
        </p:txBody>
      </p:sp>
      <p:sp>
        <p:nvSpPr>
          <p:cNvPr id="117762" name="Content Placeholder 2">
            <a:extLst>
              <a:ext uri="{FF2B5EF4-FFF2-40B4-BE49-F238E27FC236}">
                <a16:creationId xmlns:a16="http://schemas.microsoft.com/office/drawing/2014/main" id="{A42B57D8-264F-4D4F-9A5A-A9E3DC09C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650" y="1055688"/>
            <a:ext cx="7791450" cy="4530725"/>
          </a:xfrm>
        </p:spPr>
        <p:txBody>
          <a:bodyPr/>
          <a:lstStyle/>
          <a:p>
            <a:r>
              <a:rPr lang="en-US" altLang="en-US" sz="2000" dirty="0"/>
              <a:t>Linux supports load balancing, but is also NUMA-aware.</a:t>
            </a:r>
          </a:p>
          <a:p>
            <a:r>
              <a:rPr lang="en-US" altLang="en-US" sz="2000" b="1" dirty="0"/>
              <a:t>Scheduling domain </a:t>
            </a:r>
            <a:r>
              <a:rPr lang="en-US" altLang="en-US" sz="2000" dirty="0"/>
              <a:t>is a set of CPU cores that can be balanced against one another. </a:t>
            </a:r>
          </a:p>
          <a:p>
            <a:r>
              <a:rPr lang="en-US" altLang="en-US" sz="2000" dirty="0"/>
              <a:t>Domains are organized by what they share (i.e., cache memory.) Goal is to keep threads from migrating between domains.</a:t>
            </a:r>
          </a:p>
        </p:txBody>
      </p:sp>
      <p:pic>
        <p:nvPicPr>
          <p:cNvPr id="117763" name="Picture 1">
            <a:extLst>
              <a:ext uri="{FF2B5EF4-FFF2-40B4-BE49-F238E27FC236}">
                <a16:creationId xmlns:a16="http://schemas.microsoft.com/office/drawing/2014/main" id="{419DDE73-3A6B-402B-AD36-41FFBDF50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3271838"/>
            <a:ext cx="3981450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itle 1">
            <a:extLst>
              <a:ext uri="{FF2B5EF4-FFF2-40B4-BE49-F238E27FC236}">
                <a16:creationId xmlns:a16="http://schemas.microsoft.com/office/drawing/2014/main" id="{57846D64-B929-4C0F-B0F2-2317AECF5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477"/>
            <a:ext cx="8229600" cy="576262"/>
          </a:xfrm>
        </p:spPr>
        <p:txBody>
          <a:bodyPr/>
          <a:lstStyle/>
          <a:p>
            <a:r>
              <a:rPr lang="en-US" altLang="en-US" dirty="0"/>
              <a:t>Windows Scheduling</a:t>
            </a:r>
          </a:p>
        </p:txBody>
      </p:sp>
      <p:sp>
        <p:nvSpPr>
          <p:cNvPr id="118786" name="Content Placeholder 2">
            <a:extLst>
              <a:ext uri="{FF2B5EF4-FFF2-40B4-BE49-F238E27FC236}">
                <a16:creationId xmlns:a16="http://schemas.microsoft.com/office/drawing/2014/main" id="{0F277E99-A9C4-42A6-8C98-C4958ADB5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905" y="1024414"/>
            <a:ext cx="7607795" cy="4341812"/>
          </a:xfrm>
        </p:spPr>
        <p:txBody>
          <a:bodyPr/>
          <a:lstStyle/>
          <a:p>
            <a:r>
              <a:rPr lang="en-US" altLang="en-US" sz="2000" dirty="0"/>
              <a:t>Windows uses priority-based preemptive scheduling</a:t>
            </a:r>
          </a:p>
          <a:p>
            <a:r>
              <a:rPr lang="en-US" altLang="en-US" sz="2000" dirty="0"/>
              <a:t>Highest-priority thread runs next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Dispatcher</a:t>
            </a:r>
            <a:r>
              <a:rPr lang="en-US" altLang="en-US" sz="2000" i="1" dirty="0"/>
              <a:t> </a:t>
            </a:r>
            <a:r>
              <a:rPr lang="en-US" altLang="en-US" sz="2000" dirty="0"/>
              <a:t>is scheduler</a:t>
            </a:r>
          </a:p>
          <a:p>
            <a:r>
              <a:rPr lang="en-US" altLang="en-US" sz="2000" dirty="0"/>
              <a:t>Thread runs until (1) blocks, (2) uses time slice, (3) preempted by higher-priority thread</a:t>
            </a:r>
          </a:p>
          <a:p>
            <a:r>
              <a:rPr lang="en-US" altLang="en-US" sz="2000" dirty="0"/>
              <a:t>Real-time threads can preempt non-real-time</a:t>
            </a:r>
          </a:p>
          <a:p>
            <a:r>
              <a:rPr lang="en-US" altLang="en-US" sz="2000" dirty="0"/>
              <a:t>32-level priority scheme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Variable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class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 1-15,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real-time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class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16-31</a:t>
            </a:r>
          </a:p>
          <a:p>
            <a:r>
              <a:rPr lang="en-US" altLang="en-US" sz="2000" dirty="0"/>
              <a:t>Priority 0 is memory-management thread</a:t>
            </a:r>
          </a:p>
          <a:p>
            <a:r>
              <a:rPr lang="en-US" altLang="en-US" sz="2000" dirty="0"/>
              <a:t>Queue for each priority</a:t>
            </a:r>
          </a:p>
          <a:p>
            <a:r>
              <a:rPr lang="en-US" altLang="en-US" sz="2000" dirty="0"/>
              <a:t>If no run-able thread, runs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idle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thread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Title 1">
            <a:extLst>
              <a:ext uri="{FF2B5EF4-FFF2-40B4-BE49-F238E27FC236}">
                <a16:creationId xmlns:a16="http://schemas.microsoft.com/office/drawing/2014/main" id="{214258E6-EE47-481F-8719-5DE0EA27B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3673"/>
            <a:ext cx="8229600" cy="576262"/>
          </a:xfrm>
        </p:spPr>
        <p:txBody>
          <a:bodyPr/>
          <a:lstStyle/>
          <a:p>
            <a:r>
              <a:rPr lang="en-US" altLang="en-US" dirty="0"/>
              <a:t>Windows Priority Classes</a:t>
            </a:r>
          </a:p>
        </p:txBody>
      </p:sp>
      <p:sp>
        <p:nvSpPr>
          <p:cNvPr id="119810" name="Content Placeholder 2">
            <a:extLst>
              <a:ext uri="{FF2B5EF4-FFF2-40B4-BE49-F238E27FC236}">
                <a16:creationId xmlns:a16="http://schemas.microsoft.com/office/drawing/2014/main" id="{5EE62716-21CA-4281-A3FF-131F55341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8" y="1060768"/>
            <a:ext cx="7897971" cy="5111432"/>
          </a:xfrm>
        </p:spPr>
        <p:txBody>
          <a:bodyPr/>
          <a:lstStyle/>
          <a:p>
            <a:r>
              <a:rPr lang="en-US" altLang="en-US" sz="2000" dirty="0"/>
              <a:t>Win32 API identifies several priority classes to which a process can belong</a:t>
            </a:r>
          </a:p>
          <a:p>
            <a:pPr lvl="1"/>
            <a:r>
              <a:rPr lang="en-US" altLang="en-US" sz="2000" dirty="0"/>
              <a:t>REALTIME_PRIORITY_CLASS, HIGH_PRIORITY_CLASS, ABOVE_NORMAL_PRIORITY_CLASS,NORMAL_PRIORITY_CLASS, BELOW_NORMAL_PRIORITY_CLASS, IDLE_PRIORITY_CLASS</a:t>
            </a:r>
            <a:endParaRPr lang="en-US" altLang="en-US" sz="2000" b="1" dirty="0">
              <a:solidFill>
                <a:srgbClr val="3366FF"/>
              </a:solidFill>
            </a:endParaRPr>
          </a:p>
          <a:p>
            <a:pPr lvl="1"/>
            <a:r>
              <a:rPr lang="en-US" altLang="en-US" sz="2000" dirty="0"/>
              <a:t>All are variable except REALTIME</a:t>
            </a:r>
          </a:p>
          <a:p>
            <a:r>
              <a:rPr lang="en-US" altLang="en-US" sz="2000" dirty="0"/>
              <a:t>A thread within a given priority class has a relative priority</a:t>
            </a:r>
          </a:p>
          <a:p>
            <a:pPr lvl="1"/>
            <a:r>
              <a:rPr lang="en-US" altLang="en-US" sz="2000" dirty="0"/>
              <a:t>TIME_CRITICAL, HIGHEST, ABOVE_NORMAL, NORMAL, BELOW_NORMAL, LOWEST, IDLE</a:t>
            </a:r>
          </a:p>
          <a:p>
            <a:r>
              <a:rPr lang="en-US" altLang="en-US" sz="2000" dirty="0"/>
              <a:t>Priority class and relative priority combine to give numeric priority</a:t>
            </a:r>
          </a:p>
          <a:p>
            <a:r>
              <a:rPr lang="en-US" altLang="en-US" sz="2000" dirty="0"/>
              <a:t>Base priority is NORMAL within the class</a:t>
            </a:r>
          </a:p>
          <a:p>
            <a:r>
              <a:rPr lang="en-US" altLang="en-US" sz="2000" dirty="0"/>
              <a:t>If quantum expires, priority lowered, but never below base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Title 1">
            <a:extLst>
              <a:ext uri="{FF2B5EF4-FFF2-40B4-BE49-F238E27FC236}">
                <a16:creationId xmlns:a16="http://schemas.microsoft.com/office/drawing/2014/main" id="{48F43CB8-283D-472C-AF85-1D6014DB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694" y="101600"/>
            <a:ext cx="8229600" cy="618842"/>
          </a:xfrm>
        </p:spPr>
        <p:txBody>
          <a:bodyPr/>
          <a:lstStyle/>
          <a:p>
            <a:r>
              <a:rPr lang="en-US" altLang="en-US" dirty="0"/>
              <a:t>Windows Priority Classes (Cont.)</a:t>
            </a:r>
          </a:p>
        </p:txBody>
      </p:sp>
      <p:sp>
        <p:nvSpPr>
          <p:cNvPr id="120834" name="Content Placeholder 2">
            <a:extLst>
              <a:ext uri="{FF2B5EF4-FFF2-40B4-BE49-F238E27FC236}">
                <a16:creationId xmlns:a16="http://schemas.microsoft.com/office/drawing/2014/main" id="{257CB95D-3C4B-410B-A126-05623DC45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429" y="1114109"/>
            <a:ext cx="7818438" cy="3191192"/>
          </a:xfrm>
        </p:spPr>
        <p:txBody>
          <a:bodyPr/>
          <a:lstStyle/>
          <a:p>
            <a:r>
              <a:rPr lang="en-US" altLang="en-US" sz="2000" dirty="0"/>
              <a:t>If wait occurs, priority boosted depending on what was waited for</a:t>
            </a:r>
          </a:p>
          <a:p>
            <a:r>
              <a:rPr lang="en-US" altLang="en-US" sz="2000" dirty="0"/>
              <a:t>Foreground window given 3x priority boost</a:t>
            </a:r>
          </a:p>
          <a:p>
            <a:r>
              <a:rPr lang="en-US" altLang="en-US" sz="2000" dirty="0"/>
              <a:t>Windows 7 added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user-mode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scheduling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UMS</a:t>
            </a:r>
            <a:r>
              <a:rPr lang="en-US" altLang="en-US" sz="2000" dirty="0"/>
              <a:t>) </a:t>
            </a:r>
          </a:p>
          <a:p>
            <a:pPr lvl="1"/>
            <a:r>
              <a:rPr lang="en-US" altLang="en-US" sz="2000" dirty="0"/>
              <a:t>Applications create and manage threads independent of kernel</a:t>
            </a:r>
          </a:p>
          <a:p>
            <a:pPr lvl="1"/>
            <a:r>
              <a:rPr lang="en-US" altLang="en-US" sz="2000" dirty="0"/>
              <a:t>For large number of threads, much more efficient</a:t>
            </a:r>
          </a:p>
          <a:p>
            <a:pPr lvl="1"/>
            <a:r>
              <a:rPr lang="en-US" altLang="en-US" sz="2000" dirty="0"/>
              <a:t>UMS schedulers come from programming language libraries like C++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Concurrent Runtime </a:t>
            </a:r>
            <a:r>
              <a:rPr lang="en-US" altLang="en-US" sz="2000" dirty="0"/>
              <a:t>(</a:t>
            </a:r>
            <a:r>
              <a:rPr lang="en-US" altLang="en-US" sz="2000" dirty="0" err="1"/>
              <a:t>ConcRT</a:t>
            </a:r>
            <a:r>
              <a:rPr lang="en-US" altLang="en-US" sz="2000" dirty="0"/>
              <a:t>) framework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>
            <a:extLst>
              <a:ext uri="{FF2B5EF4-FFF2-40B4-BE49-F238E27FC236}">
                <a16:creationId xmlns:a16="http://schemas.microsoft.com/office/drawing/2014/main" id="{F3C715D7-99EA-40E4-A265-7365C35A3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825" y="111108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Priorities</a:t>
            </a:r>
          </a:p>
        </p:txBody>
      </p:sp>
      <p:pic>
        <p:nvPicPr>
          <p:cNvPr id="121858" name="Picture 1">
            <a:extLst>
              <a:ext uri="{FF2B5EF4-FFF2-40B4-BE49-F238E27FC236}">
                <a16:creationId xmlns:a16="http://schemas.microsoft.com/office/drawing/2014/main" id="{13B7C937-29C4-4257-9403-EC1858659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15" y="1618078"/>
            <a:ext cx="7860769" cy="3182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Title 1">
            <a:extLst>
              <a:ext uri="{FF2B5EF4-FFF2-40B4-BE49-F238E27FC236}">
                <a16:creationId xmlns:a16="http://schemas.microsoft.com/office/drawing/2014/main" id="{8AB69425-24AD-45D8-8836-826ED249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0652"/>
            <a:ext cx="8229600" cy="576262"/>
          </a:xfrm>
        </p:spPr>
        <p:txBody>
          <a:bodyPr/>
          <a:lstStyle/>
          <a:p>
            <a:r>
              <a:rPr lang="en-US" altLang="en-US" dirty="0"/>
              <a:t>Solaris</a:t>
            </a:r>
          </a:p>
        </p:txBody>
      </p:sp>
      <p:sp>
        <p:nvSpPr>
          <p:cNvPr id="123906" name="Content Placeholder 2">
            <a:extLst>
              <a:ext uri="{FF2B5EF4-FFF2-40B4-BE49-F238E27FC236}">
                <a16:creationId xmlns:a16="http://schemas.microsoft.com/office/drawing/2014/main" id="{9E96F03D-671D-4EDD-9F10-F7195DEFB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1081088"/>
            <a:ext cx="7181850" cy="5027612"/>
          </a:xfrm>
        </p:spPr>
        <p:txBody>
          <a:bodyPr/>
          <a:lstStyle/>
          <a:p>
            <a:r>
              <a:rPr lang="en-US" altLang="en-US" sz="2000" dirty="0"/>
              <a:t>Priority-based scheduling</a:t>
            </a:r>
          </a:p>
          <a:p>
            <a:r>
              <a:rPr lang="en-US" altLang="en-US" sz="2000" dirty="0"/>
              <a:t>Six classes available</a:t>
            </a:r>
          </a:p>
          <a:p>
            <a:pPr lvl="1"/>
            <a:r>
              <a:rPr lang="en-US" altLang="en-US" sz="2000" dirty="0"/>
              <a:t>Time sharing (default) (TS)</a:t>
            </a:r>
          </a:p>
          <a:p>
            <a:pPr lvl="1"/>
            <a:r>
              <a:rPr lang="en-US" altLang="en-US" sz="2000" dirty="0"/>
              <a:t>Interactive (IA)</a:t>
            </a:r>
          </a:p>
          <a:p>
            <a:pPr lvl="1"/>
            <a:r>
              <a:rPr lang="en-US" altLang="en-US" sz="2000" dirty="0"/>
              <a:t>Real time (RT)</a:t>
            </a:r>
          </a:p>
          <a:p>
            <a:pPr lvl="1"/>
            <a:r>
              <a:rPr lang="en-US" altLang="en-US" sz="2000" dirty="0"/>
              <a:t>System (SYS)</a:t>
            </a:r>
          </a:p>
          <a:p>
            <a:pPr lvl="1"/>
            <a:r>
              <a:rPr lang="en-US" altLang="en-US" sz="2000" dirty="0"/>
              <a:t>Fair Share (FSS)</a:t>
            </a:r>
          </a:p>
          <a:p>
            <a:pPr lvl="1"/>
            <a:r>
              <a:rPr lang="en-US" altLang="en-US" sz="2000" dirty="0"/>
              <a:t>Fixed priority (FP)</a:t>
            </a:r>
          </a:p>
          <a:p>
            <a:r>
              <a:rPr lang="en-US" altLang="en-US" sz="2000" dirty="0"/>
              <a:t>Given thread can be in one class at a time</a:t>
            </a:r>
          </a:p>
          <a:p>
            <a:r>
              <a:rPr lang="en-US" altLang="en-US" sz="2000" dirty="0"/>
              <a:t>Each class has its own scheduling algorithm</a:t>
            </a:r>
          </a:p>
          <a:p>
            <a:r>
              <a:rPr lang="en-US" altLang="en-US" sz="2000" dirty="0"/>
              <a:t>Time sharing is multi-level feedback queue</a:t>
            </a:r>
          </a:p>
          <a:p>
            <a:pPr lvl="1"/>
            <a:r>
              <a:rPr lang="en-US" altLang="en-US" sz="2000" dirty="0"/>
              <a:t>Loadable table configurable by sysadmin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>
            <a:extLst>
              <a:ext uri="{FF2B5EF4-FFF2-40B4-BE49-F238E27FC236}">
                <a16:creationId xmlns:a16="http://schemas.microsoft.com/office/drawing/2014/main" id="{0D62A802-7E18-499C-A146-A07CCE8557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111760"/>
            <a:ext cx="7859712" cy="63237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Dispatch Table </a:t>
            </a:r>
          </a:p>
        </p:txBody>
      </p:sp>
      <p:pic>
        <p:nvPicPr>
          <p:cNvPr id="124930" name="Picture 1">
            <a:extLst>
              <a:ext uri="{FF2B5EF4-FFF2-40B4-BE49-F238E27FC236}">
                <a16:creationId xmlns:a16="http://schemas.microsoft.com/office/drawing/2014/main" id="{7160601A-B1BF-48C6-9397-33A5E4EDA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957025"/>
            <a:ext cx="5994400" cy="5427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Title 1">
            <a:extLst>
              <a:ext uri="{FF2B5EF4-FFF2-40B4-BE49-F238E27FC236}">
                <a16:creationId xmlns:a16="http://schemas.microsoft.com/office/drawing/2014/main" id="{276C3EB7-7E70-4D36-896B-C046F894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864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Scheduling</a:t>
            </a:r>
          </a:p>
        </p:txBody>
      </p:sp>
      <p:pic>
        <p:nvPicPr>
          <p:cNvPr id="126978" name="Picture 1">
            <a:extLst>
              <a:ext uri="{FF2B5EF4-FFF2-40B4-BE49-F238E27FC236}">
                <a16:creationId xmlns:a16="http://schemas.microsoft.com/office/drawing/2014/main" id="{54EE688C-E0C5-4D9D-8FA8-535F608F7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799" y="1053463"/>
            <a:ext cx="3267075" cy="5067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Title 1">
            <a:extLst>
              <a:ext uri="{FF2B5EF4-FFF2-40B4-BE49-F238E27FC236}">
                <a16:creationId xmlns:a16="http://schemas.microsoft.com/office/drawing/2014/main" id="{413EBEC1-908A-4F6D-8816-4377406CA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43193"/>
            <a:ext cx="8229600" cy="576262"/>
          </a:xfrm>
        </p:spPr>
        <p:txBody>
          <a:bodyPr/>
          <a:lstStyle/>
          <a:p>
            <a:r>
              <a:rPr lang="en-US" altLang="en-US" dirty="0"/>
              <a:t>Solaris Scheduling (Cont.)</a:t>
            </a:r>
          </a:p>
        </p:txBody>
      </p:sp>
      <p:sp>
        <p:nvSpPr>
          <p:cNvPr id="129026" name="Content Placeholder 2">
            <a:extLst>
              <a:ext uri="{FF2B5EF4-FFF2-40B4-BE49-F238E27FC236}">
                <a16:creationId xmlns:a16="http://schemas.microsoft.com/office/drawing/2014/main" id="{A4FDB664-01BF-4BD6-9938-4E94F386D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1103949"/>
            <a:ext cx="7015480" cy="4484052"/>
          </a:xfrm>
        </p:spPr>
        <p:txBody>
          <a:bodyPr/>
          <a:lstStyle/>
          <a:p>
            <a:r>
              <a:rPr lang="en-US" altLang="en-US" sz="2000" dirty="0"/>
              <a:t>Scheduler converts class-specific priorities into a per-thread global priority</a:t>
            </a:r>
          </a:p>
          <a:p>
            <a:pPr lvl="1"/>
            <a:r>
              <a:rPr lang="en-US" altLang="en-US" sz="2000" dirty="0"/>
              <a:t>Thread with highest priority runs next</a:t>
            </a:r>
          </a:p>
          <a:p>
            <a:pPr lvl="1"/>
            <a:r>
              <a:rPr lang="en-US" altLang="en-US" sz="2000" dirty="0"/>
              <a:t>Runs until (1) blocks, (2) uses time slice, (3) preempted by higher-priority thread</a:t>
            </a:r>
          </a:p>
          <a:p>
            <a:pPr lvl="1"/>
            <a:r>
              <a:rPr lang="en-US" altLang="en-US" sz="2000" dirty="0"/>
              <a:t>Multiple threads at same priority selected via RR</a:t>
            </a:r>
          </a:p>
          <a:p>
            <a:pPr lvl="1">
              <a:buFont typeface="Monotype Sorts" pitchFamily="-84" charset="2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>
            <a:extLst>
              <a:ext uri="{FF2B5EF4-FFF2-40B4-BE49-F238E27FC236}">
                <a16:creationId xmlns:a16="http://schemas.microsoft.com/office/drawing/2014/main" id="{E3E49DFF-D595-4F44-93F4-CD0179919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97526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Algorithm Evaluation</a:t>
            </a:r>
          </a:p>
        </p:txBody>
      </p:sp>
      <p:sp>
        <p:nvSpPr>
          <p:cNvPr id="130050" name="Rectangle 3">
            <a:extLst>
              <a:ext uri="{FF2B5EF4-FFF2-40B4-BE49-F238E27FC236}">
                <a16:creationId xmlns:a16="http://schemas.microsoft.com/office/drawing/2014/main" id="{91026CB7-CF57-408F-913C-6C7B82EF62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5271" y="965201"/>
            <a:ext cx="6774409" cy="3139387"/>
          </a:xfrm>
        </p:spPr>
        <p:txBody>
          <a:bodyPr/>
          <a:lstStyle/>
          <a:p>
            <a:r>
              <a:rPr lang="en-US" altLang="en-US" sz="2000" dirty="0"/>
              <a:t>How to select CPU-scheduling algorithm for an OS?</a:t>
            </a:r>
          </a:p>
          <a:p>
            <a:r>
              <a:rPr lang="en-US" altLang="en-US" sz="2000" dirty="0"/>
              <a:t>Determine criteria, then evaluate algorithms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Deterministic modeling</a:t>
            </a:r>
          </a:p>
          <a:p>
            <a:pPr lvl="1"/>
            <a:r>
              <a:rPr lang="en-US" altLang="en-US" sz="2000" dirty="0"/>
              <a:t>Type of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analytic evaluation</a:t>
            </a:r>
          </a:p>
          <a:p>
            <a:pPr lvl="1"/>
            <a:r>
              <a:rPr lang="en-US" altLang="en-US" sz="2000" dirty="0"/>
              <a:t>Takes a particular predetermined workload and defines the performance of each algorithm  for that workload</a:t>
            </a:r>
          </a:p>
          <a:p>
            <a:r>
              <a:rPr lang="en-US" altLang="en-US" sz="2000" dirty="0"/>
              <a:t>Consider 5 processes arriving at time 0:</a:t>
            </a:r>
          </a:p>
        </p:txBody>
      </p:sp>
      <p:pic>
        <p:nvPicPr>
          <p:cNvPr id="130051" name="Picture 1" descr="Screen Shot 2012-12-17 at 9.44.14 PM.png">
            <a:extLst>
              <a:ext uri="{FF2B5EF4-FFF2-40B4-BE49-F238E27FC236}">
                <a16:creationId xmlns:a16="http://schemas.microsoft.com/office/drawing/2014/main" id="{1186B308-DDF2-452D-A47E-6EF7019C0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325" y="4104588"/>
            <a:ext cx="1897062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>
            <a:extLst>
              <a:ext uri="{FF2B5EF4-FFF2-40B4-BE49-F238E27FC236}">
                <a16:creationId xmlns:a16="http://schemas.microsoft.com/office/drawing/2014/main" id="{0C6E6845-850D-4810-9EA5-1EB2B3843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04047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Deterministic Evaluation</a:t>
            </a:r>
          </a:p>
        </p:txBody>
      </p:sp>
      <p:sp>
        <p:nvSpPr>
          <p:cNvPr id="101378" name="Rectangle 3">
            <a:extLst>
              <a:ext uri="{FF2B5EF4-FFF2-40B4-BE49-F238E27FC236}">
                <a16:creationId xmlns:a16="http://schemas.microsoft.com/office/drawing/2014/main" id="{42D64333-B7E5-4612-A296-895B3529B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097280"/>
            <a:ext cx="7478711" cy="4249420"/>
          </a:xfrm>
        </p:spPr>
        <p:txBody>
          <a:bodyPr/>
          <a:lstStyle/>
          <a:p>
            <a:pPr marL="341313" indent="-341313"/>
            <a:r>
              <a:rPr lang="en-US" altLang="en-US" sz="2000" dirty="0"/>
              <a:t>For each algorithm, calculate minimum average waiting time</a:t>
            </a:r>
          </a:p>
          <a:p>
            <a:pPr marL="341313" indent="-341313"/>
            <a:r>
              <a:rPr lang="en-US" altLang="en-US" sz="2000" dirty="0"/>
              <a:t>Simple and fast, but requires exact numbers for input, applies only to those inputs</a:t>
            </a:r>
          </a:p>
          <a:p>
            <a:pPr marL="741363" lvl="1" indent="-284163"/>
            <a:r>
              <a:rPr lang="en-US" altLang="en-US" sz="2000" dirty="0"/>
              <a:t>FCS is 28ms:</a:t>
            </a:r>
          </a:p>
          <a:p>
            <a:pPr marL="341313" indent="-341313"/>
            <a:endParaRPr lang="en-US" altLang="en-US" sz="2000" dirty="0"/>
          </a:p>
          <a:p>
            <a:pPr marL="341313" indent="-341313">
              <a:buFont typeface="Monotype Sorts" pitchFamily="-84" charset="2"/>
              <a:buNone/>
            </a:pPr>
            <a:endParaRPr lang="en-US" altLang="en-US" sz="2000" dirty="0"/>
          </a:p>
          <a:p>
            <a:pPr marL="741363" lvl="1" indent="-284163">
              <a:spcBef>
                <a:spcPts val="1800"/>
              </a:spcBef>
            </a:pPr>
            <a:r>
              <a:rPr lang="en-US" altLang="en-US" sz="2000" dirty="0"/>
              <a:t>Non-preemptive SFJ is 13ms:</a:t>
            </a:r>
          </a:p>
          <a:p>
            <a:pPr marL="341313" indent="-341313"/>
            <a:endParaRPr lang="en-US" altLang="en-US" sz="2000" dirty="0"/>
          </a:p>
          <a:p>
            <a:pPr marL="341313" indent="-341313">
              <a:buFont typeface="Monotype Sorts" pitchFamily="-84" charset="2"/>
              <a:buNone/>
            </a:pPr>
            <a:endParaRPr lang="en-US" altLang="en-US" sz="2000" dirty="0"/>
          </a:p>
          <a:p>
            <a:pPr marL="741363" lvl="1" indent="-284163">
              <a:spcBef>
                <a:spcPts val="1200"/>
              </a:spcBef>
            </a:pPr>
            <a:r>
              <a:rPr lang="en-US" altLang="en-US" sz="2000" dirty="0"/>
              <a:t>RR is 23ms:</a:t>
            </a:r>
          </a:p>
          <a:p>
            <a:pPr marL="341313" indent="-341313">
              <a:buFont typeface="Monotype Sorts" pitchFamily="-84" charset="2"/>
              <a:buNone/>
            </a:pPr>
            <a:endParaRPr lang="en-US" altLang="en-US" sz="2000" dirty="0"/>
          </a:p>
        </p:txBody>
      </p:sp>
      <p:pic>
        <p:nvPicPr>
          <p:cNvPr id="132099" name="Picture 2" descr="Screen Shot 2012-12-17 at 9.47.12 PM.png">
            <a:extLst>
              <a:ext uri="{FF2B5EF4-FFF2-40B4-BE49-F238E27FC236}">
                <a16:creationId xmlns:a16="http://schemas.microsoft.com/office/drawing/2014/main" id="{72B613C9-9DEE-4CD7-ABD1-8B5F8F52B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3" y="2606675"/>
            <a:ext cx="44450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0" name="Picture 3" descr="Screen Shot 2012-12-17 at 9.47.18 PM.png">
            <a:extLst>
              <a:ext uri="{FF2B5EF4-FFF2-40B4-BE49-F238E27FC236}">
                <a16:creationId xmlns:a16="http://schemas.microsoft.com/office/drawing/2014/main" id="{F75A4BF0-7381-4B89-90CE-E8DC92F8F2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888" y="3966759"/>
            <a:ext cx="4529137" cy="773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1" name="Picture 4" descr="Screen Shot 2012-12-17 at 9.47.24 PM.png">
            <a:extLst>
              <a:ext uri="{FF2B5EF4-FFF2-40B4-BE49-F238E27FC236}">
                <a16:creationId xmlns:a16="http://schemas.microsoft.com/office/drawing/2014/main" id="{00B7072B-4655-4652-80B5-B7ADAFC32C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650" y="5240021"/>
            <a:ext cx="44450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Title 1">
            <a:extLst>
              <a:ext uri="{FF2B5EF4-FFF2-40B4-BE49-F238E27FC236}">
                <a16:creationId xmlns:a16="http://schemas.microsoft.com/office/drawing/2014/main" id="{4D59D635-40DB-4181-BA9E-36E3809C0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4071"/>
            <a:ext cx="8229600" cy="576262"/>
          </a:xfrm>
        </p:spPr>
        <p:txBody>
          <a:bodyPr/>
          <a:lstStyle/>
          <a:p>
            <a:r>
              <a:rPr lang="en-US" altLang="en-US" dirty="0"/>
              <a:t>Queueing Models</a:t>
            </a:r>
          </a:p>
        </p:txBody>
      </p:sp>
      <p:sp>
        <p:nvSpPr>
          <p:cNvPr id="134146" name="Content Placeholder 2">
            <a:extLst>
              <a:ext uri="{FF2B5EF4-FFF2-40B4-BE49-F238E27FC236}">
                <a16:creationId xmlns:a16="http://schemas.microsoft.com/office/drawing/2014/main" id="{51085166-B3B1-42A3-B00E-DD980BA9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402" y="1050609"/>
            <a:ext cx="7713698" cy="4517072"/>
          </a:xfrm>
        </p:spPr>
        <p:txBody>
          <a:bodyPr/>
          <a:lstStyle/>
          <a:p>
            <a:r>
              <a:rPr lang="en-US" altLang="en-US" sz="2000" dirty="0"/>
              <a:t>Describes the arrival of processes, and CPU and I/O bursts probabilistically</a:t>
            </a:r>
          </a:p>
          <a:p>
            <a:pPr lvl="1"/>
            <a:r>
              <a:rPr lang="en-US" altLang="en-US" sz="2000" dirty="0"/>
              <a:t>Commonly exponential, and described by mean</a:t>
            </a:r>
          </a:p>
          <a:p>
            <a:pPr lvl="1"/>
            <a:r>
              <a:rPr lang="en-US" altLang="en-US" sz="2000" dirty="0"/>
              <a:t>Computes average throughput, utilization, waiting time, etc.</a:t>
            </a:r>
          </a:p>
          <a:p>
            <a:r>
              <a:rPr lang="en-US" altLang="en-US" sz="2000" dirty="0"/>
              <a:t>Computer system described as network of servers, each with queue of waiting processes</a:t>
            </a:r>
          </a:p>
          <a:p>
            <a:pPr lvl="1"/>
            <a:r>
              <a:rPr lang="en-US" altLang="en-US" sz="2000" dirty="0"/>
              <a:t>Knowing arrival rates and service rates</a:t>
            </a:r>
          </a:p>
          <a:p>
            <a:pPr lvl="1"/>
            <a:r>
              <a:rPr lang="en-US" altLang="en-US" sz="2000" dirty="0"/>
              <a:t>Computes utilization, average queue length, average wait time, etc.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Title 1">
            <a:extLst>
              <a:ext uri="{FF2B5EF4-FFF2-40B4-BE49-F238E27FC236}">
                <a16:creationId xmlns:a16="http://schemas.microsoft.com/office/drawing/2014/main" id="{88836614-251E-456A-8F63-CF63948BE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3591"/>
            <a:ext cx="8229600" cy="576262"/>
          </a:xfrm>
        </p:spPr>
        <p:txBody>
          <a:bodyPr/>
          <a:lstStyle/>
          <a:p>
            <a:r>
              <a:rPr lang="en-US" altLang="en-US" dirty="0"/>
              <a:t>Little</a:t>
            </a:r>
            <a:r>
              <a:rPr lang="ja-JP" altLang="en-US" dirty="0"/>
              <a:t>’</a:t>
            </a:r>
            <a:r>
              <a:rPr lang="en-US" altLang="ja-JP" dirty="0"/>
              <a:t>s Formula</a:t>
            </a:r>
            <a:endParaRPr lang="en-US" altLang="en-US" dirty="0"/>
          </a:p>
        </p:txBody>
      </p:sp>
      <p:sp>
        <p:nvSpPr>
          <p:cNvPr id="135170" name="Content Placeholder 2">
            <a:extLst>
              <a:ext uri="{FF2B5EF4-FFF2-40B4-BE49-F238E27FC236}">
                <a16:creationId xmlns:a16="http://schemas.microsoft.com/office/drawing/2014/main" id="{0FB86F5A-AC04-4507-85EB-409F60BB9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26" y="1016001"/>
            <a:ext cx="7625574" cy="4551680"/>
          </a:xfrm>
        </p:spPr>
        <p:txBody>
          <a:bodyPr/>
          <a:lstStyle/>
          <a:p>
            <a:r>
              <a:rPr lang="en-US" altLang="en-US" sz="2000" i="1" dirty="0"/>
              <a:t>n</a:t>
            </a:r>
            <a:r>
              <a:rPr lang="en-US" altLang="en-US" sz="2000" dirty="0"/>
              <a:t> = average queue length</a:t>
            </a:r>
          </a:p>
          <a:p>
            <a:r>
              <a:rPr lang="en-US" altLang="en-US" sz="2000" i="1" dirty="0"/>
              <a:t>W</a:t>
            </a:r>
            <a:r>
              <a:rPr lang="en-US" altLang="en-US" sz="2000" dirty="0"/>
              <a:t> = average waiting time in queue</a:t>
            </a:r>
          </a:p>
          <a:p>
            <a:r>
              <a:rPr lang="en-US" altLang="en-US" sz="2000" i="1" dirty="0"/>
              <a:t>λ</a:t>
            </a:r>
            <a:r>
              <a:rPr lang="en-US" altLang="en-US" sz="2000" dirty="0"/>
              <a:t> = average arrival rate into queue</a:t>
            </a:r>
          </a:p>
          <a:p>
            <a:r>
              <a:rPr lang="en-US" altLang="en-US" sz="2000" dirty="0"/>
              <a:t>Little</a:t>
            </a:r>
            <a:r>
              <a:rPr lang="ja-JP" altLang="en-US" sz="2000" dirty="0"/>
              <a:t>’</a:t>
            </a:r>
            <a:r>
              <a:rPr lang="en-US" altLang="ja-JP" sz="2000" dirty="0"/>
              <a:t>s law – in steady state, processes leaving queue must equal processes arriving, thus:</a:t>
            </a:r>
            <a:br>
              <a:rPr lang="en-US" altLang="ja-JP" sz="2000" dirty="0"/>
            </a:br>
            <a:r>
              <a:rPr lang="en-US" altLang="ja-JP" sz="2000" dirty="0"/>
              <a:t>      </a:t>
            </a:r>
            <a:r>
              <a:rPr lang="en-US" altLang="ja-JP" sz="2000" i="1" dirty="0"/>
              <a:t>n </a:t>
            </a:r>
            <a:r>
              <a:rPr lang="en-US" altLang="ja-JP" sz="2000" dirty="0"/>
              <a:t>= </a:t>
            </a:r>
            <a:r>
              <a:rPr lang="en-US" altLang="ja-JP" sz="2000" i="1" dirty="0"/>
              <a:t>λ </a:t>
            </a:r>
            <a:r>
              <a:rPr lang="en-US" altLang="ja-JP" sz="2000" dirty="0"/>
              <a:t>x</a:t>
            </a:r>
            <a:r>
              <a:rPr lang="en-US" altLang="ja-JP" sz="2000" i="1" dirty="0"/>
              <a:t> W</a:t>
            </a:r>
          </a:p>
          <a:p>
            <a:pPr lvl="1"/>
            <a:r>
              <a:rPr lang="en-US" altLang="en-US" sz="2000" dirty="0"/>
              <a:t>Valid for any scheduling algorithm and arrival distribution</a:t>
            </a:r>
          </a:p>
          <a:p>
            <a:r>
              <a:rPr lang="en-US" altLang="en-US" sz="2000" dirty="0"/>
              <a:t>For example, if on average 7 processes arrive per second, and normally 14 processes in queue, then average wait time per process = 2 seconds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Title 1">
            <a:extLst>
              <a:ext uri="{FF2B5EF4-FFF2-40B4-BE49-F238E27FC236}">
                <a16:creationId xmlns:a16="http://schemas.microsoft.com/office/drawing/2014/main" id="{3F4B6F1F-014D-4B12-B2C5-CED652555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922"/>
            <a:ext cx="8229600" cy="576262"/>
          </a:xfrm>
        </p:spPr>
        <p:txBody>
          <a:bodyPr/>
          <a:lstStyle/>
          <a:p>
            <a:r>
              <a:rPr lang="en-US" altLang="en-US" dirty="0"/>
              <a:t>Simulations</a:t>
            </a:r>
          </a:p>
        </p:txBody>
      </p:sp>
      <p:sp>
        <p:nvSpPr>
          <p:cNvPr id="136194" name="Content Placeholder 2">
            <a:extLst>
              <a:ext uri="{FF2B5EF4-FFF2-40B4-BE49-F238E27FC236}">
                <a16:creationId xmlns:a16="http://schemas.microsoft.com/office/drawing/2014/main" id="{31DCE5BD-01E8-435B-870B-5EBAC0600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443" y="1060768"/>
            <a:ext cx="7727950" cy="4530725"/>
          </a:xfrm>
        </p:spPr>
        <p:txBody>
          <a:bodyPr/>
          <a:lstStyle/>
          <a:p>
            <a:r>
              <a:rPr lang="en-US" altLang="en-US" sz="2000" dirty="0"/>
              <a:t>Queueing models limited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Simulations</a:t>
            </a:r>
            <a:r>
              <a:rPr lang="en-US" altLang="en-US" sz="2000" b="1" dirty="0"/>
              <a:t> </a:t>
            </a:r>
            <a:r>
              <a:rPr lang="en-US" altLang="en-US" sz="2000" dirty="0"/>
              <a:t>more accurate</a:t>
            </a:r>
          </a:p>
          <a:p>
            <a:pPr lvl="1"/>
            <a:r>
              <a:rPr lang="en-US" altLang="en-US" sz="2000" dirty="0"/>
              <a:t>Programmed model of computer system</a:t>
            </a:r>
          </a:p>
          <a:p>
            <a:pPr lvl="1"/>
            <a:r>
              <a:rPr lang="en-US" altLang="en-US" sz="2000" dirty="0"/>
              <a:t>Clock is a variable</a:t>
            </a:r>
          </a:p>
          <a:p>
            <a:pPr lvl="1"/>
            <a:r>
              <a:rPr lang="en-US" altLang="en-US" sz="2000" dirty="0"/>
              <a:t>Gather statistics  indicating algorithm performance</a:t>
            </a:r>
          </a:p>
          <a:p>
            <a:pPr lvl="1"/>
            <a:r>
              <a:rPr lang="en-US" altLang="en-US" sz="2000" dirty="0"/>
              <a:t>Data to drive simulation gathered via</a:t>
            </a:r>
          </a:p>
          <a:p>
            <a:pPr lvl="2"/>
            <a:r>
              <a:rPr lang="en-US" altLang="en-US" sz="2000" dirty="0"/>
              <a:t>Random number generator according to probabilities</a:t>
            </a:r>
          </a:p>
          <a:p>
            <a:pPr lvl="2"/>
            <a:r>
              <a:rPr lang="en-US" altLang="en-US" sz="2000" dirty="0"/>
              <a:t>Distributions defined mathematically or empirically</a:t>
            </a:r>
          </a:p>
          <a:p>
            <a:pPr lvl="2"/>
            <a:r>
              <a:rPr lang="en-US" altLang="en-US" sz="2000" dirty="0"/>
              <a:t>Trace tapes record sequences of real events in real systems</a:t>
            </a:r>
          </a:p>
          <a:p>
            <a:pPr lvl="2"/>
            <a:endParaRPr lang="en-US" altLang="en-US" sz="2000" dirty="0"/>
          </a:p>
          <a:p>
            <a:pPr lvl="1"/>
            <a:endParaRPr lang="en-US" alt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2">
            <a:extLst>
              <a:ext uri="{FF2B5EF4-FFF2-40B4-BE49-F238E27FC236}">
                <a16:creationId xmlns:a16="http://schemas.microsoft.com/office/drawing/2014/main" id="{E376DC34-4892-46A6-9D5E-C8B743E88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7537" y="100754"/>
            <a:ext cx="7850187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Evaluation of CPU Schedulers by Simulation</a:t>
            </a:r>
          </a:p>
        </p:txBody>
      </p:sp>
      <p:pic>
        <p:nvPicPr>
          <p:cNvPr id="137218" name="Picture 1">
            <a:extLst>
              <a:ext uri="{FF2B5EF4-FFF2-40B4-BE49-F238E27FC236}">
                <a16:creationId xmlns:a16="http://schemas.microsoft.com/office/drawing/2014/main" id="{AD0A361C-0911-4B85-9766-5E4140F2E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89" y="1150938"/>
            <a:ext cx="7608893" cy="474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Title 1">
            <a:extLst>
              <a:ext uri="{FF2B5EF4-FFF2-40B4-BE49-F238E27FC236}">
                <a16:creationId xmlns:a16="http://schemas.microsoft.com/office/drawing/2014/main" id="{2B258A3D-0DCD-4490-A722-4FB661159D9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04938" y="124637"/>
            <a:ext cx="6824662" cy="576262"/>
          </a:xfrm>
        </p:spPr>
        <p:txBody>
          <a:bodyPr/>
          <a:lstStyle/>
          <a:p>
            <a:r>
              <a:rPr lang="en-US" altLang="en-US" dirty="0"/>
              <a:t>Implementation</a:t>
            </a:r>
          </a:p>
        </p:txBody>
      </p:sp>
      <p:sp>
        <p:nvSpPr>
          <p:cNvPr id="139266" name="Content Placeholder 2">
            <a:extLst>
              <a:ext uri="{FF2B5EF4-FFF2-40B4-BE49-F238E27FC236}">
                <a16:creationId xmlns:a16="http://schemas.microsoft.com/office/drawing/2014/main" id="{3D12B624-FA4C-4339-BD1B-8776B542F48E}"/>
              </a:ext>
            </a:extLst>
          </p:cNvPr>
          <p:cNvSpPr txBox="1">
            <a:spLocks/>
          </p:cNvSpPr>
          <p:nvPr/>
        </p:nvSpPr>
        <p:spPr bwMode="auto">
          <a:xfrm>
            <a:off x="850900" y="1055688"/>
            <a:ext cx="78740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09" rIns="91417" bIns="45709"/>
          <a:lstStyle>
            <a:lvl1pPr marL="488950" indent="-488950" defTabSz="1304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141413" indent="-488950" defTabSz="1304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550988" indent="-325438" defTabSz="1304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1304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1304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Even simulations have limited accuracy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Just implement new scheduler and test in real systems</a:t>
            </a:r>
          </a:p>
          <a:p>
            <a:pPr lvl="1">
              <a:spcBef>
                <a:spcPct val="35000"/>
              </a:spcBef>
              <a:buClr>
                <a:srgbClr val="9933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High cost, high risk</a:t>
            </a:r>
          </a:p>
          <a:p>
            <a:pPr lvl="1">
              <a:spcBef>
                <a:spcPct val="35000"/>
              </a:spcBef>
              <a:buClr>
                <a:srgbClr val="9933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Environments vary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Most flexible schedulers can be modified per-site or per-system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Or APIs to modify priorities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But again environments vary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2000" dirty="0">
              <a:latin typeface="Helvetica" panose="020B0604020202020204" pitchFamily="34" charset="0"/>
            </a:endParaRP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</a:pPr>
            <a:endParaRPr kumimoji="1" lang="en-US" altLang="en-US" sz="20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sz="2000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>
            <a:extLst>
              <a:ext uri="{FF2B5EF4-FFF2-40B4-BE49-F238E27FC236}">
                <a16:creationId xmlns:a16="http://schemas.microsoft.com/office/drawing/2014/main" id="{F2E0C1D0-A1A4-4022-95CF-B15DED9ADA7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End of Chapter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13415</TotalTime>
  <Words>1625</Words>
  <Application>Microsoft Office PowerPoint</Application>
  <PresentationFormat>全屏显示(4:3)</PresentationFormat>
  <Paragraphs>210</Paragraphs>
  <Slides>28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Monotype Sorts</vt:lpstr>
      <vt:lpstr>黑体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5:  CPU Scheduling</vt:lpstr>
      <vt:lpstr>Proportional Share Scheduling</vt:lpstr>
      <vt:lpstr>POSIX Real-Time Scheduling</vt:lpstr>
      <vt:lpstr>POSIX Real-Time Scheduling API</vt:lpstr>
      <vt:lpstr>POSIX Real-Time Scheduling API (Cont.)</vt:lpstr>
      <vt:lpstr>Operating System Examples</vt:lpstr>
      <vt:lpstr>Linux Scheduling Through Version 2.5</vt:lpstr>
      <vt:lpstr>Linux Scheduling in Version 2.6.23 +</vt:lpstr>
      <vt:lpstr>Linux Scheduling in Version 2.6.23 + (Cont.)</vt:lpstr>
      <vt:lpstr>CFS Performance</vt:lpstr>
      <vt:lpstr>Linux Scheduling (Cont.)</vt:lpstr>
      <vt:lpstr>Linux Scheduling (Cont.)</vt:lpstr>
      <vt:lpstr>Windows Scheduling</vt:lpstr>
      <vt:lpstr>Windows Priority Classes</vt:lpstr>
      <vt:lpstr>Windows Priority Classes (Cont.)</vt:lpstr>
      <vt:lpstr>Windows Priorities</vt:lpstr>
      <vt:lpstr>Solaris</vt:lpstr>
      <vt:lpstr>Solaris Dispatch Table </vt:lpstr>
      <vt:lpstr>Solaris Scheduling</vt:lpstr>
      <vt:lpstr>Solaris Scheduling (Cont.)</vt:lpstr>
      <vt:lpstr>Algorithm Evaluation</vt:lpstr>
      <vt:lpstr>Deterministic Evaluation</vt:lpstr>
      <vt:lpstr>Queueing Models</vt:lpstr>
      <vt:lpstr>Little’s Formula</vt:lpstr>
      <vt:lpstr>Simulations</vt:lpstr>
      <vt:lpstr>Evaluation of CPU Schedulers by Simulation</vt:lpstr>
      <vt:lpstr>Implementation</vt:lpstr>
      <vt:lpstr>End of Chapter 5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273</cp:revision>
  <cp:lastPrinted>2013-09-10T17:57:57Z</cp:lastPrinted>
  <dcterms:created xsi:type="dcterms:W3CDTF">2011-01-13T23:43:38Z</dcterms:created>
  <dcterms:modified xsi:type="dcterms:W3CDTF">2025-09-09T05:25:33Z</dcterms:modified>
</cp:coreProperties>
</file>