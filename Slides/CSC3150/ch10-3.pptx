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2"/>
  </p:notesMasterIdLst>
  <p:handoutMasterIdLst>
    <p:handoutMasterId r:id="rId33"/>
  </p:handoutMasterIdLst>
  <p:sldIdLst>
    <p:sldId id="331" r:id="rId2"/>
    <p:sldId id="420" r:id="rId3"/>
    <p:sldId id="421" r:id="rId4"/>
    <p:sldId id="378" r:id="rId5"/>
    <p:sldId id="422" r:id="rId6"/>
    <p:sldId id="380" r:id="rId7"/>
    <p:sldId id="381" r:id="rId8"/>
    <p:sldId id="382" r:id="rId9"/>
    <p:sldId id="423" r:id="rId10"/>
    <p:sldId id="383" r:id="rId11"/>
    <p:sldId id="384" r:id="rId12"/>
    <p:sldId id="385" r:id="rId13"/>
    <p:sldId id="424" r:id="rId14"/>
    <p:sldId id="392" r:id="rId15"/>
    <p:sldId id="393" r:id="rId16"/>
    <p:sldId id="394" r:id="rId17"/>
    <p:sldId id="395" r:id="rId18"/>
    <p:sldId id="396" r:id="rId19"/>
    <p:sldId id="408" r:id="rId20"/>
    <p:sldId id="397" r:id="rId21"/>
    <p:sldId id="42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90" autoAdjust="0"/>
    <p:restoredTop sz="94660"/>
  </p:normalViewPr>
  <p:slideViewPr>
    <p:cSldViewPr snapToGrid="0">
      <p:cViewPr>
        <p:scale>
          <a:sx n="50" d="100"/>
          <a:sy n="50" d="100"/>
        </p:scale>
        <p:origin x="1624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0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2D0BFB-ECA4-4C07-8994-8A88F29A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43AED6-E6E9-43A7-AC93-64E1E999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72FBEB7-042D-4152-8A9C-1370E47C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8D453DF-2D5F-4B73-B4AC-B5CF546FD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B0E173E-03EA-4E90-8188-93FE2E0C3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2774992-1B31-4E69-A7C1-2E636C6D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9280E73A-3A4D-4752-BAA4-1A310FEAB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A701F2A2-FCDE-49FF-B7E2-98FCCB5C7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D974233A-95CA-4EDD-A652-9932AF03D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99445CA8-5C0C-4299-8325-D07E0D5C0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8DC24D7-B195-4DB9-B58D-A05EAF17D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50F5443B-D336-4868-B2F6-610239DE8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EA78C8BE-AB62-4F13-B00E-23C8DED2CA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69050607-AE8D-4105-AE83-64E736433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66ED02AB-6AB5-46AA-944A-EA7BCF376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915C5E4C-7431-45EA-8BB3-5BD8E06B6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558B275E-9CF5-48D4-A5BD-19F5360CA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A74547C7-FBD4-4B6C-85C6-85B97262E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6F0924F5-C8A0-4A82-B2C8-3A8764D33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6272F2C8-C727-4B13-8012-44109A319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BA7C6D9-345E-49A5-81CA-E9E72D3B9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E5CE511C-DD44-4CC6-9CBE-9703CA8C2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597FC37B-8921-4AC3-B9D3-A6A503235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CF833D2F-50D5-4C3B-8971-F677EE358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278167FF-68E7-4609-AA07-5811322003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F62007A9-F825-4249-B71C-96CE76C93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EC77DD2-9B86-424C-BB4C-63BF79E10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ACCB673-3231-4E3A-8A17-1FEB8B70B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A63D3B0-42BE-44B8-A3E2-964AF314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BEEDF24-5968-420B-81A6-9FE8EB2344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7AFA0411-D5C7-44F5-92FB-4A81DF3D60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E683C887-9813-4BAE-8C1E-9184E7ADE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A2EE2621-441A-47D4-B399-3CB877370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943D789C-96B6-4CD8-BF4B-586C6695E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AE772594-B020-4887-B006-EBA746493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DCE7D996-9F9E-4347-BCF2-24A8BF9B6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006B23E7-D1B0-4608-9D99-3972F8CE97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0CECFB1-4291-4316-886C-C03A78143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492DF3B2-6C49-4F9C-A110-A17406352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6CCEDD2E-339A-4418-835D-64B58B723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C57B1906-6C47-46E2-BDAD-997A0BD23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BD92895B-4956-49C8-82F0-80BD7C3FB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908E9BE6-BEEA-4EFA-87DA-D8D4D67D25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F1113B83-162C-4998-89A0-8B8A49BA0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A7204802-73F0-4EFE-80F8-B5F8745CB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3EF8D3C4-8F2E-438D-BB36-43E69FF1D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C4C68196-D54E-4148-B032-CB54D71FD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EC2E17CB-4D30-407C-BFB4-332CEFB71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F12DF0AA-3AA1-48FF-AE11-5633BA13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5CCB7352-60B6-4ACB-9204-DD7FB14C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2796DFB2-176E-4C36-8157-233A38262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6BA96F8A-0303-451B-8FF0-F0231FFBE8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C2E866F9-9F63-4267-AE12-FD26BF4B9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F465EF95-595A-4F41-97F1-F2BBA1F41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DBE3F616-377A-4393-9F02-287285E02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C682FE68-026E-4D64-ACA9-90978CF26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56B4D174-7712-4CB1-A41E-3E47996C6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34CB649-2117-4081-91C0-CE968BFCF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1E59B376-3E44-42AB-A505-B2EEEB362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866CDD-4811-42A2-B280-A13D1C6C0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C26A336E-B0A4-4355-9177-376B28113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2DC4382-E997-4207-A545-B2CB280F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93E4F0CE-D923-4137-8356-335CED0DA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60738C59-F0E4-448F-A9D3-AD8236E66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976268BD-A21D-4A9C-83D9-F6E58693A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590FCDA9-D6D2-4A25-9451-9A1C9532C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BE8513-7EE7-473B-AF73-11B00E2FA16E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907C65B-75F9-4EFC-95B6-AD05FDE781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54E0E54F-40AD-446E-881F-0326A4A41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1837ECB5-7162-4CEC-A47D-E4BE9B6BE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07995171-3EE2-4E73-8490-2043FAF0F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8C7CE5D7-69FE-4842-BF55-75D2A5D5E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9D6C97B1-3832-4F66-B910-70D74BAE37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0CEA0066-5027-4471-91EA-9985ABD18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47BEC658-299A-49A8-97E6-0EB7A45AE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B5D1975B-F866-4C46-9280-F72E2CB24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CD0501A9-BE48-4120-9C77-F88180A38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7DD218C6-639C-4E06-B2EF-B8F6E1A0A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45A9722-F4BC-45A6-9014-F76DB9CBC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1B7CE1BA-7068-4A1D-A07E-04E7B13B5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34D636C2-C7FC-470A-9494-50E3661E3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9F6A49F-25D8-4FD7-9583-FB679D00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DF2C4F7F-CB17-4666-828B-D606BF4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3" y="1081088"/>
            <a:ext cx="7472946" cy="1905000"/>
          </a:xfrm>
        </p:spPr>
        <p:txBody>
          <a:bodyPr/>
          <a:lstStyle/>
          <a:p>
            <a:r>
              <a:rPr lang="en-US" altLang="en-US" dirty="0"/>
              <a:t>So far, we assumed that all memory accessed equally</a:t>
            </a:r>
          </a:p>
          <a:p>
            <a:r>
              <a:rPr lang="en-US" altLang="en-US" dirty="0"/>
              <a:t>Many systems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dirty="0"/>
              <a:t> – speed of access to memory varies</a:t>
            </a:r>
          </a:p>
          <a:p>
            <a:pPr lvl="1"/>
            <a:r>
              <a:rPr lang="en-US" altLang="en-US" dirty="0"/>
              <a:t>Consider system boards containing CPUs and memory, interconnected over a system bus</a:t>
            </a:r>
          </a:p>
          <a:p>
            <a:r>
              <a:rPr lang="en-US" altLang="en-US" dirty="0"/>
              <a:t>NUMA multiprocessing architecture</a:t>
            </a:r>
          </a:p>
        </p:txBody>
      </p:sp>
      <p:pic>
        <p:nvPicPr>
          <p:cNvPr id="55300" name="Picture 2" descr="B:\os-book\os10-dir\Slides-WORK-area\Figures-dir\ch10\JPG-dir\10_19.jpg">
            <a:extLst>
              <a:ext uri="{FF2B5EF4-FFF2-40B4-BE49-F238E27FC236}">
                <a16:creationId xmlns:a16="http://schemas.microsoft.com/office/drawing/2014/main" id="{DD1213BD-2F99-4C6A-82F6-7FDD3309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001963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ACF6E52-DB8A-4979-975A-39B4DEC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7EC66A7-FFCE-4360-BFC4-3184B57E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dirty="0"/>
              <a:t>Optimal performance comes from allocating memory </a:t>
            </a:r>
            <a:r>
              <a:rPr lang="ja-JP" altLang="en-US" dirty="0"/>
              <a:t>“</a:t>
            </a:r>
            <a:r>
              <a:rPr lang="en-US" altLang="ja-JP" dirty="0"/>
              <a:t>close to</a:t>
            </a:r>
            <a:r>
              <a:rPr lang="ja-JP" altLang="en-US" dirty="0"/>
              <a:t>”</a:t>
            </a:r>
            <a:r>
              <a:rPr lang="en-US" altLang="ja-JP" dirty="0"/>
              <a:t> the CPU on which the thread is scheduled</a:t>
            </a:r>
          </a:p>
          <a:p>
            <a:pPr lvl="1"/>
            <a:r>
              <a:rPr lang="en-US" altLang="en-US" dirty="0"/>
              <a:t>And modifying the scheduler to schedule the thread on the same system board when possible</a:t>
            </a:r>
          </a:p>
          <a:p>
            <a:pPr lvl="1"/>
            <a:r>
              <a:rPr lang="en-US" altLang="en-US" dirty="0"/>
              <a:t>Solved by Solaris by creating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dirty="0"/>
              <a:t>Structure to track CPU / Memory low latency groups</a:t>
            </a:r>
          </a:p>
          <a:p>
            <a:pPr lvl="2"/>
            <a:r>
              <a:rPr lang="en-US" altLang="en-US" dirty="0"/>
              <a:t>Used my schedule and pager</a:t>
            </a:r>
          </a:p>
          <a:p>
            <a:pPr lvl="2"/>
            <a:r>
              <a:rPr lang="en-US" altLang="en-US" dirty="0"/>
              <a:t>When possible schedule all threads of a process and allocate all memory for that process within the </a:t>
            </a:r>
            <a:r>
              <a:rPr lang="en-US" altLang="en-US" dirty="0" err="1"/>
              <a:t>lgroup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F731FD3-D4BB-4495-AA41-BEE2A772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BFB067A-221A-4384-BE53-811322B7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</a:p>
          <a:p>
            <a:pPr lvl="1"/>
            <a:r>
              <a:rPr lang="en-US" altLang="en-US" dirty="0"/>
              <a:t>Page fault to get page</a:t>
            </a:r>
          </a:p>
          <a:p>
            <a:pPr lvl="1"/>
            <a:r>
              <a:rPr lang="en-US" altLang="en-US" dirty="0"/>
              <a:t>Replace existing frame</a:t>
            </a:r>
          </a:p>
          <a:p>
            <a:pPr lvl="1"/>
            <a:r>
              <a:rPr lang="en-US" altLang="en-US" dirty="0"/>
              <a:t>But quickly need replaced frame back</a:t>
            </a:r>
          </a:p>
          <a:p>
            <a:pPr lvl="1"/>
            <a:r>
              <a:rPr lang="en-US" altLang="en-US" dirty="0"/>
              <a:t>This leads to:</a:t>
            </a:r>
          </a:p>
          <a:p>
            <a:pPr lvl="2"/>
            <a:r>
              <a:rPr lang="en-US" altLang="en-US" dirty="0"/>
              <a:t>Low CPU utilization</a:t>
            </a:r>
          </a:p>
          <a:p>
            <a:pPr lvl="2"/>
            <a:r>
              <a:rPr lang="en-US" altLang="en-US" dirty="0"/>
              <a:t>Operating system thinking that it needs to increase the degree of multiprogramming</a:t>
            </a:r>
          </a:p>
          <a:p>
            <a:pPr lvl="2"/>
            <a:r>
              <a:rPr lang="en-US" altLang="en-US" dirty="0"/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37029F3-575E-45E9-8727-29B42A6C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466EF36-C0B0-44EF-8514-5525DA5E5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dirty="0">
                <a:solidFill>
                  <a:srgbClr val="3366FF"/>
                </a:solidFill>
              </a:rPr>
              <a:t>. </a:t>
            </a:r>
            <a:r>
              <a:rPr lang="en-US" altLang="en-US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dirty="0"/>
          </a:p>
        </p:txBody>
      </p:sp>
      <p:pic>
        <p:nvPicPr>
          <p:cNvPr id="58372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48688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9BDE40F-8BB8-4BDB-8637-B838D538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781723-46DB-458A-85D2-73590F9B7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4" y="1308200"/>
            <a:ext cx="7615238" cy="3473450"/>
          </a:xfrm>
        </p:spPr>
        <p:txBody>
          <a:bodyPr/>
          <a:lstStyle/>
          <a:p>
            <a:r>
              <a:rPr lang="en-US" altLang="en-US" dirty="0"/>
              <a:t>Why does demand paging work?</a:t>
            </a:r>
          </a:p>
          <a:p>
            <a:pPr marL="0" indent="0"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</a:p>
          <a:p>
            <a:pPr lvl="1"/>
            <a:r>
              <a:rPr lang="en-US" altLang="en-US" dirty="0"/>
              <a:t>Process migrates from one locality to another</a:t>
            </a:r>
          </a:p>
          <a:p>
            <a:pPr lvl="1"/>
            <a:r>
              <a:rPr lang="en-US" altLang="en-US" dirty="0"/>
              <a:t>Localities may overlap</a:t>
            </a:r>
          </a:p>
          <a:p>
            <a:r>
              <a:rPr lang="en-US" altLang="en-US" dirty="0"/>
              <a:t>Why does thrashing occur?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dirty="0">
                <a:sym typeface="Symbol" panose="05050102010706020507" pitchFamily="18" charset="2"/>
              </a:rPr>
              <a:t> size of locality &gt; total memory size</a:t>
            </a:r>
          </a:p>
          <a:p>
            <a:pPr>
              <a:buFont typeface="Monotype Sorts" pitchFamily="-84" charset="2"/>
              <a:buNone/>
            </a:pPr>
            <a:endParaRPr lang="en-US" altLang="en-US" sz="6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684E479-EF67-475B-9AA9-12E0EAAD0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3" y="237381"/>
            <a:ext cx="80137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A Memory-Reference Pattern</a:t>
            </a:r>
          </a:p>
        </p:txBody>
      </p:sp>
      <p:pic>
        <p:nvPicPr>
          <p:cNvPr id="60419" name="Picture 1" descr="9_19.pdf">
            <a:extLst>
              <a:ext uri="{FF2B5EF4-FFF2-40B4-BE49-F238E27FC236}">
                <a16:creationId xmlns:a16="http://schemas.microsoft.com/office/drawing/2014/main" id="{7B3592D0-BC1D-4BDC-A24F-03A5C21C3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E7B8486-A51C-4BCA-8A93-C6CAD6DC8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738730A-946A-429F-BAEB-E143C39BE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93788"/>
            <a:ext cx="7548757" cy="4881562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Example:  10,000 instructions</a:t>
            </a:r>
          </a:p>
          <a:p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(working set of Process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 =  total number of pages referenced in the most recent  (varies in time)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=  </a:t>
            </a:r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 total demand frames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Approximation of locality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50C8928-B255-4148-8CE5-E08C2A2F6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7706D0B-A6AA-455E-A13D-C7F917485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65213"/>
            <a:ext cx="6838756" cy="1806575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Policy 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m, then suspend or swap out one of the processes </a:t>
            </a:r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D78CC71D-4523-4A34-A452-9A1A6004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398713"/>
            <a:ext cx="634841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C85D6D9-0BFB-4F79-84C7-A3D2AE8C3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BBF136A-DA53-4605-97A8-2C01EF4D2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dirty="0"/>
              <a:t>Approximate with interval timer + a reference bit</a:t>
            </a:r>
          </a:p>
          <a:p>
            <a:r>
              <a:rPr lang="en-US" altLang="en-US" dirty="0"/>
              <a:t>Example: </a:t>
            </a:r>
            <a:r>
              <a:rPr lang="en-US" altLang="en-US" dirty="0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29888C5-2B9B-4A77-BC8C-19DD0EC76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89687F2-3AE7-4450-84F0-336741568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1668462"/>
          </a:xfrm>
        </p:spPr>
        <p:txBody>
          <a:bodyPr/>
          <a:lstStyle/>
          <a:p>
            <a:r>
              <a:rPr lang="en-US" altLang="en-US" dirty="0"/>
              <a:t>More direct approach than WSS</a:t>
            </a:r>
          </a:p>
          <a:p>
            <a:r>
              <a:rPr lang="en-US" altLang="en-US" dirty="0"/>
              <a:t>Establish </a:t>
            </a:r>
            <a:r>
              <a:rPr lang="ja-JP" altLang="en-US" dirty="0"/>
              <a:t>“</a:t>
            </a:r>
            <a:r>
              <a:rPr lang="en-US" altLang="ja-JP" dirty="0"/>
              <a:t>acceptable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page-fault frequency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(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PFF</a:t>
            </a:r>
            <a:r>
              <a:rPr lang="en-US" altLang="ja-JP" dirty="0"/>
              <a:t>)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rate and use local replacement policy</a:t>
            </a:r>
          </a:p>
          <a:p>
            <a:pPr lvl="1"/>
            <a:r>
              <a:rPr lang="en-US" altLang="en-US" dirty="0"/>
              <a:t>If actual rate too low, process loses frame</a:t>
            </a:r>
          </a:p>
          <a:p>
            <a:pPr lvl="1"/>
            <a:r>
              <a:rPr lang="en-US" altLang="en-US" dirty="0"/>
              <a:t>If actual rate too high, process gains frame</a:t>
            </a:r>
          </a:p>
        </p:txBody>
      </p:sp>
      <p:pic>
        <p:nvPicPr>
          <p:cNvPr id="64516" name="Picture 1" descr="9_21.pdf">
            <a:extLst>
              <a:ext uri="{FF2B5EF4-FFF2-40B4-BE49-F238E27FC236}">
                <a16:creationId xmlns:a16="http://schemas.microsoft.com/office/drawing/2014/main" id="{FA40E878-1621-4D69-A40B-3E5E659D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954338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32CF12F9-034E-460B-8BDF-E93A7F39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</a:p>
        </p:txBody>
      </p:sp>
      <p:pic>
        <p:nvPicPr>
          <p:cNvPr id="65539" name="Picture 4" descr="9">
            <a:extLst>
              <a:ext uri="{FF2B5EF4-FFF2-40B4-BE49-F238E27FC236}">
                <a16:creationId xmlns:a16="http://schemas.microsoft.com/office/drawing/2014/main" id="{3A803122-91F8-4F9C-A75C-06F0F91E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68446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0C3821-2D01-463B-B43D-94D362458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2F1A281-A3F7-478D-8F22-6700032B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CE61BF-9E24-439E-BBC6-87B0D25B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</a:p>
          <a:p>
            <a:r>
              <a:rPr lang="en-US" altLang="en-US" dirty="0"/>
              <a:t>Often allocated from a free-memory pool</a:t>
            </a:r>
          </a:p>
          <a:p>
            <a:pPr lvl="1"/>
            <a:r>
              <a:rPr lang="en-US" altLang="en-US" dirty="0"/>
              <a:t>Kernel requests memory for structures of varying sizes</a:t>
            </a:r>
          </a:p>
          <a:p>
            <a:pPr lvl="1"/>
            <a:r>
              <a:rPr lang="en-US" altLang="en-US" dirty="0"/>
              <a:t>Some kernel memory needs to be contiguous</a:t>
            </a:r>
          </a:p>
          <a:p>
            <a:pPr lvl="2"/>
            <a:r>
              <a:rPr lang="en-US" altLang="en-US" dirty="0"/>
              <a:t>i.e., for device I/O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EDF62A2-64B7-43DA-94A9-5E4FB7691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5CAAA64-09C4-4B7D-B67B-72A26393B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354" y="1108305"/>
            <a:ext cx="7728794" cy="5243512"/>
          </a:xfrm>
        </p:spPr>
        <p:txBody>
          <a:bodyPr/>
          <a:lstStyle/>
          <a:p>
            <a:r>
              <a:rPr lang="en-US" altLang="en-US" dirty="0"/>
              <a:t>Allocates memory from fixed-size segment consisting of physically-contiguous pages</a:t>
            </a:r>
          </a:p>
          <a:p>
            <a:r>
              <a:rPr lang="en-US" altLang="en-US" dirty="0"/>
              <a:t>Memory allocated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power-of-2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allocator</a:t>
            </a:r>
          </a:p>
          <a:p>
            <a:pPr lvl="1"/>
            <a:r>
              <a:rPr lang="en-US" altLang="en-US" dirty="0"/>
              <a:t>Satisfies requests in units sized as power of 2</a:t>
            </a:r>
          </a:p>
          <a:p>
            <a:pPr lvl="1"/>
            <a:r>
              <a:rPr lang="en-US" altLang="en-US" dirty="0"/>
              <a:t>Request rounded up to next highest power of 2</a:t>
            </a:r>
          </a:p>
          <a:p>
            <a:pPr lvl="1"/>
            <a:r>
              <a:rPr lang="en-US" altLang="en-US" dirty="0"/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 dirty="0"/>
              <a:t>Continue until appropriate sized chunk available</a:t>
            </a:r>
          </a:p>
          <a:p>
            <a:r>
              <a:rPr lang="en-US" altLang="en-US" dirty="0"/>
              <a:t>For example, assume 256KB chunk available, kernel requests 21KB</a:t>
            </a:r>
          </a:p>
          <a:p>
            <a:pPr lvl="1"/>
            <a:r>
              <a:rPr lang="en-US" altLang="en-US" dirty="0"/>
              <a:t>Split into A</a:t>
            </a:r>
            <a:r>
              <a:rPr lang="en-US" altLang="en-US" baseline="-25000" dirty="0"/>
              <a:t>L</a:t>
            </a:r>
            <a:r>
              <a:rPr lang="en-US" altLang="en-US" dirty="0"/>
              <a:t> </a:t>
            </a:r>
            <a:r>
              <a:rPr lang="en-US" altLang="en-US" baseline="-25000" dirty="0"/>
              <a:t>and</a:t>
            </a:r>
            <a:r>
              <a:rPr lang="en-US" altLang="en-US" dirty="0"/>
              <a:t> A</a:t>
            </a:r>
            <a:r>
              <a:rPr lang="en-US" altLang="en-US" baseline="-25000" dirty="0"/>
              <a:t>R</a:t>
            </a:r>
            <a:r>
              <a:rPr lang="en-US" altLang="en-US" dirty="0"/>
              <a:t> of 128KB each</a:t>
            </a:r>
          </a:p>
          <a:p>
            <a:pPr lvl="2"/>
            <a:r>
              <a:rPr lang="en-US" altLang="en-US" dirty="0"/>
              <a:t>One further divided into B</a:t>
            </a:r>
            <a:r>
              <a:rPr lang="en-US" altLang="en-US" baseline="-25000" dirty="0"/>
              <a:t>L</a:t>
            </a:r>
            <a:r>
              <a:rPr lang="en-US" altLang="en-US" dirty="0"/>
              <a:t> and B</a:t>
            </a:r>
            <a:r>
              <a:rPr lang="en-US" altLang="en-US" baseline="-25000" dirty="0"/>
              <a:t>R</a:t>
            </a:r>
            <a:r>
              <a:rPr lang="en-US" altLang="en-US" dirty="0"/>
              <a:t> of 64KB</a:t>
            </a:r>
          </a:p>
          <a:p>
            <a:pPr lvl="3"/>
            <a:r>
              <a:rPr lang="en-US" altLang="en-US" dirty="0"/>
              <a:t>One further into C</a:t>
            </a:r>
            <a:r>
              <a:rPr lang="en-US" altLang="en-US" baseline="-25000" dirty="0"/>
              <a:t>L</a:t>
            </a:r>
            <a:r>
              <a:rPr lang="en-US" altLang="en-US" dirty="0"/>
              <a:t> and C</a:t>
            </a:r>
            <a:r>
              <a:rPr lang="en-US" altLang="en-US" baseline="-25000" dirty="0"/>
              <a:t>R</a:t>
            </a:r>
            <a:r>
              <a:rPr lang="en-US" altLang="en-US" dirty="0"/>
              <a:t> of 32KB each – one used to satisfy request</a:t>
            </a:r>
          </a:p>
          <a:p>
            <a:r>
              <a:rPr lang="en-US" altLang="en-US" dirty="0"/>
              <a:t>Advantage – quickly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coalesce</a:t>
            </a:r>
            <a:r>
              <a:rPr lang="en-US" altLang="en-US" dirty="0"/>
              <a:t> unused chunks into larger chunk</a:t>
            </a:r>
          </a:p>
          <a:p>
            <a:r>
              <a:rPr lang="en-US" altLang="en-US" dirty="0"/>
              <a:t>Disadvantage - fragmentation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D7F2BFD-A139-44E1-A8C4-15AD88D11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</a:p>
        </p:txBody>
      </p:sp>
      <p:pic>
        <p:nvPicPr>
          <p:cNvPr id="68611" name="Picture 1" descr="9_26.pdf">
            <a:extLst>
              <a:ext uri="{FF2B5EF4-FFF2-40B4-BE49-F238E27FC236}">
                <a16:creationId xmlns:a16="http://schemas.microsoft.com/office/drawing/2014/main" id="{869C8A9C-EF25-4003-820B-18102B316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1268413"/>
            <a:ext cx="40830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DA6288A-EB91-479B-96DE-A3D011B24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7A21D0E-511D-4C65-997E-BBF66953E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8" y="1174398"/>
            <a:ext cx="7605712" cy="5046662"/>
          </a:xfrm>
        </p:spPr>
        <p:txBody>
          <a:bodyPr/>
          <a:lstStyle/>
          <a:p>
            <a:r>
              <a:rPr lang="en-US" altLang="en-US" dirty="0"/>
              <a:t>Alternate strategy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Slab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one or more physically contiguous pages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consists of one or more slabs</a:t>
            </a:r>
            <a:endParaRPr lang="en-US" altLang="en-US" sz="800" dirty="0"/>
          </a:p>
          <a:p>
            <a:r>
              <a:rPr lang="en-US" altLang="en-US" dirty="0"/>
              <a:t>Single cache for each unique kernel data structure</a:t>
            </a:r>
          </a:p>
          <a:p>
            <a:pPr lvl="1"/>
            <a:r>
              <a:rPr lang="en-US" altLang="en-US" dirty="0"/>
              <a:t>Each cache filled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instantiations of the data structure</a:t>
            </a:r>
            <a:endParaRPr lang="en-US" altLang="en-US" sz="800" dirty="0"/>
          </a:p>
          <a:p>
            <a:r>
              <a:rPr lang="en-US" altLang="en-US" dirty="0"/>
              <a:t>When cache created, filled with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 dirty="0"/>
          </a:p>
          <a:p>
            <a:r>
              <a:rPr lang="en-US" altLang="en-US" dirty="0"/>
              <a:t>When structures stored,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 dirty="0"/>
          </a:p>
          <a:p>
            <a:r>
              <a:rPr lang="en-US" altLang="en-US" dirty="0"/>
              <a:t>If slab is full of used objects, next object allocated from empty slab</a:t>
            </a:r>
          </a:p>
          <a:p>
            <a:pPr lvl="1"/>
            <a:r>
              <a:rPr lang="en-US" altLang="en-US" dirty="0"/>
              <a:t>If no empty slabs, new slab allocated</a:t>
            </a:r>
            <a:endParaRPr lang="en-US" altLang="en-US" sz="800" dirty="0"/>
          </a:p>
          <a:p>
            <a:r>
              <a:rPr lang="en-US" altLang="en-US" dirty="0"/>
              <a:t>Benefits include no fragmentation, fast memory request satisfaction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A40E11A-B2D5-4E29-BF39-6BA9D3D28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</a:t>
            </a:r>
          </a:p>
        </p:txBody>
      </p:sp>
      <p:pic>
        <p:nvPicPr>
          <p:cNvPr id="70659" name="Picture 1" descr="9_27.pdf">
            <a:extLst>
              <a:ext uri="{FF2B5EF4-FFF2-40B4-BE49-F238E27FC236}">
                <a16:creationId xmlns:a16="http://schemas.microsoft.com/office/drawing/2014/main" id="{0BAC7363-1517-4813-8378-BDB9D65AA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3762B59-BFC2-467F-AE33-A4E58A10E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2327191-B344-4706-B7BA-4B24E2E93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8" y="1167854"/>
            <a:ext cx="7501810" cy="5214937"/>
          </a:xfrm>
        </p:spPr>
        <p:txBody>
          <a:bodyPr/>
          <a:lstStyle/>
          <a:p>
            <a:r>
              <a:rPr lang="en-US" altLang="en-US" dirty="0"/>
              <a:t>For example process descriptor is of type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 err="1"/>
              <a:t>Approx</a:t>
            </a:r>
            <a:r>
              <a:rPr lang="en-US" altLang="en-US" dirty="0"/>
              <a:t> 1.7KB of memory</a:t>
            </a:r>
          </a:p>
          <a:p>
            <a:r>
              <a:rPr lang="en-US" altLang="en-US" dirty="0"/>
              <a:t>New task -&gt; allocate new struct from cache</a:t>
            </a:r>
          </a:p>
          <a:p>
            <a:pPr lvl="1"/>
            <a:r>
              <a:rPr lang="en-US" altLang="en-US" dirty="0"/>
              <a:t>Will use existing free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Partial – mix of free and used</a:t>
            </a:r>
          </a:p>
          <a:p>
            <a:r>
              <a:rPr lang="en-US" altLang="en-US" dirty="0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 empty slab, create new empty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750BB86-BC72-482A-B3BB-E6EF83BAB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(Cont.)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EE52FFE-7E13-4422-8E6C-50D405110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142" y="1103313"/>
            <a:ext cx="7605712" cy="521493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</a:p>
          <a:p>
            <a:r>
              <a:rPr lang="en-US" altLang="en-US" dirty="0"/>
              <a:t>Linux  2.2 had SLAB, now has both SLOB and SLUB allocators</a:t>
            </a:r>
          </a:p>
          <a:p>
            <a:pPr lvl="1"/>
            <a:r>
              <a:rPr lang="en-US" altLang="en-US" dirty="0"/>
              <a:t>SLOB for systems with limited memory</a:t>
            </a:r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B76758C-1E6C-4B95-A8AA-7E0A28DA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8081149-F761-4B98-AC52-65D65BDA9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</a:p>
          <a:p>
            <a:pPr>
              <a:defRPr/>
            </a:pPr>
            <a:r>
              <a:rPr lang="en-US" altLang="en-US" dirty="0"/>
              <a:t>Page size</a:t>
            </a:r>
          </a:p>
          <a:p>
            <a:pPr>
              <a:defRPr/>
            </a:pPr>
            <a:r>
              <a:rPr lang="en-US" altLang="en-US" dirty="0"/>
              <a:t>TLB reach</a:t>
            </a:r>
          </a:p>
          <a:p>
            <a:pPr>
              <a:defRPr/>
            </a:pPr>
            <a:r>
              <a:rPr lang="en-US" altLang="en-US" dirty="0"/>
              <a:t>Inverted page table</a:t>
            </a:r>
          </a:p>
          <a:p>
            <a:pPr>
              <a:defRPr/>
            </a:pPr>
            <a:r>
              <a:rPr lang="en-US" altLang="en-US" dirty="0"/>
              <a:t>Program structure</a:t>
            </a:r>
          </a:p>
          <a:p>
            <a:pPr>
              <a:defRPr/>
            </a:pPr>
            <a:r>
              <a:rPr lang="en-US" altLang="en-US" dirty="0"/>
              <a:t>I/O interlock and page locking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CDB9EE0-6EEF-4CAE-AF4B-D8E6BB27B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ABE17C3-5680-4983-895A-8012E260D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dirty="0"/>
              <a:t>To reduce the large number of page faults that occurs at process startup</a:t>
            </a:r>
          </a:p>
          <a:p>
            <a:r>
              <a:rPr lang="en-US" altLang="en-US" dirty="0" err="1"/>
              <a:t>Prepage</a:t>
            </a:r>
            <a:r>
              <a:rPr lang="en-US" altLang="en-US" dirty="0"/>
              <a:t> all or some of the pages a process will need, before they are referenced</a:t>
            </a:r>
          </a:p>
          <a:p>
            <a:r>
              <a:rPr lang="en-US" altLang="en-US" dirty="0"/>
              <a:t>But if </a:t>
            </a:r>
            <a:r>
              <a:rPr lang="en-US" altLang="en-US" dirty="0" err="1"/>
              <a:t>prepaged</a:t>
            </a:r>
            <a:r>
              <a:rPr lang="en-US" altLang="en-US" dirty="0"/>
              <a:t> pages are unused, I/O and memory was wasted</a:t>
            </a:r>
          </a:p>
          <a:p>
            <a:r>
              <a:rPr lang="en-US" altLang="en-US" dirty="0"/>
              <a:t>Assume </a:t>
            </a:r>
            <a:r>
              <a:rPr lang="en-US" altLang="en-US" i="1" dirty="0"/>
              <a:t>s</a:t>
            </a:r>
            <a:r>
              <a:rPr lang="en-US" altLang="en-US" dirty="0"/>
              <a:t> pages are </a:t>
            </a:r>
            <a:r>
              <a:rPr lang="en-US" altLang="en-US" dirty="0" err="1"/>
              <a:t>prepaged</a:t>
            </a:r>
            <a:r>
              <a:rPr lang="en-US" altLang="en-US" dirty="0"/>
              <a:t> and </a:t>
            </a:r>
            <a:r>
              <a:rPr lang="el-GR" altLang="en-US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of the pages is used</a:t>
            </a:r>
          </a:p>
          <a:p>
            <a:pPr lvl="1"/>
            <a:r>
              <a:rPr lang="en-US" altLang="en-US" dirty="0"/>
              <a:t>Is cost of </a:t>
            </a:r>
            <a:r>
              <a:rPr lang="en-US" altLang="en-US" b="1" i="1" dirty="0"/>
              <a:t>s * </a:t>
            </a:r>
            <a:r>
              <a:rPr lang="el-GR" altLang="en-US" b="1" i="1" dirty="0"/>
              <a:t>α</a:t>
            </a:r>
            <a:r>
              <a:rPr lang="en-US" altLang="en-US" b="1" i="1" dirty="0"/>
              <a:t>  </a:t>
            </a:r>
            <a:r>
              <a:rPr lang="en-US" altLang="en-US" dirty="0"/>
              <a:t>save pages faults &gt; or &lt; than the cost of </a:t>
            </a:r>
            <a:r>
              <a:rPr lang="en-US" altLang="en-US" dirty="0" err="1"/>
              <a:t>prepaging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b="1" i="1" dirty="0"/>
              <a:t>s * (1- </a:t>
            </a:r>
            <a:r>
              <a:rPr lang="el-GR" altLang="en-US" b="1" i="1" dirty="0"/>
              <a:t>α</a:t>
            </a:r>
            <a:r>
              <a:rPr lang="en-US" altLang="en-US" b="1" i="1" dirty="0"/>
              <a:t>) </a:t>
            </a:r>
            <a:r>
              <a:rPr lang="en-US" altLang="en-US" dirty="0"/>
              <a:t>unnecessary pages</a:t>
            </a:r>
            <a:r>
              <a:rPr lang="en-US" altLang="en-US" i="1" dirty="0"/>
              <a:t>?  </a:t>
            </a:r>
          </a:p>
          <a:p>
            <a:pPr lvl="1"/>
            <a:r>
              <a:rPr lang="el-GR" altLang="en-US" b="1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near zero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prepaging</a:t>
            </a:r>
            <a:r>
              <a:rPr lang="en-US" altLang="en-US" dirty="0">
                <a:sym typeface="Symbol" panose="05050102010706020507" pitchFamily="18" charset="2"/>
              </a:rPr>
              <a:t> loses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AB72313-E0CB-45E4-B313-079673082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DC9D45D-D520-4D10-ABA7-FAA4AD8B0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4763" y="1153954"/>
            <a:ext cx="7654085" cy="4759325"/>
          </a:xfrm>
        </p:spPr>
        <p:txBody>
          <a:bodyPr/>
          <a:lstStyle/>
          <a:p>
            <a:r>
              <a:rPr lang="en-US" altLang="en-US" dirty="0"/>
              <a:t>Sometimes OS designers have a choice</a:t>
            </a:r>
          </a:p>
          <a:p>
            <a:pPr lvl="1"/>
            <a:r>
              <a:rPr lang="en-US" altLang="en-US" dirty="0"/>
              <a:t>Especially if running on custom-built CPU</a:t>
            </a:r>
          </a:p>
          <a:p>
            <a:r>
              <a:rPr lang="en-US" altLang="en-US" dirty="0"/>
              <a:t>Page size selection must take into consideration:</a:t>
            </a:r>
          </a:p>
          <a:p>
            <a:pPr lvl="1"/>
            <a:r>
              <a:rPr lang="en-US" altLang="en-US" dirty="0"/>
              <a:t>Fragmentation</a:t>
            </a:r>
          </a:p>
          <a:p>
            <a:pPr lvl="1"/>
            <a:r>
              <a:rPr lang="en-US" altLang="en-US" dirty="0"/>
              <a:t>Page table size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Resolution</a:t>
            </a:r>
          </a:p>
          <a:p>
            <a:pPr lvl="1"/>
            <a:r>
              <a:rPr lang="en-US" altLang="en-US" dirty="0"/>
              <a:t>I/O overhead</a:t>
            </a:r>
          </a:p>
          <a:p>
            <a:pPr lvl="1"/>
            <a:r>
              <a:rPr lang="en-US" altLang="en-US" dirty="0"/>
              <a:t>Number of page faults</a:t>
            </a:r>
          </a:p>
          <a:p>
            <a:pPr lvl="1"/>
            <a:r>
              <a:rPr lang="en-US" altLang="en-US" dirty="0"/>
              <a:t>Locality</a:t>
            </a:r>
          </a:p>
          <a:p>
            <a:pPr lvl="1"/>
            <a:r>
              <a:rPr lang="en-US" altLang="en-US" dirty="0"/>
              <a:t>TLB size and effectiveness</a:t>
            </a:r>
          </a:p>
          <a:p>
            <a:r>
              <a:rPr lang="en-US" altLang="en-US" dirty="0"/>
              <a:t>Always power of 2, usually in the range 2</a:t>
            </a:r>
            <a:r>
              <a:rPr lang="en-US" altLang="en-US" baseline="30000" dirty="0"/>
              <a:t>12</a:t>
            </a:r>
            <a:r>
              <a:rPr lang="en-US" altLang="en-US" dirty="0"/>
              <a:t> (4,096 bytes) to 2</a:t>
            </a:r>
            <a:r>
              <a:rPr lang="en-US" altLang="en-US" baseline="30000" dirty="0"/>
              <a:t>22</a:t>
            </a:r>
            <a:r>
              <a:rPr lang="en-US" altLang="en-US" dirty="0"/>
              <a:t> (4,194,304 bytes)</a:t>
            </a:r>
          </a:p>
          <a:p>
            <a:r>
              <a:rPr lang="en-US" altLang="en-US" dirty="0"/>
              <a:t>On average, growing over time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FEBEE20-4A5C-413A-B000-3484CAD42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A8B1F0E-2841-4D45-8806-4D0968518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r>
              <a:rPr lang="en-US" altLang="en-US" dirty="0"/>
              <a:t>Ideally, the working set of each process is stored in the TLB</a:t>
            </a:r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r>
              <a:rPr lang="en-US" altLang="en-US" dirty="0"/>
              <a:t>Increase the Page Size</a:t>
            </a:r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r>
              <a:rPr lang="en-US" altLang="en-US" dirty="0"/>
              <a:t>Provide Multiple Page Sizes</a:t>
            </a:r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C91CD0-BB6D-4937-B73B-85F51EAE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9508830-6713-4F82-846C-6E4BBB6AC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4F98523-3E2E-4E25-A9ED-1A78B98D4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E0BF8FC-FB9A-4B67-A07C-AD1B490A7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445928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 Interlock </a:t>
            </a:r>
            <a:r>
              <a:rPr lang="en-US" altLang="en-US" dirty="0"/>
              <a:t>– Pages must sometimes be locked into memory</a:t>
            </a:r>
          </a:p>
          <a:p>
            <a:r>
              <a:rPr lang="en-US" altLang="en-US" dirty="0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Pinning</a:t>
            </a:r>
            <a:r>
              <a:rPr lang="en-US" altLang="en-US" dirty="0"/>
              <a:t> of pages to lock into memory</a:t>
            </a:r>
          </a:p>
        </p:txBody>
      </p:sp>
      <p:pic>
        <p:nvPicPr>
          <p:cNvPr id="78852" name="Picture 5">
            <a:extLst>
              <a:ext uri="{FF2B5EF4-FFF2-40B4-BE49-F238E27FC236}">
                <a16:creationId xmlns:a16="http://schemas.microsoft.com/office/drawing/2014/main" id="{FBB37575-E6A2-42DB-B423-BAB349C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2733675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41B9075-5D3D-4C1F-BC2C-515609508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009" y="241529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623A637-B9A8-4EB5-9D3A-3D41FDDB2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36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</a:p>
          <a:p>
            <a:endParaRPr lang="en-US" altLang="en-US" dirty="0"/>
          </a:p>
          <a:p>
            <a:r>
              <a:rPr lang="en-US" altLang="en-US" dirty="0"/>
              <a:t>Solaris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8E3548C-E30B-4E4A-B512-89B05FD39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5230" y="234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7A5EE0C-B6B1-4A7D-8E79-BF30FDC85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dirty="0"/>
              <a:t>Uses demand paging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dirty="0"/>
              <a:t>. Clustering brings in pages surrounding the faulting page</a:t>
            </a:r>
            <a:endParaRPr lang="en-US" altLang="en-US" sz="800" dirty="0"/>
          </a:p>
          <a:p>
            <a:r>
              <a:rPr lang="en-US" altLang="en-US" dirty="0"/>
              <a:t>Processes are assigned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maximum</a:t>
            </a:r>
          </a:p>
          <a:p>
            <a:r>
              <a:rPr lang="en-US" altLang="en-US" dirty="0"/>
              <a:t>Working set minimum is the minimum number of pages the process is guaranteed to have in memory</a:t>
            </a:r>
            <a:endParaRPr lang="en-US" altLang="en-US" sz="800" dirty="0"/>
          </a:p>
          <a:p>
            <a:r>
              <a:rPr lang="en-US" altLang="en-US" dirty="0"/>
              <a:t>A process may be assigned as many pages up to its working set maximum</a:t>
            </a:r>
            <a:endParaRPr lang="en-US" altLang="en-US" sz="800" dirty="0"/>
          </a:p>
          <a:p>
            <a:r>
              <a:rPr lang="en-US" altLang="en-US" dirty="0"/>
              <a:t>When the amount of free memory in the system falls below a threshold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dirty="0"/>
              <a:t>is performed to restore the amount of free memory</a:t>
            </a:r>
            <a:endParaRPr lang="en-US" altLang="en-US" sz="800" dirty="0"/>
          </a:p>
          <a:p>
            <a:r>
              <a:rPr lang="en-US" altLang="en-US" dirty="0"/>
              <a:t>Working set trimming removes pages from processes that have pages in excess of their working set minimum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01AC173-6623-4D14-9B01-97F8273AE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34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76DC346-6E9C-4988-BE9D-C95801A48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226231"/>
            <a:ext cx="7704883" cy="5386387"/>
          </a:xfrm>
        </p:spPr>
        <p:txBody>
          <a:bodyPr/>
          <a:lstStyle/>
          <a:p>
            <a:r>
              <a:rPr lang="en-US" altLang="en-US" dirty="0"/>
              <a:t>Maintains a list of free pages to assign faulting processes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dirty="0"/>
              <a:t> – threshold parameter (amount of free memory) to begin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dirty="0"/>
              <a:t> – threshold parameter to increasing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dirty="0"/>
              <a:t> – threshold parameter to being swapping</a:t>
            </a:r>
            <a:endParaRPr lang="en-US" altLang="en-US" sz="800" dirty="0"/>
          </a:p>
          <a:p>
            <a:r>
              <a:rPr lang="en-US" altLang="en-US" dirty="0"/>
              <a:t>Paging is performed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process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scans pages using modified clock algorithm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dirty="0"/>
              <a:t> is the rate at which pages are scanned. This ranges from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dirty="0"/>
              <a:t>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is called more frequently depending upon the amount of free memory available</a:t>
            </a:r>
          </a:p>
          <a:p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Priority paging </a:t>
            </a:r>
            <a:r>
              <a:rPr lang="en-US" altLang="en-US" dirty="0"/>
              <a:t>gives priority to process code pages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6B79336-F77F-4785-AFE7-92739DFC2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</a:p>
        </p:txBody>
      </p:sp>
      <p:pic>
        <p:nvPicPr>
          <p:cNvPr id="82947" name="Picture 1" descr="9_29.pdf">
            <a:extLst>
              <a:ext uri="{FF2B5EF4-FFF2-40B4-BE49-F238E27FC236}">
                <a16:creationId xmlns:a16="http://schemas.microsoft.com/office/drawing/2014/main" id="{49CF2EFB-88B2-4276-AD30-C0B818F47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087A24C-814D-4E6C-B047-D9A2C00F07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18132</TotalTime>
  <Words>1552</Words>
  <Application>Microsoft Office PowerPoint</Application>
  <PresentationFormat>全屏显示(4:3)</PresentationFormat>
  <Paragraphs>215</Paragraphs>
  <Slides>30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Monotype Sorts</vt:lpstr>
      <vt:lpstr>ＭＳ Ｐゴシック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10:  Virtual Memory</vt:lpstr>
      <vt:lpstr>Non-Uniform Memory Access</vt:lpstr>
      <vt:lpstr>Non-Uniform Memory Access (Cont.)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 (Cont.)</vt:lpstr>
      <vt:lpstr>Keeping Track of the Working Set</vt:lpstr>
      <vt:lpstr>Page-Fault Frequency</vt:lpstr>
      <vt:lpstr>Working Sets and Page Fault Rates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  <vt:lpstr>End of Chapter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290</cp:revision>
  <cp:lastPrinted>2013-09-10T17:57:57Z</cp:lastPrinted>
  <dcterms:created xsi:type="dcterms:W3CDTF">2011-01-13T23:43:38Z</dcterms:created>
  <dcterms:modified xsi:type="dcterms:W3CDTF">2025-09-09T05:36:38Z</dcterms:modified>
</cp:coreProperties>
</file>