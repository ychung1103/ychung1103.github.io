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39"/>
  </p:notesMasterIdLst>
  <p:handoutMasterIdLst>
    <p:handoutMasterId r:id="rId40"/>
  </p:handoutMasterIdLst>
  <p:sldIdLst>
    <p:sldId id="330" r:id="rId2"/>
    <p:sldId id="521" r:id="rId3"/>
    <p:sldId id="522" r:id="rId4"/>
    <p:sldId id="523" r:id="rId5"/>
    <p:sldId id="524" r:id="rId6"/>
    <p:sldId id="525" r:id="rId7"/>
    <p:sldId id="479" r:id="rId8"/>
    <p:sldId id="473" r:id="rId9"/>
    <p:sldId id="476" r:id="rId10"/>
    <p:sldId id="445" r:id="rId11"/>
    <p:sldId id="446" r:id="rId12"/>
    <p:sldId id="447" r:id="rId13"/>
    <p:sldId id="448" r:id="rId14"/>
    <p:sldId id="518" r:id="rId15"/>
    <p:sldId id="520" r:id="rId16"/>
    <p:sldId id="451" r:id="rId17"/>
    <p:sldId id="496" r:id="rId18"/>
    <p:sldId id="497" r:id="rId19"/>
    <p:sldId id="498" r:id="rId20"/>
    <p:sldId id="455" r:id="rId21"/>
    <p:sldId id="507" r:id="rId22"/>
    <p:sldId id="508" r:id="rId23"/>
    <p:sldId id="509" r:id="rId24"/>
    <p:sldId id="510" r:id="rId25"/>
    <p:sldId id="457" r:id="rId26"/>
    <p:sldId id="511" r:id="rId27"/>
    <p:sldId id="512" r:id="rId28"/>
    <p:sldId id="513" r:id="rId29"/>
    <p:sldId id="458" r:id="rId30"/>
    <p:sldId id="459" r:id="rId31"/>
    <p:sldId id="460" r:id="rId32"/>
    <p:sldId id="461" r:id="rId33"/>
    <p:sldId id="514" r:id="rId34"/>
    <p:sldId id="462" r:id="rId35"/>
    <p:sldId id="477" r:id="rId36"/>
    <p:sldId id="463" r:id="rId37"/>
    <p:sldId id="467" r:id="rId38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110" autoAdjust="0"/>
    <p:restoredTop sz="94635"/>
  </p:normalViewPr>
  <p:slideViewPr>
    <p:cSldViewPr snapToGrid="0">
      <p:cViewPr varScale="1">
        <p:scale>
          <a:sx n="56" d="100"/>
          <a:sy n="56" d="100"/>
        </p:scale>
        <p:origin x="1528" y="36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7BA12DC8-9922-4E6E-BC02-F6A63767218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ctr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6E72947A-FE2E-4445-85D8-C03306D26DD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ctr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C64A7CC0-6DD4-4720-82BF-E4908F4AFFA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b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6BE9BEEC-119C-420C-8C74-AFCA5FA1C4C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charset="0"/>
                <a:ea typeface="MS PGothic" charset="-128"/>
              </a:defRPr>
            </a:lvl1pPr>
          </a:lstStyle>
          <a:p>
            <a:pPr>
              <a:defRPr/>
            </a:pPr>
            <a:fld id="{896B91AD-C34E-4B05-8D9C-1014E5F01E33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715B35B-6971-4CC0-B4FB-95B01BCF426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A02FF1F-3F52-47A2-B35E-EBB0E228297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2612CE7-EF94-4293-9356-A0763F4E73E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43BD7482-5C58-44F9-A08E-BFE34494D0D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5AC6369B-F957-4079-90E1-CA217ED505C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D62366FD-3440-43D4-A730-7A55A662E4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charset="0"/>
                <a:ea typeface="MS PGothic" charset="-128"/>
              </a:defRPr>
            </a:lvl1pPr>
          </a:lstStyle>
          <a:p>
            <a:pPr>
              <a:defRPr/>
            </a:pPr>
            <a:fld id="{73B872E8-FDB0-4502-A51A-B7A4A00AC4E7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CDEF1EC1-A032-4256-A5B8-82331B81B1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3B6FBBD-AF90-4377-83FA-2F3819AD38A1}" type="slidenum">
              <a:rPr lang="en-US" altLang="en-US" smtClean="0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1DCEB876-7853-4EC8-86DE-2233D519AA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1317CDD3-494C-45D9-A8EF-4B0E12327A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>
            <a:extLst>
              <a:ext uri="{FF2B5EF4-FFF2-40B4-BE49-F238E27FC236}">
                <a16:creationId xmlns:a16="http://schemas.microsoft.com/office/drawing/2014/main" id="{99320A21-45B3-4D4F-B9F5-FC693444B4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2284F21-9F1A-4F22-8037-297481AD2DC1}" type="slidenum">
              <a:rPr lang="en-US" altLang="en-US" smtClean="0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2803AA6F-012E-4DAD-92CC-4E73922564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E5ACDDC3-7FDA-4C42-9ED7-C404396608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85336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>
            <a:extLst>
              <a:ext uri="{FF2B5EF4-FFF2-40B4-BE49-F238E27FC236}">
                <a16:creationId xmlns:a16="http://schemas.microsoft.com/office/drawing/2014/main" id="{8A1752F3-9769-4F81-A848-54098A15C8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329CD1A-AE72-4F61-8821-1DA62212AA59}" type="slidenum">
              <a:rPr lang="en-US" altLang="en-US" smtClean="0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2831E14A-C331-4555-A8C3-1457C596F4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A0ABAF6A-CE19-4868-B5E3-A38DB65BE4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3351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4D3C1504-DE2D-4887-8827-E09054DAE8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BF11701-DA1F-421D-A56C-66611BA250E3}" type="slidenum">
              <a:rPr lang="en-US" altLang="en-US" smtClean="0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1F122118-23A7-4491-BF21-7CA9F458BD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76BB2CE-B3E7-43A0-B4C8-E70E2791BE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08399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B7DE31E6-8C1D-4E43-8FC9-1E2F3766DE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4BBD69-54AE-4751-B982-30356D027400}" type="slidenum">
              <a:rPr lang="en-US" altLang="en-US" smtClean="0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7E8DB144-017B-4356-8EB3-B56BEAA00F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8FA50972-E87E-46C7-B77B-BB77C65B2E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0634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B7DE31E6-8C1D-4E43-8FC9-1E2F3766DE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4BBD69-54AE-4751-B982-30356D027400}" type="slidenum">
              <a:rPr lang="en-US" altLang="en-US" smtClean="0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7E8DB144-017B-4356-8EB3-B56BEAA00F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8FA50972-E87E-46C7-B77B-BB77C65B2E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2872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ADE71AF2-BE40-466B-B1D6-529EC4391F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163544B4-63EF-4C2F-8659-49A75C26F2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D66F45FA-B662-4E14-83BC-2CA84F5CF7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67B2FD97-934F-4AF8-A525-6E87AD2A06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9D492BA8-9072-4CF5-A54A-DE5E3CE45A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43B894CE-C3E8-4116-9227-ABEEFBBE3F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4C8FA0E1-3EB3-4E2B-963D-980FCF3F4D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23C93D2C-31D7-493E-84F1-0B33AC4A11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A10BBC64-6D22-40D9-8A39-A922F2B550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DEFA5C88-3591-4F38-8DE2-ED780B85BE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EE794A5A-A3D6-4F4A-AC5D-7848682BF0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51B19849-C4BE-437E-8FA6-62C406FD6A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840D6A5B-2DF8-46AB-99E3-DD4447D91D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643A5627-CB21-4B22-827F-59A9C1902D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7968B1FC-40C0-4209-B546-5BC55506CC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E1D34BBE-98B7-491C-B523-E80B67BE0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9451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840D6A5B-2DF8-46AB-99E3-DD4447D91D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643A5627-CB21-4B22-827F-59A9C1902D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7673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7B3A5B9D-7073-4B04-815D-4C28F8C629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BC76B9EF-EFF6-4934-98D1-D26E322C1B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9BD35E56-DD67-4ECB-BD37-13A2B5AEEC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671B6D1F-21BA-45DA-B276-24F324AE8A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2138AA6B-8B83-46B1-9A6E-00FA4154E8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8F978D44-4AC2-455B-BA58-C9B7F48E19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E6962208-A29D-4A10-9198-5929731D8B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BDBB8E9B-EDCD-470E-8881-2446C34889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459F42AB-B2FE-430D-B9BB-6A59FD8514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6AA9600B-65A8-48A0-AEBE-270116A22D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9AF59525-78E1-4DD8-A170-40C6713E65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63C1A84E-D626-48F7-9E90-4ECA8C9E4F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CB6525D0-C6FC-4582-B2A0-7ABC039688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866B3374-7828-4D2F-A3CB-4C44E319D1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4346804A-C554-4977-937C-189AD5B0D8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96DEE86A-65F8-40A4-9764-1414407722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82C699AE-42EF-4ED2-8387-CB52FD5573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07CC3844-787A-4A53-A206-0A1C333628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454A392F-FA1E-4AA5-9D5A-3DF2596D76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07B613B1-0A3B-4DB4-B957-B63CB6628D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3029FECB-27E2-4224-86B6-18EB5F828F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9BD96AFF-203C-437E-94F6-276A8EF05F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A79B685D-D33A-4C9E-AEC1-D2DFA67D00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BCEEA52D-F721-4D9B-9317-6AD73159E3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8FA0F68A-BCAA-45B1-A89C-BCD5C5E6EB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F71B20DB-2F60-43E4-8C82-8E3C6650EC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21358D55-194B-4251-8EB7-586E9A80ED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F661D109-31FD-4BA0-87F2-4B254366E2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F8E2826C-ECE4-478F-AF2E-8187477427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7F1F8D25-5A9A-4DEE-8199-BF48C3B4B0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DD978D27-7A45-4707-9571-6863455214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0F720247-6A7A-40C8-A560-7ACEAC13E1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8C7272E3-D47D-40CB-9DDB-74FA84462C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71ACBF84-7E20-4056-909C-C5D64438B8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D2202362-7471-46C7-9C31-E5A6027418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C33781B4-D103-424B-BE83-A42E8E9F7B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F785276E-E512-431C-9863-60C16073997B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A16CBBBC-832D-4981-B7BE-1E6129BC1A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ECCF6664-2599-48D7-AF8C-34B0B9441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C5EC98FB-CBB8-449B-A94E-B0B58773A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F334230E-B06E-4011-9947-832BC9534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25BFB58C-5B52-429B-BF7C-2A3DD468A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D3E76B3A-1933-415B-8018-61828BE85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568F85F6-D2B1-49C8-8F26-5A6CD47E8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>
              <a:defRPr/>
            </a:pPr>
            <a:endParaRPr lang="x-none" altLang="x-none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66835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006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6602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6875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903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34732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4399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0291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3869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9121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9995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34B7DADE-05C1-4235-BC95-7FD16DF5A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2C13949F-D9D1-4EE3-9FC6-AFE9404AEC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5425"/>
            <a:ext cx="80772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156033E-2A1D-44DE-9E54-71D4B4B6E8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90575" y="1233488"/>
            <a:ext cx="7743825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4A806BF-A0C0-4368-AD58-420F34B3A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38CA0CBE-E7DB-4B13-BE0C-81E2F34D25C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E66E26E9-18B9-458C-AE7B-19180B81E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2CCFF09E-8C15-497C-99D4-D11290D2D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332EE4A3-5FFF-44B0-9A59-5F8CE7D75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x-none" sz="1000" b="1">
                <a:solidFill>
                  <a:srgbClr val="006699"/>
                </a:solidFill>
                <a:latin typeface="Helvetica" charset="0"/>
              </a:rPr>
              <a:t>3.</a:t>
            </a:r>
            <a:fld id="{A6EDADC4-5648-406C-94CA-EDDB863B04E2}" type="slidenum">
              <a:rPr lang="en-US" altLang="x-none" sz="1000" b="1" smtClean="0">
                <a:solidFill>
                  <a:srgbClr val="006699"/>
                </a:solidFill>
                <a:latin typeface="Helvetica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x-none" sz="1000" b="1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4AE1926B-ED4A-404A-BC01-96D11B8A4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0963" y="6613525"/>
            <a:ext cx="2713037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32010AC7-36CA-437D-BB87-25E8B15E0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59447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09E176C0-BBA8-45C3-9F79-40005E1FF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15" r:id="rId1"/>
    <p:sldLayoutId id="2147484205" r:id="rId2"/>
    <p:sldLayoutId id="2147484206" r:id="rId3"/>
    <p:sldLayoutId id="2147484207" r:id="rId4"/>
    <p:sldLayoutId id="2147484208" r:id="rId5"/>
    <p:sldLayoutId id="2147484209" r:id="rId6"/>
    <p:sldLayoutId id="2147484210" r:id="rId7"/>
    <p:sldLayoutId id="2147484211" r:id="rId8"/>
    <p:sldLayoutId id="2147484212" r:id="rId9"/>
    <p:sldLayoutId id="2147484213" r:id="rId10"/>
    <p:sldLayoutId id="214748421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9BD8569B-4861-4CBE-8902-C2DD5C49C83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71475" y="1831975"/>
            <a:ext cx="8458200" cy="11430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Chapter 3:  Processes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4">
            <a:extLst>
              <a:ext uri="{FF2B5EF4-FFF2-40B4-BE49-F238E27FC236}">
                <a16:creationId xmlns:a16="http://schemas.microsoft.com/office/drawing/2014/main" id="{1BEBBC13-DD8A-4F8B-B4E0-C68E29E1B9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8127" y="215318"/>
            <a:ext cx="7870888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What about Filling all the Buffers?</a:t>
            </a:r>
          </a:p>
        </p:txBody>
      </p:sp>
      <p:sp>
        <p:nvSpPr>
          <p:cNvPr id="11266" name="Rectangle 5">
            <a:extLst>
              <a:ext uri="{FF2B5EF4-FFF2-40B4-BE49-F238E27FC236}">
                <a16:creationId xmlns:a16="http://schemas.microsoft.com/office/drawing/2014/main" id="{368FAB7E-F41C-4FB5-A127-15C3BFC355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588" y="1144200"/>
            <a:ext cx="7029677" cy="4762529"/>
          </a:xfrm>
        </p:spPr>
        <p:txBody>
          <a:bodyPr/>
          <a:lstStyle/>
          <a:p>
            <a:r>
              <a:rPr lang="en-US" altLang="en-US" sz="2000" dirty="0">
                <a:latin typeface="+mn-ea"/>
                <a:ea typeface="+mn-ea"/>
              </a:rPr>
              <a:t>Suppose that we wanted to provide a solution to the consumer-producer problem that fills </a:t>
            </a:r>
            <a:r>
              <a:rPr lang="en-US" altLang="en-US" sz="2000" b="1" dirty="0">
                <a:solidFill>
                  <a:srgbClr val="000000"/>
                </a:solidFill>
                <a:latin typeface="+mn-ea"/>
                <a:ea typeface="+mn-ea"/>
              </a:rPr>
              <a:t>all</a:t>
            </a:r>
            <a:r>
              <a:rPr lang="en-US" altLang="en-US" sz="20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en-US" altLang="en-US" sz="2000" dirty="0">
                <a:latin typeface="+mn-ea"/>
                <a:ea typeface="+mn-ea"/>
              </a:rPr>
              <a:t>the buffers. </a:t>
            </a:r>
          </a:p>
          <a:p>
            <a:r>
              <a:rPr lang="en-US" altLang="en-US" sz="2000" dirty="0">
                <a:latin typeface="+mn-ea"/>
                <a:ea typeface="+mn-ea"/>
              </a:rPr>
              <a:t>We can do so by having an integer </a:t>
            </a:r>
            <a:r>
              <a:rPr lang="en-US" altLang="en-US" sz="2000" b="1" dirty="0">
                <a:latin typeface="+mn-ea"/>
                <a:ea typeface="+mn-ea"/>
              </a:rPr>
              <a:t>counter</a:t>
            </a:r>
            <a:r>
              <a:rPr lang="en-US" altLang="en-US" sz="2000" b="1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en-US" sz="2000" dirty="0">
                <a:latin typeface="+mn-ea"/>
                <a:ea typeface="+mn-ea"/>
              </a:rPr>
              <a:t>that keeps track of the number of full buffers.  </a:t>
            </a:r>
          </a:p>
          <a:p>
            <a:r>
              <a:rPr lang="en-US" altLang="en-US" sz="2000" dirty="0">
                <a:latin typeface="+mn-ea"/>
                <a:ea typeface="+mn-ea"/>
              </a:rPr>
              <a:t>Initially, </a:t>
            </a:r>
            <a:r>
              <a:rPr lang="en-US" altLang="en-US" sz="2000" b="1" dirty="0">
                <a:latin typeface="+mn-ea"/>
                <a:ea typeface="+mn-ea"/>
              </a:rPr>
              <a:t>counter</a:t>
            </a:r>
            <a:r>
              <a:rPr lang="en-US" altLang="en-US" sz="2000" dirty="0">
                <a:latin typeface="+mn-ea"/>
                <a:ea typeface="+mn-ea"/>
              </a:rPr>
              <a:t> is set to 0. </a:t>
            </a:r>
          </a:p>
          <a:p>
            <a:r>
              <a:rPr lang="en-US" altLang="en-US" sz="2000" dirty="0">
                <a:latin typeface="+mn-ea"/>
                <a:ea typeface="+mn-ea"/>
              </a:rPr>
              <a:t>The integer </a:t>
            </a:r>
            <a:r>
              <a:rPr lang="en-US" altLang="en-US" sz="2000" b="1" dirty="0">
                <a:latin typeface="+mn-ea"/>
                <a:ea typeface="+mn-ea"/>
              </a:rPr>
              <a:t>counter</a:t>
            </a:r>
            <a:r>
              <a:rPr lang="en-US" altLang="en-US" sz="2000" dirty="0">
                <a:latin typeface="+mn-ea"/>
                <a:ea typeface="+mn-ea"/>
              </a:rPr>
              <a:t> is incremented by the producer after it produces a new buffer.</a:t>
            </a:r>
          </a:p>
          <a:p>
            <a:r>
              <a:rPr lang="en-US" altLang="en-US" sz="2000" dirty="0">
                <a:latin typeface="+mn-ea"/>
                <a:ea typeface="+mn-ea"/>
              </a:rPr>
              <a:t>The integer </a:t>
            </a:r>
            <a:r>
              <a:rPr lang="en-US" altLang="en-US" sz="2000" b="1" dirty="0">
                <a:latin typeface="+mn-ea"/>
                <a:ea typeface="+mn-ea"/>
              </a:rPr>
              <a:t>counter</a:t>
            </a:r>
            <a:r>
              <a:rPr lang="en-US" altLang="en-US" sz="2000" dirty="0">
                <a:latin typeface="+mn-ea"/>
                <a:ea typeface="+mn-ea"/>
              </a:rPr>
              <a:t> is and is decremented by the consumer after it consumes a buffer.</a:t>
            </a:r>
          </a:p>
        </p:txBody>
      </p:sp>
    </p:spTree>
    <p:extLst>
      <p:ext uri="{BB962C8B-B14F-4D97-AF65-F5344CB8AC3E}">
        <p14:creationId xmlns:p14="http://schemas.microsoft.com/office/powerpoint/2010/main" val="4189252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6FBA2318-657D-42C6-AB7B-E9BBF4DA22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5318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Producer </a:t>
            </a:r>
          </a:p>
        </p:txBody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32980AD2-3FC6-4309-A775-93AFA55955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2356" y="1258888"/>
            <a:ext cx="6999288" cy="3701732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while (true) {</a:t>
            </a:r>
            <a:br>
              <a:rPr lang="en-US" altLang="en-US" sz="2000" b="1" dirty="0">
                <a:latin typeface="Courier New" panose="02070309020205020404" pitchFamily="49" charset="0"/>
              </a:rPr>
            </a:br>
            <a:r>
              <a:rPr lang="en-US" altLang="en-US" sz="2000" b="1" dirty="0">
                <a:latin typeface="Courier New" panose="02070309020205020404" pitchFamily="49" charset="0"/>
              </a:rPr>
              <a:t>	/* produce an item in next produced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while (counter == BUFFER_SIZE) 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	; /* do nothing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buffer[in] =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next_produced</a:t>
            </a:r>
            <a:r>
              <a:rPr lang="en-US" altLang="en-US" sz="2000" b="1" dirty="0">
                <a:latin typeface="Courier New" panose="02070309020205020404" pitchFamily="49" charset="0"/>
              </a:rPr>
              <a:t>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in = (in + 1) % BUFFER_SIZE;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counter++;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4199346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BF7414AA-B215-4A20-88A1-C865671BEA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7363" y="208192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Consumer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F7E5C80C-620B-4BAE-A990-B50235C7DF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06390" y="1262063"/>
            <a:ext cx="6931219" cy="3847147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while (true) {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while (counter == 0)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	; /* do nothing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next_consumed</a:t>
            </a:r>
            <a:r>
              <a:rPr lang="en-US" altLang="en-US" sz="2000" b="1" dirty="0">
                <a:latin typeface="Courier New" panose="02070309020205020404" pitchFamily="49" charset="0"/>
              </a:rPr>
              <a:t> = buffer[out];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out = (out + 1) % BUFFER_SIZE; 	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   counter--;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/* consume the item in next consumed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111936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026">
            <a:extLst>
              <a:ext uri="{FF2B5EF4-FFF2-40B4-BE49-F238E27FC236}">
                <a16:creationId xmlns:a16="http://schemas.microsoft.com/office/drawing/2014/main" id="{8C101D6F-C0EC-4766-8D52-60E1DFA559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526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Race Condition</a:t>
            </a:r>
          </a:p>
        </p:txBody>
      </p:sp>
      <p:sp>
        <p:nvSpPr>
          <p:cNvPr id="17410" name="Rectangle 1027">
            <a:extLst>
              <a:ext uri="{FF2B5EF4-FFF2-40B4-BE49-F238E27FC236}">
                <a16:creationId xmlns:a16="http://schemas.microsoft.com/office/drawing/2014/main" id="{338D3C38-85C1-4063-A149-971FC47DCC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11380" y="1132205"/>
            <a:ext cx="7755430" cy="51736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00"/>
                </a:solidFill>
                <a:latin typeface="+mn-ea"/>
                <a:ea typeface="+mn-ea"/>
              </a:rPr>
              <a:t>counter++ </a:t>
            </a:r>
            <a:r>
              <a:rPr lang="en-US" altLang="en-US" dirty="0">
                <a:latin typeface="+mn-ea"/>
                <a:ea typeface="+mn-ea"/>
              </a:rPr>
              <a:t>could be implemented as</a:t>
            </a:r>
            <a:br>
              <a:rPr lang="en-US" altLang="en-US" dirty="0">
                <a:latin typeface="+mn-ea"/>
                <a:ea typeface="+mn-ea"/>
              </a:rPr>
            </a:br>
            <a:br>
              <a:rPr lang="en-US" altLang="en-US" dirty="0">
                <a:latin typeface="+mn-ea"/>
                <a:ea typeface="+mn-ea"/>
              </a:rPr>
            </a:br>
            <a:r>
              <a:rPr lang="en-US" altLang="en-US" b="1" dirty="0">
                <a:latin typeface="+mn-ea"/>
                <a:ea typeface="+mn-ea"/>
              </a:rPr>
              <a:t>     </a:t>
            </a:r>
            <a:r>
              <a:rPr lang="en-US" altLang="en-US" b="1" dirty="0">
                <a:solidFill>
                  <a:srgbClr val="0000FF"/>
                </a:solidFill>
                <a:latin typeface="+mn-ea"/>
                <a:ea typeface="+mn-ea"/>
              </a:rPr>
              <a:t>register1 = counter</a:t>
            </a:r>
            <a:br>
              <a:rPr lang="en-US" altLang="en-US" b="1" dirty="0">
                <a:solidFill>
                  <a:srgbClr val="0000FF"/>
                </a:solidFill>
                <a:latin typeface="+mn-ea"/>
                <a:ea typeface="+mn-ea"/>
              </a:rPr>
            </a:br>
            <a:r>
              <a:rPr lang="en-US" altLang="en-US" b="1" dirty="0">
                <a:solidFill>
                  <a:srgbClr val="0000FF"/>
                </a:solidFill>
                <a:latin typeface="+mn-ea"/>
                <a:ea typeface="+mn-ea"/>
              </a:rPr>
              <a:t>     register1 = register1 + 1</a:t>
            </a:r>
            <a:br>
              <a:rPr lang="en-US" altLang="en-US" b="1" dirty="0">
                <a:solidFill>
                  <a:srgbClr val="0000FF"/>
                </a:solidFill>
                <a:latin typeface="+mn-ea"/>
                <a:ea typeface="+mn-ea"/>
              </a:rPr>
            </a:br>
            <a:r>
              <a:rPr lang="en-US" altLang="en-US" b="1" dirty="0">
                <a:solidFill>
                  <a:srgbClr val="0000FF"/>
                </a:solidFill>
                <a:latin typeface="+mn-ea"/>
                <a:ea typeface="+mn-ea"/>
              </a:rPr>
              <a:t>     counter = register1</a:t>
            </a:r>
            <a:endParaRPr lang="en-US" altLang="en-US" dirty="0">
              <a:solidFill>
                <a:srgbClr val="0000FF"/>
              </a:solidFill>
              <a:latin typeface="+mn-ea"/>
              <a:ea typeface="+mn-ea"/>
            </a:endParaRP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00"/>
                </a:solidFill>
                <a:latin typeface="+mn-ea"/>
                <a:ea typeface="+mn-ea"/>
              </a:rPr>
              <a:t>counter--</a:t>
            </a:r>
            <a:r>
              <a:rPr lang="en-US" altLang="en-US" b="1" dirty="0">
                <a:solidFill>
                  <a:schemeClr val="tx2"/>
                </a:solidFill>
                <a:latin typeface="+mn-ea"/>
                <a:ea typeface="+mn-ea"/>
              </a:rPr>
              <a:t> </a:t>
            </a:r>
            <a:r>
              <a:rPr lang="en-US" altLang="en-US" dirty="0">
                <a:latin typeface="+mn-ea"/>
                <a:ea typeface="+mn-ea"/>
              </a:rPr>
              <a:t>could be implemented as</a:t>
            </a:r>
            <a:br>
              <a:rPr lang="en-US" altLang="en-US" dirty="0">
                <a:latin typeface="+mn-ea"/>
                <a:ea typeface="+mn-ea"/>
              </a:rPr>
            </a:br>
            <a:br>
              <a:rPr lang="en-US" altLang="en-US" dirty="0">
                <a:latin typeface="+mn-ea"/>
                <a:ea typeface="+mn-ea"/>
              </a:rPr>
            </a:br>
            <a:r>
              <a:rPr lang="en-US" altLang="en-US" b="1" dirty="0">
                <a:latin typeface="+mn-ea"/>
                <a:ea typeface="+mn-ea"/>
              </a:rPr>
              <a:t>     </a:t>
            </a:r>
            <a:r>
              <a:rPr lang="en-US" altLang="en-US" b="1" dirty="0">
                <a:solidFill>
                  <a:schemeClr val="tx2"/>
                </a:solidFill>
                <a:latin typeface="+mn-ea"/>
                <a:ea typeface="+mn-ea"/>
              </a:rPr>
              <a:t>register2 = counter</a:t>
            </a:r>
            <a:br>
              <a:rPr lang="en-US" altLang="en-US" b="1" dirty="0">
                <a:solidFill>
                  <a:schemeClr val="tx2"/>
                </a:solidFill>
                <a:latin typeface="+mn-ea"/>
                <a:ea typeface="+mn-ea"/>
              </a:rPr>
            </a:br>
            <a:r>
              <a:rPr lang="en-US" altLang="en-US" b="1" dirty="0">
                <a:solidFill>
                  <a:schemeClr val="tx2"/>
                </a:solidFill>
                <a:latin typeface="+mn-ea"/>
                <a:ea typeface="+mn-ea"/>
              </a:rPr>
              <a:t>     register2 = register2 - 1</a:t>
            </a:r>
            <a:br>
              <a:rPr lang="en-US" altLang="en-US" b="1" dirty="0">
                <a:solidFill>
                  <a:schemeClr val="tx2"/>
                </a:solidFill>
                <a:latin typeface="+mn-ea"/>
                <a:ea typeface="+mn-ea"/>
              </a:rPr>
            </a:br>
            <a:r>
              <a:rPr lang="en-US" altLang="en-US" b="1" dirty="0">
                <a:solidFill>
                  <a:schemeClr val="tx2"/>
                </a:solidFill>
                <a:latin typeface="+mn-ea"/>
                <a:ea typeface="+mn-ea"/>
              </a:rPr>
              <a:t>     counter = register2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>
              <a:solidFill>
                <a:schemeClr val="tx2"/>
              </a:solidFill>
              <a:latin typeface="+mn-ea"/>
              <a:ea typeface="+mn-ea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latin typeface="+mn-ea"/>
                <a:ea typeface="+mn-ea"/>
              </a:rPr>
              <a:t>Consider this execution interleaving with </a:t>
            </a:r>
            <a:r>
              <a:rPr lang="ja-JP" altLang="en-US" dirty="0">
                <a:latin typeface="+mn-ea"/>
                <a:ea typeface="+mn-ea"/>
              </a:rPr>
              <a:t>“</a:t>
            </a:r>
            <a:r>
              <a:rPr lang="en-US" altLang="ja-JP" dirty="0">
                <a:latin typeface="+mn-ea"/>
                <a:ea typeface="+mn-ea"/>
              </a:rPr>
              <a:t>count = 5</a:t>
            </a:r>
            <a:r>
              <a:rPr lang="ja-JP" altLang="en-US" dirty="0">
                <a:latin typeface="+mn-ea"/>
                <a:ea typeface="+mn-ea"/>
              </a:rPr>
              <a:t>”</a:t>
            </a:r>
            <a:r>
              <a:rPr lang="en-US" altLang="ja-JP" dirty="0">
                <a:latin typeface="+mn-ea"/>
                <a:ea typeface="+mn-ea"/>
              </a:rPr>
              <a:t> initially: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>
                <a:latin typeface="+mn-ea"/>
                <a:ea typeface="+mn-ea"/>
              </a:rPr>
              <a:t>	S0: producer execute </a:t>
            </a:r>
            <a:r>
              <a:rPr lang="en-US" altLang="en-US" b="1" dirty="0">
                <a:solidFill>
                  <a:srgbClr val="0000FF"/>
                </a:solidFill>
                <a:latin typeface="+mn-ea"/>
                <a:ea typeface="+mn-ea"/>
              </a:rPr>
              <a:t>register1 = counter            </a:t>
            </a:r>
            <a:r>
              <a:rPr lang="en-US" altLang="en-US" dirty="0">
                <a:latin typeface="+mn-ea"/>
                <a:ea typeface="+mn-ea"/>
              </a:rPr>
              <a:t>{register1 = 5}</a:t>
            </a:r>
            <a:br>
              <a:rPr lang="en-US" altLang="en-US" dirty="0">
                <a:latin typeface="+mn-ea"/>
                <a:ea typeface="+mn-ea"/>
              </a:rPr>
            </a:br>
            <a:r>
              <a:rPr lang="en-US" altLang="en-US" dirty="0">
                <a:latin typeface="+mn-ea"/>
                <a:ea typeface="+mn-ea"/>
              </a:rPr>
              <a:t>S1: producer execute </a:t>
            </a:r>
            <a:r>
              <a:rPr lang="en-US" altLang="en-US" b="1" dirty="0">
                <a:solidFill>
                  <a:srgbClr val="0000FF"/>
                </a:solidFill>
                <a:latin typeface="+mn-ea"/>
                <a:ea typeface="+mn-ea"/>
              </a:rPr>
              <a:t>register1 = register1 + 1    </a:t>
            </a:r>
            <a:r>
              <a:rPr lang="en-US" altLang="en-US" dirty="0">
                <a:latin typeface="+mn-ea"/>
                <a:ea typeface="+mn-ea"/>
              </a:rPr>
              <a:t>{register1 = 6} </a:t>
            </a:r>
            <a:br>
              <a:rPr lang="en-US" altLang="en-US" dirty="0">
                <a:latin typeface="+mn-ea"/>
                <a:ea typeface="+mn-ea"/>
              </a:rPr>
            </a:br>
            <a:r>
              <a:rPr lang="en-US" altLang="en-US" dirty="0">
                <a:latin typeface="+mn-ea"/>
                <a:ea typeface="+mn-ea"/>
              </a:rPr>
              <a:t>S2: consumer execute </a:t>
            </a:r>
            <a:r>
              <a:rPr lang="en-US" altLang="en-US" b="1" dirty="0">
                <a:solidFill>
                  <a:schemeClr val="tx2"/>
                </a:solidFill>
                <a:latin typeface="+mn-ea"/>
                <a:ea typeface="+mn-ea"/>
              </a:rPr>
              <a:t>register2 = counter</a:t>
            </a:r>
            <a:r>
              <a:rPr lang="en-US" altLang="en-US" b="1" dirty="0">
                <a:latin typeface="+mn-ea"/>
                <a:ea typeface="+mn-ea"/>
              </a:rPr>
              <a:t>           </a:t>
            </a:r>
            <a:r>
              <a:rPr lang="en-US" altLang="en-US" dirty="0">
                <a:latin typeface="+mn-ea"/>
                <a:ea typeface="+mn-ea"/>
              </a:rPr>
              <a:t>{register2 = 5} </a:t>
            </a:r>
            <a:br>
              <a:rPr lang="en-US" altLang="en-US" dirty="0">
                <a:latin typeface="+mn-ea"/>
                <a:ea typeface="+mn-ea"/>
              </a:rPr>
            </a:br>
            <a:r>
              <a:rPr lang="en-US" altLang="en-US" dirty="0">
                <a:latin typeface="+mn-ea"/>
                <a:ea typeface="+mn-ea"/>
              </a:rPr>
              <a:t>S3: consumer execute </a:t>
            </a:r>
            <a:r>
              <a:rPr lang="en-US" altLang="en-US" b="1" dirty="0">
                <a:solidFill>
                  <a:schemeClr val="tx2"/>
                </a:solidFill>
                <a:latin typeface="+mn-ea"/>
                <a:ea typeface="+mn-ea"/>
              </a:rPr>
              <a:t>register2 = register2 – 1   </a:t>
            </a:r>
            <a:r>
              <a:rPr lang="en-US" altLang="en-US" dirty="0">
                <a:latin typeface="+mn-ea"/>
                <a:ea typeface="+mn-ea"/>
              </a:rPr>
              <a:t>{register2 = 4} </a:t>
            </a:r>
            <a:br>
              <a:rPr lang="en-US" altLang="en-US" dirty="0">
                <a:latin typeface="+mn-ea"/>
                <a:ea typeface="+mn-ea"/>
              </a:rPr>
            </a:br>
            <a:r>
              <a:rPr lang="en-US" altLang="en-US" dirty="0">
                <a:latin typeface="+mn-ea"/>
                <a:ea typeface="+mn-ea"/>
              </a:rPr>
              <a:t>S4: producer execute </a:t>
            </a:r>
            <a:r>
              <a:rPr lang="en-US" altLang="en-US" b="1" dirty="0">
                <a:solidFill>
                  <a:srgbClr val="0000FF"/>
                </a:solidFill>
                <a:latin typeface="+mn-ea"/>
                <a:ea typeface="+mn-ea"/>
              </a:rPr>
              <a:t>counter = register1             </a:t>
            </a:r>
            <a:r>
              <a:rPr lang="en-US" altLang="en-US" dirty="0">
                <a:latin typeface="+mn-ea"/>
                <a:ea typeface="+mn-ea"/>
              </a:rPr>
              <a:t>{counter = 6 } </a:t>
            </a:r>
            <a:br>
              <a:rPr lang="en-US" altLang="en-US" dirty="0">
                <a:latin typeface="+mn-ea"/>
                <a:ea typeface="+mn-ea"/>
              </a:rPr>
            </a:br>
            <a:r>
              <a:rPr lang="en-US" altLang="en-US" dirty="0">
                <a:latin typeface="+mn-ea"/>
                <a:ea typeface="+mn-ea"/>
              </a:rPr>
              <a:t>S5: consumer execute </a:t>
            </a:r>
            <a:r>
              <a:rPr lang="en-US" altLang="en-US" b="1" dirty="0">
                <a:solidFill>
                  <a:schemeClr val="tx2"/>
                </a:solidFill>
                <a:latin typeface="+mn-ea"/>
                <a:ea typeface="+mn-ea"/>
              </a:rPr>
              <a:t>counter = register2           </a:t>
            </a:r>
            <a:r>
              <a:rPr lang="en-US" altLang="en-US" dirty="0">
                <a:latin typeface="+mn-ea"/>
                <a:ea typeface="+mn-ea"/>
              </a:rPr>
              <a:t>{counter = 4}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64105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026">
            <a:extLst>
              <a:ext uri="{FF2B5EF4-FFF2-40B4-BE49-F238E27FC236}">
                <a16:creationId xmlns:a16="http://schemas.microsoft.com/office/drawing/2014/main" id="{8C101D6F-C0EC-4766-8D52-60E1DFA559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526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Race Condition (Cont.)</a:t>
            </a:r>
          </a:p>
        </p:txBody>
      </p:sp>
      <p:sp>
        <p:nvSpPr>
          <p:cNvPr id="17410" name="Rectangle 1027">
            <a:extLst>
              <a:ext uri="{FF2B5EF4-FFF2-40B4-BE49-F238E27FC236}">
                <a16:creationId xmlns:a16="http://schemas.microsoft.com/office/drawing/2014/main" id="{338D3C38-85C1-4063-A149-971FC47DCC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5640" y="1177925"/>
            <a:ext cx="7881160" cy="474520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Question – why was there no race condition in the first solution (where at most N – 1) buffers can be filled?</a:t>
            </a:r>
          </a:p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More in Chapter 6.</a:t>
            </a:r>
          </a:p>
        </p:txBody>
      </p:sp>
    </p:spTree>
    <p:extLst>
      <p:ext uri="{BB962C8B-B14F-4D97-AF65-F5344CB8AC3E}">
        <p14:creationId xmlns:p14="http://schemas.microsoft.com/office/powerpoint/2010/main" val="2239292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6F3F2B4A-DE70-43EF-BB61-6A78698FE9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133932"/>
            <a:ext cx="7338061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IPC – Message Passing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70AECD7B-E784-4C8C-8677-1B9EFF1929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53565" y="1018858"/>
            <a:ext cx="6236870" cy="438091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>
                <a:latin typeface="+mn-ea"/>
                <a:ea typeface="+mn-ea"/>
              </a:rPr>
              <a:t>Processes communicate with each other without resorting to shared variables</a:t>
            </a:r>
          </a:p>
          <a:p>
            <a:pPr>
              <a:lnSpc>
                <a:spcPct val="90000"/>
              </a:lnSpc>
            </a:pPr>
            <a:endParaRPr lang="en-US" altLang="en-US" sz="2000" dirty="0">
              <a:latin typeface="+mn-ea"/>
              <a:ea typeface="+mn-ea"/>
            </a:endParaRPr>
          </a:p>
          <a:p>
            <a:pPr>
              <a:lnSpc>
                <a:spcPct val="90000"/>
              </a:lnSpc>
            </a:pPr>
            <a:r>
              <a:rPr lang="en-US" altLang="en-US" sz="2000" dirty="0">
                <a:latin typeface="+mn-ea"/>
                <a:ea typeface="+mn-ea"/>
              </a:rPr>
              <a:t>IPC facility provides two operations: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 dirty="0">
                <a:latin typeface="+mn-ea"/>
                <a:ea typeface="+mn-ea"/>
              </a:rPr>
              <a:t>send</a:t>
            </a:r>
            <a:r>
              <a:rPr lang="en-US" altLang="en-US" sz="2000" dirty="0">
                <a:latin typeface="+mn-ea"/>
                <a:ea typeface="+mn-ea"/>
              </a:rPr>
              <a:t>(</a:t>
            </a:r>
            <a:r>
              <a:rPr lang="en-US" altLang="en-US" sz="2000" i="1" dirty="0">
                <a:latin typeface="+mn-ea"/>
                <a:ea typeface="+mn-ea"/>
              </a:rPr>
              <a:t>message</a:t>
            </a:r>
            <a:r>
              <a:rPr lang="en-US" altLang="en-US" sz="2000" dirty="0">
                <a:latin typeface="+mn-ea"/>
                <a:ea typeface="+mn-ea"/>
              </a:rPr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 dirty="0">
                <a:latin typeface="+mn-ea"/>
                <a:ea typeface="+mn-ea"/>
              </a:rPr>
              <a:t>receive</a:t>
            </a:r>
            <a:r>
              <a:rPr lang="en-US" altLang="en-US" sz="2000" dirty="0">
                <a:latin typeface="+mn-ea"/>
                <a:ea typeface="+mn-ea"/>
              </a:rPr>
              <a:t>(</a:t>
            </a:r>
            <a:r>
              <a:rPr lang="en-US" altLang="en-US" sz="2000" i="1" dirty="0">
                <a:latin typeface="+mn-ea"/>
                <a:ea typeface="+mn-ea"/>
              </a:rPr>
              <a:t>message</a:t>
            </a:r>
            <a:r>
              <a:rPr lang="en-US" altLang="en-US" sz="2000" dirty="0">
                <a:latin typeface="+mn-ea"/>
                <a:ea typeface="+mn-ea"/>
              </a:rPr>
              <a:t>)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2000" dirty="0">
              <a:latin typeface="+mn-ea"/>
              <a:ea typeface="+mn-ea"/>
            </a:endParaRPr>
          </a:p>
          <a:p>
            <a:pPr>
              <a:lnSpc>
                <a:spcPct val="90000"/>
              </a:lnSpc>
            </a:pPr>
            <a:r>
              <a:rPr lang="en-US" altLang="en-US" sz="2000" dirty="0">
                <a:latin typeface="+mn-ea"/>
                <a:ea typeface="+mn-ea"/>
              </a:rPr>
              <a:t>The</a:t>
            </a:r>
            <a:r>
              <a:rPr lang="en-US" altLang="en-US" sz="2000" i="1" dirty="0">
                <a:latin typeface="+mn-ea"/>
                <a:ea typeface="+mn-ea"/>
              </a:rPr>
              <a:t> message</a:t>
            </a:r>
            <a:r>
              <a:rPr lang="en-US" altLang="en-US" sz="2000" dirty="0">
                <a:latin typeface="+mn-ea"/>
                <a:ea typeface="+mn-ea"/>
              </a:rPr>
              <a:t> size is either fixed or variable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20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B833C5ED-B4D0-4EF0-A04C-582581174B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6475" y="220663"/>
            <a:ext cx="7997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Message Passing (Cont.)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BA6A6236-9FD7-4CF5-AFB2-3C81D1F5DE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1016001"/>
            <a:ext cx="7613650" cy="4674936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If processes </a:t>
            </a:r>
            <a:r>
              <a:rPr lang="en-US" altLang="en-US" sz="2000" i="1" dirty="0"/>
              <a:t>P</a:t>
            </a:r>
            <a:r>
              <a:rPr lang="en-US" altLang="en-US" sz="2000" dirty="0"/>
              <a:t> and </a:t>
            </a:r>
            <a:r>
              <a:rPr lang="en-US" altLang="en-US" sz="2000" i="1" dirty="0"/>
              <a:t>Q</a:t>
            </a:r>
            <a:r>
              <a:rPr lang="en-US" altLang="en-US" sz="2000" dirty="0"/>
              <a:t> wish to communicate, they need to: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Establish a </a:t>
            </a:r>
            <a:r>
              <a:rPr lang="en-US" altLang="en-US" sz="2000" b="1" i="1" dirty="0"/>
              <a:t>communication</a:t>
            </a:r>
            <a:r>
              <a:rPr lang="en-US" altLang="en-US" sz="2000" b="1" dirty="0"/>
              <a:t> </a:t>
            </a:r>
            <a:r>
              <a:rPr lang="en-US" altLang="en-US" sz="2000" b="1" i="1" dirty="0"/>
              <a:t>link</a:t>
            </a:r>
            <a:r>
              <a:rPr lang="en-US" altLang="en-US" sz="2000" b="1" dirty="0"/>
              <a:t> </a:t>
            </a:r>
            <a:r>
              <a:rPr lang="en-US" altLang="en-US" sz="2000" dirty="0"/>
              <a:t>between them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Exchange messages via send/receive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Implementation issues:</a:t>
            </a:r>
          </a:p>
          <a:p>
            <a:pPr lvl="1"/>
            <a:r>
              <a:rPr lang="en-US" altLang="en-US" sz="2000" dirty="0"/>
              <a:t>How are links established?</a:t>
            </a:r>
          </a:p>
          <a:p>
            <a:pPr lvl="1"/>
            <a:r>
              <a:rPr lang="en-US" altLang="en-US" sz="2000" dirty="0"/>
              <a:t>Can a link be associated with more than two processes?</a:t>
            </a:r>
          </a:p>
          <a:p>
            <a:pPr lvl="1"/>
            <a:r>
              <a:rPr lang="en-US" altLang="en-US" sz="2000" dirty="0"/>
              <a:t>How many links can there be between every pair of communicating processes?</a:t>
            </a:r>
          </a:p>
          <a:p>
            <a:pPr lvl="1"/>
            <a:r>
              <a:rPr lang="en-US" altLang="en-US" sz="2000" dirty="0"/>
              <a:t>What is the capacity of a link?</a:t>
            </a:r>
          </a:p>
          <a:p>
            <a:pPr lvl="1"/>
            <a:r>
              <a:rPr lang="en-US" altLang="en-US" sz="2000" dirty="0"/>
              <a:t>Is the size of a message that the link can accommodate fixed or variable?</a:t>
            </a:r>
          </a:p>
          <a:p>
            <a:pPr lvl="1"/>
            <a:r>
              <a:rPr lang="en-US" altLang="en-US" sz="2000" dirty="0"/>
              <a:t>Is a link unidirectional or bi-directional?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381AC626-0A50-457E-ACC9-A83EC0103D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9488" y="130757"/>
            <a:ext cx="8061325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Implementation of Communication Link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1D1C4DEC-BA4C-4FF4-8D99-3F85645578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60171" y="925830"/>
            <a:ext cx="6938010" cy="317754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Physical: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Shared memory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Hardware bus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Network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Logical: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 Direct or indirect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 Synchronous or asynchronous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 Automatic or explicit buffering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942199CC-6297-4236-868D-6C51816630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4913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Direct Communication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3A7D9FE3-3D61-44CD-BD78-77CFC4A0B4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4875" y="1138238"/>
            <a:ext cx="7781925" cy="4530725"/>
          </a:xfrm>
        </p:spPr>
        <p:txBody>
          <a:bodyPr/>
          <a:lstStyle/>
          <a:p>
            <a:r>
              <a:rPr lang="en-US" altLang="en-US" sz="2000" dirty="0"/>
              <a:t>Processes must name each other explicitly:</a:t>
            </a:r>
          </a:p>
          <a:p>
            <a:pPr lvl="1"/>
            <a:r>
              <a:rPr lang="en-US" altLang="en-US" sz="2000" b="1" dirty="0">
                <a:latin typeface="Courier New" panose="02070309020205020404" pitchFamily="49" charset="0"/>
              </a:rPr>
              <a:t>send</a:t>
            </a:r>
            <a:r>
              <a:rPr lang="en-US" altLang="en-US" sz="2000" dirty="0"/>
              <a:t> (</a:t>
            </a:r>
            <a:r>
              <a:rPr lang="en-US" altLang="en-US" sz="2000" i="1" dirty="0"/>
              <a:t>P, message</a:t>
            </a:r>
            <a:r>
              <a:rPr lang="en-US" altLang="en-US" sz="2000" dirty="0"/>
              <a:t>) – send a message to process P</a:t>
            </a:r>
          </a:p>
          <a:p>
            <a:pPr lvl="1"/>
            <a:r>
              <a:rPr lang="en-US" altLang="en-US" sz="2000" b="1" dirty="0">
                <a:latin typeface="Courier New" panose="02070309020205020404" pitchFamily="49" charset="0"/>
              </a:rPr>
              <a:t>receive</a:t>
            </a:r>
            <a:r>
              <a:rPr lang="en-US" altLang="en-US" sz="2000" dirty="0"/>
              <a:t>(</a:t>
            </a:r>
            <a:r>
              <a:rPr lang="en-US" altLang="en-US" sz="2000" i="1" dirty="0"/>
              <a:t>Q, message</a:t>
            </a:r>
            <a:r>
              <a:rPr lang="en-US" altLang="en-US" sz="2000" dirty="0"/>
              <a:t>) – receive a message from process Q</a:t>
            </a:r>
          </a:p>
          <a:p>
            <a:r>
              <a:rPr lang="en-US" altLang="en-US" sz="2000" dirty="0"/>
              <a:t>Properties of communication link</a:t>
            </a:r>
          </a:p>
          <a:p>
            <a:pPr lvl="1"/>
            <a:r>
              <a:rPr lang="en-US" altLang="en-US" sz="2000" dirty="0"/>
              <a:t>Links are established automatically</a:t>
            </a:r>
          </a:p>
          <a:p>
            <a:pPr lvl="1"/>
            <a:r>
              <a:rPr lang="en-US" altLang="en-US" sz="2000" dirty="0"/>
              <a:t>A link is associated with exactly one pair of communicating processes</a:t>
            </a:r>
          </a:p>
          <a:p>
            <a:pPr lvl="1"/>
            <a:r>
              <a:rPr lang="en-US" altLang="en-US" sz="2000" dirty="0"/>
              <a:t>Between each pair there exists exactly one link</a:t>
            </a:r>
          </a:p>
          <a:p>
            <a:pPr lvl="1"/>
            <a:r>
              <a:rPr lang="en-US" altLang="en-US" sz="2000" dirty="0"/>
              <a:t>The link may be unidirectional, but is usually bi-directional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1143D8FC-6F48-4E94-BF58-37342F331C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075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Indirect Communication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DD569671-6F8E-4503-8E83-6B359504BF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2175" y="1147762"/>
            <a:ext cx="7397583" cy="4452937"/>
          </a:xfrm>
        </p:spPr>
        <p:txBody>
          <a:bodyPr/>
          <a:lstStyle/>
          <a:p>
            <a:r>
              <a:rPr lang="en-US" altLang="en-US" sz="2000" dirty="0"/>
              <a:t>Messages are directed and received from mailboxes (also referred to as ports)</a:t>
            </a:r>
          </a:p>
          <a:p>
            <a:pPr lvl="1"/>
            <a:r>
              <a:rPr lang="en-US" altLang="en-US" sz="2000" dirty="0"/>
              <a:t>Each mailbox has a unique id</a:t>
            </a:r>
          </a:p>
          <a:p>
            <a:pPr lvl="1"/>
            <a:r>
              <a:rPr lang="en-US" altLang="en-US" sz="2000" dirty="0"/>
              <a:t>Processes can communicate only if they share a mailbox</a:t>
            </a:r>
          </a:p>
          <a:p>
            <a:r>
              <a:rPr lang="en-US" altLang="en-US" sz="2000" dirty="0"/>
              <a:t>Properties of communication link</a:t>
            </a:r>
          </a:p>
          <a:p>
            <a:pPr lvl="1"/>
            <a:r>
              <a:rPr lang="en-US" altLang="en-US" sz="2000" dirty="0"/>
              <a:t>Link established only if processes share a common mailbox</a:t>
            </a:r>
          </a:p>
          <a:p>
            <a:pPr lvl="1"/>
            <a:r>
              <a:rPr lang="en-US" altLang="en-US" sz="2000" dirty="0"/>
              <a:t>A link may be associated with many processes</a:t>
            </a:r>
          </a:p>
          <a:p>
            <a:pPr lvl="1"/>
            <a:r>
              <a:rPr lang="en-US" altLang="en-US" sz="2000" dirty="0"/>
              <a:t>Each pair of processes may share several communication links</a:t>
            </a:r>
          </a:p>
          <a:p>
            <a:pPr lvl="1"/>
            <a:r>
              <a:rPr lang="en-US" altLang="en-US" sz="2000" dirty="0"/>
              <a:t>Link may be unidirectional or bi-directional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3">
            <a:extLst>
              <a:ext uri="{FF2B5EF4-FFF2-40B4-BE49-F238E27FC236}">
                <a16:creationId xmlns:a16="http://schemas.microsoft.com/office/drawing/2014/main" id="{34E55BDD-A170-4015-BADB-B0ED48E46A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2651" y="1135063"/>
            <a:ext cx="7358380" cy="3821112"/>
          </a:xfrm>
        </p:spPr>
        <p:txBody>
          <a:bodyPr/>
          <a:lstStyle/>
          <a:p>
            <a:r>
              <a:rPr lang="en-US" altLang="en-US" sz="2000" dirty="0"/>
              <a:t>Operations</a:t>
            </a:r>
          </a:p>
          <a:p>
            <a:pPr lvl="1"/>
            <a:r>
              <a:rPr lang="en-US" altLang="en-US" sz="2000" dirty="0"/>
              <a:t>Create a new mailbox (port)</a:t>
            </a:r>
          </a:p>
          <a:p>
            <a:pPr lvl="1"/>
            <a:r>
              <a:rPr lang="en-US" altLang="en-US" sz="2000" dirty="0"/>
              <a:t>Send and receive messages through mailbox</a:t>
            </a:r>
          </a:p>
          <a:p>
            <a:pPr lvl="1"/>
            <a:r>
              <a:rPr lang="en-US" altLang="en-US" sz="2000" dirty="0"/>
              <a:t>Delete a mailbox</a:t>
            </a:r>
          </a:p>
          <a:p>
            <a:r>
              <a:rPr lang="en-US" altLang="en-US" sz="2000" dirty="0"/>
              <a:t>Primitives are defined as:</a:t>
            </a:r>
          </a:p>
          <a:p>
            <a:pPr lvl="1"/>
            <a:r>
              <a:rPr lang="en-US" altLang="en-US" sz="2000" b="1" dirty="0">
                <a:latin typeface="Courier New" panose="02070309020205020404" pitchFamily="49" charset="0"/>
              </a:rPr>
              <a:t>send</a:t>
            </a:r>
            <a:r>
              <a:rPr lang="en-US" altLang="en-US" sz="2000" dirty="0"/>
              <a:t>(</a:t>
            </a:r>
            <a:r>
              <a:rPr lang="en-US" altLang="en-US" sz="2000" i="1" dirty="0"/>
              <a:t>A, message</a:t>
            </a:r>
            <a:r>
              <a:rPr lang="en-US" altLang="en-US" sz="2000" dirty="0"/>
              <a:t>) – send a message to mailbox A</a:t>
            </a:r>
          </a:p>
          <a:p>
            <a:pPr lvl="1"/>
            <a:r>
              <a:rPr lang="en-US" altLang="en-US" sz="2000" b="1" dirty="0">
                <a:latin typeface="Courier New" panose="02070309020205020404" pitchFamily="49" charset="0"/>
              </a:rPr>
              <a:t>receive</a:t>
            </a:r>
            <a:r>
              <a:rPr lang="en-US" altLang="en-US" sz="2000" dirty="0"/>
              <a:t>(</a:t>
            </a:r>
            <a:r>
              <a:rPr lang="en-US" altLang="en-US" sz="2000" i="1" dirty="0"/>
              <a:t>A, message</a:t>
            </a:r>
            <a:r>
              <a:rPr lang="en-US" altLang="en-US" sz="2000" dirty="0"/>
              <a:t>) – receive a message from mailbox A</a:t>
            </a: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5F04958A-396F-4A7F-8CBA-0260CD1966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34572" y="141201"/>
            <a:ext cx="79470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Indirect Communication (Cont.)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>
            <a:extLst>
              <a:ext uri="{FF2B5EF4-FFF2-40B4-BE49-F238E27FC236}">
                <a16:creationId xmlns:a16="http://schemas.microsoft.com/office/drawing/2014/main" id="{97701EB2-5660-4646-90DB-5F302502B1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2650" y="1127125"/>
            <a:ext cx="7346950" cy="4530725"/>
          </a:xfrm>
        </p:spPr>
        <p:txBody>
          <a:bodyPr/>
          <a:lstStyle/>
          <a:p>
            <a:r>
              <a:rPr lang="en-US" altLang="en-US" sz="2000" dirty="0"/>
              <a:t>Mailbox sharing</a:t>
            </a:r>
          </a:p>
          <a:p>
            <a:pPr lvl="1"/>
            <a:r>
              <a:rPr lang="en-US" altLang="en-US" sz="2000" i="1" dirty="0"/>
              <a:t>P</a:t>
            </a:r>
            <a:r>
              <a:rPr lang="en-US" altLang="en-US" sz="2000" i="1" baseline="-25000" dirty="0"/>
              <a:t>1</a:t>
            </a:r>
            <a:r>
              <a:rPr lang="en-US" altLang="en-US" sz="2000" i="1" dirty="0"/>
              <a:t>, P</a:t>
            </a:r>
            <a:r>
              <a:rPr lang="en-US" altLang="en-US" sz="2000" i="1" baseline="-25000" dirty="0"/>
              <a:t>2</a:t>
            </a:r>
            <a:r>
              <a:rPr lang="en-US" altLang="en-US" sz="2000" i="1" dirty="0"/>
              <a:t>,</a:t>
            </a:r>
            <a:r>
              <a:rPr lang="en-US" altLang="en-US" sz="2000" dirty="0"/>
              <a:t> and</a:t>
            </a:r>
            <a:r>
              <a:rPr lang="en-US" altLang="en-US" sz="2000" i="1" dirty="0"/>
              <a:t> P</a:t>
            </a:r>
            <a:r>
              <a:rPr lang="en-US" altLang="en-US" sz="2000" i="1" baseline="-25000" dirty="0"/>
              <a:t>3</a:t>
            </a:r>
            <a:r>
              <a:rPr lang="en-US" altLang="en-US" sz="2000" dirty="0"/>
              <a:t> share mailbox A</a:t>
            </a:r>
          </a:p>
          <a:p>
            <a:pPr lvl="1"/>
            <a:r>
              <a:rPr lang="en-US" altLang="en-US" sz="2000" i="1" dirty="0"/>
              <a:t>P</a:t>
            </a:r>
            <a:r>
              <a:rPr lang="en-US" altLang="en-US" sz="2000" i="1" baseline="-25000" dirty="0"/>
              <a:t>1</a:t>
            </a:r>
            <a:r>
              <a:rPr lang="en-US" altLang="en-US" sz="2000" dirty="0"/>
              <a:t>, sends; </a:t>
            </a:r>
            <a:r>
              <a:rPr lang="en-US" altLang="en-US" sz="2000" i="1" dirty="0"/>
              <a:t>P</a:t>
            </a:r>
            <a:r>
              <a:rPr lang="en-US" altLang="en-US" sz="2000" i="1" baseline="-25000" dirty="0"/>
              <a:t>2</a:t>
            </a:r>
            <a:r>
              <a:rPr lang="en-US" altLang="en-US" sz="2000" i="1" dirty="0"/>
              <a:t> </a:t>
            </a:r>
            <a:r>
              <a:rPr lang="en-US" altLang="en-US" sz="2000" dirty="0"/>
              <a:t>and</a:t>
            </a:r>
            <a:r>
              <a:rPr lang="en-US" altLang="en-US" sz="2000" i="1" dirty="0"/>
              <a:t> P</a:t>
            </a:r>
            <a:r>
              <a:rPr lang="en-US" altLang="en-US" sz="2000" i="1" baseline="-25000" dirty="0"/>
              <a:t>3</a:t>
            </a:r>
            <a:r>
              <a:rPr lang="en-US" altLang="en-US" sz="2000" dirty="0"/>
              <a:t> receive</a:t>
            </a:r>
          </a:p>
          <a:p>
            <a:pPr lvl="1"/>
            <a:r>
              <a:rPr lang="en-US" altLang="en-US" sz="2000" dirty="0"/>
              <a:t>Who gets the message?</a:t>
            </a:r>
          </a:p>
          <a:p>
            <a:r>
              <a:rPr lang="en-US" altLang="en-US" sz="2000" dirty="0"/>
              <a:t>Solutions</a:t>
            </a:r>
          </a:p>
          <a:p>
            <a:pPr lvl="1"/>
            <a:r>
              <a:rPr lang="en-US" altLang="en-US" sz="2000" dirty="0"/>
              <a:t>Allow a link to be associated with at most two processes</a:t>
            </a:r>
          </a:p>
          <a:p>
            <a:pPr lvl="1"/>
            <a:r>
              <a:rPr lang="en-US" altLang="en-US" sz="2000" dirty="0"/>
              <a:t>Allow only one process at a time to execute a receive operation</a:t>
            </a:r>
          </a:p>
          <a:p>
            <a:pPr lvl="1"/>
            <a:r>
              <a:rPr lang="en-US" altLang="en-US" sz="2000" dirty="0"/>
              <a:t>Allow the system to select arbitrarily the receiver.  Sender is notified who the receiver was.</a:t>
            </a: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24243AD7-0317-465B-AB50-5EC00B8ABF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6985" y="129169"/>
            <a:ext cx="8058734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Indirect Communication (Cont.)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066DE404-CE0D-4099-B2D8-AC37843571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55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Synchronization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67B9D991-600B-415B-8F62-A95ED2FAF9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0225" y="1588165"/>
            <a:ext cx="7716838" cy="4561175"/>
          </a:xfrm>
        </p:spPr>
        <p:txBody>
          <a:bodyPr/>
          <a:lstStyle/>
          <a:p>
            <a:pPr marL="379413" indent="-379413">
              <a:defRPr/>
            </a:pPr>
            <a:r>
              <a:rPr lang="en-US" b="1" dirty="0">
                <a:solidFill>
                  <a:srgbClr val="006699"/>
                </a:solidFill>
                <a:latin typeface="+mj-lt"/>
              </a:rPr>
              <a:t>Blocking</a:t>
            </a:r>
            <a:r>
              <a:rPr lang="en-US" dirty="0">
                <a:cs typeface="ＭＳ Ｐゴシック" charset="-128"/>
              </a:rPr>
              <a:t> is considered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synchronous</a:t>
            </a:r>
          </a:p>
          <a:p>
            <a:pPr marL="798513" lvl="1" indent="-341313">
              <a:defRPr/>
            </a:pPr>
            <a:r>
              <a:rPr lang="en-US" b="1" dirty="0"/>
              <a:t>Blocking send </a:t>
            </a:r>
            <a:r>
              <a:rPr lang="en-US" dirty="0"/>
              <a:t>--</a:t>
            </a:r>
            <a:r>
              <a:rPr lang="en-US" b="1" dirty="0"/>
              <a:t> </a:t>
            </a:r>
            <a:r>
              <a:rPr lang="en-US" dirty="0"/>
              <a:t>the sender is blocked until the message is received</a:t>
            </a:r>
          </a:p>
          <a:p>
            <a:pPr marL="798513" lvl="1" indent="-341313">
              <a:defRPr/>
            </a:pPr>
            <a:r>
              <a:rPr lang="en-US" b="1" dirty="0"/>
              <a:t>Blocking receive </a:t>
            </a:r>
            <a:r>
              <a:rPr lang="en-US" dirty="0"/>
              <a:t>--</a:t>
            </a:r>
            <a:r>
              <a:rPr lang="en-US" b="1" dirty="0"/>
              <a:t> </a:t>
            </a:r>
            <a:r>
              <a:rPr lang="en-US" dirty="0"/>
              <a:t>the receiver is  blocked until a message is available</a:t>
            </a:r>
          </a:p>
          <a:p>
            <a:pPr marL="379413" indent="-379413">
              <a:defRPr/>
            </a:pPr>
            <a:r>
              <a:rPr lang="en-US" b="1" dirty="0">
                <a:solidFill>
                  <a:srgbClr val="006699"/>
                </a:solidFill>
                <a:latin typeface="+mj-lt"/>
              </a:rPr>
              <a:t>Non-blocking</a:t>
            </a:r>
            <a:r>
              <a:rPr lang="en-US" dirty="0">
                <a:cs typeface="ＭＳ Ｐゴシック" charset="-128"/>
              </a:rPr>
              <a:t> is considered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asynchronous</a:t>
            </a:r>
          </a:p>
          <a:p>
            <a:pPr marL="798513" lvl="1" indent="-341313">
              <a:defRPr/>
            </a:pPr>
            <a:r>
              <a:rPr lang="en-US" b="1" dirty="0"/>
              <a:t>Non-blocking send</a:t>
            </a:r>
            <a:r>
              <a:rPr lang="en-US" dirty="0"/>
              <a:t> -- the sender sends the message and continue</a:t>
            </a:r>
          </a:p>
          <a:p>
            <a:pPr marL="798513" lvl="1" indent="-341313">
              <a:defRPr/>
            </a:pPr>
            <a:r>
              <a:rPr lang="en-US" b="1" dirty="0"/>
              <a:t>Non-blocking receive</a:t>
            </a:r>
            <a:r>
              <a:rPr lang="en-US" dirty="0"/>
              <a:t> -- the receiver receives:</a:t>
            </a:r>
          </a:p>
          <a:p>
            <a:pPr marL="1141413" lvl="2" indent="-341313">
              <a:defRPr/>
            </a:pPr>
            <a:r>
              <a:rPr lang="en-US" dirty="0"/>
              <a:t>A valid message,  or </a:t>
            </a:r>
          </a:p>
          <a:p>
            <a:pPr marL="1141413" lvl="2" indent="-341313">
              <a:defRPr/>
            </a:pPr>
            <a:r>
              <a:rPr lang="en-US" dirty="0"/>
              <a:t>Null message</a:t>
            </a:r>
          </a:p>
          <a:p>
            <a:pPr marL="398463" indent="-341313">
              <a:defRPr/>
            </a:pPr>
            <a:r>
              <a:rPr lang="en-US" dirty="0">
                <a:ea typeface="ＭＳ Ｐゴシック" charset="0"/>
                <a:cs typeface="ＭＳ Ｐゴシック" charset="-128"/>
              </a:rPr>
              <a:t>Different combinations possible</a:t>
            </a:r>
          </a:p>
          <a:p>
            <a:pPr marL="798513" lvl="1" indent="-341313">
              <a:defRPr/>
            </a:pPr>
            <a:r>
              <a:rPr lang="en-US" dirty="0">
                <a:ea typeface="ＭＳ Ｐゴシック" charset="0"/>
              </a:rPr>
              <a:t>If both send and receive are blocking, we have a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rendezvous</a:t>
            </a:r>
          </a:p>
          <a:p>
            <a:pPr marL="398463" indent="-341313">
              <a:defRPr/>
            </a:pPr>
            <a:endParaRPr lang="en-US" dirty="0">
              <a:cs typeface="ＭＳ Ｐゴシック" charset="-128"/>
            </a:endParaRPr>
          </a:p>
          <a:p>
            <a:pPr marL="1141413" lvl="2" indent="-341313">
              <a:buFont typeface="Monotype Sorts" pitchFamily="-84" charset="2"/>
              <a:buChar char="l"/>
              <a:defRPr/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B062E3-7EE3-4CB3-A7FD-45050A40F8C4}"/>
              </a:ext>
            </a:extLst>
          </p:cNvPr>
          <p:cNvSpPr txBox="1"/>
          <p:nvPr/>
        </p:nvSpPr>
        <p:spPr>
          <a:xfrm>
            <a:off x="866272" y="1091585"/>
            <a:ext cx="74716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79413" indent="-379413">
              <a:defRPr/>
            </a:pPr>
            <a:r>
              <a:rPr lang="en-US" sz="2000" dirty="0">
                <a:cs typeface="ＭＳ Ｐゴシック" charset="-128"/>
              </a:rPr>
              <a:t>Message passing may be either blocking or non-blocking</a:t>
            </a:r>
          </a:p>
        </p:txBody>
      </p:sp>
    </p:spTree>
    <p:extLst>
      <p:ext uri="{BB962C8B-B14F-4D97-AF65-F5344CB8AC3E}">
        <p14:creationId xmlns:p14="http://schemas.microsoft.com/office/powerpoint/2010/main" val="1615924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>
            <a:extLst>
              <a:ext uri="{FF2B5EF4-FFF2-40B4-BE49-F238E27FC236}">
                <a16:creationId xmlns:a16="http://schemas.microsoft.com/office/drawing/2014/main" id="{97701EB2-5660-4646-90DB-5F302502B1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13081" y="1092835"/>
            <a:ext cx="7312660" cy="4885055"/>
          </a:xfrm>
        </p:spPr>
        <p:txBody>
          <a:bodyPr/>
          <a:lstStyle/>
          <a:p>
            <a:r>
              <a:rPr lang="en-US" altLang="en-US" sz="2000" dirty="0"/>
              <a:t>Producer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r>
              <a:rPr lang="en-US" altLang="en-US" sz="2000" dirty="0">
                <a:cs typeface="Courier New" panose="02070309020205020404" pitchFamily="49" charset="0"/>
              </a:rPr>
              <a:t>           </a:t>
            </a:r>
            <a: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message </a:t>
            </a:r>
            <a:r>
              <a:rPr kumimoji="0"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next_produced</a:t>
            </a:r>
            <a: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while (true) {</a:t>
            </a:r>
            <a:b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/* produce an item in </a:t>
            </a:r>
            <a:r>
              <a:rPr kumimoji="0"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next_produced</a:t>
            </a:r>
            <a: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  <a:b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send(</a:t>
            </a:r>
            <a:r>
              <a:rPr kumimoji="0"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next_produced</a:t>
            </a:r>
            <a: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  <a:r>
              <a:rPr kumimoji="0"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endParaRPr lang="en-US" altLang="en-US" sz="2000" dirty="0"/>
          </a:p>
          <a:p>
            <a:r>
              <a:rPr lang="en-US" altLang="en-US" sz="2000" dirty="0"/>
              <a:t>Consumer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r>
              <a:rPr lang="en-US" altLang="en-US" sz="2000" dirty="0"/>
              <a:t>            </a:t>
            </a:r>
            <a: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message </a:t>
            </a:r>
            <a:r>
              <a:rPr kumimoji="0"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while (true) {</a:t>
            </a:r>
            <a:b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receive(</a:t>
            </a:r>
            <a:r>
              <a:rPr kumimoji="0"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/* consume the item in </a:t>
            </a:r>
            <a:r>
              <a:rPr kumimoji="0"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  <a:b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altLang="en-US" sz="2000" dirty="0"/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24243AD7-0317-465B-AB50-5EC00B8ABF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04521" y="163459"/>
            <a:ext cx="7810879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Producer-Consumer: Message Passing</a:t>
            </a:r>
          </a:p>
        </p:txBody>
      </p:sp>
    </p:spTree>
    <p:extLst>
      <p:ext uri="{BB962C8B-B14F-4D97-AF65-F5344CB8AC3E}">
        <p14:creationId xmlns:p14="http://schemas.microsoft.com/office/powerpoint/2010/main" val="992440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EFCCDAF0-ADCB-498D-ABA7-61D9ACD7A1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01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Buffering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9F3FAE0B-E324-4D81-9059-93D9D79F30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08710" y="1233488"/>
            <a:ext cx="7280910" cy="4530725"/>
          </a:xfrm>
        </p:spPr>
        <p:txBody>
          <a:bodyPr/>
          <a:lstStyle/>
          <a:p>
            <a:r>
              <a:rPr lang="en-US" altLang="en-US" sz="2000" dirty="0"/>
              <a:t>Queue of messages attached to the link.</a:t>
            </a:r>
          </a:p>
          <a:p>
            <a:r>
              <a:rPr lang="en-US" altLang="en-US" sz="2000" dirty="0"/>
              <a:t>Implemented in one of three ways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 sz="2000" dirty="0">
                <a:solidFill>
                  <a:srgbClr val="CC6600"/>
                </a:solidFill>
              </a:rPr>
              <a:t>1.</a:t>
            </a:r>
            <a:r>
              <a:rPr lang="en-US" altLang="en-US" sz="2000" dirty="0"/>
              <a:t>	Zero capacity – no messages are queued on a link.</a:t>
            </a:r>
            <a:br>
              <a:rPr lang="en-US" altLang="en-US" sz="2000" dirty="0"/>
            </a:br>
            <a:r>
              <a:rPr lang="en-US" altLang="en-US" sz="2000" dirty="0"/>
              <a:t>Sender must wait for receiver (rendezvous)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 sz="2000" dirty="0">
                <a:solidFill>
                  <a:srgbClr val="CC6600"/>
                </a:solidFill>
              </a:rPr>
              <a:t>2.</a:t>
            </a:r>
            <a:r>
              <a:rPr lang="en-US" altLang="en-US" sz="2000" dirty="0"/>
              <a:t>	Bounded capacity – finite length of </a:t>
            </a:r>
            <a:r>
              <a:rPr lang="en-US" altLang="en-US" sz="2000" i="1" dirty="0"/>
              <a:t>n</a:t>
            </a:r>
            <a:r>
              <a:rPr lang="en-US" altLang="en-US" sz="2000" dirty="0"/>
              <a:t> messages</a:t>
            </a:r>
            <a:br>
              <a:rPr lang="en-US" altLang="en-US" sz="2000" dirty="0"/>
            </a:br>
            <a:r>
              <a:rPr lang="en-US" altLang="en-US" sz="2000" dirty="0"/>
              <a:t>Sender must wait if link full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 sz="2000" dirty="0">
                <a:solidFill>
                  <a:srgbClr val="CC6600"/>
                </a:solidFill>
              </a:rPr>
              <a:t>3.</a:t>
            </a:r>
            <a:r>
              <a:rPr lang="en-US" altLang="en-US" sz="2000" dirty="0"/>
              <a:t>	Unbounded capacity – infinite length </a:t>
            </a:r>
            <a:br>
              <a:rPr lang="en-US" altLang="en-US" sz="2000" dirty="0"/>
            </a:br>
            <a:r>
              <a:rPr lang="en-US" altLang="en-US" sz="2000" dirty="0"/>
              <a:t>Sender never waits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>
            <a:extLst>
              <a:ext uri="{FF2B5EF4-FFF2-40B4-BE49-F238E27FC236}">
                <a16:creationId xmlns:a16="http://schemas.microsoft.com/office/drawing/2014/main" id="{177B0164-79AB-466A-AEF8-910811B2B4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6788" y="225425"/>
            <a:ext cx="7850187" cy="576263"/>
          </a:xfrm>
        </p:spPr>
        <p:txBody>
          <a:bodyPr/>
          <a:lstStyle/>
          <a:p>
            <a:r>
              <a:rPr lang="en-US" altLang="en-US" dirty="0"/>
              <a:t>Examples of IPC Systems - POSIX</a:t>
            </a:r>
          </a:p>
        </p:txBody>
      </p:sp>
      <p:sp>
        <p:nvSpPr>
          <p:cNvPr id="96259" name="Content Placeholder 2">
            <a:extLst>
              <a:ext uri="{FF2B5EF4-FFF2-40B4-BE49-F238E27FC236}">
                <a16:creationId xmlns:a16="http://schemas.microsoft.com/office/drawing/2014/main" id="{97B56D75-D444-495A-8F21-29317312A8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66787" y="1233488"/>
            <a:ext cx="7521575" cy="4530725"/>
          </a:xfrm>
        </p:spPr>
        <p:txBody>
          <a:bodyPr/>
          <a:lstStyle/>
          <a:p>
            <a:r>
              <a:rPr lang="en-US" altLang="en-US" sz="2000" dirty="0">
                <a:latin typeface="+mn-ea"/>
                <a:ea typeface="+mn-ea"/>
              </a:rPr>
              <a:t>POSIX Shared Memory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Process first creates shared memory segment</a:t>
            </a:r>
            <a:br>
              <a:rPr lang="en-US" altLang="en-US" sz="2000" dirty="0">
                <a:latin typeface="+mn-ea"/>
                <a:ea typeface="+mn-ea"/>
              </a:rPr>
            </a:br>
            <a:r>
              <a:rPr lang="en-US" altLang="en-US" sz="2000" b="1" dirty="0" err="1">
                <a:latin typeface="+mn-ea"/>
                <a:ea typeface="+mn-ea"/>
                <a:cs typeface="Courier New" panose="02070309020205020404" pitchFamily="49" charset="0"/>
              </a:rPr>
              <a:t>shm_fd</a:t>
            </a:r>
            <a:r>
              <a:rPr lang="en-US" altLang="en-US" sz="2000" b="1" dirty="0">
                <a:latin typeface="+mn-ea"/>
                <a:ea typeface="+mn-ea"/>
                <a:cs typeface="Courier New" panose="02070309020205020404" pitchFamily="49" charset="0"/>
              </a:rPr>
              <a:t> = </a:t>
            </a:r>
            <a:r>
              <a:rPr lang="en-US" altLang="en-US" sz="2000" b="1" dirty="0" err="1">
                <a:latin typeface="+mn-ea"/>
                <a:ea typeface="+mn-ea"/>
                <a:cs typeface="Courier New" panose="02070309020205020404" pitchFamily="49" charset="0"/>
              </a:rPr>
              <a:t>shm_open</a:t>
            </a:r>
            <a:r>
              <a:rPr lang="en-US" altLang="en-US" sz="2000" b="1" dirty="0">
                <a:latin typeface="+mn-ea"/>
                <a:ea typeface="+mn-ea"/>
                <a:cs typeface="Courier New" panose="02070309020205020404" pitchFamily="49" charset="0"/>
              </a:rPr>
              <a:t>(name, O CREAT | O RDWR, 0666);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Also used to open an existing segment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Set the size of the object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dirty="0">
                <a:latin typeface="+mn-ea"/>
                <a:ea typeface="+mn-ea"/>
              </a:rPr>
              <a:t>	            </a:t>
            </a:r>
            <a:r>
              <a:rPr lang="en-US" altLang="en-US" sz="2000" b="1" dirty="0" err="1">
                <a:latin typeface="+mn-ea"/>
                <a:ea typeface="+mn-ea"/>
              </a:rPr>
              <a:t>ftruncate</a:t>
            </a:r>
            <a:r>
              <a:rPr lang="en-US" altLang="en-US" sz="2000" b="1" dirty="0">
                <a:latin typeface="+mn-ea"/>
                <a:ea typeface="+mn-ea"/>
              </a:rPr>
              <a:t>(</a:t>
            </a:r>
            <a:r>
              <a:rPr lang="en-US" altLang="en-US" sz="2000" b="1" dirty="0" err="1">
                <a:latin typeface="+mn-ea"/>
                <a:ea typeface="+mn-ea"/>
              </a:rPr>
              <a:t>shm_fd</a:t>
            </a:r>
            <a:r>
              <a:rPr lang="en-US" altLang="en-US" sz="2000" b="1" dirty="0">
                <a:latin typeface="+mn-ea"/>
                <a:ea typeface="+mn-ea"/>
              </a:rPr>
              <a:t>, 4096); 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Use </a:t>
            </a:r>
            <a:r>
              <a:rPr lang="en-US" altLang="en-US" sz="2000" b="1" dirty="0" err="1">
                <a:latin typeface="+mn-ea"/>
                <a:ea typeface="+mn-ea"/>
                <a:cs typeface="Courier New" panose="02070309020205020404" pitchFamily="49" charset="0"/>
              </a:rPr>
              <a:t>mmap</a:t>
            </a:r>
            <a:r>
              <a:rPr lang="en-US" altLang="en-US" sz="2000" b="1" dirty="0">
                <a:latin typeface="+mn-ea"/>
                <a:ea typeface="+mn-ea"/>
                <a:cs typeface="Courier New" panose="02070309020205020404" pitchFamily="49" charset="0"/>
              </a:rPr>
              <a:t>() </a:t>
            </a:r>
            <a:r>
              <a:rPr lang="en-US" altLang="en-US" sz="2000" dirty="0">
                <a:latin typeface="+mn-ea"/>
                <a:ea typeface="+mn-ea"/>
              </a:rPr>
              <a:t>to memory-map a file pointer to the shared memory object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Reading and writing to shared memory is done by using the pointer returned by </a:t>
            </a:r>
            <a:r>
              <a:rPr lang="en-US" altLang="en-US" sz="2000" b="1" dirty="0" err="1">
                <a:latin typeface="+mn-ea"/>
                <a:ea typeface="+mn-ea"/>
                <a:cs typeface="Courier New" panose="02070309020205020404" pitchFamily="49" charset="0"/>
              </a:rPr>
              <a:t>mmap</a:t>
            </a:r>
            <a:r>
              <a:rPr lang="en-US" altLang="en-US" sz="2000" b="1" dirty="0">
                <a:latin typeface="+mn-ea"/>
                <a:ea typeface="+mn-ea"/>
                <a:cs typeface="Courier New" panose="02070309020205020404" pitchFamily="49" charset="0"/>
              </a:rPr>
              <a:t>()</a:t>
            </a:r>
            <a:r>
              <a:rPr lang="en-US" altLang="en-US" sz="2000" dirty="0">
                <a:latin typeface="+mn-ea"/>
                <a:ea typeface="+mn-ea"/>
              </a:rPr>
              <a:t>.</a:t>
            </a:r>
            <a:br>
              <a:rPr lang="en-US" altLang="en-US" sz="2000" dirty="0">
                <a:latin typeface="+mn-ea"/>
                <a:ea typeface="+mn-ea"/>
              </a:rPr>
            </a:br>
            <a:br>
              <a:rPr lang="en-US" altLang="en-US" sz="2000" dirty="0">
                <a:latin typeface="+mn-ea"/>
                <a:ea typeface="+mn-ea"/>
              </a:rPr>
            </a:br>
            <a:endParaRPr lang="en-US" altLang="en-US" sz="2000" b="1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le 1">
            <a:extLst>
              <a:ext uri="{FF2B5EF4-FFF2-40B4-BE49-F238E27FC236}">
                <a16:creationId xmlns:a16="http://schemas.microsoft.com/office/drawing/2014/main" id="{1C323C46-CF44-41D6-BAB1-2E6334C380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625" y="219075"/>
            <a:ext cx="7850188" cy="576263"/>
          </a:xfrm>
        </p:spPr>
        <p:txBody>
          <a:bodyPr/>
          <a:lstStyle/>
          <a:p>
            <a:r>
              <a:rPr lang="en-US" altLang="en-US" dirty="0"/>
              <a:t>IPC POSIX Producer</a:t>
            </a:r>
          </a:p>
        </p:txBody>
      </p:sp>
      <p:pic>
        <p:nvPicPr>
          <p:cNvPr id="98307" name="Picture 1" descr="Screen Shot 2013-03-14 at 6.46.57 PM.png">
            <a:extLst>
              <a:ext uri="{FF2B5EF4-FFF2-40B4-BE49-F238E27FC236}">
                <a16:creationId xmlns:a16="http://schemas.microsoft.com/office/drawing/2014/main" id="{61A9851A-030D-4A31-97DA-D34C1F0D85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0291" y="880428"/>
            <a:ext cx="5029200" cy="575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>
            <a:extLst>
              <a:ext uri="{FF2B5EF4-FFF2-40B4-BE49-F238E27FC236}">
                <a16:creationId xmlns:a16="http://schemas.microsoft.com/office/drawing/2014/main" id="{72CAE47D-3817-440B-8694-F512695F8D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625" y="233363"/>
            <a:ext cx="7850188" cy="576262"/>
          </a:xfrm>
        </p:spPr>
        <p:txBody>
          <a:bodyPr/>
          <a:lstStyle/>
          <a:p>
            <a:r>
              <a:rPr lang="en-US" altLang="en-US" dirty="0"/>
              <a:t>IPC POSIX Consumer</a:t>
            </a:r>
          </a:p>
        </p:txBody>
      </p:sp>
      <p:pic>
        <p:nvPicPr>
          <p:cNvPr id="100355" name="Picture 1" descr="Screen Shot 2013-03-12 at 1.38.41 PM.png">
            <a:extLst>
              <a:ext uri="{FF2B5EF4-FFF2-40B4-BE49-F238E27FC236}">
                <a16:creationId xmlns:a16="http://schemas.microsoft.com/office/drawing/2014/main" id="{0B653FB0-9968-4B72-95FF-0DAED2D585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624" y="892175"/>
            <a:ext cx="5131435" cy="566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itle 1">
            <a:extLst>
              <a:ext uri="{FF2B5EF4-FFF2-40B4-BE49-F238E27FC236}">
                <a16:creationId xmlns:a16="http://schemas.microsoft.com/office/drawing/2014/main" id="{35415C98-6AA0-438D-B9AC-E2E8638637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38238" y="170228"/>
            <a:ext cx="7548562" cy="576262"/>
          </a:xfrm>
        </p:spPr>
        <p:txBody>
          <a:bodyPr/>
          <a:lstStyle/>
          <a:p>
            <a:r>
              <a:rPr lang="en-US" altLang="en-US" dirty="0"/>
              <a:t>Examples of IPC Systems - Mach</a:t>
            </a:r>
          </a:p>
        </p:txBody>
      </p:sp>
      <p:sp>
        <p:nvSpPr>
          <p:cNvPr id="102403" name="Content Placeholder 2">
            <a:extLst>
              <a:ext uri="{FF2B5EF4-FFF2-40B4-BE49-F238E27FC236}">
                <a16:creationId xmlns:a16="http://schemas.microsoft.com/office/drawing/2014/main" id="{F7B5A04B-9E69-4538-9F47-9CD69C217C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54075" y="950595"/>
            <a:ext cx="7645400" cy="5221605"/>
          </a:xfrm>
        </p:spPr>
        <p:txBody>
          <a:bodyPr/>
          <a:lstStyle/>
          <a:p>
            <a:r>
              <a:rPr lang="en-US" altLang="en-US" sz="2000" dirty="0"/>
              <a:t>Mach communication is message based</a:t>
            </a:r>
          </a:p>
          <a:p>
            <a:pPr lvl="1"/>
            <a:r>
              <a:rPr lang="en-US" altLang="en-US" sz="2000" dirty="0"/>
              <a:t>Even system calls are messages</a:t>
            </a:r>
          </a:p>
          <a:p>
            <a:pPr lvl="1"/>
            <a:r>
              <a:rPr lang="en-US" altLang="en-US" sz="2000" dirty="0"/>
              <a:t>Each task gets two ports at creation  - Kernel and Notify</a:t>
            </a:r>
          </a:p>
          <a:p>
            <a:pPr lvl="1"/>
            <a:r>
              <a:rPr lang="en-US" altLang="en-US" sz="2000" dirty="0"/>
              <a:t>Messages are sent and received using the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mach_msg</a:t>
            </a:r>
            <a:r>
              <a:rPr lang="en-US" altLang="en-US" sz="2000" b="1" dirty="0">
                <a:latin typeface="Courier New" panose="02070309020205020404" pitchFamily="49" charset="0"/>
              </a:rPr>
              <a:t>() </a:t>
            </a:r>
            <a:r>
              <a:rPr lang="en-US" altLang="en-US" sz="2000" dirty="0"/>
              <a:t>function</a:t>
            </a:r>
          </a:p>
          <a:p>
            <a:pPr lvl="1"/>
            <a:r>
              <a:rPr lang="en-US" altLang="en-US" sz="2000" dirty="0"/>
              <a:t>Ports needed for communication, created via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     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mach_port_allocate</a:t>
            </a:r>
            <a:r>
              <a:rPr lang="en-US" altLang="en-US" sz="2000" b="1" dirty="0">
                <a:latin typeface="Courier New" panose="02070309020205020404" pitchFamily="49" charset="0"/>
              </a:rPr>
              <a:t>()</a:t>
            </a:r>
          </a:p>
          <a:p>
            <a:pPr lvl="1"/>
            <a:r>
              <a:rPr lang="en-US" altLang="en-US" sz="2000" dirty="0"/>
              <a:t>Send and receive are flexible; for example four options if mailbox full:</a:t>
            </a:r>
          </a:p>
          <a:p>
            <a:pPr lvl="2"/>
            <a:r>
              <a:rPr lang="en-US" altLang="en-US" sz="2000" dirty="0"/>
              <a:t>Wait indefinitely</a:t>
            </a:r>
          </a:p>
          <a:p>
            <a:pPr lvl="2"/>
            <a:r>
              <a:rPr lang="en-US" altLang="en-US" sz="2000" dirty="0"/>
              <a:t>Wait at most n milliseconds</a:t>
            </a:r>
          </a:p>
          <a:p>
            <a:pPr lvl="2"/>
            <a:r>
              <a:rPr lang="en-US" altLang="en-US" sz="2000" dirty="0"/>
              <a:t>Return immediately</a:t>
            </a:r>
          </a:p>
          <a:p>
            <a:pPr lvl="2"/>
            <a:r>
              <a:rPr lang="en-US" altLang="en-US" sz="2000" dirty="0"/>
              <a:t>Temporarily cache a message</a:t>
            </a:r>
          </a:p>
          <a:p>
            <a:pPr lvl="1"/>
            <a:endParaRPr lang="en-US" altLang="en-US" sz="2000" b="1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itle 1">
            <a:extLst>
              <a:ext uri="{FF2B5EF4-FFF2-40B4-BE49-F238E27FC236}">
                <a16:creationId xmlns:a16="http://schemas.microsoft.com/office/drawing/2014/main" id="{17415A41-B77C-44C2-A3A9-F61E201A8A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Mach Messages</a:t>
            </a: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1448A0B1-912B-4A5D-AA68-2FA59417A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1485900"/>
            <a:ext cx="5394960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dirty="0">
                <a:latin typeface="Courier New" panose="02070309020205020404" pitchFamily="49" charset="0"/>
              </a:rPr>
              <a:t>#include&lt;mach/mach.h&gt;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dirty="0">
                <a:latin typeface="Courier New" panose="02070309020205020404" pitchFamily="49" charset="0"/>
              </a:rPr>
              <a:t>struct message {</a:t>
            </a:r>
            <a:br>
              <a:rPr kumimoji="0" lang="en-US" altLang="en-US" sz="2000" b="1" dirty="0">
                <a:latin typeface="Courier New" panose="02070309020205020404" pitchFamily="49" charset="0"/>
              </a:rPr>
            </a:br>
            <a:r>
              <a:rPr kumimoji="0" lang="en-US" altLang="en-US" sz="2000" b="1" dirty="0">
                <a:latin typeface="Courier New" panose="02070309020205020404" pitchFamily="49" charset="0"/>
              </a:rPr>
              <a:t>	</a:t>
            </a:r>
            <a:r>
              <a:rPr kumimoji="0" lang="en-US" altLang="en-US" sz="2000" b="1" dirty="0" err="1">
                <a:latin typeface="Courier New" panose="02070309020205020404" pitchFamily="49" charset="0"/>
              </a:rPr>
              <a:t>mach_msg_header_t</a:t>
            </a:r>
            <a:r>
              <a:rPr kumimoji="0" lang="en-US" altLang="en-US" sz="2000" b="1" dirty="0">
                <a:latin typeface="Courier New" panose="02070309020205020404" pitchFamily="49" charset="0"/>
              </a:rPr>
              <a:t> header;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dirty="0">
                <a:latin typeface="Courier New" panose="02070309020205020404" pitchFamily="49" charset="0"/>
              </a:rPr>
              <a:t>	int data;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dirty="0">
                <a:latin typeface="Courier New" panose="02070309020205020404" pitchFamily="49" charset="0"/>
              </a:rPr>
              <a:t>};</a:t>
            </a:r>
            <a:br>
              <a:rPr kumimoji="0" lang="en-US" altLang="en-US" sz="2000" b="1" dirty="0">
                <a:latin typeface="Courier New" panose="02070309020205020404" pitchFamily="49" charset="0"/>
              </a:rPr>
            </a:br>
            <a:br>
              <a:rPr kumimoji="0" lang="en-US" altLang="en-US" sz="2000" b="1" dirty="0">
                <a:latin typeface="Courier New" panose="02070309020205020404" pitchFamily="49" charset="0"/>
              </a:rPr>
            </a:br>
            <a:r>
              <a:rPr kumimoji="0" lang="en-US" altLang="en-US" sz="2000" b="1" dirty="0" err="1">
                <a:latin typeface="Courier New" panose="02070309020205020404" pitchFamily="49" charset="0"/>
              </a:rPr>
              <a:t>mach</a:t>
            </a:r>
            <a:r>
              <a:rPr kumimoji="0" lang="en-US" altLang="en-US" sz="2000" b="1" dirty="0">
                <a:latin typeface="Courier New" panose="02070309020205020404" pitchFamily="49" charset="0"/>
              </a:rPr>
              <a:t> port t client;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dirty="0" err="1">
                <a:latin typeface="Courier New" panose="02070309020205020404" pitchFamily="49" charset="0"/>
              </a:rPr>
              <a:t>mach</a:t>
            </a:r>
            <a:r>
              <a:rPr kumimoji="0" lang="en-US" altLang="en-US" sz="2000" b="1" dirty="0">
                <a:latin typeface="Courier New" panose="02070309020205020404" pitchFamily="49" charset="0"/>
              </a:rPr>
              <a:t> port t server;</a:t>
            </a:r>
            <a:br>
              <a:rPr kumimoji="0" lang="en-US" altLang="en-US" sz="2000" b="1" dirty="0">
                <a:latin typeface="Courier New" panose="02070309020205020404" pitchFamily="49" charset="0"/>
              </a:rPr>
            </a:br>
            <a:endParaRPr kumimoji="0" lang="en-US" altLang="en-US" sz="2000" b="1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itle 1">
            <a:extLst>
              <a:ext uri="{FF2B5EF4-FFF2-40B4-BE49-F238E27FC236}">
                <a16:creationId xmlns:a16="http://schemas.microsoft.com/office/drawing/2014/main" id="{BAB29CD7-9B87-4A97-899F-BD574BE8EF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350" y="225425"/>
            <a:ext cx="7639050" cy="576263"/>
          </a:xfrm>
        </p:spPr>
        <p:txBody>
          <a:bodyPr/>
          <a:lstStyle/>
          <a:p>
            <a:r>
              <a:rPr lang="en-US" altLang="en-US"/>
              <a:t>Mach Message Passing - Client</a:t>
            </a:r>
          </a:p>
        </p:txBody>
      </p:sp>
      <p:pic>
        <p:nvPicPr>
          <p:cNvPr id="105475" name="Picture 2">
            <a:extLst>
              <a:ext uri="{FF2B5EF4-FFF2-40B4-BE49-F238E27FC236}">
                <a16:creationId xmlns:a16="http://schemas.microsoft.com/office/drawing/2014/main" id="{14AE9FBD-1D09-463A-8495-50DD2E8C51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510" y="1143000"/>
            <a:ext cx="6667500" cy="455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itle 1">
            <a:extLst>
              <a:ext uri="{FF2B5EF4-FFF2-40B4-BE49-F238E27FC236}">
                <a16:creationId xmlns:a16="http://schemas.microsoft.com/office/drawing/2014/main" id="{3CD3F126-E414-445F-91C4-4B40C1B151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8063" y="225425"/>
            <a:ext cx="7526337" cy="576263"/>
          </a:xfrm>
        </p:spPr>
        <p:txBody>
          <a:bodyPr/>
          <a:lstStyle/>
          <a:p>
            <a:r>
              <a:rPr lang="en-US" altLang="en-US" dirty="0"/>
              <a:t>Mach Message Passing - Server</a:t>
            </a:r>
          </a:p>
        </p:txBody>
      </p:sp>
      <p:pic>
        <p:nvPicPr>
          <p:cNvPr id="106499" name="Picture 2">
            <a:extLst>
              <a:ext uri="{FF2B5EF4-FFF2-40B4-BE49-F238E27FC236}">
                <a16:creationId xmlns:a16="http://schemas.microsoft.com/office/drawing/2014/main" id="{1E944D3E-85FF-4626-840A-0177C14FA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213" y="1633538"/>
            <a:ext cx="6997700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itle 1">
            <a:extLst>
              <a:ext uri="{FF2B5EF4-FFF2-40B4-BE49-F238E27FC236}">
                <a16:creationId xmlns:a16="http://schemas.microsoft.com/office/drawing/2014/main" id="{9AA84AD8-45BC-496F-93D4-85BB20F8DC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9603" y="170670"/>
            <a:ext cx="8229600" cy="576263"/>
          </a:xfrm>
        </p:spPr>
        <p:txBody>
          <a:bodyPr/>
          <a:lstStyle/>
          <a:p>
            <a:r>
              <a:rPr lang="en-US" altLang="en-US" dirty="0"/>
              <a:t>Examples of IPC Systems – Windows</a:t>
            </a:r>
          </a:p>
        </p:txBody>
      </p:sp>
      <p:sp>
        <p:nvSpPr>
          <p:cNvPr id="107523" name="Content Placeholder 2">
            <a:extLst>
              <a:ext uri="{FF2B5EF4-FFF2-40B4-BE49-F238E27FC236}">
                <a16:creationId xmlns:a16="http://schemas.microsoft.com/office/drawing/2014/main" id="{31766832-DFC8-4A86-A2CF-46CA4D6FAF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9950" y="1154113"/>
            <a:ext cx="7565390" cy="4869497"/>
          </a:xfrm>
        </p:spPr>
        <p:txBody>
          <a:bodyPr/>
          <a:lstStyle/>
          <a:p>
            <a:r>
              <a:rPr lang="en-US" altLang="en-US" sz="2000" dirty="0">
                <a:latin typeface="+mn-ea"/>
                <a:ea typeface="+mn-ea"/>
              </a:rPr>
              <a:t>Message-passing centric via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advanced</a:t>
            </a:r>
            <a:r>
              <a:rPr lang="en-US" altLang="en-US" sz="2000" b="1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local</a:t>
            </a:r>
            <a:r>
              <a:rPr lang="en-US" altLang="en-US" sz="2000" b="1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procedure</a:t>
            </a:r>
            <a:r>
              <a:rPr lang="en-US" altLang="en-US" sz="2000" b="1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call</a:t>
            </a:r>
            <a:r>
              <a:rPr lang="en-US" altLang="en-US" sz="2000" b="1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LPC</a:t>
            </a:r>
            <a:r>
              <a:rPr lang="en-US" altLang="en-US" sz="2000" b="1" dirty="0">
                <a:solidFill>
                  <a:srgbClr val="000000"/>
                </a:solidFill>
                <a:latin typeface="+mn-ea"/>
                <a:ea typeface="+mn-ea"/>
              </a:rPr>
              <a:t>)</a:t>
            </a:r>
            <a:r>
              <a:rPr lang="en-US" altLang="en-US" sz="2000" dirty="0">
                <a:latin typeface="+mn-ea"/>
                <a:ea typeface="+mn-ea"/>
              </a:rPr>
              <a:t> facility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Only works between processes on the same system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Uses ports (like mailboxes) to establish and maintain communication channels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Communication works as follows:</a:t>
            </a:r>
          </a:p>
          <a:p>
            <a:pPr lvl="2"/>
            <a:r>
              <a:rPr lang="en-US" altLang="en-US" sz="2000" dirty="0">
                <a:latin typeface="+mn-ea"/>
                <a:ea typeface="+mn-ea"/>
              </a:rPr>
              <a:t>The client opens a handle to the subsystem’</a:t>
            </a:r>
            <a:r>
              <a:rPr lang="en-US" altLang="ja-JP" sz="2000" dirty="0">
                <a:latin typeface="+mn-ea"/>
                <a:ea typeface="+mn-ea"/>
              </a:rPr>
              <a:t>s </a:t>
            </a:r>
            <a:r>
              <a:rPr lang="en-US" altLang="ja-JP" sz="2000" b="1" dirty="0">
                <a:solidFill>
                  <a:srgbClr val="006699"/>
                </a:solidFill>
                <a:latin typeface="+mn-ea"/>
                <a:ea typeface="+mn-ea"/>
              </a:rPr>
              <a:t>connection</a:t>
            </a:r>
            <a:r>
              <a:rPr lang="en-US" altLang="ja-JP" sz="2000" b="1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ja-JP" sz="2000" b="1" dirty="0">
                <a:solidFill>
                  <a:srgbClr val="006699"/>
                </a:solidFill>
                <a:latin typeface="+mn-ea"/>
                <a:ea typeface="+mn-ea"/>
              </a:rPr>
              <a:t>port</a:t>
            </a:r>
            <a:r>
              <a:rPr lang="en-US" altLang="ja-JP" sz="2000" dirty="0">
                <a:latin typeface="+mn-ea"/>
                <a:ea typeface="+mn-ea"/>
              </a:rPr>
              <a:t> object.</a:t>
            </a:r>
          </a:p>
          <a:p>
            <a:pPr lvl="2"/>
            <a:r>
              <a:rPr lang="en-US" altLang="en-US" sz="2000" dirty="0">
                <a:latin typeface="+mn-ea"/>
                <a:ea typeface="+mn-ea"/>
              </a:rPr>
              <a:t>The client sends a connection request.</a:t>
            </a:r>
          </a:p>
          <a:p>
            <a:pPr lvl="2"/>
            <a:r>
              <a:rPr lang="en-US" altLang="en-US" sz="2000" dirty="0">
                <a:latin typeface="+mn-ea"/>
                <a:ea typeface="+mn-ea"/>
              </a:rPr>
              <a:t>The server creates two private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communication</a:t>
            </a:r>
            <a:r>
              <a:rPr lang="en-US" altLang="en-US" sz="2000" b="1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ports</a:t>
            </a:r>
            <a:r>
              <a:rPr lang="en-US" altLang="en-US" sz="2000" b="1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en-US" sz="2000" dirty="0">
                <a:latin typeface="+mn-ea"/>
                <a:ea typeface="+mn-ea"/>
              </a:rPr>
              <a:t>and returns the handle to one of them to the client.</a:t>
            </a:r>
          </a:p>
          <a:p>
            <a:pPr lvl="2"/>
            <a:r>
              <a:rPr lang="en-US" altLang="en-US" sz="2000" dirty="0">
                <a:latin typeface="+mn-ea"/>
                <a:ea typeface="+mn-ea"/>
              </a:rPr>
              <a:t>The client and server use the corresponding port handle to send messages or callbacks and to listen for replies.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itle 1">
            <a:extLst>
              <a:ext uri="{FF2B5EF4-FFF2-40B4-BE49-F238E27FC236}">
                <a16:creationId xmlns:a16="http://schemas.microsoft.com/office/drawing/2014/main" id="{1870AEF7-4CF4-41BC-81BB-29CC7F55AB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5525" y="228600"/>
            <a:ext cx="7810500" cy="576263"/>
          </a:xfrm>
        </p:spPr>
        <p:txBody>
          <a:bodyPr/>
          <a:lstStyle/>
          <a:p>
            <a:r>
              <a:rPr lang="en-US" altLang="en-US" dirty="0"/>
              <a:t>Local Procedure Calls in Windows</a:t>
            </a:r>
          </a:p>
        </p:txBody>
      </p:sp>
      <p:pic>
        <p:nvPicPr>
          <p:cNvPr id="109571" name="Picture 1">
            <a:extLst>
              <a:ext uri="{FF2B5EF4-FFF2-40B4-BE49-F238E27FC236}">
                <a16:creationId xmlns:a16="http://schemas.microsoft.com/office/drawing/2014/main" id="{0D6084EA-7656-42CC-8EAC-D97ED13454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213" y="1820863"/>
            <a:ext cx="688975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C25BF9C1-AE04-4A77-B3E6-FD94636BD8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61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Pipes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2C682366-2987-469E-AF71-AD20FF741E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0080" y="1154113"/>
            <a:ext cx="8229600" cy="4503737"/>
          </a:xfrm>
        </p:spPr>
        <p:txBody>
          <a:bodyPr/>
          <a:lstStyle/>
          <a:p>
            <a:r>
              <a:rPr lang="en-US" altLang="en-US" sz="2000" dirty="0"/>
              <a:t>Acts as a conduit allowing two processes to communicate</a:t>
            </a:r>
          </a:p>
          <a:p>
            <a:r>
              <a:rPr lang="en-US" altLang="en-US" sz="2000" dirty="0"/>
              <a:t>Issues:</a:t>
            </a:r>
          </a:p>
          <a:p>
            <a:pPr lvl="1"/>
            <a:r>
              <a:rPr lang="en-US" altLang="en-US" sz="2000" dirty="0"/>
              <a:t>Is communication unidirectional or bidirectional?</a:t>
            </a:r>
          </a:p>
          <a:p>
            <a:pPr lvl="1"/>
            <a:r>
              <a:rPr lang="en-US" altLang="en-US" sz="2000" dirty="0"/>
              <a:t>In the case of two-way communication, is it half or full-duplex?</a:t>
            </a:r>
          </a:p>
          <a:p>
            <a:pPr lvl="1"/>
            <a:r>
              <a:rPr lang="en-US" altLang="en-US" sz="2000" dirty="0"/>
              <a:t>Must there exist a relationship (i.e., </a:t>
            </a:r>
            <a:r>
              <a:rPr lang="en-US" altLang="en-US" sz="2000" b="1" i="1" dirty="0"/>
              <a:t>parent-child</a:t>
            </a:r>
            <a:r>
              <a:rPr lang="en-US" altLang="en-US" sz="2000" dirty="0"/>
              <a:t>) between the communicating processes?</a:t>
            </a:r>
          </a:p>
          <a:p>
            <a:pPr lvl="1"/>
            <a:r>
              <a:rPr lang="en-US" altLang="en-US" sz="2000" dirty="0"/>
              <a:t>Can the pipes be used over a network?</a:t>
            </a:r>
          </a:p>
          <a:p>
            <a:r>
              <a:rPr lang="en-US" altLang="en-US" sz="2000" b="1" dirty="0"/>
              <a:t>Ordinary pipes </a:t>
            </a:r>
            <a:r>
              <a:rPr lang="en-US" altLang="en-US" sz="2000" dirty="0"/>
              <a:t>– cannot be accessed  from outside the process that created it. Typically, a parent process creates a pipe and uses it to communicate with a child process that it created. </a:t>
            </a:r>
          </a:p>
          <a:p>
            <a:r>
              <a:rPr lang="en-US" altLang="en-US" sz="2000" b="1" dirty="0"/>
              <a:t>Named pipes </a:t>
            </a:r>
            <a:r>
              <a:rPr lang="en-US" altLang="en-US" sz="2000" dirty="0"/>
              <a:t>– can be accessed without a parent-child relationship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itle 6">
            <a:extLst>
              <a:ext uri="{FF2B5EF4-FFF2-40B4-BE49-F238E27FC236}">
                <a16:creationId xmlns:a16="http://schemas.microsoft.com/office/drawing/2014/main" id="{39BA9E19-E982-409D-855A-7A7246EB35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3878"/>
            <a:ext cx="8229600" cy="576262"/>
          </a:xfrm>
        </p:spPr>
        <p:txBody>
          <a:bodyPr/>
          <a:lstStyle/>
          <a:p>
            <a:r>
              <a:rPr lang="en-US" altLang="en-US" dirty="0"/>
              <a:t>Ordinary Pipes</a:t>
            </a:r>
          </a:p>
        </p:txBody>
      </p:sp>
      <p:sp>
        <p:nvSpPr>
          <p:cNvPr id="113667" name="Content Placeholder 7">
            <a:extLst>
              <a:ext uri="{FF2B5EF4-FFF2-40B4-BE49-F238E27FC236}">
                <a16:creationId xmlns:a16="http://schemas.microsoft.com/office/drawing/2014/main" id="{F5BD8B2E-EBB3-49C3-9C8D-A24250F505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65626" y="1066482"/>
            <a:ext cx="8012748" cy="4930775"/>
          </a:xfrm>
        </p:spPr>
        <p:txBody>
          <a:bodyPr/>
          <a:lstStyle/>
          <a:p>
            <a:r>
              <a:rPr lang="en-US" altLang="en-US" dirty="0"/>
              <a:t>Ordinary Pipes</a:t>
            </a:r>
            <a:r>
              <a:rPr lang="en-US" altLang="en-US" b="1" dirty="0"/>
              <a:t> </a:t>
            </a:r>
            <a:r>
              <a:rPr lang="en-US" altLang="en-US" dirty="0"/>
              <a:t>allow communication in standard producer-consumer style</a:t>
            </a:r>
          </a:p>
          <a:p>
            <a:r>
              <a:rPr lang="en-US" altLang="en-US" dirty="0"/>
              <a:t>Producer writes to one end (the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write-end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of the pipe)</a:t>
            </a:r>
          </a:p>
          <a:p>
            <a:r>
              <a:rPr lang="en-US" altLang="en-US" dirty="0"/>
              <a:t>Consumer reads from the other end (the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read-end</a:t>
            </a:r>
            <a:r>
              <a:rPr lang="en-US" altLang="en-US" i="1" dirty="0"/>
              <a:t> </a:t>
            </a:r>
            <a:r>
              <a:rPr lang="en-US" altLang="en-US" dirty="0"/>
              <a:t>of the pipe)</a:t>
            </a:r>
          </a:p>
          <a:p>
            <a:r>
              <a:rPr lang="en-US" altLang="en-US" dirty="0"/>
              <a:t>Ordinary pipes are therefore unidirectional</a:t>
            </a:r>
          </a:p>
          <a:p>
            <a:r>
              <a:rPr lang="en-US" altLang="en-US" dirty="0"/>
              <a:t>Require parent-child relationship between communicating processes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Windows calls these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anonymous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pipes</a:t>
            </a:r>
          </a:p>
        </p:txBody>
      </p:sp>
      <p:pic>
        <p:nvPicPr>
          <p:cNvPr id="113668" name="Picture 1">
            <a:extLst>
              <a:ext uri="{FF2B5EF4-FFF2-40B4-BE49-F238E27FC236}">
                <a16:creationId xmlns:a16="http://schemas.microsoft.com/office/drawing/2014/main" id="{7F3119A2-4C8F-4927-A524-86ABC2A54F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1293" y="3188969"/>
            <a:ext cx="388937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itle 6">
            <a:extLst>
              <a:ext uri="{FF2B5EF4-FFF2-40B4-BE49-F238E27FC236}">
                <a16:creationId xmlns:a16="http://schemas.microsoft.com/office/drawing/2014/main" id="{F46E3781-78DE-4BB1-BE01-A0E3071BAB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3075" y="217488"/>
            <a:ext cx="8229600" cy="576262"/>
          </a:xfrm>
        </p:spPr>
        <p:txBody>
          <a:bodyPr/>
          <a:lstStyle/>
          <a:p>
            <a:r>
              <a:rPr lang="en-US" altLang="en-US"/>
              <a:t>Named Pipes</a:t>
            </a:r>
          </a:p>
        </p:txBody>
      </p:sp>
      <p:sp>
        <p:nvSpPr>
          <p:cNvPr id="115715" name="Content Placeholder 7">
            <a:extLst>
              <a:ext uri="{FF2B5EF4-FFF2-40B4-BE49-F238E27FC236}">
                <a16:creationId xmlns:a16="http://schemas.microsoft.com/office/drawing/2014/main" id="{18F2E9C8-16A0-4DAA-AF49-56C9A6E9D6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5825" y="1233488"/>
            <a:ext cx="7651750" cy="4530725"/>
          </a:xfrm>
        </p:spPr>
        <p:txBody>
          <a:bodyPr/>
          <a:lstStyle/>
          <a:p>
            <a:r>
              <a:rPr lang="en-US" altLang="en-US" sz="2000" dirty="0"/>
              <a:t>Named Pipes are more powerful than ordinary pipes</a:t>
            </a:r>
          </a:p>
          <a:p>
            <a:r>
              <a:rPr lang="en-US" altLang="en-US" sz="2000" dirty="0"/>
              <a:t>Communication is bidirectional</a:t>
            </a:r>
          </a:p>
          <a:p>
            <a:r>
              <a:rPr lang="en-US" altLang="en-US" sz="2000" dirty="0"/>
              <a:t>No parent-child relationship is necessary between the communicating processes</a:t>
            </a:r>
          </a:p>
          <a:p>
            <a:r>
              <a:rPr lang="en-US" altLang="en-US" sz="2000" dirty="0"/>
              <a:t>Several processes can use the named pipe for communication</a:t>
            </a:r>
          </a:p>
          <a:p>
            <a:r>
              <a:rPr lang="en-US" altLang="en-US" sz="2000" dirty="0"/>
              <a:t>Provided on both UNIX and Windows systems</a:t>
            </a:r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A75C715D-993B-44C7-ADB7-9A677E467A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4409" y="236538"/>
            <a:ext cx="8001953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Communications in Client-Server Systems</a:t>
            </a:r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4D67705B-FB5C-413D-B899-1A626A2B7D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08710" y="1233488"/>
            <a:ext cx="6574790" cy="4530725"/>
          </a:xfrm>
        </p:spPr>
        <p:txBody>
          <a:bodyPr/>
          <a:lstStyle/>
          <a:p>
            <a:r>
              <a:rPr lang="en-US" altLang="en-US" sz="2000" dirty="0"/>
              <a:t>Sockets</a:t>
            </a:r>
          </a:p>
          <a:p>
            <a:r>
              <a:rPr lang="en-US" altLang="en-US" sz="2000" dirty="0"/>
              <a:t>Remote Procedure Calls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9A89FFA0-4422-4D97-8EC3-0539C7C28F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5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Sockets</a:t>
            </a:r>
          </a:p>
        </p:txBody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7EE1CFE9-1B2A-4F4F-8A26-40D04D7473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6300" y="1154113"/>
            <a:ext cx="7913370" cy="4530725"/>
          </a:xfrm>
        </p:spPr>
        <p:txBody>
          <a:bodyPr/>
          <a:lstStyle/>
          <a:p>
            <a:r>
              <a:rPr lang="en-US" altLang="en-US" sz="2000" dirty="0">
                <a:latin typeface="+mn-ea"/>
                <a:ea typeface="+mn-ea"/>
              </a:rPr>
              <a:t>A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socket</a:t>
            </a:r>
            <a:r>
              <a:rPr lang="en-US" altLang="en-US" sz="2000" b="1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en-US" sz="2000" dirty="0">
                <a:latin typeface="+mn-ea"/>
                <a:ea typeface="+mn-ea"/>
              </a:rPr>
              <a:t>is defined as an endpoint for communication</a:t>
            </a:r>
          </a:p>
          <a:p>
            <a:r>
              <a:rPr lang="en-US" altLang="en-US" sz="2000" dirty="0">
                <a:latin typeface="+mn-ea"/>
                <a:ea typeface="+mn-ea"/>
              </a:rPr>
              <a:t>Concatenation of IP address and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port</a:t>
            </a:r>
            <a:r>
              <a:rPr lang="en-US" altLang="en-US" sz="2000" dirty="0">
                <a:latin typeface="+mn-ea"/>
                <a:ea typeface="+mn-ea"/>
              </a:rPr>
              <a:t> – a number included at start of message packet to differentiate network services on a host</a:t>
            </a:r>
          </a:p>
          <a:p>
            <a:r>
              <a:rPr lang="en-US" altLang="en-US" sz="2000" dirty="0">
                <a:latin typeface="+mn-ea"/>
                <a:ea typeface="+mn-ea"/>
              </a:rPr>
              <a:t>The socket </a:t>
            </a:r>
            <a:r>
              <a:rPr lang="en-US" altLang="en-US" sz="2000" b="1" dirty="0">
                <a:latin typeface="+mn-ea"/>
                <a:ea typeface="+mn-ea"/>
              </a:rPr>
              <a:t>161.25.19.8:1625</a:t>
            </a:r>
            <a:r>
              <a:rPr lang="en-US" altLang="en-US" sz="2000" dirty="0">
                <a:latin typeface="+mn-ea"/>
                <a:ea typeface="+mn-ea"/>
              </a:rPr>
              <a:t> refers to port </a:t>
            </a:r>
            <a:r>
              <a:rPr lang="en-US" altLang="en-US" sz="2000" b="1" dirty="0">
                <a:latin typeface="+mn-ea"/>
                <a:ea typeface="+mn-ea"/>
              </a:rPr>
              <a:t>1625</a:t>
            </a:r>
            <a:r>
              <a:rPr lang="en-US" altLang="en-US" sz="2000" dirty="0">
                <a:latin typeface="+mn-ea"/>
                <a:ea typeface="+mn-ea"/>
              </a:rPr>
              <a:t> on host </a:t>
            </a:r>
            <a:r>
              <a:rPr lang="en-US" altLang="en-US" sz="2000" b="1" dirty="0">
                <a:latin typeface="+mn-ea"/>
                <a:ea typeface="+mn-ea"/>
              </a:rPr>
              <a:t>161.25.19.8</a:t>
            </a:r>
          </a:p>
          <a:p>
            <a:r>
              <a:rPr lang="en-US" altLang="en-US" sz="2000" dirty="0">
                <a:latin typeface="+mn-ea"/>
                <a:ea typeface="+mn-ea"/>
              </a:rPr>
              <a:t>Communication consists between a pair of sockets</a:t>
            </a:r>
          </a:p>
          <a:p>
            <a:r>
              <a:rPr lang="en-US" altLang="en-US" sz="2000" dirty="0">
                <a:latin typeface="+mn-ea"/>
                <a:ea typeface="+mn-ea"/>
              </a:rPr>
              <a:t>All ports below 1024 are </a:t>
            </a:r>
            <a:r>
              <a:rPr lang="en-US" altLang="en-US" sz="2000" b="1" i="1" dirty="0">
                <a:latin typeface="+mn-ea"/>
                <a:ea typeface="+mn-ea"/>
              </a:rPr>
              <a:t>well known</a:t>
            </a:r>
            <a:r>
              <a:rPr lang="en-US" altLang="en-US" sz="2000" dirty="0">
                <a:latin typeface="+mn-ea"/>
                <a:ea typeface="+mn-ea"/>
              </a:rPr>
              <a:t>, used for standard services</a:t>
            </a:r>
          </a:p>
          <a:p>
            <a:r>
              <a:rPr lang="en-US" altLang="en-US" sz="2000" dirty="0">
                <a:latin typeface="+mn-ea"/>
                <a:ea typeface="+mn-ea"/>
              </a:rPr>
              <a:t>Special IP address 127.0.0.1 (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loopback</a:t>
            </a:r>
            <a:r>
              <a:rPr lang="en-US" altLang="en-US" sz="2000" dirty="0">
                <a:latin typeface="+mn-ea"/>
                <a:ea typeface="+mn-ea"/>
              </a:rPr>
              <a:t>) to refer to system on which process is running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2ED2E090-F4D8-4519-90FE-FAC4503D24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7238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Socket Communication</a:t>
            </a:r>
          </a:p>
        </p:txBody>
      </p:sp>
      <p:pic>
        <p:nvPicPr>
          <p:cNvPr id="121859" name="Picture 1">
            <a:extLst>
              <a:ext uri="{FF2B5EF4-FFF2-40B4-BE49-F238E27FC236}">
                <a16:creationId xmlns:a16="http://schemas.microsoft.com/office/drawing/2014/main" id="{4D63FFD0-5A8A-4D78-9147-3649FE9110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688" y="1676400"/>
            <a:ext cx="5440362" cy="370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AC43FE53-E6DD-4685-9922-7444BF8AFB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Sockets in Java</a:t>
            </a:r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FDE461F4-16B3-46F4-BD43-800014F0C5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3419475" cy="4530725"/>
          </a:xfrm>
        </p:spPr>
        <p:txBody>
          <a:bodyPr/>
          <a:lstStyle/>
          <a:p>
            <a:r>
              <a:rPr lang="en-US" altLang="en-US" dirty="0"/>
              <a:t>Three types of sockets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Connection-oriented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TCP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Connectionless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UDP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b="1" dirty="0" err="1">
                <a:latin typeface="Courier New" panose="02070309020205020404" pitchFamily="49" charset="0"/>
              </a:rPr>
              <a:t>MulticastSocket</a:t>
            </a:r>
            <a:r>
              <a:rPr lang="en-US" altLang="en-US" dirty="0"/>
              <a:t> class– data can be sent to multiple recipients</a:t>
            </a:r>
          </a:p>
          <a:p>
            <a:r>
              <a:rPr lang="en-US" altLang="en-US" dirty="0"/>
              <a:t>Consider this “Date” server in Java:</a:t>
            </a:r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  <p:pic>
        <p:nvPicPr>
          <p:cNvPr id="123908" name="Picture 1">
            <a:extLst>
              <a:ext uri="{FF2B5EF4-FFF2-40B4-BE49-F238E27FC236}">
                <a16:creationId xmlns:a16="http://schemas.microsoft.com/office/drawing/2014/main" id="{EEE0770C-1450-4345-BEEA-A9C8ED78C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5925" y="1233488"/>
            <a:ext cx="4740275" cy="472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Title 1">
            <a:extLst>
              <a:ext uri="{FF2B5EF4-FFF2-40B4-BE49-F238E27FC236}">
                <a16:creationId xmlns:a16="http://schemas.microsoft.com/office/drawing/2014/main" id="{C7511513-CD31-4692-851D-D1DB58E82D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Sockets in Java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F8969296-5702-413C-B856-961B30BD42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0723" y="917575"/>
            <a:ext cx="285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0" lang="en-US" altLang="en-US" dirty="0">
                <a:latin typeface="+mn-lt"/>
              </a:rPr>
              <a:t>The equivalent Date client</a:t>
            </a:r>
          </a:p>
        </p:txBody>
      </p:sp>
      <p:pic>
        <p:nvPicPr>
          <p:cNvPr id="125956" name="Picture 3">
            <a:extLst>
              <a:ext uri="{FF2B5EF4-FFF2-40B4-BE49-F238E27FC236}">
                <a16:creationId xmlns:a16="http://schemas.microsoft.com/office/drawing/2014/main" id="{80564BD1-BFAE-4AE7-BD99-CC3DE4A87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086" y="1308894"/>
            <a:ext cx="5476987" cy="5034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E01BCD28-A345-4D38-A597-097FF1FEF5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33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Remote Procedure Calls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CDEC6CAE-EDD4-4F10-873D-FB38F22E69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1138238"/>
            <a:ext cx="7654925" cy="4867275"/>
          </a:xfrm>
        </p:spPr>
        <p:txBody>
          <a:bodyPr/>
          <a:lstStyle/>
          <a:p>
            <a:r>
              <a:rPr lang="en-US" altLang="en-US" sz="2000" dirty="0"/>
              <a:t>Remote procedure call (RPC) abstracts procedure calls between processes on networked systems</a:t>
            </a:r>
          </a:p>
          <a:p>
            <a:pPr lvl="1"/>
            <a:r>
              <a:rPr lang="en-US" altLang="en-US" sz="2000" dirty="0"/>
              <a:t>Again uses ports for service differentiation</a:t>
            </a: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Stubs</a:t>
            </a:r>
            <a:r>
              <a:rPr lang="en-US" altLang="en-US" sz="2000" dirty="0"/>
              <a:t> – client-side proxy for the actual procedure on the server</a:t>
            </a:r>
          </a:p>
          <a:p>
            <a:r>
              <a:rPr lang="en-US" altLang="en-US" sz="2000" dirty="0"/>
              <a:t>The client-side stub locates the server and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marshalls</a:t>
            </a:r>
            <a:r>
              <a:rPr lang="en-US" altLang="en-US" sz="2000" dirty="0"/>
              <a:t> the parameters</a:t>
            </a:r>
          </a:p>
          <a:p>
            <a:r>
              <a:rPr lang="en-US" altLang="en-US" sz="2000" dirty="0"/>
              <a:t>The server-side stub receives this message, unpacks the marshalled parameters, and performs the procedure on the server</a:t>
            </a:r>
          </a:p>
          <a:p>
            <a:r>
              <a:rPr lang="en-US" altLang="en-US" sz="2000" dirty="0"/>
              <a:t>On Windows, stub code compile from specification written in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Microsoft</a:t>
            </a:r>
            <a:r>
              <a:rPr lang="en-US" altLang="en-US" sz="2000" b="1" dirty="0">
                <a:solidFill>
                  <a:srgbClr val="0000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Interface</a:t>
            </a:r>
            <a:r>
              <a:rPr lang="en-US" altLang="en-US" sz="2000" b="1" dirty="0">
                <a:solidFill>
                  <a:srgbClr val="0000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Definition</a:t>
            </a:r>
            <a:r>
              <a:rPr lang="en-US" altLang="en-US" sz="2000" b="1" dirty="0">
                <a:solidFill>
                  <a:srgbClr val="0000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Language</a:t>
            </a:r>
            <a:r>
              <a:rPr lang="en-US" altLang="en-US" sz="2000" b="1" dirty="0">
                <a:solidFill>
                  <a:srgbClr val="0000FF"/>
                </a:solidFill>
              </a:rPr>
              <a:t> </a:t>
            </a: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MIDL</a:t>
            </a:r>
            <a:r>
              <a:rPr lang="en-US" altLang="en-US" sz="2000" dirty="0"/>
              <a:t>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3CFC0513-6498-44D9-8826-FE7B637CBB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0275" y="2301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Remote Procedure Calls (Cont.)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2D773B3E-1F58-47D6-A600-27575633E5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81684" y="981393"/>
            <a:ext cx="7779385" cy="3567747"/>
          </a:xfrm>
        </p:spPr>
        <p:txBody>
          <a:bodyPr/>
          <a:lstStyle/>
          <a:p>
            <a:r>
              <a:rPr lang="en-US" altLang="en-US" sz="2000" dirty="0"/>
              <a:t>Data representation handled via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External Data Representation</a:t>
            </a:r>
            <a:r>
              <a:rPr lang="en-US" altLang="en-US" sz="2000" b="1" dirty="0">
                <a:solidFill>
                  <a:srgbClr val="0000FF"/>
                </a:solidFill>
              </a:rPr>
              <a:t> </a:t>
            </a: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XDL</a:t>
            </a:r>
            <a:r>
              <a:rPr lang="en-US" altLang="en-US" sz="2000" dirty="0"/>
              <a:t>) format to account for different architectures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Big-endian</a:t>
            </a:r>
            <a:r>
              <a:rPr lang="en-US" altLang="en-US" sz="2000" b="1" dirty="0">
                <a:solidFill>
                  <a:srgbClr val="0000FF"/>
                </a:solidFill>
              </a:rPr>
              <a:t> </a:t>
            </a:r>
            <a:r>
              <a:rPr lang="en-US" altLang="en-US" sz="2000" dirty="0"/>
              <a:t>and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little-endian</a:t>
            </a:r>
          </a:p>
          <a:p>
            <a:r>
              <a:rPr lang="en-US" altLang="en-US" sz="2000" dirty="0"/>
              <a:t>Remote communication has more failure scenarios than local</a:t>
            </a:r>
          </a:p>
          <a:p>
            <a:pPr lvl="1"/>
            <a:r>
              <a:rPr lang="en-US" altLang="en-US" sz="2000" dirty="0"/>
              <a:t>Messages can be delivered </a:t>
            </a:r>
            <a:r>
              <a:rPr lang="en-US" altLang="en-US" sz="2000" b="1" i="1" dirty="0"/>
              <a:t>exactly once </a:t>
            </a:r>
            <a:r>
              <a:rPr lang="en-US" altLang="en-US" sz="2000" dirty="0"/>
              <a:t>rather than </a:t>
            </a:r>
            <a:r>
              <a:rPr lang="en-US" altLang="en-US" sz="2000" b="1" i="1" dirty="0"/>
              <a:t>at most once</a:t>
            </a:r>
          </a:p>
          <a:p>
            <a:r>
              <a:rPr lang="en-US" altLang="en-US" sz="2000" dirty="0"/>
              <a:t>OS typically provides a rendezvous (or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matchmaker</a:t>
            </a:r>
            <a:r>
              <a:rPr lang="en-US" altLang="en-US" sz="2000" dirty="0"/>
              <a:t>) service to connect client and server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D538A429-F2A7-4F7C-87E2-EEC652982A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01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Execution of RPC</a:t>
            </a:r>
          </a:p>
        </p:txBody>
      </p:sp>
      <p:pic>
        <p:nvPicPr>
          <p:cNvPr id="131075" name="Picture 1">
            <a:extLst>
              <a:ext uri="{FF2B5EF4-FFF2-40B4-BE49-F238E27FC236}">
                <a16:creationId xmlns:a16="http://schemas.microsoft.com/office/drawing/2014/main" id="{ECFE0A42-3507-487F-9D40-A6D4040A6D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909638"/>
            <a:ext cx="4598670" cy="5533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81719306-4F82-48FE-911C-AE3ACD5990C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16555</TotalTime>
  <Words>1828</Words>
  <Application>Microsoft Office PowerPoint</Application>
  <PresentationFormat>全屏显示(4:3)</PresentationFormat>
  <Paragraphs>231</Paragraphs>
  <Slides>37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7" baseType="lpstr">
      <vt:lpstr>Monotype Sorts</vt:lpstr>
      <vt:lpstr>ＭＳ Ｐゴシック</vt:lpstr>
      <vt:lpstr>Arial</vt:lpstr>
      <vt:lpstr>Courier New</vt:lpstr>
      <vt:lpstr>Helvetica</vt:lpstr>
      <vt:lpstr>Times New Roman</vt:lpstr>
      <vt:lpstr>Verdana</vt:lpstr>
      <vt:lpstr>Webdings</vt:lpstr>
      <vt:lpstr>Wingdings</vt:lpstr>
      <vt:lpstr>os-8</vt:lpstr>
      <vt:lpstr>Chapter 3:  Processes</vt:lpstr>
      <vt:lpstr>What about Filling all the Buffers?</vt:lpstr>
      <vt:lpstr>Producer </vt:lpstr>
      <vt:lpstr>Consumer</vt:lpstr>
      <vt:lpstr>Race Condition</vt:lpstr>
      <vt:lpstr>Race Condition (Cont.)</vt:lpstr>
      <vt:lpstr>IPC – Message Passing</vt:lpstr>
      <vt:lpstr>Message Passing (Cont.)</vt:lpstr>
      <vt:lpstr>Implementation of Communication Link</vt:lpstr>
      <vt:lpstr>Direct Communication</vt:lpstr>
      <vt:lpstr>Indirect Communication</vt:lpstr>
      <vt:lpstr>Indirect Communication (Cont.)</vt:lpstr>
      <vt:lpstr>Indirect Communication (Cont.)</vt:lpstr>
      <vt:lpstr>Synchronization</vt:lpstr>
      <vt:lpstr>Producer-Consumer: Message Passing</vt:lpstr>
      <vt:lpstr>Buffering</vt:lpstr>
      <vt:lpstr>Examples of IPC Systems - POSIX</vt:lpstr>
      <vt:lpstr>IPC POSIX Producer</vt:lpstr>
      <vt:lpstr>IPC POSIX Consumer</vt:lpstr>
      <vt:lpstr>Examples of IPC Systems - Mach</vt:lpstr>
      <vt:lpstr>Mach Messages</vt:lpstr>
      <vt:lpstr>Mach Message Passing - Client</vt:lpstr>
      <vt:lpstr>Mach Message Passing - Server</vt:lpstr>
      <vt:lpstr>Examples of IPC Systems – Windows</vt:lpstr>
      <vt:lpstr>Local Procedure Calls in Windows</vt:lpstr>
      <vt:lpstr>Pipes</vt:lpstr>
      <vt:lpstr>Ordinary Pipes</vt:lpstr>
      <vt:lpstr>Named Pipes</vt:lpstr>
      <vt:lpstr>Communications in Client-Server Systems</vt:lpstr>
      <vt:lpstr>Sockets</vt:lpstr>
      <vt:lpstr>Socket Communication</vt:lpstr>
      <vt:lpstr>Sockets in Java</vt:lpstr>
      <vt:lpstr>Sockets in Java</vt:lpstr>
      <vt:lpstr>Remote Procedure Calls</vt:lpstr>
      <vt:lpstr>Remote Procedure Calls (Cont.)</vt:lpstr>
      <vt:lpstr>Execution of RPC</vt:lpstr>
      <vt:lpstr>End of Chapter 3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Yeh-Ching Chung</cp:lastModifiedBy>
  <cp:revision>357</cp:revision>
  <cp:lastPrinted>2013-10-02T18:16:40Z</cp:lastPrinted>
  <dcterms:created xsi:type="dcterms:W3CDTF">2011-01-13T23:43:38Z</dcterms:created>
  <dcterms:modified xsi:type="dcterms:W3CDTF">2025-09-03T01:36:58Z</dcterms:modified>
</cp:coreProperties>
</file>