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30"/>
  </p:notesMasterIdLst>
  <p:handoutMasterIdLst>
    <p:handoutMasterId r:id="rId31"/>
  </p:handoutMasterIdLst>
  <p:sldIdLst>
    <p:sldId id="331" r:id="rId2"/>
    <p:sldId id="332" r:id="rId3"/>
    <p:sldId id="333" r:id="rId4"/>
    <p:sldId id="334" r:id="rId5"/>
    <p:sldId id="335" r:id="rId6"/>
    <p:sldId id="336" r:id="rId7"/>
    <p:sldId id="401" r:id="rId8"/>
    <p:sldId id="402" r:id="rId9"/>
    <p:sldId id="337" r:id="rId10"/>
    <p:sldId id="338" r:id="rId11"/>
    <p:sldId id="339" r:id="rId12"/>
    <p:sldId id="340" r:id="rId13"/>
    <p:sldId id="341" r:id="rId14"/>
    <p:sldId id="403" r:id="rId15"/>
    <p:sldId id="419" r:id="rId16"/>
    <p:sldId id="421" r:id="rId17"/>
    <p:sldId id="345" r:id="rId18"/>
    <p:sldId id="422" r:id="rId19"/>
    <p:sldId id="424" r:id="rId20"/>
    <p:sldId id="423" r:id="rId21"/>
    <p:sldId id="350" r:id="rId22"/>
    <p:sldId id="351" r:id="rId23"/>
    <p:sldId id="352" r:id="rId24"/>
    <p:sldId id="353" r:id="rId25"/>
    <p:sldId id="348" r:id="rId26"/>
    <p:sldId id="425" r:id="rId27"/>
    <p:sldId id="427" r:id="rId28"/>
    <p:sldId id="417" r:id="rId29"/>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485" autoAdjust="0"/>
    <p:restoredTop sz="94635"/>
  </p:normalViewPr>
  <p:slideViewPr>
    <p:cSldViewPr snapToGrid="0">
      <p:cViewPr>
        <p:scale>
          <a:sx n="50" d="100"/>
          <a:sy n="50" d="100"/>
        </p:scale>
        <p:origin x="1596" y="160"/>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06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CBD12CAE-1E33-4966-A4AF-C743EB5F54C9}"/>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F0E0EA84-2041-4AE8-806B-3AAE9F7A038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0899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DB04AC4-9FA4-4B81-A2E4-1E6AFD4EE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3F57FD02-2058-4DC0-B613-AD0294133A65}"/>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D6CEFB33-83BB-47AD-B7F4-C32DEBB57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9A34A2FC-C15D-4B2F-88BE-311A926B1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BE8EDEDD-05A4-4AB1-9D21-B8FD2F4A5551}"/>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5221A250-5591-4686-8986-7D36991F8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9ACFED5-FEE9-4052-81A1-4F4ACC8A4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id="{FB4DEBF9-633C-48A9-B2B4-116F70BEBD63}"/>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250F3D6F-9310-4C8C-BB98-4172C6D54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32233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0054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40631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141314" name="Rectangle 2">
            <a:extLst>
              <a:ext uri="{FF2B5EF4-FFF2-40B4-BE49-F238E27FC236}">
                <a16:creationId xmlns:a16="http://schemas.microsoft.com/office/drawing/2014/main" id="{5F4496CA-0A38-4ECE-A790-5883B82226E7}"/>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685800" y="782638"/>
            <a:ext cx="7772400" cy="2127250"/>
          </a:xfrm>
        </p:spPr>
        <p:txBody>
          <a:bodyPr/>
          <a:lstStyle/>
          <a:p>
            <a:pPr eaLnBrk="1" hangingPunct="1"/>
            <a:r>
              <a:rPr lang="en-US" altLang="en-US" dirty="0"/>
              <a:t>Chapter 5:  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94B4645F-2E7F-4FF4-B07A-CC49BE5E143C}"/>
              </a:ext>
            </a:extLst>
          </p:cNvPr>
          <p:cNvSpPr>
            <a:spLocks noGrp="1" noChangeArrowheads="1"/>
          </p:cNvSpPr>
          <p:nvPr>
            <p:ph type="title"/>
          </p:nvPr>
        </p:nvSpPr>
        <p:spPr>
          <a:xfrm>
            <a:off x="914400" y="222868"/>
            <a:ext cx="7772400" cy="576262"/>
          </a:xfrm>
        </p:spPr>
        <p:txBody>
          <a:bodyPr/>
          <a:lstStyle/>
          <a:p>
            <a:pPr eaLnBrk="1" hangingPunct="1"/>
            <a:r>
              <a:rPr lang="en-US" altLang="en-US" dirty="0"/>
              <a:t>Outline</a:t>
            </a:r>
          </a:p>
        </p:txBody>
      </p:sp>
      <p:sp>
        <p:nvSpPr>
          <p:cNvPr id="7170" name="Rectangle 3">
            <a:extLst>
              <a:ext uri="{FF2B5EF4-FFF2-40B4-BE49-F238E27FC236}">
                <a16:creationId xmlns:a16="http://schemas.microsoft.com/office/drawing/2014/main" id="{8762292C-9CCE-49EA-9062-F046A880FAC9}"/>
              </a:ext>
            </a:extLst>
          </p:cNvPr>
          <p:cNvSpPr>
            <a:spLocks noGrp="1" noChangeArrowheads="1"/>
          </p:cNvSpPr>
          <p:nvPr>
            <p:ph type="body" idx="1"/>
          </p:nvPr>
        </p:nvSpPr>
        <p:spPr>
          <a:xfrm>
            <a:off x="857250" y="1195388"/>
            <a:ext cx="7335838" cy="3773487"/>
          </a:xfrm>
        </p:spPr>
        <p:txBody>
          <a:bodyPr/>
          <a:lstStyle/>
          <a:p>
            <a:r>
              <a:rPr lang="en-US" altLang="en-US" sz="2000" dirty="0"/>
              <a:t>Basic Concepts</a:t>
            </a:r>
          </a:p>
          <a:p>
            <a:r>
              <a:rPr lang="en-US" altLang="en-US" sz="2000" dirty="0"/>
              <a:t>Scheduling Criteria </a:t>
            </a:r>
          </a:p>
          <a:p>
            <a:r>
              <a:rPr lang="en-US" altLang="en-US" sz="2000" dirty="0"/>
              <a:t>Scheduling Algorithms</a:t>
            </a:r>
          </a:p>
          <a:p>
            <a:r>
              <a:rPr lang="en-US" altLang="en-US" sz="2000" dirty="0"/>
              <a:t>Thread Scheduling</a:t>
            </a:r>
          </a:p>
          <a:p>
            <a:r>
              <a:rPr lang="en-US" altLang="en-US" sz="2000" dirty="0"/>
              <a:t>Multi-Processor Scheduling</a:t>
            </a:r>
          </a:p>
          <a:p>
            <a:r>
              <a:rPr lang="en-US" altLang="en-US" sz="2000" dirty="0"/>
              <a:t>Real-Time CPU Scheduling</a:t>
            </a:r>
          </a:p>
          <a:p>
            <a:r>
              <a:rPr lang="en-US" altLang="en-US" sz="2000" dirty="0"/>
              <a:t>Operating Systems Examples</a:t>
            </a:r>
          </a:p>
          <a:p>
            <a:r>
              <a:rPr lang="en-US" altLang="en-US" sz="2000" dirty="0"/>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457200" y="222868"/>
            <a:ext cx="8229600" cy="576262"/>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852840" y="1233489"/>
            <a:ext cx="7833960" cy="4400395"/>
          </a:xfrm>
        </p:spPr>
        <p:txBody>
          <a:bodyPr/>
          <a:lstStyle/>
          <a:p>
            <a:r>
              <a:rPr lang="en-US" altLang="en-US" sz="2000" dirty="0"/>
              <a:t>Describe various CPU scheduling algorithms</a:t>
            </a:r>
          </a:p>
          <a:p>
            <a:r>
              <a:rPr lang="en-US" altLang="en-US" sz="2000" dirty="0"/>
              <a:t>Assess CPU scheduling algorithms based on scheduling criteria</a:t>
            </a:r>
          </a:p>
          <a:p>
            <a:r>
              <a:rPr lang="en-US" altLang="en-US" sz="2000" dirty="0"/>
              <a:t>Explain the issues related to multiprocessor and multicore scheduling</a:t>
            </a:r>
          </a:p>
          <a:p>
            <a:r>
              <a:rPr lang="en-US" altLang="en-US" sz="2000" dirty="0"/>
              <a:t>Describe various real-time scheduling algorithms</a:t>
            </a:r>
          </a:p>
          <a:p>
            <a:r>
              <a:rPr lang="en-US" altLang="en-US" sz="2000" dirty="0"/>
              <a:t>Describe the scheduling algorithms used in the Windows, Linux, and Solaris operating systems</a:t>
            </a:r>
          </a:p>
          <a:p>
            <a:r>
              <a:rPr lang="en-US" altLang="en-US" sz="2000" dirty="0"/>
              <a:t>Apply modeling and simulations to evaluate CPU scheduling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C8CABCD-F408-4385-AC6D-CB5E8038C31B}"/>
              </a:ext>
            </a:extLst>
          </p:cNvPr>
          <p:cNvSpPr>
            <a:spLocks noGrp="1" noChangeArrowheads="1"/>
          </p:cNvSpPr>
          <p:nvPr>
            <p:ph type="title"/>
          </p:nvPr>
        </p:nvSpPr>
        <p:spPr>
          <a:xfrm>
            <a:off x="457200" y="223450"/>
            <a:ext cx="8229600" cy="576262"/>
          </a:xfrm>
        </p:spPr>
        <p:txBody>
          <a:bodyPr/>
          <a:lstStyle/>
          <a:p>
            <a:pPr eaLnBrk="1" hangingPunct="1"/>
            <a:r>
              <a:rPr lang="en-US" altLang="en-US" dirty="0"/>
              <a:t>Basic Concepts</a:t>
            </a:r>
          </a:p>
        </p:txBody>
      </p:sp>
      <p:sp>
        <p:nvSpPr>
          <p:cNvPr id="11266" name="Rectangle 3">
            <a:extLst>
              <a:ext uri="{FF2B5EF4-FFF2-40B4-BE49-F238E27FC236}">
                <a16:creationId xmlns:a16="http://schemas.microsoft.com/office/drawing/2014/main" id="{B2D356C4-1B27-4D4C-8A80-D241E2CD7B36}"/>
              </a:ext>
            </a:extLst>
          </p:cNvPr>
          <p:cNvSpPr>
            <a:spLocks noGrp="1" noChangeArrowheads="1"/>
          </p:cNvSpPr>
          <p:nvPr>
            <p:ph type="body" idx="1"/>
          </p:nvPr>
        </p:nvSpPr>
        <p:spPr>
          <a:xfrm>
            <a:off x="457200" y="1579563"/>
            <a:ext cx="5308599" cy="2827337"/>
          </a:xfrm>
        </p:spPr>
        <p:txBody>
          <a:bodyPr/>
          <a:lstStyle/>
          <a:p>
            <a:r>
              <a:rPr lang="en-US" altLang="en-US" sz="2000" dirty="0"/>
              <a:t>Maximum CPU utilization obtained with multiprogramming</a:t>
            </a:r>
          </a:p>
          <a:p>
            <a:r>
              <a:rPr lang="en-US" altLang="en-US" sz="2000" dirty="0"/>
              <a:t>CPU–I/O Burst Cycle – Process execution consists of a </a:t>
            </a:r>
            <a:r>
              <a:rPr lang="en-US" altLang="en-US" sz="2000" b="1" dirty="0">
                <a:solidFill>
                  <a:srgbClr val="006699"/>
                </a:solidFill>
                <a:latin typeface="+mj-lt"/>
              </a:rPr>
              <a:t>cycle</a:t>
            </a:r>
            <a:r>
              <a:rPr lang="en-US" altLang="en-US" sz="2000" dirty="0"/>
              <a:t> of CPU execution and I/O wait</a:t>
            </a:r>
          </a:p>
          <a:p>
            <a:r>
              <a:rPr lang="en-US" altLang="en-US" sz="2000" b="1" dirty="0">
                <a:solidFill>
                  <a:srgbClr val="006699"/>
                </a:solidFill>
                <a:latin typeface="+mj-lt"/>
              </a:rPr>
              <a:t>CPU</a:t>
            </a:r>
            <a:r>
              <a:rPr lang="en-US" altLang="en-US" sz="2000" b="1" dirty="0">
                <a:solidFill>
                  <a:srgbClr val="3366FF"/>
                </a:solidFill>
              </a:rPr>
              <a:t> </a:t>
            </a:r>
            <a:r>
              <a:rPr lang="en-US" altLang="en-US" sz="2000" b="1" dirty="0">
                <a:solidFill>
                  <a:srgbClr val="006699"/>
                </a:solidFill>
                <a:latin typeface="+mj-lt"/>
              </a:rPr>
              <a:t>burst</a:t>
            </a:r>
            <a:r>
              <a:rPr lang="en-US" altLang="en-US" sz="2000" b="1" dirty="0">
                <a:solidFill>
                  <a:srgbClr val="3366FF"/>
                </a:solidFill>
              </a:rPr>
              <a:t> </a:t>
            </a:r>
            <a:r>
              <a:rPr lang="en-US" altLang="en-US" sz="2000" dirty="0"/>
              <a:t>followed by </a:t>
            </a:r>
            <a:r>
              <a:rPr lang="en-US" altLang="en-US" sz="2000" b="1" dirty="0">
                <a:solidFill>
                  <a:srgbClr val="006699"/>
                </a:solidFill>
                <a:latin typeface="+mj-lt"/>
              </a:rPr>
              <a:t>I/O burst</a:t>
            </a:r>
          </a:p>
          <a:p>
            <a:r>
              <a:rPr lang="en-US" altLang="en-US" sz="2000" dirty="0"/>
              <a:t>CPU burst distribution is of main concern</a:t>
            </a:r>
          </a:p>
          <a:p>
            <a:pPr>
              <a:buFont typeface="Monotype Sorts" pitchFamily="-84" charset="2"/>
              <a:buNone/>
            </a:pPr>
            <a:endParaRPr lang="en-US" altLang="en-US" sz="2000" dirty="0"/>
          </a:p>
        </p:txBody>
      </p:sp>
      <p:pic>
        <p:nvPicPr>
          <p:cNvPr id="11267" name="Picture 1">
            <a:extLst>
              <a:ext uri="{FF2B5EF4-FFF2-40B4-BE49-F238E27FC236}">
                <a16:creationId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07088"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72FB29C-A265-4A5A-90F0-4EA35A17174F}"/>
              </a:ext>
            </a:extLst>
          </p:cNvPr>
          <p:cNvSpPr>
            <a:spLocks noGrp="1" noChangeArrowheads="1"/>
          </p:cNvSpPr>
          <p:nvPr>
            <p:ph type="title"/>
          </p:nvPr>
        </p:nvSpPr>
        <p:spPr>
          <a:xfrm>
            <a:off x="1066800" y="222868"/>
            <a:ext cx="7620000" cy="576262"/>
          </a:xfrm>
        </p:spPr>
        <p:txBody>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id="{199A0D9E-EDB0-4B00-B274-814CD65DE927}"/>
              </a:ext>
            </a:extLst>
          </p:cNvPr>
          <p:cNvSpPr txBox="1">
            <a:spLocks noChangeArrowheads="1"/>
          </p:cNvSpPr>
          <p:nvPr/>
        </p:nvSpPr>
        <p:spPr bwMode="auto">
          <a:xfrm>
            <a:off x="1279525" y="1323975"/>
            <a:ext cx="411202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000" dirty="0">
                <a:latin typeface="Verdana" panose="020B0604030504040204" pitchFamily="34" charset="0"/>
              </a:rPr>
              <a:t>Large number of short bursts</a:t>
            </a:r>
          </a:p>
          <a:p>
            <a:pPr>
              <a:spcBef>
                <a:spcPct val="0"/>
              </a:spcBef>
              <a:buClrTx/>
              <a:buSzTx/>
              <a:buFontTx/>
              <a:buNone/>
            </a:pPr>
            <a:endParaRPr kumimoji="0" lang="en-US" altLang="en-US" sz="2000" dirty="0">
              <a:latin typeface="Verdana" panose="020B0604030504040204" pitchFamily="34" charset="0"/>
            </a:endParaRPr>
          </a:p>
          <a:p>
            <a:pPr>
              <a:spcBef>
                <a:spcPct val="0"/>
              </a:spcBef>
              <a:buClrTx/>
              <a:buSzTx/>
              <a:buFontTx/>
              <a:buNone/>
            </a:pPr>
            <a:r>
              <a:rPr kumimoji="0" lang="en-US" altLang="en-US" sz="2000" dirty="0">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id="{A278EA04-1701-4441-AB9A-E05347064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7763" y="2479675"/>
            <a:ext cx="492283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838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508000" y="941389"/>
            <a:ext cx="7227276" cy="5408611"/>
          </a:xfrm>
        </p:spPr>
        <p:txBody>
          <a:bodyPr/>
          <a:lstStyle/>
          <a:p>
            <a:pPr>
              <a:defRPr/>
            </a:pPr>
            <a:r>
              <a:rPr lang="en-US" sz="2000" dirty="0">
                <a:ea typeface="ＭＳ Ｐゴシック" charset="0"/>
                <a:cs typeface="ＭＳ Ｐゴシック" charset="0"/>
              </a:rPr>
              <a:t>The</a:t>
            </a:r>
            <a:r>
              <a:rPr lang="en-US" sz="2000" b="1" dirty="0">
                <a:solidFill>
                  <a:srgbClr val="3366FF"/>
                </a:solidFill>
                <a:ea typeface="ＭＳ Ｐゴシック" charset="0"/>
                <a:cs typeface="ＭＳ Ｐゴシック" charset="0"/>
              </a:rPr>
              <a:t> </a:t>
            </a:r>
            <a:r>
              <a:rPr lang="en-US" sz="2000" b="1" dirty="0">
                <a:solidFill>
                  <a:srgbClr val="006699"/>
                </a:solidFill>
                <a:latin typeface="+mj-lt"/>
              </a:rPr>
              <a:t>CPU scheduler </a:t>
            </a:r>
            <a:r>
              <a:rPr lang="en-US" sz="2000" dirty="0">
                <a:ea typeface="ＭＳ Ｐゴシック" charset="-128"/>
                <a:cs typeface="ＭＳ Ｐゴシック" charset="-128"/>
              </a:rPr>
              <a:t>selects from among the processes in ready queue, and allocates a CPU core to one of them</a:t>
            </a:r>
          </a:p>
          <a:p>
            <a:pPr marL="742835" lvl="1">
              <a:defRPr/>
            </a:pPr>
            <a:r>
              <a:rPr lang="en-US" sz="2000" dirty="0">
                <a:ea typeface="ＭＳ Ｐゴシック" charset="-128"/>
              </a:rPr>
              <a:t>Queue may be ordered in various ways</a:t>
            </a:r>
          </a:p>
          <a:p>
            <a:pPr>
              <a:defRPr/>
            </a:pPr>
            <a:r>
              <a:rPr lang="en-US" sz="2000" dirty="0">
                <a:ea typeface="ＭＳ Ｐゴシック" charset="-128"/>
                <a:cs typeface="ＭＳ Ｐゴシック" charset="-128"/>
              </a:rPr>
              <a:t>CPU scheduling decisions may take place when a process:</a:t>
            </a:r>
          </a:p>
          <a:p>
            <a:pPr marL="799900" lvl="1" indent="-342815">
              <a:buFont typeface="Monotype Sorts" pitchFamily="-84" charset="2"/>
              <a:buNone/>
              <a:defRPr/>
            </a:pPr>
            <a:r>
              <a:rPr lang="en-US" sz="2000" dirty="0">
                <a:solidFill>
                  <a:srgbClr val="CC6600"/>
                </a:solidFill>
                <a:ea typeface="ＭＳ Ｐゴシック" charset="-128"/>
              </a:rPr>
              <a:t>1.	</a:t>
            </a:r>
            <a:r>
              <a:rPr lang="en-US" sz="2000" dirty="0">
                <a:ea typeface="ＭＳ Ｐゴシック" charset="-128"/>
              </a:rPr>
              <a:t>Switches from running to waiting state</a:t>
            </a:r>
          </a:p>
          <a:p>
            <a:pPr marL="799900" lvl="1" indent="-342815">
              <a:buFont typeface="Monotype Sorts" pitchFamily="-84" charset="2"/>
              <a:buNone/>
              <a:defRPr/>
            </a:pPr>
            <a:r>
              <a:rPr lang="en-US" sz="2000" dirty="0">
                <a:solidFill>
                  <a:srgbClr val="CC6600"/>
                </a:solidFill>
                <a:ea typeface="ＭＳ Ｐゴシック" charset="-128"/>
              </a:rPr>
              <a:t>2.</a:t>
            </a:r>
            <a:r>
              <a:rPr lang="en-US" sz="2000" dirty="0">
                <a:ea typeface="ＭＳ Ｐゴシック" charset="-128"/>
              </a:rPr>
              <a:t>	Switches from running to ready state</a:t>
            </a:r>
          </a:p>
          <a:p>
            <a:pPr marL="799900" lvl="1" indent="-342815">
              <a:buFont typeface="Monotype Sorts" pitchFamily="-84" charset="2"/>
              <a:buNone/>
              <a:defRPr/>
            </a:pPr>
            <a:r>
              <a:rPr lang="en-US" sz="2000" dirty="0">
                <a:solidFill>
                  <a:srgbClr val="CC6600"/>
                </a:solidFill>
                <a:ea typeface="ＭＳ Ｐゴシック" charset="-128"/>
              </a:rPr>
              <a:t>3.</a:t>
            </a:r>
            <a:r>
              <a:rPr lang="en-US" sz="2000" dirty="0">
                <a:ea typeface="ＭＳ Ｐゴシック" charset="-128"/>
              </a:rPr>
              <a:t>	Switches from waiting to ready</a:t>
            </a:r>
          </a:p>
          <a:p>
            <a:pPr marL="799900" lvl="1" indent="-342815">
              <a:buFont typeface="Monotype Sorts" charset="2"/>
              <a:buAutoNum type="arabicPeriod" startAt="4"/>
              <a:defRPr/>
            </a:pPr>
            <a:r>
              <a:rPr lang="en-US" sz="2000" dirty="0">
                <a:ea typeface="ＭＳ Ｐゴシック" charset="-128"/>
              </a:rPr>
              <a:t>Terminates</a:t>
            </a:r>
          </a:p>
          <a:p>
            <a:pPr>
              <a:defRPr/>
            </a:pPr>
            <a:endParaRPr lang="en-US" sz="2000" dirty="0">
              <a:ea typeface="ＭＳ Ｐゴシック" charset="-128"/>
              <a:cs typeface="ＭＳ Ｐゴシック" charset="-128"/>
            </a:endParaRPr>
          </a:p>
          <a:p>
            <a:pPr>
              <a:defRPr/>
            </a:pPr>
            <a:endParaRPr lang="en-US" sz="2000" dirty="0">
              <a:ea typeface="ＭＳ Ｐゴシック" charset="-128"/>
              <a:cs typeface="ＭＳ Ｐゴシック" charset="-128"/>
            </a:endParaRPr>
          </a:p>
          <a:p>
            <a:pPr>
              <a:defRPr/>
            </a:pPr>
            <a:r>
              <a:rPr lang="en-US" sz="2000"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sz="2000" dirty="0">
                <a:ea typeface="ＭＳ Ｐゴシック" charset="-128"/>
                <a:cs typeface="ＭＳ Ｐゴシック" charset="-128"/>
              </a:rPr>
              <a:t>For situations 2 and 3, however, there is  a choice.</a:t>
            </a:r>
            <a:endParaRPr lang="en-US" sz="2000" b="1" dirty="0">
              <a:solidFill>
                <a:srgbClr val="3366FF"/>
              </a:solidFill>
              <a:ea typeface="ＭＳ Ｐゴシック" charset="0"/>
              <a:cs typeface="ＭＳ Ｐゴシック" charset="0"/>
            </a:endParaRPr>
          </a:p>
        </p:txBody>
      </p:sp>
      <p:pic>
        <p:nvPicPr>
          <p:cNvPr id="2" name="Picture 1">
            <a:extLst>
              <a:ext uri="{FF2B5EF4-FFF2-40B4-BE49-F238E27FC236}">
                <a16:creationId xmlns:a16="http://schemas.microsoft.com/office/drawing/2014/main" id="{36AFA4A8-E13C-A58A-B876-9EB5AD004C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15857" y="3429000"/>
            <a:ext cx="3701144" cy="144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4" y="1193434"/>
            <a:ext cx="7538915" cy="4707181"/>
          </a:xfrm>
        </p:spPr>
        <p:txBody>
          <a:bodyPr/>
          <a:lstStyle/>
          <a:p>
            <a:pPr>
              <a:defRPr/>
            </a:pPr>
            <a:r>
              <a:rPr lang="en-US" sz="2000" dirty="0">
                <a:ea typeface="ＭＳ Ｐゴシック" charset="0"/>
              </a:rPr>
              <a:t>When scheduling takes place only under circumstances 1 and 4, the scheduling scheme is </a:t>
            </a:r>
            <a:r>
              <a:rPr lang="en-US" sz="2000" b="1" dirty="0">
                <a:solidFill>
                  <a:srgbClr val="006699"/>
                </a:solidFill>
                <a:latin typeface="+mj-lt"/>
              </a:rPr>
              <a:t>nonpreemptive</a:t>
            </a:r>
            <a:r>
              <a:rPr lang="en-US" sz="2000" dirty="0">
                <a:ea typeface="ＭＳ Ｐゴシック" charset="0"/>
              </a:rPr>
              <a:t>.</a:t>
            </a:r>
          </a:p>
          <a:p>
            <a:pPr>
              <a:defRPr/>
            </a:pPr>
            <a:r>
              <a:rPr lang="en-US" sz="2000" dirty="0">
                <a:ea typeface="ＭＳ Ｐゴシック" charset="0"/>
              </a:rPr>
              <a:t>Otherwise, it is </a:t>
            </a:r>
            <a:r>
              <a:rPr lang="en-US" sz="2000" b="1" dirty="0">
                <a:solidFill>
                  <a:srgbClr val="006699"/>
                </a:solidFill>
                <a:latin typeface="+mj-lt"/>
              </a:rPr>
              <a:t>preemptive</a:t>
            </a:r>
            <a:r>
              <a:rPr lang="en-US" sz="2000" dirty="0">
                <a:ea typeface="ＭＳ Ｐゴシック" charset="0"/>
              </a:rPr>
              <a:t>. </a:t>
            </a:r>
          </a:p>
          <a:p>
            <a:pPr>
              <a:defRPr/>
            </a:pPr>
            <a:r>
              <a:rPr lang="en-US" sz="2000"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sz="2000" dirty="0">
                <a:ea typeface="ＭＳ Ｐゴシック" charset="0"/>
              </a:rPr>
              <a:t>Virtually all modern operating systems including Windows, MacOS, Linux, and UNIX use preemptive scheduling algorithms.</a:t>
            </a:r>
            <a:endParaRPr lang="en-US" sz="2000"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4" y="1193435"/>
            <a:ext cx="7526215" cy="4621212"/>
          </a:xfrm>
        </p:spPr>
        <p:txBody>
          <a:bodyPr/>
          <a:lstStyle/>
          <a:p>
            <a:pPr>
              <a:defRPr/>
            </a:pPr>
            <a:r>
              <a:rPr lang="en-US" sz="2000" dirty="0">
                <a:ea typeface="ＭＳ Ｐゴシック" charset="0"/>
              </a:rPr>
              <a:t>Preemptive scheduling can result in race conditions when data are shared among several processes.</a:t>
            </a:r>
          </a:p>
          <a:p>
            <a:pPr>
              <a:defRPr/>
            </a:pPr>
            <a:r>
              <a:rPr lang="en-US" sz="2000"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a:p>
            <a:pPr>
              <a:defRPr/>
            </a:pPr>
            <a:r>
              <a:rPr lang="en-US" sz="2000" dirty="0">
                <a:ea typeface="ＭＳ Ｐゴシック" charset="0"/>
              </a:rPr>
              <a:t>This issue will be explored in detail in Chapter 6.</a:t>
            </a:r>
            <a:endParaRPr lang="en-US" sz="2000" dirty="0">
              <a:ea typeface="ＭＳ Ｐゴシック" charset="-128"/>
            </a:endParaRPr>
          </a:p>
        </p:txBody>
      </p:sp>
    </p:spTree>
    <p:extLst>
      <p:ext uri="{BB962C8B-B14F-4D97-AF65-F5344CB8AC3E}">
        <p14:creationId xmlns:p14="http://schemas.microsoft.com/office/powerpoint/2010/main" val="304645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457200" y="217329"/>
            <a:ext cx="8229600" cy="576263"/>
          </a:xfrm>
        </p:spPr>
        <p:txBody>
          <a:bodyPr/>
          <a:lstStyle/>
          <a:p>
            <a:pPr eaLnBrk="1" hangingPunct="1"/>
            <a:r>
              <a:rPr lang="en-US" altLang="en-US"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type="body" idx="1"/>
          </p:nvPr>
        </p:nvSpPr>
        <p:spPr>
          <a:xfrm>
            <a:off x="849082" y="1119235"/>
            <a:ext cx="4980217" cy="4515661"/>
          </a:xfrm>
        </p:spPr>
        <p:txBody>
          <a:bodyPr/>
          <a:lstStyle/>
          <a:p>
            <a:r>
              <a:rPr lang="en-US" altLang="en-US" sz="2000" dirty="0"/>
              <a:t>Dispatcher module gives control of the CPU to the process selected by the CPU scheduler; this involves:</a:t>
            </a:r>
          </a:p>
          <a:p>
            <a:pPr lvl="1"/>
            <a:r>
              <a:rPr lang="en-US" altLang="en-US" sz="2000" dirty="0"/>
              <a:t>Switching context</a:t>
            </a:r>
          </a:p>
          <a:p>
            <a:pPr lvl="1"/>
            <a:r>
              <a:rPr lang="en-US" altLang="en-US" sz="2000" dirty="0"/>
              <a:t>Switching to user mode</a:t>
            </a:r>
          </a:p>
          <a:p>
            <a:pPr lvl="1"/>
            <a:r>
              <a:rPr lang="en-US" altLang="en-US" sz="2000" dirty="0"/>
              <a:t>Jumping to the proper location in the user program to restart that program</a:t>
            </a:r>
          </a:p>
          <a:p>
            <a:r>
              <a:rPr lang="en-US" altLang="en-US" sz="2000" b="1" dirty="0">
                <a:solidFill>
                  <a:srgbClr val="006699"/>
                </a:solidFill>
                <a:latin typeface="+mj-lt"/>
              </a:rPr>
              <a:t>Dispatch latency </a:t>
            </a:r>
            <a:r>
              <a:rPr lang="en-US" altLang="en-US" sz="2000" dirty="0"/>
              <a:t>– time it takes for the dispatcher to stop one process and start another running</a:t>
            </a:r>
          </a:p>
        </p:txBody>
      </p:sp>
      <p:pic>
        <p:nvPicPr>
          <p:cNvPr id="17411" name="Picture 1">
            <a:extLst>
              <a:ext uri="{FF2B5EF4-FFF2-40B4-BE49-F238E27FC236}">
                <a16:creationId xmlns:a16="http://schemas.microsoft.com/office/drawing/2014/main" id="{4B24D036-ECCD-4EE8-9908-C3EEA54E5CE0}"/>
              </a:ext>
            </a:extLst>
          </p:cNvPr>
          <p:cNvPicPr>
            <a:picLocks noChangeAspect="1"/>
          </p:cNvPicPr>
          <p:nvPr/>
        </p:nvPicPr>
        <p:blipFill rotWithShape="1">
          <a:blip r:embed="rId3">
            <a:extLst>
              <a:ext uri="{28A0092B-C50C-407E-A947-70E740481C1C}">
                <a14:useLocalDpi xmlns:a14="http://schemas.microsoft.com/office/drawing/2010/main" val="0"/>
              </a:ext>
            </a:extLst>
          </a:blip>
          <a:srcRect r="38893"/>
          <a:stretch/>
        </p:blipFill>
        <p:spPr bwMode="auto">
          <a:xfrm>
            <a:off x="5556824" y="1109784"/>
            <a:ext cx="3315033"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990600" y="214313"/>
            <a:ext cx="7696200" cy="576262"/>
          </a:xfrm>
        </p:spPr>
        <p:txBody>
          <a:bodyPr/>
          <a:lstStyle/>
          <a:p>
            <a:pPr eaLnBrk="1" hangingPunct="1"/>
            <a:r>
              <a:rPr lang="en-US" altLang="en-US" dirty="0"/>
              <a:t>Scheduling Criteria</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type="body" idx="1"/>
          </p:nvPr>
        </p:nvSpPr>
        <p:spPr>
          <a:xfrm>
            <a:off x="849085" y="1246189"/>
            <a:ext cx="7696200" cy="3351211"/>
          </a:xfrm>
        </p:spPr>
        <p:txBody>
          <a:bodyPr/>
          <a:lstStyle/>
          <a:p>
            <a:r>
              <a:rPr lang="en-US" altLang="en-US" sz="2000" b="1" dirty="0"/>
              <a:t>CPU utilization </a:t>
            </a:r>
            <a:r>
              <a:rPr lang="en-US" altLang="en-US" sz="2000" dirty="0"/>
              <a:t>– keep the CPU as busy as possible</a:t>
            </a:r>
          </a:p>
          <a:p>
            <a:r>
              <a:rPr lang="en-US" altLang="en-US" sz="2000" b="1" dirty="0"/>
              <a:t>Throughput</a:t>
            </a:r>
            <a:r>
              <a:rPr lang="en-US" altLang="en-US" sz="2000" dirty="0"/>
              <a:t> – # of processes that complete their execution per time unit</a:t>
            </a:r>
          </a:p>
          <a:p>
            <a:r>
              <a:rPr lang="en-US" altLang="en-US" sz="2000" b="1" dirty="0"/>
              <a:t>Turnaround time </a:t>
            </a:r>
            <a:r>
              <a:rPr lang="en-US" altLang="en-US" sz="2000" dirty="0"/>
              <a:t>– amount of time to execute a particular process</a:t>
            </a:r>
          </a:p>
          <a:p>
            <a:r>
              <a:rPr lang="en-US" altLang="en-US" sz="2000" b="1" dirty="0"/>
              <a:t>Waiting time </a:t>
            </a:r>
            <a:r>
              <a:rPr lang="en-US" altLang="en-US" sz="2000" dirty="0"/>
              <a:t>– amount of time a process has been waiting in the ready queue</a:t>
            </a:r>
          </a:p>
          <a:p>
            <a:r>
              <a:rPr lang="en-US" altLang="en-US" sz="2000" b="1" dirty="0"/>
              <a:t>Response time </a:t>
            </a:r>
            <a:r>
              <a:rPr lang="en-US" altLang="en-US" sz="2000" dirty="0"/>
              <a:t>– amount of time it takes from when a request was submitted until the first response is produced.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1423450"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type="body" idx="1"/>
          </p:nvPr>
        </p:nvSpPr>
        <p:spPr>
          <a:xfrm>
            <a:off x="852488" y="1113511"/>
            <a:ext cx="6115050" cy="4483100"/>
          </a:xfrm>
        </p:spPr>
        <p:txBody>
          <a:bodyPr/>
          <a:lstStyle/>
          <a:p>
            <a:r>
              <a:rPr lang="en-US" altLang="en-US" sz="2000" dirty="0"/>
              <a:t>Max CPU utilization</a:t>
            </a:r>
          </a:p>
          <a:p>
            <a:r>
              <a:rPr lang="en-US" altLang="en-US" sz="2000" dirty="0"/>
              <a:t>Max throughput</a:t>
            </a:r>
          </a:p>
          <a:p>
            <a:r>
              <a:rPr lang="en-US" altLang="en-US" sz="2000" dirty="0"/>
              <a:t>Min turnaround time </a:t>
            </a:r>
          </a:p>
          <a:p>
            <a:r>
              <a:rPr lang="en-US" altLang="en-US" sz="2000" dirty="0"/>
              <a:t>Min waiting time </a:t>
            </a:r>
          </a:p>
          <a:p>
            <a:r>
              <a:rPr lang="en-US" altLang="en-US" sz="2000" dirty="0"/>
              <a:t>Min response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sz="2800" dirty="0"/>
              <a:t>First- Come, First-Served (FCFS) Scheduling</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250950"/>
            <a:ext cx="7566025" cy="4114800"/>
          </a:xfrm>
        </p:spPr>
        <p:txBody>
          <a:bodyPr/>
          <a:lstStyle/>
          <a:p>
            <a:pPr>
              <a:lnSpc>
                <a:spcPct val="90000"/>
              </a:lnSpc>
              <a:buFont typeface="Monotype Sorts" pitchFamily="-84" charset="2"/>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1</a:t>
            </a:r>
            <a:r>
              <a:rPr lang="en-US" altLang="en-US" dirty="0"/>
              <a:t>	24</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2</a:t>
            </a:r>
            <a:r>
              <a:rPr lang="en-US" altLang="en-US" dirty="0"/>
              <a:t> 	3</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3	 </a:t>
            </a:r>
            <a:r>
              <a:rPr lang="en-US" altLang="en-US" dirty="0"/>
              <a:t>3</a:t>
            </a:r>
            <a:r>
              <a:rPr lang="en-US" altLang="en-US" i="1" baseline="-25000" dirty="0"/>
              <a:t> </a:t>
            </a:r>
          </a:p>
          <a:p>
            <a:pPr>
              <a:lnSpc>
                <a:spcPct val="90000"/>
              </a:lnSpc>
              <a:tabLst>
                <a:tab pos="3028950" algn="ctr"/>
                <a:tab pos="4633913" algn="ctr"/>
              </a:tabLst>
            </a:pPr>
            <a:r>
              <a:rPr lang="en-US" altLang="en-US" dirty="0"/>
              <a:t>Suppose that the processes arrive in the order: </a:t>
            </a:r>
            <a:r>
              <a:rPr lang="en-US" altLang="en-US" i="1" dirty="0"/>
              <a:t>P</a:t>
            </a:r>
            <a:r>
              <a:rPr lang="en-US" altLang="en-US" i="1" baseline="-25000" dirty="0"/>
              <a:t>1</a:t>
            </a:r>
            <a:r>
              <a:rPr lang="en-US" altLang="en-US" dirty="0"/>
              <a:t> , </a:t>
            </a:r>
            <a:r>
              <a:rPr lang="en-US" altLang="en-US" i="1" dirty="0"/>
              <a:t>P</a:t>
            </a:r>
            <a:r>
              <a:rPr lang="en-US" altLang="en-US" i="1" baseline="-25000" dirty="0"/>
              <a:t>2</a:t>
            </a:r>
            <a:r>
              <a:rPr lang="en-US" altLang="en-US" dirty="0"/>
              <a:t> , </a:t>
            </a:r>
            <a:r>
              <a:rPr lang="en-US" altLang="en-US" i="1" dirty="0"/>
              <a:t>P</a:t>
            </a:r>
            <a:r>
              <a:rPr lang="en-US" altLang="en-US" i="1" baseline="-25000" dirty="0"/>
              <a:t>3  </a:t>
            </a:r>
            <a:br>
              <a:rPr lang="en-US" altLang="en-US" i="1" baseline="-25000" dirty="0"/>
            </a:br>
            <a:r>
              <a:rPr lang="en-US" altLang="en-US" dirty="0"/>
              <a:t>The Gantt Chart for the schedule is:</a:t>
            </a:r>
            <a:br>
              <a:rPr lang="en-US" altLang="en-US" dirty="0"/>
            </a:br>
            <a:br>
              <a:rPr lang="en-US" altLang="en-US" sz="1600" dirty="0"/>
            </a:br>
            <a:br>
              <a:rPr lang="en-US" altLang="en-US" sz="1600" dirty="0"/>
            </a:br>
            <a:br>
              <a:rPr lang="en-US" altLang="en-US" sz="1600" dirty="0"/>
            </a:br>
            <a:br>
              <a:rPr lang="en-US" altLang="en-US" sz="1600" dirty="0"/>
            </a:br>
            <a:endParaRPr lang="en-US" altLang="en-US" sz="1600" dirty="0"/>
          </a:p>
          <a:p>
            <a:pPr>
              <a:lnSpc>
                <a:spcPct val="90000"/>
              </a:lnSpc>
              <a:buFont typeface="Monotype Sorts" pitchFamily="-84" charset="2"/>
              <a:buNone/>
              <a:tabLst>
                <a:tab pos="3028950" algn="ctr"/>
                <a:tab pos="4633913" algn="ctr"/>
              </a:tabLst>
            </a:pPr>
            <a:endParaRPr lang="en-US" altLang="en-US" sz="1600" dirty="0"/>
          </a:p>
          <a:p>
            <a:pPr>
              <a:lnSpc>
                <a:spcPct val="90000"/>
              </a:lnSpc>
              <a:tabLst>
                <a:tab pos="3028950" algn="ctr"/>
                <a:tab pos="4633913" algn="ctr"/>
              </a:tabLst>
            </a:pPr>
            <a:r>
              <a:rPr lang="en-US" altLang="en-US" dirty="0"/>
              <a:t>Waiting time for </a:t>
            </a:r>
            <a:r>
              <a:rPr lang="en-US" altLang="en-US" i="1" dirty="0"/>
              <a:t>P</a:t>
            </a:r>
            <a:r>
              <a:rPr lang="en-US" altLang="en-US" i="1" baseline="-25000" dirty="0"/>
              <a:t>1</a:t>
            </a:r>
            <a:r>
              <a:rPr lang="en-US" altLang="en-US" dirty="0"/>
              <a:t>  = 0; </a:t>
            </a:r>
            <a:r>
              <a:rPr lang="en-US" altLang="en-US" i="1" dirty="0"/>
              <a:t>P</a:t>
            </a:r>
            <a:r>
              <a:rPr lang="en-US" altLang="en-US" i="1" baseline="-25000" dirty="0"/>
              <a:t>2</a:t>
            </a:r>
            <a:r>
              <a:rPr lang="en-US" altLang="en-US" dirty="0"/>
              <a:t>  = 24; </a:t>
            </a:r>
            <a:r>
              <a:rPr lang="en-US" altLang="en-US" i="1" dirty="0"/>
              <a:t>P</a:t>
            </a:r>
            <a:r>
              <a:rPr lang="en-US" altLang="en-US" i="1" baseline="-25000" dirty="0"/>
              <a:t>3 </a:t>
            </a:r>
            <a:r>
              <a:rPr lang="en-US" altLang="en-US" dirty="0"/>
              <a:t>= 27</a:t>
            </a:r>
          </a:p>
          <a:p>
            <a:pPr>
              <a:lnSpc>
                <a:spcPct val="90000"/>
              </a:lnSpc>
              <a:tabLst>
                <a:tab pos="3028950" algn="ctr"/>
                <a:tab pos="4633913" algn="ctr"/>
              </a:tabLst>
            </a:pPr>
            <a:r>
              <a:rPr lang="en-US" altLang="en-US" dirty="0"/>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982663" y="231158"/>
            <a:ext cx="7704137" cy="576262"/>
          </a:xfrm>
        </p:spPr>
        <p:txBody>
          <a:bodyPr/>
          <a:lstStyle/>
          <a:p>
            <a:pPr eaLnBrk="1" hangingPunct="1"/>
            <a:r>
              <a:rPr lang="en-US" altLang="en-US" dirty="0"/>
              <a:t>FCFS Scheduling (Cont.)</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type="body" idx="1"/>
          </p:nvPr>
        </p:nvSpPr>
        <p:spPr>
          <a:xfrm>
            <a:off x="855663" y="1233488"/>
            <a:ext cx="7704137" cy="4900612"/>
          </a:xfrm>
        </p:spPr>
        <p:txBody>
          <a:bodyPr/>
          <a:lstStyle/>
          <a:p>
            <a:pPr>
              <a:buFont typeface="Monotype Sorts" pitchFamily="-84" charset="2"/>
              <a:buNone/>
              <a:tabLst>
                <a:tab pos="3649345" algn="ctr"/>
              </a:tabLst>
              <a:defRPr/>
            </a:pPr>
            <a:r>
              <a:rPr lang="en-US" altLang="en-US" sz="2000" dirty="0">
                <a:cs typeface="ＭＳ Ｐゴシック" charset="-128"/>
              </a:rPr>
              <a:t>Suppose that the processes arrive in the order:</a:t>
            </a:r>
          </a:p>
          <a:p>
            <a:pPr>
              <a:buFont typeface="Monotype Sorts" pitchFamily="-84" charset="2"/>
              <a:buNone/>
              <a:tabLst>
                <a:tab pos="3649345"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2</a:t>
            </a:r>
            <a:r>
              <a:rPr lang="en-US" altLang="en-US" sz="2000" dirty="0">
                <a:cs typeface="ＭＳ Ｐゴシック" charset="-128"/>
              </a:rPr>
              <a:t> , </a:t>
            </a:r>
            <a:r>
              <a:rPr lang="en-US" altLang="en-US" sz="2000" i="1" dirty="0">
                <a:cs typeface="ＭＳ Ｐゴシック" charset="-128"/>
              </a:rPr>
              <a:t>P</a:t>
            </a:r>
            <a:r>
              <a:rPr lang="en-US" altLang="en-US" sz="2000" i="1" baseline="-25000" dirty="0">
                <a:cs typeface="ＭＳ Ｐゴシック" charset="-128"/>
              </a:rPr>
              <a:t>3</a:t>
            </a:r>
            <a:r>
              <a:rPr lang="en-US" altLang="en-US" sz="2000" dirty="0">
                <a:cs typeface="ＭＳ Ｐゴシック" charset="-128"/>
              </a:rPr>
              <a:t> , </a:t>
            </a:r>
            <a:r>
              <a:rPr lang="en-US" altLang="en-US" sz="2000" i="1" dirty="0">
                <a:cs typeface="ＭＳ Ｐゴシック" charset="-128"/>
              </a:rPr>
              <a:t>P</a:t>
            </a:r>
            <a:r>
              <a:rPr lang="en-US" altLang="en-US" sz="2000" i="1" baseline="-25000" dirty="0">
                <a:cs typeface="ＭＳ Ｐゴシック" charset="-128"/>
              </a:rPr>
              <a:t>1</a:t>
            </a:r>
            <a:r>
              <a:rPr lang="en-US" altLang="en-US" sz="2000" dirty="0">
                <a:cs typeface="ＭＳ Ｐゴシック" charset="-128"/>
              </a:rPr>
              <a:t> </a:t>
            </a:r>
          </a:p>
          <a:p>
            <a:pPr>
              <a:tabLst>
                <a:tab pos="3649345" algn="ctr"/>
              </a:tabLst>
              <a:defRPr/>
            </a:pPr>
            <a:r>
              <a:rPr lang="en-US" altLang="en-US" sz="2000" dirty="0">
                <a:cs typeface="ＭＳ Ｐゴシック" charset="-128"/>
              </a:rPr>
              <a:t>The Gantt chart for the schedule is:</a:t>
            </a:r>
            <a:br>
              <a:rPr lang="en-US" altLang="en-US" sz="2000" dirty="0">
                <a:cs typeface="ＭＳ Ｐゴシック" charset="-128"/>
              </a:rPr>
            </a:br>
            <a:endParaRPr lang="en-US" altLang="en-US" sz="2000" dirty="0">
              <a:cs typeface="ＭＳ Ｐゴシック" charset="-128"/>
            </a:endParaRPr>
          </a:p>
          <a:p>
            <a:pPr>
              <a:tabLst>
                <a:tab pos="3649345" algn="ctr"/>
              </a:tabLst>
              <a:defRPr/>
            </a:pPr>
            <a:endParaRPr lang="en-US" altLang="en-US" sz="2000" dirty="0">
              <a:cs typeface="ＭＳ Ｐゴシック" charset="-128"/>
            </a:endParaRPr>
          </a:p>
          <a:p>
            <a:pPr marL="0" indent="0">
              <a:buFont typeface="Monotype Sorts" pitchFamily="-84" charset="2"/>
              <a:buNone/>
              <a:tabLst>
                <a:tab pos="3649345" algn="ctr"/>
              </a:tabLst>
              <a:defRPr/>
            </a:pPr>
            <a:endParaRPr lang="en-US" altLang="en-US" sz="2000" dirty="0">
              <a:cs typeface="ＭＳ Ｐゴシック" charset="-128"/>
            </a:endParaRPr>
          </a:p>
          <a:p>
            <a:pPr>
              <a:tabLst>
                <a:tab pos="3649345" algn="ctr"/>
              </a:tabLst>
              <a:defRPr/>
            </a:pPr>
            <a:r>
              <a:rPr lang="en-US" altLang="en-US" sz="2000" dirty="0">
                <a:cs typeface="ＭＳ Ｐゴシック" charset="-128"/>
              </a:rPr>
              <a:t>Waiting time for </a:t>
            </a:r>
            <a:r>
              <a:rPr lang="en-US" altLang="en-US" sz="2000" i="1" dirty="0">
                <a:cs typeface="ＭＳ Ｐゴシック" charset="-128"/>
              </a:rPr>
              <a:t>P</a:t>
            </a:r>
            <a:r>
              <a:rPr lang="en-US" altLang="en-US" sz="2000" i="1" baseline="-25000" dirty="0">
                <a:cs typeface="ＭＳ Ｐゴシック" charset="-128"/>
              </a:rPr>
              <a:t>1 </a:t>
            </a:r>
            <a:r>
              <a:rPr lang="en-US" altLang="en-US" sz="2000" i="1" dirty="0">
                <a:cs typeface="ＭＳ Ｐゴシック" charset="-128"/>
              </a:rPr>
              <a:t>=</a:t>
            </a:r>
            <a:r>
              <a:rPr lang="en-US" altLang="en-US" sz="2000" dirty="0">
                <a:cs typeface="ＭＳ Ｐゴシック" charset="-128"/>
              </a:rPr>
              <a:t> 6</a:t>
            </a:r>
            <a:r>
              <a:rPr lang="en-US" altLang="en-US" sz="2000" i="1" dirty="0">
                <a:cs typeface="ＭＳ Ｐゴシック" charset="-128"/>
              </a:rPr>
              <a:t>;</a:t>
            </a:r>
            <a:r>
              <a:rPr lang="en-US" altLang="en-US" sz="2000" i="1" baseline="-25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2</a:t>
            </a:r>
            <a:r>
              <a:rPr lang="en-US" altLang="en-US" sz="2000" dirty="0">
                <a:cs typeface="ＭＳ Ｐゴシック" charset="-128"/>
              </a:rPr>
              <a:t> = 0</a:t>
            </a:r>
            <a:r>
              <a:rPr lang="en-US" altLang="en-US" sz="2000" i="1" baseline="-25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3 </a:t>
            </a:r>
            <a:r>
              <a:rPr lang="en-US" altLang="en-US" sz="2000" i="1" dirty="0">
                <a:cs typeface="ＭＳ Ｐゴシック" charset="-128"/>
              </a:rPr>
              <a:t>= </a:t>
            </a:r>
            <a:r>
              <a:rPr lang="en-US" altLang="en-US" sz="2000" dirty="0">
                <a:cs typeface="ＭＳ Ｐゴシック" charset="-128"/>
              </a:rPr>
              <a:t>3</a:t>
            </a:r>
            <a:endParaRPr lang="en-US" altLang="en-US" sz="2000" i="1" dirty="0">
              <a:cs typeface="ＭＳ Ｐゴシック" charset="-128"/>
            </a:endParaRPr>
          </a:p>
          <a:p>
            <a:pPr>
              <a:tabLst>
                <a:tab pos="3649345" algn="ctr"/>
              </a:tabLst>
              <a:defRPr/>
            </a:pPr>
            <a:r>
              <a:rPr lang="en-US" altLang="en-US" sz="2000" dirty="0">
                <a:cs typeface="ＭＳ Ｐゴシック" charset="-128"/>
              </a:rPr>
              <a:t>Average waiting time:   (6 + 0 + 3)/3 = 3</a:t>
            </a:r>
          </a:p>
          <a:p>
            <a:pPr>
              <a:tabLst>
                <a:tab pos="3649345" algn="ctr"/>
              </a:tabLst>
              <a:defRPr/>
            </a:pPr>
            <a:r>
              <a:rPr lang="en-US" altLang="en-US" sz="2000" dirty="0">
                <a:cs typeface="ＭＳ Ｐゴシック" charset="-128"/>
              </a:rPr>
              <a:t>Much better than previous case</a:t>
            </a:r>
          </a:p>
          <a:p>
            <a:pPr>
              <a:tabLst>
                <a:tab pos="3649345" algn="ctr"/>
              </a:tabLst>
              <a:defRPr/>
            </a:pPr>
            <a:r>
              <a:rPr lang="en-US" altLang="en-US" sz="2000" b="1" dirty="0">
                <a:solidFill>
                  <a:srgbClr val="006699"/>
                </a:solidFill>
                <a:latin typeface="+mj-lt"/>
              </a:rPr>
              <a:t>Convoy</a:t>
            </a:r>
            <a:r>
              <a:rPr lang="en-US" altLang="en-US" sz="2000" b="1" dirty="0">
                <a:solidFill>
                  <a:srgbClr val="3366FF"/>
                </a:solidFill>
                <a:cs typeface="ＭＳ Ｐゴシック" charset="-128"/>
              </a:rPr>
              <a:t> </a:t>
            </a:r>
            <a:r>
              <a:rPr lang="en-US" altLang="en-US" sz="2000" b="1" dirty="0">
                <a:solidFill>
                  <a:srgbClr val="006699"/>
                </a:solidFill>
                <a:latin typeface="+mj-lt"/>
              </a:rPr>
              <a:t>effect</a:t>
            </a:r>
            <a:r>
              <a:rPr lang="en-US" altLang="en-US" sz="2000" b="1" dirty="0">
                <a:solidFill>
                  <a:srgbClr val="3366FF"/>
                </a:solidFill>
                <a:cs typeface="ＭＳ Ｐゴシック" charset="-128"/>
              </a:rPr>
              <a:t> </a:t>
            </a:r>
            <a:r>
              <a:rPr lang="en-US" altLang="en-US" sz="2000" dirty="0">
                <a:cs typeface="ＭＳ Ｐゴシック" charset="-128"/>
              </a:rPr>
              <a:t>- short process behind long process</a:t>
            </a:r>
          </a:p>
          <a:p>
            <a:pPr lvl="1">
              <a:tabLst>
                <a:tab pos="3649345" algn="ctr"/>
              </a:tabLst>
              <a:defRPr/>
            </a:pPr>
            <a:r>
              <a:rPr lang="en-US" altLang="en-US" sz="2000" dirty="0"/>
              <a:t>Consider one CPU-bound and many I/O-bound processes</a:t>
            </a: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508000" y="1233489"/>
            <a:ext cx="8305045" cy="3363912"/>
          </a:xfrm>
        </p:spPr>
        <p:txBody>
          <a:bodyPr/>
          <a:lstStyle/>
          <a:p>
            <a:r>
              <a:rPr lang="en-US" altLang="en-US" sz="2000" dirty="0"/>
              <a:t>Associate with each process the length of its next CPU burst</a:t>
            </a:r>
          </a:p>
          <a:p>
            <a:pPr lvl="1"/>
            <a:r>
              <a:rPr lang="en-US" altLang="en-US" sz="2000" dirty="0"/>
              <a:t>Use these lengths to schedule the process with the shortest time</a:t>
            </a:r>
          </a:p>
          <a:p>
            <a:r>
              <a:rPr lang="en-US" altLang="en-US" sz="2000" dirty="0"/>
              <a:t>SJF is optimal – gives minimum average waiting time for a given set of processes</a:t>
            </a:r>
          </a:p>
          <a:p>
            <a:r>
              <a:rPr lang="en-US" altLang="en-US" sz="2000" dirty="0">
                <a:cs typeface="ＭＳ Ｐゴシック" charset="-128"/>
              </a:rPr>
              <a:t>Preemptive version called </a:t>
            </a:r>
            <a:r>
              <a:rPr lang="en-US" altLang="en-US" sz="2000" b="1" dirty="0">
                <a:solidFill>
                  <a:srgbClr val="006699"/>
                </a:solidFill>
                <a:latin typeface="+mj-lt"/>
              </a:rPr>
              <a:t>shortest-remaining-time-first</a:t>
            </a:r>
          </a:p>
          <a:p>
            <a:r>
              <a:rPr lang="en-US" altLang="en-US" sz="2000" dirty="0"/>
              <a:t>How do we determine the length of the next CPU burst?</a:t>
            </a:r>
          </a:p>
          <a:p>
            <a:pPr lvl="1"/>
            <a:r>
              <a:rPr lang="en-US" altLang="en-US" sz="2000" dirty="0"/>
              <a:t>Could ask the user</a:t>
            </a:r>
          </a:p>
          <a:p>
            <a:pPr lvl="1"/>
            <a:r>
              <a:rPr lang="en-US" altLang="en-US" sz="2000" dirty="0"/>
              <a:t>Estimate</a:t>
            </a:r>
          </a:p>
          <a:p>
            <a:pPr lvl="1"/>
            <a:endParaRPr lang="en-US" altLang="en-US" sz="2000" dirty="0"/>
          </a:p>
        </p:txBody>
      </p:sp>
    </p:spTree>
    <p:extLst>
      <p:ext uri="{BB962C8B-B14F-4D97-AF65-F5344CB8AC3E}">
        <p14:creationId xmlns:p14="http://schemas.microsoft.com/office/powerpoint/2010/main" val="413677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dirty="0"/>
              <a:t>Example of SJF</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085849"/>
            <a:ext cx="7788048" cy="4594679"/>
          </a:xfrm>
        </p:spPr>
        <p:txBody>
          <a:bodyPr/>
          <a:lstStyle/>
          <a:p>
            <a:pPr>
              <a:lnSpc>
                <a:spcPct val="90000"/>
              </a:lnSpc>
              <a:buFont typeface="Monotype Sorts" pitchFamily="-84" charset="2"/>
              <a:buNone/>
              <a:tabLst>
                <a:tab pos="3028950" algn="ctr"/>
                <a:tab pos="4633913" algn="ctr"/>
              </a:tabLst>
            </a:pPr>
            <a:r>
              <a:rPr lang="en-US" altLang="en-US" sz="2000" dirty="0"/>
              <a:t>		</a:t>
            </a:r>
            <a:r>
              <a:rPr lang="en-US" altLang="en-US" sz="2000" u="sng" dirty="0"/>
              <a:t>Process</a:t>
            </a:r>
            <a:r>
              <a:rPr lang="en-US" altLang="en-US" sz="2000" dirty="0"/>
              <a:t>	</a:t>
            </a:r>
            <a:r>
              <a:rPr lang="en-US" altLang="en-US" sz="2000" u="sng" dirty="0"/>
              <a:t>Burst Time	</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1</a:t>
            </a:r>
            <a:r>
              <a:rPr lang="en-US" altLang="en-US" sz="2000" dirty="0"/>
              <a:t>	6</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2</a:t>
            </a:r>
            <a:r>
              <a:rPr lang="en-US" altLang="en-US" sz="2000" dirty="0"/>
              <a:t> 	8</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3	 </a:t>
            </a:r>
            <a:r>
              <a:rPr lang="en-US" altLang="en-US" sz="2000" dirty="0"/>
              <a:t>7</a:t>
            </a:r>
          </a:p>
          <a:p>
            <a:pPr>
              <a:lnSpc>
                <a:spcPct val="90000"/>
              </a:lnSpc>
              <a:buFont typeface="Monotype Sorts" pitchFamily="-84" charset="2"/>
              <a:buNone/>
              <a:tabLst>
                <a:tab pos="3028950" algn="ctr"/>
                <a:tab pos="4633913" algn="ctr"/>
              </a:tabLst>
            </a:pPr>
            <a:r>
              <a:rPr lang="en-US" altLang="en-US" sz="2000" i="1" baseline="-25000" dirty="0"/>
              <a:t>                                                                    </a:t>
            </a:r>
            <a:r>
              <a:rPr lang="en-US" altLang="en-US" sz="2000" i="1" dirty="0"/>
              <a:t>P</a:t>
            </a:r>
            <a:r>
              <a:rPr lang="en-US" altLang="en-US" sz="2000" i="1" baseline="-25000" dirty="0"/>
              <a:t>4	 </a:t>
            </a:r>
            <a:r>
              <a:rPr lang="en-US" altLang="en-US" sz="2000" dirty="0"/>
              <a:t>3</a:t>
            </a:r>
          </a:p>
          <a:p>
            <a:pPr>
              <a:lnSpc>
                <a:spcPct val="90000"/>
              </a:lnSpc>
              <a:buFont typeface="Monotype Sorts" pitchFamily="-84" charset="2"/>
              <a:buNone/>
              <a:tabLst>
                <a:tab pos="3028950" algn="ctr"/>
                <a:tab pos="4633913" algn="ctr"/>
              </a:tabLst>
            </a:pPr>
            <a:endParaRPr lang="en-US" altLang="en-US" sz="2000" i="1" baseline="-25000" dirty="0"/>
          </a:p>
          <a:p>
            <a:pPr>
              <a:lnSpc>
                <a:spcPct val="90000"/>
              </a:lnSpc>
              <a:tabLst>
                <a:tab pos="3028950" algn="ctr"/>
                <a:tab pos="4633913" algn="ctr"/>
              </a:tabLst>
            </a:pPr>
            <a:r>
              <a:rPr lang="en-US" altLang="en-US" sz="2000" dirty="0"/>
              <a:t>SJF scheduling chart</a:t>
            </a:r>
            <a:br>
              <a:rPr lang="en-US" altLang="en-US" sz="2000" dirty="0"/>
            </a:br>
            <a:br>
              <a:rPr lang="en-US" altLang="en-US" sz="2000" dirty="0"/>
            </a:br>
            <a:br>
              <a:rPr lang="en-US" altLang="en-US" sz="2000" dirty="0"/>
            </a:br>
            <a:br>
              <a:rPr lang="en-US" altLang="en-US" sz="2000" dirty="0"/>
            </a:br>
            <a:br>
              <a:rPr lang="en-US" altLang="en-US" sz="2000" dirty="0"/>
            </a:br>
            <a:endParaRPr lang="en-US" altLang="en-US" sz="2000" dirty="0"/>
          </a:p>
          <a:p>
            <a:pPr marL="0" indent="0">
              <a:lnSpc>
                <a:spcPct val="90000"/>
              </a:lnSpc>
              <a:buNone/>
              <a:tabLst>
                <a:tab pos="3028950" algn="ctr"/>
                <a:tab pos="4633913" algn="ctr"/>
              </a:tabLst>
            </a:pPr>
            <a:endParaRPr lang="en-US" altLang="en-US" sz="2000" dirty="0"/>
          </a:p>
          <a:p>
            <a:pPr>
              <a:lnSpc>
                <a:spcPct val="90000"/>
              </a:lnSpc>
              <a:tabLst>
                <a:tab pos="3028950" algn="ctr"/>
                <a:tab pos="4633913" algn="ctr"/>
              </a:tabLst>
            </a:pPr>
            <a:r>
              <a:rPr lang="en-US" altLang="en-US" sz="2000" dirty="0"/>
              <a:t>Average waiting time = (3 + 16 + 9 + 0) / 4 = 7</a:t>
            </a:r>
          </a:p>
        </p:txBody>
      </p:sp>
      <p:pic>
        <p:nvPicPr>
          <p:cNvPr id="5" name="Picture 1">
            <a:extLst>
              <a:ext uri="{FF2B5EF4-FFF2-40B4-BE49-F238E27FC236}">
                <a16:creationId xmlns:a16="http://schemas.microsoft.com/office/drawing/2014/main" id="{DADC6AF8-4597-4452-983E-FCBE4FEE15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6952" y="3755574"/>
            <a:ext cx="6093760" cy="82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220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A3CFFB8-E2A9-4251-9DDA-A9BF289B2979}"/>
              </a:ext>
            </a:extLst>
          </p:cNvPr>
          <p:cNvSpPr>
            <a:spLocks noGrp="1" noChangeArrowheads="1"/>
          </p:cNvSpPr>
          <p:nvPr>
            <p:ph type="title"/>
          </p:nvPr>
        </p:nvSpPr>
        <p:spPr>
          <a:xfrm>
            <a:off x="987629" y="165918"/>
            <a:ext cx="8249492" cy="611187"/>
          </a:xfrm>
        </p:spPr>
        <p:txBody>
          <a:bodyPr/>
          <a:lstStyle/>
          <a:p>
            <a:pPr eaLnBrk="1" hangingPunct="1"/>
            <a:r>
              <a:rPr lang="en-US" altLang="en-US" dirty="0"/>
              <a:t>Determining Length of Next CPU Burst</a:t>
            </a:r>
          </a:p>
        </p:txBody>
      </p:sp>
      <p:sp>
        <p:nvSpPr>
          <p:cNvPr id="16387" name="Rectangle 3">
            <a:extLst>
              <a:ext uri="{FF2B5EF4-FFF2-40B4-BE49-F238E27FC236}">
                <a16:creationId xmlns:a16="http://schemas.microsoft.com/office/drawing/2014/main" id="{8340EA5D-E641-4F83-8451-8011ACC73F79}"/>
              </a:ext>
            </a:extLst>
          </p:cNvPr>
          <p:cNvSpPr>
            <a:spLocks noGrp="1" noChangeArrowheads="1"/>
          </p:cNvSpPr>
          <p:nvPr>
            <p:ph type="body" idx="1"/>
          </p:nvPr>
        </p:nvSpPr>
        <p:spPr>
          <a:xfrm>
            <a:off x="802433" y="1233488"/>
            <a:ext cx="7681167" cy="4935537"/>
          </a:xfrm>
        </p:spPr>
        <p:txBody>
          <a:bodyPr/>
          <a:lstStyle/>
          <a:p>
            <a:pPr>
              <a:defRPr/>
            </a:pPr>
            <a:r>
              <a:rPr lang="en-US" altLang="en-US" sz="2000" dirty="0">
                <a:cs typeface="ＭＳ Ｐゴシック" charset="-128"/>
              </a:rPr>
              <a:t>Can only estimate the length – should be similar to the previous one</a:t>
            </a:r>
          </a:p>
          <a:p>
            <a:pPr lvl="1">
              <a:defRPr/>
            </a:pPr>
            <a:r>
              <a:rPr lang="en-US" altLang="en-US" sz="2000" dirty="0"/>
              <a:t>Then pick process with shortest predicted next CPU burst</a:t>
            </a:r>
            <a:endParaRPr lang="en-US" altLang="en-US" sz="2000" dirty="0">
              <a:cs typeface="ＭＳ Ｐゴシック" charset="-128"/>
            </a:endParaRPr>
          </a:p>
          <a:p>
            <a:pPr>
              <a:defRPr/>
            </a:pPr>
            <a:r>
              <a:rPr lang="en-US" altLang="en-US" sz="2000" dirty="0">
                <a:cs typeface="ＭＳ Ｐゴシック" charset="-128"/>
              </a:rPr>
              <a:t>Can be done by using the length of previous CPU bursts, using exponential averaging</a:t>
            </a:r>
          </a:p>
          <a:p>
            <a:pPr>
              <a:defRPr/>
            </a:pPr>
            <a:endParaRPr lang="en-US" altLang="en-US" sz="2000" dirty="0">
              <a:cs typeface="ＭＳ Ｐゴシック" charset="-128"/>
            </a:endParaRPr>
          </a:p>
          <a:p>
            <a:pPr>
              <a:defRPr/>
            </a:pPr>
            <a:endParaRPr lang="en-US" altLang="en-US" sz="2000" dirty="0">
              <a:cs typeface="ＭＳ Ｐゴシック" charset="-128"/>
            </a:endParaRPr>
          </a:p>
          <a:p>
            <a:pPr>
              <a:defRPr/>
            </a:pPr>
            <a:endParaRPr lang="en-US" altLang="en-US" sz="2000" dirty="0">
              <a:cs typeface="ＭＳ Ｐゴシック" charset="-128"/>
            </a:endParaRPr>
          </a:p>
          <a:p>
            <a:pPr marL="0" indent="0">
              <a:buFont typeface="Monotype Sorts" pitchFamily="-84" charset="2"/>
              <a:buNone/>
              <a:defRPr/>
            </a:pPr>
            <a:endParaRPr lang="en-US" altLang="en-US" sz="2000" dirty="0">
              <a:cs typeface="ＭＳ Ｐゴシック" charset="-128"/>
            </a:endParaRPr>
          </a:p>
          <a:p>
            <a:pPr marL="0" indent="0">
              <a:buFont typeface="Monotype Sorts" pitchFamily="-84" charset="2"/>
              <a:buNone/>
              <a:defRPr/>
            </a:pPr>
            <a:endParaRPr lang="en-US" altLang="en-US" sz="2000" dirty="0">
              <a:cs typeface="ＭＳ Ｐゴシック" charset="-128"/>
            </a:endParaRPr>
          </a:p>
          <a:p>
            <a:pPr>
              <a:defRPr/>
            </a:pPr>
            <a:r>
              <a:rPr lang="en-US" altLang="en-US" sz="2000" dirty="0">
                <a:cs typeface="ＭＳ Ｐゴシック" charset="-128"/>
              </a:rPr>
              <a:t>Commonly, </a:t>
            </a:r>
            <a:r>
              <a:rPr lang="en-US" altLang="en-US" sz="2000" dirty="0">
                <a:latin typeface="Lucida Grande" pitchFamily="-84" charset="0"/>
                <a:cs typeface="ＭＳ Ｐゴシック" charset="-128"/>
              </a:rPr>
              <a:t>α </a:t>
            </a:r>
            <a:r>
              <a:rPr lang="en-US" altLang="en-US" sz="2000" dirty="0">
                <a:cs typeface="ＭＳ Ｐゴシック" charset="-128"/>
              </a:rPr>
              <a:t>set to ½</a:t>
            </a:r>
          </a:p>
        </p:txBody>
      </p:sp>
      <p:pic>
        <p:nvPicPr>
          <p:cNvPr id="31748" name="Picture 1">
            <a:extLst>
              <a:ext uri="{FF2B5EF4-FFF2-40B4-BE49-F238E27FC236}">
                <a16:creationId xmlns:a16="http://schemas.microsoft.com/office/drawing/2014/main" id="{E328DB97-6C8D-4434-AF77-5C40A02A28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65422" y="4336017"/>
            <a:ext cx="24511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Graphical user interface, text, application&#10;&#10;Description automatically generated">
            <a:extLst>
              <a:ext uri="{FF2B5EF4-FFF2-40B4-BE49-F238E27FC236}">
                <a16:creationId xmlns:a16="http://schemas.microsoft.com/office/drawing/2014/main" id="{427B0884-5EC4-48E6-847A-70815D91C373}"/>
              </a:ext>
            </a:extLst>
          </p:cNvPr>
          <p:cNvPicPr>
            <a:picLocks noChangeAspect="1"/>
          </p:cNvPicPr>
          <p:nvPr/>
        </p:nvPicPr>
        <p:blipFill>
          <a:blip r:embed="rId4"/>
          <a:stretch>
            <a:fillRect/>
          </a:stretch>
        </p:blipFill>
        <p:spPr>
          <a:xfrm>
            <a:off x="1504165" y="3081122"/>
            <a:ext cx="4457700" cy="1371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3ABB015E-7AD3-4A84-AE93-94E9C1B95CA6}"/>
              </a:ext>
            </a:extLst>
          </p:cNvPr>
          <p:cNvSpPr>
            <a:spLocks noGrp="1" noChangeArrowheads="1"/>
          </p:cNvSpPr>
          <p:nvPr>
            <p:ph type="title"/>
          </p:nvPr>
        </p:nvSpPr>
        <p:spPr>
          <a:xfrm>
            <a:off x="810949" y="131828"/>
            <a:ext cx="8223250" cy="677863"/>
          </a:xfrm>
        </p:spPr>
        <p:txBody>
          <a:bodyPr/>
          <a:lstStyle/>
          <a:p>
            <a:pPr eaLnBrk="1" hangingPunct="1"/>
            <a:r>
              <a:rPr lang="en-US" altLang="en-US" sz="2600" dirty="0"/>
              <a:t>Prediction of the Length of the Next CPU Burst</a:t>
            </a:r>
          </a:p>
        </p:txBody>
      </p:sp>
      <p:pic>
        <p:nvPicPr>
          <p:cNvPr id="33794" name="Picture 2">
            <a:extLst>
              <a:ext uri="{FF2B5EF4-FFF2-40B4-BE49-F238E27FC236}">
                <a16:creationId xmlns:a16="http://schemas.microsoft.com/office/drawing/2014/main" id="{13C6E507-3240-4702-A49A-38E2AFA029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1598613"/>
            <a:ext cx="5470525"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9F41D91-5CCD-4C10-BD4B-8757760950E9}"/>
              </a:ext>
            </a:extLst>
          </p:cNvPr>
          <p:cNvSpPr>
            <a:spLocks noGrp="1" noChangeArrowheads="1"/>
          </p:cNvSpPr>
          <p:nvPr>
            <p:ph type="title"/>
          </p:nvPr>
        </p:nvSpPr>
        <p:spPr>
          <a:xfrm>
            <a:off x="1175460" y="229606"/>
            <a:ext cx="7451725" cy="576262"/>
          </a:xfrm>
        </p:spPr>
        <p:txBody>
          <a:bodyPr/>
          <a:lstStyle/>
          <a:p>
            <a:pPr eaLnBrk="1" hangingPunct="1"/>
            <a:r>
              <a:rPr lang="en-US" altLang="en-US" dirty="0"/>
              <a:t>Examples of Exponential Averaging</a:t>
            </a:r>
          </a:p>
        </p:txBody>
      </p:sp>
      <p:sp>
        <p:nvSpPr>
          <p:cNvPr id="35842" name="Rectangle 3">
            <a:extLst>
              <a:ext uri="{FF2B5EF4-FFF2-40B4-BE49-F238E27FC236}">
                <a16:creationId xmlns:a16="http://schemas.microsoft.com/office/drawing/2014/main" id="{D651A984-67C5-468C-8F88-230FFA867BD5}"/>
              </a:ext>
            </a:extLst>
          </p:cNvPr>
          <p:cNvSpPr>
            <a:spLocks noGrp="1" noChangeArrowheads="1"/>
          </p:cNvSpPr>
          <p:nvPr>
            <p:ph type="body" idx="1"/>
          </p:nvPr>
        </p:nvSpPr>
        <p:spPr>
          <a:xfrm>
            <a:off x="1041400" y="1233488"/>
            <a:ext cx="7585784" cy="5129212"/>
          </a:xfrm>
        </p:spPr>
        <p:txBody>
          <a:bodyPr/>
          <a:lstStyle/>
          <a:p>
            <a:pPr>
              <a:lnSpc>
                <a:spcPct val="90000"/>
              </a:lnSpc>
            </a:pPr>
            <a:r>
              <a:rPr lang="en-US" altLang="en-US" sz="2000" dirty="0">
                <a:sym typeface="Symbol" panose="05050102010706020507" pitchFamily="18" charset="2"/>
              </a:rPr>
              <a:t> =0</a:t>
            </a:r>
          </a:p>
          <a:p>
            <a:pPr lvl="1">
              <a:lnSpc>
                <a:spcPct val="90000"/>
              </a:lnSpc>
            </a:pPr>
            <a:r>
              <a:rPr lang="en-US" altLang="en-US" sz="2000" dirty="0">
                <a:sym typeface="Symbol" panose="05050102010706020507" pitchFamily="18" charset="2"/>
              </a:rPr>
              <a:t></a:t>
            </a:r>
            <a:r>
              <a:rPr lang="en-US" altLang="en-US" sz="2000" baseline="-25000" dirty="0">
                <a:sym typeface="Symbol" panose="05050102010706020507" pitchFamily="18" charset="2"/>
              </a:rPr>
              <a:t>n+1</a:t>
            </a:r>
            <a:r>
              <a:rPr lang="en-US" altLang="en-US" sz="2000" dirty="0">
                <a:sym typeface="Symbol" panose="05050102010706020507" pitchFamily="18" charset="2"/>
              </a:rPr>
              <a:t> = </a:t>
            </a:r>
            <a:r>
              <a:rPr lang="en-US" altLang="en-US" sz="2000" baseline="-25000" dirty="0">
                <a:sym typeface="Symbol" panose="05050102010706020507" pitchFamily="18" charset="2"/>
              </a:rPr>
              <a:t>n</a:t>
            </a:r>
          </a:p>
          <a:p>
            <a:pPr lvl="1">
              <a:lnSpc>
                <a:spcPct val="90000"/>
              </a:lnSpc>
            </a:pPr>
            <a:r>
              <a:rPr lang="en-US" altLang="en-US" sz="2000" dirty="0">
                <a:sym typeface="Symbol" panose="05050102010706020507" pitchFamily="18" charset="2"/>
              </a:rPr>
              <a:t>Recent history does not count</a:t>
            </a:r>
          </a:p>
          <a:p>
            <a:pPr>
              <a:lnSpc>
                <a:spcPct val="90000"/>
              </a:lnSpc>
            </a:pPr>
            <a:r>
              <a:rPr lang="en-US" altLang="en-US" sz="2000" dirty="0">
                <a:sym typeface="Symbol" panose="05050102010706020507" pitchFamily="18" charset="2"/>
              </a:rPr>
              <a:t> =1</a:t>
            </a:r>
          </a:p>
          <a:p>
            <a:pPr lvl="1">
              <a:lnSpc>
                <a:spcPct val="90000"/>
              </a:lnSpc>
            </a:pPr>
            <a:r>
              <a:rPr lang="en-US" altLang="en-US" sz="2000" dirty="0">
                <a:sym typeface="Symbol" panose="05050102010706020507" pitchFamily="18" charset="2"/>
              </a:rPr>
              <a:t> </a:t>
            </a:r>
            <a:r>
              <a:rPr lang="en-US" altLang="en-US" sz="2000" baseline="-25000" dirty="0">
                <a:sym typeface="Symbol" panose="05050102010706020507" pitchFamily="18" charset="2"/>
              </a:rPr>
              <a:t>n+1</a:t>
            </a:r>
            <a:r>
              <a:rPr lang="en-US" altLang="en-US" sz="2000" dirty="0">
                <a:sym typeface="Symbol" panose="05050102010706020507" pitchFamily="18" charset="2"/>
              </a:rPr>
              <a:t> =  </a:t>
            </a:r>
            <a:r>
              <a:rPr lang="en-US" altLang="en-US" sz="2000" i="1" dirty="0" err="1">
                <a:sym typeface="Symbol" panose="05050102010706020507" pitchFamily="18" charset="2"/>
              </a:rPr>
              <a:t>t</a:t>
            </a:r>
            <a:r>
              <a:rPr lang="en-US" altLang="en-US" sz="2000" baseline="-25000" dirty="0" err="1">
                <a:sym typeface="Symbol" panose="05050102010706020507" pitchFamily="18" charset="2"/>
              </a:rPr>
              <a:t>n</a:t>
            </a:r>
            <a:endParaRPr lang="en-US" altLang="en-US" sz="2000" baseline="-25000" dirty="0">
              <a:sym typeface="Symbol" panose="05050102010706020507" pitchFamily="18" charset="2"/>
            </a:endParaRPr>
          </a:p>
          <a:p>
            <a:pPr lvl="1">
              <a:lnSpc>
                <a:spcPct val="90000"/>
              </a:lnSpc>
            </a:pPr>
            <a:r>
              <a:rPr lang="en-US" altLang="en-US" sz="2000" dirty="0">
                <a:sym typeface="Symbol" panose="05050102010706020507" pitchFamily="18" charset="2"/>
              </a:rPr>
              <a:t>Only the actual last CPU burst counts</a:t>
            </a:r>
          </a:p>
          <a:p>
            <a:pPr>
              <a:lnSpc>
                <a:spcPct val="90000"/>
              </a:lnSpc>
            </a:pPr>
            <a:r>
              <a:rPr lang="en-US" altLang="en-US" sz="2000"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sz="2000" dirty="0">
                <a:sym typeface="Symbol" panose="05050102010706020507" pitchFamily="18" charset="2"/>
              </a:rPr>
              <a:t></a:t>
            </a:r>
            <a:r>
              <a:rPr lang="en-US" altLang="en-US" sz="2000" i="1" baseline="-25000" dirty="0">
                <a:sym typeface="Symbol" panose="05050102010706020507" pitchFamily="18" charset="2"/>
              </a:rPr>
              <a:t>n</a:t>
            </a:r>
            <a:r>
              <a:rPr lang="en-US" altLang="en-US" sz="2000" baseline="-25000" dirty="0">
                <a:sym typeface="Symbol" panose="05050102010706020507" pitchFamily="18" charset="2"/>
              </a:rPr>
              <a:t>+1</a:t>
            </a:r>
            <a:r>
              <a:rPr lang="en-US" altLang="en-US" sz="2000" dirty="0">
                <a:sym typeface="Symbol" panose="05050102010706020507" pitchFamily="18" charset="2"/>
              </a:rPr>
              <a:t> =  </a:t>
            </a:r>
            <a:r>
              <a:rPr lang="en-US" altLang="en-US" sz="2000"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dirty="0">
                <a:sym typeface="Symbol" panose="05050102010706020507" pitchFamily="18" charset="2"/>
              </a:rPr>
              <a:t>+(1</a:t>
            </a:r>
            <a:r>
              <a:rPr lang="en-US" altLang="en-US" sz="2000" i="1" dirty="0">
                <a:sym typeface="Symbol" panose="05050102010706020507" pitchFamily="18" charset="2"/>
              </a:rPr>
              <a:t> - </a:t>
            </a:r>
            <a:r>
              <a:rPr lang="en-US" altLang="en-US" sz="2000" dirty="0">
                <a:sym typeface="Symbol" panose="05050102010706020507" pitchFamily="18" charset="2"/>
              </a:rPr>
              <a:t></a:t>
            </a:r>
            <a:r>
              <a:rPr lang="en-US" altLang="en-US" sz="2000" i="1" dirty="0">
                <a:sym typeface="Symbol" panose="05050102010706020507" pitchFamily="18" charset="2"/>
              </a:rPr>
              <a:t>)</a:t>
            </a:r>
            <a:r>
              <a:rPr lang="en-US" altLang="en-US" sz="2000" dirty="0">
                <a:sym typeface="Symbol" panose="05050102010706020507" pitchFamily="18" charset="2"/>
              </a:rPr>
              <a:t> </a:t>
            </a:r>
            <a:r>
              <a:rPr lang="en-US" altLang="en-US" sz="2000" i="1"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i="1" dirty="0">
                <a:sym typeface="Symbol" panose="05050102010706020507" pitchFamily="18" charset="2"/>
              </a:rPr>
              <a:t> </a:t>
            </a:r>
            <a:r>
              <a:rPr lang="en-US" altLang="en-US" sz="2000" baseline="-25000" dirty="0">
                <a:sym typeface="Symbol" panose="05050102010706020507" pitchFamily="18" charset="2"/>
              </a:rPr>
              <a:t>-1</a:t>
            </a:r>
            <a:r>
              <a:rPr lang="en-US" altLang="en-US" sz="2000" i="1" baseline="-25000" dirty="0">
                <a:sym typeface="Symbol" panose="05050102010706020507" pitchFamily="18" charset="2"/>
              </a:rPr>
              <a:t> </a:t>
            </a:r>
            <a:r>
              <a:rPr lang="en-US" altLang="en-US" sz="2000" dirty="0">
                <a:sym typeface="Symbol" panose="05050102010706020507" pitchFamily="18" charset="2"/>
              </a:rPr>
              <a:t>+ …</a:t>
            </a:r>
          </a:p>
          <a:p>
            <a:pPr lvl="2">
              <a:lnSpc>
                <a:spcPct val="90000"/>
              </a:lnSpc>
              <a:buFont typeface="Webdings" panose="05030102010509060703" pitchFamily="18" charset="2"/>
              <a:buNone/>
            </a:pP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1 -  </a:t>
            </a:r>
            <a:r>
              <a:rPr lang="en-US" altLang="en-US" sz="2000" i="1" dirty="0">
                <a:sym typeface="Symbol" panose="05050102010706020507" pitchFamily="18" charset="2"/>
              </a:rPr>
              <a:t>)</a:t>
            </a:r>
            <a:r>
              <a:rPr lang="en-US" altLang="en-US" sz="2000" i="1" baseline="30000" dirty="0">
                <a:sym typeface="Symbol" panose="05050102010706020507" pitchFamily="18" charset="2"/>
              </a:rPr>
              <a:t>j</a:t>
            </a:r>
            <a:r>
              <a:rPr lang="en-US" altLang="en-US" sz="2000" baseline="30000" dirty="0">
                <a:sym typeface="Symbol" panose="05050102010706020507" pitchFamily="18" charset="2"/>
              </a:rPr>
              <a:t> </a:t>
            </a:r>
            <a:r>
              <a:rPr lang="en-US" altLang="en-US" sz="2000" dirty="0">
                <a:sym typeface="Symbol" panose="05050102010706020507" pitchFamily="18" charset="2"/>
              </a:rPr>
              <a:t> </a:t>
            </a:r>
            <a:r>
              <a:rPr lang="en-US" altLang="en-US" sz="2000" i="1"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dirty="0">
                <a:sym typeface="Symbol" panose="05050102010706020507" pitchFamily="18" charset="2"/>
              </a:rPr>
              <a:t> </a:t>
            </a:r>
            <a:r>
              <a:rPr lang="en-US" altLang="en-US" sz="2000" baseline="-25000" dirty="0">
                <a:sym typeface="Symbol" panose="05050102010706020507" pitchFamily="18" charset="2"/>
              </a:rPr>
              <a:t>-</a:t>
            </a:r>
            <a:r>
              <a:rPr lang="en-US" altLang="en-US" sz="2000" i="1" baseline="-25000" dirty="0">
                <a:sym typeface="Symbol" panose="05050102010706020507" pitchFamily="18" charset="2"/>
              </a:rPr>
              <a:t>j</a:t>
            </a:r>
            <a:r>
              <a:rPr lang="en-US" altLang="en-US" sz="2000" i="1" dirty="0">
                <a:sym typeface="Symbol" panose="05050102010706020507" pitchFamily="18" charset="2"/>
              </a:rPr>
              <a:t> </a:t>
            </a:r>
            <a:r>
              <a:rPr lang="en-US" altLang="en-US" sz="2000" dirty="0">
                <a:sym typeface="Symbol" panose="05050102010706020507" pitchFamily="18" charset="2"/>
              </a:rPr>
              <a:t>+ …</a:t>
            </a:r>
          </a:p>
          <a:p>
            <a:pPr lvl="2">
              <a:lnSpc>
                <a:spcPct val="90000"/>
              </a:lnSpc>
              <a:buFont typeface="Webdings" panose="05030102010509060703" pitchFamily="18" charset="2"/>
              <a:buNone/>
            </a:pP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1 -  </a:t>
            </a:r>
            <a:r>
              <a:rPr lang="en-US" altLang="en-US" sz="2000" i="1" dirty="0">
                <a:sym typeface="Symbol" panose="05050102010706020507" pitchFamily="18" charset="2"/>
              </a:rPr>
              <a:t>)</a:t>
            </a:r>
            <a:r>
              <a:rPr lang="en-US" altLang="en-US" sz="2000" i="1" baseline="30000" dirty="0">
                <a:sym typeface="Symbol" panose="05050102010706020507" pitchFamily="18" charset="2"/>
              </a:rPr>
              <a:t>n</a:t>
            </a:r>
            <a:r>
              <a:rPr lang="en-US" altLang="en-US" sz="2000" baseline="30000" dirty="0">
                <a:sym typeface="Symbol" panose="05050102010706020507" pitchFamily="18" charset="2"/>
              </a:rPr>
              <a:t> +1 </a:t>
            </a:r>
            <a:r>
              <a:rPr lang="en-US" altLang="en-US" sz="2000" dirty="0">
                <a:sym typeface="Symbol" panose="05050102010706020507" pitchFamily="18" charset="2"/>
              </a:rPr>
              <a:t></a:t>
            </a:r>
            <a:r>
              <a:rPr lang="en-US" altLang="en-US" sz="2000" baseline="-25000" dirty="0">
                <a:sym typeface="Symbol" panose="05050102010706020507" pitchFamily="18" charset="2"/>
              </a:rPr>
              <a:t>0</a:t>
            </a:r>
            <a:br>
              <a:rPr lang="en-US" altLang="en-US" sz="2000" baseline="-25000" dirty="0">
                <a:sym typeface="Symbol" panose="05050102010706020507" pitchFamily="18" charset="2"/>
              </a:rPr>
            </a:br>
            <a:endParaRPr lang="en-US" altLang="en-US" sz="2000" baseline="-25000" dirty="0">
              <a:sym typeface="Symbol" panose="05050102010706020507" pitchFamily="18" charset="2"/>
            </a:endParaRPr>
          </a:p>
          <a:p>
            <a:pPr>
              <a:lnSpc>
                <a:spcPct val="90000"/>
              </a:lnSpc>
            </a:pPr>
            <a:r>
              <a:rPr lang="en-US" altLang="en-US" sz="2000" dirty="0">
                <a:sym typeface="Symbol" panose="05050102010706020507" pitchFamily="18" charset="2"/>
              </a:rPr>
              <a:t>Since both  and (1 - ) are less than or equal to 1, each successor predecessor  term has less weight than its predecessor</a:t>
            </a:r>
          </a:p>
          <a:p>
            <a:pPr>
              <a:lnSpc>
                <a:spcPct val="90000"/>
              </a:lnSpc>
              <a:buFont typeface="Monotype Sorts" pitchFamily="-84" charset="2"/>
              <a:buNone/>
            </a:pPr>
            <a:endParaRPr lang="en-US" altLang="en-US" sz="2000" dirty="0">
              <a:sym typeface="Symbol" panose="05050102010706020507" pitchFamily="18"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200349" y="129252"/>
            <a:ext cx="7709971" cy="576262"/>
          </a:xfrm>
        </p:spPr>
        <p:txBody>
          <a:bodyPr/>
          <a:lstStyle/>
          <a:p>
            <a:pPr eaLnBrk="1" hangingPunct="1"/>
            <a:r>
              <a:rPr lang="en-US" altLang="en-US" sz="2800" dirty="0"/>
              <a:t>Shortest Remaining Time First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139970"/>
            <a:ext cx="7709971" cy="3149002"/>
          </a:xfrm>
        </p:spPr>
        <p:txBody>
          <a:bodyPr/>
          <a:lstStyle/>
          <a:p>
            <a:r>
              <a:rPr lang="en-US" altLang="en-US" sz="2000" dirty="0">
                <a:cs typeface="ＭＳ Ｐゴシック" charset="-128"/>
              </a:rPr>
              <a:t>Preemptive version of SJ</a:t>
            </a:r>
            <a:r>
              <a:rPr lang="en-US" altLang="zh-CN" sz="2000" dirty="0">
                <a:cs typeface="ＭＳ Ｐゴシック" charset="-128"/>
              </a:rPr>
              <a:t>F</a:t>
            </a:r>
            <a:endParaRPr lang="en-US" altLang="en-US" sz="2000" b="1" dirty="0">
              <a:solidFill>
                <a:srgbClr val="006699"/>
              </a:solidFill>
              <a:latin typeface="+mj-lt"/>
            </a:endParaRPr>
          </a:p>
          <a:p>
            <a:r>
              <a:rPr lang="en-US" altLang="en-US" sz="2000" dirty="0"/>
              <a:t>Whenever a new process arrives in the ready queue, the decision on which process to schedule next is redone using the SJF algorithm.</a:t>
            </a:r>
          </a:p>
          <a:p>
            <a:r>
              <a:rPr lang="en-US" altLang="en-US" sz="2000" dirty="0"/>
              <a:t>Is SRT more “optimal” than SJN in terms of the minimum average waiting time for a given set of processes?</a:t>
            </a:r>
          </a:p>
        </p:txBody>
      </p:sp>
    </p:spTree>
    <p:extLst>
      <p:ext uri="{BB962C8B-B14F-4D97-AF65-F5344CB8AC3E}">
        <p14:creationId xmlns:p14="http://schemas.microsoft.com/office/powerpoint/2010/main" val="2452641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1358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type="body" idx="1"/>
          </p:nvPr>
        </p:nvSpPr>
        <p:spPr>
          <a:xfrm>
            <a:off x="802433" y="1017588"/>
            <a:ext cx="7707085" cy="5243512"/>
          </a:xfrm>
        </p:spPr>
        <p:txBody>
          <a:bodyPr/>
          <a:lstStyle/>
          <a:p>
            <a:pPr>
              <a:tabLst>
                <a:tab pos="1601312" algn="ctr"/>
                <a:tab pos="3252629" algn="ctr"/>
                <a:tab pos="5141754" algn="ctr"/>
              </a:tabLst>
              <a:defRPr/>
            </a:pPr>
            <a:r>
              <a:rPr lang="en-US" altLang="en-US" sz="2000" dirty="0">
                <a:cs typeface="ＭＳ Ｐゴシック" charset="-128"/>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u="sng" dirty="0">
                <a:cs typeface="ＭＳ Ｐゴシック" charset="-128"/>
              </a:rPr>
              <a:t>Process</a:t>
            </a:r>
            <a:r>
              <a:rPr lang="en-US" altLang="en-US" sz="2000" u="sng" dirty="0">
                <a:solidFill>
                  <a:schemeClr val="bg1"/>
                </a:solidFill>
                <a:cs typeface="ＭＳ Ｐゴシック" charset="-128"/>
              </a:rPr>
              <a:t>      </a:t>
            </a:r>
            <a:r>
              <a:rPr lang="en-US" altLang="en-US" sz="2000" u="sng" dirty="0" err="1">
                <a:solidFill>
                  <a:schemeClr val="bg1"/>
                </a:solidFill>
                <a:cs typeface="ＭＳ Ｐゴシック" charset="-128"/>
              </a:rPr>
              <a:t>i</a:t>
            </a:r>
            <a:r>
              <a:rPr lang="en-US" altLang="en-US" sz="2000" u="sng" dirty="0">
                <a:solidFill>
                  <a:schemeClr val="bg1"/>
                </a:solidFill>
                <a:cs typeface="ＭＳ Ｐゴシック" charset="-128"/>
              </a:rPr>
              <a:t> </a:t>
            </a:r>
            <a:r>
              <a:rPr lang="en-US" altLang="en-US" sz="2000" i="1" u="sng" dirty="0">
                <a:cs typeface="ＭＳ Ｐゴシック" charset="-128"/>
              </a:rPr>
              <a:t>Arrival </a:t>
            </a:r>
            <a:r>
              <a:rPr lang="en-US" altLang="en-US" sz="2000" u="sng" dirty="0" err="1">
                <a:cs typeface="ＭＳ Ｐゴシック" charset="-128"/>
              </a:rPr>
              <a:t>Time</a:t>
            </a:r>
            <a:r>
              <a:rPr lang="en-US" altLang="en-US" sz="2000" u="sng" dirty="0" err="1">
                <a:solidFill>
                  <a:schemeClr val="bg1"/>
                </a:solidFill>
                <a:cs typeface="ＭＳ Ｐゴシック" charset="-128"/>
              </a:rPr>
              <a:t>T</a:t>
            </a:r>
            <a:r>
              <a:rPr lang="en-US" altLang="en-US" sz="2000" dirty="0">
                <a:cs typeface="ＭＳ Ｐゴシック" charset="-128"/>
              </a:rPr>
              <a:t>	</a:t>
            </a:r>
            <a:r>
              <a:rPr lang="en-US" altLang="en-US" sz="2000" u="sng" dirty="0">
                <a:cs typeface="ＭＳ Ｐゴシック" charset="-128"/>
              </a:rPr>
              <a:t>Burst Time</a:t>
            </a:r>
            <a:endParaRPr lang="en-US" altLang="en-US" sz="2000" dirty="0">
              <a:cs typeface="ＭＳ Ｐゴシック" charset="-128"/>
            </a:endParaRP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1</a:t>
            </a:r>
            <a:r>
              <a:rPr lang="en-US" altLang="en-US" sz="2000" dirty="0">
                <a:cs typeface="ＭＳ Ｐゴシック" charset="-128"/>
              </a:rPr>
              <a:t>	</a:t>
            </a:r>
            <a:r>
              <a:rPr lang="en-US" altLang="en-US" sz="2000" dirty="0">
                <a:solidFill>
                  <a:srgbClr val="000000"/>
                </a:solidFill>
                <a:cs typeface="ＭＳ Ｐゴシック" charset="-128"/>
              </a:rPr>
              <a:t>0</a:t>
            </a:r>
            <a:r>
              <a:rPr lang="en-US" altLang="en-US" sz="2000" dirty="0">
                <a:cs typeface="ＭＳ Ｐゴシック" charset="-128"/>
              </a:rPr>
              <a:t>	8</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2 	</a:t>
            </a:r>
            <a:r>
              <a:rPr lang="en-US" altLang="en-US" sz="2000" dirty="0">
                <a:solidFill>
                  <a:srgbClr val="000000"/>
                </a:solidFill>
                <a:cs typeface="ＭＳ Ｐゴシック" charset="-128"/>
              </a:rPr>
              <a:t>1</a:t>
            </a:r>
            <a:r>
              <a:rPr lang="en-US" altLang="en-US" sz="2000" dirty="0">
                <a:cs typeface="ＭＳ Ｐゴシック" charset="-128"/>
              </a:rPr>
              <a:t>	4</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3</a:t>
            </a:r>
            <a:r>
              <a:rPr lang="en-US" altLang="en-US" sz="2000" dirty="0">
                <a:cs typeface="ＭＳ Ｐゴシック" charset="-128"/>
              </a:rPr>
              <a:t>	</a:t>
            </a:r>
            <a:r>
              <a:rPr lang="en-US" altLang="en-US" sz="2000" dirty="0">
                <a:solidFill>
                  <a:srgbClr val="000000"/>
                </a:solidFill>
                <a:cs typeface="ＭＳ Ｐゴシック" charset="-128"/>
              </a:rPr>
              <a:t>2</a:t>
            </a:r>
            <a:r>
              <a:rPr lang="en-US" altLang="en-US" sz="2000" dirty="0">
                <a:cs typeface="ＭＳ Ｐゴシック" charset="-128"/>
              </a:rPr>
              <a:t>	9</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4</a:t>
            </a:r>
            <a:r>
              <a:rPr lang="en-US" altLang="en-US" sz="2000" dirty="0">
                <a:cs typeface="ＭＳ Ｐゴシック" charset="-128"/>
              </a:rPr>
              <a:t>	</a:t>
            </a:r>
            <a:r>
              <a:rPr lang="en-US" altLang="en-US" sz="2000" dirty="0">
                <a:solidFill>
                  <a:srgbClr val="000000"/>
                </a:solidFill>
                <a:cs typeface="ＭＳ Ｐゴシック" charset="-128"/>
              </a:rPr>
              <a:t>3</a:t>
            </a:r>
            <a:r>
              <a:rPr lang="en-US" altLang="en-US" sz="2000" dirty="0">
                <a:cs typeface="ＭＳ Ｐゴシック" charset="-128"/>
              </a:rPr>
              <a:t>	5</a:t>
            </a:r>
          </a:p>
          <a:p>
            <a:pPr>
              <a:tabLst>
                <a:tab pos="1601312" algn="ctr"/>
                <a:tab pos="3252629" algn="ctr"/>
                <a:tab pos="5141754" algn="ctr"/>
              </a:tabLst>
              <a:defRPr/>
            </a:pPr>
            <a:r>
              <a:rPr lang="en-US" altLang="en-US" sz="2000" i="1" dirty="0">
                <a:cs typeface="ＭＳ Ｐゴシック" charset="-128"/>
              </a:rPr>
              <a:t>Preemptive </a:t>
            </a:r>
            <a:r>
              <a:rPr lang="en-US" altLang="en-US" sz="2000" dirty="0">
                <a:cs typeface="ＭＳ Ｐゴシック" charset="-128"/>
              </a:rPr>
              <a:t>SJF Gantt Chart</a:t>
            </a:r>
          </a:p>
          <a:p>
            <a:pPr>
              <a:tabLst>
                <a:tab pos="1601312" algn="ctr"/>
                <a:tab pos="3252629" algn="ctr"/>
                <a:tab pos="5141754" algn="ctr"/>
              </a:tabLst>
              <a:defRPr/>
            </a:pPr>
            <a:endParaRPr lang="en-US" altLang="en-US" sz="2000" dirty="0">
              <a:cs typeface="ＭＳ Ｐゴシック" charset="-128"/>
            </a:endParaRPr>
          </a:p>
          <a:p>
            <a:pPr>
              <a:tabLst>
                <a:tab pos="1601312" algn="ctr"/>
                <a:tab pos="3252629" algn="ctr"/>
                <a:tab pos="5141754" algn="ctr"/>
              </a:tabLst>
              <a:defRPr/>
            </a:pPr>
            <a:endParaRPr lang="en-US" altLang="en-US" sz="2000"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sz="2000" dirty="0">
              <a:cs typeface="ＭＳ Ｐゴシック" charset="-128"/>
            </a:endParaRPr>
          </a:p>
          <a:p>
            <a:pPr>
              <a:tabLst>
                <a:tab pos="1601312" algn="ctr"/>
                <a:tab pos="3252629" algn="ctr"/>
                <a:tab pos="5141754" algn="ctr"/>
              </a:tabLst>
              <a:defRPr/>
            </a:pPr>
            <a:r>
              <a:rPr lang="en-US" altLang="en-US" sz="2000" dirty="0">
                <a:cs typeface="ＭＳ Ｐゴシック" charset="-128"/>
              </a:rPr>
              <a:t>Average waiting time = [(10-1)+(1-1)+(17-2)+(5-3)]/4 = 26/4 = 6.5</a:t>
            </a:r>
          </a:p>
          <a:p>
            <a:pPr>
              <a:tabLst>
                <a:tab pos="1601312" algn="ctr"/>
                <a:tab pos="3252629" algn="ctr"/>
                <a:tab pos="5141754" algn="ctr"/>
              </a:tabLst>
              <a:defRPr/>
            </a:pPr>
            <a:endParaRPr lang="en-US" altLang="en-US" sz="2000"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sz="2000"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83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type="body" idx="1"/>
          </p:nvPr>
        </p:nvSpPr>
        <p:spPr>
          <a:xfrm>
            <a:off x="811763" y="1058276"/>
            <a:ext cx="7697237" cy="4859923"/>
          </a:xfrm>
        </p:spPr>
        <p:txBody>
          <a:bodyPr/>
          <a:lstStyle/>
          <a:p>
            <a:r>
              <a:rPr lang="en-US" altLang="en-US" sz="2000" dirty="0"/>
              <a:t>Each process gets a small unit of CPU time (</a:t>
            </a:r>
            <a:r>
              <a:rPr lang="en-US" altLang="en-US" sz="2000" b="1" dirty="0">
                <a:solidFill>
                  <a:srgbClr val="006699"/>
                </a:solidFill>
                <a:latin typeface="+mj-lt"/>
              </a:rPr>
              <a:t>time quantum </a:t>
            </a:r>
            <a:r>
              <a:rPr lang="en-US" altLang="en-US" sz="2000" i="1" dirty="0"/>
              <a:t>q</a:t>
            </a:r>
            <a:r>
              <a:rPr lang="en-US" altLang="en-US" sz="2000" dirty="0"/>
              <a:t>), usually 10-100 milliseconds.  After this time has elapsed, the process is preempted and added to the end of the ready queue.</a:t>
            </a:r>
          </a:p>
          <a:p>
            <a:r>
              <a:rPr lang="en-US" altLang="en-US" sz="2000" dirty="0"/>
              <a:t>If there are </a:t>
            </a:r>
            <a:r>
              <a:rPr lang="en-US" altLang="en-US" sz="2000" i="1" dirty="0"/>
              <a:t>n</a:t>
            </a:r>
            <a:r>
              <a:rPr lang="en-US" altLang="en-US" sz="2000" dirty="0"/>
              <a:t> processes in the ready queue and the time quantum is </a:t>
            </a:r>
            <a:r>
              <a:rPr lang="en-US" altLang="en-US" sz="2000" i="1" dirty="0"/>
              <a:t>q</a:t>
            </a:r>
            <a:r>
              <a:rPr lang="en-US" altLang="en-US" sz="2000" dirty="0"/>
              <a:t>, then each process gets 1/</a:t>
            </a:r>
            <a:r>
              <a:rPr lang="en-US" altLang="en-US" sz="2000" i="1" dirty="0"/>
              <a:t>n</a:t>
            </a:r>
            <a:r>
              <a:rPr lang="en-US" altLang="en-US" sz="2000" dirty="0"/>
              <a:t> of the CPU time in chunks of at most </a:t>
            </a:r>
            <a:r>
              <a:rPr lang="en-US" altLang="en-US" sz="2000" i="1" dirty="0"/>
              <a:t>q</a:t>
            </a:r>
            <a:r>
              <a:rPr lang="en-US" altLang="en-US" sz="2000" dirty="0"/>
              <a:t> time units at once.  No process waits more than (</a:t>
            </a:r>
            <a:r>
              <a:rPr lang="en-US" altLang="en-US" sz="2000" i="1" dirty="0"/>
              <a:t>n</a:t>
            </a:r>
            <a:r>
              <a:rPr lang="en-US" altLang="en-US" sz="2000" dirty="0"/>
              <a:t>-1)</a:t>
            </a:r>
            <a:r>
              <a:rPr lang="en-US" altLang="en-US" sz="2000" i="1" dirty="0"/>
              <a:t>q </a:t>
            </a:r>
            <a:r>
              <a:rPr lang="en-US" altLang="en-US" sz="2000" dirty="0"/>
              <a:t>time units.</a:t>
            </a:r>
          </a:p>
          <a:p>
            <a:r>
              <a:rPr lang="en-US" altLang="en-US" sz="2000" dirty="0"/>
              <a:t>Timer interrupts every quantum to schedule next process</a:t>
            </a:r>
          </a:p>
          <a:p>
            <a:r>
              <a:rPr lang="en-US" altLang="en-US" sz="2000" dirty="0"/>
              <a:t>Performance</a:t>
            </a:r>
          </a:p>
          <a:p>
            <a:pPr lvl="1"/>
            <a:r>
              <a:rPr lang="en-US" altLang="en-US" sz="2000" i="1" dirty="0"/>
              <a:t>q</a:t>
            </a:r>
            <a:r>
              <a:rPr lang="en-US" altLang="en-US" sz="2000" dirty="0"/>
              <a:t> large </a:t>
            </a:r>
            <a:r>
              <a:rPr lang="en-US" altLang="en-US" sz="2000" dirty="0">
                <a:sym typeface="Symbol" panose="05050102010706020507" pitchFamily="18" charset="2"/>
              </a:rPr>
              <a:t> FIFO (FCFS)</a:t>
            </a:r>
          </a:p>
          <a:p>
            <a:pPr lvl="1"/>
            <a:r>
              <a:rPr lang="en-US" altLang="en-US" sz="2000" i="1" dirty="0">
                <a:sym typeface="Symbol" panose="05050102010706020507" pitchFamily="18" charset="2"/>
              </a:rPr>
              <a:t>q </a:t>
            </a:r>
            <a:r>
              <a:rPr lang="en-US" altLang="en-US" sz="2000" dirty="0">
                <a:sym typeface="Symbol" panose="05050102010706020507" pitchFamily="18" charset="2"/>
              </a:rPr>
              <a:t>small  RR</a:t>
            </a:r>
          </a:p>
          <a:p>
            <a:r>
              <a:rPr lang="en-US" altLang="en-US" sz="2000" dirty="0">
                <a:sym typeface="Symbol" panose="05050102010706020507" pitchFamily="18" charset="2"/>
              </a:rPr>
              <a:t>Note that q must be large with respect to context switch, otherwise overhead is too high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979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type="body" idx="1"/>
          </p:nvPr>
        </p:nvSpPr>
        <p:spPr>
          <a:xfrm>
            <a:off x="954087" y="1193799"/>
            <a:ext cx="7618413" cy="4902201"/>
          </a:xfrm>
        </p:spPr>
        <p:txBody>
          <a:bodyPr/>
          <a:lstStyle/>
          <a:p>
            <a:pPr>
              <a:lnSpc>
                <a:spcPct val="90000"/>
              </a:lnSpc>
              <a:buFont typeface="Monotype Sorts" pitchFamily="-84" charset="2"/>
              <a:buNone/>
              <a:tabLst>
                <a:tab pos="2219325" algn="ctr"/>
                <a:tab pos="3994150" algn="ctr"/>
              </a:tabLst>
            </a:pPr>
            <a:r>
              <a:rPr lang="en-US" altLang="en-US" sz="2000" dirty="0"/>
              <a:t>		</a:t>
            </a:r>
            <a:r>
              <a:rPr lang="en-US" altLang="en-US" sz="2000" u="sng" dirty="0"/>
              <a:t>Process</a:t>
            </a:r>
            <a:r>
              <a:rPr lang="en-US" altLang="en-US" sz="2000" dirty="0"/>
              <a:t>	</a:t>
            </a:r>
            <a:r>
              <a:rPr lang="en-US" altLang="en-US" sz="2000" u="sng" dirty="0"/>
              <a:t>Burst Time</a:t>
            </a:r>
          </a:p>
          <a:p>
            <a:pPr>
              <a:lnSpc>
                <a:spcPct val="90000"/>
              </a:lnSpc>
              <a:buFont typeface="Monotype Sorts" pitchFamily="-84" charset="2"/>
              <a:buNone/>
              <a:tabLst>
                <a:tab pos="2219325" algn="ctr"/>
                <a:tab pos="3994150" algn="ctr"/>
              </a:tabLst>
            </a:pPr>
            <a:r>
              <a:rPr lang="en-US" altLang="en-US" sz="2000" i="1" dirty="0"/>
              <a:t>		P</a:t>
            </a:r>
            <a:r>
              <a:rPr lang="en-US" altLang="en-US" sz="2000" i="1" baseline="-25000" dirty="0"/>
              <a:t>1	</a:t>
            </a:r>
            <a:r>
              <a:rPr lang="en-US" altLang="en-US" sz="2000" dirty="0"/>
              <a:t>24</a:t>
            </a:r>
          </a:p>
          <a:p>
            <a:pPr>
              <a:lnSpc>
                <a:spcPct val="90000"/>
              </a:lnSpc>
              <a:buFont typeface="Monotype Sorts" pitchFamily="-84" charset="2"/>
              <a:buNone/>
              <a:tabLst>
                <a:tab pos="2219325" algn="ctr"/>
                <a:tab pos="3994150" algn="ctr"/>
              </a:tabLst>
            </a:pPr>
            <a:r>
              <a:rPr lang="en-US" altLang="en-US" sz="2000" dirty="0"/>
              <a:t>		 </a:t>
            </a:r>
            <a:r>
              <a:rPr lang="en-US" altLang="en-US" sz="2000" i="1" dirty="0"/>
              <a:t>P</a:t>
            </a:r>
            <a:r>
              <a:rPr lang="en-US" altLang="en-US" sz="2000" i="1" baseline="-25000" dirty="0"/>
              <a:t>2	 </a:t>
            </a:r>
            <a:r>
              <a:rPr lang="en-US" altLang="en-US" sz="2000" dirty="0"/>
              <a:t>3</a:t>
            </a:r>
          </a:p>
          <a:p>
            <a:pPr>
              <a:lnSpc>
                <a:spcPct val="90000"/>
              </a:lnSpc>
              <a:buFont typeface="Monotype Sorts" pitchFamily="-84" charset="2"/>
              <a:buNone/>
              <a:tabLst>
                <a:tab pos="2219325" algn="ctr"/>
                <a:tab pos="3994150" algn="ctr"/>
              </a:tabLst>
            </a:pPr>
            <a:r>
              <a:rPr lang="en-US" altLang="en-US" sz="2000" dirty="0"/>
              <a:t>		 </a:t>
            </a:r>
            <a:r>
              <a:rPr lang="en-US" altLang="en-US" sz="2000" i="1" dirty="0"/>
              <a:t>P</a:t>
            </a:r>
            <a:r>
              <a:rPr lang="en-US" altLang="en-US" sz="2000" i="1" baseline="-25000" dirty="0"/>
              <a:t>3	</a:t>
            </a:r>
            <a:r>
              <a:rPr lang="en-US" altLang="en-US" sz="2000" dirty="0"/>
              <a:t>3	</a:t>
            </a:r>
          </a:p>
          <a:p>
            <a:pPr>
              <a:lnSpc>
                <a:spcPct val="90000"/>
              </a:lnSpc>
              <a:tabLst>
                <a:tab pos="2219325" algn="ctr"/>
                <a:tab pos="3994150" algn="ctr"/>
              </a:tabLst>
            </a:pPr>
            <a:r>
              <a:rPr lang="en-US" altLang="en-US" sz="2000" dirty="0"/>
              <a:t>The Gantt chart is: </a:t>
            </a:r>
            <a:br>
              <a:rPr lang="en-US" altLang="en-US" sz="2000" dirty="0"/>
            </a:br>
            <a:br>
              <a:rPr lang="en-US" altLang="en-US" sz="2000" dirty="0"/>
            </a:br>
            <a:br>
              <a:rPr lang="en-US" altLang="en-US" sz="2000" dirty="0"/>
            </a:br>
            <a:br>
              <a:rPr lang="en-US" altLang="en-US" sz="2000" dirty="0"/>
            </a:br>
            <a:endParaRPr lang="en-US" altLang="en-US" sz="2000" dirty="0"/>
          </a:p>
          <a:p>
            <a:pPr>
              <a:lnSpc>
                <a:spcPct val="90000"/>
              </a:lnSpc>
              <a:tabLst>
                <a:tab pos="2219325" algn="ctr"/>
                <a:tab pos="3994150" algn="ctr"/>
              </a:tabLst>
            </a:pPr>
            <a:r>
              <a:rPr lang="en-US" altLang="en-US" sz="2000" dirty="0"/>
              <a:t>Typically, higher average turnaround than SJF, but better </a:t>
            </a:r>
            <a:r>
              <a:rPr lang="en-US" altLang="en-US" sz="2000" b="1" i="1" dirty="0"/>
              <a:t>response</a:t>
            </a:r>
          </a:p>
          <a:p>
            <a:pPr>
              <a:lnSpc>
                <a:spcPct val="90000"/>
              </a:lnSpc>
              <a:tabLst>
                <a:tab pos="2219325" algn="ctr"/>
                <a:tab pos="3994150" algn="ctr"/>
              </a:tabLst>
            </a:pPr>
            <a:r>
              <a:rPr lang="en-US" altLang="en-US" sz="2000" dirty="0"/>
              <a:t>q should be large compared to context switch time</a:t>
            </a:r>
          </a:p>
          <a:p>
            <a:pPr lvl="1">
              <a:lnSpc>
                <a:spcPct val="90000"/>
              </a:lnSpc>
              <a:tabLst>
                <a:tab pos="2219325" algn="ctr"/>
                <a:tab pos="3994150" algn="ctr"/>
              </a:tabLst>
            </a:pPr>
            <a:r>
              <a:rPr lang="en-US" altLang="en-US" sz="2000" dirty="0"/>
              <a:t>q usually 10 milliseconds  to 100 milliseconds, </a:t>
            </a:r>
          </a:p>
          <a:p>
            <a:pPr lvl="1">
              <a:lnSpc>
                <a:spcPct val="90000"/>
              </a:lnSpc>
              <a:tabLst>
                <a:tab pos="2219325" algn="ctr"/>
                <a:tab pos="3994150" algn="ctr"/>
              </a:tabLst>
            </a:pPr>
            <a:r>
              <a:rPr lang="en-US" altLang="en-US" sz="2000" dirty="0"/>
              <a:t>Context switch &lt;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8588" y="3167742"/>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4D05664-D904-4350-AFC8-65EA9CF0431F}"/>
              </a:ext>
            </a:extLst>
          </p:cNvPr>
          <p:cNvSpPr>
            <a:spLocks noGrp="1" noChangeArrowheads="1"/>
          </p:cNvSpPr>
          <p:nvPr>
            <p:ph type="title"/>
          </p:nvPr>
        </p:nvSpPr>
        <p:spPr>
          <a:xfrm>
            <a:off x="1285078" y="183273"/>
            <a:ext cx="7829550"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1890713"/>
            <a:ext cx="6630988"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a:xfrm>
            <a:off x="782711" y="260322"/>
            <a:ext cx="8722438" cy="457200"/>
          </a:xfrm>
        </p:spPr>
        <p:txBody>
          <a:bodyPr/>
          <a:lstStyle/>
          <a:p>
            <a:pPr eaLnBrk="1" hangingPunct="1"/>
            <a:r>
              <a:rPr lang="en-US" altLang="en-US" sz="2600" dirty="0"/>
              <a:t>Turnaround Time Varies With The Time Quantum</a:t>
            </a:r>
          </a:p>
        </p:txBody>
      </p:sp>
      <p:pic>
        <p:nvPicPr>
          <p:cNvPr id="46083" name="Picture 1">
            <a:extLst>
              <a:ext uri="{FF2B5EF4-FFF2-40B4-BE49-F238E27FC236}">
                <a16:creationId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4588" y="1557338"/>
            <a:ext cx="4684712"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2" name="TextBox 3">
            <a:extLst>
              <a:ext uri="{FF2B5EF4-FFF2-40B4-BE49-F238E27FC236}">
                <a16:creationId xmlns:a16="http://schemas.microsoft.com/office/drawing/2014/main" id="{39A4C5F4-2866-44DE-AC4E-665A67CEF2FC}"/>
              </a:ext>
            </a:extLst>
          </p:cNvPr>
          <p:cNvSpPr txBox="1">
            <a:spLocks noChangeArrowheads="1"/>
          </p:cNvSpPr>
          <p:nvPr/>
        </p:nvSpPr>
        <p:spPr bwMode="auto">
          <a:xfrm>
            <a:off x="4572000" y="3354388"/>
            <a:ext cx="3908425" cy="584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600" dirty="0">
                <a:latin typeface="Verdana" panose="020B0604030504040204" pitchFamily="34" charset="0"/>
              </a:rPr>
              <a:t>80% of CPU bursts should be shorter than q</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109861"/>
            <a:ext cx="7723187" cy="576262"/>
          </a:xfrm>
        </p:spPr>
        <p:txBody>
          <a:bodyPr/>
          <a:lstStyle/>
          <a:p>
            <a:pPr eaLnBrk="1" hangingPunct="1"/>
            <a:r>
              <a:rPr lang="en-US" altLang="en-US"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type="body" idx="1"/>
          </p:nvPr>
        </p:nvSpPr>
        <p:spPr>
          <a:xfrm>
            <a:off x="821094" y="1233488"/>
            <a:ext cx="7723186" cy="4530725"/>
          </a:xfrm>
        </p:spPr>
        <p:txBody>
          <a:bodyPr/>
          <a:lstStyle/>
          <a:p>
            <a:r>
              <a:rPr lang="en-US" altLang="en-US" sz="2000" dirty="0"/>
              <a:t>A priority number (integer) is associated with each process</a:t>
            </a:r>
          </a:p>
          <a:p>
            <a:r>
              <a:rPr lang="en-US" altLang="en-US" sz="2000" dirty="0"/>
              <a:t>The CPU is allocated to the process with the highest priority (smallest integer </a:t>
            </a:r>
            <a:r>
              <a:rPr lang="en-US" altLang="en-US" sz="2000" dirty="0">
                <a:sym typeface="Symbol" panose="05050102010706020507" pitchFamily="18" charset="2"/>
              </a:rPr>
              <a:t> highest priority)</a:t>
            </a:r>
          </a:p>
          <a:p>
            <a:pPr lvl="1"/>
            <a:r>
              <a:rPr lang="en-US" altLang="en-US" sz="2000" dirty="0"/>
              <a:t>Preemptive</a:t>
            </a:r>
          </a:p>
          <a:p>
            <a:pPr lvl="1"/>
            <a:r>
              <a:rPr lang="en-US" altLang="en-US" sz="2000" dirty="0" err="1"/>
              <a:t>Nonpreemptive</a:t>
            </a:r>
            <a:endParaRPr lang="en-US" altLang="en-US" sz="2000" dirty="0"/>
          </a:p>
          <a:p>
            <a:r>
              <a:rPr lang="en-US" altLang="en-US" sz="2000" dirty="0"/>
              <a:t>SJF is priority scheduling where priority is the inverse of predicted next CPU burst time</a:t>
            </a:r>
          </a:p>
          <a:p>
            <a:r>
              <a:rPr lang="en-US" altLang="en-US" sz="2000" dirty="0"/>
              <a:t>Problem </a:t>
            </a:r>
            <a:r>
              <a:rPr lang="en-US" altLang="en-US" sz="2000" dirty="0">
                <a:sym typeface="Symbol" panose="05050102010706020507" pitchFamily="18" charset="2"/>
              </a:rPr>
              <a:t> </a:t>
            </a:r>
            <a:r>
              <a:rPr lang="en-US" altLang="en-US" sz="2000" b="1" dirty="0">
                <a:solidFill>
                  <a:srgbClr val="006699"/>
                </a:solidFill>
                <a:latin typeface="+mj-lt"/>
                <a:sym typeface="Symbol" panose="05050102010706020507" pitchFamily="18" charset="2"/>
              </a:rPr>
              <a:t>Starvation</a:t>
            </a:r>
            <a:r>
              <a:rPr lang="en-US" altLang="en-US" sz="2000" b="1" dirty="0">
                <a:sym typeface="Symbol" panose="05050102010706020507" pitchFamily="18" charset="2"/>
              </a:rPr>
              <a:t> </a:t>
            </a:r>
            <a:r>
              <a:rPr lang="en-US" altLang="en-US" sz="2000" dirty="0">
                <a:sym typeface="Symbol" panose="05050102010706020507" pitchFamily="18" charset="2"/>
              </a:rPr>
              <a:t>– low priority processes may never execute</a:t>
            </a:r>
          </a:p>
          <a:p>
            <a:r>
              <a:rPr lang="en-US" altLang="en-US" sz="2000" dirty="0">
                <a:sym typeface="Symbol" panose="05050102010706020507" pitchFamily="18" charset="2"/>
              </a:rPr>
              <a:t>Solution  </a:t>
            </a:r>
            <a:r>
              <a:rPr lang="en-US" altLang="en-US" sz="2000" b="1" dirty="0">
                <a:solidFill>
                  <a:srgbClr val="006699"/>
                </a:solidFill>
                <a:latin typeface="+mj-lt"/>
                <a:sym typeface="Symbol" panose="05050102010706020507" pitchFamily="18" charset="2"/>
              </a:rPr>
              <a:t>Aging</a:t>
            </a:r>
            <a:r>
              <a:rPr lang="en-US" altLang="en-US" sz="2000" b="1" dirty="0">
                <a:sym typeface="Symbol" panose="05050102010706020507" pitchFamily="18" charset="2"/>
              </a:rPr>
              <a:t> </a:t>
            </a:r>
            <a:r>
              <a:rPr lang="en-US" altLang="en-US" sz="2000" dirty="0">
                <a:sym typeface="Symbol" panose="05050102010706020507" pitchFamily="18" charset="2"/>
              </a:rPr>
              <a:t>– as time progresses increase the priority of the process</a:t>
            </a:r>
          </a:p>
          <a:p>
            <a:pPr>
              <a:buFont typeface="Monotype Sorts" pitchFamily="-84" charset="2"/>
              <a:buNone/>
            </a:pPr>
            <a:endParaRPr lang="en-US" altLang="en-US" sz="2000" b="1" dirty="0">
              <a:solidFill>
                <a:srgbClr val="3366FF"/>
              </a:solidFill>
              <a:sym typeface="Symbol" panose="05050102010706020507" pitchFamily="18" charset="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D1CE599-A709-401F-8DD0-F7F4CCB2DDF1}"/>
              </a:ext>
            </a:extLst>
          </p:cNvPr>
          <p:cNvSpPr>
            <a:spLocks noGrp="1" noChangeArrowheads="1"/>
          </p:cNvSpPr>
          <p:nvPr>
            <p:ph type="title"/>
          </p:nvPr>
        </p:nvSpPr>
        <p:spPr>
          <a:xfrm>
            <a:off x="1406525" y="136087"/>
            <a:ext cx="7280275" cy="576262"/>
          </a:xfrm>
        </p:spPr>
        <p:txBody>
          <a:bodyPr/>
          <a:lstStyle/>
          <a:p>
            <a:pPr eaLnBrk="1" hangingPunct="1"/>
            <a:r>
              <a:rPr lang="en-US" altLang="en-US" dirty="0"/>
              <a:t>Example of Priority Scheduling</a:t>
            </a:r>
          </a:p>
        </p:txBody>
      </p:sp>
      <p:sp>
        <p:nvSpPr>
          <p:cNvPr id="50178" name="Rectangle 36">
            <a:extLst>
              <a:ext uri="{FF2B5EF4-FFF2-40B4-BE49-F238E27FC236}">
                <a16:creationId xmlns:a16="http://schemas.microsoft.com/office/drawing/2014/main" id="{CDADF2B2-580D-4F09-8A23-D969CD614667}"/>
              </a:ext>
            </a:extLst>
          </p:cNvPr>
          <p:cNvSpPr>
            <a:spLocks noGrp="1" noChangeArrowheads="1"/>
          </p:cNvSpPr>
          <p:nvPr>
            <p:ph type="body" idx="1"/>
          </p:nvPr>
        </p:nvSpPr>
        <p:spPr>
          <a:xfrm>
            <a:off x="806450" y="1093787"/>
            <a:ext cx="7973868" cy="4907539"/>
          </a:xfrm>
          <a:noFill/>
        </p:spPr>
        <p:txBody>
          <a:bodyPr/>
          <a:lstStyle/>
          <a:p>
            <a:pPr>
              <a:buFont typeface="Monotype Sorts" pitchFamily="-84" charset="2"/>
              <a:buNone/>
              <a:tabLst>
                <a:tab pos="1600200" algn="ctr"/>
                <a:tab pos="3251200" algn="ctr"/>
                <a:tab pos="5140325" algn="ctr"/>
              </a:tabLst>
            </a:pPr>
            <a:r>
              <a:rPr lang="en-US" altLang="en-US" sz="2000" dirty="0"/>
              <a:t>		 </a:t>
            </a:r>
            <a:r>
              <a:rPr lang="en-US" altLang="en-US" sz="2000" u="sng" dirty="0"/>
              <a:t>Process</a:t>
            </a:r>
            <a:r>
              <a:rPr lang="en-US" altLang="en-US" sz="2000" u="sng" dirty="0">
                <a:solidFill>
                  <a:schemeClr val="bg1"/>
                </a:solidFill>
              </a:rPr>
              <a:t>	</a:t>
            </a:r>
            <a:r>
              <a:rPr lang="en-US" altLang="en-US" sz="2000" u="sng" dirty="0"/>
              <a:t>Burst Time</a:t>
            </a:r>
            <a:r>
              <a:rPr lang="en-US" altLang="en-US" sz="2000" dirty="0"/>
              <a:t>	</a:t>
            </a:r>
            <a:r>
              <a:rPr lang="en-US" altLang="en-US" sz="2000" u="sng" dirty="0"/>
              <a:t>Priority</a:t>
            </a:r>
            <a:endParaRPr lang="en-US" altLang="en-US" sz="2000" dirty="0"/>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1</a:t>
            </a:r>
            <a:r>
              <a:rPr lang="en-US" altLang="en-US" sz="2000" dirty="0"/>
              <a:t>	1</a:t>
            </a:r>
            <a:r>
              <a:rPr lang="en-US" altLang="en-US" sz="2000" dirty="0">
                <a:solidFill>
                  <a:srgbClr val="000000"/>
                </a:solidFill>
              </a:rPr>
              <a:t>0</a:t>
            </a:r>
            <a:r>
              <a:rPr lang="en-US" altLang="en-US" sz="2000" dirty="0"/>
              <a:t>	3</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2 	</a:t>
            </a:r>
            <a:r>
              <a:rPr lang="en-US" altLang="en-US" sz="2000" dirty="0">
                <a:solidFill>
                  <a:srgbClr val="000000"/>
                </a:solidFill>
              </a:rPr>
              <a:t>1</a:t>
            </a:r>
            <a:r>
              <a:rPr lang="en-US" altLang="en-US" sz="2000" dirty="0"/>
              <a:t>	1</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3</a:t>
            </a:r>
            <a:r>
              <a:rPr lang="en-US" altLang="en-US" sz="2000" dirty="0"/>
              <a:t>	</a:t>
            </a:r>
            <a:r>
              <a:rPr lang="en-US" altLang="en-US" sz="2000" dirty="0">
                <a:solidFill>
                  <a:srgbClr val="000000"/>
                </a:solidFill>
              </a:rPr>
              <a:t>2</a:t>
            </a:r>
            <a:r>
              <a:rPr lang="en-US" altLang="en-US" sz="2000" dirty="0"/>
              <a:t>	4</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4</a:t>
            </a:r>
            <a:r>
              <a:rPr lang="en-US" altLang="en-US" sz="2000" dirty="0"/>
              <a:t>	</a:t>
            </a:r>
            <a:r>
              <a:rPr lang="en-US" altLang="en-US" sz="2000" dirty="0">
                <a:solidFill>
                  <a:srgbClr val="000000"/>
                </a:solidFill>
              </a:rPr>
              <a:t>1</a:t>
            </a:r>
            <a:r>
              <a:rPr lang="en-US" altLang="en-US" sz="2000" dirty="0"/>
              <a:t>	5</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5	</a:t>
            </a:r>
            <a:r>
              <a:rPr lang="en-US" altLang="en-US" sz="2000" dirty="0"/>
              <a:t>5	2</a:t>
            </a:r>
          </a:p>
          <a:p>
            <a:pPr>
              <a:buFont typeface="Monotype Sorts" pitchFamily="-84" charset="2"/>
              <a:buNone/>
              <a:tabLst>
                <a:tab pos="1600200" algn="ctr"/>
                <a:tab pos="3251200" algn="ctr"/>
                <a:tab pos="5140325" algn="ctr"/>
              </a:tabLst>
            </a:pPr>
            <a:endParaRPr lang="en-US" altLang="en-US" sz="2000" baseline="-25000" dirty="0"/>
          </a:p>
          <a:p>
            <a:pPr>
              <a:tabLst>
                <a:tab pos="1600200" algn="ctr"/>
                <a:tab pos="3251200" algn="ctr"/>
                <a:tab pos="5140325" algn="ctr"/>
              </a:tabLst>
            </a:pPr>
            <a:r>
              <a:rPr lang="en-US" altLang="en-US" sz="2000" dirty="0"/>
              <a:t>Priority scheduling Gantt Chart</a:t>
            </a:r>
          </a:p>
          <a:p>
            <a:pPr>
              <a:tabLst>
                <a:tab pos="1600200" algn="ctr"/>
                <a:tab pos="3251200" algn="ctr"/>
                <a:tab pos="5140325" algn="ctr"/>
              </a:tabLst>
            </a:pPr>
            <a:endParaRPr lang="en-US" altLang="en-US" sz="2000" dirty="0"/>
          </a:p>
          <a:p>
            <a:pPr>
              <a:tabLst>
                <a:tab pos="1600200" algn="ctr"/>
                <a:tab pos="3251200" algn="ctr"/>
                <a:tab pos="5140325" algn="ctr"/>
              </a:tabLst>
            </a:pPr>
            <a:endParaRPr lang="en-US" altLang="en-US" sz="2000" dirty="0"/>
          </a:p>
          <a:p>
            <a:pPr>
              <a:buFont typeface="Monotype Sorts" pitchFamily="-84" charset="2"/>
              <a:buNone/>
              <a:tabLst>
                <a:tab pos="1600200" algn="ctr"/>
                <a:tab pos="3251200" algn="ctr"/>
                <a:tab pos="5140325" algn="ctr"/>
              </a:tabLst>
            </a:pPr>
            <a:endParaRPr lang="en-US" altLang="en-US" sz="2000" dirty="0"/>
          </a:p>
          <a:p>
            <a:pPr>
              <a:tabLst>
                <a:tab pos="1600200" algn="ctr"/>
                <a:tab pos="3251200" algn="ctr"/>
                <a:tab pos="5140325" algn="ctr"/>
              </a:tabLst>
            </a:pPr>
            <a:r>
              <a:rPr lang="en-US" altLang="en-US" sz="2000" dirty="0"/>
              <a:t>Average waiting time = 8.2</a:t>
            </a:r>
            <a:endParaRPr lang="en-US" altLang="en-US" sz="2000" i="1" baseline="-25000" dirty="0"/>
          </a:p>
        </p:txBody>
      </p:sp>
      <p:pic>
        <p:nvPicPr>
          <p:cNvPr id="50179" name="Picture 1">
            <a:extLst>
              <a:ext uri="{FF2B5EF4-FFF2-40B4-BE49-F238E27FC236}">
                <a16:creationId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DE24674-CB1D-4389-9B31-B04F87B0ABF8}"/>
              </a:ext>
            </a:extLst>
          </p:cNvPr>
          <p:cNvSpPr>
            <a:spLocks noGrp="1" noChangeArrowheads="1"/>
          </p:cNvSpPr>
          <p:nvPr>
            <p:ph type="title"/>
          </p:nvPr>
        </p:nvSpPr>
        <p:spPr>
          <a:xfrm>
            <a:off x="1452825" y="137006"/>
            <a:ext cx="7280275" cy="576262"/>
          </a:xfrm>
        </p:spPr>
        <p:txBody>
          <a:bodyPr/>
          <a:lstStyle/>
          <a:p>
            <a:pPr eaLnBrk="1" hangingPunct="1"/>
            <a:r>
              <a:rPr lang="en-US" altLang="en-US" dirty="0"/>
              <a:t>Priority Scheduling w/ Round-Robin</a:t>
            </a:r>
          </a:p>
        </p:txBody>
      </p:sp>
      <p:sp>
        <p:nvSpPr>
          <p:cNvPr id="52226" name="Rectangle 36">
            <a:extLst>
              <a:ext uri="{FF2B5EF4-FFF2-40B4-BE49-F238E27FC236}">
                <a16:creationId xmlns:a16="http://schemas.microsoft.com/office/drawing/2014/main" id="{2105BD44-B36B-488F-9B4A-6D230FFCC50A}"/>
              </a:ext>
            </a:extLst>
          </p:cNvPr>
          <p:cNvSpPr>
            <a:spLocks noGrp="1" noChangeArrowheads="1"/>
          </p:cNvSpPr>
          <p:nvPr>
            <p:ph type="body" idx="1"/>
          </p:nvPr>
        </p:nvSpPr>
        <p:spPr>
          <a:xfrm>
            <a:off x="806450" y="938848"/>
            <a:ext cx="7675077" cy="4052252"/>
          </a:xfrm>
          <a:noFill/>
        </p:spPr>
        <p:txBody>
          <a:bodyPr/>
          <a:lstStyle/>
          <a:p>
            <a:pPr>
              <a:tabLst>
                <a:tab pos="1600200" algn="ctr"/>
                <a:tab pos="3251200" algn="ctr"/>
                <a:tab pos="5140325" algn="ctr"/>
              </a:tabLst>
            </a:pPr>
            <a:r>
              <a:rPr lang="en-US" altLang="en-US" sz="2000" dirty="0"/>
              <a:t>Run the process with the highest priority. Processes with the same priority run round-robin</a:t>
            </a:r>
          </a:p>
          <a:p>
            <a:pPr>
              <a:tabLst>
                <a:tab pos="1600200" algn="ctr"/>
                <a:tab pos="3251200" algn="ctr"/>
                <a:tab pos="5140325" algn="ctr"/>
              </a:tabLst>
            </a:pPr>
            <a:r>
              <a:rPr lang="en-US" altLang="en-US" sz="2000" dirty="0"/>
              <a:t>Example:</a:t>
            </a:r>
          </a:p>
          <a:p>
            <a:pPr>
              <a:buFont typeface="Monotype Sorts" pitchFamily="-84" charset="2"/>
              <a:buNone/>
              <a:tabLst>
                <a:tab pos="1600200" algn="ctr"/>
                <a:tab pos="3251200" algn="ctr"/>
                <a:tab pos="5140325" algn="ctr"/>
              </a:tabLst>
            </a:pPr>
            <a:r>
              <a:rPr lang="en-US" altLang="en-US" sz="2000" dirty="0"/>
              <a:t>                     </a:t>
            </a:r>
            <a:r>
              <a:rPr lang="en-US" altLang="en-US" sz="2000" u="sng" dirty="0"/>
              <a:t>Process</a:t>
            </a:r>
            <a:r>
              <a:rPr lang="en-US" altLang="en-US" sz="2000" u="sng" dirty="0">
                <a:solidFill>
                  <a:schemeClr val="bg1"/>
                </a:solidFill>
              </a:rPr>
              <a:t>	a   </a:t>
            </a:r>
            <a:r>
              <a:rPr lang="en-US" altLang="en-US" sz="2000" u="sng" dirty="0"/>
              <a:t>Burst Time</a:t>
            </a:r>
            <a:r>
              <a:rPr lang="en-US" altLang="en-US" sz="2000" dirty="0"/>
              <a:t>	</a:t>
            </a:r>
            <a:r>
              <a:rPr lang="en-US" altLang="en-US" sz="2000" u="sng" dirty="0"/>
              <a:t>Priority</a:t>
            </a:r>
            <a:endParaRPr lang="en-US" altLang="en-US" sz="2000" dirty="0"/>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1</a:t>
            </a:r>
            <a:r>
              <a:rPr lang="en-US" altLang="en-US" sz="2000" dirty="0"/>
              <a:t>	4	3</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2 	</a:t>
            </a:r>
            <a:r>
              <a:rPr lang="en-US" altLang="en-US" sz="2000" dirty="0">
                <a:solidFill>
                  <a:srgbClr val="000000"/>
                </a:solidFill>
              </a:rPr>
              <a:t>5</a:t>
            </a:r>
            <a:r>
              <a:rPr lang="en-US" altLang="en-US" sz="2000" dirty="0"/>
              <a:t>	2</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3</a:t>
            </a:r>
            <a:r>
              <a:rPr lang="en-US" altLang="en-US" sz="2000" dirty="0"/>
              <a:t>	</a:t>
            </a:r>
            <a:r>
              <a:rPr lang="en-US" altLang="en-US" sz="2000" dirty="0">
                <a:solidFill>
                  <a:srgbClr val="000000"/>
                </a:solidFill>
              </a:rPr>
              <a:t>8</a:t>
            </a:r>
            <a:r>
              <a:rPr lang="en-US" altLang="en-US" sz="2000" dirty="0"/>
              <a:t>	2</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4</a:t>
            </a:r>
            <a:r>
              <a:rPr lang="en-US" altLang="en-US" sz="2000" dirty="0"/>
              <a:t>	</a:t>
            </a:r>
            <a:r>
              <a:rPr lang="en-US" altLang="en-US" sz="2000" dirty="0">
                <a:solidFill>
                  <a:srgbClr val="000000"/>
                </a:solidFill>
              </a:rPr>
              <a:t>7</a:t>
            </a:r>
            <a:r>
              <a:rPr lang="en-US" altLang="en-US" sz="2000" dirty="0"/>
              <a:t>	1</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5	</a:t>
            </a:r>
            <a:r>
              <a:rPr lang="en-US" altLang="en-US" sz="2000" dirty="0"/>
              <a:t>3	3</a:t>
            </a:r>
            <a:endParaRPr lang="en-US" altLang="en-US" sz="2000" baseline="-25000" dirty="0"/>
          </a:p>
          <a:p>
            <a:pPr>
              <a:tabLst>
                <a:tab pos="1600200" algn="ctr"/>
                <a:tab pos="3251200" algn="ctr"/>
                <a:tab pos="5140325" algn="ctr"/>
              </a:tabLst>
            </a:pPr>
            <a:r>
              <a:rPr lang="en-US" altLang="en-US" sz="2000" dirty="0"/>
              <a:t>Gantt Chart with time quantum = 2</a:t>
            </a:r>
          </a:p>
          <a:p>
            <a:pPr>
              <a:tabLst>
                <a:tab pos="1600200" algn="ctr"/>
                <a:tab pos="3251200" algn="ctr"/>
                <a:tab pos="5140325" algn="ctr"/>
              </a:tabLst>
            </a:pPr>
            <a:endParaRPr lang="en-US" altLang="en-US" sz="2000" dirty="0"/>
          </a:p>
          <a:p>
            <a:pPr marL="0" indent="0">
              <a:buNone/>
              <a:tabLst>
                <a:tab pos="1600200" algn="ctr"/>
                <a:tab pos="3251200" algn="ctr"/>
                <a:tab pos="5140325" algn="ctr"/>
              </a:tabLst>
            </a:pPr>
            <a:endParaRPr lang="en-US" altLang="en-US" sz="2000" dirty="0"/>
          </a:p>
        </p:txBody>
      </p:sp>
      <p:pic>
        <p:nvPicPr>
          <p:cNvPr id="52227" name="Picture 2">
            <a:extLst>
              <a:ext uri="{FF2B5EF4-FFF2-40B4-BE49-F238E27FC236}">
                <a16:creationId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08480" y="5082540"/>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1695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F2E0C1D0-A1A4-4022-95CF-B15DED9ADA75}"/>
              </a:ext>
            </a:extLst>
          </p:cNvPr>
          <p:cNvSpPr>
            <a:spLocks noGrp="1" noChangeArrowheads="1"/>
          </p:cNvSpPr>
          <p:nvPr>
            <p:ph type="ctr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Take a Break</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13413</TotalTime>
  <Words>1621</Words>
  <Application>Microsoft Office PowerPoint</Application>
  <PresentationFormat>全屏显示(4:3)</PresentationFormat>
  <Paragraphs>222</Paragraphs>
  <Slides>28</Slides>
  <Notes>28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28</vt:i4>
      </vt:variant>
    </vt:vector>
  </HeadingPairs>
  <TitlesOfParts>
    <vt:vector size="39" baseType="lpstr">
      <vt:lpstr>Lucida Grande</vt:lpstr>
      <vt:lpstr>Monotype Sorts</vt:lpstr>
      <vt:lpstr>ＭＳ Ｐゴシック</vt:lpstr>
      <vt:lpstr>Arial</vt:lpstr>
      <vt:lpstr>Helvetica</vt:lpstr>
      <vt:lpstr>Symbol</vt:lpstr>
      <vt:lpstr>Times New Roman</vt:lpstr>
      <vt:lpstr>Verdana</vt:lpstr>
      <vt:lpstr>Webdings</vt:lpstr>
      <vt:lpstr>Wingdings</vt:lpstr>
      <vt:lpstr>os-8</vt:lpstr>
      <vt:lpstr>Chapter 5:  CPU Scheduling</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Example of SJF</vt:lpstr>
      <vt:lpstr>Determining Length of Next CPU Burst</vt:lpstr>
      <vt:lpstr>Prediction of the Length of the Next CPU Burst</vt:lpstr>
      <vt:lpstr>Examples of Exponential Averaging</vt:lpstr>
      <vt:lpstr>Shortest Remaining Time First Scheduling</vt:lpstr>
      <vt:lpstr>Example of Shortest-remaining-time-first</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Take a Break</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274</cp:revision>
  <cp:lastPrinted>2013-09-10T17:57:57Z</cp:lastPrinted>
  <dcterms:created xsi:type="dcterms:W3CDTF">2011-01-13T23:43:38Z</dcterms:created>
  <dcterms:modified xsi:type="dcterms:W3CDTF">2025-09-09T05:24:33Z</dcterms:modified>
</cp:coreProperties>
</file>