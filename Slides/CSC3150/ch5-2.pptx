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0"/>
  </p:notesMasterIdLst>
  <p:handoutMasterIdLst>
    <p:handoutMasterId r:id="rId31"/>
  </p:handoutMasterIdLst>
  <p:sldIdLst>
    <p:sldId id="331" r:id="rId2"/>
    <p:sldId id="426" r:id="rId3"/>
    <p:sldId id="354" r:id="rId4"/>
    <p:sldId id="400" r:id="rId5"/>
    <p:sldId id="356" r:id="rId6"/>
    <p:sldId id="404" r:id="rId7"/>
    <p:sldId id="358" r:id="rId8"/>
    <p:sldId id="359" r:id="rId9"/>
    <p:sldId id="360" r:id="rId10"/>
    <p:sldId id="361" r:id="rId11"/>
    <p:sldId id="362" r:id="rId12"/>
    <p:sldId id="405" r:id="rId13"/>
    <p:sldId id="365" r:id="rId14"/>
    <p:sldId id="411" r:id="rId15"/>
    <p:sldId id="412" r:id="rId16"/>
    <p:sldId id="413" r:id="rId17"/>
    <p:sldId id="364" r:id="rId18"/>
    <p:sldId id="414" r:id="rId19"/>
    <p:sldId id="363" r:id="rId20"/>
    <p:sldId id="367" r:id="rId21"/>
    <p:sldId id="407" r:id="rId22"/>
    <p:sldId id="408" r:id="rId23"/>
    <p:sldId id="368" r:id="rId24"/>
    <p:sldId id="369" r:id="rId25"/>
    <p:sldId id="371" r:id="rId26"/>
    <p:sldId id="415" r:id="rId27"/>
    <p:sldId id="416" r:id="rId28"/>
    <p:sldId id="417" r:id="rId29"/>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varScale="1">
        <p:scale>
          <a:sx n="56" d="100"/>
          <a:sy n="56" d="100"/>
        </p:scale>
        <p:origin x="1436" y="3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0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678576" cy="4456354"/>
          </a:xfrm>
        </p:spPr>
        <p:txBody>
          <a:bodyPr/>
          <a:lstStyle/>
          <a:p>
            <a:r>
              <a:rPr lang="en-US" altLang="en-US" sz="2000" dirty="0"/>
              <a:t>The ready queue consists of multiple queues</a:t>
            </a:r>
          </a:p>
          <a:p>
            <a:r>
              <a:rPr lang="en-US" altLang="en-US" sz="2000" dirty="0"/>
              <a:t>Multilevel 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which queue a process will enter when that process needs service</a:t>
            </a:r>
          </a:p>
          <a:p>
            <a:pPr lvl="1"/>
            <a:r>
              <a:rPr lang="en-US" altLang="en-US" sz="2000" dirty="0"/>
              <a:t>Scheduling among the queues</a:t>
            </a:r>
          </a:p>
          <a:p>
            <a:endParaRPr lang="en-US" altLang="en-US" sz="2000" dirty="0"/>
          </a:p>
        </p:txBody>
      </p:sp>
    </p:spTree>
    <p:extLst>
      <p:ext uri="{BB962C8B-B14F-4D97-AF65-F5344CB8AC3E}">
        <p14:creationId xmlns:p14="http://schemas.microsoft.com/office/powerpoint/2010/main" val="3206840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9"/>
            <a:ext cx="7713662" cy="900112"/>
          </a:xfrm>
        </p:spPr>
        <p:txBody>
          <a:bodyPr/>
          <a:lstStyle/>
          <a:p>
            <a:r>
              <a:rPr lang="en-US" altLang="en-US" sz="2000" dirty="0"/>
              <a:t>With priority scheduling, have separate queues for each priority.</a:t>
            </a:r>
          </a:p>
          <a:p>
            <a:r>
              <a:rPr lang="en-US" altLang="en-US" sz="2000"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4003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sz="2000" dirty="0"/>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0755" y="1879778"/>
            <a:ext cx="6799988" cy="361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716676" cy="4399927"/>
          </a:xfrm>
        </p:spPr>
        <p:txBody>
          <a:bodyPr/>
          <a:lstStyle/>
          <a:p>
            <a:r>
              <a:rPr lang="en-US" altLang="en-US" sz="2000" dirty="0"/>
              <a:t>A process can move between the various queues.</a:t>
            </a:r>
          </a:p>
          <a:p>
            <a:r>
              <a:rPr lang="en-US" altLang="en-US" sz="2000" dirty="0"/>
              <a:t>Multilevel-feedback-queue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when to upgrade a process</a:t>
            </a:r>
          </a:p>
          <a:p>
            <a:pPr lvl="1"/>
            <a:r>
              <a:rPr lang="en-US" altLang="en-US" sz="2000" dirty="0"/>
              <a:t>Method used to determine when to demote a process</a:t>
            </a:r>
          </a:p>
          <a:p>
            <a:pPr lvl="1"/>
            <a:r>
              <a:rPr lang="en-US" altLang="en-US" sz="2000" dirty="0"/>
              <a:t>Method used to determine which queue a process will enter when that process needs service</a:t>
            </a:r>
          </a:p>
          <a:p>
            <a:r>
              <a:rPr lang="en-US" altLang="en-US" sz="2000" dirty="0"/>
              <a:t>Aging can be implemented using multilevel feedback queue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sz="1600"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p>
          <a:p>
            <a:r>
              <a:rPr lang="en-US" altLang="en-US" sz="1600"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600" dirty="0"/>
              <a:t>When it gains CPU, the process receives 8 milliseconds</a:t>
            </a:r>
          </a:p>
          <a:p>
            <a:pPr lvl="2"/>
            <a:r>
              <a:rPr lang="en-US" altLang="en-US" sz="1600" dirty="0"/>
              <a:t>If it does not finish in 8 milliseconds, the process  is moved to queue </a:t>
            </a:r>
            <a:r>
              <a:rPr lang="en-US" altLang="en-US" sz="1600" i="1" dirty="0"/>
              <a:t>Q</a:t>
            </a:r>
            <a:r>
              <a:rPr lang="en-US" altLang="en-US" sz="1600" baseline="-25000" dirty="0"/>
              <a:t>1</a:t>
            </a:r>
            <a:endParaRPr lang="en-US" altLang="en-US" sz="16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600" dirty="0"/>
              <a:t>If it still does not complete, it is preempted and moved to queue </a:t>
            </a:r>
            <a:r>
              <a:rPr lang="en-US" altLang="en-US" sz="1600" i="1" dirty="0"/>
              <a:t>Q</a:t>
            </a:r>
            <a:r>
              <a:rPr lang="en-US" altLang="en-US" sz="1600" baseline="-25000" dirty="0"/>
              <a:t>2</a:t>
            </a:r>
            <a:endParaRPr lang="en-US" altLang="en-US" sz="16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0"/>
            <a:ext cx="7661275" cy="3865879"/>
          </a:xfrm>
        </p:spPr>
        <p:txBody>
          <a:bodyPr/>
          <a:lstStyle/>
          <a:p>
            <a:r>
              <a:rPr lang="en-US" altLang="en-US" sz="2000" dirty="0"/>
              <a:t>Distinction between user-level and kernel-level threads</a:t>
            </a:r>
          </a:p>
          <a:p>
            <a:r>
              <a:rPr lang="en-US" altLang="en-US" sz="2000" dirty="0"/>
              <a:t>When threads supported, threads scheduled, not processes</a:t>
            </a:r>
          </a:p>
          <a:p>
            <a:r>
              <a:rPr lang="en-US" altLang="en-US" sz="2000" dirty="0"/>
              <a:t>Many-to-one and many-to-many models, thread library schedules user-level threads to run on LWP</a:t>
            </a:r>
          </a:p>
          <a:p>
            <a:pPr lvl="1"/>
            <a:r>
              <a:rPr lang="en-US" altLang="en-US" sz="2000" dirty="0"/>
              <a:t>Known as </a:t>
            </a:r>
            <a:r>
              <a:rPr lang="en-US" altLang="en-US" sz="2000" b="1" dirty="0">
                <a:solidFill>
                  <a:srgbClr val="006699"/>
                </a:solidFill>
                <a:latin typeface="+mj-lt"/>
              </a:rPr>
              <a:t>process-contention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solidFill>
                  <a:srgbClr val="3366FF"/>
                </a:solidFill>
              </a:rPr>
              <a:t> </a:t>
            </a:r>
            <a:r>
              <a:rPr lang="en-US" altLang="en-US" sz="2000" dirty="0"/>
              <a:t>(</a:t>
            </a:r>
            <a:r>
              <a:rPr lang="en-US" altLang="en-US" sz="2000" b="1" dirty="0">
                <a:solidFill>
                  <a:srgbClr val="006699"/>
                </a:solidFill>
                <a:latin typeface="+mj-lt"/>
              </a:rPr>
              <a:t>PCS</a:t>
            </a:r>
            <a:r>
              <a:rPr lang="en-US" altLang="en-US" sz="2000" dirty="0"/>
              <a:t>)</a:t>
            </a:r>
            <a:r>
              <a:rPr lang="en-US" altLang="en-US" sz="2000" b="1" dirty="0"/>
              <a:t> </a:t>
            </a:r>
            <a:r>
              <a:rPr lang="en-US" altLang="en-US" sz="2000" dirty="0"/>
              <a:t>since scheduling competition is within the process</a:t>
            </a:r>
          </a:p>
          <a:p>
            <a:pPr lvl="1"/>
            <a:r>
              <a:rPr lang="en-US" altLang="en-US" sz="2000" dirty="0"/>
              <a:t>Typically done via priority set by programmer</a:t>
            </a:r>
          </a:p>
          <a:p>
            <a:r>
              <a:rPr lang="en-US" altLang="en-US" sz="2000" dirty="0"/>
              <a:t>Kernel thread scheduled onto available CPU is </a:t>
            </a:r>
            <a:r>
              <a:rPr lang="en-US" altLang="en-US" sz="2000" b="1" dirty="0">
                <a:solidFill>
                  <a:srgbClr val="006699"/>
                </a:solidFill>
                <a:latin typeface="+mj-lt"/>
              </a:rPr>
              <a:t>system-contention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t> </a:t>
            </a:r>
            <a:r>
              <a:rPr lang="en-US" altLang="en-US" sz="2000" dirty="0"/>
              <a:t>(</a:t>
            </a:r>
            <a:r>
              <a:rPr lang="en-US" altLang="en-US" sz="2000" b="1" dirty="0">
                <a:solidFill>
                  <a:srgbClr val="006699"/>
                </a:solidFill>
                <a:latin typeface="+mj-lt"/>
              </a:rPr>
              <a:t>SCS</a:t>
            </a:r>
            <a:r>
              <a:rPr lang="en-US" altLang="en-US" sz="2000" dirty="0"/>
              <a:t>) – competition among all threads in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sz="2000" dirty="0"/>
              <a:t>API allows specifying either PCS or SCS during thread creation</a:t>
            </a:r>
          </a:p>
          <a:p>
            <a:pPr lvl="1"/>
            <a:r>
              <a:rPr lang="en-US" altLang="en-US" sz="2000" dirty="0"/>
              <a:t>PTHREAD_SCOPE_PROCESS schedules threads using PCS scheduling</a:t>
            </a:r>
          </a:p>
          <a:p>
            <a:pPr lvl="1"/>
            <a:r>
              <a:rPr lang="en-US" altLang="en-US" sz="2000" dirty="0"/>
              <a:t>PTHREAD_SCOPE_SYSTEM schedules threads using SCS scheduling</a:t>
            </a:r>
          </a:p>
          <a:p>
            <a:r>
              <a:rPr lang="en-US" altLang="en-US" sz="2000" dirty="0"/>
              <a:t>Can be limited by OS – Linux and macOS only allow PTHREAD_SCOPE_SYSTEM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5495925"/>
          </a:xfrm>
        </p:spPr>
        <p:txBody>
          <a:bodyPr/>
          <a:lstStyle/>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pthread.h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stdio.h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#define NUM_THREADS 5 </a:t>
            </a:r>
          </a:p>
          <a:p>
            <a:pPr marL="0" indent="0">
              <a:buFont typeface="Monotype Sorts" pitchFamily="-84" charset="2"/>
              <a:buNone/>
            </a:pPr>
            <a:r>
              <a:rPr lang="en-US" altLang="en-US" sz="1400" b="1" dirty="0">
                <a:latin typeface="Courier New" panose="02070309020205020404" pitchFamily="49" charset="0"/>
              </a:rPr>
              <a:t>int main(int </a:t>
            </a:r>
            <a:r>
              <a:rPr lang="en-US" altLang="en-US" sz="1400" b="1" dirty="0" err="1">
                <a:latin typeface="Courier New" panose="02070309020205020404" pitchFamily="49" charset="0"/>
              </a:rPr>
              <a:t>argc</a:t>
            </a:r>
            <a:r>
              <a:rPr lang="en-US" altLang="en-US" sz="1400" b="1" dirty="0">
                <a:latin typeface="Courier New" panose="02070309020205020404" pitchFamily="49" charset="0"/>
              </a:rPr>
              <a:t>, char *</a:t>
            </a:r>
            <a:r>
              <a:rPr lang="en-US" altLang="en-US" sz="1400" b="1" dirty="0" err="1">
                <a:latin typeface="Courier New" panose="02070309020205020404" pitchFamily="49" charset="0"/>
              </a:rPr>
              <a:t>argv</a:t>
            </a:r>
            <a:r>
              <a:rPr lang="en-US" altLang="en-US" sz="1400" b="1" dirty="0">
                <a:latin typeface="Courier New" panose="02070309020205020404" pitchFamily="49" charset="0"/>
              </a:rPr>
              <a:t>[]) { </a:t>
            </a:r>
          </a:p>
          <a:p>
            <a:pPr marL="0" indent="0">
              <a:buFont typeface="Monotype Sorts" pitchFamily="-84" charset="2"/>
              <a:buNone/>
            </a:pPr>
            <a:r>
              <a:rPr lang="en-US" altLang="en-US" sz="1400" b="1" dirty="0">
                <a:latin typeface="Courier New" panose="02070309020205020404" pitchFamily="49" charset="0"/>
              </a:rPr>
              <a:t>   int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scope;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[NUM THREADS];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get the default attributes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pthread_attr_init</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first inquire on the current scope */</a:t>
            </a:r>
            <a:br>
              <a:rPr lang="en-US" altLang="en-US" sz="1400" b="1" dirty="0">
                <a:latin typeface="Courier New" panose="02070309020205020404" pitchFamily="49" charset="0"/>
              </a:rPr>
            </a:br>
            <a:r>
              <a:rPr lang="en-US" altLang="en-US" sz="1400" b="1" dirty="0">
                <a:latin typeface="Courier New" panose="02070309020205020404" pitchFamily="49" charset="0"/>
              </a:rPr>
              <a:t>   if (</a:t>
            </a:r>
            <a:r>
              <a:rPr lang="en-US" altLang="en-US" sz="1400" b="1" dirty="0" err="1">
                <a:latin typeface="Courier New" panose="02070309020205020404" pitchFamily="49" charset="0"/>
              </a:rPr>
              <a:t>pthread_attr_getscope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&amp;scope) != 0)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"Unable to get scheduling scope\n"); </a:t>
            </a:r>
          </a:p>
          <a:p>
            <a:pPr marL="0" indent="0">
              <a:buFont typeface="Monotype Sorts" pitchFamily="-84" charset="2"/>
              <a:buNone/>
            </a:pPr>
            <a:r>
              <a:rPr lang="en-US" altLang="en-US" sz="1400" b="1" dirty="0">
                <a:latin typeface="Courier New" panose="02070309020205020404" pitchFamily="49" charset="0"/>
              </a:rPr>
              <a:t>   else { </a:t>
            </a:r>
          </a:p>
          <a:p>
            <a:pPr marL="0" indent="0">
              <a:buFont typeface="Monotype Sorts" pitchFamily="-84" charset="2"/>
              <a:buNone/>
            </a:pPr>
            <a:r>
              <a:rPr lang="en-US" altLang="en-US" sz="1400" b="1" dirty="0">
                <a:latin typeface="Courier New" panose="02070309020205020404" pitchFamily="49" charset="0"/>
              </a:rPr>
              <a:t>      if (scope == PTHREAD_SCOPE_PROCESS)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("PTHREAD_SCOPE_PROCESS"); </a:t>
            </a:r>
          </a:p>
          <a:p>
            <a:pPr marL="0" indent="0">
              <a:buFont typeface="Monotype Sorts" pitchFamily="-84" charset="2"/>
              <a:buNone/>
            </a:pPr>
            <a:r>
              <a:rPr lang="en-US" altLang="en-US" sz="1400" b="1" dirty="0">
                <a:latin typeface="Courier New" panose="02070309020205020404" pitchFamily="49" charset="0"/>
              </a:rPr>
              <a:t>      else if (scope == PTHREAD_SCOPE_SYSTEM)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("PTHREAD_SCOPE_SYSTEM"); </a:t>
            </a:r>
          </a:p>
          <a:p>
            <a:pPr marL="0" indent="0">
              <a:buFont typeface="Monotype Sorts" pitchFamily="-84" charset="2"/>
              <a:buNone/>
            </a:pPr>
            <a:r>
              <a:rPr lang="en-US" altLang="en-US" sz="1400" b="1" dirty="0">
                <a:latin typeface="Courier New" panose="02070309020205020404" pitchFamily="49" charset="0"/>
              </a:rPr>
              <a:t>      else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"Illegal scope value.\n"); </a:t>
            </a:r>
          </a:p>
          <a:p>
            <a:pPr marL="0" indent="0">
              <a:buFont typeface="Monotype Sorts" pitchFamily="-84" charset="2"/>
              <a:buNone/>
            </a:pPr>
            <a:r>
              <a:rPr lang="en-US" altLang="en-US" sz="1400" b="1" dirty="0">
                <a:latin typeface="Courier New" panose="02070309020205020404" pitchFamily="49" charset="0"/>
              </a:rPr>
              <a:t>   }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b="1" dirty="0">
                <a:latin typeface="Courier New" panose="02070309020205020404" pitchFamily="49" charset="0"/>
              </a:rPr>
              <a:t>   /* set the scheduling algorithm to PCS or SCS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pthread_attr_setscope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a:t>
            </a:r>
            <a:r>
              <a:rPr lang="en-US" altLang="en-US" sz="1700" b="1" dirty="0">
                <a:latin typeface="Courier New" panose="02070309020205020404" pitchFamily="49" charset="0"/>
              </a:rPr>
              <a:t>, PTHREAD_SCOPE_SYSTEM); </a:t>
            </a:r>
          </a:p>
          <a:p>
            <a:pPr marL="0" indent="0">
              <a:buFont typeface="Monotype Sorts" pitchFamily="-84" charset="2"/>
              <a:buNone/>
            </a:pPr>
            <a:r>
              <a:rPr lang="en-US" altLang="en-US" sz="1700" b="1" dirty="0">
                <a:latin typeface="Courier New" panose="02070309020205020404" pitchFamily="49" charset="0"/>
              </a:rPr>
              <a:t>   /* create the threads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pthread_create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attr,runner,NULL</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now join on each thread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pthread_join</a:t>
            </a:r>
            <a:r>
              <a:rPr lang="en-US" altLang="en-US" sz="1700" b="1" dirty="0">
                <a:latin typeface="Courier New" panose="02070309020205020404" pitchFamily="49" charset="0"/>
              </a:rPr>
              <a:t>(</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 NULL); </a:t>
            </a:r>
          </a:p>
          <a:p>
            <a:pPr marL="0" indent="0">
              <a:buFont typeface="Monotype Sorts" pitchFamily="-84" charset="2"/>
              <a:buNone/>
            </a:pP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Each thread will begin control in this function */ </a:t>
            </a:r>
          </a:p>
          <a:p>
            <a:pPr marL="0" indent="0">
              <a:buFont typeface="Monotype Sorts" pitchFamily="-84" charset="2"/>
              <a:buNone/>
            </a:pPr>
            <a:r>
              <a:rPr lang="en-US" altLang="en-US" sz="1700" b="1" dirty="0">
                <a:latin typeface="Courier New" panose="02070309020205020404" pitchFamily="49" charset="0"/>
              </a:rPr>
              <a:t>void *runner(void *param)</a:t>
            </a:r>
            <a:br>
              <a:rPr lang="en-US" altLang="en-US" sz="1700" b="1" dirty="0">
                <a:latin typeface="Courier New" panose="02070309020205020404" pitchFamily="49" charset="0"/>
              </a:rPr>
            </a:b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do some work ...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pthread_exit</a:t>
            </a:r>
            <a:r>
              <a:rPr lang="en-US" altLang="en-US" sz="1700" b="1" dirty="0">
                <a:latin typeface="Courier New" panose="02070309020205020404" pitchFamily="49" charset="0"/>
              </a:rPr>
              <a:t>(0); </a:t>
            </a:r>
          </a:p>
          <a:p>
            <a:pPr marL="0" indent="0">
              <a:buFont typeface="Monotype Sorts" pitchFamily="-84" charset="2"/>
              <a:buNone/>
            </a:pPr>
            <a:r>
              <a:rPr lang="en-US" altLang="en-US" sz="1700" b="1" dirty="0">
                <a:latin typeface="Courier New" panose="02070309020205020404" pitchFamily="49"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912359" cy="2586037"/>
          </a:xfrm>
        </p:spPr>
        <p:txBody>
          <a:bodyPr/>
          <a:lstStyle/>
          <a:p>
            <a:r>
              <a:rPr lang="en-US" altLang="en-US" sz="2000" dirty="0"/>
              <a:t>CPU scheduling more complex when multiple CPUs are available</a:t>
            </a:r>
          </a:p>
          <a:p>
            <a:r>
              <a:rPr lang="en-US" altLang="en-US" sz="2000" dirty="0" err="1"/>
              <a:t>Multiprocess</a:t>
            </a:r>
            <a:r>
              <a:rPr lang="en-US" altLang="en-US" sz="2000" dirty="0"/>
              <a:t> may be any one of the following architectures:</a:t>
            </a:r>
          </a:p>
          <a:p>
            <a:pPr lvl="1"/>
            <a:r>
              <a:rPr lang="en-US" altLang="en-US" sz="2000" dirty="0"/>
              <a:t>Multicore CPUs</a:t>
            </a:r>
          </a:p>
          <a:p>
            <a:pPr lvl="1"/>
            <a:r>
              <a:rPr lang="en-US" altLang="en-US" sz="2000" dirty="0"/>
              <a:t>Multithreaded cores</a:t>
            </a:r>
          </a:p>
          <a:p>
            <a:pPr lvl="1"/>
            <a:r>
              <a:rPr lang="en-US" altLang="en-US" sz="2000" dirty="0"/>
              <a:t>NUMA systems</a:t>
            </a:r>
          </a:p>
          <a:p>
            <a:pPr lvl="1"/>
            <a:r>
              <a:rPr lang="en-US" altLang="en-US" sz="2000" dirty="0"/>
              <a:t>Heterogeneous multiprocessing</a:t>
            </a:r>
          </a:p>
          <a:p>
            <a:pPr lvl="1"/>
            <a:endParaRPr lang="en-US" altLang="en-US" sz="2000" b="1" dirty="0">
              <a:solidFill>
                <a:srgbClr val="3366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a:xfrm>
            <a:off x="806450" y="1016001"/>
            <a:ext cx="7727950" cy="1600200"/>
          </a:xfrm>
        </p:spPr>
        <p:txBody>
          <a:bodyPr/>
          <a:lstStyle/>
          <a:p>
            <a:r>
              <a:rPr lang="en-US" altLang="en-US" sz="2000" dirty="0"/>
              <a:t>Symmetric multiprocessing (SMP) is where each processor is self scheduling.</a:t>
            </a:r>
          </a:p>
          <a:p>
            <a:r>
              <a:rPr lang="en-US" altLang="en-US" sz="2000" dirty="0"/>
              <a:t>All threads may be in a common ready queue (a)</a:t>
            </a:r>
          </a:p>
          <a:p>
            <a:r>
              <a:rPr lang="en-US" altLang="en-US" sz="2000" dirty="0"/>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sz="2000" dirty="0"/>
              <a:t>Recent trend to place multiple processor cores on same physical chip</a:t>
            </a:r>
          </a:p>
          <a:p>
            <a:r>
              <a:rPr lang="en-US" altLang="en-US" sz="2000" dirty="0"/>
              <a:t>Faster and consumes less power</a:t>
            </a:r>
          </a:p>
          <a:p>
            <a:r>
              <a:rPr lang="en-US" altLang="en-US" sz="2000" dirty="0"/>
              <a:t>Multiple threads per core also growing</a:t>
            </a:r>
          </a:p>
          <a:p>
            <a:pPr lvl="1"/>
            <a:r>
              <a:rPr lang="en-US" altLang="en-US" sz="2000" dirty="0"/>
              <a:t>Takes advantage of memory stall to make progress on another thread while memory retrieve happens</a:t>
            </a:r>
          </a:p>
          <a:p>
            <a:r>
              <a:rPr lang="en-US" altLang="en-US" sz="2000" dirty="0"/>
              <a:t>Figure</a:t>
            </a:r>
          </a:p>
          <a:p>
            <a:pPr lvl="1"/>
            <a:endParaRPr lang="en-US" altLang="en-US" sz="2000" dirty="0"/>
          </a:p>
          <a:p>
            <a:pPr lvl="1">
              <a:buFont typeface="Monotype Sorts" pitchFamily="-84" charset="2"/>
              <a:buNone/>
            </a:pPr>
            <a:r>
              <a:rPr lang="en-US" altLang="en-US" sz="2000"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8963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1354137"/>
          </a:xfrm>
        </p:spPr>
        <p:txBody>
          <a:bodyPr/>
          <a:lstStyle/>
          <a:p>
            <a:r>
              <a:rPr kumimoji="0" lang="en-US" altLang="en-US" sz="2000" dirty="0"/>
              <a:t>Each core has &gt; 1 hardware threads. </a:t>
            </a:r>
          </a:p>
          <a:p>
            <a:r>
              <a:rPr kumimoji="0" lang="en-US" altLang="en-US" sz="2000" dirty="0"/>
              <a:t>If one thread has a memory stall, switch to another thread!</a:t>
            </a:r>
          </a:p>
          <a:p>
            <a:r>
              <a:rPr kumimoji="0" lang="en-US" altLang="en-US" sz="2000" dirty="0"/>
              <a:t>Figure</a:t>
            </a:r>
          </a:p>
          <a:p>
            <a:endParaRPr kumimoji="0" lang="en-US" altLang="en-US" sz="2000" dirty="0"/>
          </a:p>
          <a:p>
            <a:endParaRPr kumimoji="0" lang="en-US" altLang="en-US" sz="2000" dirty="0"/>
          </a:p>
          <a:p>
            <a:pPr>
              <a:spcBef>
                <a:spcPct val="0"/>
              </a:spcBef>
              <a:buClrTx/>
              <a:buSzTx/>
              <a:buFontTx/>
              <a:buNone/>
            </a:pPr>
            <a:endParaRPr kumimoji="0" lang="en-US" altLang="en-US" sz="2000" dirty="0"/>
          </a:p>
          <a:p>
            <a:endParaRPr lang="en-US" altLang="en-US" sz="2000"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5731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736600" y="1306195"/>
            <a:ext cx="4019550" cy="4524693"/>
          </a:xfrm>
        </p:spPr>
        <p:txBody>
          <a:bodyPr/>
          <a:lstStyle/>
          <a:p>
            <a:r>
              <a:rPr lang="en-US" altLang="en-US" sz="2000" b="1" dirty="0"/>
              <a:t>Chip-multithreading</a:t>
            </a:r>
            <a:r>
              <a:rPr lang="en-US" altLang="en-US" sz="2000" dirty="0"/>
              <a:t> (CMT) assigns each core multiple hardware threads. (Intel refers to this as </a:t>
            </a:r>
            <a:r>
              <a:rPr lang="en-US" altLang="en-US" sz="2000" b="1" dirty="0"/>
              <a:t>hyperthreading</a:t>
            </a:r>
            <a:r>
              <a:rPr lang="en-US" altLang="en-US" sz="2000" dirty="0"/>
              <a:t>.)</a:t>
            </a:r>
            <a:br>
              <a:rPr lang="en-US" altLang="en-US" sz="2000" dirty="0"/>
            </a:br>
            <a:endParaRPr lang="en-US" altLang="en-US" sz="2000" dirty="0"/>
          </a:p>
          <a:p>
            <a:r>
              <a:rPr lang="en-US" altLang="en-US" sz="2000" dirty="0"/>
              <a:t>On a quad-core system with 2 hardware threads per core, the operating system sees 8 logical processors.</a:t>
            </a:r>
          </a:p>
          <a:p>
            <a:endParaRPr lang="en-US" altLang="en-US" sz="2000"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493455" y="1298575"/>
            <a:ext cx="3454658" cy="4530725"/>
          </a:xfrm>
        </p:spPr>
        <p:txBody>
          <a:bodyPr/>
          <a:lstStyle/>
          <a:p>
            <a:r>
              <a:rPr lang="en-US" altLang="en-US" sz="2000" dirty="0"/>
              <a:t>Two levels of scheduling:</a:t>
            </a:r>
            <a:br>
              <a:rPr lang="en-US" altLang="en-US" sz="2000" dirty="0"/>
            </a:br>
            <a:endParaRPr lang="en-US" altLang="en-US" sz="2000" dirty="0"/>
          </a:p>
          <a:p>
            <a:pPr lvl="1">
              <a:buFont typeface="Arial" panose="020B0604020202020204" pitchFamily="34" charset="0"/>
              <a:buAutoNum type="arabicPeriod"/>
            </a:pPr>
            <a:r>
              <a:rPr lang="en-US" altLang="en-US" sz="2000" dirty="0"/>
              <a:t>The operating system deciding which software thread to run on a logical CPU</a:t>
            </a:r>
            <a:br>
              <a:rPr lang="en-US" altLang="en-US" sz="2000" dirty="0"/>
            </a:br>
            <a:br>
              <a:rPr lang="en-US" altLang="en-US" sz="2000" dirty="0"/>
            </a:br>
            <a:endParaRPr lang="en-US" altLang="en-US" sz="2000" dirty="0"/>
          </a:p>
          <a:p>
            <a:pPr lvl="1">
              <a:buFont typeface="Arial" panose="020B0604020202020204" pitchFamily="34" charset="0"/>
              <a:buAutoNum type="arabicPeriod"/>
            </a:pPr>
            <a:r>
              <a:rPr lang="en-US" altLang="en-US" sz="2000" dirty="0"/>
              <a:t>How each core decides which hardware thread to run on the physical core.</a:t>
            </a:r>
            <a:br>
              <a:rPr lang="en-US" altLang="en-US" sz="2000" dirty="0"/>
            </a:br>
            <a:br>
              <a:rPr lang="en-US" altLang="en-US" sz="2000" dirty="0"/>
            </a:br>
            <a:br>
              <a:rPr lang="en-US" altLang="en-US" sz="2000" dirty="0"/>
            </a:br>
            <a:endParaRPr lang="en-US" altLang="en-US" sz="2000"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693091" cy="4699952"/>
          </a:xfrm>
        </p:spPr>
        <p:txBody>
          <a:bodyPr/>
          <a:lstStyle/>
          <a:p>
            <a:r>
              <a:rPr lang="en-US" altLang="en-US" sz="2000" dirty="0"/>
              <a:t>If SMP, need to keep all CPUs loaded for efficiency</a:t>
            </a:r>
          </a:p>
          <a:p>
            <a:r>
              <a:rPr lang="en-US" altLang="en-US" sz="2000" b="1" dirty="0">
                <a:solidFill>
                  <a:srgbClr val="006699"/>
                </a:solidFill>
                <a:latin typeface="+mj-lt"/>
              </a:rPr>
              <a:t>Load</a:t>
            </a:r>
            <a:r>
              <a:rPr lang="en-US" altLang="en-US" sz="2000" b="1" dirty="0">
                <a:solidFill>
                  <a:srgbClr val="3366FF"/>
                </a:solidFill>
              </a:rPr>
              <a:t> </a:t>
            </a:r>
            <a:r>
              <a:rPr lang="en-US" altLang="en-US" sz="2000" b="1" dirty="0">
                <a:solidFill>
                  <a:srgbClr val="006699"/>
                </a:solidFill>
                <a:latin typeface="+mj-lt"/>
              </a:rPr>
              <a:t>balancing</a:t>
            </a:r>
            <a:r>
              <a:rPr lang="en-US" altLang="en-US" sz="2000" b="1" dirty="0">
                <a:solidFill>
                  <a:srgbClr val="3366FF"/>
                </a:solidFill>
              </a:rPr>
              <a:t> </a:t>
            </a:r>
            <a:r>
              <a:rPr lang="en-US" altLang="en-US" sz="2000" dirty="0"/>
              <a:t>attempts to keep workload evenly distributed</a:t>
            </a:r>
          </a:p>
          <a:p>
            <a:r>
              <a:rPr lang="en-US" altLang="en-US" sz="2000" b="1" dirty="0">
                <a:solidFill>
                  <a:srgbClr val="006699"/>
                </a:solidFill>
                <a:latin typeface="+mj-lt"/>
              </a:rPr>
              <a:t>Push</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periodic task checks load on each processor, and if found pushes task from overloaded CPU to other CPUs</a:t>
            </a:r>
            <a:endParaRPr lang="en-US" altLang="en-US" sz="2000" b="1" dirty="0">
              <a:solidFill>
                <a:srgbClr val="3366FF"/>
              </a:solidFill>
            </a:endParaRPr>
          </a:p>
          <a:p>
            <a:r>
              <a:rPr lang="en-US" altLang="en-US" sz="2000" b="1" dirty="0">
                <a:solidFill>
                  <a:srgbClr val="006699"/>
                </a:solidFill>
                <a:latin typeface="+mj-lt"/>
              </a:rPr>
              <a:t>Pull</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idle processors pulls waiting task from busy processor</a:t>
            </a:r>
          </a:p>
          <a:p>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sz="2000" dirty="0"/>
              <a:t>When a thread has been running on one processor, the cache contents of that processor stores the memory accesses by that thread.</a:t>
            </a:r>
          </a:p>
          <a:p>
            <a:r>
              <a:rPr lang="en-US" altLang="en-US" sz="2000" dirty="0"/>
              <a:t>We refer to this as a thread having affinity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of.</a:t>
            </a:r>
          </a:p>
          <a:p>
            <a:r>
              <a:rPr lang="en-US" altLang="en-US" sz="2000" b="1" dirty="0"/>
              <a:t>Soft affinity </a:t>
            </a:r>
            <a:r>
              <a:rPr lang="en-US" altLang="en-US" sz="2000" dirty="0"/>
              <a:t>– the operating system attempts to keep a thread running on the same processor, but no guarantees.</a:t>
            </a:r>
          </a:p>
          <a:p>
            <a:r>
              <a:rPr lang="en-US" altLang="en-US" sz="2000" b="1" dirty="0"/>
              <a:t>Hard affinity </a:t>
            </a:r>
            <a:r>
              <a:rPr lang="en-US" altLang="en-US" sz="2000" dirty="0"/>
              <a:t>– allows a process to specify a set of processors it may run on.</a:t>
            </a:r>
          </a:p>
          <a:p>
            <a:endParaRPr lang="en-US"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0"/>
            <a:ext cx="7740391" cy="4575493"/>
          </a:xfrm>
        </p:spPr>
        <p:txBody>
          <a:bodyPr/>
          <a:lstStyle/>
          <a:p>
            <a:r>
              <a:rPr lang="en-US" altLang="en-US" sz="2000" dirty="0"/>
              <a:t>Can present obvious challenges</a:t>
            </a:r>
          </a:p>
          <a:p>
            <a:r>
              <a:rPr lang="en-US" altLang="en-US" sz="2000" b="1" dirty="0">
                <a:solidFill>
                  <a:srgbClr val="006699"/>
                </a:solidFill>
                <a:latin typeface="+mj-lt"/>
              </a:rPr>
              <a:t>Soft real-time systems </a:t>
            </a:r>
            <a:r>
              <a:rPr lang="en-US" altLang="en-US" sz="2000" dirty="0"/>
              <a:t>– Critical real-time tasks have the highest priority, but no guarantee as to when tasks will be scheduled</a:t>
            </a:r>
          </a:p>
          <a:p>
            <a:r>
              <a:rPr lang="en-US" altLang="en-US" sz="2000" b="1" dirty="0">
                <a:solidFill>
                  <a:srgbClr val="006699"/>
                </a:solidFill>
                <a:latin typeface="+mj-lt"/>
              </a:rPr>
              <a:t>Hard real-time systems – task must be serviced by its deadline</a:t>
            </a:r>
          </a:p>
          <a:p>
            <a:pPr lvl="1">
              <a:buFont typeface="Monotype Sorts" pitchFamily="-84" charset="2"/>
              <a:buNone/>
            </a:pPr>
            <a:r>
              <a:rPr lang="en-US" altLang="en-US" sz="2000" b="1" dirty="0">
                <a:solidFill>
                  <a:srgbClr val="006699"/>
                </a:solidFill>
                <a:latin typeface="+mj-lt"/>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4044950" cy="4585653"/>
          </a:xfrm>
        </p:spPr>
        <p:txBody>
          <a:bodyPr/>
          <a:lstStyle/>
          <a:p>
            <a:r>
              <a:rPr lang="en-US" altLang="en-US" sz="2000" dirty="0"/>
              <a:t>Event latency – the amount of time that elapses from when an event occurs to when it is serviced.</a:t>
            </a:r>
          </a:p>
          <a:p>
            <a:r>
              <a:rPr lang="en-US" altLang="en-US" sz="2000" dirty="0"/>
              <a:t>Two types of latencies affect performance</a:t>
            </a:r>
          </a:p>
          <a:p>
            <a:pPr lvl="1">
              <a:buFont typeface="Arial" panose="020B0604020202020204" pitchFamily="34" charset="0"/>
              <a:buAutoNum type="arabicPeriod"/>
            </a:pPr>
            <a:r>
              <a:rPr lang="en-US" altLang="en-US" sz="2000" dirty="0"/>
              <a:t> </a:t>
            </a:r>
            <a:r>
              <a:rPr lang="en-US" altLang="en-US" sz="2000" b="1" dirty="0"/>
              <a:t>Interrupt latency </a:t>
            </a:r>
            <a:r>
              <a:rPr lang="en-US" altLang="en-US" sz="2000" dirty="0"/>
              <a:t>– time from arrival of interrupt to start of routine that services interrupt</a:t>
            </a:r>
          </a:p>
          <a:p>
            <a:pPr lvl="1">
              <a:buFont typeface="Arial" panose="020B0604020202020204" pitchFamily="34" charset="0"/>
              <a:buAutoNum type="arabicPeriod"/>
            </a:pPr>
            <a:r>
              <a:rPr lang="en-US" altLang="en-US" sz="2000" dirty="0"/>
              <a:t> </a:t>
            </a:r>
            <a:r>
              <a:rPr lang="en-US" altLang="en-US" sz="2000" b="1" dirty="0"/>
              <a:t>Dispatch latency </a:t>
            </a:r>
            <a:r>
              <a:rPr lang="en-US" altLang="en-US" sz="2000" dirty="0"/>
              <a:t>– time for schedule to take current process off CPU and switch to another</a:t>
            </a:r>
          </a:p>
          <a:p>
            <a:endParaRPr lang="en-US" altLang="en-US" sz="2000" dirty="0"/>
          </a:p>
          <a:p>
            <a:pPr lvl="1">
              <a:buFont typeface="Monotype Sorts" pitchFamily="-84" charset="2"/>
              <a:buNone/>
            </a:pPr>
            <a:r>
              <a:rPr lang="en-US" altLang="en-US" sz="2000"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1800" y="995680"/>
            <a:ext cx="5759030" cy="543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561975" y="964247"/>
            <a:ext cx="8020050" cy="1690053"/>
          </a:xfrm>
        </p:spPr>
        <p:txBody>
          <a:bodyPr/>
          <a:lstStyle/>
          <a:p>
            <a:r>
              <a:rPr lang="en-US" altLang="en-US" sz="2000" dirty="0"/>
              <a:t>Conflict phase of dispatch latency:</a:t>
            </a:r>
          </a:p>
          <a:p>
            <a:pPr lvl="1">
              <a:buFont typeface="Arial" panose="020B0604020202020204" pitchFamily="34" charset="0"/>
              <a:buAutoNum type="arabicPeriod"/>
            </a:pPr>
            <a:r>
              <a:rPr lang="en-US" altLang="en-US" sz="2000" dirty="0"/>
              <a:t>Preemption of any process running in kernel mode</a:t>
            </a:r>
          </a:p>
          <a:p>
            <a:pPr lvl="1">
              <a:buFont typeface="Arial" panose="020B0604020202020204" pitchFamily="34" charset="0"/>
              <a:buAutoNum type="arabicPeriod"/>
            </a:pPr>
            <a:r>
              <a:rPr lang="en-US" altLang="en-US" sz="2000" dirty="0"/>
              <a:t>Release by low-priority process of resources needed by high-priority processes</a:t>
            </a:r>
          </a:p>
          <a:p>
            <a:endParaRPr lang="en-US" altLang="en-US" sz="2000" dirty="0"/>
          </a:p>
          <a:p>
            <a:pPr lvl="1">
              <a:buFont typeface="Monotype Sorts" pitchFamily="-84" charset="2"/>
              <a:buNone/>
            </a:pPr>
            <a:r>
              <a:rPr lang="en-US" altLang="en-US" sz="2000"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0768" y="2564606"/>
            <a:ext cx="4997307" cy="3671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028701"/>
            <a:ext cx="7727950" cy="3568700"/>
          </a:xfrm>
        </p:spPr>
        <p:txBody>
          <a:bodyPr/>
          <a:lstStyle/>
          <a:p>
            <a:r>
              <a:rPr lang="en-US" altLang="en-US" sz="2000" dirty="0"/>
              <a:t>For real-time scheduling, scheduler must support preemptive, priority-based scheduling</a:t>
            </a:r>
          </a:p>
          <a:p>
            <a:pPr lvl="1"/>
            <a:r>
              <a:rPr lang="en-US" altLang="en-US" sz="2000" dirty="0"/>
              <a:t>But only guarantees soft real-time</a:t>
            </a:r>
          </a:p>
          <a:p>
            <a:r>
              <a:rPr lang="en-US" altLang="en-US" sz="2000" dirty="0"/>
              <a:t>For hard real-time must also provide ability to meet deadlines</a:t>
            </a:r>
          </a:p>
          <a:p>
            <a:r>
              <a:rPr lang="en-US" altLang="en-US" sz="2000" dirty="0"/>
              <a:t>Processes have new characteristics: </a:t>
            </a:r>
            <a:r>
              <a:rPr lang="en-US" altLang="en-US" sz="2000" b="1" dirty="0">
                <a:solidFill>
                  <a:srgbClr val="006699"/>
                </a:solidFill>
                <a:latin typeface="+mj-lt"/>
              </a:rPr>
              <a:t>periodic</a:t>
            </a:r>
            <a:r>
              <a:rPr lang="en-US" altLang="en-US" sz="2000" dirty="0"/>
              <a:t> ones require CPU at constant intervals</a:t>
            </a:r>
          </a:p>
          <a:p>
            <a:pPr lvl="1"/>
            <a:r>
              <a:rPr lang="en-US" altLang="en-US" sz="2000" dirty="0"/>
              <a:t>Has processing time </a:t>
            </a:r>
            <a:r>
              <a:rPr lang="en-US" altLang="en-US" sz="2000" i="1" dirty="0"/>
              <a:t>t</a:t>
            </a:r>
            <a:r>
              <a:rPr lang="en-US" altLang="en-US" sz="2000" dirty="0"/>
              <a:t>, deadline </a:t>
            </a:r>
            <a:r>
              <a:rPr lang="en-US" altLang="en-US" sz="2000" i="1" dirty="0"/>
              <a:t>d, </a:t>
            </a:r>
            <a:r>
              <a:rPr lang="en-US" altLang="en-US" sz="2000" dirty="0"/>
              <a:t>period </a:t>
            </a:r>
            <a:r>
              <a:rPr lang="en-US" altLang="en-US" sz="2000" i="1" dirty="0"/>
              <a:t>p</a:t>
            </a:r>
          </a:p>
          <a:p>
            <a:pPr lvl="1"/>
            <a:r>
              <a:rPr lang="en-US" altLang="en-US" sz="2000" dirty="0"/>
              <a:t>0 ≤ </a:t>
            </a:r>
            <a:r>
              <a:rPr lang="en-US" altLang="en-US" sz="2000" i="1" dirty="0"/>
              <a:t>t</a:t>
            </a:r>
            <a:r>
              <a:rPr lang="en-US" altLang="en-US" sz="2000" dirty="0"/>
              <a:t> ≤ </a:t>
            </a:r>
            <a:r>
              <a:rPr lang="en-US" altLang="en-US" sz="2000" i="1" dirty="0"/>
              <a:t>d</a:t>
            </a:r>
            <a:r>
              <a:rPr lang="en-US" altLang="en-US" sz="2000" dirty="0"/>
              <a:t> ≤ </a:t>
            </a:r>
            <a:r>
              <a:rPr lang="en-US" altLang="en-US" sz="2000" i="1" dirty="0"/>
              <a:t>p</a:t>
            </a:r>
          </a:p>
          <a:p>
            <a:pPr lvl="1"/>
            <a:r>
              <a:rPr lang="en-US" altLang="en-US" sz="2000" b="1" dirty="0">
                <a:solidFill>
                  <a:srgbClr val="006699"/>
                </a:solidFill>
                <a:latin typeface="+mj-lt"/>
              </a:rPr>
              <a:t>Rate</a:t>
            </a:r>
            <a:r>
              <a:rPr lang="en-US" altLang="en-US" sz="2000" dirty="0"/>
              <a:t> of periodic task is 1/</a:t>
            </a:r>
            <a:r>
              <a:rPr lang="en-US" altLang="en-US" sz="2000" i="1" dirty="0"/>
              <a:t>p</a:t>
            </a:r>
            <a:endParaRPr lang="en-US" altLang="en-US" sz="2000" dirty="0"/>
          </a:p>
          <a:p>
            <a:endParaRPr lang="en-US" altLang="en-US" sz="2000" dirty="0"/>
          </a:p>
          <a:p>
            <a:pPr lvl="1">
              <a:buFont typeface="Monotype Sorts" pitchFamily="-84" charset="2"/>
              <a:buNone/>
            </a:pPr>
            <a:r>
              <a:rPr lang="en-US" altLang="en-US" sz="2000"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6667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1729358"/>
          </a:xfrm>
        </p:spPr>
        <p:txBody>
          <a:bodyPr/>
          <a:lstStyle/>
          <a:p>
            <a:r>
              <a:rPr lang="en-US" altLang="en-US" sz="2000" dirty="0"/>
              <a:t>A priority is assigned based on the inverse of its period</a:t>
            </a:r>
          </a:p>
          <a:p>
            <a:r>
              <a:rPr lang="en-US" altLang="en-US" sz="2000" dirty="0"/>
              <a:t>Shorter periods = higher priority;</a:t>
            </a:r>
          </a:p>
          <a:p>
            <a:r>
              <a:rPr lang="en-US" altLang="en-US" sz="2000" dirty="0"/>
              <a:t>Longer periods = lower priority</a:t>
            </a:r>
          </a:p>
          <a:p>
            <a:r>
              <a:rPr lang="en-US" altLang="en-US" sz="2000" dirty="0"/>
              <a:t>P</a:t>
            </a:r>
            <a:r>
              <a:rPr lang="en-US" altLang="en-US" sz="2000" baseline="-25000" dirty="0"/>
              <a:t>1</a:t>
            </a:r>
            <a:r>
              <a:rPr lang="en-US" altLang="en-US" sz="2000" dirty="0"/>
              <a:t> is assigned a higher priority than P</a:t>
            </a:r>
            <a:r>
              <a:rPr lang="en-US" altLang="en-US" sz="2000" baseline="-25000" dirty="0"/>
              <a:t>2</a:t>
            </a:r>
            <a:r>
              <a:rPr lang="en-US" altLang="en-US" sz="2000" dirty="0"/>
              <a:t>.</a:t>
            </a:r>
            <a:br>
              <a:rPr lang="en-US" altLang="en-US" sz="2000" dirty="0"/>
            </a:br>
            <a:endParaRPr lang="en-US" altLang="en-US" sz="2000"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30990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789305"/>
          </a:xfrm>
        </p:spPr>
        <p:txBody>
          <a:bodyPr/>
          <a:lstStyle/>
          <a:p>
            <a:r>
              <a:rPr kumimoji="0" lang="en-US" altLang="en-US" sz="2000" dirty="0"/>
              <a:t>Process </a:t>
            </a:r>
            <a:r>
              <a:rPr lang="en-US" altLang="en-US" sz="2000" dirty="0"/>
              <a:t>P</a:t>
            </a:r>
            <a:r>
              <a:rPr lang="en-US" altLang="en-US" sz="2000" baseline="-25000" dirty="0"/>
              <a:t>2</a:t>
            </a:r>
            <a:r>
              <a:rPr kumimoji="0" lang="en-US" altLang="en-US" sz="2000" dirty="0"/>
              <a:t> misses finishing its deadline at time 80</a:t>
            </a:r>
          </a:p>
          <a:p>
            <a:r>
              <a:rPr lang="en-US" altLang="en-US" sz="2000" dirty="0"/>
              <a:t>Figure</a:t>
            </a:r>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2540" y="1998587"/>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143000"/>
            <a:ext cx="7432125" cy="4483100"/>
          </a:xfrm>
        </p:spPr>
        <p:txBody>
          <a:bodyPr/>
          <a:lstStyle/>
          <a:p>
            <a:r>
              <a:rPr lang="en-US" altLang="en-US" sz="2000" dirty="0"/>
              <a:t>Priorities are assigned according to deadlines:</a:t>
            </a:r>
          </a:p>
          <a:p>
            <a:pPr lvl="1"/>
            <a:r>
              <a:rPr lang="en-US" altLang="en-US" sz="2000" dirty="0"/>
              <a:t>The earlier the deadline, the higher the priority</a:t>
            </a:r>
          </a:p>
          <a:p>
            <a:pPr lvl="1"/>
            <a:r>
              <a:rPr lang="en-US" altLang="en-US" sz="2000" dirty="0"/>
              <a:t>The later the deadline, the lower the priority</a:t>
            </a:r>
          </a:p>
          <a:p>
            <a:r>
              <a:rPr lang="en-US" altLang="en-US" sz="2000"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Take a Break</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13415</TotalTime>
  <Words>1407</Words>
  <Application>Microsoft Office PowerPoint</Application>
  <PresentationFormat>全屏显示(4:3)</PresentationFormat>
  <Paragraphs>181</Paragraphs>
  <Slides>28</Slides>
  <Notes>23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Monotype Sorts</vt:lpstr>
      <vt:lpstr>Arial</vt:lpstr>
      <vt:lpstr>Courier New</vt:lpstr>
      <vt:lpstr>Helvetica</vt:lpstr>
      <vt:lpstr>Times New Roman</vt:lpstr>
      <vt:lpstr>Verdana</vt:lpstr>
      <vt:lpstr>Webdings</vt:lpstr>
      <vt:lpstr>Wingdings</vt:lpstr>
      <vt:lpstr>os-8</vt:lpstr>
      <vt:lpstr>Chapter 5:  CPU Scheduling</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Take a Break</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274</cp:revision>
  <cp:lastPrinted>2013-09-10T17:57:57Z</cp:lastPrinted>
  <dcterms:created xsi:type="dcterms:W3CDTF">2011-01-13T23:43:38Z</dcterms:created>
  <dcterms:modified xsi:type="dcterms:W3CDTF">2025-09-09T05:23:50Z</dcterms:modified>
</cp:coreProperties>
</file>