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2" r:id="rId1"/>
  </p:sldMasterIdLst>
  <p:notesMasterIdLst>
    <p:notesMasterId r:id="rId58"/>
  </p:notesMasterIdLst>
  <p:handoutMasterIdLst>
    <p:handoutMasterId r:id="rId59"/>
  </p:handoutMasterIdLst>
  <p:sldIdLst>
    <p:sldId id="325" r:id="rId2"/>
    <p:sldId id="256" r:id="rId3"/>
    <p:sldId id="335" r:id="rId4"/>
    <p:sldId id="257" r:id="rId5"/>
    <p:sldId id="327" r:id="rId6"/>
    <p:sldId id="258" r:id="rId7"/>
    <p:sldId id="278" r:id="rId8"/>
    <p:sldId id="259" r:id="rId9"/>
    <p:sldId id="260" r:id="rId10"/>
    <p:sldId id="347" r:id="rId11"/>
    <p:sldId id="348" r:id="rId12"/>
    <p:sldId id="281" r:id="rId13"/>
    <p:sldId id="282" r:id="rId14"/>
    <p:sldId id="261" r:id="rId15"/>
    <p:sldId id="283" r:id="rId16"/>
    <p:sldId id="263" r:id="rId17"/>
    <p:sldId id="350" r:id="rId18"/>
    <p:sldId id="280" r:id="rId19"/>
    <p:sldId id="349" r:id="rId20"/>
    <p:sldId id="264" r:id="rId21"/>
    <p:sldId id="328" r:id="rId22"/>
    <p:sldId id="265" r:id="rId23"/>
    <p:sldId id="309" r:id="rId24"/>
    <p:sldId id="351" r:id="rId25"/>
    <p:sldId id="266" r:id="rId26"/>
    <p:sldId id="352" r:id="rId27"/>
    <p:sldId id="336" r:id="rId28"/>
    <p:sldId id="333" r:id="rId29"/>
    <p:sldId id="268" r:id="rId30"/>
    <p:sldId id="331" r:id="rId31"/>
    <p:sldId id="332" r:id="rId32"/>
    <p:sldId id="310" r:id="rId33"/>
    <p:sldId id="271" r:id="rId34"/>
    <p:sldId id="272" r:id="rId35"/>
    <p:sldId id="273" r:id="rId36"/>
    <p:sldId id="274" r:id="rId37"/>
    <p:sldId id="298" r:id="rId38"/>
    <p:sldId id="275" r:id="rId39"/>
    <p:sldId id="299" r:id="rId40"/>
    <p:sldId id="353" r:id="rId41"/>
    <p:sldId id="276" r:id="rId42"/>
    <p:sldId id="337" r:id="rId43"/>
    <p:sldId id="354" r:id="rId44"/>
    <p:sldId id="355" r:id="rId45"/>
    <p:sldId id="338" r:id="rId46"/>
    <p:sldId id="339" r:id="rId47"/>
    <p:sldId id="340" r:id="rId48"/>
    <p:sldId id="300" r:id="rId49"/>
    <p:sldId id="301" r:id="rId50"/>
    <p:sldId id="292" r:id="rId51"/>
    <p:sldId id="302" r:id="rId52"/>
    <p:sldId id="356" r:id="rId53"/>
    <p:sldId id="293" r:id="rId54"/>
    <p:sldId id="342" r:id="rId55"/>
    <p:sldId id="343" r:id="rId56"/>
    <p:sldId id="345" r:id="rId57"/>
  </p:sldIdLst>
  <p:sldSz cx="13716000" cy="9144000"/>
  <p:notesSz cx="6881813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652463" indent="-195263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1304925" indent="-39052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958975" indent="-58737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2611438" indent="-78263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>
          <p15:clr>
            <a:srgbClr val="A4A3A4"/>
          </p15:clr>
        </p15:guide>
        <p15:guide id="2" pos="196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16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0000FF"/>
    <a:srgbClr val="FF0000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1124" y="372"/>
      </p:cViewPr>
      <p:guideLst>
        <p:guide orient="horz" pos="1536"/>
        <p:guide pos="1961"/>
      </p:guideLst>
    </p:cSldViewPr>
  </p:slideViewPr>
  <p:outlineViewPr>
    <p:cViewPr>
      <p:scale>
        <a:sx n="33" d="100"/>
        <a:sy n="33" d="100"/>
      </p:scale>
      <p:origin x="0" y="3455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638"/>
    </p:cViewPr>
  </p:sorterViewPr>
  <p:notesViewPr>
    <p:cSldViewPr snapToGrid="0">
      <p:cViewPr varScale="1">
        <p:scale>
          <a:sx n="64" d="100"/>
          <a:sy n="64" d="100"/>
        </p:scale>
        <p:origin x="-1914" y="-84"/>
      </p:cViewPr>
      <p:guideLst>
        <p:guide orient="horz" pos="2928"/>
        <p:guide pos="216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6816EAAD-6F9E-864F-52FA-FEE12AAB9C9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8788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ctr" anchorCtr="0" compatLnSpc="1">
            <a:prstTxWarp prst="textNoShape">
              <a:avLst/>
            </a:prstTxWarp>
          </a:bodyPr>
          <a:lstStyle>
            <a:lvl1pPr defTabSz="908050">
              <a:defRPr sz="1200">
                <a:latin typeface="Helvetica" pitchFamily="-8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14AE9AB9-140C-BA69-1F67-9BBDD09F14D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00488" y="0"/>
            <a:ext cx="3000375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ctr" anchorCtr="0" compatLnSpc="1">
            <a:prstTxWarp prst="textNoShape">
              <a:avLst/>
            </a:prstTxWarp>
          </a:bodyPr>
          <a:lstStyle>
            <a:lvl1pPr algn="r" defTabSz="908050">
              <a:defRPr sz="1200">
                <a:latin typeface="Helvetica" pitchFamily="-8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8" name="Rectangle 4">
            <a:extLst>
              <a:ext uri="{FF2B5EF4-FFF2-40B4-BE49-F238E27FC236}">
                <a16:creationId xmlns:a16="http://schemas.microsoft.com/office/drawing/2014/main" id="{B80BB19D-C689-A414-2060-67F4BA9F9BD6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53488"/>
            <a:ext cx="2998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b" anchorCtr="0" compatLnSpc="1">
            <a:prstTxWarp prst="textNoShape">
              <a:avLst/>
            </a:prstTxWarp>
          </a:bodyPr>
          <a:lstStyle>
            <a:lvl1pPr defTabSz="908050">
              <a:defRPr sz="1200">
                <a:latin typeface="Helvetica" pitchFamily="-8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9" name="Rectangle 5">
            <a:extLst>
              <a:ext uri="{FF2B5EF4-FFF2-40B4-BE49-F238E27FC236}">
                <a16:creationId xmlns:a16="http://schemas.microsoft.com/office/drawing/2014/main" id="{CA2A8F95-0C1A-0FC4-4A8B-6FA0F709D19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00488" y="8853488"/>
            <a:ext cx="3000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b" anchorCtr="0" compatLnSpc="1">
            <a:prstTxWarp prst="textNoShape">
              <a:avLst/>
            </a:prstTxWarp>
          </a:bodyPr>
          <a:lstStyle>
            <a:lvl1pPr algn="r" defTabSz="908050">
              <a:defRPr sz="1200">
                <a:latin typeface="Helvetica" panose="020B0604020202020204" pitchFamily="34" charset="0"/>
              </a:defRPr>
            </a:lvl1pPr>
          </a:lstStyle>
          <a:p>
            <a:fld id="{FD3624E0-9E09-474B-BE8D-0AC03C03CA44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7AE7C865-62BD-EA19-5188-27F7E9340D6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8788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ctr" anchorCtr="0" compatLnSpc="1">
            <a:prstTxWarp prst="textNoShape">
              <a:avLst/>
            </a:prstTxWarp>
          </a:bodyPr>
          <a:lstStyle>
            <a:lvl1pPr defTabSz="908050">
              <a:defRPr sz="1200">
                <a:latin typeface="Helvetica" pitchFamily="-8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086D934B-8093-11AC-A59B-691551F906C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00488" y="0"/>
            <a:ext cx="3000375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ctr" anchorCtr="0" compatLnSpc="1">
            <a:prstTxWarp prst="textNoShape">
              <a:avLst/>
            </a:prstTxWarp>
          </a:bodyPr>
          <a:lstStyle>
            <a:lvl1pPr algn="r" defTabSz="908050">
              <a:defRPr sz="1200">
                <a:latin typeface="Helvetica" pitchFamily="-8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0420" name="Rectangle 4">
            <a:extLst>
              <a:ext uri="{FF2B5EF4-FFF2-40B4-BE49-F238E27FC236}">
                <a16:creationId xmlns:a16="http://schemas.microsoft.com/office/drawing/2014/main" id="{2E6DC24B-C164-8E39-81F2-E8E28464046F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781050" y="688975"/>
            <a:ext cx="5262563" cy="35083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7" name="Rectangle 5">
            <a:extLst>
              <a:ext uri="{FF2B5EF4-FFF2-40B4-BE49-F238E27FC236}">
                <a16:creationId xmlns:a16="http://schemas.microsoft.com/office/drawing/2014/main" id="{CDCC0E6B-52FF-FBFF-8E65-407C7046101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0113" y="4427538"/>
            <a:ext cx="5100637" cy="4195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4758" name="Rectangle 6">
            <a:extLst>
              <a:ext uri="{FF2B5EF4-FFF2-40B4-BE49-F238E27FC236}">
                <a16:creationId xmlns:a16="http://schemas.microsoft.com/office/drawing/2014/main" id="{DAEB0B54-72A8-7D52-BEAE-CB37464F986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53488"/>
            <a:ext cx="2998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b" anchorCtr="0" compatLnSpc="1">
            <a:prstTxWarp prst="textNoShape">
              <a:avLst/>
            </a:prstTxWarp>
          </a:bodyPr>
          <a:lstStyle>
            <a:lvl1pPr defTabSz="908050">
              <a:defRPr sz="1200">
                <a:latin typeface="Helvetica" pitchFamily="-8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9" name="Rectangle 7">
            <a:extLst>
              <a:ext uri="{FF2B5EF4-FFF2-40B4-BE49-F238E27FC236}">
                <a16:creationId xmlns:a16="http://schemas.microsoft.com/office/drawing/2014/main" id="{86C498F7-3B71-F14B-40A1-9F4AC0E90E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0488" y="8853488"/>
            <a:ext cx="3000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b" anchorCtr="0" compatLnSpc="1">
            <a:prstTxWarp prst="textNoShape">
              <a:avLst/>
            </a:prstTxWarp>
          </a:bodyPr>
          <a:lstStyle>
            <a:lvl1pPr algn="r" defTabSz="908050">
              <a:defRPr sz="1200">
                <a:latin typeface="Helvetica" panose="020B0604020202020204" pitchFamily="34" charset="0"/>
              </a:defRPr>
            </a:lvl1pPr>
          </a:lstStyle>
          <a:p>
            <a:fld id="{6061F029-6A65-46EF-9BBB-D6AA414BCA71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652463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1304925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958975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2611438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326555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391866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457177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5224882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E0D38DF7-573B-D0A2-1E1D-B60BFE4C4D0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EBE621F8-2943-6562-1D37-8D8E764161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2EC1EE47-F73B-033A-82F6-7CF6894EE98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16AC2B57-5AB9-1E1E-8149-8988EE2A0D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F3C32C4A-0F91-C318-5A01-822C8964723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196822AF-40F8-563B-276D-6454A172A0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6672F005-60A9-3E0B-9AD6-2A2B0CB786D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017B6C8C-6936-ABB1-2715-B25BE7A6F3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C29A6BE3-4130-7197-72BA-20F66BA91DC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4891BA8D-DD32-A6AF-E63C-953ABA7053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F87B2E65-BDE8-1F2E-948A-6A114862F1C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D07A13DC-793F-58F0-0CEC-6B23AA2D2D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D703B4B3-FF41-377D-83B3-F689FC46FF9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9C6471BC-2FF3-870D-AF40-5E6DD70E9D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CEFB64DD-1204-990E-45E7-97A70CE0A1E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4883A65C-4774-9B58-C3E5-1BCA747B0F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9F4A1A4D-6727-4B79-50C3-617ADB83F00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179AAA3A-0D3C-D442-3A74-04A3BA9FD5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4AD8AF29-F3B7-87F0-4992-8F02A9C790D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7BB53755-F897-5152-D984-83C4C84CFC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8211E0F8-C5F1-A449-9535-85A246A4A5A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2869DD9F-4F85-AF36-1263-9164223667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3A1F6257-238D-39C6-2DB6-B4E85C3B9BB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26A9E9B9-D596-97D6-10C1-CC4E037EC4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D3562C3D-A722-A2FB-5EFA-B748CA9DAD9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3E0E3B4D-1BA8-8B37-630A-C0968489C9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4D942A5D-71FB-FA56-16CA-5390AA65007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AF99E735-CB72-D095-E53B-D49D2CE74B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408C0F81-A360-0554-B3AA-F697207186C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5ADA4689-CE64-C3DF-EF59-A0F0638580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B78B1C30-5C7B-C846-613E-466B0F46BD8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1AED8549-DA07-6987-9EAF-0EBDF9FD47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ECED15D5-DF56-D000-A80F-36B313D9C74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279D994C-5BB4-54D5-55E5-CF29F77635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D2977D6B-88BA-25DC-6DA5-48344D30E37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A2CFB42E-6E1A-FC50-9BB2-99FBAB07CC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4DD9FCB1-496B-6E7F-CD20-0BD2007AEB8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6F750107-0D0F-B216-5F8B-2CEE73A2C3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29EF3AA2-89A1-7482-388E-FD40420D7FA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7EC1F200-206B-97DB-05D2-3F583622B9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00D97109-D651-B43C-A431-A562C4CC8EC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62B60E89-A84E-AAB3-4845-01EFA68F27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F7A4ACC6-07D1-AB78-AF7E-DD4882B0228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EF24E645-749C-A1CE-0B32-10E63CA5A4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0CCB87AE-F744-9247-561F-078F76098D2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1BA43203-3EFD-DD94-2B27-BD13809E23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46E207D7-83B9-07CC-D123-A3AC7106854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4C008EA5-61D6-2CBE-18E1-C2B37E0A5E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F8676252-3F95-0F69-3CC5-0A69444F18C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A29B23A7-768F-9557-A141-3D4A2FCF31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4F14C949-3EA5-0219-9020-F6B82B2B24A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EB549909-C314-86FD-F615-FE98E3CE2B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F2B275BB-CC1D-7342-D96D-59AF9F0F07E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1332197B-3153-4EB5-F3E4-037C20D2CA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DDFF3A14-C1ED-409F-1387-5F7D06B416C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A5582C01-0637-9087-E02D-220F114F74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9A7E21FA-3870-9DA7-C414-F58A8301CBC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DD728AD4-CCBB-3D18-0EA6-CF363A5BEB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B8647830-2C4A-9EEC-EAE4-48EB9459CCC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C0785685-4737-F30F-11C6-9B87196A9B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ADBBDD5B-B21C-B93F-A148-D7C7D24E362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478ADE75-1774-6D4C-EDF7-A9F35955DD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6AF61B01-04F9-C603-5AF4-951CB91F9EF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33454601-D5C7-BC8E-30D5-E73F1E10A1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B147B42B-864F-C6D1-97A6-3898158177C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D0E90F37-DECD-E316-6BC1-11A1075A18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4A9CB8F2-9F86-7528-5462-5D9C4BDBDE0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52AF9A3B-5E2E-16B2-FAD6-DBD25E5DBF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B407BF8A-772E-C476-A847-9C6184B4557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CC45B4C7-437B-612C-7485-874024A8A4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C1678959-53AA-F345-F4BF-5B1A9641585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5E94B3C4-77E0-1B16-CABF-D2417DBE13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4660D280-A6C9-3B7D-8D3D-8C770742E44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DF58B07C-0424-B668-1B76-543F7ED7A3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4450A885-D9DA-5C61-E328-2CA1BF580A3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36D13C8D-2011-D5CD-8E12-1D1848EEAF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60FFA9C6-6903-2544-5EE4-088F405FC2E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7B4CCAF1-3C61-9BF3-369A-7B61A4E807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21548444-E7DB-7BDA-31FC-03AAE172569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5C1D8B11-6371-6C77-22AA-8B284EB650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D0042C23-0B2A-0818-9F67-0508979CBE3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E20D2992-F874-83FC-3288-F5AA589A66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8337588F-776F-1A03-7BE5-8C7003628E9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1789F929-62EB-9D40-F777-71CD1B21BD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7466E5C5-F15F-622A-5FB5-6F914A7A383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D5A24881-C8AF-9785-A2CC-A4AC418558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03254590-8823-2A57-CE20-6C0B30630BD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D46ADA82-D0FF-9E43-5E80-13B7E13108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>
            <a:extLst>
              <a:ext uri="{FF2B5EF4-FFF2-40B4-BE49-F238E27FC236}">
                <a16:creationId xmlns:a16="http://schemas.microsoft.com/office/drawing/2014/main" id="{B998A514-A3A8-63B8-B974-22A56C8E1FC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416280A8-0DE3-B08F-58D2-59C5508A4E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1C311387-DB36-42B8-0EDA-B8FAD4D57F3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E5CF397C-0E66-47B0-43C2-B6175E87AD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4E646AE4-6568-3245-AB01-D0CC67B7F55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4DE5F4AA-CF73-7AEB-E16B-FDF540B3C2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>
            <a:extLst>
              <a:ext uri="{FF2B5EF4-FFF2-40B4-BE49-F238E27FC236}">
                <a16:creationId xmlns:a16="http://schemas.microsoft.com/office/drawing/2014/main" id="{9E168819-D98D-FDA6-6417-D7CCC7A12B3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60AB4302-9DE1-20D5-3039-86EAB3568F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2953A3EF-13DB-80BA-F986-F3580AAE65A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A8D0D11E-2E63-68A8-2E0F-80B855B99F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26964F3F-8099-492B-63BF-B3FB9068890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A4DE4497-CCEB-7C35-C429-4A2BA39429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768A5935-1800-4EFC-65F1-4E59E054AEC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0B654C9A-6678-C14E-4AEF-513AAEC27D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BD7B12AA-C327-0B50-41C5-6BE6C94F5ED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27857033-6050-DD5B-3772-F22FC0A1EF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88452257-3B6B-C737-097F-758A1E70DFC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192BA8BD-00EF-C8CA-EC94-848B39BB00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>
            <a:extLst>
              <a:ext uri="{FF2B5EF4-FFF2-40B4-BE49-F238E27FC236}">
                <a16:creationId xmlns:a16="http://schemas.microsoft.com/office/drawing/2014/main" id="{CFF813B1-2795-8F3F-C25F-00CABDF7DCC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D09C6C76-3BAB-72EF-6390-C09B6326BD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>
            <a:extLst>
              <a:ext uri="{FF2B5EF4-FFF2-40B4-BE49-F238E27FC236}">
                <a16:creationId xmlns:a16="http://schemas.microsoft.com/office/drawing/2014/main" id="{A5229842-CC34-EAD8-2E2E-C652BCACE25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18D250F7-CE4F-8BB8-A4BD-87324F9A3B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>
            <a:extLst>
              <a:ext uri="{FF2B5EF4-FFF2-40B4-BE49-F238E27FC236}">
                <a16:creationId xmlns:a16="http://schemas.microsoft.com/office/drawing/2014/main" id="{BB3F6CB5-4BF4-062E-F59D-D086ED431293}"/>
              </a:ext>
            </a:extLst>
          </p:cNvPr>
          <p:cNvGrpSpPr>
            <a:grpSpLocks/>
          </p:cNvGrpSpPr>
          <p:nvPr/>
        </p:nvGrpSpPr>
        <p:grpSpPr bwMode="auto">
          <a:xfrm>
            <a:off x="298450" y="3948113"/>
            <a:ext cx="12915900" cy="268287"/>
            <a:chOff x="125" y="1865"/>
            <a:chExt cx="5424" cy="127"/>
          </a:xfrm>
        </p:grpSpPr>
        <p:sp>
          <p:nvSpPr>
            <p:cNvPr id="3" name="Rectangle 4">
              <a:extLst>
                <a:ext uri="{FF2B5EF4-FFF2-40B4-BE49-F238E27FC236}">
                  <a16:creationId xmlns:a16="http://schemas.microsoft.com/office/drawing/2014/main" id="{5341195D-6BF7-4BDD-FC22-F65C9A9F02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TW" altLang="zh-TW"/>
            </a:p>
          </p:txBody>
        </p:sp>
        <p:sp>
          <p:nvSpPr>
            <p:cNvPr id="4" name="Rectangle 5">
              <a:extLst>
                <a:ext uri="{FF2B5EF4-FFF2-40B4-BE49-F238E27FC236}">
                  <a16:creationId xmlns:a16="http://schemas.microsoft.com/office/drawing/2014/main" id="{383C3DB6-9C59-8B92-AF21-E7448F1CB4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TW" altLang="zh-TW"/>
            </a:p>
          </p:txBody>
        </p:sp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C0E12D97-92AA-559E-2BA0-AF541284C5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TW" altLang="zh-TW"/>
            </a:p>
          </p:txBody>
        </p:sp>
      </p:grpSp>
      <p:sp>
        <p:nvSpPr>
          <p:cNvPr id="6" name="Text Box 7">
            <a:extLst>
              <a:ext uri="{FF2B5EF4-FFF2-40B4-BE49-F238E27FC236}">
                <a16:creationId xmlns:a16="http://schemas.microsoft.com/office/drawing/2014/main" id="{3A81C11A-F7B3-C869-A358-51E6E2A7CE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4550" y="8783638"/>
            <a:ext cx="4070350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0622" tIns="65311" rIns="130622" bIns="65311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400" b="1">
                <a:solidFill>
                  <a:srgbClr val="336699"/>
                </a:solidFill>
                <a:latin typeface="Helvetica" pitchFamily="-84" charset="0"/>
              </a:rPr>
              <a:t>Silberschatz, Galvin and Gagne ©2013</a:t>
            </a:r>
          </a:p>
        </p:txBody>
      </p:sp>
      <p:sp>
        <p:nvSpPr>
          <p:cNvPr id="7" name="Text Box 8">
            <a:extLst>
              <a:ext uri="{FF2B5EF4-FFF2-40B4-BE49-F238E27FC236}">
                <a16:creationId xmlns:a16="http://schemas.microsoft.com/office/drawing/2014/main" id="{2DC93CEF-F709-5543-1B68-15904F9B46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75" y="8818563"/>
            <a:ext cx="3778250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400" b="1">
                <a:solidFill>
                  <a:srgbClr val="336699"/>
                </a:solidFill>
                <a:latin typeface="Helvetica" pitchFamily="-84" charset="0"/>
              </a:rPr>
              <a:t>Operating System Concepts  – 9</a:t>
            </a:r>
            <a:r>
              <a:rPr lang="en-US" sz="1400" b="1" baseline="3000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sz="1400" b="1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8" name="Picture 9" descr="dino_4">
            <a:extLst>
              <a:ext uri="{FF2B5EF4-FFF2-40B4-BE49-F238E27FC236}">
                <a16:creationId xmlns:a16="http://schemas.microsoft.com/office/drawing/2014/main" id="{53869E62-CA5A-C098-4BC0-22E8FC44D9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5543550"/>
            <a:ext cx="3092450" cy="2125663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10">
            <a:extLst>
              <a:ext uri="{FF2B5EF4-FFF2-40B4-BE49-F238E27FC236}">
                <a16:creationId xmlns:a16="http://schemas.microsoft.com/office/drawing/2014/main" id="{2B444DA3-D977-9311-59A5-05F678D41B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7113" y="5391150"/>
            <a:ext cx="3505200" cy="2455863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lIns="130622" tIns="65311" rIns="130622" bIns="65311" anchor="ctr"/>
          <a:lstStyle/>
          <a:p>
            <a:pPr>
              <a:defRPr/>
            </a:pPr>
            <a:endParaRPr lang="zh-TW" altLang="zh-TW"/>
          </a:p>
        </p:txBody>
      </p:sp>
      <p:sp>
        <p:nvSpPr>
          <p:cNvPr id="147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28700" y="914400"/>
            <a:ext cx="11658600" cy="2836333"/>
          </a:xfrm>
        </p:spPr>
        <p:txBody>
          <a:bodyPr/>
          <a:lstStyle>
            <a:lvl1pPr>
              <a:defRPr sz="61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84862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7074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470" y="5875867"/>
            <a:ext cx="11658600" cy="1816100"/>
          </a:xfrm>
        </p:spPr>
        <p:txBody>
          <a:bodyPr anchor="t"/>
          <a:lstStyle>
            <a:lvl1pPr algn="l">
              <a:defRPr sz="57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3470" y="3875618"/>
            <a:ext cx="11658600" cy="2000249"/>
          </a:xfrm>
        </p:spPr>
        <p:txBody>
          <a:bodyPr anchor="b"/>
          <a:lstStyle>
            <a:lvl1pPr marL="0" indent="0">
              <a:buNone/>
              <a:defRPr sz="2900"/>
            </a:lvl1pPr>
            <a:lvl2pPr marL="653110" indent="0">
              <a:buNone/>
              <a:defRPr sz="2600"/>
            </a:lvl2pPr>
            <a:lvl3pPr marL="1306220" indent="0">
              <a:buNone/>
              <a:defRPr sz="2300"/>
            </a:lvl3pPr>
            <a:lvl4pPr marL="1959331" indent="0">
              <a:buNone/>
              <a:defRPr sz="2000"/>
            </a:lvl4pPr>
            <a:lvl5pPr marL="2612441" indent="0">
              <a:buNone/>
              <a:defRPr sz="2000"/>
            </a:lvl5pPr>
            <a:lvl6pPr marL="3265551" indent="0">
              <a:buNone/>
              <a:defRPr sz="2000"/>
            </a:lvl6pPr>
            <a:lvl7pPr marL="3918661" indent="0">
              <a:buNone/>
              <a:defRPr sz="2000"/>
            </a:lvl7pPr>
            <a:lvl8pPr marL="4571771" indent="0">
              <a:buNone/>
              <a:defRPr sz="2000"/>
            </a:lvl8pPr>
            <a:lvl9pPr marL="5224882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379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9675" y="1644651"/>
            <a:ext cx="6057900" cy="6040967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96175" y="1644651"/>
            <a:ext cx="6057900" cy="6040967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99703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66184"/>
            <a:ext cx="123444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6817"/>
            <a:ext cx="6060282" cy="853016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899833"/>
            <a:ext cx="6060282" cy="5268384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67538" y="2046817"/>
            <a:ext cx="6062663" cy="853016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67538" y="2899833"/>
            <a:ext cx="6062663" cy="5268384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6260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0924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1815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364067"/>
            <a:ext cx="4512470" cy="1549400"/>
          </a:xfrm>
        </p:spPr>
        <p:txBody>
          <a:bodyPr/>
          <a:lstStyle>
            <a:lvl1pPr algn="l">
              <a:defRPr sz="2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2575" y="364067"/>
            <a:ext cx="7667625" cy="7804151"/>
          </a:xfrm>
        </p:spPr>
        <p:txBody>
          <a:bodyPr/>
          <a:lstStyle>
            <a:lvl1pPr>
              <a:defRPr sz="4600"/>
            </a:lvl1pPr>
            <a:lvl2pPr>
              <a:defRPr sz="4000"/>
            </a:lvl2pPr>
            <a:lvl3pPr>
              <a:defRPr sz="3400"/>
            </a:lvl3pPr>
            <a:lvl4pPr>
              <a:defRPr sz="2900"/>
            </a:lvl4pPr>
            <a:lvl5pPr>
              <a:defRPr sz="29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1913467"/>
            <a:ext cx="4512470" cy="6254751"/>
          </a:xfrm>
        </p:spPr>
        <p:txBody>
          <a:bodyPr/>
          <a:lstStyle>
            <a:lvl1pPr marL="0" indent="0">
              <a:buNone/>
              <a:defRPr sz="20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4092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8432" y="6400800"/>
            <a:ext cx="8229600" cy="755651"/>
          </a:xfrm>
        </p:spPr>
        <p:txBody>
          <a:bodyPr/>
          <a:lstStyle>
            <a:lvl1pPr algn="l">
              <a:defRPr sz="2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88432" y="817033"/>
            <a:ext cx="8229600" cy="5486400"/>
          </a:xfrm>
        </p:spPr>
        <p:txBody>
          <a:bodyPr/>
          <a:lstStyle>
            <a:lvl1pPr marL="0" indent="0">
              <a:buNone/>
              <a:defRPr sz="4600"/>
            </a:lvl1pPr>
            <a:lvl2pPr marL="653110" indent="0">
              <a:buNone/>
              <a:defRPr sz="4000"/>
            </a:lvl2pPr>
            <a:lvl3pPr marL="1306220" indent="0">
              <a:buNone/>
              <a:defRPr sz="3400"/>
            </a:lvl3pPr>
            <a:lvl4pPr marL="1959331" indent="0">
              <a:buNone/>
              <a:defRPr sz="2900"/>
            </a:lvl4pPr>
            <a:lvl5pPr marL="2612441" indent="0">
              <a:buNone/>
              <a:defRPr sz="2900"/>
            </a:lvl5pPr>
            <a:lvl6pPr marL="3265551" indent="0">
              <a:buNone/>
              <a:defRPr sz="2900"/>
            </a:lvl6pPr>
            <a:lvl7pPr marL="3918661" indent="0">
              <a:buNone/>
              <a:defRPr sz="2900"/>
            </a:lvl7pPr>
            <a:lvl8pPr marL="4571771" indent="0">
              <a:buNone/>
              <a:defRPr sz="2900"/>
            </a:lvl8pPr>
            <a:lvl9pPr marL="5224882" indent="0">
              <a:buNone/>
              <a:defRPr sz="29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8432" y="7156451"/>
            <a:ext cx="8229600" cy="1073149"/>
          </a:xfrm>
        </p:spPr>
        <p:txBody>
          <a:bodyPr/>
          <a:lstStyle>
            <a:lvl1pPr marL="0" indent="0">
              <a:buNone/>
              <a:defRPr sz="20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16168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2017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37007" y="370417"/>
            <a:ext cx="3217068" cy="7315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70417"/>
            <a:ext cx="9422607" cy="7315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11364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B2DCCF3B-C96D-6BB2-CD7A-B13DD41327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0"/>
            <a:ext cx="1793875" cy="1211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661055FD-DF8D-6BA5-246D-5ECD77A442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69888"/>
            <a:ext cx="123444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30622" tIns="65311" rIns="130622" bIns="6531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0096F0E-FA3A-F0AA-40D4-50D2FD7D97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09675" y="1644650"/>
            <a:ext cx="12344400" cy="604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30622" tIns="65311" rIns="130622" bIns="653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35BC8BE-6E82-71EC-43D2-99E67D0C6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42900" cy="3048000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</p:spPr>
        <p:txBody>
          <a:bodyPr wrap="none" lIns="130622" tIns="65311" rIns="130622" bIns="65311" anchor="ctr"/>
          <a:lstStyle/>
          <a:p>
            <a:pPr algn="ctr" eaLnBrk="1" hangingPunct="1">
              <a:defRPr/>
            </a:pPr>
            <a:endParaRPr lang="zh-TW" altLang="zh-TW" sz="340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1A04BCB0-77B0-9FFA-B3CF-E8A5BD7DE643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1147763"/>
            <a:ext cx="121158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</p:spPr>
        <p:txBody>
          <a:bodyPr lIns="130622" tIns="65311" rIns="130622" bIns="65311"/>
          <a:lstStyle/>
          <a:p>
            <a:pPr>
              <a:defRPr/>
            </a:pPr>
            <a:endParaRPr lang="zh-TW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9A8FFB76-DBAF-38C1-06B9-A2CE7B6199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48000"/>
            <a:ext cx="342900" cy="30480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  <a:headEnd/>
            <a:tailEnd/>
          </a:ln>
        </p:spPr>
        <p:txBody>
          <a:bodyPr wrap="none" lIns="130622" tIns="65311" rIns="130622" bIns="65311" anchor="ctr"/>
          <a:lstStyle/>
          <a:p>
            <a:pPr algn="ctr" eaLnBrk="1" hangingPunct="1">
              <a:defRPr/>
            </a:pPr>
            <a:endParaRPr lang="zh-TW" altLang="zh-TW" sz="340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6E34BB34-EA5C-1423-AEF7-4B8B8956C3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96000"/>
            <a:ext cx="342900" cy="3048000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</p:spPr>
        <p:txBody>
          <a:bodyPr wrap="none" lIns="130622" tIns="65311" rIns="130622" bIns="65311" anchor="ctr"/>
          <a:lstStyle/>
          <a:p>
            <a:pPr algn="ctr" eaLnBrk="1" hangingPunct="1">
              <a:defRPr/>
            </a:pPr>
            <a:endParaRPr lang="zh-TW" altLang="zh-TW" sz="3400">
              <a:latin typeface="Times New Roman" pitchFamily="18" charset="0"/>
            </a:endParaRPr>
          </a:p>
        </p:txBody>
      </p:sp>
      <p:sp>
        <p:nvSpPr>
          <p:cNvPr id="146441" name="Text Box 9">
            <a:extLst>
              <a:ext uri="{FF2B5EF4-FFF2-40B4-BE49-F238E27FC236}">
                <a16:creationId xmlns:a16="http://schemas.microsoft.com/office/drawing/2014/main" id="{F1B3BDD2-817E-564D-01EC-15335082A8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3975" y="8818563"/>
            <a:ext cx="631825" cy="34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TW" sz="1400" b="1">
                <a:solidFill>
                  <a:srgbClr val="006699"/>
                </a:solidFill>
                <a:latin typeface="Helvetica" panose="020B0604020202020204" pitchFamily="34" charset="0"/>
              </a:rPr>
              <a:t>3.</a:t>
            </a:r>
            <a:fld id="{962BFB33-E1D8-40D3-9118-A727B13428E3}" type="slidenum">
              <a:rPr lang="en-US" altLang="zh-TW" sz="1400" b="1">
                <a:solidFill>
                  <a:srgbClr val="006699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zh-TW" sz="14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46442" name="Text Box 10">
            <a:extLst>
              <a:ext uri="{FF2B5EF4-FFF2-40B4-BE49-F238E27FC236}">
                <a16:creationId xmlns:a16="http://schemas.microsoft.com/office/drawing/2014/main" id="{B8C80358-7C38-27C6-CCDA-466259D85D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4550" y="8783638"/>
            <a:ext cx="4070350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0622" tIns="65311" rIns="130622" bIns="65311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400" b="1">
                <a:solidFill>
                  <a:srgbClr val="006699"/>
                </a:solidFill>
                <a:latin typeface="Helvetica" pitchFamily="-84" charset="0"/>
              </a:rPr>
              <a:t>Silberschatz, Galvin and Gagne ©2013</a:t>
            </a:r>
          </a:p>
        </p:txBody>
      </p:sp>
      <p:sp>
        <p:nvSpPr>
          <p:cNvPr id="146443" name="Text Box 11">
            <a:extLst>
              <a:ext uri="{FF2B5EF4-FFF2-40B4-BE49-F238E27FC236}">
                <a16:creationId xmlns:a16="http://schemas.microsoft.com/office/drawing/2014/main" id="{92762D1B-081B-83BF-13EA-D292804EE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00" y="8802688"/>
            <a:ext cx="3727450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400" b="1">
                <a:solidFill>
                  <a:srgbClr val="006699"/>
                </a:solidFill>
                <a:latin typeface="Helvetica" pitchFamily="-84" charset="0"/>
              </a:rPr>
              <a:t>Operating System Concepts – 9</a:t>
            </a:r>
            <a:r>
              <a:rPr lang="en-US" sz="1400" b="1" baseline="3000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sz="1400" b="1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D2069884-BE46-C84A-8D2B-EE48534BC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1775" y="7799388"/>
            <a:ext cx="1925638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653110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6pPr>
      <a:lvl7pPr marL="1306220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7pPr>
      <a:lvl8pPr marL="1959331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8pPr>
      <a:lvl9pPr marL="2612441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9pPr>
    </p:titleStyle>
    <p:bodyStyle>
      <a:lvl1pPr marL="488950" indent="-48895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pitchFamily="-84" charset="2"/>
        <a:buChar char="n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1060450" indent="-407988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pitchFamily="-84" charset="2"/>
        <a:buChar char="l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550988" indent="-325438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2039938" indent="-325438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2530475" indent="-325438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3183912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3837022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4490133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5143243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3110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6220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933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1244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6555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1866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24882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0ADFA63-41D6-F7FE-5ACB-FDF817238FD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028700" y="914400"/>
            <a:ext cx="11658600" cy="2836863"/>
          </a:xfrm>
        </p:spPr>
        <p:txBody>
          <a:bodyPr/>
          <a:lstStyle/>
          <a:p>
            <a:pPr eaLnBrk="1" hangingPunct="1"/>
            <a:r>
              <a:rPr lang="en-US" altLang="zh-TW"/>
              <a:t>Chapter 3:  Process Concept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450D97CB-48D7-0FDD-5A31-F99AD42BBB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66975" y="369888"/>
            <a:ext cx="9571038" cy="768350"/>
          </a:xfrm>
        </p:spPr>
        <p:txBody>
          <a:bodyPr/>
          <a:lstStyle/>
          <a:p>
            <a:pPr eaLnBrk="1" hangingPunct="1"/>
            <a:r>
              <a:rPr lang="en-US" altLang="zh-TW"/>
              <a:t>Chapter 3:  Process Concept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77C7BA86-1F3B-7D61-0459-0C4CC87A59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62113"/>
            <a:ext cx="11056938" cy="5095875"/>
          </a:xfrm>
        </p:spPr>
        <p:txBody>
          <a:bodyPr/>
          <a:lstStyle/>
          <a:p>
            <a:r>
              <a:rPr lang="en-US" altLang="zh-TW"/>
              <a:t>Process Concept</a:t>
            </a:r>
          </a:p>
          <a:p>
            <a:r>
              <a:rPr lang="en-US" altLang="zh-TW"/>
              <a:t>Process Scheduling</a:t>
            </a:r>
          </a:p>
          <a:p>
            <a:r>
              <a:rPr lang="en-US" altLang="zh-TW"/>
              <a:t>Operations on Processes</a:t>
            </a:r>
          </a:p>
          <a:p>
            <a:r>
              <a:rPr lang="en-US" altLang="zh-TW"/>
              <a:t>Interprocess Communication</a:t>
            </a:r>
          </a:p>
          <a:p>
            <a:r>
              <a:rPr lang="en-US" altLang="zh-TW"/>
              <a:t>Examples of IPC Systems</a:t>
            </a:r>
          </a:p>
          <a:p>
            <a:r>
              <a:rPr lang="en-US" altLang="zh-TW"/>
              <a:t>Communication in Client-Server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9F26B8BA-6BEA-5203-8668-516D5A3E5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Objectives</a:t>
            </a:r>
          </a:p>
        </p:txBody>
      </p:sp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54C5D573-3B5E-F853-7F41-5D6BF0127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9675" y="1644650"/>
            <a:ext cx="10234613" cy="6040438"/>
          </a:xfrm>
        </p:spPr>
        <p:txBody>
          <a:bodyPr/>
          <a:lstStyle/>
          <a:p>
            <a:r>
              <a:rPr lang="en-US" altLang="zh-TW"/>
              <a:t>To introduce the notion of a process -- a program in execution, which forms the basis of all computation</a:t>
            </a:r>
          </a:p>
          <a:p>
            <a:endParaRPr lang="en-US" altLang="zh-TW"/>
          </a:p>
          <a:p>
            <a:r>
              <a:rPr lang="en-US" altLang="zh-TW"/>
              <a:t>To describe the various features of processes, including scheduling, creation and termination, and communication</a:t>
            </a:r>
          </a:p>
          <a:p>
            <a:endParaRPr lang="en-US" altLang="zh-TW"/>
          </a:p>
          <a:p>
            <a:r>
              <a:rPr lang="en-US" altLang="zh-TW"/>
              <a:t>To explore inter-process communication using shared memory and message passing</a:t>
            </a:r>
          </a:p>
          <a:p>
            <a:endParaRPr lang="en-US" altLang="zh-TW"/>
          </a:p>
          <a:p>
            <a:r>
              <a:rPr lang="en-US" altLang="zh-TW"/>
              <a:t>To describe communication in client-server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F35CD8D-9327-2975-DFF9-A234F09B6F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65375" y="369888"/>
            <a:ext cx="9159875" cy="768350"/>
          </a:xfrm>
        </p:spPr>
        <p:txBody>
          <a:bodyPr/>
          <a:lstStyle/>
          <a:p>
            <a:pPr eaLnBrk="1" hangingPunct="1"/>
            <a:r>
              <a:rPr lang="en-US" altLang="zh-TW"/>
              <a:t>Process Concept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BB27F2A0-C484-A25C-E120-F89AEC19DD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296988"/>
            <a:ext cx="11056938" cy="7442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sz="2200"/>
              <a:t>An operating system executes a variety of programs:</a:t>
            </a:r>
          </a:p>
          <a:p>
            <a:pPr lvl="1">
              <a:lnSpc>
                <a:spcPct val="90000"/>
              </a:lnSpc>
            </a:pPr>
            <a:r>
              <a:rPr lang="en-US" altLang="zh-TW"/>
              <a:t>Batch system – </a:t>
            </a:r>
            <a:r>
              <a:rPr lang="en-US" altLang="zh-TW" b="1">
                <a:solidFill>
                  <a:srgbClr val="3366FF"/>
                </a:solidFill>
              </a:rPr>
              <a:t>jobs</a:t>
            </a:r>
          </a:p>
          <a:p>
            <a:pPr lvl="1">
              <a:lnSpc>
                <a:spcPct val="90000"/>
              </a:lnSpc>
            </a:pPr>
            <a:r>
              <a:rPr lang="en-US" altLang="zh-TW"/>
              <a:t>Time-shared systems – </a:t>
            </a:r>
            <a:r>
              <a:rPr lang="en-US" altLang="zh-TW" b="1">
                <a:solidFill>
                  <a:srgbClr val="3366FF"/>
                </a:solidFill>
              </a:rPr>
              <a:t>user programs </a:t>
            </a:r>
            <a:r>
              <a:rPr lang="en-US" altLang="zh-TW"/>
              <a:t>or </a:t>
            </a:r>
            <a:r>
              <a:rPr lang="en-US" altLang="zh-TW" b="1">
                <a:solidFill>
                  <a:srgbClr val="3366FF"/>
                </a:solidFill>
              </a:rPr>
              <a:t>tasks</a:t>
            </a:r>
            <a:endParaRPr lang="en-US" altLang="zh-TW"/>
          </a:p>
          <a:p>
            <a:pPr>
              <a:lnSpc>
                <a:spcPct val="90000"/>
              </a:lnSpc>
            </a:pPr>
            <a:r>
              <a:rPr lang="en-US" altLang="zh-TW" sz="2200"/>
              <a:t>Textbook uses the terms </a:t>
            </a:r>
            <a:r>
              <a:rPr lang="en-US" altLang="zh-TW" sz="2200" b="1" i="1"/>
              <a:t>job</a:t>
            </a:r>
            <a:r>
              <a:rPr lang="en-US" altLang="zh-TW" sz="2200"/>
              <a:t> and </a:t>
            </a:r>
            <a:r>
              <a:rPr lang="en-US" altLang="zh-TW" sz="2200" b="1" i="1"/>
              <a:t>process</a:t>
            </a:r>
            <a:r>
              <a:rPr lang="en-US" altLang="zh-TW" sz="2200"/>
              <a:t> almost interchangeably</a:t>
            </a:r>
          </a:p>
          <a:p>
            <a:pPr>
              <a:lnSpc>
                <a:spcPct val="90000"/>
              </a:lnSpc>
            </a:pPr>
            <a:r>
              <a:rPr lang="en-US" altLang="zh-TW" sz="2200" b="1">
                <a:solidFill>
                  <a:srgbClr val="3366FF"/>
                </a:solidFill>
              </a:rPr>
              <a:t>Process</a:t>
            </a:r>
            <a:r>
              <a:rPr lang="en-US" altLang="zh-TW" sz="2200"/>
              <a:t> – a program in execution; process execution must progress in sequential fashion</a:t>
            </a:r>
          </a:p>
          <a:p>
            <a:r>
              <a:rPr lang="en-US" altLang="zh-TW" sz="2200"/>
              <a:t>Multiple parts</a:t>
            </a:r>
          </a:p>
          <a:p>
            <a:pPr lvl="1"/>
            <a:r>
              <a:rPr lang="en-US" altLang="zh-TW"/>
              <a:t>The program code, also called </a:t>
            </a:r>
            <a:r>
              <a:rPr lang="en-US" altLang="zh-TW" b="1">
                <a:solidFill>
                  <a:srgbClr val="3366FF"/>
                </a:solidFill>
              </a:rPr>
              <a:t>text section</a:t>
            </a:r>
          </a:p>
          <a:p>
            <a:pPr lvl="1"/>
            <a:r>
              <a:rPr lang="en-US" altLang="zh-TW"/>
              <a:t>Current activity including</a:t>
            </a:r>
            <a:r>
              <a:rPr lang="en-US" altLang="zh-TW" b="1">
                <a:solidFill>
                  <a:srgbClr val="3366FF"/>
                </a:solidFill>
              </a:rPr>
              <a:t> program</a:t>
            </a:r>
            <a:r>
              <a:rPr lang="en-US" altLang="zh-TW" b="1"/>
              <a:t> </a:t>
            </a:r>
            <a:r>
              <a:rPr lang="en-US" altLang="zh-TW" b="1">
                <a:solidFill>
                  <a:srgbClr val="3366FF"/>
                </a:solidFill>
              </a:rPr>
              <a:t>counter</a:t>
            </a:r>
            <a:r>
              <a:rPr lang="en-US" altLang="zh-TW"/>
              <a:t>, processor registers</a:t>
            </a:r>
          </a:p>
          <a:p>
            <a:pPr lvl="1"/>
            <a:r>
              <a:rPr lang="en-US" altLang="zh-TW" b="1">
                <a:solidFill>
                  <a:srgbClr val="3366FF"/>
                </a:solidFill>
              </a:rPr>
              <a:t>Stack</a:t>
            </a:r>
            <a:r>
              <a:rPr lang="en-US" altLang="zh-TW" b="1"/>
              <a:t> </a:t>
            </a:r>
            <a:r>
              <a:rPr lang="en-US" altLang="zh-TW"/>
              <a:t>containing temporary data</a:t>
            </a:r>
          </a:p>
          <a:p>
            <a:pPr lvl="2"/>
            <a:r>
              <a:rPr lang="en-US" altLang="zh-TW"/>
              <a:t>Function parameters, return addresses, local variables</a:t>
            </a:r>
          </a:p>
          <a:p>
            <a:pPr lvl="1"/>
            <a:r>
              <a:rPr lang="en-US" altLang="zh-TW" b="1">
                <a:solidFill>
                  <a:srgbClr val="3366FF"/>
                </a:solidFill>
              </a:rPr>
              <a:t>Data section</a:t>
            </a:r>
            <a:r>
              <a:rPr lang="en-US" altLang="zh-TW" b="1"/>
              <a:t> </a:t>
            </a:r>
            <a:r>
              <a:rPr lang="en-US" altLang="zh-TW"/>
              <a:t>containing global variables</a:t>
            </a:r>
          </a:p>
          <a:p>
            <a:pPr lvl="1"/>
            <a:r>
              <a:rPr lang="en-US" altLang="zh-TW" b="1">
                <a:solidFill>
                  <a:srgbClr val="3366FF"/>
                </a:solidFill>
              </a:rPr>
              <a:t>Heap</a:t>
            </a:r>
            <a:r>
              <a:rPr lang="en-US" altLang="zh-TW" b="1"/>
              <a:t> </a:t>
            </a:r>
            <a:r>
              <a:rPr lang="en-US" altLang="zh-TW"/>
              <a:t>containing memory dynamically allocated during run time</a:t>
            </a:r>
          </a:p>
          <a:p>
            <a:r>
              <a:rPr lang="en-US" altLang="zh-TW" sz="2200"/>
              <a:t>Program is </a:t>
            </a:r>
            <a:r>
              <a:rPr lang="en-US" altLang="zh-TW" sz="2200" b="1" i="1"/>
              <a:t>passive</a:t>
            </a:r>
            <a:r>
              <a:rPr lang="en-US" altLang="zh-TW" sz="2200"/>
              <a:t> entity stored on disk (</a:t>
            </a:r>
            <a:r>
              <a:rPr lang="en-US" altLang="zh-TW" sz="2200" b="1">
                <a:solidFill>
                  <a:srgbClr val="3366FF"/>
                </a:solidFill>
              </a:rPr>
              <a:t>executable file</a:t>
            </a:r>
            <a:r>
              <a:rPr lang="en-US" altLang="zh-TW" sz="2200"/>
              <a:t>), process is </a:t>
            </a:r>
            <a:r>
              <a:rPr lang="en-US" altLang="zh-TW" sz="2200" b="1" i="1"/>
              <a:t>active </a:t>
            </a:r>
          </a:p>
          <a:p>
            <a:pPr lvl="1"/>
            <a:r>
              <a:rPr lang="en-US" altLang="zh-TW"/>
              <a:t>Program becomes process when executable file loaded into memory</a:t>
            </a:r>
          </a:p>
          <a:p>
            <a:r>
              <a:rPr lang="en-US" altLang="zh-TW" sz="2200"/>
              <a:t>Execution of program started via GUI mouse clicks, command line entry of its name, etc</a:t>
            </a:r>
          </a:p>
          <a:p>
            <a:r>
              <a:rPr lang="en-US" altLang="zh-TW" sz="2200"/>
              <a:t>One program can be several processes</a:t>
            </a:r>
          </a:p>
          <a:p>
            <a:pPr lvl="1"/>
            <a:r>
              <a:rPr lang="en-US" altLang="zh-TW"/>
              <a:t>Consider multiple users executing the same program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zh-TW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2AD11F2-B0A0-A341-0C35-0D8FE40419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Process in Memory</a:t>
            </a:r>
          </a:p>
        </p:txBody>
      </p:sp>
      <p:pic>
        <p:nvPicPr>
          <p:cNvPr id="7171" name="Picture 4">
            <a:extLst>
              <a:ext uri="{FF2B5EF4-FFF2-40B4-BE49-F238E27FC236}">
                <a16:creationId xmlns:a16="http://schemas.microsoft.com/office/drawing/2014/main" id="{9597DB97-02D7-D9E2-B748-9C319F06F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0038" y="1903413"/>
            <a:ext cx="4367212" cy="613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CC106374-BDAD-D730-16A7-3AC119A041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41525" y="369888"/>
            <a:ext cx="9377363" cy="768350"/>
          </a:xfrm>
        </p:spPr>
        <p:txBody>
          <a:bodyPr/>
          <a:lstStyle/>
          <a:p>
            <a:pPr eaLnBrk="1" hangingPunct="1"/>
            <a:r>
              <a:rPr lang="en-US" altLang="zh-TW"/>
              <a:t>Process State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0A84349E-750F-D98D-6C10-375709B519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62113"/>
            <a:ext cx="11056938" cy="4338637"/>
          </a:xfrm>
        </p:spPr>
        <p:txBody>
          <a:bodyPr/>
          <a:lstStyle/>
          <a:p>
            <a:r>
              <a:rPr lang="en-US" altLang="zh-TW" sz="2400"/>
              <a:t>As a process executes, it changes </a:t>
            </a:r>
            <a:r>
              <a:rPr lang="en-US" altLang="zh-TW" sz="2400" b="1">
                <a:solidFill>
                  <a:srgbClr val="3366FF"/>
                </a:solidFill>
              </a:rPr>
              <a:t>state</a:t>
            </a:r>
          </a:p>
          <a:p>
            <a:pPr lvl="1"/>
            <a:r>
              <a:rPr lang="en-US" altLang="zh-TW" sz="2000" b="1"/>
              <a:t>new</a:t>
            </a:r>
            <a:r>
              <a:rPr lang="en-US" altLang="zh-TW" sz="2000"/>
              <a:t>:  The process is being created</a:t>
            </a:r>
          </a:p>
          <a:p>
            <a:pPr lvl="1"/>
            <a:r>
              <a:rPr lang="en-US" altLang="zh-TW" sz="2000" b="1"/>
              <a:t>running</a:t>
            </a:r>
            <a:r>
              <a:rPr lang="en-US" altLang="zh-TW" sz="2000"/>
              <a:t>:  Instructions are being executed</a:t>
            </a:r>
          </a:p>
          <a:p>
            <a:pPr lvl="1"/>
            <a:r>
              <a:rPr lang="en-US" altLang="zh-TW" sz="2000" b="1"/>
              <a:t>waiting</a:t>
            </a:r>
            <a:r>
              <a:rPr lang="en-US" altLang="zh-TW" sz="2000"/>
              <a:t>:  The process is waiting for some event to occur</a:t>
            </a:r>
          </a:p>
          <a:p>
            <a:pPr lvl="1"/>
            <a:r>
              <a:rPr lang="en-US" altLang="zh-TW" sz="2000" b="1"/>
              <a:t>ready</a:t>
            </a:r>
            <a:r>
              <a:rPr lang="en-US" altLang="zh-TW" sz="2000"/>
              <a:t>:  The process is waiting to be assigned to a processor</a:t>
            </a:r>
          </a:p>
          <a:p>
            <a:pPr lvl="1"/>
            <a:r>
              <a:rPr lang="en-US" altLang="zh-TW" sz="2000" b="1"/>
              <a:t>terminated</a:t>
            </a:r>
            <a:r>
              <a:rPr lang="en-US" altLang="zh-TW" sz="2000"/>
              <a:t>:  The process has finished execution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4B8E5A48-0B4A-BD7C-BA0C-00353570D7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09663" y="369888"/>
            <a:ext cx="11920537" cy="768350"/>
          </a:xfrm>
        </p:spPr>
        <p:txBody>
          <a:bodyPr/>
          <a:lstStyle/>
          <a:p>
            <a:pPr eaLnBrk="1" hangingPunct="1"/>
            <a:r>
              <a:rPr lang="en-US" altLang="zh-TW"/>
              <a:t>Diagram of Process State</a:t>
            </a:r>
          </a:p>
        </p:txBody>
      </p:sp>
      <p:pic>
        <p:nvPicPr>
          <p:cNvPr id="9219" name="Picture 9">
            <a:extLst>
              <a:ext uri="{FF2B5EF4-FFF2-40B4-BE49-F238E27FC236}">
                <a16:creationId xmlns:a16="http://schemas.microsoft.com/office/drawing/2014/main" id="{ACD8E440-B33B-87DF-60E1-34586F35C8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2875" y="2751138"/>
            <a:ext cx="11325225" cy="401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132B0CBE-0D53-52EC-FE9B-59D4DF1350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51013" y="369888"/>
            <a:ext cx="11279187" cy="768350"/>
          </a:xfrm>
        </p:spPr>
        <p:txBody>
          <a:bodyPr/>
          <a:lstStyle/>
          <a:p>
            <a:pPr eaLnBrk="1" hangingPunct="1"/>
            <a:r>
              <a:rPr lang="en-US" altLang="zh-TW"/>
              <a:t>Process Control Block (PCB)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D9C459EE-E50F-EE64-B609-F25CC7FB6F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501775"/>
            <a:ext cx="6870700" cy="6523038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r>
              <a:rPr lang="en-US" altLang="zh-TW" sz="2400"/>
              <a:t>Information associated with each process </a:t>
            </a:r>
          </a:p>
          <a:p>
            <a:pPr>
              <a:buFont typeface="Monotype Sorts" pitchFamily="-84" charset="2"/>
              <a:buNone/>
            </a:pPr>
            <a:r>
              <a:rPr lang="en-US" altLang="zh-TW" sz="2400"/>
              <a:t>(also called </a:t>
            </a:r>
            <a:r>
              <a:rPr lang="en-US" altLang="zh-TW" sz="2400" b="1">
                <a:solidFill>
                  <a:srgbClr val="3366FF"/>
                </a:solidFill>
              </a:rPr>
              <a:t>task control block</a:t>
            </a:r>
            <a:r>
              <a:rPr lang="en-US" altLang="zh-TW" sz="2400"/>
              <a:t>)</a:t>
            </a:r>
          </a:p>
          <a:p>
            <a:r>
              <a:rPr lang="en-US" altLang="zh-TW" sz="2000"/>
              <a:t>Process state – running, waiting, etc</a:t>
            </a:r>
          </a:p>
          <a:p>
            <a:r>
              <a:rPr lang="en-US" altLang="zh-TW" sz="2000"/>
              <a:t>Program counter – location of instruction to next execute</a:t>
            </a:r>
          </a:p>
          <a:p>
            <a:r>
              <a:rPr lang="en-US" altLang="zh-TW" sz="2000"/>
              <a:t>CPU registers – contents of all process-centric registers</a:t>
            </a:r>
          </a:p>
          <a:p>
            <a:r>
              <a:rPr lang="en-US" altLang="zh-TW" sz="2000"/>
              <a:t>CPU scheduling information- priorities, scheduling queue pointers</a:t>
            </a:r>
          </a:p>
          <a:p>
            <a:r>
              <a:rPr lang="en-US" altLang="zh-TW" sz="2000"/>
              <a:t>Memory-management information – memory allocated to the process</a:t>
            </a:r>
          </a:p>
          <a:p>
            <a:r>
              <a:rPr lang="en-US" altLang="zh-TW" sz="2000"/>
              <a:t>Accounting information – CPU used, clock time elapsed since start, time limits</a:t>
            </a:r>
          </a:p>
          <a:p>
            <a:r>
              <a:rPr lang="en-US" altLang="zh-TW" sz="2000"/>
              <a:t>I/O status information – I/O devices allocated to process, list of open files</a:t>
            </a:r>
          </a:p>
        </p:txBody>
      </p:sp>
      <p:pic>
        <p:nvPicPr>
          <p:cNvPr id="10244" name="Picture 9">
            <a:extLst>
              <a:ext uri="{FF2B5EF4-FFF2-40B4-BE49-F238E27FC236}">
                <a16:creationId xmlns:a16="http://schemas.microsoft.com/office/drawing/2014/main" id="{F538262A-8EF6-F1AD-16FC-778B3A7F5E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1565275"/>
            <a:ext cx="4192588" cy="598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6CCB3FFB-1D09-EAC9-1783-F8CF4DF11E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62100" y="369888"/>
            <a:ext cx="11468100" cy="768350"/>
          </a:xfrm>
        </p:spPr>
        <p:txBody>
          <a:bodyPr/>
          <a:lstStyle/>
          <a:p>
            <a:pPr eaLnBrk="1" hangingPunct="1"/>
            <a:r>
              <a:rPr lang="en-US" altLang="zh-TW"/>
              <a:t>Threads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8B467E5F-0A4C-DA1D-702B-F2B33E0FF3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12850" y="2000250"/>
            <a:ext cx="11223625" cy="5310188"/>
          </a:xfrm>
        </p:spPr>
        <p:txBody>
          <a:bodyPr/>
          <a:lstStyle/>
          <a:p>
            <a:r>
              <a:rPr lang="en-US" altLang="zh-TW" sz="2800"/>
              <a:t>So far, process has a single thread of execution</a:t>
            </a:r>
          </a:p>
          <a:p>
            <a:r>
              <a:rPr lang="en-US" altLang="zh-TW" sz="2800"/>
              <a:t>Consider having multiple program counters per process</a:t>
            </a:r>
          </a:p>
          <a:p>
            <a:pPr lvl="1"/>
            <a:r>
              <a:rPr lang="en-US" altLang="zh-TW" sz="2400"/>
              <a:t>Multiple locations can execute at once</a:t>
            </a:r>
          </a:p>
          <a:p>
            <a:pPr lvl="2"/>
            <a:r>
              <a:rPr lang="en-US" altLang="zh-TW" sz="2000"/>
              <a:t>Multiple threads of control -&gt; </a:t>
            </a:r>
            <a:r>
              <a:rPr lang="en-US" altLang="zh-TW" sz="2000" b="1">
                <a:solidFill>
                  <a:srgbClr val="3366FF"/>
                </a:solidFill>
              </a:rPr>
              <a:t>threads</a:t>
            </a:r>
          </a:p>
          <a:p>
            <a:r>
              <a:rPr lang="en-US" altLang="zh-TW" sz="2800"/>
              <a:t>Must then have storage for thread details, multiple program counters in PCB</a:t>
            </a:r>
          </a:p>
          <a:p>
            <a:r>
              <a:rPr lang="en-US" altLang="zh-TW" sz="2800"/>
              <a:t>See next chapter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123AADC7-1B8C-2ADC-941F-902F18189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Process Representation in Linux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7D8AADE9-5744-2B26-F1A5-5265C5F4B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/>
              <a:t>Represented by the C structure </a:t>
            </a:r>
            <a:r>
              <a:rPr lang="en-US" altLang="zh-TW" b="1">
                <a:latin typeface="Courier New" panose="02070309020205020404" pitchFamily="49" charset="0"/>
                <a:cs typeface="Courier New" panose="02070309020205020404" pitchFamily="49" charset="0"/>
              </a:rPr>
              <a:t>task_struct</a:t>
            </a:r>
            <a:br>
              <a:rPr lang="en-US" altLang="zh-TW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TW" b="1">
                <a:latin typeface="Courier New" panose="02070309020205020404" pitchFamily="49" charset="0"/>
                <a:cs typeface="Courier New" panose="02070309020205020404" pitchFamily="49" charset="0"/>
              </a:rPr>
              <a:t>pid t pid; /* process identifier */ </a:t>
            </a:r>
            <a:br>
              <a:rPr lang="en-US" altLang="zh-TW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TW" b="1">
                <a:latin typeface="Courier New" panose="02070309020205020404" pitchFamily="49" charset="0"/>
                <a:cs typeface="Courier New" panose="02070309020205020404" pitchFamily="49" charset="0"/>
              </a:rPr>
              <a:t>long state; /* state of the process */ </a:t>
            </a:r>
            <a:br>
              <a:rPr lang="en-US" altLang="zh-TW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TW" b="1">
                <a:latin typeface="Courier New" panose="02070309020205020404" pitchFamily="49" charset="0"/>
                <a:cs typeface="Courier New" panose="02070309020205020404" pitchFamily="49" charset="0"/>
              </a:rPr>
              <a:t>unsigned int time slice /* scheduling information */ </a:t>
            </a:r>
            <a:br>
              <a:rPr lang="en-US" altLang="zh-TW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TW" b="1">
                <a:latin typeface="Courier New" panose="02070309020205020404" pitchFamily="49" charset="0"/>
                <a:cs typeface="Courier New" panose="02070309020205020404" pitchFamily="49" charset="0"/>
              </a:rPr>
              <a:t>struct task struct *parent; /* this process</a:t>
            </a:r>
            <a:r>
              <a:rPr lang="ja-JP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  <a:r>
              <a:rPr lang="en-US" altLang="ja-JP" b="1">
                <a:latin typeface="Courier New" panose="02070309020205020404" pitchFamily="49" charset="0"/>
                <a:cs typeface="Courier New" panose="02070309020205020404" pitchFamily="49" charset="0"/>
              </a:rPr>
              <a:t>s parent */ </a:t>
            </a:r>
            <a:br>
              <a:rPr lang="en-US" altLang="ja-JP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ja-JP" b="1">
                <a:latin typeface="Courier New" panose="02070309020205020404" pitchFamily="49" charset="0"/>
                <a:cs typeface="Courier New" panose="02070309020205020404" pitchFamily="49" charset="0"/>
              </a:rPr>
              <a:t>struct list head children; /* this process</a:t>
            </a:r>
            <a:r>
              <a:rPr lang="ja-JP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  <a:r>
              <a:rPr lang="en-US" altLang="ja-JP" b="1">
                <a:latin typeface="Courier New" panose="02070309020205020404" pitchFamily="49" charset="0"/>
                <a:cs typeface="Courier New" panose="02070309020205020404" pitchFamily="49" charset="0"/>
              </a:rPr>
              <a:t>s children */ </a:t>
            </a:r>
            <a:br>
              <a:rPr lang="en-US" altLang="ja-JP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ja-JP" b="1">
                <a:latin typeface="Courier New" panose="02070309020205020404" pitchFamily="49" charset="0"/>
                <a:cs typeface="Courier New" panose="02070309020205020404" pitchFamily="49" charset="0"/>
              </a:rPr>
              <a:t>struct files struct *files; /* list of open files */ </a:t>
            </a:r>
            <a:br>
              <a:rPr lang="en-US" altLang="ja-JP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ja-JP" b="1">
                <a:latin typeface="Courier New" panose="02070309020205020404" pitchFamily="49" charset="0"/>
                <a:cs typeface="Courier New" panose="02070309020205020404" pitchFamily="49" charset="0"/>
              </a:rPr>
              <a:t>struct mm struct *mm; /* address space of this process */</a:t>
            </a:r>
            <a:endParaRPr lang="en-US" altLang="zh-TW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2292" name="Picture 3">
            <a:extLst>
              <a:ext uri="{FF2B5EF4-FFF2-40B4-BE49-F238E27FC236}">
                <a16:creationId xmlns:a16="http://schemas.microsoft.com/office/drawing/2014/main" id="{49C0EF89-1639-33A2-4D9C-1C6375325A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113" y="4360863"/>
            <a:ext cx="9150350" cy="318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DB9F826D-1D06-4F16-0220-9C18F5A60E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62100" y="369888"/>
            <a:ext cx="11468100" cy="768350"/>
          </a:xfrm>
        </p:spPr>
        <p:txBody>
          <a:bodyPr/>
          <a:lstStyle/>
          <a:p>
            <a:pPr eaLnBrk="1" hangingPunct="1"/>
            <a:r>
              <a:rPr lang="en-US" altLang="zh-TW"/>
              <a:t>Process Scheduling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4752BDE3-3A60-9F54-ECDD-AF37C30880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12850" y="2000250"/>
            <a:ext cx="10463213" cy="5310188"/>
          </a:xfrm>
        </p:spPr>
        <p:txBody>
          <a:bodyPr/>
          <a:lstStyle/>
          <a:p>
            <a:r>
              <a:rPr lang="en-US" altLang="zh-TW" sz="2400"/>
              <a:t>Maximize CPU use, quickly switch processes onto CPU for time sharing</a:t>
            </a:r>
          </a:p>
          <a:p>
            <a:r>
              <a:rPr lang="en-US" altLang="zh-TW" sz="2400" b="1">
                <a:solidFill>
                  <a:srgbClr val="3366FF"/>
                </a:solidFill>
              </a:rPr>
              <a:t>Process scheduler </a:t>
            </a:r>
            <a:r>
              <a:rPr lang="en-US" altLang="zh-TW" sz="2400"/>
              <a:t>selects among available processes for next execution on CPU</a:t>
            </a:r>
          </a:p>
          <a:p>
            <a:r>
              <a:rPr lang="en-US" altLang="zh-TW" sz="2400"/>
              <a:t>Maintains </a:t>
            </a:r>
            <a:r>
              <a:rPr lang="en-US" altLang="zh-TW" sz="2400" b="1">
                <a:solidFill>
                  <a:srgbClr val="3366FF"/>
                </a:solidFill>
              </a:rPr>
              <a:t>scheduling queues </a:t>
            </a:r>
            <a:r>
              <a:rPr lang="en-US" altLang="zh-TW" sz="2400"/>
              <a:t>of processes</a:t>
            </a:r>
          </a:p>
          <a:p>
            <a:pPr lvl="1"/>
            <a:r>
              <a:rPr lang="en-US" altLang="zh-TW" sz="2000" b="1">
                <a:solidFill>
                  <a:srgbClr val="3366FF"/>
                </a:solidFill>
              </a:rPr>
              <a:t>Job queue </a:t>
            </a:r>
            <a:r>
              <a:rPr lang="en-US" altLang="zh-TW" sz="2000"/>
              <a:t>– set of all processes in the system</a:t>
            </a:r>
          </a:p>
          <a:p>
            <a:pPr lvl="1"/>
            <a:r>
              <a:rPr lang="en-US" altLang="zh-TW" sz="2000" b="1">
                <a:solidFill>
                  <a:srgbClr val="3366FF"/>
                </a:solidFill>
              </a:rPr>
              <a:t>Ready queue </a:t>
            </a:r>
            <a:r>
              <a:rPr lang="en-US" altLang="zh-TW" sz="2000"/>
              <a:t>– set of all processes residing in main memory, ready and waiting to execute</a:t>
            </a:r>
          </a:p>
          <a:p>
            <a:pPr lvl="1"/>
            <a:r>
              <a:rPr lang="en-US" altLang="zh-TW" sz="2000" b="1">
                <a:solidFill>
                  <a:srgbClr val="3366FF"/>
                </a:solidFill>
              </a:rPr>
              <a:t>Device queues </a:t>
            </a:r>
            <a:r>
              <a:rPr lang="en-US" altLang="zh-TW" sz="2000"/>
              <a:t>– set of processes waiting for an I/O device</a:t>
            </a:r>
          </a:p>
          <a:p>
            <a:pPr lvl="1"/>
            <a:r>
              <a:rPr lang="en-US" altLang="zh-TW" sz="2000"/>
              <a:t>Processes migrate among the various queues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81344D17-ACC2-2C0D-1E8D-C76C9E4852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11288" y="517525"/>
            <a:ext cx="11782425" cy="609600"/>
          </a:xfrm>
        </p:spPr>
        <p:txBody>
          <a:bodyPr/>
          <a:lstStyle/>
          <a:p>
            <a:pPr eaLnBrk="1" hangingPunct="1"/>
            <a:r>
              <a:rPr lang="en-US" altLang="zh-TW" sz="4000"/>
              <a:t>Ready Queue And Various I/O Device Queues</a:t>
            </a:r>
          </a:p>
        </p:txBody>
      </p:sp>
      <p:pic>
        <p:nvPicPr>
          <p:cNvPr id="14339" name="Picture 7">
            <a:extLst>
              <a:ext uri="{FF2B5EF4-FFF2-40B4-BE49-F238E27FC236}">
                <a16:creationId xmlns:a16="http://schemas.microsoft.com/office/drawing/2014/main" id="{42168D1C-572B-15EE-67E2-EEF3A19F75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2713" y="1619250"/>
            <a:ext cx="8734425" cy="669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50A64DB3-768D-C89D-D2DC-88A5051660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57325" y="369888"/>
            <a:ext cx="12344400" cy="768350"/>
          </a:xfrm>
        </p:spPr>
        <p:txBody>
          <a:bodyPr/>
          <a:lstStyle/>
          <a:p>
            <a:pPr eaLnBrk="1" hangingPunct="1"/>
            <a:r>
              <a:rPr lang="en-US" altLang="zh-TW"/>
              <a:t>Representation of Process Scheduling</a:t>
            </a:r>
          </a:p>
        </p:txBody>
      </p:sp>
      <p:pic>
        <p:nvPicPr>
          <p:cNvPr id="15363" name="Picture 4" descr="3">
            <a:extLst>
              <a:ext uri="{FF2B5EF4-FFF2-40B4-BE49-F238E27FC236}">
                <a16:creationId xmlns:a16="http://schemas.microsoft.com/office/drawing/2014/main" id="{CDB10698-1125-F5A8-F73A-ED21D9891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038" y="2620963"/>
            <a:ext cx="10853737" cy="557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Rectangle 3">
            <a:extLst>
              <a:ext uri="{FF2B5EF4-FFF2-40B4-BE49-F238E27FC236}">
                <a16:creationId xmlns:a16="http://schemas.microsoft.com/office/drawing/2014/main" id="{13D3FF27-3753-434B-1143-6A27E9CD1E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2850" y="1736725"/>
            <a:ext cx="10463213" cy="531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zh-TW" sz="2400" b="1">
                <a:solidFill>
                  <a:srgbClr val="3366FF"/>
                </a:solidFill>
                <a:latin typeface="Helvetica" panose="020B0604020202020204" pitchFamily="34" charset="0"/>
              </a:rPr>
              <a:t>Queuing diagram </a:t>
            </a:r>
            <a:r>
              <a:rPr kumimoji="1" lang="en-US" altLang="zh-TW" sz="2400">
                <a:latin typeface="Helvetica" panose="020B0604020202020204" pitchFamily="34" charset="0"/>
              </a:rPr>
              <a:t>represents queues, resources, flows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43347C7A-FDC5-7265-8596-74DC5E038A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Schedulers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4CB2C429-CC65-B226-9B73-2D39AB0529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27150" y="1408113"/>
            <a:ext cx="11134725" cy="6834187"/>
          </a:xfrm>
        </p:spPr>
        <p:txBody>
          <a:bodyPr/>
          <a:lstStyle/>
          <a:p>
            <a:r>
              <a:rPr lang="en-US" altLang="zh-TW" sz="2400" b="1">
                <a:solidFill>
                  <a:srgbClr val="3366FF"/>
                </a:solidFill>
              </a:rPr>
              <a:t>Long-term scheduler  </a:t>
            </a:r>
            <a:r>
              <a:rPr lang="en-US" altLang="zh-TW" sz="2400"/>
              <a:t>(or </a:t>
            </a:r>
            <a:r>
              <a:rPr lang="en-US" altLang="zh-TW" sz="2400" b="1">
                <a:solidFill>
                  <a:srgbClr val="3366FF"/>
                </a:solidFill>
              </a:rPr>
              <a:t>job scheduler</a:t>
            </a:r>
            <a:r>
              <a:rPr lang="en-US" altLang="zh-TW" sz="2400"/>
              <a:t>) – selects which processes should be brought into the ready queue</a:t>
            </a:r>
          </a:p>
          <a:p>
            <a:r>
              <a:rPr lang="en-US" altLang="zh-TW" sz="2400" b="1">
                <a:solidFill>
                  <a:srgbClr val="3366FF"/>
                </a:solidFill>
              </a:rPr>
              <a:t>Short-term scheduler  </a:t>
            </a:r>
            <a:r>
              <a:rPr lang="en-US" altLang="zh-TW" sz="2400"/>
              <a:t>(or </a:t>
            </a:r>
            <a:r>
              <a:rPr lang="en-US" altLang="zh-TW" sz="2400" b="1">
                <a:solidFill>
                  <a:srgbClr val="3366FF"/>
                </a:solidFill>
              </a:rPr>
              <a:t>CPU scheduler</a:t>
            </a:r>
            <a:r>
              <a:rPr lang="en-US" altLang="zh-TW" sz="2400"/>
              <a:t>) – selects which process should be executed next and allocates CPU</a:t>
            </a:r>
          </a:p>
          <a:p>
            <a:pPr lvl="1"/>
            <a:r>
              <a:rPr lang="en-US" altLang="zh-TW" sz="2000"/>
              <a:t>Sometimes the only scheduler in a system</a:t>
            </a:r>
          </a:p>
          <a:p>
            <a:r>
              <a:rPr lang="en-US" altLang="zh-TW" sz="2400"/>
              <a:t>Short-term scheduler is invoked very frequently (milliseconds) </a:t>
            </a:r>
            <a:r>
              <a:rPr lang="en-US" altLang="zh-TW" sz="2400">
                <a:sym typeface="Symbol" panose="05050102010706020507" pitchFamily="18" charset="2"/>
              </a:rPr>
              <a:t> (must be fast)</a:t>
            </a:r>
          </a:p>
          <a:p>
            <a:r>
              <a:rPr lang="en-US" altLang="zh-TW" sz="2400">
                <a:sym typeface="Symbol" panose="05050102010706020507" pitchFamily="18" charset="2"/>
              </a:rPr>
              <a:t>Long-term scheduler is invoked very infrequently (seconds, minutes)  (may be slow)</a:t>
            </a:r>
          </a:p>
          <a:p>
            <a:r>
              <a:rPr lang="en-US" altLang="zh-TW" sz="2400">
                <a:sym typeface="Symbol" panose="05050102010706020507" pitchFamily="18" charset="2"/>
              </a:rPr>
              <a:t>The long-term scheduler controls the </a:t>
            </a:r>
            <a:r>
              <a:rPr lang="en-US" altLang="zh-TW" sz="2400" b="1">
                <a:solidFill>
                  <a:srgbClr val="3366FF"/>
                </a:solidFill>
                <a:sym typeface="Symbol" panose="05050102010706020507" pitchFamily="18" charset="2"/>
              </a:rPr>
              <a:t>degree of multiprogramming</a:t>
            </a:r>
            <a:endParaRPr lang="en-US" altLang="zh-TW" sz="2400" i="1">
              <a:sym typeface="Symbol" panose="05050102010706020507" pitchFamily="18" charset="2"/>
            </a:endParaRPr>
          </a:p>
          <a:p>
            <a:r>
              <a:rPr lang="en-US" altLang="zh-TW" sz="2400">
                <a:sym typeface="Symbol" panose="05050102010706020507" pitchFamily="18" charset="2"/>
              </a:rPr>
              <a:t>Processes can be described as either:</a:t>
            </a:r>
          </a:p>
          <a:p>
            <a:pPr lvl="1"/>
            <a:r>
              <a:rPr lang="en-US" altLang="zh-TW" sz="2000" b="1">
                <a:solidFill>
                  <a:srgbClr val="3366FF"/>
                </a:solidFill>
                <a:sym typeface="Symbol" panose="05050102010706020507" pitchFamily="18" charset="2"/>
              </a:rPr>
              <a:t>I/O-bound process</a:t>
            </a:r>
            <a:r>
              <a:rPr lang="en-US" altLang="zh-TW" sz="2000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  <a:r>
              <a:rPr lang="en-US" altLang="zh-TW" sz="2000">
                <a:sym typeface="Symbol" panose="05050102010706020507" pitchFamily="18" charset="2"/>
              </a:rPr>
              <a:t>– spends more time doing I/O than computations, many short CPU bursts</a:t>
            </a:r>
          </a:p>
          <a:p>
            <a:pPr lvl="1"/>
            <a:r>
              <a:rPr lang="en-US" altLang="zh-TW" sz="2000" b="1">
                <a:solidFill>
                  <a:srgbClr val="3366FF"/>
                </a:solidFill>
                <a:sym typeface="Symbol" panose="05050102010706020507" pitchFamily="18" charset="2"/>
              </a:rPr>
              <a:t>CPU-bound process </a:t>
            </a:r>
            <a:r>
              <a:rPr lang="en-US" altLang="zh-TW" sz="2000">
                <a:sym typeface="Symbol" panose="05050102010706020507" pitchFamily="18" charset="2"/>
              </a:rPr>
              <a:t>– spends more time doing computations; few very long CPU bursts</a:t>
            </a:r>
          </a:p>
          <a:p>
            <a:r>
              <a:rPr lang="en-US" altLang="zh-TW" sz="2400">
                <a:sym typeface="Symbol" panose="05050102010706020507" pitchFamily="18" charset="2"/>
              </a:rPr>
              <a:t>Long-term scheduler strives for good </a:t>
            </a:r>
            <a:r>
              <a:rPr lang="en-US" altLang="zh-TW" sz="2400" b="1" i="1">
                <a:sym typeface="Symbol" panose="05050102010706020507" pitchFamily="18" charset="2"/>
              </a:rPr>
              <a:t>process mix</a:t>
            </a:r>
            <a:endParaRPr lang="en-US" altLang="zh-TW"/>
          </a:p>
          <a:p>
            <a:endParaRPr lang="en-US" altLang="zh-TW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6F51D222-0BF7-3DE8-930B-25531093BC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3825" y="369888"/>
            <a:ext cx="12344400" cy="768350"/>
          </a:xfrm>
        </p:spPr>
        <p:txBody>
          <a:bodyPr/>
          <a:lstStyle/>
          <a:p>
            <a:pPr eaLnBrk="1" hangingPunct="1"/>
            <a:r>
              <a:rPr lang="en-US" altLang="zh-TW"/>
              <a:t>Addition of Medium Term Scheduling</a:t>
            </a:r>
          </a:p>
        </p:txBody>
      </p:sp>
      <p:pic>
        <p:nvPicPr>
          <p:cNvPr id="17411" name="Picture 11">
            <a:extLst>
              <a:ext uri="{FF2B5EF4-FFF2-40B4-BE49-F238E27FC236}">
                <a16:creationId xmlns:a16="http://schemas.microsoft.com/office/drawing/2014/main" id="{F4E6DA78-793F-E8C3-EB97-C311E935F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3746500"/>
            <a:ext cx="10991850" cy="355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2" name="Rectangle 3">
            <a:extLst>
              <a:ext uri="{FF2B5EF4-FFF2-40B4-BE49-F238E27FC236}">
                <a16:creationId xmlns:a16="http://schemas.microsoft.com/office/drawing/2014/main" id="{05953846-DC51-7A49-C9E8-EE3B09E80F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9675" y="1668463"/>
            <a:ext cx="10801350" cy="579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zh-TW" sz="2400" b="1">
                <a:solidFill>
                  <a:srgbClr val="3366FF"/>
                </a:solidFill>
                <a:latin typeface="Helvetica" panose="020B0604020202020204" pitchFamily="34" charset="0"/>
              </a:rPr>
              <a:t>Medium-term scheduler  </a:t>
            </a:r>
            <a:r>
              <a:rPr kumimoji="1" lang="en-US" altLang="zh-TW" sz="2400">
                <a:latin typeface="Helvetica" panose="020B0604020202020204" pitchFamily="34" charset="0"/>
              </a:rPr>
              <a:t>can be added if degree of multiple programming needs to decrease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r>
              <a:rPr kumimoji="1" lang="en-US" altLang="zh-TW" sz="2000">
                <a:latin typeface="Helvetica" panose="020B0604020202020204" pitchFamily="34" charset="0"/>
              </a:rPr>
              <a:t>Remove process from memory, store on disk, bring back in from disk to continue execution: </a:t>
            </a:r>
            <a:r>
              <a:rPr kumimoji="1" lang="en-US" altLang="zh-TW" sz="2000" b="1">
                <a:solidFill>
                  <a:srgbClr val="3366FF"/>
                </a:solidFill>
                <a:latin typeface="Helvetica" panose="020B0604020202020204" pitchFamily="34" charset="0"/>
              </a:rPr>
              <a:t>swapping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endParaRPr kumimoji="1" lang="en-US" altLang="zh-TW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endParaRPr kumimoji="1" lang="en-US" altLang="zh-TW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ACD0BB78-5FAE-4321-54B5-88DBB7F271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Multitasking in Mobile Systems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624D4FE1-2659-6610-4249-A14546746E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356975" cy="5930900"/>
          </a:xfrm>
        </p:spPr>
        <p:txBody>
          <a:bodyPr/>
          <a:lstStyle/>
          <a:p>
            <a:r>
              <a:rPr lang="en-US" altLang="zh-TW" sz="2400"/>
              <a:t>Some systems / early systems allow only one process to run, others suspended</a:t>
            </a:r>
          </a:p>
          <a:p>
            <a:r>
              <a:rPr lang="en-US" altLang="zh-TW" sz="2400"/>
              <a:t>Due to screen real estate, user interface limits iOS provides for a </a:t>
            </a:r>
          </a:p>
          <a:p>
            <a:pPr lvl="1"/>
            <a:r>
              <a:rPr lang="en-US" altLang="zh-TW" sz="2000"/>
              <a:t>Single </a:t>
            </a:r>
            <a:r>
              <a:rPr lang="en-US" altLang="zh-TW" sz="2000" b="1">
                <a:solidFill>
                  <a:srgbClr val="3366FF"/>
                </a:solidFill>
              </a:rPr>
              <a:t>foreground</a:t>
            </a:r>
            <a:r>
              <a:rPr lang="en-US" altLang="zh-TW" sz="2000"/>
              <a:t> process- controlled via user interface</a:t>
            </a:r>
          </a:p>
          <a:p>
            <a:pPr lvl="1"/>
            <a:r>
              <a:rPr lang="en-US" altLang="zh-TW" sz="2000"/>
              <a:t>Multiple </a:t>
            </a:r>
            <a:r>
              <a:rPr lang="en-US" altLang="zh-TW" sz="2000" b="1">
                <a:solidFill>
                  <a:srgbClr val="3366FF"/>
                </a:solidFill>
              </a:rPr>
              <a:t>background</a:t>
            </a:r>
            <a:r>
              <a:rPr lang="en-US" altLang="zh-TW" sz="2000"/>
              <a:t> processes– in memory, running, but not on the display, and with limits</a:t>
            </a:r>
          </a:p>
          <a:p>
            <a:pPr lvl="1"/>
            <a:r>
              <a:rPr lang="en-US" altLang="zh-TW" sz="2000"/>
              <a:t>Limits include single, short task, receiving notification of events, specific long-running tasks like audio playback</a:t>
            </a:r>
            <a:endParaRPr lang="en-US" altLang="zh-TW"/>
          </a:p>
          <a:p>
            <a:endParaRPr lang="en-US" altLang="zh-TW" sz="2400"/>
          </a:p>
          <a:p>
            <a:r>
              <a:rPr lang="en-US" altLang="zh-TW" sz="2400"/>
              <a:t>Android runs foreground and background, with fewer limits</a:t>
            </a:r>
          </a:p>
          <a:p>
            <a:pPr lvl="1"/>
            <a:r>
              <a:rPr lang="en-US" altLang="zh-TW" sz="2000"/>
              <a:t>Background process uses a </a:t>
            </a:r>
            <a:r>
              <a:rPr lang="en-US" altLang="zh-TW" sz="2000" b="1">
                <a:solidFill>
                  <a:srgbClr val="3366FF"/>
                </a:solidFill>
              </a:rPr>
              <a:t>service</a:t>
            </a:r>
            <a:r>
              <a:rPr lang="en-US" altLang="zh-TW" sz="2000"/>
              <a:t> to perform tasks</a:t>
            </a:r>
          </a:p>
          <a:p>
            <a:pPr lvl="1"/>
            <a:r>
              <a:rPr lang="en-US" altLang="zh-TW" sz="2000"/>
              <a:t>Service can keep running even if background process is suspended</a:t>
            </a:r>
          </a:p>
          <a:p>
            <a:pPr lvl="1"/>
            <a:r>
              <a:rPr lang="en-US" altLang="zh-TW" sz="2000"/>
              <a:t>Service has no user interface, small memory use</a:t>
            </a:r>
          </a:p>
          <a:p>
            <a:pPr lvl="1"/>
            <a:endParaRPr lang="en-US" altLang="zh-TW"/>
          </a:p>
          <a:p>
            <a:endParaRPr lang="en-US" altLang="zh-TW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430A056C-4F67-6E82-A714-08310662B1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Context Switch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9E5C7B40-1005-9CD5-F6C8-2CCAF2176F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220450" cy="5930900"/>
          </a:xfrm>
        </p:spPr>
        <p:txBody>
          <a:bodyPr/>
          <a:lstStyle/>
          <a:p>
            <a:r>
              <a:rPr lang="en-US" altLang="zh-TW" sz="2400"/>
              <a:t>When CPU switches to another process, the system must </a:t>
            </a:r>
            <a:r>
              <a:rPr lang="en-US" altLang="zh-TW" sz="2400" b="1">
                <a:solidFill>
                  <a:srgbClr val="3366FF"/>
                </a:solidFill>
              </a:rPr>
              <a:t>save the state </a:t>
            </a:r>
            <a:r>
              <a:rPr lang="en-US" altLang="zh-TW" sz="2400"/>
              <a:t>of the old process and load the </a:t>
            </a:r>
            <a:r>
              <a:rPr lang="en-US" altLang="zh-TW" sz="2400" b="1">
                <a:solidFill>
                  <a:srgbClr val="3366FF"/>
                </a:solidFill>
              </a:rPr>
              <a:t>saved state </a:t>
            </a:r>
            <a:r>
              <a:rPr lang="en-US" altLang="zh-TW" sz="2400"/>
              <a:t>for the new process via a </a:t>
            </a:r>
            <a:r>
              <a:rPr lang="en-US" altLang="zh-TW" sz="2400" b="1">
                <a:solidFill>
                  <a:srgbClr val="3366FF"/>
                </a:solidFill>
              </a:rPr>
              <a:t>context switch</a:t>
            </a:r>
            <a:endParaRPr lang="en-US" altLang="zh-TW" sz="2400"/>
          </a:p>
          <a:p>
            <a:endParaRPr lang="en-US" altLang="zh-TW" sz="2400"/>
          </a:p>
          <a:p>
            <a:r>
              <a:rPr lang="en-US" altLang="zh-TW" sz="2400" b="1">
                <a:solidFill>
                  <a:srgbClr val="3366FF"/>
                </a:solidFill>
              </a:rPr>
              <a:t>Context </a:t>
            </a:r>
            <a:r>
              <a:rPr lang="en-US" altLang="zh-TW" sz="2400"/>
              <a:t>of a process represented in the PCB</a:t>
            </a:r>
          </a:p>
          <a:p>
            <a:endParaRPr lang="en-US" altLang="zh-TW" sz="2400"/>
          </a:p>
          <a:p>
            <a:r>
              <a:rPr lang="en-US" altLang="zh-TW" sz="2400"/>
              <a:t>Context-switch time is overhead; the system does no useful work while switching</a:t>
            </a:r>
          </a:p>
          <a:p>
            <a:pPr lvl="1"/>
            <a:r>
              <a:rPr lang="en-US" altLang="zh-TW" sz="2400"/>
              <a:t>The more complex the OS and the PCB -&gt; longer the context switch</a:t>
            </a:r>
          </a:p>
          <a:p>
            <a:endParaRPr lang="en-US" altLang="zh-TW" sz="2400"/>
          </a:p>
          <a:p>
            <a:r>
              <a:rPr lang="en-US" altLang="zh-TW" sz="2400"/>
              <a:t>Time dependent on hardware support</a:t>
            </a:r>
          </a:p>
          <a:p>
            <a:pPr lvl="1"/>
            <a:r>
              <a:rPr lang="en-US" altLang="zh-TW" sz="2400"/>
              <a:t>Some hardware provides multiple sets of registers per CPU -&gt; multiple contexts loaded at once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52AEB528-61AB-638D-0605-9540F57432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50963" y="369888"/>
            <a:ext cx="12344400" cy="768350"/>
          </a:xfrm>
        </p:spPr>
        <p:txBody>
          <a:bodyPr/>
          <a:lstStyle/>
          <a:p>
            <a:pPr eaLnBrk="1" hangingPunct="1"/>
            <a:r>
              <a:rPr lang="en-US" altLang="zh-TW"/>
              <a:t>CPU Switch From Process to Process</a:t>
            </a:r>
          </a:p>
        </p:txBody>
      </p:sp>
      <p:pic>
        <p:nvPicPr>
          <p:cNvPr id="20483" name="Picture 9">
            <a:extLst>
              <a:ext uri="{FF2B5EF4-FFF2-40B4-BE49-F238E27FC236}">
                <a16:creationId xmlns:a16="http://schemas.microsoft.com/office/drawing/2014/main" id="{8C243802-0A34-3916-39F6-05FF148D6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2725" y="1290638"/>
            <a:ext cx="11358563" cy="678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D5B92E8-B09A-F239-8F2F-EE46B9E7E0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Operations on Processes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1E690C03-4653-5F78-51FE-E095F78533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220450" cy="5930900"/>
          </a:xfrm>
        </p:spPr>
        <p:txBody>
          <a:bodyPr/>
          <a:lstStyle/>
          <a:p>
            <a:r>
              <a:rPr lang="en-US" altLang="zh-TW" sz="2400"/>
              <a:t>System must provide mechanisms for process creation, termination, and so on as detailed next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5FAB930A-DC1B-5BD8-F865-D6BBA132AC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Process Creation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D4B7D448-C819-C68C-3837-CE0874DD66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410950" cy="6769100"/>
          </a:xfrm>
        </p:spPr>
        <p:txBody>
          <a:bodyPr/>
          <a:lstStyle/>
          <a:p>
            <a:r>
              <a:rPr lang="en-US" altLang="zh-TW" sz="2400" b="1">
                <a:solidFill>
                  <a:srgbClr val="3366FF"/>
                </a:solidFill>
              </a:rPr>
              <a:t>Parent</a:t>
            </a:r>
            <a:r>
              <a:rPr lang="en-US" altLang="zh-TW" sz="2400" b="1"/>
              <a:t> </a:t>
            </a:r>
            <a:r>
              <a:rPr lang="en-US" altLang="zh-TW" sz="2400"/>
              <a:t>process create </a:t>
            </a:r>
            <a:r>
              <a:rPr lang="en-US" altLang="zh-TW" sz="2400" b="1">
                <a:solidFill>
                  <a:srgbClr val="3366FF"/>
                </a:solidFill>
              </a:rPr>
              <a:t>children</a:t>
            </a:r>
            <a:r>
              <a:rPr lang="en-US" altLang="zh-TW" sz="2400" b="1"/>
              <a:t> </a:t>
            </a:r>
            <a:r>
              <a:rPr lang="en-US" altLang="zh-TW" sz="2400"/>
              <a:t>processes, which, in turn create other processes, forming a </a:t>
            </a:r>
            <a:r>
              <a:rPr lang="en-US" altLang="zh-TW" sz="2400" b="1">
                <a:solidFill>
                  <a:srgbClr val="3366FF"/>
                </a:solidFill>
              </a:rPr>
              <a:t>tree</a:t>
            </a:r>
            <a:r>
              <a:rPr lang="en-US" altLang="zh-TW" sz="2400"/>
              <a:t> of processes</a:t>
            </a:r>
          </a:p>
          <a:p>
            <a:endParaRPr lang="en-US" altLang="zh-TW" sz="2400"/>
          </a:p>
          <a:p>
            <a:r>
              <a:rPr lang="en-US" altLang="zh-TW" sz="2400"/>
              <a:t>Generally, process identified and managed via a</a:t>
            </a:r>
            <a:r>
              <a:rPr lang="en-US" altLang="zh-TW" sz="2400" b="1"/>
              <a:t> </a:t>
            </a:r>
            <a:r>
              <a:rPr lang="en-US" altLang="zh-TW" sz="2400" b="1">
                <a:solidFill>
                  <a:srgbClr val="3366FF"/>
                </a:solidFill>
              </a:rPr>
              <a:t>process identifier </a:t>
            </a:r>
            <a:r>
              <a:rPr lang="en-US" altLang="zh-TW" sz="2400"/>
              <a:t>(</a:t>
            </a:r>
            <a:r>
              <a:rPr lang="en-US" altLang="zh-TW" sz="2400" b="1">
                <a:solidFill>
                  <a:srgbClr val="3366FF"/>
                </a:solidFill>
              </a:rPr>
              <a:t>pid</a:t>
            </a:r>
            <a:r>
              <a:rPr lang="en-US" altLang="zh-TW" sz="2400"/>
              <a:t>)</a:t>
            </a:r>
          </a:p>
          <a:p>
            <a:endParaRPr lang="en-US" altLang="zh-TW" sz="2400"/>
          </a:p>
          <a:p>
            <a:r>
              <a:rPr lang="en-US" altLang="zh-TW" sz="2400"/>
              <a:t>Resource sharing options</a:t>
            </a:r>
          </a:p>
          <a:p>
            <a:pPr lvl="1"/>
            <a:r>
              <a:rPr lang="en-US" altLang="zh-TW" sz="2400"/>
              <a:t>Parent and children share all resources</a:t>
            </a:r>
          </a:p>
          <a:p>
            <a:pPr lvl="1"/>
            <a:r>
              <a:rPr lang="en-US" altLang="zh-TW" sz="2400"/>
              <a:t>Children share subset of parent</a:t>
            </a:r>
            <a:r>
              <a:rPr lang="ja-JP" altLang="en-US" sz="2400"/>
              <a:t>’</a:t>
            </a:r>
            <a:r>
              <a:rPr lang="en-US" altLang="ja-JP" sz="2400"/>
              <a:t>s resources</a:t>
            </a:r>
          </a:p>
          <a:p>
            <a:pPr lvl="1"/>
            <a:r>
              <a:rPr lang="en-US" altLang="zh-TW" sz="2400"/>
              <a:t>Parent and child share no resources</a:t>
            </a:r>
          </a:p>
          <a:p>
            <a:pPr lvl="1"/>
            <a:endParaRPr lang="en-US" altLang="zh-TW" sz="2400"/>
          </a:p>
          <a:p>
            <a:r>
              <a:rPr lang="en-US" altLang="zh-TW" sz="2400"/>
              <a:t>Execution options</a:t>
            </a:r>
          </a:p>
          <a:p>
            <a:pPr lvl="1"/>
            <a:r>
              <a:rPr lang="en-US" altLang="zh-TW" sz="2400"/>
              <a:t>Parent and children execute concurrently</a:t>
            </a:r>
          </a:p>
          <a:p>
            <a:pPr lvl="1"/>
            <a:r>
              <a:rPr lang="en-US" altLang="zh-TW" sz="2400"/>
              <a:t>Parent waits until children terminate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C8B7C2C9-1F06-BB27-1587-81393EC036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65275" y="369888"/>
            <a:ext cx="12344400" cy="768350"/>
          </a:xfrm>
        </p:spPr>
        <p:txBody>
          <a:bodyPr/>
          <a:lstStyle/>
          <a:p>
            <a:pPr eaLnBrk="1" hangingPunct="1"/>
            <a:r>
              <a:rPr lang="en-US" altLang="zh-TW"/>
              <a:t>A Tree of Processes in Linux</a:t>
            </a:r>
          </a:p>
        </p:txBody>
      </p:sp>
      <p:pic>
        <p:nvPicPr>
          <p:cNvPr id="23555" name="Picture 1" descr="3_08.pdf">
            <a:extLst>
              <a:ext uri="{FF2B5EF4-FFF2-40B4-BE49-F238E27FC236}">
                <a16:creationId xmlns:a16="http://schemas.microsoft.com/office/drawing/2014/main" id="{C036931F-6AEA-C402-22BB-16949C38D6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688" y="1995488"/>
            <a:ext cx="11033125" cy="519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13471A02-06F9-BBAE-5FAD-EA8840BFF5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04963" y="369888"/>
            <a:ext cx="11425237" cy="768350"/>
          </a:xfrm>
        </p:spPr>
        <p:txBody>
          <a:bodyPr/>
          <a:lstStyle/>
          <a:p>
            <a:pPr eaLnBrk="1" hangingPunct="1"/>
            <a:r>
              <a:rPr lang="en-US" altLang="zh-TW"/>
              <a:t>Process Creation (Cont.)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20338AE2-DBAC-E28B-D9EC-BC3C34A53F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397000"/>
            <a:ext cx="12344400" cy="6040438"/>
          </a:xfrm>
        </p:spPr>
        <p:txBody>
          <a:bodyPr/>
          <a:lstStyle/>
          <a:p>
            <a:r>
              <a:rPr lang="en-US" altLang="zh-TW" sz="2400"/>
              <a:t>Address space</a:t>
            </a:r>
          </a:p>
          <a:p>
            <a:pPr lvl="1"/>
            <a:r>
              <a:rPr lang="en-US" altLang="zh-TW" sz="2000"/>
              <a:t>Child duplicate of parent</a:t>
            </a:r>
          </a:p>
          <a:p>
            <a:pPr lvl="1"/>
            <a:r>
              <a:rPr lang="en-US" altLang="zh-TW" sz="2000"/>
              <a:t>Child has a program loaded into it</a:t>
            </a:r>
          </a:p>
          <a:p>
            <a:pPr lvl="1"/>
            <a:endParaRPr lang="en-US" altLang="zh-TW" sz="2400"/>
          </a:p>
          <a:p>
            <a:r>
              <a:rPr lang="en-US" altLang="zh-TW" sz="2400"/>
              <a:t>UNIX examples</a:t>
            </a:r>
          </a:p>
          <a:p>
            <a:pPr lvl="1"/>
            <a:r>
              <a:rPr lang="en-US" altLang="zh-TW" sz="20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fork()</a:t>
            </a:r>
            <a:r>
              <a:rPr lang="en-US" altLang="zh-TW" sz="2000">
                <a:solidFill>
                  <a:srgbClr val="000000"/>
                </a:solidFill>
              </a:rPr>
              <a:t> </a:t>
            </a:r>
            <a:r>
              <a:rPr lang="en-US" altLang="zh-TW" sz="2000"/>
              <a:t>system call creates new process</a:t>
            </a:r>
          </a:p>
          <a:p>
            <a:pPr lvl="1"/>
            <a:r>
              <a:rPr lang="en-US" altLang="zh-TW" sz="20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exec()</a:t>
            </a:r>
            <a:r>
              <a:rPr lang="en-US" altLang="zh-TW" sz="2000"/>
              <a:t> system call used after a </a:t>
            </a:r>
            <a:r>
              <a:rPr lang="en-US" altLang="zh-TW" sz="20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fork()</a:t>
            </a:r>
            <a:r>
              <a:rPr lang="en-US" altLang="zh-TW" sz="2000"/>
              <a:t> to replace the process</a:t>
            </a:r>
            <a:r>
              <a:rPr lang="ja-JP" altLang="en-US" sz="2000"/>
              <a:t>’</a:t>
            </a:r>
            <a:r>
              <a:rPr lang="en-US" altLang="ja-JP" sz="2000"/>
              <a:t> memory space with a new program</a:t>
            </a:r>
            <a:endParaRPr lang="en-US" altLang="zh-TW" sz="2000"/>
          </a:p>
        </p:txBody>
      </p:sp>
      <p:pic>
        <p:nvPicPr>
          <p:cNvPr id="24580" name="Picture 4" descr="3">
            <a:extLst>
              <a:ext uri="{FF2B5EF4-FFF2-40B4-BE49-F238E27FC236}">
                <a16:creationId xmlns:a16="http://schemas.microsoft.com/office/drawing/2014/main" id="{03BABD32-688A-2D17-5631-9FBB38B18F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925" y="5129213"/>
            <a:ext cx="11680825" cy="2614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4FD14740-2CC2-EE6F-E18A-142D9BF4C7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28738" y="369888"/>
            <a:ext cx="12344400" cy="768350"/>
          </a:xfrm>
        </p:spPr>
        <p:txBody>
          <a:bodyPr/>
          <a:lstStyle/>
          <a:p>
            <a:pPr eaLnBrk="1" hangingPunct="1"/>
            <a:r>
              <a:rPr lang="en-US" altLang="zh-TW"/>
              <a:t>C Program Forking Separate Process</a:t>
            </a:r>
          </a:p>
        </p:txBody>
      </p:sp>
      <p:pic>
        <p:nvPicPr>
          <p:cNvPr id="25603" name="Picture 5" descr="Screen Shot 2012-12-04 at 11.21.10 AM.png">
            <a:extLst>
              <a:ext uri="{FF2B5EF4-FFF2-40B4-BE49-F238E27FC236}">
                <a16:creationId xmlns:a16="http://schemas.microsoft.com/office/drawing/2014/main" id="{C9149A17-838F-C1F6-BBF8-49D254810F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913" y="1292225"/>
            <a:ext cx="9058275" cy="747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C8D7A7E8-18FC-BAC3-6FA8-1A2292565C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28738" y="369888"/>
            <a:ext cx="12344400" cy="768350"/>
          </a:xfrm>
        </p:spPr>
        <p:txBody>
          <a:bodyPr/>
          <a:lstStyle/>
          <a:p>
            <a:pPr eaLnBrk="1" hangingPunct="1"/>
            <a:r>
              <a:rPr lang="en-US" altLang="zh-TW" sz="4000"/>
              <a:t>Creating a Separate Process via Windows API</a:t>
            </a:r>
          </a:p>
        </p:txBody>
      </p:sp>
      <p:pic>
        <p:nvPicPr>
          <p:cNvPr id="26627" name="Picture 1" descr="Screen Shot 2012-12-04 at 11.23.48 AM.png">
            <a:extLst>
              <a:ext uri="{FF2B5EF4-FFF2-40B4-BE49-F238E27FC236}">
                <a16:creationId xmlns:a16="http://schemas.microsoft.com/office/drawing/2014/main" id="{F9282F88-6090-3BCD-ACF7-3C1197C25A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3150" y="1284288"/>
            <a:ext cx="6546850" cy="738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9E744F26-6FA7-D3FA-1E3D-0B0B017E23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Process Termination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D84E3EF0-6B32-DA95-EEE6-A98F7C0D02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395075" cy="6040438"/>
          </a:xfrm>
        </p:spPr>
        <p:txBody>
          <a:bodyPr/>
          <a:lstStyle/>
          <a:p>
            <a:r>
              <a:rPr lang="en-US" altLang="zh-TW"/>
              <a:t>Process executes last statement and asks the operating system to delete it (</a:t>
            </a:r>
            <a:r>
              <a:rPr lang="en-US" altLang="zh-TW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exit()</a:t>
            </a:r>
            <a:r>
              <a:rPr lang="en-US" altLang="zh-TW"/>
              <a:t>)</a:t>
            </a:r>
          </a:p>
          <a:p>
            <a:pPr lvl="1"/>
            <a:r>
              <a:rPr lang="en-US" altLang="zh-TW"/>
              <a:t>Output data from child to parent (via </a:t>
            </a:r>
            <a:r>
              <a:rPr lang="en-US" altLang="zh-TW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wait()</a:t>
            </a:r>
            <a:r>
              <a:rPr lang="en-US" altLang="zh-TW"/>
              <a:t>)</a:t>
            </a:r>
          </a:p>
          <a:p>
            <a:pPr lvl="1"/>
            <a:r>
              <a:rPr lang="en-US" altLang="zh-TW"/>
              <a:t>Process</a:t>
            </a:r>
            <a:r>
              <a:rPr lang="ja-JP" altLang="en-US"/>
              <a:t>’</a:t>
            </a:r>
            <a:r>
              <a:rPr lang="en-US" altLang="ja-JP"/>
              <a:t> resources are deallocated by operating system</a:t>
            </a:r>
          </a:p>
          <a:p>
            <a:pPr lvl="1"/>
            <a:endParaRPr lang="en-US" altLang="zh-TW"/>
          </a:p>
          <a:p>
            <a:r>
              <a:rPr lang="en-US" altLang="zh-TW"/>
              <a:t>Parent may terminate execution of children processes (</a:t>
            </a:r>
            <a:r>
              <a:rPr lang="en-US" altLang="zh-TW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abort()</a:t>
            </a:r>
            <a:r>
              <a:rPr lang="en-US" altLang="zh-TW"/>
              <a:t>)</a:t>
            </a:r>
          </a:p>
          <a:p>
            <a:pPr lvl="1"/>
            <a:r>
              <a:rPr lang="en-US" altLang="zh-TW"/>
              <a:t>Child has exceeded allocated resources</a:t>
            </a:r>
          </a:p>
          <a:p>
            <a:pPr lvl="1"/>
            <a:r>
              <a:rPr lang="en-US" altLang="zh-TW"/>
              <a:t>Task assigned to child is no longer required</a:t>
            </a:r>
          </a:p>
          <a:p>
            <a:pPr lvl="1"/>
            <a:r>
              <a:rPr lang="en-US" altLang="zh-TW"/>
              <a:t>If parent is exiting</a:t>
            </a:r>
          </a:p>
          <a:p>
            <a:pPr lvl="2"/>
            <a:r>
              <a:rPr lang="en-US" altLang="zh-TW"/>
              <a:t>Some operating systems do not allow child to continue if its parent terminates</a:t>
            </a:r>
          </a:p>
          <a:p>
            <a:pPr lvl="3"/>
            <a:r>
              <a:rPr lang="en-US" altLang="zh-TW"/>
              <a:t>All children terminated - </a:t>
            </a:r>
            <a:r>
              <a:rPr lang="en-US" altLang="zh-TW" b="1"/>
              <a:t>cascading termination</a:t>
            </a:r>
          </a:p>
          <a:p>
            <a:pPr lvl="3"/>
            <a:endParaRPr lang="en-US" altLang="zh-TW" b="1"/>
          </a:p>
          <a:p>
            <a:r>
              <a:rPr lang="en-US" altLang="zh-TW"/>
              <a:t>Wait for termination, returning the pid:</a:t>
            </a:r>
          </a:p>
          <a:p>
            <a:pPr>
              <a:buFont typeface="Monotype Sorts" pitchFamily="-84" charset="2"/>
              <a:buNone/>
            </a:pPr>
            <a:r>
              <a:rPr lang="en-US" altLang="zh-TW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pid t pid; int status; </a:t>
            </a:r>
          </a:p>
          <a:p>
            <a:pPr>
              <a:buFont typeface="Monotype Sorts" pitchFamily="-84" charset="2"/>
              <a:buNone/>
            </a:pPr>
            <a:r>
              <a:rPr lang="en-US" altLang="zh-TW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pid = wait(&amp;status); </a:t>
            </a:r>
          </a:p>
          <a:p>
            <a:r>
              <a:rPr lang="en-US" altLang="zh-TW"/>
              <a:t>If no parent waiting, then terminated process is a </a:t>
            </a:r>
            <a:r>
              <a:rPr lang="en-US" altLang="zh-TW" b="1">
                <a:solidFill>
                  <a:srgbClr val="3366FF"/>
                </a:solidFill>
              </a:rPr>
              <a:t>zombie</a:t>
            </a:r>
          </a:p>
          <a:p>
            <a:r>
              <a:rPr lang="en-US" altLang="zh-TW"/>
              <a:t>If parent terminated, processes are </a:t>
            </a:r>
            <a:r>
              <a:rPr lang="en-US" altLang="zh-TW" b="1">
                <a:solidFill>
                  <a:srgbClr val="3366FF"/>
                </a:solidFill>
              </a:rPr>
              <a:t>orphans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B8AD8301-310B-AB11-917C-5B29387F8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788" y="369888"/>
            <a:ext cx="11555412" cy="768350"/>
          </a:xfrm>
        </p:spPr>
        <p:txBody>
          <a:bodyPr/>
          <a:lstStyle/>
          <a:p>
            <a:r>
              <a:rPr lang="en-US" altLang="zh-TW" sz="4000"/>
              <a:t>Multiprocess Architecture – Chrome Browser</a:t>
            </a:r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977CC83F-5B70-DFE7-F549-B76B41C5F6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9675" y="1644650"/>
            <a:ext cx="11268075" cy="6040438"/>
          </a:xfrm>
        </p:spPr>
        <p:txBody>
          <a:bodyPr/>
          <a:lstStyle/>
          <a:p>
            <a:r>
              <a:rPr lang="en-US" altLang="zh-TW" sz="2400"/>
              <a:t>Many web browsers ran as single process (some still do)</a:t>
            </a:r>
          </a:p>
          <a:p>
            <a:pPr lvl="1"/>
            <a:r>
              <a:rPr lang="en-US" altLang="zh-TW" sz="2000"/>
              <a:t>If one web site causes trouble, entire browser can hang or crash</a:t>
            </a:r>
          </a:p>
          <a:p>
            <a:r>
              <a:rPr lang="en-US" altLang="zh-TW" sz="2400"/>
              <a:t>Google Chrome Browser is multiprocess with 3 categories</a:t>
            </a:r>
          </a:p>
          <a:p>
            <a:pPr lvl="1"/>
            <a:r>
              <a:rPr lang="en-US" altLang="zh-TW" sz="2000" b="1">
                <a:solidFill>
                  <a:srgbClr val="3366FF"/>
                </a:solidFill>
              </a:rPr>
              <a:t>Browser</a:t>
            </a:r>
            <a:r>
              <a:rPr lang="en-US" altLang="zh-TW" sz="2000"/>
              <a:t> process manages user interface, disk and network I/O</a:t>
            </a:r>
          </a:p>
          <a:p>
            <a:pPr lvl="1"/>
            <a:r>
              <a:rPr lang="en-US" altLang="zh-TW" sz="2000" b="1">
                <a:solidFill>
                  <a:srgbClr val="3366FF"/>
                </a:solidFill>
              </a:rPr>
              <a:t>Renderer</a:t>
            </a:r>
            <a:r>
              <a:rPr lang="en-US" altLang="zh-TW" sz="2000"/>
              <a:t> process renders web pages, deals with HTML, Javascript, new one for each website opened</a:t>
            </a:r>
          </a:p>
          <a:p>
            <a:pPr lvl="2"/>
            <a:r>
              <a:rPr lang="en-US" altLang="zh-TW"/>
              <a:t>Runs in </a:t>
            </a:r>
            <a:r>
              <a:rPr lang="en-US" altLang="zh-TW" b="1">
                <a:solidFill>
                  <a:srgbClr val="3366FF"/>
                </a:solidFill>
              </a:rPr>
              <a:t>sandbox</a:t>
            </a:r>
            <a:r>
              <a:rPr lang="en-US" altLang="zh-TW"/>
              <a:t> restricting disk and network I/O, minimizing effect of security exploits</a:t>
            </a:r>
          </a:p>
          <a:p>
            <a:pPr lvl="1"/>
            <a:r>
              <a:rPr lang="en-US" altLang="zh-TW" sz="2000" b="1">
                <a:solidFill>
                  <a:srgbClr val="3366FF"/>
                </a:solidFill>
              </a:rPr>
              <a:t>Plug-in </a:t>
            </a:r>
            <a:r>
              <a:rPr lang="en-US" altLang="zh-TW" sz="2000"/>
              <a:t>process for each type of plug-in</a:t>
            </a:r>
          </a:p>
          <a:p>
            <a:pPr lvl="1"/>
            <a:endParaRPr lang="en-US" altLang="zh-TW"/>
          </a:p>
          <a:p>
            <a:pPr lvl="1"/>
            <a:endParaRPr lang="en-US" altLang="zh-TW"/>
          </a:p>
          <a:p>
            <a:pPr lvl="1"/>
            <a:endParaRPr lang="en-US" altLang="zh-TW"/>
          </a:p>
        </p:txBody>
      </p:sp>
      <p:pic>
        <p:nvPicPr>
          <p:cNvPr id="28676" name="Picture 1" descr="in-3_2.pdf">
            <a:extLst>
              <a:ext uri="{FF2B5EF4-FFF2-40B4-BE49-F238E27FC236}">
                <a16:creationId xmlns:a16="http://schemas.microsoft.com/office/drawing/2014/main" id="{C0424189-65C3-3D69-8236-F5F0E5C7C9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863" y="5780088"/>
            <a:ext cx="11730037" cy="189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66B55A2F-1D44-64C4-50E0-2C23273DF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788" y="369888"/>
            <a:ext cx="11555412" cy="768350"/>
          </a:xfrm>
        </p:spPr>
        <p:txBody>
          <a:bodyPr/>
          <a:lstStyle/>
          <a:p>
            <a:r>
              <a:rPr lang="en-US" altLang="zh-TW"/>
              <a:t>Interprocess Communication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676A5979-DEAA-11C9-32F1-10EAAD540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9675" y="1644650"/>
            <a:ext cx="11268075" cy="6662738"/>
          </a:xfrm>
        </p:spPr>
        <p:txBody>
          <a:bodyPr/>
          <a:lstStyle/>
          <a:p>
            <a:r>
              <a:rPr lang="en-US" altLang="zh-TW" sz="2400"/>
              <a:t>Processes within a system may be </a:t>
            </a:r>
            <a:r>
              <a:rPr lang="en-US" altLang="zh-TW" sz="2400" b="1" i="1"/>
              <a:t>independent</a:t>
            </a:r>
            <a:r>
              <a:rPr lang="en-US" altLang="zh-TW" sz="2400" b="1"/>
              <a:t> </a:t>
            </a:r>
            <a:r>
              <a:rPr lang="en-US" altLang="zh-TW" sz="2400"/>
              <a:t>or </a:t>
            </a:r>
            <a:r>
              <a:rPr lang="en-US" altLang="zh-TW" sz="2400" b="1" i="1"/>
              <a:t>cooperating</a:t>
            </a:r>
          </a:p>
          <a:p>
            <a:r>
              <a:rPr lang="en-US" altLang="zh-TW" sz="2400" b="1" i="1"/>
              <a:t>Independent</a:t>
            </a:r>
            <a:r>
              <a:rPr lang="en-US" altLang="zh-TW" sz="2400"/>
              <a:t> process cannot affect or be affected by the execution of another process</a:t>
            </a:r>
            <a:endParaRPr lang="en-US" altLang="zh-TW" sz="2400" b="1" i="1"/>
          </a:p>
          <a:p>
            <a:r>
              <a:rPr lang="en-US" altLang="zh-TW" sz="2400" b="1" i="1"/>
              <a:t>Cooperating</a:t>
            </a:r>
            <a:r>
              <a:rPr lang="en-US" altLang="zh-TW" sz="2400"/>
              <a:t> process can affect or be affected by other processes, including sharing data</a:t>
            </a:r>
          </a:p>
          <a:p>
            <a:r>
              <a:rPr lang="en-US" altLang="zh-TW" sz="2400"/>
              <a:t>Reasons for cooperating processes:</a:t>
            </a:r>
          </a:p>
          <a:p>
            <a:pPr lvl="1"/>
            <a:r>
              <a:rPr lang="en-US" altLang="zh-TW" sz="2000"/>
              <a:t>Information sharing</a:t>
            </a:r>
          </a:p>
          <a:p>
            <a:pPr lvl="1"/>
            <a:r>
              <a:rPr lang="en-US" altLang="zh-TW" sz="2000"/>
              <a:t>Computation speedup</a:t>
            </a:r>
          </a:p>
          <a:p>
            <a:pPr lvl="1"/>
            <a:r>
              <a:rPr lang="en-US" altLang="zh-TW" sz="2000"/>
              <a:t>Modularity</a:t>
            </a:r>
          </a:p>
          <a:p>
            <a:pPr lvl="1"/>
            <a:r>
              <a:rPr lang="en-US" altLang="zh-TW" sz="2000"/>
              <a:t>Convenience	</a:t>
            </a:r>
          </a:p>
          <a:p>
            <a:r>
              <a:rPr lang="en-US" altLang="zh-TW" sz="2400"/>
              <a:t>Cooperating processes need </a:t>
            </a:r>
            <a:r>
              <a:rPr lang="en-US" altLang="zh-TW" sz="2400" b="1">
                <a:solidFill>
                  <a:srgbClr val="3366FF"/>
                </a:solidFill>
              </a:rPr>
              <a:t>interprocess communication </a:t>
            </a:r>
            <a:r>
              <a:rPr lang="en-US" altLang="zh-TW" sz="2400"/>
              <a:t>(</a:t>
            </a:r>
            <a:r>
              <a:rPr lang="en-US" altLang="zh-TW" sz="2400" b="1">
                <a:solidFill>
                  <a:srgbClr val="3366FF"/>
                </a:solidFill>
              </a:rPr>
              <a:t>IPC</a:t>
            </a:r>
            <a:r>
              <a:rPr lang="en-US" altLang="zh-TW" sz="2400"/>
              <a:t>)</a:t>
            </a:r>
          </a:p>
          <a:p>
            <a:r>
              <a:rPr lang="en-US" altLang="zh-TW" sz="2400"/>
              <a:t>Two models of IPC</a:t>
            </a:r>
          </a:p>
          <a:p>
            <a:pPr lvl="1"/>
            <a:r>
              <a:rPr lang="en-US" altLang="zh-TW" sz="2000" b="1">
                <a:solidFill>
                  <a:srgbClr val="3366FF"/>
                </a:solidFill>
              </a:rPr>
              <a:t>Shared memory</a:t>
            </a:r>
          </a:p>
          <a:p>
            <a:pPr lvl="1"/>
            <a:r>
              <a:rPr lang="en-US" altLang="zh-TW" sz="2000" b="1">
                <a:solidFill>
                  <a:srgbClr val="3366FF"/>
                </a:solidFill>
              </a:rPr>
              <a:t>Message passing</a:t>
            </a:r>
          </a:p>
          <a:p>
            <a:pPr lvl="1"/>
            <a:endParaRPr lang="en-US" altLang="zh-TW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38CAA722-9D32-6457-5C77-C3526C5C27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Communications Models </a:t>
            </a:r>
          </a:p>
        </p:txBody>
      </p:sp>
      <p:pic>
        <p:nvPicPr>
          <p:cNvPr id="30723" name="Picture 1" descr="3_12.pdf">
            <a:extLst>
              <a:ext uri="{FF2B5EF4-FFF2-40B4-BE49-F238E27FC236}">
                <a16:creationId xmlns:a16="http://schemas.microsoft.com/office/drawing/2014/main" id="{B842D943-5486-5E65-510C-6D37527AEC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6138" y="1927225"/>
            <a:ext cx="9653587" cy="608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09C74536-C390-4F32-9121-2272FB1FFF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3950" y="369888"/>
            <a:ext cx="11906250" cy="768350"/>
          </a:xfrm>
        </p:spPr>
        <p:txBody>
          <a:bodyPr/>
          <a:lstStyle/>
          <a:p>
            <a:pPr eaLnBrk="1" hangingPunct="1"/>
            <a:r>
              <a:rPr lang="en-US" altLang="zh-TW"/>
              <a:t>Producer-Consumer Problem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0A668AF8-D915-CCDA-A46E-B9C0825D9A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41425" y="1881188"/>
            <a:ext cx="11090275" cy="5997575"/>
          </a:xfrm>
        </p:spPr>
        <p:txBody>
          <a:bodyPr/>
          <a:lstStyle/>
          <a:p>
            <a:r>
              <a:rPr lang="en-US" altLang="zh-TW" sz="2800"/>
              <a:t>Paradigm for cooperating processes, </a:t>
            </a:r>
            <a:r>
              <a:rPr lang="en-US" altLang="zh-TW" sz="2800" i="1"/>
              <a:t>producer</a:t>
            </a:r>
            <a:r>
              <a:rPr lang="en-US" altLang="zh-TW" sz="2800"/>
              <a:t> process produces information that is consumed by a </a:t>
            </a:r>
            <a:r>
              <a:rPr lang="en-US" altLang="zh-TW" sz="2800" i="1"/>
              <a:t>consumer</a:t>
            </a:r>
            <a:r>
              <a:rPr lang="en-US" altLang="zh-TW" sz="2800"/>
              <a:t> process</a:t>
            </a:r>
          </a:p>
          <a:p>
            <a:pPr lvl="1"/>
            <a:r>
              <a:rPr lang="en-US" altLang="zh-TW" sz="2400" b="1">
                <a:solidFill>
                  <a:srgbClr val="3366FF"/>
                </a:solidFill>
              </a:rPr>
              <a:t>unbounded-buffer </a:t>
            </a:r>
            <a:r>
              <a:rPr lang="en-US" altLang="zh-TW" sz="2400"/>
              <a:t>places no practical limit on the size of the buffer</a:t>
            </a:r>
          </a:p>
          <a:p>
            <a:pPr lvl="1"/>
            <a:r>
              <a:rPr lang="en-US" altLang="zh-TW" sz="2400" b="1">
                <a:solidFill>
                  <a:srgbClr val="3366FF"/>
                </a:solidFill>
              </a:rPr>
              <a:t>bounded-buffer </a:t>
            </a:r>
            <a:r>
              <a:rPr lang="en-US" altLang="zh-TW" sz="2400"/>
              <a:t>assumes that there is a fixed buffer size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17DC4651-8EA5-D2BB-195F-583C35793B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76350" y="560388"/>
            <a:ext cx="12111038" cy="609600"/>
          </a:xfrm>
        </p:spPr>
        <p:txBody>
          <a:bodyPr/>
          <a:lstStyle/>
          <a:p>
            <a:pPr eaLnBrk="1" hangingPunct="1"/>
            <a:r>
              <a:rPr lang="en-US" altLang="zh-TW" sz="4000"/>
              <a:t>Bounded-Buffer – Shared-Memory Solution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71952279-8C48-BE6D-B09C-78BACDDC1B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75" y="2024063"/>
            <a:ext cx="10696575" cy="6267450"/>
          </a:xfrm>
        </p:spPr>
        <p:txBody>
          <a:bodyPr/>
          <a:lstStyle/>
          <a:p>
            <a:r>
              <a:rPr lang="en-US" altLang="zh-TW"/>
              <a:t>Shared data</a:t>
            </a:r>
          </a:p>
          <a:p>
            <a:pPr marL="2284413" lvl="3">
              <a:buFontTx/>
              <a:buNone/>
            </a:pPr>
            <a:r>
              <a:rPr lang="en-US" altLang="zh-TW" sz="2900">
                <a:latin typeface="Courier New" panose="02070309020205020404" pitchFamily="49" charset="0"/>
                <a:cs typeface="Courier New" panose="02070309020205020404" pitchFamily="49" charset="0"/>
              </a:rPr>
              <a:t>#define BUFFER_SIZE 10</a:t>
            </a:r>
          </a:p>
          <a:p>
            <a:pPr marL="2284413" lvl="3">
              <a:buFontTx/>
              <a:buNone/>
            </a:pPr>
            <a:r>
              <a:rPr lang="en-US" altLang="zh-TW" sz="2900">
                <a:latin typeface="Courier New" panose="02070309020205020404" pitchFamily="49" charset="0"/>
                <a:cs typeface="Courier New" panose="02070309020205020404" pitchFamily="49" charset="0"/>
              </a:rPr>
              <a:t>typedef struct {</a:t>
            </a:r>
          </a:p>
          <a:p>
            <a:pPr marL="2284413" lvl="3">
              <a:buFontTx/>
              <a:buNone/>
            </a:pPr>
            <a:r>
              <a:rPr lang="en-US" altLang="zh-TW" sz="2900">
                <a:latin typeface="Courier New" panose="02070309020205020404" pitchFamily="49" charset="0"/>
                <a:cs typeface="Courier New" panose="02070309020205020404" pitchFamily="49" charset="0"/>
              </a:rPr>
              <a:t>	. . .</a:t>
            </a:r>
          </a:p>
          <a:p>
            <a:pPr marL="2284413" lvl="3">
              <a:buFontTx/>
              <a:buNone/>
            </a:pPr>
            <a:r>
              <a:rPr lang="en-US" altLang="zh-TW" sz="2900">
                <a:latin typeface="Courier New" panose="02070309020205020404" pitchFamily="49" charset="0"/>
                <a:cs typeface="Courier New" panose="02070309020205020404" pitchFamily="49" charset="0"/>
              </a:rPr>
              <a:t>} item;</a:t>
            </a:r>
          </a:p>
          <a:p>
            <a:pPr marL="2284413" lvl="3">
              <a:buFontTx/>
              <a:buNone/>
            </a:pPr>
            <a:endParaRPr lang="en-US" altLang="zh-TW" sz="11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4413" lvl="3">
              <a:buFontTx/>
              <a:buNone/>
            </a:pPr>
            <a:r>
              <a:rPr lang="en-US" altLang="zh-TW" sz="2900">
                <a:latin typeface="Courier New" panose="02070309020205020404" pitchFamily="49" charset="0"/>
                <a:cs typeface="Courier New" panose="02070309020205020404" pitchFamily="49" charset="0"/>
              </a:rPr>
              <a:t>item buffer[BUFFER_SIZE];</a:t>
            </a:r>
          </a:p>
          <a:p>
            <a:pPr marL="2284413" lvl="3">
              <a:buFontTx/>
              <a:buNone/>
            </a:pPr>
            <a:r>
              <a:rPr lang="en-US" altLang="zh-TW" sz="2900">
                <a:latin typeface="Courier New" panose="02070309020205020404" pitchFamily="49" charset="0"/>
                <a:cs typeface="Courier New" panose="02070309020205020404" pitchFamily="49" charset="0"/>
              </a:rPr>
              <a:t>int in = 0;</a:t>
            </a:r>
          </a:p>
          <a:p>
            <a:pPr marL="2284413" lvl="3">
              <a:buFontTx/>
              <a:buNone/>
            </a:pPr>
            <a:r>
              <a:rPr lang="en-US" altLang="zh-TW" sz="2900">
                <a:latin typeface="Courier New" panose="02070309020205020404" pitchFamily="49" charset="0"/>
                <a:cs typeface="Courier New" panose="02070309020205020404" pitchFamily="49" charset="0"/>
              </a:rPr>
              <a:t>int out = 0;</a:t>
            </a:r>
          </a:p>
          <a:p>
            <a:pPr marL="2284413" lvl="3">
              <a:buFontTx/>
              <a:buNone/>
            </a:pPr>
            <a:endParaRPr lang="en-US" altLang="zh-TW" sz="1100"/>
          </a:p>
          <a:p>
            <a:r>
              <a:rPr lang="en-US" altLang="zh-TW"/>
              <a:t>Solution is correct, but can only use BUFFER_SIZE-1 elements</a:t>
            </a:r>
          </a:p>
          <a:p>
            <a:pPr marL="2284413" lvl="3">
              <a:buFontTx/>
              <a:buNone/>
            </a:pPr>
            <a:endParaRPr lang="en-US" altLang="zh-TW" sz="2900" b="1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F716EA03-DA3B-BB66-4CDE-DC038312BC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76400" y="369888"/>
            <a:ext cx="11353800" cy="768350"/>
          </a:xfrm>
        </p:spPr>
        <p:txBody>
          <a:bodyPr/>
          <a:lstStyle/>
          <a:p>
            <a:pPr eaLnBrk="1" hangingPunct="1"/>
            <a:r>
              <a:rPr lang="en-US" altLang="zh-TW"/>
              <a:t>Bounded-Buffer – Producer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0FC46AC3-48AA-A539-83B2-18C2DD1F7C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60613" y="1773238"/>
            <a:ext cx="11026775" cy="5976937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endParaRPr lang="en-US" altLang="zh-TW" sz="2800">
              <a:latin typeface="Monaco" pitchFamily="-84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zh-TW" sz="2800">
                <a:latin typeface="Courier New" panose="02070309020205020404" pitchFamily="49" charset="0"/>
                <a:cs typeface="Courier New" panose="02070309020205020404" pitchFamily="49" charset="0"/>
              </a:rPr>
              <a:t>item next produced; </a:t>
            </a:r>
          </a:p>
          <a:p>
            <a:pPr>
              <a:buFont typeface="Monotype Sorts" pitchFamily="-84" charset="2"/>
              <a:buNone/>
            </a:pPr>
            <a:r>
              <a:rPr lang="en-US" altLang="zh-TW" sz="2800">
                <a:latin typeface="Courier New" panose="02070309020205020404" pitchFamily="49" charset="0"/>
                <a:cs typeface="Courier New" panose="02070309020205020404" pitchFamily="49" charset="0"/>
              </a:rPr>
              <a:t>while (true) { </a:t>
            </a:r>
          </a:p>
          <a:p>
            <a:pPr>
              <a:buFont typeface="Monotype Sorts" pitchFamily="-84" charset="2"/>
              <a:buNone/>
            </a:pPr>
            <a:r>
              <a:rPr lang="en-US" altLang="zh-TW" sz="2800">
                <a:latin typeface="Courier New" panose="02070309020205020404" pitchFamily="49" charset="0"/>
                <a:cs typeface="Courier New" panose="02070309020205020404" pitchFamily="49" charset="0"/>
              </a:rPr>
              <a:t>	/* produce an item in next produced */ </a:t>
            </a:r>
          </a:p>
          <a:p>
            <a:pPr>
              <a:buFont typeface="Monotype Sorts" pitchFamily="-84" charset="2"/>
              <a:buNone/>
            </a:pPr>
            <a:r>
              <a:rPr lang="en-US" altLang="zh-TW" sz="2800">
                <a:latin typeface="Courier New" panose="02070309020205020404" pitchFamily="49" charset="0"/>
                <a:cs typeface="Courier New" panose="02070309020205020404" pitchFamily="49" charset="0"/>
              </a:rPr>
              <a:t>	while (((in + 1) % BUFFER SIZE) == out) </a:t>
            </a:r>
          </a:p>
          <a:p>
            <a:pPr>
              <a:buFont typeface="Monotype Sorts" pitchFamily="-84" charset="2"/>
              <a:buNone/>
            </a:pPr>
            <a:r>
              <a:rPr lang="en-US" altLang="zh-TW" sz="2800">
                <a:latin typeface="Courier New" panose="02070309020205020404" pitchFamily="49" charset="0"/>
                <a:cs typeface="Courier New" panose="02070309020205020404" pitchFamily="49" charset="0"/>
              </a:rPr>
              <a:t>		; /* do nothing */ </a:t>
            </a:r>
          </a:p>
          <a:p>
            <a:pPr>
              <a:buFont typeface="Monotype Sorts" pitchFamily="-84" charset="2"/>
              <a:buNone/>
            </a:pPr>
            <a:r>
              <a:rPr lang="en-US" altLang="zh-TW" sz="2800">
                <a:latin typeface="Courier New" panose="02070309020205020404" pitchFamily="49" charset="0"/>
                <a:cs typeface="Courier New" panose="02070309020205020404" pitchFamily="49" charset="0"/>
              </a:rPr>
              <a:t>	buffer[in] = next produced; </a:t>
            </a:r>
          </a:p>
          <a:p>
            <a:pPr>
              <a:buFont typeface="Monotype Sorts" pitchFamily="-84" charset="2"/>
              <a:buNone/>
            </a:pPr>
            <a:r>
              <a:rPr lang="en-US" altLang="zh-TW" sz="2800">
                <a:latin typeface="Courier New" panose="02070309020205020404" pitchFamily="49" charset="0"/>
                <a:cs typeface="Courier New" panose="02070309020205020404" pitchFamily="49" charset="0"/>
              </a:rPr>
              <a:t>	in = (in + 1) % BUFFER SIZE; </a:t>
            </a:r>
          </a:p>
          <a:p>
            <a:pPr>
              <a:buFont typeface="Monotype Sorts" pitchFamily="-84" charset="2"/>
              <a:buNone/>
            </a:pPr>
            <a:r>
              <a:rPr lang="en-US" altLang="zh-TW" sz="280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>
              <a:buFont typeface="Monotype Sorts" pitchFamily="-84" charset="2"/>
              <a:buNone/>
            </a:pPr>
            <a:endParaRPr lang="en-US" altLang="zh-TW" sz="2800">
              <a:latin typeface="Monaco" pitchFamily="-84" charset="0"/>
            </a:endParaRPr>
          </a:p>
          <a:p>
            <a:pPr>
              <a:buFont typeface="Monotype Sorts" pitchFamily="-84" charset="2"/>
              <a:buNone/>
            </a:pPr>
            <a:endParaRPr lang="en-US" altLang="zh-TW" sz="2800"/>
          </a:p>
          <a:p>
            <a:pPr>
              <a:buFont typeface="Monotype Sorts" pitchFamily="-84" charset="2"/>
              <a:buNone/>
            </a:pPr>
            <a:r>
              <a:rPr lang="en-US" altLang="zh-TW" sz="2000"/>
              <a:t>	</a:t>
            </a:r>
          </a:p>
          <a:p>
            <a:pPr marL="10240963" lvl="4">
              <a:buFontTx/>
              <a:buNone/>
            </a:pPr>
            <a:endParaRPr lang="en-US" altLang="zh-TW" sz="16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E3227CAD-36E7-B369-8802-59BCEDE742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Bounded Buffer – Consumer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C3317FB1-D99E-25DB-6DA6-947BB84C6A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06650" y="2065338"/>
            <a:ext cx="11309350" cy="5881687"/>
          </a:xfrm>
        </p:spPr>
        <p:txBody>
          <a:bodyPr/>
          <a:lstStyle/>
          <a:p>
            <a:pPr marL="0" indent="0">
              <a:buFont typeface="Monotype Sorts" pitchFamily="-84" charset="2"/>
              <a:buNone/>
            </a:pPr>
            <a:r>
              <a:rPr lang="en-US" altLang="zh-TW" sz="2800">
                <a:latin typeface="Courier New" panose="02070309020205020404" pitchFamily="49" charset="0"/>
                <a:cs typeface="Courier New" panose="02070309020205020404" pitchFamily="49" charset="0"/>
              </a:rPr>
              <a:t>item next consumed;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zh-TW" sz="2800">
                <a:latin typeface="Courier New" panose="02070309020205020404" pitchFamily="49" charset="0"/>
                <a:cs typeface="Courier New" panose="02070309020205020404" pitchFamily="49" charset="0"/>
              </a:rPr>
              <a:t>while (true) {</a:t>
            </a:r>
            <a:br>
              <a:rPr lang="en-US" altLang="zh-TW" sz="28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TW" sz="2800">
                <a:latin typeface="Courier New" panose="02070309020205020404" pitchFamily="49" charset="0"/>
                <a:cs typeface="Courier New" panose="02070309020205020404" pitchFamily="49" charset="0"/>
              </a:rPr>
              <a:t>	while (in == out)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zh-TW" sz="2800">
                <a:latin typeface="Courier New" panose="02070309020205020404" pitchFamily="49" charset="0"/>
                <a:cs typeface="Courier New" panose="02070309020205020404" pitchFamily="49" charset="0"/>
              </a:rPr>
              <a:t>		; /* do nothing */</a:t>
            </a:r>
            <a:br>
              <a:rPr lang="en-US" altLang="zh-TW" sz="28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TW" sz="2800">
                <a:latin typeface="Courier New" panose="02070309020205020404" pitchFamily="49" charset="0"/>
                <a:cs typeface="Courier New" panose="02070309020205020404" pitchFamily="49" charset="0"/>
              </a:rPr>
              <a:t>	next consumed = buffer[out];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zh-TW" sz="2800">
                <a:latin typeface="Courier New" panose="02070309020205020404" pitchFamily="49" charset="0"/>
                <a:cs typeface="Courier New" panose="02070309020205020404" pitchFamily="49" charset="0"/>
              </a:rPr>
              <a:t>	out = (out + 1) % BUFFER SIZE;</a:t>
            </a:r>
            <a:br>
              <a:rPr lang="en-US" altLang="zh-TW" sz="280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altLang="zh-TW" sz="28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Monotype Sorts" pitchFamily="-84" charset="2"/>
              <a:buNone/>
            </a:pPr>
            <a:r>
              <a:rPr lang="en-US" altLang="zh-TW" sz="2800">
                <a:latin typeface="Courier New" panose="02070309020205020404" pitchFamily="49" charset="0"/>
                <a:cs typeface="Courier New" panose="02070309020205020404" pitchFamily="49" charset="0"/>
              </a:rPr>
              <a:t>	/* consume the item in next consumed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zh-TW" sz="280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5315A308-16B1-3A94-B73F-02AA3EBC1F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2338" y="395288"/>
            <a:ext cx="12344400" cy="768350"/>
          </a:xfrm>
        </p:spPr>
        <p:txBody>
          <a:bodyPr/>
          <a:lstStyle/>
          <a:p>
            <a:pPr eaLnBrk="1" hangingPunct="1"/>
            <a:r>
              <a:rPr lang="en-US" altLang="zh-TW" sz="3600"/>
              <a:t>Interprocess Communication – Message Passing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8CE46EB4-8027-9E7F-667F-551CD74D4A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57288" y="1370013"/>
            <a:ext cx="12088812" cy="709453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sz="2400"/>
              <a:t>Mechanism for processes to communicate and to synchronize their actions</a:t>
            </a:r>
          </a:p>
          <a:p>
            <a:pPr>
              <a:lnSpc>
                <a:spcPct val="90000"/>
              </a:lnSpc>
            </a:pPr>
            <a:endParaRPr lang="en-US" altLang="zh-TW" sz="2400"/>
          </a:p>
          <a:p>
            <a:pPr>
              <a:lnSpc>
                <a:spcPct val="90000"/>
              </a:lnSpc>
            </a:pPr>
            <a:r>
              <a:rPr lang="en-US" altLang="zh-TW" sz="2400"/>
              <a:t>Message system – processes communicate with each other without resorting to shared variables</a:t>
            </a:r>
          </a:p>
          <a:p>
            <a:pPr>
              <a:lnSpc>
                <a:spcPct val="90000"/>
              </a:lnSpc>
            </a:pPr>
            <a:endParaRPr lang="en-US" altLang="zh-TW" sz="2400"/>
          </a:p>
          <a:p>
            <a:pPr>
              <a:lnSpc>
                <a:spcPct val="90000"/>
              </a:lnSpc>
            </a:pPr>
            <a:r>
              <a:rPr lang="en-US" altLang="zh-TW" sz="2400"/>
              <a:t>IPC facility provides two operations:</a:t>
            </a:r>
          </a:p>
          <a:p>
            <a:pPr lvl="1">
              <a:lnSpc>
                <a:spcPct val="90000"/>
              </a:lnSpc>
            </a:pPr>
            <a:r>
              <a:rPr lang="en-US" altLang="zh-TW" sz="2000" b="1">
                <a:latin typeface="Courier New" panose="02070309020205020404" pitchFamily="49" charset="0"/>
                <a:cs typeface="Courier New" panose="02070309020205020404" pitchFamily="49" charset="0"/>
              </a:rPr>
              <a:t>send</a:t>
            </a:r>
            <a:r>
              <a:rPr lang="en-US" altLang="zh-TW" sz="2000"/>
              <a:t>(</a:t>
            </a:r>
            <a:r>
              <a:rPr lang="en-US" altLang="zh-TW" sz="2000" i="1"/>
              <a:t>message</a:t>
            </a:r>
            <a:r>
              <a:rPr lang="en-US" altLang="zh-TW" sz="2000"/>
              <a:t>) – message size fixed or variable </a:t>
            </a:r>
          </a:p>
          <a:p>
            <a:pPr lvl="1">
              <a:lnSpc>
                <a:spcPct val="90000"/>
              </a:lnSpc>
            </a:pPr>
            <a:r>
              <a:rPr lang="en-US" altLang="zh-TW" sz="2000" b="1">
                <a:latin typeface="Courier New" panose="02070309020205020404" pitchFamily="49" charset="0"/>
                <a:cs typeface="Courier New" panose="02070309020205020404" pitchFamily="49" charset="0"/>
              </a:rPr>
              <a:t>receive</a:t>
            </a:r>
            <a:r>
              <a:rPr lang="en-US" altLang="zh-TW" sz="2000"/>
              <a:t>(</a:t>
            </a:r>
            <a:r>
              <a:rPr lang="en-US" altLang="zh-TW" sz="2000" i="1"/>
              <a:t>message</a:t>
            </a:r>
            <a:r>
              <a:rPr lang="en-US" altLang="zh-TW" sz="2000"/>
              <a:t>)</a:t>
            </a:r>
          </a:p>
          <a:p>
            <a:pPr lvl="1">
              <a:lnSpc>
                <a:spcPct val="90000"/>
              </a:lnSpc>
            </a:pPr>
            <a:endParaRPr lang="en-US" altLang="zh-TW" sz="2400"/>
          </a:p>
          <a:p>
            <a:pPr>
              <a:lnSpc>
                <a:spcPct val="90000"/>
              </a:lnSpc>
            </a:pPr>
            <a:r>
              <a:rPr lang="en-US" altLang="zh-TW" sz="2400"/>
              <a:t>If </a:t>
            </a:r>
            <a:r>
              <a:rPr lang="en-US" altLang="zh-TW" sz="2400" i="1"/>
              <a:t>P</a:t>
            </a:r>
            <a:r>
              <a:rPr lang="en-US" altLang="zh-TW" sz="2400"/>
              <a:t> and </a:t>
            </a:r>
            <a:r>
              <a:rPr lang="en-US" altLang="zh-TW" sz="2400" i="1"/>
              <a:t>Q</a:t>
            </a:r>
            <a:r>
              <a:rPr lang="en-US" altLang="zh-TW" sz="2400"/>
              <a:t> wish to communicate, they need to</a:t>
            </a:r>
          </a:p>
          <a:p>
            <a:pPr lvl="1">
              <a:lnSpc>
                <a:spcPct val="90000"/>
              </a:lnSpc>
            </a:pPr>
            <a:r>
              <a:rPr lang="en-US" altLang="zh-TW" sz="2000"/>
              <a:t>establish a </a:t>
            </a:r>
            <a:r>
              <a:rPr lang="en-US" altLang="zh-TW" sz="2000" b="1" i="1"/>
              <a:t>communication</a:t>
            </a:r>
            <a:r>
              <a:rPr lang="en-US" altLang="zh-TW" sz="2000" b="1"/>
              <a:t> </a:t>
            </a:r>
            <a:r>
              <a:rPr lang="en-US" altLang="zh-TW" sz="2000" b="1" i="1"/>
              <a:t>link</a:t>
            </a:r>
            <a:r>
              <a:rPr lang="en-US" altLang="zh-TW" sz="2000" b="1"/>
              <a:t> </a:t>
            </a:r>
            <a:r>
              <a:rPr lang="en-US" altLang="zh-TW" sz="2000"/>
              <a:t>between them</a:t>
            </a:r>
          </a:p>
          <a:p>
            <a:pPr lvl="1">
              <a:lnSpc>
                <a:spcPct val="90000"/>
              </a:lnSpc>
            </a:pPr>
            <a:r>
              <a:rPr lang="en-US" altLang="zh-TW" sz="2000"/>
              <a:t>exchange messages via send/receive</a:t>
            </a:r>
          </a:p>
          <a:p>
            <a:pPr lvl="1">
              <a:lnSpc>
                <a:spcPct val="90000"/>
              </a:lnSpc>
            </a:pPr>
            <a:endParaRPr lang="en-US" altLang="zh-TW" sz="2400"/>
          </a:p>
          <a:p>
            <a:pPr>
              <a:lnSpc>
                <a:spcPct val="90000"/>
              </a:lnSpc>
            </a:pPr>
            <a:r>
              <a:rPr lang="en-US" altLang="zh-TW" sz="2400"/>
              <a:t>Implementation of communication link</a:t>
            </a:r>
          </a:p>
          <a:p>
            <a:pPr lvl="1">
              <a:lnSpc>
                <a:spcPct val="90000"/>
              </a:lnSpc>
            </a:pPr>
            <a:r>
              <a:rPr lang="en-US" altLang="zh-TW" sz="2000"/>
              <a:t>physical (e.g., shared memory, hardware bus)</a:t>
            </a:r>
          </a:p>
          <a:p>
            <a:pPr lvl="1">
              <a:lnSpc>
                <a:spcPct val="90000"/>
              </a:lnSpc>
            </a:pPr>
            <a:r>
              <a:rPr lang="en-US" altLang="zh-TW" sz="2000"/>
              <a:t>logical (e.g., direct or indirect, synchronous or asynchronous, automatic or explicit buffering)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87D0A73C-170B-A40B-713C-DC51957B12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04963" y="369888"/>
            <a:ext cx="11425237" cy="768350"/>
          </a:xfrm>
        </p:spPr>
        <p:txBody>
          <a:bodyPr/>
          <a:lstStyle/>
          <a:p>
            <a:pPr eaLnBrk="1" hangingPunct="1"/>
            <a:r>
              <a:rPr lang="en-US" altLang="zh-TW"/>
              <a:t>Implementation Questions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1191B9D9-F6C2-04FE-76D9-EBD64E5866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499850" cy="6040438"/>
          </a:xfrm>
        </p:spPr>
        <p:txBody>
          <a:bodyPr/>
          <a:lstStyle/>
          <a:p>
            <a:r>
              <a:rPr lang="en-US" altLang="zh-TW" sz="2400"/>
              <a:t>How are links established?</a:t>
            </a:r>
          </a:p>
          <a:p>
            <a:endParaRPr lang="en-US" altLang="zh-TW" sz="2400"/>
          </a:p>
          <a:p>
            <a:r>
              <a:rPr lang="en-US" altLang="zh-TW" sz="2400"/>
              <a:t>Can a link be associated with more than two processes?</a:t>
            </a:r>
          </a:p>
          <a:p>
            <a:endParaRPr lang="en-US" altLang="zh-TW" sz="2400"/>
          </a:p>
          <a:p>
            <a:r>
              <a:rPr lang="en-US" altLang="zh-TW" sz="2400"/>
              <a:t>How many links can there be between every pair of communicating processes?</a:t>
            </a:r>
          </a:p>
          <a:p>
            <a:endParaRPr lang="en-US" altLang="zh-TW" sz="2400"/>
          </a:p>
          <a:p>
            <a:r>
              <a:rPr lang="en-US" altLang="zh-TW" sz="2400"/>
              <a:t>What is the capacity of a link?</a:t>
            </a:r>
          </a:p>
          <a:p>
            <a:endParaRPr lang="en-US" altLang="zh-TW" sz="2400"/>
          </a:p>
          <a:p>
            <a:r>
              <a:rPr lang="en-US" altLang="zh-TW" sz="2400"/>
              <a:t>Is the size of a message that the link can accommodate fixed or variable?</a:t>
            </a:r>
          </a:p>
          <a:p>
            <a:endParaRPr lang="en-US" altLang="zh-TW" sz="2400"/>
          </a:p>
          <a:p>
            <a:r>
              <a:rPr lang="en-US" altLang="zh-TW" sz="2400"/>
              <a:t>Is a link unidirectional or bi-directional?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C6AED6FC-99E5-016E-5BD3-710D343138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Direct Communication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162FE0B0-21EF-52E1-356A-06C860A287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453813" cy="6040438"/>
          </a:xfrm>
        </p:spPr>
        <p:txBody>
          <a:bodyPr/>
          <a:lstStyle/>
          <a:p>
            <a:r>
              <a:rPr lang="en-US" altLang="zh-TW" sz="2800"/>
              <a:t>Processes must name each other explicitly</a:t>
            </a:r>
          </a:p>
          <a:p>
            <a:pPr lvl="1"/>
            <a:r>
              <a:rPr lang="en-US" altLang="zh-TW" sz="2400" b="1">
                <a:latin typeface="Courier New" panose="02070309020205020404" pitchFamily="49" charset="0"/>
                <a:cs typeface="Courier New" panose="02070309020205020404" pitchFamily="49" charset="0"/>
              </a:rPr>
              <a:t>send</a:t>
            </a:r>
            <a:r>
              <a:rPr lang="en-US" altLang="zh-TW" sz="2400"/>
              <a:t> (</a:t>
            </a:r>
            <a:r>
              <a:rPr lang="en-US" altLang="zh-TW" sz="2400" i="1"/>
              <a:t>P, message</a:t>
            </a:r>
            <a:r>
              <a:rPr lang="en-US" altLang="zh-TW" sz="2400"/>
              <a:t>) – send a message to process P</a:t>
            </a:r>
          </a:p>
          <a:p>
            <a:pPr lvl="1"/>
            <a:r>
              <a:rPr lang="en-US" altLang="zh-TW" sz="2400" b="1">
                <a:latin typeface="Courier New" panose="02070309020205020404" pitchFamily="49" charset="0"/>
                <a:cs typeface="Courier New" panose="02070309020205020404" pitchFamily="49" charset="0"/>
              </a:rPr>
              <a:t>receive</a:t>
            </a:r>
            <a:r>
              <a:rPr lang="en-US" altLang="zh-TW" sz="2400"/>
              <a:t>(</a:t>
            </a:r>
            <a:r>
              <a:rPr lang="en-US" altLang="zh-TW" sz="2400" i="1"/>
              <a:t>Q, message</a:t>
            </a:r>
            <a:r>
              <a:rPr lang="en-US" altLang="zh-TW" sz="2400"/>
              <a:t>) – receive a message from process Q</a:t>
            </a:r>
          </a:p>
          <a:p>
            <a:pPr lvl="1"/>
            <a:endParaRPr lang="en-US" altLang="zh-TW" sz="2800"/>
          </a:p>
          <a:p>
            <a:r>
              <a:rPr lang="en-US" altLang="zh-TW" sz="2800"/>
              <a:t>Properties of communication link</a:t>
            </a:r>
          </a:p>
          <a:p>
            <a:pPr lvl="1"/>
            <a:r>
              <a:rPr lang="en-US" altLang="zh-TW" sz="2400"/>
              <a:t>Links are established automatically</a:t>
            </a:r>
          </a:p>
          <a:p>
            <a:pPr lvl="1"/>
            <a:r>
              <a:rPr lang="en-US" altLang="zh-TW" sz="2400"/>
              <a:t>A link is associated with exactly one pair of communicating processes</a:t>
            </a:r>
          </a:p>
          <a:p>
            <a:pPr lvl="1"/>
            <a:r>
              <a:rPr lang="en-US" altLang="zh-TW" sz="2400"/>
              <a:t>Between each pair there exists exactly one link</a:t>
            </a:r>
          </a:p>
          <a:p>
            <a:pPr lvl="1"/>
            <a:r>
              <a:rPr lang="en-US" altLang="zh-TW" sz="2400"/>
              <a:t>The link may be unidirectional, but is usually bi-directional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63B3E4BB-E8E4-BE08-EE2F-96B8DD92E0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Indirect Communication (1)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6A56CA99-C80F-89E2-FA90-0E72C03A88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62113"/>
            <a:ext cx="11395075" cy="5545137"/>
          </a:xfrm>
        </p:spPr>
        <p:txBody>
          <a:bodyPr/>
          <a:lstStyle/>
          <a:p>
            <a:r>
              <a:rPr lang="en-US" altLang="zh-TW" sz="2800"/>
              <a:t>Messages are directed and received from mailboxes (also referred to as ports)</a:t>
            </a:r>
          </a:p>
          <a:p>
            <a:pPr lvl="1"/>
            <a:r>
              <a:rPr lang="en-US" altLang="zh-TW" sz="2400"/>
              <a:t>Each mailbox has a unique id</a:t>
            </a:r>
          </a:p>
          <a:p>
            <a:pPr lvl="1"/>
            <a:r>
              <a:rPr lang="en-US" altLang="zh-TW" sz="2400"/>
              <a:t>Processes can communicate only if they share a mailbox</a:t>
            </a:r>
          </a:p>
          <a:p>
            <a:pPr lvl="1"/>
            <a:endParaRPr lang="en-US" altLang="zh-TW" sz="2800"/>
          </a:p>
          <a:p>
            <a:r>
              <a:rPr lang="en-US" altLang="zh-TW" sz="2800"/>
              <a:t>Properties of communication link</a:t>
            </a:r>
          </a:p>
          <a:p>
            <a:pPr lvl="1"/>
            <a:r>
              <a:rPr lang="en-US" altLang="zh-TW" sz="2400"/>
              <a:t>Link established only if processes share a common mailbox</a:t>
            </a:r>
          </a:p>
          <a:p>
            <a:pPr lvl="1"/>
            <a:r>
              <a:rPr lang="en-US" altLang="zh-TW" sz="2400"/>
              <a:t>A link may be associated with many processes</a:t>
            </a:r>
          </a:p>
          <a:p>
            <a:pPr lvl="1"/>
            <a:r>
              <a:rPr lang="en-US" altLang="zh-TW" sz="2400"/>
              <a:t>Each pair of processes may share several communication links</a:t>
            </a:r>
          </a:p>
          <a:p>
            <a:pPr lvl="1"/>
            <a:r>
              <a:rPr lang="en-US" altLang="zh-TW" sz="2400"/>
              <a:t>Link may be unidirectional or bi-directional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632A788D-D077-54B1-4B53-37F3B72B43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Indirect Communication (2)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9A903CCA-A125-BE6A-1C6B-E1512A08DB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62113"/>
            <a:ext cx="11371263" cy="5094287"/>
          </a:xfrm>
        </p:spPr>
        <p:txBody>
          <a:bodyPr/>
          <a:lstStyle/>
          <a:p>
            <a:r>
              <a:rPr lang="en-US" altLang="zh-TW" sz="2800"/>
              <a:t>Operations</a:t>
            </a:r>
          </a:p>
          <a:p>
            <a:pPr lvl="1"/>
            <a:r>
              <a:rPr lang="en-US" altLang="zh-TW" sz="2400"/>
              <a:t>create a new mailbox</a:t>
            </a:r>
          </a:p>
          <a:p>
            <a:pPr lvl="1"/>
            <a:r>
              <a:rPr lang="en-US" altLang="zh-TW" sz="2400"/>
              <a:t>send and receive messages through mailbox</a:t>
            </a:r>
          </a:p>
          <a:p>
            <a:pPr lvl="1"/>
            <a:r>
              <a:rPr lang="en-US" altLang="zh-TW" sz="2400"/>
              <a:t>destroy a mailbox</a:t>
            </a:r>
          </a:p>
          <a:p>
            <a:pPr lvl="1"/>
            <a:endParaRPr lang="en-US" altLang="zh-TW" sz="2800"/>
          </a:p>
          <a:p>
            <a:r>
              <a:rPr lang="en-US" altLang="zh-TW" sz="2800"/>
              <a:t>Primitives are defined as</a:t>
            </a:r>
          </a:p>
          <a:p>
            <a:pPr lvl="1"/>
            <a:r>
              <a:rPr lang="en-US" altLang="zh-TW" sz="2400" b="1">
                <a:latin typeface="Courier New" panose="02070309020205020404" pitchFamily="49" charset="0"/>
                <a:cs typeface="Courier New" panose="02070309020205020404" pitchFamily="49" charset="0"/>
              </a:rPr>
              <a:t>send</a:t>
            </a:r>
            <a:r>
              <a:rPr lang="en-US" altLang="zh-TW" sz="2400"/>
              <a:t>(</a:t>
            </a:r>
            <a:r>
              <a:rPr lang="en-US" altLang="zh-TW" sz="2400" i="1"/>
              <a:t>A, message</a:t>
            </a:r>
            <a:r>
              <a:rPr lang="en-US" altLang="zh-TW" sz="2400"/>
              <a:t>) – send a message to mailbox A</a:t>
            </a:r>
          </a:p>
          <a:p>
            <a:pPr lvl="1"/>
            <a:r>
              <a:rPr lang="en-US" altLang="zh-TW" sz="2400" b="1">
                <a:latin typeface="Courier New" panose="02070309020205020404" pitchFamily="49" charset="0"/>
                <a:cs typeface="Courier New" panose="02070309020205020404" pitchFamily="49" charset="0"/>
              </a:rPr>
              <a:t>receive</a:t>
            </a:r>
            <a:r>
              <a:rPr lang="en-US" altLang="zh-TW" sz="2400"/>
              <a:t>(</a:t>
            </a:r>
            <a:r>
              <a:rPr lang="en-US" altLang="zh-TW" sz="2400" i="1"/>
              <a:t>A, message</a:t>
            </a:r>
            <a:r>
              <a:rPr lang="en-US" altLang="zh-TW" sz="2400"/>
              <a:t>) – receive a message from mailbox 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506790FC-2D22-8809-83FE-880962AD96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14450" y="369888"/>
            <a:ext cx="11715750" cy="768350"/>
          </a:xfrm>
        </p:spPr>
        <p:txBody>
          <a:bodyPr/>
          <a:lstStyle/>
          <a:p>
            <a:pPr eaLnBrk="1" hangingPunct="1"/>
            <a:r>
              <a:rPr lang="en-US" altLang="zh-TW"/>
              <a:t>Indirect Communication (3)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4EA318B6-4642-BA09-EDFF-81851EDBB6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542713" cy="6040438"/>
          </a:xfrm>
        </p:spPr>
        <p:txBody>
          <a:bodyPr/>
          <a:lstStyle/>
          <a:p>
            <a:r>
              <a:rPr lang="en-US" altLang="zh-TW" sz="2800"/>
              <a:t>Mailbox sharing</a:t>
            </a:r>
          </a:p>
          <a:p>
            <a:pPr lvl="1"/>
            <a:r>
              <a:rPr lang="en-US" altLang="zh-TW" sz="2400" i="1"/>
              <a:t>P</a:t>
            </a:r>
            <a:r>
              <a:rPr lang="en-US" altLang="zh-TW" sz="2400" i="1" baseline="-25000"/>
              <a:t>1</a:t>
            </a:r>
            <a:r>
              <a:rPr lang="en-US" altLang="zh-TW" sz="2400" i="1"/>
              <a:t>, P</a:t>
            </a:r>
            <a:r>
              <a:rPr lang="en-US" altLang="zh-TW" sz="2400" i="1" baseline="-25000"/>
              <a:t>2</a:t>
            </a:r>
            <a:r>
              <a:rPr lang="en-US" altLang="zh-TW" sz="2400" i="1"/>
              <a:t>,</a:t>
            </a:r>
            <a:r>
              <a:rPr lang="en-US" altLang="zh-TW" sz="2400"/>
              <a:t> and</a:t>
            </a:r>
            <a:r>
              <a:rPr lang="en-US" altLang="zh-TW" sz="2400" i="1"/>
              <a:t> P</a:t>
            </a:r>
            <a:r>
              <a:rPr lang="en-US" altLang="zh-TW" sz="2400" i="1" baseline="-25000"/>
              <a:t>3</a:t>
            </a:r>
            <a:r>
              <a:rPr lang="en-US" altLang="zh-TW" sz="2400"/>
              <a:t> share mailbox A</a:t>
            </a:r>
          </a:p>
          <a:p>
            <a:pPr lvl="1"/>
            <a:r>
              <a:rPr lang="en-US" altLang="zh-TW" sz="2400" i="1"/>
              <a:t>P</a:t>
            </a:r>
            <a:r>
              <a:rPr lang="en-US" altLang="zh-TW" sz="2400" i="1" baseline="-25000"/>
              <a:t>1</a:t>
            </a:r>
            <a:r>
              <a:rPr lang="en-US" altLang="zh-TW" sz="2400"/>
              <a:t>, sends; </a:t>
            </a:r>
            <a:r>
              <a:rPr lang="en-US" altLang="zh-TW" sz="2400" i="1"/>
              <a:t>P</a:t>
            </a:r>
            <a:r>
              <a:rPr lang="en-US" altLang="zh-TW" sz="2400" i="1" baseline="-25000"/>
              <a:t>2</a:t>
            </a:r>
            <a:r>
              <a:rPr lang="en-US" altLang="zh-TW" sz="2400" i="1"/>
              <a:t> </a:t>
            </a:r>
            <a:r>
              <a:rPr lang="en-US" altLang="zh-TW" sz="2400"/>
              <a:t>and</a:t>
            </a:r>
            <a:r>
              <a:rPr lang="en-US" altLang="zh-TW" sz="2400" i="1"/>
              <a:t> P</a:t>
            </a:r>
            <a:r>
              <a:rPr lang="en-US" altLang="zh-TW" sz="2400" i="1" baseline="-25000"/>
              <a:t>3</a:t>
            </a:r>
            <a:r>
              <a:rPr lang="en-US" altLang="zh-TW" sz="2400"/>
              <a:t> receive</a:t>
            </a:r>
          </a:p>
          <a:p>
            <a:pPr lvl="1"/>
            <a:r>
              <a:rPr lang="en-US" altLang="zh-TW" sz="2400"/>
              <a:t>Who gets the message?</a:t>
            </a:r>
          </a:p>
          <a:p>
            <a:pPr lvl="1"/>
            <a:endParaRPr lang="en-US" altLang="zh-TW" sz="2800"/>
          </a:p>
          <a:p>
            <a:r>
              <a:rPr lang="en-US" altLang="zh-TW" sz="2800"/>
              <a:t>Solutions</a:t>
            </a:r>
          </a:p>
          <a:p>
            <a:pPr lvl="1"/>
            <a:r>
              <a:rPr lang="en-US" altLang="zh-TW" sz="2400"/>
              <a:t>Allow a link to be associated with at most two processes</a:t>
            </a:r>
          </a:p>
          <a:p>
            <a:pPr lvl="1"/>
            <a:r>
              <a:rPr lang="en-US" altLang="zh-TW" sz="2400"/>
              <a:t>Allow only one process at a time to execute a receive operation</a:t>
            </a:r>
          </a:p>
          <a:p>
            <a:pPr lvl="1"/>
            <a:r>
              <a:rPr lang="en-US" altLang="zh-TW" sz="2400"/>
              <a:t>Allow the system to select arbitrarily the receiver.  Sender is notified who the receiver was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6C2414E9-6CBD-D60F-820F-8F0635A50B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Synchronization (1)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4FE19BBC-2A50-8420-220E-B7041FF60A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204575" cy="6040438"/>
          </a:xfrm>
        </p:spPr>
        <p:txBody>
          <a:bodyPr/>
          <a:lstStyle/>
          <a:p>
            <a:pPr marL="542925" indent="-542925"/>
            <a:r>
              <a:rPr lang="en-US" altLang="zh-TW" sz="2800"/>
              <a:t>Message passing may be either blocking or non-blocking</a:t>
            </a:r>
          </a:p>
          <a:p>
            <a:pPr marL="542925" indent="-542925"/>
            <a:endParaRPr lang="en-US" altLang="zh-TW" sz="2800"/>
          </a:p>
          <a:p>
            <a:pPr marL="542925" indent="-542925"/>
            <a:r>
              <a:rPr lang="en-US" altLang="zh-TW" sz="2800" b="1">
                <a:solidFill>
                  <a:srgbClr val="3366FF"/>
                </a:solidFill>
              </a:rPr>
              <a:t>Blocking</a:t>
            </a:r>
            <a:r>
              <a:rPr lang="en-US" altLang="zh-TW" sz="2800"/>
              <a:t> is considered </a:t>
            </a:r>
            <a:r>
              <a:rPr lang="en-US" altLang="zh-TW" sz="2800" b="1">
                <a:solidFill>
                  <a:srgbClr val="3366FF"/>
                </a:solidFill>
              </a:rPr>
              <a:t>synchronous</a:t>
            </a:r>
          </a:p>
          <a:p>
            <a:pPr marL="1141413" lvl="1" indent="-488950"/>
            <a:r>
              <a:rPr lang="en-US" altLang="zh-TW" sz="2400" b="1"/>
              <a:t>Blocking send </a:t>
            </a:r>
            <a:r>
              <a:rPr lang="en-US" altLang="zh-TW" sz="2400"/>
              <a:t>has the sender block until the message is received</a:t>
            </a:r>
          </a:p>
          <a:p>
            <a:pPr marL="1141413" lvl="1" indent="-488950"/>
            <a:r>
              <a:rPr lang="en-US" altLang="zh-TW" sz="2400" b="1"/>
              <a:t>Blocking receive </a:t>
            </a:r>
            <a:r>
              <a:rPr lang="en-US" altLang="zh-TW" sz="2400"/>
              <a:t>has the receiver block until a message is available</a:t>
            </a:r>
          </a:p>
          <a:p>
            <a:pPr marL="1141413" lvl="1" indent="-488950"/>
            <a:endParaRPr lang="en-US" altLang="zh-TW" sz="2800"/>
          </a:p>
          <a:p>
            <a:pPr marL="542925" indent="-542925"/>
            <a:r>
              <a:rPr lang="en-US" altLang="zh-TW" sz="2800" b="1">
                <a:solidFill>
                  <a:srgbClr val="3366FF"/>
                </a:solidFill>
              </a:rPr>
              <a:t>Non-blocking</a:t>
            </a:r>
            <a:r>
              <a:rPr lang="en-US" altLang="zh-TW" sz="2800"/>
              <a:t> is considered </a:t>
            </a:r>
            <a:r>
              <a:rPr lang="en-US" altLang="zh-TW" sz="2800" b="1">
                <a:solidFill>
                  <a:srgbClr val="3366FF"/>
                </a:solidFill>
              </a:rPr>
              <a:t>asynchronous</a:t>
            </a:r>
          </a:p>
          <a:p>
            <a:pPr marL="1141413" lvl="1" indent="-488950"/>
            <a:r>
              <a:rPr lang="en-US" altLang="zh-TW" sz="2400" b="1"/>
              <a:t>Non-blocking </a:t>
            </a:r>
            <a:r>
              <a:rPr lang="en-US" altLang="zh-TW" sz="2400"/>
              <a:t>send has the sender send the message and continue</a:t>
            </a:r>
          </a:p>
          <a:p>
            <a:pPr marL="1141413" lvl="1" indent="-488950"/>
            <a:r>
              <a:rPr lang="en-US" altLang="zh-TW" sz="2400" b="1"/>
              <a:t>Non-blocking </a:t>
            </a:r>
            <a:r>
              <a:rPr lang="en-US" altLang="zh-TW" sz="2400"/>
              <a:t>receive has the receiver receive a valid message or null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703AE8B9-A4C2-F3F9-FC39-BD2B6868E8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Synchronization (2)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DD52962F-978F-92EE-43B7-84A9ECE3AD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204575" cy="6040438"/>
          </a:xfrm>
        </p:spPr>
        <p:txBody>
          <a:bodyPr/>
          <a:lstStyle/>
          <a:p>
            <a:pPr marL="569913"/>
            <a:r>
              <a:rPr lang="en-US" altLang="zh-TW" sz="2400"/>
              <a:t>Different combinations possible</a:t>
            </a:r>
          </a:p>
          <a:p>
            <a:pPr marL="1141413" lvl="1"/>
            <a:r>
              <a:rPr lang="en-US" altLang="zh-TW" sz="2000"/>
              <a:t>If both send and receive are blocking, we have a </a:t>
            </a:r>
            <a:r>
              <a:rPr lang="en-US" altLang="zh-TW" sz="2000" b="1">
                <a:solidFill>
                  <a:srgbClr val="3366FF"/>
                </a:solidFill>
              </a:rPr>
              <a:t>rendezvous</a:t>
            </a:r>
          </a:p>
          <a:p>
            <a:pPr marL="569913"/>
            <a:r>
              <a:rPr lang="en-US" altLang="zh-TW" sz="2400"/>
              <a:t>Producer-consumer becomes trivial</a:t>
            </a:r>
            <a:br>
              <a:rPr lang="en-US" altLang="zh-TW"/>
            </a:br>
            <a:endParaRPr lang="en-US" altLang="zh-TW"/>
          </a:p>
          <a:p>
            <a:pPr marL="569913">
              <a:buFont typeface="Monotype Sorts" pitchFamily="-84" charset="2"/>
              <a:buNone/>
            </a:pPr>
            <a:r>
              <a:rPr lang="en-US" altLang="zh-TW" sz="2400">
                <a:latin typeface="Courier New" panose="02070309020205020404" pitchFamily="49" charset="0"/>
                <a:cs typeface="Courier New" panose="02070309020205020404" pitchFamily="49" charset="0"/>
              </a:rPr>
              <a:t>message next produced; </a:t>
            </a:r>
          </a:p>
          <a:p>
            <a:pPr marL="569913">
              <a:buFont typeface="Monotype Sorts" pitchFamily="-84" charset="2"/>
              <a:buNone/>
            </a:pPr>
            <a:r>
              <a:rPr lang="en-US" altLang="zh-TW" sz="2400">
                <a:latin typeface="Courier New" panose="02070309020205020404" pitchFamily="49" charset="0"/>
                <a:cs typeface="Courier New" panose="02070309020205020404" pitchFamily="49" charset="0"/>
              </a:rPr>
              <a:t>while (true) </a:t>
            </a:r>
            <a:r>
              <a:rPr lang="en-US" altLang="zh-TW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en-US" altLang="zh-TW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TW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TW" sz="2400">
                <a:latin typeface="Courier New" panose="02070309020205020404" pitchFamily="49" charset="0"/>
                <a:cs typeface="Courier New" panose="02070309020205020404" pitchFamily="49" charset="0"/>
              </a:rPr>
              <a:t>/* produce an item in next produced */ </a:t>
            </a:r>
          </a:p>
          <a:p>
            <a:pPr marL="569913">
              <a:buFont typeface="Monotype Sorts" pitchFamily="-84" charset="2"/>
              <a:buNone/>
            </a:pPr>
            <a:r>
              <a:rPr lang="en-US" altLang="zh-TW" sz="2400">
                <a:latin typeface="Courier New" panose="02070309020205020404" pitchFamily="49" charset="0"/>
                <a:cs typeface="Courier New" panose="02070309020205020404" pitchFamily="49" charset="0"/>
              </a:rPr>
              <a:t>   send(next produced); </a:t>
            </a:r>
          </a:p>
          <a:p>
            <a:pPr marL="569913">
              <a:buFont typeface="Monotype Sorts" pitchFamily="-84" charset="2"/>
              <a:buNone/>
            </a:pPr>
            <a:r>
              <a:rPr lang="en-US" altLang="zh-TW" sz="240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</p:txBody>
      </p:sp>
      <p:sp>
        <p:nvSpPr>
          <p:cNvPr id="43012" name="TextBox 1">
            <a:extLst>
              <a:ext uri="{FF2B5EF4-FFF2-40B4-BE49-F238E27FC236}">
                <a16:creationId xmlns:a16="http://schemas.microsoft.com/office/drawing/2014/main" id="{B06913B8-4F4B-11E1-E3C2-7662068DBC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3338" y="5518150"/>
            <a:ext cx="1030287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kumimoji="1" lang="en-US" altLang="zh-TW" sz="2400">
                <a:latin typeface="Courier New" panose="02070309020205020404" pitchFamily="49" charset="0"/>
                <a:cs typeface="Courier New" panose="02070309020205020404" pitchFamily="49" charset="0"/>
              </a:rPr>
              <a:t>message next consumed;</a:t>
            </a:r>
          </a:p>
          <a:p>
            <a:r>
              <a:rPr kumimoji="1" lang="en-US" altLang="zh-TW" sz="2400">
                <a:latin typeface="Courier New" panose="02070309020205020404" pitchFamily="49" charset="0"/>
                <a:cs typeface="Courier New" panose="02070309020205020404" pitchFamily="49" charset="0"/>
              </a:rPr>
              <a:t>while (true) {</a:t>
            </a:r>
          </a:p>
          <a:p>
            <a:r>
              <a:rPr kumimoji="1" lang="en-US" altLang="zh-TW" sz="2400">
                <a:latin typeface="Courier New" panose="02070309020205020404" pitchFamily="49" charset="0"/>
                <a:cs typeface="Courier New" panose="02070309020205020404" pitchFamily="49" charset="0"/>
              </a:rPr>
              <a:t>   receive(next consumed);</a:t>
            </a:r>
          </a:p>
          <a:p>
            <a:r>
              <a:rPr kumimoji="1" lang="en-US" altLang="zh-TW" sz="240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kumimoji="1" lang="en-US" altLang="zh-TW" sz="2400">
                <a:latin typeface="Courier New" panose="02070309020205020404" pitchFamily="49" charset="0"/>
                <a:cs typeface="Courier New" panose="02070309020205020404" pitchFamily="49" charset="0"/>
              </a:rPr>
              <a:t>   /* consume the item in next consumed */</a:t>
            </a:r>
          </a:p>
          <a:p>
            <a:r>
              <a:rPr kumimoji="1" lang="en-US" altLang="zh-TW" sz="24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4F77FA5B-C2CE-E914-EB52-99B434650E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Buffering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0A71E760-04EB-5D7A-BE25-6AFB163E36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290300" cy="6040438"/>
          </a:xfrm>
        </p:spPr>
        <p:txBody>
          <a:bodyPr/>
          <a:lstStyle/>
          <a:p>
            <a:r>
              <a:rPr lang="en-US" altLang="zh-TW" sz="2800"/>
              <a:t>Queue of messages attached to the link; implemented in one of three ways</a:t>
            </a:r>
          </a:p>
          <a:p>
            <a:pPr lvl="1">
              <a:buFont typeface="Monotype Sorts" pitchFamily="-84" charset="2"/>
              <a:buNone/>
            </a:pPr>
            <a:r>
              <a:rPr lang="en-US" altLang="zh-TW" sz="2800">
                <a:solidFill>
                  <a:srgbClr val="CC6600"/>
                </a:solidFill>
              </a:rPr>
              <a:t>1.</a:t>
            </a:r>
            <a:r>
              <a:rPr lang="en-US" altLang="zh-TW" sz="2800"/>
              <a:t>	</a:t>
            </a:r>
            <a:r>
              <a:rPr lang="en-US" altLang="zh-TW" sz="2400"/>
              <a:t>Zero capacity – 0 messages</a:t>
            </a:r>
            <a:br>
              <a:rPr lang="en-US" altLang="zh-TW" sz="2400"/>
            </a:br>
            <a:r>
              <a:rPr lang="en-US" altLang="zh-TW" sz="2400"/>
              <a:t>Sender must wait for receiver (rendezvous)</a:t>
            </a:r>
          </a:p>
          <a:p>
            <a:pPr lvl="1">
              <a:buFont typeface="Monotype Sorts" pitchFamily="-84" charset="2"/>
              <a:buNone/>
            </a:pPr>
            <a:r>
              <a:rPr lang="en-US" altLang="zh-TW" sz="2400">
                <a:solidFill>
                  <a:srgbClr val="CC6600"/>
                </a:solidFill>
              </a:rPr>
              <a:t>2.</a:t>
            </a:r>
            <a:r>
              <a:rPr lang="en-US" altLang="zh-TW" sz="2400"/>
              <a:t>	Bounded capacity – finite length of </a:t>
            </a:r>
            <a:r>
              <a:rPr lang="en-US" altLang="zh-TW" sz="2400" i="1"/>
              <a:t>n</a:t>
            </a:r>
            <a:r>
              <a:rPr lang="en-US" altLang="zh-TW" sz="2400"/>
              <a:t> messages</a:t>
            </a:r>
            <a:br>
              <a:rPr lang="en-US" altLang="zh-TW" sz="2400"/>
            </a:br>
            <a:r>
              <a:rPr lang="en-US" altLang="zh-TW" sz="2400"/>
              <a:t>Sender must wait if link full</a:t>
            </a:r>
          </a:p>
          <a:p>
            <a:pPr lvl="1">
              <a:buFont typeface="Monotype Sorts" pitchFamily="-84" charset="2"/>
              <a:buNone/>
            </a:pPr>
            <a:r>
              <a:rPr lang="en-US" altLang="zh-TW" sz="2400">
                <a:solidFill>
                  <a:srgbClr val="CC6600"/>
                </a:solidFill>
              </a:rPr>
              <a:t>3.</a:t>
            </a:r>
            <a:r>
              <a:rPr lang="en-US" altLang="zh-TW" sz="2400"/>
              <a:t>	Unbounded capacity – infinite length </a:t>
            </a:r>
            <a:br>
              <a:rPr lang="en-US" altLang="zh-TW" sz="2400"/>
            </a:br>
            <a:r>
              <a:rPr lang="en-US" altLang="zh-TW" sz="2400"/>
              <a:t>Sender never waits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8E623F74-558F-490C-B3D5-CF8B9B960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938" y="369888"/>
            <a:ext cx="11776075" cy="768350"/>
          </a:xfrm>
        </p:spPr>
        <p:txBody>
          <a:bodyPr/>
          <a:lstStyle/>
          <a:p>
            <a:r>
              <a:rPr lang="en-US" altLang="zh-TW"/>
              <a:t>Examples of IPC Systems - POSIX</a:t>
            </a:r>
          </a:p>
        </p:txBody>
      </p:sp>
      <p:sp>
        <p:nvSpPr>
          <p:cNvPr id="44035" name="Content Placeholder 2">
            <a:extLst>
              <a:ext uri="{FF2B5EF4-FFF2-40B4-BE49-F238E27FC236}">
                <a16:creationId xmlns:a16="http://schemas.microsoft.com/office/drawing/2014/main" id="{79F5A878-607A-CEEE-6F36-EDA9A65A1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9675" y="1644650"/>
            <a:ext cx="11366500" cy="6040438"/>
          </a:xfrm>
        </p:spPr>
        <p:txBody>
          <a:bodyPr/>
          <a:lstStyle/>
          <a:p>
            <a:pPr>
              <a:buFont typeface="Monotype Sorts" charset="0"/>
              <a:buChar char="n"/>
              <a:defRPr/>
            </a:pPr>
            <a:r>
              <a:rPr lang="en-US" sz="2800" dirty="0">
                <a:ea typeface="ＭＳ Ｐゴシック" charset="0"/>
                <a:cs typeface="ＭＳ Ｐゴシック" charset="0"/>
              </a:rPr>
              <a:t>POSIX Shared Memory</a:t>
            </a:r>
          </a:p>
          <a:p>
            <a:pPr lvl="1">
              <a:buFont typeface="Monotype Sorts" charset="0"/>
              <a:buChar char="l"/>
              <a:defRPr/>
            </a:pPr>
            <a:r>
              <a:rPr lang="en-US" sz="2400" dirty="0">
                <a:ea typeface="ＭＳ Ｐゴシック" charset="0"/>
              </a:rPr>
              <a:t>Process first creates shared memory segment</a:t>
            </a:r>
            <a:br>
              <a:rPr lang="en-US" sz="2400" dirty="0">
                <a:ea typeface="ＭＳ Ｐゴシック" charset="0"/>
              </a:rPr>
            </a:br>
            <a:r>
              <a:rPr lang="en-US" sz="2400" b="1" dirty="0" err="1">
                <a:latin typeface="Courier New" charset="0"/>
                <a:ea typeface="ＭＳ Ｐゴシック" charset="0"/>
                <a:cs typeface="Courier New" charset="0"/>
              </a:rPr>
              <a:t>shm_fd</a:t>
            </a:r>
            <a:r>
              <a:rPr lang="en-US" sz="2400" b="1" dirty="0">
                <a:latin typeface="Courier New" charset="0"/>
                <a:ea typeface="ＭＳ Ｐゴシック" charset="0"/>
                <a:cs typeface="Courier New" charset="0"/>
              </a:rPr>
              <a:t> = </a:t>
            </a:r>
            <a:r>
              <a:rPr lang="en-US" sz="2400" b="1" dirty="0" err="1">
                <a:latin typeface="Courier New" charset="0"/>
                <a:ea typeface="ＭＳ Ｐゴシック" charset="0"/>
                <a:cs typeface="Courier New" charset="0"/>
              </a:rPr>
              <a:t>shm_open</a:t>
            </a:r>
            <a:r>
              <a:rPr lang="en-US" sz="2400" b="1" dirty="0">
                <a:latin typeface="Courier New" charset="0"/>
                <a:ea typeface="ＭＳ Ｐゴシック" charset="0"/>
                <a:cs typeface="Courier New" charset="0"/>
              </a:rPr>
              <a:t>(name, O CREAT | O RDRW, 0666);</a:t>
            </a:r>
          </a:p>
          <a:p>
            <a:pPr lvl="1">
              <a:buFont typeface="Monotype Sorts" charset="0"/>
              <a:buChar char="l"/>
              <a:defRPr/>
            </a:pPr>
            <a:r>
              <a:rPr lang="en-US" sz="2400" dirty="0">
                <a:ea typeface="ＭＳ Ｐゴシック" charset="0"/>
              </a:rPr>
              <a:t>Also used to open an existing segment to share it </a:t>
            </a:r>
          </a:p>
          <a:p>
            <a:pPr lvl="1">
              <a:buFont typeface="Monotype Sorts" charset="0"/>
              <a:buChar char="l"/>
              <a:defRPr/>
            </a:pPr>
            <a:r>
              <a:rPr lang="en-US" sz="2400" dirty="0">
                <a:ea typeface="ＭＳ Ｐゴシック" charset="0"/>
              </a:rPr>
              <a:t>Set the size of the object</a:t>
            </a:r>
          </a:p>
          <a:p>
            <a:pPr marL="0" indent="0">
              <a:buFont typeface="Monotype Sorts" charset="0"/>
              <a:buNone/>
              <a:defRPr/>
            </a:pPr>
            <a:r>
              <a:rPr lang="en-US" sz="2400" dirty="0">
                <a:ea typeface="ＭＳ Ｐゴシック" charset="-128"/>
              </a:rPr>
              <a:t>	</a:t>
            </a:r>
            <a:r>
              <a:rPr lang="en-US" sz="2400" b="1" dirty="0" err="1">
                <a:latin typeface="Courier New" charset="0"/>
                <a:ea typeface="ＭＳ Ｐゴシック" charset="0"/>
                <a:cs typeface="Courier New" charset="0"/>
              </a:rPr>
              <a:t>ftruncate</a:t>
            </a:r>
            <a:r>
              <a:rPr lang="en-US" sz="2400" b="1" dirty="0">
                <a:latin typeface="Courier New" charset="0"/>
                <a:ea typeface="ＭＳ Ｐゴシック" charset="0"/>
                <a:cs typeface="Courier New" charset="0"/>
              </a:rPr>
              <a:t>(</a:t>
            </a:r>
            <a:r>
              <a:rPr lang="en-US" sz="2400" b="1" dirty="0" err="1">
                <a:latin typeface="Courier New" charset="0"/>
                <a:ea typeface="ＭＳ Ｐゴシック" charset="0"/>
                <a:cs typeface="Courier New" charset="0"/>
              </a:rPr>
              <a:t>shm</a:t>
            </a:r>
            <a:r>
              <a:rPr lang="en-US" sz="2400" b="1" dirty="0">
                <a:latin typeface="Courier New" charset="0"/>
                <a:ea typeface="ＭＳ Ｐゴシック" charset="0"/>
                <a:cs typeface="Courier New" charset="0"/>
              </a:rPr>
              <a:t> </a:t>
            </a:r>
            <a:r>
              <a:rPr lang="en-US" sz="2400" b="1" dirty="0" err="1">
                <a:latin typeface="Courier New" charset="0"/>
                <a:ea typeface="ＭＳ Ｐゴシック" charset="0"/>
                <a:cs typeface="Courier New" charset="0"/>
              </a:rPr>
              <a:t>fd</a:t>
            </a:r>
            <a:r>
              <a:rPr lang="en-US" sz="2400" b="1" dirty="0">
                <a:latin typeface="Courier New" charset="0"/>
                <a:ea typeface="ＭＳ Ｐゴシック" charset="0"/>
                <a:cs typeface="Courier New" charset="0"/>
              </a:rPr>
              <a:t>, 4096); </a:t>
            </a:r>
          </a:p>
          <a:p>
            <a:pPr lvl="1">
              <a:buFont typeface="Monotype Sorts" charset="0"/>
              <a:buChar char="l"/>
              <a:defRPr/>
            </a:pPr>
            <a:r>
              <a:rPr lang="en-US" sz="2400" dirty="0">
                <a:ea typeface="ＭＳ Ｐゴシック" charset="0"/>
              </a:rPr>
              <a:t>Now the process could write to the shared memory</a:t>
            </a:r>
          </a:p>
          <a:p>
            <a:pPr lvl="1">
              <a:buFont typeface="Monotype Sorts" charset="0"/>
              <a:buNone/>
              <a:defRPr/>
            </a:pPr>
            <a:r>
              <a:rPr lang="en-US" sz="2400" b="1" dirty="0">
                <a:latin typeface="Courier New" charset="0"/>
                <a:ea typeface="ＭＳ Ｐゴシック" charset="0"/>
                <a:cs typeface="Courier New" charset="0"/>
              </a:rPr>
              <a:t>	</a:t>
            </a:r>
            <a:r>
              <a:rPr lang="en-US" sz="2400" b="1" dirty="0" err="1">
                <a:latin typeface="Courier New" charset="0"/>
                <a:ea typeface="ＭＳ Ｐゴシック" charset="0"/>
                <a:cs typeface="Courier New" charset="0"/>
              </a:rPr>
              <a:t>sprintf</a:t>
            </a:r>
            <a:r>
              <a:rPr lang="en-US" sz="2400" b="1" dirty="0">
                <a:latin typeface="Courier New" charset="0"/>
                <a:ea typeface="ＭＳ Ｐゴシック" charset="0"/>
                <a:cs typeface="Courier New" charset="0"/>
              </a:rPr>
              <a:t>(shared memory, "Writing to shared memory");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791B9308-CDCA-4C0C-5542-0F6BAAFD1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938" y="369888"/>
            <a:ext cx="11776075" cy="768350"/>
          </a:xfrm>
        </p:spPr>
        <p:txBody>
          <a:bodyPr/>
          <a:lstStyle/>
          <a:p>
            <a:r>
              <a:rPr lang="en-US" altLang="zh-TW"/>
              <a:t>IPC POSIX Producer</a:t>
            </a:r>
          </a:p>
        </p:txBody>
      </p:sp>
      <p:pic>
        <p:nvPicPr>
          <p:cNvPr id="46083" name="Picture 2" descr="Screen Shot 2012-12-04 at 12.49.51 PM.png">
            <a:extLst>
              <a:ext uri="{FF2B5EF4-FFF2-40B4-BE49-F238E27FC236}">
                <a16:creationId xmlns:a16="http://schemas.microsoft.com/office/drawing/2014/main" id="{70806523-4FAE-442D-C81A-A5702A5329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7413" y="1330325"/>
            <a:ext cx="6105525" cy="757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93FA16E0-F728-3983-789C-E1421E6B2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938" y="369888"/>
            <a:ext cx="11776075" cy="768350"/>
          </a:xfrm>
        </p:spPr>
        <p:txBody>
          <a:bodyPr/>
          <a:lstStyle/>
          <a:p>
            <a:r>
              <a:rPr lang="en-US" altLang="zh-TW"/>
              <a:t>IPC POSIX Consumer</a:t>
            </a:r>
          </a:p>
        </p:txBody>
      </p:sp>
      <p:pic>
        <p:nvPicPr>
          <p:cNvPr id="47107" name="Picture 1" descr="Screen Shot 2012-12-04 at 12.49.59 PM.png">
            <a:extLst>
              <a:ext uri="{FF2B5EF4-FFF2-40B4-BE49-F238E27FC236}">
                <a16:creationId xmlns:a16="http://schemas.microsoft.com/office/drawing/2014/main" id="{B3FF3583-B4FA-11E1-0E62-AFD5B3134E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8650" y="1401763"/>
            <a:ext cx="7432675" cy="712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>
            <a:extLst>
              <a:ext uri="{FF2B5EF4-FFF2-40B4-BE49-F238E27FC236}">
                <a16:creationId xmlns:a16="http://schemas.microsoft.com/office/drawing/2014/main" id="{E77FC13C-528B-AC56-F0FB-B06BCC001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8150" y="369888"/>
            <a:ext cx="11322050" cy="768350"/>
          </a:xfrm>
        </p:spPr>
        <p:txBody>
          <a:bodyPr/>
          <a:lstStyle/>
          <a:p>
            <a:r>
              <a:rPr lang="en-US" altLang="zh-TW"/>
              <a:t>Examples of IPC Systems - Mach</a:t>
            </a:r>
          </a:p>
        </p:txBody>
      </p:sp>
      <p:sp>
        <p:nvSpPr>
          <p:cNvPr id="48131" name="Content Placeholder 2">
            <a:extLst>
              <a:ext uri="{FF2B5EF4-FFF2-40B4-BE49-F238E27FC236}">
                <a16:creationId xmlns:a16="http://schemas.microsoft.com/office/drawing/2014/main" id="{9A1AFDC7-AD8E-2CB7-4126-8644A09A8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/>
              <a:t>Mach communication is message based</a:t>
            </a:r>
          </a:p>
          <a:p>
            <a:pPr lvl="1"/>
            <a:r>
              <a:rPr lang="en-US" altLang="zh-TW" sz="2400"/>
              <a:t>Even system calls are messages</a:t>
            </a:r>
          </a:p>
          <a:p>
            <a:pPr lvl="1"/>
            <a:r>
              <a:rPr lang="en-US" altLang="zh-TW" sz="2400"/>
              <a:t>Each task gets two mailboxes at creation- Kernel and Notify</a:t>
            </a:r>
          </a:p>
          <a:p>
            <a:pPr lvl="1"/>
            <a:r>
              <a:rPr lang="en-US" altLang="zh-TW" sz="2400"/>
              <a:t>Only three system calls needed for message transfer</a:t>
            </a:r>
          </a:p>
          <a:p>
            <a:pPr lvl="1">
              <a:buFont typeface="Monotype Sorts" pitchFamily="-84" charset="2"/>
              <a:buNone/>
            </a:pPr>
            <a:r>
              <a:rPr lang="en-US" altLang="zh-TW" sz="2400" b="1">
                <a:latin typeface="Courier New" panose="02070309020205020404" pitchFamily="49" charset="0"/>
                <a:cs typeface="Courier New" panose="02070309020205020404" pitchFamily="49" charset="0"/>
              </a:rPr>
              <a:t>	msg_send(), msg_receive(), msg_rpc()</a:t>
            </a:r>
          </a:p>
          <a:p>
            <a:pPr lvl="1"/>
            <a:r>
              <a:rPr lang="en-US" altLang="zh-TW" sz="2400"/>
              <a:t>Mailboxes needed for commuication, created via</a:t>
            </a:r>
          </a:p>
          <a:p>
            <a:pPr lvl="1">
              <a:buFont typeface="Monotype Sorts" pitchFamily="-84" charset="2"/>
              <a:buNone/>
            </a:pPr>
            <a:r>
              <a:rPr lang="en-US" altLang="zh-TW" sz="2400" b="1">
                <a:latin typeface="Courier New" panose="02070309020205020404" pitchFamily="49" charset="0"/>
                <a:cs typeface="Courier New" panose="02070309020205020404" pitchFamily="49" charset="0"/>
              </a:rPr>
              <a:t>	port_allocate()</a:t>
            </a:r>
          </a:p>
          <a:p>
            <a:pPr lvl="1"/>
            <a:r>
              <a:rPr lang="en-US" altLang="zh-TW" sz="2400"/>
              <a:t>Send and receive are flexible, for example four options if mailbox full</a:t>
            </a:r>
          </a:p>
          <a:p>
            <a:pPr lvl="2"/>
            <a:r>
              <a:rPr lang="en-US" altLang="zh-TW" sz="2000"/>
              <a:t>Wait indefinitely</a:t>
            </a:r>
          </a:p>
          <a:p>
            <a:pPr lvl="2"/>
            <a:r>
              <a:rPr lang="en-US" altLang="zh-TW" sz="2000"/>
              <a:t>Wait at most  milliseconds</a:t>
            </a:r>
          </a:p>
          <a:p>
            <a:pPr lvl="2"/>
            <a:r>
              <a:rPr lang="en-US" altLang="zh-TW" sz="2000"/>
              <a:t>Return immediately</a:t>
            </a:r>
          </a:p>
          <a:p>
            <a:pPr lvl="2"/>
            <a:r>
              <a:rPr lang="en-US" altLang="zh-TW" sz="2000"/>
              <a:t>Temporarily cache a message</a:t>
            </a:r>
            <a:endParaRPr lang="en-US" altLang="zh-TW" sz="28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3C6EFB78-D20E-ED77-51B2-218D4763F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650" y="369888"/>
            <a:ext cx="12344400" cy="768350"/>
          </a:xfrm>
        </p:spPr>
        <p:txBody>
          <a:bodyPr/>
          <a:lstStyle/>
          <a:p>
            <a:r>
              <a:rPr lang="en-US" altLang="zh-TW" sz="4000"/>
              <a:t>Examples of IPC Systems – Windows</a:t>
            </a:r>
          </a:p>
        </p:txBody>
      </p:sp>
      <p:sp>
        <p:nvSpPr>
          <p:cNvPr id="49155" name="Content Placeholder 2">
            <a:extLst>
              <a:ext uri="{FF2B5EF4-FFF2-40B4-BE49-F238E27FC236}">
                <a16:creationId xmlns:a16="http://schemas.microsoft.com/office/drawing/2014/main" id="{99A0C835-F546-1139-D490-B0DC61DF5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9675" y="1644650"/>
            <a:ext cx="11352213" cy="6040438"/>
          </a:xfrm>
        </p:spPr>
        <p:txBody>
          <a:bodyPr/>
          <a:lstStyle/>
          <a:p>
            <a:r>
              <a:rPr lang="en-US" altLang="zh-TW" sz="2800"/>
              <a:t>Message-passing centric via </a:t>
            </a:r>
            <a:r>
              <a:rPr lang="en-US" altLang="zh-TW" sz="2800" b="1">
                <a:solidFill>
                  <a:srgbClr val="0000FF"/>
                </a:solidFill>
              </a:rPr>
              <a:t>advanced local procedure call </a:t>
            </a:r>
            <a:r>
              <a:rPr lang="en-US" altLang="zh-TW" sz="2800" b="1">
                <a:solidFill>
                  <a:srgbClr val="000000"/>
                </a:solidFill>
              </a:rPr>
              <a:t>(</a:t>
            </a:r>
            <a:r>
              <a:rPr lang="en-US" altLang="zh-TW" sz="2800" b="1">
                <a:solidFill>
                  <a:srgbClr val="0000FF"/>
                </a:solidFill>
              </a:rPr>
              <a:t>LPC</a:t>
            </a:r>
            <a:r>
              <a:rPr lang="en-US" altLang="zh-TW" sz="2800" b="1">
                <a:solidFill>
                  <a:srgbClr val="000000"/>
                </a:solidFill>
              </a:rPr>
              <a:t>)</a:t>
            </a:r>
            <a:r>
              <a:rPr lang="en-US" altLang="zh-TW" sz="2800"/>
              <a:t> facility</a:t>
            </a:r>
          </a:p>
          <a:p>
            <a:pPr lvl="1"/>
            <a:r>
              <a:rPr lang="en-US" altLang="zh-TW" sz="2400"/>
              <a:t>Only works between processes on the same system</a:t>
            </a:r>
          </a:p>
          <a:p>
            <a:pPr lvl="1"/>
            <a:r>
              <a:rPr lang="en-US" altLang="zh-TW" sz="2400"/>
              <a:t>Uses ports (like mailboxes) to establish and maintain communication channels</a:t>
            </a:r>
          </a:p>
          <a:p>
            <a:pPr lvl="1"/>
            <a:r>
              <a:rPr lang="en-US" altLang="zh-TW" sz="2400"/>
              <a:t>Communication works as follows</a:t>
            </a:r>
          </a:p>
          <a:p>
            <a:pPr lvl="2"/>
            <a:r>
              <a:rPr lang="en-US" altLang="zh-TW" sz="2000"/>
              <a:t>The client opens a handle to the subsystem</a:t>
            </a:r>
            <a:r>
              <a:rPr lang="ja-JP" altLang="en-US" sz="2000"/>
              <a:t>’</a:t>
            </a:r>
            <a:r>
              <a:rPr lang="en-US" altLang="ja-JP" sz="2000"/>
              <a:t>s </a:t>
            </a:r>
            <a:r>
              <a:rPr lang="en-US" altLang="ja-JP" sz="2000" b="1">
                <a:solidFill>
                  <a:srgbClr val="0000FF"/>
                </a:solidFill>
              </a:rPr>
              <a:t>connection port</a:t>
            </a:r>
            <a:r>
              <a:rPr lang="en-US" altLang="ja-JP" sz="2000"/>
              <a:t> object.</a:t>
            </a:r>
          </a:p>
          <a:p>
            <a:pPr lvl="2"/>
            <a:r>
              <a:rPr lang="en-US" altLang="zh-TW" sz="2000"/>
              <a:t>The client sends a connection request.</a:t>
            </a:r>
          </a:p>
          <a:p>
            <a:pPr lvl="2"/>
            <a:r>
              <a:rPr lang="en-US" altLang="zh-TW" sz="2000"/>
              <a:t>The server creates two private </a:t>
            </a:r>
            <a:r>
              <a:rPr lang="en-US" altLang="zh-TW" sz="2000" b="1">
                <a:solidFill>
                  <a:srgbClr val="0000FF"/>
                </a:solidFill>
              </a:rPr>
              <a:t>communication ports </a:t>
            </a:r>
            <a:r>
              <a:rPr lang="en-US" altLang="zh-TW" sz="2000"/>
              <a:t>and returns the handle to one of them to the client.</a:t>
            </a:r>
          </a:p>
          <a:p>
            <a:pPr lvl="2"/>
            <a:r>
              <a:rPr lang="en-US" altLang="zh-TW" sz="2000"/>
              <a:t>The client and server use the corresponding port handle to send messages or callbacks and to listen for replies.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497A948D-F5CC-D17D-3DC4-418B36954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4463" y="369888"/>
            <a:ext cx="12344400" cy="768350"/>
          </a:xfrm>
        </p:spPr>
        <p:txBody>
          <a:bodyPr/>
          <a:lstStyle/>
          <a:p>
            <a:r>
              <a:rPr lang="en-US" altLang="zh-TW"/>
              <a:t>Local Procedure Calls in Windows XP</a:t>
            </a:r>
          </a:p>
        </p:txBody>
      </p:sp>
      <p:pic>
        <p:nvPicPr>
          <p:cNvPr id="50179" name="Picture 4" descr="3">
            <a:extLst>
              <a:ext uri="{FF2B5EF4-FFF2-40B4-BE49-F238E27FC236}">
                <a16:creationId xmlns:a16="http://schemas.microsoft.com/office/drawing/2014/main" id="{CB66DFDC-C20E-D6DA-4089-6EF5CDA16B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0100" y="2441575"/>
            <a:ext cx="9850438" cy="450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9C738784-49FC-5665-2C36-5E195315C4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08100" y="369888"/>
            <a:ext cx="12344400" cy="768350"/>
          </a:xfrm>
        </p:spPr>
        <p:txBody>
          <a:bodyPr/>
          <a:lstStyle/>
          <a:p>
            <a:pPr eaLnBrk="1" hangingPunct="1"/>
            <a:r>
              <a:rPr lang="en-US" altLang="zh-TW" sz="4000"/>
              <a:t>Communications in Client-Server Systems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B6557BEE-9FA4-F605-7FC8-3CF9A4C613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2800"/>
              <a:t>Sockets</a:t>
            </a:r>
          </a:p>
          <a:p>
            <a:endParaRPr lang="en-US" altLang="zh-TW" sz="2800"/>
          </a:p>
          <a:p>
            <a:r>
              <a:rPr lang="en-US" altLang="zh-TW" sz="2800"/>
              <a:t>Remote Procedure Calls</a:t>
            </a:r>
          </a:p>
          <a:p>
            <a:endParaRPr lang="en-US" altLang="zh-TW" sz="2800"/>
          </a:p>
          <a:p>
            <a:r>
              <a:rPr lang="en-US" altLang="zh-TW" sz="2800"/>
              <a:t>Pipes</a:t>
            </a:r>
          </a:p>
          <a:p>
            <a:endParaRPr lang="en-US" altLang="zh-TW" sz="2800"/>
          </a:p>
          <a:p>
            <a:r>
              <a:rPr lang="en-US" altLang="zh-TW" sz="2800"/>
              <a:t>Remote Method Invocation (Java)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BBB45FA3-97F7-E40D-BC0D-854FB5C7AF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Sockets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BE9D59C6-9C9F-DAB2-D512-EFFE97C3F9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657013" cy="6637338"/>
          </a:xfrm>
        </p:spPr>
        <p:txBody>
          <a:bodyPr/>
          <a:lstStyle/>
          <a:p>
            <a:r>
              <a:rPr lang="en-US" altLang="zh-TW" sz="2400"/>
              <a:t>A </a:t>
            </a:r>
            <a:r>
              <a:rPr lang="en-US" altLang="zh-TW" sz="2400" b="1">
                <a:solidFill>
                  <a:srgbClr val="0000FF"/>
                </a:solidFill>
              </a:rPr>
              <a:t>socket </a:t>
            </a:r>
            <a:r>
              <a:rPr lang="en-US" altLang="zh-TW" sz="2400"/>
              <a:t>is defined as an endpoint for communication</a:t>
            </a:r>
          </a:p>
          <a:p>
            <a:endParaRPr lang="en-US" altLang="zh-TW" sz="2400"/>
          </a:p>
          <a:p>
            <a:r>
              <a:rPr lang="en-US" altLang="zh-TW" sz="2400"/>
              <a:t>Concatenation of IP address and </a:t>
            </a:r>
            <a:r>
              <a:rPr lang="en-US" altLang="zh-TW" sz="2400" b="1">
                <a:solidFill>
                  <a:srgbClr val="0000FF"/>
                </a:solidFill>
              </a:rPr>
              <a:t>port</a:t>
            </a:r>
            <a:r>
              <a:rPr lang="en-US" altLang="zh-TW" sz="2400"/>
              <a:t> – a number included at start of message packet to differentiate network services on a host</a:t>
            </a:r>
          </a:p>
          <a:p>
            <a:endParaRPr lang="en-US" altLang="zh-TW" sz="2400"/>
          </a:p>
          <a:p>
            <a:r>
              <a:rPr lang="en-US" altLang="zh-TW" sz="2400"/>
              <a:t>The socket </a:t>
            </a:r>
            <a:r>
              <a:rPr lang="en-US" altLang="zh-TW" sz="2400" b="1"/>
              <a:t>161.25.19.8:1625</a:t>
            </a:r>
            <a:r>
              <a:rPr lang="en-US" altLang="zh-TW" sz="2400"/>
              <a:t> refers to port </a:t>
            </a:r>
            <a:r>
              <a:rPr lang="en-US" altLang="zh-TW" sz="2400" b="1"/>
              <a:t>1625</a:t>
            </a:r>
            <a:r>
              <a:rPr lang="en-US" altLang="zh-TW" sz="2400"/>
              <a:t> on host </a:t>
            </a:r>
            <a:r>
              <a:rPr lang="en-US" altLang="zh-TW" sz="2400" b="1"/>
              <a:t>161.25.19.8</a:t>
            </a:r>
          </a:p>
          <a:p>
            <a:endParaRPr lang="en-US" altLang="zh-TW" sz="2400" b="1"/>
          </a:p>
          <a:p>
            <a:r>
              <a:rPr lang="en-US" altLang="zh-TW" sz="2400"/>
              <a:t>Communication consists between a pair of sockets</a:t>
            </a:r>
          </a:p>
          <a:p>
            <a:endParaRPr lang="en-US" altLang="zh-TW" sz="2400"/>
          </a:p>
          <a:p>
            <a:r>
              <a:rPr lang="en-US" altLang="zh-TW" sz="2400"/>
              <a:t>All ports below 1024 are </a:t>
            </a:r>
            <a:r>
              <a:rPr lang="en-US" altLang="zh-TW" sz="2400" b="1" i="1"/>
              <a:t>well known</a:t>
            </a:r>
            <a:r>
              <a:rPr lang="en-US" altLang="zh-TW" sz="2400"/>
              <a:t>, used for standard services</a:t>
            </a:r>
          </a:p>
          <a:p>
            <a:endParaRPr lang="en-US" altLang="zh-TW" sz="2400"/>
          </a:p>
          <a:p>
            <a:r>
              <a:rPr lang="en-US" altLang="zh-TW" sz="2400"/>
              <a:t>Special IP address 127.0.0.1 (</a:t>
            </a:r>
            <a:r>
              <a:rPr lang="en-US" altLang="zh-TW" sz="2400" b="1">
                <a:solidFill>
                  <a:srgbClr val="0000FF"/>
                </a:solidFill>
              </a:rPr>
              <a:t>loopback</a:t>
            </a:r>
            <a:r>
              <a:rPr lang="en-US" altLang="zh-TW" sz="2400"/>
              <a:t>) to refer to system on which process is running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392A05FD-311B-4B24-CF22-F2CC72877D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Socket Communication</a:t>
            </a:r>
          </a:p>
        </p:txBody>
      </p:sp>
      <p:pic>
        <p:nvPicPr>
          <p:cNvPr id="53251" name="Picture 7">
            <a:extLst>
              <a:ext uri="{FF2B5EF4-FFF2-40B4-BE49-F238E27FC236}">
                <a16:creationId xmlns:a16="http://schemas.microsoft.com/office/drawing/2014/main" id="{0DA5FC33-8D7D-CCD8-6893-37AA76E04F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9638" y="1989138"/>
            <a:ext cx="9705975" cy="590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F6D637FD-7ECE-CFCC-70AD-8B56F622EF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Sockets in Java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0CE322AA-B72F-4CE6-6284-45EF82B26E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5129213" cy="6040438"/>
          </a:xfrm>
        </p:spPr>
        <p:txBody>
          <a:bodyPr/>
          <a:lstStyle/>
          <a:p>
            <a:r>
              <a:rPr lang="en-US" altLang="zh-TW" sz="2400"/>
              <a:t>Three types of sockets</a:t>
            </a:r>
          </a:p>
          <a:p>
            <a:pPr lvl="1"/>
            <a:r>
              <a:rPr lang="en-US" altLang="zh-TW" sz="2000" b="1">
                <a:solidFill>
                  <a:srgbClr val="0000FF"/>
                </a:solidFill>
              </a:rPr>
              <a:t>Connection-oriented </a:t>
            </a:r>
            <a:r>
              <a:rPr lang="en-US" altLang="zh-TW" sz="2000"/>
              <a:t>(</a:t>
            </a:r>
            <a:r>
              <a:rPr lang="en-US" altLang="zh-TW" sz="2000" b="1">
                <a:solidFill>
                  <a:srgbClr val="0000FF"/>
                </a:solidFill>
              </a:rPr>
              <a:t>TCP</a:t>
            </a:r>
            <a:r>
              <a:rPr lang="en-US" altLang="zh-TW" sz="2000"/>
              <a:t>)</a:t>
            </a:r>
          </a:p>
          <a:p>
            <a:pPr lvl="1"/>
            <a:r>
              <a:rPr lang="en-US" altLang="zh-TW" sz="2000" b="1">
                <a:solidFill>
                  <a:srgbClr val="0000FF"/>
                </a:solidFill>
              </a:rPr>
              <a:t>Connectionless</a:t>
            </a:r>
            <a:r>
              <a:rPr lang="en-US" altLang="zh-TW" sz="2000"/>
              <a:t> (</a:t>
            </a:r>
            <a:r>
              <a:rPr lang="en-US" altLang="zh-TW" sz="2000" b="1">
                <a:solidFill>
                  <a:srgbClr val="0000FF"/>
                </a:solidFill>
              </a:rPr>
              <a:t>UDP</a:t>
            </a:r>
            <a:r>
              <a:rPr lang="en-US" altLang="zh-TW" sz="2000"/>
              <a:t>)</a:t>
            </a:r>
          </a:p>
          <a:p>
            <a:pPr lvl="1"/>
            <a:r>
              <a:rPr lang="en-US" altLang="zh-TW" sz="2000" b="1">
                <a:latin typeface="Courier New" panose="02070309020205020404" pitchFamily="49" charset="0"/>
                <a:cs typeface="Courier New" panose="02070309020205020404" pitchFamily="49" charset="0"/>
              </a:rPr>
              <a:t>MulticastSocket</a:t>
            </a:r>
            <a:r>
              <a:rPr lang="en-US" altLang="zh-TW" sz="2000"/>
              <a:t> class– data can be sent to multiple recipients</a:t>
            </a:r>
          </a:p>
          <a:p>
            <a:pPr>
              <a:buFont typeface="Monotype Sorts" pitchFamily="-84" charset="2"/>
              <a:buNone/>
            </a:pPr>
            <a:endParaRPr lang="en-US" altLang="zh-TW" sz="2400"/>
          </a:p>
          <a:p>
            <a:r>
              <a:rPr lang="en-US" altLang="zh-TW" sz="2400"/>
              <a:t>Consider this </a:t>
            </a:r>
            <a:r>
              <a:rPr lang="en-US" altLang="en-US" sz="2400"/>
              <a:t>“</a:t>
            </a:r>
            <a:r>
              <a:rPr lang="en-US" altLang="zh-TW" sz="2400"/>
              <a:t>Date</a:t>
            </a:r>
            <a:r>
              <a:rPr lang="en-US" altLang="en-US" sz="2400"/>
              <a:t>”</a:t>
            </a:r>
            <a:r>
              <a:rPr lang="en-US" altLang="zh-TW" sz="2400"/>
              <a:t> server</a:t>
            </a:r>
          </a:p>
        </p:txBody>
      </p:sp>
      <p:pic>
        <p:nvPicPr>
          <p:cNvPr id="54276" name="Picture 1" descr="Screen Shot 2012-12-04 at 1.11.28 PM.png">
            <a:extLst>
              <a:ext uri="{FF2B5EF4-FFF2-40B4-BE49-F238E27FC236}">
                <a16:creationId xmlns:a16="http://schemas.microsoft.com/office/drawing/2014/main" id="{0FE9506A-828F-CBCA-1B59-3F7C45A06B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2513" y="1500188"/>
            <a:ext cx="7450137" cy="679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9BBC15E8-9068-5BD4-4468-D58D636C42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Remote Procedure Calls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72EE43F4-4FA6-8E9D-3CA1-A7A1147704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4588" y="1409700"/>
            <a:ext cx="11410950" cy="7172325"/>
          </a:xfrm>
        </p:spPr>
        <p:txBody>
          <a:bodyPr/>
          <a:lstStyle/>
          <a:p>
            <a:r>
              <a:rPr lang="en-US" altLang="zh-TW" sz="2400"/>
              <a:t>Remote procedure call (RPC) abstracts procedure calls between processes on networked systems</a:t>
            </a:r>
          </a:p>
          <a:p>
            <a:pPr lvl="1"/>
            <a:r>
              <a:rPr lang="en-US" altLang="zh-TW" sz="2000"/>
              <a:t>Again uses ports for service differentiation</a:t>
            </a:r>
          </a:p>
          <a:p>
            <a:r>
              <a:rPr lang="en-US" altLang="zh-TW" sz="2400" b="1">
                <a:solidFill>
                  <a:srgbClr val="0000FF"/>
                </a:solidFill>
              </a:rPr>
              <a:t>Stubs</a:t>
            </a:r>
            <a:r>
              <a:rPr lang="en-US" altLang="zh-TW" sz="2400"/>
              <a:t> – client-side proxy for the actual procedure on the server</a:t>
            </a:r>
          </a:p>
          <a:p>
            <a:r>
              <a:rPr lang="en-US" altLang="zh-TW" sz="2400"/>
              <a:t>The client-side stub locates the server and </a:t>
            </a:r>
            <a:r>
              <a:rPr lang="en-US" altLang="zh-TW" sz="2400" b="1">
                <a:solidFill>
                  <a:srgbClr val="0000FF"/>
                </a:solidFill>
              </a:rPr>
              <a:t>marshalls</a:t>
            </a:r>
            <a:r>
              <a:rPr lang="en-US" altLang="zh-TW" sz="2400"/>
              <a:t> the parameters</a:t>
            </a:r>
          </a:p>
          <a:p>
            <a:r>
              <a:rPr lang="en-US" altLang="zh-TW" sz="2400"/>
              <a:t>The server-side stub receives this message, unpacks the marshalled parameters, and performs the procedure on the server</a:t>
            </a:r>
          </a:p>
          <a:p>
            <a:r>
              <a:rPr lang="en-US" altLang="zh-TW" sz="2400"/>
              <a:t>On Windows, stub code compile from specification written in </a:t>
            </a:r>
            <a:r>
              <a:rPr lang="en-US" altLang="zh-TW" sz="2400" b="1">
                <a:solidFill>
                  <a:srgbClr val="0000FF"/>
                </a:solidFill>
              </a:rPr>
              <a:t>Microsoft Interface Definition Language </a:t>
            </a:r>
            <a:r>
              <a:rPr lang="en-US" altLang="zh-TW" sz="2400"/>
              <a:t>(</a:t>
            </a:r>
            <a:r>
              <a:rPr lang="en-US" altLang="zh-TW" sz="2400" b="1">
                <a:solidFill>
                  <a:srgbClr val="0000FF"/>
                </a:solidFill>
              </a:rPr>
              <a:t>MIDL</a:t>
            </a:r>
            <a:r>
              <a:rPr lang="en-US" altLang="zh-TW" sz="2400"/>
              <a:t>)</a:t>
            </a:r>
          </a:p>
          <a:p>
            <a:r>
              <a:rPr lang="en-US" altLang="zh-TW" sz="2400"/>
              <a:t>Data representation handled via </a:t>
            </a:r>
            <a:r>
              <a:rPr lang="en-US" altLang="zh-TW" sz="2400" b="1">
                <a:solidFill>
                  <a:srgbClr val="0000FF"/>
                </a:solidFill>
              </a:rPr>
              <a:t>External Data Representation </a:t>
            </a:r>
            <a:r>
              <a:rPr lang="en-US" altLang="zh-TW" sz="2400"/>
              <a:t>(</a:t>
            </a:r>
            <a:r>
              <a:rPr lang="en-US" altLang="zh-TW" sz="2400" b="1">
                <a:solidFill>
                  <a:srgbClr val="0000FF"/>
                </a:solidFill>
              </a:rPr>
              <a:t>XDL</a:t>
            </a:r>
            <a:r>
              <a:rPr lang="en-US" altLang="zh-TW" sz="2400"/>
              <a:t>) format to account for different architectures</a:t>
            </a:r>
          </a:p>
          <a:p>
            <a:pPr lvl="1"/>
            <a:r>
              <a:rPr lang="en-US" altLang="zh-TW" sz="2000" b="1">
                <a:solidFill>
                  <a:srgbClr val="0000FF"/>
                </a:solidFill>
              </a:rPr>
              <a:t>Big-endian </a:t>
            </a:r>
            <a:r>
              <a:rPr lang="en-US" altLang="zh-TW" sz="2000"/>
              <a:t>and </a:t>
            </a:r>
            <a:r>
              <a:rPr lang="en-US" altLang="zh-TW" sz="2000" b="1">
                <a:solidFill>
                  <a:srgbClr val="0000FF"/>
                </a:solidFill>
              </a:rPr>
              <a:t>little-endian</a:t>
            </a:r>
          </a:p>
          <a:p>
            <a:r>
              <a:rPr lang="en-US" altLang="zh-TW" sz="2400"/>
              <a:t>Remote communication has more failure scenarios than local</a:t>
            </a:r>
          </a:p>
          <a:p>
            <a:pPr lvl="1"/>
            <a:r>
              <a:rPr lang="en-US" altLang="zh-TW" sz="2000"/>
              <a:t>Messages can be delivered </a:t>
            </a:r>
            <a:r>
              <a:rPr lang="en-US" altLang="zh-TW" sz="2000" b="1" i="1"/>
              <a:t>exactly once </a:t>
            </a:r>
            <a:r>
              <a:rPr lang="en-US" altLang="zh-TW" sz="2000"/>
              <a:t>rather than </a:t>
            </a:r>
            <a:r>
              <a:rPr lang="en-US" altLang="zh-TW" sz="2000" b="1" i="1"/>
              <a:t>at most once</a:t>
            </a:r>
          </a:p>
          <a:p>
            <a:r>
              <a:rPr lang="en-US" altLang="zh-TW" sz="2400"/>
              <a:t>OS typically provides a rendezvous (or </a:t>
            </a:r>
            <a:r>
              <a:rPr lang="en-US" altLang="zh-TW" sz="2400" b="1">
                <a:solidFill>
                  <a:srgbClr val="0000FF"/>
                </a:solidFill>
              </a:rPr>
              <a:t>matchmaker</a:t>
            </a:r>
            <a:r>
              <a:rPr lang="en-US" altLang="zh-TW" sz="2400"/>
              <a:t>) service to connect client and server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561E151C-958B-56E4-B3B2-516E46FD3D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Execution of RPC</a:t>
            </a:r>
          </a:p>
        </p:txBody>
      </p:sp>
      <p:pic>
        <p:nvPicPr>
          <p:cNvPr id="56323" name="Picture 6" descr="3">
            <a:extLst>
              <a:ext uri="{FF2B5EF4-FFF2-40B4-BE49-F238E27FC236}">
                <a16:creationId xmlns:a16="http://schemas.microsoft.com/office/drawing/2014/main" id="{1B537A4E-6805-CA70-BEDD-7FE511708D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7413" y="1354138"/>
            <a:ext cx="6630987" cy="709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86A08424-C232-8531-0F0C-D0BF404323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Pipes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DD353FE4-6FDA-5FC1-D220-17E2373280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352213" cy="6040438"/>
          </a:xfrm>
        </p:spPr>
        <p:txBody>
          <a:bodyPr/>
          <a:lstStyle/>
          <a:p>
            <a:r>
              <a:rPr lang="en-US" altLang="zh-TW" sz="2800"/>
              <a:t>Acts as a conduit allowing two processes to communicate</a:t>
            </a:r>
          </a:p>
          <a:p>
            <a:endParaRPr lang="en-US" altLang="zh-TW" sz="2800"/>
          </a:p>
          <a:p>
            <a:r>
              <a:rPr lang="en-US" altLang="zh-TW" sz="2800" b="1"/>
              <a:t>Issues</a:t>
            </a:r>
          </a:p>
          <a:p>
            <a:pPr lvl="1"/>
            <a:r>
              <a:rPr lang="en-US" altLang="zh-TW" sz="2400"/>
              <a:t>Is communication unidirectional or bidirectional?</a:t>
            </a:r>
          </a:p>
          <a:p>
            <a:pPr lvl="1"/>
            <a:r>
              <a:rPr lang="en-US" altLang="zh-TW" sz="2400"/>
              <a:t>In the case of two-way communication, is it half or full-duplex?</a:t>
            </a:r>
          </a:p>
          <a:p>
            <a:pPr lvl="1"/>
            <a:r>
              <a:rPr lang="en-US" altLang="zh-TW" sz="2400"/>
              <a:t>Must there exist a relationship (i.e. </a:t>
            </a:r>
            <a:r>
              <a:rPr lang="en-US" altLang="zh-TW" sz="2400" b="1" i="1"/>
              <a:t>parent-child</a:t>
            </a:r>
            <a:r>
              <a:rPr lang="en-US" altLang="zh-TW" sz="2400"/>
              <a:t>) between the communicating processes?</a:t>
            </a:r>
          </a:p>
          <a:p>
            <a:pPr lvl="1"/>
            <a:r>
              <a:rPr lang="en-US" altLang="zh-TW" sz="2400"/>
              <a:t>Can the pipes be used over a network?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6">
            <a:extLst>
              <a:ext uri="{FF2B5EF4-FFF2-40B4-BE49-F238E27FC236}">
                <a16:creationId xmlns:a16="http://schemas.microsoft.com/office/drawing/2014/main" id="{4F92F8FC-47DD-4531-D4B3-D6A42EA1A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Ordinary Pipes</a:t>
            </a:r>
          </a:p>
        </p:txBody>
      </p:sp>
      <p:sp>
        <p:nvSpPr>
          <p:cNvPr id="58371" name="Content Placeholder 7">
            <a:extLst>
              <a:ext uri="{FF2B5EF4-FFF2-40B4-BE49-F238E27FC236}">
                <a16:creationId xmlns:a16="http://schemas.microsoft.com/office/drawing/2014/main" id="{4DBD3B2D-E5E0-F1BA-782E-3C9ECDB3F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9675" y="1644650"/>
            <a:ext cx="11391900" cy="6040438"/>
          </a:xfrm>
        </p:spPr>
        <p:txBody>
          <a:bodyPr/>
          <a:lstStyle/>
          <a:p>
            <a:r>
              <a:rPr lang="en-US" altLang="zh-TW" sz="2400"/>
              <a:t>Ordinary Pipes</a:t>
            </a:r>
            <a:r>
              <a:rPr lang="en-US" altLang="zh-TW" sz="2400" b="1"/>
              <a:t> </a:t>
            </a:r>
            <a:r>
              <a:rPr lang="en-US" altLang="zh-TW" sz="2400"/>
              <a:t>allow communication in standard producer-consumer style</a:t>
            </a:r>
          </a:p>
          <a:p>
            <a:r>
              <a:rPr lang="en-US" altLang="zh-TW" sz="2400"/>
              <a:t>Producer writes to one end (the </a:t>
            </a:r>
            <a:r>
              <a:rPr lang="en-US" altLang="zh-TW" sz="2400" b="1">
                <a:solidFill>
                  <a:srgbClr val="0000FF"/>
                </a:solidFill>
              </a:rPr>
              <a:t>write-end </a:t>
            </a:r>
            <a:r>
              <a:rPr lang="en-US" altLang="zh-TW" sz="2400"/>
              <a:t>of the pipe)</a:t>
            </a:r>
          </a:p>
          <a:p>
            <a:r>
              <a:rPr lang="en-US" altLang="zh-TW" sz="2400"/>
              <a:t>Consumer reads from the other end (the </a:t>
            </a:r>
            <a:r>
              <a:rPr lang="en-US" altLang="zh-TW" sz="2400" b="1">
                <a:solidFill>
                  <a:srgbClr val="0000FF"/>
                </a:solidFill>
              </a:rPr>
              <a:t>read-end</a:t>
            </a:r>
            <a:r>
              <a:rPr lang="en-US" altLang="zh-TW" sz="2400" i="1"/>
              <a:t> </a:t>
            </a:r>
            <a:r>
              <a:rPr lang="en-US" altLang="zh-TW" sz="2400"/>
              <a:t>of the pipe)</a:t>
            </a:r>
          </a:p>
          <a:p>
            <a:r>
              <a:rPr lang="en-US" altLang="zh-TW" sz="2400"/>
              <a:t>Ordinary pipes are therefore unidirectional</a:t>
            </a:r>
          </a:p>
          <a:p>
            <a:r>
              <a:rPr lang="en-US" altLang="zh-TW" sz="2400"/>
              <a:t>Require parent-child relationship between communicating processes</a:t>
            </a:r>
          </a:p>
          <a:p>
            <a:pPr>
              <a:buFont typeface="Monotype Sorts" pitchFamily="-84" charset="2"/>
              <a:buNone/>
            </a:pPr>
            <a:endParaRPr lang="en-US" altLang="zh-TW"/>
          </a:p>
          <a:p>
            <a:endParaRPr lang="en-US" altLang="zh-TW"/>
          </a:p>
          <a:p>
            <a:endParaRPr lang="en-US" altLang="zh-TW"/>
          </a:p>
          <a:p>
            <a:endParaRPr lang="en-US" altLang="zh-TW"/>
          </a:p>
          <a:p>
            <a:endParaRPr lang="en-US" altLang="zh-TW"/>
          </a:p>
          <a:p>
            <a:endParaRPr lang="en-US" altLang="zh-TW"/>
          </a:p>
          <a:p>
            <a:endParaRPr lang="en-US" altLang="zh-TW"/>
          </a:p>
          <a:p>
            <a:endParaRPr lang="en-US" altLang="zh-TW"/>
          </a:p>
          <a:p>
            <a:r>
              <a:rPr lang="en-US" altLang="zh-TW" sz="2400"/>
              <a:t>Windows calls these </a:t>
            </a:r>
            <a:r>
              <a:rPr lang="en-US" altLang="zh-TW" sz="2400" b="1">
                <a:solidFill>
                  <a:srgbClr val="0000FF"/>
                </a:solidFill>
              </a:rPr>
              <a:t>anonymous pipes</a:t>
            </a:r>
          </a:p>
          <a:p>
            <a:r>
              <a:rPr lang="en-US" altLang="zh-TW" sz="2400"/>
              <a:t>See Unix and Windows code samples in textbook</a:t>
            </a:r>
          </a:p>
          <a:p>
            <a:endParaRPr lang="en-US" altLang="zh-TW"/>
          </a:p>
        </p:txBody>
      </p:sp>
      <p:pic>
        <p:nvPicPr>
          <p:cNvPr id="58372" name="Picture 4" descr="3">
            <a:extLst>
              <a:ext uri="{FF2B5EF4-FFF2-40B4-BE49-F238E27FC236}">
                <a16:creationId xmlns:a16="http://schemas.microsoft.com/office/drawing/2014/main" id="{6F7EE3D5-FB70-4AF0-B7B9-CD29CA9EA0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5075" y="4414838"/>
            <a:ext cx="8318500" cy="205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6">
            <a:extLst>
              <a:ext uri="{FF2B5EF4-FFF2-40B4-BE49-F238E27FC236}">
                <a16:creationId xmlns:a16="http://schemas.microsoft.com/office/drawing/2014/main" id="{04EB95C1-4EFC-AB1E-0B12-205CBD4D1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Named Pipes</a:t>
            </a:r>
          </a:p>
        </p:txBody>
      </p:sp>
      <p:sp>
        <p:nvSpPr>
          <p:cNvPr id="59395" name="Content Placeholder 7">
            <a:extLst>
              <a:ext uri="{FF2B5EF4-FFF2-40B4-BE49-F238E27FC236}">
                <a16:creationId xmlns:a16="http://schemas.microsoft.com/office/drawing/2014/main" id="{A32A3E05-F722-0F5C-FD0F-846212974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9675" y="1644650"/>
            <a:ext cx="12344400" cy="2574925"/>
          </a:xfrm>
        </p:spPr>
        <p:txBody>
          <a:bodyPr/>
          <a:lstStyle/>
          <a:p>
            <a:r>
              <a:rPr lang="en-US" altLang="zh-TW" sz="2400"/>
              <a:t>Named Pipes are more powerful than ordinary pipes</a:t>
            </a:r>
          </a:p>
          <a:p>
            <a:r>
              <a:rPr lang="en-US" altLang="zh-TW" sz="2400"/>
              <a:t>Communication is bidirectional</a:t>
            </a:r>
          </a:p>
          <a:p>
            <a:r>
              <a:rPr lang="en-US" altLang="zh-TW" sz="2400"/>
              <a:t>No parent-child relationship is necessary between the communicating processes</a:t>
            </a:r>
          </a:p>
          <a:p>
            <a:r>
              <a:rPr lang="en-US" altLang="zh-TW" sz="2400"/>
              <a:t>Several processes can use the named pipe for communication</a:t>
            </a:r>
          </a:p>
          <a:p>
            <a:r>
              <a:rPr lang="en-US" altLang="zh-TW" sz="2400"/>
              <a:t>Provided on both UNIX and Windows systems</a:t>
            </a:r>
          </a:p>
        </p:txBody>
      </p:sp>
      <p:pic>
        <p:nvPicPr>
          <p:cNvPr id="59396" name="Picture 4">
            <a:extLst>
              <a:ext uri="{FF2B5EF4-FFF2-40B4-BE49-F238E27FC236}">
                <a16:creationId xmlns:a16="http://schemas.microsoft.com/office/drawing/2014/main" id="{07159C14-5987-147E-D623-50DC1A5570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9488" y="4402138"/>
            <a:ext cx="9896475" cy="344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s-8">
  <a:themeElements>
    <a:clrScheme name="1_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1_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1_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6412</TotalTime>
  <Words>2942</Words>
  <Application>Microsoft Office PowerPoint</Application>
  <PresentationFormat>自定义</PresentationFormat>
  <Paragraphs>411</Paragraphs>
  <Slides>56</Slides>
  <Notes>55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56</vt:i4>
      </vt:variant>
    </vt:vector>
  </HeadingPairs>
  <TitlesOfParts>
    <vt:vector size="67" baseType="lpstr">
      <vt:lpstr>Verdana</vt:lpstr>
      <vt:lpstr>MS PGothic</vt:lpstr>
      <vt:lpstr>Arial</vt:lpstr>
      <vt:lpstr>Helvetica</vt:lpstr>
      <vt:lpstr>Monotype Sorts</vt:lpstr>
      <vt:lpstr>Webdings</vt:lpstr>
      <vt:lpstr>Times New Roman</vt:lpstr>
      <vt:lpstr>Courier New</vt:lpstr>
      <vt:lpstr>Symbol</vt:lpstr>
      <vt:lpstr>Monaco</vt:lpstr>
      <vt:lpstr>1_os-8</vt:lpstr>
      <vt:lpstr>Chapter 3:  Process Concept</vt:lpstr>
      <vt:lpstr>Chapter 3:  Process Concept</vt:lpstr>
      <vt:lpstr>Objectives</vt:lpstr>
      <vt:lpstr>Process Concept</vt:lpstr>
      <vt:lpstr>Process in Memory</vt:lpstr>
      <vt:lpstr>Process State</vt:lpstr>
      <vt:lpstr>Diagram of Process State</vt:lpstr>
      <vt:lpstr>Process Control Block (PCB)</vt:lpstr>
      <vt:lpstr>Threads</vt:lpstr>
      <vt:lpstr>Process Representation in Linux</vt:lpstr>
      <vt:lpstr>Process Scheduling</vt:lpstr>
      <vt:lpstr>Ready Queue And Various I/O Device Queues</vt:lpstr>
      <vt:lpstr>Representation of Process Scheduling</vt:lpstr>
      <vt:lpstr>Schedulers</vt:lpstr>
      <vt:lpstr>Addition of Medium Term Scheduling</vt:lpstr>
      <vt:lpstr>Multitasking in Mobile Systems</vt:lpstr>
      <vt:lpstr>Context Switch</vt:lpstr>
      <vt:lpstr>CPU Switch From Process to Process</vt:lpstr>
      <vt:lpstr>Operations on Processes</vt:lpstr>
      <vt:lpstr>Process Creation</vt:lpstr>
      <vt:lpstr>A Tree of Processes in Linux</vt:lpstr>
      <vt:lpstr>Process Creation (Cont.)</vt:lpstr>
      <vt:lpstr>C Program Forking Separate Process</vt:lpstr>
      <vt:lpstr>Creating a Separate Process via Windows API</vt:lpstr>
      <vt:lpstr>Process Termination</vt:lpstr>
      <vt:lpstr>Multiprocess Architecture – Chrome Browser</vt:lpstr>
      <vt:lpstr>Interprocess Communication</vt:lpstr>
      <vt:lpstr>Communications Models </vt:lpstr>
      <vt:lpstr>Producer-Consumer Problem</vt:lpstr>
      <vt:lpstr>Bounded-Buffer – Shared-Memory Solution</vt:lpstr>
      <vt:lpstr>Bounded-Buffer – Producer</vt:lpstr>
      <vt:lpstr>Bounded Buffer – Consumer</vt:lpstr>
      <vt:lpstr>Interprocess Communication – Message Passing</vt:lpstr>
      <vt:lpstr>Implementation Questions</vt:lpstr>
      <vt:lpstr>Direct Communication</vt:lpstr>
      <vt:lpstr>Indirect Communication (1)</vt:lpstr>
      <vt:lpstr>Indirect Communication (2)</vt:lpstr>
      <vt:lpstr>Indirect Communication (3)</vt:lpstr>
      <vt:lpstr>Synchronization (1)</vt:lpstr>
      <vt:lpstr>Synchronization (2)</vt:lpstr>
      <vt:lpstr>Buffering</vt:lpstr>
      <vt:lpstr>Examples of IPC Systems - POSIX</vt:lpstr>
      <vt:lpstr>IPC POSIX Producer</vt:lpstr>
      <vt:lpstr>IPC POSIX Consumer</vt:lpstr>
      <vt:lpstr>Examples of IPC Systems - Mach</vt:lpstr>
      <vt:lpstr>Examples of IPC Systems – Windows</vt:lpstr>
      <vt:lpstr>Local Procedure Calls in Windows XP</vt:lpstr>
      <vt:lpstr>Communications in Client-Server Systems</vt:lpstr>
      <vt:lpstr>Sockets</vt:lpstr>
      <vt:lpstr>Socket Communication</vt:lpstr>
      <vt:lpstr>Sockets in Java</vt:lpstr>
      <vt:lpstr>Remote Procedure Calls</vt:lpstr>
      <vt:lpstr>Execution of RPC</vt:lpstr>
      <vt:lpstr>Pipes</vt:lpstr>
      <vt:lpstr>Ordinary Pipes</vt:lpstr>
      <vt:lpstr>Named Pipes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4:  Processes</dc:title>
  <dc:creator>Marilyn Turnamian</dc:creator>
  <cp:lastModifiedBy>Administrator</cp:lastModifiedBy>
  <cp:revision>193</cp:revision>
  <cp:lastPrinted>2011-01-14T21:21:29Z</cp:lastPrinted>
  <dcterms:created xsi:type="dcterms:W3CDTF">2011-01-14T20:24:54Z</dcterms:created>
  <dcterms:modified xsi:type="dcterms:W3CDTF">2025-09-23T05:21:34Z</dcterms:modified>
</cp:coreProperties>
</file>