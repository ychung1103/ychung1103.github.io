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39"/>
  </p:notesMasterIdLst>
  <p:handoutMasterIdLst>
    <p:handoutMasterId r:id="rId40"/>
  </p:handoutMasterIdLst>
  <p:sldIdLst>
    <p:sldId id="330" r:id="rId2"/>
    <p:sldId id="377" r:id="rId3"/>
    <p:sldId id="378" r:id="rId4"/>
    <p:sldId id="379" r:id="rId5"/>
    <p:sldId id="366" r:id="rId6"/>
    <p:sldId id="407" r:id="rId7"/>
    <p:sldId id="380" r:id="rId8"/>
    <p:sldId id="381" r:id="rId9"/>
    <p:sldId id="435" r:id="rId10"/>
    <p:sldId id="384" r:id="rId11"/>
    <p:sldId id="385" r:id="rId12"/>
    <p:sldId id="391" r:id="rId13"/>
    <p:sldId id="409" r:id="rId14"/>
    <p:sldId id="400" r:id="rId15"/>
    <p:sldId id="434" r:id="rId16"/>
    <p:sldId id="367" r:id="rId17"/>
    <p:sldId id="369" r:id="rId18"/>
    <p:sldId id="370" r:id="rId19"/>
    <p:sldId id="414" r:id="rId20"/>
    <p:sldId id="371" r:id="rId21"/>
    <p:sldId id="372" r:id="rId22"/>
    <p:sldId id="416" r:id="rId23"/>
    <p:sldId id="386" r:id="rId24"/>
    <p:sldId id="432" r:id="rId25"/>
    <p:sldId id="398" r:id="rId26"/>
    <p:sldId id="389" r:id="rId27"/>
    <p:sldId id="390" r:id="rId28"/>
    <p:sldId id="401" r:id="rId29"/>
    <p:sldId id="431" r:id="rId30"/>
    <p:sldId id="402" r:id="rId31"/>
    <p:sldId id="387" r:id="rId32"/>
    <p:sldId id="392" r:id="rId33"/>
    <p:sldId id="412" r:id="rId34"/>
    <p:sldId id="394" r:id="rId35"/>
    <p:sldId id="395" r:id="rId36"/>
    <p:sldId id="396" r:id="rId37"/>
    <p:sldId id="331" r:id="rId38"/>
  </p:sldIdLst>
  <p:sldSz cx="9144000" cy="6858000" type="screen4x3"/>
  <p:notesSz cx="6881813"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ilberschatz, Avi" initials="SA" lastIdx="1" clrIdx="0">
    <p:extLst>
      <p:ext uri="{19B8F6BF-5375-455C-9EA6-DF929625EA0E}">
        <p15:presenceInfo xmlns:p15="http://schemas.microsoft.com/office/powerpoint/2012/main" userId="S::avi@yale.edu::016206a9-3acf-4d04-9473-be90a77fcf7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FFFFFF"/>
    <a:srgbClr val="663300"/>
    <a:srgbClr val="800000"/>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33" autoAdjust="0"/>
    <p:restoredTop sz="94667"/>
  </p:normalViewPr>
  <p:slideViewPr>
    <p:cSldViewPr snapToGrid="0">
      <p:cViewPr varScale="1">
        <p:scale>
          <a:sx n="60" d="100"/>
          <a:sy n="60" d="100"/>
        </p:scale>
        <p:origin x="1292" y="40"/>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54292038-6B0F-2949-BFB3-4480D5926108}"/>
              </a:ext>
            </a:extLst>
          </p:cNvPr>
          <p:cNvSpPr>
            <a:spLocks noGrp="1" noChangeArrowheads="1"/>
          </p:cNvSpPr>
          <p:nvPr>
            <p:ph type="hdr" sz="quarter"/>
          </p:nvPr>
        </p:nvSpPr>
        <p:spPr bwMode="auto">
          <a:xfrm>
            <a:off x="0"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3" name="Rectangle 3">
            <a:extLst>
              <a:ext uri="{FF2B5EF4-FFF2-40B4-BE49-F238E27FC236}">
                <a16:creationId xmlns:a16="http://schemas.microsoft.com/office/drawing/2014/main" id="{53CBFB87-3130-8A40-8B9F-D30E7EF9A785}"/>
              </a:ext>
            </a:extLst>
          </p:cNvPr>
          <p:cNvSpPr>
            <a:spLocks noGrp="1" noChangeArrowheads="1"/>
          </p:cNvSpPr>
          <p:nvPr>
            <p:ph type="dt" sz="quarter" idx="1"/>
          </p:nvPr>
        </p:nvSpPr>
        <p:spPr bwMode="auto">
          <a:xfrm>
            <a:off x="3878263"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algn="r" defTabSz="876300">
              <a:defRPr sz="1100">
                <a:latin typeface="Helvetica" charset="0"/>
                <a:ea typeface="ＭＳ Ｐゴシック" charset="-128"/>
                <a:cs typeface="ＭＳ Ｐゴシック" charset="-128"/>
              </a:defRPr>
            </a:lvl1pPr>
          </a:lstStyle>
          <a:p>
            <a:pPr>
              <a:defRPr/>
            </a:pPr>
            <a:endParaRPr lang="en-US"/>
          </a:p>
        </p:txBody>
      </p:sp>
      <p:sp>
        <p:nvSpPr>
          <p:cNvPr id="46084" name="Rectangle 4">
            <a:extLst>
              <a:ext uri="{FF2B5EF4-FFF2-40B4-BE49-F238E27FC236}">
                <a16:creationId xmlns:a16="http://schemas.microsoft.com/office/drawing/2014/main" id="{F0701F88-43FF-0741-8A3A-C0F52350229C}"/>
              </a:ext>
            </a:extLst>
          </p:cNvPr>
          <p:cNvSpPr>
            <a:spLocks noGrp="1" noChangeArrowheads="1"/>
          </p:cNvSpPr>
          <p:nvPr>
            <p:ph type="ftr" sz="quarter" idx="2"/>
          </p:nvPr>
        </p:nvSpPr>
        <p:spPr bwMode="auto">
          <a:xfrm>
            <a:off x="0"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5" name="Rectangle 5">
            <a:extLst>
              <a:ext uri="{FF2B5EF4-FFF2-40B4-BE49-F238E27FC236}">
                <a16:creationId xmlns:a16="http://schemas.microsoft.com/office/drawing/2014/main" id="{3A87DA65-858F-5A45-B34A-C02AA0EBFC03}"/>
              </a:ext>
            </a:extLst>
          </p:cNvPr>
          <p:cNvSpPr>
            <a:spLocks noGrp="1" noChangeArrowheads="1"/>
          </p:cNvSpPr>
          <p:nvPr>
            <p:ph type="sldNum" sz="quarter" idx="3"/>
          </p:nvPr>
        </p:nvSpPr>
        <p:spPr bwMode="auto">
          <a:xfrm>
            <a:off x="3878263"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algn="r" defTabSz="876300">
              <a:defRPr sz="1100">
                <a:latin typeface="Helvetica" pitchFamily="2" charset="0"/>
              </a:defRPr>
            </a:lvl1pPr>
          </a:lstStyle>
          <a:p>
            <a:pPr>
              <a:defRPr/>
            </a:pPr>
            <a:fld id="{C746EC8E-B597-402D-9662-ABD14BABEEF8}"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3A289FF7-9133-044D-B490-8A3FD0ABAE44}"/>
              </a:ext>
            </a:extLst>
          </p:cNvPr>
          <p:cNvSpPr>
            <a:spLocks noGrp="1" noChangeArrowheads="1"/>
          </p:cNvSpPr>
          <p:nvPr>
            <p:ph type="hdr" sz="quarter"/>
          </p:nvPr>
        </p:nvSpPr>
        <p:spPr bwMode="auto">
          <a:xfrm>
            <a:off x="0"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47" name="Rectangle 3">
            <a:extLst>
              <a:ext uri="{FF2B5EF4-FFF2-40B4-BE49-F238E27FC236}">
                <a16:creationId xmlns:a16="http://schemas.microsoft.com/office/drawing/2014/main" id="{E37CAAC1-3D1D-9E43-A83C-E5D89AC65067}"/>
              </a:ext>
            </a:extLst>
          </p:cNvPr>
          <p:cNvSpPr>
            <a:spLocks noGrp="1" noChangeArrowheads="1"/>
          </p:cNvSpPr>
          <p:nvPr>
            <p:ph type="dt" idx="1"/>
          </p:nvPr>
        </p:nvSpPr>
        <p:spPr bwMode="auto">
          <a:xfrm>
            <a:off x="3900488"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algn="r" defTabSz="923925">
              <a:defRPr sz="1200">
                <a:latin typeface="Times New Roman" charset="0"/>
                <a:ea typeface="ＭＳ Ｐゴシック" charset="-128"/>
                <a:cs typeface="ＭＳ Ｐゴシック" charset="-128"/>
              </a:defRPr>
            </a:lvl1pPr>
          </a:lstStyle>
          <a:p>
            <a:pPr>
              <a:defRPr/>
            </a:pPr>
            <a:endParaRPr lang="en-US"/>
          </a:p>
        </p:txBody>
      </p:sp>
      <p:sp>
        <p:nvSpPr>
          <p:cNvPr id="3076" name="Rectangle 4">
            <a:extLst>
              <a:ext uri="{FF2B5EF4-FFF2-40B4-BE49-F238E27FC236}">
                <a16:creationId xmlns:a16="http://schemas.microsoft.com/office/drawing/2014/main" id="{DED26F54-2C52-46FF-BCE0-8696D7541572}"/>
              </a:ext>
            </a:extLst>
          </p:cNvPr>
          <p:cNvSpPr>
            <a:spLocks noGrp="1" noRot="1" noChangeAspect="1" noChangeArrowheads="1" noTextEdit="1"/>
          </p:cNvSpPr>
          <p:nvPr>
            <p:ph type="sldImg" idx="2"/>
          </p:nvPr>
        </p:nvSpPr>
        <p:spPr bwMode="auto">
          <a:xfrm>
            <a:off x="1117600" y="698500"/>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180789FC-DD11-5542-803A-9516EB334E31}"/>
              </a:ext>
            </a:extLst>
          </p:cNvPr>
          <p:cNvSpPr>
            <a:spLocks noGrp="1" noChangeArrowheads="1"/>
          </p:cNvSpPr>
          <p:nvPr>
            <p:ph type="body" sz="quarter" idx="3"/>
          </p:nvPr>
        </p:nvSpPr>
        <p:spPr bwMode="auto">
          <a:xfrm>
            <a:off x="917575" y="4416425"/>
            <a:ext cx="5046663" cy="4181475"/>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58A87854-4AA0-1349-AAA1-90BFC8DE2E9F}"/>
              </a:ext>
            </a:extLst>
          </p:cNvPr>
          <p:cNvSpPr>
            <a:spLocks noGrp="1" noChangeArrowheads="1"/>
          </p:cNvSpPr>
          <p:nvPr>
            <p:ph type="ftr" sz="quarter" idx="4"/>
          </p:nvPr>
        </p:nvSpPr>
        <p:spPr bwMode="auto">
          <a:xfrm>
            <a:off x="0"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51" name="Rectangle 7">
            <a:extLst>
              <a:ext uri="{FF2B5EF4-FFF2-40B4-BE49-F238E27FC236}">
                <a16:creationId xmlns:a16="http://schemas.microsoft.com/office/drawing/2014/main" id="{97C6A482-1B06-854B-9B2C-D5CE05B6625A}"/>
              </a:ext>
            </a:extLst>
          </p:cNvPr>
          <p:cNvSpPr>
            <a:spLocks noGrp="1" noChangeArrowheads="1"/>
          </p:cNvSpPr>
          <p:nvPr>
            <p:ph type="sldNum" sz="quarter" idx="5"/>
          </p:nvPr>
        </p:nvSpPr>
        <p:spPr bwMode="auto">
          <a:xfrm>
            <a:off x="3900488"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algn="r" defTabSz="923925">
              <a:defRPr sz="1200">
                <a:latin typeface="Times New Roman" panose="02020603050405020304" pitchFamily="18" charset="0"/>
              </a:defRPr>
            </a:lvl1pPr>
          </a:lstStyle>
          <a:p>
            <a:pPr>
              <a:defRPr/>
            </a:pPr>
            <a:fld id="{F8DDF7C7-3008-4DC4-9F8B-1490BCFC99E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D6E874EA-6D46-4D5A-A67E-32C6E4712BC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DDC88E0-05A8-4892-B21E-9326A8D3E05F}"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7" name="Rectangle 2">
            <a:extLst>
              <a:ext uri="{FF2B5EF4-FFF2-40B4-BE49-F238E27FC236}">
                <a16:creationId xmlns:a16="http://schemas.microsoft.com/office/drawing/2014/main" id="{76CF1BC6-EF44-430B-853A-1916C3A57333}"/>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53BC5144-BC73-40F2-9D46-6DC1B56AC6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613D277C-8B8F-4523-80FE-71129E615B82}"/>
              </a:ext>
            </a:extLst>
          </p:cNvPr>
          <p:cNvSpPr>
            <a:spLocks noGrp="1" noRot="1" noChangeAspect="1" noChangeArrowheads="1" noTextEdit="1"/>
          </p:cNvSpPr>
          <p:nvPr>
            <p:ph type="sldImg"/>
          </p:nvPr>
        </p:nvSpPr>
        <p:spPr>
          <a:xfrm>
            <a:off x="1117600" y="696913"/>
            <a:ext cx="4648200" cy="3486150"/>
          </a:xfrm>
          <a:ln/>
        </p:spPr>
      </p:sp>
      <p:sp>
        <p:nvSpPr>
          <p:cNvPr id="70659" name="Rectangle 3">
            <a:extLst>
              <a:ext uri="{FF2B5EF4-FFF2-40B4-BE49-F238E27FC236}">
                <a16:creationId xmlns:a16="http://schemas.microsoft.com/office/drawing/2014/main" id="{14169C85-AF33-4BBC-A46F-47B5A7D6A7E5}"/>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6B585EF5-7930-45AD-B664-C6D80F420C80}"/>
              </a:ext>
            </a:extLst>
          </p:cNvPr>
          <p:cNvSpPr>
            <a:spLocks noGrp="1" noRot="1" noChangeAspect="1" noChangeArrowheads="1" noTextEdit="1"/>
          </p:cNvSpPr>
          <p:nvPr>
            <p:ph type="sldImg"/>
          </p:nvPr>
        </p:nvSpPr>
        <p:spPr>
          <a:xfrm>
            <a:off x="1117600" y="696913"/>
            <a:ext cx="4648200" cy="3486150"/>
          </a:xfrm>
          <a:ln/>
        </p:spPr>
      </p:sp>
      <p:sp>
        <p:nvSpPr>
          <p:cNvPr id="72707" name="Rectangle 3">
            <a:extLst>
              <a:ext uri="{FF2B5EF4-FFF2-40B4-BE49-F238E27FC236}">
                <a16:creationId xmlns:a16="http://schemas.microsoft.com/office/drawing/2014/main" id="{C3AA076D-DCC9-489F-884A-D43E6793BA2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6A88387A-220D-46DE-87B0-5AB53B8B9714}"/>
              </a:ext>
            </a:extLst>
          </p:cNvPr>
          <p:cNvSpPr>
            <a:spLocks noGrp="1" noRot="1" noChangeAspect="1" noChangeArrowheads="1" noTextEdit="1"/>
          </p:cNvSpPr>
          <p:nvPr>
            <p:ph type="sldImg"/>
          </p:nvPr>
        </p:nvSpPr>
        <p:spPr>
          <a:xfrm>
            <a:off x="1117600" y="696913"/>
            <a:ext cx="4648200" cy="3486150"/>
          </a:xfrm>
          <a:ln/>
        </p:spPr>
      </p:sp>
      <p:sp>
        <p:nvSpPr>
          <p:cNvPr id="74755" name="Rectangle 3">
            <a:extLst>
              <a:ext uri="{FF2B5EF4-FFF2-40B4-BE49-F238E27FC236}">
                <a16:creationId xmlns:a16="http://schemas.microsoft.com/office/drawing/2014/main" id="{AACB5DF9-CFCC-45D6-AED8-0DFB1F853FE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B4EB6689-0573-4E96-ABEC-0606AE2C09F1}"/>
              </a:ext>
            </a:extLst>
          </p:cNvPr>
          <p:cNvSpPr>
            <a:spLocks noGrp="1" noRot="1" noChangeAspect="1" noChangeArrowheads="1" noTextEdit="1"/>
          </p:cNvSpPr>
          <p:nvPr>
            <p:ph type="sldImg"/>
          </p:nvPr>
        </p:nvSpPr>
        <p:spPr>
          <a:xfrm>
            <a:off x="1117600" y="696913"/>
            <a:ext cx="4648200" cy="3486150"/>
          </a:xfrm>
          <a:ln/>
        </p:spPr>
      </p:sp>
      <p:sp>
        <p:nvSpPr>
          <p:cNvPr id="80899" name="Rectangle 3">
            <a:extLst>
              <a:ext uri="{FF2B5EF4-FFF2-40B4-BE49-F238E27FC236}">
                <a16:creationId xmlns:a16="http://schemas.microsoft.com/office/drawing/2014/main" id="{1B13B122-1B3A-46FE-9DCF-D26B9C451EE4}"/>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1630E1CF-99A4-4AEE-822B-EB5954B36B09}"/>
              </a:ext>
            </a:extLst>
          </p:cNvPr>
          <p:cNvSpPr>
            <a:spLocks noGrp="1" noRot="1" noChangeAspect="1" noChangeArrowheads="1" noTextEdit="1"/>
          </p:cNvSpPr>
          <p:nvPr>
            <p:ph type="sldImg"/>
          </p:nvPr>
        </p:nvSpPr>
        <p:spPr>
          <a:xfrm>
            <a:off x="1117600" y="696913"/>
            <a:ext cx="4648200" cy="3486150"/>
          </a:xfrm>
          <a:ln/>
        </p:spPr>
      </p:sp>
      <p:sp>
        <p:nvSpPr>
          <p:cNvPr id="84995" name="Rectangle 3">
            <a:extLst>
              <a:ext uri="{FF2B5EF4-FFF2-40B4-BE49-F238E27FC236}">
                <a16:creationId xmlns:a16="http://schemas.microsoft.com/office/drawing/2014/main" id="{FFDF815E-E69D-4A6E-908C-546EA2D0824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DA32F06E-769C-4B1C-9E7C-D9FC05F6F8C7}"/>
              </a:ext>
            </a:extLst>
          </p:cNvPr>
          <p:cNvSpPr>
            <a:spLocks noGrp="1" noRot="1" noChangeAspect="1" noChangeArrowheads="1" noTextEdit="1"/>
          </p:cNvSpPr>
          <p:nvPr>
            <p:ph type="sldImg"/>
          </p:nvPr>
        </p:nvSpPr>
        <p:spPr>
          <a:xfrm>
            <a:off x="1117600" y="696913"/>
            <a:ext cx="4648200" cy="3486150"/>
          </a:xfrm>
          <a:ln/>
        </p:spPr>
      </p:sp>
      <p:sp>
        <p:nvSpPr>
          <p:cNvPr id="76803" name="Rectangle 3">
            <a:extLst>
              <a:ext uri="{FF2B5EF4-FFF2-40B4-BE49-F238E27FC236}">
                <a16:creationId xmlns:a16="http://schemas.microsoft.com/office/drawing/2014/main" id="{F41AD308-933F-4670-85F5-08B34300D60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D4551F08-E163-4B78-BDB8-468F317C6B03}"/>
              </a:ext>
            </a:extLst>
          </p:cNvPr>
          <p:cNvSpPr>
            <a:spLocks noGrp="1" noRot="1" noChangeAspect="1" noChangeArrowheads="1" noTextEdit="1"/>
          </p:cNvSpPr>
          <p:nvPr>
            <p:ph type="sldImg"/>
          </p:nvPr>
        </p:nvSpPr>
        <p:spPr>
          <a:xfrm>
            <a:off x="1117600" y="696913"/>
            <a:ext cx="4648200" cy="3486150"/>
          </a:xfrm>
          <a:ln/>
        </p:spPr>
      </p:sp>
      <p:sp>
        <p:nvSpPr>
          <p:cNvPr id="78851" name="Rectangle 3">
            <a:extLst>
              <a:ext uri="{FF2B5EF4-FFF2-40B4-BE49-F238E27FC236}">
                <a16:creationId xmlns:a16="http://schemas.microsoft.com/office/drawing/2014/main" id="{AC3A3A05-AF23-43D6-95CB-5F6DB21E7037}"/>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ECC7FDDF-4DBE-4749-A693-95E4CEB96B45}"/>
              </a:ext>
            </a:extLst>
          </p:cNvPr>
          <p:cNvSpPr>
            <a:spLocks noGrp="1" noRot="1" noChangeAspect="1" noChangeArrowheads="1" noTextEdit="1"/>
          </p:cNvSpPr>
          <p:nvPr>
            <p:ph type="sldImg"/>
          </p:nvPr>
        </p:nvSpPr>
        <p:spPr>
          <a:xfrm>
            <a:off x="1117600" y="696913"/>
            <a:ext cx="4648200" cy="3486150"/>
          </a:xfrm>
          <a:ln/>
        </p:spPr>
      </p:sp>
      <p:sp>
        <p:nvSpPr>
          <p:cNvPr id="82947" name="Rectangle 3">
            <a:extLst>
              <a:ext uri="{FF2B5EF4-FFF2-40B4-BE49-F238E27FC236}">
                <a16:creationId xmlns:a16="http://schemas.microsoft.com/office/drawing/2014/main" id="{9247B18B-E0DC-42EF-8000-B3A4416D7F49}"/>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156805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911B757C-11F6-4804-BBBA-51D10766365A}"/>
              </a:ext>
            </a:extLst>
          </p:cNvPr>
          <p:cNvSpPr>
            <a:spLocks noGrp="1" noRot="1" noChangeAspect="1" noChangeArrowheads="1" noTextEdit="1"/>
          </p:cNvSpPr>
          <p:nvPr>
            <p:ph type="sldImg"/>
          </p:nvPr>
        </p:nvSpPr>
        <p:spPr>
          <a:xfrm>
            <a:off x="1117600" y="696913"/>
            <a:ext cx="4648200" cy="3486150"/>
          </a:xfrm>
          <a:ln/>
        </p:spPr>
      </p:sp>
      <p:sp>
        <p:nvSpPr>
          <p:cNvPr id="87043" name="Rectangle 3">
            <a:extLst>
              <a:ext uri="{FF2B5EF4-FFF2-40B4-BE49-F238E27FC236}">
                <a16:creationId xmlns:a16="http://schemas.microsoft.com/office/drawing/2014/main" id="{0AC8E09B-CF1C-49E5-863A-C8016F142BE5}"/>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F7F05CA5-3915-46C5-B3F7-080E3C487494}"/>
              </a:ext>
            </a:extLst>
          </p:cNvPr>
          <p:cNvSpPr>
            <a:spLocks noGrp="1" noRot="1" noChangeAspect="1" noChangeArrowheads="1" noTextEdit="1"/>
          </p:cNvSpPr>
          <p:nvPr>
            <p:ph type="sldImg"/>
          </p:nvPr>
        </p:nvSpPr>
        <p:spPr>
          <a:xfrm>
            <a:off x="1117600" y="696913"/>
            <a:ext cx="4648200" cy="3486150"/>
          </a:xfrm>
          <a:ln/>
        </p:spPr>
      </p:sp>
      <p:sp>
        <p:nvSpPr>
          <p:cNvPr id="89091" name="Rectangle 3">
            <a:extLst>
              <a:ext uri="{FF2B5EF4-FFF2-40B4-BE49-F238E27FC236}">
                <a16:creationId xmlns:a16="http://schemas.microsoft.com/office/drawing/2014/main" id="{2F62E373-C1E7-4913-829D-D4F7CEE6581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7998D125-052E-430C-A5E5-045AF42622E7}"/>
              </a:ext>
            </a:extLst>
          </p:cNvPr>
          <p:cNvSpPr>
            <a:spLocks noGrp="1" noRot="1" noChangeAspect="1" noChangeArrowheads="1" noTextEdit="1"/>
          </p:cNvSpPr>
          <p:nvPr>
            <p:ph type="sldImg"/>
          </p:nvPr>
        </p:nvSpPr>
        <p:spPr>
          <a:xfrm>
            <a:off x="1117600" y="696913"/>
            <a:ext cx="4648200" cy="3486150"/>
          </a:xfrm>
          <a:ln/>
        </p:spPr>
      </p:sp>
      <p:sp>
        <p:nvSpPr>
          <p:cNvPr id="91139" name="Rectangle 3">
            <a:extLst>
              <a:ext uri="{FF2B5EF4-FFF2-40B4-BE49-F238E27FC236}">
                <a16:creationId xmlns:a16="http://schemas.microsoft.com/office/drawing/2014/main" id="{854BE39E-4EE8-44E7-927E-467747CCDC4D}"/>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758CADB1-93CB-4274-A8D1-692400277852}"/>
              </a:ext>
            </a:extLst>
          </p:cNvPr>
          <p:cNvSpPr>
            <a:spLocks noGrp="1" noRot="1" noChangeAspect="1" noChangeArrowheads="1" noTextEdit="1"/>
          </p:cNvSpPr>
          <p:nvPr>
            <p:ph type="sldImg"/>
          </p:nvPr>
        </p:nvSpPr>
        <p:spPr>
          <a:xfrm>
            <a:off x="1117600" y="696913"/>
            <a:ext cx="4648200" cy="3486150"/>
          </a:xfrm>
          <a:ln/>
        </p:spPr>
      </p:sp>
      <p:sp>
        <p:nvSpPr>
          <p:cNvPr id="93187" name="Rectangle 3">
            <a:extLst>
              <a:ext uri="{FF2B5EF4-FFF2-40B4-BE49-F238E27FC236}">
                <a16:creationId xmlns:a16="http://schemas.microsoft.com/office/drawing/2014/main" id="{B72E9B2A-EB18-4339-B030-69967F55A4B7}"/>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B2BD6E28-4416-466E-9B96-F46B9236EFA0}"/>
              </a:ext>
            </a:extLst>
          </p:cNvPr>
          <p:cNvSpPr>
            <a:spLocks noGrp="1" noRot="1" noChangeAspect="1" noChangeArrowheads="1" noTextEdit="1"/>
          </p:cNvSpPr>
          <p:nvPr>
            <p:ph type="sldImg"/>
          </p:nvPr>
        </p:nvSpPr>
        <p:spPr>
          <a:xfrm>
            <a:off x="1117600" y="696913"/>
            <a:ext cx="4648200" cy="3486150"/>
          </a:xfrm>
          <a:ln/>
        </p:spPr>
      </p:sp>
      <p:sp>
        <p:nvSpPr>
          <p:cNvPr id="95235" name="Rectangle 3">
            <a:extLst>
              <a:ext uri="{FF2B5EF4-FFF2-40B4-BE49-F238E27FC236}">
                <a16:creationId xmlns:a16="http://schemas.microsoft.com/office/drawing/2014/main" id="{EB7937B3-A5D5-4AE2-BC95-CEE0E5EA00E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59D70ADE-4177-45D4-B042-C72A3AF4FD6C}"/>
              </a:ext>
            </a:extLst>
          </p:cNvPr>
          <p:cNvSpPr>
            <a:spLocks noGrp="1" noRot="1" noChangeAspect="1" noChangeArrowheads="1" noTextEdit="1"/>
          </p:cNvSpPr>
          <p:nvPr>
            <p:ph type="sldImg"/>
          </p:nvPr>
        </p:nvSpPr>
        <p:spPr>
          <a:xfrm>
            <a:off x="1117600" y="696913"/>
            <a:ext cx="4648200" cy="3486150"/>
          </a:xfrm>
          <a:ln/>
        </p:spPr>
      </p:sp>
      <p:sp>
        <p:nvSpPr>
          <p:cNvPr id="49155" name="Rectangle 3">
            <a:extLst>
              <a:ext uri="{FF2B5EF4-FFF2-40B4-BE49-F238E27FC236}">
                <a16:creationId xmlns:a16="http://schemas.microsoft.com/office/drawing/2014/main" id="{9845E423-F7A0-49A5-85DD-F75CACE8C294}"/>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536025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D0CF294F-1963-42C7-A1B8-DE28A28FD0D5}"/>
              </a:ext>
            </a:extLst>
          </p:cNvPr>
          <p:cNvSpPr>
            <a:spLocks noGrp="1" noRot="1" noChangeAspect="1" noChangeArrowheads="1" noTextEdit="1"/>
          </p:cNvSpPr>
          <p:nvPr>
            <p:ph type="sldImg"/>
          </p:nvPr>
        </p:nvSpPr>
        <p:spPr>
          <a:xfrm>
            <a:off x="1117600" y="696913"/>
            <a:ext cx="4648200" cy="3486150"/>
          </a:xfrm>
          <a:ln/>
        </p:spPr>
      </p:sp>
      <p:sp>
        <p:nvSpPr>
          <p:cNvPr id="51203" name="Rectangle 3">
            <a:extLst>
              <a:ext uri="{FF2B5EF4-FFF2-40B4-BE49-F238E27FC236}">
                <a16:creationId xmlns:a16="http://schemas.microsoft.com/office/drawing/2014/main" id="{9B743749-804F-4046-95C8-7448913085B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456474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5BC952F1-69DB-4826-90B8-43407F666E38}"/>
              </a:ext>
            </a:extLst>
          </p:cNvPr>
          <p:cNvSpPr>
            <a:spLocks noGrp="1" noRot="1" noChangeAspect="1" noChangeArrowheads="1" noTextEdit="1"/>
          </p:cNvSpPr>
          <p:nvPr>
            <p:ph type="sldImg"/>
          </p:nvPr>
        </p:nvSpPr>
        <p:spPr>
          <a:xfrm>
            <a:off x="1117600" y="696913"/>
            <a:ext cx="4648200" cy="3486150"/>
          </a:xfrm>
          <a:ln/>
        </p:spPr>
      </p:sp>
      <p:sp>
        <p:nvSpPr>
          <p:cNvPr id="53251" name="Rectangle 3">
            <a:extLst>
              <a:ext uri="{FF2B5EF4-FFF2-40B4-BE49-F238E27FC236}">
                <a16:creationId xmlns:a16="http://schemas.microsoft.com/office/drawing/2014/main" id="{7181C0DC-0BF2-45FF-BE72-90467A2E1B4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192982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35192CAD-8D91-4D40-AA61-971837660FF4}"/>
              </a:ext>
            </a:extLst>
          </p:cNvPr>
          <p:cNvSpPr>
            <a:spLocks noGrp="1" noRot="1" noChangeAspect="1" noChangeArrowheads="1" noTextEdit="1"/>
          </p:cNvSpPr>
          <p:nvPr>
            <p:ph type="sldImg"/>
          </p:nvPr>
        </p:nvSpPr>
        <p:spPr>
          <a:xfrm>
            <a:off x="1117600" y="696913"/>
            <a:ext cx="4648200" cy="3486150"/>
          </a:xfrm>
          <a:ln/>
        </p:spPr>
      </p:sp>
      <p:sp>
        <p:nvSpPr>
          <p:cNvPr id="56323" name="Rectangle 3">
            <a:extLst>
              <a:ext uri="{FF2B5EF4-FFF2-40B4-BE49-F238E27FC236}">
                <a16:creationId xmlns:a16="http://schemas.microsoft.com/office/drawing/2014/main" id="{193C388B-A9BF-43E9-BE5C-A9011280A0E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395826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1E8609E4-2FA6-4985-9D67-5FCD713B133E}"/>
              </a:ext>
            </a:extLst>
          </p:cNvPr>
          <p:cNvSpPr>
            <a:spLocks noGrp="1" noRot="1" noChangeAspect="1" noChangeArrowheads="1" noTextEdit="1"/>
          </p:cNvSpPr>
          <p:nvPr>
            <p:ph type="sldImg"/>
          </p:nvPr>
        </p:nvSpPr>
        <p:spPr>
          <a:xfrm>
            <a:off x="1117600" y="696913"/>
            <a:ext cx="4648200" cy="3486150"/>
          </a:xfrm>
          <a:ln/>
        </p:spPr>
      </p:sp>
      <p:sp>
        <p:nvSpPr>
          <p:cNvPr id="103427" name="Rectangle 3">
            <a:extLst>
              <a:ext uri="{FF2B5EF4-FFF2-40B4-BE49-F238E27FC236}">
                <a16:creationId xmlns:a16="http://schemas.microsoft.com/office/drawing/2014/main" id="{BE4AB7D9-4D3B-49B7-A873-A570C1E105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2879CCAE-5999-4F9C-B096-A4124463BA56}"/>
              </a:ext>
            </a:extLst>
          </p:cNvPr>
          <p:cNvSpPr>
            <a:spLocks noGrp="1" noRot="1" noChangeAspect="1" noChangeArrowheads="1" noTextEdit="1"/>
          </p:cNvSpPr>
          <p:nvPr>
            <p:ph type="sldImg"/>
          </p:nvPr>
        </p:nvSpPr>
        <p:spPr>
          <a:xfrm>
            <a:off x="1117600" y="696913"/>
            <a:ext cx="4648200" cy="3486150"/>
          </a:xfrm>
          <a:ln/>
        </p:spPr>
      </p:sp>
      <p:sp>
        <p:nvSpPr>
          <p:cNvPr id="105475" name="Rectangle 3">
            <a:extLst>
              <a:ext uri="{FF2B5EF4-FFF2-40B4-BE49-F238E27FC236}">
                <a16:creationId xmlns:a16="http://schemas.microsoft.com/office/drawing/2014/main" id="{127FEFA8-9D45-40D3-A1F0-799DC10A2EF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6547A43D-05BF-453A-830D-AFDB612267D2}"/>
              </a:ext>
            </a:extLst>
          </p:cNvPr>
          <p:cNvSpPr>
            <a:spLocks noGrp="1" noRot="1" noChangeAspect="1" noChangeArrowheads="1" noTextEdit="1"/>
          </p:cNvSpPr>
          <p:nvPr>
            <p:ph type="sldImg"/>
          </p:nvPr>
        </p:nvSpPr>
        <p:spPr>
          <a:xfrm>
            <a:off x="1117600" y="696913"/>
            <a:ext cx="4648200" cy="3486150"/>
          </a:xfrm>
          <a:ln/>
        </p:spPr>
      </p:sp>
      <p:sp>
        <p:nvSpPr>
          <p:cNvPr id="107523" name="Rectangle 3">
            <a:extLst>
              <a:ext uri="{FF2B5EF4-FFF2-40B4-BE49-F238E27FC236}">
                <a16:creationId xmlns:a16="http://schemas.microsoft.com/office/drawing/2014/main" id="{6239D267-6630-4441-AAD5-6EBECFC6D832}"/>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6547A43D-05BF-453A-830D-AFDB612267D2}"/>
              </a:ext>
            </a:extLst>
          </p:cNvPr>
          <p:cNvSpPr>
            <a:spLocks noGrp="1" noRot="1" noChangeAspect="1" noChangeArrowheads="1" noTextEdit="1"/>
          </p:cNvSpPr>
          <p:nvPr>
            <p:ph type="sldImg"/>
          </p:nvPr>
        </p:nvSpPr>
        <p:spPr>
          <a:xfrm>
            <a:off x="1117600" y="696913"/>
            <a:ext cx="4648200" cy="3486150"/>
          </a:xfrm>
          <a:ln/>
        </p:spPr>
      </p:sp>
      <p:sp>
        <p:nvSpPr>
          <p:cNvPr id="107523" name="Rectangle 3">
            <a:extLst>
              <a:ext uri="{FF2B5EF4-FFF2-40B4-BE49-F238E27FC236}">
                <a16:creationId xmlns:a16="http://schemas.microsoft.com/office/drawing/2014/main" id="{6239D267-6630-4441-AAD5-6EBECFC6D832}"/>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338172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97859DD6-BC94-4BD7-A1B1-5F19EE224C42}"/>
              </a:ext>
            </a:extLst>
          </p:cNvPr>
          <p:cNvSpPr>
            <a:spLocks noGrp="1" noRot="1" noChangeAspect="1" noChangeArrowheads="1" noTextEdit="1"/>
          </p:cNvSpPr>
          <p:nvPr>
            <p:ph type="sldImg"/>
          </p:nvPr>
        </p:nvSpPr>
        <p:spPr>
          <a:xfrm>
            <a:off x="1117600" y="696913"/>
            <a:ext cx="4648200" cy="3486150"/>
          </a:xfrm>
          <a:ln/>
        </p:spPr>
      </p:sp>
      <p:sp>
        <p:nvSpPr>
          <p:cNvPr id="109571" name="Rectangle 3">
            <a:extLst>
              <a:ext uri="{FF2B5EF4-FFF2-40B4-BE49-F238E27FC236}">
                <a16:creationId xmlns:a16="http://schemas.microsoft.com/office/drawing/2014/main" id="{4650457B-4F99-4189-9BD5-63C91DCDB78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06069D3D-AC19-4939-8422-88ECED6ED43E}"/>
              </a:ext>
            </a:extLst>
          </p:cNvPr>
          <p:cNvSpPr>
            <a:spLocks noGrp="1" noRot="1" noChangeAspect="1" noChangeArrowheads="1" noTextEdit="1"/>
          </p:cNvSpPr>
          <p:nvPr>
            <p:ph type="sldImg"/>
          </p:nvPr>
        </p:nvSpPr>
        <p:spPr>
          <a:xfrm>
            <a:off x="1117600" y="696913"/>
            <a:ext cx="4648200" cy="3486150"/>
          </a:xfrm>
          <a:ln/>
        </p:spPr>
      </p:sp>
      <p:sp>
        <p:nvSpPr>
          <p:cNvPr id="112643" name="Rectangle 3">
            <a:extLst>
              <a:ext uri="{FF2B5EF4-FFF2-40B4-BE49-F238E27FC236}">
                <a16:creationId xmlns:a16="http://schemas.microsoft.com/office/drawing/2014/main" id="{2E50F47B-95E4-459A-8DDE-53FCF760EDF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17CA9BD9-E623-4E66-A683-125891C2F87F}"/>
              </a:ext>
            </a:extLst>
          </p:cNvPr>
          <p:cNvSpPr>
            <a:spLocks noGrp="1" noRot="1" noChangeAspect="1" noChangeArrowheads="1" noTextEdit="1"/>
          </p:cNvSpPr>
          <p:nvPr>
            <p:ph type="sldImg"/>
          </p:nvPr>
        </p:nvSpPr>
        <p:spPr>
          <a:xfrm>
            <a:off x="1117600" y="696913"/>
            <a:ext cx="4648200" cy="3486150"/>
          </a:xfrm>
          <a:ln/>
        </p:spPr>
      </p:sp>
      <p:sp>
        <p:nvSpPr>
          <p:cNvPr id="114691" name="Rectangle 3">
            <a:extLst>
              <a:ext uri="{FF2B5EF4-FFF2-40B4-BE49-F238E27FC236}">
                <a16:creationId xmlns:a16="http://schemas.microsoft.com/office/drawing/2014/main" id="{2849FF62-7A4B-455B-B716-C39D5DEA566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a:extLst>
              <a:ext uri="{FF2B5EF4-FFF2-40B4-BE49-F238E27FC236}">
                <a16:creationId xmlns:a16="http://schemas.microsoft.com/office/drawing/2014/main" id="{024C80D8-4B5B-4CF0-9E74-1F333CFDBF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CACA46D-0338-463B-AD68-EE5177F9CE61}" type="slidenum">
              <a:rPr lang="en-US" altLang="en-US" smtClean="0">
                <a:latin typeface="Times New Roman" panose="02020603050405020304" pitchFamily="18" charset="0"/>
              </a:rPr>
              <a:pPr/>
              <a:t>37</a:t>
            </a:fld>
            <a:endParaRPr lang="en-US" altLang="en-US">
              <a:latin typeface="Times New Roman" panose="02020603050405020304" pitchFamily="18" charset="0"/>
            </a:endParaRPr>
          </a:p>
        </p:txBody>
      </p:sp>
      <p:sp>
        <p:nvSpPr>
          <p:cNvPr id="116739" name="Rectangle 2">
            <a:extLst>
              <a:ext uri="{FF2B5EF4-FFF2-40B4-BE49-F238E27FC236}">
                <a16:creationId xmlns:a16="http://schemas.microsoft.com/office/drawing/2014/main" id="{2C7231C7-7B0E-4112-98C4-3E0CA9887CCF}"/>
              </a:ext>
            </a:extLst>
          </p:cNvPr>
          <p:cNvSpPr>
            <a:spLocks noGrp="1" noRot="1" noChangeAspect="1" noChangeArrowheads="1" noTextEdit="1"/>
          </p:cNvSpPr>
          <p:nvPr>
            <p:ph type="sldImg"/>
          </p:nvPr>
        </p:nvSpPr>
        <p:spPr>
          <a:ln/>
        </p:spPr>
      </p:sp>
      <p:sp>
        <p:nvSpPr>
          <p:cNvPr id="116740" name="Rectangle 3">
            <a:extLst>
              <a:ext uri="{FF2B5EF4-FFF2-40B4-BE49-F238E27FC236}">
                <a16:creationId xmlns:a16="http://schemas.microsoft.com/office/drawing/2014/main" id="{E2DE697E-CF3E-4A96-AF5B-E9BF310CBD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191599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51A2E241-E71B-4B35-B69B-2D69D5409309}"/>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CA593407-3A83-4E89-8524-3F2D7E670929}"/>
                </a:ext>
              </a:extLst>
            </p:cNvPr>
            <p:cNvSpPr>
              <a:spLocks noChangeArrowheads="1"/>
            </p:cNvSpPr>
            <p:nvPr/>
          </p:nvSpPr>
          <p:spPr bwMode="auto">
            <a:xfrm>
              <a:off x="125"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5" name="Rectangle 5">
              <a:extLst>
                <a:ext uri="{FF2B5EF4-FFF2-40B4-BE49-F238E27FC236}">
                  <a16:creationId xmlns:a16="http://schemas.microsoft.com/office/drawing/2014/main" id="{63C094EE-E8AB-42C7-A23E-1CE65617C897}"/>
                </a:ext>
              </a:extLst>
            </p:cNvPr>
            <p:cNvSpPr>
              <a:spLocks noChangeArrowheads="1"/>
            </p:cNvSpPr>
            <p:nvPr/>
          </p:nvSpPr>
          <p:spPr bwMode="auto">
            <a:xfrm>
              <a:off x="1933" y="1865"/>
              <a:ext cx="1808" cy="127"/>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6" name="Rectangle 6">
              <a:extLst>
                <a:ext uri="{FF2B5EF4-FFF2-40B4-BE49-F238E27FC236}">
                  <a16:creationId xmlns:a16="http://schemas.microsoft.com/office/drawing/2014/main" id="{465B52CB-4EE3-4303-91A6-1E3D2BCA2DF6}"/>
                </a:ext>
              </a:extLst>
            </p:cNvPr>
            <p:cNvSpPr>
              <a:spLocks noChangeArrowheads="1"/>
            </p:cNvSpPr>
            <p:nvPr/>
          </p:nvSpPr>
          <p:spPr bwMode="auto">
            <a:xfrm>
              <a:off x="3741"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3E29D3E6-430F-439A-B7E4-DBD6A407A147}"/>
              </a:ext>
            </a:extLst>
          </p:cNvPr>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336699"/>
                </a:solidFill>
                <a:latin typeface="Helvetica" pitchFamily="2" charset="0"/>
              </a:rPr>
              <a:t>Silberschatz, Galvin and Gagne ©2018</a:t>
            </a:r>
          </a:p>
        </p:txBody>
      </p:sp>
      <p:sp>
        <p:nvSpPr>
          <p:cNvPr id="8" name="Text Box 8">
            <a:extLst>
              <a:ext uri="{FF2B5EF4-FFF2-40B4-BE49-F238E27FC236}">
                <a16:creationId xmlns:a16="http://schemas.microsoft.com/office/drawing/2014/main" id="{3EBF474A-C9EA-4112-BDD8-3544E23F5898}"/>
              </a:ext>
            </a:extLst>
          </p:cNvPr>
          <p:cNvSpPr txBox="1">
            <a:spLocks noChangeArrowheads="1"/>
          </p:cNvSpPr>
          <p:nvPr/>
        </p:nvSpPr>
        <p:spPr bwMode="auto">
          <a:xfrm>
            <a:off x="26988" y="6613525"/>
            <a:ext cx="270192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a:solidFill>
                  <a:srgbClr val="336699"/>
                </a:solidFill>
                <a:latin typeface="Helvetica" pitchFamily="2" charset="0"/>
              </a:rPr>
              <a:t>Operating System Concepts – 10</a:t>
            </a:r>
            <a:r>
              <a:rPr lang="en-US" altLang="en-US" sz="1000" b="1" baseline="30000">
                <a:solidFill>
                  <a:srgbClr val="336699"/>
                </a:solidFill>
                <a:latin typeface="Helvetica" pitchFamily="2" charset="0"/>
              </a:rPr>
              <a:t>h</a:t>
            </a:r>
            <a:r>
              <a:rPr lang="en-US" altLang="en-US" sz="1000" b="1">
                <a:solidFill>
                  <a:srgbClr val="336699"/>
                </a:solidFill>
                <a:latin typeface="Helvetica" pitchFamily="2" charset="0"/>
              </a:rPr>
              <a:t> Edition</a:t>
            </a:r>
          </a:p>
        </p:txBody>
      </p:sp>
      <p:pic>
        <p:nvPicPr>
          <p:cNvPr id="9" name="Picture 9" descr="dino_4">
            <a:extLst>
              <a:ext uri="{FF2B5EF4-FFF2-40B4-BE49-F238E27FC236}">
                <a16:creationId xmlns:a16="http://schemas.microsoft.com/office/drawing/2014/main" id="{6F57BE7D-8CFC-4E3D-B9D3-E99A00EC1F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94A9A856-762E-4DC7-9B2F-F993E5BF7A0D}"/>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a:t>Click to edit Master title style</a:t>
            </a:r>
          </a:p>
        </p:txBody>
      </p:sp>
    </p:spTree>
    <p:extLst>
      <p:ext uri="{BB962C8B-B14F-4D97-AF65-F5344CB8AC3E}">
        <p14:creationId xmlns:p14="http://schemas.microsoft.com/office/powerpoint/2010/main" val="2295912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01483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4261281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96944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0761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94927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86788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marL="742950" indent="-285750">
              <a:buFont typeface="Wingdings" panose="05000000000000000000" pitchFamily="2" charset="2"/>
              <a:buChar cha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341367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644207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08059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8954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E8EB374D-FC2E-49AD-94F6-BF0F89E9A9D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711A7626-44E9-4D96-BC9A-F6A4BE08DC4C}"/>
              </a:ext>
            </a:extLst>
          </p:cNvPr>
          <p:cNvSpPr>
            <a:spLocks noGrp="1" noChangeArrowheads="1"/>
          </p:cNvSpPr>
          <p:nvPr>
            <p:ph type="title"/>
          </p:nvPr>
        </p:nvSpPr>
        <p:spPr bwMode="auto">
          <a:xfrm>
            <a:off x="457200" y="27781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AAC79F07-0E6C-44FE-917F-8A0EE9E669C9}"/>
              </a:ext>
            </a:extLst>
          </p:cNvPr>
          <p:cNvSpPr>
            <a:spLocks noGrp="1" noChangeArrowheads="1"/>
          </p:cNvSpPr>
          <p:nvPr>
            <p:ph type="body" idx="1"/>
          </p:nvPr>
        </p:nvSpPr>
        <p:spPr bwMode="auto">
          <a:xfrm>
            <a:off x="806450" y="1233488"/>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5">
            <a:extLst>
              <a:ext uri="{FF2B5EF4-FFF2-40B4-BE49-F238E27FC236}">
                <a16:creationId xmlns:a16="http://schemas.microsoft.com/office/drawing/2014/main" id="{8584B750-FEEC-0B4D-999E-B75B39028B83}"/>
              </a:ext>
            </a:extLst>
          </p:cNvPr>
          <p:cNvSpPr>
            <a:spLocks noChangeArrowheads="1"/>
          </p:cNvSpPr>
          <p:nvPr/>
        </p:nvSpPr>
        <p:spPr bwMode="auto">
          <a:xfrm>
            <a:off x="0" y="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0" name="Line 6">
            <a:extLst>
              <a:ext uri="{FF2B5EF4-FFF2-40B4-BE49-F238E27FC236}">
                <a16:creationId xmlns:a16="http://schemas.microsoft.com/office/drawing/2014/main" id="{BB3E8C43-4EF8-44FA-8DCA-47F2442F5363}"/>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Rectangle 7">
            <a:extLst>
              <a:ext uri="{FF2B5EF4-FFF2-40B4-BE49-F238E27FC236}">
                <a16:creationId xmlns:a16="http://schemas.microsoft.com/office/drawing/2014/main" id="{2FE5170B-2E7A-4B4C-94CA-557F2ECD977A}"/>
              </a:ext>
            </a:extLst>
          </p:cNvPr>
          <p:cNvSpPr>
            <a:spLocks noChangeArrowheads="1"/>
          </p:cNvSpPr>
          <p:nvPr/>
        </p:nvSpPr>
        <p:spPr bwMode="auto">
          <a:xfrm>
            <a:off x="0" y="2286000"/>
            <a:ext cx="228600" cy="22860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2" name="Rectangle 8">
            <a:extLst>
              <a:ext uri="{FF2B5EF4-FFF2-40B4-BE49-F238E27FC236}">
                <a16:creationId xmlns:a16="http://schemas.microsoft.com/office/drawing/2014/main" id="{496210B7-549D-3546-82A3-21674AB19ED7}"/>
              </a:ext>
            </a:extLst>
          </p:cNvPr>
          <p:cNvSpPr>
            <a:spLocks noChangeArrowheads="1"/>
          </p:cNvSpPr>
          <p:nvPr/>
        </p:nvSpPr>
        <p:spPr bwMode="auto">
          <a:xfrm>
            <a:off x="0" y="457200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51561" name="Text Box 9">
            <a:extLst>
              <a:ext uri="{FF2B5EF4-FFF2-40B4-BE49-F238E27FC236}">
                <a16:creationId xmlns:a16="http://schemas.microsoft.com/office/drawing/2014/main" id="{5C6426E9-6999-5448-90F1-0AD498E21AA0}"/>
              </a:ext>
            </a:extLst>
          </p:cNvPr>
          <p:cNvSpPr txBox="1">
            <a:spLocks noChangeArrowheads="1"/>
          </p:cNvSpPr>
          <p:nvPr/>
        </p:nvSpPr>
        <p:spPr bwMode="auto">
          <a:xfrm>
            <a:off x="4257675" y="6613525"/>
            <a:ext cx="444500" cy="244475"/>
          </a:xfrm>
          <a:prstGeom prst="rect">
            <a:avLst/>
          </a:prstGeom>
          <a:noFill/>
          <a:ln w="9525">
            <a:noFill/>
            <a:miter lim="800000"/>
            <a:headEnd/>
            <a:tailEnd/>
          </a:ln>
          <a:effec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itchFamily="2" charset="0"/>
              </a:rPr>
              <a:t>1.</a:t>
            </a:r>
            <a:fld id="{47DE681D-3D41-4CB0-83AA-B406652BB5CF}" type="slidenum">
              <a:rPr lang="en-US" altLang="en-US" sz="1000" b="1" smtClean="0">
                <a:solidFill>
                  <a:srgbClr val="006699"/>
                </a:solidFill>
                <a:latin typeface="Helvetica" pitchFamily="2" charset="0"/>
              </a:rPr>
              <a:pPr algn="ctr">
                <a:spcBef>
                  <a:spcPct val="50000"/>
                </a:spcBef>
                <a:defRPr/>
              </a:pPr>
              <a:t>‹#›</a:t>
            </a:fld>
            <a:endParaRPr lang="en-US" altLang="en-US" sz="1000" b="1">
              <a:solidFill>
                <a:srgbClr val="006699"/>
              </a:solidFill>
              <a:latin typeface="Helvetica" pitchFamily="2" charset="0"/>
            </a:endParaRPr>
          </a:p>
        </p:txBody>
      </p:sp>
      <p:sp>
        <p:nvSpPr>
          <p:cNvPr id="1034" name="Text Box 10">
            <a:extLst>
              <a:ext uri="{FF2B5EF4-FFF2-40B4-BE49-F238E27FC236}">
                <a16:creationId xmlns:a16="http://schemas.microsoft.com/office/drawing/2014/main" id="{15195095-D590-3D45-BD5D-ED99265E4654}"/>
              </a:ext>
            </a:extLst>
          </p:cNvPr>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itchFamily="2" charset="0"/>
              </a:rPr>
              <a:t>Silberschatz, Galvin and Gagne ©2018</a:t>
            </a:r>
          </a:p>
        </p:txBody>
      </p:sp>
      <p:sp>
        <p:nvSpPr>
          <p:cNvPr id="1035" name="Text Box 11">
            <a:extLst>
              <a:ext uri="{FF2B5EF4-FFF2-40B4-BE49-F238E27FC236}">
                <a16:creationId xmlns:a16="http://schemas.microsoft.com/office/drawing/2014/main" id="{5E035EE4-E459-A34D-828B-D98F62D8EB97}"/>
              </a:ext>
            </a:extLst>
          </p:cNvPr>
          <p:cNvSpPr txBox="1">
            <a:spLocks noChangeArrowheads="1"/>
          </p:cNvSpPr>
          <p:nvPr/>
        </p:nvSpPr>
        <p:spPr bwMode="auto">
          <a:xfrm>
            <a:off x="185738" y="6621463"/>
            <a:ext cx="273050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a:solidFill>
                  <a:srgbClr val="006699"/>
                </a:solidFill>
                <a:latin typeface="Helvetica" pitchFamily="2" charset="0"/>
              </a:rPr>
              <a:t>Operating System Concepts – 10</a:t>
            </a:r>
            <a:r>
              <a:rPr lang="en-US" altLang="en-US" sz="1000" b="1" baseline="30000">
                <a:solidFill>
                  <a:srgbClr val="006699"/>
                </a:solidFill>
                <a:latin typeface="Helvetica" pitchFamily="2" charset="0"/>
              </a:rPr>
              <a:t>th</a:t>
            </a:r>
            <a:r>
              <a:rPr lang="en-US" altLang="en-US" sz="1000" b="1">
                <a:solidFill>
                  <a:srgbClr val="006699"/>
                </a:solidFill>
                <a:latin typeface="Helvetica" pitchFamily="2" charset="0"/>
              </a:rPr>
              <a:t> Edition</a:t>
            </a:r>
          </a:p>
        </p:txBody>
      </p:sp>
      <p:pic>
        <p:nvPicPr>
          <p:cNvPr id="1036" name="Picture 12" descr="dino_6">
            <a:extLst>
              <a:ext uri="{FF2B5EF4-FFF2-40B4-BE49-F238E27FC236}">
                <a16:creationId xmlns:a16="http://schemas.microsoft.com/office/drawing/2014/main" id="{319447EE-770B-4239-87AE-891B3223C56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71" r:id="rId1"/>
    <p:sldLayoutId id="2147484061" r:id="rId2"/>
    <p:sldLayoutId id="2147484062" r:id="rId3"/>
    <p:sldLayoutId id="2147484063" r:id="rId4"/>
    <p:sldLayoutId id="2147484064" r:id="rId5"/>
    <p:sldLayoutId id="2147484065" r:id="rId6"/>
    <p:sldLayoutId id="2147484066" r:id="rId7"/>
    <p:sldLayoutId id="2147484067" r:id="rId8"/>
    <p:sldLayoutId id="2147484068" r:id="rId9"/>
    <p:sldLayoutId id="2147484069" r:id="rId10"/>
    <p:sldLayoutId id="2147484070"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slideLayout" Target="../slideLayouts/slideLayout2.xml"/><Relationship Id="rId4" Type="http://schemas.openxmlformats.org/officeDocument/2006/relationships/image" Target="../media/image17.emf"/></Relationships>
</file>

<file path=ppt/slides/_rels/slide35.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6267CC3E-EC1E-46E0-9E0F-27020BA348BD}"/>
              </a:ext>
            </a:extLst>
          </p:cNvPr>
          <p:cNvSpPr>
            <a:spLocks noGrp="1" noChangeArrowheads="1"/>
          </p:cNvSpPr>
          <p:nvPr>
            <p:ph type="ctrTitle"/>
          </p:nvPr>
        </p:nvSpPr>
        <p:spPr>
          <a:xfrm>
            <a:off x="371475" y="1900238"/>
            <a:ext cx="8458200" cy="1143000"/>
          </a:xfrm>
          <a:noFill/>
        </p:spPr>
        <p:txBody>
          <a:bodyPr/>
          <a:lstStyle/>
          <a:p>
            <a:pPr eaLnBrk="1" hangingPunct="1"/>
            <a:r>
              <a:rPr lang="en-US" altLang="en-US" dirty="0"/>
              <a:t>Chapter 1:  </a:t>
            </a:r>
            <a:r>
              <a:rPr lang="en-US" altLang="en-US"/>
              <a:t>Introduction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DA50E938-3020-46E3-B296-A67E7CFD9384}"/>
              </a:ext>
            </a:extLst>
          </p:cNvPr>
          <p:cNvSpPr>
            <a:spLocks noGrp="1" noChangeArrowheads="1"/>
          </p:cNvSpPr>
          <p:nvPr>
            <p:ph type="title" idx="4294967295"/>
          </p:nvPr>
        </p:nvSpPr>
        <p:spPr>
          <a:xfrm>
            <a:off x="1089025" y="207963"/>
            <a:ext cx="7439025" cy="576262"/>
          </a:xfrm>
        </p:spPr>
        <p:txBody>
          <a:bodyPr/>
          <a:lstStyle/>
          <a:p>
            <a:pPr eaLnBrk="1" hangingPunct="1"/>
            <a:r>
              <a:rPr lang="en-US" altLang="en-US"/>
              <a:t>Process Management</a:t>
            </a:r>
          </a:p>
        </p:txBody>
      </p:sp>
      <p:sp>
        <p:nvSpPr>
          <p:cNvPr id="69635" name="Rectangle 3">
            <a:extLst>
              <a:ext uri="{FF2B5EF4-FFF2-40B4-BE49-F238E27FC236}">
                <a16:creationId xmlns:a16="http://schemas.microsoft.com/office/drawing/2014/main" id="{D4C6DC0E-B371-44AD-AC31-D9E79C80218B}"/>
              </a:ext>
            </a:extLst>
          </p:cNvPr>
          <p:cNvSpPr>
            <a:spLocks noGrp="1" noChangeArrowheads="1"/>
          </p:cNvSpPr>
          <p:nvPr>
            <p:ph type="body" idx="4294967295"/>
          </p:nvPr>
        </p:nvSpPr>
        <p:spPr>
          <a:xfrm>
            <a:off x="893135" y="893134"/>
            <a:ext cx="7751876" cy="5295015"/>
          </a:xfrm>
        </p:spPr>
        <p:txBody>
          <a:bodyPr/>
          <a:lstStyle/>
          <a:p>
            <a:pPr>
              <a:lnSpc>
                <a:spcPct val="90000"/>
              </a:lnSpc>
            </a:pPr>
            <a:r>
              <a:rPr lang="en-US" altLang="en-US" sz="2000" dirty="0">
                <a:latin typeface="+mn-ea"/>
                <a:ea typeface="+mn-ea"/>
              </a:rPr>
              <a:t>A process is a program in execution. </a:t>
            </a:r>
          </a:p>
          <a:p>
            <a:pPr lvl="1">
              <a:lnSpc>
                <a:spcPct val="90000"/>
              </a:lnSpc>
            </a:pPr>
            <a:r>
              <a:rPr lang="en-US" altLang="en-US" sz="2000" dirty="0">
                <a:latin typeface="+mn-ea"/>
                <a:ea typeface="+mn-ea"/>
              </a:rPr>
              <a:t>Process is </a:t>
            </a:r>
            <a:r>
              <a:rPr lang="en-US" altLang="en-US" sz="2000" dirty="0">
                <a:solidFill>
                  <a:srgbClr val="000000"/>
                </a:solidFill>
                <a:latin typeface="+mn-ea"/>
                <a:ea typeface="+mn-ea"/>
              </a:rPr>
              <a:t>an </a:t>
            </a:r>
            <a:r>
              <a:rPr lang="en-US" altLang="en-US" sz="2000" b="1" i="1" dirty="0">
                <a:solidFill>
                  <a:srgbClr val="000000"/>
                </a:solidFill>
                <a:latin typeface="+mn-ea"/>
                <a:ea typeface="+mn-ea"/>
              </a:rPr>
              <a:t>active entity</a:t>
            </a:r>
            <a:endParaRPr lang="en-US" altLang="en-US" sz="2000" dirty="0">
              <a:latin typeface="+mn-ea"/>
              <a:ea typeface="+mn-ea"/>
            </a:endParaRPr>
          </a:p>
          <a:p>
            <a:pPr lvl="1">
              <a:lnSpc>
                <a:spcPct val="90000"/>
              </a:lnSpc>
            </a:pPr>
            <a:r>
              <a:rPr lang="en-US" altLang="en-US" sz="2000" dirty="0">
                <a:latin typeface="+mn-ea"/>
                <a:ea typeface="+mn-ea"/>
              </a:rPr>
              <a:t>Program is a </a:t>
            </a:r>
            <a:r>
              <a:rPr lang="en-US" altLang="en-US" sz="2000" b="1" i="1" dirty="0">
                <a:latin typeface="+mn-ea"/>
                <a:ea typeface="+mn-ea"/>
              </a:rPr>
              <a:t>passive entity</a:t>
            </a:r>
            <a:endParaRPr lang="en-US" altLang="en-US" sz="2000" dirty="0">
              <a:latin typeface="+mn-ea"/>
              <a:ea typeface="+mn-ea"/>
            </a:endParaRPr>
          </a:p>
          <a:p>
            <a:pPr>
              <a:lnSpc>
                <a:spcPct val="90000"/>
              </a:lnSpc>
            </a:pPr>
            <a:r>
              <a:rPr lang="en-US" altLang="en-US" sz="2000" dirty="0">
                <a:latin typeface="+mn-ea"/>
                <a:ea typeface="+mn-ea"/>
              </a:rPr>
              <a:t>Process needs resources to accomplish its task</a:t>
            </a:r>
          </a:p>
          <a:p>
            <a:pPr lvl="1">
              <a:lnSpc>
                <a:spcPct val="90000"/>
              </a:lnSpc>
            </a:pPr>
            <a:r>
              <a:rPr lang="en-US" altLang="en-US" dirty="0">
                <a:latin typeface="+mn-ea"/>
                <a:ea typeface="+mn-ea"/>
              </a:rPr>
              <a:t>CPU, memory, I/O, files, etc.</a:t>
            </a:r>
          </a:p>
          <a:p>
            <a:pPr lvl="1">
              <a:lnSpc>
                <a:spcPct val="90000"/>
              </a:lnSpc>
            </a:pPr>
            <a:r>
              <a:rPr lang="en-US" altLang="en-US" dirty="0">
                <a:latin typeface="+mn-ea"/>
                <a:ea typeface="+mn-ea"/>
              </a:rPr>
              <a:t>Initialization data</a:t>
            </a:r>
          </a:p>
          <a:p>
            <a:pPr>
              <a:lnSpc>
                <a:spcPct val="90000"/>
              </a:lnSpc>
            </a:pPr>
            <a:r>
              <a:rPr lang="en-US" altLang="en-US" sz="2000" dirty="0">
                <a:latin typeface="+mn-ea"/>
                <a:ea typeface="+mn-ea"/>
              </a:rPr>
              <a:t>Process termination requires reclaim of any reusable resources</a:t>
            </a:r>
          </a:p>
          <a:p>
            <a:pPr>
              <a:lnSpc>
                <a:spcPct val="90000"/>
              </a:lnSpc>
            </a:pPr>
            <a:r>
              <a:rPr lang="en-US" altLang="en-US" sz="2000" dirty="0">
                <a:latin typeface="+mn-ea"/>
                <a:ea typeface="+mn-ea"/>
              </a:rPr>
              <a:t>Single-threaded process has one </a:t>
            </a:r>
            <a:r>
              <a:rPr lang="en-US" altLang="en-US" sz="2000" b="1" dirty="0">
                <a:solidFill>
                  <a:srgbClr val="006699"/>
                </a:solidFill>
                <a:latin typeface="+mn-ea"/>
                <a:ea typeface="+mn-ea"/>
              </a:rPr>
              <a:t>program counter </a:t>
            </a:r>
            <a:r>
              <a:rPr lang="en-US" altLang="en-US" sz="2000" dirty="0">
                <a:latin typeface="+mn-ea"/>
                <a:ea typeface="+mn-ea"/>
              </a:rPr>
              <a:t>specifying location of next instruction to execute</a:t>
            </a:r>
          </a:p>
          <a:p>
            <a:pPr lvl="1">
              <a:lnSpc>
                <a:spcPct val="90000"/>
              </a:lnSpc>
            </a:pPr>
            <a:r>
              <a:rPr lang="en-US" altLang="en-US" dirty="0">
                <a:latin typeface="+mn-ea"/>
                <a:ea typeface="+mn-ea"/>
              </a:rPr>
              <a:t>Process executes instructions sequentially, one at a time, until completion</a:t>
            </a:r>
          </a:p>
          <a:p>
            <a:pPr>
              <a:lnSpc>
                <a:spcPct val="90000"/>
              </a:lnSpc>
            </a:pPr>
            <a:r>
              <a:rPr lang="en-US" altLang="en-US" sz="2000" dirty="0">
                <a:latin typeface="+mn-ea"/>
                <a:ea typeface="+mn-ea"/>
              </a:rPr>
              <a:t>Multi-threaded process has one program counter per thread</a:t>
            </a:r>
          </a:p>
          <a:p>
            <a:pPr>
              <a:lnSpc>
                <a:spcPct val="90000"/>
              </a:lnSpc>
            </a:pPr>
            <a:r>
              <a:rPr lang="en-US" altLang="en-US" sz="2000" dirty="0">
                <a:latin typeface="+mn-ea"/>
                <a:ea typeface="+mn-ea"/>
              </a:rPr>
              <a:t>Typically system has many processes, some user, some operating system running concurrently on one or more CPUs</a:t>
            </a:r>
          </a:p>
          <a:p>
            <a:pPr lvl="1">
              <a:lnSpc>
                <a:spcPct val="90000"/>
              </a:lnSpc>
            </a:pPr>
            <a:r>
              <a:rPr lang="en-US" altLang="en-US" dirty="0">
                <a:latin typeface="+mn-ea"/>
                <a:ea typeface="+mn-ea"/>
              </a:rPr>
              <a:t>Concurrency by multiplexing the CPUs among the processes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4E63581D-8ED3-4026-94C0-CCB0731C5397}"/>
              </a:ext>
            </a:extLst>
          </p:cNvPr>
          <p:cNvSpPr>
            <a:spLocks noGrp="1" noChangeArrowheads="1"/>
          </p:cNvSpPr>
          <p:nvPr>
            <p:ph type="title" idx="4294967295"/>
          </p:nvPr>
        </p:nvSpPr>
        <p:spPr>
          <a:xfrm>
            <a:off x="1128713" y="207963"/>
            <a:ext cx="7427912" cy="576262"/>
          </a:xfrm>
        </p:spPr>
        <p:txBody>
          <a:bodyPr/>
          <a:lstStyle/>
          <a:p>
            <a:pPr eaLnBrk="1" hangingPunct="1"/>
            <a:r>
              <a:rPr lang="en-US" altLang="en-US"/>
              <a:t>Process Management Activities</a:t>
            </a:r>
          </a:p>
        </p:txBody>
      </p:sp>
      <p:sp>
        <p:nvSpPr>
          <p:cNvPr id="71683" name="Rectangle 3">
            <a:extLst>
              <a:ext uri="{FF2B5EF4-FFF2-40B4-BE49-F238E27FC236}">
                <a16:creationId xmlns:a16="http://schemas.microsoft.com/office/drawing/2014/main" id="{5F49578D-CEFD-4613-A40B-360A0128FDA1}"/>
              </a:ext>
            </a:extLst>
          </p:cNvPr>
          <p:cNvSpPr>
            <a:spLocks noGrp="1" noChangeArrowheads="1"/>
          </p:cNvSpPr>
          <p:nvPr>
            <p:ph type="body" idx="4294967295"/>
          </p:nvPr>
        </p:nvSpPr>
        <p:spPr>
          <a:xfrm>
            <a:off x="885825" y="1010093"/>
            <a:ext cx="7670800" cy="3072810"/>
          </a:xfrm>
        </p:spPr>
        <p:txBody>
          <a:bodyPr/>
          <a:lstStyle/>
          <a:p>
            <a:r>
              <a:rPr kumimoji="0" lang="en-US" altLang="en-US" sz="2000" dirty="0"/>
              <a:t>The operating system is responsible for the following activities in connection with process management</a:t>
            </a:r>
          </a:p>
          <a:p>
            <a:pPr lvl="1"/>
            <a:r>
              <a:rPr lang="en-US" altLang="en-US" dirty="0"/>
              <a:t>Creating and deleting both user and system processes</a:t>
            </a:r>
          </a:p>
          <a:p>
            <a:pPr lvl="1"/>
            <a:r>
              <a:rPr lang="en-US" altLang="en-US" dirty="0"/>
              <a:t>Suspending and resuming processes</a:t>
            </a:r>
          </a:p>
          <a:p>
            <a:pPr lvl="1"/>
            <a:r>
              <a:rPr lang="en-US" altLang="en-US" dirty="0"/>
              <a:t>Providing mechanisms for process synchronization</a:t>
            </a:r>
          </a:p>
          <a:p>
            <a:pPr lvl="1"/>
            <a:r>
              <a:rPr lang="en-US" altLang="en-US" dirty="0"/>
              <a:t>Providing mechanisms for process communication</a:t>
            </a:r>
          </a:p>
          <a:p>
            <a:pPr lvl="1"/>
            <a:r>
              <a:rPr lang="en-US" altLang="en-US" dirty="0"/>
              <a:t>Providing mechanisms for deadlock handling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E2DBCB9D-11F1-4C2F-AE3C-A4279C1AC3B6}"/>
              </a:ext>
            </a:extLst>
          </p:cNvPr>
          <p:cNvSpPr>
            <a:spLocks noGrp="1" noChangeArrowheads="1"/>
          </p:cNvSpPr>
          <p:nvPr>
            <p:ph type="title" idx="4294967295"/>
          </p:nvPr>
        </p:nvSpPr>
        <p:spPr>
          <a:xfrm>
            <a:off x="1090613" y="212725"/>
            <a:ext cx="7456487" cy="576263"/>
          </a:xfrm>
        </p:spPr>
        <p:txBody>
          <a:bodyPr/>
          <a:lstStyle/>
          <a:p>
            <a:pPr eaLnBrk="1" hangingPunct="1"/>
            <a:r>
              <a:rPr lang="en-US" altLang="en-US"/>
              <a:t>Memory Management</a:t>
            </a:r>
          </a:p>
        </p:txBody>
      </p:sp>
      <p:sp>
        <p:nvSpPr>
          <p:cNvPr id="73731" name="Rectangle 3">
            <a:extLst>
              <a:ext uri="{FF2B5EF4-FFF2-40B4-BE49-F238E27FC236}">
                <a16:creationId xmlns:a16="http://schemas.microsoft.com/office/drawing/2014/main" id="{CB3E2804-3594-4FE6-B024-FDD528C64534}"/>
              </a:ext>
            </a:extLst>
          </p:cNvPr>
          <p:cNvSpPr>
            <a:spLocks noGrp="1" noChangeArrowheads="1"/>
          </p:cNvSpPr>
          <p:nvPr>
            <p:ph type="body" idx="4294967295"/>
          </p:nvPr>
        </p:nvSpPr>
        <p:spPr>
          <a:xfrm>
            <a:off x="700124" y="1137685"/>
            <a:ext cx="8018574" cy="3848986"/>
          </a:xfrm>
        </p:spPr>
        <p:txBody>
          <a:bodyPr/>
          <a:lstStyle/>
          <a:p>
            <a:r>
              <a:rPr lang="en-US" altLang="en-US" dirty="0"/>
              <a:t>To execute a program all (or part) of the instructions must be in memory</a:t>
            </a:r>
          </a:p>
          <a:p>
            <a:r>
              <a:rPr lang="en-US" altLang="en-US" dirty="0"/>
              <a:t>All  (or part) of the data that is needed by the program must be in memory</a:t>
            </a:r>
          </a:p>
          <a:p>
            <a:r>
              <a:rPr lang="en-US" altLang="en-US" dirty="0"/>
              <a:t>Memory management determines what is in memory and when</a:t>
            </a:r>
          </a:p>
          <a:p>
            <a:pPr lvl="1"/>
            <a:r>
              <a:rPr lang="en-US" altLang="en-US" dirty="0"/>
              <a:t>Optimizing CPU utilization and computer response to users</a:t>
            </a:r>
          </a:p>
          <a:p>
            <a:r>
              <a:rPr lang="en-US" altLang="en-US" dirty="0"/>
              <a:t>Memory management activities</a:t>
            </a:r>
          </a:p>
          <a:p>
            <a:pPr lvl="1"/>
            <a:r>
              <a:rPr lang="en-US" altLang="en-US" dirty="0"/>
              <a:t>Keeping track of which parts of memory are currently being used and by whom</a:t>
            </a:r>
          </a:p>
          <a:p>
            <a:pPr lvl="1"/>
            <a:r>
              <a:rPr lang="en-US" altLang="en-US" dirty="0"/>
              <a:t>Deciding which processes (or parts thereof) and data to move into and out of memory</a:t>
            </a:r>
          </a:p>
          <a:p>
            <a:pPr lvl="1"/>
            <a:r>
              <a:rPr lang="en-US" altLang="en-US" dirty="0"/>
              <a:t>Allocating and deallocating memory space as needed</a:t>
            </a:r>
          </a:p>
          <a:p>
            <a:pPr lvl="1">
              <a:buFont typeface="Monotype Sorts" pitchFamily="-84" charset="2"/>
              <a:buNone/>
            </a:pPr>
            <a:endParaRPr lang="en-US"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A537DDAE-40B0-4C82-9422-BF166B9CB73E}"/>
              </a:ext>
            </a:extLst>
          </p:cNvPr>
          <p:cNvSpPr>
            <a:spLocks noGrp="1" noChangeArrowheads="1"/>
          </p:cNvSpPr>
          <p:nvPr>
            <p:ph type="title" idx="4294967295"/>
          </p:nvPr>
        </p:nvSpPr>
        <p:spPr>
          <a:xfrm>
            <a:off x="457200" y="207963"/>
            <a:ext cx="8015288" cy="576262"/>
          </a:xfrm>
        </p:spPr>
        <p:txBody>
          <a:bodyPr/>
          <a:lstStyle/>
          <a:p>
            <a:pPr eaLnBrk="1" hangingPunct="1"/>
            <a:r>
              <a:rPr lang="en-US" altLang="en-US"/>
              <a:t>Caching</a:t>
            </a:r>
          </a:p>
        </p:txBody>
      </p:sp>
      <p:sp>
        <p:nvSpPr>
          <p:cNvPr id="79875" name="Rectangle 3">
            <a:extLst>
              <a:ext uri="{FF2B5EF4-FFF2-40B4-BE49-F238E27FC236}">
                <a16:creationId xmlns:a16="http://schemas.microsoft.com/office/drawing/2014/main" id="{23317C17-2529-4CC8-A78E-1D282D609B22}"/>
              </a:ext>
            </a:extLst>
          </p:cNvPr>
          <p:cNvSpPr>
            <a:spLocks noGrp="1" noChangeArrowheads="1"/>
          </p:cNvSpPr>
          <p:nvPr>
            <p:ph type="body" idx="4294967295"/>
          </p:nvPr>
        </p:nvSpPr>
        <p:spPr>
          <a:xfrm>
            <a:off x="820738" y="1052623"/>
            <a:ext cx="7651749" cy="4433778"/>
          </a:xfrm>
        </p:spPr>
        <p:txBody>
          <a:bodyPr/>
          <a:lstStyle/>
          <a:p>
            <a:r>
              <a:rPr lang="en-US" altLang="en-US" sz="2000" dirty="0"/>
              <a:t>Important principle, performed at many levels in a computer (in hardware, operating system, software)</a:t>
            </a:r>
          </a:p>
          <a:p>
            <a:r>
              <a:rPr lang="en-US" altLang="en-US" sz="2000" dirty="0"/>
              <a:t>Information in use copied from slower to faster storage temporarily</a:t>
            </a:r>
          </a:p>
          <a:p>
            <a:r>
              <a:rPr lang="en-US" altLang="en-US" sz="2000" dirty="0"/>
              <a:t>Faster storage (cache) checked first to determine if information is there</a:t>
            </a:r>
          </a:p>
          <a:p>
            <a:pPr lvl="1"/>
            <a:r>
              <a:rPr lang="en-US" altLang="en-US" dirty="0"/>
              <a:t>If it is, information used directly from the cache (fast)</a:t>
            </a:r>
          </a:p>
          <a:p>
            <a:pPr lvl="1"/>
            <a:r>
              <a:rPr lang="en-US" altLang="en-US" dirty="0"/>
              <a:t>If not, data copied to cache and used there</a:t>
            </a:r>
          </a:p>
          <a:p>
            <a:r>
              <a:rPr lang="en-US" altLang="en-US" sz="2000" dirty="0"/>
              <a:t>Cache smaller than storage being cached</a:t>
            </a:r>
          </a:p>
          <a:p>
            <a:pPr lvl="1"/>
            <a:r>
              <a:rPr lang="en-US" altLang="en-US" dirty="0"/>
              <a:t>Cache management important design problem</a:t>
            </a:r>
          </a:p>
          <a:p>
            <a:pPr lvl="1"/>
            <a:r>
              <a:rPr lang="en-US" altLang="en-US" dirty="0"/>
              <a:t>Cache size and replacement policy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DFB955E8-3E23-4ED8-ACD1-D8F4ED9EAA88}"/>
              </a:ext>
            </a:extLst>
          </p:cNvPr>
          <p:cNvSpPr>
            <a:spLocks noGrp="1" noChangeArrowheads="1"/>
          </p:cNvSpPr>
          <p:nvPr>
            <p:ph type="title" idx="4294967295"/>
          </p:nvPr>
        </p:nvSpPr>
        <p:spPr>
          <a:xfrm>
            <a:off x="1265695" y="211138"/>
            <a:ext cx="7597321" cy="576262"/>
          </a:xfrm>
        </p:spPr>
        <p:txBody>
          <a:bodyPr/>
          <a:lstStyle/>
          <a:p>
            <a:pPr eaLnBrk="1" hangingPunct="1"/>
            <a:r>
              <a:rPr lang="en-US" altLang="en-US" sz="2800" dirty="0"/>
              <a:t>Migration of Data “A” from Disk to Register</a:t>
            </a:r>
          </a:p>
        </p:txBody>
      </p:sp>
      <p:sp>
        <p:nvSpPr>
          <p:cNvPr id="83971" name="Rectangle 3">
            <a:extLst>
              <a:ext uri="{FF2B5EF4-FFF2-40B4-BE49-F238E27FC236}">
                <a16:creationId xmlns:a16="http://schemas.microsoft.com/office/drawing/2014/main" id="{2977E9C9-146A-4591-9F2A-95F7D8433681}"/>
              </a:ext>
            </a:extLst>
          </p:cNvPr>
          <p:cNvSpPr>
            <a:spLocks noGrp="1" noChangeArrowheads="1"/>
          </p:cNvSpPr>
          <p:nvPr>
            <p:ph type="body" idx="4294967295"/>
          </p:nvPr>
        </p:nvSpPr>
        <p:spPr>
          <a:xfrm>
            <a:off x="806450" y="1137690"/>
            <a:ext cx="7597321" cy="4316818"/>
          </a:xfrm>
        </p:spPr>
        <p:txBody>
          <a:bodyPr/>
          <a:lstStyle/>
          <a:p>
            <a:r>
              <a:rPr lang="en-US" altLang="en-US" sz="2000" dirty="0">
                <a:latin typeface="+mn-ea"/>
                <a:ea typeface="+mn-ea"/>
              </a:rPr>
              <a:t>Multitasking environments must be careful to use most recent value, no matter where it is stored in the storage hierarchy</a:t>
            </a:r>
            <a:br>
              <a:rPr lang="en-US" altLang="en-US" sz="2000" dirty="0">
                <a:latin typeface="+mn-ea"/>
                <a:ea typeface="+mn-ea"/>
              </a:rPr>
            </a:br>
            <a:br>
              <a:rPr lang="en-US" altLang="en-US" sz="2000" dirty="0">
                <a:latin typeface="+mn-ea"/>
                <a:ea typeface="+mn-ea"/>
              </a:rPr>
            </a:br>
            <a:br>
              <a:rPr lang="en-US" altLang="en-US" sz="2000" dirty="0">
                <a:latin typeface="+mn-ea"/>
                <a:ea typeface="+mn-ea"/>
              </a:rPr>
            </a:br>
            <a:br>
              <a:rPr lang="en-US" altLang="en-US" sz="2000" dirty="0">
                <a:latin typeface="+mn-ea"/>
                <a:ea typeface="+mn-ea"/>
              </a:rPr>
            </a:br>
            <a:endParaRPr lang="en-US" altLang="en-US" sz="2000" dirty="0">
              <a:latin typeface="+mn-ea"/>
              <a:ea typeface="+mn-ea"/>
            </a:endParaRPr>
          </a:p>
          <a:p>
            <a:r>
              <a:rPr lang="en-US" altLang="en-US" sz="2000" dirty="0">
                <a:latin typeface="+mn-ea"/>
                <a:ea typeface="+mn-ea"/>
              </a:rPr>
              <a:t>Multiprocessor environment must provide </a:t>
            </a:r>
            <a:r>
              <a:rPr lang="en-US" altLang="en-US" sz="2000" b="1" dirty="0">
                <a:solidFill>
                  <a:srgbClr val="006699"/>
                </a:solidFill>
                <a:latin typeface="+mn-ea"/>
                <a:ea typeface="+mn-ea"/>
              </a:rPr>
              <a:t>cache coherency </a:t>
            </a:r>
            <a:r>
              <a:rPr lang="en-US" altLang="en-US" sz="2000" dirty="0">
                <a:latin typeface="+mn-ea"/>
                <a:ea typeface="+mn-ea"/>
              </a:rPr>
              <a:t>in hardware such that all CPUs have the most recent value in their cache</a:t>
            </a:r>
          </a:p>
          <a:p>
            <a:r>
              <a:rPr lang="en-US" altLang="en-US" sz="2000" dirty="0">
                <a:latin typeface="+mn-ea"/>
                <a:ea typeface="+mn-ea"/>
              </a:rPr>
              <a:t>Distributed environment situation even more complex</a:t>
            </a:r>
          </a:p>
          <a:p>
            <a:pPr lvl="1"/>
            <a:r>
              <a:rPr lang="en-US" altLang="en-US" dirty="0">
                <a:latin typeface="+mn-ea"/>
                <a:ea typeface="+mn-ea"/>
              </a:rPr>
              <a:t>Several copies of a datum can exist</a:t>
            </a:r>
          </a:p>
          <a:p>
            <a:pPr lvl="1"/>
            <a:r>
              <a:rPr lang="en-US" altLang="en-US" dirty="0">
                <a:latin typeface="+mn-ea"/>
                <a:ea typeface="+mn-ea"/>
              </a:rPr>
              <a:t>Various solutions covered in Chapter 19</a:t>
            </a:r>
          </a:p>
        </p:txBody>
      </p:sp>
      <p:pic>
        <p:nvPicPr>
          <p:cNvPr id="83972" name="Picture 2">
            <a:extLst>
              <a:ext uri="{FF2B5EF4-FFF2-40B4-BE49-F238E27FC236}">
                <a16:creationId xmlns:a16="http://schemas.microsoft.com/office/drawing/2014/main" id="{1848E92C-E063-45B0-A246-5F252E49F2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0056" y="2135010"/>
            <a:ext cx="5477102" cy="67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34356D79-FDD9-4791-982C-EE2F463757A8}"/>
              </a:ext>
            </a:extLst>
          </p:cNvPr>
          <p:cNvSpPr>
            <a:spLocks noGrp="1" noChangeArrowheads="1"/>
          </p:cNvSpPr>
          <p:nvPr>
            <p:ph type="title" idx="4294967295"/>
          </p:nvPr>
        </p:nvSpPr>
        <p:spPr>
          <a:xfrm>
            <a:off x="1128713" y="211138"/>
            <a:ext cx="7353300" cy="576262"/>
          </a:xfrm>
        </p:spPr>
        <p:txBody>
          <a:bodyPr/>
          <a:lstStyle/>
          <a:p>
            <a:pPr eaLnBrk="1" hangingPunct="1"/>
            <a:r>
              <a:rPr lang="en-US" altLang="en-US" dirty="0"/>
              <a:t>File-System Management</a:t>
            </a:r>
          </a:p>
        </p:txBody>
      </p:sp>
      <p:sp>
        <p:nvSpPr>
          <p:cNvPr id="75779" name="Rectangle 3">
            <a:extLst>
              <a:ext uri="{FF2B5EF4-FFF2-40B4-BE49-F238E27FC236}">
                <a16:creationId xmlns:a16="http://schemas.microsoft.com/office/drawing/2014/main" id="{1F5FDAA8-710E-46B8-93CA-E18EDA4EF350}"/>
              </a:ext>
            </a:extLst>
          </p:cNvPr>
          <p:cNvSpPr>
            <a:spLocks noGrp="1" noChangeArrowheads="1"/>
          </p:cNvSpPr>
          <p:nvPr>
            <p:ph type="body" idx="4294967295"/>
          </p:nvPr>
        </p:nvSpPr>
        <p:spPr>
          <a:xfrm>
            <a:off x="796925" y="1104900"/>
            <a:ext cx="7558088" cy="4992688"/>
          </a:xfrm>
        </p:spPr>
        <p:txBody>
          <a:bodyPr/>
          <a:lstStyle/>
          <a:p>
            <a:pPr>
              <a:lnSpc>
                <a:spcPct val="90000"/>
              </a:lnSpc>
            </a:pPr>
            <a:r>
              <a:rPr lang="en-US" altLang="en-US" sz="2000" dirty="0">
                <a:latin typeface="+mn-ea"/>
                <a:ea typeface="+mn-ea"/>
              </a:rPr>
              <a:t>OS provides uniform, logical view of information storage</a:t>
            </a:r>
          </a:p>
          <a:p>
            <a:pPr lvl="1">
              <a:lnSpc>
                <a:spcPct val="90000"/>
              </a:lnSpc>
            </a:pPr>
            <a:r>
              <a:rPr lang="en-US" altLang="en-US" dirty="0">
                <a:latin typeface="+mn-ea"/>
                <a:ea typeface="+mn-ea"/>
              </a:rPr>
              <a:t>Abstracts physical properties to logical storage unit  - </a:t>
            </a:r>
            <a:r>
              <a:rPr lang="en-US" altLang="en-US" b="1" dirty="0">
                <a:solidFill>
                  <a:srgbClr val="006699"/>
                </a:solidFill>
                <a:latin typeface="+mn-ea"/>
                <a:ea typeface="+mn-ea"/>
              </a:rPr>
              <a:t>file</a:t>
            </a:r>
          </a:p>
          <a:p>
            <a:pPr lvl="1">
              <a:lnSpc>
                <a:spcPct val="90000"/>
              </a:lnSpc>
            </a:pPr>
            <a:r>
              <a:rPr lang="en-US" altLang="en-US" dirty="0">
                <a:latin typeface="+mn-ea"/>
                <a:ea typeface="+mn-ea"/>
              </a:rPr>
              <a:t>Each medium is controlled by device (i.e., disk drive, tape drive)</a:t>
            </a:r>
          </a:p>
          <a:p>
            <a:pPr lvl="2">
              <a:lnSpc>
                <a:spcPct val="90000"/>
              </a:lnSpc>
            </a:pPr>
            <a:r>
              <a:rPr lang="en-US" altLang="en-US" dirty="0">
                <a:latin typeface="+mn-ea"/>
                <a:ea typeface="+mn-ea"/>
              </a:rPr>
              <a:t>Varying properties include access speed, capacity, data-transfer rate, access method (sequential or random)</a:t>
            </a:r>
          </a:p>
          <a:p>
            <a:pPr lvl="2">
              <a:lnSpc>
                <a:spcPct val="90000"/>
              </a:lnSpc>
            </a:pPr>
            <a:endParaRPr lang="en-US" altLang="en-US" sz="800" dirty="0">
              <a:latin typeface="+mn-ea"/>
              <a:ea typeface="+mn-ea"/>
            </a:endParaRPr>
          </a:p>
          <a:p>
            <a:pPr>
              <a:lnSpc>
                <a:spcPct val="90000"/>
              </a:lnSpc>
            </a:pPr>
            <a:r>
              <a:rPr lang="en-US" altLang="en-US" sz="2000" dirty="0">
                <a:latin typeface="+mn-ea"/>
                <a:ea typeface="+mn-ea"/>
              </a:rPr>
              <a:t>File-System management</a:t>
            </a:r>
          </a:p>
          <a:p>
            <a:pPr lvl="1">
              <a:lnSpc>
                <a:spcPct val="90000"/>
              </a:lnSpc>
            </a:pPr>
            <a:r>
              <a:rPr lang="en-US" altLang="en-US" dirty="0">
                <a:latin typeface="+mn-ea"/>
                <a:ea typeface="+mn-ea"/>
              </a:rPr>
              <a:t>Files usually organized into directories</a:t>
            </a:r>
          </a:p>
          <a:p>
            <a:pPr lvl="1">
              <a:lnSpc>
                <a:spcPct val="90000"/>
              </a:lnSpc>
            </a:pPr>
            <a:r>
              <a:rPr lang="en-US" altLang="en-US" dirty="0">
                <a:latin typeface="+mn-ea"/>
                <a:ea typeface="+mn-ea"/>
              </a:rPr>
              <a:t>Access control on most systems to determine who can access what</a:t>
            </a:r>
          </a:p>
          <a:p>
            <a:pPr lvl="1">
              <a:lnSpc>
                <a:spcPct val="90000"/>
              </a:lnSpc>
            </a:pPr>
            <a:r>
              <a:rPr lang="en-US" altLang="en-US" dirty="0">
                <a:latin typeface="+mn-ea"/>
                <a:ea typeface="+mn-ea"/>
              </a:rPr>
              <a:t>OS activities include</a:t>
            </a:r>
          </a:p>
          <a:p>
            <a:pPr lvl="2">
              <a:lnSpc>
                <a:spcPct val="90000"/>
              </a:lnSpc>
            </a:pPr>
            <a:r>
              <a:rPr lang="en-US" altLang="en-US" dirty="0">
                <a:latin typeface="+mn-ea"/>
                <a:ea typeface="+mn-ea"/>
              </a:rPr>
              <a:t>Creating and deleting files and directories</a:t>
            </a:r>
          </a:p>
          <a:p>
            <a:pPr lvl="2">
              <a:lnSpc>
                <a:spcPct val="90000"/>
              </a:lnSpc>
            </a:pPr>
            <a:r>
              <a:rPr lang="en-US" altLang="en-US" dirty="0">
                <a:latin typeface="+mn-ea"/>
                <a:ea typeface="+mn-ea"/>
              </a:rPr>
              <a:t>Primitives to manipulate files and directories</a:t>
            </a:r>
          </a:p>
          <a:p>
            <a:pPr lvl="2">
              <a:lnSpc>
                <a:spcPct val="90000"/>
              </a:lnSpc>
            </a:pPr>
            <a:r>
              <a:rPr lang="en-US" altLang="en-US" dirty="0">
                <a:latin typeface="+mn-ea"/>
                <a:ea typeface="+mn-ea"/>
              </a:rPr>
              <a:t>Mapping files onto secondary storage</a:t>
            </a:r>
          </a:p>
          <a:p>
            <a:pPr lvl="2">
              <a:lnSpc>
                <a:spcPct val="90000"/>
              </a:lnSpc>
            </a:pPr>
            <a:r>
              <a:rPr lang="en-US" altLang="en-US" dirty="0">
                <a:latin typeface="+mn-ea"/>
                <a:ea typeface="+mn-ea"/>
              </a:rPr>
              <a:t>Backup files onto stable (non-volatile) storage media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B1040BCA-887F-4395-9A85-D19BCFAF11EF}"/>
              </a:ext>
            </a:extLst>
          </p:cNvPr>
          <p:cNvSpPr>
            <a:spLocks noGrp="1" noChangeArrowheads="1"/>
          </p:cNvSpPr>
          <p:nvPr>
            <p:ph type="title" idx="4294967295"/>
          </p:nvPr>
        </p:nvSpPr>
        <p:spPr>
          <a:xfrm>
            <a:off x="1331913" y="203200"/>
            <a:ext cx="7177087" cy="576263"/>
          </a:xfrm>
        </p:spPr>
        <p:txBody>
          <a:bodyPr/>
          <a:lstStyle/>
          <a:p>
            <a:pPr eaLnBrk="1" hangingPunct="1"/>
            <a:r>
              <a:rPr lang="en-US" altLang="en-US"/>
              <a:t>Mass-Storage Management</a:t>
            </a:r>
          </a:p>
        </p:txBody>
      </p:sp>
      <p:sp>
        <p:nvSpPr>
          <p:cNvPr id="77827" name="Rectangle 3">
            <a:extLst>
              <a:ext uri="{FF2B5EF4-FFF2-40B4-BE49-F238E27FC236}">
                <a16:creationId xmlns:a16="http://schemas.microsoft.com/office/drawing/2014/main" id="{0C2520A7-ADB5-4458-BC11-9B331339D636}"/>
              </a:ext>
            </a:extLst>
          </p:cNvPr>
          <p:cNvSpPr>
            <a:spLocks noGrp="1" noChangeArrowheads="1"/>
          </p:cNvSpPr>
          <p:nvPr>
            <p:ph type="body" idx="4294967295"/>
          </p:nvPr>
        </p:nvSpPr>
        <p:spPr>
          <a:xfrm>
            <a:off x="801688" y="1109663"/>
            <a:ext cx="7707312" cy="4658091"/>
          </a:xfrm>
        </p:spPr>
        <p:txBody>
          <a:bodyPr/>
          <a:lstStyle/>
          <a:p>
            <a:r>
              <a:rPr lang="en-US" altLang="en-US" sz="2000" dirty="0">
                <a:latin typeface="+mn-ea"/>
                <a:ea typeface="+mn-ea"/>
              </a:rPr>
              <a:t>Usually disks used to store data that does not fit in main memory or data that must be kept for a </a:t>
            </a:r>
            <a:r>
              <a:rPr lang="ja-JP" altLang="en-US" sz="2000" dirty="0">
                <a:latin typeface="+mn-ea"/>
                <a:ea typeface="+mn-ea"/>
              </a:rPr>
              <a:t>“</a:t>
            </a:r>
            <a:r>
              <a:rPr lang="en-US" altLang="ja-JP" sz="2000" dirty="0">
                <a:latin typeface="+mn-ea"/>
                <a:ea typeface="+mn-ea"/>
              </a:rPr>
              <a:t>long</a:t>
            </a:r>
            <a:r>
              <a:rPr lang="ja-JP" altLang="en-US" sz="2000" dirty="0">
                <a:latin typeface="+mn-ea"/>
                <a:ea typeface="+mn-ea"/>
              </a:rPr>
              <a:t>”</a:t>
            </a:r>
            <a:r>
              <a:rPr lang="en-US" altLang="ja-JP" sz="2000" dirty="0">
                <a:latin typeface="+mn-ea"/>
                <a:ea typeface="+mn-ea"/>
              </a:rPr>
              <a:t> period of time</a:t>
            </a:r>
          </a:p>
          <a:p>
            <a:r>
              <a:rPr lang="en-US" altLang="en-US" sz="2000" dirty="0">
                <a:latin typeface="+mn-ea"/>
                <a:ea typeface="+mn-ea"/>
              </a:rPr>
              <a:t>Proper management is of central importance</a:t>
            </a:r>
          </a:p>
          <a:p>
            <a:r>
              <a:rPr lang="en-US" altLang="en-US" sz="2000" dirty="0">
                <a:latin typeface="+mn-ea"/>
                <a:ea typeface="+mn-ea"/>
              </a:rPr>
              <a:t>Entire speed of computer operation hinges on disk subsystem and its algorithms</a:t>
            </a:r>
          </a:p>
          <a:p>
            <a:r>
              <a:rPr lang="en-US" altLang="en-US" sz="2000" dirty="0">
                <a:latin typeface="+mn-ea"/>
                <a:ea typeface="+mn-ea"/>
              </a:rPr>
              <a:t>OS activities</a:t>
            </a:r>
          </a:p>
          <a:p>
            <a:pPr lvl="1"/>
            <a:r>
              <a:rPr lang="en-US" altLang="en-US" dirty="0">
                <a:latin typeface="+mn-ea"/>
                <a:ea typeface="+mn-ea"/>
              </a:rPr>
              <a:t>Mounting and unmounting</a:t>
            </a:r>
          </a:p>
          <a:p>
            <a:pPr lvl="1"/>
            <a:r>
              <a:rPr lang="en-US" altLang="en-US" dirty="0">
                <a:latin typeface="+mn-ea"/>
                <a:ea typeface="+mn-ea"/>
              </a:rPr>
              <a:t>Free-space management</a:t>
            </a:r>
          </a:p>
          <a:p>
            <a:pPr lvl="1"/>
            <a:r>
              <a:rPr lang="en-US" altLang="en-US" dirty="0">
                <a:latin typeface="+mn-ea"/>
                <a:ea typeface="+mn-ea"/>
              </a:rPr>
              <a:t>Storage allocation</a:t>
            </a:r>
          </a:p>
          <a:p>
            <a:pPr lvl="1"/>
            <a:r>
              <a:rPr lang="en-US" altLang="en-US" dirty="0">
                <a:latin typeface="+mn-ea"/>
                <a:ea typeface="+mn-ea"/>
              </a:rPr>
              <a:t>Disk scheduling</a:t>
            </a:r>
          </a:p>
          <a:p>
            <a:pPr lvl="1"/>
            <a:r>
              <a:rPr lang="en-US" altLang="en-US" dirty="0">
                <a:latin typeface="+mn-ea"/>
                <a:ea typeface="+mn-ea"/>
              </a:rPr>
              <a:t>Partitioning</a:t>
            </a:r>
          </a:p>
          <a:p>
            <a:pPr lvl="1"/>
            <a:r>
              <a:rPr lang="en-US" altLang="en-US" dirty="0">
                <a:latin typeface="+mn-ea"/>
                <a:ea typeface="+mn-ea"/>
              </a:rPr>
              <a:t>Protection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AA8D59F3-EABB-4542-87C7-F8AE7CD1FD34}"/>
              </a:ext>
            </a:extLst>
          </p:cNvPr>
          <p:cNvSpPr>
            <a:spLocks noGrp="1" noChangeArrowheads="1"/>
          </p:cNvSpPr>
          <p:nvPr>
            <p:ph type="title" idx="4294967295"/>
          </p:nvPr>
        </p:nvSpPr>
        <p:spPr>
          <a:xfrm>
            <a:off x="833438" y="145822"/>
            <a:ext cx="8531225" cy="576262"/>
          </a:xfrm>
        </p:spPr>
        <p:txBody>
          <a:bodyPr/>
          <a:lstStyle/>
          <a:p>
            <a:pPr eaLnBrk="1" hangingPunct="1"/>
            <a:r>
              <a:rPr lang="en-US" altLang="en-US" sz="2800" dirty="0"/>
              <a:t>Characteristics of Various Types of Storage</a:t>
            </a:r>
          </a:p>
        </p:txBody>
      </p:sp>
      <p:sp>
        <p:nvSpPr>
          <p:cNvPr id="39939" name="Rectangle 3">
            <a:extLst>
              <a:ext uri="{FF2B5EF4-FFF2-40B4-BE49-F238E27FC236}">
                <a16:creationId xmlns:a16="http://schemas.microsoft.com/office/drawing/2014/main" id="{CD4D4AE1-901A-6A46-BAD0-039ED90103A5}"/>
              </a:ext>
            </a:extLst>
          </p:cNvPr>
          <p:cNvSpPr>
            <a:spLocks noGrp="1" noChangeArrowheads="1"/>
          </p:cNvSpPr>
          <p:nvPr>
            <p:ph type="body" idx="4294967295"/>
          </p:nvPr>
        </p:nvSpPr>
        <p:spPr>
          <a:xfrm>
            <a:off x="806450" y="1233488"/>
            <a:ext cx="7707313" cy="4521200"/>
          </a:xfrm>
        </p:spPr>
        <p:txBody>
          <a:bodyPr/>
          <a:lstStyle/>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marL="0" indent="0">
              <a:buFont typeface="Monotype Sorts" charset="0"/>
              <a:buNone/>
              <a:defRPr/>
            </a:pPr>
            <a:endParaRPr lang="en-US" dirty="0">
              <a:ea typeface="ＭＳ Ｐゴシック" charset="0"/>
              <a:cs typeface="ＭＳ Ｐゴシック" charset="0"/>
            </a:endParaRPr>
          </a:p>
          <a:p>
            <a:pPr>
              <a:buFont typeface="Monotype Sorts" pitchFamily="-84" charset="2"/>
              <a:buNone/>
              <a:defRPr/>
            </a:pPr>
            <a:r>
              <a:rPr lang="en-US" dirty="0">
                <a:ea typeface="ＭＳ Ｐゴシック" charset="0"/>
                <a:cs typeface="ＭＳ Ｐゴシック" charset="0"/>
              </a:rPr>
              <a:t>    Movement between levels of storage hierarchy can be explicit or implicit</a:t>
            </a:r>
          </a:p>
        </p:txBody>
      </p:sp>
      <p:pic>
        <p:nvPicPr>
          <p:cNvPr id="81924" name="Picture 4">
            <a:extLst>
              <a:ext uri="{FF2B5EF4-FFF2-40B4-BE49-F238E27FC236}">
                <a16:creationId xmlns:a16="http://schemas.microsoft.com/office/drawing/2014/main" id="{E7E6D134-C41F-4C06-AAAF-DB2716C6C8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3687" y="1139825"/>
            <a:ext cx="8054975" cy="338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237725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9FAB78C6-879F-4288-AFC0-331D64167D98}"/>
              </a:ext>
            </a:extLst>
          </p:cNvPr>
          <p:cNvSpPr>
            <a:spLocks noGrp="1" noChangeArrowheads="1"/>
          </p:cNvSpPr>
          <p:nvPr>
            <p:ph type="title" idx="4294967295"/>
          </p:nvPr>
        </p:nvSpPr>
        <p:spPr>
          <a:xfrm>
            <a:off x="457200" y="214313"/>
            <a:ext cx="8051800" cy="576262"/>
          </a:xfrm>
        </p:spPr>
        <p:txBody>
          <a:bodyPr/>
          <a:lstStyle/>
          <a:p>
            <a:pPr eaLnBrk="1" hangingPunct="1"/>
            <a:r>
              <a:rPr lang="en-US" altLang="en-US"/>
              <a:t>I/O Subsystem</a:t>
            </a:r>
          </a:p>
        </p:txBody>
      </p:sp>
      <p:sp>
        <p:nvSpPr>
          <p:cNvPr id="86019" name="Rectangle 3">
            <a:extLst>
              <a:ext uri="{FF2B5EF4-FFF2-40B4-BE49-F238E27FC236}">
                <a16:creationId xmlns:a16="http://schemas.microsoft.com/office/drawing/2014/main" id="{962FE659-1FE7-4FFD-9815-CAC2C16E7482}"/>
              </a:ext>
            </a:extLst>
          </p:cNvPr>
          <p:cNvSpPr>
            <a:spLocks noGrp="1" noChangeArrowheads="1"/>
          </p:cNvSpPr>
          <p:nvPr>
            <p:ph type="body" idx="4294967295"/>
          </p:nvPr>
        </p:nvSpPr>
        <p:spPr>
          <a:xfrm>
            <a:off x="822325" y="1169988"/>
            <a:ext cx="7686675" cy="4530725"/>
          </a:xfrm>
        </p:spPr>
        <p:txBody>
          <a:bodyPr/>
          <a:lstStyle/>
          <a:p>
            <a:r>
              <a:rPr lang="en-US" altLang="en-US" sz="2000" dirty="0"/>
              <a:t>One purpose of OS is to hide peculiarities of hardware devices from the user</a:t>
            </a:r>
          </a:p>
          <a:p>
            <a:r>
              <a:rPr lang="en-US" altLang="en-US" sz="2000" dirty="0"/>
              <a:t>I/O subsystem responsible for</a:t>
            </a:r>
          </a:p>
          <a:p>
            <a:pPr lvl="1"/>
            <a:r>
              <a:rPr lang="en-US" altLang="en-US" dirty="0"/>
              <a:t>Memory management of I/O including buffering (storing data temporarily while it is being transferred), caching (storing parts of data in faster storage for performance), spooling (the overlapping of output of one job with input of other jobs)</a:t>
            </a:r>
          </a:p>
          <a:p>
            <a:pPr lvl="1"/>
            <a:r>
              <a:rPr lang="en-US" altLang="en-US" dirty="0"/>
              <a:t>General device-driver interface</a:t>
            </a:r>
          </a:p>
          <a:p>
            <a:pPr lvl="1"/>
            <a:r>
              <a:rPr lang="en-US" altLang="en-US" dirty="0"/>
              <a:t>Drivers for specific hardware devices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55965502-F3D9-4181-9CA3-BC0EE691634C}"/>
              </a:ext>
            </a:extLst>
          </p:cNvPr>
          <p:cNvSpPr>
            <a:spLocks noGrp="1" noChangeArrowheads="1"/>
          </p:cNvSpPr>
          <p:nvPr>
            <p:ph type="title" idx="4294967295"/>
          </p:nvPr>
        </p:nvSpPr>
        <p:spPr>
          <a:xfrm>
            <a:off x="1022350" y="220663"/>
            <a:ext cx="7515225" cy="576262"/>
          </a:xfrm>
        </p:spPr>
        <p:txBody>
          <a:bodyPr/>
          <a:lstStyle/>
          <a:p>
            <a:pPr eaLnBrk="1" hangingPunct="1"/>
            <a:r>
              <a:rPr lang="en-US" altLang="en-US"/>
              <a:t>Protection and Security</a:t>
            </a:r>
          </a:p>
        </p:txBody>
      </p:sp>
      <p:sp>
        <p:nvSpPr>
          <p:cNvPr id="88067" name="Rectangle 3">
            <a:extLst>
              <a:ext uri="{FF2B5EF4-FFF2-40B4-BE49-F238E27FC236}">
                <a16:creationId xmlns:a16="http://schemas.microsoft.com/office/drawing/2014/main" id="{83C732FA-AE52-4ECB-BBB8-46683EE73ACD}"/>
              </a:ext>
            </a:extLst>
          </p:cNvPr>
          <p:cNvSpPr>
            <a:spLocks noGrp="1" noChangeArrowheads="1"/>
          </p:cNvSpPr>
          <p:nvPr>
            <p:ph type="body" idx="4294967295"/>
          </p:nvPr>
        </p:nvSpPr>
        <p:spPr>
          <a:xfrm>
            <a:off x="776178" y="1233488"/>
            <a:ext cx="7889358" cy="4912131"/>
          </a:xfrm>
        </p:spPr>
        <p:txBody>
          <a:bodyPr/>
          <a:lstStyle/>
          <a:p>
            <a:pPr>
              <a:lnSpc>
                <a:spcPct val="90000"/>
              </a:lnSpc>
            </a:pPr>
            <a:r>
              <a:rPr lang="en-US" altLang="en-US" sz="2000" b="1" dirty="0">
                <a:solidFill>
                  <a:srgbClr val="006699"/>
                </a:solidFill>
                <a:latin typeface="+mj-lt"/>
              </a:rPr>
              <a:t>Protection</a:t>
            </a:r>
            <a:r>
              <a:rPr lang="en-US" altLang="en-US" sz="2000" b="1" dirty="0">
                <a:solidFill>
                  <a:srgbClr val="3366FF"/>
                </a:solidFill>
              </a:rPr>
              <a:t> </a:t>
            </a:r>
            <a:r>
              <a:rPr lang="en-US" altLang="en-US" sz="2000" dirty="0"/>
              <a:t>– any mechanism for controlling access of processes or users to resources defined by the OS</a:t>
            </a:r>
          </a:p>
          <a:p>
            <a:pPr>
              <a:lnSpc>
                <a:spcPct val="90000"/>
              </a:lnSpc>
            </a:pPr>
            <a:r>
              <a:rPr lang="en-US" altLang="en-US" sz="2000" b="1" dirty="0">
                <a:solidFill>
                  <a:srgbClr val="006699"/>
                </a:solidFill>
                <a:latin typeface="+mj-lt"/>
              </a:rPr>
              <a:t>Security</a:t>
            </a:r>
            <a:r>
              <a:rPr lang="en-US" altLang="en-US" sz="2000" b="1" dirty="0">
                <a:solidFill>
                  <a:srgbClr val="3366FF"/>
                </a:solidFill>
              </a:rPr>
              <a:t> </a:t>
            </a:r>
            <a:r>
              <a:rPr lang="en-US" altLang="en-US" sz="2000" dirty="0"/>
              <a:t>– defense of the system against internal and external attacks</a:t>
            </a:r>
          </a:p>
          <a:p>
            <a:pPr lvl="1">
              <a:lnSpc>
                <a:spcPct val="90000"/>
              </a:lnSpc>
            </a:pPr>
            <a:r>
              <a:rPr lang="en-US" altLang="en-US" dirty="0"/>
              <a:t>Huge range, including denial-of-service, worms, viruses, identity theft, theft of service</a:t>
            </a:r>
            <a:endParaRPr lang="en-US" altLang="en-US" sz="800" dirty="0"/>
          </a:p>
          <a:p>
            <a:pPr>
              <a:lnSpc>
                <a:spcPct val="90000"/>
              </a:lnSpc>
            </a:pPr>
            <a:r>
              <a:rPr lang="en-US" altLang="en-US" sz="2000" dirty="0"/>
              <a:t>Systems generally first distinguish among users, to determine who can do what</a:t>
            </a:r>
          </a:p>
          <a:p>
            <a:pPr lvl="1">
              <a:lnSpc>
                <a:spcPct val="90000"/>
              </a:lnSpc>
            </a:pPr>
            <a:r>
              <a:rPr lang="en-US" altLang="en-US" dirty="0"/>
              <a:t>User identities (</a:t>
            </a:r>
            <a:r>
              <a:rPr lang="en-US" altLang="en-US" b="1" dirty="0">
                <a:solidFill>
                  <a:srgbClr val="006699"/>
                </a:solidFill>
                <a:latin typeface="+mj-lt"/>
              </a:rPr>
              <a:t>user IDs</a:t>
            </a:r>
            <a:r>
              <a:rPr lang="en-US" altLang="en-US" dirty="0"/>
              <a:t>, security IDs) include name and associated number, one per user</a:t>
            </a:r>
          </a:p>
          <a:p>
            <a:pPr lvl="1">
              <a:lnSpc>
                <a:spcPct val="90000"/>
              </a:lnSpc>
            </a:pPr>
            <a:r>
              <a:rPr lang="en-US" altLang="en-US" dirty="0"/>
              <a:t>User ID then associated with all files, processes of that user to determine access control</a:t>
            </a:r>
          </a:p>
          <a:p>
            <a:pPr lvl="1">
              <a:lnSpc>
                <a:spcPct val="90000"/>
              </a:lnSpc>
            </a:pPr>
            <a:r>
              <a:rPr lang="en-US" altLang="en-US" dirty="0"/>
              <a:t>Group identifier (</a:t>
            </a:r>
            <a:r>
              <a:rPr lang="en-US" altLang="en-US" b="1" dirty="0">
                <a:solidFill>
                  <a:srgbClr val="006699"/>
                </a:solidFill>
                <a:latin typeface="+mj-lt"/>
              </a:rPr>
              <a:t>group ID</a:t>
            </a:r>
            <a:r>
              <a:rPr lang="en-US" altLang="en-US" dirty="0"/>
              <a:t>) allows set of users to be defined and controls managed, then also associated with each process, file</a:t>
            </a:r>
          </a:p>
          <a:p>
            <a:pPr lvl="1">
              <a:lnSpc>
                <a:spcPct val="90000"/>
              </a:lnSpc>
            </a:pPr>
            <a:r>
              <a:rPr lang="en-US" altLang="en-US" b="1" dirty="0">
                <a:solidFill>
                  <a:srgbClr val="006699"/>
                </a:solidFill>
                <a:latin typeface="+mj-lt"/>
              </a:rPr>
              <a:t>Privilege escalation </a:t>
            </a:r>
            <a:r>
              <a:rPr lang="en-US" altLang="en-US" dirty="0"/>
              <a:t>allows user to change to effective ID with more rights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03622BC2-D8A3-4714-B19A-26A06CC05772}"/>
              </a:ext>
            </a:extLst>
          </p:cNvPr>
          <p:cNvSpPr>
            <a:spLocks noGrp="1" noChangeArrowheads="1"/>
          </p:cNvSpPr>
          <p:nvPr>
            <p:ph type="title" idx="4294967295"/>
          </p:nvPr>
        </p:nvSpPr>
        <p:spPr>
          <a:xfrm>
            <a:off x="1268413" y="204788"/>
            <a:ext cx="7194550" cy="576262"/>
          </a:xfrm>
        </p:spPr>
        <p:txBody>
          <a:bodyPr/>
          <a:lstStyle/>
          <a:p>
            <a:pPr eaLnBrk="1" hangingPunct="1"/>
            <a:r>
              <a:rPr lang="en-US" altLang="en-US" dirty="0"/>
              <a:t>Virtualization (1)</a:t>
            </a:r>
          </a:p>
        </p:txBody>
      </p:sp>
      <p:sp>
        <p:nvSpPr>
          <p:cNvPr id="90115" name="Rectangle 3">
            <a:extLst>
              <a:ext uri="{FF2B5EF4-FFF2-40B4-BE49-F238E27FC236}">
                <a16:creationId xmlns:a16="http://schemas.microsoft.com/office/drawing/2014/main" id="{C3AAFBD5-73DB-46BC-A327-5E1260FD7D4E}"/>
              </a:ext>
            </a:extLst>
          </p:cNvPr>
          <p:cNvSpPr>
            <a:spLocks noGrp="1" noChangeArrowheads="1"/>
          </p:cNvSpPr>
          <p:nvPr>
            <p:ph type="body" idx="4294967295"/>
          </p:nvPr>
        </p:nvSpPr>
        <p:spPr>
          <a:xfrm>
            <a:off x="806450" y="1063256"/>
            <a:ext cx="7740650" cy="4348716"/>
          </a:xfrm>
        </p:spPr>
        <p:txBody>
          <a:bodyPr/>
          <a:lstStyle/>
          <a:p>
            <a:r>
              <a:rPr lang="en-US" altLang="en-US" sz="2000" dirty="0">
                <a:latin typeface="+mn-ea"/>
                <a:ea typeface="+mn-ea"/>
              </a:rPr>
              <a:t>Allows operating systems to run applications within other OSes</a:t>
            </a:r>
          </a:p>
          <a:p>
            <a:pPr lvl="1"/>
            <a:r>
              <a:rPr lang="en-US" altLang="en-US" dirty="0">
                <a:latin typeface="+mn-ea"/>
                <a:ea typeface="+mn-ea"/>
              </a:rPr>
              <a:t>Vast and growing industry</a:t>
            </a:r>
            <a:endParaRPr lang="en-US" altLang="en-US" sz="800" dirty="0">
              <a:latin typeface="+mn-ea"/>
              <a:ea typeface="+mn-ea"/>
            </a:endParaRPr>
          </a:p>
          <a:p>
            <a:r>
              <a:rPr lang="en-US" altLang="en-US" sz="2000" b="1" dirty="0">
                <a:solidFill>
                  <a:srgbClr val="006699"/>
                </a:solidFill>
                <a:latin typeface="+mn-ea"/>
                <a:ea typeface="+mn-ea"/>
              </a:rPr>
              <a:t>Emulation</a:t>
            </a:r>
            <a:r>
              <a:rPr lang="en-US" altLang="en-US" sz="2000" dirty="0">
                <a:latin typeface="+mn-ea"/>
                <a:ea typeface="+mn-ea"/>
              </a:rPr>
              <a:t> used when source CPU type different from target type (i.e. PowerPC to Intel x86)</a:t>
            </a:r>
          </a:p>
          <a:p>
            <a:pPr lvl="1"/>
            <a:r>
              <a:rPr lang="en-US" altLang="en-US" dirty="0">
                <a:latin typeface="+mn-ea"/>
                <a:ea typeface="+mn-ea"/>
              </a:rPr>
              <a:t>Generally slowest method</a:t>
            </a:r>
          </a:p>
          <a:p>
            <a:pPr lvl="1"/>
            <a:r>
              <a:rPr lang="en-US" altLang="en-US" dirty="0">
                <a:latin typeface="+mn-ea"/>
                <a:ea typeface="+mn-ea"/>
              </a:rPr>
              <a:t>When computer language not compiled to native code – </a:t>
            </a:r>
            <a:r>
              <a:rPr lang="en-US" altLang="en-US" b="1" dirty="0">
                <a:solidFill>
                  <a:srgbClr val="006699"/>
                </a:solidFill>
                <a:latin typeface="+mn-ea"/>
                <a:ea typeface="+mn-ea"/>
              </a:rPr>
              <a:t>Interpretation</a:t>
            </a:r>
          </a:p>
          <a:p>
            <a:r>
              <a:rPr lang="en-US" altLang="en-US" sz="2000" b="1" dirty="0">
                <a:solidFill>
                  <a:srgbClr val="006699"/>
                </a:solidFill>
                <a:latin typeface="+mn-ea"/>
                <a:ea typeface="+mn-ea"/>
              </a:rPr>
              <a:t>Virtualization</a:t>
            </a:r>
            <a:r>
              <a:rPr lang="en-US" altLang="en-US" sz="2000" dirty="0">
                <a:latin typeface="+mn-ea"/>
                <a:ea typeface="+mn-ea"/>
              </a:rPr>
              <a:t> – OS natively compiled for CPU, running </a:t>
            </a:r>
            <a:r>
              <a:rPr lang="en-US" altLang="en-US" sz="2000" b="1" dirty="0">
                <a:solidFill>
                  <a:srgbClr val="006699"/>
                </a:solidFill>
                <a:latin typeface="+mn-ea"/>
                <a:ea typeface="+mn-ea"/>
              </a:rPr>
              <a:t>guest</a:t>
            </a:r>
            <a:r>
              <a:rPr lang="en-US" altLang="en-US" sz="2000" dirty="0">
                <a:latin typeface="+mn-ea"/>
                <a:ea typeface="+mn-ea"/>
              </a:rPr>
              <a:t> OSes  also natively compiled </a:t>
            </a:r>
          </a:p>
          <a:p>
            <a:pPr lvl="1"/>
            <a:r>
              <a:rPr lang="en-US" altLang="en-US" dirty="0">
                <a:latin typeface="+mn-ea"/>
                <a:ea typeface="+mn-ea"/>
              </a:rPr>
              <a:t>Consider VMware running WinXP guests, each running applications, all on native WinXP </a:t>
            </a:r>
            <a:r>
              <a:rPr lang="en-US" altLang="en-US" b="1" dirty="0">
                <a:solidFill>
                  <a:srgbClr val="006699"/>
                </a:solidFill>
                <a:latin typeface="+mn-ea"/>
                <a:ea typeface="+mn-ea"/>
              </a:rPr>
              <a:t>host </a:t>
            </a:r>
            <a:r>
              <a:rPr lang="en-US" altLang="en-US" dirty="0">
                <a:latin typeface="+mn-ea"/>
                <a:ea typeface="+mn-ea"/>
              </a:rPr>
              <a:t>OS</a:t>
            </a:r>
          </a:p>
          <a:p>
            <a:pPr lvl="1"/>
            <a:r>
              <a:rPr lang="en-US" altLang="en-US" b="1" dirty="0">
                <a:solidFill>
                  <a:srgbClr val="006699"/>
                </a:solidFill>
                <a:latin typeface="+mn-ea"/>
                <a:ea typeface="+mn-ea"/>
              </a:rPr>
              <a:t>VMM</a:t>
            </a:r>
            <a:r>
              <a:rPr lang="en-US" altLang="en-US" dirty="0">
                <a:latin typeface="+mn-ea"/>
                <a:ea typeface="+mn-ea"/>
              </a:rPr>
              <a:t> (virtual machine Manager) provides virtualization services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5AAFF784-E85C-41DD-9564-2AFE9F2AF854}"/>
              </a:ext>
            </a:extLst>
          </p:cNvPr>
          <p:cNvSpPr>
            <a:spLocks noGrp="1" noChangeArrowheads="1"/>
          </p:cNvSpPr>
          <p:nvPr>
            <p:ph type="title" idx="4294967295"/>
          </p:nvPr>
        </p:nvSpPr>
        <p:spPr>
          <a:xfrm>
            <a:off x="1117600" y="206375"/>
            <a:ext cx="7400925" cy="576263"/>
          </a:xfrm>
        </p:spPr>
        <p:txBody>
          <a:bodyPr/>
          <a:lstStyle/>
          <a:p>
            <a:pPr eaLnBrk="1" hangingPunct="1"/>
            <a:r>
              <a:rPr lang="en-US" altLang="en-US" dirty="0"/>
              <a:t>Virtualization (2)</a:t>
            </a:r>
          </a:p>
        </p:txBody>
      </p:sp>
      <p:sp>
        <p:nvSpPr>
          <p:cNvPr id="92163" name="Rectangle 3">
            <a:extLst>
              <a:ext uri="{FF2B5EF4-FFF2-40B4-BE49-F238E27FC236}">
                <a16:creationId xmlns:a16="http://schemas.microsoft.com/office/drawing/2014/main" id="{739FC5C6-2924-4E47-B256-294439530617}"/>
              </a:ext>
            </a:extLst>
          </p:cNvPr>
          <p:cNvSpPr>
            <a:spLocks noGrp="1" noChangeArrowheads="1"/>
          </p:cNvSpPr>
          <p:nvPr>
            <p:ph type="body" idx="4294967295"/>
          </p:nvPr>
        </p:nvSpPr>
        <p:spPr>
          <a:xfrm>
            <a:off x="393402" y="1148316"/>
            <a:ext cx="8601741" cy="3221665"/>
          </a:xfrm>
        </p:spPr>
        <p:txBody>
          <a:bodyPr/>
          <a:lstStyle/>
          <a:p>
            <a:r>
              <a:rPr lang="en-US" altLang="en-US" sz="2000" dirty="0"/>
              <a:t>Use cases involve laptops and desktops running multiple OSes for exploration or compatibility</a:t>
            </a:r>
          </a:p>
          <a:p>
            <a:pPr lvl="1"/>
            <a:r>
              <a:rPr lang="en-US" altLang="en-US" dirty="0"/>
              <a:t>Apple laptop running Mac OS X host, Windows as a guest</a:t>
            </a:r>
          </a:p>
          <a:p>
            <a:pPr lvl="1"/>
            <a:r>
              <a:rPr lang="en-US" altLang="en-US" dirty="0"/>
              <a:t>Developing apps for multiple OSes without having multiple systems</a:t>
            </a:r>
          </a:p>
          <a:p>
            <a:pPr lvl="1"/>
            <a:r>
              <a:rPr lang="en-US" altLang="en-US" dirty="0"/>
              <a:t>Quality assurance testing applications without having multiple systems</a:t>
            </a:r>
          </a:p>
          <a:p>
            <a:pPr lvl="1"/>
            <a:r>
              <a:rPr lang="en-US" altLang="en-US" dirty="0"/>
              <a:t>Executing and managing compute environments within data centers</a:t>
            </a:r>
          </a:p>
          <a:p>
            <a:r>
              <a:rPr lang="en-US" altLang="en-US" sz="2000" dirty="0"/>
              <a:t>VMM can run natively, in which case they are also the host</a:t>
            </a:r>
          </a:p>
          <a:p>
            <a:pPr lvl="1"/>
            <a:r>
              <a:rPr lang="en-US" altLang="en-US" dirty="0"/>
              <a:t>There is no general-purpose host then (VMware ESX and Citrix </a:t>
            </a:r>
            <a:r>
              <a:rPr lang="en-US" altLang="en-US" dirty="0" err="1"/>
              <a:t>XenServer</a:t>
            </a:r>
            <a:r>
              <a:rPr lang="en-US" altLang="en-US" dirty="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967AD9E5-C263-4DD7-BF7C-15DD636247AC}"/>
              </a:ext>
            </a:extLst>
          </p:cNvPr>
          <p:cNvSpPr>
            <a:spLocks noGrp="1" noChangeArrowheads="1"/>
          </p:cNvSpPr>
          <p:nvPr>
            <p:ph type="title" idx="4294967295"/>
          </p:nvPr>
        </p:nvSpPr>
        <p:spPr>
          <a:xfrm>
            <a:off x="1120775" y="192088"/>
            <a:ext cx="7645400" cy="601662"/>
          </a:xfrm>
        </p:spPr>
        <p:txBody>
          <a:bodyPr/>
          <a:lstStyle/>
          <a:p>
            <a:pPr eaLnBrk="1" hangingPunct="1"/>
            <a:r>
              <a:rPr lang="en-US" altLang="en-US" sz="3000"/>
              <a:t>Computing Environments - Virtualization</a:t>
            </a:r>
          </a:p>
        </p:txBody>
      </p:sp>
      <p:pic>
        <p:nvPicPr>
          <p:cNvPr id="94211" name="Picture 1" descr="1_20.pdf">
            <a:extLst>
              <a:ext uri="{FF2B5EF4-FFF2-40B4-BE49-F238E27FC236}">
                <a16:creationId xmlns:a16="http://schemas.microsoft.com/office/drawing/2014/main" id="{6757256A-1C41-4B7F-99E9-C6E76C868B3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08113" y="1554163"/>
            <a:ext cx="6396037" cy="433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a:extLst>
              <a:ext uri="{FF2B5EF4-FFF2-40B4-BE49-F238E27FC236}">
                <a16:creationId xmlns:a16="http://schemas.microsoft.com/office/drawing/2014/main" id="{D0ECE790-B0BE-4135-98DE-2C481E02F542}"/>
              </a:ext>
            </a:extLst>
          </p:cNvPr>
          <p:cNvSpPr>
            <a:spLocks noGrp="1" noChangeArrowheads="1"/>
          </p:cNvSpPr>
          <p:nvPr>
            <p:ph type="title" idx="4294967295"/>
          </p:nvPr>
        </p:nvSpPr>
        <p:spPr>
          <a:xfrm>
            <a:off x="912813" y="207963"/>
            <a:ext cx="7653337" cy="576262"/>
          </a:xfrm>
        </p:spPr>
        <p:txBody>
          <a:bodyPr/>
          <a:lstStyle/>
          <a:p>
            <a:r>
              <a:rPr lang="en-US" altLang="en-US"/>
              <a:t>Distributed Systems</a:t>
            </a:r>
          </a:p>
        </p:txBody>
      </p:sp>
      <p:sp>
        <p:nvSpPr>
          <p:cNvPr id="96259" name="Content Placeholder 2">
            <a:extLst>
              <a:ext uri="{FF2B5EF4-FFF2-40B4-BE49-F238E27FC236}">
                <a16:creationId xmlns:a16="http://schemas.microsoft.com/office/drawing/2014/main" id="{3ECA8FF4-005A-4361-BF3A-BAC35BECFBC5}"/>
              </a:ext>
            </a:extLst>
          </p:cNvPr>
          <p:cNvSpPr>
            <a:spLocks noGrp="1" noChangeArrowheads="1"/>
          </p:cNvSpPr>
          <p:nvPr>
            <p:ph idx="4294967295"/>
          </p:nvPr>
        </p:nvSpPr>
        <p:spPr>
          <a:xfrm>
            <a:off x="838200" y="1092200"/>
            <a:ext cx="7727950" cy="4255977"/>
          </a:xfrm>
        </p:spPr>
        <p:txBody>
          <a:bodyPr/>
          <a:lstStyle/>
          <a:p>
            <a:r>
              <a:rPr lang="en-US" altLang="en-US" sz="2000" dirty="0">
                <a:latin typeface="+mn-ea"/>
                <a:ea typeface="+mn-ea"/>
              </a:rPr>
              <a:t>Collection of separate, possibly heterogeneous, systems networked together</a:t>
            </a:r>
          </a:p>
          <a:p>
            <a:pPr lvl="1"/>
            <a:r>
              <a:rPr lang="en-US" altLang="en-US" b="1" dirty="0">
                <a:solidFill>
                  <a:srgbClr val="006699"/>
                </a:solidFill>
                <a:latin typeface="+mn-ea"/>
                <a:ea typeface="+mn-ea"/>
              </a:rPr>
              <a:t>Network</a:t>
            </a:r>
            <a:r>
              <a:rPr lang="en-US" altLang="en-US" dirty="0">
                <a:latin typeface="+mn-ea"/>
                <a:ea typeface="+mn-ea"/>
              </a:rPr>
              <a:t> is a communications path, </a:t>
            </a:r>
            <a:r>
              <a:rPr lang="en-US" altLang="en-US" b="1" dirty="0">
                <a:solidFill>
                  <a:srgbClr val="006699"/>
                </a:solidFill>
                <a:latin typeface="+mn-ea"/>
                <a:ea typeface="+mn-ea"/>
              </a:rPr>
              <a:t>TCP/IP </a:t>
            </a:r>
            <a:r>
              <a:rPr lang="en-US" altLang="en-US" dirty="0">
                <a:latin typeface="+mn-ea"/>
                <a:ea typeface="+mn-ea"/>
              </a:rPr>
              <a:t>most common</a:t>
            </a:r>
          </a:p>
          <a:p>
            <a:pPr lvl="2"/>
            <a:r>
              <a:rPr lang="en-US" altLang="en-US" b="1" dirty="0">
                <a:solidFill>
                  <a:srgbClr val="006699"/>
                </a:solidFill>
                <a:latin typeface="+mn-ea"/>
                <a:ea typeface="+mn-ea"/>
              </a:rPr>
              <a:t>Local Area Network </a:t>
            </a:r>
            <a:r>
              <a:rPr lang="en-US" altLang="en-US" dirty="0">
                <a:latin typeface="+mn-ea"/>
                <a:ea typeface="+mn-ea"/>
              </a:rPr>
              <a:t>(</a:t>
            </a:r>
            <a:r>
              <a:rPr lang="en-US" altLang="en-US" b="1" dirty="0">
                <a:solidFill>
                  <a:srgbClr val="006699"/>
                </a:solidFill>
                <a:latin typeface="+mn-ea"/>
                <a:ea typeface="+mn-ea"/>
              </a:rPr>
              <a:t>LAN</a:t>
            </a:r>
            <a:r>
              <a:rPr lang="en-US" altLang="en-US" dirty="0">
                <a:latin typeface="+mn-ea"/>
                <a:ea typeface="+mn-ea"/>
              </a:rPr>
              <a:t>)</a:t>
            </a:r>
          </a:p>
          <a:p>
            <a:pPr lvl="2"/>
            <a:r>
              <a:rPr lang="en-US" altLang="en-US" b="1" dirty="0">
                <a:solidFill>
                  <a:srgbClr val="006699"/>
                </a:solidFill>
                <a:latin typeface="+mn-ea"/>
                <a:ea typeface="+mn-ea"/>
              </a:rPr>
              <a:t>Wide Area Network </a:t>
            </a:r>
            <a:r>
              <a:rPr lang="en-US" altLang="en-US" dirty="0">
                <a:latin typeface="+mn-ea"/>
                <a:ea typeface="+mn-ea"/>
              </a:rPr>
              <a:t>(</a:t>
            </a:r>
            <a:r>
              <a:rPr lang="en-US" altLang="en-US" b="1" dirty="0">
                <a:solidFill>
                  <a:srgbClr val="006699"/>
                </a:solidFill>
                <a:latin typeface="+mn-ea"/>
                <a:ea typeface="+mn-ea"/>
              </a:rPr>
              <a:t>WAN</a:t>
            </a:r>
            <a:r>
              <a:rPr lang="en-US" altLang="en-US" dirty="0">
                <a:latin typeface="+mn-ea"/>
                <a:ea typeface="+mn-ea"/>
              </a:rPr>
              <a:t>)</a:t>
            </a:r>
          </a:p>
          <a:p>
            <a:pPr lvl="2"/>
            <a:r>
              <a:rPr lang="en-US" altLang="en-US" b="1" dirty="0">
                <a:solidFill>
                  <a:srgbClr val="006699"/>
                </a:solidFill>
                <a:latin typeface="+mn-ea"/>
                <a:ea typeface="+mn-ea"/>
              </a:rPr>
              <a:t>Metropolitan Area Network </a:t>
            </a:r>
            <a:r>
              <a:rPr lang="en-US" altLang="en-US" dirty="0">
                <a:latin typeface="+mn-ea"/>
                <a:ea typeface="+mn-ea"/>
              </a:rPr>
              <a:t>(</a:t>
            </a:r>
            <a:r>
              <a:rPr lang="en-US" altLang="en-US" b="1" dirty="0">
                <a:solidFill>
                  <a:srgbClr val="006699"/>
                </a:solidFill>
                <a:latin typeface="+mn-ea"/>
                <a:ea typeface="+mn-ea"/>
              </a:rPr>
              <a:t>MAN</a:t>
            </a:r>
            <a:r>
              <a:rPr lang="en-US" altLang="en-US" dirty="0">
                <a:latin typeface="+mn-ea"/>
                <a:ea typeface="+mn-ea"/>
              </a:rPr>
              <a:t>)</a:t>
            </a:r>
          </a:p>
          <a:p>
            <a:pPr lvl="2"/>
            <a:r>
              <a:rPr lang="en-US" altLang="en-US" b="1" dirty="0">
                <a:solidFill>
                  <a:srgbClr val="006699"/>
                </a:solidFill>
                <a:latin typeface="+mn-ea"/>
                <a:ea typeface="+mn-ea"/>
              </a:rPr>
              <a:t>Personal Area Network </a:t>
            </a:r>
            <a:r>
              <a:rPr lang="en-US" altLang="en-US" dirty="0">
                <a:latin typeface="+mn-ea"/>
                <a:ea typeface="+mn-ea"/>
              </a:rPr>
              <a:t>(</a:t>
            </a:r>
            <a:r>
              <a:rPr lang="en-US" altLang="en-US" b="1" dirty="0">
                <a:solidFill>
                  <a:srgbClr val="006699"/>
                </a:solidFill>
                <a:latin typeface="+mn-ea"/>
                <a:ea typeface="+mn-ea"/>
              </a:rPr>
              <a:t>PAN</a:t>
            </a:r>
            <a:r>
              <a:rPr lang="en-US" altLang="en-US" dirty="0">
                <a:latin typeface="+mn-ea"/>
                <a:ea typeface="+mn-ea"/>
              </a:rPr>
              <a:t>)</a:t>
            </a:r>
          </a:p>
          <a:p>
            <a:r>
              <a:rPr lang="en-US" altLang="en-US" sz="2000" b="1" dirty="0">
                <a:solidFill>
                  <a:srgbClr val="006699"/>
                </a:solidFill>
                <a:latin typeface="+mn-ea"/>
                <a:ea typeface="+mn-ea"/>
              </a:rPr>
              <a:t>Network Operating System </a:t>
            </a:r>
            <a:r>
              <a:rPr lang="en-US" altLang="en-US" sz="2000" dirty="0">
                <a:latin typeface="+mn-ea"/>
                <a:ea typeface="+mn-ea"/>
              </a:rPr>
              <a:t>provides features between systems across network</a:t>
            </a:r>
          </a:p>
          <a:p>
            <a:pPr lvl="1"/>
            <a:r>
              <a:rPr lang="en-US" altLang="en-US" dirty="0">
                <a:latin typeface="+mn-ea"/>
                <a:ea typeface="+mn-ea"/>
              </a:rPr>
              <a:t>Communication scheme allows systems to exchange messages</a:t>
            </a:r>
          </a:p>
          <a:p>
            <a:pPr lvl="1"/>
            <a:r>
              <a:rPr lang="en-US" altLang="en-US" dirty="0">
                <a:latin typeface="+mn-ea"/>
                <a:ea typeface="+mn-ea"/>
              </a:rPr>
              <a:t>Illusion of a single system</a:t>
            </a:r>
          </a:p>
        </p:txBody>
      </p:sp>
    </p:spTree>
    <p:extLst>
      <p:ext uri="{BB962C8B-B14F-4D97-AF65-F5344CB8AC3E}">
        <p14:creationId xmlns:p14="http://schemas.microsoft.com/office/powerpoint/2010/main" val="38270844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241EA749-5F42-4DDF-91AF-C39281ECA8AD}"/>
              </a:ext>
            </a:extLst>
          </p:cNvPr>
          <p:cNvSpPr>
            <a:spLocks noGrp="1" noChangeArrowheads="1"/>
          </p:cNvSpPr>
          <p:nvPr>
            <p:ph type="title" idx="4294967295"/>
          </p:nvPr>
        </p:nvSpPr>
        <p:spPr>
          <a:xfrm>
            <a:off x="1100138" y="227013"/>
            <a:ext cx="7399337" cy="558800"/>
          </a:xfrm>
        </p:spPr>
        <p:txBody>
          <a:bodyPr/>
          <a:lstStyle/>
          <a:p>
            <a:r>
              <a:rPr lang="en-US" altLang="en-US"/>
              <a:t>Computer-System Architecture</a:t>
            </a:r>
          </a:p>
        </p:txBody>
      </p:sp>
      <p:sp>
        <p:nvSpPr>
          <p:cNvPr id="48131" name="Content Placeholder 2">
            <a:extLst>
              <a:ext uri="{FF2B5EF4-FFF2-40B4-BE49-F238E27FC236}">
                <a16:creationId xmlns:a16="http://schemas.microsoft.com/office/drawing/2014/main" id="{4D3327B7-8FD8-4AB6-82B1-9B1A1B47B9CD}"/>
              </a:ext>
            </a:extLst>
          </p:cNvPr>
          <p:cNvSpPr>
            <a:spLocks noGrp="1" noChangeArrowheads="1"/>
          </p:cNvSpPr>
          <p:nvPr>
            <p:ph idx="4294967295"/>
          </p:nvPr>
        </p:nvSpPr>
        <p:spPr>
          <a:xfrm>
            <a:off x="806450" y="1116420"/>
            <a:ext cx="7693025" cy="4635794"/>
          </a:xfrm>
        </p:spPr>
        <p:txBody>
          <a:bodyPr/>
          <a:lstStyle/>
          <a:p>
            <a:r>
              <a:rPr lang="en-US" altLang="en-US" sz="2000" dirty="0">
                <a:latin typeface="+mn-ea"/>
                <a:ea typeface="+mn-ea"/>
              </a:rPr>
              <a:t>Most systems use a single general-purpose processor</a:t>
            </a:r>
          </a:p>
          <a:p>
            <a:pPr lvl="1"/>
            <a:r>
              <a:rPr lang="en-US" altLang="en-US" dirty="0">
                <a:latin typeface="+mn-ea"/>
                <a:ea typeface="+mn-ea"/>
              </a:rPr>
              <a:t>Most systems have special-purpose processors as well</a:t>
            </a:r>
            <a:endParaRPr lang="en-US" altLang="en-US" sz="800" dirty="0">
              <a:latin typeface="+mn-ea"/>
              <a:ea typeface="+mn-ea"/>
            </a:endParaRPr>
          </a:p>
          <a:p>
            <a:r>
              <a:rPr lang="en-US" altLang="en-US" sz="2000" b="1" dirty="0">
                <a:solidFill>
                  <a:srgbClr val="006699"/>
                </a:solidFill>
                <a:latin typeface="+mn-ea"/>
                <a:ea typeface="+mn-ea"/>
              </a:rPr>
              <a:t>Multiprocessors</a:t>
            </a:r>
            <a:r>
              <a:rPr lang="en-US" altLang="en-US" sz="2000" dirty="0">
                <a:solidFill>
                  <a:srgbClr val="3366FF"/>
                </a:solidFill>
                <a:latin typeface="+mn-ea"/>
                <a:ea typeface="+mn-ea"/>
              </a:rPr>
              <a:t> </a:t>
            </a:r>
            <a:r>
              <a:rPr lang="en-US" altLang="en-US" sz="2000" dirty="0">
                <a:latin typeface="+mn-ea"/>
                <a:ea typeface="+mn-ea"/>
              </a:rPr>
              <a:t>systems growing in use and importance</a:t>
            </a:r>
          </a:p>
          <a:p>
            <a:pPr lvl="1"/>
            <a:r>
              <a:rPr lang="en-US" altLang="en-US" dirty="0">
                <a:latin typeface="+mn-ea"/>
                <a:ea typeface="+mn-ea"/>
              </a:rPr>
              <a:t>Also known as </a:t>
            </a:r>
            <a:r>
              <a:rPr lang="en-US" altLang="en-US" b="1" dirty="0">
                <a:solidFill>
                  <a:srgbClr val="006699"/>
                </a:solidFill>
                <a:latin typeface="+mn-ea"/>
                <a:ea typeface="+mn-ea"/>
              </a:rPr>
              <a:t>parallel systems</a:t>
            </a:r>
            <a:r>
              <a:rPr lang="en-US" altLang="en-US" dirty="0">
                <a:latin typeface="+mn-ea"/>
                <a:ea typeface="+mn-ea"/>
              </a:rPr>
              <a:t>, </a:t>
            </a:r>
            <a:r>
              <a:rPr lang="en-US" altLang="en-US" b="1" dirty="0">
                <a:solidFill>
                  <a:srgbClr val="006699"/>
                </a:solidFill>
                <a:latin typeface="+mn-ea"/>
                <a:ea typeface="+mn-ea"/>
              </a:rPr>
              <a:t>tightly-coupled systems</a:t>
            </a:r>
          </a:p>
          <a:p>
            <a:pPr lvl="1"/>
            <a:r>
              <a:rPr lang="en-US" altLang="en-US" dirty="0">
                <a:latin typeface="+mn-ea"/>
                <a:ea typeface="+mn-ea"/>
              </a:rPr>
              <a:t>Advantages include:</a:t>
            </a:r>
          </a:p>
          <a:p>
            <a:pPr marL="1200150" lvl="2" indent="-342900">
              <a:buFont typeface="Arial" panose="020B0604020202020204" pitchFamily="34" charset="0"/>
              <a:buAutoNum type="arabicPeriod"/>
            </a:pPr>
            <a:r>
              <a:rPr lang="en-US" altLang="en-US" b="1" dirty="0">
                <a:solidFill>
                  <a:srgbClr val="006699"/>
                </a:solidFill>
                <a:latin typeface="+mn-ea"/>
                <a:ea typeface="+mn-ea"/>
              </a:rPr>
              <a:t>Increased throughput</a:t>
            </a:r>
          </a:p>
          <a:p>
            <a:pPr marL="1200150" lvl="2" indent="-342900">
              <a:buFont typeface="Arial" panose="020B0604020202020204" pitchFamily="34" charset="0"/>
              <a:buAutoNum type="arabicPeriod"/>
            </a:pPr>
            <a:r>
              <a:rPr lang="en-US" altLang="en-US" b="1" dirty="0">
                <a:solidFill>
                  <a:srgbClr val="006699"/>
                </a:solidFill>
                <a:latin typeface="+mn-ea"/>
                <a:ea typeface="+mn-ea"/>
              </a:rPr>
              <a:t>Economy of scale</a:t>
            </a:r>
          </a:p>
          <a:p>
            <a:pPr marL="1200150" lvl="2" indent="-342900">
              <a:buFont typeface="Arial" panose="020B0604020202020204" pitchFamily="34" charset="0"/>
              <a:buAutoNum type="arabicPeriod"/>
            </a:pPr>
            <a:r>
              <a:rPr lang="en-US" altLang="en-US" b="1" dirty="0">
                <a:solidFill>
                  <a:srgbClr val="006699"/>
                </a:solidFill>
                <a:latin typeface="+mn-ea"/>
                <a:ea typeface="+mn-ea"/>
              </a:rPr>
              <a:t>Increased reliability </a:t>
            </a:r>
            <a:r>
              <a:rPr lang="en-US" altLang="en-US" dirty="0">
                <a:latin typeface="+mn-ea"/>
                <a:ea typeface="+mn-ea"/>
              </a:rPr>
              <a:t>– graceful degradation or fault tolerance</a:t>
            </a:r>
          </a:p>
          <a:p>
            <a:pPr lvl="1"/>
            <a:r>
              <a:rPr lang="en-US" altLang="en-US" dirty="0">
                <a:latin typeface="+mn-ea"/>
                <a:ea typeface="+mn-ea"/>
              </a:rPr>
              <a:t>Two types:</a:t>
            </a:r>
          </a:p>
          <a:p>
            <a:pPr marL="1200150" lvl="2" indent="-342900">
              <a:buFont typeface="Arial" panose="020B0604020202020204" pitchFamily="34" charset="0"/>
              <a:buAutoNum type="arabicPeriod"/>
            </a:pPr>
            <a:r>
              <a:rPr lang="en-US" altLang="en-US" b="1" dirty="0">
                <a:solidFill>
                  <a:srgbClr val="006699"/>
                </a:solidFill>
                <a:latin typeface="+mn-ea"/>
                <a:ea typeface="+mn-ea"/>
              </a:rPr>
              <a:t>Asymmetric Multiprocessing</a:t>
            </a:r>
            <a:r>
              <a:rPr lang="en-US" altLang="en-US" b="1" dirty="0">
                <a:solidFill>
                  <a:srgbClr val="3366FF"/>
                </a:solidFill>
                <a:latin typeface="+mn-ea"/>
                <a:ea typeface="+mn-ea"/>
              </a:rPr>
              <a:t> </a:t>
            </a:r>
            <a:r>
              <a:rPr lang="en-US" altLang="en-US" dirty="0">
                <a:latin typeface="+mn-ea"/>
                <a:ea typeface="+mn-ea"/>
              </a:rPr>
              <a:t>– each processor is assigned a specie task.</a:t>
            </a:r>
          </a:p>
          <a:p>
            <a:pPr marL="1200150" lvl="2" indent="-342900">
              <a:buFont typeface="Arial" panose="020B0604020202020204" pitchFamily="34" charset="0"/>
              <a:buAutoNum type="arabicPeriod"/>
            </a:pPr>
            <a:r>
              <a:rPr lang="en-US" altLang="en-US" b="1" dirty="0">
                <a:solidFill>
                  <a:srgbClr val="006699"/>
                </a:solidFill>
                <a:latin typeface="+mn-ea"/>
                <a:ea typeface="+mn-ea"/>
              </a:rPr>
              <a:t>Symmetric Multiprocessing </a:t>
            </a:r>
            <a:r>
              <a:rPr lang="en-US" altLang="en-US" dirty="0">
                <a:latin typeface="+mn-ea"/>
                <a:ea typeface="+mn-ea"/>
              </a:rPr>
              <a:t>– each processor performs all tasks</a:t>
            </a:r>
          </a:p>
        </p:txBody>
      </p:sp>
    </p:spTree>
    <p:extLst>
      <p:ext uri="{BB962C8B-B14F-4D97-AF65-F5344CB8AC3E}">
        <p14:creationId xmlns:p14="http://schemas.microsoft.com/office/powerpoint/2010/main" val="42345177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C1410AFB-466A-4B08-A8E9-FA44DF2206BF}"/>
              </a:ext>
            </a:extLst>
          </p:cNvPr>
          <p:cNvSpPr>
            <a:spLocks noGrp="1" noChangeArrowheads="1"/>
          </p:cNvSpPr>
          <p:nvPr>
            <p:ph type="title" idx="4294967295"/>
          </p:nvPr>
        </p:nvSpPr>
        <p:spPr>
          <a:xfrm>
            <a:off x="939800" y="133350"/>
            <a:ext cx="8229600" cy="641350"/>
          </a:xfrm>
        </p:spPr>
        <p:txBody>
          <a:bodyPr/>
          <a:lstStyle/>
          <a:p>
            <a:r>
              <a:rPr lang="en-US" altLang="en-US" sz="3000"/>
              <a:t>Symmetric Multiprocessing Architecture</a:t>
            </a:r>
          </a:p>
        </p:txBody>
      </p:sp>
      <p:pic>
        <p:nvPicPr>
          <p:cNvPr id="50179" name="Picture 2">
            <a:extLst>
              <a:ext uri="{FF2B5EF4-FFF2-40B4-BE49-F238E27FC236}">
                <a16:creationId xmlns:a16="http://schemas.microsoft.com/office/drawing/2014/main" id="{61A30DEF-BA94-447F-8812-ADBD513F7D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7328" y="1315238"/>
            <a:ext cx="5988234" cy="4533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34806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20841D46-E229-498E-9F1F-A94657CB7458}"/>
              </a:ext>
            </a:extLst>
          </p:cNvPr>
          <p:cNvSpPr>
            <a:spLocks noGrp="1" noChangeArrowheads="1"/>
          </p:cNvSpPr>
          <p:nvPr>
            <p:ph type="title"/>
          </p:nvPr>
        </p:nvSpPr>
        <p:spPr>
          <a:xfrm>
            <a:off x="457200" y="204788"/>
            <a:ext cx="8070850" cy="576262"/>
          </a:xfrm>
        </p:spPr>
        <p:txBody>
          <a:bodyPr/>
          <a:lstStyle/>
          <a:p>
            <a:r>
              <a:rPr lang="en-US" altLang="en-US" dirty="0"/>
              <a:t>Dual-Core Design</a:t>
            </a:r>
          </a:p>
        </p:txBody>
      </p:sp>
      <p:sp>
        <p:nvSpPr>
          <p:cNvPr id="52227" name="Content Placeholder 1">
            <a:extLst>
              <a:ext uri="{FF2B5EF4-FFF2-40B4-BE49-F238E27FC236}">
                <a16:creationId xmlns:a16="http://schemas.microsoft.com/office/drawing/2014/main" id="{2C6B238E-3C2D-4092-8CEA-97744AAE8F40}"/>
              </a:ext>
            </a:extLst>
          </p:cNvPr>
          <p:cNvSpPr>
            <a:spLocks noGrp="1" noChangeArrowheads="1"/>
          </p:cNvSpPr>
          <p:nvPr>
            <p:ph sz="half" idx="1"/>
          </p:nvPr>
        </p:nvSpPr>
        <p:spPr>
          <a:xfrm>
            <a:off x="829515" y="976268"/>
            <a:ext cx="7322362" cy="1216772"/>
          </a:xfrm>
        </p:spPr>
        <p:txBody>
          <a:bodyPr/>
          <a:lstStyle/>
          <a:p>
            <a:r>
              <a:rPr lang="en-US" altLang="en-US" sz="2000" dirty="0">
                <a:latin typeface="+mn-ea"/>
                <a:ea typeface="+mn-ea"/>
              </a:rPr>
              <a:t>Multi-chip and </a:t>
            </a:r>
            <a:r>
              <a:rPr lang="en-US" altLang="en-US" sz="2000" b="1" dirty="0">
                <a:solidFill>
                  <a:srgbClr val="006699"/>
                </a:solidFill>
                <a:latin typeface="+mn-ea"/>
                <a:ea typeface="+mn-ea"/>
              </a:rPr>
              <a:t>multicore</a:t>
            </a:r>
          </a:p>
          <a:p>
            <a:r>
              <a:rPr lang="en-US" altLang="en-US" sz="2000" dirty="0">
                <a:latin typeface="+mn-ea"/>
                <a:ea typeface="+mn-ea"/>
              </a:rPr>
              <a:t>Systems containing all  chips</a:t>
            </a:r>
            <a:endParaRPr lang="en-US" altLang="en-US" sz="2000" b="1" dirty="0">
              <a:solidFill>
                <a:srgbClr val="3366FF"/>
              </a:solidFill>
              <a:latin typeface="+mn-ea"/>
              <a:ea typeface="+mn-ea"/>
            </a:endParaRPr>
          </a:p>
          <a:p>
            <a:pPr lvl="1"/>
            <a:r>
              <a:rPr lang="en-US" altLang="en-US" sz="1800" dirty="0">
                <a:latin typeface="+mn-ea"/>
                <a:ea typeface="+mn-ea"/>
              </a:rPr>
              <a:t>Chassis containing multiple separate systems</a:t>
            </a:r>
          </a:p>
          <a:p>
            <a:pPr lvl="1"/>
            <a:endParaRPr lang="en-US" altLang="en-US" dirty="0">
              <a:latin typeface="+mn-ea"/>
              <a:ea typeface="+mn-ea"/>
            </a:endParaRPr>
          </a:p>
        </p:txBody>
      </p:sp>
      <p:pic>
        <p:nvPicPr>
          <p:cNvPr id="52228" name="Picture 2">
            <a:extLst>
              <a:ext uri="{FF2B5EF4-FFF2-40B4-BE49-F238E27FC236}">
                <a16:creationId xmlns:a16="http://schemas.microsoft.com/office/drawing/2014/main" id="{77155B73-8D6F-4B94-A72D-0EA688D489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1056" y="2388258"/>
            <a:ext cx="4464950" cy="3980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65908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82AFAD1E-E934-45C6-9563-2F384ACE5648}"/>
              </a:ext>
            </a:extLst>
          </p:cNvPr>
          <p:cNvSpPr>
            <a:spLocks noGrp="1" noChangeArrowheads="1"/>
          </p:cNvSpPr>
          <p:nvPr>
            <p:ph type="title"/>
          </p:nvPr>
        </p:nvSpPr>
        <p:spPr>
          <a:xfrm>
            <a:off x="923925" y="84138"/>
            <a:ext cx="8035925" cy="709612"/>
          </a:xfrm>
        </p:spPr>
        <p:txBody>
          <a:bodyPr/>
          <a:lstStyle/>
          <a:p>
            <a:r>
              <a:rPr lang="en-US" altLang="en-US"/>
              <a:t>Non-Uniform Memory Access System</a:t>
            </a:r>
          </a:p>
        </p:txBody>
      </p:sp>
      <p:pic>
        <p:nvPicPr>
          <p:cNvPr id="54275" name="Picture 2">
            <a:extLst>
              <a:ext uri="{FF2B5EF4-FFF2-40B4-BE49-F238E27FC236}">
                <a16:creationId xmlns:a16="http://schemas.microsoft.com/office/drawing/2014/main" id="{95963655-0AB0-4CCC-A2C8-392BB4B36F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6500" y="1482725"/>
            <a:ext cx="4440238" cy="420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801811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4773C3BE-9EC6-4AC9-BFED-6703722AE48E}"/>
              </a:ext>
            </a:extLst>
          </p:cNvPr>
          <p:cNvSpPr>
            <a:spLocks noGrp="1" noChangeArrowheads="1"/>
          </p:cNvSpPr>
          <p:nvPr>
            <p:ph type="title" idx="4294967295"/>
          </p:nvPr>
        </p:nvSpPr>
        <p:spPr>
          <a:xfrm>
            <a:off x="457200" y="211138"/>
            <a:ext cx="8034338" cy="576262"/>
          </a:xfrm>
        </p:spPr>
        <p:txBody>
          <a:bodyPr/>
          <a:lstStyle/>
          <a:p>
            <a:r>
              <a:rPr lang="en-US" altLang="en-US"/>
              <a:t>Clustered Systems</a:t>
            </a:r>
          </a:p>
        </p:txBody>
      </p:sp>
      <p:sp>
        <p:nvSpPr>
          <p:cNvPr id="55299" name="Content Placeholder 2">
            <a:extLst>
              <a:ext uri="{FF2B5EF4-FFF2-40B4-BE49-F238E27FC236}">
                <a16:creationId xmlns:a16="http://schemas.microsoft.com/office/drawing/2014/main" id="{2F915434-FD64-4DB0-A829-8C9E2B7AC5B5}"/>
              </a:ext>
            </a:extLst>
          </p:cNvPr>
          <p:cNvSpPr>
            <a:spLocks noGrp="1" noChangeArrowheads="1"/>
          </p:cNvSpPr>
          <p:nvPr>
            <p:ph idx="4294967295"/>
          </p:nvPr>
        </p:nvSpPr>
        <p:spPr>
          <a:xfrm>
            <a:off x="700124" y="1041992"/>
            <a:ext cx="7890984" cy="3774558"/>
          </a:xfrm>
        </p:spPr>
        <p:txBody>
          <a:bodyPr/>
          <a:lstStyle/>
          <a:p>
            <a:r>
              <a:rPr lang="en-US" altLang="en-US" sz="2000" dirty="0">
                <a:latin typeface="+mn-ea"/>
                <a:ea typeface="+mn-ea"/>
              </a:rPr>
              <a:t>Like multiprocessor systems, but multiple systems work together</a:t>
            </a:r>
          </a:p>
          <a:p>
            <a:pPr lvl="1"/>
            <a:r>
              <a:rPr lang="en-US" altLang="en-US" dirty="0">
                <a:latin typeface="+mn-ea"/>
                <a:ea typeface="+mn-ea"/>
              </a:rPr>
              <a:t>Usually sharing storage via a </a:t>
            </a:r>
            <a:r>
              <a:rPr lang="en-US" altLang="en-US" b="1" dirty="0">
                <a:solidFill>
                  <a:srgbClr val="006699"/>
                </a:solidFill>
                <a:latin typeface="+mn-ea"/>
                <a:ea typeface="+mn-ea"/>
              </a:rPr>
              <a:t>storage-area network </a:t>
            </a:r>
            <a:r>
              <a:rPr lang="en-US" altLang="en-US" dirty="0">
                <a:latin typeface="+mn-ea"/>
                <a:ea typeface="+mn-ea"/>
              </a:rPr>
              <a:t>(</a:t>
            </a:r>
            <a:r>
              <a:rPr lang="en-US" altLang="en-US" b="1" dirty="0">
                <a:solidFill>
                  <a:srgbClr val="006699"/>
                </a:solidFill>
                <a:latin typeface="+mn-ea"/>
                <a:ea typeface="+mn-ea"/>
              </a:rPr>
              <a:t>SAN</a:t>
            </a:r>
            <a:r>
              <a:rPr lang="en-US" altLang="en-US" dirty="0">
                <a:latin typeface="+mn-ea"/>
                <a:ea typeface="+mn-ea"/>
              </a:rPr>
              <a:t>)</a:t>
            </a:r>
          </a:p>
          <a:p>
            <a:pPr lvl="1"/>
            <a:r>
              <a:rPr lang="en-US" altLang="en-US" dirty="0">
                <a:latin typeface="+mn-ea"/>
                <a:ea typeface="+mn-ea"/>
              </a:rPr>
              <a:t>Provides a </a:t>
            </a:r>
            <a:r>
              <a:rPr lang="en-US" altLang="en-US" b="1" dirty="0">
                <a:solidFill>
                  <a:srgbClr val="006699"/>
                </a:solidFill>
                <a:latin typeface="+mn-ea"/>
                <a:ea typeface="+mn-ea"/>
              </a:rPr>
              <a:t>high-availability</a:t>
            </a:r>
            <a:r>
              <a:rPr lang="en-US" altLang="en-US" b="1" dirty="0">
                <a:latin typeface="+mn-ea"/>
                <a:ea typeface="+mn-ea"/>
              </a:rPr>
              <a:t> </a:t>
            </a:r>
            <a:r>
              <a:rPr lang="en-US" altLang="en-US" dirty="0">
                <a:latin typeface="+mn-ea"/>
                <a:ea typeface="+mn-ea"/>
              </a:rPr>
              <a:t>service which survives failures</a:t>
            </a:r>
          </a:p>
          <a:p>
            <a:pPr lvl="2"/>
            <a:r>
              <a:rPr lang="en-US" altLang="en-US" sz="1600" b="1" dirty="0">
                <a:solidFill>
                  <a:srgbClr val="006699"/>
                </a:solidFill>
                <a:latin typeface="+mn-ea"/>
                <a:ea typeface="+mn-ea"/>
              </a:rPr>
              <a:t>Asymmetric clustering </a:t>
            </a:r>
            <a:r>
              <a:rPr lang="en-US" altLang="en-US" sz="1600" dirty="0">
                <a:latin typeface="+mn-ea"/>
                <a:ea typeface="+mn-ea"/>
              </a:rPr>
              <a:t>has one machine in hot-standby mode</a:t>
            </a:r>
          </a:p>
          <a:p>
            <a:pPr lvl="2"/>
            <a:r>
              <a:rPr lang="en-US" altLang="en-US" sz="1600" b="1" dirty="0">
                <a:solidFill>
                  <a:srgbClr val="006699"/>
                </a:solidFill>
                <a:latin typeface="+mn-ea"/>
                <a:ea typeface="+mn-ea"/>
              </a:rPr>
              <a:t>Symmetric clustering </a:t>
            </a:r>
            <a:r>
              <a:rPr lang="en-US" altLang="en-US" sz="1600" dirty="0">
                <a:latin typeface="+mn-ea"/>
                <a:ea typeface="+mn-ea"/>
              </a:rPr>
              <a:t>has multiple nodes running applications, monitoring each other</a:t>
            </a:r>
          </a:p>
          <a:p>
            <a:pPr lvl="1"/>
            <a:r>
              <a:rPr lang="en-US" altLang="en-US" dirty="0">
                <a:latin typeface="+mn-ea"/>
                <a:ea typeface="+mn-ea"/>
              </a:rPr>
              <a:t>Some clusters are for </a:t>
            </a:r>
            <a:r>
              <a:rPr lang="en-US" altLang="en-US" b="1" dirty="0">
                <a:solidFill>
                  <a:srgbClr val="006699"/>
                </a:solidFill>
                <a:latin typeface="+mn-ea"/>
                <a:ea typeface="+mn-ea"/>
              </a:rPr>
              <a:t>high-performance computing </a:t>
            </a:r>
            <a:r>
              <a:rPr lang="en-US" altLang="en-US" dirty="0">
                <a:latin typeface="+mn-ea"/>
                <a:ea typeface="+mn-ea"/>
              </a:rPr>
              <a:t>(</a:t>
            </a:r>
            <a:r>
              <a:rPr lang="en-US" altLang="en-US" b="1" dirty="0">
                <a:solidFill>
                  <a:srgbClr val="006699"/>
                </a:solidFill>
                <a:latin typeface="+mn-ea"/>
                <a:ea typeface="+mn-ea"/>
              </a:rPr>
              <a:t>HPC</a:t>
            </a:r>
            <a:r>
              <a:rPr lang="en-US" altLang="en-US" dirty="0">
                <a:latin typeface="+mn-ea"/>
                <a:ea typeface="+mn-ea"/>
              </a:rPr>
              <a:t>)</a:t>
            </a:r>
          </a:p>
          <a:p>
            <a:pPr lvl="2"/>
            <a:r>
              <a:rPr lang="en-US" altLang="en-US" sz="1600" dirty="0">
                <a:latin typeface="+mn-ea"/>
                <a:ea typeface="+mn-ea"/>
              </a:rPr>
              <a:t>Applications must be written to use </a:t>
            </a:r>
            <a:r>
              <a:rPr lang="en-US" altLang="en-US" sz="1600" b="1" dirty="0">
                <a:solidFill>
                  <a:srgbClr val="006699"/>
                </a:solidFill>
                <a:latin typeface="+mn-ea"/>
                <a:ea typeface="+mn-ea"/>
              </a:rPr>
              <a:t>parallelization</a:t>
            </a:r>
          </a:p>
          <a:p>
            <a:pPr lvl="1"/>
            <a:r>
              <a:rPr lang="en-US" altLang="en-US" dirty="0">
                <a:latin typeface="+mn-ea"/>
                <a:ea typeface="+mn-ea"/>
              </a:rPr>
              <a:t>Some have</a:t>
            </a:r>
            <a:r>
              <a:rPr lang="en-US" altLang="en-US" b="1" dirty="0">
                <a:solidFill>
                  <a:srgbClr val="3366FF"/>
                </a:solidFill>
                <a:latin typeface="+mn-ea"/>
                <a:ea typeface="+mn-ea"/>
              </a:rPr>
              <a:t> </a:t>
            </a:r>
            <a:r>
              <a:rPr lang="en-US" altLang="en-US" b="1" dirty="0">
                <a:solidFill>
                  <a:srgbClr val="006699"/>
                </a:solidFill>
                <a:latin typeface="+mn-ea"/>
                <a:ea typeface="+mn-ea"/>
              </a:rPr>
              <a:t>distributed lock manager </a:t>
            </a:r>
            <a:r>
              <a:rPr lang="en-US" altLang="en-US" dirty="0">
                <a:latin typeface="+mn-ea"/>
                <a:ea typeface="+mn-ea"/>
              </a:rPr>
              <a:t>(</a:t>
            </a:r>
            <a:r>
              <a:rPr lang="en-US" altLang="en-US" b="1" dirty="0">
                <a:solidFill>
                  <a:srgbClr val="006699"/>
                </a:solidFill>
                <a:latin typeface="+mn-ea"/>
                <a:ea typeface="+mn-ea"/>
              </a:rPr>
              <a:t>DLM</a:t>
            </a:r>
            <a:r>
              <a:rPr lang="en-US" altLang="en-US" dirty="0">
                <a:latin typeface="+mn-ea"/>
                <a:ea typeface="+mn-ea"/>
              </a:rPr>
              <a:t>) to avoid conflicting operations</a:t>
            </a:r>
          </a:p>
        </p:txBody>
      </p:sp>
    </p:spTree>
    <p:extLst>
      <p:ext uri="{BB962C8B-B14F-4D97-AF65-F5344CB8AC3E}">
        <p14:creationId xmlns:p14="http://schemas.microsoft.com/office/powerpoint/2010/main" val="936710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399C69F4-7B4D-4100-A321-7296749C9C1C}"/>
              </a:ext>
            </a:extLst>
          </p:cNvPr>
          <p:cNvSpPr>
            <a:spLocks noGrp="1" noChangeArrowheads="1"/>
          </p:cNvSpPr>
          <p:nvPr>
            <p:ph type="title" idx="4294967295"/>
          </p:nvPr>
        </p:nvSpPr>
        <p:spPr>
          <a:xfrm>
            <a:off x="457200" y="207963"/>
            <a:ext cx="8061325" cy="576262"/>
          </a:xfrm>
        </p:spPr>
        <p:txBody>
          <a:bodyPr/>
          <a:lstStyle/>
          <a:p>
            <a:r>
              <a:rPr lang="en-US" altLang="en-US"/>
              <a:t>Clustered Systems</a:t>
            </a:r>
          </a:p>
        </p:txBody>
      </p:sp>
      <p:pic>
        <p:nvPicPr>
          <p:cNvPr id="57347" name="Picture 2">
            <a:extLst>
              <a:ext uri="{FF2B5EF4-FFF2-40B4-BE49-F238E27FC236}">
                <a16:creationId xmlns:a16="http://schemas.microsoft.com/office/drawing/2014/main" id="{372567EC-7590-4FE5-8D94-D772F81D0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0436" y="1729378"/>
            <a:ext cx="6928411" cy="3555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751997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80D2F35F-C53D-47E7-B577-3884591241BC}"/>
              </a:ext>
            </a:extLst>
          </p:cNvPr>
          <p:cNvSpPr>
            <a:spLocks noGrp="1" noChangeArrowheads="1"/>
          </p:cNvSpPr>
          <p:nvPr>
            <p:ph type="title"/>
          </p:nvPr>
        </p:nvSpPr>
        <p:spPr>
          <a:xfrm>
            <a:off x="457200" y="222250"/>
            <a:ext cx="8015288" cy="576263"/>
          </a:xfrm>
        </p:spPr>
        <p:txBody>
          <a:bodyPr/>
          <a:lstStyle/>
          <a:p>
            <a:r>
              <a:rPr lang="en-US" altLang="en-US" dirty="0"/>
              <a:t>PC Motherboard</a:t>
            </a:r>
          </a:p>
        </p:txBody>
      </p:sp>
      <p:pic>
        <p:nvPicPr>
          <p:cNvPr id="58371" name="Picture 5">
            <a:extLst>
              <a:ext uri="{FF2B5EF4-FFF2-40B4-BE49-F238E27FC236}">
                <a16:creationId xmlns:a16="http://schemas.microsoft.com/office/drawing/2014/main" id="{5878A734-D8F6-4F7D-8433-2C96A52E7C0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373631" y="929205"/>
            <a:ext cx="6867525" cy="5349875"/>
          </a:xfrm>
          <a:noFill/>
        </p:spPr>
      </p:pic>
    </p:spTree>
    <p:extLst>
      <p:ext uri="{BB962C8B-B14F-4D97-AF65-F5344CB8AC3E}">
        <p14:creationId xmlns:p14="http://schemas.microsoft.com/office/powerpoint/2010/main" val="40306514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71B8082F-3362-4A0A-8D0E-FB22B1147508}"/>
              </a:ext>
            </a:extLst>
          </p:cNvPr>
          <p:cNvSpPr>
            <a:spLocks noGrp="1" noChangeArrowheads="1"/>
          </p:cNvSpPr>
          <p:nvPr>
            <p:ph type="title" idx="4294967295"/>
          </p:nvPr>
        </p:nvSpPr>
        <p:spPr>
          <a:xfrm>
            <a:off x="960668" y="171450"/>
            <a:ext cx="8016875" cy="622300"/>
          </a:xfrm>
        </p:spPr>
        <p:txBody>
          <a:bodyPr/>
          <a:lstStyle/>
          <a:p>
            <a:r>
              <a:rPr lang="en-US" altLang="en-US" dirty="0"/>
              <a:t>Computing Environments</a:t>
            </a:r>
          </a:p>
        </p:txBody>
      </p:sp>
      <p:sp>
        <p:nvSpPr>
          <p:cNvPr id="100355" name="Content Placeholder 2">
            <a:extLst>
              <a:ext uri="{FF2B5EF4-FFF2-40B4-BE49-F238E27FC236}">
                <a16:creationId xmlns:a16="http://schemas.microsoft.com/office/drawing/2014/main" id="{3405E8D5-FD1B-4039-BB1E-A9B3B0779F95}"/>
              </a:ext>
            </a:extLst>
          </p:cNvPr>
          <p:cNvSpPr>
            <a:spLocks noGrp="1" noChangeArrowheads="1"/>
          </p:cNvSpPr>
          <p:nvPr>
            <p:ph idx="4294967295"/>
          </p:nvPr>
        </p:nvSpPr>
        <p:spPr>
          <a:xfrm>
            <a:off x="1258378" y="1041808"/>
            <a:ext cx="6365419" cy="2594528"/>
          </a:xfrm>
        </p:spPr>
        <p:txBody>
          <a:bodyPr/>
          <a:lstStyle/>
          <a:p>
            <a:r>
              <a:rPr lang="en-US" altLang="en-US" sz="2000" dirty="0"/>
              <a:t>Traditional</a:t>
            </a:r>
          </a:p>
          <a:p>
            <a:r>
              <a:rPr lang="en-US" altLang="en-US" sz="2000" dirty="0"/>
              <a:t>Mobile</a:t>
            </a:r>
          </a:p>
          <a:p>
            <a:r>
              <a:rPr lang="en-US" altLang="en-US" sz="2000" dirty="0"/>
              <a:t>Client Server</a:t>
            </a:r>
          </a:p>
          <a:p>
            <a:r>
              <a:rPr lang="en-US" altLang="en-US" sz="2000" dirty="0"/>
              <a:t>Peer-to-Peer</a:t>
            </a:r>
          </a:p>
          <a:p>
            <a:r>
              <a:rPr lang="en-US" altLang="en-US" sz="2000" dirty="0"/>
              <a:t>Cloud computing</a:t>
            </a:r>
          </a:p>
          <a:p>
            <a:r>
              <a:rPr lang="en-US" altLang="en-US" sz="2000" dirty="0"/>
              <a:t>Real-time Embedded</a:t>
            </a:r>
          </a:p>
        </p:txBody>
      </p:sp>
    </p:spTree>
    <p:extLst>
      <p:ext uri="{BB962C8B-B14F-4D97-AF65-F5344CB8AC3E}">
        <p14:creationId xmlns:p14="http://schemas.microsoft.com/office/powerpoint/2010/main" val="4248804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71B8082F-3362-4A0A-8D0E-FB22B1147508}"/>
              </a:ext>
            </a:extLst>
          </p:cNvPr>
          <p:cNvSpPr>
            <a:spLocks noGrp="1" noChangeArrowheads="1"/>
          </p:cNvSpPr>
          <p:nvPr>
            <p:ph type="title" idx="4294967295"/>
          </p:nvPr>
        </p:nvSpPr>
        <p:spPr>
          <a:xfrm>
            <a:off x="960668" y="171450"/>
            <a:ext cx="8016875" cy="622300"/>
          </a:xfrm>
        </p:spPr>
        <p:txBody>
          <a:bodyPr/>
          <a:lstStyle/>
          <a:p>
            <a:r>
              <a:rPr lang="en-US" altLang="en-US" dirty="0"/>
              <a:t>Traditional</a:t>
            </a:r>
          </a:p>
        </p:txBody>
      </p:sp>
      <p:sp>
        <p:nvSpPr>
          <p:cNvPr id="100355" name="Content Placeholder 2">
            <a:extLst>
              <a:ext uri="{FF2B5EF4-FFF2-40B4-BE49-F238E27FC236}">
                <a16:creationId xmlns:a16="http://schemas.microsoft.com/office/drawing/2014/main" id="{3405E8D5-FD1B-4039-BB1E-A9B3B0779F95}"/>
              </a:ext>
            </a:extLst>
          </p:cNvPr>
          <p:cNvSpPr>
            <a:spLocks noGrp="1" noChangeArrowheads="1"/>
          </p:cNvSpPr>
          <p:nvPr>
            <p:ph idx="4294967295"/>
          </p:nvPr>
        </p:nvSpPr>
        <p:spPr>
          <a:xfrm>
            <a:off x="960668" y="1084522"/>
            <a:ext cx="7566643" cy="3179134"/>
          </a:xfrm>
        </p:spPr>
        <p:txBody>
          <a:bodyPr/>
          <a:lstStyle/>
          <a:p>
            <a:r>
              <a:rPr lang="en-US" altLang="en-US" sz="2000" dirty="0">
                <a:latin typeface="+mn-ea"/>
                <a:ea typeface="+mn-ea"/>
              </a:rPr>
              <a:t>Stand-alone general-purpose machines</a:t>
            </a:r>
          </a:p>
          <a:p>
            <a:r>
              <a:rPr lang="en-US" altLang="en-US" sz="2000" dirty="0">
                <a:latin typeface="+mn-ea"/>
                <a:ea typeface="+mn-ea"/>
              </a:rPr>
              <a:t>But blurred as most systems interconnect with others (i.e., the Internet)</a:t>
            </a:r>
          </a:p>
          <a:p>
            <a:r>
              <a:rPr lang="en-US" altLang="en-US" sz="2000" b="1" dirty="0">
                <a:solidFill>
                  <a:srgbClr val="006699"/>
                </a:solidFill>
                <a:latin typeface="+mn-ea"/>
                <a:ea typeface="+mn-ea"/>
              </a:rPr>
              <a:t>Portals</a:t>
            </a:r>
            <a:r>
              <a:rPr lang="en-US" altLang="en-US" sz="2000" dirty="0">
                <a:latin typeface="+mn-ea"/>
                <a:ea typeface="+mn-ea"/>
              </a:rPr>
              <a:t> provide web access to internal systems</a:t>
            </a:r>
          </a:p>
          <a:p>
            <a:r>
              <a:rPr lang="en-US" altLang="en-US" sz="2000" b="1" dirty="0">
                <a:solidFill>
                  <a:srgbClr val="006699"/>
                </a:solidFill>
                <a:latin typeface="+mn-ea"/>
                <a:ea typeface="+mn-ea"/>
              </a:rPr>
              <a:t>Network computers </a:t>
            </a:r>
            <a:r>
              <a:rPr lang="en-US" altLang="en-US" sz="2000" dirty="0">
                <a:latin typeface="+mn-ea"/>
                <a:ea typeface="+mn-ea"/>
              </a:rPr>
              <a:t>(</a:t>
            </a:r>
            <a:r>
              <a:rPr lang="en-US" altLang="en-US" sz="2000" b="1" dirty="0">
                <a:solidFill>
                  <a:srgbClr val="006699"/>
                </a:solidFill>
                <a:latin typeface="+mn-ea"/>
                <a:ea typeface="+mn-ea"/>
              </a:rPr>
              <a:t>thin clients</a:t>
            </a:r>
            <a:r>
              <a:rPr lang="en-US" altLang="en-US" sz="2000" dirty="0">
                <a:latin typeface="+mn-ea"/>
                <a:ea typeface="+mn-ea"/>
              </a:rPr>
              <a:t>) are like Web terminals</a:t>
            </a:r>
          </a:p>
          <a:p>
            <a:r>
              <a:rPr lang="en-US" altLang="en-US" sz="2000" dirty="0">
                <a:latin typeface="+mn-ea"/>
                <a:ea typeface="+mn-ea"/>
              </a:rPr>
              <a:t>Mobile computers interconnect via </a:t>
            </a:r>
            <a:r>
              <a:rPr lang="en-US" altLang="en-US" sz="2000" b="1" dirty="0">
                <a:solidFill>
                  <a:srgbClr val="006699"/>
                </a:solidFill>
                <a:latin typeface="+mn-ea"/>
                <a:ea typeface="+mn-ea"/>
              </a:rPr>
              <a:t>wireless networks</a:t>
            </a:r>
          </a:p>
          <a:p>
            <a:r>
              <a:rPr lang="en-US" altLang="en-US" sz="2000" dirty="0">
                <a:latin typeface="+mn-ea"/>
                <a:ea typeface="+mn-ea"/>
              </a:rPr>
              <a:t>Networking becoming ubiquitous – even home systems use </a:t>
            </a:r>
            <a:r>
              <a:rPr lang="en-US" altLang="en-US" sz="2000" b="1" dirty="0">
                <a:solidFill>
                  <a:srgbClr val="006699"/>
                </a:solidFill>
                <a:latin typeface="+mn-ea"/>
                <a:ea typeface="+mn-ea"/>
              </a:rPr>
              <a:t>firewalls</a:t>
            </a:r>
            <a:r>
              <a:rPr lang="en-US" altLang="en-US" sz="2000" dirty="0">
                <a:latin typeface="+mn-ea"/>
                <a:ea typeface="+mn-ea"/>
              </a:rPr>
              <a:t> to protect home computers from Internet attacks</a:t>
            </a:r>
          </a:p>
        </p:txBody>
      </p:sp>
    </p:spTree>
    <p:extLst>
      <p:ext uri="{BB962C8B-B14F-4D97-AF65-F5344CB8AC3E}">
        <p14:creationId xmlns:p14="http://schemas.microsoft.com/office/powerpoint/2010/main" val="30171297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itle 1">
            <a:extLst>
              <a:ext uri="{FF2B5EF4-FFF2-40B4-BE49-F238E27FC236}">
                <a16:creationId xmlns:a16="http://schemas.microsoft.com/office/drawing/2014/main" id="{A1829908-11E3-4B1B-A3D2-0806808B690B}"/>
              </a:ext>
            </a:extLst>
          </p:cNvPr>
          <p:cNvSpPr>
            <a:spLocks noGrp="1" noChangeArrowheads="1"/>
          </p:cNvSpPr>
          <p:nvPr>
            <p:ph type="title" idx="4294967295"/>
          </p:nvPr>
        </p:nvSpPr>
        <p:spPr>
          <a:xfrm>
            <a:off x="476250" y="217488"/>
            <a:ext cx="8537575" cy="576262"/>
          </a:xfrm>
        </p:spPr>
        <p:txBody>
          <a:bodyPr/>
          <a:lstStyle/>
          <a:p>
            <a:r>
              <a:rPr lang="en-US" altLang="en-US" dirty="0"/>
              <a:t>Mobile</a:t>
            </a:r>
          </a:p>
        </p:txBody>
      </p:sp>
      <p:sp>
        <p:nvSpPr>
          <p:cNvPr id="101379" name="Content Placeholder 2">
            <a:extLst>
              <a:ext uri="{FF2B5EF4-FFF2-40B4-BE49-F238E27FC236}">
                <a16:creationId xmlns:a16="http://schemas.microsoft.com/office/drawing/2014/main" id="{08F08BF4-93C5-4EF8-B50D-2C9206FFF051}"/>
              </a:ext>
            </a:extLst>
          </p:cNvPr>
          <p:cNvSpPr>
            <a:spLocks noGrp="1" noChangeArrowheads="1"/>
          </p:cNvSpPr>
          <p:nvPr>
            <p:ph idx="4294967295"/>
          </p:nvPr>
        </p:nvSpPr>
        <p:spPr>
          <a:xfrm>
            <a:off x="908253" y="1039553"/>
            <a:ext cx="7673568" cy="3128410"/>
          </a:xfrm>
        </p:spPr>
        <p:txBody>
          <a:bodyPr/>
          <a:lstStyle/>
          <a:p>
            <a:r>
              <a:rPr lang="en-US" altLang="en-US" sz="2000" dirty="0">
                <a:latin typeface="+mn-ea"/>
                <a:ea typeface="+mn-ea"/>
              </a:rPr>
              <a:t>Handheld smartphones, tablets, etc.</a:t>
            </a:r>
          </a:p>
          <a:p>
            <a:r>
              <a:rPr lang="en-US" altLang="en-US" sz="2000" dirty="0">
                <a:latin typeface="+mn-ea"/>
                <a:ea typeface="+mn-ea"/>
              </a:rPr>
              <a:t>What is the functional difference between them and a “traditional” laptop?</a:t>
            </a:r>
          </a:p>
          <a:p>
            <a:r>
              <a:rPr lang="en-US" altLang="en-US" sz="2000" dirty="0">
                <a:latin typeface="+mn-ea"/>
                <a:ea typeface="+mn-ea"/>
              </a:rPr>
              <a:t>Extra feature – more OS features (GPS, gyroscope)</a:t>
            </a:r>
          </a:p>
          <a:p>
            <a:r>
              <a:rPr lang="en-US" altLang="en-US" sz="2000" dirty="0">
                <a:latin typeface="+mn-ea"/>
                <a:ea typeface="+mn-ea"/>
              </a:rPr>
              <a:t>Allows new types of apps like </a:t>
            </a:r>
            <a:r>
              <a:rPr lang="en-US" altLang="en-US" sz="2000" b="1" i="1" dirty="0">
                <a:latin typeface="+mn-ea"/>
                <a:ea typeface="+mn-ea"/>
              </a:rPr>
              <a:t>augmented reality</a:t>
            </a:r>
          </a:p>
          <a:p>
            <a:r>
              <a:rPr lang="en-US" altLang="en-US" sz="2000" dirty="0">
                <a:latin typeface="+mn-ea"/>
                <a:ea typeface="+mn-ea"/>
              </a:rPr>
              <a:t>Use IEEE 802.11 wireless, or cellular data networks for connectivity</a:t>
            </a:r>
          </a:p>
          <a:p>
            <a:r>
              <a:rPr lang="en-US" altLang="en-US" sz="2000" dirty="0">
                <a:latin typeface="+mn-ea"/>
                <a:ea typeface="+mn-ea"/>
              </a:rPr>
              <a:t>Leaders are </a:t>
            </a:r>
            <a:r>
              <a:rPr lang="en-US" altLang="en-US" sz="2000" b="1" dirty="0">
                <a:solidFill>
                  <a:srgbClr val="006699"/>
                </a:solidFill>
                <a:latin typeface="+mn-ea"/>
                <a:ea typeface="+mn-ea"/>
              </a:rPr>
              <a:t>Apple iOS </a:t>
            </a:r>
            <a:r>
              <a:rPr lang="en-US" altLang="en-US" sz="2000" dirty="0">
                <a:latin typeface="+mn-ea"/>
                <a:ea typeface="+mn-ea"/>
              </a:rPr>
              <a:t>and </a:t>
            </a:r>
            <a:r>
              <a:rPr lang="en-US" altLang="en-US" sz="2000" b="1" dirty="0">
                <a:solidFill>
                  <a:srgbClr val="006699"/>
                </a:solidFill>
                <a:latin typeface="+mn-ea"/>
                <a:ea typeface="+mn-ea"/>
              </a:rPr>
              <a:t>Google Android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7362B21A-8A5E-4F20-9A05-0BE89E8793A7}"/>
              </a:ext>
            </a:extLst>
          </p:cNvPr>
          <p:cNvSpPr>
            <a:spLocks noGrp="1" noChangeArrowheads="1"/>
          </p:cNvSpPr>
          <p:nvPr>
            <p:ph type="title" idx="4294967295"/>
          </p:nvPr>
        </p:nvSpPr>
        <p:spPr>
          <a:xfrm>
            <a:off x="1296988" y="207963"/>
            <a:ext cx="7192962" cy="576262"/>
          </a:xfrm>
        </p:spPr>
        <p:txBody>
          <a:bodyPr/>
          <a:lstStyle/>
          <a:p>
            <a:pPr eaLnBrk="1" hangingPunct="1"/>
            <a:r>
              <a:rPr lang="en-US" altLang="en-US" dirty="0"/>
              <a:t>Client Server</a:t>
            </a:r>
          </a:p>
        </p:txBody>
      </p:sp>
      <p:sp>
        <p:nvSpPr>
          <p:cNvPr id="102403" name="Rectangle 4">
            <a:extLst>
              <a:ext uri="{FF2B5EF4-FFF2-40B4-BE49-F238E27FC236}">
                <a16:creationId xmlns:a16="http://schemas.microsoft.com/office/drawing/2014/main" id="{CF60D9FD-B67C-4C64-ACD2-8A9A5FAEFAE5}"/>
              </a:ext>
            </a:extLst>
          </p:cNvPr>
          <p:cNvSpPr>
            <a:spLocks noChangeArrowheads="1"/>
          </p:cNvSpPr>
          <p:nvPr/>
        </p:nvSpPr>
        <p:spPr bwMode="auto">
          <a:xfrm>
            <a:off x="755650" y="1166813"/>
            <a:ext cx="7734300" cy="2437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08585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nSpc>
                <a:spcPct val="90000"/>
              </a:lnSpc>
              <a:buSzPct val="90000"/>
            </a:pPr>
            <a:r>
              <a:rPr lang="en-US" altLang="en-US" sz="2000" dirty="0">
                <a:latin typeface="+mn-ea"/>
                <a:ea typeface="+mn-ea"/>
              </a:rPr>
              <a:t>Client-Server Computing</a:t>
            </a:r>
          </a:p>
          <a:p>
            <a:pPr lvl="1">
              <a:lnSpc>
                <a:spcPct val="90000"/>
              </a:lnSpc>
              <a:buSzPct val="80000"/>
            </a:pPr>
            <a:r>
              <a:rPr lang="en-US" altLang="en-US" dirty="0">
                <a:latin typeface="+mn-ea"/>
                <a:ea typeface="+mn-ea"/>
              </a:rPr>
              <a:t>Dumb terminals supplanted by smart PCs</a:t>
            </a:r>
          </a:p>
          <a:p>
            <a:pPr lvl="1">
              <a:lnSpc>
                <a:spcPct val="90000"/>
              </a:lnSpc>
              <a:buSzPct val="80000"/>
            </a:pPr>
            <a:r>
              <a:rPr lang="en-US" altLang="en-US" dirty="0">
                <a:latin typeface="+mn-ea"/>
                <a:ea typeface="+mn-ea"/>
              </a:rPr>
              <a:t>Many systems now </a:t>
            </a:r>
            <a:r>
              <a:rPr lang="en-US" altLang="en-US" b="1" dirty="0">
                <a:solidFill>
                  <a:srgbClr val="006699"/>
                </a:solidFill>
                <a:latin typeface="+mn-ea"/>
                <a:ea typeface="+mn-ea"/>
              </a:rPr>
              <a:t>servers</a:t>
            </a:r>
            <a:r>
              <a:rPr lang="en-US" altLang="en-US" dirty="0">
                <a:latin typeface="+mn-ea"/>
                <a:ea typeface="+mn-ea"/>
              </a:rPr>
              <a:t>, responding to requests generated by </a:t>
            </a:r>
            <a:r>
              <a:rPr lang="en-US" altLang="en-US" b="1" dirty="0">
                <a:solidFill>
                  <a:srgbClr val="006699"/>
                </a:solidFill>
                <a:latin typeface="+mn-ea"/>
                <a:ea typeface="+mn-ea"/>
              </a:rPr>
              <a:t>clients</a:t>
            </a:r>
          </a:p>
          <a:p>
            <a:pPr lvl="2">
              <a:lnSpc>
                <a:spcPct val="90000"/>
              </a:lnSpc>
            </a:pPr>
            <a:r>
              <a:rPr lang="en-US" altLang="en-US" b="1" dirty="0">
                <a:solidFill>
                  <a:srgbClr val="006699"/>
                </a:solidFill>
                <a:latin typeface="+mn-ea"/>
                <a:ea typeface="+mn-ea"/>
              </a:rPr>
              <a:t>Compute-server system </a:t>
            </a:r>
            <a:r>
              <a:rPr lang="en-US" altLang="en-US" dirty="0">
                <a:latin typeface="+mn-ea"/>
                <a:ea typeface="+mn-ea"/>
              </a:rPr>
              <a:t>provides an interface to client to request services (i.e., database)</a:t>
            </a:r>
          </a:p>
          <a:p>
            <a:pPr lvl="2">
              <a:lnSpc>
                <a:spcPct val="90000"/>
              </a:lnSpc>
            </a:pPr>
            <a:r>
              <a:rPr lang="en-US" altLang="en-US" b="1" dirty="0">
                <a:solidFill>
                  <a:srgbClr val="006699"/>
                </a:solidFill>
                <a:latin typeface="+mn-ea"/>
                <a:ea typeface="+mn-ea"/>
              </a:rPr>
              <a:t>File-server system </a:t>
            </a:r>
            <a:r>
              <a:rPr lang="en-US" altLang="en-US" dirty="0">
                <a:latin typeface="+mn-ea"/>
                <a:ea typeface="+mn-ea"/>
              </a:rPr>
              <a:t>provides interface for clients to store and retrieve files</a:t>
            </a:r>
          </a:p>
        </p:txBody>
      </p:sp>
      <p:pic>
        <p:nvPicPr>
          <p:cNvPr id="102404" name="Picture 1" descr="1_18.pdf">
            <a:extLst>
              <a:ext uri="{FF2B5EF4-FFF2-40B4-BE49-F238E27FC236}">
                <a16:creationId xmlns:a16="http://schemas.microsoft.com/office/drawing/2014/main" id="{3F572163-5430-4601-AD15-704330FF5D3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66950" y="3987025"/>
            <a:ext cx="4610100" cy="200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BB647B75-B333-4E93-8EF1-19CAA860382B}"/>
              </a:ext>
            </a:extLst>
          </p:cNvPr>
          <p:cNvSpPr>
            <a:spLocks noGrp="1" noChangeArrowheads="1"/>
          </p:cNvSpPr>
          <p:nvPr>
            <p:ph type="title" idx="4294967295"/>
          </p:nvPr>
        </p:nvSpPr>
        <p:spPr>
          <a:xfrm>
            <a:off x="1152525" y="212725"/>
            <a:ext cx="7394575" cy="576263"/>
          </a:xfrm>
        </p:spPr>
        <p:txBody>
          <a:bodyPr/>
          <a:lstStyle/>
          <a:p>
            <a:pPr eaLnBrk="1" hangingPunct="1"/>
            <a:r>
              <a:rPr lang="en-US" altLang="en-US" dirty="0"/>
              <a:t>Peer-to-Peer</a:t>
            </a:r>
          </a:p>
        </p:txBody>
      </p:sp>
      <p:sp>
        <p:nvSpPr>
          <p:cNvPr id="104451" name="Rectangle 3">
            <a:extLst>
              <a:ext uri="{FF2B5EF4-FFF2-40B4-BE49-F238E27FC236}">
                <a16:creationId xmlns:a16="http://schemas.microsoft.com/office/drawing/2014/main" id="{7366DDF6-F84D-4FDE-9942-CC6839DC10B1}"/>
              </a:ext>
            </a:extLst>
          </p:cNvPr>
          <p:cNvSpPr>
            <a:spLocks noGrp="1" noChangeArrowheads="1"/>
          </p:cNvSpPr>
          <p:nvPr>
            <p:ph type="body" idx="4294967295"/>
          </p:nvPr>
        </p:nvSpPr>
        <p:spPr>
          <a:xfrm>
            <a:off x="806450" y="1233489"/>
            <a:ext cx="5253038" cy="4178484"/>
          </a:xfrm>
        </p:spPr>
        <p:txBody>
          <a:bodyPr/>
          <a:lstStyle/>
          <a:p>
            <a:r>
              <a:rPr lang="en-US" altLang="en-US" dirty="0">
                <a:latin typeface="+mn-ea"/>
                <a:ea typeface="+mn-ea"/>
              </a:rPr>
              <a:t>Another model of distributed system</a:t>
            </a:r>
          </a:p>
          <a:p>
            <a:r>
              <a:rPr lang="en-US" altLang="en-US" dirty="0">
                <a:latin typeface="+mn-ea"/>
                <a:ea typeface="+mn-ea"/>
              </a:rPr>
              <a:t>P2P does not distinguish clients and servers</a:t>
            </a:r>
          </a:p>
          <a:p>
            <a:pPr lvl="1"/>
            <a:r>
              <a:rPr lang="en-US" altLang="en-US" dirty="0">
                <a:latin typeface="+mn-ea"/>
                <a:ea typeface="+mn-ea"/>
              </a:rPr>
              <a:t>Instead all nodes are considered peers</a:t>
            </a:r>
          </a:p>
          <a:p>
            <a:pPr lvl="1"/>
            <a:r>
              <a:rPr lang="en-US" altLang="en-US" dirty="0">
                <a:latin typeface="+mn-ea"/>
                <a:ea typeface="+mn-ea"/>
              </a:rPr>
              <a:t>May each act as client, server or both</a:t>
            </a:r>
          </a:p>
          <a:p>
            <a:pPr lvl="1"/>
            <a:r>
              <a:rPr lang="en-US" altLang="en-US" dirty="0">
                <a:latin typeface="+mn-ea"/>
                <a:ea typeface="+mn-ea"/>
              </a:rPr>
              <a:t>Node must join P2P network</a:t>
            </a:r>
          </a:p>
          <a:p>
            <a:pPr lvl="2"/>
            <a:r>
              <a:rPr lang="en-US" altLang="en-US" dirty="0">
                <a:latin typeface="+mn-ea"/>
                <a:ea typeface="+mn-ea"/>
              </a:rPr>
              <a:t>Registers its service with central lookup service on network, or</a:t>
            </a:r>
          </a:p>
          <a:p>
            <a:pPr lvl="2"/>
            <a:r>
              <a:rPr lang="en-US" altLang="en-US" dirty="0">
                <a:latin typeface="+mn-ea"/>
                <a:ea typeface="+mn-ea"/>
              </a:rPr>
              <a:t>Broadcast request for service and respond to requests for service via </a:t>
            </a:r>
            <a:r>
              <a:rPr lang="en-US" altLang="en-US" b="1" i="1" dirty="0">
                <a:latin typeface="+mn-ea"/>
                <a:ea typeface="+mn-ea"/>
              </a:rPr>
              <a:t>discovery protocol</a:t>
            </a:r>
          </a:p>
          <a:p>
            <a:pPr lvl="1"/>
            <a:r>
              <a:rPr lang="en-US" altLang="en-US" dirty="0">
                <a:latin typeface="+mn-ea"/>
                <a:ea typeface="+mn-ea"/>
              </a:rPr>
              <a:t>Examples include</a:t>
            </a:r>
            <a:r>
              <a:rPr lang="en-US" altLang="en-US" i="1" dirty="0">
                <a:latin typeface="+mn-ea"/>
                <a:ea typeface="+mn-ea"/>
              </a:rPr>
              <a:t> </a:t>
            </a:r>
            <a:r>
              <a:rPr lang="en-US" altLang="en-US" dirty="0">
                <a:latin typeface="+mn-ea"/>
                <a:ea typeface="+mn-ea"/>
              </a:rPr>
              <a:t>Napster</a:t>
            </a:r>
            <a:r>
              <a:rPr lang="en-US" altLang="en-US" i="1" dirty="0">
                <a:latin typeface="+mn-ea"/>
                <a:ea typeface="+mn-ea"/>
              </a:rPr>
              <a:t> </a:t>
            </a:r>
            <a:r>
              <a:rPr lang="en-US" altLang="en-US" dirty="0">
                <a:latin typeface="+mn-ea"/>
                <a:ea typeface="+mn-ea"/>
              </a:rPr>
              <a:t>and</a:t>
            </a:r>
            <a:r>
              <a:rPr lang="en-US" altLang="en-US" i="1" dirty="0">
                <a:latin typeface="+mn-ea"/>
                <a:ea typeface="+mn-ea"/>
              </a:rPr>
              <a:t> </a:t>
            </a:r>
            <a:r>
              <a:rPr lang="en-US" altLang="en-US" dirty="0">
                <a:latin typeface="+mn-ea"/>
                <a:ea typeface="+mn-ea"/>
              </a:rPr>
              <a:t>Gnutella</a:t>
            </a:r>
            <a:r>
              <a:rPr lang="en-US" altLang="en-US" i="1" dirty="0">
                <a:latin typeface="+mn-ea"/>
                <a:ea typeface="+mn-ea"/>
              </a:rPr>
              <a:t>, </a:t>
            </a:r>
            <a:r>
              <a:rPr lang="en-US" altLang="en-US" b="1" kern="1200" dirty="0">
                <a:solidFill>
                  <a:srgbClr val="006699"/>
                </a:solidFill>
                <a:latin typeface="+mn-ea"/>
                <a:ea typeface="+mn-ea"/>
                <a:cs typeface="+mn-cs"/>
              </a:rPr>
              <a:t>Voice over IP </a:t>
            </a:r>
            <a:r>
              <a:rPr lang="en-US" altLang="en-US" dirty="0">
                <a:latin typeface="+mn-ea"/>
                <a:ea typeface="+mn-ea"/>
              </a:rPr>
              <a:t>(</a:t>
            </a:r>
            <a:r>
              <a:rPr lang="en-US" altLang="en-US" b="1" kern="1200" dirty="0">
                <a:solidFill>
                  <a:srgbClr val="006699"/>
                </a:solidFill>
                <a:latin typeface="+mn-ea"/>
                <a:ea typeface="+mn-ea"/>
                <a:cs typeface="+mn-cs"/>
              </a:rPr>
              <a:t>VoIP</a:t>
            </a:r>
            <a:r>
              <a:rPr lang="en-US" altLang="en-US" dirty="0">
                <a:latin typeface="+mn-ea"/>
                <a:ea typeface="+mn-ea"/>
              </a:rPr>
              <a:t>)</a:t>
            </a:r>
            <a:r>
              <a:rPr lang="en-US" altLang="en-US" i="1" dirty="0">
                <a:latin typeface="+mn-ea"/>
                <a:ea typeface="+mn-ea"/>
              </a:rPr>
              <a:t> </a:t>
            </a:r>
            <a:r>
              <a:rPr lang="en-US" altLang="en-US" dirty="0">
                <a:latin typeface="+mn-ea"/>
                <a:ea typeface="+mn-ea"/>
              </a:rPr>
              <a:t>such as Skype </a:t>
            </a:r>
          </a:p>
        </p:txBody>
      </p:sp>
      <p:pic>
        <p:nvPicPr>
          <p:cNvPr id="104452" name="Picture 1" descr="1_19.pdf">
            <a:extLst>
              <a:ext uri="{FF2B5EF4-FFF2-40B4-BE49-F238E27FC236}">
                <a16:creationId xmlns:a16="http://schemas.microsoft.com/office/drawing/2014/main" id="{E2A18885-21B9-47B4-84C9-50C4EA2B2CD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59488" y="1984375"/>
            <a:ext cx="2668587" cy="202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241386D3-7914-4E0D-BD20-DCD46A75AE38}"/>
              </a:ext>
            </a:extLst>
          </p:cNvPr>
          <p:cNvSpPr>
            <a:spLocks noGrp="1" noChangeArrowheads="1"/>
          </p:cNvSpPr>
          <p:nvPr>
            <p:ph type="title" idx="4294967295"/>
          </p:nvPr>
        </p:nvSpPr>
        <p:spPr>
          <a:xfrm>
            <a:off x="955675" y="198438"/>
            <a:ext cx="8123238" cy="576262"/>
          </a:xfrm>
        </p:spPr>
        <p:txBody>
          <a:bodyPr/>
          <a:lstStyle/>
          <a:p>
            <a:pPr eaLnBrk="1" hangingPunct="1"/>
            <a:r>
              <a:rPr lang="en-US" altLang="en-US" dirty="0"/>
              <a:t>Cloud Computing</a:t>
            </a:r>
          </a:p>
        </p:txBody>
      </p:sp>
      <p:sp>
        <p:nvSpPr>
          <p:cNvPr id="106499" name="Rectangle 3">
            <a:extLst>
              <a:ext uri="{FF2B5EF4-FFF2-40B4-BE49-F238E27FC236}">
                <a16:creationId xmlns:a16="http://schemas.microsoft.com/office/drawing/2014/main" id="{63BBC9B6-44FC-4182-AE85-87D204920BBC}"/>
              </a:ext>
            </a:extLst>
          </p:cNvPr>
          <p:cNvSpPr>
            <a:spLocks noGrp="1" noChangeArrowheads="1"/>
          </p:cNvSpPr>
          <p:nvPr>
            <p:ph type="body" idx="4294967295"/>
          </p:nvPr>
        </p:nvSpPr>
        <p:spPr>
          <a:xfrm>
            <a:off x="806451" y="1060451"/>
            <a:ext cx="7678330" cy="2714108"/>
          </a:xfrm>
        </p:spPr>
        <p:txBody>
          <a:bodyPr/>
          <a:lstStyle/>
          <a:p>
            <a:r>
              <a:rPr lang="en-US" altLang="en-US" sz="2000" dirty="0">
                <a:latin typeface="+mn-ea"/>
                <a:ea typeface="+mn-ea"/>
              </a:rPr>
              <a:t>Delivers computing, storage, even apps as a service across a network</a:t>
            </a:r>
          </a:p>
          <a:p>
            <a:r>
              <a:rPr lang="en-US" altLang="en-US" sz="2000" dirty="0">
                <a:latin typeface="+mn-ea"/>
                <a:ea typeface="+mn-ea"/>
              </a:rPr>
              <a:t>Logical extension of virtualization because it uses virtualization as the base for it functionality.</a:t>
            </a:r>
          </a:p>
          <a:p>
            <a:pPr lvl="1"/>
            <a:r>
              <a:rPr lang="en-US" altLang="en-US" dirty="0">
                <a:latin typeface="+mn-ea"/>
                <a:ea typeface="+mn-ea"/>
              </a:rPr>
              <a:t>Amazon </a:t>
            </a:r>
            <a:r>
              <a:rPr lang="en-US" altLang="en-US" b="1" kern="1200" dirty="0">
                <a:solidFill>
                  <a:srgbClr val="006699"/>
                </a:solidFill>
                <a:latin typeface="+mn-ea"/>
                <a:ea typeface="+mn-ea"/>
                <a:cs typeface="+mn-cs"/>
              </a:rPr>
              <a:t>EC2</a:t>
            </a:r>
            <a:r>
              <a:rPr lang="en-US" altLang="en-US" dirty="0">
                <a:latin typeface="+mn-ea"/>
                <a:ea typeface="+mn-ea"/>
              </a:rPr>
              <a:t>  has thousands of servers, millions of virtual machines, petabytes of storage available across the Internet, pay based on usage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241386D3-7914-4E0D-BD20-DCD46A75AE38}"/>
              </a:ext>
            </a:extLst>
          </p:cNvPr>
          <p:cNvSpPr>
            <a:spLocks noGrp="1" noChangeArrowheads="1"/>
          </p:cNvSpPr>
          <p:nvPr>
            <p:ph type="title" idx="4294967295"/>
          </p:nvPr>
        </p:nvSpPr>
        <p:spPr>
          <a:xfrm>
            <a:off x="955675" y="198438"/>
            <a:ext cx="8123238" cy="576262"/>
          </a:xfrm>
        </p:spPr>
        <p:txBody>
          <a:bodyPr/>
          <a:lstStyle/>
          <a:p>
            <a:pPr eaLnBrk="1" hangingPunct="1"/>
            <a:r>
              <a:rPr lang="en-US" altLang="en-US" dirty="0"/>
              <a:t>Cloud Computing (Cont.)</a:t>
            </a:r>
          </a:p>
        </p:txBody>
      </p:sp>
      <p:sp>
        <p:nvSpPr>
          <p:cNvPr id="106499" name="Rectangle 3">
            <a:extLst>
              <a:ext uri="{FF2B5EF4-FFF2-40B4-BE49-F238E27FC236}">
                <a16:creationId xmlns:a16="http://schemas.microsoft.com/office/drawing/2014/main" id="{63BBC9B6-44FC-4182-AE85-87D204920BBC}"/>
              </a:ext>
            </a:extLst>
          </p:cNvPr>
          <p:cNvSpPr>
            <a:spLocks noGrp="1" noChangeArrowheads="1"/>
          </p:cNvSpPr>
          <p:nvPr>
            <p:ph type="body" idx="4294967295"/>
          </p:nvPr>
        </p:nvSpPr>
        <p:spPr>
          <a:xfrm>
            <a:off x="806450" y="1060451"/>
            <a:ext cx="7712075" cy="3734834"/>
          </a:xfrm>
        </p:spPr>
        <p:txBody>
          <a:bodyPr/>
          <a:lstStyle/>
          <a:p>
            <a:r>
              <a:rPr lang="en-US" altLang="en-US" sz="2000" dirty="0"/>
              <a:t>Many types</a:t>
            </a:r>
          </a:p>
          <a:p>
            <a:pPr lvl="1"/>
            <a:r>
              <a:rPr lang="en-US" altLang="en-US" b="1" kern="1200" dirty="0">
                <a:solidFill>
                  <a:srgbClr val="006699"/>
                </a:solidFill>
                <a:latin typeface="+mj-lt"/>
                <a:cs typeface="+mn-cs"/>
              </a:rPr>
              <a:t>Public cloud </a:t>
            </a:r>
            <a:r>
              <a:rPr lang="en-US" altLang="en-US" dirty="0"/>
              <a:t>– available via Internet to anyone willing to pay</a:t>
            </a:r>
          </a:p>
          <a:p>
            <a:pPr lvl="1"/>
            <a:r>
              <a:rPr lang="en-US" altLang="en-US" b="1" kern="1200" dirty="0">
                <a:solidFill>
                  <a:srgbClr val="006699"/>
                </a:solidFill>
                <a:latin typeface="+mj-lt"/>
                <a:cs typeface="+mn-cs"/>
              </a:rPr>
              <a:t>Private cloud </a:t>
            </a:r>
            <a:r>
              <a:rPr lang="en-US" altLang="en-US" dirty="0"/>
              <a:t>– run by a company for the company’s own use</a:t>
            </a:r>
          </a:p>
          <a:p>
            <a:pPr lvl="1"/>
            <a:r>
              <a:rPr lang="en-US" altLang="en-US" b="1" kern="1200" dirty="0">
                <a:solidFill>
                  <a:srgbClr val="006699"/>
                </a:solidFill>
                <a:latin typeface="+mj-lt"/>
                <a:cs typeface="+mn-cs"/>
              </a:rPr>
              <a:t>Hybrid cloud </a:t>
            </a:r>
            <a:r>
              <a:rPr lang="en-US" altLang="en-US" dirty="0"/>
              <a:t>– includes both public and private cloud components</a:t>
            </a:r>
          </a:p>
          <a:p>
            <a:pPr lvl="1"/>
            <a:r>
              <a:rPr lang="en-US" altLang="en-US" dirty="0"/>
              <a:t>Software as a Service (</a:t>
            </a:r>
            <a:r>
              <a:rPr lang="en-US" altLang="en-US" b="1" kern="1200" dirty="0">
                <a:solidFill>
                  <a:srgbClr val="006699"/>
                </a:solidFill>
                <a:latin typeface="+mj-lt"/>
                <a:cs typeface="+mn-cs"/>
              </a:rPr>
              <a:t>SaaS</a:t>
            </a:r>
            <a:r>
              <a:rPr lang="en-US" altLang="en-US" dirty="0"/>
              <a:t>) – one or more applications available via the Internet (i.e., word processor)</a:t>
            </a:r>
          </a:p>
          <a:p>
            <a:pPr lvl="1"/>
            <a:r>
              <a:rPr lang="en-US" altLang="en-US" dirty="0"/>
              <a:t>Platform as a Service (</a:t>
            </a:r>
            <a:r>
              <a:rPr lang="en-US" altLang="en-US" b="1" kern="1200" dirty="0">
                <a:solidFill>
                  <a:srgbClr val="006699"/>
                </a:solidFill>
                <a:latin typeface="+mj-lt"/>
                <a:cs typeface="+mn-cs"/>
              </a:rPr>
              <a:t>PaaS</a:t>
            </a:r>
            <a:r>
              <a:rPr lang="en-US" altLang="en-US" dirty="0"/>
              <a:t>) – software stack ready for application use via the Internet (i.e., a database server)</a:t>
            </a:r>
          </a:p>
          <a:p>
            <a:pPr lvl="1"/>
            <a:r>
              <a:rPr lang="en-US" altLang="en-US" dirty="0"/>
              <a:t>Infrastructure as a Service (</a:t>
            </a:r>
            <a:r>
              <a:rPr lang="en-US" altLang="en-US" b="1" kern="1200" dirty="0">
                <a:solidFill>
                  <a:srgbClr val="006699"/>
                </a:solidFill>
                <a:latin typeface="+mj-lt"/>
                <a:cs typeface="+mn-cs"/>
              </a:rPr>
              <a:t>IaaS</a:t>
            </a:r>
            <a:r>
              <a:rPr lang="en-US" altLang="en-US" dirty="0"/>
              <a:t>) – servers or storage available over Internet (i.e., storage available for backup use)</a:t>
            </a:r>
          </a:p>
        </p:txBody>
      </p:sp>
    </p:spTree>
    <p:extLst>
      <p:ext uri="{BB962C8B-B14F-4D97-AF65-F5344CB8AC3E}">
        <p14:creationId xmlns:p14="http://schemas.microsoft.com/office/powerpoint/2010/main" val="28185656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3">
            <a:extLst>
              <a:ext uri="{FF2B5EF4-FFF2-40B4-BE49-F238E27FC236}">
                <a16:creationId xmlns:a16="http://schemas.microsoft.com/office/drawing/2014/main" id="{FD6537A6-ABBB-418B-A303-F33ED361BE06}"/>
              </a:ext>
            </a:extLst>
          </p:cNvPr>
          <p:cNvSpPr>
            <a:spLocks noGrp="1" noChangeArrowheads="1"/>
          </p:cNvSpPr>
          <p:nvPr>
            <p:ph type="body" idx="4294967295"/>
          </p:nvPr>
        </p:nvSpPr>
        <p:spPr>
          <a:xfrm>
            <a:off x="801688" y="1007138"/>
            <a:ext cx="7645400" cy="1571625"/>
          </a:xfrm>
        </p:spPr>
        <p:txBody>
          <a:bodyPr/>
          <a:lstStyle/>
          <a:p>
            <a:r>
              <a:rPr lang="en-US" altLang="en-US" sz="2000" dirty="0"/>
              <a:t>Cloud computing environments composed of traditional OSes, plus VMMs, plus cloud management tools</a:t>
            </a:r>
          </a:p>
          <a:p>
            <a:pPr lvl="1"/>
            <a:r>
              <a:rPr lang="en-US" altLang="en-US" dirty="0"/>
              <a:t>Internet connectivity requires security like firewalls</a:t>
            </a:r>
            <a:endParaRPr lang="en-US" altLang="en-US" sz="800" dirty="0"/>
          </a:p>
          <a:p>
            <a:pPr lvl="1"/>
            <a:r>
              <a:rPr lang="en-US" altLang="en-US" dirty="0"/>
              <a:t>Load balancers spread traffic across multiple applications</a:t>
            </a:r>
          </a:p>
        </p:txBody>
      </p:sp>
      <p:pic>
        <p:nvPicPr>
          <p:cNvPr id="108547" name="Picture 1" descr="1_21.pdf">
            <a:extLst>
              <a:ext uri="{FF2B5EF4-FFF2-40B4-BE49-F238E27FC236}">
                <a16:creationId xmlns:a16="http://schemas.microsoft.com/office/drawing/2014/main" id="{013FD59D-83E6-4294-8C1F-125F5B808E1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27288" y="2800350"/>
            <a:ext cx="4119562" cy="326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a:extLst>
              <a:ext uri="{FF2B5EF4-FFF2-40B4-BE49-F238E27FC236}">
                <a16:creationId xmlns:a16="http://schemas.microsoft.com/office/drawing/2014/main" id="{0D4B5261-AC9E-4876-9921-245A28370181}"/>
              </a:ext>
            </a:extLst>
          </p:cNvPr>
          <p:cNvSpPr txBox="1">
            <a:spLocks noChangeArrowheads="1"/>
          </p:cNvSpPr>
          <p:nvPr/>
        </p:nvSpPr>
        <p:spPr bwMode="auto">
          <a:xfrm>
            <a:off x="1020762" y="220663"/>
            <a:ext cx="8123238"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pPr eaLnBrk="1" hangingPunct="1">
              <a:defRPr/>
            </a:pPr>
            <a:r>
              <a:rPr lang="en-US" altLang="en-US" kern="0" dirty="0"/>
              <a:t>Cloud Computing (cont.)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itle 1">
            <a:extLst>
              <a:ext uri="{FF2B5EF4-FFF2-40B4-BE49-F238E27FC236}">
                <a16:creationId xmlns:a16="http://schemas.microsoft.com/office/drawing/2014/main" id="{2697C8B9-0041-4830-8C83-5FF8CFAF01C1}"/>
              </a:ext>
            </a:extLst>
          </p:cNvPr>
          <p:cNvSpPr>
            <a:spLocks noGrp="1" noChangeArrowheads="1"/>
          </p:cNvSpPr>
          <p:nvPr>
            <p:ph type="title" idx="4294967295"/>
          </p:nvPr>
        </p:nvSpPr>
        <p:spPr>
          <a:xfrm>
            <a:off x="1485583" y="103505"/>
            <a:ext cx="6581457" cy="711200"/>
          </a:xfrm>
        </p:spPr>
        <p:txBody>
          <a:bodyPr/>
          <a:lstStyle/>
          <a:p>
            <a:r>
              <a:rPr lang="en-US" altLang="en-US" dirty="0"/>
              <a:t>Real-Time Embedded Systems</a:t>
            </a:r>
          </a:p>
        </p:txBody>
      </p:sp>
      <p:sp>
        <p:nvSpPr>
          <p:cNvPr id="110595" name="Content Placeholder 2">
            <a:extLst>
              <a:ext uri="{FF2B5EF4-FFF2-40B4-BE49-F238E27FC236}">
                <a16:creationId xmlns:a16="http://schemas.microsoft.com/office/drawing/2014/main" id="{265F30E9-05CB-4D61-971C-5E1743F20FFE}"/>
              </a:ext>
            </a:extLst>
          </p:cNvPr>
          <p:cNvSpPr>
            <a:spLocks noGrp="1" noChangeArrowheads="1"/>
          </p:cNvSpPr>
          <p:nvPr>
            <p:ph idx="4294967295"/>
          </p:nvPr>
        </p:nvSpPr>
        <p:spPr>
          <a:xfrm>
            <a:off x="499731" y="1154113"/>
            <a:ext cx="8197702" cy="3258399"/>
          </a:xfrm>
        </p:spPr>
        <p:txBody>
          <a:bodyPr/>
          <a:lstStyle/>
          <a:p>
            <a:r>
              <a:rPr lang="en-US" altLang="en-US" sz="2000" dirty="0">
                <a:latin typeface="+mn-ea"/>
                <a:ea typeface="+mn-ea"/>
              </a:rPr>
              <a:t>Real-time embedded systems most prevalent form of computers</a:t>
            </a:r>
          </a:p>
          <a:p>
            <a:pPr lvl="1"/>
            <a:r>
              <a:rPr lang="en-US" altLang="en-US" dirty="0">
                <a:latin typeface="+mn-ea"/>
                <a:ea typeface="+mn-ea"/>
              </a:rPr>
              <a:t>Vary considerable, special purpose, limited purpose OS,  </a:t>
            </a:r>
            <a:r>
              <a:rPr lang="en-US" altLang="en-US" b="1" kern="1200" dirty="0">
                <a:solidFill>
                  <a:srgbClr val="006699"/>
                </a:solidFill>
                <a:latin typeface="+mn-ea"/>
                <a:ea typeface="+mn-ea"/>
                <a:cs typeface="+mn-cs"/>
              </a:rPr>
              <a:t>real-time OS</a:t>
            </a:r>
          </a:p>
          <a:p>
            <a:pPr lvl="1"/>
            <a:r>
              <a:rPr lang="en-US" altLang="en-US" dirty="0">
                <a:latin typeface="+mn-ea"/>
                <a:ea typeface="+mn-ea"/>
              </a:rPr>
              <a:t>Use expanding</a:t>
            </a:r>
          </a:p>
          <a:p>
            <a:r>
              <a:rPr lang="en-US" altLang="en-US" sz="2000" dirty="0">
                <a:latin typeface="+mn-ea"/>
                <a:ea typeface="+mn-ea"/>
              </a:rPr>
              <a:t>Many other special computing environments as well</a:t>
            </a:r>
          </a:p>
          <a:p>
            <a:pPr lvl="1"/>
            <a:r>
              <a:rPr lang="en-US" altLang="en-US" dirty="0">
                <a:latin typeface="+mn-ea"/>
                <a:ea typeface="+mn-ea"/>
              </a:rPr>
              <a:t>Some have OSes, some perform tasks without an OS</a:t>
            </a:r>
          </a:p>
          <a:p>
            <a:r>
              <a:rPr lang="en-US" altLang="en-US" sz="2000" dirty="0">
                <a:latin typeface="+mn-ea"/>
                <a:ea typeface="+mn-ea"/>
              </a:rPr>
              <a:t>Real-time OS has well-defined fixed time constraints</a:t>
            </a:r>
          </a:p>
          <a:p>
            <a:pPr lvl="1"/>
            <a:r>
              <a:rPr lang="en-US" altLang="en-US" dirty="0">
                <a:latin typeface="+mn-ea"/>
                <a:ea typeface="+mn-ea"/>
              </a:rPr>
              <a:t>Processing </a:t>
            </a:r>
            <a:r>
              <a:rPr lang="en-US" altLang="en-US" b="1" i="1" dirty="0">
                <a:latin typeface="+mn-ea"/>
                <a:ea typeface="+mn-ea"/>
              </a:rPr>
              <a:t>must</a:t>
            </a:r>
            <a:r>
              <a:rPr lang="en-US" altLang="en-US" dirty="0">
                <a:latin typeface="+mn-ea"/>
                <a:ea typeface="+mn-ea"/>
              </a:rPr>
              <a:t> be done within constraint</a:t>
            </a:r>
          </a:p>
          <a:p>
            <a:pPr lvl="1"/>
            <a:r>
              <a:rPr lang="en-US" altLang="en-US" dirty="0">
                <a:latin typeface="+mn-ea"/>
                <a:ea typeface="+mn-ea"/>
              </a:rPr>
              <a:t>Correct operation only if constraints met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itle 1">
            <a:extLst>
              <a:ext uri="{FF2B5EF4-FFF2-40B4-BE49-F238E27FC236}">
                <a16:creationId xmlns:a16="http://schemas.microsoft.com/office/drawing/2014/main" id="{2E44F3F0-E6BE-450E-AA66-38706C8ED153}"/>
              </a:ext>
            </a:extLst>
          </p:cNvPr>
          <p:cNvSpPr>
            <a:spLocks noGrp="1" noChangeArrowheads="1"/>
          </p:cNvSpPr>
          <p:nvPr>
            <p:ph type="title" idx="4294967295"/>
          </p:nvPr>
        </p:nvSpPr>
        <p:spPr>
          <a:xfrm>
            <a:off x="982663" y="201613"/>
            <a:ext cx="7704137" cy="576262"/>
          </a:xfrm>
        </p:spPr>
        <p:txBody>
          <a:bodyPr/>
          <a:lstStyle/>
          <a:p>
            <a:r>
              <a:rPr lang="en-US" altLang="en-US" sz="2800" dirty="0"/>
              <a:t>Free and Open-Source Operating Systems</a:t>
            </a:r>
          </a:p>
        </p:txBody>
      </p:sp>
      <p:sp>
        <p:nvSpPr>
          <p:cNvPr id="111619" name="Content Placeholder 2">
            <a:extLst>
              <a:ext uri="{FF2B5EF4-FFF2-40B4-BE49-F238E27FC236}">
                <a16:creationId xmlns:a16="http://schemas.microsoft.com/office/drawing/2014/main" id="{4884E438-06FD-4EC5-ACD4-9B0F212ABB7B}"/>
              </a:ext>
            </a:extLst>
          </p:cNvPr>
          <p:cNvSpPr>
            <a:spLocks noGrp="1" noChangeArrowheads="1"/>
          </p:cNvSpPr>
          <p:nvPr>
            <p:ph idx="4294967295"/>
          </p:nvPr>
        </p:nvSpPr>
        <p:spPr>
          <a:xfrm>
            <a:off x="830263" y="961113"/>
            <a:ext cx="7704137" cy="4982487"/>
          </a:xfrm>
        </p:spPr>
        <p:txBody>
          <a:bodyPr/>
          <a:lstStyle/>
          <a:p>
            <a:r>
              <a:rPr lang="en-US" altLang="en-US" dirty="0">
                <a:latin typeface="+mn-ea"/>
                <a:ea typeface="+mn-ea"/>
              </a:rPr>
              <a:t>Operating systems made available in source-code format rather than just binary </a:t>
            </a:r>
            <a:r>
              <a:rPr lang="en-US" altLang="en-US" b="1" kern="1200" dirty="0">
                <a:solidFill>
                  <a:srgbClr val="006699"/>
                </a:solidFill>
                <a:latin typeface="+mn-ea"/>
                <a:ea typeface="+mn-ea"/>
                <a:cs typeface="+mn-cs"/>
              </a:rPr>
              <a:t>closed-source</a:t>
            </a:r>
            <a:r>
              <a:rPr lang="en-US" altLang="en-US" b="1" dirty="0">
                <a:solidFill>
                  <a:srgbClr val="3366FF"/>
                </a:solidFill>
                <a:latin typeface="+mn-ea"/>
                <a:ea typeface="+mn-ea"/>
              </a:rPr>
              <a:t> </a:t>
            </a:r>
            <a:r>
              <a:rPr lang="en-US" altLang="en-US" dirty="0">
                <a:latin typeface="+mn-ea"/>
                <a:ea typeface="+mn-ea"/>
              </a:rPr>
              <a:t>and</a:t>
            </a:r>
            <a:r>
              <a:rPr lang="en-US" altLang="en-US" b="1" dirty="0">
                <a:solidFill>
                  <a:srgbClr val="3366FF"/>
                </a:solidFill>
                <a:latin typeface="+mn-ea"/>
                <a:ea typeface="+mn-ea"/>
              </a:rPr>
              <a:t> </a:t>
            </a:r>
            <a:r>
              <a:rPr lang="en-US" altLang="en-US" b="1" kern="1200" dirty="0">
                <a:solidFill>
                  <a:srgbClr val="006699"/>
                </a:solidFill>
                <a:latin typeface="+mn-ea"/>
                <a:ea typeface="+mn-ea"/>
                <a:cs typeface="+mn-cs"/>
              </a:rPr>
              <a:t>proprietary</a:t>
            </a:r>
          </a:p>
          <a:p>
            <a:r>
              <a:rPr lang="en-US" altLang="en-US" dirty="0">
                <a:latin typeface="+mn-ea"/>
                <a:ea typeface="+mn-ea"/>
              </a:rPr>
              <a:t>Counter to the </a:t>
            </a:r>
            <a:r>
              <a:rPr lang="en-US" altLang="en-US" b="1" kern="1200" dirty="0">
                <a:solidFill>
                  <a:srgbClr val="006699"/>
                </a:solidFill>
                <a:latin typeface="+mn-ea"/>
                <a:ea typeface="+mn-ea"/>
                <a:cs typeface="+mn-cs"/>
              </a:rPr>
              <a:t>copy protection </a:t>
            </a:r>
            <a:r>
              <a:rPr lang="en-US" altLang="en-US" dirty="0">
                <a:solidFill>
                  <a:srgbClr val="000000"/>
                </a:solidFill>
                <a:latin typeface="+mn-ea"/>
                <a:ea typeface="+mn-ea"/>
              </a:rPr>
              <a:t>and </a:t>
            </a:r>
            <a:r>
              <a:rPr lang="en-US" altLang="en-US" b="1" kern="1200" dirty="0">
                <a:solidFill>
                  <a:srgbClr val="006699"/>
                </a:solidFill>
                <a:latin typeface="+mn-ea"/>
                <a:ea typeface="+mn-ea"/>
                <a:cs typeface="+mn-cs"/>
              </a:rPr>
              <a:t>Digital Rights Management </a:t>
            </a:r>
            <a:r>
              <a:rPr lang="en-US" altLang="en-US" dirty="0">
                <a:latin typeface="+mn-ea"/>
                <a:ea typeface="+mn-ea"/>
              </a:rPr>
              <a:t>(</a:t>
            </a:r>
            <a:r>
              <a:rPr lang="en-US" altLang="en-US" b="1" kern="1200" dirty="0">
                <a:solidFill>
                  <a:srgbClr val="006699"/>
                </a:solidFill>
                <a:latin typeface="+mn-ea"/>
                <a:ea typeface="+mn-ea"/>
                <a:cs typeface="+mn-cs"/>
              </a:rPr>
              <a:t>DRM</a:t>
            </a:r>
            <a:r>
              <a:rPr lang="en-US" altLang="en-US" dirty="0">
                <a:latin typeface="+mn-ea"/>
                <a:ea typeface="+mn-ea"/>
              </a:rPr>
              <a:t>) </a:t>
            </a:r>
            <a:r>
              <a:rPr lang="en-US" altLang="en-US" dirty="0">
                <a:solidFill>
                  <a:srgbClr val="000000"/>
                </a:solidFill>
                <a:latin typeface="+mn-ea"/>
                <a:ea typeface="+mn-ea"/>
              </a:rPr>
              <a:t>movement</a:t>
            </a:r>
          </a:p>
          <a:p>
            <a:r>
              <a:rPr lang="en-US" altLang="en-US" dirty="0">
                <a:solidFill>
                  <a:srgbClr val="000000"/>
                </a:solidFill>
                <a:latin typeface="+mn-ea"/>
                <a:ea typeface="+mn-ea"/>
              </a:rPr>
              <a:t>Started by </a:t>
            </a:r>
            <a:r>
              <a:rPr lang="en-US" altLang="en-US" b="1" kern="1200" dirty="0">
                <a:solidFill>
                  <a:srgbClr val="006699"/>
                </a:solidFill>
                <a:latin typeface="+mn-ea"/>
                <a:ea typeface="+mn-ea"/>
                <a:cs typeface="+mn-cs"/>
              </a:rPr>
              <a:t>Free Software Foundation </a:t>
            </a:r>
            <a:r>
              <a:rPr lang="en-US" altLang="en-US" dirty="0">
                <a:solidFill>
                  <a:srgbClr val="000000"/>
                </a:solidFill>
                <a:latin typeface="+mn-ea"/>
                <a:ea typeface="+mn-ea"/>
              </a:rPr>
              <a:t>(</a:t>
            </a:r>
            <a:r>
              <a:rPr lang="en-US" altLang="en-US" b="1" kern="1200" dirty="0">
                <a:solidFill>
                  <a:srgbClr val="006699"/>
                </a:solidFill>
                <a:latin typeface="+mn-ea"/>
                <a:ea typeface="+mn-ea"/>
                <a:cs typeface="+mn-cs"/>
              </a:rPr>
              <a:t>FSF</a:t>
            </a:r>
            <a:r>
              <a:rPr lang="en-US" altLang="en-US" dirty="0">
                <a:latin typeface="+mn-ea"/>
                <a:ea typeface="+mn-ea"/>
              </a:rPr>
              <a:t>)</a:t>
            </a:r>
            <a:r>
              <a:rPr lang="en-US" altLang="en-US" dirty="0">
                <a:solidFill>
                  <a:srgbClr val="000000"/>
                </a:solidFill>
                <a:latin typeface="+mn-ea"/>
                <a:ea typeface="+mn-ea"/>
              </a:rPr>
              <a:t>, which has </a:t>
            </a:r>
            <a:r>
              <a:rPr lang="ja-JP" altLang="en-US" dirty="0">
                <a:solidFill>
                  <a:srgbClr val="000000"/>
                </a:solidFill>
                <a:latin typeface="+mn-ea"/>
                <a:ea typeface="+mn-ea"/>
              </a:rPr>
              <a:t>“</a:t>
            </a:r>
            <a:r>
              <a:rPr lang="en-US" altLang="ja-JP" dirty="0">
                <a:solidFill>
                  <a:srgbClr val="000000"/>
                </a:solidFill>
                <a:latin typeface="+mn-ea"/>
                <a:ea typeface="+mn-ea"/>
              </a:rPr>
              <a:t>copyleft</a:t>
            </a:r>
            <a:r>
              <a:rPr lang="ja-JP" altLang="en-US" dirty="0">
                <a:solidFill>
                  <a:srgbClr val="000000"/>
                </a:solidFill>
                <a:latin typeface="+mn-ea"/>
                <a:ea typeface="+mn-ea"/>
              </a:rPr>
              <a:t>”</a:t>
            </a:r>
            <a:r>
              <a:rPr lang="en-US" altLang="ja-JP" dirty="0">
                <a:solidFill>
                  <a:srgbClr val="000000"/>
                </a:solidFill>
                <a:latin typeface="+mn-ea"/>
                <a:ea typeface="+mn-ea"/>
              </a:rPr>
              <a:t> </a:t>
            </a:r>
            <a:r>
              <a:rPr lang="en-US" altLang="ja-JP" b="1" kern="1200" dirty="0">
                <a:solidFill>
                  <a:srgbClr val="006699"/>
                </a:solidFill>
                <a:latin typeface="+mn-ea"/>
                <a:ea typeface="+mn-ea"/>
                <a:cs typeface="+mn-cs"/>
              </a:rPr>
              <a:t>GNU Public License </a:t>
            </a:r>
            <a:r>
              <a:rPr lang="en-US" altLang="ja-JP" dirty="0">
                <a:latin typeface="+mn-ea"/>
                <a:ea typeface="+mn-ea"/>
              </a:rPr>
              <a:t>(</a:t>
            </a:r>
            <a:r>
              <a:rPr lang="en-US" altLang="ja-JP" b="1" kern="1200" dirty="0">
                <a:solidFill>
                  <a:srgbClr val="006699"/>
                </a:solidFill>
                <a:latin typeface="+mn-ea"/>
                <a:ea typeface="+mn-ea"/>
                <a:cs typeface="+mn-cs"/>
              </a:rPr>
              <a:t>GPL</a:t>
            </a:r>
            <a:r>
              <a:rPr lang="en-US" altLang="ja-JP" dirty="0">
                <a:latin typeface="+mn-ea"/>
                <a:ea typeface="+mn-ea"/>
              </a:rPr>
              <a:t>)</a:t>
            </a:r>
          </a:p>
          <a:p>
            <a:pPr lvl="1"/>
            <a:r>
              <a:rPr lang="en-US" altLang="en-US" dirty="0">
                <a:latin typeface="+mn-ea"/>
                <a:ea typeface="+mn-ea"/>
              </a:rPr>
              <a:t>Free software and open-source software are two different ideas championed by different groups of people</a:t>
            </a:r>
          </a:p>
          <a:p>
            <a:pPr lvl="2"/>
            <a:r>
              <a:rPr lang="en-US" altLang="en-US" b="1" dirty="0">
                <a:solidFill>
                  <a:srgbClr val="663300"/>
                </a:solidFill>
                <a:latin typeface="+mn-ea"/>
                <a:ea typeface="+mn-ea"/>
              </a:rPr>
              <a:t>https://www.gnu.org/philosophy/open-source-misses-the-point.en.html</a:t>
            </a:r>
          </a:p>
          <a:p>
            <a:r>
              <a:rPr lang="en-US" altLang="en-US" dirty="0">
                <a:solidFill>
                  <a:srgbClr val="000000"/>
                </a:solidFill>
                <a:latin typeface="+mn-ea"/>
                <a:ea typeface="+mn-ea"/>
              </a:rPr>
              <a:t>Examples include </a:t>
            </a:r>
            <a:r>
              <a:rPr lang="en-US" altLang="en-US" b="1" kern="1200" dirty="0">
                <a:solidFill>
                  <a:srgbClr val="006699"/>
                </a:solidFill>
                <a:latin typeface="+mn-ea"/>
                <a:ea typeface="+mn-ea"/>
                <a:cs typeface="+mn-cs"/>
              </a:rPr>
              <a:t>GNU/Linux </a:t>
            </a:r>
            <a:r>
              <a:rPr lang="en-US" altLang="en-US" dirty="0">
                <a:latin typeface="+mn-ea"/>
                <a:ea typeface="+mn-ea"/>
              </a:rPr>
              <a:t>and </a:t>
            </a:r>
            <a:r>
              <a:rPr lang="en-US" altLang="en-US" b="1" kern="1200" dirty="0">
                <a:solidFill>
                  <a:srgbClr val="006699"/>
                </a:solidFill>
                <a:latin typeface="+mn-ea"/>
                <a:ea typeface="+mn-ea"/>
                <a:cs typeface="+mn-cs"/>
              </a:rPr>
              <a:t>BSD UNIX </a:t>
            </a:r>
            <a:r>
              <a:rPr lang="en-US" altLang="en-US" dirty="0">
                <a:solidFill>
                  <a:srgbClr val="000000"/>
                </a:solidFill>
                <a:latin typeface="+mn-ea"/>
                <a:ea typeface="+mn-ea"/>
              </a:rPr>
              <a:t>(including core of </a:t>
            </a:r>
            <a:r>
              <a:rPr lang="en-US" altLang="en-US" b="1" kern="1200" dirty="0">
                <a:solidFill>
                  <a:srgbClr val="006699"/>
                </a:solidFill>
                <a:latin typeface="+mn-ea"/>
                <a:ea typeface="+mn-ea"/>
                <a:cs typeface="+mn-cs"/>
              </a:rPr>
              <a:t>Mac</a:t>
            </a:r>
            <a:r>
              <a:rPr lang="en-US" altLang="en-US" b="1" dirty="0">
                <a:solidFill>
                  <a:srgbClr val="3366FF"/>
                </a:solidFill>
                <a:latin typeface="+mn-ea"/>
                <a:ea typeface="+mn-ea"/>
              </a:rPr>
              <a:t> </a:t>
            </a:r>
            <a:r>
              <a:rPr lang="en-US" altLang="en-US" b="1" kern="1200" dirty="0">
                <a:solidFill>
                  <a:srgbClr val="006699"/>
                </a:solidFill>
                <a:latin typeface="+mn-ea"/>
                <a:ea typeface="+mn-ea"/>
                <a:cs typeface="+mn-cs"/>
              </a:rPr>
              <a:t>OS X</a:t>
            </a:r>
            <a:r>
              <a:rPr lang="en-US" altLang="en-US" dirty="0">
                <a:solidFill>
                  <a:srgbClr val="000000"/>
                </a:solidFill>
                <a:latin typeface="+mn-ea"/>
                <a:ea typeface="+mn-ea"/>
              </a:rPr>
              <a:t>), and many more</a:t>
            </a:r>
          </a:p>
          <a:p>
            <a:r>
              <a:rPr lang="en-US" altLang="en-US" dirty="0">
                <a:solidFill>
                  <a:srgbClr val="000000"/>
                </a:solidFill>
                <a:latin typeface="+mn-ea"/>
                <a:ea typeface="+mn-ea"/>
              </a:rPr>
              <a:t>Can use VMM like VMware Player (Free on Windows), </a:t>
            </a:r>
            <a:r>
              <a:rPr lang="en-US" altLang="en-US" dirty="0" err="1">
                <a:solidFill>
                  <a:srgbClr val="000000"/>
                </a:solidFill>
                <a:latin typeface="+mn-ea"/>
                <a:ea typeface="+mn-ea"/>
              </a:rPr>
              <a:t>Virtualbox</a:t>
            </a:r>
            <a:r>
              <a:rPr lang="en-US" altLang="en-US" dirty="0">
                <a:solidFill>
                  <a:srgbClr val="000000"/>
                </a:solidFill>
                <a:latin typeface="+mn-ea"/>
                <a:ea typeface="+mn-ea"/>
              </a:rPr>
              <a:t> (open source and free on many platforms - </a:t>
            </a:r>
            <a:r>
              <a:rPr lang="en-US" altLang="en-US" dirty="0">
                <a:latin typeface="+mn-ea"/>
                <a:ea typeface="+mn-ea"/>
              </a:rPr>
              <a:t>http://www.virtualbox.com) </a:t>
            </a:r>
          </a:p>
          <a:p>
            <a:pPr lvl="1"/>
            <a:r>
              <a:rPr lang="en-US" altLang="en-US" dirty="0">
                <a:solidFill>
                  <a:srgbClr val="000000"/>
                </a:solidFill>
                <a:latin typeface="+mn-ea"/>
                <a:ea typeface="+mn-ea"/>
              </a:rPr>
              <a:t>Use to run guest operating systems for exploration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ECECFDC0-04E7-4125-BDC9-A8852EAD52A0}"/>
              </a:ext>
            </a:extLst>
          </p:cNvPr>
          <p:cNvSpPr>
            <a:spLocks noGrp="1" noChangeArrowheads="1"/>
          </p:cNvSpPr>
          <p:nvPr>
            <p:ph type="title" idx="4294967295"/>
          </p:nvPr>
        </p:nvSpPr>
        <p:spPr>
          <a:xfrm>
            <a:off x="1033463" y="198438"/>
            <a:ext cx="7534275" cy="576262"/>
          </a:xfrm>
        </p:spPr>
        <p:txBody>
          <a:bodyPr/>
          <a:lstStyle/>
          <a:p>
            <a:pPr eaLnBrk="1" hangingPunct="1"/>
            <a:r>
              <a:rPr lang="en-US" altLang="en-US" dirty="0"/>
              <a:t>The Study of Operating Systems</a:t>
            </a:r>
          </a:p>
        </p:txBody>
      </p:sp>
      <p:sp>
        <p:nvSpPr>
          <p:cNvPr id="113667" name="Rectangle 1">
            <a:extLst>
              <a:ext uri="{FF2B5EF4-FFF2-40B4-BE49-F238E27FC236}">
                <a16:creationId xmlns:a16="http://schemas.microsoft.com/office/drawing/2014/main" id="{A9ADB72A-C379-40B9-96E3-D4FAFB9F20C1}"/>
              </a:ext>
            </a:extLst>
          </p:cNvPr>
          <p:cNvSpPr>
            <a:spLocks noChangeArrowheads="1"/>
          </p:cNvSpPr>
          <p:nvPr/>
        </p:nvSpPr>
        <p:spPr bwMode="auto">
          <a:xfrm>
            <a:off x="647700" y="1222375"/>
            <a:ext cx="7920038" cy="4703763"/>
          </a:xfrm>
          <a:prstGeom prst="rect">
            <a:avLst/>
          </a:prstGeom>
          <a:solidFill>
            <a:srgbClr val="CEEBFA"/>
          </a:solidFill>
          <a:ln w="9525" algn="ctr">
            <a:solidFill>
              <a:schemeClr val="tx1"/>
            </a:solidFill>
            <a:round/>
            <a:headEnd/>
            <a:tailEnd/>
          </a:ln>
        </p:spPr>
        <p:txBody>
          <a:bodyPr wrap="none"/>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200" dirty="0">
                <a:latin typeface="Verdana" panose="020B0604030504040204" pitchFamily="34" charset="0"/>
              </a:rPr>
              <a:t>There has never been a more interesting time to study operating systems, and it has never been </a:t>
            </a:r>
          </a:p>
          <a:p>
            <a:pPr>
              <a:spcBef>
                <a:spcPct val="0"/>
              </a:spcBef>
              <a:buClrTx/>
              <a:buSzTx/>
              <a:buFontTx/>
              <a:buNone/>
            </a:pPr>
            <a:r>
              <a:rPr kumimoji="0" lang="en-US" altLang="en-US" sz="1200" dirty="0">
                <a:latin typeface="Verdana" panose="020B0604030504040204" pitchFamily="34" charset="0"/>
              </a:rPr>
              <a:t>easier. The open-source movement has overtaken operating systems, causing many of them to be</a:t>
            </a:r>
          </a:p>
          <a:p>
            <a:pPr>
              <a:spcBef>
                <a:spcPct val="0"/>
              </a:spcBef>
              <a:buClrTx/>
              <a:buSzTx/>
              <a:buFontTx/>
              <a:buNone/>
            </a:pPr>
            <a:r>
              <a:rPr kumimoji="0" lang="en-US" altLang="en-US" sz="1200" dirty="0">
                <a:latin typeface="Verdana" panose="020B0604030504040204" pitchFamily="34" charset="0"/>
              </a:rPr>
              <a:t>made available in both source and binary (executable) format. The list of operating</a:t>
            </a:r>
          </a:p>
          <a:p>
            <a:pPr>
              <a:spcBef>
                <a:spcPct val="0"/>
              </a:spcBef>
              <a:buClrTx/>
              <a:buSzTx/>
              <a:buFontTx/>
              <a:buNone/>
            </a:pPr>
            <a:r>
              <a:rPr kumimoji="0" lang="en-US" altLang="en-US" sz="1200" dirty="0">
                <a:latin typeface="Verdana" panose="020B0604030504040204" pitchFamily="34" charset="0"/>
              </a:rPr>
              <a:t>systems available in both formats includes Linux, BUSD UNIX, Solaris, and part of macOS. </a:t>
            </a:r>
          </a:p>
          <a:p>
            <a:pPr>
              <a:spcBef>
                <a:spcPct val="0"/>
              </a:spcBef>
              <a:buClrTx/>
              <a:buSzTx/>
              <a:buFontTx/>
              <a:buNone/>
            </a:pPr>
            <a:r>
              <a:rPr kumimoji="0" lang="en-US" altLang="en-US" sz="1200" dirty="0">
                <a:latin typeface="Verdana" panose="020B0604030504040204" pitchFamily="34" charset="0"/>
              </a:rPr>
              <a:t>The availability of source code allows us to study operating systems from the inside out. </a:t>
            </a:r>
          </a:p>
          <a:p>
            <a:pPr>
              <a:spcBef>
                <a:spcPct val="0"/>
              </a:spcBef>
              <a:buClrTx/>
              <a:buSzTx/>
              <a:buFontTx/>
              <a:buNone/>
            </a:pPr>
            <a:r>
              <a:rPr kumimoji="0" lang="en-US" altLang="en-US" sz="1200" dirty="0">
                <a:latin typeface="Verdana" panose="020B0604030504040204" pitchFamily="34" charset="0"/>
              </a:rPr>
              <a:t>Questions that we could once answer only by looking at documentation or the behavior of an</a:t>
            </a:r>
          </a:p>
          <a:p>
            <a:pPr>
              <a:spcBef>
                <a:spcPct val="0"/>
              </a:spcBef>
              <a:buClrTx/>
              <a:buSzTx/>
              <a:buFontTx/>
              <a:buNone/>
            </a:pPr>
            <a:r>
              <a:rPr kumimoji="0" lang="en-US" altLang="en-US" sz="1200" dirty="0">
                <a:latin typeface="Verdana" panose="020B0604030504040204" pitchFamily="34" charset="0"/>
              </a:rPr>
              <a:t>operating system we can now answer by examining the code itself.</a:t>
            </a:r>
          </a:p>
          <a:p>
            <a:pPr>
              <a:spcBef>
                <a:spcPct val="0"/>
              </a:spcBef>
              <a:buClrTx/>
              <a:buSzTx/>
              <a:buFontTx/>
              <a:buNone/>
            </a:pP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Operating systems that are no longer commercially viable have been open-sourced as well, enabling </a:t>
            </a:r>
          </a:p>
          <a:p>
            <a:pPr>
              <a:spcBef>
                <a:spcPct val="0"/>
              </a:spcBef>
              <a:buClrTx/>
              <a:buSzTx/>
              <a:buFontTx/>
              <a:buNone/>
            </a:pPr>
            <a:r>
              <a:rPr kumimoji="0" lang="en-US" altLang="en-US" sz="1200" dirty="0">
                <a:latin typeface="Verdana" panose="020B0604030504040204" pitchFamily="34" charset="0"/>
              </a:rPr>
              <a:t>us to study how systems operated in a time of fewer CPU, memory, and storage resources. </a:t>
            </a:r>
          </a:p>
          <a:p>
            <a:pPr>
              <a:spcBef>
                <a:spcPct val="0"/>
              </a:spcBef>
              <a:buClrTx/>
              <a:buSzTx/>
              <a:buFontTx/>
              <a:buNone/>
            </a:pPr>
            <a:r>
              <a:rPr kumimoji="0" lang="en-US" altLang="en-US" sz="1200" dirty="0">
                <a:latin typeface="Verdana" panose="020B0604030504040204" pitchFamily="34" charset="0"/>
              </a:rPr>
              <a:t>An extensive but incomplete list of open-source operating-system projects is available</a:t>
            </a:r>
          </a:p>
          <a:p>
            <a:pPr>
              <a:spcBef>
                <a:spcPct val="0"/>
              </a:spcBef>
              <a:buClrTx/>
              <a:buSzTx/>
              <a:buFontTx/>
              <a:buNone/>
            </a:pPr>
            <a:r>
              <a:rPr kumimoji="0" lang="en-US" altLang="en-US" sz="1200" dirty="0">
                <a:latin typeface="Verdana" panose="020B0604030504040204" pitchFamily="34" charset="0"/>
              </a:rPr>
              <a:t>from https://curlie.org/Computers/Software/Operating_Systems/Open_Source/</a:t>
            </a:r>
          </a:p>
          <a:p>
            <a:pPr>
              <a:spcBef>
                <a:spcPct val="0"/>
              </a:spcBef>
              <a:buClrTx/>
              <a:buSzTx/>
              <a:buFontTx/>
              <a:buNone/>
            </a:pP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In addition, the rise of virtualization as a mainstream (and frequently free) computer function </a:t>
            </a:r>
          </a:p>
          <a:p>
            <a:pPr>
              <a:spcBef>
                <a:spcPct val="0"/>
              </a:spcBef>
              <a:buClrTx/>
              <a:buSzTx/>
              <a:buFontTx/>
              <a:buNone/>
            </a:pPr>
            <a:r>
              <a:rPr kumimoji="0" lang="en-US" altLang="en-US" sz="1200" dirty="0">
                <a:latin typeface="Verdana" panose="020B0604030504040204" pitchFamily="34" charset="0"/>
              </a:rPr>
              <a:t>makes it possible to run many operating systems on top of one core system. For example, VMware</a:t>
            </a:r>
          </a:p>
          <a:p>
            <a:pPr>
              <a:spcBef>
                <a:spcPct val="0"/>
              </a:spcBef>
              <a:buClrTx/>
              <a:buSzTx/>
              <a:buFontTx/>
              <a:buNone/>
            </a:pPr>
            <a:r>
              <a:rPr kumimoji="0" lang="en-US" altLang="en-US" sz="1200" dirty="0">
                <a:latin typeface="Verdana" panose="020B0604030504040204" pitchFamily="34" charset="0"/>
              </a:rPr>
              <a:t>(http://www.vmware.com) provides a free “player” for Windows on which hundreds of free</a:t>
            </a:r>
          </a:p>
          <a:p>
            <a:pPr>
              <a:spcBef>
                <a:spcPct val="0"/>
              </a:spcBef>
              <a:buClrTx/>
              <a:buSzTx/>
              <a:buFontTx/>
              <a:buNone/>
            </a:pPr>
            <a:r>
              <a:rPr kumimoji="0" lang="en-US" altLang="en-US" sz="1200" dirty="0">
                <a:latin typeface="Verdana" panose="020B0604030504040204" pitchFamily="34" charset="0"/>
              </a:rPr>
              <a:t>“virtual appliances” can run. </a:t>
            </a:r>
            <a:r>
              <a:rPr kumimoji="0" lang="en-US" altLang="en-US" sz="1200" dirty="0" err="1">
                <a:latin typeface="Verdana" panose="020B0604030504040204" pitchFamily="34" charset="0"/>
              </a:rPr>
              <a:t>Virtualbox</a:t>
            </a:r>
            <a:r>
              <a:rPr kumimoji="0" lang="en-US" altLang="en-US" sz="1200" dirty="0">
                <a:latin typeface="Verdana" panose="020B0604030504040204" pitchFamily="34" charset="0"/>
              </a:rPr>
              <a:t> (http://www.virtualbox.com) provides a free, open-source</a:t>
            </a:r>
          </a:p>
          <a:p>
            <a:pPr>
              <a:spcBef>
                <a:spcPct val="0"/>
              </a:spcBef>
              <a:buClrTx/>
              <a:buSzTx/>
              <a:buFontTx/>
              <a:buNone/>
            </a:pPr>
            <a:r>
              <a:rPr kumimoji="0" lang="en-US" altLang="en-US" sz="1200" dirty="0">
                <a:latin typeface="Verdana" panose="020B0604030504040204" pitchFamily="34" charset="0"/>
              </a:rPr>
              <a:t>virtual machine manager on many operating systems. Using such tools, students can try out </a:t>
            </a:r>
          </a:p>
          <a:p>
            <a:pPr>
              <a:spcBef>
                <a:spcPct val="0"/>
              </a:spcBef>
              <a:buClrTx/>
              <a:buSzTx/>
              <a:buFontTx/>
              <a:buNone/>
            </a:pPr>
            <a:r>
              <a:rPr kumimoji="0" lang="en-US" altLang="en-US" sz="1200" dirty="0">
                <a:latin typeface="Verdana" panose="020B0604030504040204" pitchFamily="34" charset="0"/>
              </a:rPr>
              <a:t>hundreds of operating systems without dedicated hardware.</a:t>
            </a:r>
          </a:p>
          <a:p>
            <a:pPr>
              <a:spcBef>
                <a:spcPct val="0"/>
              </a:spcBef>
              <a:buClrTx/>
              <a:buSzTx/>
              <a:buFontTx/>
              <a:buNone/>
            </a:pP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The advent of open-source operating systems has also made it easier to make the move from </a:t>
            </a:r>
          </a:p>
          <a:p>
            <a:pPr>
              <a:spcBef>
                <a:spcPct val="0"/>
              </a:spcBef>
              <a:buClrTx/>
              <a:buSzTx/>
              <a:buFontTx/>
              <a:buNone/>
            </a:pPr>
            <a:r>
              <a:rPr kumimoji="0" lang="en-US" altLang="en-US" sz="1200" dirty="0">
                <a:latin typeface="Verdana" panose="020B0604030504040204" pitchFamily="34" charset="0"/>
              </a:rPr>
              <a:t>student to operating-system developer. With some knowledge, some effort, and an Internet </a:t>
            </a:r>
          </a:p>
          <a:p>
            <a:pPr>
              <a:spcBef>
                <a:spcPct val="0"/>
              </a:spcBef>
              <a:buClrTx/>
              <a:buSzTx/>
              <a:buFontTx/>
              <a:buNone/>
            </a:pPr>
            <a:r>
              <a:rPr kumimoji="0" lang="en-US" altLang="en-US" sz="1200" dirty="0">
                <a:latin typeface="Verdana" panose="020B0604030504040204" pitchFamily="34" charset="0"/>
              </a:rPr>
              <a:t>connection, a student can even create a new operating-system distribution. Just a few years ago, </a:t>
            </a:r>
          </a:p>
          <a:p>
            <a:pPr>
              <a:spcBef>
                <a:spcPct val="0"/>
              </a:spcBef>
              <a:buClrTx/>
              <a:buSzTx/>
              <a:buFontTx/>
              <a:buNone/>
            </a:pPr>
            <a:r>
              <a:rPr kumimoji="0" lang="en-US" altLang="en-US" sz="1200" dirty="0">
                <a:latin typeface="Verdana" panose="020B0604030504040204" pitchFamily="34" charset="0"/>
              </a:rPr>
              <a:t>it was difficult or impossible to get access to source code. Now, such access is limited only by</a:t>
            </a:r>
          </a:p>
          <a:p>
            <a:pPr>
              <a:spcBef>
                <a:spcPct val="0"/>
              </a:spcBef>
              <a:buClrTx/>
              <a:buSzTx/>
              <a:buFontTx/>
              <a:buNone/>
            </a:pPr>
            <a:r>
              <a:rPr kumimoji="0" lang="en-US" altLang="en-US" sz="1200" dirty="0">
                <a:latin typeface="Verdana" panose="020B0604030504040204" pitchFamily="34" charset="0"/>
              </a:rPr>
              <a:t>how much interest, time, and disk space a student has.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a:extLst>
              <a:ext uri="{FF2B5EF4-FFF2-40B4-BE49-F238E27FC236}">
                <a16:creationId xmlns:a16="http://schemas.microsoft.com/office/drawing/2014/main" id="{02D8B42B-EF2E-45B0-B775-843D1784DFC8}"/>
              </a:ext>
            </a:extLst>
          </p:cNvPr>
          <p:cNvSpPr>
            <a:spLocks noGrp="1" noChangeArrowheads="1"/>
          </p:cNvSpPr>
          <p:nvPr>
            <p:ph type="title"/>
          </p:nvPr>
        </p:nvSpPr>
        <p:spPr>
          <a:xfrm>
            <a:off x="457200" y="220663"/>
            <a:ext cx="8229600" cy="576262"/>
          </a:xfrm>
        </p:spPr>
        <p:txBody>
          <a:bodyPr/>
          <a:lstStyle/>
          <a:p>
            <a:r>
              <a:rPr lang="en-US" altLang="en-US" dirty="0"/>
              <a:t>Kernel Data Structures</a:t>
            </a:r>
          </a:p>
        </p:txBody>
      </p:sp>
      <p:sp>
        <p:nvSpPr>
          <p:cNvPr id="3" name="Content Placeholder 2">
            <a:extLst>
              <a:ext uri="{FF2B5EF4-FFF2-40B4-BE49-F238E27FC236}">
                <a16:creationId xmlns:a16="http://schemas.microsoft.com/office/drawing/2014/main" id="{C11DE956-D8D2-CC41-A503-584A2927E681}"/>
              </a:ext>
            </a:extLst>
          </p:cNvPr>
          <p:cNvSpPr>
            <a:spLocks noGrp="1"/>
          </p:cNvSpPr>
          <p:nvPr>
            <p:ph idx="1"/>
          </p:nvPr>
        </p:nvSpPr>
        <p:spPr/>
        <p:txBody>
          <a:bodyPr/>
          <a:lstStyle/>
          <a:p>
            <a:pPr>
              <a:defRPr/>
            </a:pPr>
            <a:r>
              <a:rPr lang="en-US" dirty="0">
                <a:ea typeface="ＭＳ Ｐゴシック" charset="-128"/>
              </a:rPr>
              <a:t>Many similar to standard programming data structures</a:t>
            </a:r>
          </a:p>
          <a:p>
            <a:pPr>
              <a:defRPr/>
            </a:pPr>
            <a:r>
              <a:rPr lang="en-US" b="1" i="1" dirty="0">
                <a:ea typeface="ＭＳ Ｐゴシック" charset="-128"/>
              </a:rPr>
              <a:t>Singly linked list</a:t>
            </a: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defRPr/>
            </a:pPr>
            <a:r>
              <a:rPr lang="en-US" b="1" i="1" dirty="0">
                <a:ea typeface="ＭＳ Ｐゴシック" charset="-128"/>
              </a:rPr>
              <a:t>Doubly linked list</a:t>
            </a: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defRPr/>
            </a:pPr>
            <a:r>
              <a:rPr lang="en-US" b="1" i="1" dirty="0">
                <a:ea typeface="ＭＳ Ｐゴシック" charset="-128"/>
              </a:rPr>
              <a:t>Circular linked list</a:t>
            </a: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marL="0" indent="0">
              <a:buFont typeface="Monotype Sorts" charset="0"/>
              <a:buNone/>
              <a:defRPr/>
            </a:pPr>
            <a:endParaRPr lang="en-US" dirty="0">
              <a:ea typeface="ＭＳ Ｐゴシック" charset="-128"/>
            </a:endParaRPr>
          </a:p>
          <a:p>
            <a:pPr>
              <a:buFont typeface="Monotype Sorts" charset="0"/>
              <a:buChar char="n"/>
              <a:defRPr/>
            </a:pPr>
            <a:endParaRPr lang="en-US" dirty="0">
              <a:ea typeface="ＭＳ Ｐゴシック" charset="-128"/>
            </a:endParaRPr>
          </a:p>
        </p:txBody>
      </p:sp>
      <p:pic>
        <p:nvPicPr>
          <p:cNvPr id="97284" name="Picture 3" descr="1_13.pdf">
            <a:extLst>
              <a:ext uri="{FF2B5EF4-FFF2-40B4-BE49-F238E27FC236}">
                <a16:creationId xmlns:a16="http://schemas.microsoft.com/office/drawing/2014/main" id="{4CBBE9AD-6B50-486E-B252-7F99E7A1C47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27150" y="2068513"/>
            <a:ext cx="6932613"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5" name="Picture 4" descr="1_14.pdf">
            <a:extLst>
              <a:ext uri="{FF2B5EF4-FFF2-40B4-BE49-F238E27FC236}">
                <a16:creationId xmlns:a16="http://schemas.microsoft.com/office/drawing/2014/main" id="{423A57C8-D754-48D8-8979-4E21B236659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87463" y="3632200"/>
            <a:ext cx="7026275"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6" name="Picture 5" descr="1_15.pdf">
            <a:extLst>
              <a:ext uri="{FF2B5EF4-FFF2-40B4-BE49-F238E27FC236}">
                <a16:creationId xmlns:a16="http://schemas.microsoft.com/office/drawing/2014/main" id="{5E7F7BE3-E7AF-4915-8591-E144B61CDF9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31900" y="5099050"/>
            <a:ext cx="6842125"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996380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1">
            <a:extLst>
              <a:ext uri="{FF2B5EF4-FFF2-40B4-BE49-F238E27FC236}">
                <a16:creationId xmlns:a16="http://schemas.microsoft.com/office/drawing/2014/main" id="{656A40C1-7358-4598-8602-0BC4B24F65A0}"/>
              </a:ext>
            </a:extLst>
          </p:cNvPr>
          <p:cNvSpPr>
            <a:spLocks noGrp="1" noChangeArrowheads="1"/>
          </p:cNvSpPr>
          <p:nvPr>
            <p:ph type="title"/>
          </p:nvPr>
        </p:nvSpPr>
        <p:spPr>
          <a:xfrm>
            <a:off x="457200" y="217488"/>
            <a:ext cx="8229600" cy="576262"/>
          </a:xfrm>
        </p:spPr>
        <p:txBody>
          <a:bodyPr/>
          <a:lstStyle/>
          <a:p>
            <a:r>
              <a:rPr lang="en-US" altLang="en-US" dirty="0"/>
              <a:t>Kernel Data Structures </a:t>
            </a:r>
            <a:r>
              <a:rPr lang="zh-CN" altLang="en-US" dirty="0"/>
              <a:t>（</a:t>
            </a:r>
            <a:r>
              <a:rPr lang="en-US" altLang="zh-CN" dirty="0" err="1"/>
              <a:t>Con’d</a:t>
            </a:r>
            <a:r>
              <a:rPr lang="en-US" altLang="zh-CN" dirty="0"/>
              <a:t>)</a:t>
            </a:r>
            <a:r>
              <a:rPr lang="en-US" altLang="en-US" dirty="0"/>
              <a:t> </a:t>
            </a:r>
          </a:p>
        </p:txBody>
      </p:sp>
      <p:sp>
        <p:nvSpPr>
          <p:cNvPr id="98307" name="Content Placeholder 2">
            <a:extLst>
              <a:ext uri="{FF2B5EF4-FFF2-40B4-BE49-F238E27FC236}">
                <a16:creationId xmlns:a16="http://schemas.microsoft.com/office/drawing/2014/main" id="{0E8AFC19-2093-47C9-8C49-C7118EC3C581}"/>
              </a:ext>
            </a:extLst>
          </p:cNvPr>
          <p:cNvSpPr>
            <a:spLocks noGrp="1" noChangeArrowheads="1"/>
          </p:cNvSpPr>
          <p:nvPr>
            <p:ph sz="half" idx="1"/>
          </p:nvPr>
        </p:nvSpPr>
        <p:spPr>
          <a:xfrm>
            <a:off x="967562" y="1052624"/>
            <a:ext cx="7304567" cy="1371599"/>
          </a:xfrm>
        </p:spPr>
        <p:txBody>
          <a:bodyPr/>
          <a:lstStyle/>
          <a:p>
            <a:r>
              <a:rPr lang="en-US" altLang="en-US" sz="2000" b="1" dirty="0">
                <a:solidFill>
                  <a:srgbClr val="3366FF"/>
                </a:solidFill>
              </a:rPr>
              <a:t>Binary search tree </a:t>
            </a:r>
            <a:r>
              <a:rPr lang="en-US" altLang="en-US" sz="2000" dirty="0"/>
              <a:t>left &lt;= right</a:t>
            </a:r>
          </a:p>
          <a:p>
            <a:pPr lvl="1"/>
            <a:r>
              <a:rPr lang="en-US" altLang="en-US" sz="1800" dirty="0"/>
              <a:t>Search performance is </a:t>
            </a:r>
            <a:r>
              <a:rPr lang="en-US" altLang="en-US" sz="1800" i="1" dirty="0"/>
              <a:t>O</a:t>
            </a:r>
            <a:r>
              <a:rPr lang="en-US" altLang="en-US" sz="1800" dirty="0"/>
              <a:t>(</a:t>
            </a:r>
            <a:r>
              <a:rPr lang="en-US" altLang="en-US" sz="1800" i="1" dirty="0"/>
              <a:t>n</a:t>
            </a:r>
            <a:r>
              <a:rPr lang="en-US" altLang="en-US" sz="1800" dirty="0"/>
              <a:t>)</a:t>
            </a:r>
          </a:p>
          <a:p>
            <a:pPr lvl="1"/>
            <a:r>
              <a:rPr lang="en-US" altLang="en-US" sz="1800" b="1" dirty="0">
                <a:solidFill>
                  <a:srgbClr val="3366FF"/>
                </a:solidFill>
              </a:rPr>
              <a:t>Balanced binary search tree </a:t>
            </a:r>
            <a:r>
              <a:rPr lang="en-US" altLang="en-US" sz="1800" dirty="0"/>
              <a:t>is </a:t>
            </a:r>
            <a:r>
              <a:rPr lang="en-US" altLang="en-US" sz="1800" i="1" dirty="0"/>
              <a:t>O</a:t>
            </a:r>
            <a:r>
              <a:rPr lang="en-US" altLang="en-US" sz="1800" dirty="0"/>
              <a:t>(</a:t>
            </a:r>
            <a:r>
              <a:rPr lang="en-US" altLang="en-US" sz="1800" i="1" dirty="0"/>
              <a:t>log n</a:t>
            </a:r>
            <a:r>
              <a:rPr lang="en-US" altLang="en-US" sz="1800" dirty="0"/>
              <a:t>)</a:t>
            </a:r>
          </a:p>
        </p:txBody>
      </p:sp>
      <p:pic>
        <p:nvPicPr>
          <p:cNvPr id="98308" name="Picture 1" descr="1_16.pdf">
            <a:extLst>
              <a:ext uri="{FF2B5EF4-FFF2-40B4-BE49-F238E27FC236}">
                <a16:creationId xmlns:a16="http://schemas.microsoft.com/office/drawing/2014/main" id="{8A7EC466-9A66-4BE5-B140-99E2169313D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50657" y="2788437"/>
            <a:ext cx="3642685" cy="2843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847975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a:extLst>
              <a:ext uri="{FF2B5EF4-FFF2-40B4-BE49-F238E27FC236}">
                <a16:creationId xmlns:a16="http://schemas.microsoft.com/office/drawing/2014/main" id="{6DFC2181-041F-4221-8028-84EBEE448D21}"/>
              </a:ext>
            </a:extLst>
          </p:cNvPr>
          <p:cNvSpPr>
            <a:spLocks noGrp="1" noChangeArrowheads="1"/>
          </p:cNvSpPr>
          <p:nvPr>
            <p:ph type="title"/>
          </p:nvPr>
        </p:nvSpPr>
        <p:spPr>
          <a:xfrm>
            <a:off x="457200" y="217488"/>
            <a:ext cx="8229600" cy="576262"/>
          </a:xfrm>
        </p:spPr>
        <p:txBody>
          <a:bodyPr/>
          <a:lstStyle/>
          <a:p>
            <a:r>
              <a:rPr lang="en-US" altLang="en-US" dirty="0"/>
              <a:t>Kernel Data Structures </a:t>
            </a:r>
            <a:r>
              <a:rPr lang="zh-CN" altLang="en-US" dirty="0"/>
              <a:t>（</a:t>
            </a:r>
            <a:r>
              <a:rPr lang="en-US" altLang="zh-CN" dirty="0" err="1"/>
              <a:t>Con’d</a:t>
            </a:r>
            <a:r>
              <a:rPr lang="en-US" altLang="zh-CN" dirty="0"/>
              <a:t>)</a:t>
            </a:r>
            <a:endParaRPr lang="en-US" altLang="en-US" dirty="0"/>
          </a:p>
        </p:txBody>
      </p:sp>
      <p:sp>
        <p:nvSpPr>
          <p:cNvPr id="99331" name="Content Placeholder 2">
            <a:extLst>
              <a:ext uri="{FF2B5EF4-FFF2-40B4-BE49-F238E27FC236}">
                <a16:creationId xmlns:a16="http://schemas.microsoft.com/office/drawing/2014/main" id="{68AEA443-4F4C-44F5-BED3-7DA9622A4396}"/>
              </a:ext>
            </a:extLst>
          </p:cNvPr>
          <p:cNvSpPr>
            <a:spLocks noGrp="1" noChangeArrowheads="1"/>
          </p:cNvSpPr>
          <p:nvPr>
            <p:ph sz="half" idx="1"/>
          </p:nvPr>
        </p:nvSpPr>
        <p:spPr>
          <a:xfrm>
            <a:off x="806450" y="1233488"/>
            <a:ext cx="8018573" cy="4593154"/>
          </a:xfrm>
        </p:spPr>
        <p:txBody>
          <a:bodyPr/>
          <a:lstStyle/>
          <a:p>
            <a:r>
              <a:rPr lang="en-US" altLang="en-US" sz="2000" b="1" dirty="0">
                <a:solidFill>
                  <a:srgbClr val="3366FF"/>
                </a:solidFill>
              </a:rPr>
              <a:t>Hash function </a:t>
            </a:r>
            <a:r>
              <a:rPr lang="en-US" altLang="en-US" sz="2000" dirty="0"/>
              <a:t>can create a</a:t>
            </a:r>
            <a:r>
              <a:rPr lang="en-US" altLang="en-US" sz="2000" b="1" dirty="0">
                <a:solidFill>
                  <a:srgbClr val="3366FF"/>
                </a:solidFill>
              </a:rPr>
              <a:t> hash map</a:t>
            </a:r>
          </a:p>
          <a:p>
            <a:endParaRPr lang="en-US" altLang="en-US" sz="2000" b="1" i="1" dirty="0">
              <a:solidFill>
                <a:srgbClr val="3366FF"/>
              </a:solidFill>
            </a:endParaRPr>
          </a:p>
          <a:p>
            <a:endParaRPr lang="en-US" altLang="en-US" sz="2000" b="1" i="1" dirty="0">
              <a:solidFill>
                <a:srgbClr val="3366FF"/>
              </a:solidFill>
            </a:endParaRPr>
          </a:p>
          <a:p>
            <a:endParaRPr lang="en-US" altLang="en-US" sz="2000" b="1" i="1" dirty="0">
              <a:solidFill>
                <a:srgbClr val="3366FF"/>
              </a:solidFill>
            </a:endParaRPr>
          </a:p>
          <a:p>
            <a:endParaRPr lang="en-US" altLang="en-US" sz="2000" b="1" i="1" dirty="0">
              <a:solidFill>
                <a:srgbClr val="3366FF"/>
              </a:solidFill>
            </a:endParaRPr>
          </a:p>
          <a:p>
            <a:endParaRPr lang="en-US" altLang="en-US" sz="2000" b="1" i="1" dirty="0">
              <a:solidFill>
                <a:srgbClr val="3366FF"/>
              </a:solidFill>
            </a:endParaRPr>
          </a:p>
          <a:p>
            <a:pPr>
              <a:buFont typeface="Monotype Sorts" pitchFamily="-84" charset="2"/>
              <a:buNone/>
            </a:pPr>
            <a:endParaRPr lang="en-US" altLang="en-US" sz="2000" b="1" i="1" dirty="0">
              <a:solidFill>
                <a:srgbClr val="3366FF"/>
              </a:solidFill>
            </a:endParaRPr>
          </a:p>
          <a:p>
            <a:r>
              <a:rPr lang="en-US" altLang="en-US" sz="2000" b="1" dirty="0">
                <a:solidFill>
                  <a:srgbClr val="3366FF"/>
                </a:solidFill>
              </a:rPr>
              <a:t>Bitmap</a:t>
            </a:r>
            <a:r>
              <a:rPr lang="en-US" altLang="en-US" sz="2000" dirty="0"/>
              <a:t> – string of </a:t>
            </a:r>
            <a:r>
              <a:rPr lang="en-US" altLang="en-US" sz="2000" i="1" dirty="0"/>
              <a:t>n</a:t>
            </a:r>
            <a:r>
              <a:rPr lang="en-US" altLang="en-US" sz="2000" dirty="0"/>
              <a:t> binary digits representing the status of </a:t>
            </a:r>
            <a:r>
              <a:rPr lang="en-US" altLang="en-US" sz="2000" i="1" dirty="0"/>
              <a:t>n</a:t>
            </a:r>
            <a:r>
              <a:rPr lang="en-US" altLang="en-US" sz="2000" dirty="0"/>
              <a:t> items</a:t>
            </a:r>
          </a:p>
          <a:p>
            <a:r>
              <a:rPr lang="en-US" altLang="en-US" sz="2000" dirty="0"/>
              <a:t>Linux data structures defined in </a:t>
            </a:r>
            <a:r>
              <a:rPr lang="en-US" altLang="en-US" sz="2000" b="1" i="1" dirty="0"/>
              <a:t>include</a:t>
            </a:r>
            <a:r>
              <a:rPr lang="en-US" altLang="en-US" sz="2000" dirty="0"/>
              <a:t> files </a:t>
            </a:r>
            <a:r>
              <a:rPr lang="en-US" altLang="en-US" sz="2000" dirty="0">
                <a:latin typeface="Courier New" panose="02070309020205020404" pitchFamily="49" charset="0"/>
                <a:cs typeface="Courier New" panose="02070309020205020404" pitchFamily="49" charset="0"/>
              </a:rPr>
              <a:t>&lt;</a:t>
            </a:r>
            <a:r>
              <a:rPr lang="en-US" altLang="en-US" sz="2000" dirty="0" err="1">
                <a:latin typeface="Courier New" panose="02070309020205020404" pitchFamily="49" charset="0"/>
                <a:cs typeface="Courier New" panose="02070309020205020404" pitchFamily="49" charset="0"/>
              </a:rPr>
              <a:t>linux</a:t>
            </a:r>
            <a:r>
              <a:rPr lang="en-US" altLang="en-US" sz="2000" dirty="0">
                <a:latin typeface="Courier New" panose="02070309020205020404" pitchFamily="49" charset="0"/>
                <a:cs typeface="Courier New" panose="02070309020205020404" pitchFamily="49" charset="0"/>
              </a:rPr>
              <a:t>/</a:t>
            </a:r>
            <a:r>
              <a:rPr lang="en-US" altLang="en-US" sz="2000" dirty="0" err="1">
                <a:latin typeface="Courier New" panose="02070309020205020404" pitchFamily="49" charset="0"/>
                <a:cs typeface="Courier New" panose="02070309020205020404" pitchFamily="49" charset="0"/>
              </a:rPr>
              <a:t>list.h</a:t>
            </a:r>
            <a:r>
              <a:rPr lang="en-US" altLang="en-US" sz="2000" dirty="0">
                <a:latin typeface="Courier New" panose="02070309020205020404" pitchFamily="49" charset="0"/>
                <a:cs typeface="Courier New" panose="02070309020205020404" pitchFamily="49" charset="0"/>
              </a:rPr>
              <a:t>&gt;, &lt;</a:t>
            </a:r>
            <a:r>
              <a:rPr lang="en-US" altLang="en-US" sz="2000" dirty="0" err="1">
                <a:latin typeface="Courier New" panose="02070309020205020404" pitchFamily="49" charset="0"/>
                <a:cs typeface="Courier New" panose="02070309020205020404" pitchFamily="49" charset="0"/>
              </a:rPr>
              <a:t>linux</a:t>
            </a:r>
            <a:r>
              <a:rPr lang="en-US" altLang="en-US" sz="2000" dirty="0">
                <a:latin typeface="Courier New" panose="02070309020205020404" pitchFamily="49" charset="0"/>
                <a:cs typeface="Courier New" panose="02070309020205020404" pitchFamily="49" charset="0"/>
              </a:rPr>
              <a:t>/</a:t>
            </a:r>
            <a:r>
              <a:rPr lang="en-US" altLang="en-US" sz="2000" dirty="0" err="1">
                <a:latin typeface="Courier New" panose="02070309020205020404" pitchFamily="49" charset="0"/>
                <a:cs typeface="Courier New" panose="02070309020205020404" pitchFamily="49" charset="0"/>
              </a:rPr>
              <a:t>kfifo.h</a:t>
            </a:r>
            <a:r>
              <a:rPr lang="en-US" altLang="en-US" sz="2000" dirty="0">
                <a:latin typeface="Courier New" panose="02070309020205020404" pitchFamily="49" charset="0"/>
                <a:cs typeface="Courier New" panose="02070309020205020404" pitchFamily="49" charset="0"/>
              </a:rPr>
              <a:t>&gt;, &lt;</a:t>
            </a:r>
            <a:r>
              <a:rPr lang="en-US" altLang="en-US" sz="2000" dirty="0" err="1">
                <a:latin typeface="Courier New" panose="02070309020205020404" pitchFamily="49" charset="0"/>
                <a:cs typeface="Courier New" panose="02070309020205020404" pitchFamily="49" charset="0"/>
              </a:rPr>
              <a:t>linux</a:t>
            </a:r>
            <a:r>
              <a:rPr lang="en-US" altLang="en-US" sz="2000" dirty="0">
                <a:latin typeface="Courier New" panose="02070309020205020404" pitchFamily="49" charset="0"/>
                <a:cs typeface="Courier New" panose="02070309020205020404" pitchFamily="49" charset="0"/>
              </a:rPr>
              <a:t>/</a:t>
            </a:r>
            <a:r>
              <a:rPr lang="en-US" altLang="en-US" sz="2000" dirty="0" err="1">
                <a:latin typeface="Courier New" panose="02070309020205020404" pitchFamily="49" charset="0"/>
                <a:cs typeface="Courier New" panose="02070309020205020404" pitchFamily="49" charset="0"/>
              </a:rPr>
              <a:t>rbtree.h</a:t>
            </a:r>
            <a:r>
              <a:rPr lang="en-US" altLang="en-US" sz="2000" dirty="0">
                <a:latin typeface="Courier New" panose="02070309020205020404" pitchFamily="49" charset="0"/>
                <a:cs typeface="Courier New" panose="02070309020205020404" pitchFamily="49" charset="0"/>
              </a:rPr>
              <a:t>&gt;</a:t>
            </a:r>
            <a:endParaRPr lang="en-US" altLang="en-US" sz="2000" dirty="0"/>
          </a:p>
        </p:txBody>
      </p:sp>
      <p:pic>
        <p:nvPicPr>
          <p:cNvPr id="99332" name="Picture 3" descr="1_17.pdf">
            <a:extLst>
              <a:ext uri="{FF2B5EF4-FFF2-40B4-BE49-F238E27FC236}">
                <a16:creationId xmlns:a16="http://schemas.microsoft.com/office/drawing/2014/main" id="{AAB8F4DC-3B59-48C6-B567-82DFFF272A1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92325" y="1863725"/>
            <a:ext cx="4873625" cy="196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373518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248ED826-3203-40F8-B0D3-237827F65346}"/>
              </a:ext>
            </a:extLst>
          </p:cNvPr>
          <p:cNvSpPr>
            <a:spLocks noGrp="1" noChangeArrowheads="1"/>
          </p:cNvSpPr>
          <p:nvPr>
            <p:ph type="ctrTitle"/>
          </p:nvPr>
        </p:nvSpPr>
        <p:spPr/>
        <p:txBody>
          <a:bodyPr/>
          <a:lstStyle/>
          <a:p>
            <a:pPr eaLnBrk="1" hangingPunct="1"/>
            <a:r>
              <a:rPr lang="en-US" altLang="en-US"/>
              <a:t>End of Chapter 1</a:t>
            </a:r>
          </a:p>
        </p:txBody>
      </p:sp>
    </p:spTree>
    <p:extLst>
      <p:ext uri="{BB962C8B-B14F-4D97-AF65-F5344CB8AC3E}">
        <p14:creationId xmlns:p14="http://schemas.microsoft.com/office/powerpoint/2010/main" val="4277124629"/>
      </p:ext>
    </p:extLst>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11896</TotalTime>
  <Words>2329</Words>
  <Application>Microsoft Office PowerPoint</Application>
  <PresentationFormat>全屏显示(4:3)</PresentationFormat>
  <Paragraphs>281</Paragraphs>
  <Slides>37</Slides>
  <Notes>26</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37</vt:i4>
      </vt:variant>
    </vt:vector>
  </HeadingPairs>
  <TitlesOfParts>
    <vt:vector size="47" baseType="lpstr">
      <vt:lpstr>Monotype Sorts</vt:lpstr>
      <vt:lpstr>ＭＳ Ｐゴシック</vt:lpstr>
      <vt:lpstr>Arial</vt:lpstr>
      <vt:lpstr>Courier New</vt:lpstr>
      <vt:lpstr>Helvetica</vt:lpstr>
      <vt:lpstr>Times New Roman</vt:lpstr>
      <vt:lpstr>Verdana</vt:lpstr>
      <vt:lpstr>Webdings</vt:lpstr>
      <vt:lpstr>Wingdings</vt:lpstr>
      <vt:lpstr>os-8</vt:lpstr>
      <vt:lpstr>Chapter 1:  Introduction (2)</vt:lpstr>
      <vt:lpstr>Process Management</vt:lpstr>
      <vt:lpstr>Process Management Activities</vt:lpstr>
      <vt:lpstr>Memory Management</vt:lpstr>
      <vt:lpstr>Caching</vt:lpstr>
      <vt:lpstr>Migration of Data “A” from Disk to Register</vt:lpstr>
      <vt:lpstr>File-System Management</vt:lpstr>
      <vt:lpstr>Mass-Storage Management</vt:lpstr>
      <vt:lpstr>Characteristics of Various Types of Storage</vt:lpstr>
      <vt:lpstr>I/O Subsystem</vt:lpstr>
      <vt:lpstr>Protection and Security</vt:lpstr>
      <vt:lpstr>Virtualization (1)</vt:lpstr>
      <vt:lpstr>Virtualization (2)</vt:lpstr>
      <vt:lpstr>Computing Environments - Virtualization</vt:lpstr>
      <vt:lpstr>Distributed Systems</vt:lpstr>
      <vt:lpstr>Computer-System Architecture</vt:lpstr>
      <vt:lpstr>Symmetric Multiprocessing Architecture</vt:lpstr>
      <vt:lpstr>Dual-Core Design</vt:lpstr>
      <vt:lpstr>Non-Uniform Memory Access System</vt:lpstr>
      <vt:lpstr>Clustered Systems</vt:lpstr>
      <vt:lpstr>Clustered Systems</vt:lpstr>
      <vt:lpstr>PC Motherboard</vt:lpstr>
      <vt:lpstr>Computing Environments</vt:lpstr>
      <vt:lpstr>Traditional</vt:lpstr>
      <vt:lpstr>Mobile</vt:lpstr>
      <vt:lpstr>Client Server</vt:lpstr>
      <vt:lpstr>Peer-to-Peer</vt:lpstr>
      <vt:lpstr>Cloud Computing</vt:lpstr>
      <vt:lpstr>Cloud Computing (Cont.)</vt:lpstr>
      <vt:lpstr>PowerPoint 演示文稿</vt:lpstr>
      <vt:lpstr>Real-Time Embedded Systems</vt:lpstr>
      <vt:lpstr>Free and Open-Source Operating Systems</vt:lpstr>
      <vt:lpstr>The Study of Operating Systems</vt:lpstr>
      <vt:lpstr>Kernel Data Structures</vt:lpstr>
      <vt:lpstr>Kernel Data Structures （Con’d) </vt:lpstr>
      <vt:lpstr>Kernel Data Structures （Con’d)</vt:lpstr>
      <vt:lpstr>End of Chapter 1</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Yeh-Ching Chung</cp:lastModifiedBy>
  <cp:revision>297</cp:revision>
  <cp:lastPrinted>2001-06-14T13:58:17Z</cp:lastPrinted>
  <dcterms:created xsi:type="dcterms:W3CDTF">2011-01-13T23:43:38Z</dcterms:created>
  <dcterms:modified xsi:type="dcterms:W3CDTF">2025-09-09T05:58:19Z</dcterms:modified>
</cp:coreProperties>
</file>