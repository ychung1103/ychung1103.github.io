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0"/>
  </p:notesMasterIdLst>
  <p:handoutMasterIdLst>
    <p:handoutMasterId r:id="rId31"/>
  </p:handoutMasterIdLst>
  <p:sldIdLst>
    <p:sldId id="331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428" r:id="rId15"/>
    <p:sldId id="429" r:id="rId16"/>
    <p:sldId id="367" r:id="rId17"/>
    <p:sldId id="526" r:id="rId18"/>
    <p:sldId id="368" r:id="rId19"/>
    <p:sldId id="415" r:id="rId20"/>
    <p:sldId id="370" r:id="rId21"/>
    <p:sldId id="371" r:id="rId22"/>
    <p:sldId id="372" r:id="rId23"/>
    <p:sldId id="373" r:id="rId24"/>
    <p:sldId id="416" r:id="rId25"/>
    <p:sldId id="376" r:id="rId26"/>
    <p:sldId id="418" r:id="rId27"/>
    <p:sldId id="419" r:id="rId28"/>
    <p:sldId id="527" r:id="rId29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790" autoAdjust="0"/>
    <p:restoredTop sz="94660"/>
  </p:normalViewPr>
  <p:slideViewPr>
    <p:cSldViewPr snapToGrid="0">
      <p:cViewPr>
        <p:scale>
          <a:sx n="50" d="100"/>
          <a:sy n="50" d="100"/>
        </p:scale>
        <p:origin x="1624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706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A49125B-F571-4E5D-9BAD-1D212CCFBF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AD870FB1-A095-437C-B6D2-2B1B4AAB9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F501E773-1178-4204-823A-15B92DFAF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30CCC09F-8FEA-4870-9E40-37BBE7100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CE3FF5-CEA2-48B8-900D-389C7BA3E78B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A081F303-3AE6-4FDF-9914-380C5084DC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4F7AB753-E023-44B0-B607-E3C978A6E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BEDA1708-FBD0-46B6-B6E0-9DACFC6E8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60FA1B4-6A09-4A5E-8B97-24767F39BC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F52D03A7-D598-4B7B-B4F2-C1353D7B2B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047A01C-D4F1-483C-95F6-D9DE64F05F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377D733F-0F22-4399-A6D3-B09E70F2D1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6FF7E3D3-1282-4112-B6EE-171A10838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6694149F-4152-4367-835B-291215C66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2F98E2D8-A745-4482-8D31-1C4410289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4AD3CFA0-D397-4059-BF40-57150D5F1A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90C51AA2-08CA-4188-A0D0-CDB58CB18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9033DF3-330A-4632-AE16-C1DAED31B0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EC5A0E66-0ED9-4D39-8C8C-9D502F65B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9C520A68-97AF-4954-BF27-3B60903A2D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6D96FEF4-316D-4EC7-948A-A33AE5D7C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2B50E5CE-2EAD-485C-9DC4-25D3E4546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A64CD54C-44CE-436F-93BE-552425E6C2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29DAD370-8DFA-4D0F-8574-87D667E474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AA98057B-1F4A-419C-B813-443BAD14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9E6F61F9-6FB5-4918-9153-29413636AE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4C82101A-24CB-4B36-B9D2-613DABCA4C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204C5FBE-F01E-4B1E-BA23-180B64B1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69926037-2DFC-49C1-BFE5-BEEB90670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31EBDBDF-5FCA-4213-A6C0-A7B61F0EDD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4B5706BF-EA71-4A33-91AF-EA4A2A0C5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96CBA23C-2721-468E-BF26-9B4A85235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0008BC1-ECF1-41C8-9E3A-3EF0899AF3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AE97A9E2-2C5D-40BF-956A-508D26D46D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779C6C28-A40F-4623-9D7D-7346DF865F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AB53808-5F2A-46E3-A99B-9661F40E0F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8D83F4BE-5527-406F-84C4-756486D50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7839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821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9B12ECC0-6236-49B0-ADB5-B045D66C4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9D1B6244-C5E7-4D86-A203-764BEF822B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E5412847-FD60-400B-AA9D-2092F9AB4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3939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35D95203-074A-4EA2-A43A-43C79DFAF0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BD125F85-1222-4EE5-8421-F621F6A6C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53A3A95C-A148-408D-A44E-6944866E30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65DA9622-ECD4-4E4D-A9C5-B037F3BF2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A18C2702-4265-41C0-BAB1-23B3407FB8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639B9B21-AD3F-4EC3-88E5-425A7776CE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173C5A7B-AD1F-42C6-ACEC-C22E37FDEF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D57D674F-0290-48DC-AE81-36542FB42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3DD1A532-1569-4A5E-88FC-8C5BA0E7A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D517E168-3094-4E5B-84D7-5C0153B13B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0E586-48D7-4940-A2DF-E461BD85B025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A319D073-D867-48CB-B66A-DADB82FB0E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57FA871D-7C7C-49FB-B8AC-D03BA6E06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805B1C17-66FA-4D85-BCF6-7A91DE02FC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5281E3-0C39-498B-AF39-48565B4544FA}" type="slidenum">
              <a:rPr lang="en-US" altLang="en-US">
                <a:latin typeface="Times New Roman" panose="02020603050405020304" pitchFamily="18" charset="0"/>
              </a:rPr>
              <a:pPr/>
              <a:t>24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1F9038FE-BD6E-44F1-ACE4-DD73792DB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6096AB29-C31A-45C0-B5E1-9D36AC040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4F2D9B1C-DEA5-4665-B47D-209786DA89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77D31-AB4E-4210-B2DB-080238C5EE9B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4FEDE9AA-CD44-4982-B7AE-FB416BFCBF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49FDFE4F-372F-44B2-A051-88D045B25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4C151E44-C6F0-41B5-B34F-C628B106D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B98D01-049E-4171-943F-B5ABC66237D0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E82A76F2-128F-483D-9772-9EC72CDD50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42C6AA12-EFFD-48F7-8712-4AAE83A1B9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52A60322-55A6-48F1-BDAD-4359650DA0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D7419C-205B-4822-9762-6573B1EDC7C6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12F1FD45-5D18-421B-B1DB-64EA20059B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D6A9EE16-EFCB-4E01-84DE-734D0AA18E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39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10: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6C488EA0-8C3D-457E-9DD0-39B979074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7909" y="23777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C4E993E-0F50-409F-A8A7-195A5B940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4511675"/>
          </a:xfrm>
        </p:spPr>
        <p:txBody>
          <a:bodyPr/>
          <a:lstStyle/>
          <a:p>
            <a:r>
              <a:rPr lang="en-US" altLang="en-US" dirty="0"/>
              <a:t>Used up by process pages</a:t>
            </a:r>
          </a:p>
          <a:p>
            <a:r>
              <a:rPr lang="en-US" altLang="en-US" dirty="0"/>
              <a:t>Also in demand from the kernel, I/O buffers,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r>
              <a:rPr lang="en-US" altLang="en-US" dirty="0"/>
              <a:t>How much to allocate to each?</a:t>
            </a:r>
          </a:p>
          <a:p>
            <a:r>
              <a:rPr lang="en-US" altLang="en-US" dirty="0"/>
              <a:t>Page replacement – find some page in memory, but not really in use, page it out</a:t>
            </a:r>
          </a:p>
          <a:p>
            <a:pPr lvl="1"/>
            <a:r>
              <a:rPr lang="en-US" altLang="en-US" dirty="0"/>
              <a:t>Algorithm – terminate? swap out? replace the page?</a:t>
            </a:r>
          </a:p>
          <a:p>
            <a:pPr lvl="1"/>
            <a:r>
              <a:rPr lang="en-US" altLang="en-US" dirty="0"/>
              <a:t>Performance – want an algorithm which will result in minimum number of page faults</a:t>
            </a:r>
          </a:p>
          <a:p>
            <a:r>
              <a:rPr lang="en-US" altLang="en-US" dirty="0"/>
              <a:t>Same page may be brought into memory several times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B00CC0E-9E33-4072-9D8C-43E0004757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1394" y="23556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5125108-1B16-48F4-B19C-7A4934EC1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1394" y="1190625"/>
            <a:ext cx="7724775" cy="4530725"/>
          </a:xfrm>
        </p:spPr>
        <p:txBody>
          <a:bodyPr/>
          <a:lstStyle/>
          <a:p>
            <a:r>
              <a:rPr lang="en-US" altLang="en-US" dirty="0"/>
              <a:t>Prevent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over-allocation</a:t>
            </a:r>
            <a:r>
              <a:rPr lang="en-US" altLang="en-US" dirty="0"/>
              <a:t> of memory by modifying page-fault service routine to include page replacement</a:t>
            </a:r>
          </a:p>
          <a:p>
            <a:r>
              <a:rPr lang="en-US" altLang="en-US" dirty="0"/>
              <a:t>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modify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dirty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reduce overhead of page transfers – only modified pages are written to disk</a:t>
            </a:r>
          </a:p>
          <a:p>
            <a:r>
              <a:rPr lang="en-US" altLang="en-US" dirty="0"/>
              <a:t>Page replacement completes separation between logical memory and physical memory – large virtual memory can be provided on a smaller physical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60E5859-1ADF-409F-B8A3-01A46FD0E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</a:p>
        </p:txBody>
      </p:sp>
      <p:pic>
        <p:nvPicPr>
          <p:cNvPr id="33795" name="Picture 4" descr="B:\os-book\os10-dir\Slides-WORK-area\Figures-dir\ch10\JPG-dir\10_09.jpg">
            <a:extLst>
              <a:ext uri="{FF2B5EF4-FFF2-40B4-BE49-F238E27FC236}">
                <a16:creationId xmlns:a16="http://schemas.microsoft.com/office/drawing/2014/main" id="{74BEFCE0-4636-4163-8B0B-DF7F5FF0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1357313"/>
            <a:ext cx="6786563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A23D0E3-2B35-4747-8B9E-6B7BFD7D4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D9B5FA-26B2-48A5-8A7B-413D74146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22363"/>
            <a:ext cx="7607299" cy="4457700"/>
          </a:xfrm>
        </p:spPr>
        <p:txBody>
          <a:bodyPr/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victim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</a:t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   </a:t>
            </a:r>
            <a:r>
              <a:rPr lang="en-US" altLang="en-US" dirty="0"/>
              <a:t>-</a:t>
            </a:r>
            <a:r>
              <a:rPr lang="en-US" altLang="en-US" b="1" dirty="0"/>
              <a:t>  </a:t>
            </a:r>
            <a:r>
              <a:rPr lang="en-US" altLang="en-US" dirty="0"/>
              <a:t>Write victim frame to disk if dirty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 </a:t>
            </a:r>
          </a:p>
          <a:p>
            <a:pPr marL="379413" indent="-379413">
              <a:buFont typeface="Monotype Sorts" pitchFamily="-84" charset="2"/>
              <a:buNone/>
            </a:pPr>
            <a:r>
              <a:rPr lang="en-US" altLang="en-US" dirty="0"/>
              <a:t>Note now potentially 2 page transfers for page fault – increasing EAT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2C4BFB3-B09C-4707-8DF8-9335F3398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pic>
        <p:nvPicPr>
          <p:cNvPr id="35843" name="Picture 4" descr="9">
            <a:extLst>
              <a:ext uri="{FF2B5EF4-FFF2-40B4-BE49-F238E27FC236}">
                <a16:creationId xmlns:a16="http://schemas.microsoft.com/office/drawing/2014/main" id="{632D2467-D729-4E96-ABE0-D5CF1AD3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47214C7-1AE6-4D0E-9FB9-EBC768731F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C092E50-7A55-4657-89B6-77C0309E7E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33475"/>
            <a:ext cx="7679094" cy="4899025"/>
          </a:xfrm>
        </p:spPr>
        <p:txBody>
          <a:bodyPr/>
          <a:lstStyle/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dirty="0"/>
              <a:t>determines 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How many frames to give each process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Which frames to replace</a:t>
            </a:r>
          </a:p>
          <a:p>
            <a:pPr>
              <a:tabLst>
                <a:tab pos="3144838" algn="ctr"/>
              </a:tabLst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Page-replacement algorithm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Want lowest page-fault rate on both first access and re-access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Evaluate algorithm by running it on a particular string of memory references (reference string) and computing the number of page faults on that string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String is just page numbers, not full addresses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Repeated access to the same page does not cause a page fault</a:t>
            </a:r>
          </a:p>
          <a:p>
            <a:pPr lvl="1">
              <a:tabLst>
                <a:tab pos="3144838" algn="ctr"/>
              </a:tabLst>
            </a:pPr>
            <a:r>
              <a:rPr lang="en-US" altLang="en-US" dirty="0"/>
              <a:t>Results depend on number of frames available</a:t>
            </a:r>
          </a:p>
          <a:p>
            <a:pPr>
              <a:tabLst>
                <a:tab pos="3144838" algn="ctr"/>
              </a:tabLst>
            </a:pPr>
            <a:r>
              <a:rPr lang="en-US" altLang="en-US" dirty="0"/>
              <a:t>In all our examples, the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string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referenced page numbers is </a:t>
            </a:r>
          </a:p>
          <a:p>
            <a:pPr>
              <a:buFont typeface="Monotype Sorts" pitchFamily="-84" charset="2"/>
              <a:buNone/>
              <a:tabLst>
                <a:tab pos="3144838" algn="ctr"/>
              </a:tabLst>
            </a:pPr>
            <a:r>
              <a:rPr lang="en-US" altLang="en-US" dirty="0"/>
              <a:t>	              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38E9DE7-317A-4964-80E7-85DD040FF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</a:p>
        </p:txBody>
      </p:sp>
      <p:pic>
        <p:nvPicPr>
          <p:cNvPr id="37891" name="Picture 5">
            <a:extLst>
              <a:ext uri="{FF2B5EF4-FFF2-40B4-BE49-F238E27FC236}">
                <a16:creationId xmlns:a16="http://schemas.microsoft.com/office/drawing/2014/main" id="{6305A72B-A5ED-415A-9B8C-D45FEB5F4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CA6CF77-12AF-4EC2-89B1-0E20EC3A2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D1D5755-163C-4203-ABC8-2DA1622DF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4735" y="1052513"/>
            <a:ext cx="7582515" cy="5762625"/>
          </a:xfrm>
        </p:spPr>
        <p:txBody>
          <a:bodyPr/>
          <a:lstStyle/>
          <a:p>
            <a:r>
              <a:rPr lang="en-US" altLang="en-US" dirty="0"/>
              <a:t>Reference string: </a:t>
            </a:r>
            <a:r>
              <a:rPr lang="en-US" altLang="en-US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dirty="0"/>
          </a:p>
          <a:p>
            <a:r>
              <a:rPr lang="en-US" altLang="en-US" dirty="0"/>
              <a:t>3 frames (3 pages can be in memory at a time per process)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pPr>
              <a:buFont typeface="Monotype Sorts" pitchFamily="-84" charset="2"/>
              <a:buNone/>
            </a:pPr>
            <a:br>
              <a:rPr lang="en-US" altLang="en-US" dirty="0"/>
            </a:b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Can vary by reference string: consider 1,2,3,4,1,2,5,1,2,3,4,5</a:t>
            </a:r>
          </a:p>
          <a:p>
            <a:pPr lvl="1"/>
            <a:r>
              <a:rPr lang="en-US" altLang="en-US" dirty="0"/>
              <a:t>Adding more frames can cause more page faults!</a:t>
            </a: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dirty="0"/>
              <a:t>How to track ages of pages? </a:t>
            </a:r>
          </a:p>
          <a:p>
            <a:pPr lvl="1"/>
            <a:r>
              <a:rPr lang="en-US" altLang="en-US" dirty="0"/>
              <a:t>Just use a FIFO queue</a:t>
            </a:r>
          </a:p>
        </p:txBody>
      </p:sp>
      <p:sp>
        <p:nvSpPr>
          <p:cNvPr id="38916" name="Text Box 16">
            <a:extLst>
              <a:ext uri="{FF2B5EF4-FFF2-40B4-BE49-F238E27FC236}">
                <a16:creationId xmlns:a16="http://schemas.microsoft.com/office/drawing/2014/main" id="{70D1F977-A605-4231-817D-50B414BD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</a:p>
        </p:txBody>
      </p:sp>
      <p:pic>
        <p:nvPicPr>
          <p:cNvPr id="38917" name="Picture 1">
            <a:extLst>
              <a:ext uri="{FF2B5EF4-FFF2-40B4-BE49-F238E27FC236}">
                <a16:creationId xmlns:a16="http://schemas.microsoft.com/office/drawing/2014/main" id="{308629FE-BC55-408D-8CD8-72B5F698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1854200"/>
            <a:ext cx="5327650" cy="169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6B9E3A-361D-4D6C-9A7F-B0347118A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>
            <a:extLst>
              <a:ext uri="{FF2B5EF4-FFF2-40B4-BE49-F238E27FC236}">
                <a16:creationId xmlns:a16="http://schemas.microsoft.com/office/drawing/2014/main" id="{EE4A1B7A-865F-4B41-AE5D-E878A1F8D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6095923-7FD6-4706-A8FA-9ABF051469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5D0553F-9E25-4083-8F1B-77A52F70D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19188"/>
            <a:ext cx="7495397" cy="2052637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dirty="0"/>
              <a:t>Replace page that will not be used for longest period of time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9 is optimal for the example</a:t>
            </a:r>
          </a:p>
          <a:p>
            <a:pPr>
              <a:tabLst>
                <a:tab pos="1889125" algn="l"/>
              </a:tabLst>
            </a:pPr>
            <a:r>
              <a:rPr lang="en-US" altLang="en-US" dirty="0"/>
              <a:t>How do you know this?</a:t>
            </a:r>
          </a:p>
          <a:p>
            <a:pPr lvl="1">
              <a:tabLst>
                <a:tab pos="1889125" algn="l"/>
              </a:tabLst>
            </a:pPr>
            <a:r>
              <a:rPr lang="en-US" altLang="en-US" dirty="0"/>
              <a:t>Can</a:t>
            </a:r>
            <a:r>
              <a:rPr lang="ja-JP" altLang="en-US" dirty="0"/>
              <a:t>’</a:t>
            </a:r>
            <a:r>
              <a:rPr lang="en-US" altLang="ja-JP" dirty="0"/>
              <a:t>t read the future</a:t>
            </a:r>
            <a:endParaRPr lang="en-US" altLang="en-US" dirty="0"/>
          </a:p>
          <a:p>
            <a:pPr>
              <a:tabLst>
                <a:tab pos="1889125" algn="l"/>
              </a:tabLst>
            </a:pPr>
            <a:r>
              <a:rPr lang="en-US" altLang="en-US" dirty="0"/>
              <a:t>Used for measuring how well your algorithm performs</a:t>
            </a:r>
          </a:p>
        </p:txBody>
      </p:sp>
      <p:pic>
        <p:nvPicPr>
          <p:cNvPr id="40964" name="Picture 3">
            <a:extLst>
              <a:ext uri="{FF2B5EF4-FFF2-40B4-BE49-F238E27FC236}">
                <a16:creationId xmlns:a16="http://schemas.microsoft.com/office/drawing/2014/main" id="{0C2DEEDF-7F2E-4341-B388-D27259850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3159125"/>
            <a:ext cx="6259513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96FD466-53D6-40D8-87A0-F9D0699FA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B3F137F8-4D5E-42D0-B9E4-ACCE3B23C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3562" y="1130335"/>
            <a:ext cx="7405506" cy="234220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Use past knowledge rather than future</a:t>
            </a:r>
          </a:p>
          <a:p>
            <a:pPr>
              <a:defRPr/>
            </a:pPr>
            <a:r>
              <a:rPr lang="en-US" altLang="en-US" dirty="0"/>
              <a:t>Replace page that has not been used in the most amount of time</a:t>
            </a:r>
          </a:p>
          <a:p>
            <a:pPr>
              <a:defRPr/>
            </a:pPr>
            <a:r>
              <a:rPr lang="en-US" altLang="en-US" dirty="0"/>
              <a:t>Associate time of last use with each page</a:t>
            </a:r>
          </a:p>
          <a:p>
            <a:pPr>
              <a:defRPr/>
            </a:pPr>
            <a:r>
              <a:rPr lang="en-US" altLang="en-US" dirty="0"/>
              <a:t>12 faults – better than FIFO but worse than OPT</a:t>
            </a:r>
          </a:p>
          <a:p>
            <a:pPr>
              <a:defRPr/>
            </a:pPr>
            <a:r>
              <a:rPr lang="en-US" altLang="en-US" dirty="0"/>
              <a:t>Generally good algorithm and frequently used</a:t>
            </a:r>
          </a:p>
          <a:p>
            <a:pPr>
              <a:defRPr/>
            </a:pPr>
            <a:r>
              <a:rPr lang="en-US" altLang="en-US" dirty="0"/>
              <a:t>But how to implement?</a:t>
            </a:r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AD671CE-F186-D403-6EA7-7DB523A4CEA7}"/>
              </a:ext>
            </a:extLst>
          </p:cNvPr>
          <p:cNvGrpSpPr/>
          <p:nvPr/>
        </p:nvGrpSpPr>
        <p:grpSpPr>
          <a:xfrm>
            <a:off x="1201790" y="3657601"/>
            <a:ext cx="7405505" cy="2047001"/>
            <a:chOff x="1201790" y="3657601"/>
            <a:chExt cx="7405505" cy="2047001"/>
          </a:xfrm>
        </p:grpSpPr>
        <p:pic>
          <p:nvPicPr>
            <p:cNvPr id="41988" name="Picture 4" descr="9">
              <a:extLst>
                <a:ext uri="{FF2B5EF4-FFF2-40B4-BE49-F238E27FC236}">
                  <a16:creationId xmlns:a16="http://schemas.microsoft.com/office/drawing/2014/main" id="{1C494269-8B4A-4BA9-9CC1-ED6087AC32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65"/>
            <a:stretch/>
          </p:blipFill>
          <p:spPr bwMode="auto">
            <a:xfrm>
              <a:off x="1586540" y="4550228"/>
              <a:ext cx="6170612" cy="1154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" name="Picture 4" descr="9">
              <a:extLst>
                <a:ext uri="{FF2B5EF4-FFF2-40B4-BE49-F238E27FC236}">
                  <a16:creationId xmlns:a16="http://schemas.microsoft.com/office/drawing/2014/main" id="{5CA8B538-7EBB-5C82-CC9F-755D9217BC5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135"/>
            <a:stretch/>
          </p:blipFill>
          <p:spPr bwMode="auto">
            <a:xfrm>
              <a:off x="1880454" y="3657601"/>
              <a:ext cx="6170612" cy="250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8B1C241-D6AD-83DE-ACFD-7BD813E2BFD6}"/>
                </a:ext>
              </a:extLst>
            </p:cNvPr>
            <p:cNvGrpSpPr/>
            <p:nvPr/>
          </p:nvGrpSpPr>
          <p:grpSpPr>
            <a:xfrm>
              <a:off x="1201790" y="3875315"/>
              <a:ext cx="7405505" cy="642256"/>
              <a:chOff x="1223562" y="3875315"/>
              <a:chExt cx="7405505" cy="642256"/>
            </a:xfrm>
          </p:grpSpPr>
          <p:pic>
            <p:nvPicPr>
              <p:cNvPr id="3" name="Picture 4" descr="9">
                <a:extLst>
                  <a:ext uri="{FF2B5EF4-FFF2-40B4-BE49-F238E27FC236}">
                    <a16:creationId xmlns:a16="http://schemas.microsoft.com/office/drawing/2014/main" id="{167E91D5-8D0B-D963-1726-2E82EEF060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865" b="68332"/>
              <a:stretch/>
            </p:blipFill>
            <p:spPr bwMode="auto">
              <a:xfrm>
                <a:off x="1749826" y="4234544"/>
                <a:ext cx="6170612" cy="283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F409A41-6431-0DF1-2DD7-CF6F274F85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3562" y="3875315"/>
                <a:ext cx="7405505" cy="283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993300"/>
                  </a:buClr>
                  <a:buSzPct val="110000"/>
                  <a:buFont typeface="Wingdings" panose="05000000000000000000" pitchFamily="2" charset="2"/>
                  <a:buChar char="§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  <a:cs typeface="ＭＳ Ｐゴシック" charset="-128"/>
                  </a:defRPr>
                </a:lvl1pPr>
                <a:lvl2pPr marL="742950" indent="-28575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CC6600"/>
                  </a:buClr>
                  <a:buSzPct val="110000"/>
                  <a:buFont typeface="Arial" panose="020B0604020202020204" pitchFamily="34" charset="0"/>
                  <a:buChar char="•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2pPr>
                <a:lvl3pPr marL="1085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3pPr>
                <a:lvl4pPr marL="14287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4pPr>
                <a:lvl5pPr marL="17716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MS PGothic" pitchFamily="34" charset="-128"/>
                  </a:defRPr>
                </a:lvl5pPr>
                <a:lvl6pPr marL="22288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6pPr>
                <a:lvl7pPr marL="26860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7pPr>
                <a:lvl8pPr marL="31432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8pPr>
                <a:lvl9pPr marL="3600450" indent="-228600" algn="l" rtl="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+mn-lt"/>
                    <a:ea typeface="ＭＳ Ｐゴシック" charset="-128"/>
                  </a:defRPr>
                </a:lvl9pPr>
              </a:lstStyle>
              <a:p>
                <a:pPr>
                  <a:buFont typeface="Monotype Sorts" pitchFamily="-84" charset="2"/>
                  <a:buNone/>
                  <a:defRPr/>
                </a:pPr>
                <a:r>
                  <a:rPr lang="en-US" altLang="en-US" sz="1200" kern="0" dirty="0"/>
                  <a:t>Time        1     2     3     4      5     6     7     8     9    10   11   12   13    14    15   16   17   18   19    20</a:t>
                </a:r>
              </a:p>
            </p:txBody>
          </p: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CE921E56-6ED9-3374-7DD0-40AABC2CE20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749826" y="4201886"/>
                <a:ext cx="6301240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5246687"/>
          </a:xfrm>
        </p:spPr>
        <p:txBody>
          <a:bodyPr/>
          <a:lstStyle/>
          <a:p>
            <a:r>
              <a:rPr lang="en-US" altLang="en-US" dirty="0"/>
              <a:t>Counter implementation</a:t>
            </a:r>
          </a:p>
          <a:p>
            <a:pPr lvl="1"/>
            <a:r>
              <a:rPr lang="en-US" altLang="en-US" dirty="0"/>
              <a:t>Every page entry has a counter; every time page is referenced through this entry, copy the clock into the counter</a:t>
            </a:r>
          </a:p>
          <a:p>
            <a:pPr lvl="1"/>
            <a:r>
              <a:rPr lang="en-US" altLang="en-US" dirty="0"/>
              <a:t>When a page needs to be changed, look at the counters to find smallest value</a:t>
            </a:r>
          </a:p>
          <a:p>
            <a:pPr lvl="2"/>
            <a:r>
              <a:rPr lang="en-US" altLang="en-US" dirty="0"/>
              <a:t>Search through table needed</a:t>
            </a:r>
          </a:p>
          <a:p>
            <a:r>
              <a:rPr lang="en-US" altLang="en-US" dirty="0"/>
              <a:t>Stack implementation</a:t>
            </a:r>
          </a:p>
          <a:p>
            <a:pPr lvl="1"/>
            <a:r>
              <a:rPr lang="en-US" altLang="en-US" dirty="0"/>
              <a:t>Keep a stack of page numbers in a double link form:</a:t>
            </a:r>
          </a:p>
          <a:p>
            <a:pPr lvl="1"/>
            <a:r>
              <a:rPr lang="en-US" altLang="en-US" dirty="0"/>
              <a:t>Page referenced:</a:t>
            </a:r>
          </a:p>
          <a:p>
            <a:pPr lvl="2"/>
            <a:r>
              <a:rPr lang="en-US" altLang="en-US" dirty="0"/>
              <a:t>move it to the top</a:t>
            </a:r>
          </a:p>
          <a:p>
            <a:pPr lvl="2"/>
            <a:r>
              <a:rPr lang="en-US" altLang="en-US" dirty="0"/>
              <a:t>requires 6 pointers to be changed</a:t>
            </a:r>
          </a:p>
          <a:p>
            <a:pPr lvl="1"/>
            <a:r>
              <a:rPr lang="en-US" altLang="en-US" dirty="0"/>
              <a:t>But each update more expensive</a:t>
            </a:r>
          </a:p>
          <a:p>
            <a:pPr lvl="1"/>
            <a:r>
              <a:rPr lang="en-US" altLang="en-US" dirty="0"/>
              <a:t>No search for replacement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2401-57E2-4A14-B834-943CD6AD5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00218A1E-F600-4BE7-9C24-6205C33F80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950913"/>
            <a:ext cx="7728177" cy="1106487"/>
          </a:xfrm>
        </p:spPr>
        <p:txBody>
          <a:bodyPr/>
          <a:lstStyle/>
          <a:p>
            <a:r>
              <a:rPr lang="en-US" altLang="en-US" dirty="0"/>
              <a:t>LRU and OPT are cases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dirty="0"/>
              <a:t>that don</a:t>
            </a:r>
            <a:r>
              <a:rPr lang="ja-JP" altLang="en-US" dirty="0"/>
              <a:t>’</a:t>
            </a:r>
            <a:r>
              <a:rPr lang="en-US" altLang="ja-JP" dirty="0"/>
              <a:t>t have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</a:p>
          <a:p>
            <a:r>
              <a:rPr lang="en-US" altLang="en-US" dirty="0"/>
              <a:t>Use Of A Stack to Record Most Recent Page References</a:t>
            </a:r>
            <a:endParaRPr lang="en-US" dirty="0"/>
          </a:p>
          <a:p>
            <a:endParaRPr lang="en-US" alt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E3A49A4-38C8-B46C-34A2-90F2AD530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78038" y="2260600"/>
            <a:ext cx="4702175" cy="3673475"/>
            <a:chOff x="1309" y="1424"/>
            <a:chExt cx="2962" cy="2314"/>
          </a:xfrm>
        </p:grpSpPr>
        <p:sp>
          <p:nvSpPr>
            <p:cNvPr id="3" name="AutoShape 3">
              <a:extLst>
                <a:ext uri="{FF2B5EF4-FFF2-40B4-BE49-F238E27FC236}">
                  <a16:creationId xmlns:a16="http://schemas.microsoft.com/office/drawing/2014/main" id="{45FD13C2-2E21-7EF5-37E0-A86160BDE88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309" y="1424"/>
              <a:ext cx="2962" cy="2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47D5DD7-260F-14D4-D48B-AA4DE24E3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" y="1860"/>
              <a:ext cx="0" cy="250"/>
            </a:xfrm>
            <a:custGeom>
              <a:avLst/>
              <a:gdLst>
                <a:gd name="T0" fmla="*/ 227 h 227"/>
                <a:gd name="T1" fmla="*/ 227 h 227"/>
                <a:gd name="T2" fmla="*/ 0 h 22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27">
                  <a:moveTo>
                    <a:pt x="0" y="227"/>
                  </a:moveTo>
                  <a:lnTo>
                    <a:pt x="0" y="227"/>
                  </a:lnTo>
                  <a:lnTo>
                    <a:pt x="0" y="0"/>
                  </a:lnTo>
                </a:path>
              </a:pathLst>
            </a:custGeom>
            <a:noFill/>
            <a:ln w="20638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7239AD-2290-0F1B-65DC-C87CE5302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860"/>
              <a:ext cx="0" cy="250"/>
            </a:xfrm>
            <a:custGeom>
              <a:avLst/>
              <a:gdLst>
                <a:gd name="T0" fmla="*/ 227 h 227"/>
                <a:gd name="T1" fmla="*/ 227 h 227"/>
                <a:gd name="T2" fmla="*/ 0 h 22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27">
                  <a:moveTo>
                    <a:pt x="0" y="227"/>
                  </a:moveTo>
                  <a:lnTo>
                    <a:pt x="0" y="227"/>
                  </a:lnTo>
                  <a:lnTo>
                    <a:pt x="0" y="0"/>
                  </a:lnTo>
                </a:path>
              </a:pathLst>
            </a:custGeom>
            <a:noFill/>
            <a:ln w="20638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D12985A-C177-7AAA-BF78-20D62FCA5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952"/>
              <a:ext cx="247" cy="1288"/>
            </a:xfrm>
            <a:custGeom>
              <a:avLst/>
              <a:gdLst>
                <a:gd name="T0" fmla="*/ 0 w 254"/>
                <a:gd name="T1" fmla="*/ 1170 h 1170"/>
                <a:gd name="T2" fmla="*/ 0 w 254"/>
                <a:gd name="T3" fmla="*/ 1170 h 1170"/>
                <a:gd name="T4" fmla="*/ 254 w 254"/>
                <a:gd name="T5" fmla="*/ 1170 h 1170"/>
                <a:gd name="T6" fmla="*/ 254 w 254"/>
                <a:gd name="T7" fmla="*/ 0 h 1170"/>
                <a:gd name="T8" fmla="*/ 0 w 254"/>
                <a:gd name="T9" fmla="*/ 0 h 1170"/>
                <a:gd name="T10" fmla="*/ 0 w 254"/>
                <a:gd name="T11" fmla="*/ 117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1170">
                  <a:moveTo>
                    <a:pt x="0" y="1170"/>
                  </a:moveTo>
                  <a:lnTo>
                    <a:pt x="0" y="1170"/>
                  </a:lnTo>
                  <a:lnTo>
                    <a:pt x="254" y="1170"/>
                  </a:lnTo>
                  <a:lnTo>
                    <a:pt x="254" y="0"/>
                  </a:lnTo>
                  <a:lnTo>
                    <a:pt x="0" y="0"/>
                  </a:lnTo>
                  <a:lnTo>
                    <a:pt x="0" y="1170"/>
                  </a:lnTo>
                  <a:close/>
                </a:path>
              </a:pathLst>
            </a:custGeom>
            <a:solidFill>
              <a:srgbClr val="C7EAFB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823BA93-8485-7200-A916-0269D1FD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952"/>
              <a:ext cx="247" cy="1288"/>
            </a:xfrm>
            <a:custGeom>
              <a:avLst/>
              <a:gdLst>
                <a:gd name="T0" fmla="*/ 254 w 254"/>
                <a:gd name="T1" fmla="*/ 0 h 1170"/>
                <a:gd name="T2" fmla="*/ 254 w 254"/>
                <a:gd name="T3" fmla="*/ 0 h 1170"/>
                <a:gd name="T4" fmla="*/ 254 w 254"/>
                <a:gd name="T5" fmla="*/ 1170 h 1170"/>
                <a:gd name="T6" fmla="*/ 0 w 254"/>
                <a:gd name="T7" fmla="*/ 1170 h 1170"/>
                <a:gd name="T8" fmla="*/ 0 w 254"/>
                <a:gd name="T9" fmla="*/ 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70">
                  <a:moveTo>
                    <a:pt x="254" y="0"/>
                  </a:moveTo>
                  <a:lnTo>
                    <a:pt x="254" y="0"/>
                  </a:lnTo>
                  <a:lnTo>
                    <a:pt x="254" y="1170"/>
                  </a:lnTo>
                  <a:lnTo>
                    <a:pt x="0" y="117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C8498169-253A-D991-56AD-949015FD8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209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432D999-2487-F77F-1007-FDB4E5149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467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EAA4E86-651D-E364-2545-FA2CD0D44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725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85D8C1-E094-4D15-7586-FDB2CE79A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982"/>
              <a:ext cx="247" cy="0"/>
            </a:xfrm>
            <a:custGeom>
              <a:avLst/>
              <a:gdLst>
                <a:gd name="T0" fmla="*/ 0 w 254"/>
                <a:gd name="T1" fmla="*/ 0 w 254"/>
                <a:gd name="T2" fmla="*/ 254 w 2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4">
                  <a:moveTo>
                    <a:pt x="0" y="0"/>
                  </a:moveTo>
                  <a:lnTo>
                    <a:pt x="0" y="0"/>
                  </a:lnTo>
                  <a:lnTo>
                    <a:pt x="254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69EF63F-653A-0CF1-9FA9-98464A9BA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" y="2035"/>
              <a:ext cx="56" cy="92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3 h 83"/>
                <a:gd name="T24" fmla="*/ 58 w 58"/>
                <a:gd name="T25" fmla="*/ 25 h 83"/>
                <a:gd name="T26" fmla="*/ 31 w 58"/>
                <a:gd name="T27" fmla="*/ 0 h 83"/>
                <a:gd name="T28" fmla="*/ 2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9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3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CBB67F5-01AC-4B14-ED1C-DCA7B1365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2293"/>
              <a:ext cx="30" cy="91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3 w 31"/>
                <a:gd name="T5" fmla="*/ 0 h 83"/>
                <a:gd name="T6" fmla="*/ 0 w 31"/>
                <a:gd name="T7" fmla="*/ 16 h 83"/>
                <a:gd name="T8" fmla="*/ 0 w 31"/>
                <a:gd name="T9" fmla="*/ 24 h 83"/>
                <a:gd name="T10" fmla="*/ 20 w 31"/>
                <a:gd name="T11" fmla="*/ 24 h 83"/>
                <a:gd name="T12" fmla="*/ 20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3" y="0"/>
                  </a:lnTo>
                  <a:cubicBezTo>
                    <a:pt x="19" y="13"/>
                    <a:pt x="14" y="15"/>
                    <a:pt x="0" y="16"/>
                  </a:cubicBezTo>
                  <a:lnTo>
                    <a:pt x="0" y="24"/>
                  </a:lnTo>
                  <a:lnTo>
                    <a:pt x="20" y="24"/>
                  </a:lnTo>
                  <a:lnTo>
                    <a:pt x="20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2EE3B91-4019-4D96-244E-78547D7217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0" y="2551"/>
              <a:ext cx="55" cy="94"/>
            </a:xfrm>
            <a:custGeom>
              <a:avLst/>
              <a:gdLst>
                <a:gd name="T0" fmla="*/ 46 w 57"/>
                <a:gd name="T1" fmla="*/ 43 h 86"/>
                <a:gd name="T2" fmla="*/ 46 w 57"/>
                <a:gd name="T3" fmla="*/ 43 h 86"/>
                <a:gd name="T4" fmla="*/ 28 w 57"/>
                <a:gd name="T5" fmla="*/ 76 h 86"/>
                <a:gd name="T6" fmla="*/ 11 w 57"/>
                <a:gd name="T7" fmla="*/ 43 h 86"/>
                <a:gd name="T8" fmla="*/ 28 w 57"/>
                <a:gd name="T9" fmla="*/ 9 h 86"/>
                <a:gd name="T10" fmla="*/ 46 w 57"/>
                <a:gd name="T11" fmla="*/ 43 h 86"/>
                <a:gd name="T12" fmla="*/ 57 w 57"/>
                <a:gd name="T13" fmla="*/ 43 h 86"/>
                <a:gd name="T14" fmla="*/ 57 w 57"/>
                <a:gd name="T15" fmla="*/ 43 h 86"/>
                <a:gd name="T16" fmla="*/ 28 w 57"/>
                <a:gd name="T17" fmla="*/ 0 h 86"/>
                <a:gd name="T18" fmla="*/ 0 w 57"/>
                <a:gd name="T19" fmla="*/ 43 h 86"/>
                <a:gd name="T20" fmla="*/ 28 w 57"/>
                <a:gd name="T21" fmla="*/ 86 h 86"/>
                <a:gd name="T22" fmla="*/ 57 w 57"/>
                <a:gd name="T2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6">
                  <a:moveTo>
                    <a:pt x="46" y="43"/>
                  </a:moveTo>
                  <a:lnTo>
                    <a:pt x="46" y="43"/>
                  </a:lnTo>
                  <a:cubicBezTo>
                    <a:pt x="46" y="64"/>
                    <a:pt x="40" y="76"/>
                    <a:pt x="28" y="76"/>
                  </a:cubicBezTo>
                  <a:cubicBezTo>
                    <a:pt x="16" y="76"/>
                    <a:pt x="11" y="64"/>
                    <a:pt x="11" y="43"/>
                  </a:cubicBezTo>
                  <a:cubicBezTo>
                    <a:pt x="11" y="22"/>
                    <a:pt x="16" y="9"/>
                    <a:pt x="28" y="9"/>
                  </a:cubicBezTo>
                  <a:cubicBezTo>
                    <a:pt x="40" y="9"/>
                    <a:pt x="46" y="22"/>
                    <a:pt x="46" y="43"/>
                  </a:cubicBezTo>
                  <a:close/>
                  <a:moveTo>
                    <a:pt x="57" y="43"/>
                  </a:moveTo>
                  <a:lnTo>
                    <a:pt x="57" y="43"/>
                  </a:lnTo>
                  <a:cubicBezTo>
                    <a:pt x="57" y="25"/>
                    <a:pt x="52" y="0"/>
                    <a:pt x="28" y="0"/>
                  </a:cubicBezTo>
                  <a:cubicBezTo>
                    <a:pt x="4" y="0"/>
                    <a:pt x="0" y="25"/>
                    <a:pt x="0" y="43"/>
                  </a:cubicBezTo>
                  <a:cubicBezTo>
                    <a:pt x="0" y="60"/>
                    <a:pt x="4" y="86"/>
                    <a:pt x="28" y="86"/>
                  </a:cubicBezTo>
                  <a:cubicBezTo>
                    <a:pt x="52" y="86"/>
                    <a:pt x="57" y="60"/>
                    <a:pt x="57" y="4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63D230D-0C43-B6F7-A95B-695A4B8B6D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8" y="3066"/>
              <a:ext cx="57" cy="93"/>
            </a:xfrm>
            <a:custGeom>
              <a:avLst/>
              <a:gdLst>
                <a:gd name="T0" fmla="*/ 59 w 59"/>
                <a:gd name="T1" fmla="*/ 63 h 84"/>
                <a:gd name="T2" fmla="*/ 59 w 59"/>
                <a:gd name="T3" fmla="*/ 63 h 84"/>
                <a:gd name="T4" fmla="*/ 59 w 59"/>
                <a:gd name="T5" fmla="*/ 54 h 84"/>
                <a:gd name="T6" fmla="*/ 47 w 59"/>
                <a:gd name="T7" fmla="*/ 54 h 84"/>
                <a:gd name="T8" fmla="*/ 47 w 59"/>
                <a:gd name="T9" fmla="*/ 0 h 84"/>
                <a:gd name="T10" fmla="*/ 39 w 59"/>
                <a:gd name="T11" fmla="*/ 0 h 84"/>
                <a:gd name="T12" fmla="*/ 0 w 59"/>
                <a:gd name="T13" fmla="*/ 53 h 84"/>
                <a:gd name="T14" fmla="*/ 0 w 59"/>
                <a:gd name="T15" fmla="*/ 63 h 84"/>
                <a:gd name="T16" fmla="*/ 37 w 59"/>
                <a:gd name="T17" fmla="*/ 63 h 84"/>
                <a:gd name="T18" fmla="*/ 37 w 59"/>
                <a:gd name="T19" fmla="*/ 84 h 84"/>
                <a:gd name="T20" fmla="*/ 47 w 59"/>
                <a:gd name="T21" fmla="*/ 84 h 84"/>
                <a:gd name="T22" fmla="*/ 47 w 59"/>
                <a:gd name="T23" fmla="*/ 63 h 84"/>
                <a:gd name="T24" fmla="*/ 59 w 59"/>
                <a:gd name="T25" fmla="*/ 63 h 84"/>
                <a:gd name="T26" fmla="*/ 37 w 59"/>
                <a:gd name="T27" fmla="*/ 16 h 84"/>
                <a:gd name="T28" fmla="*/ 37 w 59"/>
                <a:gd name="T29" fmla="*/ 16 h 84"/>
                <a:gd name="T30" fmla="*/ 37 w 59"/>
                <a:gd name="T31" fmla="*/ 16 h 84"/>
                <a:gd name="T32" fmla="*/ 37 w 59"/>
                <a:gd name="T33" fmla="*/ 54 h 84"/>
                <a:gd name="T34" fmla="*/ 10 w 59"/>
                <a:gd name="T35" fmla="*/ 54 h 84"/>
                <a:gd name="T36" fmla="*/ 37 w 59"/>
                <a:gd name="T37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4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9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7" y="63"/>
                  </a:lnTo>
                  <a:lnTo>
                    <a:pt x="37" y="84"/>
                  </a:lnTo>
                  <a:lnTo>
                    <a:pt x="47" y="84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7" y="16"/>
                  </a:moveTo>
                  <a:lnTo>
                    <a:pt x="37" y="16"/>
                  </a:lnTo>
                  <a:lnTo>
                    <a:pt x="37" y="16"/>
                  </a:lnTo>
                  <a:lnTo>
                    <a:pt x="37" y="54"/>
                  </a:lnTo>
                  <a:lnTo>
                    <a:pt x="10" y="54"/>
                  </a:lnTo>
                  <a:lnTo>
                    <a:pt x="37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A7842FF-BFCC-1AC2-66B2-9E3B6C676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" y="2811"/>
              <a:ext cx="55" cy="90"/>
            </a:xfrm>
            <a:custGeom>
              <a:avLst/>
              <a:gdLst>
                <a:gd name="T0" fmla="*/ 0 w 57"/>
                <a:gd name="T1" fmla="*/ 10 h 82"/>
                <a:gd name="T2" fmla="*/ 0 w 57"/>
                <a:gd name="T3" fmla="*/ 10 h 82"/>
                <a:gd name="T4" fmla="*/ 46 w 57"/>
                <a:gd name="T5" fmla="*/ 10 h 82"/>
                <a:gd name="T6" fmla="*/ 12 w 57"/>
                <a:gd name="T7" fmla="*/ 82 h 82"/>
                <a:gd name="T8" fmla="*/ 23 w 57"/>
                <a:gd name="T9" fmla="*/ 82 h 82"/>
                <a:gd name="T10" fmla="*/ 57 w 57"/>
                <a:gd name="T11" fmla="*/ 9 h 82"/>
                <a:gd name="T12" fmla="*/ 57 w 57"/>
                <a:gd name="T13" fmla="*/ 0 h 82"/>
                <a:gd name="T14" fmla="*/ 0 w 57"/>
                <a:gd name="T15" fmla="*/ 0 h 82"/>
                <a:gd name="T16" fmla="*/ 0 w 57"/>
                <a:gd name="T17" fmla="*/ 1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7" h="82">
                  <a:moveTo>
                    <a:pt x="0" y="10"/>
                  </a:moveTo>
                  <a:lnTo>
                    <a:pt x="0" y="10"/>
                  </a:lnTo>
                  <a:lnTo>
                    <a:pt x="46" y="10"/>
                  </a:lnTo>
                  <a:cubicBezTo>
                    <a:pt x="30" y="29"/>
                    <a:pt x="14" y="59"/>
                    <a:pt x="12" y="82"/>
                  </a:cubicBezTo>
                  <a:lnTo>
                    <a:pt x="23" y="82"/>
                  </a:lnTo>
                  <a:cubicBezTo>
                    <a:pt x="29" y="44"/>
                    <a:pt x="49" y="18"/>
                    <a:pt x="57" y="9"/>
                  </a:cubicBezTo>
                  <a:lnTo>
                    <a:pt x="57" y="0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C62A713-5660-04CA-C57B-8628CE080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3355"/>
              <a:ext cx="49" cy="72"/>
            </a:xfrm>
            <a:custGeom>
              <a:avLst/>
              <a:gdLst>
                <a:gd name="T0" fmla="*/ 49 w 51"/>
                <a:gd name="T1" fmla="*/ 19 h 66"/>
                <a:gd name="T2" fmla="*/ 49 w 51"/>
                <a:gd name="T3" fmla="*/ 19 h 66"/>
                <a:gd name="T4" fmla="*/ 26 w 51"/>
                <a:gd name="T5" fmla="*/ 0 h 66"/>
                <a:gd name="T6" fmla="*/ 2 w 51"/>
                <a:gd name="T7" fmla="*/ 20 h 66"/>
                <a:gd name="T8" fmla="*/ 16 w 51"/>
                <a:gd name="T9" fmla="*/ 35 h 66"/>
                <a:gd name="T10" fmla="*/ 29 w 51"/>
                <a:gd name="T11" fmla="*/ 38 h 66"/>
                <a:gd name="T12" fmla="*/ 41 w 51"/>
                <a:gd name="T13" fmla="*/ 47 h 66"/>
                <a:gd name="T14" fmla="*/ 27 w 51"/>
                <a:gd name="T15" fmla="*/ 57 h 66"/>
                <a:gd name="T16" fmla="*/ 10 w 51"/>
                <a:gd name="T17" fmla="*/ 44 h 66"/>
                <a:gd name="T18" fmla="*/ 0 w 51"/>
                <a:gd name="T19" fmla="*/ 44 h 66"/>
                <a:gd name="T20" fmla="*/ 27 w 51"/>
                <a:gd name="T21" fmla="*/ 66 h 66"/>
                <a:gd name="T22" fmla="*/ 51 w 51"/>
                <a:gd name="T23" fmla="*/ 45 h 66"/>
                <a:gd name="T24" fmla="*/ 34 w 51"/>
                <a:gd name="T25" fmla="*/ 29 h 66"/>
                <a:gd name="T26" fmla="*/ 23 w 51"/>
                <a:gd name="T27" fmla="*/ 26 h 66"/>
                <a:gd name="T28" fmla="*/ 12 w 51"/>
                <a:gd name="T29" fmla="*/ 18 h 66"/>
                <a:gd name="T30" fmla="*/ 25 w 51"/>
                <a:gd name="T31" fmla="*/ 9 h 66"/>
                <a:gd name="T32" fmla="*/ 39 w 51"/>
                <a:gd name="T33" fmla="*/ 19 h 66"/>
                <a:gd name="T34" fmla="*/ 49 w 51"/>
                <a:gd name="T35" fmla="*/ 1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66">
                  <a:moveTo>
                    <a:pt x="49" y="19"/>
                  </a:moveTo>
                  <a:lnTo>
                    <a:pt x="49" y="19"/>
                  </a:lnTo>
                  <a:cubicBezTo>
                    <a:pt x="49" y="16"/>
                    <a:pt x="48" y="0"/>
                    <a:pt x="26" y="0"/>
                  </a:cubicBezTo>
                  <a:cubicBezTo>
                    <a:pt x="13" y="0"/>
                    <a:pt x="2" y="6"/>
                    <a:pt x="2" y="20"/>
                  </a:cubicBezTo>
                  <a:cubicBezTo>
                    <a:pt x="2" y="28"/>
                    <a:pt x="8" y="33"/>
                    <a:pt x="16" y="35"/>
                  </a:cubicBezTo>
                  <a:lnTo>
                    <a:pt x="29" y="38"/>
                  </a:lnTo>
                  <a:cubicBezTo>
                    <a:pt x="38" y="40"/>
                    <a:pt x="41" y="42"/>
                    <a:pt x="41" y="47"/>
                  </a:cubicBezTo>
                  <a:cubicBezTo>
                    <a:pt x="41" y="54"/>
                    <a:pt x="34" y="57"/>
                    <a:pt x="27" y="57"/>
                  </a:cubicBezTo>
                  <a:cubicBezTo>
                    <a:pt x="12" y="57"/>
                    <a:pt x="10" y="49"/>
                    <a:pt x="10" y="44"/>
                  </a:cubicBezTo>
                  <a:lnTo>
                    <a:pt x="0" y="44"/>
                  </a:lnTo>
                  <a:cubicBezTo>
                    <a:pt x="0" y="51"/>
                    <a:pt x="2" y="66"/>
                    <a:pt x="27" y="66"/>
                  </a:cubicBezTo>
                  <a:cubicBezTo>
                    <a:pt x="41" y="66"/>
                    <a:pt x="51" y="58"/>
                    <a:pt x="51" y="45"/>
                  </a:cubicBezTo>
                  <a:cubicBezTo>
                    <a:pt x="51" y="37"/>
                    <a:pt x="47" y="32"/>
                    <a:pt x="34" y="29"/>
                  </a:cubicBezTo>
                  <a:lnTo>
                    <a:pt x="23" y="26"/>
                  </a:lnTo>
                  <a:cubicBezTo>
                    <a:pt x="15" y="24"/>
                    <a:pt x="12" y="23"/>
                    <a:pt x="12" y="18"/>
                  </a:cubicBezTo>
                  <a:cubicBezTo>
                    <a:pt x="12" y="10"/>
                    <a:pt x="21" y="9"/>
                    <a:pt x="25" y="9"/>
                  </a:cubicBezTo>
                  <a:cubicBezTo>
                    <a:pt x="38" y="9"/>
                    <a:pt x="39" y="15"/>
                    <a:pt x="39" y="19"/>
                  </a:cubicBezTo>
                  <a:lnTo>
                    <a:pt x="49" y="19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74D6881-8C5F-8D22-41B5-CA5B66B3C5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" y="3337"/>
              <a:ext cx="28" cy="89"/>
            </a:xfrm>
            <a:custGeom>
              <a:avLst/>
              <a:gdLst>
                <a:gd name="T0" fmla="*/ 29 w 29"/>
                <a:gd name="T1" fmla="*/ 26 h 81"/>
                <a:gd name="T2" fmla="*/ 29 w 29"/>
                <a:gd name="T3" fmla="*/ 26 h 81"/>
                <a:gd name="T4" fmla="*/ 29 w 29"/>
                <a:gd name="T5" fmla="*/ 18 h 81"/>
                <a:gd name="T6" fmla="*/ 19 w 29"/>
                <a:gd name="T7" fmla="*/ 18 h 81"/>
                <a:gd name="T8" fmla="*/ 19 w 29"/>
                <a:gd name="T9" fmla="*/ 0 h 81"/>
                <a:gd name="T10" fmla="*/ 8 w 29"/>
                <a:gd name="T11" fmla="*/ 0 h 81"/>
                <a:gd name="T12" fmla="*/ 8 w 29"/>
                <a:gd name="T13" fmla="*/ 18 h 81"/>
                <a:gd name="T14" fmla="*/ 0 w 29"/>
                <a:gd name="T15" fmla="*/ 18 h 81"/>
                <a:gd name="T16" fmla="*/ 0 w 29"/>
                <a:gd name="T17" fmla="*/ 26 h 81"/>
                <a:gd name="T18" fmla="*/ 8 w 29"/>
                <a:gd name="T19" fmla="*/ 26 h 81"/>
                <a:gd name="T20" fmla="*/ 8 w 29"/>
                <a:gd name="T21" fmla="*/ 67 h 81"/>
                <a:gd name="T22" fmla="*/ 21 w 29"/>
                <a:gd name="T23" fmla="*/ 81 h 81"/>
                <a:gd name="T24" fmla="*/ 29 w 29"/>
                <a:gd name="T25" fmla="*/ 80 h 81"/>
                <a:gd name="T26" fmla="*/ 29 w 29"/>
                <a:gd name="T27" fmla="*/ 72 h 81"/>
                <a:gd name="T28" fmla="*/ 25 w 29"/>
                <a:gd name="T29" fmla="*/ 72 h 81"/>
                <a:gd name="T30" fmla="*/ 19 w 29"/>
                <a:gd name="T31" fmla="*/ 67 h 81"/>
                <a:gd name="T32" fmla="*/ 19 w 29"/>
                <a:gd name="T33" fmla="*/ 26 h 81"/>
                <a:gd name="T34" fmla="*/ 29 w 29"/>
                <a:gd name="T35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1">
                  <a:moveTo>
                    <a:pt x="29" y="26"/>
                  </a:moveTo>
                  <a:lnTo>
                    <a:pt x="29" y="26"/>
                  </a:lnTo>
                  <a:lnTo>
                    <a:pt x="29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8" y="0"/>
                  </a:lnTo>
                  <a:lnTo>
                    <a:pt x="8" y="18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8" y="26"/>
                  </a:lnTo>
                  <a:lnTo>
                    <a:pt x="8" y="67"/>
                  </a:lnTo>
                  <a:cubicBezTo>
                    <a:pt x="8" y="75"/>
                    <a:pt x="11" y="81"/>
                    <a:pt x="21" y="81"/>
                  </a:cubicBezTo>
                  <a:cubicBezTo>
                    <a:pt x="22" y="81"/>
                    <a:pt x="25" y="80"/>
                    <a:pt x="29" y="80"/>
                  </a:cubicBezTo>
                  <a:lnTo>
                    <a:pt x="29" y="72"/>
                  </a:lnTo>
                  <a:lnTo>
                    <a:pt x="25" y="72"/>
                  </a:lnTo>
                  <a:cubicBezTo>
                    <a:pt x="23" y="72"/>
                    <a:pt x="19" y="72"/>
                    <a:pt x="19" y="67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2E16406-6767-C5D6-8BF0-64644EB1C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17" y="3355"/>
              <a:ext cx="58" cy="72"/>
            </a:xfrm>
            <a:custGeom>
              <a:avLst/>
              <a:gdLst>
                <a:gd name="T0" fmla="*/ 13 w 59"/>
                <a:gd name="T1" fmla="*/ 21 h 66"/>
                <a:gd name="T2" fmla="*/ 13 w 59"/>
                <a:gd name="T3" fmla="*/ 21 h 66"/>
                <a:gd name="T4" fmla="*/ 27 w 59"/>
                <a:gd name="T5" fmla="*/ 8 h 66"/>
                <a:gd name="T6" fmla="*/ 42 w 59"/>
                <a:gd name="T7" fmla="*/ 19 h 66"/>
                <a:gd name="T8" fmla="*/ 36 w 59"/>
                <a:gd name="T9" fmla="*/ 26 h 66"/>
                <a:gd name="T10" fmla="*/ 19 w 59"/>
                <a:gd name="T11" fmla="*/ 28 h 66"/>
                <a:gd name="T12" fmla="*/ 0 w 59"/>
                <a:gd name="T13" fmla="*/ 48 h 66"/>
                <a:gd name="T14" fmla="*/ 19 w 59"/>
                <a:gd name="T15" fmla="*/ 66 h 66"/>
                <a:gd name="T16" fmla="*/ 42 w 59"/>
                <a:gd name="T17" fmla="*/ 55 h 66"/>
                <a:gd name="T18" fmla="*/ 53 w 59"/>
                <a:gd name="T19" fmla="*/ 65 h 66"/>
                <a:gd name="T20" fmla="*/ 59 w 59"/>
                <a:gd name="T21" fmla="*/ 64 h 66"/>
                <a:gd name="T22" fmla="*/ 59 w 59"/>
                <a:gd name="T23" fmla="*/ 56 h 66"/>
                <a:gd name="T24" fmla="*/ 55 w 59"/>
                <a:gd name="T25" fmla="*/ 57 h 66"/>
                <a:gd name="T26" fmla="*/ 52 w 59"/>
                <a:gd name="T27" fmla="*/ 53 h 66"/>
                <a:gd name="T28" fmla="*/ 52 w 59"/>
                <a:gd name="T29" fmla="*/ 17 h 66"/>
                <a:gd name="T30" fmla="*/ 29 w 59"/>
                <a:gd name="T31" fmla="*/ 0 h 66"/>
                <a:gd name="T32" fmla="*/ 3 w 59"/>
                <a:gd name="T33" fmla="*/ 21 h 66"/>
                <a:gd name="T34" fmla="*/ 13 w 59"/>
                <a:gd name="T35" fmla="*/ 21 h 66"/>
                <a:gd name="T36" fmla="*/ 41 w 59"/>
                <a:gd name="T37" fmla="*/ 42 h 66"/>
                <a:gd name="T38" fmla="*/ 41 w 59"/>
                <a:gd name="T39" fmla="*/ 42 h 66"/>
                <a:gd name="T40" fmla="*/ 22 w 59"/>
                <a:gd name="T41" fmla="*/ 57 h 66"/>
                <a:gd name="T42" fmla="*/ 11 w 59"/>
                <a:gd name="T43" fmla="*/ 46 h 66"/>
                <a:gd name="T44" fmla="*/ 24 w 59"/>
                <a:gd name="T45" fmla="*/ 36 h 66"/>
                <a:gd name="T46" fmla="*/ 41 w 59"/>
                <a:gd name="T47" fmla="*/ 32 h 66"/>
                <a:gd name="T48" fmla="*/ 41 w 59"/>
                <a:gd name="T49" fmla="*/ 4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6">
                  <a:moveTo>
                    <a:pt x="13" y="21"/>
                  </a:moveTo>
                  <a:lnTo>
                    <a:pt x="13" y="21"/>
                  </a:lnTo>
                  <a:cubicBezTo>
                    <a:pt x="13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9"/>
                  </a:cubicBezTo>
                  <a:cubicBezTo>
                    <a:pt x="42" y="25"/>
                    <a:pt x="39" y="26"/>
                    <a:pt x="36" y="26"/>
                  </a:cubicBezTo>
                  <a:lnTo>
                    <a:pt x="19" y="28"/>
                  </a:lnTo>
                  <a:cubicBezTo>
                    <a:pt x="1" y="30"/>
                    <a:pt x="0" y="42"/>
                    <a:pt x="0" y="48"/>
                  </a:cubicBezTo>
                  <a:cubicBezTo>
                    <a:pt x="0" y="58"/>
                    <a:pt x="8" y="66"/>
                    <a:pt x="19" y="66"/>
                  </a:cubicBezTo>
                  <a:cubicBezTo>
                    <a:pt x="32" y="66"/>
                    <a:pt x="38" y="60"/>
                    <a:pt x="42" y="55"/>
                  </a:cubicBezTo>
                  <a:cubicBezTo>
                    <a:pt x="42" y="60"/>
                    <a:pt x="44" y="65"/>
                    <a:pt x="53" y="65"/>
                  </a:cubicBezTo>
                  <a:cubicBezTo>
                    <a:pt x="55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7" y="56"/>
                    <a:pt x="56" y="57"/>
                    <a:pt x="55" y="57"/>
                  </a:cubicBezTo>
                  <a:cubicBezTo>
                    <a:pt x="53" y="57"/>
                    <a:pt x="52" y="56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3" y="0"/>
                    <a:pt x="3" y="6"/>
                    <a:pt x="3" y="21"/>
                  </a:cubicBezTo>
                  <a:lnTo>
                    <a:pt x="13" y="21"/>
                  </a:lnTo>
                  <a:close/>
                  <a:moveTo>
                    <a:pt x="41" y="42"/>
                  </a:moveTo>
                  <a:lnTo>
                    <a:pt x="41" y="42"/>
                  </a:lnTo>
                  <a:cubicBezTo>
                    <a:pt x="41" y="51"/>
                    <a:pt x="32" y="57"/>
                    <a:pt x="22" y="57"/>
                  </a:cubicBezTo>
                  <a:cubicBezTo>
                    <a:pt x="14" y="57"/>
                    <a:pt x="11" y="53"/>
                    <a:pt x="11" y="46"/>
                  </a:cubicBezTo>
                  <a:cubicBezTo>
                    <a:pt x="11" y="38"/>
                    <a:pt x="19" y="37"/>
                    <a:pt x="24" y="36"/>
                  </a:cubicBezTo>
                  <a:cubicBezTo>
                    <a:pt x="37" y="34"/>
                    <a:pt x="40" y="33"/>
                    <a:pt x="41" y="32"/>
                  </a:cubicBezTo>
                  <a:lnTo>
                    <a:pt x="41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D654822-ABBB-608A-EA20-F7BA0496C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3355"/>
              <a:ext cx="51" cy="72"/>
            </a:xfrm>
            <a:custGeom>
              <a:avLst/>
              <a:gdLst>
                <a:gd name="T0" fmla="*/ 53 w 53"/>
                <a:gd name="T1" fmla="*/ 23 h 66"/>
                <a:gd name="T2" fmla="*/ 53 w 53"/>
                <a:gd name="T3" fmla="*/ 23 h 66"/>
                <a:gd name="T4" fmla="*/ 30 w 53"/>
                <a:gd name="T5" fmla="*/ 0 h 66"/>
                <a:gd name="T6" fmla="*/ 0 w 53"/>
                <a:gd name="T7" fmla="*/ 34 h 66"/>
                <a:gd name="T8" fmla="*/ 28 w 53"/>
                <a:gd name="T9" fmla="*/ 66 h 66"/>
                <a:gd name="T10" fmla="*/ 53 w 53"/>
                <a:gd name="T11" fmla="*/ 42 h 66"/>
                <a:gd name="T12" fmla="*/ 43 w 53"/>
                <a:gd name="T13" fmla="*/ 42 h 66"/>
                <a:gd name="T14" fmla="*/ 28 w 53"/>
                <a:gd name="T15" fmla="*/ 57 h 66"/>
                <a:gd name="T16" fmla="*/ 11 w 53"/>
                <a:gd name="T17" fmla="*/ 33 h 66"/>
                <a:gd name="T18" fmla="*/ 28 w 53"/>
                <a:gd name="T19" fmla="*/ 9 h 66"/>
                <a:gd name="T20" fmla="*/ 43 w 53"/>
                <a:gd name="T21" fmla="*/ 23 h 66"/>
                <a:gd name="T22" fmla="*/ 53 w 53"/>
                <a:gd name="T23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66">
                  <a:moveTo>
                    <a:pt x="53" y="23"/>
                  </a:moveTo>
                  <a:lnTo>
                    <a:pt x="53" y="23"/>
                  </a:lnTo>
                  <a:cubicBezTo>
                    <a:pt x="52" y="12"/>
                    <a:pt x="46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46" y="66"/>
                    <a:pt x="52" y="52"/>
                    <a:pt x="53" y="42"/>
                  </a:cubicBezTo>
                  <a:lnTo>
                    <a:pt x="43" y="42"/>
                  </a:lnTo>
                  <a:cubicBezTo>
                    <a:pt x="41" y="51"/>
                    <a:pt x="35" y="57"/>
                    <a:pt x="28" y="57"/>
                  </a:cubicBezTo>
                  <a:cubicBezTo>
                    <a:pt x="14" y="57"/>
                    <a:pt x="11" y="43"/>
                    <a:pt x="11" y="33"/>
                  </a:cubicBezTo>
                  <a:cubicBezTo>
                    <a:pt x="11" y="22"/>
                    <a:pt x="15" y="9"/>
                    <a:pt x="28" y="9"/>
                  </a:cubicBezTo>
                  <a:cubicBezTo>
                    <a:pt x="37" y="9"/>
                    <a:pt x="42" y="14"/>
                    <a:pt x="43" y="23"/>
                  </a:cubicBezTo>
                  <a:lnTo>
                    <a:pt x="53" y="2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BB2AD838-F62A-573A-59B5-801C18B75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3330"/>
              <a:ext cx="51" cy="95"/>
            </a:xfrm>
            <a:custGeom>
              <a:avLst/>
              <a:gdLst>
                <a:gd name="T0" fmla="*/ 26 w 52"/>
                <a:gd name="T1" fmla="*/ 47 h 86"/>
                <a:gd name="T2" fmla="*/ 26 w 52"/>
                <a:gd name="T3" fmla="*/ 47 h 86"/>
                <a:gd name="T4" fmla="*/ 50 w 52"/>
                <a:gd name="T5" fmla="*/ 24 h 86"/>
                <a:gd name="T6" fmla="*/ 37 w 52"/>
                <a:gd name="T7" fmla="*/ 24 h 86"/>
                <a:gd name="T8" fmla="*/ 10 w 52"/>
                <a:gd name="T9" fmla="*/ 50 h 86"/>
                <a:gd name="T10" fmla="*/ 10 w 52"/>
                <a:gd name="T11" fmla="*/ 0 h 86"/>
                <a:gd name="T12" fmla="*/ 0 w 52"/>
                <a:gd name="T13" fmla="*/ 0 h 86"/>
                <a:gd name="T14" fmla="*/ 0 w 52"/>
                <a:gd name="T15" fmla="*/ 86 h 86"/>
                <a:gd name="T16" fmla="*/ 10 w 52"/>
                <a:gd name="T17" fmla="*/ 86 h 86"/>
                <a:gd name="T18" fmla="*/ 10 w 52"/>
                <a:gd name="T19" fmla="*/ 62 h 86"/>
                <a:gd name="T20" fmla="*/ 19 w 52"/>
                <a:gd name="T21" fmla="*/ 54 h 86"/>
                <a:gd name="T22" fmla="*/ 38 w 52"/>
                <a:gd name="T23" fmla="*/ 86 h 86"/>
                <a:gd name="T24" fmla="*/ 52 w 52"/>
                <a:gd name="T25" fmla="*/ 86 h 86"/>
                <a:gd name="T26" fmla="*/ 26 w 52"/>
                <a:gd name="T27" fmla="*/ 4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86">
                  <a:moveTo>
                    <a:pt x="26" y="47"/>
                  </a:moveTo>
                  <a:lnTo>
                    <a:pt x="26" y="47"/>
                  </a:lnTo>
                  <a:lnTo>
                    <a:pt x="50" y="24"/>
                  </a:lnTo>
                  <a:lnTo>
                    <a:pt x="37" y="24"/>
                  </a:lnTo>
                  <a:lnTo>
                    <a:pt x="10" y="5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lnTo>
                    <a:pt x="10" y="62"/>
                  </a:lnTo>
                  <a:lnTo>
                    <a:pt x="19" y="54"/>
                  </a:lnTo>
                  <a:lnTo>
                    <a:pt x="38" y="86"/>
                  </a:lnTo>
                  <a:lnTo>
                    <a:pt x="52" y="86"/>
                  </a:lnTo>
                  <a:lnTo>
                    <a:pt x="26" y="47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AAF8B96-1AC9-8C29-1461-2F35FD396C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0" y="3478"/>
              <a:ext cx="53" cy="96"/>
            </a:xfrm>
            <a:custGeom>
              <a:avLst/>
              <a:gdLst>
                <a:gd name="T0" fmla="*/ 10 w 54"/>
                <a:gd name="T1" fmla="*/ 85 h 87"/>
                <a:gd name="T2" fmla="*/ 10 w 54"/>
                <a:gd name="T3" fmla="*/ 85 h 87"/>
                <a:gd name="T4" fmla="*/ 10 w 54"/>
                <a:gd name="T5" fmla="*/ 77 h 87"/>
                <a:gd name="T6" fmla="*/ 10 w 54"/>
                <a:gd name="T7" fmla="*/ 77 h 87"/>
                <a:gd name="T8" fmla="*/ 27 w 54"/>
                <a:gd name="T9" fmla="*/ 87 h 87"/>
                <a:gd name="T10" fmla="*/ 54 w 54"/>
                <a:gd name="T11" fmla="*/ 52 h 87"/>
                <a:gd name="T12" fmla="*/ 28 w 54"/>
                <a:gd name="T13" fmla="*/ 21 h 87"/>
                <a:gd name="T14" fmla="*/ 10 w 54"/>
                <a:gd name="T15" fmla="*/ 31 h 87"/>
                <a:gd name="T16" fmla="*/ 10 w 54"/>
                <a:gd name="T17" fmla="*/ 31 h 87"/>
                <a:gd name="T18" fmla="*/ 10 w 54"/>
                <a:gd name="T19" fmla="*/ 0 h 87"/>
                <a:gd name="T20" fmla="*/ 0 w 54"/>
                <a:gd name="T21" fmla="*/ 0 h 87"/>
                <a:gd name="T22" fmla="*/ 0 w 54"/>
                <a:gd name="T23" fmla="*/ 85 h 87"/>
                <a:gd name="T24" fmla="*/ 10 w 54"/>
                <a:gd name="T25" fmla="*/ 85 h 87"/>
                <a:gd name="T26" fmla="*/ 43 w 54"/>
                <a:gd name="T27" fmla="*/ 54 h 87"/>
                <a:gd name="T28" fmla="*/ 43 w 54"/>
                <a:gd name="T29" fmla="*/ 54 h 87"/>
                <a:gd name="T30" fmla="*/ 27 w 54"/>
                <a:gd name="T31" fmla="*/ 78 h 87"/>
                <a:gd name="T32" fmla="*/ 10 w 54"/>
                <a:gd name="T33" fmla="*/ 57 h 87"/>
                <a:gd name="T34" fmla="*/ 26 w 54"/>
                <a:gd name="T35" fmla="*/ 31 h 87"/>
                <a:gd name="T36" fmla="*/ 43 w 54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87">
                  <a:moveTo>
                    <a:pt x="10" y="85"/>
                  </a:moveTo>
                  <a:lnTo>
                    <a:pt x="10" y="85"/>
                  </a:lnTo>
                  <a:lnTo>
                    <a:pt x="10" y="77"/>
                  </a:lnTo>
                  <a:lnTo>
                    <a:pt x="10" y="77"/>
                  </a:lnTo>
                  <a:cubicBezTo>
                    <a:pt x="12" y="81"/>
                    <a:pt x="16" y="87"/>
                    <a:pt x="27" y="87"/>
                  </a:cubicBezTo>
                  <a:cubicBezTo>
                    <a:pt x="48" y="87"/>
                    <a:pt x="54" y="67"/>
                    <a:pt x="54" y="52"/>
                  </a:cubicBezTo>
                  <a:cubicBezTo>
                    <a:pt x="54" y="35"/>
                    <a:pt x="45" y="21"/>
                    <a:pt x="28" y="21"/>
                  </a:cubicBezTo>
                  <a:cubicBezTo>
                    <a:pt x="21" y="21"/>
                    <a:pt x="15" y="24"/>
                    <a:pt x="10" y="31"/>
                  </a:cubicBezTo>
                  <a:lnTo>
                    <a:pt x="10" y="31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5"/>
                  </a:lnTo>
                  <a:lnTo>
                    <a:pt x="10" y="85"/>
                  </a:lnTo>
                  <a:close/>
                  <a:moveTo>
                    <a:pt x="43" y="54"/>
                  </a:moveTo>
                  <a:lnTo>
                    <a:pt x="43" y="54"/>
                  </a:lnTo>
                  <a:cubicBezTo>
                    <a:pt x="43" y="68"/>
                    <a:pt x="38" y="78"/>
                    <a:pt x="27" y="78"/>
                  </a:cubicBezTo>
                  <a:cubicBezTo>
                    <a:pt x="20" y="78"/>
                    <a:pt x="10" y="73"/>
                    <a:pt x="10" y="57"/>
                  </a:cubicBezTo>
                  <a:cubicBezTo>
                    <a:pt x="10" y="47"/>
                    <a:pt x="11" y="31"/>
                    <a:pt x="26" y="31"/>
                  </a:cubicBezTo>
                  <a:cubicBezTo>
                    <a:pt x="43" y="31"/>
                    <a:pt x="43" y="46"/>
                    <a:pt x="43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33A5C8AF-9087-66B6-722B-686E4C4006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63" y="3501"/>
              <a:ext cx="55" cy="73"/>
            </a:xfrm>
            <a:custGeom>
              <a:avLst/>
              <a:gdLst>
                <a:gd name="T0" fmla="*/ 46 w 57"/>
                <a:gd name="T1" fmla="*/ 45 h 66"/>
                <a:gd name="T2" fmla="*/ 46 w 57"/>
                <a:gd name="T3" fmla="*/ 45 h 66"/>
                <a:gd name="T4" fmla="*/ 29 w 57"/>
                <a:gd name="T5" fmla="*/ 57 h 66"/>
                <a:gd name="T6" fmla="*/ 11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5 h 66"/>
                <a:gd name="T14" fmla="*/ 28 w 57"/>
                <a:gd name="T15" fmla="*/ 66 h 66"/>
                <a:gd name="T16" fmla="*/ 45 w 57"/>
                <a:gd name="T17" fmla="*/ 62 h 66"/>
                <a:gd name="T18" fmla="*/ 56 w 57"/>
                <a:gd name="T19" fmla="*/ 45 h 66"/>
                <a:gd name="T20" fmla="*/ 46 w 57"/>
                <a:gd name="T21" fmla="*/ 45 h 66"/>
                <a:gd name="T22" fmla="*/ 11 w 57"/>
                <a:gd name="T23" fmla="*/ 28 h 66"/>
                <a:gd name="T24" fmla="*/ 11 w 57"/>
                <a:gd name="T25" fmla="*/ 28 h 66"/>
                <a:gd name="T26" fmla="*/ 29 w 57"/>
                <a:gd name="T27" fmla="*/ 10 h 66"/>
                <a:gd name="T28" fmla="*/ 46 w 57"/>
                <a:gd name="T29" fmla="*/ 28 h 66"/>
                <a:gd name="T30" fmla="*/ 11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5"/>
                  </a:moveTo>
                  <a:lnTo>
                    <a:pt x="46" y="45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5"/>
                  </a:cubicBezTo>
                  <a:cubicBezTo>
                    <a:pt x="0" y="53"/>
                    <a:pt x="11" y="66"/>
                    <a:pt x="28" y="66"/>
                  </a:cubicBezTo>
                  <a:cubicBezTo>
                    <a:pt x="38" y="66"/>
                    <a:pt x="42" y="64"/>
                    <a:pt x="45" y="62"/>
                  </a:cubicBezTo>
                  <a:cubicBezTo>
                    <a:pt x="53" y="56"/>
                    <a:pt x="56" y="48"/>
                    <a:pt x="56" y="45"/>
                  </a:cubicBezTo>
                  <a:lnTo>
                    <a:pt x="46" y="45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10"/>
                    <a:pt x="29" y="10"/>
                  </a:cubicBezTo>
                  <a:cubicBezTo>
                    <a:pt x="41" y="10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DAA9D663-DC19-F671-47A3-99CD0F206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3477"/>
              <a:ext cx="28" cy="95"/>
            </a:xfrm>
            <a:custGeom>
              <a:avLst/>
              <a:gdLst>
                <a:gd name="T0" fmla="*/ 29 w 29"/>
                <a:gd name="T1" fmla="*/ 33 h 86"/>
                <a:gd name="T2" fmla="*/ 29 w 29"/>
                <a:gd name="T3" fmla="*/ 33 h 86"/>
                <a:gd name="T4" fmla="*/ 29 w 29"/>
                <a:gd name="T5" fmla="*/ 24 h 86"/>
                <a:gd name="T6" fmla="*/ 19 w 29"/>
                <a:gd name="T7" fmla="*/ 24 h 86"/>
                <a:gd name="T8" fmla="*/ 19 w 29"/>
                <a:gd name="T9" fmla="*/ 16 h 86"/>
                <a:gd name="T10" fmla="*/ 25 w 29"/>
                <a:gd name="T11" fmla="*/ 9 h 86"/>
                <a:gd name="T12" fmla="*/ 29 w 29"/>
                <a:gd name="T13" fmla="*/ 9 h 86"/>
                <a:gd name="T14" fmla="*/ 29 w 29"/>
                <a:gd name="T15" fmla="*/ 0 h 86"/>
                <a:gd name="T16" fmla="*/ 25 w 29"/>
                <a:gd name="T17" fmla="*/ 0 h 86"/>
                <a:gd name="T18" fmla="*/ 8 w 29"/>
                <a:gd name="T19" fmla="*/ 13 h 86"/>
                <a:gd name="T20" fmla="*/ 8 w 29"/>
                <a:gd name="T21" fmla="*/ 24 h 86"/>
                <a:gd name="T22" fmla="*/ 0 w 29"/>
                <a:gd name="T23" fmla="*/ 24 h 86"/>
                <a:gd name="T24" fmla="*/ 0 w 29"/>
                <a:gd name="T25" fmla="*/ 33 h 86"/>
                <a:gd name="T26" fmla="*/ 8 w 29"/>
                <a:gd name="T27" fmla="*/ 33 h 86"/>
                <a:gd name="T28" fmla="*/ 8 w 29"/>
                <a:gd name="T29" fmla="*/ 86 h 86"/>
                <a:gd name="T30" fmla="*/ 19 w 29"/>
                <a:gd name="T31" fmla="*/ 86 h 86"/>
                <a:gd name="T32" fmla="*/ 19 w 29"/>
                <a:gd name="T33" fmla="*/ 33 h 86"/>
                <a:gd name="T34" fmla="*/ 29 w 29"/>
                <a:gd name="T35" fmla="*/ 3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6">
                  <a:moveTo>
                    <a:pt x="29" y="33"/>
                  </a:moveTo>
                  <a:lnTo>
                    <a:pt x="29" y="33"/>
                  </a:lnTo>
                  <a:lnTo>
                    <a:pt x="29" y="24"/>
                  </a:lnTo>
                  <a:lnTo>
                    <a:pt x="19" y="24"/>
                  </a:lnTo>
                  <a:lnTo>
                    <a:pt x="19" y="16"/>
                  </a:lnTo>
                  <a:cubicBezTo>
                    <a:pt x="19" y="11"/>
                    <a:pt x="21" y="9"/>
                    <a:pt x="25" y="9"/>
                  </a:cubicBezTo>
                  <a:cubicBezTo>
                    <a:pt x="26" y="9"/>
                    <a:pt x="28" y="9"/>
                    <a:pt x="29" y="9"/>
                  </a:cubicBezTo>
                  <a:lnTo>
                    <a:pt x="29" y="0"/>
                  </a:lnTo>
                  <a:cubicBezTo>
                    <a:pt x="28" y="0"/>
                    <a:pt x="26" y="0"/>
                    <a:pt x="25" y="0"/>
                  </a:cubicBezTo>
                  <a:cubicBezTo>
                    <a:pt x="14" y="0"/>
                    <a:pt x="8" y="4"/>
                    <a:pt x="8" y="13"/>
                  </a:cubicBezTo>
                  <a:lnTo>
                    <a:pt x="8" y="24"/>
                  </a:lnTo>
                  <a:lnTo>
                    <a:pt x="0" y="24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8" y="86"/>
                  </a:lnTo>
                  <a:lnTo>
                    <a:pt x="19" y="86"/>
                  </a:lnTo>
                  <a:lnTo>
                    <a:pt x="19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F1C195-30CF-4260-1B5B-CA60312AFF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6" y="3501"/>
              <a:ext cx="57" cy="73"/>
            </a:xfrm>
            <a:custGeom>
              <a:avLst/>
              <a:gdLst>
                <a:gd name="T0" fmla="*/ 0 w 58"/>
                <a:gd name="T1" fmla="*/ 33 h 66"/>
                <a:gd name="T2" fmla="*/ 0 w 58"/>
                <a:gd name="T3" fmla="*/ 33 h 66"/>
                <a:gd name="T4" fmla="*/ 29 w 58"/>
                <a:gd name="T5" fmla="*/ 66 h 66"/>
                <a:gd name="T6" fmla="*/ 58 w 58"/>
                <a:gd name="T7" fmla="*/ 33 h 66"/>
                <a:gd name="T8" fmla="*/ 29 w 58"/>
                <a:gd name="T9" fmla="*/ 0 h 66"/>
                <a:gd name="T10" fmla="*/ 0 w 58"/>
                <a:gd name="T11" fmla="*/ 33 h 66"/>
                <a:gd name="T12" fmla="*/ 11 w 58"/>
                <a:gd name="T13" fmla="*/ 33 h 66"/>
                <a:gd name="T14" fmla="*/ 11 w 58"/>
                <a:gd name="T15" fmla="*/ 33 h 66"/>
                <a:gd name="T16" fmla="*/ 29 w 58"/>
                <a:gd name="T17" fmla="*/ 9 h 66"/>
                <a:gd name="T18" fmla="*/ 47 w 58"/>
                <a:gd name="T19" fmla="*/ 33 h 66"/>
                <a:gd name="T20" fmla="*/ 29 w 58"/>
                <a:gd name="T21" fmla="*/ 57 h 66"/>
                <a:gd name="T22" fmla="*/ 11 w 58"/>
                <a:gd name="T23" fmla="*/ 3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66">
                  <a:moveTo>
                    <a:pt x="0" y="33"/>
                  </a:moveTo>
                  <a:lnTo>
                    <a:pt x="0" y="33"/>
                  </a:lnTo>
                  <a:cubicBezTo>
                    <a:pt x="0" y="49"/>
                    <a:pt x="9" y="66"/>
                    <a:pt x="29" y="66"/>
                  </a:cubicBezTo>
                  <a:cubicBezTo>
                    <a:pt x="49" y="66"/>
                    <a:pt x="58" y="49"/>
                    <a:pt x="58" y="33"/>
                  </a:cubicBezTo>
                  <a:cubicBezTo>
                    <a:pt x="58" y="17"/>
                    <a:pt x="49" y="0"/>
                    <a:pt x="29" y="0"/>
                  </a:cubicBezTo>
                  <a:cubicBezTo>
                    <a:pt x="9" y="0"/>
                    <a:pt x="0" y="17"/>
                    <a:pt x="0" y="33"/>
                  </a:cubicBezTo>
                  <a:close/>
                  <a:moveTo>
                    <a:pt x="11" y="33"/>
                  </a:moveTo>
                  <a:lnTo>
                    <a:pt x="11" y="33"/>
                  </a:lnTo>
                  <a:cubicBezTo>
                    <a:pt x="11" y="25"/>
                    <a:pt x="14" y="9"/>
                    <a:pt x="29" y="9"/>
                  </a:cubicBezTo>
                  <a:cubicBezTo>
                    <a:pt x="44" y="9"/>
                    <a:pt x="47" y="25"/>
                    <a:pt x="47" y="33"/>
                  </a:cubicBezTo>
                  <a:cubicBezTo>
                    <a:pt x="47" y="41"/>
                    <a:pt x="44" y="57"/>
                    <a:pt x="29" y="57"/>
                  </a:cubicBezTo>
                  <a:cubicBezTo>
                    <a:pt x="14" y="57"/>
                    <a:pt x="11" y="41"/>
                    <a:pt x="11" y="3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5A978EFB-CC24-5D4B-08EA-D8E449832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3501"/>
              <a:ext cx="30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7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20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4701104-76EE-C91C-DDDC-444437AAA1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0" y="3501"/>
              <a:ext cx="56" cy="73"/>
            </a:xfrm>
            <a:custGeom>
              <a:avLst/>
              <a:gdLst>
                <a:gd name="T0" fmla="*/ 46 w 57"/>
                <a:gd name="T1" fmla="*/ 45 h 66"/>
                <a:gd name="T2" fmla="*/ 46 w 57"/>
                <a:gd name="T3" fmla="*/ 45 h 66"/>
                <a:gd name="T4" fmla="*/ 30 w 57"/>
                <a:gd name="T5" fmla="*/ 57 h 66"/>
                <a:gd name="T6" fmla="*/ 12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5 h 66"/>
                <a:gd name="T14" fmla="*/ 28 w 57"/>
                <a:gd name="T15" fmla="*/ 66 h 66"/>
                <a:gd name="T16" fmla="*/ 45 w 57"/>
                <a:gd name="T17" fmla="*/ 62 h 66"/>
                <a:gd name="T18" fmla="*/ 56 w 57"/>
                <a:gd name="T19" fmla="*/ 45 h 66"/>
                <a:gd name="T20" fmla="*/ 46 w 57"/>
                <a:gd name="T21" fmla="*/ 45 h 66"/>
                <a:gd name="T22" fmla="*/ 12 w 57"/>
                <a:gd name="T23" fmla="*/ 28 h 66"/>
                <a:gd name="T24" fmla="*/ 12 w 57"/>
                <a:gd name="T25" fmla="*/ 28 h 66"/>
                <a:gd name="T26" fmla="*/ 29 w 57"/>
                <a:gd name="T27" fmla="*/ 10 h 66"/>
                <a:gd name="T28" fmla="*/ 46 w 57"/>
                <a:gd name="T29" fmla="*/ 28 h 66"/>
                <a:gd name="T30" fmla="*/ 12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5"/>
                  </a:moveTo>
                  <a:lnTo>
                    <a:pt x="46" y="45"/>
                  </a:lnTo>
                  <a:cubicBezTo>
                    <a:pt x="45" y="49"/>
                    <a:pt x="40" y="57"/>
                    <a:pt x="30" y="57"/>
                  </a:cubicBezTo>
                  <a:cubicBezTo>
                    <a:pt x="18" y="57"/>
                    <a:pt x="12" y="49"/>
                    <a:pt x="12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5"/>
                  </a:cubicBezTo>
                  <a:cubicBezTo>
                    <a:pt x="0" y="53"/>
                    <a:pt x="11" y="66"/>
                    <a:pt x="28" y="66"/>
                  </a:cubicBezTo>
                  <a:cubicBezTo>
                    <a:pt x="38" y="66"/>
                    <a:pt x="42" y="64"/>
                    <a:pt x="45" y="62"/>
                  </a:cubicBezTo>
                  <a:cubicBezTo>
                    <a:pt x="53" y="56"/>
                    <a:pt x="56" y="48"/>
                    <a:pt x="56" y="45"/>
                  </a:cubicBezTo>
                  <a:lnTo>
                    <a:pt x="46" y="45"/>
                  </a:lnTo>
                  <a:close/>
                  <a:moveTo>
                    <a:pt x="12" y="28"/>
                  </a:moveTo>
                  <a:lnTo>
                    <a:pt x="12" y="28"/>
                  </a:lnTo>
                  <a:cubicBezTo>
                    <a:pt x="12" y="18"/>
                    <a:pt x="19" y="10"/>
                    <a:pt x="29" y="10"/>
                  </a:cubicBezTo>
                  <a:cubicBezTo>
                    <a:pt x="42" y="10"/>
                    <a:pt x="46" y="18"/>
                    <a:pt x="46" y="28"/>
                  </a:cubicBezTo>
                  <a:lnTo>
                    <a:pt x="12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99E7168-F7C8-9301-3BE2-4E6FDE40F8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9" y="3648"/>
              <a:ext cx="57" cy="72"/>
            </a:xfrm>
            <a:custGeom>
              <a:avLst/>
              <a:gdLst>
                <a:gd name="T0" fmla="*/ 13 w 59"/>
                <a:gd name="T1" fmla="*/ 21 h 66"/>
                <a:gd name="T2" fmla="*/ 13 w 59"/>
                <a:gd name="T3" fmla="*/ 21 h 66"/>
                <a:gd name="T4" fmla="*/ 27 w 59"/>
                <a:gd name="T5" fmla="*/ 9 h 66"/>
                <a:gd name="T6" fmla="*/ 42 w 59"/>
                <a:gd name="T7" fmla="*/ 19 h 66"/>
                <a:gd name="T8" fmla="*/ 36 w 59"/>
                <a:gd name="T9" fmla="*/ 27 h 66"/>
                <a:gd name="T10" fmla="*/ 19 w 59"/>
                <a:gd name="T11" fmla="*/ 29 h 66"/>
                <a:gd name="T12" fmla="*/ 0 w 59"/>
                <a:gd name="T13" fmla="*/ 48 h 66"/>
                <a:gd name="T14" fmla="*/ 19 w 59"/>
                <a:gd name="T15" fmla="*/ 66 h 66"/>
                <a:gd name="T16" fmla="*/ 42 w 59"/>
                <a:gd name="T17" fmla="*/ 56 h 66"/>
                <a:gd name="T18" fmla="*/ 53 w 59"/>
                <a:gd name="T19" fmla="*/ 66 h 66"/>
                <a:gd name="T20" fmla="*/ 59 w 59"/>
                <a:gd name="T21" fmla="*/ 64 h 66"/>
                <a:gd name="T22" fmla="*/ 59 w 59"/>
                <a:gd name="T23" fmla="*/ 57 h 66"/>
                <a:gd name="T24" fmla="*/ 55 w 59"/>
                <a:gd name="T25" fmla="*/ 57 h 66"/>
                <a:gd name="T26" fmla="*/ 52 w 59"/>
                <a:gd name="T27" fmla="*/ 54 h 66"/>
                <a:gd name="T28" fmla="*/ 52 w 59"/>
                <a:gd name="T29" fmla="*/ 18 h 66"/>
                <a:gd name="T30" fmla="*/ 29 w 59"/>
                <a:gd name="T31" fmla="*/ 0 h 66"/>
                <a:gd name="T32" fmla="*/ 3 w 59"/>
                <a:gd name="T33" fmla="*/ 21 h 66"/>
                <a:gd name="T34" fmla="*/ 13 w 59"/>
                <a:gd name="T35" fmla="*/ 21 h 66"/>
                <a:gd name="T36" fmla="*/ 41 w 59"/>
                <a:gd name="T37" fmla="*/ 43 h 66"/>
                <a:gd name="T38" fmla="*/ 41 w 59"/>
                <a:gd name="T39" fmla="*/ 43 h 66"/>
                <a:gd name="T40" fmla="*/ 22 w 59"/>
                <a:gd name="T41" fmla="*/ 58 h 66"/>
                <a:gd name="T42" fmla="*/ 11 w 59"/>
                <a:gd name="T43" fmla="*/ 47 h 66"/>
                <a:gd name="T44" fmla="*/ 24 w 59"/>
                <a:gd name="T45" fmla="*/ 37 h 66"/>
                <a:gd name="T46" fmla="*/ 41 w 59"/>
                <a:gd name="T47" fmla="*/ 33 h 66"/>
                <a:gd name="T48" fmla="*/ 41 w 59"/>
                <a:gd name="T49" fmla="*/ 4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6">
                  <a:moveTo>
                    <a:pt x="13" y="21"/>
                  </a:moveTo>
                  <a:lnTo>
                    <a:pt x="13" y="21"/>
                  </a:lnTo>
                  <a:cubicBezTo>
                    <a:pt x="13" y="16"/>
                    <a:pt x="15" y="9"/>
                    <a:pt x="27" y="9"/>
                  </a:cubicBezTo>
                  <a:cubicBezTo>
                    <a:pt x="37" y="9"/>
                    <a:pt x="42" y="13"/>
                    <a:pt x="42" y="19"/>
                  </a:cubicBezTo>
                  <a:cubicBezTo>
                    <a:pt x="42" y="25"/>
                    <a:pt x="39" y="26"/>
                    <a:pt x="36" y="27"/>
                  </a:cubicBezTo>
                  <a:lnTo>
                    <a:pt x="19" y="29"/>
                  </a:lnTo>
                  <a:cubicBezTo>
                    <a:pt x="2" y="31"/>
                    <a:pt x="0" y="43"/>
                    <a:pt x="0" y="48"/>
                  </a:cubicBezTo>
                  <a:cubicBezTo>
                    <a:pt x="0" y="59"/>
                    <a:pt x="8" y="66"/>
                    <a:pt x="19" y="66"/>
                  </a:cubicBezTo>
                  <a:cubicBezTo>
                    <a:pt x="32" y="66"/>
                    <a:pt x="38" y="61"/>
                    <a:pt x="42" y="56"/>
                  </a:cubicBezTo>
                  <a:cubicBezTo>
                    <a:pt x="42" y="61"/>
                    <a:pt x="44" y="66"/>
                    <a:pt x="53" y="66"/>
                  </a:cubicBezTo>
                  <a:cubicBezTo>
                    <a:pt x="55" y="66"/>
                    <a:pt x="57" y="65"/>
                    <a:pt x="59" y="64"/>
                  </a:cubicBezTo>
                  <a:lnTo>
                    <a:pt x="59" y="57"/>
                  </a:lnTo>
                  <a:cubicBezTo>
                    <a:pt x="58" y="57"/>
                    <a:pt x="56" y="57"/>
                    <a:pt x="55" y="57"/>
                  </a:cubicBezTo>
                  <a:cubicBezTo>
                    <a:pt x="53" y="57"/>
                    <a:pt x="52" y="56"/>
                    <a:pt x="52" y="54"/>
                  </a:cubicBezTo>
                  <a:lnTo>
                    <a:pt x="52" y="18"/>
                  </a:lnTo>
                  <a:cubicBezTo>
                    <a:pt x="52" y="2"/>
                    <a:pt x="34" y="0"/>
                    <a:pt x="29" y="0"/>
                  </a:cubicBezTo>
                  <a:cubicBezTo>
                    <a:pt x="13" y="0"/>
                    <a:pt x="4" y="6"/>
                    <a:pt x="3" y="21"/>
                  </a:cubicBezTo>
                  <a:lnTo>
                    <a:pt x="13" y="21"/>
                  </a:lnTo>
                  <a:close/>
                  <a:moveTo>
                    <a:pt x="41" y="43"/>
                  </a:moveTo>
                  <a:lnTo>
                    <a:pt x="41" y="43"/>
                  </a:lnTo>
                  <a:cubicBezTo>
                    <a:pt x="41" y="51"/>
                    <a:pt x="32" y="58"/>
                    <a:pt x="22" y="58"/>
                  </a:cubicBezTo>
                  <a:cubicBezTo>
                    <a:pt x="14" y="58"/>
                    <a:pt x="11" y="54"/>
                    <a:pt x="11" y="47"/>
                  </a:cubicBezTo>
                  <a:cubicBezTo>
                    <a:pt x="11" y="39"/>
                    <a:pt x="19" y="37"/>
                    <a:pt x="24" y="37"/>
                  </a:cubicBezTo>
                  <a:cubicBezTo>
                    <a:pt x="37" y="35"/>
                    <a:pt x="40" y="34"/>
                    <a:pt x="41" y="33"/>
                  </a:cubicBezTo>
                  <a:lnTo>
                    <a:pt x="41" y="4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CBFC258D-A126-8D0B-A01C-C223A2ED0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952"/>
              <a:ext cx="246" cy="1288"/>
            </a:xfrm>
            <a:custGeom>
              <a:avLst/>
              <a:gdLst>
                <a:gd name="T0" fmla="*/ 0 w 253"/>
                <a:gd name="T1" fmla="*/ 1170 h 1170"/>
                <a:gd name="T2" fmla="*/ 0 w 253"/>
                <a:gd name="T3" fmla="*/ 1170 h 1170"/>
                <a:gd name="T4" fmla="*/ 253 w 253"/>
                <a:gd name="T5" fmla="*/ 1170 h 1170"/>
                <a:gd name="T6" fmla="*/ 253 w 253"/>
                <a:gd name="T7" fmla="*/ 0 h 1170"/>
                <a:gd name="T8" fmla="*/ 0 w 253"/>
                <a:gd name="T9" fmla="*/ 0 h 1170"/>
                <a:gd name="T10" fmla="*/ 0 w 253"/>
                <a:gd name="T11" fmla="*/ 117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3" h="1170">
                  <a:moveTo>
                    <a:pt x="0" y="1170"/>
                  </a:moveTo>
                  <a:lnTo>
                    <a:pt x="0" y="1170"/>
                  </a:lnTo>
                  <a:lnTo>
                    <a:pt x="253" y="1170"/>
                  </a:lnTo>
                  <a:lnTo>
                    <a:pt x="253" y="0"/>
                  </a:lnTo>
                  <a:lnTo>
                    <a:pt x="0" y="0"/>
                  </a:lnTo>
                  <a:lnTo>
                    <a:pt x="0" y="1170"/>
                  </a:lnTo>
                  <a:close/>
                </a:path>
              </a:pathLst>
            </a:custGeom>
            <a:solidFill>
              <a:srgbClr val="C7EAFB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1DD247ED-17A4-0F36-D492-B9FFE1693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952"/>
              <a:ext cx="246" cy="1288"/>
            </a:xfrm>
            <a:custGeom>
              <a:avLst/>
              <a:gdLst>
                <a:gd name="T0" fmla="*/ 253 w 253"/>
                <a:gd name="T1" fmla="*/ 0 h 1170"/>
                <a:gd name="T2" fmla="*/ 253 w 253"/>
                <a:gd name="T3" fmla="*/ 0 h 1170"/>
                <a:gd name="T4" fmla="*/ 253 w 253"/>
                <a:gd name="T5" fmla="*/ 1170 h 1170"/>
                <a:gd name="T6" fmla="*/ 0 w 253"/>
                <a:gd name="T7" fmla="*/ 1170 h 1170"/>
                <a:gd name="T8" fmla="*/ 0 w 253"/>
                <a:gd name="T9" fmla="*/ 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1170">
                  <a:moveTo>
                    <a:pt x="253" y="0"/>
                  </a:moveTo>
                  <a:lnTo>
                    <a:pt x="253" y="0"/>
                  </a:lnTo>
                  <a:lnTo>
                    <a:pt x="253" y="1170"/>
                  </a:lnTo>
                  <a:lnTo>
                    <a:pt x="0" y="117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32C679F-7422-6CC1-9C08-CFD0CF4D8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209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0D4DEBE5-8C7D-2F07-F21F-821FEAEE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467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A0A14A5F-4F1F-EB49-B912-B8EA4891E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725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55F6FC9F-793C-77AA-F9FF-583D2E953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982"/>
              <a:ext cx="246" cy="0"/>
            </a:xfrm>
            <a:custGeom>
              <a:avLst/>
              <a:gdLst>
                <a:gd name="T0" fmla="*/ 0 w 253"/>
                <a:gd name="T1" fmla="*/ 0 w 253"/>
                <a:gd name="T2" fmla="*/ 253 w 25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253">
                  <a:moveTo>
                    <a:pt x="0" y="0"/>
                  </a:moveTo>
                  <a:lnTo>
                    <a:pt x="0" y="0"/>
                  </a:lnTo>
                  <a:lnTo>
                    <a:pt x="253" y="0"/>
                  </a:lnTo>
                </a:path>
              </a:pathLst>
            </a:custGeom>
            <a:noFill/>
            <a:ln w="9525" cap="flat">
              <a:solidFill>
                <a:srgbClr val="231F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52F0538-84C5-E918-13D8-2B979020C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036"/>
              <a:ext cx="57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10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30" y="45"/>
                    <a:pt x="50" y="18"/>
                    <a:pt x="58" y="10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B170A607-268E-94E1-9A17-E8B012C0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2293"/>
              <a:ext cx="56" cy="91"/>
            </a:xfrm>
            <a:custGeom>
              <a:avLst/>
              <a:gdLst>
                <a:gd name="T0" fmla="*/ 12 w 57"/>
                <a:gd name="T1" fmla="*/ 30 h 83"/>
                <a:gd name="T2" fmla="*/ 12 w 57"/>
                <a:gd name="T3" fmla="*/ 30 h 83"/>
                <a:gd name="T4" fmla="*/ 29 w 57"/>
                <a:gd name="T5" fmla="*/ 9 h 83"/>
                <a:gd name="T6" fmla="*/ 46 w 57"/>
                <a:gd name="T7" fmla="*/ 24 h 83"/>
                <a:gd name="T8" fmla="*/ 30 w 57"/>
                <a:gd name="T9" fmla="*/ 44 h 83"/>
                <a:gd name="T10" fmla="*/ 19 w 57"/>
                <a:gd name="T11" fmla="*/ 50 h 83"/>
                <a:gd name="T12" fmla="*/ 0 w 57"/>
                <a:gd name="T13" fmla="*/ 83 h 83"/>
                <a:gd name="T14" fmla="*/ 57 w 57"/>
                <a:gd name="T15" fmla="*/ 83 h 83"/>
                <a:gd name="T16" fmla="*/ 57 w 57"/>
                <a:gd name="T17" fmla="*/ 74 h 83"/>
                <a:gd name="T18" fmla="*/ 11 w 57"/>
                <a:gd name="T19" fmla="*/ 74 h 83"/>
                <a:gd name="T20" fmla="*/ 26 w 57"/>
                <a:gd name="T21" fmla="*/ 57 h 83"/>
                <a:gd name="T22" fmla="*/ 35 w 57"/>
                <a:gd name="T23" fmla="*/ 53 h 83"/>
                <a:gd name="T24" fmla="*/ 57 w 57"/>
                <a:gd name="T25" fmla="*/ 25 h 83"/>
                <a:gd name="T26" fmla="*/ 31 w 57"/>
                <a:gd name="T27" fmla="*/ 0 h 83"/>
                <a:gd name="T28" fmla="*/ 2 w 57"/>
                <a:gd name="T29" fmla="*/ 30 h 83"/>
                <a:gd name="T30" fmla="*/ 12 w 57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83">
                  <a:moveTo>
                    <a:pt x="12" y="30"/>
                  </a:moveTo>
                  <a:lnTo>
                    <a:pt x="12" y="30"/>
                  </a:lnTo>
                  <a:cubicBezTo>
                    <a:pt x="13" y="24"/>
                    <a:pt x="13" y="9"/>
                    <a:pt x="29" y="9"/>
                  </a:cubicBezTo>
                  <a:cubicBezTo>
                    <a:pt x="41" y="9"/>
                    <a:pt x="46" y="18"/>
                    <a:pt x="46" y="24"/>
                  </a:cubicBezTo>
                  <a:cubicBezTo>
                    <a:pt x="46" y="35"/>
                    <a:pt x="39" y="39"/>
                    <a:pt x="30" y="44"/>
                  </a:cubicBezTo>
                  <a:lnTo>
                    <a:pt x="19" y="50"/>
                  </a:lnTo>
                  <a:cubicBezTo>
                    <a:pt x="8" y="57"/>
                    <a:pt x="0" y="66"/>
                    <a:pt x="0" y="83"/>
                  </a:cubicBezTo>
                  <a:lnTo>
                    <a:pt x="57" y="83"/>
                  </a:lnTo>
                  <a:lnTo>
                    <a:pt x="57" y="74"/>
                  </a:lnTo>
                  <a:lnTo>
                    <a:pt x="11" y="74"/>
                  </a:lnTo>
                  <a:cubicBezTo>
                    <a:pt x="12" y="70"/>
                    <a:pt x="14" y="64"/>
                    <a:pt x="26" y="57"/>
                  </a:cubicBezTo>
                  <a:lnTo>
                    <a:pt x="35" y="53"/>
                  </a:lnTo>
                  <a:cubicBezTo>
                    <a:pt x="47" y="46"/>
                    <a:pt x="57" y="40"/>
                    <a:pt x="57" y="25"/>
                  </a:cubicBezTo>
                  <a:cubicBezTo>
                    <a:pt x="57" y="9"/>
                    <a:pt x="45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2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FD4471C-7DA9-AC09-8C48-94A0A199C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2551"/>
              <a:ext cx="29" cy="91"/>
            </a:xfrm>
            <a:custGeom>
              <a:avLst/>
              <a:gdLst>
                <a:gd name="T0" fmla="*/ 30 w 30"/>
                <a:gd name="T1" fmla="*/ 0 h 83"/>
                <a:gd name="T2" fmla="*/ 30 w 30"/>
                <a:gd name="T3" fmla="*/ 0 h 83"/>
                <a:gd name="T4" fmla="*/ 22 w 30"/>
                <a:gd name="T5" fmla="*/ 0 h 83"/>
                <a:gd name="T6" fmla="*/ 0 w 30"/>
                <a:gd name="T7" fmla="*/ 16 h 83"/>
                <a:gd name="T8" fmla="*/ 0 w 30"/>
                <a:gd name="T9" fmla="*/ 24 h 83"/>
                <a:gd name="T10" fmla="*/ 19 w 30"/>
                <a:gd name="T11" fmla="*/ 24 h 83"/>
                <a:gd name="T12" fmla="*/ 19 w 30"/>
                <a:gd name="T13" fmla="*/ 83 h 83"/>
                <a:gd name="T14" fmla="*/ 30 w 30"/>
                <a:gd name="T15" fmla="*/ 83 h 83"/>
                <a:gd name="T16" fmla="*/ 30 w 30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83">
                  <a:moveTo>
                    <a:pt x="30" y="0"/>
                  </a:moveTo>
                  <a:lnTo>
                    <a:pt x="30" y="0"/>
                  </a:lnTo>
                  <a:lnTo>
                    <a:pt x="22" y="0"/>
                  </a:lnTo>
                  <a:cubicBezTo>
                    <a:pt x="19" y="14"/>
                    <a:pt x="13" y="15"/>
                    <a:pt x="0" y="16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0" y="83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27FDF4F0-D797-9715-80F7-C74CD7B450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0" y="3066"/>
              <a:ext cx="58" cy="93"/>
            </a:xfrm>
            <a:custGeom>
              <a:avLst/>
              <a:gdLst>
                <a:gd name="T0" fmla="*/ 59 w 59"/>
                <a:gd name="T1" fmla="*/ 63 h 84"/>
                <a:gd name="T2" fmla="*/ 59 w 59"/>
                <a:gd name="T3" fmla="*/ 63 h 84"/>
                <a:gd name="T4" fmla="*/ 59 w 59"/>
                <a:gd name="T5" fmla="*/ 54 h 84"/>
                <a:gd name="T6" fmla="*/ 47 w 59"/>
                <a:gd name="T7" fmla="*/ 54 h 84"/>
                <a:gd name="T8" fmla="*/ 47 w 59"/>
                <a:gd name="T9" fmla="*/ 0 h 84"/>
                <a:gd name="T10" fmla="*/ 38 w 59"/>
                <a:gd name="T11" fmla="*/ 0 h 84"/>
                <a:gd name="T12" fmla="*/ 0 w 59"/>
                <a:gd name="T13" fmla="*/ 53 h 84"/>
                <a:gd name="T14" fmla="*/ 0 w 59"/>
                <a:gd name="T15" fmla="*/ 63 h 84"/>
                <a:gd name="T16" fmla="*/ 36 w 59"/>
                <a:gd name="T17" fmla="*/ 63 h 84"/>
                <a:gd name="T18" fmla="*/ 36 w 59"/>
                <a:gd name="T19" fmla="*/ 84 h 84"/>
                <a:gd name="T20" fmla="*/ 47 w 59"/>
                <a:gd name="T21" fmla="*/ 84 h 84"/>
                <a:gd name="T22" fmla="*/ 47 w 59"/>
                <a:gd name="T23" fmla="*/ 63 h 84"/>
                <a:gd name="T24" fmla="*/ 59 w 59"/>
                <a:gd name="T25" fmla="*/ 63 h 84"/>
                <a:gd name="T26" fmla="*/ 36 w 59"/>
                <a:gd name="T27" fmla="*/ 16 h 84"/>
                <a:gd name="T28" fmla="*/ 36 w 59"/>
                <a:gd name="T29" fmla="*/ 16 h 84"/>
                <a:gd name="T30" fmla="*/ 36 w 59"/>
                <a:gd name="T31" fmla="*/ 16 h 84"/>
                <a:gd name="T32" fmla="*/ 36 w 59"/>
                <a:gd name="T33" fmla="*/ 54 h 84"/>
                <a:gd name="T34" fmla="*/ 9 w 59"/>
                <a:gd name="T35" fmla="*/ 54 h 84"/>
                <a:gd name="T36" fmla="*/ 36 w 59"/>
                <a:gd name="T37" fmla="*/ 1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4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8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6" y="63"/>
                  </a:lnTo>
                  <a:lnTo>
                    <a:pt x="36" y="84"/>
                  </a:lnTo>
                  <a:lnTo>
                    <a:pt x="47" y="84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6" y="16"/>
                  </a:moveTo>
                  <a:lnTo>
                    <a:pt x="36" y="16"/>
                  </a:lnTo>
                  <a:lnTo>
                    <a:pt x="36" y="16"/>
                  </a:lnTo>
                  <a:lnTo>
                    <a:pt x="36" y="54"/>
                  </a:lnTo>
                  <a:lnTo>
                    <a:pt x="9" y="54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F6276605-B1F9-1B78-0E5D-B5D8F29C9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1" y="2808"/>
              <a:ext cx="56" cy="95"/>
            </a:xfrm>
            <a:custGeom>
              <a:avLst/>
              <a:gdLst>
                <a:gd name="T0" fmla="*/ 46 w 57"/>
                <a:gd name="T1" fmla="*/ 43 h 86"/>
                <a:gd name="T2" fmla="*/ 46 w 57"/>
                <a:gd name="T3" fmla="*/ 43 h 86"/>
                <a:gd name="T4" fmla="*/ 29 w 57"/>
                <a:gd name="T5" fmla="*/ 76 h 86"/>
                <a:gd name="T6" fmla="*/ 11 w 57"/>
                <a:gd name="T7" fmla="*/ 43 h 86"/>
                <a:gd name="T8" fmla="*/ 29 w 57"/>
                <a:gd name="T9" fmla="*/ 9 h 86"/>
                <a:gd name="T10" fmla="*/ 46 w 57"/>
                <a:gd name="T11" fmla="*/ 43 h 86"/>
                <a:gd name="T12" fmla="*/ 57 w 57"/>
                <a:gd name="T13" fmla="*/ 43 h 86"/>
                <a:gd name="T14" fmla="*/ 57 w 57"/>
                <a:gd name="T15" fmla="*/ 43 h 86"/>
                <a:gd name="T16" fmla="*/ 29 w 57"/>
                <a:gd name="T17" fmla="*/ 0 h 86"/>
                <a:gd name="T18" fmla="*/ 0 w 57"/>
                <a:gd name="T19" fmla="*/ 43 h 86"/>
                <a:gd name="T20" fmla="*/ 29 w 57"/>
                <a:gd name="T21" fmla="*/ 86 h 86"/>
                <a:gd name="T22" fmla="*/ 57 w 57"/>
                <a:gd name="T2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6">
                  <a:moveTo>
                    <a:pt x="46" y="43"/>
                  </a:moveTo>
                  <a:lnTo>
                    <a:pt x="46" y="43"/>
                  </a:lnTo>
                  <a:cubicBezTo>
                    <a:pt x="46" y="64"/>
                    <a:pt x="41" y="76"/>
                    <a:pt x="29" y="76"/>
                  </a:cubicBezTo>
                  <a:cubicBezTo>
                    <a:pt x="17" y="76"/>
                    <a:pt x="11" y="64"/>
                    <a:pt x="11" y="43"/>
                  </a:cubicBezTo>
                  <a:cubicBezTo>
                    <a:pt x="11" y="22"/>
                    <a:pt x="17" y="9"/>
                    <a:pt x="29" y="9"/>
                  </a:cubicBezTo>
                  <a:cubicBezTo>
                    <a:pt x="41" y="9"/>
                    <a:pt x="46" y="22"/>
                    <a:pt x="46" y="43"/>
                  </a:cubicBezTo>
                  <a:close/>
                  <a:moveTo>
                    <a:pt x="57" y="43"/>
                  </a:moveTo>
                  <a:lnTo>
                    <a:pt x="57" y="43"/>
                  </a:lnTo>
                  <a:cubicBezTo>
                    <a:pt x="57" y="25"/>
                    <a:pt x="53" y="0"/>
                    <a:pt x="29" y="0"/>
                  </a:cubicBezTo>
                  <a:cubicBezTo>
                    <a:pt x="5" y="0"/>
                    <a:pt x="0" y="25"/>
                    <a:pt x="0" y="43"/>
                  </a:cubicBezTo>
                  <a:cubicBezTo>
                    <a:pt x="0" y="60"/>
                    <a:pt x="5" y="86"/>
                    <a:pt x="29" y="86"/>
                  </a:cubicBezTo>
                  <a:cubicBezTo>
                    <a:pt x="53" y="86"/>
                    <a:pt x="57" y="60"/>
                    <a:pt x="57" y="43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7BDD97FE-0F17-F753-76A1-91D166AEB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3355"/>
              <a:ext cx="51" cy="72"/>
            </a:xfrm>
            <a:custGeom>
              <a:avLst/>
              <a:gdLst>
                <a:gd name="T0" fmla="*/ 50 w 52"/>
                <a:gd name="T1" fmla="*/ 19 h 66"/>
                <a:gd name="T2" fmla="*/ 50 w 52"/>
                <a:gd name="T3" fmla="*/ 19 h 66"/>
                <a:gd name="T4" fmla="*/ 26 w 52"/>
                <a:gd name="T5" fmla="*/ 0 h 66"/>
                <a:gd name="T6" fmla="*/ 2 w 52"/>
                <a:gd name="T7" fmla="*/ 20 h 66"/>
                <a:gd name="T8" fmla="*/ 17 w 52"/>
                <a:gd name="T9" fmla="*/ 35 h 66"/>
                <a:gd name="T10" fmla="*/ 29 w 52"/>
                <a:gd name="T11" fmla="*/ 38 h 66"/>
                <a:gd name="T12" fmla="*/ 41 w 52"/>
                <a:gd name="T13" fmla="*/ 47 h 66"/>
                <a:gd name="T14" fmla="*/ 27 w 52"/>
                <a:gd name="T15" fmla="*/ 57 h 66"/>
                <a:gd name="T16" fmla="*/ 10 w 52"/>
                <a:gd name="T17" fmla="*/ 44 h 66"/>
                <a:gd name="T18" fmla="*/ 0 w 52"/>
                <a:gd name="T19" fmla="*/ 44 h 66"/>
                <a:gd name="T20" fmla="*/ 27 w 52"/>
                <a:gd name="T21" fmla="*/ 66 h 66"/>
                <a:gd name="T22" fmla="*/ 52 w 52"/>
                <a:gd name="T23" fmla="*/ 45 h 66"/>
                <a:gd name="T24" fmla="*/ 34 w 52"/>
                <a:gd name="T25" fmla="*/ 29 h 66"/>
                <a:gd name="T26" fmla="*/ 24 w 52"/>
                <a:gd name="T27" fmla="*/ 26 h 66"/>
                <a:gd name="T28" fmla="*/ 13 w 52"/>
                <a:gd name="T29" fmla="*/ 18 h 66"/>
                <a:gd name="T30" fmla="*/ 25 w 52"/>
                <a:gd name="T31" fmla="*/ 9 h 66"/>
                <a:gd name="T32" fmla="*/ 40 w 52"/>
                <a:gd name="T33" fmla="*/ 19 h 66"/>
                <a:gd name="T34" fmla="*/ 50 w 52"/>
                <a:gd name="T35" fmla="*/ 1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" h="66">
                  <a:moveTo>
                    <a:pt x="50" y="19"/>
                  </a:moveTo>
                  <a:lnTo>
                    <a:pt x="50" y="19"/>
                  </a:lnTo>
                  <a:cubicBezTo>
                    <a:pt x="50" y="16"/>
                    <a:pt x="48" y="0"/>
                    <a:pt x="26" y="0"/>
                  </a:cubicBezTo>
                  <a:cubicBezTo>
                    <a:pt x="14" y="0"/>
                    <a:pt x="2" y="6"/>
                    <a:pt x="2" y="20"/>
                  </a:cubicBezTo>
                  <a:cubicBezTo>
                    <a:pt x="2" y="28"/>
                    <a:pt x="8" y="33"/>
                    <a:pt x="17" y="35"/>
                  </a:cubicBezTo>
                  <a:lnTo>
                    <a:pt x="29" y="38"/>
                  </a:lnTo>
                  <a:cubicBezTo>
                    <a:pt x="38" y="40"/>
                    <a:pt x="41" y="42"/>
                    <a:pt x="41" y="47"/>
                  </a:cubicBezTo>
                  <a:cubicBezTo>
                    <a:pt x="41" y="54"/>
                    <a:pt x="35" y="57"/>
                    <a:pt x="27" y="57"/>
                  </a:cubicBezTo>
                  <a:cubicBezTo>
                    <a:pt x="12" y="57"/>
                    <a:pt x="11" y="49"/>
                    <a:pt x="10" y="44"/>
                  </a:cubicBezTo>
                  <a:lnTo>
                    <a:pt x="0" y="44"/>
                  </a:lnTo>
                  <a:cubicBezTo>
                    <a:pt x="1" y="51"/>
                    <a:pt x="3" y="66"/>
                    <a:pt x="27" y="66"/>
                  </a:cubicBezTo>
                  <a:cubicBezTo>
                    <a:pt x="41" y="66"/>
                    <a:pt x="52" y="58"/>
                    <a:pt x="52" y="45"/>
                  </a:cubicBezTo>
                  <a:cubicBezTo>
                    <a:pt x="52" y="37"/>
                    <a:pt x="47" y="32"/>
                    <a:pt x="34" y="29"/>
                  </a:cubicBezTo>
                  <a:lnTo>
                    <a:pt x="24" y="26"/>
                  </a:lnTo>
                  <a:cubicBezTo>
                    <a:pt x="16" y="24"/>
                    <a:pt x="13" y="23"/>
                    <a:pt x="13" y="18"/>
                  </a:cubicBezTo>
                  <a:cubicBezTo>
                    <a:pt x="13" y="10"/>
                    <a:pt x="22" y="9"/>
                    <a:pt x="25" y="9"/>
                  </a:cubicBezTo>
                  <a:cubicBezTo>
                    <a:pt x="38" y="9"/>
                    <a:pt x="40" y="15"/>
                    <a:pt x="40" y="19"/>
                  </a:cubicBezTo>
                  <a:lnTo>
                    <a:pt x="50" y="19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D3FF3AB3-A4A2-1CDB-EE27-9E6C7945F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3337"/>
              <a:ext cx="29" cy="89"/>
            </a:xfrm>
            <a:custGeom>
              <a:avLst/>
              <a:gdLst>
                <a:gd name="T0" fmla="*/ 29 w 29"/>
                <a:gd name="T1" fmla="*/ 26 h 81"/>
                <a:gd name="T2" fmla="*/ 29 w 29"/>
                <a:gd name="T3" fmla="*/ 26 h 81"/>
                <a:gd name="T4" fmla="*/ 29 w 29"/>
                <a:gd name="T5" fmla="*/ 18 h 81"/>
                <a:gd name="T6" fmla="*/ 19 w 29"/>
                <a:gd name="T7" fmla="*/ 18 h 81"/>
                <a:gd name="T8" fmla="*/ 19 w 29"/>
                <a:gd name="T9" fmla="*/ 0 h 81"/>
                <a:gd name="T10" fmla="*/ 9 w 29"/>
                <a:gd name="T11" fmla="*/ 0 h 81"/>
                <a:gd name="T12" fmla="*/ 9 w 29"/>
                <a:gd name="T13" fmla="*/ 18 h 81"/>
                <a:gd name="T14" fmla="*/ 0 w 29"/>
                <a:gd name="T15" fmla="*/ 18 h 81"/>
                <a:gd name="T16" fmla="*/ 0 w 29"/>
                <a:gd name="T17" fmla="*/ 26 h 81"/>
                <a:gd name="T18" fmla="*/ 9 w 29"/>
                <a:gd name="T19" fmla="*/ 26 h 81"/>
                <a:gd name="T20" fmla="*/ 9 w 29"/>
                <a:gd name="T21" fmla="*/ 67 h 81"/>
                <a:gd name="T22" fmla="*/ 21 w 29"/>
                <a:gd name="T23" fmla="*/ 81 h 81"/>
                <a:gd name="T24" fmla="*/ 29 w 29"/>
                <a:gd name="T25" fmla="*/ 80 h 81"/>
                <a:gd name="T26" fmla="*/ 29 w 29"/>
                <a:gd name="T27" fmla="*/ 72 h 81"/>
                <a:gd name="T28" fmla="*/ 25 w 29"/>
                <a:gd name="T29" fmla="*/ 72 h 81"/>
                <a:gd name="T30" fmla="*/ 19 w 29"/>
                <a:gd name="T31" fmla="*/ 67 h 81"/>
                <a:gd name="T32" fmla="*/ 19 w 29"/>
                <a:gd name="T33" fmla="*/ 26 h 81"/>
                <a:gd name="T34" fmla="*/ 29 w 29"/>
                <a:gd name="T35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1">
                  <a:moveTo>
                    <a:pt x="29" y="26"/>
                  </a:moveTo>
                  <a:lnTo>
                    <a:pt x="29" y="26"/>
                  </a:lnTo>
                  <a:lnTo>
                    <a:pt x="29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9" y="0"/>
                  </a:lnTo>
                  <a:lnTo>
                    <a:pt x="9" y="18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9" y="26"/>
                  </a:lnTo>
                  <a:lnTo>
                    <a:pt x="9" y="67"/>
                  </a:lnTo>
                  <a:cubicBezTo>
                    <a:pt x="9" y="75"/>
                    <a:pt x="11" y="81"/>
                    <a:pt x="21" y="81"/>
                  </a:cubicBezTo>
                  <a:cubicBezTo>
                    <a:pt x="22" y="81"/>
                    <a:pt x="25" y="80"/>
                    <a:pt x="29" y="80"/>
                  </a:cubicBezTo>
                  <a:lnTo>
                    <a:pt x="29" y="72"/>
                  </a:lnTo>
                  <a:lnTo>
                    <a:pt x="25" y="72"/>
                  </a:lnTo>
                  <a:cubicBezTo>
                    <a:pt x="23" y="72"/>
                    <a:pt x="19" y="72"/>
                    <a:pt x="19" y="67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C641D6B7-1F32-8373-7DB0-D3E43A1ECF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58" y="3355"/>
              <a:ext cx="58" cy="72"/>
            </a:xfrm>
            <a:custGeom>
              <a:avLst/>
              <a:gdLst>
                <a:gd name="T0" fmla="*/ 13 w 59"/>
                <a:gd name="T1" fmla="*/ 21 h 66"/>
                <a:gd name="T2" fmla="*/ 13 w 59"/>
                <a:gd name="T3" fmla="*/ 21 h 66"/>
                <a:gd name="T4" fmla="*/ 27 w 59"/>
                <a:gd name="T5" fmla="*/ 8 h 66"/>
                <a:gd name="T6" fmla="*/ 42 w 59"/>
                <a:gd name="T7" fmla="*/ 19 h 66"/>
                <a:gd name="T8" fmla="*/ 36 w 59"/>
                <a:gd name="T9" fmla="*/ 26 h 66"/>
                <a:gd name="T10" fmla="*/ 19 w 59"/>
                <a:gd name="T11" fmla="*/ 28 h 66"/>
                <a:gd name="T12" fmla="*/ 0 w 59"/>
                <a:gd name="T13" fmla="*/ 48 h 66"/>
                <a:gd name="T14" fmla="*/ 20 w 59"/>
                <a:gd name="T15" fmla="*/ 66 h 66"/>
                <a:gd name="T16" fmla="*/ 42 w 59"/>
                <a:gd name="T17" fmla="*/ 55 h 66"/>
                <a:gd name="T18" fmla="*/ 53 w 59"/>
                <a:gd name="T19" fmla="*/ 65 h 66"/>
                <a:gd name="T20" fmla="*/ 59 w 59"/>
                <a:gd name="T21" fmla="*/ 64 h 66"/>
                <a:gd name="T22" fmla="*/ 59 w 59"/>
                <a:gd name="T23" fmla="*/ 56 h 66"/>
                <a:gd name="T24" fmla="*/ 56 w 59"/>
                <a:gd name="T25" fmla="*/ 57 h 66"/>
                <a:gd name="T26" fmla="*/ 52 w 59"/>
                <a:gd name="T27" fmla="*/ 53 h 66"/>
                <a:gd name="T28" fmla="*/ 52 w 59"/>
                <a:gd name="T29" fmla="*/ 17 h 66"/>
                <a:gd name="T30" fmla="*/ 29 w 59"/>
                <a:gd name="T31" fmla="*/ 0 h 66"/>
                <a:gd name="T32" fmla="*/ 3 w 59"/>
                <a:gd name="T33" fmla="*/ 21 h 66"/>
                <a:gd name="T34" fmla="*/ 13 w 59"/>
                <a:gd name="T35" fmla="*/ 21 h 66"/>
                <a:gd name="T36" fmla="*/ 42 w 59"/>
                <a:gd name="T37" fmla="*/ 42 h 66"/>
                <a:gd name="T38" fmla="*/ 42 w 59"/>
                <a:gd name="T39" fmla="*/ 42 h 66"/>
                <a:gd name="T40" fmla="*/ 22 w 59"/>
                <a:gd name="T41" fmla="*/ 57 h 66"/>
                <a:gd name="T42" fmla="*/ 11 w 59"/>
                <a:gd name="T43" fmla="*/ 46 h 66"/>
                <a:gd name="T44" fmla="*/ 24 w 59"/>
                <a:gd name="T45" fmla="*/ 36 h 66"/>
                <a:gd name="T46" fmla="*/ 42 w 59"/>
                <a:gd name="T47" fmla="*/ 32 h 66"/>
                <a:gd name="T48" fmla="*/ 42 w 59"/>
                <a:gd name="T49" fmla="*/ 4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6">
                  <a:moveTo>
                    <a:pt x="13" y="21"/>
                  </a:moveTo>
                  <a:lnTo>
                    <a:pt x="13" y="21"/>
                  </a:lnTo>
                  <a:cubicBezTo>
                    <a:pt x="14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9"/>
                  </a:cubicBezTo>
                  <a:cubicBezTo>
                    <a:pt x="42" y="25"/>
                    <a:pt x="39" y="26"/>
                    <a:pt x="36" y="26"/>
                  </a:cubicBezTo>
                  <a:lnTo>
                    <a:pt x="19" y="28"/>
                  </a:lnTo>
                  <a:cubicBezTo>
                    <a:pt x="2" y="30"/>
                    <a:pt x="0" y="42"/>
                    <a:pt x="0" y="48"/>
                  </a:cubicBezTo>
                  <a:cubicBezTo>
                    <a:pt x="0" y="58"/>
                    <a:pt x="8" y="66"/>
                    <a:pt x="20" y="66"/>
                  </a:cubicBezTo>
                  <a:cubicBezTo>
                    <a:pt x="32" y="66"/>
                    <a:pt x="38" y="60"/>
                    <a:pt x="42" y="55"/>
                  </a:cubicBezTo>
                  <a:cubicBezTo>
                    <a:pt x="43" y="60"/>
                    <a:pt x="44" y="65"/>
                    <a:pt x="53" y="65"/>
                  </a:cubicBezTo>
                  <a:cubicBezTo>
                    <a:pt x="56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8" y="56"/>
                    <a:pt x="57" y="57"/>
                    <a:pt x="56" y="57"/>
                  </a:cubicBezTo>
                  <a:cubicBezTo>
                    <a:pt x="53" y="57"/>
                    <a:pt x="52" y="56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4" y="0"/>
                    <a:pt x="4" y="6"/>
                    <a:pt x="3" y="21"/>
                  </a:cubicBezTo>
                  <a:lnTo>
                    <a:pt x="13" y="21"/>
                  </a:lnTo>
                  <a:close/>
                  <a:moveTo>
                    <a:pt x="42" y="42"/>
                  </a:moveTo>
                  <a:lnTo>
                    <a:pt x="42" y="42"/>
                  </a:lnTo>
                  <a:cubicBezTo>
                    <a:pt x="42" y="51"/>
                    <a:pt x="32" y="57"/>
                    <a:pt x="22" y="57"/>
                  </a:cubicBezTo>
                  <a:cubicBezTo>
                    <a:pt x="14" y="57"/>
                    <a:pt x="11" y="53"/>
                    <a:pt x="11" y="46"/>
                  </a:cubicBezTo>
                  <a:cubicBezTo>
                    <a:pt x="11" y="38"/>
                    <a:pt x="19" y="37"/>
                    <a:pt x="24" y="36"/>
                  </a:cubicBezTo>
                  <a:cubicBezTo>
                    <a:pt x="37" y="34"/>
                    <a:pt x="40" y="33"/>
                    <a:pt x="42" y="32"/>
                  </a:cubicBezTo>
                  <a:lnTo>
                    <a:pt x="42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61F15E4A-18E1-C574-EAD3-6CE7E1725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3" y="3355"/>
              <a:ext cx="51" cy="72"/>
            </a:xfrm>
            <a:custGeom>
              <a:avLst/>
              <a:gdLst>
                <a:gd name="T0" fmla="*/ 53 w 53"/>
                <a:gd name="T1" fmla="*/ 23 h 66"/>
                <a:gd name="T2" fmla="*/ 53 w 53"/>
                <a:gd name="T3" fmla="*/ 23 h 66"/>
                <a:gd name="T4" fmla="*/ 30 w 53"/>
                <a:gd name="T5" fmla="*/ 0 h 66"/>
                <a:gd name="T6" fmla="*/ 0 w 53"/>
                <a:gd name="T7" fmla="*/ 34 h 66"/>
                <a:gd name="T8" fmla="*/ 28 w 53"/>
                <a:gd name="T9" fmla="*/ 66 h 66"/>
                <a:gd name="T10" fmla="*/ 53 w 53"/>
                <a:gd name="T11" fmla="*/ 42 h 66"/>
                <a:gd name="T12" fmla="*/ 43 w 53"/>
                <a:gd name="T13" fmla="*/ 42 h 66"/>
                <a:gd name="T14" fmla="*/ 28 w 53"/>
                <a:gd name="T15" fmla="*/ 57 h 66"/>
                <a:gd name="T16" fmla="*/ 11 w 53"/>
                <a:gd name="T17" fmla="*/ 33 h 66"/>
                <a:gd name="T18" fmla="*/ 29 w 53"/>
                <a:gd name="T19" fmla="*/ 9 h 66"/>
                <a:gd name="T20" fmla="*/ 43 w 53"/>
                <a:gd name="T21" fmla="*/ 23 h 66"/>
                <a:gd name="T22" fmla="*/ 53 w 53"/>
                <a:gd name="T23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66">
                  <a:moveTo>
                    <a:pt x="53" y="23"/>
                  </a:moveTo>
                  <a:lnTo>
                    <a:pt x="53" y="23"/>
                  </a:lnTo>
                  <a:cubicBezTo>
                    <a:pt x="53" y="12"/>
                    <a:pt x="46" y="0"/>
                    <a:pt x="30" y="0"/>
                  </a:cubicBezTo>
                  <a:cubicBezTo>
                    <a:pt x="10" y="0"/>
                    <a:pt x="0" y="15"/>
                    <a:pt x="0" y="34"/>
                  </a:cubicBezTo>
                  <a:cubicBezTo>
                    <a:pt x="0" y="52"/>
                    <a:pt x="11" y="66"/>
                    <a:pt x="28" y="66"/>
                  </a:cubicBezTo>
                  <a:cubicBezTo>
                    <a:pt x="46" y="66"/>
                    <a:pt x="52" y="52"/>
                    <a:pt x="53" y="42"/>
                  </a:cubicBezTo>
                  <a:lnTo>
                    <a:pt x="43" y="42"/>
                  </a:lnTo>
                  <a:cubicBezTo>
                    <a:pt x="42" y="51"/>
                    <a:pt x="35" y="57"/>
                    <a:pt x="28" y="57"/>
                  </a:cubicBezTo>
                  <a:cubicBezTo>
                    <a:pt x="14" y="57"/>
                    <a:pt x="11" y="43"/>
                    <a:pt x="11" y="33"/>
                  </a:cubicBezTo>
                  <a:cubicBezTo>
                    <a:pt x="11" y="22"/>
                    <a:pt x="16" y="9"/>
                    <a:pt x="29" y="9"/>
                  </a:cubicBezTo>
                  <a:cubicBezTo>
                    <a:pt x="37" y="9"/>
                    <a:pt x="42" y="14"/>
                    <a:pt x="43" y="23"/>
                  </a:cubicBezTo>
                  <a:lnTo>
                    <a:pt x="53" y="2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5139136A-4938-AA8D-0B7A-4766B179B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3330"/>
              <a:ext cx="51" cy="95"/>
            </a:xfrm>
            <a:custGeom>
              <a:avLst/>
              <a:gdLst>
                <a:gd name="T0" fmla="*/ 27 w 52"/>
                <a:gd name="T1" fmla="*/ 47 h 86"/>
                <a:gd name="T2" fmla="*/ 27 w 52"/>
                <a:gd name="T3" fmla="*/ 47 h 86"/>
                <a:gd name="T4" fmla="*/ 50 w 52"/>
                <a:gd name="T5" fmla="*/ 24 h 86"/>
                <a:gd name="T6" fmla="*/ 37 w 52"/>
                <a:gd name="T7" fmla="*/ 24 h 86"/>
                <a:gd name="T8" fmla="*/ 10 w 52"/>
                <a:gd name="T9" fmla="*/ 50 h 86"/>
                <a:gd name="T10" fmla="*/ 10 w 52"/>
                <a:gd name="T11" fmla="*/ 0 h 86"/>
                <a:gd name="T12" fmla="*/ 0 w 52"/>
                <a:gd name="T13" fmla="*/ 0 h 86"/>
                <a:gd name="T14" fmla="*/ 0 w 52"/>
                <a:gd name="T15" fmla="*/ 86 h 86"/>
                <a:gd name="T16" fmla="*/ 10 w 52"/>
                <a:gd name="T17" fmla="*/ 86 h 86"/>
                <a:gd name="T18" fmla="*/ 10 w 52"/>
                <a:gd name="T19" fmla="*/ 62 h 86"/>
                <a:gd name="T20" fmla="*/ 19 w 52"/>
                <a:gd name="T21" fmla="*/ 54 h 86"/>
                <a:gd name="T22" fmla="*/ 38 w 52"/>
                <a:gd name="T23" fmla="*/ 86 h 86"/>
                <a:gd name="T24" fmla="*/ 52 w 52"/>
                <a:gd name="T25" fmla="*/ 86 h 86"/>
                <a:gd name="T26" fmla="*/ 27 w 52"/>
                <a:gd name="T27" fmla="*/ 47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" h="86">
                  <a:moveTo>
                    <a:pt x="27" y="47"/>
                  </a:moveTo>
                  <a:lnTo>
                    <a:pt x="27" y="47"/>
                  </a:lnTo>
                  <a:lnTo>
                    <a:pt x="50" y="24"/>
                  </a:lnTo>
                  <a:lnTo>
                    <a:pt x="37" y="24"/>
                  </a:lnTo>
                  <a:lnTo>
                    <a:pt x="10" y="5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lnTo>
                    <a:pt x="10" y="62"/>
                  </a:lnTo>
                  <a:lnTo>
                    <a:pt x="19" y="54"/>
                  </a:lnTo>
                  <a:lnTo>
                    <a:pt x="38" y="86"/>
                  </a:lnTo>
                  <a:lnTo>
                    <a:pt x="52" y="86"/>
                  </a:lnTo>
                  <a:lnTo>
                    <a:pt x="27" y="47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39EF507A-03D2-20F1-A14B-AD2BA74B8F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6" y="3501"/>
              <a:ext cx="57" cy="73"/>
            </a:xfrm>
            <a:custGeom>
              <a:avLst/>
              <a:gdLst>
                <a:gd name="T0" fmla="*/ 12 w 58"/>
                <a:gd name="T1" fmla="*/ 21 h 66"/>
                <a:gd name="T2" fmla="*/ 12 w 58"/>
                <a:gd name="T3" fmla="*/ 21 h 66"/>
                <a:gd name="T4" fmla="*/ 27 w 58"/>
                <a:gd name="T5" fmla="*/ 9 h 66"/>
                <a:gd name="T6" fmla="*/ 41 w 58"/>
                <a:gd name="T7" fmla="*/ 19 h 66"/>
                <a:gd name="T8" fmla="*/ 36 w 58"/>
                <a:gd name="T9" fmla="*/ 26 h 66"/>
                <a:gd name="T10" fmla="*/ 19 w 58"/>
                <a:gd name="T11" fmla="*/ 28 h 66"/>
                <a:gd name="T12" fmla="*/ 0 w 58"/>
                <a:gd name="T13" fmla="*/ 48 h 66"/>
                <a:gd name="T14" fmla="*/ 19 w 58"/>
                <a:gd name="T15" fmla="*/ 66 h 66"/>
                <a:gd name="T16" fmla="*/ 42 w 58"/>
                <a:gd name="T17" fmla="*/ 56 h 66"/>
                <a:gd name="T18" fmla="*/ 53 w 58"/>
                <a:gd name="T19" fmla="*/ 65 h 66"/>
                <a:gd name="T20" fmla="*/ 58 w 58"/>
                <a:gd name="T21" fmla="*/ 64 h 66"/>
                <a:gd name="T22" fmla="*/ 58 w 58"/>
                <a:gd name="T23" fmla="*/ 57 h 66"/>
                <a:gd name="T24" fmla="*/ 55 w 58"/>
                <a:gd name="T25" fmla="*/ 57 h 66"/>
                <a:gd name="T26" fmla="*/ 52 w 58"/>
                <a:gd name="T27" fmla="*/ 53 h 66"/>
                <a:gd name="T28" fmla="*/ 52 w 58"/>
                <a:gd name="T29" fmla="*/ 18 h 66"/>
                <a:gd name="T30" fmla="*/ 28 w 58"/>
                <a:gd name="T31" fmla="*/ 0 h 66"/>
                <a:gd name="T32" fmla="*/ 3 w 58"/>
                <a:gd name="T33" fmla="*/ 21 h 66"/>
                <a:gd name="T34" fmla="*/ 12 w 58"/>
                <a:gd name="T35" fmla="*/ 21 h 66"/>
                <a:gd name="T36" fmla="*/ 41 w 58"/>
                <a:gd name="T37" fmla="*/ 43 h 66"/>
                <a:gd name="T38" fmla="*/ 41 w 58"/>
                <a:gd name="T39" fmla="*/ 43 h 66"/>
                <a:gd name="T40" fmla="*/ 22 w 58"/>
                <a:gd name="T41" fmla="*/ 57 h 66"/>
                <a:gd name="T42" fmla="*/ 10 w 58"/>
                <a:gd name="T43" fmla="*/ 46 h 66"/>
                <a:gd name="T44" fmla="*/ 24 w 58"/>
                <a:gd name="T45" fmla="*/ 36 h 66"/>
                <a:gd name="T46" fmla="*/ 41 w 58"/>
                <a:gd name="T47" fmla="*/ 32 h 66"/>
                <a:gd name="T48" fmla="*/ 41 w 58"/>
                <a:gd name="T49" fmla="*/ 4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8" h="66">
                  <a:moveTo>
                    <a:pt x="12" y="21"/>
                  </a:moveTo>
                  <a:lnTo>
                    <a:pt x="12" y="21"/>
                  </a:lnTo>
                  <a:cubicBezTo>
                    <a:pt x="13" y="16"/>
                    <a:pt x="15" y="9"/>
                    <a:pt x="27" y="9"/>
                  </a:cubicBezTo>
                  <a:cubicBezTo>
                    <a:pt x="37" y="9"/>
                    <a:pt x="41" y="12"/>
                    <a:pt x="41" y="19"/>
                  </a:cubicBezTo>
                  <a:cubicBezTo>
                    <a:pt x="41" y="25"/>
                    <a:pt x="38" y="26"/>
                    <a:pt x="36" y="26"/>
                  </a:cubicBezTo>
                  <a:lnTo>
                    <a:pt x="19" y="28"/>
                  </a:lnTo>
                  <a:cubicBezTo>
                    <a:pt x="1" y="31"/>
                    <a:pt x="0" y="43"/>
                    <a:pt x="0" y="48"/>
                  </a:cubicBezTo>
                  <a:cubicBezTo>
                    <a:pt x="0" y="59"/>
                    <a:pt x="8" y="66"/>
                    <a:pt x="19" y="66"/>
                  </a:cubicBezTo>
                  <a:cubicBezTo>
                    <a:pt x="31" y="66"/>
                    <a:pt x="38" y="60"/>
                    <a:pt x="42" y="56"/>
                  </a:cubicBezTo>
                  <a:cubicBezTo>
                    <a:pt x="42" y="61"/>
                    <a:pt x="43" y="65"/>
                    <a:pt x="53" y="65"/>
                  </a:cubicBezTo>
                  <a:cubicBezTo>
                    <a:pt x="55" y="65"/>
                    <a:pt x="57" y="65"/>
                    <a:pt x="58" y="64"/>
                  </a:cubicBezTo>
                  <a:lnTo>
                    <a:pt x="58" y="57"/>
                  </a:lnTo>
                  <a:cubicBezTo>
                    <a:pt x="57" y="57"/>
                    <a:pt x="56" y="57"/>
                    <a:pt x="55" y="57"/>
                  </a:cubicBezTo>
                  <a:cubicBezTo>
                    <a:pt x="53" y="57"/>
                    <a:pt x="52" y="56"/>
                    <a:pt x="52" y="53"/>
                  </a:cubicBezTo>
                  <a:lnTo>
                    <a:pt x="52" y="18"/>
                  </a:lnTo>
                  <a:cubicBezTo>
                    <a:pt x="52" y="2"/>
                    <a:pt x="33" y="0"/>
                    <a:pt x="28" y="0"/>
                  </a:cubicBezTo>
                  <a:cubicBezTo>
                    <a:pt x="13" y="0"/>
                    <a:pt x="3" y="6"/>
                    <a:pt x="3" y="21"/>
                  </a:cubicBezTo>
                  <a:lnTo>
                    <a:pt x="12" y="21"/>
                  </a:lnTo>
                  <a:close/>
                  <a:moveTo>
                    <a:pt x="41" y="43"/>
                  </a:moveTo>
                  <a:lnTo>
                    <a:pt x="41" y="43"/>
                  </a:lnTo>
                  <a:cubicBezTo>
                    <a:pt x="41" y="51"/>
                    <a:pt x="32" y="57"/>
                    <a:pt x="22" y="57"/>
                  </a:cubicBezTo>
                  <a:cubicBezTo>
                    <a:pt x="14" y="57"/>
                    <a:pt x="10" y="53"/>
                    <a:pt x="10" y="46"/>
                  </a:cubicBezTo>
                  <a:cubicBezTo>
                    <a:pt x="10" y="39"/>
                    <a:pt x="19" y="37"/>
                    <a:pt x="24" y="36"/>
                  </a:cubicBezTo>
                  <a:cubicBezTo>
                    <a:pt x="37" y="35"/>
                    <a:pt x="39" y="34"/>
                    <a:pt x="41" y="32"/>
                  </a:cubicBezTo>
                  <a:lnTo>
                    <a:pt x="41" y="4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4995DB6A-9A03-5B25-6649-919DCD959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3477"/>
              <a:ext cx="28" cy="95"/>
            </a:xfrm>
            <a:custGeom>
              <a:avLst/>
              <a:gdLst>
                <a:gd name="T0" fmla="*/ 29 w 29"/>
                <a:gd name="T1" fmla="*/ 33 h 86"/>
                <a:gd name="T2" fmla="*/ 29 w 29"/>
                <a:gd name="T3" fmla="*/ 33 h 86"/>
                <a:gd name="T4" fmla="*/ 29 w 29"/>
                <a:gd name="T5" fmla="*/ 24 h 86"/>
                <a:gd name="T6" fmla="*/ 19 w 29"/>
                <a:gd name="T7" fmla="*/ 24 h 86"/>
                <a:gd name="T8" fmla="*/ 19 w 29"/>
                <a:gd name="T9" fmla="*/ 16 h 86"/>
                <a:gd name="T10" fmla="*/ 25 w 29"/>
                <a:gd name="T11" fmla="*/ 9 h 86"/>
                <a:gd name="T12" fmla="*/ 29 w 29"/>
                <a:gd name="T13" fmla="*/ 9 h 86"/>
                <a:gd name="T14" fmla="*/ 29 w 29"/>
                <a:gd name="T15" fmla="*/ 0 h 86"/>
                <a:gd name="T16" fmla="*/ 25 w 29"/>
                <a:gd name="T17" fmla="*/ 0 h 86"/>
                <a:gd name="T18" fmla="*/ 8 w 29"/>
                <a:gd name="T19" fmla="*/ 13 h 86"/>
                <a:gd name="T20" fmla="*/ 8 w 29"/>
                <a:gd name="T21" fmla="*/ 24 h 86"/>
                <a:gd name="T22" fmla="*/ 0 w 29"/>
                <a:gd name="T23" fmla="*/ 24 h 86"/>
                <a:gd name="T24" fmla="*/ 0 w 29"/>
                <a:gd name="T25" fmla="*/ 33 h 86"/>
                <a:gd name="T26" fmla="*/ 8 w 29"/>
                <a:gd name="T27" fmla="*/ 33 h 86"/>
                <a:gd name="T28" fmla="*/ 8 w 29"/>
                <a:gd name="T29" fmla="*/ 86 h 86"/>
                <a:gd name="T30" fmla="*/ 19 w 29"/>
                <a:gd name="T31" fmla="*/ 86 h 86"/>
                <a:gd name="T32" fmla="*/ 19 w 29"/>
                <a:gd name="T33" fmla="*/ 33 h 86"/>
                <a:gd name="T34" fmla="*/ 29 w 29"/>
                <a:gd name="T35" fmla="*/ 3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6">
                  <a:moveTo>
                    <a:pt x="29" y="33"/>
                  </a:moveTo>
                  <a:lnTo>
                    <a:pt x="29" y="33"/>
                  </a:lnTo>
                  <a:lnTo>
                    <a:pt x="29" y="24"/>
                  </a:lnTo>
                  <a:lnTo>
                    <a:pt x="19" y="24"/>
                  </a:lnTo>
                  <a:lnTo>
                    <a:pt x="19" y="16"/>
                  </a:lnTo>
                  <a:cubicBezTo>
                    <a:pt x="19" y="11"/>
                    <a:pt x="20" y="9"/>
                    <a:pt x="25" y="9"/>
                  </a:cubicBezTo>
                  <a:cubicBezTo>
                    <a:pt x="26" y="9"/>
                    <a:pt x="28" y="9"/>
                    <a:pt x="29" y="9"/>
                  </a:cubicBezTo>
                  <a:lnTo>
                    <a:pt x="29" y="0"/>
                  </a:lnTo>
                  <a:cubicBezTo>
                    <a:pt x="28" y="0"/>
                    <a:pt x="26" y="0"/>
                    <a:pt x="25" y="0"/>
                  </a:cubicBezTo>
                  <a:cubicBezTo>
                    <a:pt x="14" y="0"/>
                    <a:pt x="8" y="4"/>
                    <a:pt x="8" y="13"/>
                  </a:cubicBezTo>
                  <a:lnTo>
                    <a:pt x="8" y="24"/>
                  </a:lnTo>
                  <a:lnTo>
                    <a:pt x="0" y="24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8" y="86"/>
                  </a:lnTo>
                  <a:lnTo>
                    <a:pt x="19" y="86"/>
                  </a:lnTo>
                  <a:lnTo>
                    <a:pt x="19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AEE21366-C8E4-7A47-C049-9542D0649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485"/>
              <a:ext cx="28" cy="88"/>
            </a:xfrm>
            <a:custGeom>
              <a:avLst/>
              <a:gdLst>
                <a:gd name="T0" fmla="*/ 29 w 29"/>
                <a:gd name="T1" fmla="*/ 26 h 80"/>
                <a:gd name="T2" fmla="*/ 29 w 29"/>
                <a:gd name="T3" fmla="*/ 26 h 80"/>
                <a:gd name="T4" fmla="*/ 29 w 29"/>
                <a:gd name="T5" fmla="*/ 17 h 80"/>
                <a:gd name="T6" fmla="*/ 19 w 29"/>
                <a:gd name="T7" fmla="*/ 17 h 80"/>
                <a:gd name="T8" fmla="*/ 19 w 29"/>
                <a:gd name="T9" fmla="*/ 0 h 80"/>
                <a:gd name="T10" fmla="*/ 9 w 29"/>
                <a:gd name="T11" fmla="*/ 0 h 80"/>
                <a:gd name="T12" fmla="*/ 9 w 29"/>
                <a:gd name="T13" fmla="*/ 17 h 80"/>
                <a:gd name="T14" fmla="*/ 0 w 29"/>
                <a:gd name="T15" fmla="*/ 17 h 80"/>
                <a:gd name="T16" fmla="*/ 0 w 29"/>
                <a:gd name="T17" fmla="*/ 26 h 80"/>
                <a:gd name="T18" fmla="*/ 9 w 29"/>
                <a:gd name="T19" fmla="*/ 26 h 80"/>
                <a:gd name="T20" fmla="*/ 9 w 29"/>
                <a:gd name="T21" fmla="*/ 67 h 80"/>
                <a:gd name="T22" fmla="*/ 21 w 29"/>
                <a:gd name="T23" fmla="*/ 80 h 80"/>
                <a:gd name="T24" fmla="*/ 29 w 29"/>
                <a:gd name="T25" fmla="*/ 79 h 80"/>
                <a:gd name="T26" fmla="*/ 29 w 29"/>
                <a:gd name="T27" fmla="*/ 71 h 80"/>
                <a:gd name="T28" fmla="*/ 25 w 29"/>
                <a:gd name="T29" fmla="*/ 71 h 80"/>
                <a:gd name="T30" fmla="*/ 19 w 29"/>
                <a:gd name="T31" fmla="*/ 66 h 80"/>
                <a:gd name="T32" fmla="*/ 19 w 29"/>
                <a:gd name="T33" fmla="*/ 26 h 80"/>
                <a:gd name="T34" fmla="*/ 29 w 29"/>
                <a:gd name="T35" fmla="*/ 26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0">
                  <a:moveTo>
                    <a:pt x="29" y="26"/>
                  </a:moveTo>
                  <a:lnTo>
                    <a:pt x="29" y="26"/>
                  </a:lnTo>
                  <a:lnTo>
                    <a:pt x="29" y="17"/>
                  </a:lnTo>
                  <a:lnTo>
                    <a:pt x="19" y="17"/>
                  </a:lnTo>
                  <a:lnTo>
                    <a:pt x="19" y="0"/>
                  </a:lnTo>
                  <a:lnTo>
                    <a:pt x="9" y="0"/>
                  </a:lnTo>
                  <a:lnTo>
                    <a:pt x="9" y="17"/>
                  </a:lnTo>
                  <a:lnTo>
                    <a:pt x="0" y="17"/>
                  </a:lnTo>
                  <a:lnTo>
                    <a:pt x="0" y="26"/>
                  </a:lnTo>
                  <a:lnTo>
                    <a:pt x="9" y="26"/>
                  </a:lnTo>
                  <a:lnTo>
                    <a:pt x="9" y="67"/>
                  </a:lnTo>
                  <a:cubicBezTo>
                    <a:pt x="9" y="74"/>
                    <a:pt x="11" y="80"/>
                    <a:pt x="21" y="80"/>
                  </a:cubicBezTo>
                  <a:cubicBezTo>
                    <a:pt x="22" y="80"/>
                    <a:pt x="25" y="80"/>
                    <a:pt x="29" y="79"/>
                  </a:cubicBezTo>
                  <a:lnTo>
                    <a:pt x="29" y="71"/>
                  </a:lnTo>
                  <a:lnTo>
                    <a:pt x="25" y="71"/>
                  </a:lnTo>
                  <a:cubicBezTo>
                    <a:pt x="23" y="71"/>
                    <a:pt x="19" y="71"/>
                    <a:pt x="19" y="66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AE7B5C65-4984-9AC4-1B44-59362AECAC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17" y="3501"/>
              <a:ext cx="54" cy="73"/>
            </a:xfrm>
            <a:custGeom>
              <a:avLst/>
              <a:gdLst>
                <a:gd name="T0" fmla="*/ 45 w 56"/>
                <a:gd name="T1" fmla="*/ 45 h 66"/>
                <a:gd name="T2" fmla="*/ 45 w 56"/>
                <a:gd name="T3" fmla="*/ 45 h 66"/>
                <a:gd name="T4" fmla="*/ 29 w 56"/>
                <a:gd name="T5" fmla="*/ 57 h 66"/>
                <a:gd name="T6" fmla="*/ 11 w 56"/>
                <a:gd name="T7" fmla="*/ 36 h 66"/>
                <a:gd name="T8" fmla="*/ 56 w 56"/>
                <a:gd name="T9" fmla="*/ 36 h 66"/>
                <a:gd name="T10" fmla="*/ 29 w 56"/>
                <a:gd name="T11" fmla="*/ 0 h 66"/>
                <a:gd name="T12" fmla="*/ 0 w 56"/>
                <a:gd name="T13" fmla="*/ 35 h 66"/>
                <a:gd name="T14" fmla="*/ 27 w 56"/>
                <a:gd name="T15" fmla="*/ 66 h 66"/>
                <a:gd name="T16" fmla="*/ 44 w 56"/>
                <a:gd name="T17" fmla="*/ 62 h 66"/>
                <a:gd name="T18" fmla="*/ 55 w 56"/>
                <a:gd name="T19" fmla="*/ 45 h 66"/>
                <a:gd name="T20" fmla="*/ 45 w 56"/>
                <a:gd name="T21" fmla="*/ 45 h 66"/>
                <a:gd name="T22" fmla="*/ 11 w 56"/>
                <a:gd name="T23" fmla="*/ 28 h 66"/>
                <a:gd name="T24" fmla="*/ 11 w 56"/>
                <a:gd name="T25" fmla="*/ 28 h 66"/>
                <a:gd name="T26" fmla="*/ 28 w 56"/>
                <a:gd name="T27" fmla="*/ 10 h 66"/>
                <a:gd name="T28" fmla="*/ 45 w 56"/>
                <a:gd name="T29" fmla="*/ 28 h 66"/>
                <a:gd name="T30" fmla="*/ 11 w 56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66">
                  <a:moveTo>
                    <a:pt x="45" y="45"/>
                  </a:moveTo>
                  <a:lnTo>
                    <a:pt x="45" y="45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6" y="36"/>
                  </a:lnTo>
                  <a:cubicBezTo>
                    <a:pt x="56" y="14"/>
                    <a:pt x="47" y="0"/>
                    <a:pt x="29" y="0"/>
                  </a:cubicBezTo>
                  <a:cubicBezTo>
                    <a:pt x="9" y="0"/>
                    <a:pt x="0" y="15"/>
                    <a:pt x="0" y="35"/>
                  </a:cubicBezTo>
                  <a:cubicBezTo>
                    <a:pt x="0" y="53"/>
                    <a:pt x="10" y="66"/>
                    <a:pt x="27" y="66"/>
                  </a:cubicBezTo>
                  <a:cubicBezTo>
                    <a:pt x="37" y="66"/>
                    <a:pt x="41" y="64"/>
                    <a:pt x="44" y="62"/>
                  </a:cubicBezTo>
                  <a:cubicBezTo>
                    <a:pt x="52" y="56"/>
                    <a:pt x="55" y="48"/>
                    <a:pt x="55" y="45"/>
                  </a:cubicBezTo>
                  <a:lnTo>
                    <a:pt x="45" y="45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8" y="10"/>
                    <a:pt x="28" y="10"/>
                  </a:cubicBezTo>
                  <a:cubicBezTo>
                    <a:pt x="41" y="10"/>
                    <a:pt x="45" y="18"/>
                    <a:pt x="45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26927B9C-F0B7-E38E-9CF3-0130F7B6C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3501"/>
              <a:ext cx="29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6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19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2D34934B-BA8E-E931-75E6-B3DAC5AB35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73" y="3625"/>
              <a:ext cx="54" cy="95"/>
            </a:xfrm>
            <a:custGeom>
              <a:avLst/>
              <a:gdLst>
                <a:gd name="T0" fmla="*/ 10 w 55"/>
                <a:gd name="T1" fmla="*/ 85 h 87"/>
                <a:gd name="T2" fmla="*/ 10 w 55"/>
                <a:gd name="T3" fmla="*/ 85 h 87"/>
                <a:gd name="T4" fmla="*/ 10 w 55"/>
                <a:gd name="T5" fmla="*/ 78 h 87"/>
                <a:gd name="T6" fmla="*/ 10 w 55"/>
                <a:gd name="T7" fmla="*/ 78 h 87"/>
                <a:gd name="T8" fmla="*/ 27 w 55"/>
                <a:gd name="T9" fmla="*/ 87 h 87"/>
                <a:gd name="T10" fmla="*/ 55 w 55"/>
                <a:gd name="T11" fmla="*/ 53 h 87"/>
                <a:gd name="T12" fmla="*/ 29 w 55"/>
                <a:gd name="T13" fmla="*/ 21 h 87"/>
                <a:gd name="T14" fmla="*/ 11 w 55"/>
                <a:gd name="T15" fmla="*/ 31 h 87"/>
                <a:gd name="T16" fmla="*/ 10 w 55"/>
                <a:gd name="T17" fmla="*/ 31 h 87"/>
                <a:gd name="T18" fmla="*/ 10 w 55"/>
                <a:gd name="T19" fmla="*/ 0 h 87"/>
                <a:gd name="T20" fmla="*/ 0 w 55"/>
                <a:gd name="T21" fmla="*/ 0 h 87"/>
                <a:gd name="T22" fmla="*/ 0 w 55"/>
                <a:gd name="T23" fmla="*/ 85 h 87"/>
                <a:gd name="T24" fmla="*/ 10 w 55"/>
                <a:gd name="T25" fmla="*/ 85 h 87"/>
                <a:gd name="T26" fmla="*/ 44 w 55"/>
                <a:gd name="T27" fmla="*/ 54 h 87"/>
                <a:gd name="T28" fmla="*/ 44 w 55"/>
                <a:gd name="T29" fmla="*/ 54 h 87"/>
                <a:gd name="T30" fmla="*/ 27 w 55"/>
                <a:gd name="T31" fmla="*/ 78 h 87"/>
                <a:gd name="T32" fmla="*/ 10 w 55"/>
                <a:gd name="T33" fmla="*/ 57 h 87"/>
                <a:gd name="T34" fmla="*/ 27 w 55"/>
                <a:gd name="T35" fmla="*/ 31 h 87"/>
                <a:gd name="T36" fmla="*/ 44 w 55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" h="87">
                  <a:moveTo>
                    <a:pt x="10" y="85"/>
                  </a:moveTo>
                  <a:lnTo>
                    <a:pt x="10" y="85"/>
                  </a:lnTo>
                  <a:lnTo>
                    <a:pt x="10" y="78"/>
                  </a:lnTo>
                  <a:lnTo>
                    <a:pt x="10" y="78"/>
                  </a:lnTo>
                  <a:cubicBezTo>
                    <a:pt x="12" y="81"/>
                    <a:pt x="17" y="87"/>
                    <a:pt x="27" y="87"/>
                  </a:cubicBezTo>
                  <a:cubicBezTo>
                    <a:pt x="48" y="87"/>
                    <a:pt x="55" y="67"/>
                    <a:pt x="55" y="53"/>
                  </a:cubicBezTo>
                  <a:cubicBezTo>
                    <a:pt x="55" y="35"/>
                    <a:pt x="45" y="21"/>
                    <a:pt x="29" y="21"/>
                  </a:cubicBezTo>
                  <a:cubicBezTo>
                    <a:pt x="21" y="22"/>
                    <a:pt x="15" y="25"/>
                    <a:pt x="11" y="31"/>
                  </a:cubicBezTo>
                  <a:lnTo>
                    <a:pt x="10" y="31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85"/>
                  </a:lnTo>
                  <a:lnTo>
                    <a:pt x="10" y="85"/>
                  </a:lnTo>
                  <a:close/>
                  <a:moveTo>
                    <a:pt x="44" y="54"/>
                  </a:moveTo>
                  <a:lnTo>
                    <a:pt x="44" y="54"/>
                  </a:lnTo>
                  <a:cubicBezTo>
                    <a:pt x="44" y="68"/>
                    <a:pt x="38" y="78"/>
                    <a:pt x="27" y="78"/>
                  </a:cubicBezTo>
                  <a:cubicBezTo>
                    <a:pt x="20" y="78"/>
                    <a:pt x="10" y="74"/>
                    <a:pt x="10" y="57"/>
                  </a:cubicBezTo>
                  <a:cubicBezTo>
                    <a:pt x="10" y="47"/>
                    <a:pt x="12" y="31"/>
                    <a:pt x="27" y="31"/>
                  </a:cubicBezTo>
                  <a:cubicBezTo>
                    <a:pt x="43" y="31"/>
                    <a:pt x="44" y="46"/>
                    <a:pt x="44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4C36B47D-7F08-03C1-E143-64EC8CD58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471"/>
              <a:ext cx="29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6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19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2637A63E-23C2-3820-5E86-BBB33A41CC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52" y="1471"/>
              <a:ext cx="55" cy="73"/>
            </a:xfrm>
            <a:custGeom>
              <a:avLst/>
              <a:gdLst>
                <a:gd name="T0" fmla="*/ 46 w 57"/>
                <a:gd name="T1" fmla="*/ 44 h 66"/>
                <a:gd name="T2" fmla="*/ 46 w 57"/>
                <a:gd name="T3" fmla="*/ 44 h 66"/>
                <a:gd name="T4" fmla="*/ 29 w 57"/>
                <a:gd name="T5" fmla="*/ 57 h 66"/>
                <a:gd name="T6" fmla="*/ 11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4 h 66"/>
                <a:gd name="T14" fmla="*/ 28 w 57"/>
                <a:gd name="T15" fmla="*/ 66 h 66"/>
                <a:gd name="T16" fmla="*/ 45 w 57"/>
                <a:gd name="T17" fmla="*/ 61 h 66"/>
                <a:gd name="T18" fmla="*/ 56 w 57"/>
                <a:gd name="T19" fmla="*/ 44 h 66"/>
                <a:gd name="T20" fmla="*/ 46 w 57"/>
                <a:gd name="T21" fmla="*/ 44 h 66"/>
                <a:gd name="T22" fmla="*/ 11 w 57"/>
                <a:gd name="T23" fmla="*/ 28 h 66"/>
                <a:gd name="T24" fmla="*/ 11 w 57"/>
                <a:gd name="T25" fmla="*/ 28 h 66"/>
                <a:gd name="T26" fmla="*/ 29 w 57"/>
                <a:gd name="T27" fmla="*/ 9 h 66"/>
                <a:gd name="T28" fmla="*/ 46 w 57"/>
                <a:gd name="T29" fmla="*/ 28 h 66"/>
                <a:gd name="T30" fmla="*/ 11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4"/>
                  </a:moveTo>
                  <a:lnTo>
                    <a:pt x="46" y="44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4"/>
                  </a:cubicBezTo>
                  <a:cubicBezTo>
                    <a:pt x="0" y="52"/>
                    <a:pt x="11" y="66"/>
                    <a:pt x="28" y="66"/>
                  </a:cubicBezTo>
                  <a:cubicBezTo>
                    <a:pt x="38" y="66"/>
                    <a:pt x="42" y="63"/>
                    <a:pt x="45" y="61"/>
                  </a:cubicBezTo>
                  <a:cubicBezTo>
                    <a:pt x="53" y="56"/>
                    <a:pt x="56" y="47"/>
                    <a:pt x="56" y="44"/>
                  </a:cubicBezTo>
                  <a:lnTo>
                    <a:pt x="46" y="44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9"/>
                    <a:pt x="29" y="9"/>
                  </a:cubicBezTo>
                  <a:cubicBezTo>
                    <a:pt x="41" y="9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2EDE40F5-4C6D-FE7D-EAE3-0E4750AAE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1446"/>
              <a:ext cx="28" cy="96"/>
            </a:xfrm>
            <a:custGeom>
              <a:avLst/>
              <a:gdLst>
                <a:gd name="T0" fmla="*/ 29 w 29"/>
                <a:gd name="T1" fmla="*/ 33 h 87"/>
                <a:gd name="T2" fmla="*/ 29 w 29"/>
                <a:gd name="T3" fmla="*/ 33 h 87"/>
                <a:gd name="T4" fmla="*/ 29 w 29"/>
                <a:gd name="T5" fmla="*/ 25 h 87"/>
                <a:gd name="T6" fmla="*/ 19 w 29"/>
                <a:gd name="T7" fmla="*/ 25 h 87"/>
                <a:gd name="T8" fmla="*/ 19 w 29"/>
                <a:gd name="T9" fmla="*/ 17 h 87"/>
                <a:gd name="T10" fmla="*/ 25 w 29"/>
                <a:gd name="T11" fmla="*/ 10 h 87"/>
                <a:gd name="T12" fmla="*/ 29 w 29"/>
                <a:gd name="T13" fmla="*/ 10 h 87"/>
                <a:gd name="T14" fmla="*/ 29 w 29"/>
                <a:gd name="T15" fmla="*/ 0 h 87"/>
                <a:gd name="T16" fmla="*/ 25 w 29"/>
                <a:gd name="T17" fmla="*/ 0 h 87"/>
                <a:gd name="T18" fmla="*/ 8 w 29"/>
                <a:gd name="T19" fmla="*/ 14 h 87"/>
                <a:gd name="T20" fmla="*/ 8 w 29"/>
                <a:gd name="T21" fmla="*/ 25 h 87"/>
                <a:gd name="T22" fmla="*/ 0 w 29"/>
                <a:gd name="T23" fmla="*/ 25 h 87"/>
                <a:gd name="T24" fmla="*/ 0 w 29"/>
                <a:gd name="T25" fmla="*/ 33 h 87"/>
                <a:gd name="T26" fmla="*/ 8 w 29"/>
                <a:gd name="T27" fmla="*/ 33 h 87"/>
                <a:gd name="T28" fmla="*/ 8 w 29"/>
                <a:gd name="T29" fmla="*/ 87 h 87"/>
                <a:gd name="T30" fmla="*/ 19 w 29"/>
                <a:gd name="T31" fmla="*/ 87 h 87"/>
                <a:gd name="T32" fmla="*/ 19 w 29"/>
                <a:gd name="T33" fmla="*/ 33 h 87"/>
                <a:gd name="T34" fmla="*/ 29 w 29"/>
                <a:gd name="T35" fmla="*/ 3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7">
                  <a:moveTo>
                    <a:pt x="29" y="33"/>
                  </a:moveTo>
                  <a:lnTo>
                    <a:pt x="29" y="33"/>
                  </a:lnTo>
                  <a:lnTo>
                    <a:pt x="29" y="25"/>
                  </a:lnTo>
                  <a:lnTo>
                    <a:pt x="19" y="25"/>
                  </a:lnTo>
                  <a:lnTo>
                    <a:pt x="19" y="17"/>
                  </a:lnTo>
                  <a:cubicBezTo>
                    <a:pt x="19" y="12"/>
                    <a:pt x="21" y="10"/>
                    <a:pt x="25" y="10"/>
                  </a:cubicBezTo>
                  <a:cubicBezTo>
                    <a:pt x="26" y="10"/>
                    <a:pt x="28" y="10"/>
                    <a:pt x="29" y="10"/>
                  </a:cubicBezTo>
                  <a:lnTo>
                    <a:pt x="29" y="0"/>
                  </a:lnTo>
                  <a:cubicBezTo>
                    <a:pt x="28" y="0"/>
                    <a:pt x="26" y="0"/>
                    <a:pt x="25" y="0"/>
                  </a:cubicBezTo>
                  <a:cubicBezTo>
                    <a:pt x="14" y="0"/>
                    <a:pt x="8" y="5"/>
                    <a:pt x="8" y="14"/>
                  </a:cubicBezTo>
                  <a:lnTo>
                    <a:pt x="8" y="25"/>
                  </a:lnTo>
                  <a:lnTo>
                    <a:pt x="0" y="25"/>
                  </a:lnTo>
                  <a:lnTo>
                    <a:pt x="0" y="33"/>
                  </a:lnTo>
                  <a:lnTo>
                    <a:pt x="8" y="33"/>
                  </a:lnTo>
                  <a:lnTo>
                    <a:pt x="8" y="87"/>
                  </a:lnTo>
                  <a:lnTo>
                    <a:pt x="19" y="87"/>
                  </a:lnTo>
                  <a:lnTo>
                    <a:pt x="19" y="33"/>
                  </a:lnTo>
                  <a:lnTo>
                    <a:pt x="29" y="3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B029D9E2-6816-D706-873B-E1B5CE14EC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6" y="1471"/>
              <a:ext cx="55" cy="73"/>
            </a:xfrm>
            <a:custGeom>
              <a:avLst/>
              <a:gdLst>
                <a:gd name="T0" fmla="*/ 45 w 56"/>
                <a:gd name="T1" fmla="*/ 44 h 66"/>
                <a:gd name="T2" fmla="*/ 45 w 56"/>
                <a:gd name="T3" fmla="*/ 44 h 66"/>
                <a:gd name="T4" fmla="*/ 29 w 56"/>
                <a:gd name="T5" fmla="*/ 57 h 66"/>
                <a:gd name="T6" fmla="*/ 11 w 56"/>
                <a:gd name="T7" fmla="*/ 36 h 66"/>
                <a:gd name="T8" fmla="*/ 56 w 56"/>
                <a:gd name="T9" fmla="*/ 36 h 66"/>
                <a:gd name="T10" fmla="*/ 30 w 56"/>
                <a:gd name="T11" fmla="*/ 0 h 66"/>
                <a:gd name="T12" fmla="*/ 0 w 56"/>
                <a:gd name="T13" fmla="*/ 34 h 66"/>
                <a:gd name="T14" fmla="*/ 28 w 56"/>
                <a:gd name="T15" fmla="*/ 66 h 66"/>
                <a:gd name="T16" fmla="*/ 44 w 56"/>
                <a:gd name="T17" fmla="*/ 61 h 66"/>
                <a:gd name="T18" fmla="*/ 56 w 56"/>
                <a:gd name="T19" fmla="*/ 44 h 66"/>
                <a:gd name="T20" fmla="*/ 45 w 56"/>
                <a:gd name="T21" fmla="*/ 44 h 66"/>
                <a:gd name="T22" fmla="*/ 11 w 56"/>
                <a:gd name="T23" fmla="*/ 28 h 66"/>
                <a:gd name="T24" fmla="*/ 11 w 56"/>
                <a:gd name="T25" fmla="*/ 28 h 66"/>
                <a:gd name="T26" fmla="*/ 28 w 56"/>
                <a:gd name="T27" fmla="*/ 9 h 66"/>
                <a:gd name="T28" fmla="*/ 46 w 56"/>
                <a:gd name="T29" fmla="*/ 28 h 66"/>
                <a:gd name="T30" fmla="*/ 11 w 56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66">
                  <a:moveTo>
                    <a:pt x="45" y="44"/>
                  </a:moveTo>
                  <a:lnTo>
                    <a:pt x="45" y="44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6" y="36"/>
                  </a:lnTo>
                  <a:cubicBezTo>
                    <a:pt x="56" y="14"/>
                    <a:pt x="48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38" y="66"/>
                    <a:pt x="42" y="63"/>
                    <a:pt x="44" y="61"/>
                  </a:cubicBezTo>
                  <a:cubicBezTo>
                    <a:pt x="52" y="56"/>
                    <a:pt x="55" y="47"/>
                    <a:pt x="56" y="44"/>
                  </a:cubicBezTo>
                  <a:lnTo>
                    <a:pt x="45" y="44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9"/>
                    <a:pt x="28" y="9"/>
                  </a:cubicBezTo>
                  <a:cubicBezTo>
                    <a:pt x="41" y="9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6042EE31-ACF9-51C3-E8DF-B2BC01B1E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1471"/>
              <a:ext cx="30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7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20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16E03F26-C144-F814-1733-0866818303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0" y="1471"/>
              <a:ext cx="55" cy="73"/>
            </a:xfrm>
            <a:custGeom>
              <a:avLst/>
              <a:gdLst>
                <a:gd name="T0" fmla="*/ 46 w 57"/>
                <a:gd name="T1" fmla="*/ 44 h 66"/>
                <a:gd name="T2" fmla="*/ 46 w 57"/>
                <a:gd name="T3" fmla="*/ 44 h 66"/>
                <a:gd name="T4" fmla="*/ 30 w 57"/>
                <a:gd name="T5" fmla="*/ 57 h 66"/>
                <a:gd name="T6" fmla="*/ 12 w 57"/>
                <a:gd name="T7" fmla="*/ 36 h 66"/>
                <a:gd name="T8" fmla="*/ 57 w 57"/>
                <a:gd name="T9" fmla="*/ 36 h 66"/>
                <a:gd name="T10" fmla="*/ 30 w 57"/>
                <a:gd name="T11" fmla="*/ 0 h 66"/>
                <a:gd name="T12" fmla="*/ 0 w 57"/>
                <a:gd name="T13" fmla="*/ 34 h 66"/>
                <a:gd name="T14" fmla="*/ 28 w 57"/>
                <a:gd name="T15" fmla="*/ 66 h 66"/>
                <a:gd name="T16" fmla="*/ 45 w 57"/>
                <a:gd name="T17" fmla="*/ 61 h 66"/>
                <a:gd name="T18" fmla="*/ 56 w 57"/>
                <a:gd name="T19" fmla="*/ 44 h 66"/>
                <a:gd name="T20" fmla="*/ 46 w 57"/>
                <a:gd name="T21" fmla="*/ 44 h 66"/>
                <a:gd name="T22" fmla="*/ 12 w 57"/>
                <a:gd name="T23" fmla="*/ 28 h 66"/>
                <a:gd name="T24" fmla="*/ 12 w 57"/>
                <a:gd name="T25" fmla="*/ 28 h 66"/>
                <a:gd name="T26" fmla="*/ 29 w 57"/>
                <a:gd name="T27" fmla="*/ 9 h 66"/>
                <a:gd name="T28" fmla="*/ 46 w 57"/>
                <a:gd name="T29" fmla="*/ 28 h 66"/>
                <a:gd name="T30" fmla="*/ 12 w 57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66">
                  <a:moveTo>
                    <a:pt x="46" y="44"/>
                  </a:moveTo>
                  <a:lnTo>
                    <a:pt x="46" y="44"/>
                  </a:lnTo>
                  <a:cubicBezTo>
                    <a:pt x="45" y="49"/>
                    <a:pt x="40" y="57"/>
                    <a:pt x="30" y="57"/>
                  </a:cubicBezTo>
                  <a:cubicBezTo>
                    <a:pt x="18" y="57"/>
                    <a:pt x="12" y="49"/>
                    <a:pt x="12" y="36"/>
                  </a:cubicBezTo>
                  <a:lnTo>
                    <a:pt x="57" y="36"/>
                  </a:lnTo>
                  <a:cubicBezTo>
                    <a:pt x="57" y="14"/>
                    <a:pt x="48" y="0"/>
                    <a:pt x="30" y="0"/>
                  </a:cubicBezTo>
                  <a:cubicBezTo>
                    <a:pt x="10" y="0"/>
                    <a:pt x="0" y="15"/>
                    <a:pt x="0" y="34"/>
                  </a:cubicBezTo>
                  <a:cubicBezTo>
                    <a:pt x="0" y="52"/>
                    <a:pt x="11" y="66"/>
                    <a:pt x="28" y="66"/>
                  </a:cubicBezTo>
                  <a:cubicBezTo>
                    <a:pt x="38" y="66"/>
                    <a:pt x="42" y="63"/>
                    <a:pt x="45" y="61"/>
                  </a:cubicBezTo>
                  <a:cubicBezTo>
                    <a:pt x="53" y="56"/>
                    <a:pt x="56" y="47"/>
                    <a:pt x="56" y="44"/>
                  </a:cubicBezTo>
                  <a:lnTo>
                    <a:pt x="46" y="44"/>
                  </a:lnTo>
                  <a:close/>
                  <a:moveTo>
                    <a:pt x="12" y="28"/>
                  </a:moveTo>
                  <a:lnTo>
                    <a:pt x="12" y="28"/>
                  </a:lnTo>
                  <a:cubicBezTo>
                    <a:pt x="12" y="18"/>
                    <a:pt x="19" y="9"/>
                    <a:pt x="29" y="9"/>
                  </a:cubicBezTo>
                  <a:cubicBezTo>
                    <a:pt x="42" y="9"/>
                    <a:pt x="46" y="18"/>
                    <a:pt x="46" y="28"/>
                  </a:cubicBezTo>
                  <a:lnTo>
                    <a:pt x="12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4D9C0167-6ABC-F172-9030-E37CFBC2B3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1471"/>
              <a:ext cx="49" cy="71"/>
            </a:xfrm>
            <a:custGeom>
              <a:avLst/>
              <a:gdLst>
                <a:gd name="T0" fmla="*/ 51 w 51"/>
                <a:gd name="T1" fmla="*/ 22 h 64"/>
                <a:gd name="T2" fmla="*/ 51 w 51"/>
                <a:gd name="T3" fmla="*/ 22 h 64"/>
                <a:gd name="T4" fmla="*/ 29 w 51"/>
                <a:gd name="T5" fmla="*/ 0 h 64"/>
                <a:gd name="T6" fmla="*/ 10 w 51"/>
                <a:gd name="T7" fmla="*/ 10 h 64"/>
                <a:gd name="T8" fmla="*/ 10 w 51"/>
                <a:gd name="T9" fmla="*/ 10 h 64"/>
                <a:gd name="T10" fmla="*/ 10 w 51"/>
                <a:gd name="T11" fmla="*/ 2 h 64"/>
                <a:gd name="T12" fmla="*/ 0 w 51"/>
                <a:gd name="T13" fmla="*/ 2 h 64"/>
                <a:gd name="T14" fmla="*/ 0 w 51"/>
                <a:gd name="T15" fmla="*/ 64 h 64"/>
                <a:gd name="T16" fmla="*/ 11 w 51"/>
                <a:gd name="T17" fmla="*/ 64 h 64"/>
                <a:gd name="T18" fmla="*/ 11 w 51"/>
                <a:gd name="T19" fmla="*/ 30 h 64"/>
                <a:gd name="T20" fmla="*/ 27 w 51"/>
                <a:gd name="T21" fmla="*/ 9 h 64"/>
                <a:gd name="T22" fmla="*/ 40 w 51"/>
                <a:gd name="T23" fmla="*/ 26 h 64"/>
                <a:gd name="T24" fmla="*/ 40 w 51"/>
                <a:gd name="T25" fmla="*/ 64 h 64"/>
                <a:gd name="T26" fmla="*/ 51 w 51"/>
                <a:gd name="T27" fmla="*/ 64 h 64"/>
                <a:gd name="T28" fmla="*/ 51 w 51"/>
                <a:gd name="T29" fmla="*/ 2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" h="64">
                  <a:moveTo>
                    <a:pt x="51" y="22"/>
                  </a:moveTo>
                  <a:lnTo>
                    <a:pt x="51" y="22"/>
                  </a:lnTo>
                  <a:cubicBezTo>
                    <a:pt x="51" y="4"/>
                    <a:pt x="39" y="0"/>
                    <a:pt x="29" y="0"/>
                  </a:cubicBezTo>
                  <a:cubicBezTo>
                    <a:pt x="18" y="0"/>
                    <a:pt x="12" y="7"/>
                    <a:pt x="10" y="10"/>
                  </a:cubicBezTo>
                  <a:lnTo>
                    <a:pt x="10" y="10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1" y="64"/>
                  </a:lnTo>
                  <a:lnTo>
                    <a:pt x="11" y="30"/>
                  </a:lnTo>
                  <a:cubicBezTo>
                    <a:pt x="11" y="13"/>
                    <a:pt x="21" y="9"/>
                    <a:pt x="27" y="9"/>
                  </a:cubicBezTo>
                  <a:cubicBezTo>
                    <a:pt x="37" y="9"/>
                    <a:pt x="40" y="15"/>
                    <a:pt x="40" y="26"/>
                  </a:cubicBezTo>
                  <a:lnTo>
                    <a:pt x="40" y="64"/>
                  </a:lnTo>
                  <a:lnTo>
                    <a:pt x="51" y="64"/>
                  </a:lnTo>
                  <a:lnTo>
                    <a:pt x="51" y="2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F4EBAD1C-6D01-AFAC-73AE-F7357C4F7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471"/>
              <a:ext cx="52" cy="73"/>
            </a:xfrm>
            <a:custGeom>
              <a:avLst/>
              <a:gdLst>
                <a:gd name="T0" fmla="*/ 53 w 53"/>
                <a:gd name="T1" fmla="*/ 23 h 66"/>
                <a:gd name="T2" fmla="*/ 53 w 53"/>
                <a:gd name="T3" fmla="*/ 23 h 66"/>
                <a:gd name="T4" fmla="*/ 30 w 53"/>
                <a:gd name="T5" fmla="*/ 0 h 66"/>
                <a:gd name="T6" fmla="*/ 0 w 53"/>
                <a:gd name="T7" fmla="*/ 34 h 66"/>
                <a:gd name="T8" fmla="*/ 28 w 53"/>
                <a:gd name="T9" fmla="*/ 66 h 66"/>
                <a:gd name="T10" fmla="*/ 53 w 53"/>
                <a:gd name="T11" fmla="*/ 42 h 66"/>
                <a:gd name="T12" fmla="*/ 43 w 53"/>
                <a:gd name="T13" fmla="*/ 42 h 66"/>
                <a:gd name="T14" fmla="*/ 28 w 53"/>
                <a:gd name="T15" fmla="*/ 57 h 66"/>
                <a:gd name="T16" fmla="*/ 11 w 53"/>
                <a:gd name="T17" fmla="*/ 33 h 66"/>
                <a:gd name="T18" fmla="*/ 28 w 53"/>
                <a:gd name="T19" fmla="*/ 9 h 66"/>
                <a:gd name="T20" fmla="*/ 43 w 53"/>
                <a:gd name="T21" fmla="*/ 23 h 66"/>
                <a:gd name="T22" fmla="*/ 53 w 53"/>
                <a:gd name="T23" fmla="*/ 23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3" h="66">
                  <a:moveTo>
                    <a:pt x="53" y="23"/>
                  </a:moveTo>
                  <a:lnTo>
                    <a:pt x="53" y="23"/>
                  </a:lnTo>
                  <a:cubicBezTo>
                    <a:pt x="52" y="12"/>
                    <a:pt x="46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46" y="66"/>
                    <a:pt x="52" y="52"/>
                    <a:pt x="53" y="42"/>
                  </a:cubicBezTo>
                  <a:lnTo>
                    <a:pt x="43" y="42"/>
                  </a:lnTo>
                  <a:cubicBezTo>
                    <a:pt x="41" y="51"/>
                    <a:pt x="35" y="57"/>
                    <a:pt x="28" y="57"/>
                  </a:cubicBezTo>
                  <a:cubicBezTo>
                    <a:pt x="13" y="57"/>
                    <a:pt x="11" y="43"/>
                    <a:pt x="11" y="33"/>
                  </a:cubicBezTo>
                  <a:cubicBezTo>
                    <a:pt x="11" y="22"/>
                    <a:pt x="15" y="9"/>
                    <a:pt x="28" y="9"/>
                  </a:cubicBezTo>
                  <a:cubicBezTo>
                    <a:pt x="37" y="9"/>
                    <a:pt x="41" y="14"/>
                    <a:pt x="43" y="23"/>
                  </a:cubicBezTo>
                  <a:lnTo>
                    <a:pt x="53" y="23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9764C176-F3B1-F076-7028-9217AEA8C4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8" y="1471"/>
              <a:ext cx="55" cy="73"/>
            </a:xfrm>
            <a:custGeom>
              <a:avLst/>
              <a:gdLst>
                <a:gd name="T0" fmla="*/ 45 w 56"/>
                <a:gd name="T1" fmla="*/ 44 h 66"/>
                <a:gd name="T2" fmla="*/ 45 w 56"/>
                <a:gd name="T3" fmla="*/ 44 h 66"/>
                <a:gd name="T4" fmla="*/ 29 w 56"/>
                <a:gd name="T5" fmla="*/ 57 h 66"/>
                <a:gd name="T6" fmla="*/ 11 w 56"/>
                <a:gd name="T7" fmla="*/ 36 h 66"/>
                <a:gd name="T8" fmla="*/ 56 w 56"/>
                <a:gd name="T9" fmla="*/ 36 h 66"/>
                <a:gd name="T10" fmla="*/ 30 w 56"/>
                <a:gd name="T11" fmla="*/ 0 h 66"/>
                <a:gd name="T12" fmla="*/ 0 w 56"/>
                <a:gd name="T13" fmla="*/ 34 h 66"/>
                <a:gd name="T14" fmla="*/ 28 w 56"/>
                <a:gd name="T15" fmla="*/ 66 h 66"/>
                <a:gd name="T16" fmla="*/ 45 w 56"/>
                <a:gd name="T17" fmla="*/ 61 h 66"/>
                <a:gd name="T18" fmla="*/ 56 w 56"/>
                <a:gd name="T19" fmla="*/ 44 h 66"/>
                <a:gd name="T20" fmla="*/ 45 w 56"/>
                <a:gd name="T21" fmla="*/ 44 h 66"/>
                <a:gd name="T22" fmla="*/ 11 w 56"/>
                <a:gd name="T23" fmla="*/ 28 h 66"/>
                <a:gd name="T24" fmla="*/ 11 w 56"/>
                <a:gd name="T25" fmla="*/ 28 h 66"/>
                <a:gd name="T26" fmla="*/ 28 w 56"/>
                <a:gd name="T27" fmla="*/ 9 h 66"/>
                <a:gd name="T28" fmla="*/ 46 w 56"/>
                <a:gd name="T29" fmla="*/ 28 h 66"/>
                <a:gd name="T30" fmla="*/ 11 w 56"/>
                <a:gd name="T31" fmla="*/ 28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" h="66">
                  <a:moveTo>
                    <a:pt x="45" y="44"/>
                  </a:moveTo>
                  <a:lnTo>
                    <a:pt x="45" y="44"/>
                  </a:lnTo>
                  <a:cubicBezTo>
                    <a:pt x="45" y="49"/>
                    <a:pt x="39" y="57"/>
                    <a:pt x="29" y="57"/>
                  </a:cubicBezTo>
                  <a:cubicBezTo>
                    <a:pt x="17" y="57"/>
                    <a:pt x="11" y="49"/>
                    <a:pt x="11" y="36"/>
                  </a:cubicBezTo>
                  <a:lnTo>
                    <a:pt x="56" y="36"/>
                  </a:lnTo>
                  <a:cubicBezTo>
                    <a:pt x="56" y="14"/>
                    <a:pt x="48" y="0"/>
                    <a:pt x="30" y="0"/>
                  </a:cubicBezTo>
                  <a:cubicBezTo>
                    <a:pt x="9" y="0"/>
                    <a:pt x="0" y="15"/>
                    <a:pt x="0" y="34"/>
                  </a:cubicBezTo>
                  <a:cubicBezTo>
                    <a:pt x="0" y="52"/>
                    <a:pt x="10" y="66"/>
                    <a:pt x="28" y="66"/>
                  </a:cubicBezTo>
                  <a:cubicBezTo>
                    <a:pt x="38" y="66"/>
                    <a:pt x="42" y="63"/>
                    <a:pt x="45" y="61"/>
                  </a:cubicBezTo>
                  <a:cubicBezTo>
                    <a:pt x="52" y="56"/>
                    <a:pt x="55" y="47"/>
                    <a:pt x="56" y="44"/>
                  </a:cubicBezTo>
                  <a:lnTo>
                    <a:pt x="45" y="44"/>
                  </a:lnTo>
                  <a:close/>
                  <a:moveTo>
                    <a:pt x="11" y="28"/>
                  </a:moveTo>
                  <a:lnTo>
                    <a:pt x="11" y="28"/>
                  </a:lnTo>
                  <a:cubicBezTo>
                    <a:pt x="11" y="18"/>
                    <a:pt x="19" y="9"/>
                    <a:pt x="28" y="9"/>
                  </a:cubicBezTo>
                  <a:cubicBezTo>
                    <a:pt x="41" y="9"/>
                    <a:pt x="45" y="18"/>
                    <a:pt x="46" y="28"/>
                  </a:cubicBezTo>
                  <a:lnTo>
                    <a:pt x="11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4DC9F464-05D4-BF1D-969E-9FA407133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471"/>
              <a:ext cx="49" cy="73"/>
            </a:xfrm>
            <a:custGeom>
              <a:avLst/>
              <a:gdLst>
                <a:gd name="T0" fmla="*/ 49 w 51"/>
                <a:gd name="T1" fmla="*/ 19 h 66"/>
                <a:gd name="T2" fmla="*/ 49 w 51"/>
                <a:gd name="T3" fmla="*/ 19 h 66"/>
                <a:gd name="T4" fmla="*/ 26 w 51"/>
                <a:gd name="T5" fmla="*/ 0 h 66"/>
                <a:gd name="T6" fmla="*/ 2 w 51"/>
                <a:gd name="T7" fmla="*/ 20 h 66"/>
                <a:gd name="T8" fmla="*/ 16 w 51"/>
                <a:gd name="T9" fmla="*/ 35 h 66"/>
                <a:gd name="T10" fmla="*/ 29 w 51"/>
                <a:gd name="T11" fmla="*/ 38 h 66"/>
                <a:gd name="T12" fmla="*/ 41 w 51"/>
                <a:gd name="T13" fmla="*/ 47 h 66"/>
                <a:gd name="T14" fmla="*/ 27 w 51"/>
                <a:gd name="T15" fmla="*/ 57 h 66"/>
                <a:gd name="T16" fmla="*/ 10 w 51"/>
                <a:gd name="T17" fmla="*/ 44 h 66"/>
                <a:gd name="T18" fmla="*/ 0 w 51"/>
                <a:gd name="T19" fmla="*/ 44 h 66"/>
                <a:gd name="T20" fmla="*/ 27 w 51"/>
                <a:gd name="T21" fmla="*/ 66 h 66"/>
                <a:gd name="T22" fmla="*/ 51 w 51"/>
                <a:gd name="T23" fmla="*/ 45 h 66"/>
                <a:gd name="T24" fmla="*/ 34 w 51"/>
                <a:gd name="T25" fmla="*/ 29 h 66"/>
                <a:gd name="T26" fmla="*/ 23 w 51"/>
                <a:gd name="T27" fmla="*/ 26 h 66"/>
                <a:gd name="T28" fmla="*/ 12 w 51"/>
                <a:gd name="T29" fmla="*/ 18 h 66"/>
                <a:gd name="T30" fmla="*/ 25 w 51"/>
                <a:gd name="T31" fmla="*/ 9 h 66"/>
                <a:gd name="T32" fmla="*/ 39 w 51"/>
                <a:gd name="T33" fmla="*/ 19 h 66"/>
                <a:gd name="T34" fmla="*/ 49 w 51"/>
                <a:gd name="T35" fmla="*/ 1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66">
                  <a:moveTo>
                    <a:pt x="49" y="19"/>
                  </a:moveTo>
                  <a:lnTo>
                    <a:pt x="49" y="19"/>
                  </a:lnTo>
                  <a:cubicBezTo>
                    <a:pt x="49" y="16"/>
                    <a:pt x="48" y="0"/>
                    <a:pt x="26" y="0"/>
                  </a:cubicBezTo>
                  <a:cubicBezTo>
                    <a:pt x="13" y="0"/>
                    <a:pt x="2" y="6"/>
                    <a:pt x="2" y="20"/>
                  </a:cubicBezTo>
                  <a:cubicBezTo>
                    <a:pt x="2" y="28"/>
                    <a:pt x="8" y="33"/>
                    <a:pt x="16" y="35"/>
                  </a:cubicBezTo>
                  <a:lnTo>
                    <a:pt x="29" y="38"/>
                  </a:lnTo>
                  <a:cubicBezTo>
                    <a:pt x="37" y="40"/>
                    <a:pt x="41" y="42"/>
                    <a:pt x="41" y="47"/>
                  </a:cubicBezTo>
                  <a:cubicBezTo>
                    <a:pt x="41" y="54"/>
                    <a:pt x="34" y="57"/>
                    <a:pt x="27" y="57"/>
                  </a:cubicBezTo>
                  <a:cubicBezTo>
                    <a:pt x="12" y="57"/>
                    <a:pt x="10" y="49"/>
                    <a:pt x="10" y="44"/>
                  </a:cubicBezTo>
                  <a:lnTo>
                    <a:pt x="0" y="44"/>
                  </a:lnTo>
                  <a:cubicBezTo>
                    <a:pt x="0" y="51"/>
                    <a:pt x="2" y="66"/>
                    <a:pt x="27" y="66"/>
                  </a:cubicBezTo>
                  <a:cubicBezTo>
                    <a:pt x="41" y="66"/>
                    <a:pt x="51" y="58"/>
                    <a:pt x="51" y="45"/>
                  </a:cubicBezTo>
                  <a:cubicBezTo>
                    <a:pt x="51" y="37"/>
                    <a:pt x="47" y="32"/>
                    <a:pt x="34" y="29"/>
                  </a:cubicBezTo>
                  <a:lnTo>
                    <a:pt x="23" y="26"/>
                  </a:lnTo>
                  <a:cubicBezTo>
                    <a:pt x="15" y="24"/>
                    <a:pt x="12" y="23"/>
                    <a:pt x="12" y="18"/>
                  </a:cubicBezTo>
                  <a:cubicBezTo>
                    <a:pt x="12" y="10"/>
                    <a:pt x="21" y="9"/>
                    <a:pt x="25" y="9"/>
                  </a:cubicBezTo>
                  <a:cubicBezTo>
                    <a:pt x="38" y="9"/>
                    <a:pt x="39" y="15"/>
                    <a:pt x="39" y="19"/>
                  </a:cubicBezTo>
                  <a:lnTo>
                    <a:pt x="49" y="19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58B95201-BB3E-4E88-7242-445720FF46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" y="1454"/>
              <a:ext cx="29" cy="89"/>
            </a:xfrm>
            <a:custGeom>
              <a:avLst/>
              <a:gdLst>
                <a:gd name="T0" fmla="*/ 29 w 29"/>
                <a:gd name="T1" fmla="*/ 26 h 81"/>
                <a:gd name="T2" fmla="*/ 29 w 29"/>
                <a:gd name="T3" fmla="*/ 26 h 81"/>
                <a:gd name="T4" fmla="*/ 29 w 29"/>
                <a:gd name="T5" fmla="*/ 18 h 81"/>
                <a:gd name="T6" fmla="*/ 19 w 29"/>
                <a:gd name="T7" fmla="*/ 18 h 81"/>
                <a:gd name="T8" fmla="*/ 19 w 29"/>
                <a:gd name="T9" fmla="*/ 0 h 81"/>
                <a:gd name="T10" fmla="*/ 8 w 29"/>
                <a:gd name="T11" fmla="*/ 0 h 81"/>
                <a:gd name="T12" fmla="*/ 8 w 29"/>
                <a:gd name="T13" fmla="*/ 18 h 81"/>
                <a:gd name="T14" fmla="*/ 0 w 29"/>
                <a:gd name="T15" fmla="*/ 18 h 81"/>
                <a:gd name="T16" fmla="*/ 0 w 29"/>
                <a:gd name="T17" fmla="*/ 26 h 81"/>
                <a:gd name="T18" fmla="*/ 8 w 29"/>
                <a:gd name="T19" fmla="*/ 26 h 81"/>
                <a:gd name="T20" fmla="*/ 8 w 29"/>
                <a:gd name="T21" fmla="*/ 67 h 81"/>
                <a:gd name="T22" fmla="*/ 21 w 29"/>
                <a:gd name="T23" fmla="*/ 81 h 81"/>
                <a:gd name="T24" fmla="*/ 29 w 29"/>
                <a:gd name="T25" fmla="*/ 80 h 81"/>
                <a:gd name="T26" fmla="*/ 29 w 29"/>
                <a:gd name="T27" fmla="*/ 72 h 81"/>
                <a:gd name="T28" fmla="*/ 25 w 29"/>
                <a:gd name="T29" fmla="*/ 72 h 81"/>
                <a:gd name="T30" fmla="*/ 19 w 29"/>
                <a:gd name="T31" fmla="*/ 67 h 81"/>
                <a:gd name="T32" fmla="*/ 19 w 29"/>
                <a:gd name="T33" fmla="*/ 26 h 81"/>
                <a:gd name="T34" fmla="*/ 29 w 29"/>
                <a:gd name="T35" fmla="*/ 26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9" h="81">
                  <a:moveTo>
                    <a:pt x="29" y="26"/>
                  </a:moveTo>
                  <a:lnTo>
                    <a:pt x="29" y="26"/>
                  </a:lnTo>
                  <a:lnTo>
                    <a:pt x="29" y="18"/>
                  </a:lnTo>
                  <a:lnTo>
                    <a:pt x="19" y="18"/>
                  </a:lnTo>
                  <a:lnTo>
                    <a:pt x="19" y="0"/>
                  </a:lnTo>
                  <a:lnTo>
                    <a:pt x="8" y="0"/>
                  </a:lnTo>
                  <a:lnTo>
                    <a:pt x="8" y="18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8" y="26"/>
                  </a:lnTo>
                  <a:lnTo>
                    <a:pt x="8" y="67"/>
                  </a:lnTo>
                  <a:cubicBezTo>
                    <a:pt x="8" y="75"/>
                    <a:pt x="11" y="81"/>
                    <a:pt x="21" y="81"/>
                  </a:cubicBezTo>
                  <a:cubicBezTo>
                    <a:pt x="22" y="81"/>
                    <a:pt x="25" y="80"/>
                    <a:pt x="29" y="80"/>
                  </a:cubicBezTo>
                  <a:lnTo>
                    <a:pt x="29" y="72"/>
                  </a:lnTo>
                  <a:lnTo>
                    <a:pt x="25" y="72"/>
                  </a:lnTo>
                  <a:cubicBezTo>
                    <a:pt x="23" y="72"/>
                    <a:pt x="19" y="72"/>
                    <a:pt x="19" y="67"/>
                  </a:cubicBezTo>
                  <a:lnTo>
                    <a:pt x="19" y="26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3">
              <a:extLst>
                <a:ext uri="{FF2B5EF4-FFF2-40B4-BE49-F238E27FC236}">
                  <a16:creationId xmlns:a16="http://schemas.microsoft.com/office/drawing/2014/main" id="{47A34453-2C3F-8A60-167C-DF0A48A54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1471"/>
              <a:ext cx="29" cy="71"/>
            </a:xfrm>
            <a:custGeom>
              <a:avLst/>
              <a:gdLst>
                <a:gd name="T0" fmla="*/ 10 w 30"/>
                <a:gd name="T1" fmla="*/ 28 h 64"/>
                <a:gd name="T2" fmla="*/ 10 w 30"/>
                <a:gd name="T3" fmla="*/ 28 h 64"/>
                <a:gd name="T4" fmla="*/ 26 w 30"/>
                <a:gd name="T5" fmla="*/ 11 h 64"/>
                <a:gd name="T6" fmla="*/ 30 w 30"/>
                <a:gd name="T7" fmla="*/ 11 h 64"/>
                <a:gd name="T8" fmla="*/ 30 w 30"/>
                <a:gd name="T9" fmla="*/ 0 h 64"/>
                <a:gd name="T10" fmla="*/ 27 w 30"/>
                <a:gd name="T11" fmla="*/ 0 h 64"/>
                <a:gd name="T12" fmla="*/ 10 w 30"/>
                <a:gd name="T13" fmla="*/ 12 h 64"/>
                <a:gd name="T14" fmla="*/ 10 w 30"/>
                <a:gd name="T15" fmla="*/ 12 h 64"/>
                <a:gd name="T16" fmla="*/ 10 w 30"/>
                <a:gd name="T17" fmla="*/ 2 h 64"/>
                <a:gd name="T18" fmla="*/ 0 w 30"/>
                <a:gd name="T19" fmla="*/ 2 h 64"/>
                <a:gd name="T20" fmla="*/ 0 w 30"/>
                <a:gd name="T21" fmla="*/ 64 h 64"/>
                <a:gd name="T22" fmla="*/ 10 w 30"/>
                <a:gd name="T23" fmla="*/ 64 h 64"/>
                <a:gd name="T24" fmla="*/ 10 w 30"/>
                <a:gd name="T25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" h="64">
                  <a:moveTo>
                    <a:pt x="10" y="28"/>
                  </a:moveTo>
                  <a:lnTo>
                    <a:pt x="10" y="28"/>
                  </a:lnTo>
                  <a:cubicBezTo>
                    <a:pt x="10" y="19"/>
                    <a:pt x="16" y="11"/>
                    <a:pt x="26" y="11"/>
                  </a:cubicBezTo>
                  <a:lnTo>
                    <a:pt x="30" y="11"/>
                  </a:lnTo>
                  <a:lnTo>
                    <a:pt x="30" y="0"/>
                  </a:lnTo>
                  <a:cubicBezTo>
                    <a:pt x="29" y="0"/>
                    <a:pt x="29" y="0"/>
                    <a:pt x="27" y="0"/>
                  </a:cubicBezTo>
                  <a:cubicBezTo>
                    <a:pt x="19" y="0"/>
                    <a:pt x="14" y="5"/>
                    <a:pt x="10" y="12"/>
                  </a:cubicBezTo>
                  <a:lnTo>
                    <a:pt x="10" y="12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28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08" name="Freeform 64">
              <a:extLst>
                <a:ext uri="{FF2B5EF4-FFF2-40B4-BE49-F238E27FC236}">
                  <a16:creationId xmlns:a16="http://schemas.microsoft.com/office/drawing/2014/main" id="{12FF3240-FF8B-4BE6-1585-268CBA1EA1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70" y="1447"/>
              <a:ext cx="11" cy="95"/>
            </a:xfrm>
            <a:custGeom>
              <a:avLst/>
              <a:gdLst>
                <a:gd name="T0" fmla="*/ 11 w 11"/>
                <a:gd name="T1" fmla="*/ 24 h 86"/>
                <a:gd name="T2" fmla="*/ 11 w 11"/>
                <a:gd name="T3" fmla="*/ 24 h 86"/>
                <a:gd name="T4" fmla="*/ 0 w 11"/>
                <a:gd name="T5" fmla="*/ 24 h 86"/>
                <a:gd name="T6" fmla="*/ 0 w 11"/>
                <a:gd name="T7" fmla="*/ 86 h 86"/>
                <a:gd name="T8" fmla="*/ 11 w 11"/>
                <a:gd name="T9" fmla="*/ 86 h 86"/>
                <a:gd name="T10" fmla="*/ 11 w 11"/>
                <a:gd name="T11" fmla="*/ 24 h 86"/>
                <a:gd name="T12" fmla="*/ 11 w 11"/>
                <a:gd name="T13" fmla="*/ 12 h 86"/>
                <a:gd name="T14" fmla="*/ 11 w 11"/>
                <a:gd name="T15" fmla="*/ 12 h 86"/>
                <a:gd name="T16" fmla="*/ 11 w 11"/>
                <a:gd name="T17" fmla="*/ 0 h 86"/>
                <a:gd name="T18" fmla="*/ 0 w 11"/>
                <a:gd name="T19" fmla="*/ 0 h 86"/>
                <a:gd name="T20" fmla="*/ 0 w 11"/>
                <a:gd name="T21" fmla="*/ 12 h 86"/>
                <a:gd name="T22" fmla="*/ 11 w 11"/>
                <a:gd name="T23" fmla="*/ 1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86">
                  <a:moveTo>
                    <a:pt x="11" y="24"/>
                  </a:moveTo>
                  <a:lnTo>
                    <a:pt x="11" y="24"/>
                  </a:lnTo>
                  <a:lnTo>
                    <a:pt x="0" y="24"/>
                  </a:lnTo>
                  <a:lnTo>
                    <a:pt x="0" y="86"/>
                  </a:lnTo>
                  <a:lnTo>
                    <a:pt x="11" y="86"/>
                  </a:lnTo>
                  <a:lnTo>
                    <a:pt x="11" y="24"/>
                  </a:lnTo>
                  <a:close/>
                  <a:moveTo>
                    <a:pt x="11" y="12"/>
                  </a:moveTo>
                  <a:lnTo>
                    <a:pt x="11" y="12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09" name="Freeform 65">
              <a:extLst>
                <a:ext uri="{FF2B5EF4-FFF2-40B4-BE49-F238E27FC236}">
                  <a16:creationId xmlns:a16="http://schemas.microsoft.com/office/drawing/2014/main" id="{AE2E359D-D770-753B-A6CD-536F6816C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1471"/>
              <a:ext cx="49" cy="71"/>
            </a:xfrm>
            <a:custGeom>
              <a:avLst/>
              <a:gdLst>
                <a:gd name="T0" fmla="*/ 50 w 50"/>
                <a:gd name="T1" fmla="*/ 22 h 64"/>
                <a:gd name="T2" fmla="*/ 50 w 50"/>
                <a:gd name="T3" fmla="*/ 22 h 64"/>
                <a:gd name="T4" fmla="*/ 29 w 50"/>
                <a:gd name="T5" fmla="*/ 0 h 64"/>
                <a:gd name="T6" fmla="*/ 10 w 50"/>
                <a:gd name="T7" fmla="*/ 10 h 64"/>
                <a:gd name="T8" fmla="*/ 10 w 50"/>
                <a:gd name="T9" fmla="*/ 10 h 64"/>
                <a:gd name="T10" fmla="*/ 10 w 50"/>
                <a:gd name="T11" fmla="*/ 2 h 64"/>
                <a:gd name="T12" fmla="*/ 0 w 50"/>
                <a:gd name="T13" fmla="*/ 2 h 64"/>
                <a:gd name="T14" fmla="*/ 0 w 50"/>
                <a:gd name="T15" fmla="*/ 64 h 64"/>
                <a:gd name="T16" fmla="*/ 10 w 50"/>
                <a:gd name="T17" fmla="*/ 64 h 64"/>
                <a:gd name="T18" fmla="*/ 10 w 50"/>
                <a:gd name="T19" fmla="*/ 30 h 64"/>
                <a:gd name="T20" fmla="*/ 27 w 50"/>
                <a:gd name="T21" fmla="*/ 9 h 64"/>
                <a:gd name="T22" fmla="*/ 40 w 50"/>
                <a:gd name="T23" fmla="*/ 26 h 64"/>
                <a:gd name="T24" fmla="*/ 40 w 50"/>
                <a:gd name="T25" fmla="*/ 64 h 64"/>
                <a:gd name="T26" fmla="*/ 50 w 50"/>
                <a:gd name="T27" fmla="*/ 64 h 64"/>
                <a:gd name="T28" fmla="*/ 50 w 50"/>
                <a:gd name="T29" fmla="*/ 2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0" h="64">
                  <a:moveTo>
                    <a:pt x="50" y="22"/>
                  </a:moveTo>
                  <a:lnTo>
                    <a:pt x="50" y="22"/>
                  </a:lnTo>
                  <a:cubicBezTo>
                    <a:pt x="50" y="4"/>
                    <a:pt x="38" y="0"/>
                    <a:pt x="29" y="0"/>
                  </a:cubicBezTo>
                  <a:cubicBezTo>
                    <a:pt x="18" y="0"/>
                    <a:pt x="12" y="7"/>
                    <a:pt x="10" y="10"/>
                  </a:cubicBezTo>
                  <a:lnTo>
                    <a:pt x="10" y="10"/>
                  </a:lnTo>
                  <a:lnTo>
                    <a:pt x="10" y="2"/>
                  </a:lnTo>
                  <a:lnTo>
                    <a:pt x="0" y="2"/>
                  </a:lnTo>
                  <a:lnTo>
                    <a:pt x="0" y="64"/>
                  </a:lnTo>
                  <a:lnTo>
                    <a:pt x="10" y="64"/>
                  </a:lnTo>
                  <a:lnTo>
                    <a:pt x="10" y="30"/>
                  </a:lnTo>
                  <a:cubicBezTo>
                    <a:pt x="10" y="13"/>
                    <a:pt x="21" y="9"/>
                    <a:pt x="27" y="9"/>
                  </a:cubicBezTo>
                  <a:cubicBezTo>
                    <a:pt x="37" y="9"/>
                    <a:pt x="40" y="15"/>
                    <a:pt x="40" y="26"/>
                  </a:cubicBezTo>
                  <a:lnTo>
                    <a:pt x="40" y="64"/>
                  </a:lnTo>
                  <a:lnTo>
                    <a:pt x="50" y="64"/>
                  </a:lnTo>
                  <a:lnTo>
                    <a:pt x="50" y="2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2" name="Freeform 66">
              <a:extLst>
                <a:ext uri="{FF2B5EF4-FFF2-40B4-BE49-F238E27FC236}">
                  <a16:creationId xmlns:a16="http://schemas.microsoft.com/office/drawing/2014/main" id="{AF972D66-EC94-C39C-C67F-3E37704367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58" y="1471"/>
              <a:ext cx="53" cy="100"/>
            </a:xfrm>
            <a:custGeom>
              <a:avLst/>
              <a:gdLst>
                <a:gd name="T0" fmla="*/ 11 w 55"/>
                <a:gd name="T1" fmla="*/ 33 h 90"/>
                <a:gd name="T2" fmla="*/ 11 w 55"/>
                <a:gd name="T3" fmla="*/ 33 h 90"/>
                <a:gd name="T4" fmla="*/ 28 w 55"/>
                <a:gd name="T5" fmla="*/ 9 h 90"/>
                <a:gd name="T6" fmla="*/ 45 w 55"/>
                <a:gd name="T7" fmla="*/ 36 h 90"/>
                <a:gd name="T8" fmla="*/ 28 w 55"/>
                <a:gd name="T9" fmla="*/ 57 h 90"/>
                <a:gd name="T10" fmla="*/ 11 w 55"/>
                <a:gd name="T11" fmla="*/ 33 h 90"/>
                <a:gd name="T12" fmla="*/ 55 w 55"/>
                <a:gd name="T13" fmla="*/ 2 h 90"/>
                <a:gd name="T14" fmla="*/ 55 w 55"/>
                <a:gd name="T15" fmla="*/ 2 h 90"/>
                <a:gd name="T16" fmla="*/ 45 w 55"/>
                <a:gd name="T17" fmla="*/ 2 h 90"/>
                <a:gd name="T18" fmla="*/ 45 w 55"/>
                <a:gd name="T19" fmla="*/ 10 h 90"/>
                <a:gd name="T20" fmla="*/ 45 w 55"/>
                <a:gd name="T21" fmla="*/ 10 h 90"/>
                <a:gd name="T22" fmla="*/ 26 w 55"/>
                <a:gd name="T23" fmla="*/ 0 h 90"/>
                <a:gd name="T24" fmla="*/ 0 w 55"/>
                <a:gd name="T25" fmla="*/ 31 h 90"/>
                <a:gd name="T26" fmla="*/ 28 w 55"/>
                <a:gd name="T27" fmla="*/ 66 h 90"/>
                <a:gd name="T28" fmla="*/ 44 w 55"/>
                <a:gd name="T29" fmla="*/ 57 h 90"/>
                <a:gd name="T30" fmla="*/ 44 w 55"/>
                <a:gd name="T31" fmla="*/ 57 h 90"/>
                <a:gd name="T32" fmla="*/ 45 w 55"/>
                <a:gd name="T33" fmla="*/ 57 h 90"/>
                <a:gd name="T34" fmla="*/ 45 w 55"/>
                <a:gd name="T35" fmla="*/ 59 h 90"/>
                <a:gd name="T36" fmla="*/ 27 w 55"/>
                <a:gd name="T37" fmla="*/ 81 h 90"/>
                <a:gd name="T38" fmla="*/ 13 w 55"/>
                <a:gd name="T39" fmla="*/ 71 h 90"/>
                <a:gd name="T40" fmla="*/ 2 w 55"/>
                <a:gd name="T41" fmla="*/ 71 h 90"/>
                <a:gd name="T42" fmla="*/ 26 w 55"/>
                <a:gd name="T43" fmla="*/ 90 h 90"/>
                <a:gd name="T44" fmla="*/ 55 w 55"/>
                <a:gd name="T45" fmla="*/ 59 h 90"/>
                <a:gd name="T46" fmla="*/ 55 w 55"/>
                <a:gd name="T47" fmla="*/ 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90">
                  <a:moveTo>
                    <a:pt x="11" y="33"/>
                  </a:moveTo>
                  <a:lnTo>
                    <a:pt x="11" y="33"/>
                  </a:lnTo>
                  <a:cubicBezTo>
                    <a:pt x="11" y="25"/>
                    <a:pt x="12" y="9"/>
                    <a:pt x="28" y="9"/>
                  </a:cubicBezTo>
                  <a:cubicBezTo>
                    <a:pt x="43" y="9"/>
                    <a:pt x="45" y="26"/>
                    <a:pt x="45" y="36"/>
                  </a:cubicBezTo>
                  <a:cubicBezTo>
                    <a:pt x="45" y="52"/>
                    <a:pt x="35" y="57"/>
                    <a:pt x="28" y="57"/>
                  </a:cubicBezTo>
                  <a:cubicBezTo>
                    <a:pt x="17" y="57"/>
                    <a:pt x="11" y="46"/>
                    <a:pt x="11" y="33"/>
                  </a:cubicBezTo>
                  <a:close/>
                  <a:moveTo>
                    <a:pt x="55" y="2"/>
                  </a:moveTo>
                  <a:lnTo>
                    <a:pt x="55" y="2"/>
                  </a:lnTo>
                  <a:lnTo>
                    <a:pt x="45" y="2"/>
                  </a:lnTo>
                  <a:lnTo>
                    <a:pt x="45" y="10"/>
                  </a:lnTo>
                  <a:lnTo>
                    <a:pt x="45" y="10"/>
                  </a:lnTo>
                  <a:cubicBezTo>
                    <a:pt x="42" y="7"/>
                    <a:pt x="38" y="0"/>
                    <a:pt x="26" y="0"/>
                  </a:cubicBezTo>
                  <a:cubicBezTo>
                    <a:pt x="10" y="0"/>
                    <a:pt x="0" y="13"/>
                    <a:pt x="0" y="31"/>
                  </a:cubicBezTo>
                  <a:cubicBezTo>
                    <a:pt x="0" y="46"/>
                    <a:pt x="7" y="66"/>
                    <a:pt x="28" y="66"/>
                  </a:cubicBezTo>
                  <a:cubicBezTo>
                    <a:pt x="36" y="66"/>
                    <a:pt x="42" y="62"/>
                    <a:pt x="44" y="57"/>
                  </a:cubicBezTo>
                  <a:lnTo>
                    <a:pt x="44" y="57"/>
                  </a:lnTo>
                  <a:lnTo>
                    <a:pt x="45" y="57"/>
                  </a:lnTo>
                  <a:lnTo>
                    <a:pt x="45" y="59"/>
                  </a:lnTo>
                  <a:cubicBezTo>
                    <a:pt x="45" y="67"/>
                    <a:pt x="45" y="81"/>
                    <a:pt x="27" y="81"/>
                  </a:cubicBezTo>
                  <a:cubicBezTo>
                    <a:pt x="24" y="81"/>
                    <a:pt x="15" y="81"/>
                    <a:pt x="13" y="71"/>
                  </a:cubicBezTo>
                  <a:lnTo>
                    <a:pt x="2" y="71"/>
                  </a:lnTo>
                  <a:cubicBezTo>
                    <a:pt x="4" y="88"/>
                    <a:pt x="19" y="90"/>
                    <a:pt x="26" y="90"/>
                  </a:cubicBezTo>
                  <a:cubicBezTo>
                    <a:pt x="55" y="90"/>
                    <a:pt x="55" y="68"/>
                    <a:pt x="55" y="59"/>
                  </a:cubicBezTo>
                  <a:lnTo>
                    <a:pt x="55" y="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3" name="Freeform 67">
              <a:extLst>
                <a:ext uri="{FF2B5EF4-FFF2-40B4-BE49-F238E27FC236}">
                  <a16:creationId xmlns:a16="http://schemas.microsoft.com/office/drawing/2014/main" id="{99AB2CC2-712C-B757-2FD3-268E059903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85" y="1686"/>
              <a:ext cx="58" cy="92"/>
            </a:xfrm>
            <a:custGeom>
              <a:avLst/>
              <a:gdLst>
                <a:gd name="T0" fmla="*/ 59 w 59"/>
                <a:gd name="T1" fmla="*/ 63 h 83"/>
                <a:gd name="T2" fmla="*/ 59 w 59"/>
                <a:gd name="T3" fmla="*/ 63 h 83"/>
                <a:gd name="T4" fmla="*/ 59 w 59"/>
                <a:gd name="T5" fmla="*/ 54 h 83"/>
                <a:gd name="T6" fmla="*/ 47 w 59"/>
                <a:gd name="T7" fmla="*/ 54 h 83"/>
                <a:gd name="T8" fmla="*/ 47 w 59"/>
                <a:gd name="T9" fmla="*/ 0 h 83"/>
                <a:gd name="T10" fmla="*/ 38 w 59"/>
                <a:gd name="T11" fmla="*/ 0 h 83"/>
                <a:gd name="T12" fmla="*/ 0 w 59"/>
                <a:gd name="T13" fmla="*/ 53 h 83"/>
                <a:gd name="T14" fmla="*/ 0 w 59"/>
                <a:gd name="T15" fmla="*/ 63 h 83"/>
                <a:gd name="T16" fmla="*/ 37 w 59"/>
                <a:gd name="T17" fmla="*/ 63 h 83"/>
                <a:gd name="T18" fmla="*/ 37 w 59"/>
                <a:gd name="T19" fmla="*/ 83 h 83"/>
                <a:gd name="T20" fmla="*/ 47 w 59"/>
                <a:gd name="T21" fmla="*/ 83 h 83"/>
                <a:gd name="T22" fmla="*/ 47 w 59"/>
                <a:gd name="T23" fmla="*/ 63 h 83"/>
                <a:gd name="T24" fmla="*/ 59 w 59"/>
                <a:gd name="T25" fmla="*/ 63 h 83"/>
                <a:gd name="T26" fmla="*/ 36 w 59"/>
                <a:gd name="T27" fmla="*/ 16 h 83"/>
                <a:gd name="T28" fmla="*/ 36 w 59"/>
                <a:gd name="T29" fmla="*/ 16 h 83"/>
                <a:gd name="T30" fmla="*/ 37 w 59"/>
                <a:gd name="T31" fmla="*/ 16 h 83"/>
                <a:gd name="T32" fmla="*/ 37 w 59"/>
                <a:gd name="T33" fmla="*/ 54 h 83"/>
                <a:gd name="T34" fmla="*/ 10 w 59"/>
                <a:gd name="T35" fmla="*/ 54 h 83"/>
                <a:gd name="T36" fmla="*/ 36 w 59"/>
                <a:gd name="T37" fmla="*/ 16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83">
                  <a:moveTo>
                    <a:pt x="59" y="63"/>
                  </a:moveTo>
                  <a:lnTo>
                    <a:pt x="59" y="63"/>
                  </a:lnTo>
                  <a:lnTo>
                    <a:pt x="59" y="54"/>
                  </a:lnTo>
                  <a:lnTo>
                    <a:pt x="47" y="54"/>
                  </a:lnTo>
                  <a:lnTo>
                    <a:pt x="47" y="0"/>
                  </a:lnTo>
                  <a:lnTo>
                    <a:pt x="38" y="0"/>
                  </a:lnTo>
                  <a:lnTo>
                    <a:pt x="0" y="53"/>
                  </a:lnTo>
                  <a:lnTo>
                    <a:pt x="0" y="63"/>
                  </a:lnTo>
                  <a:lnTo>
                    <a:pt x="37" y="63"/>
                  </a:lnTo>
                  <a:lnTo>
                    <a:pt x="37" y="83"/>
                  </a:lnTo>
                  <a:lnTo>
                    <a:pt x="47" y="83"/>
                  </a:lnTo>
                  <a:lnTo>
                    <a:pt x="47" y="63"/>
                  </a:lnTo>
                  <a:lnTo>
                    <a:pt x="59" y="63"/>
                  </a:lnTo>
                  <a:close/>
                  <a:moveTo>
                    <a:pt x="36" y="16"/>
                  </a:moveTo>
                  <a:lnTo>
                    <a:pt x="36" y="16"/>
                  </a:lnTo>
                  <a:lnTo>
                    <a:pt x="37" y="16"/>
                  </a:lnTo>
                  <a:lnTo>
                    <a:pt x="37" y="54"/>
                  </a:lnTo>
                  <a:lnTo>
                    <a:pt x="10" y="54"/>
                  </a:lnTo>
                  <a:lnTo>
                    <a:pt x="36" y="16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4" name="Freeform 68">
              <a:extLst>
                <a:ext uri="{FF2B5EF4-FFF2-40B4-BE49-F238E27FC236}">
                  <a16:creationId xmlns:a16="http://schemas.microsoft.com/office/drawing/2014/main" id="{6B9078EE-9143-4628-B677-48D3ACBB5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687"/>
              <a:ext cx="57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29" y="45"/>
                    <a:pt x="49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5" name="Freeform 69">
              <a:extLst>
                <a:ext uri="{FF2B5EF4-FFF2-40B4-BE49-F238E27FC236}">
                  <a16:creationId xmlns:a16="http://schemas.microsoft.com/office/drawing/2014/main" id="{64B3706E-24EB-C36E-7110-111AD0CA3C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43" y="1686"/>
              <a:ext cx="56" cy="94"/>
            </a:xfrm>
            <a:custGeom>
              <a:avLst/>
              <a:gdLst>
                <a:gd name="T0" fmla="*/ 47 w 58"/>
                <a:gd name="T1" fmla="*/ 42 h 85"/>
                <a:gd name="T2" fmla="*/ 47 w 58"/>
                <a:gd name="T3" fmla="*/ 42 h 85"/>
                <a:gd name="T4" fmla="*/ 29 w 58"/>
                <a:gd name="T5" fmla="*/ 76 h 85"/>
                <a:gd name="T6" fmla="*/ 12 w 58"/>
                <a:gd name="T7" fmla="*/ 42 h 85"/>
                <a:gd name="T8" fmla="*/ 29 w 58"/>
                <a:gd name="T9" fmla="*/ 9 h 85"/>
                <a:gd name="T10" fmla="*/ 47 w 58"/>
                <a:gd name="T11" fmla="*/ 42 h 85"/>
                <a:gd name="T12" fmla="*/ 58 w 58"/>
                <a:gd name="T13" fmla="*/ 42 h 85"/>
                <a:gd name="T14" fmla="*/ 58 w 58"/>
                <a:gd name="T15" fmla="*/ 42 h 85"/>
                <a:gd name="T16" fmla="*/ 29 w 58"/>
                <a:gd name="T17" fmla="*/ 0 h 85"/>
                <a:gd name="T18" fmla="*/ 0 w 58"/>
                <a:gd name="T19" fmla="*/ 42 h 85"/>
                <a:gd name="T20" fmla="*/ 29 w 58"/>
                <a:gd name="T21" fmla="*/ 85 h 85"/>
                <a:gd name="T22" fmla="*/ 58 w 58"/>
                <a:gd name="T2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85">
                  <a:moveTo>
                    <a:pt x="47" y="42"/>
                  </a:moveTo>
                  <a:lnTo>
                    <a:pt x="47" y="42"/>
                  </a:lnTo>
                  <a:cubicBezTo>
                    <a:pt x="47" y="63"/>
                    <a:pt x="41" y="76"/>
                    <a:pt x="29" y="76"/>
                  </a:cubicBezTo>
                  <a:cubicBezTo>
                    <a:pt x="17" y="76"/>
                    <a:pt x="12" y="63"/>
                    <a:pt x="12" y="42"/>
                  </a:cubicBezTo>
                  <a:cubicBezTo>
                    <a:pt x="12" y="22"/>
                    <a:pt x="17" y="9"/>
                    <a:pt x="29" y="9"/>
                  </a:cubicBezTo>
                  <a:cubicBezTo>
                    <a:pt x="41" y="9"/>
                    <a:pt x="47" y="22"/>
                    <a:pt x="47" y="42"/>
                  </a:cubicBezTo>
                  <a:close/>
                  <a:moveTo>
                    <a:pt x="58" y="42"/>
                  </a:moveTo>
                  <a:lnTo>
                    <a:pt x="58" y="42"/>
                  </a:lnTo>
                  <a:cubicBezTo>
                    <a:pt x="58" y="25"/>
                    <a:pt x="53" y="0"/>
                    <a:pt x="29" y="0"/>
                  </a:cubicBezTo>
                  <a:cubicBezTo>
                    <a:pt x="5" y="0"/>
                    <a:pt x="0" y="25"/>
                    <a:pt x="0" y="42"/>
                  </a:cubicBezTo>
                  <a:cubicBezTo>
                    <a:pt x="0" y="60"/>
                    <a:pt x="5" y="85"/>
                    <a:pt x="29" y="85"/>
                  </a:cubicBezTo>
                  <a:cubicBezTo>
                    <a:pt x="53" y="85"/>
                    <a:pt x="58" y="60"/>
                    <a:pt x="58" y="42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6" name="Freeform 70">
              <a:extLst>
                <a:ext uri="{FF2B5EF4-FFF2-40B4-BE49-F238E27FC236}">
                  <a16:creationId xmlns:a16="http://schemas.microsoft.com/office/drawing/2014/main" id="{540EB9D7-AC1B-1D57-7176-2FD25096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1687"/>
              <a:ext cx="56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3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3" y="82"/>
                  </a:lnTo>
                  <a:cubicBezTo>
                    <a:pt x="29" y="45"/>
                    <a:pt x="49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7" name="Freeform 71">
              <a:extLst>
                <a:ext uri="{FF2B5EF4-FFF2-40B4-BE49-F238E27FC236}">
                  <a16:creationId xmlns:a16="http://schemas.microsoft.com/office/drawing/2014/main" id="{E70F55DC-00CF-BFAF-3B8C-9AE4DECD1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1686"/>
              <a:ext cx="31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8" name="Freeform 72">
              <a:extLst>
                <a:ext uri="{FF2B5EF4-FFF2-40B4-BE49-F238E27FC236}">
                  <a16:creationId xmlns:a16="http://schemas.microsoft.com/office/drawing/2014/main" id="{0F40C014-6A19-10D0-9147-A3F727F980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8" y="1686"/>
              <a:ext cx="56" cy="94"/>
            </a:xfrm>
            <a:custGeom>
              <a:avLst/>
              <a:gdLst>
                <a:gd name="T0" fmla="*/ 46 w 57"/>
                <a:gd name="T1" fmla="*/ 42 h 85"/>
                <a:gd name="T2" fmla="*/ 46 w 57"/>
                <a:gd name="T3" fmla="*/ 42 h 85"/>
                <a:gd name="T4" fmla="*/ 28 w 57"/>
                <a:gd name="T5" fmla="*/ 76 h 85"/>
                <a:gd name="T6" fmla="*/ 11 w 57"/>
                <a:gd name="T7" fmla="*/ 42 h 85"/>
                <a:gd name="T8" fmla="*/ 28 w 57"/>
                <a:gd name="T9" fmla="*/ 9 h 85"/>
                <a:gd name="T10" fmla="*/ 46 w 57"/>
                <a:gd name="T11" fmla="*/ 42 h 85"/>
                <a:gd name="T12" fmla="*/ 57 w 57"/>
                <a:gd name="T13" fmla="*/ 42 h 85"/>
                <a:gd name="T14" fmla="*/ 57 w 57"/>
                <a:gd name="T15" fmla="*/ 42 h 85"/>
                <a:gd name="T16" fmla="*/ 28 w 57"/>
                <a:gd name="T17" fmla="*/ 0 h 85"/>
                <a:gd name="T18" fmla="*/ 0 w 57"/>
                <a:gd name="T19" fmla="*/ 42 h 85"/>
                <a:gd name="T20" fmla="*/ 28 w 57"/>
                <a:gd name="T21" fmla="*/ 85 h 85"/>
                <a:gd name="T22" fmla="*/ 57 w 57"/>
                <a:gd name="T23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7" h="85">
                  <a:moveTo>
                    <a:pt x="46" y="42"/>
                  </a:moveTo>
                  <a:lnTo>
                    <a:pt x="46" y="42"/>
                  </a:lnTo>
                  <a:cubicBezTo>
                    <a:pt x="46" y="63"/>
                    <a:pt x="40" y="76"/>
                    <a:pt x="28" y="76"/>
                  </a:cubicBezTo>
                  <a:cubicBezTo>
                    <a:pt x="16" y="76"/>
                    <a:pt x="11" y="63"/>
                    <a:pt x="11" y="42"/>
                  </a:cubicBezTo>
                  <a:cubicBezTo>
                    <a:pt x="11" y="22"/>
                    <a:pt x="16" y="9"/>
                    <a:pt x="28" y="9"/>
                  </a:cubicBezTo>
                  <a:cubicBezTo>
                    <a:pt x="40" y="9"/>
                    <a:pt x="46" y="22"/>
                    <a:pt x="46" y="42"/>
                  </a:cubicBezTo>
                  <a:close/>
                  <a:moveTo>
                    <a:pt x="57" y="42"/>
                  </a:moveTo>
                  <a:lnTo>
                    <a:pt x="57" y="42"/>
                  </a:lnTo>
                  <a:cubicBezTo>
                    <a:pt x="57" y="25"/>
                    <a:pt x="53" y="0"/>
                    <a:pt x="28" y="0"/>
                  </a:cubicBezTo>
                  <a:cubicBezTo>
                    <a:pt x="4" y="0"/>
                    <a:pt x="0" y="25"/>
                    <a:pt x="0" y="42"/>
                  </a:cubicBezTo>
                  <a:cubicBezTo>
                    <a:pt x="0" y="60"/>
                    <a:pt x="4" y="85"/>
                    <a:pt x="28" y="85"/>
                  </a:cubicBezTo>
                  <a:cubicBezTo>
                    <a:pt x="53" y="85"/>
                    <a:pt x="57" y="60"/>
                    <a:pt x="57" y="42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19" name="Freeform 73">
              <a:extLst>
                <a:ext uri="{FF2B5EF4-FFF2-40B4-BE49-F238E27FC236}">
                  <a16:creationId xmlns:a16="http://schemas.microsoft.com/office/drawing/2014/main" id="{4F37FACB-108D-C838-CEDB-6545E0F94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4" y="1686"/>
              <a:ext cx="30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0" name="Freeform 74">
              <a:extLst>
                <a:ext uri="{FF2B5EF4-FFF2-40B4-BE49-F238E27FC236}">
                  <a16:creationId xmlns:a16="http://schemas.microsoft.com/office/drawing/2014/main" id="{E3C132D9-9B78-D6A8-1839-35F4266D5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686"/>
              <a:ext cx="57" cy="92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2 h 83"/>
                <a:gd name="T24" fmla="*/ 58 w 58"/>
                <a:gd name="T25" fmla="*/ 25 h 83"/>
                <a:gd name="T26" fmla="*/ 32 w 58"/>
                <a:gd name="T27" fmla="*/ 0 h 83"/>
                <a:gd name="T28" fmla="*/ 3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8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2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2" y="0"/>
                  </a:cubicBezTo>
                  <a:cubicBezTo>
                    <a:pt x="22" y="0"/>
                    <a:pt x="3" y="2"/>
                    <a:pt x="3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1" name="Freeform 75">
              <a:extLst>
                <a:ext uri="{FF2B5EF4-FFF2-40B4-BE49-F238E27FC236}">
                  <a16:creationId xmlns:a16="http://schemas.microsoft.com/office/drawing/2014/main" id="{7DF9478B-AD5A-EEC0-24A1-2A37049B5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" y="1686"/>
              <a:ext cx="30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2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19 w 31"/>
                <a:gd name="T11" fmla="*/ 24 h 83"/>
                <a:gd name="T12" fmla="*/ 19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2" y="0"/>
                  </a:lnTo>
                  <a:cubicBezTo>
                    <a:pt x="19" y="13"/>
                    <a:pt x="13" y="15"/>
                    <a:pt x="0" y="15"/>
                  </a:cubicBezTo>
                  <a:lnTo>
                    <a:pt x="0" y="24"/>
                  </a:lnTo>
                  <a:lnTo>
                    <a:pt x="19" y="24"/>
                  </a:lnTo>
                  <a:lnTo>
                    <a:pt x="19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2" name="Freeform 76">
              <a:extLst>
                <a:ext uri="{FF2B5EF4-FFF2-40B4-BE49-F238E27FC236}">
                  <a16:creationId xmlns:a16="http://schemas.microsoft.com/office/drawing/2014/main" id="{560D6C11-575C-7F50-F14A-6E6B148CD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" y="1686"/>
              <a:ext cx="56" cy="92"/>
            </a:xfrm>
            <a:custGeom>
              <a:avLst/>
              <a:gdLst>
                <a:gd name="T0" fmla="*/ 13 w 58"/>
                <a:gd name="T1" fmla="*/ 30 h 83"/>
                <a:gd name="T2" fmla="*/ 13 w 58"/>
                <a:gd name="T3" fmla="*/ 30 h 83"/>
                <a:gd name="T4" fmla="*/ 30 w 58"/>
                <a:gd name="T5" fmla="*/ 9 h 83"/>
                <a:gd name="T6" fmla="*/ 46 w 58"/>
                <a:gd name="T7" fmla="*/ 24 h 83"/>
                <a:gd name="T8" fmla="*/ 31 w 58"/>
                <a:gd name="T9" fmla="*/ 44 h 83"/>
                <a:gd name="T10" fmla="*/ 20 w 58"/>
                <a:gd name="T11" fmla="*/ 50 h 83"/>
                <a:gd name="T12" fmla="*/ 0 w 58"/>
                <a:gd name="T13" fmla="*/ 83 h 83"/>
                <a:gd name="T14" fmla="*/ 58 w 58"/>
                <a:gd name="T15" fmla="*/ 83 h 83"/>
                <a:gd name="T16" fmla="*/ 58 w 58"/>
                <a:gd name="T17" fmla="*/ 73 h 83"/>
                <a:gd name="T18" fmla="*/ 12 w 58"/>
                <a:gd name="T19" fmla="*/ 73 h 83"/>
                <a:gd name="T20" fmla="*/ 27 w 58"/>
                <a:gd name="T21" fmla="*/ 57 h 83"/>
                <a:gd name="T22" fmla="*/ 35 w 58"/>
                <a:gd name="T23" fmla="*/ 52 h 83"/>
                <a:gd name="T24" fmla="*/ 58 w 58"/>
                <a:gd name="T25" fmla="*/ 25 h 83"/>
                <a:gd name="T26" fmla="*/ 31 w 58"/>
                <a:gd name="T27" fmla="*/ 0 h 83"/>
                <a:gd name="T28" fmla="*/ 3 w 58"/>
                <a:gd name="T29" fmla="*/ 30 h 83"/>
                <a:gd name="T30" fmla="*/ 13 w 58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83">
                  <a:moveTo>
                    <a:pt x="13" y="30"/>
                  </a:moveTo>
                  <a:lnTo>
                    <a:pt x="13" y="30"/>
                  </a:lnTo>
                  <a:cubicBezTo>
                    <a:pt x="13" y="24"/>
                    <a:pt x="14" y="9"/>
                    <a:pt x="30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40" y="38"/>
                    <a:pt x="31" y="44"/>
                  </a:cubicBezTo>
                  <a:lnTo>
                    <a:pt x="20" y="50"/>
                  </a:lnTo>
                  <a:cubicBezTo>
                    <a:pt x="9" y="57"/>
                    <a:pt x="1" y="66"/>
                    <a:pt x="0" y="83"/>
                  </a:cubicBezTo>
                  <a:lnTo>
                    <a:pt x="58" y="83"/>
                  </a:lnTo>
                  <a:lnTo>
                    <a:pt x="58" y="73"/>
                  </a:lnTo>
                  <a:lnTo>
                    <a:pt x="12" y="73"/>
                  </a:lnTo>
                  <a:cubicBezTo>
                    <a:pt x="13" y="70"/>
                    <a:pt x="15" y="64"/>
                    <a:pt x="27" y="57"/>
                  </a:cubicBezTo>
                  <a:lnTo>
                    <a:pt x="35" y="52"/>
                  </a:lnTo>
                  <a:cubicBezTo>
                    <a:pt x="48" y="46"/>
                    <a:pt x="58" y="40"/>
                    <a:pt x="58" y="25"/>
                  </a:cubicBezTo>
                  <a:cubicBezTo>
                    <a:pt x="58" y="9"/>
                    <a:pt x="46" y="0"/>
                    <a:pt x="31" y="0"/>
                  </a:cubicBezTo>
                  <a:cubicBezTo>
                    <a:pt x="22" y="0"/>
                    <a:pt x="3" y="2"/>
                    <a:pt x="3" y="30"/>
                  </a:cubicBezTo>
                  <a:lnTo>
                    <a:pt x="13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3" name="Freeform 77">
              <a:extLst>
                <a:ext uri="{FF2B5EF4-FFF2-40B4-BE49-F238E27FC236}">
                  <a16:creationId xmlns:a16="http://schemas.microsoft.com/office/drawing/2014/main" id="{DBF7EAF3-4B00-285E-5634-0C06C0101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686"/>
              <a:ext cx="56" cy="92"/>
            </a:xfrm>
            <a:custGeom>
              <a:avLst/>
              <a:gdLst>
                <a:gd name="T0" fmla="*/ 12 w 57"/>
                <a:gd name="T1" fmla="*/ 30 h 83"/>
                <a:gd name="T2" fmla="*/ 12 w 57"/>
                <a:gd name="T3" fmla="*/ 30 h 83"/>
                <a:gd name="T4" fmla="*/ 29 w 57"/>
                <a:gd name="T5" fmla="*/ 9 h 83"/>
                <a:gd name="T6" fmla="*/ 46 w 57"/>
                <a:gd name="T7" fmla="*/ 24 h 83"/>
                <a:gd name="T8" fmla="*/ 31 w 57"/>
                <a:gd name="T9" fmla="*/ 44 h 83"/>
                <a:gd name="T10" fmla="*/ 19 w 57"/>
                <a:gd name="T11" fmla="*/ 50 h 83"/>
                <a:gd name="T12" fmla="*/ 0 w 57"/>
                <a:gd name="T13" fmla="*/ 83 h 83"/>
                <a:gd name="T14" fmla="*/ 57 w 57"/>
                <a:gd name="T15" fmla="*/ 83 h 83"/>
                <a:gd name="T16" fmla="*/ 57 w 57"/>
                <a:gd name="T17" fmla="*/ 73 h 83"/>
                <a:gd name="T18" fmla="*/ 12 w 57"/>
                <a:gd name="T19" fmla="*/ 73 h 83"/>
                <a:gd name="T20" fmla="*/ 26 w 57"/>
                <a:gd name="T21" fmla="*/ 57 h 83"/>
                <a:gd name="T22" fmla="*/ 35 w 57"/>
                <a:gd name="T23" fmla="*/ 52 h 83"/>
                <a:gd name="T24" fmla="*/ 57 w 57"/>
                <a:gd name="T25" fmla="*/ 25 h 83"/>
                <a:gd name="T26" fmla="*/ 31 w 57"/>
                <a:gd name="T27" fmla="*/ 0 h 83"/>
                <a:gd name="T28" fmla="*/ 2 w 57"/>
                <a:gd name="T29" fmla="*/ 30 h 83"/>
                <a:gd name="T30" fmla="*/ 12 w 57"/>
                <a:gd name="T31" fmla="*/ 3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7" h="83">
                  <a:moveTo>
                    <a:pt x="12" y="30"/>
                  </a:moveTo>
                  <a:lnTo>
                    <a:pt x="12" y="30"/>
                  </a:lnTo>
                  <a:cubicBezTo>
                    <a:pt x="13" y="24"/>
                    <a:pt x="14" y="9"/>
                    <a:pt x="29" y="9"/>
                  </a:cubicBezTo>
                  <a:cubicBezTo>
                    <a:pt x="42" y="9"/>
                    <a:pt x="46" y="17"/>
                    <a:pt x="46" y="24"/>
                  </a:cubicBezTo>
                  <a:cubicBezTo>
                    <a:pt x="46" y="35"/>
                    <a:pt x="39" y="38"/>
                    <a:pt x="31" y="44"/>
                  </a:cubicBezTo>
                  <a:lnTo>
                    <a:pt x="19" y="50"/>
                  </a:lnTo>
                  <a:cubicBezTo>
                    <a:pt x="8" y="57"/>
                    <a:pt x="0" y="66"/>
                    <a:pt x="0" y="83"/>
                  </a:cubicBezTo>
                  <a:lnTo>
                    <a:pt x="57" y="83"/>
                  </a:lnTo>
                  <a:lnTo>
                    <a:pt x="57" y="73"/>
                  </a:lnTo>
                  <a:lnTo>
                    <a:pt x="12" y="73"/>
                  </a:lnTo>
                  <a:cubicBezTo>
                    <a:pt x="12" y="70"/>
                    <a:pt x="15" y="64"/>
                    <a:pt x="26" y="57"/>
                  </a:cubicBezTo>
                  <a:lnTo>
                    <a:pt x="35" y="52"/>
                  </a:lnTo>
                  <a:cubicBezTo>
                    <a:pt x="47" y="46"/>
                    <a:pt x="57" y="40"/>
                    <a:pt x="57" y="25"/>
                  </a:cubicBezTo>
                  <a:cubicBezTo>
                    <a:pt x="57" y="9"/>
                    <a:pt x="45" y="0"/>
                    <a:pt x="31" y="0"/>
                  </a:cubicBezTo>
                  <a:cubicBezTo>
                    <a:pt x="22" y="0"/>
                    <a:pt x="2" y="2"/>
                    <a:pt x="2" y="30"/>
                  </a:cubicBezTo>
                  <a:lnTo>
                    <a:pt x="12" y="3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4" name="Freeform 78">
              <a:extLst>
                <a:ext uri="{FF2B5EF4-FFF2-40B4-BE49-F238E27FC236}">
                  <a16:creationId xmlns:a16="http://schemas.microsoft.com/office/drawing/2014/main" id="{55978478-5BF7-381C-C788-83A315215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687"/>
              <a:ext cx="57" cy="91"/>
            </a:xfrm>
            <a:custGeom>
              <a:avLst/>
              <a:gdLst>
                <a:gd name="T0" fmla="*/ 0 w 58"/>
                <a:gd name="T1" fmla="*/ 11 h 82"/>
                <a:gd name="T2" fmla="*/ 0 w 58"/>
                <a:gd name="T3" fmla="*/ 11 h 82"/>
                <a:gd name="T4" fmla="*/ 46 w 58"/>
                <a:gd name="T5" fmla="*/ 11 h 82"/>
                <a:gd name="T6" fmla="*/ 12 w 58"/>
                <a:gd name="T7" fmla="*/ 82 h 82"/>
                <a:gd name="T8" fmla="*/ 24 w 58"/>
                <a:gd name="T9" fmla="*/ 82 h 82"/>
                <a:gd name="T10" fmla="*/ 58 w 58"/>
                <a:gd name="T11" fmla="*/ 9 h 82"/>
                <a:gd name="T12" fmla="*/ 58 w 58"/>
                <a:gd name="T13" fmla="*/ 0 h 82"/>
                <a:gd name="T14" fmla="*/ 0 w 58"/>
                <a:gd name="T15" fmla="*/ 0 h 82"/>
                <a:gd name="T16" fmla="*/ 0 w 58"/>
                <a:gd name="T17" fmla="*/ 11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2">
                  <a:moveTo>
                    <a:pt x="0" y="11"/>
                  </a:moveTo>
                  <a:lnTo>
                    <a:pt x="0" y="11"/>
                  </a:lnTo>
                  <a:lnTo>
                    <a:pt x="46" y="11"/>
                  </a:lnTo>
                  <a:cubicBezTo>
                    <a:pt x="30" y="29"/>
                    <a:pt x="15" y="59"/>
                    <a:pt x="12" y="82"/>
                  </a:cubicBezTo>
                  <a:lnTo>
                    <a:pt x="24" y="82"/>
                  </a:lnTo>
                  <a:cubicBezTo>
                    <a:pt x="30" y="45"/>
                    <a:pt x="50" y="18"/>
                    <a:pt x="58" y="9"/>
                  </a:cubicBezTo>
                  <a:lnTo>
                    <a:pt x="58" y="0"/>
                  </a:ln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5" name="Freeform 79">
              <a:extLst>
                <a:ext uri="{FF2B5EF4-FFF2-40B4-BE49-F238E27FC236}">
                  <a16:creationId xmlns:a16="http://schemas.microsoft.com/office/drawing/2014/main" id="{AF8E1BB0-8234-C46F-8233-1EAB1166A9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3" y="2181"/>
              <a:ext cx="57" cy="71"/>
            </a:xfrm>
            <a:custGeom>
              <a:avLst/>
              <a:gdLst>
                <a:gd name="T0" fmla="*/ 13 w 59"/>
                <a:gd name="T1" fmla="*/ 20 h 65"/>
                <a:gd name="T2" fmla="*/ 13 w 59"/>
                <a:gd name="T3" fmla="*/ 20 h 65"/>
                <a:gd name="T4" fmla="*/ 27 w 59"/>
                <a:gd name="T5" fmla="*/ 8 h 65"/>
                <a:gd name="T6" fmla="*/ 42 w 59"/>
                <a:gd name="T7" fmla="*/ 18 h 65"/>
                <a:gd name="T8" fmla="*/ 37 w 59"/>
                <a:gd name="T9" fmla="*/ 26 h 65"/>
                <a:gd name="T10" fmla="*/ 19 w 59"/>
                <a:gd name="T11" fmla="*/ 28 h 65"/>
                <a:gd name="T12" fmla="*/ 0 w 59"/>
                <a:gd name="T13" fmla="*/ 47 h 65"/>
                <a:gd name="T14" fmla="*/ 20 w 59"/>
                <a:gd name="T15" fmla="*/ 65 h 65"/>
                <a:gd name="T16" fmla="*/ 42 w 59"/>
                <a:gd name="T17" fmla="*/ 55 h 65"/>
                <a:gd name="T18" fmla="*/ 53 w 59"/>
                <a:gd name="T19" fmla="*/ 65 h 65"/>
                <a:gd name="T20" fmla="*/ 59 w 59"/>
                <a:gd name="T21" fmla="*/ 64 h 65"/>
                <a:gd name="T22" fmla="*/ 59 w 59"/>
                <a:gd name="T23" fmla="*/ 56 h 65"/>
                <a:gd name="T24" fmla="*/ 56 w 59"/>
                <a:gd name="T25" fmla="*/ 57 h 65"/>
                <a:gd name="T26" fmla="*/ 52 w 59"/>
                <a:gd name="T27" fmla="*/ 53 h 65"/>
                <a:gd name="T28" fmla="*/ 52 w 59"/>
                <a:gd name="T29" fmla="*/ 17 h 65"/>
                <a:gd name="T30" fmla="*/ 29 w 59"/>
                <a:gd name="T31" fmla="*/ 0 h 65"/>
                <a:gd name="T32" fmla="*/ 3 w 59"/>
                <a:gd name="T33" fmla="*/ 20 h 65"/>
                <a:gd name="T34" fmla="*/ 13 w 59"/>
                <a:gd name="T35" fmla="*/ 20 h 65"/>
                <a:gd name="T36" fmla="*/ 42 w 59"/>
                <a:gd name="T37" fmla="*/ 42 h 65"/>
                <a:gd name="T38" fmla="*/ 42 w 59"/>
                <a:gd name="T39" fmla="*/ 42 h 65"/>
                <a:gd name="T40" fmla="*/ 23 w 59"/>
                <a:gd name="T41" fmla="*/ 57 h 65"/>
                <a:gd name="T42" fmla="*/ 11 w 59"/>
                <a:gd name="T43" fmla="*/ 46 h 65"/>
                <a:gd name="T44" fmla="*/ 25 w 59"/>
                <a:gd name="T45" fmla="*/ 36 h 65"/>
                <a:gd name="T46" fmla="*/ 42 w 59"/>
                <a:gd name="T47" fmla="*/ 32 h 65"/>
                <a:gd name="T48" fmla="*/ 42 w 59"/>
                <a:gd name="T49" fmla="*/ 4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9" h="65">
                  <a:moveTo>
                    <a:pt x="13" y="20"/>
                  </a:moveTo>
                  <a:lnTo>
                    <a:pt x="13" y="20"/>
                  </a:lnTo>
                  <a:cubicBezTo>
                    <a:pt x="14" y="16"/>
                    <a:pt x="15" y="8"/>
                    <a:pt x="27" y="8"/>
                  </a:cubicBezTo>
                  <a:cubicBezTo>
                    <a:pt x="37" y="8"/>
                    <a:pt x="42" y="12"/>
                    <a:pt x="42" y="18"/>
                  </a:cubicBezTo>
                  <a:cubicBezTo>
                    <a:pt x="42" y="25"/>
                    <a:pt x="39" y="26"/>
                    <a:pt x="37" y="26"/>
                  </a:cubicBezTo>
                  <a:lnTo>
                    <a:pt x="19" y="28"/>
                  </a:lnTo>
                  <a:cubicBezTo>
                    <a:pt x="2" y="30"/>
                    <a:pt x="0" y="42"/>
                    <a:pt x="0" y="47"/>
                  </a:cubicBezTo>
                  <a:cubicBezTo>
                    <a:pt x="0" y="58"/>
                    <a:pt x="8" y="65"/>
                    <a:pt x="20" y="65"/>
                  </a:cubicBezTo>
                  <a:cubicBezTo>
                    <a:pt x="32" y="65"/>
                    <a:pt x="38" y="60"/>
                    <a:pt x="42" y="55"/>
                  </a:cubicBezTo>
                  <a:cubicBezTo>
                    <a:pt x="43" y="60"/>
                    <a:pt x="44" y="65"/>
                    <a:pt x="53" y="65"/>
                  </a:cubicBezTo>
                  <a:cubicBezTo>
                    <a:pt x="56" y="65"/>
                    <a:pt x="57" y="64"/>
                    <a:pt x="59" y="64"/>
                  </a:cubicBezTo>
                  <a:lnTo>
                    <a:pt x="59" y="56"/>
                  </a:lnTo>
                  <a:cubicBezTo>
                    <a:pt x="58" y="56"/>
                    <a:pt x="57" y="57"/>
                    <a:pt x="56" y="57"/>
                  </a:cubicBezTo>
                  <a:cubicBezTo>
                    <a:pt x="54" y="57"/>
                    <a:pt x="52" y="55"/>
                    <a:pt x="52" y="53"/>
                  </a:cubicBezTo>
                  <a:lnTo>
                    <a:pt x="52" y="17"/>
                  </a:lnTo>
                  <a:cubicBezTo>
                    <a:pt x="52" y="1"/>
                    <a:pt x="34" y="0"/>
                    <a:pt x="29" y="0"/>
                  </a:cubicBezTo>
                  <a:cubicBezTo>
                    <a:pt x="14" y="0"/>
                    <a:pt x="4" y="5"/>
                    <a:pt x="3" y="20"/>
                  </a:cubicBezTo>
                  <a:lnTo>
                    <a:pt x="13" y="20"/>
                  </a:lnTo>
                  <a:close/>
                  <a:moveTo>
                    <a:pt x="42" y="42"/>
                  </a:moveTo>
                  <a:lnTo>
                    <a:pt x="42" y="42"/>
                  </a:lnTo>
                  <a:cubicBezTo>
                    <a:pt x="42" y="50"/>
                    <a:pt x="32" y="57"/>
                    <a:pt x="23" y="57"/>
                  </a:cubicBezTo>
                  <a:cubicBezTo>
                    <a:pt x="15" y="57"/>
                    <a:pt x="11" y="53"/>
                    <a:pt x="11" y="46"/>
                  </a:cubicBezTo>
                  <a:cubicBezTo>
                    <a:pt x="11" y="38"/>
                    <a:pt x="19" y="37"/>
                    <a:pt x="25" y="36"/>
                  </a:cubicBezTo>
                  <a:cubicBezTo>
                    <a:pt x="37" y="34"/>
                    <a:pt x="40" y="33"/>
                    <a:pt x="42" y="32"/>
                  </a:cubicBezTo>
                  <a:lnTo>
                    <a:pt x="42" y="42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6" name="Freeform 80">
              <a:extLst>
                <a:ext uri="{FF2B5EF4-FFF2-40B4-BE49-F238E27FC236}">
                  <a16:creationId xmlns:a16="http://schemas.microsoft.com/office/drawing/2014/main" id="{99CFAF57-9884-34F1-5BED-8106D19090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2" y="2156"/>
              <a:ext cx="54" cy="96"/>
            </a:xfrm>
            <a:custGeom>
              <a:avLst/>
              <a:gdLst>
                <a:gd name="T0" fmla="*/ 10 w 55"/>
                <a:gd name="T1" fmla="*/ 86 h 87"/>
                <a:gd name="T2" fmla="*/ 10 w 55"/>
                <a:gd name="T3" fmla="*/ 86 h 87"/>
                <a:gd name="T4" fmla="*/ 10 w 55"/>
                <a:gd name="T5" fmla="*/ 78 h 87"/>
                <a:gd name="T6" fmla="*/ 10 w 55"/>
                <a:gd name="T7" fmla="*/ 78 h 87"/>
                <a:gd name="T8" fmla="*/ 28 w 55"/>
                <a:gd name="T9" fmla="*/ 87 h 87"/>
                <a:gd name="T10" fmla="*/ 55 w 55"/>
                <a:gd name="T11" fmla="*/ 53 h 87"/>
                <a:gd name="T12" fmla="*/ 29 w 55"/>
                <a:gd name="T13" fmla="*/ 22 h 87"/>
                <a:gd name="T14" fmla="*/ 11 w 55"/>
                <a:gd name="T15" fmla="*/ 31 h 87"/>
                <a:gd name="T16" fmla="*/ 11 w 55"/>
                <a:gd name="T17" fmla="*/ 31 h 87"/>
                <a:gd name="T18" fmla="*/ 11 w 55"/>
                <a:gd name="T19" fmla="*/ 0 h 87"/>
                <a:gd name="T20" fmla="*/ 0 w 55"/>
                <a:gd name="T21" fmla="*/ 0 h 87"/>
                <a:gd name="T22" fmla="*/ 0 w 55"/>
                <a:gd name="T23" fmla="*/ 86 h 87"/>
                <a:gd name="T24" fmla="*/ 10 w 55"/>
                <a:gd name="T25" fmla="*/ 86 h 87"/>
                <a:gd name="T26" fmla="*/ 44 w 55"/>
                <a:gd name="T27" fmla="*/ 54 h 87"/>
                <a:gd name="T28" fmla="*/ 44 w 55"/>
                <a:gd name="T29" fmla="*/ 54 h 87"/>
                <a:gd name="T30" fmla="*/ 27 w 55"/>
                <a:gd name="T31" fmla="*/ 78 h 87"/>
                <a:gd name="T32" fmla="*/ 10 w 55"/>
                <a:gd name="T33" fmla="*/ 57 h 87"/>
                <a:gd name="T34" fmla="*/ 27 w 55"/>
                <a:gd name="T35" fmla="*/ 31 h 87"/>
                <a:gd name="T36" fmla="*/ 44 w 55"/>
                <a:gd name="T37" fmla="*/ 5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" h="87">
                  <a:moveTo>
                    <a:pt x="10" y="86"/>
                  </a:moveTo>
                  <a:lnTo>
                    <a:pt x="10" y="86"/>
                  </a:lnTo>
                  <a:lnTo>
                    <a:pt x="10" y="78"/>
                  </a:lnTo>
                  <a:lnTo>
                    <a:pt x="10" y="78"/>
                  </a:lnTo>
                  <a:cubicBezTo>
                    <a:pt x="13" y="81"/>
                    <a:pt x="17" y="87"/>
                    <a:pt x="28" y="87"/>
                  </a:cubicBezTo>
                  <a:cubicBezTo>
                    <a:pt x="49" y="87"/>
                    <a:pt x="55" y="68"/>
                    <a:pt x="55" y="53"/>
                  </a:cubicBezTo>
                  <a:cubicBezTo>
                    <a:pt x="55" y="35"/>
                    <a:pt x="46" y="22"/>
                    <a:pt x="29" y="22"/>
                  </a:cubicBezTo>
                  <a:cubicBezTo>
                    <a:pt x="22" y="22"/>
                    <a:pt x="16" y="25"/>
                    <a:pt x="11" y="31"/>
                  </a:cubicBezTo>
                  <a:lnTo>
                    <a:pt x="11" y="31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86"/>
                  </a:lnTo>
                  <a:lnTo>
                    <a:pt x="10" y="86"/>
                  </a:lnTo>
                  <a:close/>
                  <a:moveTo>
                    <a:pt x="44" y="54"/>
                  </a:moveTo>
                  <a:lnTo>
                    <a:pt x="44" y="54"/>
                  </a:lnTo>
                  <a:cubicBezTo>
                    <a:pt x="44" y="68"/>
                    <a:pt x="39" y="78"/>
                    <a:pt x="27" y="78"/>
                  </a:cubicBezTo>
                  <a:cubicBezTo>
                    <a:pt x="21" y="78"/>
                    <a:pt x="10" y="74"/>
                    <a:pt x="10" y="57"/>
                  </a:cubicBezTo>
                  <a:cubicBezTo>
                    <a:pt x="10" y="47"/>
                    <a:pt x="12" y="31"/>
                    <a:pt x="27" y="31"/>
                  </a:cubicBezTo>
                  <a:cubicBezTo>
                    <a:pt x="43" y="31"/>
                    <a:pt x="44" y="46"/>
                    <a:pt x="44" y="54"/>
                  </a:cubicBez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7" name="Freeform 81">
              <a:extLst>
                <a:ext uri="{FF2B5EF4-FFF2-40B4-BE49-F238E27FC236}">
                  <a16:creationId xmlns:a16="http://schemas.microsoft.com/office/drawing/2014/main" id="{9A58B5A8-380A-8CE3-A4EA-B16C8318B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86"/>
              <a:ext cx="30" cy="92"/>
            </a:xfrm>
            <a:custGeom>
              <a:avLst/>
              <a:gdLst>
                <a:gd name="T0" fmla="*/ 31 w 31"/>
                <a:gd name="T1" fmla="*/ 0 h 83"/>
                <a:gd name="T2" fmla="*/ 31 w 31"/>
                <a:gd name="T3" fmla="*/ 0 h 83"/>
                <a:gd name="T4" fmla="*/ 23 w 31"/>
                <a:gd name="T5" fmla="*/ 0 h 83"/>
                <a:gd name="T6" fmla="*/ 0 w 31"/>
                <a:gd name="T7" fmla="*/ 15 h 83"/>
                <a:gd name="T8" fmla="*/ 0 w 31"/>
                <a:gd name="T9" fmla="*/ 24 h 83"/>
                <a:gd name="T10" fmla="*/ 20 w 31"/>
                <a:gd name="T11" fmla="*/ 24 h 83"/>
                <a:gd name="T12" fmla="*/ 20 w 31"/>
                <a:gd name="T13" fmla="*/ 83 h 83"/>
                <a:gd name="T14" fmla="*/ 31 w 31"/>
                <a:gd name="T15" fmla="*/ 83 h 83"/>
                <a:gd name="T16" fmla="*/ 31 w 31"/>
                <a:gd name="T17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" h="83">
                  <a:moveTo>
                    <a:pt x="31" y="0"/>
                  </a:moveTo>
                  <a:lnTo>
                    <a:pt x="31" y="0"/>
                  </a:lnTo>
                  <a:lnTo>
                    <a:pt x="23" y="0"/>
                  </a:lnTo>
                  <a:cubicBezTo>
                    <a:pt x="19" y="13"/>
                    <a:pt x="14" y="15"/>
                    <a:pt x="0" y="15"/>
                  </a:cubicBezTo>
                  <a:lnTo>
                    <a:pt x="0" y="24"/>
                  </a:lnTo>
                  <a:lnTo>
                    <a:pt x="20" y="24"/>
                  </a:lnTo>
                  <a:lnTo>
                    <a:pt x="20" y="83"/>
                  </a:lnTo>
                  <a:lnTo>
                    <a:pt x="31" y="8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8" name="Freeform 82">
              <a:extLst>
                <a:ext uri="{FF2B5EF4-FFF2-40B4-BE49-F238E27FC236}">
                  <a16:creationId xmlns:a16="http://schemas.microsoft.com/office/drawing/2014/main" id="{EA8D5469-D64A-BA19-CC34-0C67CE560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3" y="1823"/>
              <a:ext cx="51" cy="67"/>
            </a:xfrm>
            <a:custGeom>
              <a:avLst/>
              <a:gdLst>
                <a:gd name="T0" fmla="*/ 52 w 52"/>
                <a:gd name="T1" fmla="*/ 61 h 61"/>
                <a:gd name="T2" fmla="*/ 52 w 52"/>
                <a:gd name="T3" fmla="*/ 61 h 61"/>
                <a:gd name="T4" fmla="*/ 26 w 52"/>
                <a:gd name="T5" fmla="*/ 50 h 61"/>
                <a:gd name="T6" fmla="*/ 0 w 52"/>
                <a:gd name="T7" fmla="*/ 61 h 61"/>
                <a:gd name="T8" fmla="*/ 26 w 52"/>
                <a:gd name="T9" fmla="*/ 0 h 61"/>
                <a:gd name="T10" fmla="*/ 52 w 52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61">
                  <a:moveTo>
                    <a:pt x="52" y="61"/>
                  </a:moveTo>
                  <a:lnTo>
                    <a:pt x="52" y="61"/>
                  </a:lnTo>
                  <a:lnTo>
                    <a:pt x="26" y="50"/>
                  </a:lnTo>
                  <a:lnTo>
                    <a:pt x="0" y="61"/>
                  </a:lnTo>
                  <a:lnTo>
                    <a:pt x="26" y="0"/>
                  </a:lnTo>
                  <a:lnTo>
                    <a:pt x="52" y="6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029" name="Freeform 83">
              <a:extLst>
                <a:ext uri="{FF2B5EF4-FFF2-40B4-BE49-F238E27FC236}">
                  <a16:creationId xmlns:a16="http://schemas.microsoft.com/office/drawing/2014/main" id="{24B02FE2-0AF9-B5CB-8F0A-91C63FA88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1823"/>
              <a:ext cx="49" cy="67"/>
            </a:xfrm>
            <a:custGeom>
              <a:avLst/>
              <a:gdLst>
                <a:gd name="T0" fmla="*/ 51 w 51"/>
                <a:gd name="T1" fmla="*/ 61 h 61"/>
                <a:gd name="T2" fmla="*/ 51 w 51"/>
                <a:gd name="T3" fmla="*/ 61 h 61"/>
                <a:gd name="T4" fmla="*/ 25 w 51"/>
                <a:gd name="T5" fmla="*/ 50 h 61"/>
                <a:gd name="T6" fmla="*/ 0 w 51"/>
                <a:gd name="T7" fmla="*/ 61 h 61"/>
                <a:gd name="T8" fmla="*/ 25 w 51"/>
                <a:gd name="T9" fmla="*/ 0 h 61"/>
                <a:gd name="T10" fmla="*/ 51 w 51"/>
                <a:gd name="T11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61">
                  <a:moveTo>
                    <a:pt x="51" y="61"/>
                  </a:moveTo>
                  <a:lnTo>
                    <a:pt x="51" y="61"/>
                  </a:lnTo>
                  <a:lnTo>
                    <a:pt x="25" y="50"/>
                  </a:lnTo>
                  <a:lnTo>
                    <a:pt x="0" y="61"/>
                  </a:lnTo>
                  <a:lnTo>
                    <a:pt x="25" y="0"/>
                  </a:lnTo>
                  <a:lnTo>
                    <a:pt x="51" y="61"/>
                  </a:lnTo>
                  <a:close/>
                </a:path>
              </a:pathLst>
            </a:custGeom>
            <a:solidFill>
              <a:srgbClr val="231F2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7499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</a:p>
          <a:p>
            <a:pPr lvl="1"/>
            <a:r>
              <a:rPr lang="en-US" altLang="en-US" dirty="0"/>
              <a:t>With each page associate a bit, initially = 0</a:t>
            </a:r>
          </a:p>
          <a:p>
            <a:pPr lvl="1"/>
            <a:r>
              <a:rPr lang="en-US" altLang="en-US" dirty="0"/>
              <a:t>When page is referenced bit set to 1</a:t>
            </a:r>
          </a:p>
          <a:p>
            <a:pPr lvl="1"/>
            <a:r>
              <a:rPr lang="en-US" altLang="en-US" dirty="0"/>
              <a:t>Replace any with reference bit = 0 (if one exists)</a:t>
            </a:r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4135672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9033BF15-EA5A-4A49-BB65-331FF866E4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C57D3A7-FA71-4D00-9C2E-051C34BFA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</a:p>
          <a:p>
            <a:pPr lvl="1"/>
            <a:r>
              <a:rPr lang="en-US" altLang="en-US" dirty="0"/>
              <a:t>Generally FIFO, plus hardware-provided reference bit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</a:p>
          <a:p>
            <a:pPr lvl="1"/>
            <a:r>
              <a:rPr lang="en-US" altLang="en-US" dirty="0"/>
              <a:t>If page to be replaced has </a:t>
            </a:r>
          </a:p>
          <a:p>
            <a:pPr lvl="2"/>
            <a:r>
              <a:rPr lang="en-US" altLang="en-US" dirty="0"/>
              <a:t>Reference bit = 0 -&gt; replace it</a:t>
            </a:r>
          </a:p>
          <a:p>
            <a:pPr lvl="2"/>
            <a:r>
              <a:rPr lang="en-US" altLang="en-US" dirty="0"/>
              <a:t>reference bit = 1 then:</a:t>
            </a:r>
          </a:p>
          <a:p>
            <a:pPr lvl="3"/>
            <a:r>
              <a:rPr lang="en-US" altLang="en-US" dirty="0"/>
              <a:t>set reference bit 0, leave page in memory</a:t>
            </a:r>
          </a:p>
          <a:p>
            <a:pPr lvl="3"/>
            <a:r>
              <a:rPr lang="en-US" altLang="en-US" dirty="0"/>
              <a:t>replace next page, subject to same rules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586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2AF32FC-4A14-4E1E-8D4F-440BF4A3EC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br>
              <a:rPr lang="en-US" altLang="en-US" sz="2800" dirty="0"/>
            </a:br>
            <a:r>
              <a:rPr lang="en-US" altLang="en-US" dirty="0"/>
              <a:t>Second-Chance Algorithm</a:t>
            </a:r>
          </a:p>
        </p:txBody>
      </p:sp>
      <p:pic>
        <p:nvPicPr>
          <p:cNvPr id="46083" name="Picture 1" descr="9_17.pdf">
            <a:extLst>
              <a:ext uri="{FF2B5EF4-FFF2-40B4-BE49-F238E27FC236}">
                <a16:creationId xmlns:a16="http://schemas.microsoft.com/office/drawing/2014/main" id="{5B0ED9B7-9A22-4A06-8760-CF9EC5AFD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092200"/>
            <a:ext cx="4402138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6CF5A4B-5B56-4850-890B-CBC91DFC9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9C55B83-EA3F-497C-A3D1-F3E32BFFAD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9" y="1250302"/>
            <a:ext cx="7609925" cy="4967936"/>
          </a:xfrm>
        </p:spPr>
        <p:txBody>
          <a:bodyPr/>
          <a:lstStyle/>
          <a:p>
            <a:r>
              <a:rPr lang="en-US" altLang="en-US" dirty="0"/>
              <a:t>Improve algorithm by using reference bit and modify bit (if available) in concert</a:t>
            </a:r>
          </a:p>
          <a:p>
            <a:r>
              <a:rPr lang="en-US" altLang="en-US" dirty="0"/>
              <a:t>Take ordered pair (reference, modify):</a:t>
            </a:r>
          </a:p>
          <a:p>
            <a:pPr lvl="1"/>
            <a:r>
              <a:rPr lang="en-US" altLang="en-US" dirty="0"/>
              <a:t>(0, 0) neither recently used not modified – best page to replace</a:t>
            </a:r>
          </a:p>
          <a:p>
            <a:pPr lvl="1"/>
            <a:r>
              <a:rPr lang="en-US" altLang="en-US" dirty="0"/>
              <a:t>(0, 1) not recently used but modified – not quite as good, must write out before replacement</a:t>
            </a:r>
          </a:p>
          <a:p>
            <a:pPr lvl="1"/>
            <a:r>
              <a:rPr lang="en-US" altLang="en-US" dirty="0"/>
              <a:t>(1, 0) recently used but clean – probably will be used again soon</a:t>
            </a:r>
          </a:p>
          <a:p>
            <a:pPr lvl="1"/>
            <a:r>
              <a:rPr lang="en-US" altLang="en-US" dirty="0"/>
              <a:t>(1, 1) recently used and modified – probably will be used again soon and need to write out before replacement</a:t>
            </a:r>
          </a:p>
          <a:p>
            <a:r>
              <a:rPr lang="en-US" altLang="en-US" dirty="0"/>
              <a:t>When page replacement called for, use the clock scheme  but use the four classes replace page in lowest non-empty class</a:t>
            </a:r>
          </a:p>
          <a:p>
            <a:pPr lvl="1"/>
            <a:r>
              <a:rPr lang="en-US" altLang="en-US" dirty="0"/>
              <a:t>Might need to search circular queue several times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1C6E0A3-953D-4211-ACA7-F7B6931BDD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52D61FC-D241-4C09-9149-F47482589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9" y="1230348"/>
            <a:ext cx="7311024" cy="4556841"/>
          </a:xfrm>
        </p:spPr>
        <p:txBody>
          <a:bodyPr/>
          <a:lstStyle/>
          <a:p>
            <a:r>
              <a:rPr lang="en-US" altLang="en-US" dirty="0"/>
              <a:t>Keep a counter of the number of references that have been made to each page</a:t>
            </a:r>
          </a:p>
          <a:p>
            <a:pPr lvl="1"/>
            <a:r>
              <a:rPr lang="en-US" altLang="en-US" dirty="0"/>
              <a:t>Not common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Lease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  Replaces page with smallest count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Most Frequently Used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MFU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Based on the argument that the page with the smallest count was probably just brought in and has yet to be used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40DEB88A-1CE8-4A57-9FC0-D217E20A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Page-Buffering Algorithms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15119F1C-1453-4532-9802-57285ECA6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661" y="1159105"/>
            <a:ext cx="7665519" cy="5078412"/>
          </a:xfrm>
        </p:spPr>
        <p:txBody>
          <a:bodyPr/>
          <a:lstStyle/>
          <a:p>
            <a:r>
              <a:rPr lang="en-US" altLang="en-US" dirty="0"/>
              <a:t>Keep a pool of free frames, always</a:t>
            </a:r>
          </a:p>
          <a:p>
            <a:pPr lvl="1"/>
            <a:r>
              <a:rPr lang="en-US" altLang="en-US" dirty="0"/>
              <a:t>Then frame available when needed, not found at fault time</a:t>
            </a:r>
          </a:p>
          <a:p>
            <a:pPr lvl="1"/>
            <a:r>
              <a:rPr lang="en-US" altLang="en-US" dirty="0"/>
              <a:t>Read page into free frame and select victim to evict and add to free pool</a:t>
            </a:r>
          </a:p>
          <a:p>
            <a:pPr lvl="1"/>
            <a:r>
              <a:rPr lang="en-US" altLang="en-US" dirty="0"/>
              <a:t>When convenient, evict victim</a:t>
            </a:r>
          </a:p>
          <a:p>
            <a:r>
              <a:rPr lang="en-US" altLang="en-US" dirty="0"/>
              <a:t>Possibly, keep list of modified pages</a:t>
            </a:r>
          </a:p>
          <a:p>
            <a:pPr lvl="1"/>
            <a:r>
              <a:rPr lang="en-US" altLang="en-US" dirty="0"/>
              <a:t>When backing store otherwise idle, write pages there and set to non-dirty</a:t>
            </a:r>
          </a:p>
          <a:p>
            <a:r>
              <a:rPr lang="en-US" altLang="en-US" dirty="0"/>
              <a:t>Possibly, keep free frame contents intact and note what is in them</a:t>
            </a:r>
          </a:p>
          <a:p>
            <a:pPr lvl="1"/>
            <a:r>
              <a:rPr lang="en-US" altLang="en-US" dirty="0"/>
              <a:t>If referenced again before reused, no need to load contents again from disk</a:t>
            </a:r>
          </a:p>
          <a:p>
            <a:pPr lvl="1"/>
            <a:r>
              <a:rPr lang="en-US" altLang="en-US" dirty="0"/>
              <a:t>Generally useful to reduce penalty if wrong victim frame selected 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E6C864EC-8C8E-4994-BD1B-89C51B44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1422"/>
            <a:ext cx="7867650" cy="576262"/>
          </a:xfrm>
        </p:spPr>
        <p:txBody>
          <a:bodyPr/>
          <a:lstStyle/>
          <a:p>
            <a:r>
              <a:rPr lang="en-US" altLang="en-US" dirty="0"/>
              <a:t>Applications and Page Replacement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EF0654BE-5D3B-4F4B-9378-AD0158AA1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843" y="1131888"/>
            <a:ext cx="7612353" cy="4530725"/>
          </a:xfrm>
        </p:spPr>
        <p:txBody>
          <a:bodyPr/>
          <a:lstStyle/>
          <a:p>
            <a:r>
              <a:rPr lang="en-US" altLang="en-US" dirty="0"/>
              <a:t>All of these algorithms have OS guessing about future page access</a:t>
            </a:r>
          </a:p>
          <a:p>
            <a:r>
              <a:rPr lang="en-US" altLang="en-US" dirty="0"/>
              <a:t>Some applications have better knowledge – i.e. databases</a:t>
            </a:r>
          </a:p>
          <a:p>
            <a:r>
              <a:rPr lang="en-US" altLang="en-US" dirty="0"/>
              <a:t>Memory intensive applications can cause double buffering</a:t>
            </a:r>
          </a:p>
          <a:p>
            <a:pPr lvl="1"/>
            <a:r>
              <a:rPr lang="en-US" altLang="en-US" dirty="0"/>
              <a:t>OS keeps copy of page in memory as I/O buffer</a:t>
            </a:r>
          </a:p>
          <a:p>
            <a:pPr lvl="1"/>
            <a:r>
              <a:rPr lang="en-US" altLang="en-US" dirty="0"/>
              <a:t>Application keeps page in memory for its own work</a:t>
            </a:r>
          </a:p>
          <a:p>
            <a:r>
              <a:rPr lang="en-US" altLang="en-US" dirty="0"/>
              <a:t>Operating system can given direct access to the disk, getting out of the way of the applications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disk</a:t>
            </a:r>
            <a:r>
              <a:rPr lang="en-US" altLang="en-US" b="1" dirty="0"/>
              <a:t> </a:t>
            </a:r>
            <a:r>
              <a:rPr lang="en-US" altLang="en-US" dirty="0"/>
              <a:t>mode</a:t>
            </a:r>
          </a:p>
          <a:p>
            <a:r>
              <a:rPr lang="en-US" altLang="en-US" dirty="0"/>
              <a:t>Bypasses buffering, locking, etc.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362AB2CE-BAAA-4052-BCA8-703C3DC64D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038" y="238158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of Frames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700FB4A8-565F-4B3F-9EE9-D1D1028D4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6" y="1120775"/>
            <a:ext cx="7735078" cy="4483100"/>
          </a:xfrm>
        </p:spPr>
        <p:txBody>
          <a:bodyPr/>
          <a:lstStyle/>
          <a:p>
            <a:r>
              <a:rPr lang="en-US" altLang="en-US" dirty="0"/>
              <a:t>Each process needs </a:t>
            </a:r>
            <a:r>
              <a:rPr lang="en-US" altLang="en-US" b="1" i="1" dirty="0"/>
              <a:t>minimum</a:t>
            </a:r>
            <a:r>
              <a:rPr lang="en-US" altLang="en-US" dirty="0"/>
              <a:t> number of frames</a:t>
            </a:r>
          </a:p>
          <a:p>
            <a:r>
              <a:rPr lang="en-US" altLang="en-US" dirty="0"/>
              <a:t>Example:  IBM 370 – 6 pages to handle SS MOVE instruction:</a:t>
            </a:r>
          </a:p>
          <a:p>
            <a:pPr lvl="1"/>
            <a:r>
              <a:rPr lang="en-US" altLang="en-US" dirty="0"/>
              <a:t>instruction is 6 bytes, might span 2 pages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from</a:t>
            </a:r>
          </a:p>
          <a:p>
            <a:pPr lvl="1"/>
            <a:r>
              <a:rPr lang="en-US" altLang="en-US" dirty="0"/>
              <a:t>2 pages to handle </a:t>
            </a:r>
            <a:r>
              <a:rPr lang="en-US" altLang="en-US" i="1" dirty="0"/>
              <a:t>to</a:t>
            </a:r>
          </a:p>
          <a:p>
            <a:r>
              <a:rPr lang="en-US" altLang="en-US" b="1" i="1" dirty="0"/>
              <a:t>Maximum</a:t>
            </a:r>
            <a:r>
              <a:rPr lang="en-US" altLang="en-US" i="1" dirty="0"/>
              <a:t> </a:t>
            </a:r>
            <a:r>
              <a:rPr lang="en-US" altLang="en-US" dirty="0"/>
              <a:t>of course is total frames in the system</a:t>
            </a:r>
          </a:p>
          <a:p>
            <a:r>
              <a:rPr lang="en-US" altLang="en-US" dirty="0"/>
              <a:t>Two major allocation schemes</a:t>
            </a:r>
          </a:p>
          <a:p>
            <a:pPr lvl="1"/>
            <a:r>
              <a:rPr lang="en-US" altLang="en-US" dirty="0"/>
              <a:t>fixed allocation</a:t>
            </a:r>
          </a:p>
          <a:p>
            <a:pPr lvl="1"/>
            <a:r>
              <a:rPr lang="en-US" altLang="en-US" dirty="0"/>
              <a:t>priority allocation</a:t>
            </a:r>
          </a:p>
          <a:p>
            <a:r>
              <a:rPr lang="en-US" altLang="en-US" dirty="0"/>
              <a:t>Many variations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70E5B077-B145-42CF-B6DE-2F59CC8999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8188" y="235568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Fixed Allocation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0FF48B9C-0D56-4D18-919D-070428F3B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045" y="1119999"/>
            <a:ext cx="7691796" cy="4645025"/>
          </a:xfrm>
        </p:spPr>
        <p:txBody>
          <a:bodyPr/>
          <a:lstStyle/>
          <a:p>
            <a:r>
              <a:rPr lang="en-US" altLang="en-US" dirty="0"/>
              <a:t>Equal allocation – For example, if there are 100 frames (after allocating frames for the OS) and 5 processes, give each process 20 frames</a:t>
            </a:r>
          </a:p>
          <a:p>
            <a:pPr lvl="1"/>
            <a:r>
              <a:rPr lang="en-US" altLang="en-US" dirty="0"/>
              <a:t>Keep some as free frame buffer pool</a:t>
            </a:r>
          </a:p>
          <a:p>
            <a:endParaRPr lang="en-US" altLang="en-US" sz="800" dirty="0"/>
          </a:p>
          <a:p>
            <a:r>
              <a:rPr lang="en-US" altLang="en-US" dirty="0"/>
              <a:t>Proportional allocation – Allocate according to the size of process</a:t>
            </a:r>
          </a:p>
          <a:p>
            <a:pPr lvl="1"/>
            <a:r>
              <a:rPr lang="en-US" altLang="en-US" dirty="0"/>
              <a:t>Dynamic as degree of multiprogramming, process sizes change</a:t>
            </a:r>
          </a:p>
          <a:p>
            <a:pPr lvl="1">
              <a:buFont typeface="Monotype Sorts" pitchFamily="-84" charset="2"/>
              <a:buNone/>
            </a:pPr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60101F45-DE12-4B60-9040-E3AC5E8C5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500" imgH="1612900" progId="Equation.3">
                  <p:embed/>
                </p:oleObj>
              </mc:Choice>
              <mc:Fallback>
                <p:oleObj name="Equation" r:id="rId3" imgW="2857500" imgH="161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>
            <a:extLst>
              <a:ext uri="{FF2B5EF4-FFF2-40B4-BE49-F238E27FC236}">
                <a16:creationId xmlns:a16="http://schemas.microsoft.com/office/drawing/2014/main" id="{8888DB1A-25C9-4D76-AE59-B4B5C1E6F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ECC2003F-96B6-47ED-AF4F-07170847D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>
            <a:extLst>
              <a:ext uri="{FF2B5EF4-FFF2-40B4-BE49-F238E27FC236}">
                <a16:creationId xmlns:a16="http://schemas.microsoft.com/office/drawing/2014/main" id="{5847D2CD-ECAD-4BC8-86B1-C8CE5E343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>
            <a:extLst>
              <a:ext uri="{FF2B5EF4-FFF2-40B4-BE49-F238E27FC236}">
                <a16:creationId xmlns:a16="http://schemas.microsoft.com/office/drawing/2014/main" id="{B1B7ADDF-04E5-45DA-B979-4FC4DE3E1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graphicFrame>
        <p:nvGraphicFramePr>
          <p:cNvPr id="1027" name="Object 3">
            <a:extLst>
              <a:ext uri="{FF2B5EF4-FFF2-40B4-BE49-F238E27FC236}">
                <a16:creationId xmlns:a16="http://schemas.microsoft.com/office/drawing/2014/main" id="{5598D165-43F5-47B6-A2A0-4E723009E1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5188" y="3425825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3000" imgH="1460500" progId="Equation.3">
                  <p:embed/>
                </p:oleObj>
              </mc:Choice>
              <mc:Fallback>
                <p:oleObj name="Equation" r:id="rId5" imgW="1143000" imgH="1460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3425825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01C6E52-51B6-4080-B3CB-DA269501C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Global vs. Local Allocation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BDEEC50-DE5B-4191-A4E4-940F9E965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116013"/>
            <a:ext cx="7656512" cy="44704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process selects a replacement frame from the set of all frames; one process can take a frame from another</a:t>
            </a:r>
          </a:p>
          <a:p>
            <a:pPr lvl="1"/>
            <a:r>
              <a:rPr lang="en-US" altLang="en-US" dirty="0"/>
              <a:t>But then process execution time can vary greatly</a:t>
            </a:r>
          </a:p>
          <a:p>
            <a:pPr lvl="1"/>
            <a:r>
              <a:rPr lang="en-US" altLang="en-US" dirty="0"/>
              <a:t>But greater throughput so more common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each process selects from only its own set of allocated frames</a:t>
            </a:r>
          </a:p>
          <a:p>
            <a:pPr lvl="1"/>
            <a:r>
              <a:rPr lang="en-US" altLang="en-US" dirty="0"/>
              <a:t>More consistent per-process performance</a:t>
            </a:r>
          </a:p>
          <a:p>
            <a:pPr lvl="1"/>
            <a:r>
              <a:rPr lang="en-US" altLang="en-US" dirty="0"/>
              <a:t>But possibly underutilized memory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8F89ABC5-C6DD-4713-ABCC-DF2FB1DBD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748" y="1116013"/>
            <a:ext cx="7669762" cy="4470400"/>
          </a:xfrm>
        </p:spPr>
        <p:txBody>
          <a:bodyPr/>
          <a:lstStyle/>
          <a:p>
            <a:r>
              <a:rPr lang="en-US" altLang="en-US" dirty="0"/>
              <a:t>A strategy to implement global page-replacement policy </a:t>
            </a:r>
          </a:p>
          <a:p>
            <a:r>
              <a:rPr lang="en-US" altLang="en-US" dirty="0"/>
              <a:t>All memory requests  are satisfied from the free-frame list,  rather than waiting for the list to drop to zero before we begin selecting pages for replacement, </a:t>
            </a:r>
          </a:p>
          <a:p>
            <a:r>
              <a:rPr lang="en-US" altLang="en-US" dirty="0"/>
              <a:t>Page replacement  is triggered when the list falls below a certain threshold. </a:t>
            </a:r>
          </a:p>
          <a:p>
            <a:r>
              <a:rPr lang="en-US" altLang="en-US" dirty="0"/>
              <a:t>This strategy attempts to ensure there is always sufficient free memory to satisfy new requests</a:t>
            </a:r>
            <a:r>
              <a:rPr lang="en-US" altLang="en-US" b="1" dirty="0">
                <a:solidFill>
                  <a:srgbClr val="3366FF"/>
                </a:solidFill>
              </a:rPr>
              <a:t>.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3251" name="Title 4">
            <a:extLst>
              <a:ext uri="{FF2B5EF4-FFF2-40B4-BE49-F238E27FC236}">
                <a16:creationId xmlns:a16="http://schemas.microsoft.com/office/drawing/2014/main" id="{19A04316-FDA7-4603-B74E-219CB62A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890" y="233204"/>
            <a:ext cx="7315200" cy="576263"/>
          </a:xfrm>
        </p:spPr>
        <p:txBody>
          <a:bodyPr/>
          <a:lstStyle/>
          <a:p>
            <a:r>
              <a:rPr lang="en-US" altLang="en-US" dirty="0"/>
              <a:t>Reclaiming Pages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00A8FF6-4218-4A3C-97F8-029AF1E78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3674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Reclaiming Pages Example </a:t>
            </a:r>
          </a:p>
        </p:txBody>
      </p:sp>
      <p:pic>
        <p:nvPicPr>
          <p:cNvPr id="54275" name="Picture 2" descr="B:\os-book\os10-dir\Slides-WORK-area\Figures-dir\ch10\JPG-dir\10_18.jpg">
            <a:extLst>
              <a:ext uri="{FF2B5EF4-FFF2-40B4-BE49-F238E27FC236}">
                <a16:creationId xmlns:a16="http://schemas.microsoft.com/office/drawing/2014/main" id="{1CBDD818-7B1C-4DDD-AAB3-4D84028FE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44625"/>
            <a:ext cx="4067175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109717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18131</TotalTime>
  <Words>1427</Words>
  <Application>Microsoft Office PowerPoint</Application>
  <PresentationFormat>全屏显示(4:3)</PresentationFormat>
  <Paragraphs>193</Paragraphs>
  <Slides>28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Monotype Sorts</vt:lpstr>
      <vt:lpstr>Arial</vt:lpstr>
      <vt:lpstr>Helvetica</vt:lpstr>
      <vt:lpstr>Times New Roman</vt:lpstr>
      <vt:lpstr>Verdana</vt:lpstr>
      <vt:lpstr>Webdings</vt:lpstr>
      <vt:lpstr>Wingdings</vt:lpstr>
      <vt:lpstr>os-8</vt:lpstr>
      <vt:lpstr>Equation</vt:lpstr>
      <vt:lpstr>Chapter 10:  Virtual Memory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LRU Algorithm (Cont.)</vt:lpstr>
      <vt:lpstr>LRU Approximation Algorithms</vt:lpstr>
      <vt:lpstr>LRU Approximation Algorithms (cont.)</vt:lpstr>
      <vt:lpstr>Take a Break</vt:lpstr>
      <vt:lpstr> Second-Chance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Global vs. Local Allocation</vt:lpstr>
      <vt:lpstr>Reclaiming Pages</vt:lpstr>
      <vt:lpstr>Reclaiming Pages Example 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290</cp:revision>
  <cp:lastPrinted>2013-09-10T17:57:57Z</cp:lastPrinted>
  <dcterms:created xsi:type="dcterms:W3CDTF">2011-01-13T23:43:38Z</dcterms:created>
  <dcterms:modified xsi:type="dcterms:W3CDTF">2025-09-09T05:36:54Z</dcterms:modified>
</cp:coreProperties>
</file>