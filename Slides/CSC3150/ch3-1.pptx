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8"/>
  </p:notesMasterIdLst>
  <p:handoutMasterIdLst>
    <p:handoutMasterId r:id="rId39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430" r:id="rId23"/>
    <p:sldId id="432" r:id="rId24"/>
    <p:sldId id="478" r:id="rId25"/>
    <p:sldId id="434" r:id="rId26"/>
    <p:sldId id="471" r:id="rId27"/>
    <p:sldId id="502" r:id="rId28"/>
    <p:sldId id="435" r:id="rId29"/>
    <p:sldId id="436" r:id="rId30"/>
    <p:sldId id="437" r:id="rId31"/>
    <p:sldId id="516" r:id="rId32"/>
    <p:sldId id="503" r:id="rId33"/>
    <p:sldId id="490" r:id="rId34"/>
    <p:sldId id="491" r:id="rId35"/>
    <p:sldId id="492" r:id="rId36"/>
    <p:sldId id="526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110" autoAdjust="0"/>
    <p:restoredTop sz="94635"/>
  </p:normalViewPr>
  <p:slideViewPr>
    <p:cSldViewPr snapToGrid="0">
      <p:cViewPr varScale="1">
        <p:scale>
          <a:sx n="56" d="100"/>
          <a:sy n="56" d="100"/>
        </p:scale>
        <p:origin x="1528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sz="2000" dirty="0"/>
              <a:t>Process Concept</a:t>
            </a:r>
          </a:p>
          <a:p>
            <a:r>
              <a:rPr lang="en-US" altLang="en-US" sz="2000" dirty="0"/>
              <a:t>Process Scheduling</a:t>
            </a:r>
          </a:p>
          <a:p>
            <a:r>
              <a:rPr lang="en-US" altLang="en-US" sz="2000" dirty="0"/>
              <a:t>Operations on Processes</a:t>
            </a:r>
          </a:p>
          <a:p>
            <a:r>
              <a:rPr lang="en-US" altLang="en-US" sz="2000" dirty="0"/>
              <a:t>Interprocess Communication</a:t>
            </a:r>
          </a:p>
          <a:p>
            <a:r>
              <a:rPr lang="en-US" altLang="en-US" sz="2000" dirty="0"/>
              <a:t>IPC in Shared-Memory Systems</a:t>
            </a:r>
          </a:p>
          <a:p>
            <a:r>
              <a:rPr lang="en-US" altLang="en-US" sz="2000" dirty="0"/>
              <a:t>IPC in Message-Passing Systems</a:t>
            </a:r>
          </a:p>
          <a:p>
            <a:r>
              <a:rPr lang="en-US" altLang="en-US" sz="2000" dirty="0"/>
              <a:t>Examples of IPC Systems</a:t>
            </a:r>
          </a:p>
          <a:p>
            <a:r>
              <a:rPr lang="en-US" altLang="en-US" sz="2000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0228" y="1138238"/>
            <a:ext cx="8229600" cy="4530725"/>
          </a:xfrm>
        </p:spPr>
        <p:txBody>
          <a:bodyPr/>
          <a:lstStyle/>
          <a:p>
            <a:r>
              <a:rPr lang="en-US" altLang="en-US" sz="2000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sz="2000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sz="2000" dirty="0"/>
              <a:t>Describe and contrast </a:t>
            </a:r>
            <a:r>
              <a:rPr lang="en-US" altLang="en-US" sz="2000" dirty="0" err="1"/>
              <a:t>interprocess</a:t>
            </a:r>
            <a:r>
              <a:rPr lang="en-US" altLang="en-US" sz="2000" dirty="0"/>
              <a:t> communication using shared memory and message passing.</a:t>
            </a:r>
          </a:p>
          <a:p>
            <a:r>
              <a:rPr lang="en-US" altLang="en-US" sz="2000" dirty="0"/>
              <a:t>Design programs that uses pipes and POSIX shared memory to perform </a:t>
            </a:r>
            <a:r>
              <a:rPr lang="en-US" altLang="en-US" sz="2000" dirty="0" err="1"/>
              <a:t>interprocess</a:t>
            </a:r>
            <a:r>
              <a:rPr lang="en-US" altLang="en-US" sz="2000" dirty="0"/>
              <a:t> communication.</a:t>
            </a:r>
          </a:p>
          <a:p>
            <a:r>
              <a:rPr lang="en-US" altLang="en-US" sz="2000" dirty="0"/>
              <a:t>Describe client-server communication using sockets and remote procedure calls.</a:t>
            </a:r>
          </a:p>
          <a:p>
            <a:r>
              <a:rPr lang="en-US" altLang="en-US" sz="2000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1180" y="1049564"/>
            <a:ext cx="8135620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Process</a:t>
            </a:r>
            <a:r>
              <a:rPr lang="en-US" altLang="en-US" sz="2000" dirty="0">
                <a:latin typeface="+mn-ea"/>
                <a:ea typeface="+mn-ea"/>
              </a:rPr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sz="2000" dirty="0">
                <a:latin typeface="+mn-ea"/>
                <a:ea typeface="+mn-ea"/>
              </a:rPr>
              <a:t>Multiple parts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The program code, also called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section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Current activity including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program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, processor registers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Stack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temporary data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Function parameters, return addresses, local variables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Data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section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global variables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Heap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memory dynamically allocated during run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7721600" cy="4595132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Program is </a:t>
            </a:r>
            <a:r>
              <a:rPr lang="en-US" altLang="en-US" sz="2000" b="1" dirty="0">
                <a:latin typeface="+mn-ea"/>
                <a:ea typeface="+mn-ea"/>
              </a:rPr>
              <a:t>passive</a:t>
            </a:r>
            <a:r>
              <a:rPr lang="en-US" altLang="en-US" sz="2000" dirty="0">
                <a:latin typeface="+mn-ea"/>
                <a:ea typeface="+mn-ea"/>
              </a:rPr>
              <a:t> entity stored on disk 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executable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file</a:t>
            </a:r>
            <a:r>
              <a:rPr lang="en-US" altLang="en-US" sz="2000" dirty="0">
                <a:latin typeface="+mn-ea"/>
                <a:ea typeface="+mn-ea"/>
              </a:rPr>
              <a:t>); process is </a:t>
            </a:r>
            <a:r>
              <a:rPr lang="en-US" altLang="en-US" sz="2000" b="1" dirty="0">
                <a:latin typeface="+mn-ea"/>
                <a:ea typeface="+mn-ea"/>
              </a:rPr>
              <a:t>active</a:t>
            </a:r>
            <a:r>
              <a:rPr lang="en-US" altLang="en-US" sz="2000" b="1" i="1" dirty="0">
                <a:latin typeface="+mn-ea"/>
                <a:ea typeface="+mn-ea"/>
              </a:rPr>
              <a:t> 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Program becomes process when an executable file is loaded into memory</a:t>
            </a:r>
          </a:p>
          <a:p>
            <a:r>
              <a:rPr lang="en-US" altLang="en-US" sz="2000" dirty="0">
                <a:latin typeface="+mn-ea"/>
                <a:ea typeface="+mn-ea"/>
              </a:rPr>
              <a:t>Execution of program started via GUI mouse clicks, command line entry of its name, etc.</a:t>
            </a:r>
          </a:p>
          <a:p>
            <a:r>
              <a:rPr lang="en-US" altLang="en-US" sz="2000" dirty="0">
                <a:latin typeface="+mn-ea"/>
                <a:ea typeface="+mn-ea"/>
              </a:rPr>
              <a:t>One program can be several processes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720330" cy="3254375"/>
          </a:xfrm>
        </p:spPr>
        <p:txBody>
          <a:bodyPr/>
          <a:lstStyle/>
          <a:p>
            <a:r>
              <a:rPr lang="en-US" altLang="en-US" sz="2200" dirty="0">
                <a:latin typeface="+mn-ea"/>
                <a:ea typeface="+mn-ea"/>
              </a:rPr>
              <a:t>As a process executes, it changes </a:t>
            </a:r>
            <a:r>
              <a:rPr lang="en-US" altLang="en-US" sz="2200" b="1" dirty="0">
                <a:solidFill>
                  <a:srgbClr val="006699"/>
                </a:solidFill>
                <a:latin typeface="+mn-ea"/>
                <a:ea typeface="+mn-ea"/>
              </a:rPr>
              <a:t>state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New</a:t>
            </a:r>
            <a:r>
              <a:rPr lang="en-US" altLang="en-US" sz="2000" dirty="0">
                <a:latin typeface="+mn-ea"/>
                <a:ea typeface="+mn-ea"/>
              </a:rPr>
              <a:t>:  The process is being created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Running</a:t>
            </a:r>
            <a:r>
              <a:rPr lang="en-US" altLang="en-US" sz="2000" dirty="0">
                <a:latin typeface="+mn-ea"/>
                <a:ea typeface="+mn-ea"/>
              </a:rPr>
              <a:t>:  Instructions are being executed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Waiting</a:t>
            </a:r>
            <a:r>
              <a:rPr lang="en-US" altLang="en-US" sz="2000" dirty="0">
                <a:latin typeface="+mn-ea"/>
                <a:ea typeface="+mn-ea"/>
              </a:rPr>
              <a:t>:  The process is waiting for some event to occur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Ready</a:t>
            </a:r>
            <a:r>
              <a:rPr lang="en-US" altLang="en-US" sz="2000" dirty="0">
                <a:latin typeface="+mn-ea"/>
                <a:ea typeface="+mn-ea"/>
              </a:rPr>
              <a:t>:  The process is waiting to be assigned to a processor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Terminated</a:t>
            </a:r>
            <a:r>
              <a:rPr lang="en-US" altLang="en-US" sz="2000" dirty="0">
                <a:latin typeface="+mn-ea"/>
                <a:ea typeface="+mn-ea"/>
              </a:rPr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44" y="1964054"/>
            <a:ext cx="7158985" cy="2790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9573" y="1126638"/>
            <a:ext cx="6685597" cy="4434920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Information associated with each process (also called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task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block</a:t>
            </a:r>
            <a:r>
              <a:rPr lang="en-US" altLang="en-US" sz="2000" dirty="0">
                <a:latin typeface="+mn-ea"/>
                <a:ea typeface="+mn-ea"/>
              </a:rPr>
              <a:t>), including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Process state – running, waiting, etc.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 counter – location of instruction to next execute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CPU registers – contents of all process-centric registers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CPU scheduling information- priorities, scheduling queue pointers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Memory-management information – memory allocated to the process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Accounting information – CPU used, clock time elapsed since start, time limits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I/O status information – I/O devices allocated to process, list of open files</a:t>
            </a: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170" y="1605052"/>
            <a:ext cx="1839882" cy="298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39" y="1059091"/>
            <a:ext cx="7533323" cy="3124289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So far, process has a single thread of execution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Consider having multiple program counters per process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Multiple locations can execute at once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Multiple threads of control -&gt;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threads</a:t>
            </a:r>
          </a:p>
          <a:p>
            <a:r>
              <a:rPr lang="en-US" altLang="en-US" sz="2000" dirty="0">
                <a:latin typeface="+mn-ea"/>
                <a:ea typeface="+mn-ea"/>
              </a:rPr>
              <a:t>Must then have storage for thread details, multiple program counters in PCB</a:t>
            </a:r>
          </a:p>
          <a:p>
            <a:r>
              <a:rPr lang="en-US" altLang="en-US" sz="2000" dirty="0">
                <a:latin typeface="+mn-ea"/>
                <a:ea typeface="+mn-ea"/>
              </a:rPr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0575" y="1233489"/>
            <a:ext cx="7743825" cy="274415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anose="02070309020205020404" pitchFamily="49" charset="0"/>
              </a:rPr>
              <a:t>task_struct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sz="1600" dirty="0" err="1">
                <a:latin typeface="Courier New" panose="02070309020205020404" pitchFamily="49" charset="0"/>
              </a:rPr>
              <a:t>pid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t_pid</a:t>
            </a:r>
            <a:r>
              <a:rPr lang="en-US" altLang="en-US" sz="1600" dirty="0">
                <a:latin typeface="Courier New" panose="02070309020205020404" pitchFamily="49" charset="0"/>
              </a:rPr>
              <a:t>; 			/* process identifier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unsigned int </a:t>
            </a:r>
            <a:r>
              <a:rPr lang="en-US" altLang="en-US" sz="1600" dirty="0" err="1">
                <a:latin typeface="Courier New" panose="02070309020205020404" pitchFamily="49" charset="0"/>
              </a:rPr>
              <a:t>time_slice</a:t>
            </a:r>
            <a:r>
              <a:rPr lang="en-US" altLang="en-US" sz="1600" dirty="0">
                <a:latin typeface="Courier New" panose="02070309020205020404" pitchFamily="49" charset="0"/>
              </a:rPr>
              <a:t> 	/* scheduling information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struct </a:t>
            </a:r>
            <a:r>
              <a:rPr lang="en-US" altLang="en-US" sz="1600" dirty="0" err="1">
                <a:latin typeface="Courier New" panose="02070309020205020404" pitchFamily="49" charset="0"/>
              </a:rPr>
              <a:t>task_struct</a:t>
            </a:r>
            <a:r>
              <a:rPr lang="en-US" altLang="en-US" sz="1600" dirty="0">
                <a:latin typeface="Courier New" panose="02070309020205020404" pitchFamily="49" charset="0"/>
              </a:rPr>
              <a:t> *parent;/*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parent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list_head</a:t>
            </a:r>
            <a:r>
              <a:rPr lang="en-US" altLang="ja-JP" sz="1600" dirty="0">
                <a:latin typeface="Courier New" panose="02070309020205020404" pitchFamily="49" charset="0"/>
              </a:rPr>
              <a:t> children; 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children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files_struct</a:t>
            </a:r>
            <a:r>
              <a:rPr lang="en-US" altLang="ja-JP" sz="1600" dirty="0">
                <a:latin typeface="Courier New" panose="02070309020205020404" pitchFamily="49" charset="0"/>
              </a:rPr>
              <a:t> *files;/* list of open files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mm_struct</a:t>
            </a:r>
            <a:r>
              <a:rPr lang="en-US" altLang="ja-JP" sz="1600" dirty="0">
                <a:latin typeface="Courier New" panose="02070309020205020404" pitchFamily="49" charset="0"/>
              </a:rPr>
              <a:t> *mm; 	/* address space of this process */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4243385"/>
            <a:ext cx="5767900" cy="198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070" y="1119417"/>
            <a:ext cx="8435340" cy="3839445"/>
          </a:xfrm>
        </p:spPr>
        <p:txBody>
          <a:bodyPr/>
          <a:lstStyle/>
          <a:p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scheduler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selects among available processes for next execution on CPU core</a:t>
            </a:r>
          </a:p>
          <a:p>
            <a:r>
              <a:rPr lang="en-US" altLang="en-US" sz="2000" dirty="0">
                <a:latin typeface="+mn-ea"/>
                <a:ea typeface="+mn-ea"/>
              </a:rPr>
              <a:t>Goal -- Maximize CPU use, quickly switch processes onto CPU core</a:t>
            </a:r>
          </a:p>
          <a:p>
            <a:r>
              <a:rPr lang="en-US" altLang="en-US" sz="2000" dirty="0">
                <a:latin typeface="+mn-ea"/>
                <a:ea typeface="+mn-ea"/>
              </a:rPr>
              <a:t>Maintains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– set of processes waiting for an event (i.e., I/O)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Processes migrate among the various queues</a:t>
            </a:r>
          </a:p>
          <a:p>
            <a:pPr marL="0" indent="0"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33" y="1406207"/>
            <a:ext cx="6801432" cy="404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194276"/>
            <a:ext cx="7744535" cy="446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922338"/>
            <a:ext cx="75923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>
                <a:srgbClr val="C00000"/>
              </a:buClr>
              <a:buSzTx/>
            </a:pPr>
            <a:r>
              <a:rPr kumimoji="0" lang="en-US" altLang="en-US" sz="2000" dirty="0">
                <a:latin typeface="Verdana" panose="020B0604030504040204" pitchFamily="34" charset="0"/>
              </a:rPr>
              <a:t>A </a:t>
            </a:r>
            <a:r>
              <a:rPr kumimoji="0" lang="en-US" altLang="en-US" sz="2000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sz="2000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391" y="1780486"/>
            <a:ext cx="5764848" cy="47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7739062" cy="4413494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When CPU switches to another process, the system must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save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the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the old process and load the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saved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for the new process via a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switch</a:t>
            </a:r>
          </a:p>
          <a:p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a process represented in the PCB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Context-switch time is pure overhead; the system does no useful work while switching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The more complex the OS and the PCB </a:t>
            </a:r>
            <a:r>
              <a:rPr lang="en-US" altLang="en-US" sz="2000" dirty="0">
                <a:latin typeface="+mn-ea"/>
                <a:ea typeface="+mn-ea"/>
                <a:sym typeface="Wingdings" panose="05000000000000000000" pitchFamily="2" charset="2"/>
              </a:rPr>
              <a:t> the </a:t>
            </a:r>
            <a:r>
              <a:rPr lang="en-US" altLang="en-US" sz="2000" dirty="0">
                <a:latin typeface="+mn-ea"/>
                <a:ea typeface="+mn-ea"/>
              </a:rPr>
              <a:t>longer the context switch</a:t>
            </a:r>
          </a:p>
          <a:p>
            <a:r>
              <a:rPr lang="en-US" altLang="en-US" sz="2000" dirty="0">
                <a:latin typeface="+mn-ea"/>
                <a:ea typeface="+mn-ea"/>
              </a:rPr>
              <a:t>Time dependent on hardware support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Some hardware provides multiple sets of registers per CPU </a:t>
            </a:r>
            <a:r>
              <a:rPr lang="en-US" altLang="en-US" sz="2000" dirty="0">
                <a:latin typeface="+mn-ea"/>
                <a:ea typeface="+mn-ea"/>
                <a:sym typeface="Wingdings" panose="05000000000000000000" pitchFamily="2" charset="2"/>
              </a:rPr>
              <a:t></a:t>
            </a:r>
            <a:r>
              <a:rPr lang="en-US" altLang="en-US" sz="2000" dirty="0">
                <a:latin typeface="+mn-ea"/>
                <a:ea typeface="+mn-ea"/>
              </a:rPr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1610" y="225670"/>
            <a:ext cx="648081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370" y="1042511"/>
            <a:ext cx="8035290" cy="4772978"/>
          </a:xfrm>
        </p:spPr>
        <p:txBody>
          <a:bodyPr/>
          <a:lstStyle/>
          <a:p>
            <a:r>
              <a:rPr lang="en-US" altLang="en-US" sz="2000" dirty="0"/>
              <a:t>Some mobile systems (e.g., early version of iOS)  allow only one process to run, others suspended</a:t>
            </a:r>
          </a:p>
          <a:p>
            <a:r>
              <a:rPr lang="en-US" altLang="en-US" sz="2000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sz="2000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9"/>
            <a:ext cx="7381875" cy="1372552"/>
          </a:xfrm>
        </p:spPr>
        <p:txBody>
          <a:bodyPr/>
          <a:lstStyle/>
          <a:p>
            <a:r>
              <a:rPr lang="en-US" altLang="en-US" sz="2000" dirty="0"/>
              <a:t>System must provide mechanisms for:</a:t>
            </a:r>
          </a:p>
          <a:p>
            <a:pPr lvl="1"/>
            <a:r>
              <a:rPr lang="en-US" altLang="en-US" sz="2000" dirty="0"/>
              <a:t> Process creation</a:t>
            </a:r>
          </a:p>
          <a:p>
            <a:pPr lvl="1"/>
            <a:r>
              <a:rPr lang="en-US" altLang="en-US" sz="2000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4" y="1169989"/>
            <a:ext cx="7832726" cy="420211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sz="2000" b="1" dirty="0"/>
              <a:t> </a:t>
            </a:r>
            <a:r>
              <a:rPr lang="en-US" altLang="en-US" sz="2000" dirty="0"/>
              <a:t>process create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sz="2000" b="1" dirty="0"/>
              <a:t> </a:t>
            </a:r>
            <a:r>
              <a:rPr lang="en-US" altLang="en-US" sz="2000" dirty="0"/>
              <a:t>processes, which, in turn create other processes, forming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sz="2000" dirty="0"/>
              <a:t> of processes</a:t>
            </a:r>
          </a:p>
          <a:p>
            <a:r>
              <a:rPr lang="en-US" altLang="en-US" sz="2000" dirty="0"/>
              <a:t>Generally, process identified and managed via a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</a:p>
          <a:p>
            <a:r>
              <a:rPr lang="en-US" altLang="en-US" sz="2000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904874"/>
            <a:ext cx="7800975" cy="3008630"/>
          </a:xfrm>
        </p:spPr>
        <p:txBody>
          <a:bodyPr/>
          <a:lstStyle/>
          <a:p>
            <a:r>
              <a:rPr lang="en-US" altLang="en-US" sz="2000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sz="2000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4446270"/>
            <a:ext cx="7615405" cy="153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431722" cy="4463927"/>
          </a:xfrm>
        </p:spPr>
        <p:txBody>
          <a:bodyPr/>
          <a:lstStyle/>
          <a:p>
            <a:r>
              <a:rPr lang="en-US" altLang="en-US" sz="2000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0952" y="196118"/>
            <a:ext cx="7449392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9"/>
            <a:ext cx="7743825" cy="3962522"/>
          </a:xfrm>
        </p:spPr>
        <p:txBody>
          <a:bodyPr/>
          <a:lstStyle/>
          <a:p>
            <a:r>
              <a:rPr lang="en-US" altLang="en-US" sz="2000" dirty="0"/>
              <a:t>Mobile operating systems often have to terminate processes to reclaim system resources such as memory. From </a:t>
            </a:r>
            <a:r>
              <a:rPr lang="en-US" altLang="en-US" sz="2000" b="1" dirty="0"/>
              <a:t>most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least</a:t>
            </a:r>
            <a:r>
              <a:rPr lang="en-US" altLang="en-US" sz="2000" dirty="0"/>
              <a:t> important:</a:t>
            </a:r>
          </a:p>
          <a:p>
            <a:pPr lvl="1"/>
            <a:r>
              <a:rPr lang="en-US" altLang="en-US" sz="2000" dirty="0"/>
              <a:t>Foreground process</a:t>
            </a:r>
          </a:p>
          <a:p>
            <a:pPr lvl="1"/>
            <a:r>
              <a:rPr lang="en-US" altLang="en-US" sz="2000" dirty="0"/>
              <a:t>Visible process</a:t>
            </a:r>
          </a:p>
          <a:p>
            <a:pPr lvl="1"/>
            <a:r>
              <a:rPr lang="en-US" altLang="en-US" sz="2000" dirty="0"/>
              <a:t>Service process</a:t>
            </a:r>
          </a:p>
          <a:p>
            <a:pPr lvl="1"/>
            <a:r>
              <a:rPr lang="en-US" altLang="en-US" sz="2000" dirty="0"/>
              <a:t>Background process</a:t>
            </a:r>
          </a:p>
          <a:p>
            <a:pPr lvl="1"/>
            <a:r>
              <a:rPr lang="en-US" altLang="en-US" sz="2000" dirty="0"/>
              <a:t>Empty process</a:t>
            </a:r>
          </a:p>
          <a:p>
            <a:r>
              <a:rPr lang="en-US" altLang="en-US" sz="2000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3433260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68256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2" y="1154113"/>
            <a:ext cx="7841297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Processes within a system may be </a:t>
            </a:r>
            <a:r>
              <a:rPr lang="en-US" altLang="en-US" sz="2000" b="1" i="1" dirty="0">
                <a:latin typeface="+mn-ea"/>
                <a:ea typeface="+mn-ea"/>
              </a:rPr>
              <a:t>independent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or </a:t>
            </a:r>
            <a:r>
              <a:rPr lang="en-US" altLang="en-US" sz="2000" b="1" i="1" dirty="0">
                <a:latin typeface="+mn-ea"/>
                <a:ea typeface="+mn-ea"/>
              </a:rPr>
              <a:t>cooperating</a:t>
            </a:r>
          </a:p>
          <a:p>
            <a:r>
              <a:rPr lang="en-US" altLang="en-US" sz="2000" dirty="0">
                <a:latin typeface="+mn-ea"/>
                <a:ea typeface="+mn-ea"/>
              </a:rPr>
              <a:t>Cooperating process can affect or be affected by other processes, including sharing data</a:t>
            </a:r>
          </a:p>
          <a:p>
            <a:r>
              <a:rPr lang="en-US" altLang="en-US" sz="2000" dirty="0">
                <a:latin typeface="+mn-ea"/>
                <a:ea typeface="+mn-ea"/>
              </a:rPr>
              <a:t>Reasons for cooperating processes: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Information sharing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Computation speedup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Modularity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Convenience	</a:t>
            </a:r>
          </a:p>
          <a:p>
            <a:r>
              <a:rPr lang="en-US" altLang="en-US" sz="2000" dirty="0">
                <a:latin typeface="+mn-ea"/>
                <a:ea typeface="+mn-ea"/>
              </a:rPr>
              <a:t>Cooperating processes need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interprocess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communication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IPC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r>
              <a:rPr lang="en-US" altLang="en-US" sz="2000" dirty="0">
                <a:latin typeface="+mn-ea"/>
                <a:ea typeface="+mn-ea"/>
              </a:rPr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Message passing</a:t>
            </a:r>
          </a:p>
          <a:p>
            <a:pPr lvl="1"/>
            <a:endParaRPr lang="en-US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00F33A6-EE27-346B-C88D-BC4BB0E803A1}"/>
              </a:ext>
            </a:extLst>
          </p:cNvPr>
          <p:cNvGrpSpPr/>
          <p:nvPr/>
        </p:nvGrpSpPr>
        <p:grpSpPr>
          <a:xfrm>
            <a:off x="1441450" y="1268730"/>
            <a:ext cx="6833870" cy="4894898"/>
            <a:chOff x="1612900" y="1556384"/>
            <a:chExt cx="6246813" cy="4458654"/>
          </a:xfrm>
        </p:grpSpPr>
        <p:sp>
          <p:nvSpPr>
            <p:cNvPr id="61443" name="Rectangle 3">
              <a:extLst>
                <a:ext uri="{FF2B5EF4-FFF2-40B4-BE49-F238E27FC236}">
                  <a16:creationId xmlns:a16="http://schemas.microsoft.com/office/drawing/2014/main" id="{00B4232E-A93C-4613-91D0-E8A0948B6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381" y="1556384"/>
              <a:ext cx="2411730" cy="36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Shared memory</a:t>
              </a:r>
              <a:endParaRPr kumimoji="0" lang="en-US" altLang="en-US" sz="2000" dirty="0">
                <a:latin typeface="Arial" panose="020B0604020202020204" pitchFamily="34" charset="0"/>
              </a:endParaRPr>
            </a:p>
          </p:txBody>
        </p:sp>
        <p:pic>
          <p:nvPicPr>
            <p:cNvPr id="61444" name="Picture 1">
              <a:extLst>
                <a:ext uri="{FF2B5EF4-FFF2-40B4-BE49-F238E27FC236}">
                  <a16:creationId xmlns:a16="http://schemas.microsoft.com/office/drawing/2014/main" id="{3ED38AED-C0F5-4084-BE69-BF6EFD7F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2016125"/>
              <a:ext cx="6246813" cy="399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DF294714-8825-F73E-52E8-1E6A3CF32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603" y="1566862"/>
              <a:ext cx="2785110" cy="36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Message passing </a:t>
              </a:r>
              <a:r>
                <a:rPr kumimoji="0" lang="en-US" altLang="en-US" sz="2000" dirty="0">
                  <a:latin typeface="Arial" panose="020B0604020202020204" pitchFamily="34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7403782" cy="4344151"/>
          </a:xfrm>
        </p:spPr>
        <p:txBody>
          <a:bodyPr/>
          <a:lstStyle/>
          <a:p>
            <a:r>
              <a:rPr lang="en-US" altLang="en-US" sz="2000" dirty="0"/>
              <a:t>Paradigm for cooperating processes:</a:t>
            </a:r>
          </a:p>
          <a:p>
            <a:pPr lvl="1"/>
            <a:r>
              <a:rPr lang="en-US" altLang="en-US" sz="2000" i="1" dirty="0"/>
              <a:t>producer</a:t>
            </a:r>
            <a:r>
              <a:rPr lang="en-US" altLang="en-US" sz="2000" dirty="0"/>
              <a:t> process produces information that is consumed by a </a:t>
            </a:r>
            <a:r>
              <a:rPr lang="en-US" altLang="en-US" sz="2000" i="1" dirty="0"/>
              <a:t>consumer</a:t>
            </a:r>
            <a:r>
              <a:rPr lang="en-US" altLang="en-US" sz="2000" dirty="0"/>
              <a:t> process</a:t>
            </a:r>
          </a:p>
          <a:p>
            <a:r>
              <a:rPr lang="en-US" altLang="en-US" sz="2000" dirty="0"/>
              <a:t>Two variations: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places no practical limit on the size of the buffer:</a:t>
            </a:r>
          </a:p>
          <a:p>
            <a:pPr lvl="2"/>
            <a:r>
              <a:rPr lang="en-US" altLang="en-US" sz="2000" dirty="0"/>
              <a:t>Producer never waits</a:t>
            </a:r>
          </a:p>
          <a:p>
            <a:pPr lvl="2"/>
            <a:r>
              <a:rPr lang="en-US" altLang="en-US" sz="2000" dirty="0"/>
              <a:t>Consumer waits if there is no buffer to consume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assumes that there is a fixed buffer size</a:t>
            </a:r>
          </a:p>
          <a:p>
            <a:pPr lvl="2"/>
            <a:r>
              <a:rPr lang="en-US" altLang="en-US" sz="2000" dirty="0"/>
              <a:t>Producer must wait if all buffers are full</a:t>
            </a:r>
          </a:p>
          <a:p>
            <a:pPr lvl="2"/>
            <a:r>
              <a:rPr lang="en-US" altLang="en-US" sz="2000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2559" y="141300"/>
            <a:ext cx="6298882" cy="624510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9"/>
            <a:ext cx="7670482" cy="28013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Synchronization is discussed in great details in Chapters 6 &amp; 7.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1883" y="32309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789862" cy="4700588"/>
          </a:xfrm>
        </p:spPr>
        <p:txBody>
          <a:bodyPr/>
          <a:lstStyle/>
          <a:p>
            <a:r>
              <a:rPr lang="en-US" altLang="en-US" sz="2000" dirty="0"/>
              <a:t>Shared data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 sz="2000" dirty="0"/>
          </a:p>
          <a:p>
            <a:r>
              <a:rPr lang="en-US" altLang="en-US" sz="2000" dirty="0"/>
              <a:t>Solution is correct, but can only use </a:t>
            </a:r>
            <a:r>
              <a:rPr lang="en-US" altLang="en-US" sz="2000" b="1" dirty="0">
                <a:latin typeface="Courier New" panose="02070309020205020404" pitchFamily="49" charset="0"/>
              </a:rPr>
              <a:t>BUFFER_SIZE-1</a:t>
            </a:r>
            <a:r>
              <a:rPr lang="en-US" altLang="en-US" sz="2000" dirty="0"/>
              <a:t> elements</a:t>
            </a:r>
          </a:p>
          <a:p>
            <a:pPr marL="1598613" lvl="3">
              <a:buFontTx/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2000" dirty="0"/>
              <a:t>	</a:t>
            </a:r>
          </a:p>
          <a:p>
            <a:pPr marL="7167563" lvl="4">
              <a:buFontTx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16555</TotalTime>
  <Words>1790</Words>
  <Application>Microsoft Office PowerPoint</Application>
  <PresentationFormat>全屏显示(4:3)</PresentationFormat>
  <Paragraphs>214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Monaco</vt:lpstr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357</cp:revision>
  <cp:lastPrinted>2013-10-02T18:16:40Z</cp:lastPrinted>
  <dcterms:created xsi:type="dcterms:W3CDTF">2011-01-13T23:43:38Z</dcterms:created>
  <dcterms:modified xsi:type="dcterms:W3CDTF">2025-09-03T01:37:46Z</dcterms:modified>
</cp:coreProperties>
</file>