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1"/>
  </p:sldMasterIdLst>
  <p:notesMasterIdLst>
    <p:notesMasterId r:id="rId30"/>
  </p:notesMasterIdLst>
  <p:handoutMasterIdLst>
    <p:handoutMasterId r:id="rId31"/>
  </p:handoutMasterIdLst>
  <p:sldIdLst>
    <p:sldId id="331" r:id="rId2"/>
    <p:sldId id="332" r:id="rId3"/>
    <p:sldId id="333" r:id="rId4"/>
    <p:sldId id="334" r:id="rId5"/>
    <p:sldId id="335" r:id="rId6"/>
    <p:sldId id="407" r:id="rId7"/>
    <p:sldId id="336" r:id="rId8"/>
    <p:sldId id="337" r:id="rId9"/>
    <p:sldId id="338" r:id="rId10"/>
    <p:sldId id="339" r:id="rId11"/>
    <p:sldId id="409" r:id="rId12"/>
    <p:sldId id="340" r:id="rId13"/>
    <p:sldId id="341" r:id="rId14"/>
    <p:sldId id="410" r:id="rId15"/>
    <p:sldId id="343" r:id="rId16"/>
    <p:sldId id="344" r:id="rId17"/>
    <p:sldId id="345" r:id="rId18"/>
    <p:sldId id="346" r:id="rId19"/>
    <p:sldId id="411" r:id="rId20"/>
    <p:sldId id="347" r:id="rId21"/>
    <p:sldId id="412" r:id="rId22"/>
    <p:sldId id="348" r:id="rId23"/>
    <p:sldId id="349" r:id="rId24"/>
    <p:sldId id="350" r:id="rId25"/>
    <p:sldId id="351" r:id="rId26"/>
    <p:sldId id="352" r:id="rId27"/>
    <p:sldId id="353" r:id="rId28"/>
    <p:sldId id="527" r:id="rId29"/>
  </p:sldIdLst>
  <p:sldSz cx="9144000" cy="6858000" type="screen4x3"/>
  <p:notesSz cx="7086600" cy="93726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CCECFF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6790" autoAdjust="0"/>
    <p:restoredTop sz="94660"/>
  </p:normalViewPr>
  <p:slideViewPr>
    <p:cSldViewPr snapToGrid="0">
      <p:cViewPr>
        <p:scale>
          <a:sx n="50" d="100"/>
          <a:sy n="50" d="100"/>
        </p:scale>
        <p:origin x="1624" y="160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4064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CC594209-1678-4B2A-B4BD-A47AA0BEBB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06738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3B38C903-E9C1-4EEE-9C85-26502C5E841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94150" y="0"/>
            <a:ext cx="3105150" cy="446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ctr" anchorCtr="0" compatLnSpc="1">
            <a:prstTxWarp prst="textNoShape">
              <a:avLst/>
            </a:prstTxWarp>
          </a:bodyPr>
          <a:lstStyle>
            <a:lvl1pPr algn="r"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E850B4EB-9FB5-4ED4-996A-5001077F375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39213"/>
            <a:ext cx="3106738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defTabSz="891460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628AB70D-4AAF-4011-9DC4-6EE495450C1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94150" y="8939213"/>
            <a:ext cx="3105150" cy="4460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9090" tIns="44546" rIns="89090" bIns="44546" numCol="1" anchor="b" anchorCtr="0" compatLnSpc="1">
            <a:prstTxWarp prst="textNoShape">
              <a:avLst/>
            </a:prstTxWarp>
          </a:bodyPr>
          <a:lstStyle>
            <a:lvl1pPr algn="r" defTabSz="890588">
              <a:defRPr sz="1100">
                <a:latin typeface="Helvetica" panose="020B0604020202020204" pitchFamily="34" charset="0"/>
              </a:defRPr>
            </a:lvl1pPr>
          </a:lstStyle>
          <a:p>
            <a:fld id="{82C72706-C095-41BF-ABD3-54ADB8CE31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3BE6C0C-13A5-439B-BE94-9E35C63CD4E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4822FACF-CE45-4AC3-B2A2-36D2B0BD3E2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016375" y="0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>
            <a:lvl1pPr algn="r"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0116" name="Rectangle 4">
            <a:extLst>
              <a:ext uri="{FF2B5EF4-FFF2-40B4-BE49-F238E27FC236}">
                <a16:creationId xmlns:a16="http://schemas.microsoft.com/office/drawing/2014/main" id="{EF3471BA-404F-42D2-A7C9-714D69CA27C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00150" y="704850"/>
            <a:ext cx="4687888" cy="35147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65F13DF-CA13-4724-A04B-D47B56442119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4563" y="4452938"/>
            <a:ext cx="5197475" cy="42148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DA6E394C-E4A1-4942-8688-4E6C278D77D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defTabSz="939909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527B09FD-7807-493C-9E6C-6D565DCA0B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16375" y="8905875"/>
            <a:ext cx="3070225" cy="466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4035" tIns="47017" rIns="94035" bIns="47017" numCol="1" anchor="b" anchorCtr="0" compatLnSpc="1">
            <a:prstTxWarp prst="textNoShape">
              <a:avLst/>
            </a:prstTxWarp>
          </a:bodyPr>
          <a:lstStyle>
            <a:lvl1pPr algn="r" defTabSz="939800">
              <a:defRPr sz="1200">
                <a:latin typeface="Times New Roman" panose="02020603050405020304" pitchFamily="18" charset="0"/>
              </a:defRPr>
            </a:lvl1pPr>
          </a:lstStyle>
          <a:p>
            <a:fld id="{FFC2CB2C-F279-41F0-AC48-D923156805A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8A920543-D350-443A-A721-991FEA8129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75653E0-F2FD-4551-8B22-FE330671DA1C}" type="slidenum">
              <a:rPr lang="en-US" altLang="en-US">
                <a:latin typeface="Times New Roman" panose="02020603050405020304" pitchFamily="18" charset="0"/>
              </a:rPr>
              <a:pPr/>
              <a:t>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809E82CE-770C-49D3-84E8-6A6FC8AFB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1892899B-C57A-458A-8DEF-195B9885787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571C26FC-F52D-411F-A4CB-DE8513A2B0B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0C0BC62-2152-49E6-8AF5-50FF44F1E1D3}" type="slidenum">
              <a:rPr lang="en-US" altLang="en-US">
                <a:latin typeface="Times New Roman" panose="02020603050405020304" pitchFamily="18" charset="0"/>
              </a:rPr>
              <a:pPr/>
              <a:t>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82389DE3-D492-4B0A-B0C5-CFC9B6B6F4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13180D19-5B10-4758-A8C9-92667670D7D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52E873C4-C9CD-4CD4-BAA9-E38AC88BF07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70FF08-90E6-43CF-AED6-E70CDB6B1112}" type="slidenum">
              <a:rPr lang="en-US" altLang="en-US">
                <a:latin typeface="Times New Roman" panose="02020603050405020304" pitchFamily="18" charset="0"/>
              </a:rPr>
              <a:pPr/>
              <a:t>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3F1D349B-2E24-48E3-8375-7C2C1F69B6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1E228C2F-8790-4E86-8B66-4D3492B2E5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71000D4E-8A67-4003-8E87-772D9024C68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F365149-E38C-4DAC-84B8-8F4AFF2A5D63}" type="slidenum">
              <a:rPr lang="en-US" altLang="en-US">
                <a:latin typeface="Times New Roman" panose="02020603050405020304" pitchFamily="18" charset="0"/>
              </a:rPr>
              <a:pPr/>
              <a:t>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D4E0BBA3-E5B3-4DF0-BCF9-576ABB3C3B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822619B1-76CC-405A-8360-27F1944D1B8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7EDF6219-82C1-4A93-ABED-5E34596BBC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8A3B3F0-AAF5-4CFC-A7B5-497CCE8C3F5E}" type="slidenum">
              <a:rPr lang="en-US" altLang="en-US">
                <a:latin typeface="Times New Roman" panose="02020603050405020304" pitchFamily="18" charset="0"/>
              </a:rPr>
              <a:pPr/>
              <a:t>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1956D3A9-AF53-4EE2-8367-5C87C40B8BD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EDD8E06E-9ABA-4101-95DC-533C74A921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2E8E951B-6D4F-4F3C-BA0F-CE3137BC43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EBF62B-A5D8-4ED3-B7C7-E5B4C8E4833B}" type="slidenum">
              <a:rPr lang="en-US" altLang="en-US">
                <a:latin typeface="Times New Roman" panose="02020603050405020304" pitchFamily="18" charset="0"/>
              </a:rPr>
              <a:pPr/>
              <a:t>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609817C1-9D09-405F-A4BE-35AA840FB3F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3C7757C3-4E01-44F0-9943-4A8D5D2ED2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7412E0F5-3DB3-4276-9E28-E97E37598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7D0DB0-2893-40A2-A92B-B204CAA7AA0A}" type="slidenum">
              <a:rPr lang="en-US" altLang="en-US">
                <a:latin typeface="Times New Roman" panose="02020603050405020304" pitchFamily="18" charset="0"/>
              </a:rPr>
              <a:pPr/>
              <a:t>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76849717-E504-4367-AE73-45E1924842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E07A02F3-4A7A-4C49-8E28-03B39609B5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CABBBA32-327C-4520-BB88-E93BCE413C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553D4C-F3A2-40EC-A353-CAF60F6FAB16}" type="slidenum">
              <a:rPr lang="en-US" altLang="en-US">
                <a:latin typeface="Times New Roman" panose="02020603050405020304" pitchFamily="18" charset="0"/>
              </a:rPr>
              <a:pPr/>
              <a:t>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D77ED832-6662-429B-8811-E6909535F8F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01340DBE-8380-4A63-8CC7-AB75088D569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C32FEA61-84E0-4F6E-A5DE-438DD3F1BB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8E264-0F87-448A-8621-D998F18CE072}" type="slidenum">
              <a:rPr lang="en-US" altLang="en-US">
                <a:latin typeface="Times New Roman" panose="02020603050405020304" pitchFamily="18" charset="0"/>
              </a:rPr>
              <a:pPr/>
              <a:t>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70867D87-173B-443F-8109-C247DF5105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72E0E792-E4EE-44D7-9914-9DC91BCBD34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9EE992A3-26D2-44B8-92BB-28FFF646A2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55654F-329B-48DD-8FA1-1D00BD4AA2CD}" type="slidenum">
              <a:rPr lang="en-US" altLang="en-US">
                <a:latin typeface="Times New Roman" panose="02020603050405020304" pitchFamily="18" charset="0"/>
              </a:rPr>
              <a:pPr/>
              <a:t>10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3C5E8084-CD27-45F0-948B-527CF3E8CCD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01C2F6CE-343E-4E7D-B50B-7FBBE87E4FF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FBD6615-ED48-4079-BAA7-A84844D6773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48E5558-88DF-40FE-90FF-9EB1FEE63A86}" type="slidenum">
              <a:rPr lang="en-US" altLang="en-US">
                <a:latin typeface="Times New Roman" panose="02020603050405020304" pitchFamily="18" charset="0"/>
              </a:rPr>
              <a:pPr/>
              <a:t>11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825ED8D-9E3E-4698-BB5C-C026B0475B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0D5306E4-3AAE-4121-B023-8B43D082CA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0BFD4EBE-353D-4C31-99D7-B7C3FEC6C1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B80A18-0C17-4A8A-A28E-1B3AD0E8B888}" type="slidenum">
              <a:rPr lang="en-US" altLang="en-US">
                <a:latin typeface="Times New Roman" panose="02020603050405020304" pitchFamily="18" charset="0"/>
              </a:rPr>
              <a:pPr/>
              <a:t>13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8A02C982-0312-4EC7-A741-67B0BEDA492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11F7861C-35C5-4B12-8A55-F7A16557D9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E2EC3CC7-E29A-4D50-9A98-532553638A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6C72E5-BDBA-4628-BBAF-85FBB5CCE3BE}" type="slidenum">
              <a:rPr lang="en-US" altLang="en-US">
                <a:latin typeface="Times New Roman" panose="02020603050405020304" pitchFamily="18" charset="0"/>
              </a:rPr>
              <a:pPr/>
              <a:t>14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B01CE6FA-B36D-49C3-8371-51A4E976452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8274DE9-BC41-40F6-83AC-5A3D3773C2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AA015233-DFC5-4181-9DBD-191581D3DF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53AA9686-8C45-4B6B-B192-53184893EC9B}" type="slidenum">
              <a:rPr lang="en-US" altLang="en-US">
                <a:latin typeface="Times New Roman" panose="02020603050405020304" pitchFamily="18" charset="0"/>
              </a:rPr>
              <a:pPr/>
              <a:t>15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D606F670-2456-4E74-98E3-6F899253880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1CE9A51-74EA-466B-956F-199FC346E1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6551FA5F-3DAF-4F79-96DF-B76D1641D90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44D4E91-7487-49F0-9D91-43B839F06F41}" type="slidenum">
              <a:rPr lang="en-US" altLang="en-US">
                <a:latin typeface="Times New Roman" panose="02020603050405020304" pitchFamily="18" charset="0"/>
              </a:rPr>
              <a:pPr/>
              <a:t>16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167C6B9E-26B1-4F34-923D-B2966B8944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C351E2D8-3E9B-4911-A879-EA20F380F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A8A00347-BFEB-47CE-B8F7-F4A3E8EC8E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FB8A3B8-FFC6-4EAE-BC20-3413272D7E23}" type="slidenum">
              <a:rPr lang="en-US" altLang="en-US">
                <a:latin typeface="Times New Roman" panose="02020603050405020304" pitchFamily="18" charset="0"/>
              </a:rPr>
              <a:pPr/>
              <a:t>18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29DEC50F-F8EB-47B2-9592-C432BA44F4E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7B4D387E-81FF-4C55-AE2B-EDD0B9D58D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BB9D8362-CFFE-4239-A0CE-16166762BF0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754A397-8FAE-4C30-A05F-CF91331CD813}" type="slidenum">
              <a:rPr lang="en-US" altLang="en-US">
                <a:latin typeface="Times New Roman" panose="02020603050405020304" pitchFamily="18" charset="0"/>
              </a:rPr>
              <a:pPr/>
              <a:t>19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00D4DD15-6D6E-4697-8517-23E5CECAC2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3F296D03-4616-4EA3-8B0A-A93A466732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3BE82472-66AF-4BF7-A2A7-57FD11ECB4A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E009F0B-5F82-4126-923B-E013C3AAF972}" type="slidenum">
              <a:rPr lang="en-US" altLang="en-US">
                <a:latin typeface="Times New Roman" panose="02020603050405020304" pitchFamily="18" charset="0"/>
              </a:rPr>
              <a:pPr/>
              <a:t>20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93C9793E-0DAB-48C2-A22A-A9ACDD8828C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7AC332B0-F66D-4C3F-8DDB-E1E0D7FC2D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66F09507-C2E2-47B2-82A8-B5E3C87D79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B546AF-CFB6-4A26-A155-B7AC52B1171E}" type="slidenum">
              <a:rPr lang="en-US" altLang="en-US">
                <a:latin typeface="Times New Roman" panose="02020603050405020304" pitchFamily="18" charset="0"/>
              </a:rPr>
              <a:pPr/>
              <a:t>21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84A5CD44-BF84-48EC-B0BC-E076CADF8C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F26D7BA3-2768-4887-B710-E8BBC3F5A3A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3ABA041F-CBD6-47AF-B833-FA2229A9BA3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018407F-AAA5-4963-A6A5-D6FE6F7F8BA8}" type="slidenum">
              <a:rPr lang="en-US" altLang="en-US">
                <a:latin typeface="Times New Roman" panose="02020603050405020304" pitchFamily="18" charset="0"/>
              </a:rPr>
              <a:pPr/>
              <a:t>22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76824097-C234-4268-8A44-3B4C9960D14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27E9339F-4D5C-4423-AB79-A4E63110E9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26C1E9B0-A878-46DB-8C55-CED0E9E892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5802788-C8C7-415D-889B-42AFD28A494F}" type="slidenum">
              <a:rPr lang="en-US" altLang="en-US">
                <a:latin typeface="Times New Roman" panose="02020603050405020304" pitchFamily="18" charset="0"/>
              </a:rPr>
              <a:pPr/>
              <a:t>23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70E474D5-321A-4ED0-BC07-F4E9910BD7A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C002F093-C941-47F5-A1B8-8DC559F3F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9CBD93AF-1180-4ACB-9B95-D6F986AB45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2B255F6-0496-42D9-A50C-21BEA778293C}" type="slidenum">
              <a:rPr lang="en-US" altLang="en-US">
                <a:latin typeface="Times New Roman" panose="02020603050405020304" pitchFamily="18" charset="0"/>
              </a:rPr>
              <a:pPr/>
              <a:t>25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B6DBED89-49D3-4018-980D-509023030EA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11938EE8-081A-42B2-B3E3-2DCAF241F7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5DC1615E-A180-4CE3-9A53-8271AC492C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D8C993A-8BC4-4561-A588-A2EFC571D9A6}" type="slidenum">
              <a:rPr lang="en-US" altLang="en-US">
                <a:latin typeface="Times New Roman" panose="02020603050405020304" pitchFamily="18" charset="0"/>
              </a:rPr>
              <a:pPr/>
              <a:t>26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BA66C066-A5EF-433F-84A3-1071B0062D2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86C147CD-5F3C-4F88-8F21-4753C14C9D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19767D9D-50C3-4A1C-92C8-AA3F5560421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98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98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896695E-9013-4825-AE74-B375198EC2BE}" type="slidenum">
              <a:rPr lang="en-US" altLang="en-US">
                <a:latin typeface="Times New Roman" panose="02020603050405020304" pitchFamily="18" charset="0"/>
              </a:rPr>
              <a:pPr/>
              <a:t>27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EA1EB2ED-6056-4EC3-8117-D8088A5E3C4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61C9E284-09E4-4F27-8106-417FB840C5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D6E874EA-6D46-4D5A-A67E-32C6E4712BC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239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2392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DDC88E0-05A8-4892-B21E-9326A8D3E05F}" type="slidenum">
              <a:rPr lang="en-US" altLang="en-US" smtClean="0">
                <a:latin typeface="Times New Roman" panose="02020603050405020304" pitchFamily="18" charset="0"/>
              </a:rPr>
              <a:pPr/>
              <a:t>28</a:t>
            </a:fld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76CF1BC6-EF44-430B-853A-1916C3A573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53BC5144-BC73-40F2-9D46-6DC1B56AC6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0393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C44BEB4D-82F3-449B-9712-6972E5687F8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E0E599D3-2632-4086-9DB8-1FF08C8761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F5A3F07A-60C1-42E9-9126-114FEC618D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19BEE85B-DDF0-428C-949C-A06BBCB8B9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2BAA5E16-6E79-4015-B59F-188FC31669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7499CD96-98CE-4281-8965-5FF9F04FA3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3F6C5EC6-B569-4B47-BBFE-7A4326270A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8153856F-DB42-4573-9C9E-EEACB7D61B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63192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496988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140103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12213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253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0055296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64462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4051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78165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195098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6976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ino_3">
            <a:extLst>
              <a:ext uri="{FF2B5EF4-FFF2-40B4-BE49-F238E27FC236}">
                <a16:creationId xmlns:a16="http://schemas.microsoft.com/office/drawing/2014/main" id="{232881E8-BA9B-47D1-8183-4E80DA2D52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Rectangle 3">
            <a:extLst>
              <a:ext uri="{FF2B5EF4-FFF2-40B4-BE49-F238E27FC236}">
                <a16:creationId xmlns:a16="http://schemas.microsoft.com/office/drawing/2014/main" id="{7B2B01F9-D51F-41E8-9F71-322BE12131C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42645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B6698D-C7F4-42D4-A599-0CA3674437D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07C8C63-9073-4440-8E29-7538D37039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3DC0DDF2-EDD9-4546-941A-8819EECEA039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DCF44F51-AC2C-44E8-8762-844722B49C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511A7E9F-2DA0-447A-A945-F78748D7C5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C185E49-346F-4CDE-8D31-F91EE49B88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21163" y="6613525"/>
            <a:ext cx="51752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10.</a:t>
            </a:r>
            <a:fld id="{ECA12CDF-10CC-4639-A492-60524225D2DA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ECA43D40-3BCA-4CC4-BCE0-2B11E7743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5BEB558B-1A8D-402E-B9D6-E8D44771E9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2060" name="Picture 12" descr="dino_6">
            <a:extLst>
              <a:ext uri="{FF2B5EF4-FFF2-40B4-BE49-F238E27FC236}">
                <a16:creationId xmlns:a16="http://schemas.microsoft.com/office/drawing/2014/main" id="{35644D38-C2D4-4B99-9159-387D141CE8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19" r:id="rId1"/>
    <p:sldLayoutId id="2147484109" r:id="rId2"/>
    <p:sldLayoutId id="2147484110" r:id="rId3"/>
    <p:sldLayoutId id="2147484111" r:id="rId4"/>
    <p:sldLayoutId id="2147484112" r:id="rId5"/>
    <p:sldLayoutId id="2147484113" r:id="rId6"/>
    <p:sldLayoutId id="2147484114" r:id="rId7"/>
    <p:sldLayoutId id="2147484115" r:id="rId8"/>
    <p:sldLayoutId id="2147484116" r:id="rId9"/>
    <p:sldLayoutId id="2147484117" r:id="rId10"/>
    <p:sldLayoutId id="2147484118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F3BCD139-3A6D-4B81-8226-0503E6A6358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806450"/>
            <a:ext cx="7772400" cy="2127250"/>
          </a:xfrm>
        </p:spPr>
        <p:txBody>
          <a:bodyPr/>
          <a:lstStyle/>
          <a:p>
            <a:pPr eaLnBrk="1" hangingPunct="1"/>
            <a:r>
              <a:rPr lang="en-US" altLang="en-US"/>
              <a:t>Chapter 10:  Virtual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0B1EC99-547A-4C3C-A7EB-2C649B5A37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32587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10:  Virtual Memory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4A23357C-07C3-4F42-A857-16101A8BADC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8200" y="1123950"/>
            <a:ext cx="7704137" cy="4530725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Demand Paging</a:t>
            </a:r>
          </a:p>
          <a:p>
            <a:r>
              <a:rPr lang="en-US" altLang="en-US" dirty="0"/>
              <a:t>Copy-on-Write</a:t>
            </a:r>
          </a:p>
          <a:p>
            <a:r>
              <a:rPr lang="en-US" altLang="en-US" dirty="0"/>
              <a:t>Page Replacement</a:t>
            </a:r>
          </a:p>
          <a:p>
            <a:r>
              <a:rPr lang="en-US" altLang="en-US" dirty="0"/>
              <a:t>Allocation of Frames </a:t>
            </a:r>
          </a:p>
          <a:p>
            <a:r>
              <a:rPr lang="en-US" altLang="en-US" dirty="0"/>
              <a:t>Thrashing</a:t>
            </a:r>
          </a:p>
          <a:p>
            <a:r>
              <a:rPr lang="en-US" altLang="en-US" dirty="0"/>
              <a:t>Memory-Mapped Files</a:t>
            </a:r>
          </a:p>
          <a:p>
            <a:r>
              <a:rPr lang="en-US" altLang="en-US" dirty="0"/>
              <a:t>Allocating Kernel Memory</a:t>
            </a:r>
          </a:p>
          <a:p>
            <a:r>
              <a:rPr lang="en-US" altLang="en-US" dirty="0"/>
              <a:t>Other Considerations</a:t>
            </a:r>
          </a:p>
          <a:p>
            <a:r>
              <a:rPr lang="en-US" altLang="en-US" dirty="0"/>
              <a:t>Operating-System Examples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91FEDD64-E96D-422A-9610-4377FD8A0D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3592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Objectives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6D0ECAB6-8759-48BC-9C7C-1E9AB9851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33488"/>
            <a:ext cx="7781731" cy="4530725"/>
          </a:xfrm>
        </p:spPr>
        <p:txBody>
          <a:bodyPr/>
          <a:lstStyle/>
          <a:p>
            <a:r>
              <a:rPr lang="en-US" altLang="en-US" dirty="0"/>
              <a:t>Define virtual memory and describe its benefits.</a:t>
            </a:r>
          </a:p>
          <a:p>
            <a:r>
              <a:rPr lang="en-US" altLang="en-US" dirty="0"/>
              <a:t>Illustrate how pages are loaded into memory using demand paging.</a:t>
            </a:r>
          </a:p>
          <a:p>
            <a:r>
              <a:rPr lang="en-US" altLang="en-US" dirty="0"/>
              <a:t>Apply the FIFO, optimal, and  LRU page-replacement algorithms.</a:t>
            </a:r>
          </a:p>
          <a:p>
            <a:r>
              <a:rPr lang="en-US" altLang="en-US" dirty="0"/>
              <a:t>Describe the working set of a process, and explain how it is related to program locality.</a:t>
            </a:r>
          </a:p>
          <a:p>
            <a:r>
              <a:rPr lang="en-US" altLang="en-US" dirty="0"/>
              <a:t>Describe how Linux, Windows 10, and Solaris manage virtual memory.</a:t>
            </a:r>
          </a:p>
          <a:p>
            <a:r>
              <a:rPr lang="en-US" altLang="en-US" dirty="0"/>
              <a:t>Design a virtual memory manager simulation in the C programming language.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9CCC7638-093C-4CC4-960F-79B01FBE9F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526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BAF45D-7AF6-46D9-974E-C552BF29A1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195229"/>
            <a:ext cx="7744408" cy="4530725"/>
          </a:xfrm>
        </p:spPr>
        <p:txBody>
          <a:bodyPr/>
          <a:lstStyle/>
          <a:p>
            <a:r>
              <a:rPr lang="en-US" altLang="en-US" dirty="0"/>
              <a:t>Code needs to be in memory to execute, but entire program rarely used</a:t>
            </a:r>
          </a:p>
          <a:p>
            <a:pPr lvl="1"/>
            <a:r>
              <a:rPr lang="en-US" altLang="en-US" dirty="0"/>
              <a:t>Error code, unusual routines, large data structures</a:t>
            </a:r>
          </a:p>
          <a:p>
            <a:r>
              <a:rPr lang="en-US" altLang="en-US" dirty="0"/>
              <a:t>Entire program code not needed at same time</a:t>
            </a:r>
          </a:p>
          <a:p>
            <a:r>
              <a:rPr lang="en-US" altLang="en-US" dirty="0"/>
              <a:t>Consider ability to execute partially-loaded program</a:t>
            </a:r>
          </a:p>
          <a:p>
            <a:pPr lvl="1"/>
            <a:r>
              <a:rPr lang="en-US" altLang="en-US" dirty="0"/>
              <a:t>Program no longer constrained by limits of physical memory</a:t>
            </a:r>
          </a:p>
          <a:p>
            <a:pPr lvl="1"/>
            <a:r>
              <a:rPr lang="en-US" altLang="en-US" dirty="0"/>
              <a:t>Each program takes less memory while running -&gt; more programs run at the same time</a:t>
            </a:r>
          </a:p>
          <a:p>
            <a:pPr lvl="2"/>
            <a:r>
              <a:rPr lang="en-US" altLang="en-US" dirty="0"/>
              <a:t>Increased CPU utilization and throughput with no increase in response time or turnaround time</a:t>
            </a:r>
          </a:p>
          <a:p>
            <a:pPr lvl="1"/>
            <a:r>
              <a:rPr lang="en-US" altLang="en-US" dirty="0"/>
              <a:t>Less I/O needed to load or swap programs into memory -&gt; each user program runs faster</a:t>
            </a:r>
          </a:p>
          <a:p>
            <a:pPr lvl="1"/>
            <a:endParaRPr lang="en-US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BD8A388-8E27-4EE5-81A8-60463D778F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</a:t>
            </a:r>
          </a:p>
        </p:txBody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C522901F-947A-433D-9A89-77363C3CEF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31579"/>
            <a:ext cx="767909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memory </a:t>
            </a:r>
            <a:r>
              <a:rPr lang="en-US" altLang="en-US" dirty="0"/>
              <a:t>– separation of user logical memory from physical memory</a:t>
            </a:r>
          </a:p>
          <a:p>
            <a:pPr lvl="1"/>
            <a:r>
              <a:rPr lang="en-US" altLang="en-US" dirty="0"/>
              <a:t>Only part of the program needs to be in memory for execution</a:t>
            </a:r>
          </a:p>
          <a:p>
            <a:pPr lvl="1"/>
            <a:r>
              <a:rPr lang="en-US" altLang="en-US" dirty="0"/>
              <a:t>Logical address space can therefore be much larger than physical address space</a:t>
            </a:r>
          </a:p>
          <a:p>
            <a:pPr lvl="1"/>
            <a:r>
              <a:rPr lang="en-US" altLang="en-US" dirty="0"/>
              <a:t>Allows address spaces to be shared by several processes</a:t>
            </a:r>
          </a:p>
          <a:p>
            <a:pPr lvl="1"/>
            <a:r>
              <a:rPr lang="en-US" altLang="en-US" dirty="0"/>
              <a:t>Allows for more efficient process creation</a:t>
            </a:r>
          </a:p>
          <a:p>
            <a:pPr lvl="1"/>
            <a:r>
              <a:rPr lang="en-US" altLang="en-US" dirty="0"/>
              <a:t>More programs running concurrently</a:t>
            </a:r>
          </a:p>
          <a:p>
            <a:pPr lvl="1"/>
            <a:r>
              <a:rPr lang="en-US" altLang="en-US" dirty="0"/>
              <a:t>Less I/O needed to load or swap processes</a:t>
            </a:r>
          </a:p>
          <a:p>
            <a:endParaRPr lang="en-US" alt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AD98FEA7-C7CA-4225-97D5-87D05E0B6A0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479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 memory  (Cont.)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1EAA72FA-32BB-4333-A973-F0773984BC5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7" y="1244666"/>
            <a:ext cx="7688424" cy="45291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 address space</a:t>
            </a:r>
            <a:r>
              <a:rPr lang="en-US" altLang="en-US" dirty="0"/>
              <a:t> – logical view of how process is stored in memory</a:t>
            </a:r>
          </a:p>
          <a:p>
            <a:pPr lvl="1"/>
            <a:r>
              <a:rPr lang="en-US" altLang="en-US" dirty="0"/>
              <a:t>Usually start at address 0, contiguous addresses until end of space</a:t>
            </a:r>
          </a:p>
          <a:p>
            <a:pPr lvl="1"/>
            <a:r>
              <a:rPr lang="en-US" altLang="en-US" dirty="0"/>
              <a:t>Meanwhile, physical memory organized in page frames</a:t>
            </a:r>
          </a:p>
          <a:p>
            <a:pPr lvl="1"/>
            <a:r>
              <a:rPr lang="en-US" altLang="en-US" dirty="0"/>
              <a:t>MMU must map logical to physical</a:t>
            </a:r>
          </a:p>
          <a:p>
            <a:r>
              <a:rPr lang="en-US" altLang="en-US" dirty="0"/>
              <a:t>Virtual memory can be implemented via:</a:t>
            </a:r>
          </a:p>
          <a:p>
            <a:pPr lvl="1"/>
            <a:r>
              <a:rPr lang="en-US" altLang="en-US" dirty="0"/>
              <a:t>Demand paging </a:t>
            </a:r>
          </a:p>
          <a:p>
            <a:pPr lvl="1"/>
            <a:r>
              <a:rPr lang="en-US" altLang="en-US" dirty="0"/>
              <a:t>Demand segmentation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88334937-C42E-4E7B-B0E3-358B7E80837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65713" y="216162"/>
            <a:ext cx="8080375" cy="608013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Virtual Memory That is Larger Than Physical Memory</a:t>
            </a:r>
          </a:p>
        </p:txBody>
      </p:sp>
      <p:pic>
        <p:nvPicPr>
          <p:cNvPr id="10243" name="Picture 4" descr="B:\os-book\os10-dir\Slides-WORK-area\Figures-dir\ch10\JPG-dir\10_01.jpg">
            <a:extLst>
              <a:ext uri="{FF2B5EF4-FFF2-40B4-BE49-F238E27FC236}">
                <a16:creationId xmlns:a16="http://schemas.microsoft.com/office/drawing/2014/main" id="{75959D58-FD0D-4362-987B-001456C2BA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0700" y="1457325"/>
            <a:ext cx="5459413" cy="432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0F0B8DB-E097-4BE3-81BB-00866E68FD0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42975" y="232199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Virtual-address Space</a:t>
            </a:r>
          </a:p>
        </p:txBody>
      </p:sp>
      <p:pic>
        <p:nvPicPr>
          <p:cNvPr id="11267" name="Picture 5">
            <a:extLst>
              <a:ext uri="{FF2B5EF4-FFF2-40B4-BE49-F238E27FC236}">
                <a16:creationId xmlns:a16="http://schemas.microsoft.com/office/drawing/2014/main" id="{E67654BE-83C9-4844-8B55-CE9FFDB0F5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6600" y="1274763"/>
            <a:ext cx="2063750" cy="4568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8" name="Rectangle 3">
            <a:extLst>
              <a:ext uri="{FF2B5EF4-FFF2-40B4-BE49-F238E27FC236}">
                <a16:creationId xmlns:a16="http://schemas.microsoft.com/office/drawing/2014/main" id="{2B1431A7-1D96-4E21-A5C9-CBD53450BE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1119188"/>
            <a:ext cx="4404599" cy="5002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550988" indent="-32543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Usually design logical address space for stack to start at Max logical address and grow “down” while heap grows “up”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Maximizes address space use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sz="1600" dirty="0">
                <a:latin typeface="Helvetica" panose="020B0604020202020204" pitchFamily="34" charset="0"/>
              </a:rPr>
              <a:t>Unused address space between the two is hole</a:t>
            </a:r>
          </a:p>
          <a:p>
            <a:pPr lvl="2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</a:pPr>
            <a:r>
              <a:rPr kumimoji="1" lang="en-US" altLang="en-US" sz="1600" dirty="0">
                <a:latin typeface="Helvetica" panose="020B0604020202020204" pitchFamily="34" charset="0"/>
              </a:rPr>
              <a:t>No physical memory needed until heap or stack grows to a given new page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Enables </a:t>
            </a:r>
            <a:r>
              <a:rPr kumimoji="1" lang="en-US" altLang="en-US" sz="1600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kumimoji="1" lang="en-US" altLang="en-US" sz="1600" b="1" dirty="0">
                <a:solidFill>
                  <a:srgbClr val="3366FF"/>
                </a:solidFill>
                <a:latin typeface="Helvetica" panose="020B0604020202020204" pitchFamily="34" charset="0"/>
              </a:rPr>
              <a:t> </a:t>
            </a:r>
            <a:r>
              <a:rPr kumimoji="1" lang="en-US" altLang="en-US" sz="1600" dirty="0">
                <a:latin typeface="Helvetica" panose="020B0604020202020204" pitchFamily="34" charset="0"/>
              </a:rPr>
              <a:t>address spaces with holes left for growth, dynamically linked libraries, etc.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System libraries shared via mapping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Shared memory by mapping pages read-write into virtual address space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sz="1600" dirty="0">
                <a:latin typeface="Helvetica" panose="020B0604020202020204" pitchFamily="34" charset="0"/>
              </a:rPr>
              <a:t>Pages can be shared during </a:t>
            </a:r>
            <a:r>
              <a:rPr kumimoji="1"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</a:t>
            </a:r>
            <a:r>
              <a:rPr kumimoji="1" lang="en-US" altLang="en-US" sz="1600" dirty="0">
                <a:latin typeface="Helvetica" panose="020B0604020202020204" pitchFamily="34" charset="0"/>
                <a:cs typeface="Courier New" panose="02070309020205020404" pitchFamily="49" charset="0"/>
              </a:rPr>
              <a:t>, speeding process creation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r>
              <a:rPr kumimoji="1" lang="en-US" altLang="en-US" sz="1600" dirty="0">
                <a:latin typeface="Helvetica" panose="020B0604020202020204" pitchFamily="34" charset="0"/>
              </a:rPr>
              <a:t> 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None/>
            </a:pPr>
            <a:endParaRPr kumimoji="1" lang="en-US" altLang="en-US" dirty="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A82E1AA8-C0F1-47D6-90C4-29E3C8F7FB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93656" y="235568"/>
            <a:ext cx="75612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Library Using Virtual Memory</a:t>
            </a:r>
          </a:p>
        </p:txBody>
      </p:sp>
      <p:pic>
        <p:nvPicPr>
          <p:cNvPr id="12291" name="Picture 6">
            <a:extLst>
              <a:ext uri="{FF2B5EF4-FFF2-40B4-BE49-F238E27FC236}">
                <a16:creationId xmlns:a16="http://schemas.microsoft.com/office/drawing/2014/main" id="{C513F0E0-9020-4F02-8008-BA6516EC25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00225" y="1404938"/>
            <a:ext cx="6070600" cy="4008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CF69F4A5-E6CB-4B0B-8299-F4A8C1CEFA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FD2BC1A3-DFC6-4D60-B5FB-EA52511A2F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261355"/>
            <a:ext cx="7604158" cy="5097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Page is needed </a:t>
            </a:r>
            <a:r>
              <a:rPr lang="en-US" altLang="en-US" dirty="0">
                <a:sym typeface="Symbol" panose="05050102010706020507" pitchFamily="18" charset="2"/>
              </a:rPr>
              <a:t> reference to it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anose="05050102010706020507" pitchFamily="18" charset="2"/>
              </a:rPr>
              <a:t> abort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not-in-memory  bring to memory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Lazy swapper </a:t>
            </a:r>
            <a:r>
              <a:rPr lang="en-US" altLang="en-US" dirty="0">
                <a:sym typeface="Symbol" panose="05050102010706020507" pitchFamily="18" charset="2"/>
              </a:rPr>
              <a:t>– never swaps a page into memory unless page will be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Swapper that deals with pages is a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pager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b="1" dirty="0">
              <a:solidFill>
                <a:srgbClr val="006699"/>
              </a:solidFill>
              <a:latin typeface="+mj-lt"/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9C06DF40-C8BE-4D63-864C-842E26CBB1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38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4FA26912-DDBD-4FE1-BFA7-E72BE4D7C0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03338"/>
            <a:ext cx="4049745" cy="5351462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Could bring entire process into memory at load time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Or bring a page into memory only when it is needed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I/O needed, no unnecessary I/O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Less memory needed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Faster response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More users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Similar to paging system with swapping (diagram on right)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</a:pPr>
            <a:endParaRPr lang="en-US" altLang="en-US" dirty="0">
              <a:sym typeface="Symbol" panose="05050102010706020507" pitchFamily="18" charset="2"/>
            </a:endParaRPr>
          </a:p>
        </p:txBody>
      </p:sp>
      <p:pic>
        <p:nvPicPr>
          <p:cNvPr id="14340" name="Picture 4" descr="9">
            <a:extLst>
              <a:ext uri="{FF2B5EF4-FFF2-40B4-BE49-F238E27FC236}">
                <a16:creationId xmlns:a16="http://schemas.microsoft.com/office/drawing/2014/main" id="{A3D70552-8B37-46D6-A4A0-489B357F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2675" y="1701800"/>
            <a:ext cx="3878263" cy="3551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>
            <a:extLst>
              <a:ext uri="{FF2B5EF4-FFF2-40B4-BE49-F238E27FC236}">
                <a16:creationId xmlns:a16="http://schemas.microsoft.com/office/drawing/2014/main" id="{0264511C-9394-4FB0-8A88-DD12566F97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Basic Concepts</a:t>
            </a:r>
          </a:p>
        </p:txBody>
      </p:sp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5F816111-C06D-4FA2-86A2-9368F11D44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6" y="1191243"/>
            <a:ext cx="7697755" cy="4530725"/>
          </a:xfrm>
        </p:spPr>
        <p:txBody>
          <a:bodyPr/>
          <a:lstStyle/>
          <a:p>
            <a:r>
              <a:rPr lang="en-US" altLang="en-US" dirty="0"/>
              <a:t>With swapping, pager guesses which pages will be used before swapping out again</a:t>
            </a:r>
          </a:p>
          <a:p>
            <a:r>
              <a:rPr lang="en-US" altLang="en-US" dirty="0"/>
              <a:t>Instead, pager brings in only those pages into memory</a:t>
            </a:r>
          </a:p>
          <a:p>
            <a:r>
              <a:rPr lang="en-US" altLang="en-US" dirty="0"/>
              <a:t>How to determine that set of pages?</a:t>
            </a:r>
          </a:p>
          <a:p>
            <a:pPr lvl="1"/>
            <a:r>
              <a:rPr lang="en-US" altLang="en-US" dirty="0"/>
              <a:t>Need new MMU functionality to implement demand paging</a:t>
            </a:r>
          </a:p>
          <a:p>
            <a:r>
              <a:rPr lang="en-US" altLang="en-US" dirty="0"/>
              <a:t>If pages needed are already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resident</a:t>
            </a:r>
          </a:p>
          <a:p>
            <a:pPr lvl="1"/>
            <a:r>
              <a:rPr lang="en-US" altLang="en-US" dirty="0"/>
              <a:t>No difference from non demand-paging</a:t>
            </a:r>
          </a:p>
          <a:p>
            <a:r>
              <a:rPr lang="en-US" altLang="en-US" dirty="0"/>
              <a:t>If page needed and not memory resident</a:t>
            </a:r>
          </a:p>
          <a:p>
            <a:pPr lvl="1"/>
            <a:r>
              <a:rPr lang="en-US" altLang="en-US" dirty="0"/>
              <a:t>Need to detect and load the page into memory from storage</a:t>
            </a:r>
          </a:p>
          <a:p>
            <a:pPr lvl="2"/>
            <a:r>
              <a:rPr lang="en-US" altLang="en-US" dirty="0"/>
              <a:t>Without changing program behavior</a:t>
            </a:r>
          </a:p>
          <a:p>
            <a:pPr lvl="2"/>
            <a:r>
              <a:rPr lang="en-US" altLang="en-US" dirty="0"/>
              <a:t>Without programmer needing to change code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D871474-8C29-4C4D-A06C-A16B6A83DC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19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Valid-Invalid Bit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72DE0254-5503-4CC6-82D6-9AD27FDC128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046163"/>
            <a:ext cx="7688424" cy="5472112"/>
          </a:xfrm>
        </p:spPr>
        <p:txBody>
          <a:bodyPr/>
          <a:lstStyle/>
          <a:p>
            <a:r>
              <a:rPr lang="en-US" altLang="en-US" dirty="0"/>
              <a:t>With each page table entry a valid–invalid bit is associated</a:t>
            </a:r>
            <a:br>
              <a:rPr lang="en-US" altLang="en-US" dirty="0"/>
            </a:br>
            <a:r>
              <a:rPr lang="en-US" altLang="en-US" dirty="0"/>
              <a:t>(</a:t>
            </a:r>
            <a:r>
              <a:rPr lang="en-US" altLang="en-US" b="1" dirty="0">
                <a:solidFill>
                  <a:srgbClr val="FF0000"/>
                </a:solidFill>
              </a:rPr>
              <a:t>v</a:t>
            </a:r>
            <a:r>
              <a:rPr lang="en-US" altLang="en-US" dirty="0"/>
              <a:t> </a:t>
            </a:r>
            <a:r>
              <a:rPr lang="en-US" altLang="en-US" dirty="0">
                <a:sym typeface="Symbol" panose="05050102010706020507" pitchFamily="18" charset="2"/>
              </a:rPr>
              <a:t> in-memory –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memory</a:t>
            </a:r>
            <a:r>
              <a:rPr lang="en-US" altLang="en-US" b="1" dirty="0">
                <a:solidFill>
                  <a:srgbClr val="3366FF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  <a:sym typeface="Symbol" panose="05050102010706020507" pitchFamily="18" charset="2"/>
              </a:rPr>
              <a:t>resident</a:t>
            </a:r>
            <a:r>
              <a:rPr lang="en-US" altLang="en-US" dirty="0">
                <a:sym typeface="Symbol" panose="05050102010706020507" pitchFamily="18" charset="2"/>
              </a:rPr>
              <a:t>,</a:t>
            </a:r>
            <a:r>
              <a:rPr lang="en-US" altLang="en-US" dirty="0">
                <a:solidFill>
                  <a:srgbClr val="FF0000"/>
                </a:solidFill>
                <a:sym typeface="Symbol" panose="05050102010706020507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i</a:t>
            </a:r>
            <a:r>
              <a:rPr lang="en-US" altLang="en-US" dirty="0">
                <a:sym typeface="Symbol" panose="05050102010706020507" pitchFamily="18" charset="2"/>
              </a:rPr>
              <a:t>  not-in-memory)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Initially valid–invalid bit is set to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 </a:t>
            </a:r>
            <a:r>
              <a:rPr lang="en-US" altLang="en-US" dirty="0">
                <a:sym typeface="Symbol" panose="05050102010706020507" pitchFamily="18" charset="2"/>
              </a:rPr>
              <a:t>on all entries</a:t>
            </a:r>
          </a:p>
          <a:p>
            <a:r>
              <a:rPr lang="en-US" altLang="en-US" dirty="0">
                <a:sym typeface="Symbol" panose="05050102010706020507" pitchFamily="18" charset="2"/>
              </a:rPr>
              <a:t>Example of a page table snapshot: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800" dirty="0">
              <a:sym typeface="Symbol" panose="05050102010706020507" pitchFamily="18" charset="2"/>
            </a:endParaRPr>
          </a:p>
          <a:p>
            <a:r>
              <a:rPr lang="en-US" altLang="en-US" dirty="0">
                <a:sym typeface="Symbol" panose="05050102010706020507" pitchFamily="18" charset="2"/>
              </a:rPr>
              <a:t>During MMU address translation, if valid–invalid bit in page table entry is</a:t>
            </a:r>
            <a:r>
              <a:rPr lang="en-US" altLang="en-US" b="1" dirty="0">
                <a:solidFill>
                  <a:srgbClr val="FF0000"/>
                </a:solidFill>
                <a:sym typeface="Symbol" panose="05050102010706020507" pitchFamily="18" charset="2"/>
              </a:rPr>
              <a:t> i</a:t>
            </a:r>
            <a:r>
              <a:rPr lang="en-US" altLang="en-US" dirty="0">
                <a:sym typeface="Symbol" panose="05050102010706020507" pitchFamily="18" charset="2"/>
              </a:rPr>
              <a:t>  page fault</a:t>
            </a:r>
          </a:p>
        </p:txBody>
      </p:sp>
      <p:pic>
        <p:nvPicPr>
          <p:cNvPr id="16388" name="Picture 1">
            <a:extLst>
              <a:ext uri="{FF2B5EF4-FFF2-40B4-BE49-F238E27FC236}">
                <a16:creationId xmlns:a16="http://schemas.microsoft.com/office/drawing/2014/main" id="{6076F79C-4BBB-4218-90FB-18A6D83B8B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10897" y="2623263"/>
            <a:ext cx="2370138" cy="273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5B154921-491D-443E-816A-3E1D64EAD98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53143" y="344979"/>
            <a:ext cx="7884368" cy="501650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Page Table When Some Pages Are Not</a:t>
            </a:r>
            <a:br>
              <a:rPr lang="en-US" altLang="en-US" sz="2400" dirty="0"/>
            </a:br>
            <a:r>
              <a:rPr lang="en-US" altLang="en-US" sz="2400" dirty="0"/>
              <a:t>in Main Memory</a:t>
            </a:r>
          </a:p>
        </p:txBody>
      </p:sp>
      <p:pic>
        <p:nvPicPr>
          <p:cNvPr id="17411" name="Picture 2" descr="B:\os-book\os10-dir\Slides-WORK-area\Figures-dir\ch10\JPG-dir\10_04.jpg">
            <a:extLst>
              <a:ext uri="{FF2B5EF4-FFF2-40B4-BE49-F238E27FC236}">
                <a16:creationId xmlns:a16="http://schemas.microsoft.com/office/drawing/2014/main" id="{EE8B21A0-27D4-48EC-AA1E-673C6BCAF8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2638" y="1246188"/>
            <a:ext cx="4805362" cy="4659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6614AF0F-0564-40AA-8F76-6152AC6E0CC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Page Fault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663B1E5A-B195-422A-B1B4-080156B3A5F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390261"/>
            <a:ext cx="7707086" cy="4010414"/>
          </a:xfrm>
        </p:spPr>
        <p:txBody>
          <a:bodyPr/>
          <a:lstStyle/>
          <a:p>
            <a:pPr>
              <a:lnSpc>
                <a:spcPct val="90000"/>
              </a:lnSpc>
              <a:buFont typeface="+mj-lt"/>
              <a:buAutoNum type="arabicPeriod"/>
              <a:defRPr/>
            </a:pPr>
            <a:r>
              <a:rPr lang="en-US" altLang="en-US" dirty="0"/>
              <a:t>If there is a reference to a page, first reference to that page will trap to operating system </a:t>
            </a:r>
          </a:p>
          <a:p>
            <a:pPr lvl="1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Page fault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Operating system looks at another table to decide: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/>
              <a:t>Invalid reference </a:t>
            </a:r>
            <a:r>
              <a:rPr lang="en-US" altLang="en-US" dirty="0">
                <a:sym typeface="Symbol" pitchFamily="18" charset="2"/>
              </a:rPr>
              <a:t> abort</a:t>
            </a:r>
          </a:p>
          <a:p>
            <a:pPr marL="798513" lvl="1" indent="-341313">
              <a:lnSpc>
                <a:spcPct val="90000"/>
              </a:lnSpc>
              <a:defRPr/>
            </a:pPr>
            <a:r>
              <a:rPr lang="en-US" altLang="en-US" dirty="0">
                <a:sym typeface="Symbol" pitchFamily="18" charset="2"/>
              </a:rPr>
              <a:t>Just not in memory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Find free frame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Swap page into frame via scheduled disk operation</a:t>
            </a: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Reset tables to indicate page now in memory</a:t>
            </a:r>
            <a:br>
              <a:rPr lang="en-US" altLang="en-US" dirty="0">
                <a:sym typeface="Symbol" pitchFamily="18" charset="2"/>
              </a:rPr>
            </a:br>
            <a:r>
              <a:rPr lang="en-US" altLang="en-US" dirty="0">
                <a:sym typeface="Symbol" pitchFamily="18" charset="2"/>
              </a:rPr>
              <a:t>Set validation bit = </a:t>
            </a:r>
            <a:r>
              <a:rPr lang="en-US" altLang="en-US" b="1" dirty="0">
                <a:solidFill>
                  <a:srgbClr val="FF0000"/>
                </a:solidFill>
                <a:sym typeface="Symbol" pitchFamily="18" charset="2"/>
              </a:rPr>
              <a:t>v</a:t>
            </a: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AutoNum type="arabicPeriod"/>
              <a:defRPr/>
            </a:pPr>
            <a:r>
              <a:rPr lang="en-US" altLang="en-US" dirty="0">
                <a:sym typeface="Symbol" pitchFamily="18" charset="2"/>
              </a:rPr>
              <a:t>Restart the instruction that caused the page fault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defRPr/>
            </a:pPr>
            <a:endParaRPr lang="en-US" altLang="en-US" dirty="0">
              <a:sym typeface="Symbol" pitchFamily="18" charset="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445744E8-6995-495D-B4E9-CB8155552BF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71804" y="244899"/>
            <a:ext cx="8515059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Steps in Handling a Page Fault (Cont.)</a:t>
            </a:r>
          </a:p>
        </p:txBody>
      </p:sp>
      <p:pic>
        <p:nvPicPr>
          <p:cNvPr id="19459" name="Picture 4" descr="9">
            <a:extLst>
              <a:ext uri="{FF2B5EF4-FFF2-40B4-BE49-F238E27FC236}">
                <a16:creationId xmlns:a16="http://schemas.microsoft.com/office/drawing/2014/main" id="{4C87B603-A2E7-4FAE-A0CB-D034C6085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9900" y="1217613"/>
            <a:ext cx="5800725" cy="4840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1">
            <a:extLst>
              <a:ext uri="{FF2B5EF4-FFF2-40B4-BE49-F238E27FC236}">
                <a16:creationId xmlns:a16="http://schemas.microsoft.com/office/drawing/2014/main" id="{6455FCDC-9CE5-4011-94EB-761285813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r>
              <a:rPr lang="en-US" altLang="en-US" dirty="0"/>
              <a:t>Aspects of Demand Paging</a:t>
            </a:r>
          </a:p>
        </p:txBody>
      </p:sp>
      <p:sp>
        <p:nvSpPr>
          <p:cNvPr id="20483" name="Content Placeholder 2">
            <a:extLst>
              <a:ext uri="{FF2B5EF4-FFF2-40B4-BE49-F238E27FC236}">
                <a16:creationId xmlns:a16="http://schemas.microsoft.com/office/drawing/2014/main" id="{AAD11580-A239-44B3-BA48-43549630E2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8416" y="1239708"/>
            <a:ext cx="7651102" cy="4887912"/>
          </a:xfrm>
        </p:spPr>
        <p:txBody>
          <a:bodyPr/>
          <a:lstStyle/>
          <a:p>
            <a:r>
              <a:rPr lang="en-US" altLang="en-US" dirty="0"/>
              <a:t>Extreme case – start process with </a:t>
            </a:r>
            <a:r>
              <a:rPr lang="en-US" altLang="en-US" i="1" dirty="0"/>
              <a:t>no</a:t>
            </a:r>
            <a:r>
              <a:rPr lang="en-US" altLang="en-US" dirty="0"/>
              <a:t> pages in memory</a:t>
            </a:r>
          </a:p>
          <a:p>
            <a:pPr lvl="1"/>
            <a:r>
              <a:rPr lang="en-US" altLang="en-US" dirty="0"/>
              <a:t>OS sets instruction pointer to first instruction of process, non-memory-resident -&gt; page fault</a:t>
            </a:r>
          </a:p>
          <a:p>
            <a:pPr lvl="1"/>
            <a:r>
              <a:rPr lang="en-US" altLang="en-US" dirty="0"/>
              <a:t>And for every other process pages on first access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Pure demand paging</a:t>
            </a:r>
          </a:p>
          <a:p>
            <a:r>
              <a:rPr lang="en-US" altLang="en-US" dirty="0"/>
              <a:t>Actually, a given instruction could access multiple pages -&gt; multiple page faults</a:t>
            </a:r>
          </a:p>
          <a:p>
            <a:pPr lvl="1"/>
            <a:r>
              <a:rPr lang="en-US" altLang="en-US" dirty="0"/>
              <a:t>Consider fetch and decode of instruction which adds 2 numbers from memory and stores result back to memory</a:t>
            </a:r>
          </a:p>
          <a:p>
            <a:pPr lvl="1"/>
            <a:r>
              <a:rPr lang="en-US" altLang="en-US" dirty="0"/>
              <a:t>Pain decreased because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locality of reference</a:t>
            </a:r>
          </a:p>
          <a:p>
            <a:r>
              <a:rPr lang="en-US" altLang="en-US" dirty="0"/>
              <a:t>Hardware support needed for demand paging</a:t>
            </a:r>
          </a:p>
          <a:p>
            <a:pPr lvl="1"/>
            <a:r>
              <a:rPr lang="en-US" altLang="en-US" dirty="0"/>
              <a:t>Page table with valid / invalid bit</a:t>
            </a:r>
          </a:p>
          <a:p>
            <a:pPr lvl="1"/>
            <a:r>
              <a:rPr lang="en-US" altLang="en-US" dirty="0"/>
              <a:t>Secondary memory (swap device with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swap space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Instruction restart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98DBC94B-798D-408F-B016-8235AA92A7F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826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Instruction Restart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E09283A3-41F7-4BC9-BF2A-D4DB982A5ED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8" y="1399891"/>
            <a:ext cx="7432708" cy="4114800"/>
          </a:xfrm>
        </p:spPr>
        <p:txBody>
          <a:bodyPr/>
          <a:lstStyle/>
          <a:p>
            <a:r>
              <a:rPr lang="en-US" altLang="en-US" dirty="0"/>
              <a:t>Consider an instruction that could access several different locations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Block move</a:t>
            </a:r>
            <a:br>
              <a:rPr lang="en-US" altLang="en-US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br>
              <a:rPr lang="en-US" altLang="en-US" sz="1600" dirty="0">
                <a:sym typeface="Symbol" panose="05050102010706020507" pitchFamily="18" charset="2"/>
              </a:rPr>
            </a:b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  <a:buFont typeface="Monotype Sorts" pitchFamily="-84" charset="2"/>
              <a:buNone/>
            </a:pPr>
            <a:endParaRPr lang="en-US" altLang="en-US" sz="1600" dirty="0">
              <a:sym typeface="Symbol" panose="05050102010706020507" pitchFamily="18" charset="2"/>
            </a:endParaRP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Auto increment/decrement location</a:t>
            </a:r>
          </a:p>
          <a:p>
            <a:pPr lvl="1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Restart the whole operation?</a:t>
            </a:r>
          </a:p>
          <a:p>
            <a:pPr lvl="2">
              <a:lnSpc>
                <a:spcPct val="90000"/>
              </a:lnSpc>
            </a:pPr>
            <a:r>
              <a:rPr lang="en-US" altLang="en-US" dirty="0">
                <a:sym typeface="Symbol" panose="05050102010706020507" pitchFamily="18" charset="2"/>
              </a:rPr>
              <a:t>What if source and destination overlap?</a:t>
            </a:r>
          </a:p>
        </p:txBody>
      </p:sp>
      <p:pic>
        <p:nvPicPr>
          <p:cNvPr id="21508" name="Picture 2">
            <a:extLst>
              <a:ext uri="{FF2B5EF4-FFF2-40B4-BE49-F238E27FC236}">
                <a16:creationId xmlns:a16="http://schemas.microsoft.com/office/drawing/2014/main" id="{8E395989-C37C-4C8C-8157-9861CCB887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2813" y="2268538"/>
            <a:ext cx="1563687" cy="1641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C1A455AE-86AA-4EA2-9575-6B5ABC9901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8937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Free-Frame List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1D3A033-F636-4DD5-B0D9-B3C0BC32B5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343903"/>
            <a:ext cx="7669764" cy="4114800"/>
          </a:xfrm>
        </p:spPr>
        <p:txBody>
          <a:bodyPr/>
          <a:lstStyle/>
          <a:p>
            <a:r>
              <a:rPr lang="en-US" altLang="en-US" dirty="0"/>
              <a:t>When a page fault occurs, the operating system must bring the desired page from secondary storage into main memory. </a:t>
            </a:r>
          </a:p>
          <a:p>
            <a:r>
              <a:rPr lang="en-US" altLang="en-US" dirty="0"/>
              <a:t>Most operating systems maintain a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free-frame</a:t>
            </a:r>
            <a:r>
              <a:rPr lang="en-US" altLang="en-US" b="1" dirty="0">
                <a:solidFill>
                  <a:srgbClr val="0070C0"/>
                </a:solidFill>
              </a:rPr>
              <a:t> list</a:t>
            </a:r>
            <a:r>
              <a:rPr lang="en-US" altLang="en-US" dirty="0"/>
              <a:t> -- a pool of free frames for satisfying such requests.</a:t>
            </a:r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Operating system typically allocate free frames using a technique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dirty="0"/>
              <a:t> --  the content of the frames zeroed-out before being allocated.</a:t>
            </a:r>
          </a:p>
          <a:p>
            <a:r>
              <a:rPr lang="en-US" altLang="en-US" dirty="0"/>
              <a:t>When a system starts up, all available memory is placed on the free-frame list. 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22532" name="Picture 2" descr="B:\os-book\os10-dir\Slides-WORK-area\Figures-dir\ch10\JPG-dir\10_06.jpg">
            <a:extLst>
              <a:ext uri="{FF2B5EF4-FFF2-40B4-BE49-F238E27FC236}">
                <a16:creationId xmlns:a16="http://schemas.microsoft.com/office/drawing/2014/main" id="{74C1D426-4DEE-495E-BFD2-9DDD43D143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9208" y="2827988"/>
            <a:ext cx="4546600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>
            <a:extLst>
              <a:ext uri="{FF2B5EF4-FFF2-40B4-BE49-F238E27FC236}">
                <a16:creationId xmlns:a16="http://schemas.microsoft.com/office/drawing/2014/main" id="{43106162-FA5D-4204-BC6B-FC492CAB83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98621" y="242727"/>
            <a:ext cx="7869237" cy="576263"/>
          </a:xfrm>
        </p:spPr>
        <p:txBody>
          <a:bodyPr/>
          <a:lstStyle/>
          <a:p>
            <a:pPr eaLnBrk="1" hangingPunct="1"/>
            <a:br>
              <a:rPr lang="en-US" altLang="en-US" sz="3000" dirty="0"/>
            </a:br>
            <a:r>
              <a:rPr lang="en-US" altLang="en-US" sz="3000" dirty="0"/>
              <a:t>Stages in Demand Paging – Worse Case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D59FD618-6420-46F8-ADA3-3B84918F6C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324271"/>
            <a:ext cx="7651101" cy="4849812"/>
          </a:xfrm>
        </p:spPr>
        <p:txBody>
          <a:bodyPr/>
          <a:lstStyle/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Trap to the operating system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Save the user registers and process state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Determine that the interrupt was a page fault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Check that the page reference was legal and determine the location of the page on the disk</a:t>
            </a:r>
          </a:p>
          <a:p>
            <a:pPr>
              <a:buFont typeface="Arial" panose="020B0604020202020204" pitchFamily="34" charset="0"/>
              <a:buAutoNum type="arabicPeriod"/>
              <a:tabLst>
                <a:tab pos="2163763" algn="l"/>
                <a:tab pos="2855913" algn="l"/>
              </a:tabLst>
            </a:pPr>
            <a:r>
              <a:rPr lang="en-US" altLang="en-US" dirty="0"/>
              <a:t>Issue a read from the disk to a free frame:</a:t>
            </a:r>
          </a:p>
          <a:p>
            <a:pPr marL="800100" lvl="1" indent="-342900">
              <a:buFont typeface="+mj-lt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in a queue for this device until the read request is serviced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Wait for the device seek and/or latency time</a:t>
            </a:r>
          </a:p>
          <a:p>
            <a:pPr marL="798513" lvl="1" indent="-341313">
              <a:buFont typeface="Arial" panose="020B0604020202020204" pitchFamily="34" charset="0"/>
              <a:buAutoNum type="alphaLcParenR"/>
              <a:tabLst>
                <a:tab pos="2163763" algn="l"/>
                <a:tab pos="2855913" algn="l"/>
              </a:tabLst>
            </a:pPr>
            <a:r>
              <a:rPr lang="en-US" altLang="en-US" dirty="0"/>
              <a:t>Begin the transfer of the page to a free frame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9F1F3F51-F06E-4908-B338-588E54F1A2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33961" y="238937"/>
            <a:ext cx="7315200" cy="569912"/>
          </a:xfrm>
        </p:spPr>
        <p:txBody>
          <a:bodyPr/>
          <a:lstStyle/>
          <a:p>
            <a:pPr eaLnBrk="1" hangingPunct="1"/>
            <a:r>
              <a:rPr lang="en-US" altLang="en-US" dirty="0"/>
              <a:t>Stages in Demand Paging  (Cont.)</a:t>
            </a:r>
          </a:p>
        </p:txBody>
      </p:sp>
      <p:sp>
        <p:nvSpPr>
          <p:cNvPr id="24579" name="Rectangle 3">
            <a:extLst>
              <a:ext uri="{FF2B5EF4-FFF2-40B4-BE49-F238E27FC236}">
                <a16:creationId xmlns:a16="http://schemas.microsoft.com/office/drawing/2014/main" id="{004CF6A9-3B99-4D5B-BF8C-4531B09133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6201" y="1377046"/>
            <a:ext cx="8036541" cy="4849813"/>
          </a:xfrm>
        </p:spPr>
        <p:txBody>
          <a:bodyPr/>
          <a:lstStyle/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While waiting, allocate the CPU to some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Receive an interrupt from the disk I/O subsystem (I/O   completed)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Save the registers and process state for the other user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Determine that the interrupt was from the disk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Correct the page table and other tables to show page is now in memory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Wait for the CPU to be allocated to this process again</a:t>
            </a:r>
          </a:p>
          <a:p>
            <a:pPr>
              <a:buFont typeface="Monotype Sorts" pitchFamily="-84" charset="2"/>
              <a:buAutoNum type="arabicPeriod" startAt="6"/>
              <a:tabLst>
                <a:tab pos="2163763" algn="l"/>
                <a:tab pos="2855913" algn="l"/>
              </a:tabLst>
            </a:pPr>
            <a:r>
              <a:rPr lang="en-US" altLang="en-US" dirty="0"/>
              <a:t>  Restore the user registers, process state, and new page table, and then  </a:t>
            </a:r>
          </a:p>
          <a:p>
            <a:pPr marL="0" indent="0">
              <a:spcBef>
                <a:spcPts val="0"/>
              </a:spcBef>
              <a:buNone/>
              <a:tabLst>
                <a:tab pos="2163763" algn="l"/>
                <a:tab pos="2855913" algn="l"/>
              </a:tabLst>
            </a:pPr>
            <a:r>
              <a:rPr lang="en-US" altLang="en-US" dirty="0"/>
              <a:t>        resume the interrupted instruction</a:t>
            </a:r>
          </a:p>
          <a:p>
            <a:pPr>
              <a:tabLst>
                <a:tab pos="2163763" algn="l"/>
                <a:tab pos="2855913" algn="l"/>
              </a:tabLst>
            </a:pPr>
            <a:endParaRPr lang="en-US" altLang="en-US" dirty="0">
              <a:sym typeface="Symbol" panose="05050102010706020507" pitchFamily="18" charset="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A49FB98C-679E-4682-BAE7-A7064CABE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24060" y="202036"/>
            <a:ext cx="7272338" cy="611188"/>
          </a:xfrm>
        </p:spPr>
        <p:txBody>
          <a:bodyPr/>
          <a:lstStyle/>
          <a:p>
            <a:pPr eaLnBrk="1" hangingPunct="1"/>
            <a:r>
              <a:rPr lang="en-US" altLang="en-US" dirty="0"/>
              <a:t>Performance of Demand Paging</a:t>
            </a: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F03B7D4-70F1-48B6-8A00-4D9695B105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6" y="1119188"/>
            <a:ext cx="7716416" cy="4646612"/>
          </a:xfrm>
        </p:spPr>
        <p:txBody>
          <a:bodyPr/>
          <a:lstStyle/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Three major activities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Service the interrupt – careful coding means just several hundred instructions needed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Read the page – lots of time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/>
              <a:t>Restart the process – again just a small amount of time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/>
              <a:t>Page Fault Rate 0 </a:t>
            </a:r>
            <a:r>
              <a:rPr lang="en-US" altLang="en-US" dirty="0">
                <a:sym typeface="Symbol" panose="05050102010706020507" pitchFamily="18" charset="2"/>
              </a:rPr>
              <a:t>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 1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0 no page faults </a:t>
            </a:r>
          </a:p>
          <a:p>
            <a:pPr lvl="1"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if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= 1, every reference is a fault</a:t>
            </a:r>
          </a:p>
          <a:p>
            <a:pPr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Effective Access Time (EAT)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EAT = (1 –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) x memory access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                       + </a:t>
            </a:r>
            <a:r>
              <a:rPr lang="en-US" altLang="en-US" i="1" dirty="0">
                <a:sym typeface="Symbol" panose="05050102010706020507" pitchFamily="18" charset="2"/>
              </a:rPr>
              <a:t>p</a:t>
            </a:r>
            <a:r>
              <a:rPr lang="en-US" altLang="en-US" dirty="0">
                <a:sym typeface="Symbol" panose="05050102010706020507" pitchFamily="18" charset="2"/>
              </a:rPr>
              <a:t> (page fault overhead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out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                 + swap page in )</a:t>
            </a:r>
          </a:p>
          <a:p>
            <a:pPr>
              <a:buFont typeface="Monotype Sorts" pitchFamily="-84" charset="2"/>
              <a:buNone/>
              <a:tabLst>
                <a:tab pos="2163763" algn="l"/>
                <a:tab pos="2855913" algn="l"/>
              </a:tabLst>
            </a:pPr>
            <a:r>
              <a:rPr lang="en-US" altLang="en-US" dirty="0">
                <a:sym typeface="Symbol" panose="05050102010706020507" pitchFamily="18" charset="2"/>
              </a:rPr>
              <a:t>				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B0E62A0B-D955-48F0-A13C-C90B2C1490E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67085" y="223644"/>
            <a:ext cx="77517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Demand Paging Example</a:t>
            </a:r>
          </a:p>
        </p:txBody>
      </p:sp>
      <p:sp>
        <p:nvSpPr>
          <p:cNvPr id="26627" name="Rectangle 3">
            <a:extLst>
              <a:ext uri="{FF2B5EF4-FFF2-40B4-BE49-F238E27FC236}">
                <a16:creationId xmlns:a16="http://schemas.microsoft.com/office/drawing/2014/main" id="{C8756104-BFEE-4B66-8D8E-DC274456D3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068388"/>
            <a:ext cx="7669762" cy="4849812"/>
          </a:xfrm>
        </p:spPr>
        <p:txBody>
          <a:bodyPr/>
          <a:lstStyle/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Memory access time = 200 nanoseconds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Average page-fault service time = 8 milliseconds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EAT = (1 – p) x 200 + p (8 milliseconds)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        = (1 – p  x 200 + p x 8,000,000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     = 200 + p x 7,999,800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one access out of 1,000 causes a page fault, then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   EAT = 8.2 microseconds. 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      This is a slowdown by a factor of 40!!</a:t>
            </a:r>
          </a:p>
          <a:p>
            <a:pPr>
              <a:tabLst>
                <a:tab pos="1773238" algn="l"/>
                <a:tab pos="2278063" algn="l"/>
              </a:tabLst>
            </a:pPr>
            <a:r>
              <a:rPr lang="en-US" altLang="en-US" dirty="0"/>
              <a:t>If want performance degradation &lt; 10 percent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220 &gt; 200 + 7,999,800 x p</a:t>
            </a:r>
            <a:br>
              <a:rPr lang="en-US" altLang="en-US" dirty="0"/>
            </a:br>
            <a:r>
              <a:rPr lang="en-US" altLang="en-US" dirty="0"/>
              <a:t>20 &gt; 7,999,800 x p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p &lt; .0000025</a:t>
            </a:r>
          </a:p>
          <a:p>
            <a:pPr lvl="1">
              <a:tabLst>
                <a:tab pos="1773238" algn="l"/>
                <a:tab pos="2278063" algn="l"/>
              </a:tabLst>
            </a:pPr>
            <a:r>
              <a:rPr lang="en-US" altLang="en-US" dirty="0"/>
              <a:t>&lt; one page fault in every 400,000 memory accesses</a:t>
            </a:r>
          </a:p>
          <a:p>
            <a:pPr>
              <a:buFont typeface="Monotype Sorts" pitchFamily="-84" charset="2"/>
              <a:buNone/>
              <a:tabLst>
                <a:tab pos="1773238" algn="l"/>
                <a:tab pos="2278063" algn="l"/>
              </a:tabLst>
            </a:pPr>
            <a:r>
              <a:rPr lang="en-US" altLang="en-US" dirty="0"/>
              <a:t>	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1">
            <a:extLst>
              <a:ext uri="{FF2B5EF4-FFF2-40B4-BE49-F238E27FC236}">
                <a16:creationId xmlns:a16="http://schemas.microsoft.com/office/drawing/2014/main" id="{1B22C3E1-32B8-4B21-A8D6-B32484188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4005" y="238159"/>
            <a:ext cx="8229600" cy="576262"/>
          </a:xfrm>
        </p:spPr>
        <p:txBody>
          <a:bodyPr/>
          <a:lstStyle/>
          <a:p>
            <a:r>
              <a:rPr lang="en-US" altLang="en-US" dirty="0"/>
              <a:t>Demand Paging Optimizations</a:t>
            </a:r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BEE743C-DD76-4F41-B07D-C4DE4208A2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9753" y="1028700"/>
            <a:ext cx="7567030" cy="5232400"/>
          </a:xfrm>
        </p:spPr>
        <p:txBody>
          <a:bodyPr/>
          <a:lstStyle/>
          <a:p>
            <a:r>
              <a:rPr lang="en-US" altLang="en-US" sz="1600" dirty="0"/>
              <a:t>Swap space I/O faster than file system I/O even if on the same device</a:t>
            </a:r>
          </a:p>
          <a:p>
            <a:pPr lvl="1"/>
            <a:r>
              <a:rPr lang="en-US" altLang="en-US" sz="1600" dirty="0"/>
              <a:t>Swap allocated in larger chunks, less management needed than file system</a:t>
            </a:r>
          </a:p>
          <a:p>
            <a:r>
              <a:rPr lang="en-US" altLang="en-US" sz="1600" dirty="0"/>
              <a:t>Copy entire process image to swap space at process load time</a:t>
            </a:r>
          </a:p>
          <a:p>
            <a:pPr lvl="1"/>
            <a:r>
              <a:rPr lang="en-US" altLang="en-US" sz="1600" dirty="0"/>
              <a:t>Then page in and out of swap space</a:t>
            </a:r>
          </a:p>
          <a:p>
            <a:pPr lvl="1"/>
            <a:r>
              <a:rPr lang="en-US" altLang="en-US" sz="1600" dirty="0"/>
              <a:t>Used in older BSD Unix</a:t>
            </a:r>
          </a:p>
          <a:p>
            <a:r>
              <a:rPr lang="en-US" altLang="en-US" sz="1600" dirty="0"/>
              <a:t>Demand page in from program binary on disk, but discard rather than paging out when freeing frame</a:t>
            </a:r>
          </a:p>
          <a:p>
            <a:pPr lvl="1"/>
            <a:r>
              <a:rPr lang="en-US" altLang="en-US" sz="1600" dirty="0"/>
              <a:t>Used in Solaris and current BSD</a:t>
            </a:r>
          </a:p>
          <a:p>
            <a:pPr lvl="1"/>
            <a:r>
              <a:rPr lang="en-US" altLang="en-US" sz="1600" dirty="0"/>
              <a:t>Still need to write to swap space</a:t>
            </a:r>
          </a:p>
          <a:p>
            <a:pPr lvl="2"/>
            <a:r>
              <a:rPr lang="en-US" altLang="en-US" sz="1600" dirty="0"/>
              <a:t>Pages not associated with a file (like stack and heap) –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anonymous</a:t>
            </a:r>
            <a:r>
              <a:rPr lang="en-US" altLang="en-US" sz="1600" dirty="0"/>
              <a:t> </a:t>
            </a:r>
            <a:r>
              <a:rPr lang="en-US" altLang="en-US" sz="1600" b="1" dirty="0">
                <a:solidFill>
                  <a:srgbClr val="3366FF"/>
                </a:solidFill>
              </a:rPr>
              <a:t>memory</a:t>
            </a:r>
          </a:p>
          <a:p>
            <a:pPr lvl="2"/>
            <a:r>
              <a:rPr lang="en-US" altLang="en-US" sz="1600" dirty="0"/>
              <a:t>Pages modified in memory but not yet written back to the file system</a:t>
            </a:r>
          </a:p>
          <a:p>
            <a:r>
              <a:rPr lang="en-US" altLang="en-US" sz="1600" dirty="0"/>
              <a:t>Mobile systems</a:t>
            </a:r>
          </a:p>
          <a:p>
            <a:pPr lvl="1"/>
            <a:r>
              <a:rPr lang="en-US" altLang="en-US" sz="1600" dirty="0"/>
              <a:t>Typically don’t support swapping</a:t>
            </a:r>
          </a:p>
          <a:p>
            <a:pPr lvl="1"/>
            <a:r>
              <a:rPr lang="en-US" altLang="en-US" sz="1600" dirty="0"/>
              <a:t>Instead, demand page from file system and reclaim read-only pages (such as code)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4651B988-8DE7-4632-AA41-76D04EF9ACC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35901" y="23738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Copy-on-Write</a:t>
            </a:r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ECA58894-B517-4286-8DD6-C84ED96ED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6" y="1106488"/>
            <a:ext cx="7725745" cy="4530725"/>
          </a:xfrm>
        </p:spPr>
        <p:txBody>
          <a:bodyPr/>
          <a:lstStyle/>
          <a:p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Copy-on-Write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(COW) allows both parent and child processes to initially </a:t>
            </a:r>
            <a:r>
              <a:rPr lang="en-US" altLang="en-US" sz="1600" b="1" i="1" dirty="0"/>
              <a:t>share</a:t>
            </a:r>
            <a:r>
              <a:rPr lang="en-US" altLang="en-US" sz="1600" dirty="0"/>
              <a:t> the same pages in memory</a:t>
            </a:r>
          </a:p>
          <a:p>
            <a:pPr lvl="1"/>
            <a:r>
              <a:rPr lang="en-US" altLang="en-US" sz="1600" dirty="0"/>
              <a:t>If either process modifies a shared page, only then is the page copied</a:t>
            </a:r>
          </a:p>
          <a:p>
            <a:r>
              <a:rPr lang="en-US" altLang="en-US" sz="1600" dirty="0"/>
              <a:t>COW allows more efficient process creation as only modified pages are copied</a:t>
            </a:r>
          </a:p>
          <a:p>
            <a:r>
              <a:rPr lang="en-US" altLang="en-US" sz="1600" dirty="0"/>
              <a:t>In general, free pages are allocated from a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pool</a:t>
            </a:r>
            <a:r>
              <a:rPr lang="en-US" altLang="en-US" sz="1600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of </a:t>
            </a:r>
            <a:r>
              <a:rPr lang="en-US" altLang="en-US" sz="1600" b="1" dirty="0">
                <a:solidFill>
                  <a:srgbClr val="006699"/>
                </a:solidFill>
                <a:latin typeface="+mj-lt"/>
              </a:rPr>
              <a:t>zero-fill-on-demand</a:t>
            </a:r>
            <a:r>
              <a:rPr lang="en-US" altLang="en-US" sz="1600" b="1" dirty="0">
                <a:solidFill>
                  <a:srgbClr val="3366FF"/>
                </a:solidFill>
              </a:rPr>
              <a:t> </a:t>
            </a:r>
            <a:r>
              <a:rPr lang="en-US" altLang="en-US" sz="1600" dirty="0"/>
              <a:t>pages</a:t>
            </a:r>
          </a:p>
          <a:p>
            <a:pPr lvl="1"/>
            <a:r>
              <a:rPr lang="en-US" altLang="en-US" sz="1600" dirty="0"/>
              <a:t>Pool should always have free frames for fast demand page execution</a:t>
            </a:r>
          </a:p>
          <a:p>
            <a:pPr lvl="2"/>
            <a:r>
              <a:rPr lang="en-US" altLang="en-US" sz="1600" dirty="0"/>
              <a:t>Don’t want to have to free a frame as well as other processing on page fault</a:t>
            </a:r>
          </a:p>
          <a:p>
            <a:pPr lvl="1"/>
            <a:r>
              <a:rPr lang="en-US" altLang="en-US" sz="1600" dirty="0"/>
              <a:t>Why zero-out a page before allocating it?</a:t>
            </a:r>
          </a:p>
          <a:p>
            <a:r>
              <a:rPr lang="en-US" altLang="en-US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vfork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altLang="en-US" sz="1600" dirty="0"/>
              <a:t> variation on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fork() </a:t>
            </a:r>
            <a:r>
              <a:rPr lang="en-US" altLang="en-US" sz="1600" dirty="0"/>
              <a:t>system call has parent suspend and child using copy-on-write address space of parent</a:t>
            </a:r>
          </a:p>
          <a:p>
            <a:pPr lvl="1"/>
            <a:r>
              <a:rPr lang="en-US" altLang="en-US" sz="1600" dirty="0"/>
              <a:t>Designed to have child call </a:t>
            </a:r>
            <a:r>
              <a:rPr lang="en-US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exec()</a:t>
            </a:r>
          </a:p>
          <a:p>
            <a:pPr lvl="1"/>
            <a:r>
              <a:rPr lang="en-US" altLang="en-US" sz="1600" dirty="0"/>
              <a:t>Very efficient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58ABE1A7-0079-4C5D-AA2D-D1C3165717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06965" y="236344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Before Process 1 Modifies Page C</a:t>
            </a:r>
          </a:p>
        </p:txBody>
      </p:sp>
      <p:pic>
        <p:nvPicPr>
          <p:cNvPr id="29699" name="Picture 4" descr="9">
            <a:extLst>
              <a:ext uri="{FF2B5EF4-FFF2-40B4-BE49-F238E27FC236}">
                <a16:creationId xmlns:a16="http://schemas.microsoft.com/office/drawing/2014/main" id="{BC34FA32-F8B2-44C4-BE2E-AA1E08212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2700" y="1354138"/>
            <a:ext cx="7339013" cy="2952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A963B4BF-36A7-4A02-8DD4-DE6998EE70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77030" y="231420"/>
            <a:ext cx="78105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After Process 1 Modifies Page C</a:t>
            </a:r>
          </a:p>
        </p:txBody>
      </p:sp>
      <p:pic>
        <p:nvPicPr>
          <p:cNvPr id="30723" name="Picture 4" descr="9">
            <a:extLst>
              <a:ext uri="{FF2B5EF4-FFF2-40B4-BE49-F238E27FC236}">
                <a16:creationId xmlns:a16="http://schemas.microsoft.com/office/drawing/2014/main" id="{C5BC398E-0436-4102-B16B-52CDFD1D60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8300" y="1319213"/>
            <a:ext cx="6403975" cy="295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5EF40B-8258-1C50-595A-6227E7D87B0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Take a Break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2109717"/>
      </p:ext>
    </p:extLst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18133</TotalTime>
  <Words>1751</Words>
  <Application>Microsoft Office PowerPoint</Application>
  <PresentationFormat>全屏显示(4:3)</PresentationFormat>
  <Paragraphs>232</Paragraphs>
  <Slides>28</Slides>
  <Notes>25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28</vt:i4>
      </vt:variant>
    </vt:vector>
  </HeadingPairs>
  <TitlesOfParts>
    <vt:vector size="38" baseType="lpstr">
      <vt:lpstr>Monotype Sorts</vt:lpstr>
      <vt:lpstr>Arial</vt:lpstr>
      <vt:lpstr>Courier New</vt:lpstr>
      <vt:lpstr>Helvetica</vt:lpstr>
      <vt:lpstr>Symbol</vt:lpstr>
      <vt:lpstr>Times New Roman</vt:lpstr>
      <vt:lpstr>Verdana</vt:lpstr>
      <vt:lpstr>Webdings</vt:lpstr>
      <vt:lpstr>Wingdings</vt:lpstr>
      <vt:lpstr>os-8</vt:lpstr>
      <vt:lpstr>Chapter 10:  Virtual Memory</vt:lpstr>
      <vt:lpstr>Chapter 10:  Virtual Memory</vt:lpstr>
      <vt:lpstr>Objectives</vt:lpstr>
      <vt:lpstr>Background</vt:lpstr>
      <vt:lpstr>Virtual memory </vt:lpstr>
      <vt:lpstr>Virtual memory  (Cont.)</vt:lpstr>
      <vt:lpstr>Virtual Memory That is Larger Than Physical Memory</vt:lpstr>
      <vt:lpstr>Virtual-address Space</vt:lpstr>
      <vt:lpstr>Shared Library Using Virtual Memory</vt:lpstr>
      <vt:lpstr>Demand Paging</vt:lpstr>
      <vt:lpstr>Demand Paging</vt:lpstr>
      <vt:lpstr>Basic Concepts</vt:lpstr>
      <vt:lpstr>Valid-Invalid Bit</vt:lpstr>
      <vt:lpstr>Page Table When Some Pages Are Not in Main Memory</vt:lpstr>
      <vt:lpstr>Steps in Handling Page Fault</vt:lpstr>
      <vt:lpstr>Steps in Handling a Page Fault (Cont.)</vt:lpstr>
      <vt:lpstr>Aspects of Demand Paging</vt:lpstr>
      <vt:lpstr>Instruction Restart</vt:lpstr>
      <vt:lpstr>Free-Frame List</vt:lpstr>
      <vt:lpstr> Stages in Demand Paging – Worse Case</vt:lpstr>
      <vt:lpstr>Stages in Demand Paging  (Cont.)</vt:lpstr>
      <vt:lpstr>Performance of Demand Paging</vt:lpstr>
      <vt:lpstr>Demand Paging Example</vt:lpstr>
      <vt:lpstr>Demand Paging Optimizations</vt:lpstr>
      <vt:lpstr>Copy-on-Write</vt:lpstr>
      <vt:lpstr>Before Process 1 Modifies Page C</vt:lpstr>
      <vt:lpstr>After Process 1 Modifies Page C</vt:lpstr>
      <vt:lpstr>Take a Break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Yeh-Ching Chung</cp:lastModifiedBy>
  <cp:revision>289</cp:revision>
  <cp:lastPrinted>2013-09-10T17:57:57Z</cp:lastPrinted>
  <dcterms:created xsi:type="dcterms:W3CDTF">2011-01-13T23:43:38Z</dcterms:created>
  <dcterms:modified xsi:type="dcterms:W3CDTF">2025-09-09T05:34:32Z</dcterms:modified>
</cp:coreProperties>
</file>