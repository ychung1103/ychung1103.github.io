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5"/>
  </p:notesMasterIdLst>
  <p:handoutMasterIdLst>
    <p:handoutMasterId r:id="rId36"/>
  </p:handoutMasterIdLst>
  <p:sldIdLst>
    <p:sldId id="331" r:id="rId2"/>
    <p:sldId id="332" r:id="rId3"/>
    <p:sldId id="333" r:id="rId4"/>
    <p:sldId id="334" r:id="rId5"/>
    <p:sldId id="377" r:id="rId6"/>
    <p:sldId id="335" r:id="rId7"/>
    <p:sldId id="336" r:id="rId8"/>
    <p:sldId id="337" r:id="rId9"/>
    <p:sldId id="338" r:id="rId10"/>
    <p:sldId id="374" r:id="rId11"/>
    <p:sldId id="378" r:id="rId12"/>
    <p:sldId id="340" r:id="rId13"/>
    <p:sldId id="379" r:id="rId14"/>
    <p:sldId id="341" r:id="rId15"/>
    <p:sldId id="38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81" r:id="rId25"/>
    <p:sldId id="351" r:id="rId26"/>
    <p:sldId id="352" r:id="rId27"/>
    <p:sldId id="353" r:id="rId28"/>
    <p:sldId id="354" r:id="rId29"/>
    <p:sldId id="382" r:id="rId30"/>
    <p:sldId id="383" r:id="rId31"/>
    <p:sldId id="384" r:id="rId32"/>
    <p:sldId id="385" r:id="rId33"/>
    <p:sldId id="526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733" autoAdjust="0"/>
    <p:restoredTop sz="94626"/>
  </p:normalViewPr>
  <p:slideViewPr>
    <p:cSldViewPr snapToGrid="0">
      <p:cViewPr>
        <p:scale>
          <a:sx n="50" d="100"/>
          <a:sy n="50" d="100"/>
        </p:scale>
        <p:origin x="1628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9836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4713BEE-C1CE-484C-819E-C7874EAB1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73D603-B8D2-4718-A866-542F17F0E427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58D9914-4AE8-433F-9B79-3F9210954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F60734-AFF9-4268-9BD1-9AFF6E1D6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5BB938EB-EAE1-4FAC-BCB5-53974E688A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9AA36B63-1BA8-465A-9F47-478166EC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27DF9E4E-96D6-414F-8641-F5F4875E7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CEF41C-2D09-4D79-B128-D63857A2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9ACFA5D-A5EC-4373-81C2-0F6EFDCB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998348D-9A8E-4A1B-A5CC-88DB5AB92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77410E8-14CB-430D-9C9B-CA14C8C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CB3E8E7-C086-4355-9CE8-18739774E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7150505-875B-411A-8576-2DD58804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B2858C04-233B-4F84-8B85-EA895CEAF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7E4843CC-89D3-47B0-BBCC-C97C1F2F4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307F2A2-9C89-4CCD-8947-EF9F7A7FA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B56883D-676A-482F-9E14-FE9A4AE24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F62D35-9C65-414C-A86A-3FDBE9961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DF3E7C6-C9CA-4089-A553-275E1982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3988C8-FA90-46B8-B16F-16B1E13B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C96CC4-5B31-40CD-B384-477B7275D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2803BA9-336C-40B8-B240-AE76B19DB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118FFA9-F8CF-48E9-8DBD-7D20A0B41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CD8A752-1AAD-4C50-BBDA-5D51338F2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13071C3A-881C-48B3-B309-1D92C9DD8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D8F37CA-C0AA-4EA5-95A9-4F33D4E5D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FEE2A4B-553A-4DCA-8D0B-3BB07C43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6DF61C1-FABB-4C2F-A2F6-2A6755D43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93420185-E3D4-4A25-8067-B745C75A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5FB8F64-88BB-4559-9134-E35CDEC20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7CC628D-83F5-4EEA-8C50-0B294DCF1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F97B3F5-0425-41C0-BA0E-2A5645F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 &amp; Concurrency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203D3746-8758-479C-93A3-DC90B12F6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E2970C8-8537-47B0-BAC1-E14D29076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  <a:p>
            <a:r>
              <a:rPr lang="en-US" altLang="en-US"/>
              <a:t>Multicore Programming</a:t>
            </a:r>
          </a:p>
          <a:p>
            <a:r>
              <a:rPr lang="en-US" altLang="en-US"/>
              <a:t>Multithreading Models</a:t>
            </a:r>
          </a:p>
          <a:p>
            <a:r>
              <a:rPr lang="en-US" altLang="en-US"/>
              <a:t>Thread Libraries</a:t>
            </a:r>
          </a:p>
          <a:p>
            <a:r>
              <a:rPr lang="en-US" altLang="en-US"/>
              <a:t>Implicit Threading</a:t>
            </a:r>
          </a:p>
          <a:p>
            <a:r>
              <a:rPr lang="en-US" altLang="en-US"/>
              <a:t>Threading Issues</a:t>
            </a:r>
          </a:p>
          <a:p>
            <a:r>
              <a:rPr lang="en-US" altLang="en-US"/>
              <a:t>Operating System Examples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F4FAEF8D-141E-4014-81C2-5AD32F55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69649437-64F3-4573-8F48-4963AC54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940550" cy="4530725"/>
          </a:xfrm>
        </p:spPr>
        <p:txBody>
          <a:bodyPr/>
          <a:lstStyle/>
          <a:p>
            <a:r>
              <a:rPr lang="en-US" altLang="en-US" dirty="0"/>
              <a:t>Identify the basic components of a thread, and contrast threads and processes</a:t>
            </a:r>
          </a:p>
          <a:p>
            <a:r>
              <a:rPr lang="en-US" altLang="en-US" dirty="0"/>
              <a:t>Describe the benefits and challenges of </a:t>
            </a:r>
            <a:r>
              <a:rPr lang="en-US" altLang="en-US" dirty="0" err="1"/>
              <a:t>designng</a:t>
            </a:r>
            <a:r>
              <a:rPr lang="en-US" altLang="en-US" dirty="0"/>
              <a:t> multithreaded applications</a:t>
            </a:r>
          </a:p>
          <a:p>
            <a:r>
              <a:rPr lang="en-US" altLang="en-US" dirty="0"/>
              <a:t>Illustrate different approaches to implicit threading including thread pools, fork-join, and Grand Central Dispatch</a:t>
            </a:r>
          </a:p>
          <a:p>
            <a:r>
              <a:rPr lang="en-US" altLang="en-US" dirty="0"/>
              <a:t>Describe how the Windows and Linux operating systems represent threads</a:t>
            </a:r>
          </a:p>
          <a:p>
            <a:r>
              <a:rPr lang="en-US" altLang="en-US" dirty="0"/>
              <a:t>Designing multithreaded applications using the </a:t>
            </a:r>
            <a:r>
              <a:rPr lang="en-US" altLang="en-US" dirty="0" err="1"/>
              <a:t>Pthreads</a:t>
            </a:r>
            <a:r>
              <a:rPr lang="en-US" altLang="en-US" dirty="0"/>
              <a:t>, Java, and Windows threading APIs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813550" cy="4530725"/>
          </a:xfrm>
        </p:spPr>
        <p:txBody>
          <a:bodyPr/>
          <a:lstStyle/>
          <a:p>
            <a:r>
              <a:rPr lang="en-US" altLang="en-US"/>
              <a:t>Most modern applications are multithreaded</a:t>
            </a:r>
          </a:p>
          <a:p>
            <a:r>
              <a:rPr lang="en-US" altLang="en-US"/>
              <a:t>Threads run within application</a:t>
            </a:r>
          </a:p>
          <a:p>
            <a:r>
              <a:rPr lang="en-US" altLang="en-US"/>
              <a:t>Multiple tasks with the application can be implemented by separate threads</a:t>
            </a:r>
          </a:p>
          <a:p>
            <a:pPr lvl="1"/>
            <a:r>
              <a:rPr lang="en-US" altLang="en-US"/>
              <a:t>Update display</a:t>
            </a:r>
          </a:p>
          <a:p>
            <a:pPr lvl="1"/>
            <a:r>
              <a:rPr lang="en-US" altLang="en-US"/>
              <a:t>Fetch data</a:t>
            </a:r>
          </a:p>
          <a:p>
            <a:pPr lvl="1"/>
            <a:r>
              <a:rPr lang="en-US" altLang="en-US"/>
              <a:t>Spell checking</a:t>
            </a:r>
          </a:p>
          <a:p>
            <a:pPr lvl="1"/>
            <a:r>
              <a:rPr lang="en-US" altLang="en-US"/>
              <a:t>Answer a network request</a:t>
            </a:r>
          </a:p>
          <a:p>
            <a:r>
              <a:rPr lang="en-US" altLang="en-US"/>
              <a:t>Process creation is heavy-weight while thread creation is light-weight</a:t>
            </a:r>
          </a:p>
          <a:p>
            <a:r>
              <a:rPr lang="en-US" altLang="en-US"/>
              <a:t>Can simplify code, increase efficiency</a:t>
            </a:r>
          </a:p>
          <a:p>
            <a:r>
              <a:rPr lang="en-US" altLang="en-US"/>
              <a:t>Kernels are generally multithreaded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46D3DE18-7E7E-4C93-8C78-DD142B08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0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82700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013" y="481242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07250" cy="4530725"/>
          </a:xfrm>
        </p:spPr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DAE641A-82E5-4706-A422-7614EF0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43B20-81F4-4C44-95F8-D8F686F2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02" y="1208088"/>
            <a:ext cx="7723188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puts pressure on programmers, challenges include: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pPr lvl="1"/>
            <a:r>
              <a:rPr lang="en-US" altLang="en-US" b="1" dirty="0"/>
              <a:t>Testing and debugging</a:t>
            </a:r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99AFB161-ED93-4730-90CF-60C15CF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036A6A0-4CE5-4725-A8D1-F915FCFB1B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CAD927E8-64DE-4671-A690-608A4563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FB1F3DE-869C-4D7F-9A3F-53A8F1DC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dirty="0"/>
              <a:t>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F297ACC2-6415-49B5-B30C-3C6679A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81C5BE-54CB-4060-BFB3-18429EA46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A1AEDCB-DDB2-4B98-87D9-BFA079D3C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900988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buFont typeface="Monotype Sorts" pitchFamily="-84" charset="2"/>
              <a:buNone/>
              <a:defRPr/>
            </a:pP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5603" name="Picture 1" descr="Screen Shot 2012-12-04 at 7.54.07 PM.png">
            <a:extLst>
              <a:ext uri="{FF2B5EF4-FFF2-40B4-BE49-F238E27FC236}">
                <a16:creationId xmlns:a16="http://schemas.microsoft.com/office/drawing/2014/main" id="{73692B8D-A89E-4AD0-A1E3-ED895D4F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117" y="259718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681CBC2B-DB28-4332-A1D1-A5123743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9173F832-D0B8-4682-8422-824AC9A2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411288"/>
            <a:ext cx="52768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0A3DCFF-94B3-4FFC-B2A6-FE43AD179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BA746B80-CDA4-4092-8028-5DF70403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en-US" altLang="en-US" dirty="0"/>
              <a:t>- management done by user-level threads library</a:t>
            </a:r>
          </a:p>
          <a:p>
            <a:r>
              <a:rPr lang="en-US" altLang="en-US" dirty="0"/>
              <a:t>Three primary thread libraries:</a:t>
            </a:r>
          </a:p>
          <a:p>
            <a:pPr lvl="1"/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Pthreads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 Windows threads</a:t>
            </a:r>
          </a:p>
          <a:p>
            <a:pPr lvl="1"/>
            <a:r>
              <a:rPr lang="en-US" altLang="en-US" dirty="0"/>
              <a:t> Java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r>
              <a:rPr lang="en-US" altLang="en-US" dirty="0"/>
              <a:t>Examples – virtually all general-purpose operating systems, including:</a:t>
            </a:r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Linux</a:t>
            </a:r>
          </a:p>
          <a:p>
            <a:pPr lvl="1"/>
            <a:r>
              <a:rPr lang="en-US" altLang="en-US" dirty="0"/>
              <a:t>Mac OS X</a:t>
            </a:r>
          </a:p>
          <a:p>
            <a:pPr lvl="1"/>
            <a:r>
              <a:rPr lang="en-US" altLang="en-US" dirty="0"/>
              <a:t>iOS</a:t>
            </a:r>
          </a:p>
          <a:p>
            <a:pPr lvl="1"/>
            <a:r>
              <a:rPr lang="en-US" altLang="en-US" dirty="0"/>
              <a:t>Android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13ED592C-0C4E-45A3-A96C-C192AD94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</a:p>
        </p:txBody>
      </p:sp>
      <p:pic>
        <p:nvPicPr>
          <p:cNvPr id="30722" name="Picture 1">
            <a:extLst>
              <a:ext uri="{FF2B5EF4-FFF2-40B4-BE49-F238E27FC236}">
                <a16:creationId xmlns:a16="http://schemas.microsoft.com/office/drawing/2014/main" id="{2BDB5D90-D947-41F8-BDFE-DD7C4ED2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8" y="1901825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7C60FED-BD89-4655-8023-6D89846C2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986761F-3FB5-4AD0-B6CE-CA9BD246E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Many-to-One</a:t>
            </a:r>
          </a:p>
          <a:p>
            <a:r>
              <a:rPr lang="en-US" altLang="en-US" dirty="0"/>
              <a:t>One-to-One</a:t>
            </a:r>
          </a:p>
          <a:p>
            <a:r>
              <a:rPr lang="en-US" altLang="en-US" dirty="0"/>
              <a:t>Many-to-Many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173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955" y="3672082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28423" cy="4530725"/>
          </a:xfrm>
        </p:spPr>
        <p:txBody>
          <a:bodyPr/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3496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78200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98DC882-9265-4F2A-AAAB-DD166A263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Model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A2E2CD6A-C625-47A4-91CD-EAFB17708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7" y="1155700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39939" name="Picture 1">
            <a:extLst>
              <a:ext uri="{FF2B5EF4-FFF2-40B4-BE49-F238E27FC236}">
                <a16:creationId xmlns:a16="http://schemas.microsoft.com/office/drawing/2014/main" id="{95426A68-78A8-483B-AE90-0C4299BC7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33680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6BE45F0-3DE5-4D5E-A6DF-893325F2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69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656EC163-3A42-463F-98B9-34FCCA5B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42" y="1233488"/>
            <a:ext cx="770306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r>
              <a:rPr lang="en-US" altLang="en-US" dirty="0"/>
              <a:t>Two primary ways of implementing</a:t>
            </a:r>
          </a:p>
          <a:p>
            <a:pPr lvl="1"/>
            <a:r>
              <a:rPr lang="en-US" altLang="en-US" dirty="0"/>
              <a:t>Library entirely in user space</a:t>
            </a:r>
          </a:p>
          <a:p>
            <a:pPr lvl="1"/>
            <a:r>
              <a:rPr lang="en-US" altLang="en-US" dirty="0"/>
              <a:t>Kernel-level library supported by the 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33488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0043C8C3-F0F7-45F5-8A7A-9650671B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id="{9A3D775D-6FA1-4646-A7D2-CE6E80B5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949325"/>
            <a:ext cx="7137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9245F2F6-2CCF-4D21-8E1F-CB638D27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78685247-D5BA-441C-A8DF-77393E66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3030B908-CBBC-46B7-AB64-06E0AE91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222868"/>
            <a:ext cx="7793037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</a:p>
        </p:txBody>
      </p:sp>
      <p:pic>
        <p:nvPicPr>
          <p:cNvPr id="48130" name="Picture 1">
            <a:extLst>
              <a:ext uri="{FF2B5EF4-FFF2-40B4-BE49-F238E27FC236}">
                <a16:creationId xmlns:a16="http://schemas.microsoft.com/office/drawing/2014/main" id="{67BD81D9-A50E-47F3-9F79-4E6B618DD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447800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7CECD3BA-62CC-49CF-A3B0-2E894A8A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6" y="226237"/>
            <a:ext cx="8615524" cy="576262"/>
          </a:xfrm>
        </p:spPr>
        <p:txBody>
          <a:bodyPr/>
          <a:lstStyle/>
          <a:p>
            <a:r>
              <a:rPr lang="en-US" altLang="en-US" dirty="0"/>
              <a:t>Windows  Multithreaded C Program</a:t>
            </a:r>
          </a:p>
        </p:txBody>
      </p:sp>
      <p:pic>
        <p:nvPicPr>
          <p:cNvPr id="49154" name="Picture 1">
            <a:extLst>
              <a:ext uri="{FF2B5EF4-FFF2-40B4-BE49-F238E27FC236}">
                <a16:creationId xmlns:a16="http://schemas.microsoft.com/office/drawing/2014/main" id="{059F8F90-7DAA-4C82-9441-2A6B6B645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905000"/>
            <a:ext cx="61849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E8315E7-366C-43D5-A792-8CEC9E0C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59" y="222868"/>
            <a:ext cx="8026141" cy="576262"/>
          </a:xfrm>
        </p:spPr>
        <p:txBody>
          <a:bodyPr/>
          <a:lstStyle/>
          <a:p>
            <a:r>
              <a:rPr lang="en-US" altLang="en-US" sz="3000" dirty="0"/>
              <a:t>Windows  Multithreaded C Program (Cont.)</a:t>
            </a:r>
          </a:p>
        </p:txBody>
      </p:sp>
      <p:pic>
        <p:nvPicPr>
          <p:cNvPr id="50178" name="Picture 3">
            <a:extLst>
              <a:ext uri="{FF2B5EF4-FFF2-40B4-BE49-F238E27FC236}">
                <a16:creationId xmlns:a16="http://schemas.microsoft.com/office/drawing/2014/main" id="{52F3D5AE-9E92-48CC-B027-69AF98715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893763"/>
            <a:ext cx="65405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>
            <a:extLst>
              <a:ext uri="{FF2B5EF4-FFF2-40B4-BE49-F238E27FC236}">
                <a16:creationId xmlns:a16="http://schemas.microsoft.com/office/drawing/2014/main" id="{C1AEEAB0-CD68-4885-8DE2-6E1B4D461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Java Threads</a:t>
            </a:r>
          </a:p>
        </p:txBody>
      </p:sp>
      <p:sp>
        <p:nvSpPr>
          <p:cNvPr id="51202" name="Rectangle 5">
            <a:extLst>
              <a:ext uri="{FF2B5EF4-FFF2-40B4-BE49-F238E27FC236}">
                <a16:creationId xmlns:a16="http://schemas.microsoft.com/office/drawing/2014/main" id="{570CFFC5-7BD7-485F-B933-EB13E069C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231900"/>
            <a:ext cx="7688975" cy="3746500"/>
          </a:xfrm>
        </p:spPr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  <a:p>
            <a:r>
              <a:rPr lang="en-US" altLang="en-US" dirty="0"/>
              <a:t>Java threads may be created by:</a:t>
            </a:r>
          </a:p>
          <a:p>
            <a:pPr lvl="1"/>
            <a:r>
              <a:rPr lang="en-US" altLang="en-US" dirty="0"/>
              <a:t>Extending Thread class</a:t>
            </a:r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marL="457200" lvl="1" indent="0">
              <a:buNone/>
            </a:pPr>
            <a:endParaRPr lang="en-US" altLang="en-US" sz="900" dirty="0"/>
          </a:p>
          <a:p>
            <a:pPr lvl="1"/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1203" name="Picture 1" descr="Screen Shot 2012-12-04 at 9.09.28 PM.png">
            <a:extLst>
              <a:ext uri="{FF2B5EF4-FFF2-40B4-BE49-F238E27FC236}">
                <a16:creationId xmlns:a16="http://schemas.microsoft.com/office/drawing/2014/main" id="{0C728E61-EF06-4D16-9CCE-0AA7C7626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50361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1062038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Implementing Runnable interface: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3A6E59B6-1369-4D02-9B41-9466C54EE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1492250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>
            <a:extLst>
              <a:ext uri="{FF2B5EF4-FFF2-40B4-BE49-F238E27FC236}">
                <a16:creationId xmlns:a16="http://schemas.microsoft.com/office/drawing/2014/main" id="{5D600B74-6680-4450-BB6F-CBCFF22A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0146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Creating a thread:</a:t>
            </a:r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3157C5FE-DF44-43EE-B465-730C09A7D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3494088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>
            <a:extLst>
              <a:ext uri="{FF2B5EF4-FFF2-40B4-BE49-F238E27FC236}">
                <a16:creationId xmlns:a16="http://schemas.microsoft.com/office/drawing/2014/main" id="{B7EDA4AE-092F-4D4E-9689-344AD518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219575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Waiting on a thread:</a:t>
            </a:r>
          </a:p>
        </p:txBody>
      </p:sp>
      <p:pic>
        <p:nvPicPr>
          <p:cNvPr id="53255" name="Picture 7">
            <a:extLst>
              <a:ext uri="{FF2B5EF4-FFF2-40B4-BE49-F238E27FC236}">
                <a16:creationId xmlns:a16="http://schemas.microsoft.com/office/drawing/2014/main" id="{6EBBEE03-6B80-4FB8-8BA5-A69C6B307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657725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13BB46A0-1D14-4FC6-A460-C90F6E2D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0D32A769-ACA8-4BB5-9FC7-1A36C936D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Rather than explicitly creating threads, Java also allows thread creation around the Executor interface: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The Executor is used as follows: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925F2420-3B38-4BBF-95DB-0D1FB6F50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982788"/>
            <a:ext cx="4267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>
            <a:extLst>
              <a:ext uri="{FF2B5EF4-FFF2-40B4-BE49-F238E27FC236}">
                <a16:creationId xmlns:a16="http://schemas.microsoft.com/office/drawing/2014/main" id="{83D93813-F376-44DC-802B-F865A1A1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4083050"/>
            <a:ext cx="3695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59A55039-19E6-4761-9A88-54FE6272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</a:p>
        </p:txBody>
      </p:sp>
      <p:pic>
        <p:nvPicPr>
          <p:cNvPr id="55298" name="Picture 4">
            <a:extLst>
              <a:ext uri="{FF2B5EF4-FFF2-40B4-BE49-F238E27FC236}">
                <a16:creationId xmlns:a16="http://schemas.microsoft.com/office/drawing/2014/main" id="{FA43B0FA-FE5E-400F-8A43-708B3CC2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1389063"/>
            <a:ext cx="6019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3D9F2F0-9A6E-4213-BD42-4A873B70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Executor Framework (Cont.)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60CA2FFB-E1A5-46F6-B0CB-5515AE97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778000"/>
            <a:ext cx="75819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15488</TotalTime>
  <Words>823</Words>
  <Application>Microsoft Office PowerPoint</Application>
  <PresentationFormat>全屏显示(4:3)</PresentationFormat>
  <Paragraphs>157</Paragraphs>
  <Slides>33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Monotype Sorts</vt:lpstr>
      <vt:lpstr>ＭＳ Ｐゴシック</vt:lpstr>
      <vt:lpstr>Arial</vt:lpstr>
      <vt:lpstr>Helvetica</vt:lpstr>
      <vt:lpstr>Times New Roman</vt:lpstr>
      <vt:lpstr>Verdana</vt:lpstr>
      <vt:lpstr>Webdings</vt:lpstr>
      <vt:lpstr>Wingdings</vt:lpstr>
      <vt:lpstr>os-8</vt:lpstr>
      <vt:lpstr>Chapter 4:  Threads &amp; Concurrency </vt:lpstr>
      <vt:lpstr>Outline</vt:lpstr>
      <vt:lpstr>Objectives</vt:lpstr>
      <vt:lpstr>Motivation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(Cont.)</vt:lpstr>
      <vt:lpstr>Pthreads Code for Joining 10 Threads</vt:lpstr>
      <vt:lpstr>Windows  Multithreaded C Program</vt:lpstr>
      <vt:lpstr>Windows  Multithreaded C Program (Cont.)</vt:lpstr>
      <vt:lpstr>Java Threads</vt:lpstr>
      <vt:lpstr>Java Threads</vt:lpstr>
      <vt:lpstr>Java Executor Framework</vt:lpstr>
      <vt:lpstr>Java Executor Framework</vt:lpstr>
      <vt:lpstr>Java Executor Framework (Cont.)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228</cp:revision>
  <cp:lastPrinted>2013-09-10T17:57:57Z</cp:lastPrinted>
  <dcterms:created xsi:type="dcterms:W3CDTF">2011-01-13T23:43:38Z</dcterms:created>
  <dcterms:modified xsi:type="dcterms:W3CDTF">2025-09-03T01:39:18Z</dcterms:modified>
</cp:coreProperties>
</file>