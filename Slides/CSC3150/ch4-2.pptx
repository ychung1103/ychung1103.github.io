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331" r:id="rId2"/>
    <p:sldId id="357" r:id="rId3"/>
    <p:sldId id="358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4" r:id="rId12"/>
    <p:sldId id="359" r:id="rId13"/>
    <p:sldId id="395" r:id="rId14"/>
    <p:sldId id="360" r:id="rId15"/>
    <p:sldId id="373" r:id="rId16"/>
    <p:sldId id="396" r:id="rId17"/>
    <p:sldId id="397" r:id="rId18"/>
    <p:sldId id="361" r:id="rId19"/>
    <p:sldId id="362" r:id="rId20"/>
    <p:sldId id="363" r:id="rId21"/>
    <p:sldId id="375" r:id="rId22"/>
    <p:sldId id="364" r:id="rId23"/>
    <p:sldId id="365" r:id="rId24"/>
    <p:sldId id="398" r:id="rId25"/>
    <p:sldId id="366" r:id="rId26"/>
    <p:sldId id="367" r:id="rId27"/>
    <p:sldId id="368" r:id="rId28"/>
    <p:sldId id="376" r:id="rId29"/>
    <p:sldId id="369" r:id="rId30"/>
    <p:sldId id="370" r:id="rId31"/>
    <p:sldId id="371" r:id="rId32"/>
    <p:sldId id="372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33" autoAdjust="0"/>
    <p:restoredTop sz="94626"/>
  </p:normalViewPr>
  <p:slideViewPr>
    <p:cSldViewPr snapToGrid="0">
      <p:cViewPr>
        <p:scale>
          <a:sx n="50" d="100"/>
          <a:sy n="50" d="100"/>
        </p:scale>
        <p:origin x="1628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BB7AAAF-2D0D-444E-9C4A-241B80536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908802-64CA-49E3-931A-595B2C94C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C4CBFD-A424-47AF-AE08-5BE9978F6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17EBCBBF-41C5-425A-8C78-5D293D9B8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9B233EF-4231-4BA9-9EEF-1E69C0C6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24EF9F7-118A-440E-835D-273EF5003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8748FDE-E8BC-4A9C-A7E9-E83C7D708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EDC8114-80FF-4527-8452-8939C60B2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D42AF9C-FB2A-4442-A801-C02307714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2F305424-2E1B-470D-A274-29ABA8FF1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D5C964FA-22D0-4E05-B730-D533B6A44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80E7091-F446-484C-8E4A-417D2AC58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FF94ED2-DF55-4D1B-8DA2-07A842A2B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B118-35EC-41E3-912A-ACD9C96F6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96523C0-C350-444A-B4E1-1329DD71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A5AFAA5-5218-4C59-9B07-DF3DD016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72C3A4C-AD16-4898-8CE5-E59313D1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024EE35-1071-4350-AC7A-2880808B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F84B4F2-9D3B-4B2F-BF96-A59F22577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362FC63-0CF8-4F27-8D50-36C311771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5EA1D9E-4BA7-46A6-8A84-EDB8389F7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3D8E3A22-255B-4013-9FAA-354F2280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414BE9A-3487-46A0-8D93-908174E2B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50E0C92-CD42-45A7-9966-C095105A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F2B3D9C8-405E-4869-B7DA-C0EA2952C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7E4665BD-4253-40F1-BC78-DE8BBDAB7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6713D87-7305-49B3-91D0-F30C44637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DAE79D6A-67CB-4C69-BA94-F4EE051A7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B7687CC-A2DC-4DB6-9D2E-F0DF0D822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8288A69-48FB-4D7D-9160-2B0CCFFD7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5BBC46-A330-4F4A-B305-93B88114E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2C4AF6F-3A33-4B3D-A9C5-999D34DE6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3C39424-7CC6-4EAD-B6CC-B6829E4E3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74F122F5-4598-4486-AEE9-A0E29FCC7F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panose="020B0604020202020204" pitchFamily="34" charset="0"/>
              </a:rPr>
              <a:pPr algn="r"/>
              <a:t>27</a:t>
            </a:fld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73C4DCE4-88C5-4C98-9DA5-E017D80E1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765D6DE-A5FC-47F0-B3FB-BFABDB9A2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D3517A6B-4F86-4BF0-A7FB-1BD5EBE18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7878F00E-B648-4612-B5CB-D00AADE3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DC6BA39-1EDC-4A74-8794-176CC37BF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A98BD5E9-68DB-44E3-B64A-5E17DF84C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B327CA-F749-48DD-B520-75AA26D49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1ED87E5-76C2-4D48-98D1-5C54D1AA7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C0C37606-01E7-4DBC-B837-C0D0A6173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97C32648-9B7A-4EFE-847A-739C71023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D5813B0-A22D-4F2C-8A3F-0BFE4DE6B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C79D5CE-BCEF-4B0F-9D0F-A5485F9BA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6ECB659-BD3A-4C4F-8EF1-B79B7B48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B7BA288-9799-4FCC-AA27-DAA56CA5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5C74086-1C19-4246-8A2B-B6C7CCC34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3FD3FF-5B29-43D0-9279-B7FF5B29F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r>
              <a:rPr lang="en-US" altLang="en-US" dirty="0"/>
              <a:t>Creation and management of threads done by compilers and run-time libraries rather than programmers</a:t>
            </a:r>
          </a:p>
          <a:p>
            <a:r>
              <a:rPr lang="en-US" altLang="en-US" dirty="0"/>
              <a:t>Five methods explored</a:t>
            </a:r>
          </a:p>
          <a:p>
            <a:pPr lvl="1"/>
            <a:r>
              <a:rPr lang="en-US" altLang="en-US" dirty="0"/>
              <a:t>Thread Pools</a:t>
            </a:r>
          </a:p>
          <a:p>
            <a:pPr lvl="1"/>
            <a:r>
              <a:rPr lang="en-US" altLang="en-US" dirty="0"/>
              <a:t>Fork-Join</a:t>
            </a:r>
          </a:p>
          <a:p>
            <a:pPr lvl="1"/>
            <a:r>
              <a:rPr lang="en-US" altLang="en-US" dirty="0"/>
              <a:t>OpenMP</a:t>
            </a:r>
          </a:p>
          <a:p>
            <a:pPr lvl="1"/>
            <a:r>
              <a:rPr lang="en-US" altLang="en-US" dirty="0"/>
              <a:t>Grand Central Dispatch</a:t>
            </a:r>
          </a:p>
          <a:p>
            <a:pPr lvl="1"/>
            <a:r>
              <a:rPr lang="en-US" altLang="en-US" dirty="0"/>
              <a:t>Intel Threading Building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7548F8-7BBB-488A-9C64-FEFB3E119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DAB4466-FF5C-42A6-98D5-F594A5A17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081088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r>
              <a:rPr lang="en-US" altLang="en-US" dirty="0"/>
              <a:t>Advantages:</a:t>
            </a:r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dirty="0" err="1"/>
              <a:t>i.e,Tasks</a:t>
            </a:r>
            <a:r>
              <a:rPr lang="en-US" altLang="en-US" dirty="0"/>
              <a:t> could be scheduled to run periodically</a:t>
            </a:r>
          </a:p>
          <a:p>
            <a:r>
              <a:rPr lang="en-US" altLang="en-US" dirty="0"/>
              <a:t>Windows API supports thread pools:</a:t>
            </a:r>
          </a:p>
        </p:txBody>
      </p:sp>
      <p:pic>
        <p:nvPicPr>
          <p:cNvPr id="59395" name="Picture 1" descr="Screen Shot 2012-12-04 at 9.17.42 PM.png">
            <a:extLst>
              <a:ext uri="{FF2B5EF4-FFF2-40B4-BE49-F238E27FC236}">
                <a16:creationId xmlns:a16="http://schemas.microsoft.com/office/drawing/2014/main" id="{D64E1B78-20BD-4FED-BCFF-952D9F216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A2B30332-8F67-4C2C-9E06-797B76E5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Thread Pools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0F2BF71E-EE06-4CCF-82F8-A416029C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factory methods for creating thread pools in Executors class: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1E44F790-96C5-4253-A283-43ACB480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36713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37716076-2C27-44DA-8C53-7D021F9C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(Cont.)</a:t>
            </a:r>
          </a:p>
        </p:txBody>
      </p:sp>
      <p:pic>
        <p:nvPicPr>
          <p:cNvPr id="62466" name="Content Placeholder 3">
            <a:extLst>
              <a:ext uri="{FF2B5EF4-FFF2-40B4-BE49-F238E27FC236}">
                <a16:creationId xmlns:a16="http://schemas.microsoft.com/office/drawing/2014/main" id="{D3341B41-7DD8-4DC3-BD1A-010A1A372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010400" cy="42545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6B7209D-1875-45AD-B783-C40EB738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BD5D55A5-3CD4-45C3-AEDE-1B3CAE79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threads (tasks) are </a:t>
            </a:r>
            <a:r>
              <a:rPr lang="en-US" altLang="en-US" b="1"/>
              <a:t>forked</a:t>
            </a:r>
            <a:r>
              <a:rPr lang="en-US" altLang="en-US"/>
              <a:t>, and then </a:t>
            </a:r>
            <a:r>
              <a:rPr lang="en-US" altLang="en-US" b="1"/>
              <a:t>joined</a:t>
            </a:r>
            <a:r>
              <a:rPr lang="en-US" altLang="en-US"/>
              <a:t>.</a:t>
            </a:r>
          </a:p>
        </p:txBody>
      </p:sp>
      <p:pic>
        <p:nvPicPr>
          <p:cNvPr id="63491" name="Picture 1">
            <a:extLst>
              <a:ext uri="{FF2B5EF4-FFF2-40B4-BE49-F238E27FC236}">
                <a16:creationId xmlns:a16="http://schemas.microsoft.com/office/drawing/2014/main" id="{D71E8547-BE08-417E-B714-75D03F5D5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83845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E70855C1-DCE3-42CB-A4C8-7B95840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D8025F3E-39A7-4B92-9FF0-6B73CEC4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General algorithm for fork-join strategy: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18A3EBE2-4330-4DB9-A558-3710736C4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60B8B1B-D780-4852-8E0D-49911E9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pic>
        <p:nvPicPr>
          <p:cNvPr id="65538" name="Picture 1">
            <a:extLst>
              <a:ext uri="{FF2B5EF4-FFF2-40B4-BE49-F238E27FC236}">
                <a16:creationId xmlns:a16="http://schemas.microsoft.com/office/drawing/2014/main" id="{B3C03BAD-DAA6-436B-95DB-DD28333B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82725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43D13F5A-2734-49DF-BFE4-5DB6E054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6CF0E748-8FC9-47F3-864F-F2C39472A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084388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E7EBC813-24D9-4251-A424-D543DF4A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</a:t>
            </a:r>
          </a:p>
        </p:txBody>
      </p:sp>
      <p:pic>
        <p:nvPicPr>
          <p:cNvPr id="67586" name="Picture 2">
            <a:extLst>
              <a:ext uri="{FF2B5EF4-FFF2-40B4-BE49-F238E27FC236}">
                <a16:creationId xmlns:a16="http://schemas.microsoft.com/office/drawing/2014/main" id="{208F6E35-E9F8-4881-9CC9-CD085B4B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4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6D90200C-7483-4971-837A-517771B6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4C19F5FD-397F-47D2-8792-EE6E18E2B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12399" cy="1857375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anose="02070309020205020404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>
            <a:extLst>
              <a:ext uri="{FF2B5EF4-FFF2-40B4-BE49-F238E27FC236}">
                <a16:creationId xmlns:a16="http://schemas.microsoft.com/office/drawing/2014/main" id="{16F28A26-C981-42C8-8117-EA6AF2BD5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544669B9-2DEA-421A-8382-2BC0EEE0B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14946A5B-F4DA-4E2D-9FE7-9A6C90AEC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an API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55ABC929-CE13-4509-98E6-61C837534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0894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979CC573-0BA9-4E42-AA0D-66DAEE95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4A81212D-9FC8-4D36-B7BD-612B85421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Run the for loop in parallel</a:t>
            </a:r>
          </a:p>
        </p:txBody>
      </p:sp>
      <p:pic>
        <p:nvPicPr>
          <p:cNvPr id="71683" name="Picture 3">
            <a:extLst>
              <a:ext uri="{FF2B5EF4-FFF2-40B4-BE49-F238E27FC236}">
                <a16:creationId xmlns:a16="http://schemas.microsoft.com/office/drawing/2014/main" id="{E15DDD23-9A4F-4651-BEEF-EB8F9B703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2570163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3EDC882-8B59-4594-B276-CFAD243CC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E0F26652-E0BE-449C-A693-21DA9E1C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dirty="0"/>
              <a:t>Apple technology for macOS and iOS operating systems</a:t>
            </a:r>
          </a:p>
          <a:p>
            <a:r>
              <a:rPr lang="en-US" altLang="en-US" dirty="0"/>
              <a:t>Extensions to C, C++ and Objective-C languages, API, and run-time library</a:t>
            </a:r>
          </a:p>
          <a:p>
            <a:r>
              <a:rPr lang="en-US" altLang="en-US" dirty="0"/>
              <a:t>Allows identification of parallel sections</a:t>
            </a:r>
          </a:p>
          <a:p>
            <a:r>
              <a:rPr lang="en-US" altLang="en-US" dirty="0"/>
              <a:t>Manages most of the details of threading</a:t>
            </a:r>
          </a:p>
          <a:p>
            <a:r>
              <a:rPr lang="en-US" altLang="en-US" dirty="0"/>
              <a:t>Block is in “^{ }” 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anose="02070309020205020404" pitchFamily="49" charset="0"/>
              </a:rPr>
              <a:t>ˆ{ printf("I am a block"); } </a:t>
            </a:r>
            <a:br>
              <a:rPr lang="ro-RO" altLang="en-US" b="1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r>
              <a:rPr lang="en-US" altLang="en-US" dirty="0"/>
              <a:t>Blocks placed in dispatch queue</a:t>
            </a:r>
          </a:p>
          <a:p>
            <a:pPr lvl="1"/>
            <a:r>
              <a:rPr lang="en-US" altLang="en-US" dirty="0"/>
              <a:t>Assigned to available thread in thread pool when removed from queue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B806D4C-6940-4E14-B304-1F7CFEF60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2AF9024C-9C3C-4274-AB7B-7B0D8B7AC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2" y="1203325"/>
            <a:ext cx="7688426" cy="4478338"/>
          </a:xfrm>
        </p:spPr>
        <p:txBody>
          <a:bodyPr/>
          <a:lstStyle/>
          <a:p>
            <a:r>
              <a:rPr lang="en-US" altLang="en-US" dirty="0"/>
              <a:t>Two types of dispatch queues:</a:t>
            </a:r>
          </a:p>
          <a:p>
            <a:pPr lvl="1"/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 queue</a:t>
            </a:r>
          </a:p>
          <a:p>
            <a:pPr lvl="2"/>
            <a:r>
              <a:rPr lang="en-US" altLang="en-US" dirty="0"/>
              <a:t>Programmers can create additional serial queues within program</a:t>
            </a:r>
          </a:p>
          <a:p>
            <a:pPr lvl="1"/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/>
            <a:r>
              <a:rPr lang="en-US" altLang="en-US" dirty="0"/>
              <a:t>Four system wide queues divided by quality of service: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QOS_CLASS_USER_INTERACTIVE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QOS_CLASS_USER_INITIATED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QOS_CLASS_USER_UTILITY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QOS_CLASS_USER_BACKGROUND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2E8FE8F8-6247-440E-8AD2-9125A529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961FCAB4-6A2F-4741-AEC6-56E10DDE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the Swift language a task is defined as a closure – similar to a block, minus the caret</a:t>
            </a:r>
          </a:p>
          <a:p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anose="02070309020205020404" pitchFamily="49" charset="0"/>
              </a:rPr>
              <a:t>dispatch_async</a:t>
            </a:r>
            <a:r>
              <a:rPr lang="en-US" altLang="en-US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BEE0DB06-C5D5-4AB5-BD45-46DF14ED4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2432050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3E06E839-D948-468F-B190-B5CDABBD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4B964262-47E7-4DB6-A63C-554FF6EA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Template library for designing parallel C++ programs</a:t>
            </a:r>
          </a:p>
          <a:p>
            <a:r>
              <a:rPr lang="en-US" altLang="en-US" dirty="0"/>
              <a:t>A serial version of a simple for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</a:p>
        </p:txBody>
      </p:sp>
      <p:pic>
        <p:nvPicPr>
          <p:cNvPr id="77827" name="Picture 3">
            <a:extLst>
              <a:ext uri="{FF2B5EF4-FFF2-40B4-BE49-F238E27FC236}">
                <a16:creationId xmlns:a16="http://schemas.microsoft.com/office/drawing/2014/main" id="{0AECC45F-AE48-41B9-BBCF-8CA2461C9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2112963"/>
            <a:ext cx="37211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>
            <a:extLst>
              <a:ext uri="{FF2B5EF4-FFF2-40B4-BE49-F238E27FC236}">
                <a16:creationId xmlns:a16="http://schemas.microsoft.com/office/drawing/2014/main" id="{113B8E9B-4CDB-4160-8253-D3DEBB20D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071938"/>
            <a:ext cx="6642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8F5BE787-1C90-443B-BF35-EC074EF9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F51DC46-1491-4D2A-B267-43A725F22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2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of target thread</a:t>
            </a:r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</a:t>
            </a:r>
          </a:p>
          <a:p>
            <a:r>
              <a:rPr lang="en-US" altLang="en-US" dirty="0"/>
              <a:t>Scheduler Activations</a:t>
            </a:r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79867A-2E93-4EF0-B105-A26BB113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A843C793-C155-4716-B3E2-61F8E727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</a:p>
          <a:p>
            <a:pPr lvl="1"/>
            <a:r>
              <a:rPr lang="en-US" altLang="en-US"/>
              <a:t>Some UNIXes have two versions of fork</a:t>
            </a:r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E38D4671-065E-48FB-994B-D2E5E93EB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752EA8-B31F-42FC-AC88-93660F763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878F364-9781-4DC9-A9A3-9DD34E5E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9391F2-8D47-4F0C-960D-BFD5F96C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4022725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46D4A08B-A3B9-409D-9FF5-9A70E4A50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D8769D7-C343-444C-A0E2-10A79AC9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89091" name="Picture 1">
            <a:extLst>
              <a:ext uri="{FF2B5EF4-FFF2-40B4-BE49-F238E27FC236}">
                <a16:creationId xmlns:a16="http://schemas.microsoft.com/office/drawing/2014/main" id="{45A1D62A-4B0A-490B-8A95-06E0D48B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D1FBD27-2B69-44A9-A404-9835E778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Cancellation in Java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BEED4D-A616-43F0-AE72-2D49BC1B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Deferred cancellation uses the </a:t>
            </a:r>
            <a:r>
              <a:rPr lang="en-US" altLang="en-US" b="1">
                <a:latin typeface="Courier New" panose="02070309020205020404" pitchFamily="49" charset="0"/>
              </a:rPr>
              <a:t>interrupt()</a:t>
            </a:r>
            <a:r>
              <a:rPr lang="en-US" altLang="en-US"/>
              <a:t> method, which sets the interrupted status of a thread.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 thread can then check to see if it has been interrupted: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A5B25D66-7EE8-4C02-9916-79984531C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812925"/>
            <a:ext cx="571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>
            <a:extLst>
              <a:ext uri="{FF2B5EF4-FFF2-40B4-BE49-F238E27FC236}">
                <a16:creationId xmlns:a16="http://schemas.microsoft.com/office/drawing/2014/main" id="{B3E1EED7-AF5C-4949-B412-6DA9E936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4195763"/>
            <a:ext cx="5664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580DFDB-6ABD-4948-952F-076F0CA2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1C7EAF96-DD82-4FEA-A725-EF91F94C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44783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65E82D8D-F606-4BB6-910E-3E1D7A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A8495397-A30B-4D32-9963-DA7E64699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>
            <a:extLst>
              <a:ext uri="{FF2B5EF4-FFF2-40B4-BE49-F238E27FC236}">
                <a16:creationId xmlns:a16="http://schemas.microsoft.com/office/drawing/2014/main" id="{7DC26CCE-1C29-4F40-8E4C-6E777703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1BE107B7-66B8-4C35-8B17-BBEE9D169F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62E93B1B-E3ED-4356-9357-11040365D0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69188" cy="4492625"/>
          </a:xfrm>
        </p:spPr>
        <p:txBody>
          <a:bodyPr/>
          <a:lstStyle/>
          <a:p>
            <a:r>
              <a:rPr lang="en-US" altLang="en-US"/>
              <a:t>Windows Threads</a:t>
            </a:r>
          </a:p>
          <a:p>
            <a:r>
              <a:rPr lang="en-US" altLang="en-US"/>
              <a:t>Linux Threads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19AA1B0-0B6B-4557-94CD-C696EC502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9A0C3CF5-1789-4524-A426-288D68408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5141913"/>
          </a:xfrm>
        </p:spPr>
        <p:txBody>
          <a:bodyPr/>
          <a:lstStyle/>
          <a:p>
            <a:r>
              <a:rPr lang="en-US" altLang="en-US" dirty="0"/>
              <a:t>Windows API – primary API for Windows applications</a:t>
            </a:r>
          </a:p>
          <a:p>
            <a:r>
              <a:rPr lang="en-US" altLang="en-US" dirty="0"/>
              <a:t>Implements the one-to-one mapping, kernel-level</a:t>
            </a:r>
          </a:p>
          <a:p>
            <a:r>
              <a:rPr lang="en-US" altLang="en-US" dirty="0"/>
              <a:t>Each thread contains</a:t>
            </a:r>
          </a:p>
          <a:p>
            <a:pPr lvl="1"/>
            <a:r>
              <a:rPr lang="en-US" altLang="en-US" dirty="0"/>
              <a:t>A thread id</a:t>
            </a:r>
          </a:p>
          <a:p>
            <a:pPr lvl="1"/>
            <a:r>
              <a:rPr lang="en-US" altLang="en-US" dirty="0"/>
              <a:t>Register set representing state of processor</a:t>
            </a:r>
          </a:p>
          <a:p>
            <a:pPr lvl="1"/>
            <a:r>
              <a:rPr lang="en-US" altLang="en-US" dirty="0"/>
              <a:t>Separate user and kernel stacks for when thread runs in user mode or kernel mode</a:t>
            </a:r>
          </a:p>
          <a:p>
            <a:pPr lvl="1"/>
            <a:r>
              <a:rPr lang="en-US" altLang="en-US" dirty="0"/>
              <a:t>Private data storage area used by run-time libraries and dynamic link libraries (DLLs)</a:t>
            </a:r>
          </a:p>
          <a:p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706217A8-F3F8-485D-B043-6CC2F9CD5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(Cont.)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0C93C6D-5B8E-43FC-AA4D-62288181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5141913"/>
          </a:xfrm>
        </p:spPr>
        <p:txBody>
          <a:bodyPr/>
          <a:lstStyle/>
          <a:p>
            <a:r>
              <a:rPr lang="en-US" altLang="en-US" dirty="0"/>
              <a:t>The primary data structures of a thread include:</a:t>
            </a:r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58ED7928-B775-4E93-B427-ECD5DC52C8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2402" name="Picture 1">
            <a:extLst>
              <a:ext uri="{FF2B5EF4-FFF2-40B4-BE49-F238E27FC236}">
                <a16:creationId xmlns:a16="http://schemas.microsoft.com/office/drawing/2014/main" id="{484A094D-1D6D-4AEC-B6E2-DD851672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498600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A83B2EB4-BA9F-4468-9748-66079CAC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9CC8EC9-347D-4989-9EE5-6AE0B546C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4451" name="Picture 1">
            <a:extLst>
              <a:ext uri="{FF2B5EF4-FFF2-40B4-BE49-F238E27FC236}">
                <a16:creationId xmlns:a16="http://schemas.microsoft.com/office/drawing/2014/main" id="{4A30D8FF-ECBB-4EF4-9DE7-A53BC09DF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A4E1028-A5C4-45A4-B6C0-DFAAAFA6F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15488</TotalTime>
  <Words>1274</Words>
  <Application>Microsoft Office PowerPoint</Application>
  <PresentationFormat>全屏显示(4:3)</PresentationFormat>
  <Paragraphs>187</Paragraphs>
  <Slides>32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4:  Threads &amp; Concurrency </vt:lpstr>
      <vt:lpstr>Implicit Threading</vt:lpstr>
      <vt:lpstr>Thread Pools</vt:lpstr>
      <vt:lpstr>Java Thread Pools</vt:lpstr>
      <vt:lpstr>Java Thread Pools (Cont.)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OpenMP</vt:lpstr>
      <vt:lpstr>PowerPoint 演示文稿</vt:lpstr>
      <vt:lpstr>Grand Central Dispatch</vt:lpstr>
      <vt:lpstr>Grand Central Dispatch</vt:lpstr>
      <vt:lpstr>Grand Central Dispatch</vt:lpstr>
      <vt:lpstr>Intel Threading Building Blocks (TBB)</vt:lpstr>
      <vt:lpstr>Threading Issues</vt:lpstr>
      <vt:lpstr>Semantics of fork() and exec()</vt:lpstr>
      <vt:lpstr>Signal Handling</vt:lpstr>
      <vt:lpstr>Signal Handling (Cont.)</vt:lpstr>
      <vt:lpstr>Thread Cancellation</vt:lpstr>
      <vt:lpstr>Thread Cancellation (Cont.)</vt:lpstr>
      <vt:lpstr>Thread Cancellation in Java</vt:lpstr>
      <vt:lpstr>Thread-Local Storage</vt:lpstr>
      <vt:lpstr>Scheduler Activations</vt:lpstr>
      <vt:lpstr>Operating System Examples</vt:lpstr>
      <vt:lpstr>Windows Threads</vt:lpstr>
      <vt:lpstr>Windows Threads (Cont.)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228</cp:revision>
  <cp:lastPrinted>2013-09-10T17:57:57Z</cp:lastPrinted>
  <dcterms:created xsi:type="dcterms:W3CDTF">2011-01-13T23:43:38Z</dcterms:created>
  <dcterms:modified xsi:type="dcterms:W3CDTF">2025-09-03T01:38:56Z</dcterms:modified>
</cp:coreProperties>
</file>